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ln w="254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657600" cy="3657600"/>
          </a:xfrm>
          <a:prstGeom prst="ellipse">
            <a:avLst/>
          </a:prstGeom>
          <a:ln w="25400">
            <a:solidFill>
              <a:srgbClr val="2C46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-228600"/>
            <a:ext cx="2103120" cy="2103120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Concepts,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&amp; Embeddings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713232" y="4343400"/>
            <a:ext cx="2011680" cy="0"/>
          </a:xfrm>
          <a:prstGeom prst="line">
            <a:avLst/>
          </a:prstGeom>
          <a:noFill/>
          <a:ln w="317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how networks learn to how they see and read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532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Niloy Ganguly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Kharagpur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 of the Session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02736" cy="448056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602736" cy="777240"/>
          </a:xfrm>
          <a:prstGeom prst="roundRect">
            <a:avLst>
              <a:gd name="adj" fmla="val 11765"/>
            </a:avLst>
          </a:prstGeom>
          <a:solidFill>
            <a:srgbClr val="2E5FA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602736" cy="32004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164592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Fundamentals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30998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&amp; gradient descent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(MSE, BCE, CCE)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 hyperparameters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Overfitting, underfitting &amp; regularization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4407408" y="1600200"/>
            <a:ext cx="3602736" cy="448056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600200"/>
            <a:ext cx="3602736" cy="777240"/>
          </a:xfrm>
          <a:prstGeom prst="roundRect">
            <a:avLst>
              <a:gd name="adj" fmla="val 11765"/>
            </a:avLst>
          </a:prstGeom>
          <a:solidFill>
            <a:srgbClr val="12A5A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7408" y="2057400"/>
            <a:ext cx="3602736" cy="320040"/>
          </a:xfrm>
          <a:prstGeom prst="rect">
            <a:avLst/>
          </a:prstGeom>
          <a:solidFill>
            <a:srgbClr val="12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1645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58968" y="164592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Networks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30998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Convolution, pooling &amp; FC layers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hierarchy of features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famous models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across vision &amp; beyond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 that motivate what's next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66176" y="1600200"/>
            <a:ext cx="3602736" cy="448056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600200"/>
            <a:ext cx="3602736" cy="777240"/>
          </a:xfrm>
          <a:prstGeom prst="roundRect">
            <a:avLst>
              <a:gd name="adj" fmla="val 11765"/>
            </a:avLst>
          </a:prstGeom>
          <a:solidFill>
            <a:srgbClr val="F4A62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66176" y="2057400"/>
            <a:ext cx="3602736" cy="32004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19" name="Text 17"/>
          <p:cNvSpPr/>
          <p:nvPr/>
        </p:nvSpPr>
        <p:spPr>
          <a:xfrm>
            <a:off x="8494776" y="1645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317736" y="164592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522208" y="2606040"/>
            <a:ext cx="30998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one-hot / sparse vectors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semantics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learned representations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— Skip-gram &amp; CBOW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vectors miss context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NETWORKS LEARN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 &amp; Gradient Descent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434840"/>
          </a:xfrm>
          <a:prstGeom prst="roundRect">
            <a:avLst>
              <a:gd name="adj" fmla="val 2062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loop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 produce prediction ŷ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822960" y="2990088"/>
            <a:ext cx="384048" cy="38404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443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 L(y, ŷ) — how wrong we are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22960" y="3648456"/>
            <a:ext cx="384048" cy="384048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60273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Backprop: chain rule flows error backward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22960" y="4306824"/>
            <a:ext cx="384048" cy="38404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2611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every weight against its gradient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22960" y="4965192"/>
            <a:ext cx="384048" cy="384048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9194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many epochs until loss ≈ 0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263640" y="16459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0E1B33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847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rule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2240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←  w  −  η · ∂L/∂w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3796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C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∂L/∂w = ∂L/∂ŷ · ∂ŷ/∂w   (chain rule)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learning rate  ·  controls step size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160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6E6"/>
          </a:solidFill>
          <a:ln w="12700">
            <a:solidFill>
              <a:srgbClr val="F3D9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4681728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is nudged slightly opposite to its gradient, so the loss drops a little with every step. Thousands of tiny steps = learning.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ERROR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— Pick by Task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(cost) function measures how far predictions are from the truth. Training minimises it; the choice depends on the task.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02736" cy="397764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502920" cy="164592"/>
          </a:xfrm>
          <a:prstGeom prst="roundRect">
            <a:avLst>
              <a:gd name="adj" fmla="val 27778"/>
            </a:avLst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1460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· REGRESSION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77063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Squared Error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4672" y="3401568"/>
            <a:ext cx="30906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40156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(1/n) Σ (yᵢ − ŷᵢ)²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30998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output (e.g. house price)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errors → large misses hurt most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none / linear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4407408" y="2057400"/>
            <a:ext cx="3602736" cy="397764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286000"/>
            <a:ext cx="502920" cy="164592"/>
          </a:xfrm>
          <a:prstGeom prst="roundRect">
            <a:avLst>
              <a:gd name="adj" fmla="val 27778"/>
            </a:avLst>
          </a:prstGeom>
          <a:solidFill>
            <a:srgbClr val="12A5A5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51460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· 2-CLASS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77063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Cross-Entropy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63440" y="3401568"/>
            <a:ext cx="30906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340156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−[y·log ŷ + (1−y)·log(1−ŷ)]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81728" y="4114800"/>
            <a:ext cx="30998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(spam / not spam)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heavily penalises confident mistakes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Sigmoid (0–1)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8266176" y="2057400"/>
            <a:ext cx="3602736" cy="397764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2286000"/>
            <a:ext cx="502920" cy="164592"/>
          </a:xfrm>
          <a:prstGeom prst="roundRect">
            <a:avLst>
              <a:gd name="adj" fmla="val 27778"/>
            </a:avLst>
          </a:prstGeom>
          <a:solidFill>
            <a:srgbClr val="F4A62A"/>
          </a:solidFill>
          <a:ln/>
        </p:spPr>
      </p:sp>
      <p:sp>
        <p:nvSpPr>
          <p:cNvPr id="21" name="Text 19"/>
          <p:cNvSpPr/>
          <p:nvPr/>
        </p:nvSpPr>
        <p:spPr>
          <a:xfrm>
            <a:off x="8522208" y="251460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CCE · MULTI-CLASS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22208" y="277063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Cross-Entropy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522208" y="3401568"/>
            <a:ext cx="30906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58784" y="340156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−Σ_c y_c · log ŷ_c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40496" y="4114800"/>
            <a:ext cx="30998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mutually exclusive classes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true-class probability matters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Softmax (sums to 1)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KNOBS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vs Hyperparameters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389120"/>
          </a:xfrm>
          <a:prstGeom prst="roundRect">
            <a:avLst>
              <a:gd name="adj" fmla="val 208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2E5FA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257800" cy="32004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automatically during training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 the model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by the optimizer (gradient descent)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in a neural network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in linear regression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486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by: the optimizer — not chosen by you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32704" y="3611880"/>
            <a:ext cx="914400" cy="914400"/>
          </a:xfrm>
          <a:prstGeom prst="ellipse">
            <a:avLst/>
          </a:prstGeom>
          <a:solidFill>
            <a:srgbClr val="0E1B3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3611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55080" y="1691640"/>
            <a:ext cx="5257800" cy="4389120"/>
          </a:xfrm>
          <a:prstGeom prst="roundRect">
            <a:avLst>
              <a:gd name="adj" fmla="val 208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9164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4A6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2148840"/>
            <a:ext cx="5257800" cy="32004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691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26974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before training begins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configuration of the model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&amp; tuned by the data scientist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2940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44348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rate, batch size, epochs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layers, dropout rate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29400" y="5486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0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by: you — chosen before training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DATA CORRECTLY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Validation / Test Sets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851392" cy="50292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8851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80%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00032" y="1691640"/>
            <a:ext cx="1106424" cy="502920"/>
          </a:xfrm>
          <a:prstGeom prst="rect">
            <a:avLst/>
          </a:prstGeom>
          <a:solidFill>
            <a:srgbClr val="12A5A5"/>
          </a:solidFill>
          <a:ln/>
        </p:spPr>
      </p:sp>
      <p:sp>
        <p:nvSpPr>
          <p:cNvPr id="7" name="Text 5"/>
          <p:cNvSpPr/>
          <p:nvPr/>
        </p:nvSpPr>
        <p:spPr>
          <a:xfrm>
            <a:off x="9400032" y="169164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10%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506456" y="1691640"/>
            <a:ext cx="1106424" cy="50292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9" name="Text 7"/>
          <p:cNvSpPr/>
          <p:nvPr/>
        </p:nvSpPr>
        <p:spPr>
          <a:xfrm>
            <a:off x="10506456" y="169164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602736" cy="320040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724912"/>
            <a:ext cx="566928" cy="566928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🏋️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72491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63040" y="303580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~60–80%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30998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weights &amp; patterns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used in backpropagation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→ better generalization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407408" y="2514600"/>
            <a:ext cx="3602736" cy="320040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724912"/>
            <a:ext cx="566928" cy="56692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21808" y="272491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Set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21808" y="303580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~10–15%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81728" y="3474720"/>
            <a:ext cx="30998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&amp; architecture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val loss to stop early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model-selection decisions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266176" y="2514600"/>
            <a:ext cx="3602736" cy="320040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724912"/>
            <a:ext cx="566928" cy="566928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24" name="Text 22"/>
          <p:cNvSpPr/>
          <p:nvPr/>
        </p:nvSpPr>
        <p:spPr>
          <a:xfrm>
            <a:off x="8522208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0576" y="272491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180576" y="303580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~10–15%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40496" y="3474720"/>
            <a:ext cx="30998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unbiased performance estimate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once — at the very end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real-world generalisation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548640" y="574243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0E1B3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742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stays independent — never let validation or test information influence training decisions.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Underfitting, Good Fit &amp; Overfitting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3063240"/>
          </a:xfrm>
          <a:prstGeom prst="roundRect">
            <a:avLst>
              <a:gd name="adj" fmla="val 2985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602736" cy="640080"/>
          </a:xfrm>
          <a:prstGeom prst="roundRect">
            <a:avLst>
              <a:gd name="adj" fmla="val 14286"/>
            </a:avLst>
          </a:prstGeom>
          <a:solidFill>
            <a:srgbClr val="C0504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602736" cy="18288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916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734056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09981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 to capture the pattern</a:t>
            </a:r>
            <a:endParaRPr lang="en-US" sz="126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train AND high validation error</a:t>
            </a:r>
            <a:endParaRPr lang="en-US" sz="126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more features/layers, train longer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407408" y="1691640"/>
            <a:ext cx="3602736" cy="3063240"/>
          </a:xfrm>
          <a:prstGeom prst="roundRect">
            <a:avLst>
              <a:gd name="adj" fmla="val 2985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691640"/>
            <a:ext cx="3602736" cy="640080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7408" y="2148840"/>
            <a:ext cx="3602736" cy="1828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6916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Fit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92824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81728" y="2514600"/>
            <a:ext cx="309981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true signal, ignores noise</a:t>
            </a:r>
            <a:endParaRPr lang="en-US" sz="126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train and low validation error</a:t>
            </a:r>
            <a:endParaRPr lang="en-US" sz="126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complexity — generalises well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266176" y="1691640"/>
            <a:ext cx="3602736" cy="3063240"/>
          </a:xfrm>
          <a:prstGeom prst="roundRect">
            <a:avLst>
              <a:gd name="adj" fmla="val 2985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691640"/>
            <a:ext cx="3602736" cy="640080"/>
          </a:xfrm>
          <a:prstGeom prst="roundRect">
            <a:avLst>
              <a:gd name="adj" fmla="val 14286"/>
            </a:avLst>
          </a:prstGeom>
          <a:solidFill>
            <a:srgbClr val="B5791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66176" y="2148840"/>
            <a:ext cx="3602736" cy="182880"/>
          </a:xfrm>
          <a:prstGeom prst="rect">
            <a:avLst/>
          </a:prstGeom>
          <a:solidFill>
            <a:srgbClr val="B5791A"/>
          </a:solidFill>
          <a:ln/>
        </p:spPr>
      </p:sp>
      <p:sp>
        <p:nvSpPr>
          <p:cNvPr id="19" name="Text 17"/>
          <p:cNvSpPr/>
          <p:nvPr/>
        </p:nvSpPr>
        <p:spPr>
          <a:xfrm>
            <a:off x="8522208" y="16916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451592" y="1691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0496" y="2514600"/>
            <a:ext cx="309981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memorises training data + noise</a:t>
            </a:r>
            <a:endParaRPr lang="en-US" sz="126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train, high validation error</a:t>
            </a:r>
            <a:endParaRPr lang="en-US" sz="126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regularization, dropout, more data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7040880" cy="1417320"/>
          </a:xfrm>
          <a:prstGeom prst="roundRect">
            <a:avLst>
              <a:gd name="adj" fmla="val 6452"/>
            </a:avLst>
          </a:prstGeom>
          <a:solidFill>
            <a:srgbClr val="0E1B3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9560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Bias–Variance Tradeoff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Error  =  Bias²  +  Variance  +  ε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8338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total error — the irreducible noise ε can't be removed.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48463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FF6E6"/>
          </a:solidFill>
          <a:ln w="12700">
            <a:solidFill>
              <a:srgbClr val="F3D9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4956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detect 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01000" y="5285232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gap between training and validation loss. Train loss ↓ while val loss ↑ is the classic overfitting signal.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CURBING OVERFITTING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 Techniques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adds constraints or penalties that keep the model simple, so it generalises to unseen data instead of memorising the training 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365760" cy="36576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25856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— Ridge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+ λ·Σw²  — shrinks all weights smoothly toward zero. Differentiable everywhere.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407408" y="205740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86000"/>
            <a:ext cx="365760" cy="365760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1" name="Text 9"/>
          <p:cNvSpPr/>
          <p:nvPr/>
        </p:nvSpPr>
        <p:spPr>
          <a:xfrm>
            <a:off x="5157216" y="225856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— Lasso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277063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+ λ·Σ|w|  — drives some weights exactly to zero, giving automatic feature selection.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266176" y="205740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2208" y="2286000"/>
            <a:ext cx="365760" cy="365760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15" name="Text 13"/>
          <p:cNvSpPr/>
          <p:nvPr/>
        </p:nvSpPr>
        <p:spPr>
          <a:xfrm>
            <a:off x="9015984" y="225856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0496" y="277063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zero-out neurons each step (rate p). Prevents co-adaptation; forces redundancy.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251960"/>
            <a:ext cx="365760" cy="365760"/>
          </a:xfrm>
          <a:prstGeom prst="ellipse">
            <a:avLst/>
          </a:prstGeom>
          <a:solidFill>
            <a:srgbClr val="7A5CC4"/>
          </a:solidFill>
          <a:ln/>
        </p:spPr>
      </p:sp>
      <p:sp>
        <p:nvSpPr>
          <p:cNvPr id="19" name="Text 17"/>
          <p:cNvSpPr/>
          <p:nvPr/>
        </p:nvSpPr>
        <p:spPr>
          <a:xfrm>
            <a:off x="1298448" y="422452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73659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validation loss; stop once it stops improving. Keeps the best checkpoint.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407408" y="402336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425196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5157216" y="422452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Normalization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81728" y="473659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layer activations for faster, more stable training.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266176" y="402336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2208" y="4251960"/>
            <a:ext cx="365760" cy="36576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7" name="Text 25"/>
          <p:cNvSpPr/>
          <p:nvPr/>
        </p:nvSpPr>
        <p:spPr>
          <a:xfrm>
            <a:off x="9015984" y="422452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Augmentation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40496" y="473659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training set with transforms — flip, crop, add noise.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Perceptron to Specialized Architectures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51560" y="2743200"/>
            <a:ext cx="10058400" cy="0"/>
          </a:xfrm>
          <a:prstGeom prst="line">
            <a:avLst/>
          </a:prstGeom>
          <a:noFill/>
          <a:ln w="25400">
            <a:solidFill>
              <a:srgbClr val="3A4E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2596896"/>
            <a:ext cx="292608" cy="292608"/>
          </a:xfrm>
          <a:prstGeom prst="ellipse">
            <a:avLst/>
          </a:prstGeom>
          <a:solidFill>
            <a:srgbClr val="2E5FA3"/>
          </a:solidFill>
          <a:ln w="25400">
            <a:solidFill>
              <a:srgbClr val="0E1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1958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1993392" cy="2514600"/>
          </a:xfrm>
          <a:prstGeom prst="roundRect">
            <a:avLst>
              <a:gd name="adj" fmla="val 4587"/>
            </a:avLst>
          </a:prstGeom>
          <a:solidFill>
            <a:srgbClr val="1C2C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918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Perceptron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362456" y="3767328"/>
            <a:ext cx="731520" cy="0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93192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neuron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boundary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activation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21608" y="2596896"/>
            <a:ext cx="292608" cy="292608"/>
          </a:xfrm>
          <a:prstGeom prst="ellipse">
            <a:avLst/>
          </a:prstGeom>
          <a:solidFill>
            <a:srgbClr val="3B7DD8"/>
          </a:solidFill>
          <a:ln w="25400">
            <a:solidFill>
              <a:srgbClr val="0E1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2057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7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871216" y="3154680"/>
            <a:ext cx="1993392" cy="2514600"/>
          </a:xfrm>
          <a:prstGeom prst="roundRect">
            <a:avLst>
              <a:gd name="adj" fmla="val 4587"/>
            </a:avLst>
          </a:prstGeom>
          <a:solidFill>
            <a:srgbClr val="1C2C4C"/>
          </a:solidFill>
          <a:ln/>
        </p:spPr>
      </p:sp>
      <p:sp>
        <p:nvSpPr>
          <p:cNvPr id="14" name="Text 12"/>
          <p:cNvSpPr/>
          <p:nvPr/>
        </p:nvSpPr>
        <p:spPr>
          <a:xfrm>
            <a:off x="2871216" y="32918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502152" y="3767328"/>
            <a:ext cx="731520" cy="0"/>
          </a:xfrm>
          <a:prstGeom prst="line">
            <a:avLst/>
          </a:prstGeom>
          <a:noFill/>
          <a:ln w="19050">
            <a:solidFill>
              <a:srgbClr val="3B7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5224" y="393192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approx.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61304" y="2596896"/>
            <a:ext cx="292608" cy="292608"/>
          </a:xfrm>
          <a:prstGeom prst="ellipse">
            <a:avLst/>
          </a:prstGeom>
          <a:solidFill>
            <a:srgbClr val="12A5A5"/>
          </a:solidFill>
          <a:ln w="25400">
            <a:solidFill>
              <a:srgbClr val="0E1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057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10912" y="3154680"/>
            <a:ext cx="1993392" cy="2514600"/>
          </a:xfrm>
          <a:prstGeom prst="roundRect">
            <a:avLst>
              <a:gd name="adj" fmla="val 4587"/>
            </a:avLst>
          </a:prstGeom>
          <a:solidFill>
            <a:srgbClr val="1C2C4C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32918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641848" y="3767328"/>
            <a:ext cx="731520" cy="0"/>
          </a:xfrm>
          <a:prstGeom prst="line">
            <a:avLst/>
          </a:prstGeom>
          <a:noFill/>
          <a:ln w="19050">
            <a:solidFill>
              <a:srgbClr val="12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93192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filters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tasks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01000" y="2596896"/>
            <a:ext cx="292608" cy="292608"/>
          </a:xfrm>
          <a:prstGeom prst="ellipse">
            <a:avLst/>
          </a:prstGeom>
          <a:solidFill>
            <a:srgbClr val="E0973B"/>
          </a:solidFill>
          <a:ln w="25400">
            <a:solidFill>
              <a:srgbClr val="0E1B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4888" y="2057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9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150608" y="3154680"/>
            <a:ext cx="1993392" cy="2514600"/>
          </a:xfrm>
          <a:prstGeom prst="roundRect">
            <a:avLst>
              <a:gd name="adj" fmla="val 4587"/>
            </a:avLst>
          </a:prstGeom>
          <a:solidFill>
            <a:srgbClr val="1C2C4C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32918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/ LSTM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781544" y="3767328"/>
            <a:ext cx="731520" cy="0"/>
          </a:xfrm>
          <a:prstGeom prst="line">
            <a:avLst/>
          </a:prstGeom>
          <a:noFill/>
          <a:ln w="19050">
            <a:solidFill>
              <a:srgbClr val="E097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14616" y="393192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time-series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140696" y="2596896"/>
            <a:ext cx="292608" cy="292608"/>
          </a:xfrm>
          <a:prstGeom prst="ellipse">
            <a:avLst/>
          </a:prstGeom>
          <a:solidFill>
            <a:srgbClr val="F4A62A"/>
          </a:solidFill>
          <a:ln w="25400">
            <a:solidFill>
              <a:srgbClr val="0E1B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44584" y="2057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2017→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290304" y="3154680"/>
            <a:ext cx="1993392" cy="2514600"/>
          </a:xfrm>
          <a:prstGeom prst="roundRect">
            <a:avLst>
              <a:gd name="adj" fmla="val 4587"/>
            </a:avLst>
          </a:prstGeom>
          <a:solidFill>
            <a:srgbClr val="1C2C4C"/>
          </a:solidFill>
          <a:ln/>
        </p:spPr>
      </p:sp>
      <p:sp>
        <p:nvSpPr>
          <p:cNvPr id="32" name="Text 30"/>
          <p:cNvSpPr/>
          <p:nvPr/>
        </p:nvSpPr>
        <p:spPr>
          <a:xfrm>
            <a:off x="9290304" y="32918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9921240" y="3767328"/>
            <a:ext cx="731520" cy="0"/>
          </a:xfrm>
          <a:prstGeom prst="line">
            <a:avLst/>
          </a:prstGeom>
          <a:noFill/>
          <a:ln w="19050">
            <a:solidFill>
              <a:srgbClr val="F4A6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54312" y="3931920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Parallelizable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/ GPT / BERT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specialization  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THAT SEE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CNN?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deep-learning architecture specialised for grid-structured data — primarily images. Inspired by the visual cortex, it uses learnable filters that slide over the input to detect edges, textures and shapes.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invariance:  </a:t>
            </a:r>
            <a:pPr indent="0" marL="0">
              <a:buNone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feature is detected wherever it appears in the image.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proposed by LeCun et al. (1989) for digit recognition.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75688"/>
            <a:ext cx="603504" cy="603504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756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6948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Connectivity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224028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connect to small regions, not the whole input.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263640" y="32004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584448"/>
            <a:ext cx="603504" cy="603504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584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6948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Weights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37490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filter is applied across every spatial location → far fewer parameters.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263640" y="4709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5093208"/>
            <a:ext cx="603504" cy="603504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5093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69480" y="4892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Hierarchy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52578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→ high-level features emerge through stacked layers.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NETWORK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 &amp; Components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43584" cy="685800"/>
          </a:xfrm>
          <a:prstGeom prst="roundRect">
            <a:avLst>
              <a:gd name="adj" fmla="val 13333"/>
            </a:avLst>
          </a:prstGeom>
          <a:solidFill>
            <a:srgbClr val="6B7A9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792224" y="1737360"/>
            <a:ext cx="146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274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1737360"/>
            <a:ext cx="1243584" cy="685800"/>
          </a:xfrm>
          <a:prstGeom prst="roundRect">
            <a:avLst>
              <a:gd name="adj" fmla="val 13333"/>
            </a:avLst>
          </a:prstGeom>
          <a:solidFill>
            <a:srgbClr val="2E5FA3"/>
          </a:solidFill>
          <a:ln/>
        </p:spPr>
      </p:sp>
      <p:sp>
        <p:nvSpPr>
          <p:cNvPr id="8" name="Text 6"/>
          <p:cNvSpPr/>
          <p:nvPr/>
        </p:nvSpPr>
        <p:spPr>
          <a:xfrm>
            <a:off x="1938528" y="173736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82112" y="1737360"/>
            <a:ext cx="146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274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28416" y="1737360"/>
            <a:ext cx="1243584" cy="685800"/>
          </a:xfrm>
          <a:prstGeom prst="roundRect">
            <a:avLst>
              <a:gd name="adj" fmla="val 13333"/>
            </a:avLst>
          </a:prstGeom>
          <a:solidFill>
            <a:srgbClr val="3B7DD8"/>
          </a:solidFill>
          <a:ln/>
        </p:spPr>
      </p:sp>
      <p:sp>
        <p:nvSpPr>
          <p:cNvPr id="11" name="Text 9"/>
          <p:cNvSpPr/>
          <p:nvPr/>
        </p:nvSpPr>
        <p:spPr>
          <a:xfrm>
            <a:off x="3328416" y="173736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46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274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1737360"/>
            <a:ext cx="1243584" cy="685800"/>
          </a:xfrm>
          <a:prstGeom prst="roundRect">
            <a:avLst>
              <a:gd name="adj" fmla="val 13333"/>
            </a:avLst>
          </a:prstGeom>
          <a:solidFill>
            <a:srgbClr val="12A5A5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73736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61888" y="1737360"/>
            <a:ext cx="146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274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8192" y="1737360"/>
            <a:ext cx="1243584" cy="685800"/>
          </a:xfrm>
          <a:prstGeom prst="roundRect">
            <a:avLst>
              <a:gd name="adj" fmla="val 13333"/>
            </a:avLst>
          </a:prstGeom>
          <a:solidFill>
            <a:srgbClr val="2E5FA3"/>
          </a:solidFill>
          <a:ln/>
        </p:spPr>
      </p:sp>
      <p:sp>
        <p:nvSpPr>
          <p:cNvPr id="17" name="Text 15"/>
          <p:cNvSpPr/>
          <p:nvPr/>
        </p:nvSpPr>
        <p:spPr>
          <a:xfrm>
            <a:off x="6108192" y="173736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51776" y="1737360"/>
            <a:ext cx="146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274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737360"/>
            <a:ext cx="1243584" cy="685800"/>
          </a:xfrm>
          <a:prstGeom prst="roundRect">
            <a:avLst>
              <a:gd name="adj" fmla="val 13333"/>
            </a:avLst>
          </a:prstGeom>
          <a:solidFill>
            <a:srgbClr val="E0973B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173736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41664" y="1737360"/>
            <a:ext cx="146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274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87968" y="1737360"/>
            <a:ext cx="1243584" cy="685800"/>
          </a:xfrm>
          <a:prstGeom prst="roundRect">
            <a:avLst>
              <a:gd name="adj" fmla="val 13333"/>
            </a:avLst>
          </a:prstGeom>
          <a:solidFill>
            <a:srgbClr val="F4A62A"/>
          </a:solidFill>
          <a:ln/>
        </p:spPr>
      </p:sp>
      <p:sp>
        <p:nvSpPr>
          <p:cNvPr id="23" name="Text 21"/>
          <p:cNvSpPr/>
          <p:nvPr/>
        </p:nvSpPr>
        <p:spPr>
          <a:xfrm>
            <a:off x="8887968" y="173736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131552" y="1737360"/>
            <a:ext cx="146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274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77856" y="1737360"/>
            <a:ext cx="1243584" cy="685800"/>
          </a:xfrm>
          <a:prstGeom prst="roundRect">
            <a:avLst>
              <a:gd name="adj" fmla="val 13333"/>
            </a:avLst>
          </a:prstGeom>
          <a:solidFill>
            <a:srgbClr val="7A5CC4"/>
          </a:solidFill>
          <a:ln/>
        </p:spPr>
      </p:sp>
      <p:sp>
        <p:nvSpPr>
          <p:cNvPr id="26" name="Text 24"/>
          <p:cNvSpPr/>
          <p:nvPr/>
        </p:nvSpPr>
        <p:spPr>
          <a:xfrm>
            <a:off x="10277856" y="173736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2514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Feature-map depth increases  →   spatial size decreases  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017520"/>
            <a:ext cx="5486400" cy="1572768"/>
          </a:xfrm>
          <a:prstGeom prst="roundRect">
            <a:avLst>
              <a:gd name="adj" fmla="val 5814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273552"/>
            <a:ext cx="310896" cy="310896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30" name="Text 28"/>
          <p:cNvSpPr/>
          <p:nvPr/>
        </p:nvSpPr>
        <p:spPr>
          <a:xfrm>
            <a:off x="1261872" y="3200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Layer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50976" y="3657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filters via dot product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feature maps of spatial patterns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kernel size, stride, padding, # filters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6291072" y="3017520"/>
            <a:ext cx="5486400" cy="1572768"/>
          </a:xfrm>
          <a:prstGeom prst="roundRect">
            <a:avLst>
              <a:gd name="adj" fmla="val 5814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5392" y="3273552"/>
            <a:ext cx="310896" cy="310896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34" name="Text 32"/>
          <p:cNvSpPr/>
          <p:nvPr/>
        </p:nvSpPr>
        <p:spPr>
          <a:xfrm>
            <a:off x="7004304" y="3200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(ReLU)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693408" y="3657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non-linearity: f(x) = max(0, x)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against vanishing gradients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Leaky ReLU, ELU, GELU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48640" y="4773168"/>
            <a:ext cx="5486400" cy="1572768"/>
          </a:xfrm>
          <a:prstGeom prst="roundRect">
            <a:avLst>
              <a:gd name="adj" fmla="val 5814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5029200"/>
            <a:ext cx="310896" cy="310896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38" name="Text 36"/>
          <p:cNvSpPr/>
          <p:nvPr/>
        </p:nvSpPr>
        <p:spPr>
          <a:xfrm>
            <a:off x="1261872" y="4956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 Layer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50976" y="541324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Downsamples feature maps (e.g. MaxPool)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translation invariance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parameters &amp; computation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6291072" y="4773168"/>
            <a:ext cx="5486400" cy="1572768"/>
          </a:xfrm>
          <a:prstGeom prst="roundRect">
            <a:avLst>
              <a:gd name="adj" fmla="val 5814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65392" y="5029200"/>
            <a:ext cx="310896" cy="310896"/>
          </a:xfrm>
          <a:prstGeom prst="ellipse">
            <a:avLst/>
          </a:prstGeom>
          <a:solidFill>
            <a:srgbClr val="7A5CC4"/>
          </a:solidFill>
          <a:ln/>
        </p:spPr>
      </p:sp>
      <p:sp>
        <p:nvSpPr>
          <p:cNvPr id="42" name="Text 40"/>
          <p:cNvSpPr/>
          <p:nvPr/>
        </p:nvSpPr>
        <p:spPr>
          <a:xfrm>
            <a:off x="7004304" y="4956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Connected Layer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693408" y="541324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spatial features into a vector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final classification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paired with Dropout</a:t>
            </a:r>
            <a:endParaRPr lang="en-US" sz="1180" dirty="0"/>
          </a:p>
        </p:txBody>
      </p:sp>
      <p:sp>
        <p:nvSpPr>
          <p:cNvPr id="44" name="Text 4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LIMITS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Applications &amp; Drawbacks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0" cy="274320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CNNs shine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face recognition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17520" y="26060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detection in MRI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Histopathology, CT screening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Domains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26060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Text-CNN for NLP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video understanding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6858000" cy="1463040"/>
          </a:xfrm>
          <a:prstGeom prst="roundRect">
            <a:avLst>
              <a:gd name="adj" fmla="val 6250"/>
            </a:avLst>
          </a:prstGeom>
          <a:solidFill>
            <a:srgbClr val="0E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architectures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21408" y="5166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21408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19856" y="5166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VGGNet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19856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18304" y="5166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8304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16752" y="5166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16752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35240" y="1691640"/>
            <a:ext cx="3977640" cy="4389120"/>
          </a:xfrm>
          <a:prstGeom prst="roundRect">
            <a:avLst>
              <a:gd name="adj" fmla="val 2299"/>
            </a:avLst>
          </a:prstGeom>
          <a:solidFill>
            <a:srgbClr val="FFF1F0"/>
          </a:solidFill>
          <a:ln w="12700">
            <a:solidFill>
              <a:srgbClr val="F1C9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19019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Drawbacks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0" y="233172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in / out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30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with variable-length sequences — sentences or videos.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sense of order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30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local windows independently — can't capture temporal context across time steps.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</a:t>
            </a:r>
            <a:endParaRPr lang="en-US" sz="1300" dirty="0"/>
          </a:p>
          <a:p>
            <a:pPr indent="0" marL="0">
              <a:buNone/>
            </a:pPr>
            <a:r>
              <a:rPr lang="en-US" sz="1230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relationships must travel through many layers — hard to learn.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5623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0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motivates RNNs &amp; Transformers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UP FOR DEEP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  →  PyTorch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is a great start for classical ML — but deep learning at scale needs the flexibility, autograd and GPU power of PyTorch.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40864"/>
            <a:ext cx="310896" cy="310896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30428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vs Flexible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30998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fit/predict APIs vs. any custom forward pass &amp; dynamic graphs.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407408" y="2103120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340864"/>
            <a:ext cx="310896" cy="310896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230428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vs Deep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2816352"/>
            <a:ext cx="30998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(SVMs, trees) vs. layer-level control for CNNs, RNNs, Transformers.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266176" y="2103120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2208" y="2340864"/>
            <a:ext cx="310896" cy="310896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15" name="Text 13"/>
          <p:cNvSpPr/>
          <p:nvPr/>
        </p:nvSpPr>
        <p:spPr>
          <a:xfrm>
            <a:off x="8951976" y="2304288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vs GPU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0496" y="2816352"/>
            <a:ext cx="30998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vs. tensors on GPU with .to('cuda') — 10–100× speedups.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48640" y="4087368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325112"/>
            <a:ext cx="310896" cy="310896"/>
          </a:xfrm>
          <a:prstGeom prst="ellipse">
            <a:avLst/>
          </a:prstGeom>
          <a:solidFill>
            <a:srgbClr val="7A5CC4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28853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vs Autograd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30998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gradients vs. automatic differentiation — essential for training nets.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407408" y="4087368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4325112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5093208" y="428853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vs Transparent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81728" y="4800600"/>
            <a:ext cx="30998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internals vs. every weight, activation and loss exposed.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266176" y="4087368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2208" y="4325112"/>
            <a:ext cx="310896" cy="31089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7" name="Text 25"/>
          <p:cNvSpPr/>
          <p:nvPr/>
        </p:nvSpPr>
        <p:spPr>
          <a:xfrm>
            <a:off x="8951976" y="428853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vs Industry Standard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40496" y="4800600"/>
            <a:ext cx="30998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research at Meta, Google, Tesla &amp; top universities.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WORDS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One-Hot to Dense Embeddings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1F0"/>
          </a:solidFill>
          <a:ln w="12700">
            <a:solidFill>
              <a:srgbClr val="F1C9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One-Hot / Sparse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 →  [0, 0, 1, 0, 0, …]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queen →  [0, 0, 0, 1, 0, …]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cos(king, queen) =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semantics — synonyms look unrelated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 per word → 50K-dim, 99%+ zeros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memory; no word order captured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Out-of-vocabulary words have no vector at all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870448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A5A5"/>
                </a:solidFill>
              </a:rPr>
              <a:t>→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5166360" cy="4389120"/>
          </a:xfrm>
          <a:prstGeom prst="roundRect">
            <a:avLst>
              <a:gd name="adj" fmla="val 2083"/>
            </a:avLst>
          </a:prstGeom>
          <a:solidFill>
            <a:srgbClr val="EEFAF7"/>
          </a:solidFill>
          <a:ln w="12700">
            <a:solidFill>
              <a:srgbClr val="B9E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9019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Dense Embeddings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720840" y="23317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 →  [0.21, -0.37, 0.88, …]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queen →  [0.19, -0.35, 0.85, …]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cos(king, queen) ≈ 0.99  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35661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(~300-dim), every value carries meaning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encodes meaning — similar words are close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~167× smaller in memory than one-hot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data — no hand-crafting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720840" y="5257800"/>
            <a:ext cx="4617720" cy="658368"/>
          </a:xfrm>
          <a:prstGeom prst="roundRect">
            <a:avLst>
              <a:gd name="adj" fmla="val 13889"/>
            </a:avLst>
          </a:prstGeom>
          <a:solidFill>
            <a:srgbClr val="0E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5257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A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vec(king) − vec(man) + vec(woman) ≈ vec(queen)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EMBEDDINGS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Word2Vec &amp; Distributional Semantics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E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shall know a word by the company it keeps”  </a:t>
            </a:r>
            <a:pPr indent="0" marL="0">
              <a:buNone/>
            </a:pPr>
            <a:r>
              <a:rPr lang="en-US" sz="130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J. R. Firth, 1957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16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Skip-gram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word → predict context words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862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[cat] sat”  →  the, sat, on</a:t>
            </a:r>
            <a:endParaRPr lang="en-US" sz="1300" dirty="0"/>
          </a:p>
          <a:p>
            <a:pPr indent="0" marL="0">
              <a:buNone/>
            </a:pPr>
            <a:r>
              <a:rPr lang="en-US" sz="1250" b="1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rare words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816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words → predict the center word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862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the, sat, on  →  [cat]</a:t>
            </a:r>
            <a:endParaRPr lang="en-US" sz="1300" dirty="0"/>
          </a:p>
          <a:p>
            <a:pPr indent="0" marL="0">
              <a:buNone/>
            </a:pPr>
            <a:r>
              <a:rPr lang="en-US" sz="1250" b="1" i="1" dirty="0">
                <a:solidFill>
                  <a:srgbClr val="C0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good for frequent words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6E6"/>
          </a:solidFill>
          <a:ln w="12700">
            <a:solidFill>
              <a:srgbClr val="F3D9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The catch: static embeddings can't handle polysemy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gives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per word</a:t>
            </a:r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regardless of context. “bank” (finance) 💰, “bank” (river) 🌊 and “bank” (plane) ✈️ collapse into a single averaged point.  →  motivates contextual embeddings.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ln w="254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A2A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764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 learn by backpropagation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63040" y="211226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 loss → chain-rule gradients → weight updates, repeated over many epochs.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85800" y="2679192"/>
            <a:ext cx="566928" cy="56692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6609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loss to the task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63040" y="30083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for regression, Binary Cross-Entropy for 2 classes, Categorical Cross-Entropy for many.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566928" cy="56692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35570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data &amp; guard against overfitting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63040" y="39044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test, then regularize — L1/L2, dropout, early stopping, more data.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85800" y="4471416"/>
            <a:ext cx="566928" cy="56692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471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453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CNNs see; but have limits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6304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filters + pooling build spatial hierarchies — yet fixed input and no order motivate newer models.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85800" y="5367528"/>
            <a:ext cx="566928" cy="56692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367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give meaning geometry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63040" y="569671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learned vectors (Word2Vec) beat sparse one-hot; static vectors still miss context.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  ·  Lecture 2 Summary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2026-08-06T13:44:35Z</dcterms:created>
  <dcterms:modified xsi:type="dcterms:W3CDTF">2026-08-06T13:44:35Z</dcterms:modified>
</cp:coreProperties>
</file>
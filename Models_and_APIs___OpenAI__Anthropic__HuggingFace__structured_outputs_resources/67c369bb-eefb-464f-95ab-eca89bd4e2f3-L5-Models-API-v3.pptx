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1" r:id="rId1"/>
  </p:sldMasterIdLst>
  <p:notesMasterIdLst>
    <p:notesMasterId r:id="rId77"/>
  </p:notesMasterIdLst>
  <p:sldIdLst>
    <p:sldId id="256" r:id="rId2"/>
    <p:sldId id="355" r:id="rId3"/>
    <p:sldId id="442" r:id="rId4"/>
    <p:sldId id="381" r:id="rId5"/>
    <p:sldId id="445" r:id="rId6"/>
    <p:sldId id="257" r:id="rId7"/>
    <p:sldId id="414" r:id="rId8"/>
    <p:sldId id="363" r:id="rId9"/>
    <p:sldId id="446" r:id="rId10"/>
    <p:sldId id="380" r:id="rId11"/>
    <p:sldId id="443" r:id="rId12"/>
    <p:sldId id="364" r:id="rId13"/>
    <p:sldId id="447" r:id="rId14"/>
    <p:sldId id="379" r:id="rId15"/>
    <p:sldId id="444" r:id="rId16"/>
    <p:sldId id="365" r:id="rId17"/>
    <p:sldId id="448" r:id="rId18"/>
    <p:sldId id="450" r:id="rId19"/>
    <p:sldId id="451" r:id="rId20"/>
    <p:sldId id="366" r:id="rId21"/>
    <p:sldId id="382" r:id="rId22"/>
    <p:sldId id="368" r:id="rId23"/>
    <p:sldId id="369" r:id="rId24"/>
    <p:sldId id="441" r:id="rId25"/>
    <p:sldId id="370" r:id="rId26"/>
    <p:sldId id="371" r:id="rId27"/>
    <p:sldId id="431" r:id="rId28"/>
    <p:sldId id="449" r:id="rId29"/>
    <p:sldId id="261" r:id="rId30"/>
    <p:sldId id="389" r:id="rId31"/>
    <p:sldId id="387" r:id="rId32"/>
    <p:sldId id="415" r:id="rId33"/>
    <p:sldId id="388" r:id="rId34"/>
    <p:sldId id="362" r:id="rId35"/>
    <p:sldId id="458" r:id="rId36"/>
    <p:sldId id="459" r:id="rId37"/>
    <p:sldId id="460" r:id="rId38"/>
    <p:sldId id="461" r:id="rId39"/>
    <p:sldId id="462" r:id="rId40"/>
    <p:sldId id="463" r:id="rId41"/>
    <p:sldId id="464" r:id="rId42"/>
    <p:sldId id="465" r:id="rId43"/>
    <p:sldId id="372" r:id="rId44"/>
    <p:sldId id="456" r:id="rId45"/>
    <p:sldId id="373" r:id="rId46"/>
    <p:sldId id="374" r:id="rId47"/>
    <p:sldId id="457" r:id="rId48"/>
    <p:sldId id="375" r:id="rId49"/>
    <p:sldId id="376" r:id="rId50"/>
    <p:sldId id="377" r:id="rId51"/>
    <p:sldId id="432" r:id="rId52"/>
    <p:sldId id="455" r:id="rId53"/>
    <p:sldId id="378" r:id="rId54"/>
    <p:sldId id="361" r:id="rId55"/>
    <p:sldId id="260" r:id="rId56"/>
    <p:sldId id="359" r:id="rId57"/>
    <p:sldId id="265" r:id="rId58"/>
    <p:sldId id="427" r:id="rId59"/>
    <p:sldId id="429" r:id="rId60"/>
    <p:sldId id="430" r:id="rId61"/>
    <p:sldId id="416" r:id="rId62"/>
    <p:sldId id="360" r:id="rId63"/>
    <p:sldId id="417" r:id="rId64"/>
    <p:sldId id="418" r:id="rId65"/>
    <p:sldId id="419" r:id="rId66"/>
    <p:sldId id="426" r:id="rId67"/>
    <p:sldId id="259" r:id="rId68"/>
    <p:sldId id="262" r:id="rId69"/>
    <p:sldId id="266" r:id="rId70"/>
    <p:sldId id="263" r:id="rId71"/>
    <p:sldId id="268" r:id="rId72"/>
    <p:sldId id="428" r:id="rId73"/>
    <p:sldId id="454" r:id="rId74"/>
    <p:sldId id="440" r:id="rId75"/>
    <p:sldId id="340" r:id="rId76"/>
  </p:sldIdLst>
  <p:sldSz cx="9144000" cy="5143500" type="screen16x9"/>
  <p:notesSz cx="6858000" cy="9144000"/>
  <p:embeddedFontLst>
    <p:embeddedFont>
      <p:font typeface="Andale Mono" panose="020B0509000000000004" pitchFamily="49" charset="0"/>
      <p:regular r:id="rId78"/>
    </p:embeddedFont>
    <p:embeddedFont>
      <p:font typeface="Cambria" panose="02040503050406030204" pitchFamily="18" charset="0"/>
      <p:regular r:id="rId79"/>
      <p:bold r:id="rId80"/>
      <p:italic r:id="rId81"/>
      <p:boldItalic r:id="rId82"/>
    </p:embeddedFont>
    <p:embeddedFont>
      <p:font typeface="Consolas" panose="020B0609020204030204" pitchFamily="49" charset="0"/>
      <p:regular r:id="rId83"/>
      <p:bold r:id="rId84"/>
      <p:italic r:id="rId85"/>
      <p:boldItalic r:id="rId86"/>
    </p:embeddedFont>
    <p:embeddedFont>
      <p:font typeface="Georgia" panose="02040502050405020303" pitchFamily="18" charset="0"/>
      <p:regular r:id="rId87"/>
      <p:bold r:id="rId88"/>
      <p:italic r:id="rId89"/>
      <p:boldItalic r:id="rId90"/>
    </p:embeddedFont>
    <p:embeddedFont>
      <p:font typeface="Roboto" panose="02000000000000000000" pitchFamily="2" charset="0"/>
      <p:regular r:id="rId91"/>
      <p:bold r:id="rId92"/>
      <p:italic r:id="rId93"/>
      <p:boldItalic r:id="rId94"/>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0241BF48-8AF9-4A6B-BECA-62D7C73CD4D3}">
  <a:tblStyle styleId="{0241BF48-8AF9-4A6B-BECA-62D7C73CD4D3}"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428"/>
    <p:restoredTop sz="83401"/>
  </p:normalViewPr>
  <p:slideViewPr>
    <p:cSldViewPr snapToGrid="0">
      <p:cViewPr varScale="1">
        <p:scale>
          <a:sx n="141" d="100"/>
          <a:sy n="141" d="100"/>
        </p:scale>
        <p:origin x="1352" y="176"/>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font" Target="fonts/font7.fntdata"/><Relationship Id="rId89" Type="http://schemas.openxmlformats.org/officeDocument/2006/relationships/font" Target="fonts/font12.fntdata"/><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font" Target="fonts/font2.fntdata"/><Relationship Id="rId5" Type="http://schemas.openxmlformats.org/officeDocument/2006/relationships/slide" Target="slides/slide4.xml"/><Relationship Id="rId90" Type="http://schemas.openxmlformats.org/officeDocument/2006/relationships/font" Target="fonts/font13.fntdata"/><Relationship Id="rId95" Type="http://schemas.openxmlformats.org/officeDocument/2006/relationships/presProps" Target="presProps.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font" Target="fonts/font3.fntdata"/><Relationship Id="rId85" Type="http://schemas.openxmlformats.org/officeDocument/2006/relationships/font" Target="fonts/font8.fnt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font" Target="fonts/font6.fntdata"/><Relationship Id="rId88" Type="http://schemas.openxmlformats.org/officeDocument/2006/relationships/font" Target="fonts/font11.fntdata"/><Relationship Id="rId91" Type="http://schemas.openxmlformats.org/officeDocument/2006/relationships/font" Target="fonts/font14.fntdata"/><Relationship Id="rId9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font" Target="fonts/font1.fntdata"/><Relationship Id="rId81" Type="http://schemas.openxmlformats.org/officeDocument/2006/relationships/font" Target="fonts/font4.fntdata"/><Relationship Id="rId86" Type="http://schemas.openxmlformats.org/officeDocument/2006/relationships/font" Target="fonts/font9.fntdata"/><Relationship Id="rId94" Type="http://schemas.openxmlformats.org/officeDocument/2006/relationships/font" Target="fonts/font17.fntdata"/><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theme" Target="theme/theme1.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font" Target="fonts/font15.fntdata"/><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font" Target="fonts/font10.fntdata"/><Relationship Id="rId61" Type="http://schemas.openxmlformats.org/officeDocument/2006/relationships/slide" Target="slides/slide60.xml"/><Relationship Id="rId82" Type="http://schemas.openxmlformats.org/officeDocument/2006/relationships/font" Target="fonts/font5.fntdata"/><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font" Target="fonts/font16.fntdata"/><Relationship Id="rId98"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p:cNvGrpSpPr/>
        <p:nvPr/>
      </p:nvGrpSpPr>
      <p:grpSpPr>
        <a:xfrm>
          <a:off x="0" y="0"/>
          <a:ext cx="0" cy="0"/>
          <a:chOff x="0" y="0"/>
          <a:chExt cx="0" cy="0"/>
        </a:xfrm>
      </p:grpSpPr>
      <p:sp>
        <p:nvSpPr>
          <p:cNvPr id="58" name="Google Shape;58;g3d7e6c64925_2_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59" name="Google Shape;59;g3d7e6c64925_2_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a:extLst>
            <a:ext uri="{FF2B5EF4-FFF2-40B4-BE49-F238E27FC236}">
              <a16:creationId xmlns:a16="http://schemas.microsoft.com/office/drawing/2014/main" id="{C1036D98-D10B-9BD3-506E-D69DEAD36D0F}"/>
            </a:ext>
          </a:extLst>
        </p:cNvPr>
        <p:cNvGrpSpPr/>
        <p:nvPr/>
      </p:nvGrpSpPr>
      <p:grpSpPr>
        <a:xfrm>
          <a:off x="0" y="0"/>
          <a:ext cx="0" cy="0"/>
          <a:chOff x="0" y="0"/>
          <a:chExt cx="0" cy="0"/>
        </a:xfrm>
      </p:grpSpPr>
      <p:sp>
        <p:nvSpPr>
          <p:cNvPr id="106" name="Google Shape;106;g3d4526267a8_3_18:notes">
            <a:extLst>
              <a:ext uri="{FF2B5EF4-FFF2-40B4-BE49-F238E27FC236}">
                <a16:creationId xmlns:a16="http://schemas.microsoft.com/office/drawing/2014/main" id="{DD72AA85-E7C0-80CC-982E-CBC15C4197F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07" name="Google Shape;107;g3d4526267a8_3_18:notes">
            <a:extLst>
              <a:ext uri="{FF2B5EF4-FFF2-40B4-BE49-F238E27FC236}">
                <a16:creationId xmlns:a16="http://schemas.microsoft.com/office/drawing/2014/main" id="{EB55E347-C3FE-BF30-A744-D18CC35DF1B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96053857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a:extLst>
            <a:ext uri="{FF2B5EF4-FFF2-40B4-BE49-F238E27FC236}">
              <a16:creationId xmlns:a16="http://schemas.microsoft.com/office/drawing/2014/main" id="{10132E9F-8239-03D3-FBD8-3465DF21F135}"/>
            </a:ext>
          </a:extLst>
        </p:cNvPr>
        <p:cNvGrpSpPr/>
        <p:nvPr/>
      </p:nvGrpSpPr>
      <p:grpSpPr>
        <a:xfrm>
          <a:off x="0" y="0"/>
          <a:ext cx="0" cy="0"/>
          <a:chOff x="0" y="0"/>
          <a:chExt cx="0" cy="0"/>
        </a:xfrm>
      </p:grpSpPr>
      <p:sp>
        <p:nvSpPr>
          <p:cNvPr id="106" name="Google Shape;106;g3d4526267a8_3_18:notes">
            <a:extLst>
              <a:ext uri="{FF2B5EF4-FFF2-40B4-BE49-F238E27FC236}">
                <a16:creationId xmlns:a16="http://schemas.microsoft.com/office/drawing/2014/main" id="{69854126-B856-FB78-FC04-ACFBD4997EA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07" name="Google Shape;107;g3d4526267a8_3_18:notes">
            <a:extLst>
              <a:ext uri="{FF2B5EF4-FFF2-40B4-BE49-F238E27FC236}">
                <a16:creationId xmlns:a16="http://schemas.microsoft.com/office/drawing/2014/main" id="{8EFC7672-F39C-08F4-82C3-679D4FA554B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32469332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92922716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97A44B-8B27-1B94-C5EA-3894AD19BC5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FC6B735-AD9F-AD8F-9139-815D5D62626E}"/>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3E3464B9-81F1-4F1C-1B19-6AD2D1E1CD4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EB7F2C2-6D48-D22F-F1BE-07774D4D0FA0}"/>
              </a:ext>
            </a:extLst>
          </p:cNvPr>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360440635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a:extLst>
            <a:ext uri="{FF2B5EF4-FFF2-40B4-BE49-F238E27FC236}">
              <a16:creationId xmlns:a16="http://schemas.microsoft.com/office/drawing/2014/main" id="{E9107707-FBD0-00DF-5140-241C10851875}"/>
            </a:ext>
          </a:extLst>
        </p:cNvPr>
        <p:cNvGrpSpPr/>
        <p:nvPr/>
      </p:nvGrpSpPr>
      <p:grpSpPr>
        <a:xfrm>
          <a:off x="0" y="0"/>
          <a:ext cx="0" cy="0"/>
          <a:chOff x="0" y="0"/>
          <a:chExt cx="0" cy="0"/>
        </a:xfrm>
      </p:grpSpPr>
      <p:sp>
        <p:nvSpPr>
          <p:cNvPr id="106" name="Google Shape;106;g3d4526267a8_3_18:notes">
            <a:extLst>
              <a:ext uri="{FF2B5EF4-FFF2-40B4-BE49-F238E27FC236}">
                <a16:creationId xmlns:a16="http://schemas.microsoft.com/office/drawing/2014/main" id="{69559B5C-CCAD-9FF5-51DD-6EF521CF8D8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07" name="Google Shape;107;g3d4526267a8_3_18:notes">
            <a:extLst>
              <a:ext uri="{FF2B5EF4-FFF2-40B4-BE49-F238E27FC236}">
                <a16:creationId xmlns:a16="http://schemas.microsoft.com/office/drawing/2014/main" id="{D610BD91-265D-8E87-ACE9-AF6F5CFE32D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887734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a:extLst>
            <a:ext uri="{FF2B5EF4-FFF2-40B4-BE49-F238E27FC236}">
              <a16:creationId xmlns:a16="http://schemas.microsoft.com/office/drawing/2014/main" id="{3A9B0CA1-D522-4E67-C6DC-A1C4929E8DE9}"/>
            </a:ext>
          </a:extLst>
        </p:cNvPr>
        <p:cNvGrpSpPr/>
        <p:nvPr/>
      </p:nvGrpSpPr>
      <p:grpSpPr>
        <a:xfrm>
          <a:off x="0" y="0"/>
          <a:ext cx="0" cy="0"/>
          <a:chOff x="0" y="0"/>
          <a:chExt cx="0" cy="0"/>
        </a:xfrm>
      </p:grpSpPr>
      <p:sp>
        <p:nvSpPr>
          <p:cNvPr id="106" name="Google Shape;106;g3d4526267a8_3_18:notes">
            <a:extLst>
              <a:ext uri="{FF2B5EF4-FFF2-40B4-BE49-F238E27FC236}">
                <a16:creationId xmlns:a16="http://schemas.microsoft.com/office/drawing/2014/main" id="{D6989FD9-9902-115B-75E3-8135F98AE0E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07" name="Google Shape;107;g3d4526267a8_3_18:notes">
            <a:extLst>
              <a:ext uri="{FF2B5EF4-FFF2-40B4-BE49-F238E27FC236}">
                <a16:creationId xmlns:a16="http://schemas.microsoft.com/office/drawing/2014/main" id="{44F8CDBA-4DFD-90B5-DD00-5C328FEBB53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40621432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25"/>
        <p:cNvGrpSpPr/>
        <p:nvPr/>
      </p:nvGrpSpPr>
      <p:grpSpPr>
        <a:xfrm>
          <a:off x="0" y="0"/>
          <a:ext cx="0" cy="0"/>
          <a:chOff x="0" y="0"/>
          <a:chExt cx="0" cy="0"/>
        </a:xfrm>
      </p:grpSpPr>
      <p:sp>
        <p:nvSpPr>
          <p:cNvPr id="2626" name="Google Shape;2626;g3d7337e18ce_0_2459:notes"/>
          <p:cNvSpPr>
            <a:spLocks noGrp="1" noRot="1" noChangeAspect="1"/>
          </p:cNvSpPr>
          <p:nvPr>
            <p:ph type="sldImg" idx="2"/>
          </p:nvPr>
        </p:nvSpPr>
        <p:spPr>
          <a:xfrm>
            <a:off x="1828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627" name="Google Shape;2627;g3d7337e18ce_0_2459:notes"/>
          <p:cNvSpPr txBox="1">
            <a:spLocks noGrp="1"/>
          </p:cNvSpPr>
          <p:nvPr>
            <p:ph type="body" idx="1"/>
          </p:nvPr>
        </p:nvSpPr>
        <p:spPr>
          <a:xfrm>
            <a:off x="914400" y="4400550"/>
            <a:ext cx="73152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100"/>
              <a:buNone/>
            </a:pPr>
            <a:endParaRPr/>
          </a:p>
        </p:txBody>
      </p:sp>
      <p:sp>
        <p:nvSpPr>
          <p:cNvPr id="2628" name="Google Shape;2628;g3d7337e18ce_0_2459:notes"/>
          <p:cNvSpPr txBox="1">
            <a:spLocks noGrp="1"/>
          </p:cNvSpPr>
          <p:nvPr>
            <p:ph type="sldNum" idx="12"/>
          </p:nvPr>
        </p:nvSpPr>
        <p:spPr>
          <a:xfrm>
            <a:off x="5179484" y="8685213"/>
            <a:ext cx="3962400" cy="4587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n" sz="1400" b="0" i="0" u="none" strike="noStrike" cap="none">
                <a:solidFill>
                  <a:srgbClr val="000000"/>
                </a:solidFill>
                <a:latin typeface="Arial"/>
                <a:ea typeface="Arial"/>
                <a:cs typeface="Arial"/>
                <a:sym typeface="Arial"/>
              </a:rPr>
              <a:t>43</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txBody>
          <a:bodyPr/>
          <a:lstStyle/>
          <a:p>
            <a:endParaRPr lang="en-IN"/>
          </a:p>
        </p:txBody>
      </p:sp>
      <p:sp>
        <p:nvSpPr>
          <p:cNvPr id="3" name="Notes Placeholder 2"/>
          <p:cNvSpPr>
            <a:spLocks noGrp="1"/>
          </p:cNvSpPr>
          <p:nvPr>
            <p:ph type="body" idx="1"/>
          </p:nvPr>
        </p:nvSpPr>
        <p:spPr/>
        <p:txBody>
          <a:bodyPr/>
          <a:lstStyle/>
          <a:p>
            <a:r>
              <a:rPr lang="en-US" dirty="0"/>
              <a:t>Temperature scales the logits before softmax: P(token) = softmax(logits / T). At T=0.0 decoding is effectively greedy/deterministic, so both runs return an identical completion. At T=1.0 the distribution is unscaled (natural randomness), giving related but distinct completions. At T=1.8 the distribution is flattened aggressively, increasing diversity (and risk of incoherence).</a:t>
            </a:r>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64"/>
        <p:cNvGrpSpPr/>
        <p:nvPr/>
      </p:nvGrpSpPr>
      <p:grpSpPr>
        <a:xfrm>
          <a:off x="0" y="0"/>
          <a:ext cx="0" cy="0"/>
          <a:chOff x="0" y="0"/>
          <a:chExt cx="0" cy="0"/>
        </a:xfrm>
      </p:grpSpPr>
      <p:sp>
        <p:nvSpPr>
          <p:cNvPr id="2665" name="Google Shape;2665;g3d7337e18ce_0_2497:notes"/>
          <p:cNvSpPr>
            <a:spLocks noGrp="1" noRot="1" noChangeAspect="1"/>
          </p:cNvSpPr>
          <p:nvPr>
            <p:ph type="sldImg" idx="2"/>
          </p:nvPr>
        </p:nvSpPr>
        <p:spPr>
          <a:xfrm>
            <a:off x="1828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666" name="Google Shape;2666;g3d7337e18ce_0_2497:notes"/>
          <p:cNvSpPr txBox="1">
            <a:spLocks noGrp="1"/>
          </p:cNvSpPr>
          <p:nvPr>
            <p:ph type="body" idx="1"/>
          </p:nvPr>
        </p:nvSpPr>
        <p:spPr>
          <a:xfrm>
            <a:off x="914400" y="4400550"/>
            <a:ext cx="73152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100"/>
              <a:buNone/>
            </a:pPr>
            <a:endParaRPr/>
          </a:p>
        </p:txBody>
      </p:sp>
      <p:sp>
        <p:nvSpPr>
          <p:cNvPr id="2667" name="Google Shape;2667;g3d7337e18ce_0_2497:notes"/>
          <p:cNvSpPr txBox="1">
            <a:spLocks noGrp="1"/>
          </p:cNvSpPr>
          <p:nvPr>
            <p:ph type="sldNum" idx="12"/>
          </p:nvPr>
        </p:nvSpPr>
        <p:spPr>
          <a:xfrm>
            <a:off x="5179484" y="8685213"/>
            <a:ext cx="3962400" cy="4587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n" sz="1400" b="0" i="0" u="none" strike="noStrike" cap="none">
                <a:solidFill>
                  <a:srgbClr val="000000"/>
                </a:solidFill>
                <a:latin typeface="Arial"/>
                <a:ea typeface="Arial"/>
                <a:cs typeface="Arial"/>
                <a:sym typeface="Arial"/>
              </a:rPr>
              <a:t>45</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27"/>
        <p:cNvGrpSpPr/>
        <p:nvPr/>
      </p:nvGrpSpPr>
      <p:grpSpPr>
        <a:xfrm>
          <a:off x="0" y="0"/>
          <a:ext cx="0" cy="0"/>
          <a:chOff x="0" y="0"/>
          <a:chExt cx="0" cy="0"/>
        </a:xfrm>
      </p:grpSpPr>
      <p:sp>
        <p:nvSpPr>
          <p:cNvPr id="2728" name="Google Shape;2728;g3d7337e18ce_0_2559:notes"/>
          <p:cNvSpPr>
            <a:spLocks noGrp="1" noRot="1" noChangeAspect="1"/>
          </p:cNvSpPr>
          <p:nvPr>
            <p:ph type="sldImg" idx="2"/>
          </p:nvPr>
        </p:nvSpPr>
        <p:spPr>
          <a:xfrm>
            <a:off x="1828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729" name="Google Shape;2729;g3d7337e18ce_0_2559:notes"/>
          <p:cNvSpPr txBox="1">
            <a:spLocks noGrp="1"/>
          </p:cNvSpPr>
          <p:nvPr>
            <p:ph type="body" idx="1"/>
          </p:nvPr>
        </p:nvSpPr>
        <p:spPr>
          <a:xfrm>
            <a:off x="914400" y="4400550"/>
            <a:ext cx="73152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100"/>
              <a:buNone/>
            </a:pPr>
            <a:endParaRPr/>
          </a:p>
        </p:txBody>
      </p:sp>
      <p:sp>
        <p:nvSpPr>
          <p:cNvPr id="2730" name="Google Shape;2730;g3d7337e18ce_0_2559:notes"/>
          <p:cNvSpPr txBox="1">
            <a:spLocks noGrp="1"/>
          </p:cNvSpPr>
          <p:nvPr>
            <p:ph type="sldNum" idx="12"/>
          </p:nvPr>
        </p:nvSpPr>
        <p:spPr>
          <a:xfrm>
            <a:off x="5179484" y="8685213"/>
            <a:ext cx="3962400" cy="4587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n" sz="1400" b="0" i="0" u="none" strike="noStrike" cap="none">
                <a:solidFill>
                  <a:srgbClr val="000000"/>
                </a:solidFill>
                <a:latin typeface="Arial"/>
                <a:ea typeface="Arial"/>
                <a:cs typeface="Arial"/>
                <a:sym typeface="Arial"/>
              </a:rPr>
              <a:t>46</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txBody>
          <a:bodyPr/>
          <a:lstStyle/>
          <a:p>
            <a:endParaRPr lang="en-IN"/>
          </a:p>
        </p:txBody>
      </p:sp>
      <p:sp>
        <p:nvSpPr>
          <p:cNvPr id="3" name="Notes Placeholder 2"/>
          <p:cNvSpPr>
            <a:spLocks noGrp="1"/>
          </p:cNvSpPr>
          <p:nvPr>
            <p:ph type="body" idx="1"/>
          </p:nvPr>
        </p:nvSpPr>
        <p:spPr/>
        <p:txBody>
          <a:bodyPr/>
          <a:lstStyle/>
          <a:p>
            <a:r>
              <a:rPr lang="en-US" dirty="0"/>
              <a:t>Top-p (nucleus) sampling restricts the candidate pool to the smallest set of tokens whose cumulative probability reaches p, then samples from that renormalized set. With p=0.3 the candidate pool is small, so two of three completions come out identical (choices 1 and 2). With p=1.0 the full distribution is eligible, producing three distinctly different research directions, run alongside temperature=0.8 and n=3.</a:t>
            </a:r>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17"/>
        <p:cNvGrpSpPr/>
        <p:nvPr/>
      </p:nvGrpSpPr>
      <p:grpSpPr>
        <a:xfrm>
          <a:off x="0" y="0"/>
          <a:ext cx="0" cy="0"/>
          <a:chOff x="0" y="0"/>
          <a:chExt cx="0" cy="0"/>
        </a:xfrm>
      </p:grpSpPr>
      <p:sp>
        <p:nvSpPr>
          <p:cNvPr id="2818" name="Google Shape;2818;g3d7337e18ce_0_2648:notes"/>
          <p:cNvSpPr>
            <a:spLocks noGrp="1" noRot="1" noChangeAspect="1"/>
          </p:cNvSpPr>
          <p:nvPr>
            <p:ph type="sldImg" idx="2"/>
          </p:nvPr>
        </p:nvSpPr>
        <p:spPr>
          <a:xfrm>
            <a:off x="1828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819" name="Google Shape;2819;g3d7337e18ce_0_2648:notes"/>
          <p:cNvSpPr txBox="1">
            <a:spLocks noGrp="1"/>
          </p:cNvSpPr>
          <p:nvPr>
            <p:ph type="body" idx="1"/>
          </p:nvPr>
        </p:nvSpPr>
        <p:spPr>
          <a:xfrm>
            <a:off x="914400" y="4400550"/>
            <a:ext cx="73152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100"/>
              <a:buNone/>
            </a:pPr>
            <a:endParaRPr/>
          </a:p>
        </p:txBody>
      </p:sp>
      <p:sp>
        <p:nvSpPr>
          <p:cNvPr id="2820" name="Google Shape;2820;g3d7337e18ce_0_2648:notes"/>
          <p:cNvSpPr txBox="1">
            <a:spLocks noGrp="1"/>
          </p:cNvSpPr>
          <p:nvPr>
            <p:ph type="sldNum" idx="12"/>
          </p:nvPr>
        </p:nvSpPr>
        <p:spPr>
          <a:xfrm>
            <a:off x="5179484" y="8685213"/>
            <a:ext cx="3962400" cy="4587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n" sz="1400" b="0" i="0" u="none" strike="noStrike" cap="none">
                <a:solidFill>
                  <a:srgbClr val="000000"/>
                </a:solidFill>
                <a:latin typeface="Arial"/>
                <a:ea typeface="Arial"/>
                <a:cs typeface="Arial"/>
                <a:sym typeface="Arial"/>
              </a:rPr>
              <a:t>48</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54"/>
        <p:cNvGrpSpPr/>
        <p:nvPr/>
      </p:nvGrpSpPr>
      <p:grpSpPr>
        <a:xfrm>
          <a:off x="0" y="0"/>
          <a:ext cx="0" cy="0"/>
          <a:chOff x="0" y="0"/>
          <a:chExt cx="0" cy="0"/>
        </a:xfrm>
      </p:grpSpPr>
      <p:sp>
        <p:nvSpPr>
          <p:cNvPr id="2855" name="Google Shape;2855;g3d7337e18ce_0_2684:notes"/>
          <p:cNvSpPr>
            <a:spLocks noGrp="1" noRot="1" noChangeAspect="1"/>
          </p:cNvSpPr>
          <p:nvPr>
            <p:ph type="sldImg" idx="2"/>
          </p:nvPr>
        </p:nvSpPr>
        <p:spPr>
          <a:xfrm>
            <a:off x="1828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856" name="Google Shape;2856;g3d7337e18ce_0_2684:notes"/>
          <p:cNvSpPr txBox="1">
            <a:spLocks noGrp="1"/>
          </p:cNvSpPr>
          <p:nvPr>
            <p:ph type="body" idx="1"/>
          </p:nvPr>
        </p:nvSpPr>
        <p:spPr>
          <a:xfrm>
            <a:off x="914400" y="4400550"/>
            <a:ext cx="73152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100"/>
              <a:buNone/>
            </a:pPr>
            <a:endParaRPr/>
          </a:p>
        </p:txBody>
      </p:sp>
      <p:sp>
        <p:nvSpPr>
          <p:cNvPr id="2857" name="Google Shape;2857;g3d7337e18ce_0_2684:notes"/>
          <p:cNvSpPr txBox="1">
            <a:spLocks noGrp="1"/>
          </p:cNvSpPr>
          <p:nvPr>
            <p:ph type="sldNum" idx="12"/>
          </p:nvPr>
        </p:nvSpPr>
        <p:spPr>
          <a:xfrm>
            <a:off x="5179484" y="8685213"/>
            <a:ext cx="3962400" cy="4587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n" sz="1400" b="0" i="0" u="none" strike="noStrike" cap="none">
                <a:solidFill>
                  <a:srgbClr val="000000"/>
                </a:solidFill>
                <a:latin typeface="Arial"/>
                <a:ea typeface="Arial"/>
                <a:cs typeface="Arial"/>
                <a:sym typeface="Arial"/>
              </a:rPr>
              <a:t>49</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91"/>
        <p:cNvGrpSpPr/>
        <p:nvPr/>
      </p:nvGrpSpPr>
      <p:grpSpPr>
        <a:xfrm>
          <a:off x="0" y="0"/>
          <a:ext cx="0" cy="0"/>
          <a:chOff x="0" y="0"/>
          <a:chExt cx="0" cy="0"/>
        </a:xfrm>
      </p:grpSpPr>
      <p:sp>
        <p:nvSpPr>
          <p:cNvPr id="2892" name="Google Shape;2892;g3d7337e18ce_0_2720:notes"/>
          <p:cNvSpPr>
            <a:spLocks noGrp="1" noRot="1" noChangeAspect="1"/>
          </p:cNvSpPr>
          <p:nvPr>
            <p:ph type="sldImg" idx="2"/>
          </p:nvPr>
        </p:nvSpPr>
        <p:spPr>
          <a:xfrm>
            <a:off x="1828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893" name="Google Shape;2893;g3d7337e18ce_0_2720:notes"/>
          <p:cNvSpPr txBox="1">
            <a:spLocks noGrp="1"/>
          </p:cNvSpPr>
          <p:nvPr>
            <p:ph type="body" idx="1"/>
          </p:nvPr>
        </p:nvSpPr>
        <p:spPr>
          <a:xfrm>
            <a:off x="914400" y="4400550"/>
            <a:ext cx="73152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100"/>
              <a:buNone/>
            </a:pPr>
            <a:endParaRPr/>
          </a:p>
        </p:txBody>
      </p:sp>
      <p:sp>
        <p:nvSpPr>
          <p:cNvPr id="2894" name="Google Shape;2894;g3d7337e18ce_0_2720:notes"/>
          <p:cNvSpPr txBox="1">
            <a:spLocks noGrp="1"/>
          </p:cNvSpPr>
          <p:nvPr>
            <p:ph type="sldNum" idx="12"/>
          </p:nvPr>
        </p:nvSpPr>
        <p:spPr>
          <a:xfrm>
            <a:off x="5179484" y="8685213"/>
            <a:ext cx="3962400" cy="4587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n" sz="1400" b="0" i="0" u="none" strike="noStrike" cap="none">
                <a:solidFill>
                  <a:srgbClr val="000000"/>
                </a:solidFill>
                <a:latin typeface="Arial"/>
                <a:ea typeface="Arial"/>
                <a:cs typeface="Arial"/>
                <a:sym typeface="Arial"/>
              </a:rPr>
              <a:t>50</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72"/>
        <p:cNvGrpSpPr/>
        <p:nvPr/>
      </p:nvGrpSpPr>
      <p:grpSpPr>
        <a:xfrm>
          <a:off x="0" y="0"/>
          <a:ext cx="0" cy="0"/>
          <a:chOff x="0" y="0"/>
          <a:chExt cx="0" cy="0"/>
        </a:xfrm>
      </p:grpSpPr>
      <p:sp>
        <p:nvSpPr>
          <p:cNvPr id="2973" name="Google Shape;2973;g3d7337e18ce_0_2800:notes"/>
          <p:cNvSpPr>
            <a:spLocks noGrp="1" noRot="1" noChangeAspect="1"/>
          </p:cNvSpPr>
          <p:nvPr>
            <p:ph type="sldImg" idx="2"/>
          </p:nvPr>
        </p:nvSpPr>
        <p:spPr>
          <a:xfrm>
            <a:off x="1828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974" name="Google Shape;2974;g3d7337e18ce_0_2800:notes"/>
          <p:cNvSpPr txBox="1">
            <a:spLocks noGrp="1"/>
          </p:cNvSpPr>
          <p:nvPr>
            <p:ph type="body" idx="1"/>
          </p:nvPr>
        </p:nvSpPr>
        <p:spPr>
          <a:xfrm>
            <a:off x="914400" y="4400550"/>
            <a:ext cx="73152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100"/>
              <a:buNone/>
            </a:pPr>
            <a:endParaRPr/>
          </a:p>
        </p:txBody>
      </p:sp>
      <p:sp>
        <p:nvSpPr>
          <p:cNvPr id="2975" name="Google Shape;2975;g3d7337e18ce_0_2800:notes"/>
          <p:cNvSpPr txBox="1">
            <a:spLocks noGrp="1"/>
          </p:cNvSpPr>
          <p:nvPr>
            <p:ph type="sldNum" idx="12"/>
          </p:nvPr>
        </p:nvSpPr>
        <p:spPr>
          <a:xfrm>
            <a:off x="5179484" y="8685213"/>
            <a:ext cx="3962400" cy="4587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n" sz="1400" b="0" i="0" u="none" strike="noStrike" cap="none">
                <a:solidFill>
                  <a:srgbClr val="000000"/>
                </a:solidFill>
                <a:latin typeface="Arial"/>
                <a:ea typeface="Arial"/>
                <a:cs typeface="Arial"/>
                <a:sym typeface="Arial"/>
              </a:rPr>
              <a:t>53</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a:extLst>
            <a:ext uri="{FF2B5EF4-FFF2-40B4-BE49-F238E27FC236}">
              <a16:creationId xmlns:a16="http://schemas.microsoft.com/office/drawing/2014/main" id="{3E7025CC-4D9D-9586-693B-5A3EA571F4C8}"/>
            </a:ext>
          </a:extLst>
        </p:cNvPr>
        <p:cNvGrpSpPr/>
        <p:nvPr/>
      </p:nvGrpSpPr>
      <p:grpSpPr>
        <a:xfrm>
          <a:off x="0" y="0"/>
          <a:ext cx="0" cy="0"/>
          <a:chOff x="0" y="0"/>
          <a:chExt cx="0" cy="0"/>
        </a:xfrm>
      </p:grpSpPr>
      <p:sp>
        <p:nvSpPr>
          <p:cNvPr id="106" name="Google Shape;106;g3d4526267a8_3_18:notes">
            <a:extLst>
              <a:ext uri="{FF2B5EF4-FFF2-40B4-BE49-F238E27FC236}">
                <a16:creationId xmlns:a16="http://schemas.microsoft.com/office/drawing/2014/main" id="{55E7E880-A652-0CF6-42D5-9FE95C8B3FC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07" name="Google Shape;107;g3d4526267a8_3_18:notes">
            <a:extLst>
              <a:ext uri="{FF2B5EF4-FFF2-40B4-BE49-F238E27FC236}">
                <a16:creationId xmlns:a16="http://schemas.microsoft.com/office/drawing/2014/main" id="{2D4256A7-E5A3-BF55-FE42-7826F8168BA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264235932"/>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1"/>
        <p:cNvGrpSpPr/>
        <p:nvPr/>
      </p:nvGrpSpPr>
      <p:grpSpPr>
        <a:xfrm>
          <a:off x="0" y="0"/>
          <a:ext cx="0" cy="0"/>
          <a:chOff x="0" y="0"/>
          <a:chExt cx="0" cy="0"/>
        </a:xfrm>
      </p:grpSpPr>
      <p:sp>
        <p:nvSpPr>
          <p:cNvPr id="182" name="Google Shape;182;g3de5bcac26a_0_18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3" name="Google Shape;183;g3de5bcac26a_0_18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
        <p:cNvGrpSpPr/>
        <p:nvPr/>
      </p:nvGrpSpPr>
      <p:grpSpPr>
        <a:xfrm>
          <a:off x="0" y="0"/>
          <a:ext cx="0" cy="0"/>
          <a:chOff x="0" y="0"/>
          <a:chExt cx="0" cy="0"/>
        </a:xfrm>
      </p:grpSpPr>
      <p:sp>
        <p:nvSpPr>
          <p:cNvPr id="192" name="Google Shape;192;g3de5bcac26a_0_1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3" name="Google Shape;193;g3de5bcac26a_0_1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7"/>
        <p:cNvGrpSpPr/>
        <p:nvPr/>
      </p:nvGrpSpPr>
      <p:grpSpPr>
        <a:xfrm>
          <a:off x="0" y="0"/>
          <a:ext cx="0" cy="0"/>
          <a:chOff x="0" y="0"/>
          <a:chExt cx="0" cy="0"/>
        </a:xfrm>
      </p:grpSpPr>
      <p:sp>
        <p:nvSpPr>
          <p:cNvPr id="228" name="Google Shape;228;g3de5bcac26a_0_232: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29" name="Google Shape;229;g3de5bcac26a_0_232:notes"/>
          <p:cNvSpPr txBox="1">
            <a:spLocks noGrp="1"/>
          </p:cNvSpPr>
          <p:nvPr>
            <p:ph type="body" idx="1"/>
          </p:nvPr>
        </p:nvSpPr>
        <p:spPr>
          <a:xfrm>
            <a:off x="0" y="0"/>
            <a:ext cx="39999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230" name="Google Shape;230;g3de5bcac26a_0_232:notes"/>
          <p:cNvSpPr txBox="1">
            <a:spLocks noGrp="1"/>
          </p:cNvSpPr>
          <p:nvPr>
            <p:ph type="sldNum" idx="12"/>
          </p:nvPr>
        </p:nvSpPr>
        <p:spPr>
          <a:xfrm>
            <a:off x="0" y="0"/>
            <a:ext cx="39999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 sz="1800">
                <a:solidFill>
                  <a:schemeClr val="dk1"/>
                </a:solidFill>
                <a:latin typeface="Calibri"/>
                <a:ea typeface="Calibri"/>
                <a:cs typeface="Calibri"/>
                <a:sym typeface="Calibri"/>
              </a:rPr>
              <a:t>57</a:t>
            </a:fld>
            <a:endParaRPr sz="1800">
              <a:solidFill>
                <a:schemeClr val="dk1"/>
              </a:solidFill>
              <a:latin typeface="Calibri"/>
              <a:ea typeface="Calibri"/>
              <a:cs typeface="Calibri"/>
              <a:sym typeface="Calibri"/>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7">
          <a:extLst>
            <a:ext uri="{FF2B5EF4-FFF2-40B4-BE49-F238E27FC236}">
              <a16:creationId xmlns:a16="http://schemas.microsoft.com/office/drawing/2014/main" id="{6C977F72-A2B6-BC6C-8032-458E06E33397}"/>
            </a:ext>
          </a:extLst>
        </p:cNvPr>
        <p:cNvGrpSpPr/>
        <p:nvPr/>
      </p:nvGrpSpPr>
      <p:grpSpPr>
        <a:xfrm>
          <a:off x="0" y="0"/>
          <a:ext cx="0" cy="0"/>
          <a:chOff x="0" y="0"/>
          <a:chExt cx="0" cy="0"/>
        </a:xfrm>
      </p:grpSpPr>
      <p:sp>
        <p:nvSpPr>
          <p:cNvPr id="228" name="Google Shape;228;g3de5bcac26a_0_232:notes">
            <a:extLst>
              <a:ext uri="{FF2B5EF4-FFF2-40B4-BE49-F238E27FC236}">
                <a16:creationId xmlns:a16="http://schemas.microsoft.com/office/drawing/2014/main" id="{568CD8D0-4234-2A0C-30AE-8C33FC021569}"/>
              </a:ext>
            </a:extLst>
          </p:cNvPr>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29" name="Google Shape;229;g3de5bcac26a_0_232:notes">
            <a:extLst>
              <a:ext uri="{FF2B5EF4-FFF2-40B4-BE49-F238E27FC236}">
                <a16:creationId xmlns:a16="http://schemas.microsoft.com/office/drawing/2014/main" id="{A4420665-378B-BD6A-391C-B2CFCB79EFA0}"/>
              </a:ext>
            </a:extLst>
          </p:cNvPr>
          <p:cNvSpPr txBox="1">
            <a:spLocks noGrp="1"/>
          </p:cNvSpPr>
          <p:nvPr>
            <p:ph type="body" idx="1"/>
          </p:nvPr>
        </p:nvSpPr>
        <p:spPr>
          <a:xfrm>
            <a:off x="0" y="0"/>
            <a:ext cx="39999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230" name="Google Shape;230;g3de5bcac26a_0_232:notes">
            <a:extLst>
              <a:ext uri="{FF2B5EF4-FFF2-40B4-BE49-F238E27FC236}">
                <a16:creationId xmlns:a16="http://schemas.microsoft.com/office/drawing/2014/main" id="{0E96350D-F372-76F0-639E-FAA00B0DA15F}"/>
              </a:ext>
            </a:extLst>
          </p:cNvPr>
          <p:cNvSpPr txBox="1">
            <a:spLocks noGrp="1"/>
          </p:cNvSpPr>
          <p:nvPr>
            <p:ph type="sldNum" idx="12"/>
          </p:nvPr>
        </p:nvSpPr>
        <p:spPr>
          <a:xfrm>
            <a:off x="0" y="0"/>
            <a:ext cx="39999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 sz="1800">
                <a:solidFill>
                  <a:schemeClr val="dk1"/>
                </a:solidFill>
                <a:latin typeface="Calibri"/>
                <a:ea typeface="Calibri"/>
                <a:cs typeface="Calibri"/>
                <a:sym typeface="Calibri"/>
              </a:rPr>
              <a:t>58</a:t>
            </a:fld>
            <a:endParaRPr sz="180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7935000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7">
          <a:extLst>
            <a:ext uri="{FF2B5EF4-FFF2-40B4-BE49-F238E27FC236}">
              <a16:creationId xmlns:a16="http://schemas.microsoft.com/office/drawing/2014/main" id="{9033A38A-7CAA-B9A2-BC30-37C1D9A83CCB}"/>
            </a:ext>
          </a:extLst>
        </p:cNvPr>
        <p:cNvGrpSpPr/>
        <p:nvPr/>
      </p:nvGrpSpPr>
      <p:grpSpPr>
        <a:xfrm>
          <a:off x="0" y="0"/>
          <a:ext cx="0" cy="0"/>
          <a:chOff x="0" y="0"/>
          <a:chExt cx="0" cy="0"/>
        </a:xfrm>
      </p:grpSpPr>
      <p:sp>
        <p:nvSpPr>
          <p:cNvPr id="228" name="Google Shape;228;g3de5bcac26a_0_232:notes">
            <a:extLst>
              <a:ext uri="{FF2B5EF4-FFF2-40B4-BE49-F238E27FC236}">
                <a16:creationId xmlns:a16="http://schemas.microsoft.com/office/drawing/2014/main" id="{BE5C9EDE-8C52-E6BD-0851-DEE1C11675A7}"/>
              </a:ext>
            </a:extLst>
          </p:cNvPr>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29" name="Google Shape;229;g3de5bcac26a_0_232:notes">
            <a:extLst>
              <a:ext uri="{FF2B5EF4-FFF2-40B4-BE49-F238E27FC236}">
                <a16:creationId xmlns:a16="http://schemas.microsoft.com/office/drawing/2014/main" id="{377E2CB3-4332-D26D-056D-0002D02A7B4B}"/>
              </a:ext>
            </a:extLst>
          </p:cNvPr>
          <p:cNvSpPr txBox="1">
            <a:spLocks noGrp="1"/>
          </p:cNvSpPr>
          <p:nvPr>
            <p:ph type="body" idx="1"/>
          </p:nvPr>
        </p:nvSpPr>
        <p:spPr>
          <a:xfrm>
            <a:off x="0" y="0"/>
            <a:ext cx="39999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230" name="Google Shape;230;g3de5bcac26a_0_232:notes">
            <a:extLst>
              <a:ext uri="{FF2B5EF4-FFF2-40B4-BE49-F238E27FC236}">
                <a16:creationId xmlns:a16="http://schemas.microsoft.com/office/drawing/2014/main" id="{9FAD6B34-06A5-E9F8-8EB4-620B1E24AF5E}"/>
              </a:ext>
            </a:extLst>
          </p:cNvPr>
          <p:cNvSpPr txBox="1">
            <a:spLocks noGrp="1"/>
          </p:cNvSpPr>
          <p:nvPr>
            <p:ph type="sldNum" idx="12"/>
          </p:nvPr>
        </p:nvSpPr>
        <p:spPr>
          <a:xfrm>
            <a:off x="0" y="0"/>
            <a:ext cx="39999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 sz="1800">
                <a:solidFill>
                  <a:schemeClr val="dk1"/>
                </a:solidFill>
                <a:latin typeface="Calibri"/>
                <a:ea typeface="Calibri"/>
                <a:cs typeface="Calibri"/>
                <a:sym typeface="Calibri"/>
              </a:rPr>
              <a:t>59</a:t>
            </a:fld>
            <a:endParaRPr sz="180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737872230"/>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7">
          <a:extLst>
            <a:ext uri="{FF2B5EF4-FFF2-40B4-BE49-F238E27FC236}">
              <a16:creationId xmlns:a16="http://schemas.microsoft.com/office/drawing/2014/main" id="{88F6E116-2A32-5E4F-98A2-2B79A6896058}"/>
            </a:ext>
          </a:extLst>
        </p:cNvPr>
        <p:cNvGrpSpPr/>
        <p:nvPr/>
      </p:nvGrpSpPr>
      <p:grpSpPr>
        <a:xfrm>
          <a:off x="0" y="0"/>
          <a:ext cx="0" cy="0"/>
          <a:chOff x="0" y="0"/>
          <a:chExt cx="0" cy="0"/>
        </a:xfrm>
      </p:grpSpPr>
      <p:sp>
        <p:nvSpPr>
          <p:cNvPr id="228" name="Google Shape;228;g3de5bcac26a_0_232:notes">
            <a:extLst>
              <a:ext uri="{FF2B5EF4-FFF2-40B4-BE49-F238E27FC236}">
                <a16:creationId xmlns:a16="http://schemas.microsoft.com/office/drawing/2014/main" id="{A4422C5A-03AF-B521-BC91-546485BDEC2A}"/>
              </a:ext>
            </a:extLst>
          </p:cNvPr>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29" name="Google Shape;229;g3de5bcac26a_0_232:notes">
            <a:extLst>
              <a:ext uri="{FF2B5EF4-FFF2-40B4-BE49-F238E27FC236}">
                <a16:creationId xmlns:a16="http://schemas.microsoft.com/office/drawing/2014/main" id="{7966559E-FBC1-5D52-6A39-430C7EB866A0}"/>
              </a:ext>
            </a:extLst>
          </p:cNvPr>
          <p:cNvSpPr txBox="1">
            <a:spLocks noGrp="1"/>
          </p:cNvSpPr>
          <p:nvPr>
            <p:ph type="body" idx="1"/>
          </p:nvPr>
        </p:nvSpPr>
        <p:spPr>
          <a:xfrm>
            <a:off x="0" y="0"/>
            <a:ext cx="39999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230" name="Google Shape;230;g3de5bcac26a_0_232:notes">
            <a:extLst>
              <a:ext uri="{FF2B5EF4-FFF2-40B4-BE49-F238E27FC236}">
                <a16:creationId xmlns:a16="http://schemas.microsoft.com/office/drawing/2014/main" id="{CF9F3578-C24D-9C2C-A951-B3E058F171C0}"/>
              </a:ext>
            </a:extLst>
          </p:cNvPr>
          <p:cNvSpPr txBox="1">
            <a:spLocks noGrp="1"/>
          </p:cNvSpPr>
          <p:nvPr>
            <p:ph type="sldNum" idx="12"/>
          </p:nvPr>
        </p:nvSpPr>
        <p:spPr>
          <a:xfrm>
            <a:off x="0" y="0"/>
            <a:ext cx="39999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 sz="1800">
                <a:solidFill>
                  <a:schemeClr val="dk1"/>
                </a:solidFill>
                <a:latin typeface="Calibri"/>
                <a:ea typeface="Calibri"/>
                <a:cs typeface="Calibri"/>
                <a:sym typeface="Calibri"/>
              </a:rPr>
              <a:t>60</a:t>
            </a:fld>
            <a:endParaRPr sz="180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605571177"/>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1"/>
        <p:cNvGrpSpPr/>
        <p:nvPr/>
      </p:nvGrpSpPr>
      <p:grpSpPr>
        <a:xfrm>
          <a:off x="0" y="0"/>
          <a:ext cx="0" cy="0"/>
          <a:chOff x="0" y="0"/>
          <a:chExt cx="0" cy="0"/>
        </a:xfrm>
      </p:grpSpPr>
      <p:sp>
        <p:nvSpPr>
          <p:cNvPr id="292" name="Google Shape;292;g3de5bcac26a_0_300: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93" name="Google Shape;293;g3de5bcac26a_0_300:notes"/>
          <p:cNvSpPr txBox="1">
            <a:spLocks noGrp="1"/>
          </p:cNvSpPr>
          <p:nvPr>
            <p:ph type="body" idx="1"/>
          </p:nvPr>
        </p:nvSpPr>
        <p:spPr>
          <a:xfrm>
            <a:off x="0" y="0"/>
            <a:ext cx="39999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294" name="Google Shape;294;g3de5bcac26a_0_300:notes"/>
          <p:cNvSpPr txBox="1">
            <a:spLocks noGrp="1"/>
          </p:cNvSpPr>
          <p:nvPr>
            <p:ph type="sldNum" idx="12"/>
          </p:nvPr>
        </p:nvSpPr>
        <p:spPr>
          <a:xfrm>
            <a:off x="0" y="0"/>
            <a:ext cx="39999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 sz="1800">
                <a:solidFill>
                  <a:schemeClr val="dk1"/>
                </a:solidFill>
                <a:latin typeface="Calibri"/>
                <a:ea typeface="Calibri"/>
                <a:cs typeface="Calibri"/>
                <a:sym typeface="Calibri"/>
              </a:rPr>
              <a:t>62</a:t>
            </a:fld>
            <a:endParaRPr sz="180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4744416"/>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a:extLst>
            <a:ext uri="{FF2B5EF4-FFF2-40B4-BE49-F238E27FC236}">
              <a16:creationId xmlns:a16="http://schemas.microsoft.com/office/drawing/2014/main" id="{344E78E4-2870-8996-8C74-08D9D2F8E581}"/>
            </a:ext>
          </a:extLst>
        </p:cNvPr>
        <p:cNvGrpSpPr/>
        <p:nvPr/>
      </p:nvGrpSpPr>
      <p:grpSpPr>
        <a:xfrm>
          <a:off x="0" y="0"/>
          <a:ext cx="0" cy="0"/>
          <a:chOff x="0" y="0"/>
          <a:chExt cx="0" cy="0"/>
        </a:xfrm>
      </p:grpSpPr>
      <p:sp>
        <p:nvSpPr>
          <p:cNvPr id="304" name="Google Shape;304;g3de5bcac26a_0_313:notes">
            <a:extLst>
              <a:ext uri="{FF2B5EF4-FFF2-40B4-BE49-F238E27FC236}">
                <a16:creationId xmlns:a16="http://schemas.microsoft.com/office/drawing/2014/main" id="{DAA5AEFA-51AD-ED20-2711-E0AB79C7B690}"/>
              </a:ext>
            </a:extLst>
          </p:cNvPr>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05" name="Google Shape;305;g3de5bcac26a_0_313:notes">
            <a:extLst>
              <a:ext uri="{FF2B5EF4-FFF2-40B4-BE49-F238E27FC236}">
                <a16:creationId xmlns:a16="http://schemas.microsoft.com/office/drawing/2014/main" id="{5D5E898E-E8B7-7347-9F3F-CEB6AE47CC5D}"/>
              </a:ext>
            </a:extLst>
          </p:cNvPr>
          <p:cNvSpPr txBox="1">
            <a:spLocks noGrp="1"/>
          </p:cNvSpPr>
          <p:nvPr>
            <p:ph type="body" idx="1"/>
          </p:nvPr>
        </p:nvSpPr>
        <p:spPr>
          <a:xfrm>
            <a:off x="0" y="0"/>
            <a:ext cx="39999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306" name="Google Shape;306;g3de5bcac26a_0_313:notes">
            <a:extLst>
              <a:ext uri="{FF2B5EF4-FFF2-40B4-BE49-F238E27FC236}">
                <a16:creationId xmlns:a16="http://schemas.microsoft.com/office/drawing/2014/main" id="{D131AC1A-8C35-7A7D-301C-4486D6128615}"/>
              </a:ext>
            </a:extLst>
          </p:cNvPr>
          <p:cNvSpPr txBox="1">
            <a:spLocks noGrp="1"/>
          </p:cNvSpPr>
          <p:nvPr>
            <p:ph type="sldNum" idx="12"/>
          </p:nvPr>
        </p:nvSpPr>
        <p:spPr>
          <a:xfrm>
            <a:off x="0" y="0"/>
            <a:ext cx="39999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 sz="1800">
                <a:solidFill>
                  <a:schemeClr val="dk1"/>
                </a:solidFill>
                <a:latin typeface="Calibri"/>
                <a:ea typeface="Calibri"/>
                <a:cs typeface="Calibri"/>
                <a:sym typeface="Calibri"/>
              </a:rPr>
              <a:t>63</a:t>
            </a:fld>
            <a:endParaRPr sz="180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861166062"/>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a:extLst>
            <a:ext uri="{FF2B5EF4-FFF2-40B4-BE49-F238E27FC236}">
              <a16:creationId xmlns:a16="http://schemas.microsoft.com/office/drawing/2014/main" id="{270AEEBE-2879-626F-71C0-B20587802010}"/>
            </a:ext>
          </a:extLst>
        </p:cNvPr>
        <p:cNvGrpSpPr/>
        <p:nvPr/>
      </p:nvGrpSpPr>
      <p:grpSpPr>
        <a:xfrm>
          <a:off x="0" y="0"/>
          <a:ext cx="0" cy="0"/>
          <a:chOff x="0" y="0"/>
          <a:chExt cx="0" cy="0"/>
        </a:xfrm>
      </p:grpSpPr>
      <p:sp>
        <p:nvSpPr>
          <p:cNvPr id="304" name="Google Shape;304;g3de5bcac26a_0_313:notes">
            <a:extLst>
              <a:ext uri="{FF2B5EF4-FFF2-40B4-BE49-F238E27FC236}">
                <a16:creationId xmlns:a16="http://schemas.microsoft.com/office/drawing/2014/main" id="{2355BECD-04E2-FA3D-F5E9-64723BEA85BC}"/>
              </a:ext>
            </a:extLst>
          </p:cNvPr>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05" name="Google Shape;305;g3de5bcac26a_0_313:notes">
            <a:extLst>
              <a:ext uri="{FF2B5EF4-FFF2-40B4-BE49-F238E27FC236}">
                <a16:creationId xmlns:a16="http://schemas.microsoft.com/office/drawing/2014/main" id="{DAF62BFB-7197-654B-787E-201373D33EC5}"/>
              </a:ext>
            </a:extLst>
          </p:cNvPr>
          <p:cNvSpPr txBox="1">
            <a:spLocks noGrp="1"/>
          </p:cNvSpPr>
          <p:nvPr>
            <p:ph type="body" idx="1"/>
          </p:nvPr>
        </p:nvSpPr>
        <p:spPr>
          <a:xfrm>
            <a:off x="0" y="0"/>
            <a:ext cx="39999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306" name="Google Shape;306;g3de5bcac26a_0_313:notes">
            <a:extLst>
              <a:ext uri="{FF2B5EF4-FFF2-40B4-BE49-F238E27FC236}">
                <a16:creationId xmlns:a16="http://schemas.microsoft.com/office/drawing/2014/main" id="{C1CF75B7-7FE9-4E16-FE59-9E41EAF6ADE4}"/>
              </a:ext>
            </a:extLst>
          </p:cNvPr>
          <p:cNvSpPr txBox="1">
            <a:spLocks noGrp="1"/>
          </p:cNvSpPr>
          <p:nvPr>
            <p:ph type="sldNum" idx="12"/>
          </p:nvPr>
        </p:nvSpPr>
        <p:spPr>
          <a:xfrm>
            <a:off x="0" y="0"/>
            <a:ext cx="39999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 sz="1800">
                <a:solidFill>
                  <a:schemeClr val="dk1"/>
                </a:solidFill>
                <a:latin typeface="Calibri"/>
                <a:ea typeface="Calibri"/>
                <a:cs typeface="Calibri"/>
                <a:sym typeface="Calibri"/>
              </a:rPr>
              <a:t>64</a:t>
            </a:fld>
            <a:endParaRPr sz="180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559480525"/>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a:extLst>
            <a:ext uri="{FF2B5EF4-FFF2-40B4-BE49-F238E27FC236}">
              <a16:creationId xmlns:a16="http://schemas.microsoft.com/office/drawing/2014/main" id="{D9E8E187-8F75-4380-B9D2-2738643B2B28}"/>
            </a:ext>
          </a:extLst>
        </p:cNvPr>
        <p:cNvGrpSpPr/>
        <p:nvPr/>
      </p:nvGrpSpPr>
      <p:grpSpPr>
        <a:xfrm>
          <a:off x="0" y="0"/>
          <a:ext cx="0" cy="0"/>
          <a:chOff x="0" y="0"/>
          <a:chExt cx="0" cy="0"/>
        </a:xfrm>
      </p:grpSpPr>
      <p:sp>
        <p:nvSpPr>
          <p:cNvPr id="304" name="Google Shape;304;g3de5bcac26a_0_313:notes">
            <a:extLst>
              <a:ext uri="{FF2B5EF4-FFF2-40B4-BE49-F238E27FC236}">
                <a16:creationId xmlns:a16="http://schemas.microsoft.com/office/drawing/2014/main" id="{3CC5D778-D6E1-0707-7405-5CF3B54FC4BE}"/>
              </a:ext>
            </a:extLst>
          </p:cNvPr>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05" name="Google Shape;305;g3de5bcac26a_0_313:notes">
            <a:extLst>
              <a:ext uri="{FF2B5EF4-FFF2-40B4-BE49-F238E27FC236}">
                <a16:creationId xmlns:a16="http://schemas.microsoft.com/office/drawing/2014/main" id="{4F3D3F95-3ABD-3875-B33F-3028E347CF15}"/>
              </a:ext>
            </a:extLst>
          </p:cNvPr>
          <p:cNvSpPr txBox="1">
            <a:spLocks noGrp="1"/>
          </p:cNvSpPr>
          <p:nvPr>
            <p:ph type="body" idx="1"/>
          </p:nvPr>
        </p:nvSpPr>
        <p:spPr>
          <a:xfrm>
            <a:off x="0" y="0"/>
            <a:ext cx="39999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306" name="Google Shape;306;g3de5bcac26a_0_313:notes">
            <a:extLst>
              <a:ext uri="{FF2B5EF4-FFF2-40B4-BE49-F238E27FC236}">
                <a16:creationId xmlns:a16="http://schemas.microsoft.com/office/drawing/2014/main" id="{34E675C5-18F0-D009-70DD-F3A63627D244}"/>
              </a:ext>
            </a:extLst>
          </p:cNvPr>
          <p:cNvSpPr txBox="1">
            <a:spLocks noGrp="1"/>
          </p:cNvSpPr>
          <p:nvPr>
            <p:ph type="sldNum" idx="12"/>
          </p:nvPr>
        </p:nvSpPr>
        <p:spPr>
          <a:xfrm>
            <a:off x="0" y="0"/>
            <a:ext cx="39999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 sz="1800">
                <a:solidFill>
                  <a:schemeClr val="dk1"/>
                </a:solidFill>
                <a:latin typeface="Calibri"/>
                <a:ea typeface="Calibri"/>
                <a:cs typeface="Calibri"/>
                <a:sym typeface="Calibri"/>
              </a:rPr>
              <a:t>65</a:t>
            </a:fld>
            <a:endParaRPr sz="180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210684523"/>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a:extLst>
            <a:ext uri="{FF2B5EF4-FFF2-40B4-BE49-F238E27FC236}">
              <a16:creationId xmlns:a16="http://schemas.microsoft.com/office/drawing/2014/main" id="{6467A1F7-2D2F-21BC-EDA8-066F6712E78D}"/>
            </a:ext>
          </a:extLst>
        </p:cNvPr>
        <p:cNvGrpSpPr/>
        <p:nvPr/>
      </p:nvGrpSpPr>
      <p:grpSpPr>
        <a:xfrm>
          <a:off x="0" y="0"/>
          <a:ext cx="0" cy="0"/>
          <a:chOff x="0" y="0"/>
          <a:chExt cx="0" cy="0"/>
        </a:xfrm>
      </p:grpSpPr>
      <p:sp>
        <p:nvSpPr>
          <p:cNvPr id="304" name="Google Shape;304;g3de5bcac26a_0_313:notes">
            <a:extLst>
              <a:ext uri="{FF2B5EF4-FFF2-40B4-BE49-F238E27FC236}">
                <a16:creationId xmlns:a16="http://schemas.microsoft.com/office/drawing/2014/main" id="{B0EBF665-6D03-C56D-855A-F44AF521A24B}"/>
              </a:ext>
            </a:extLst>
          </p:cNvPr>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05" name="Google Shape;305;g3de5bcac26a_0_313:notes">
            <a:extLst>
              <a:ext uri="{FF2B5EF4-FFF2-40B4-BE49-F238E27FC236}">
                <a16:creationId xmlns:a16="http://schemas.microsoft.com/office/drawing/2014/main" id="{4453E801-411E-97AD-E660-318934C1C647}"/>
              </a:ext>
            </a:extLst>
          </p:cNvPr>
          <p:cNvSpPr txBox="1">
            <a:spLocks noGrp="1"/>
          </p:cNvSpPr>
          <p:nvPr>
            <p:ph type="body" idx="1"/>
          </p:nvPr>
        </p:nvSpPr>
        <p:spPr>
          <a:xfrm>
            <a:off x="0" y="0"/>
            <a:ext cx="39999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306" name="Google Shape;306;g3de5bcac26a_0_313:notes">
            <a:extLst>
              <a:ext uri="{FF2B5EF4-FFF2-40B4-BE49-F238E27FC236}">
                <a16:creationId xmlns:a16="http://schemas.microsoft.com/office/drawing/2014/main" id="{9275F58C-ECF6-8C7E-E9CF-474D4D896AFE}"/>
              </a:ext>
            </a:extLst>
          </p:cNvPr>
          <p:cNvSpPr txBox="1">
            <a:spLocks noGrp="1"/>
          </p:cNvSpPr>
          <p:nvPr>
            <p:ph type="sldNum" idx="12"/>
          </p:nvPr>
        </p:nvSpPr>
        <p:spPr>
          <a:xfrm>
            <a:off x="0" y="0"/>
            <a:ext cx="39999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 sz="1800">
                <a:solidFill>
                  <a:schemeClr val="dk1"/>
                </a:solidFill>
                <a:latin typeface="Calibri"/>
                <a:ea typeface="Calibri"/>
                <a:cs typeface="Calibri"/>
                <a:sym typeface="Calibri"/>
              </a:rPr>
              <a:t>66</a:t>
            </a:fld>
            <a:endParaRPr sz="180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42137123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3"/>
        <p:cNvGrpSpPr/>
        <p:nvPr/>
      </p:nvGrpSpPr>
      <p:grpSpPr>
        <a:xfrm>
          <a:off x="0" y="0"/>
          <a:ext cx="0" cy="0"/>
          <a:chOff x="0" y="0"/>
          <a:chExt cx="0" cy="0"/>
        </a:xfrm>
      </p:grpSpPr>
      <p:sp>
        <p:nvSpPr>
          <p:cNvPr id="154" name="Google Shape;154;g3de5bcac26a_0_152: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55" name="Google Shape;155;g3de5bcac26a_0_152:notes"/>
          <p:cNvSpPr txBox="1">
            <a:spLocks noGrp="1"/>
          </p:cNvSpPr>
          <p:nvPr>
            <p:ph type="body" idx="1"/>
          </p:nvPr>
        </p:nvSpPr>
        <p:spPr>
          <a:xfrm>
            <a:off x="0" y="0"/>
            <a:ext cx="39999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156" name="Google Shape;156;g3de5bcac26a_0_152:notes"/>
          <p:cNvSpPr txBox="1">
            <a:spLocks noGrp="1"/>
          </p:cNvSpPr>
          <p:nvPr>
            <p:ph type="sldNum" idx="12"/>
          </p:nvPr>
        </p:nvSpPr>
        <p:spPr>
          <a:xfrm>
            <a:off x="0" y="0"/>
            <a:ext cx="39999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 sz="1800">
                <a:solidFill>
                  <a:schemeClr val="dk1"/>
                </a:solidFill>
                <a:latin typeface="Calibri"/>
                <a:ea typeface="Calibri"/>
                <a:cs typeface="Calibri"/>
                <a:sym typeface="Calibri"/>
              </a:rPr>
              <a:t>67</a:t>
            </a:fld>
            <a:endParaRPr sz="1800">
              <a:solidFill>
                <a:schemeClr val="dk1"/>
              </a:solidFill>
              <a:latin typeface="Calibri"/>
              <a:ea typeface="Calibri"/>
              <a:cs typeface="Calibri"/>
              <a:sym typeface="Calibri"/>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0"/>
        <p:cNvGrpSpPr/>
        <p:nvPr/>
      </p:nvGrpSpPr>
      <p:grpSpPr>
        <a:xfrm>
          <a:off x="0" y="0"/>
          <a:ext cx="0" cy="0"/>
          <a:chOff x="0" y="0"/>
          <a:chExt cx="0" cy="0"/>
        </a:xfrm>
      </p:grpSpPr>
      <p:sp>
        <p:nvSpPr>
          <p:cNvPr id="201" name="Google Shape;201;g3de5bcac26a_0_20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2" name="Google Shape;202;g3de5bcac26a_0_20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4"/>
        <p:cNvGrpSpPr/>
        <p:nvPr/>
      </p:nvGrpSpPr>
      <p:grpSpPr>
        <a:xfrm>
          <a:off x="0" y="0"/>
          <a:ext cx="0" cy="0"/>
          <a:chOff x="0" y="0"/>
          <a:chExt cx="0" cy="0"/>
        </a:xfrm>
      </p:grpSpPr>
      <p:sp>
        <p:nvSpPr>
          <p:cNvPr id="245" name="Google Shape;245;g3de5bcac26a_0_250: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46" name="Google Shape;246;g3de5bcac26a_0_250:notes"/>
          <p:cNvSpPr txBox="1">
            <a:spLocks noGrp="1"/>
          </p:cNvSpPr>
          <p:nvPr>
            <p:ph type="body" idx="1"/>
          </p:nvPr>
        </p:nvSpPr>
        <p:spPr>
          <a:xfrm>
            <a:off x="0" y="0"/>
            <a:ext cx="39999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247" name="Google Shape;247;g3de5bcac26a_0_250:notes"/>
          <p:cNvSpPr txBox="1">
            <a:spLocks noGrp="1"/>
          </p:cNvSpPr>
          <p:nvPr>
            <p:ph type="sldNum" idx="12"/>
          </p:nvPr>
        </p:nvSpPr>
        <p:spPr>
          <a:xfrm>
            <a:off x="0" y="0"/>
            <a:ext cx="39999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 sz="1800">
                <a:solidFill>
                  <a:schemeClr val="dk1"/>
                </a:solidFill>
                <a:latin typeface="Calibri"/>
                <a:ea typeface="Calibri"/>
                <a:cs typeface="Calibri"/>
                <a:sym typeface="Calibri"/>
              </a:rPr>
              <a:t>69</a:t>
            </a:fld>
            <a:endParaRPr sz="1800">
              <a:solidFill>
                <a:schemeClr val="dk1"/>
              </a:solidFill>
              <a:latin typeface="Calibri"/>
              <a:ea typeface="Calibri"/>
              <a:cs typeface="Calibri"/>
              <a:sym typeface="Calibri"/>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9"/>
        <p:cNvGrpSpPr/>
        <p:nvPr/>
      </p:nvGrpSpPr>
      <p:grpSpPr>
        <a:xfrm>
          <a:off x="0" y="0"/>
          <a:ext cx="0" cy="0"/>
          <a:chOff x="0" y="0"/>
          <a:chExt cx="0" cy="0"/>
        </a:xfrm>
      </p:grpSpPr>
      <p:sp>
        <p:nvSpPr>
          <p:cNvPr id="210" name="Google Shape;210;g3de5bcac26a_0_2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1" name="Google Shape;211;g3de5bcac26a_0_2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5"/>
        <p:cNvGrpSpPr/>
        <p:nvPr/>
      </p:nvGrpSpPr>
      <p:grpSpPr>
        <a:xfrm>
          <a:off x="0" y="0"/>
          <a:ext cx="0" cy="0"/>
          <a:chOff x="0" y="0"/>
          <a:chExt cx="0" cy="0"/>
        </a:xfrm>
      </p:grpSpPr>
      <p:sp>
        <p:nvSpPr>
          <p:cNvPr id="276" name="Google Shape;276;g3de5bcac26a_0_283: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77" name="Google Shape;277;g3de5bcac26a_0_283:notes"/>
          <p:cNvSpPr txBox="1">
            <a:spLocks noGrp="1"/>
          </p:cNvSpPr>
          <p:nvPr>
            <p:ph type="body" idx="1"/>
          </p:nvPr>
        </p:nvSpPr>
        <p:spPr>
          <a:xfrm>
            <a:off x="0" y="0"/>
            <a:ext cx="39999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278" name="Google Shape;278;g3de5bcac26a_0_283:notes"/>
          <p:cNvSpPr txBox="1">
            <a:spLocks noGrp="1"/>
          </p:cNvSpPr>
          <p:nvPr>
            <p:ph type="sldNum" idx="12"/>
          </p:nvPr>
        </p:nvSpPr>
        <p:spPr>
          <a:xfrm>
            <a:off x="0" y="0"/>
            <a:ext cx="39999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 sz="1800">
                <a:solidFill>
                  <a:schemeClr val="dk1"/>
                </a:solidFill>
                <a:latin typeface="Calibri"/>
                <a:ea typeface="Calibri"/>
                <a:cs typeface="Calibri"/>
                <a:sym typeface="Calibri"/>
              </a:rPr>
              <a:t>71</a:t>
            </a:fld>
            <a:endParaRPr sz="1800">
              <a:solidFill>
                <a:schemeClr val="dk1"/>
              </a:solidFill>
              <a:latin typeface="Calibri"/>
              <a:ea typeface="Calibri"/>
              <a:cs typeface="Calibri"/>
              <a:sym typeface="Calibri"/>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30"/>
        <p:cNvGrpSpPr/>
        <p:nvPr/>
      </p:nvGrpSpPr>
      <p:grpSpPr>
        <a:xfrm>
          <a:off x="0" y="0"/>
          <a:ext cx="0" cy="0"/>
          <a:chOff x="0" y="0"/>
          <a:chExt cx="0" cy="0"/>
        </a:xfrm>
      </p:grpSpPr>
      <p:sp>
        <p:nvSpPr>
          <p:cNvPr id="2331" name="Google Shape;2331;g3d7337e18ce_0_217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32" name="Google Shape;2332;g3d7337e18ce_0_217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rPr b="1">
                <a:solidFill>
                  <a:srgbClr val="1E2761"/>
                </a:solidFill>
                <a:latin typeface="Georgia"/>
              </a:rP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50"/>
        <p:cNvGrpSpPr/>
        <p:nvPr/>
      </p:nvGrpSpPr>
      <p:grpSpPr>
        <a:xfrm>
          <a:off x="0" y="0"/>
          <a:ext cx="0" cy="0"/>
          <a:chOff x="0" y="0"/>
          <a:chExt cx="0" cy="0"/>
        </a:xfrm>
      </p:grpSpPr>
      <p:sp>
        <p:nvSpPr>
          <p:cNvPr id="51" name="Google Shape;51;p13"/>
          <p:cNvSpPr txBox="1">
            <a:spLocks noGrp="1"/>
          </p:cNvSpPr>
          <p:nvPr>
            <p:ph type="title"/>
          </p:nvPr>
        </p:nvSpPr>
        <p:spPr>
          <a:xfrm>
            <a:off x="457200" y="205978"/>
            <a:ext cx="8229600" cy="8574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52" name="Google Shape;52;p13"/>
          <p:cNvSpPr txBox="1">
            <a:spLocks noGrp="1"/>
          </p:cNvSpPr>
          <p:nvPr>
            <p:ph type="body" idx="1"/>
          </p:nvPr>
        </p:nvSpPr>
        <p:spPr>
          <a:xfrm>
            <a:off x="457200" y="1200150"/>
            <a:ext cx="8229600" cy="33945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1200"/>
              </a:spcBef>
              <a:spcAft>
                <a:spcPts val="0"/>
              </a:spcAft>
              <a:buClr>
                <a:schemeClr val="dk1"/>
              </a:buClr>
              <a:buSzPts val="1800"/>
              <a:buChar char="○"/>
              <a:defRPr/>
            </a:lvl2pPr>
            <a:lvl3pPr marL="1371600" lvl="2" indent="-342900" algn="l">
              <a:spcBef>
                <a:spcPts val="1200"/>
              </a:spcBef>
              <a:spcAft>
                <a:spcPts val="0"/>
              </a:spcAft>
              <a:buClr>
                <a:schemeClr val="dk1"/>
              </a:buClr>
              <a:buSzPts val="1800"/>
              <a:buChar char="■"/>
              <a:defRPr/>
            </a:lvl3pPr>
            <a:lvl4pPr marL="1828800" lvl="3" indent="-342900" algn="l">
              <a:spcBef>
                <a:spcPts val="1200"/>
              </a:spcBef>
              <a:spcAft>
                <a:spcPts val="0"/>
              </a:spcAft>
              <a:buClr>
                <a:schemeClr val="dk1"/>
              </a:buClr>
              <a:buSzPts val="1800"/>
              <a:buChar char="●"/>
              <a:defRPr/>
            </a:lvl4pPr>
            <a:lvl5pPr marL="2286000" lvl="4" indent="-342900" algn="l">
              <a:spcBef>
                <a:spcPts val="1200"/>
              </a:spcBef>
              <a:spcAft>
                <a:spcPts val="0"/>
              </a:spcAft>
              <a:buClr>
                <a:schemeClr val="dk1"/>
              </a:buClr>
              <a:buSzPts val="1800"/>
              <a:buChar char="○"/>
              <a:defRPr/>
            </a:lvl5pPr>
            <a:lvl6pPr marL="2743200" lvl="5" indent="-342900" algn="l">
              <a:spcBef>
                <a:spcPts val="1200"/>
              </a:spcBef>
              <a:spcAft>
                <a:spcPts val="0"/>
              </a:spcAft>
              <a:buClr>
                <a:schemeClr val="dk1"/>
              </a:buClr>
              <a:buSzPts val="1800"/>
              <a:buChar char="■"/>
              <a:defRPr/>
            </a:lvl6pPr>
            <a:lvl7pPr marL="3200400" lvl="6" indent="-342900" algn="l">
              <a:spcBef>
                <a:spcPts val="1200"/>
              </a:spcBef>
              <a:spcAft>
                <a:spcPts val="0"/>
              </a:spcAft>
              <a:buClr>
                <a:schemeClr val="dk1"/>
              </a:buClr>
              <a:buSzPts val="1800"/>
              <a:buChar char="●"/>
              <a:defRPr/>
            </a:lvl7pPr>
            <a:lvl8pPr marL="3657600" lvl="7" indent="-342900" algn="l">
              <a:spcBef>
                <a:spcPts val="1200"/>
              </a:spcBef>
              <a:spcAft>
                <a:spcPts val="0"/>
              </a:spcAft>
              <a:buClr>
                <a:schemeClr val="dk1"/>
              </a:buClr>
              <a:buSzPts val="1800"/>
              <a:buChar char="○"/>
              <a:defRPr/>
            </a:lvl8pPr>
            <a:lvl9pPr marL="4114800" lvl="8" indent="-342900" algn="l">
              <a:spcBef>
                <a:spcPts val="1200"/>
              </a:spcBef>
              <a:spcAft>
                <a:spcPts val="1200"/>
              </a:spcAft>
              <a:buClr>
                <a:schemeClr val="dk1"/>
              </a:buClr>
              <a:buSzPts val="1800"/>
              <a:buChar char="■"/>
              <a:defRPr/>
            </a:lvl9pPr>
          </a:lstStyle>
          <a:p>
            <a:endParaRPr/>
          </a:p>
        </p:txBody>
      </p:sp>
      <p:sp>
        <p:nvSpPr>
          <p:cNvPr id="53" name="Google Shape;53;p13"/>
          <p:cNvSpPr txBox="1">
            <a:spLocks noGrp="1"/>
          </p:cNvSpPr>
          <p:nvPr>
            <p:ph type="dt" idx="10"/>
          </p:nvPr>
        </p:nvSpPr>
        <p:spPr>
          <a:xfrm>
            <a:off x="457200" y="4767263"/>
            <a:ext cx="2133600" cy="2739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4" name="Google Shape;54;p13"/>
          <p:cNvSpPr txBox="1">
            <a:spLocks noGrp="1"/>
          </p:cNvSpPr>
          <p:nvPr>
            <p:ph type="ftr" idx="11"/>
          </p:nvPr>
        </p:nvSpPr>
        <p:spPr>
          <a:xfrm>
            <a:off x="3124200" y="4767263"/>
            <a:ext cx="2895600" cy="2739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5" name="Google Shape;55;p13"/>
          <p:cNvSpPr txBox="1">
            <a:spLocks noGrp="1"/>
          </p:cNvSpPr>
          <p:nvPr>
            <p:ph type="sldNum" idx="12"/>
          </p:nvPr>
        </p:nvSpPr>
        <p:spPr>
          <a:xfrm>
            <a:off x="6553200" y="4767263"/>
            <a:ext cx="2133600" cy="273900"/>
          </a:xfrm>
          <a:prstGeom prst="rect">
            <a:avLst/>
          </a:prstGeom>
          <a:noFill/>
          <a:ln>
            <a:noFill/>
          </a:ln>
        </p:spPr>
        <p:txBody>
          <a:bodyPr spcFirstLastPara="1" wrap="square" lIns="91425" tIns="45700" rIns="91425" bIns="45700" anchor="ctr" anchorCtr="0">
            <a:norm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DEFAULT">
  <p:cSld name="DEFAULT">
    <p:bg>
      <p:bgPr>
        <a:solidFill>
          <a:schemeClr val="lt1"/>
        </a:solidFill>
        <a:effectLst/>
      </p:bgPr>
    </p:bg>
    <p:spTree>
      <p:nvGrpSpPr>
        <p:cNvPr id="1" name="Shape 56"/>
        <p:cNvGrpSpPr/>
        <p:nvPr/>
      </p:nvGrpSpPr>
      <p:grpSpPr>
        <a:xfrm>
          <a:off x="0" y="0"/>
          <a:ext cx="0" cy="0"/>
          <a:chOff x="0" y="0"/>
          <a:chExt cx="0" cy="0"/>
        </a:xfrm>
      </p:grpSpPr>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DEFAULT 1">
  <p:cSld name="DEFAULT 1">
    <p:bg>
      <p:bgPr>
        <a:solidFill>
          <a:schemeClr val="lt1"/>
        </a:solidFill>
        <a:effectLst/>
      </p:bgPr>
    </p:bg>
    <p:spTree>
      <p:nvGrpSpPr>
        <p:cNvPr id="1" name="Shape 62"/>
        <p:cNvGrpSpPr/>
        <p:nvPr/>
      </p:nvGrpSpPr>
      <p:grpSpPr>
        <a:xfrm>
          <a:off x="0" y="0"/>
          <a:ext cx="0" cy="0"/>
          <a:chOff x="0" y="0"/>
          <a:chExt cx="0" cy="0"/>
        </a:xfrm>
      </p:grpSpPr>
    </p:spTree>
    <p:extLst>
      <p:ext uri="{BB962C8B-B14F-4D97-AF65-F5344CB8AC3E}">
        <p14:creationId xmlns:p14="http://schemas.microsoft.com/office/powerpoint/2010/main" val="24380132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2" r:id="rId14"/>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1.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1.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1.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13.xml"/><Relationship Id="rId4" Type="http://schemas.openxmlformats.org/officeDocument/2006/relationships/image" Target="../media/image4.png"/></Relationships>
</file>

<file path=ppt/slides/_rels/slide1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xml"/><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4.xml"/><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6.xml"/><Relationship Id="rId1" Type="http://schemas.openxmlformats.org/officeDocument/2006/relationships/slideLayout" Target="../slideLayouts/slideLayout13.xml"/><Relationship Id="rId4" Type="http://schemas.openxmlformats.org/officeDocument/2006/relationships/image" Target="../media/image5.png"/></Relationships>
</file>

<file path=ppt/slides/_rels/slide2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7.xml"/><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8.xml"/><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9.xml"/><Relationship Id="rId1" Type="http://schemas.openxmlformats.org/officeDocument/2006/relationships/slideLayout" Target="../slideLayouts/slideLayout13.xml"/><Relationship Id="rId4" Type="http://schemas.openxmlformats.org/officeDocument/2006/relationships/image" Target="../media/image6.png"/></Relationships>
</file>

<file path=ppt/slides/_rels/slide2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0.xml"/><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2.xml"/><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3.xml"/><Relationship Id="rId1" Type="http://schemas.openxmlformats.org/officeDocument/2006/relationships/slideLayout" Target="../slideLayouts/slideLayout11.xml"/></Relationships>
</file>

<file path=ppt/slides/_rels/slide3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2.xml"/></Relationships>
</file>

<file path=ppt/slides/_rels/slide3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2.png"/><Relationship Id="rId1" Type="http://schemas.openxmlformats.org/officeDocument/2006/relationships/slideLayout" Target="../slideLayouts/slideLayout12.xml"/><Relationship Id="rId4" Type="http://schemas.openxmlformats.org/officeDocument/2006/relationships/image" Target="../media/image8.png"/></Relationships>
</file>

<file path=ppt/slides/_rels/slide3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2.png"/><Relationship Id="rId1" Type="http://schemas.openxmlformats.org/officeDocument/2006/relationships/slideLayout" Target="../slideLayouts/slideLayout12.xml"/><Relationship Id="rId4" Type="http://schemas.openxmlformats.org/officeDocument/2006/relationships/image" Target="../media/image10.png"/></Relationships>
</file>

<file path=ppt/slides/_rels/slide3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2.xml"/></Relationships>
</file>

<file path=ppt/slides/_rels/slide34.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4.xml"/><Relationship Id="rId1" Type="http://schemas.openxmlformats.org/officeDocument/2006/relationships/slideLayout" Target="../slideLayouts/slideLayout11.xml"/><Relationship Id="rId4" Type="http://schemas.openxmlformats.org/officeDocument/2006/relationships/image" Target="../media/image2.png"/></Relationships>
</file>

<file path=ppt/slides/_rels/slide3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5.xml"/><Relationship Id="rId1" Type="http://schemas.openxmlformats.org/officeDocument/2006/relationships/slideLayout" Target="../slideLayouts/slideLayout13.xml"/></Relationships>
</file>

<file path=ppt/slides/_rels/slide3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6.xml"/><Relationship Id="rId1" Type="http://schemas.openxmlformats.org/officeDocument/2006/relationships/slideLayout" Target="../slideLayouts/slideLayout13.xml"/></Relationships>
</file>

<file path=ppt/slides/_rels/slide3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7.xml"/><Relationship Id="rId1" Type="http://schemas.openxmlformats.org/officeDocument/2006/relationships/slideLayout" Target="../slideLayouts/slideLayout13.xml"/></Relationships>
</file>

<file path=ppt/slides/_rels/slide3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8.xml"/><Relationship Id="rId1" Type="http://schemas.openxmlformats.org/officeDocument/2006/relationships/slideLayout" Target="../slideLayouts/slideLayout13.xml"/></Relationships>
</file>

<file path=ppt/slides/_rels/slide3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9.xml"/><Relationship Id="rId1" Type="http://schemas.openxmlformats.org/officeDocument/2006/relationships/slideLayout" Target="../slideLayouts/slideLayout13.xml"/></Relationships>
</file>

<file path=ppt/slides/_rels/slide4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0.xml"/><Relationship Id="rId1" Type="http://schemas.openxmlformats.org/officeDocument/2006/relationships/slideLayout" Target="../slideLayouts/slideLayout13.xml"/></Relationships>
</file>

<file path=ppt/slides/_rels/slide4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1.xml"/><Relationship Id="rId1" Type="http://schemas.openxmlformats.org/officeDocument/2006/relationships/slideLayout" Target="../slideLayouts/slideLayout13.xml"/></Relationships>
</file>

<file path=ppt/slides/_rels/slide4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2.xml"/><Relationship Id="rId1" Type="http://schemas.openxmlformats.org/officeDocument/2006/relationships/slideLayout" Target="../slideLayouts/slideLayout13.xml"/></Relationships>
</file>

<file path=ppt/slides/_rels/slide4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3.xml"/><Relationship Id="rId1" Type="http://schemas.openxmlformats.org/officeDocument/2006/relationships/slideLayout" Target="../slideLayouts/slideLayout14.xml"/></Relationships>
</file>

<file path=ppt/slides/_rels/slide4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4.xml"/><Relationship Id="rId1" Type="http://schemas.openxmlformats.org/officeDocument/2006/relationships/slideLayout" Target="../slideLayouts/slideLayout13.xml"/></Relationships>
</file>

<file path=ppt/slides/_rels/slide4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5.xml"/><Relationship Id="rId1" Type="http://schemas.openxmlformats.org/officeDocument/2006/relationships/slideLayout" Target="../slideLayouts/slideLayout14.xml"/></Relationships>
</file>

<file path=ppt/slides/_rels/slide4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6.xml"/><Relationship Id="rId1" Type="http://schemas.openxmlformats.org/officeDocument/2006/relationships/slideLayout" Target="../slideLayouts/slideLayout14.xml"/></Relationships>
</file>

<file path=ppt/slides/_rels/slide4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7.xml"/><Relationship Id="rId1" Type="http://schemas.openxmlformats.org/officeDocument/2006/relationships/slideLayout" Target="../slideLayouts/slideLayout13.xml"/></Relationships>
</file>

<file path=ppt/slides/_rels/slide4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8.xml"/><Relationship Id="rId1" Type="http://schemas.openxmlformats.org/officeDocument/2006/relationships/slideLayout" Target="../slideLayouts/slideLayout14.xml"/></Relationships>
</file>

<file path=ppt/slides/_rels/slide4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9.xml"/><Relationship Id="rId1" Type="http://schemas.openxmlformats.org/officeDocument/2006/relationships/slideLayout" Target="../slideLayouts/slideLayout14.xml"/></Relationships>
</file>

<file path=ppt/slides/_rels/slide5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0.xml"/><Relationship Id="rId1" Type="http://schemas.openxmlformats.org/officeDocument/2006/relationships/slideLayout" Target="../slideLayouts/slideLayout14.xml"/></Relationships>
</file>

<file path=ppt/slides/_rels/slide5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3.xml"/></Relationships>
</file>

<file path=ppt/slides/_rels/slide5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1.xml"/><Relationship Id="rId1" Type="http://schemas.openxmlformats.org/officeDocument/2006/relationships/slideLayout" Target="../slideLayouts/slideLayout13.xml"/></Relationships>
</file>

<file path=ppt/slides/_rels/slide5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2.xml"/><Relationship Id="rId1" Type="http://schemas.openxmlformats.org/officeDocument/2006/relationships/slideLayout" Target="../slideLayouts/slideLayout14.xml"/></Relationships>
</file>

<file path=ppt/slides/_rels/slide5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3.xml"/><Relationship Id="rId1" Type="http://schemas.openxmlformats.org/officeDocument/2006/relationships/slideLayout" Target="../slideLayouts/slideLayout11.xml"/></Relationships>
</file>

<file path=ppt/slides/_rels/slide5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44.xml"/><Relationship Id="rId1" Type="http://schemas.openxmlformats.org/officeDocument/2006/relationships/slideLayout" Target="../slideLayouts/slideLayout13.xml"/><Relationship Id="rId4" Type="http://schemas.openxmlformats.org/officeDocument/2006/relationships/image" Target="../media/image2.png"/></Relationships>
</file>

<file path=ppt/slides/_rels/slide5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45.xml"/><Relationship Id="rId1" Type="http://schemas.openxmlformats.org/officeDocument/2006/relationships/slideLayout" Target="../slideLayouts/slideLayout13.xml"/><Relationship Id="rId5" Type="http://schemas.openxmlformats.org/officeDocument/2006/relationships/image" Target="../media/image13.png"/><Relationship Id="rId4" Type="http://schemas.openxmlformats.org/officeDocument/2006/relationships/image" Target="../media/image2.png"/></Relationships>
</file>

<file path=ppt/slides/_rels/slide5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46.xml"/><Relationship Id="rId1" Type="http://schemas.openxmlformats.org/officeDocument/2006/relationships/slideLayout" Target="../slideLayouts/slideLayout13.xml"/><Relationship Id="rId4" Type="http://schemas.openxmlformats.org/officeDocument/2006/relationships/image" Target="../media/image2.png"/></Relationships>
</file>

<file path=ppt/slides/_rels/slide5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47.xml"/><Relationship Id="rId1" Type="http://schemas.openxmlformats.org/officeDocument/2006/relationships/slideLayout" Target="../slideLayouts/slideLayout13.xml"/><Relationship Id="rId4" Type="http://schemas.openxmlformats.org/officeDocument/2006/relationships/image" Target="../media/image2.png"/></Relationships>
</file>

<file path=ppt/slides/_rels/slide5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48.xml"/><Relationship Id="rId1" Type="http://schemas.openxmlformats.org/officeDocument/2006/relationships/slideLayout" Target="../slideLayouts/slideLayout13.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2.png"/></Relationships>
</file>

<file path=ppt/slides/_rels/slide6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49.xml"/><Relationship Id="rId1" Type="http://schemas.openxmlformats.org/officeDocument/2006/relationships/slideLayout" Target="../slideLayouts/slideLayout13.xml"/><Relationship Id="rId5" Type="http://schemas.openxmlformats.org/officeDocument/2006/relationships/image" Target="../media/image16.png"/><Relationship Id="rId4" Type="http://schemas.openxmlformats.org/officeDocument/2006/relationships/image" Target="../media/image2.png"/></Relationships>
</file>

<file path=ppt/slides/_rels/slide6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2.xml"/></Relationships>
</file>

<file path=ppt/slides/_rels/slide6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0.xml"/><Relationship Id="rId1" Type="http://schemas.openxmlformats.org/officeDocument/2006/relationships/slideLayout" Target="../slideLayouts/slideLayout13.xml"/><Relationship Id="rId4" Type="http://schemas.openxmlformats.org/officeDocument/2006/relationships/image" Target="../media/image2.png"/></Relationships>
</file>

<file path=ppt/slides/_rels/slide6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1.xml"/><Relationship Id="rId1" Type="http://schemas.openxmlformats.org/officeDocument/2006/relationships/slideLayout" Target="../slideLayouts/slideLayout13.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2.png"/></Relationships>
</file>

<file path=ppt/slides/_rels/slide6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2.xml"/><Relationship Id="rId1" Type="http://schemas.openxmlformats.org/officeDocument/2006/relationships/slideLayout" Target="../slideLayouts/slideLayout13.xml"/><Relationship Id="rId5" Type="http://schemas.openxmlformats.org/officeDocument/2006/relationships/image" Target="../media/image19.png"/><Relationship Id="rId4" Type="http://schemas.openxmlformats.org/officeDocument/2006/relationships/image" Target="../media/image2.png"/></Relationships>
</file>

<file path=ppt/slides/_rels/slide6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3.xml"/><Relationship Id="rId1" Type="http://schemas.openxmlformats.org/officeDocument/2006/relationships/slideLayout" Target="../slideLayouts/slideLayout13.xml"/><Relationship Id="rId5" Type="http://schemas.openxmlformats.org/officeDocument/2006/relationships/image" Target="../media/image20.png"/><Relationship Id="rId4" Type="http://schemas.openxmlformats.org/officeDocument/2006/relationships/image" Target="../media/image2.png"/></Relationships>
</file>

<file path=ppt/slides/_rels/slide6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4.xml"/><Relationship Id="rId1" Type="http://schemas.openxmlformats.org/officeDocument/2006/relationships/slideLayout" Target="../slideLayouts/slideLayout13.xml"/><Relationship Id="rId5" Type="http://schemas.openxmlformats.org/officeDocument/2006/relationships/image" Target="../media/image21.png"/><Relationship Id="rId4" Type="http://schemas.openxmlformats.org/officeDocument/2006/relationships/image" Target="../media/image2.png"/></Relationships>
</file>

<file path=ppt/slides/_rels/slide6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5.xml"/><Relationship Id="rId1" Type="http://schemas.openxmlformats.org/officeDocument/2006/relationships/slideLayout" Target="../slideLayouts/slideLayout13.xml"/><Relationship Id="rId4" Type="http://schemas.openxmlformats.org/officeDocument/2006/relationships/image" Target="../media/image2.png"/></Relationships>
</file>

<file path=ppt/slides/_rels/slide6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6.xml"/><Relationship Id="rId1" Type="http://schemas.openxmlformats.org/officeDocument/2006/relationships/slideLayout" Target="../slideLayouts/slideLayout13.xml"/><Relationship Id="rId4" Type="http://schemas.openxmlformats.org/officeDocument/2006/relationships/image" Target="../media/image2.png"/></Relationships>
</file>

<file path=ppt/slides/_rels/slide6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7.xml"/><Relationship Id="rId1" Type="http://schemas.openxmlformats.org/officeDocument/2006/relationships/slideLayout" Target="../slideLayouts/slideLayout13.xml"/><Relationship Id="rId4" Type="http://schemas.openxmlformats.org/officeDocument/2006/relationships/image" Target="../media/image2.png"/></Relationships>
</file>

<file path=ppt/slides/_rels/slide7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8.xml"/><Relationship Id="rId1" Type="http://schemas.openxmlformats.org/officeDocument/2006/relationships/slideLayout" Target="../slideLayouts/slideLayout13.xml"/><Relationship Id="rId4" Type="http://schemas.openxmlformats.org/officeDocument/2006/relationships/image" Target="../media/image2.png"/></Relationships>
</file>

<file path=ppt/slides/_rels/slide7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9.xml"/><Relationship Id="rId1" Type="http://schemas.openxmlformats.org/officeDocument/2006/relationships/slideLayout" Target="../slideLayouts/slideLayout13.xml"/><Relationship Id="rId5" Type="http://schemas.openxmlformats.org/officeDocument/2006/relationships/image" Target="../media/image2.png"/><Relationship Id="rId4" Type="http://schemas.openxmlformats.org/officeDocument/2006/relationships/image" Target="../media/image22.png"/></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13.xml"/></Relationships>
</file>

<file path=ppt/slides/_rels/slide7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3.xml"/></Relationships>
</file>

<file path=ppt/slides/_rels/slide7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1.xml"/><Relationship Id="rId1" Type="http://schemas.openxmlformats.org/officeDocument/2006/relationships/slideLayout" Target="../slideLayouts/slideLayout11.xml"/><Relationship Id="rId6" Type="http://schemas.openxmlformats.org/officeDocument/2006/relationships/image" Target="../media/image25.jpg"/><Relationship Id="rId5" Type="http://schemas.openxmlformats.org/officeDocument/2006/relationships/image" Target="../media/image24.jpeg"/><Relationship Id="rId4" Type="http://schemas.openxmlformats.org/officeDocument/2006/relationships/image" Target="../media/image23.jpe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60"/>
        <p:cNvGrpSpPr/>
        <p:nvPr/>
      </p:nvGrpSpPr>
      <p:grpSpPr>
        <a:xfrm>
          <a:off x="0" y="0"/>
          <a:ext cx="0" cy="0"/>
          <a:chOff x="0" y="0"/>
          <a:chExt cx="0" cy="0"/>
        </a:xfrm>
      </p:grpSpPr>
      <p:sp>
        <p:nvSpPr>
          <p:cNvPr id="61" name="Google Shape;61;p15"/>
          <p:cNvSpPr txBox="1"/>
          <p:nvPr/>
        </p:nvSpPr>
        <p:spPr>
          <a:xfrm>
            <a:off x="685800" y="82600"/>
            <a:ext cx="7772400" cy="1470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None/>
            </a:pPr>
            <a:r>
              <a:rPr lang="en" sz="4400" b="1" dirty="0">
                <a:solidFill>
                  <a:srgbClr val="1E2761"/>
                </a:solidFill>
                <a:sym typeface="Calibri"/>
              </a:rPr>
              <a:t>LLMs, Decoding, and Prompting APIs</a:t>
            </a:r>
            <a:endParaRPr sz="3700" b="1" dirty="0">
              <a:solidFill>
                <a:srgbClr val="C00000"/>
              </a:solidFill>
              <a:latin typeface="Calibri"/>
              <a:ea typeface="Calibri"/>
              <a:cs typeface="Calibri"/>
              <a:sym typeface="Calibri"/>
            </a:endParaRPr>
          </a:p>
        </p:txBody>
      </p:sp>
      <p:sp>
        <p:nvSpPr>
          <p:cNvPr id="62" name="Google Shape;62;p15"/>
          <p:cNvSpPr txBox="1"/>
          <p:nvPr/>
        </p:nvSpPr>
        <p:spPr>
          <a:xfrm>
            <a:off x="1371600" y="1552600"/>
            <a:ext cx="6400800" cy="1470000"/>
          </a:xfrm>
          <a:prstGeom prst="rect">
            <a:avLst/>
          </a:prstGeom>
          <a:noFill/>
          <a:ln>
            <a:noFill/>
          </a:ln>
        </p:spPr>
        <p:txBody>
          <a:bodyPr spcFirstLastPara="1" wrap="square" lIns="91425" tIns="45700" rIns="91425" bIns="45700" anchor="t" anchorCtr="0">
            <a:normAutofit lnSpcReduction="10000"/>
          </a:bodyPr>
          <a:lstStyle/>
          <a:p>
            <a:pPr marL="0" lvl="0" indent="0" algn="ctr" rtl="0">
              <a:spcBef>
                <a:spcPts val="448"/>
              </a:spcBef>
              <a:spcAft>
                <a:spcPts val="0"/>
              </a:spcAft>
              <a:buNone/>
            </a:pPr>
            <a:r>
              <a:rPr lang="en" sz="2900" b="1" dirty="0">
                <a:solidFill>
                  <a:srgbClr val="1E2761"/>
                </a:solidFill>
                <a:sym typeface="Calibri"/>
              </a:rPr>
              <a:t>Sourangshu Bhattacharya</a:t>
            </a:r>
            <a:endParaRPr sz="2900" b="1" dirty="0">
              <a:solidFill>
                <a:schemeClr val="dk1"/>
              </a:solidFill>
              <a:latin typeface="Calibri"/>
              <a:ea typeface="Calibri"/>
              <a:cs typeface="Calibri"/>
              <a:sym typeface="Calibri"/>
            </a:endParaRPr>
          </a:p>
          <a:p>
            <a:pPr marL="0" lvl="0" indent="0" algn="ctr" rtl="0">
              <a:spcBef>
                <a:spcPts val="448"/>
              </a:spcBef>
              <a:spcAft>
                <a:spcPts val="0"/>
              </a:spcAft>
              <a:buClr>
                <a:schemeClr val="dk1"/>
              </a:buClr>
              <a:buSzPts val="1100"/>
              <a:buFont typeface="Arial"/>
              <a:buNone/>
            </a:pPr>
            <a:r>
              <a:rPr lang="en" sz="2900" b="1" dirty="0">
                <a:solidFill>
                  <a:srgbClr val="1E2761"/>
                </a:solidFill>
                <a:sym typeface="Calibri"/>
              </a:rPr>
              <a:t>Associate Professor</a:t>
            </a:r>
            <a:endParaRPr sz="2900" b="1" dirty="0">
              <a:solidFill>
                <a:schemeClr val="dk1"/>
              </a:solidFill>
              <a:latin typeface="Calibri"/>
              <a:ea typeface="Calibri"/>
              <a:cs typeface="Calibri"/>
              <a:sym typeface="Calibri"/>
            </a:endParaRPr>
          </a:p>
          <a:p>
            <a:pPr marL="0" lvl="0" indent="0" algn="ctr" rtl="0">
              <a:spcBef>
                <a:spcPts val="448"/>
              </a:spcBef>
              <a:spcAft>
                <a:spcPts val="0"/>
              </a:spcAft>
              <a:buNone/>
            </a:pPr>
            <a:r>
              <a:rPr lang="en" sz="2900" b="1" dirty="0">
                <a:solidFill>
                  <a:srgbClr val="1E2761"/>
                </a:solidFill>
                <a:sym typeface="Calibri"/>
              </a:rPr>
              <a:t>CSE, IIT Kharagpur</a:t>
            </a:r>
            <a:endParaRPr sz="2900" b="1" dirty="0">
              <a:solidFill>
                <a:schemeClr val="dk1"/>
              </a:solidFill>
              <a:latin typeface="Calibri"/>
              <a:ea typeface="Calibri"/>
              <a:cs typeface="Calibri"/>
              <a:sym typeface="Calibri"/>
            </a:endParaRPr>
          </a:p>
        </p:txBody>
      </p:sp>
      <p:pic>
        <p:nvPicPr>
          <p:cNvPr id="63" name="Google Shape;63;p15"/>
          <p:cNvPicPr preferRelativeResize="0"/>
          <p:nvPr/>
        </p:nvPicPr>
        <p:blipFill>
          <a:blip r:embed="rId4">
            <a:alphaModFix/>
          </a:blip>
          <a:stretch>
            <a:fillRect/>
          </a:stretch>
        </p:blipFill>
        <p:spPr>
          <a:xfrm>
            <a:off x="2846650" y="3022600"/>
            <a:ext cx="1106651" cy="1238477"/>
          </a:xfrm>
          <a:prstGeom prst="rect">
            <a:avLst/>
          </a:prstGeom>
          <a:noFill/>
          <a:ln>
            <a:noFill/>
          </a:ln>
        </p:spPr>
      </p:pic>
      <p:pic>
        <p:nvPicPr>
          <p:cNvPr id="64" name="Google Shape;64;p15"/>
          <p:cNvPicPr preferRelativeResize="0"/>
          <p:nvPr/>
        </p:nvPicPr>
        <p:blipFill rotWithShape="1">
          <a:blip r:embed="rId5">
            <a:alphaModFix/>
          </a:blip>
          <a:srcRect l="22319" r="21419" b="5553"/>
          <a:stretch/>
        </p:blipFill>
        <p:spPr>
          <a:xfrm>
            <a:off x="5266350" y="3065963"/>
            <a:ext cx="1031000" cy="115175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2A3615-3B71-775C-D760-8095F51556E8}"/>
              </a:ext>
            </a:extLst>
          </p:cNvPr>
          <p:cNvSpPr>
            <a:spLocks noGrp="1"/>
          </p:cNvSpPr>
          <p:nvPr>
            <p:ph type="title"/>
          </p:nvPr>
        </p:nvSpPr>
        <p:spPr/>
        <p:txBody>
          <a:bodyPr>
            <a:normAutofit fontScale="90000"/>
          </a:bodyPr>
          <a:lstStyle/>
          <a:p>
            <a:r>
              <a:rPr lang="en-IN" b="1" dirty="0">
                <a:sym typeface="Calibri"/>
              </a:rPr>
              <a:t>What We'll Cover</a:t>
            </a:r>
            <a:endParaRPr lang="en-US" dirty="0"/>
          </a:p>
        </p:txBody>
      </p:sp>
      <p:sp>
        <p:nvSpPr>
          <p:cNvPr id="3" name="Text Placeholder 2">
            <a:extLst>
              <a:ext uri="{FF2B5EF4-FFF2-40B4-BE49-F238E27FC236}">
                <a16:creationId xmlns:a16="http://schemas.microsoft.com/office/drawing/2014/main" id="{538E03F9-5E5D-CE98-2936-5D1194BF651C}"/>
              </a:ext>
            </a:extLst>
          </p:cNvPr>
          <p:cNvSpPr>
            <a:spLocks noGrp="1"/>
          </p:cNvSpPr>
          <p:nvPr>
            <p:ph type="body" idx="1"/>
          </p:nvPr>
        </p:nvSpPr>
        <p:spPr/>
        <p:txBody>
          <a:bodyPr>
            <a:normAutofit/>
          </a:bodyPr>
          <a:lstStyle/>
          <a:p>
            <a:r>
              <a:rPr lang="en-US" dirty="0">
                <a:solidFill>
                  <a:srgbClr val="1A1F36"/>
                </a:solidFill>
                <a:latin typeface="Calibri"/>
              </a:rPr>
              <a:t>Recap – Transformer models</a:t>
            </a:r>
            <a:br>
              <a:rPr lang="en-US" dirty="0">
                <a:solidFill>
                  <a:srgbClr val="1A1F36"/>
                </a:solidFill>
                <a:latin typeface="Calibri"/>
              </a:rPr>
            </a:br>
            <a:endParaRPr lang="en-US" dirty="0">
              <a:solidFill>
                <a:srgbClr val="1A1F36"/>
              </a:solidFill>
              <a:latin typeface="Calibri"/>
            </a:endParaRPr>
          </a:p>
          <a:p>
            <a:r>
              <a:rPr lang="en-US" dirty="0">
                <a:solidFill>
                  <a:srgbClr val="1A1F36"/>
                </a:solidFill>
                <a:latin typeface="Calibri"/>
              </a:rPr>
              <a:t>Large Language Models</a:t>
            </a:r>
          </a:p>
          <a:p>
            <a:pPr lvl="1"/>
            <a:r>
              <a:rPr lang="en-US" dirty="0">
                <a:solidFill>
                  <a:srgbClr val="1A1F36"/>
                </a:solidFill>
                <a:latin typeface="Calibri"/>
              </a:rPr>
              <a:t>Model Architectures and training</a:t>
            </a:r>
          </a:p>
          <a:p>
            <a:pPr lvl="1"/>
            <a:r>
              <a:rPr lang="en-US" dirty="0">
                <a:solidFill>
                  <a:srgbClr val="1A1F36"/>
                </a:solidFill>
                <a:latin typeface="Calibri"/>
              </a:rPr>
              <a:t>Prompting LLMs</a:t>
            </a:r>
          </a:p>
          <a:p>
            <a:pPr lvl="1"/>
            <a:r>
              <a:rPr lang="en-US" dirty="0">
                <a:solidFill>
                  <a:srgbClr val="1A1F36"/>
                </a:solidFill>
                <a:latin typeface="Calibri"/>
              </a:rPr>
              <a:t>Decoding and Generation</a:t>
            </a:r>
          </a:p>
          <a:p>
            <a:pPr marL="596900" lvl="1" indent="0">
              <a:buNone/>
            </a:pPr>
            <a:endParaRPr lang="en-US" dirty="0"/>
          </a:p>
          <a:p>
            <a:r>
              <a:rPr lang="en-US" dirty="0">
                <a:solidFill>
                  <a:srgbClr val="1A1F36"/>
                </a:solidFill>
                <a:latin typeface="Calibri"/>
              </a:rPr>
              <a:t>Prompting and APIs</a:t>
            </a:r>
          </a:p>
          <a:p>
            <a:pPr lvl="1"/>
            <a:r>
              <a:rPr lang="en-US" dirty="0">
                <a:solidFill>
                  <a:srgbClr val="1A1F36"/>
                </a:solidFill>
                <a:latin typeface="Calibri"/>
              </a:rPr>
              <a:t>OpenAI API</a:t>
            </a:r>
          </a:p>
          <a:p>
            <a:pPr lvl="1"/>
            <a:r>
              <a:rPr lang="en-US" dirty="0">
                <a:solidFill>
                  <a:srgbClr val="1A1F36"/>
                </a:solidFill>
                <a:latin typeface="Calibri"/>
              </a:rPr>
              <a:t>Basic Prompting Styles and examples</a:t>
            </a:r>
          </a:p>
          <a:p>
            <a:pPr lvl="1"/>
            <a:r>
              <a:rPr lang="en-US" dirty="0">
                <a:solidFill>
                  <a:srgbClr val="1A1F36"/>
                </a:solidFill>
                <a:latin typeface="Calibri"/>
              </a:rPr>
              <a:t>Basic Function Calling</a:t>
            </a:r>
          </a:p>
          <a:p>
            <a:pPr lvl="1"/>
            <a:endParaRPr lang="en-US" dirty="0">
              <a:solidFill>
                <a:srgbClr val="1A1F36"/>
              </a:solidFill>
              <a:latin typeface="Calibri"/>
            </a:endParaRPr>
          </a:p>
          <a:p>
            <a:pPr marL="596900" lvl="1" indent="0">
              <a:buNone/>
            </a:pPr>
            <a:endParaRPr lang="en-US" dirty="0"/>
          </a:p>
          <a:p>
            <a:endParaRPr lang="en-US" dirty="0"/>
          </a:p>
        </p:txBody>
      </p:sp>
      <p:pic>
        <p:nvPicPr>
          <p:cNvPr id="4" name="Google Shape;328;p29">
            <a:extLst>
              <a:ext uri="{FF2B5EF4-FFF2-40B4-BE49-F238E27FC236}">
                <a16:creationId xmlns:a16="http://schemas.microsoft.com/office/drawing/2014/main" id="{93ECC6F2-CC57-97BD-91B2-E703762D7BA5}"/>
              </a:ext>
            </a:extLst>
          </p:cNvPr>
          <p:cNvPicPr preferRelativeResize="0"/>
          <p:nvPr/>
        </p:nvPicPr>
        <p:blipFill>
          <a:blip r:embed="rId2">
            <a:alphaModFix/>
          </a:blip>
          <a:stretch>
            <a:fillRect/>
          </a:stretch>
        </p:blipFill>
        <p:spPr>
          <a:xfrm>
            <a:off x="8369125" y="0"/>
            <a:ext cx="774877" cy="867174"/>
          </a:xfrm>
          <a:prstGeom prst="rect">
            <a:avLst/>
          </a:prstGeom>
          <a:noFill/>
          <a:ln>
            <a:noFill/>
          </a:ln>
        </p:spPr>
      </p:pic>
    </p:spTree>
    <p:extLst>
      <p:ext uri="{BB962C8B-B14F-4D97-AF65-F5344CB8AC3E}">
        <p14:creationId xmlns:p14="http://schemas.microsoft.com/office/powerpoint/2010/main" val="231844263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8">
          <a:extLst>
            <a:ext uri="{FF2B5EF4-FFF2-40B4-BE49-F238E27FC236}">
              <a16:creationId xmlns:a16="http://schemas.microsoft.com/office/drawing/2014/main" id="{613C959A-D22A-DBC2-79B8-D2D5B561D840}"/>
            </a:ext>
          </a:extLst>
        </p:cNvPr>
        <p:cNvGrpSpPr/>
        <p:nvPr/>
      </p:nvGrpSpPr>
      <p:grpSpPr>
        <a:xfrm>
          <a:off x="0" y="0"/>
          <a:ext cx="0" cy="0"/>
          <a:chOff x="0" y="0"/>
          <a:chExt cx="0" cy="0"/>
        </a:xfrm>
      </p:grpSpPr>
      <p:pic>
        <p:nvPicPr>
          <p:cNvPr id="109" name="Google Shape;109;p20">
            <a:extLst>
              <a:ext uri="{FF2B5EF4-FFF2-40B4-BE49-F238E27FC236}">
                <a16:creationId xmlns:a16="http://schemas.microsoft.com/office/drawing/2014/main" id="{339F0F74-27B7-221F-C450-6117079A85A3}"/>
              </a:ext>
            </a:extLst>
          </p:cNvPr>
          <p:cNvPicPr preferRelativeResize="0"/>
          <p:nvPr/>
        </p:nvPicPr>
        <p:blipFill>
          <a:blip r:embed="rId3">
            <a:alphaModFix/>
          </a:blip>
          <a:stretch>
            <a:fillRect/>
          </a:stretch>
        </p:blipFill>
        <p:spPr>
          <a:xfrm>
            <a:off x="8369125" y="0"/>
            <a:ext cx="774877" cy="867174"/>
          </a:xfrm>
          <a:prstGeom prst="rect">
            <a:avLst/>
          </a:prstGeom>
          <a:noFill/>
          <a:ln>
            <a:noFill/>
          </a:ln>
        </p:spPr>
      </p:pic>
      <p:sp>
        <p:nvSpPr>
          <p:cNvPr id="110" name="Google Shape;110;p20">
            <a:extLst>
              <a:ext uri="{FF2B5EF4-FFF2-40B4-BE49-F238E27FC236}">
                <a16:creationId xmlns:a16="http://schemas.microsoft.com/office/drawing/2014/main" id="{4490723B-3D6A-58DE-91E8-A4FD470C9AAC}"/>
              </a:ext>
            </a:extLst>
          </p:cNvPr>
          <p:cNvSpPr txBox="1">
            <a:spLocks noGrp="1"/>
          </p:cNvSpPr>
          <p:nvPr>
            <p:ph type="ctrTitle" idx="4294967295"/>
          </p:nvPr>
        </p:nvSpPr>
        <p:spPr>
          <a:xfrm>
            <a:off x="418813" y="1507259"/>
            <a:ext cx="7772400" cy="8673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rgbClr val="C00000"/>
              </a:buClr>
              <a:buSzPts val="4400"/>
              <a:buFont typeface="Calibri"/>
              <a:buNone/>
            </a:pPr>
            <a:r>
              <a:rPr lang="en" sz="4000" b="1" dirty="0">
                <a:sym typeface="Calibri"/>
              </a:rPr>
              <a:t>Large Language Models </a:t>
            </a:r>
            <a:endParaRPr sz="4000" dirty="0">
              <a:latin typeface="Calibri"/>
              <a:ea typeface="Calibri"/>
              <a:cs typeface="Calibri"/>
              <a:sym typeface="Calibri"/>
            </a:endParaRPr>
          </a:p>
        </p:txBody>
      </p:sp>
      <p:sp>
        <p:nvSpPr>
          <p:cNvPr id="3" name="TextBox 2">
            <a:extLst>
              <a:ext uri="{FF2B5EF4-FFF2-40B4-BE49-F238E27FC236}">
                <a16:creationId xmlns:a16="http://schemas.microsoft.com/office/drawing/2014/main" id="{A448FCBE-DAFB-8EC1-C335-00157A0FF280}"/>
              </a:ext>
            </a:extLst>
          </p:cNvPr>
          <p:cNvSpPr txBox="1"/>
          <p:nvPr/>
        </p:nvSpPr>
        <p:spPr>
          <a:xfrm>
            <a:off x="2786932" y="2768942"/>
            <a:ext cx="3570135" cy="400110"/>
          </a:xfrm>
          <a:prstGeom prst="rect">
            <a:avLst/>
          </a:prstGeom>
          <a:noFill/>
        </p:spPr>
        <p:txBody>
          <a:bodyPr wrap="square" rtlCol="0">
            <a:spAutoFit/>
          </a:bodyPr>
          <a:lstStyle/>
          <a:p>
            <a:r>
              <a:rPr lang="en-US" sz="2000" dirty="0">
                <a:solidFill>
                  <a:srgbClr val="1A1F36"/>
                </a:solidFill>
                <a:latin typeface="Calibri"/>
              </a:rPr>
              <a:t>Recap: Transformer Models</a:t>
            </a:r>
          </a:p>
        </p:txBody>
      </p:sp>
    </p:spTree>
    <p:extLst>
      <p:ext uri="{BB962C8B-B14F-4D97-AF65-F5344CB8AC3E}">
        <p14:creationId xmlns:p14="http://schemas.microsoft.com/office/powerpoint/2010/main" val="381619808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1B93AE-80A7-8024-D084-E45407A025F1}"/>
              </a:ext>
            </a:extLst>
          </p:cNvPr>
          <p:cNvSpPr>
            <a:spLocks noGrp="1"/>
          </p:cNvSpPr>
          <p:nvPr>
            <p:ph type="title"/>
          </p:nvPr>
        </p:nvSpPr>
        <p:spPr/>
        <p:txBody>
          <a:bodyPr>
            <a:normAutofit fontScale="90000"/>
          </a:bodyPr>
          <a:lstStyle/>
          <a:p>
            <a:r>
              <a:rPr lang="en-US" b="1" dirty="0">
                <a:solidFill>
                  <a:srgbClr val="1E2761"/>
                </a:solidFill>
                <a:latin typeface="Georgia"/>
              </a:rPr>
              <a:t>Begin with a question</a:t>
            </a:r>
          </a:p>
        </p:txBody>
      </p:sp>
      <p:sp>
        <p:nvSpPr>
          <p:cNvPr id="3" name="Text Placeholder 2">
            <a:extLst>
              <a:ext uri="{FF2B5EF4-FFF2-40B4-BE49-F238E27FC236}">
                <a16:creationId xmlns:a16="http://schemas.microsoft.com/office/drawing/2014/main" id="{FC3B0AB0-5B13-8BBB-A38C-A7790859E41F}"/>
              </a:ext>
            </a:extLst>
          </p:cNvPr>
          <p:cNvSpPr>
            <a:spLocks noGrp="1"/>
          </p:cNvSpPr>
          <p:nvPr>
            <p:ph type="body" idx="1"/>
          </p:nvPr>
        </p:nvSpPr>
        <p:spPr/>
        <p:txBody>
          <a:bodyPr/>
          <a:lstStyle/>
          <a:p>
            <a:r>
              <a:rPr lang="en-US" dirty="0">
                <a:solidFill>
                  <a:srgbClr val="1A1F36"/>
                </a:solidFill>
                <a:latin typeface="Calibri"/>
              </a:rPr>
              <a:t>Which one of these transformer components is responsible for the “Generation” in GenAI?</a:t>
            </a:r>
          </a:p>
          <a:p>
            <a:pPr lvl="1"/>
            <a:r>
              <a:rPr lang="en-US" dirty="0">
                <a:solidFill>
                  <a:srgbClr val="1A1F36"/>
                </a:solidFill>
                <a:latin typeface="Calibri"/>
              </a:rPr>
              <a:t>Positional Encoding.</a:t>
            </a:r>
          </a:p>
          <a:p>
            <a:pPr lvl="1"/>
            <a:r>
              <a:rPr lang="en-US" dirty="0">
                <a:solidFill>
                  <a:srgbClr val="1A1F36"/>
                </a:solidFill>
                <a:latin typeface="Calibri"/>
              </a:rPr>
              <a:t>Tokenizer</a:t>
            </a:r>
          </a:p>
          <a:p>
            <a:pPr lvl="1"/>
            <a:r>
              <a:rPr lang="en-US" dirty="0">
                <a:solidFill>
                  <a:srgbClr val="1A1F36"/>
                </a:solidFill>
                <a:latin typeface="Calibri"/>
              </a:rPr>
              <a:t>Encoder</a:t>
            </a:r>
          </a:p>
          <a:p>
            <a:pPr lvl="1"/>
            <a:r>
              <a:rPr lang="en-US" dirty="0">
                <a:solidFill>
                  <a:srgbClr val="1A1F36"/>
                </a:solidFill>
                <a:latin typeface="Calibri"/>
              </a:rPr>
              <a:t>Decoder</a:t>
            </a:r>
          </a:p>
        </p:txBody>
      </p:sp>
      <p:pic>
        <p:nvPicPr>
          <p:cNvPr id="4" name="Google Shape;328;p29">
            <a:extLst>
              <a:ext uri="{FF2B5EF4-FFF2-40B4-BE49-F238E27FC236}">
                <a16:creationId xmlns:a16="http://schemas.microsoft.com/office/drawing/2014/main" id="{08D637BB-3DEA-9519-BE86-47E4C4512021}"/>
              </a:ext>
            </a:extLst>
          </p:cNvPr>
          <p:cNvPicPr preferRelativeResize="0"/>
          <p:nvPr/>
        </p:nvPicPr>
        <p:blipFill>
          <a:blip r:embed="rId2">
            <a:alphaModFix/>
          </a:blip>
          <a:stretch>
            <a:fillRect/>
          </a:stretch>
        </p:blipFill>
        <p:spPr>
          <a:xfrm>
            <a:off x="8369125" y="0"/>
            <a:ext cx="774877" cy="867174"/>
          </a:xfrm>
          <a:prstGeom prst="rect">
            <a:avLst/>
          </a:prstGeom>
          <a:noFill/>
          <a:ln>
            <a:noFill/>
          </a:ln>
        </p:spPr>
      </p:pic>
    </p:spTree>
    <p:extLst>
      <p:ext uri="{BB962C8B-B14F-4D97-AF65-F5344CB8AC3E}">
        <p14:creationId xmlns:p14="http://schemas.microsoft.com/office/powerpoint/2010/main" val="98348282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2"/>
          <p:cNvSpPr/>
          <p:nvPr/>
        </p:nvSpPr>
        <p:spPr>
          <a:xfrm>
            <a:off x="457200" y="182880"/>
            <a:ext cx="7772400" cy="594360"/>
          </a:xfrm>
          <a:prstGeom prst="rect">
            <a:avLst/>
          </a:prstGeom>
          <a:noFill/>
          <a:ln/>
        </p:spPr>
        <p:txBody>
          <a:bodyPr wrap="square" rtlCol="0" anchor="ctr"/>
          <a:lstStyle/>
          <a:p>
            <a:pPr marL="0" indent="0">
              <a:buNone/>
            </a:pPr>
            <a:r>
              <a:rPr lang="en-US" sz="3600" b="1" dirty="0">
                <a:solidFill>
                  <a:srgbClr val="1A237E"/>
                </a:solidFill>
                <a:latin typeface="Calibri" pitchFamily="34" charset="0"/>
                <a:ea typeface="Calibri" pitchFamily="34" charset="-122"/>
                <a:cs typeface="Calibri" pitchFamily="34" charset="-120"/>
              </a:rPr>
              <a:t>Answer</a:t>
            </a:r>
            <a:endParaRPr lang="en-US" sz="3600" dirty="0"/>
          </a:p>
        </p:txBody>
      </p:sp>
      <p:sp>
        <p:nvSpPr>
          <p:cNvPr id="5" name="Text 3"/>
          <p:cNvSpPr/>
          <p:nvPr/>
        </p:nvSpPr>
        <p:spPr>
          <a:xfrm>
            <a:off x="457200" y="822960"/>
            <a:ext cx="8229600" cy="502920"/>
          </a:xfrm>
          <a:prstGeom prst="rect">
            <a:avLst/>
          </a:prstGeom>
          <a:noFill/>
          <a:ln/>
        </p:spPr>
        <p:txBody>
          <a:bodyPr wrap="square" rtlCol="0" anchor="ctr"/>
          <a:lstStyle/>
          <a:p>
            <a:pPr marL="0" indent="0">
              <a:buNone/>
            </a:pPr>
            <a:r>
              <a:rPr lang="en-US" sz="1600" i="1" dirty="0">
                <a:solidFill>
                  <a:srgbClr val="1A1A2E"/>
                </a:solidFill>
                <a:latin typeface="Calibri" pitchFamily="34" charset="0"/>
                <a:ea typeface="Calibri" pitchFamily="34" charset="-122"/>
                <a:cs typeface="Calibri" pitchFamily="34" charset="-120"/>
              </a:rPr>
              <a:t>Which transformer component is responsible for the “Generation” in GenAI?</a:t>
            </a:r>
            <a:endParaRPr lang="en-US" sz="1600" dirty="0"/>
          </a:p>
        </p:txBody>
      </p:sp>
      <p:sp>
        <p:nvSpPr>
          <p:cNvPr id="6" name="Shape 4"/>
          <p:cNvSpPr/>
          <p:nvPr/>
        </p:nvSpPr>
        <p:spPr>
          <a:xfrm>
            <a:off x="457200" y="1417320"/>
            <a:ext cx="1874520" cy="685800"/>
          </a:xfrm>
          <a:prstGeom prst="roundRect">
            <a:avLst>
              <a:gd name="adj" fmla="val 13333"/>
            </a:avLst>
          </a:prstGeom>
          <a:solidFill>
            <a:srgbClr val="FAFAFA"/>
          </a:solidFill>
          <a:ln w="12700">
            <a:solidFill>
              <a:srgbClr val="9E9E9E"/>
            </a:solidFill>
            <a:prstDash val="solid"/>
          </a:ln>
        </p:spPr>
      </p:sp>
      <p:sp>
        <p:nvSpPr>
          <p:cNvPr id="7" name="Text 5"/>
          <p:cNvSpPr/>
          <p:nvPr/>
        </p:nvSpPr>
        <p:spPr>
          <a:xfrm>
            <a:off x="548640" y="1417320"/>
            <a:ext cx="1737360" cy="685800"/>
          </a:xfrm>
          <a:prstGeom prst="rect">
            <a:avLst/>
          </a:prstGeom>
          <a:noFill/>
          <a:ln/>
        </p:spPr>
        <p:txBody>
          <a:bodyPr wrap="square" rtlCol="0" anchor="ctr"/>
          <a:lstStyle/>
          <a:p>
            <a:pPr marL="0" indent="0">
              <a:buNone/>
            </a:pPr>
            <a:r>
              <a:rPr lang="en-US" sz="1300" dirty="0">
                <a:solidFill>
                  <a:srgbClr val="757575"/>
                </a:solidFill>
                <a:latin typeface="Calibri" pitchFamily="34" charset="0"/>
                <a:ea typeface="Calibri" pitchFamily="34" charset="-122"/>
                <a:cs typeface="Calibri" pitchFamily="34" charset="-120"/>
              </a:rPr>
              <a:t>A. Positional</a:t>
            </a:r>
            <a:endParaRPr lang="en-US" sz="1300" dirty="0"/>
          </a:p>
          <a:p>
            <a:pPr marL="0" indent="0">
              <a:buNone/>
            </a:pPr>
            <a:r>
              <a:rPr lang="en-US" sz="1300" dirty="0">
                <a:solidFill>
                  <a:srgbClr val="757575"/>
                </a:solidFill>
                <a:latin typeface="Calibri" pitchFamily="34" charset="0"/>
                <a:ea typeface="Calibri" pitchFamily="34" charset="-122"/>
                <a:cs typeface="Calibri" pitchFamily="34" charset="-120"/>
              </a:rPr>
              <a:t>Encoding</a:t>
            </a:r>
            <a:endParaRPr lang="en-US" sz="1300" dirty="0"/>
          </a:p>
        </p:txBody>
      </p:sp>
      <p:sp>
        <p:nvSpPr>
          <p:cNvPr id="8" name="Shape 6"/>
          <p:cNvSpPr/>
          <p:nvPr/>
        </p:nvSpPr>
        <p:spPr>
          <a:xfrm>
            <a:off x="2423160" y="1417320"/>
            <a:ext cx="1874520" cy="685800"/>
          </a:xfrm>
          <a:prstGeom prst="roundRect">
            <a:avLst>
              <a:gd name="adj" fmla="val 13333"/>
            </a:avLst>
          </a:prstGeom>
          <a:solidFill>
            <a:srgbClr val="FAFAFA"/>
          </a:solidFill>
          <a:ln w="12700">
            <a:solidFill>
              <a:srgbClr val="9E9E9E"/>
            </a:solidFill>
            <a:prstDash val="solid"/>
          </a:ln>
        </p:spPr>
      </p:sp>
      <p:sp>
        <p:nvSpPr>
          <p:cNvPr id="9" name="Text 7"/>
          <p:cNvSpPr/>
          <p:nvPr/>
        </p:nvSpPr>
        <p:spPr>
          <a:xfrm>
            <a:off x="2514600" y="1417320"/>
            <a:ext cx="1737360" cy="685800"/>
          </a:xfrm>
          <a:prstGeom prst="rect">
            <a:avLst/>
          </a:prstGeom>
          <a:noFill/>
          <a:ln/>
        </p:spPr>
        <p:txBody>
          <a:bodyPr wrap="square" rtlCol="0" anchor="ctr"/>
          <a:lstStyle/>
          <a:p>
            <a:pPr marL="0" indent="0">
              <a:buNone/>
            </a:pPr>
            <a:r>
              <a:rPr lang="en-US" sz="1300" dirty="0">
                <a:solidFill>
                  <a:srgbClr val="757575"/>
                </a:solidFill>
                <a:latin typeface="Calibri" pitchFamily="34" charset="0"/>
                <a:ea typeface="Calibri" pitchFamily="34" charset="-122"/>
                <a:cs typeface="Calibri" pitchFamily="34" charset="-120"/>
              </a:rPr>
              <a:t>B. Tokenizer</a:t>
            </a:r>
            <a:endParaRPr lang="en-US" sz="1300" dirty="0"/>
          </a:p>
        </p:txBody>
      </p:sp>
      <p:sp>
        <p:nvSpPr>
          <p:cNvPr id="10" name="Shape 8"/>
          <p:cNvSpPr/>
          <p:nvPr/>
        </p:nvSpPr>
        <p:spPr>
          <a:xfrm>
            <a:off x="4389120" y="1417320"/>
            <a:ext cx="1874520" cy="685800"/>
          </a:xfrm>
          <a:prstGeom prst="roundRect">
            <a:avLst>
              <a:gd name="adj" fmla="val 13333"/>
            </a:avLst>
          </a:prstGeom>
          <a:solidFill>
            <a:srgbClr val="FAFAFA"/>
          </a:solidFill>
          <a:ln w="12700">
            <a:solidFill>
              <a:srgbClr val="9E9E9E"/>
            </a:solidFill>
            <a:prstDash val="solid"/>
          </a:ln>
        </p:spPr>
      </p:sp>
      <p:sp>
        <p:nvSpPr>
          <p:cNvPr id="11" name="Text 9"/>
          <p:cNvSpPr/>
          <p:nvPr/>
        </p:nvSpPr>
        <p:spPr>
          <a:xfrm>
            <a:off x="4480560" y="1417320"/>
            <a:ext cx="1737360" cy="685800"/>
          </a:xfrm>
          <a:prstGeom prst="rect">
            <a:avLst/>
          </a:prstGeom>
          <a:noFill/>
          <a:ln/>
        </p:spPr>
        <p:txBody>
          <a:bodyPr wrap="square" rtlCol="0" anchor="ctr"/>
          <a:lstStyle/>
          <a:p>
            <a:pPr marL="0" indent="0">
              <a:buNone/>
            </a:pPr>
            <a:r>
              <a:rPr lang="en-US" sz="1300" dirty="0">
                <a:solidFill>
                  <a:srgbClr val="757575"/>
                </a:solidFill>
                <a:latin typeface="Calibri" pitchFamily="34" charset="0"/>
                <a:ea typeface="Calibri" pitchFamily="34" charset="-122"/>
                <a:cs typeface="Calibri" pitchFamily="34" charset="-120"/>
              </a:rPr>
              <a:t>C. Encoder</a:t>
            </a:r>
            <a:endParaRPr lang="en-US" sz="1300" dirty="0"/>
          </a:p>
        </p:txBody>
      </p:sp>
      <p:sp>
        <p:nvSpPr>
          <p:cNvPr id="12" name="Shape 10"/>
          <p:cNvSpPr/>
          <p:nvPr/>
        </p:nvSpPr>
        <p:spPr>
          <a:xfrm>
            <a:off x="6355080" y="1417320"/>
            <a:ext cx="1874520" cy="685800"/>
          </a:xfrm>
          <a:prstGeom prst="roundRect">
            <a:avLst>
              <a:gd name="adj" fmla="val 13333"/>
            </a:avLst>
          </a:prstGeom>
          <a:solidFill>
            <a:srgbClr val="C8E6C9"/>
          </a:solidFill>
          <a:ln w="31750">
            <a:solidFill>
              <a:srgbClr val="2E7D32"/>
            </a:solidFill>
            <a:prstDash val="solid"/>
          </a:ln>
        </p:spPr>
      </p:sp>
      <p:sp>
        <p:nvSpPr>
          <p:cNvPr id="13" name="Text 11"/>
          <p:cNvSpPr/>
          <p:nvPr/>
        </p:nvSpPr>
        <p:spPr>
          <a:xfrm>
            <a:off x="6400800" y="1463040"/>
            <a:ext cx="320040" cy="320040"/>
          </a:xfrm>
          <a:prstGeom prst="rect">
            <a:avLst/>
          </a:prstGeom>
          <a:noFill/>
          <a:ln/>
        </p:spPr>
        <p:txBody>
          <a:bodyPr wrap="square" rtlCol="0" anchor="ctr"/>
          <a:lstStyle/>
          <a:p>
            <a:pPr marL="0" indent="0" algn="ctr">
              <a:buNone/>
            </a:pPr>
            <a:r>
              <a:rPr lang="en-US" sz="1600" b="1" dirty="0">
                <a:solidFill>
                  <a:srgbClr val="2E7D32"/>
                </a:solidFill>
              </a:rPr>
              <a:t>✓</a:t>
            </a:r>
            <a:endParaRPr lang="en-US" sz="1600" dirty="0"/>
          </a:p>
        </p:txBody>
      </p:sp>
      <p:sp>
        <p:nvSpPr>
          <p:cNvPr id="14" name="Text 12"/>
          <p:cNvSpPr/>
          <p:nvPr/>
        </p:nvSpPr>
        <p:spPr>
          <a:xfrm>
            <a:off x="6675120" y="1417320"/>
            <a:ext cx="1508760" cy="685800"/>
          </a:xfrm>
          <a:prstGeom prst="rect">
            <a:avLst/>
          </a:prstGeom>
          <a:noFill/>
          <a:ln/>
        </p:spPr>
        <p:txBody>
          <a:bodyPr wrap="square" rtlCol="0" anchor="ctr"/>
          <a:lstStyle/>
          <a:p>
            <a:pPr marL="0" indent="0">
              <a:buNone/>
            </a:pPr>
            <a:r>
              <a:rPr lang="en-US" sz="1300" b="1" dirty="0">
                <a:solidFill>
                  <a:srgbClr val="2E7D32"/>
                </a:solidFill>
                <a:latin typeface="Calibri" pitchFamily="34" charset="0"/>
                <a:ea typeface="Calibri" pitchFamily="34" charset="-122"/>
                <a:cs typeface="Calibri" pitchFamily="34" charset="-120"/>
              </a:rPr>
              <a:t>D. Decoder</a:t>
            </a:r>
            <a:endParaRPr lang="en-US" sz="1300" dirty="0"/>
          </a:p>
        </p:txBody>
      </p:sp>
      <p:sp>
        <p:nvSpPr>
          <p:cNvPr id="15" name="Shape 13"/>
          <p:cNvSpPr/>
          <p:nvPr/>
        </p:nvSpPr>
        <p:spPr>
          <a:xfrm>
            <a:off x="457200" y="2240280"/>
            <a:ext cx="8229600" cy="384048"/>
          </a:xfrm>
          <a:prstGeom prst="roundRect">
            <a:avLst>
              <a:gd name="adj" fmla="val 19048"/>
            </a:avLst>
          </a:prstGeom>
          <a:solidFill>
            <a:srgbClr val="2E7D32"/>
          </a:solidFill>
          <a:ln w="12700">
            <a:solidFill>
              <a:srgbClr val="2E7D32"/>
            </a:solidFill>
            <a:prstDash val="solid"/>
          </a:ln>
        </p:spPr>
      </p:sp>
      <p:sp>
        <p:nvSpPr>
          <p:cNvPr id="16" name="Text 14"/>
          <p:cNvSpPr/>
          <p:nvPr/>
        </p:nvSpPr>
        <p:spPr>
          <a:xfrm>
            <a:off x="457200" y="2240280"/>
            <a:ext cx="8229600" cy="384048"/>
          </a:xfrm>
          <a:prstGeom prst="rect">
            <a:avLst/>
          </a:prstGeom>
          <a:noFill/>
          <a:ln/>
        </p:spPr>
        <p:txBody>
          <a:bodyPr wrap="square"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  Correct Answer: D. Decoder</a:t>
            </a:r>
            <a:endParaRPr lang="en-US" sz="1500" dirty="0"/>
          </a:p>
        </p:txBody>
      </p:sp>
      <p:sp>
        <p:nvSpPr>
          <p:cNvPr id="17" name="Text 15"/>
          <p:cNvSpPr/>
          <p:nvPr/>
        </p:nvSpPr>
        <p:spPr>
          <a:xfrm>
            <a:off x="457200" y="2743200"/>
            <a:ext cx="8229600" cy="347472"/>
          </a:xfrm>
          <a:prstGeom prst="rect">
            <a:avLst/>
          </a:prstGeom>
          <a:noFill/>
          <a:ln/>
        </p:spPr>
        <p:txBody>
          <a:bodyPr wrap="square" rtlCol="0" anchor="ctr"/>
          <a:lstStyle/>
          <a:p>
            <a:pPr marL="0" indent="0">
              <a:buNone/>
            </a:pPr>
            <a:r>
              <a:rPr lang="en-US" sz="1800" b="1" dirty="0">
                <a:solidFill>
                  <a:srgbClr val="1A237E"/>
                </a:solidFill>
                <a:latin typeface="Calibri" pitchFamily="34" charset="0"/>
                <a:ea typeface="Calibri" pitchFamily="34" charset="-122"/>
                <a:cs typeface="Calibri" pitchFamily="34" charset="-120"/>
              </a:rPr>
              <a:t>Why the Decoder?</a:t>
            </a:r>
            <a:endParaRPr lang="en-US" sz="1800" dirty="0"/>
          </a:p>
        </p:txBody>
      </p:sp>
      <p:sp>
        <p:nvSpPr>
          <p:cNvPr id="18" name="Shape 16"/>
          <p:cNvSpPr/>
          <p:nvPr/>
        </p:nvSpPr>
        <p:spPr>
          <a:xfrm>
            <a:off x="457200" y="3200400"/>
            <a:ext cx="2651760" cy="1600200"/>
          </a:xfrm>
          <a:prstGeom prst="roundRect">
            <a:avLst>
              <a:gd name="adj" fmla="val 6857"/>
            </a:avLst>
          </a:prstGeom>
          <a:solidFill>
            <a:srgbClr val="F8F9FF"/>
          </a:solidFill>
          <a:ln w="12700">
            <a:solidFill>
              <a:srgbClr val="C5CAE9"/>
            </a:solidFill>
            <a:prstDash val="solid"/>
          </a:ln>
          <a:effectLst>
            <a:outerShdw blurRad="63500" dist="25400" dir="2700000" algn="bl" rotWithShape="0">
              <a:srgbClr val="000000">
                <a:alpha val="10000"/>
              </a:srgbClr>
            </a:outerShdw>
          </a:effectLst>
        </p:spPr>
      </p:sp>
      <p:sp>
        <p:nvSpPr>
          <p:cNvPr id="19" name="Text 17"/>
          <p:cNvSpPr/>
          <p:nvPr/>
        </p:nvSpPr>
        <p:spPr>
          <a:xfrm>
            <a:off x="566928" y="3310128"/>
            <a:ext cx="457200" cy="411480"/>
          </a:xfrm>
          <a:prstGeom prst="rect">
            <a:avLst/>
          </a:prstGeom>
          <a:noFill/>
          <a:ln/>
        </p:spPr>
        <p:txBody>
          <a:bodyPr wrap="square" rtlCol="0" anchor="ctr"/>
          <a:lstStyle/>
          <a:p>
            <a:pPr marL="0" indent="0" algn="ctr">
              <a:buNone/>
            </a:pPr>
            <a:r>
              <a:rPr lang="en-US" sz="2200" dirty="0">
                <a:solidFill>
                  <a:srgbClr val="000000"/>
                </a:solidFill>
              </a:rPr>
              <a:t>🔁</a:t>
            </a:r>
            <a:endParaRPr lang="en-US" sz="2200" dirty="0"/>
          </a:p>
        </p:txBody>
      </p:sp>
      <p:sp>
        <p:nvSpPr>
          <p:cNvPr id="20" name="Text 18"/>
          <p:cNvSpPr/>
          <p:nvPr/>
        </p:nvSpPr>
        <p:spPr>
          <a:xfrm>
            <a:off x="566928" y="3703320"/>
            <a:ext cx="2423160" cy="320040"/>
          </a:xfrm>
          <a:prstGeom prst="rect">
            <a:avLst/>
          </a:prstGeom>
          <a:noFill/>
          <a:ln/>
        </p:spPr>
        <p:txBody>
          <a:bodyPr wrap="square" rtlCol="0" anchor="ctr"/>
          <a:lstStyle/>
          <a:p>
            <a:pPr marL="0" indent="0">
              <a:buNone/>
            </a:pPr>
            <a:r>
              <a:rPr lang="en-US" sz="1200" b="1" dirty="0">
                <a:solidFill>
                  <a:srgbClr val="1A237E"/>
                </a:solidFill>
                <a:latin typeface="Calibri" pitchFamily="34" charset="0"/>
                <a:ea typeface="Calibri" pitchFamily="34" charset="-122"/>
                <a:cs typeface="Calibri" pitchFamily="34" charset="-120"/>
              </a:rPr>
              <a:t>Autoregressive Generation</a:t>
            </a:r>
            <a:endParaRPr lang="en-US" sz="1200" dirty="0"/>
          </a:p>
        </p:txBody>
      </p:sp>
      <p:sp>
        <p:nvSpPr>
          <p:cNvPr id="21" name="Text 19"/>
          <p:cNvSpPr/>
          <p:nvPr/>
        </p:nvSpPr>
        <p:spPr>
          <a:xfrm>
            <a:off x="566928" y="4005072"/>
            <a:ext cx="2423160" cy="749808"/>
          </a:xfrm>
          <a:prstGeom prst="rect">
            <a:avLst/>
          </a:prstGeom>
          <a:noFill/>
          <a:ln/>
        </p:spPr>
        <p:txBody>
          <a:bodyPr wrap="square" rtlCol="0" anchor="t"/>
          <a:lstStyle/>
          <a:p>
            <a:pPr marL="0" indent="0">
              <a:buNone/>
            </a:pPr>
            <a:r>
              <a:rPr lang="en-US" sz="1100" dirty="0">
                <a:solidFill>
                  <a:srgbClr val="424242"/>
                </a:solidFill>
                <a:latin typeface="Calibri" pitchFamily="34" charset="0"/>
                <a:ea typeface="Calibri" pitchFamily="34" charset="-122"/>
                <a:cs typeface="Calibri" pitchFamily="34" charset="-120"/>
              </a:rPr>
              <a:t>The Decoder generates text one token at a time, using its own previous outputs as input — this loop is the core of generation.</a:t>
            </a:r>
            <a:endParaRPr lang="en-US" sz="1100" dirty="0"/>
          </a:p>
        </p:txBody>
      </p:sp>
      <p:sp>
        <p:nvSpPr>
          <p:cNvPr id="22" name="Shape 20"/>
          <p:cNvSpPr/>
          <p:nvPr/>
        </p:nvSpPr>
        <p:spPr>
          <a:xfrm>
            <a:off x="3246120" y="3200400"/>
            <a:ext cx="2651760" cy="1600200"/>
          </a:xfrm>
          <a:prstGeom prst="roundRect">
            <a:avLst>
              <a:gd name="adj" fmla="val 6857"/>
            </a:avLst>
          </a:prstGeom>
          <a:solidFill>
            <a:srgbClr val="F8F9FF"/>
          </a:solidFill>
          <a:ln w="12700">
            <a:solidFill>
              <a:srgbClr val="C5CAE9"/>
            </a:solidFill>
            <a:prstDash val="solid"/>
          </a:ln>
          <a:effectLst>
            <a:outerShdw blurRad="63500" dist="25400" dir="2700000" algn="bl" rotWithShape="0">
              <a:srgbClr val="000000">
                <a:alpha val="10000"/>
              </a:srgbClr>
            </a:outerShdw>
          </a:effectLst>
        </p:spPr>
      </p:sp>
      <p:sp>
        <p:nvSpPr>
          <p:cNvPr id="23" name="Text 21"/>
          <p:cNvSpPr/>
          <p:nvPr/>
        </p:nvSpPr>
        <p:spPr>
          <a:xfrm>
            <a:off x="3355848" y="3310128"/>
            <a:ext cx="457200" cy="411480"/>
          </a:xfrm>
          <a:prstGeom prst="rect">
            <a:avLst/>
          </a:prstGeom>
          <a:noFill/>
          <a:ln/>
        </p:spPr>
        <p:txBody>
          <a:bodyPr wrap="square" rtlCol="0" anchor="ctr"/>
          <a:lstStyle/>
          <a:p>
            <a:pPr marL="0" indent="0" algn="ctr">
              <a:buNone/>
            </a:pPr>
            <a:r>
              <a:rPr lang="en-US" sz="2200" dirty="0">
                <a:solidFill>
                  <a:srgbClr val="000000"/>
                </a:solidFill>
              </a:rPr>
              <a:t>🎭</a:t>
            </a:r>
            <a:endParaRPr lang="en-US" sz="2200" dirty="0"/>
          </a:p>
        </p:txBody>
      </p:sp>
      <p:sp>
        <p:nvSpPr>
          <p:cNvPr id="24" name="Text 22"/>
          <p:cNvSpPr/>
          <p:nvPr/>
        </p:nvSpPr>
        <p:spPr>
          <a:xfrm>
            <a:off x="3355848" y="3703320"/>
            <a:ext cx="2423160" cy="320040"/>
          </a:xfrm>
          <a:prstGeom prst="rect">
            <a:avLst/>
          </a:prstGeom>
          <a:noFill/>
          <a:ln/>
        </p:spPr>
        <p:txBody>
          <a:bodyPr wrap="square" rtlCol="0" anchor="ctr"/>
          <a:lstStyle/>
          <a:p>
            <a:pPr marL="0" indent="0">
              <a:buNone/>
            </a:pPr>
            <a:r>
              <a:rPr lang="en-US" sz="1200" b="1" dirty="0">
                <a:solidFill>
                  <a:srgbClr val="1A237E"/>
                </a:solidFill>
                <a:latin typeface="Calibri" pitchFamily="34" charset="0"/>
                <a:ea typeface="Calibri" pitchFamily="34" charset="-122"/>
                <a:cs typeface="Calibri" pitchFamily="34" charset="-120"/>
              </a:rPr>
              <a:t>Masked Self-Attention</a:t>
            </a:r>
            <a:endParaRPr lang="en-US" sz="1200" dirty="0"/>
          </a:p>
        </p:txBody>
      </p:sp>
      <p:sp>
        <p:nvSpPr>
          <p:cNvPr id="25" name="Text 23"/>
          <p:cNvSpPr/>
          <p:nvPr/>
        </p:nvSpPr>
        <p:spPr>
          <a:xfrm>
            <a:off x="3355848" y="4005072"/>
            <a:ext cx="2423160" cy="749808"/>
          </a:xfrm>
          <a:prstGeom prst="rect">
            <a:avLst/>
          </a:prstGeom>
          <a:noFill/>
          <a:ln/>
        </p:spPr>
        <p:txBody>
          <a:bodyPr wrap="square" rtlCol="0" anchor="t"/>
          <a:lstStyle/>
          <a:p>
            <a:pPr marL="0" indent="0">
              <a:buNone/>
            </a:pPr>
            <a:r>
              <a:rPr lang="en-US" sz="1100" dirty="0">
                <a:solidFill>
                  <a:srgbClr val="424242"/>
                </a:solidFill>
                <a:latin typeface="Calibri" pitchFamily="34" charset="0"/>
                <a:ea typeface="Calibri" pitchFamily="34" charset="-122"/>
                <a:cs typeface="Calibri" pitchFamily="34" charset="-120"/>
              </a:rPr>
              <a:t>Decoder uses causal (left-to-right) masking so each token only attends to past tokens, enabling sequential text generation.</a:t>
            </a:r>
            <a:endParaRPr lang="en-US" sz="1100" dirty="0"/>
          </a:p>
        </p:txBody>
      </p:sp>
      <p:sp>
        <p:nvSpPr>
          <p:cNvPr id="26" name="Shape 24"/>
          <p:cNvSpPr/>
          <p:nvPr/>
        </p:nvSpPr>
        <p:spPr>
          <a:xfrm>
            <a:off x="6035040" y="3200400"/>
            <a:ext cx="2651760" cy="1600200"/>
          </a:xfrm>
          <a:prstGeom prst="roundRect">
            <a:avLst>
              <a:gd name="adj" fmla="val 6857"/>
            </a:avLst>
          </a:prstGeom>
          <a:solidFill>
            <a:srgbClr val="F8F9FF"/>
          </a:solidFill>
          <a:ln w="12700">
            <a:solidFill>
              <a:srgbClr val="C5CAE9"/>
            </a:solidFill>
            <a:prstDash val="solid"/>
          </a:ln>
          <a:effectLst>
            <a:outerShdw blurRad="63500" dist="25400" dir="2700000" algn="bl" rotWithShape="0">
              <a:srgbClr val="000000">
                <a:alpha val="10000"/>
              </a:srgbClr>
            </a:outerShdw>
          </a:effectLst>
        </p:spPr>
      </p:sp>
      <p:sp>
        <p:nvSpPr>
          <p:cNvPr id="27" name="Text 25"/>
          <p:cNvSpPr/>
          <p:nvPr/>
        </p:nvSpPr>
        <p:spPr>
          <a:xfrm>
            <a:off x="6144768" y="3310128"/>
            <a:ext cx="457200" cy="411480"/>
          </a:xfrm>
          <a:prstGeom prst="rect">
            <a:avLst/>
          </a:prstGeom>
          <a:noFill/>
          <a:ln/>
        </p:spPr>
        <p:txBody>
          <a:bodyPr wrap="square" rtlCol="0" anchor="ctr"/>
          <a:lstStyle/>
          <a:p>
            <a:pPr marL="0" indent="0" algn="ctr">
              <a:buNone/>
            </a:pPr>
            <a:r>
              <a:rPr lang="en-US" sz="2200" dirty="0">
                <a:solidFill>
                  <a:srgbClr val="000000"/>
                </a:solidFill>
              </a:rPr>
              <a:t>📖</a:t>
            </a:r>
            <a:endParaRPr lang="en-US" sz="2200" dirty="0"/>
          </a:p>
        </p:txBody>
      </p:sp>
      <p:sp>
        <p:nvSpPr>
          <p:cNvPr id="28" name="Text 26"/>
          <p:cNvSpPr/>
          <p:nvPr/>
        </p:nvSpPr>
        <p:spPr>
          <a:xfrm>
            <a:off x="6144768" y="3703320"/>
            <a:ext cx="2423160" cy="320040"/>
          </a:xfrm>
          <a:prstGeom prst="rect">
            <a:avLst/>
          </a:prstGeom>
          <a:noFill/>
          <a:ln/>
        </p:spPr>
        <p:txBody>
          <a:bodyPr wrap="square" rtlCol="0" anchor="ctr"/>
          <a:lstStyle/>
          <a:p>
            <a:pPr marL="0" indent="0">
              <a:buNone/>
            </a:pPr>
            <a:r>
              <a:rPr lang="en-US" sz="1200" b="1" dirty="0">
                <a:solidFill>
                  <a:srgbClr val="1A237E"/>
                </a:solidFill>
                <a:latin typeface="Calibri" pitchFamily="34" charset="0"/>
                <a:ea typeface="Calibri" pitchFamily="34" charset="-122"/>
                <a:cs typeface="Calibri" pitchFamily="34" charset="-120"/>
              </a:rPr>
              <a:t>Why not Encoder?</a:t>
            </a:r>
            <a:endParaRPr lang="en-US" sz="1200" dirty="0"/>
          </a:p>
        </p:txBody>
      </p:sp>
      <p:sp>
        <p:nvSpPr>
          <p:cNvPr id="29" name="Text 27"/>
          <p:cNvSpPr/>
          <p:nvPr/>
        </p:nvSpPr>
        <p:spPr>
          <a:xfrm>
            <a:off x="6144768" y="4005072"/>
            <a:ext cx="2423160" cy="749808"/>
          </a:xfrm>
          <a:prstGeom prst="rect">
            <a:avLst/>
          </a:prstGeom>
          <a:noFill/>
          <a:ln/>
        </p:spPr>
        <p:txBody>
          <a:bodyPr wrap="square" rtlCol="0" anchor="t"/>
          <a:lstStyle/>
          <a:p>
            <a:pPr marL="0" indent="0">
              <a:buNone/>
            </a:pPr>
            <a:r>
              <a:rPr lang="en-US" sz="1100" dirty="0">
                <a:solidFill>
                  <a:srgbClr val="424242"/>
                </a:solidFill>
                <a:latin typeface="Calibri" pitchFamily="34" charset="0"/>
                <a:ea typeface="Calibri" pitchFamily="34" charset="-122"/>
                <a:cs typeface="Calibri" pitchFamily="34" charset="-120"/>
              </a:rPr>
              <a:t>The Encoder processes the full input bidirectionally for understanding (e.g., BERT). It cannot generate new tokens autoregressively.</a:t>
            </a:r>
            <a:endParaRPr lang="en-US" sz="1100" dirty="0"/>
          </a:p>
        </p:txBody>
      </p:sp>
      <p:pic>
        <p:nvPicPr>
          <p:cNvPr id="2" name="Google Shape;328;p29">
            <a:extLst>
              <a:ext uri="{FF2B5EF4-FFF2-40B4-BE49-F238E27FC236}">
                <a16:creationId xmlns:a16="http://schemas.microsoft.com/office/drawing/2014/main" id="{6B199E72-F923-D57B-6BAF-59785E65D361}"/>
              </a:ext>
            </a:extLst>
          </p:cNvPr>
          <p:cNvPicPr preferRelativeResize="0"/>
          <p:nvPr/>
        </p:nvPicPr>
        <p:blipFill>
          <a:blip r:embed="rId3">
            <a:alphaModFix/>
          </a:blip>
          <a:stretch>
            <a:fillRect/>
          </a:stretch>
        </p:blipFill>
        <p:spPr>
          <a:xfrm>
            <a:off x="8369125" y="0"/>
            <a:ext cx="774877" cy="867174"/>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2"/>
          <p:cNvSpPr/>
          <p:nvPr/>
        </p:nvSpPr>
        <p:spPr>
          <a:xfrm>
            <a:off x="457200" y="109728"/>
            <a:ext cx="7863840" cy="530352"/>
          </a:xfrm>
          <a:prstGeom prst="rect">
            <a:avLst/>
          </a:prstGeom>
          <a:noFill/>
          <a:ln/>
        </p:spPr>
        <p:txBody>
          <a:bodyPr wrap="square" rtlCol="0" anchor="ctr"/>
          <a:lstStyle/>
          <a:p>
            <a:pPr marL="0" indent="0">
              <a:buNone/>
            </a:pPr>
            <a:r>
              <a:rPr lang="en-US" sz="2400" b="1" dirty="0">
                <a:solidFill>
                  <a:srgbClr val="1A237E"/>
                </a:solidFill>
                <a:latin typeface="Calibri" pitchFamily="34" charset="0"/>
                <a:ea typeface="Calibri" pitchFamily="34" charset="-122"/>
                <a:cs typeface="Calibri" pitchFamily="34" charset="-120"/>
              </a:rPr>
              <a:t>Transformer Architecture: Why the Decoder Generates</a:t>
            </a:r>
            <a:endParaRPr lang="en-US" sz="2400" dirty="0"/>
          </a:p>
        </p:txBody>
      </p:sp>
      <p:sp>
        <p:nvSpPr>
          <p:cNvPr id="5" name="Shape 3"/>
          <p:cNvSpPr/>
          <p:nvPr/>
        </p:nvSpPr>
        <p:spPr>
          <a:xfrm>
            <a:off x="274320" y="804672"/>
            <a:ext cx="3474720" cy="384048"/>
          </a:xfrm>
          <a:prstGeom prst="roundRect">
            <a:avLst>
              <a:gd name="adj" fmla="val 19048"/>
            </a:avLst>
          </a:prstGeom>
          <a:solidFill>
            <a:srgbClr val="1565C0"/>
          </a:solidFill>
          <a:ln w="12700">
            <a:solidFill>
              <a:srgbClr val="1565C0"/>
            </a:solidFill>
            <a:prstDash val="solid"/>
          </a:ln>
        </p:spPr>
      </p:sp>
      <p:sp>
        <p:nvSpPr>
          <p:cNvPr id="6" name="Text 4"/>
          <p:cNvSpPr/>
          <p:nvPr/>
        </p:nvSpPr>
        <p:spPr>
          <a:xfrm>
            <a:off x="274320" y="804672"/>
            <a:ext cx="3474720" cy="384048"/>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ENCODER  (Understanding)</a:t>
            </a:r>
            <a:endParaRPr lang="en-US" sz="1300" dirty="0"/>
          </a:p>
        </p:txBody>
      </p:sp>
      <p:grpSp>
        <p:nvGrpSpPr>
          <p:cNvPr id="3" name="Group 2">
            <a:extLst>
              <a:ext uri="{FF2B5EF4-FFF2-40B4-BE49-F238E27FC236}">
                <a16:creationId xmlns:a16="http://schemas.microsoft.com/office/drawing/2014/main" id="{ABE0EEE1-65F4-5AF3-3C72-86A0BCCB65C1}"/>
              </a:ext>
            </a:extLst>
          </p:cNvPr>
          <p:cNvGrpSpPr/>
          <p:nvPr/>
        </p:nvGrpSpPr>
        <p:grpSpPr>
          <a:xfrm>
            <a:off x="411480" y="1316736"/>
            <a:ext cx="3200400" cy="446495"/>
            <a:chOff x="411480" y="1243584"/>
            <a:chExt cx="3200400" cy="658368"/>
          </a:xfrm>
        </p:grpSpPr>
        <p:sp>
          <p:nvSpPr>
            <p:cNvPr id="7" name="Shape 5"/>
            <p:cNvSpPr/>
            <p:nvPr/>
          </p:nvSpPr>
          <p:spPr>
            <a:xfrm>
              <a:off x="411480" y="1243584"/>
              <a:ext cx="3200400" cy="658368"/>
            </a:xfrm>
            <a:prstGeom prst="roundRect">
              <a:avLst>
                <a:gd name="adj" fmla="val 11111"/>
              </a:avLst>
            </a:prstGeom>
            <a:solidFill>
              <a:srgbClr val="BBDEFB"/>
            </a:solidFill>
            <a:ln w="19050">
              <a:solidFill>
                <a:srgbClr val="64B5F6"/>
              </a:solidFill>
              <a:prstDash val="solid"/>
            </a:ln>
          </p:spPr>
        </p:sp>
        <p:sp>
          <p:nvSpPr>
            <p:cNvPr id="9" name="Text 7"/>
            <p:cNvSpPr/>
            <p:nvPr/>
          </p:nvSpPr>
          <p:spPr>
            <a:xfrm>
              <a:off x="411480" y="1243584"/>
              <a:ext cx="3200400" cy="658368"/>
            </a:xfrm>
            <a:prstGeom prst="rect">
              <a:avLst/>
            </a:prstGeom>
            <a:noFill/>
            <a:ln/>
          </p:spPr>
          <p:txBody>
            <a:bodyPr wrap="square" rtlCol="0" anchor="ctr"/>
            <a:lstStyle/>
            <a:p>
              <a:pPr marL="0" indent="0" algn="ctr">
                <a:buNone/>
              </a:pPr>
              <a:r>
                <a:rPr lang="en-US" dirty="0">
                  <a:solidFill>
                    <a:srgbClr val="0D47A1"/>
                  </a:solidFill>
                  <a:latin typeface="Calibri" pitchFamily="34" charset="0"/>
                  <a:ea typeface="Calibri" pitchFamily="34" charset="-122"/>
                  <a:cs typeface="Calibri" pitchFamily="34" charset="-120"/>
                </a:rPr>
                <a:t>Input Embeddings + Positional Encoding</a:t>
              </a:r>
              <a:endParaRPr lang="en-US" dirty="0"/>
            </a:p>
          </p:txBody>
        </p:sp>
      </p:grpSp>
      <p:grpSp>
        <p:nvGrpSpPr>
          <p:cNvPr id="39" name="Group 38">
            <a:extLst>
              <a:ext uri="{FF2B5EF4-FFF2-40B4-BE49-F238E27FC236}">
                <a16:creationId xmlns:a16="http://schemas.microsoft.com/office/drawing/2014/main" id="{723697C0-A5F0-2CBA-BFC8-FB5CFB011911}"/>
              </a:ext>
            </a:extLst>
          </p:cNvPr>
          <p:cNvGrpSpPr/>
          <p:nvPr/>
        </p:nvGrpSpPr>
        <p:grpSpPr>
          <a:xfrm>
            <a:off x="375268" y="1993391"/>
            <a:ext cx="3236612" cy="449617"/>
            <a:chOff x="375268" y="1993392"/>
            <a:chExt cx="3236612" cy="658368"/>
          </a:xfrm>
        </p:grpSpPr>
        <p:sp>
          <p:nvSpPr>
            <p:cNvPr id="10" name="Shape 8"/>
            <p:cNvSpPr/>
            <p:nvPr/>
          </p:nvSpPr>
          <p:spPr>
            <a:xfrm>
              <a:off x="411480" y="1993392"/>
              <a:ext cx="3200400" cy="658368"/>
            </a:xfrm>
            <a:prstGeom prst="roundRect">
              <a:avLst>
                <a:gd name="adj" fmla="val 11111"/>
              </a:avLst>
            </a:prstGeom>
            <a:solidFill>
              <a:srgbClr val="90CAF9"/>
            </a:solidFill>
            <a:ln w="19050">
              <a:solidFill>
                <a:srgbClr val="42A5F5"/>
              </a:solidFill>
              <a:prstDash val="solid"/>
            </a:ln>
          </p:spPr>
          <p:txBody>
            <a:bodyPr/>
            <a:lstStyle/>
            <a:p>
              <a:endParaRPr lang="en-US" dirty="0"/>
            </a:p>
          </p:txBody>
        </p:sp>
        <p:sp>
          <p:nvSpPr>
            <p:cNvPr id="12" name="Text 10"/>
            <p:cNvSpPr/>
            <p:nvPr/>
          </p:nvSpPr>
          <p:spPr>
            <a:xfrm>
              <a:off x="375268" y="1993392"/>
              <a:ext cx="3200400" cy="658368"/>
            </a:xfrm>
            <a:prstGeom prst="rect">
              <a:avLst/>
            </a:prstGeom>
            <a:noFill/>
            <a:ln/>
          </p:spPr>
          <p:txBody>
            <a:bodyPr wrap="square" rtlCol="0" anchor="ctr"/>
            <a:lstStyle/>
            <a:p>
              <a:pPr marL="0" indent="0" algn="ctr">
                <a:buNone/>
              </a:pPr>
              <a:r>
                <a:rPr lang="en-US" dirty="0">
                  <a:solidFill>
                    <a:srgbClr val="0D47A1"/>
                  </a:solidFill>
                  <a:latin typeface="Calibri" pitchFamily="34" charset="0"/>
                  <a:ea typeface="Calibri" pitchFamily="34" charset="-122"/>
                  <a:cs typeface="Calibri" pitchFamily="34" charset="-120"/>
                </a:rPr>
                <a:t>Multi-Head Self-Attention (Bidirectional)</a:t>
              </a:r>
              <a:endParaRPr lang="en-US" dirty="0"/>
            </a:p>
          </p:txBody>
        </p:sp>
      </p:grpSp>
      <p:grpSp>
        <p:nvGrpSpPr>
          <p:cNvPr id="40" name="Group 39">
            <a:extLst>
              <a:ext uri="{FF2B5EF4-FFF2-40B4-BE49-F238E27FC236}">
                <a16:creationId xmlns:a16="http://schemas.microsoft.com/office/drawing/2014/main" id="{55D3ED87-7360-15BD-32CF-6AF266990315}"/>
              </a:ext>
            </a:extLst>
          </p:cNvPr>
          <p:cNvGrpSpPr/>
          <p:nvPr/>
        </p:nvGrpSpPr>
        <p:grpSpPr>
          <a:xfrm>
            <a:off x="366214" y="2715767"/>
            <a:ext cx="3200400" cy="426647"/>
            <a:chOff x="411480" y="2512490"/>
            <a:chExt cx="3200400" cy="672789"/>
          </a:xfrm>
        </p:grpSpPr>
        <p:sp>
          <p:nvSpPr>
            <p:cNvPr id="13" name="Shape 11"/>
            <p:cNvSpPr/>
            <p:nvPr/>
          </p:nvSpPr>
          <p:spPr>
            <a:xfrm>
              <a:off x="411480" y="2512490"/>
              <a:ext cx="3200400" cy="658369"/>
            </a:xfrm>
            <a:prstGeom prst="roundRect">
              <a:avLst>
                <a:gd name="adj" fmla="val 11111"/>
              </a:avLst>
            </a:prstGeom>
            <a:solidFill>
              <a:srgbClr val="BBDEFB"/>
            </a:solidFill>
            <a:ln w="19050">
              <a:solidFill>
                <a:srgbClr val="64B5F6"/>
              </a:solidFill>
              <a:prstDash val="solid"/>
            </a:ln>
          </p:spPr>
        </p:sp>
        <p:sp>
          <p:nvSpPr>
            <p:cNvPr id="15" name="Text 13"/>
            <p:cNvSpPr/>
            <p:nvPr/>
          </p:nvSpPr>
          <p:spPr>
            <a:xfrm>
              <a:off x="411480" y="2526909"/>
              <a:ext cx="3200400" cy="658370"/>
            </a:xfrm>
            <a:prstGeom prst="rect">
              <a:avLst/>
            </a:prstGeom>
            <a:noFill/>
            <a:ln/>
          </p:spPr>
          <p:txBody>
            <a:bodyPr wrap="square" rtlCol="0" anchor="ctr"/>
            <a:lstStyle/>
            <a:p>
              <a:pPr marL="0" indent="0" algn="ctr">
                <a:buNone/>
              </a:pPr>
              <a:r>
                <a:rPr lang="en-US" dirty="0">
                  <a:solidFill>
                    <a:srgbClr val="0D47A1"/>
                  </a:solidFill>
                  <a:latin typeface="Calibri" pitchFamily="34" charset="0"/>
                  <a:ea typeface="Calibri" pitchFamily="34" charset="-122"/>
                  <a:cs typeface="Calibri" pitchFamily="34" charset="-120"/>
                </a:rPr>
                <a:t>Feed-Forward Network</a:t>
              </a:r>
              <a:endParaRPr lang="en-US" dirty="0"/>
            </a:p>
          </p:txBody>
        </p:sp>
      </p:grpSp>
      <p:grpSp>
        <p:nvGrpSpPr>
          <p:cNvPr id="41" name="Group 40">
            <a:extLst>
              <a:ext uri="{FF2B5EF4-FFF2-40B4-BE49-F238E27FC236}">
                <a16:creationId xmlns:a16="http://schemas.microsoft.com/office/drawing/2014/main" id="{7628FEA9-516C-A130-5A14-A406CCAAA85F}"/>
              </a:ext>
            </a:extLst>
          </p:cNvPr>
          <p:cNvGrpSpPr/>
          <p:nvPr/>
        </p:nvGrpSpPr>
        <p:grpSpPr>
          <a:xfrm>
            <a:off x="411480" y="3429000"/>
            <a:ext cx="3200400" cy="585216"/>
            <a:chOff x="411480" y="3493008"/>
            <a:chExt cx="3200400" cy="658368"/>
          </a:xfrm>
        </p:grpSpPr>
        <p:sp>
          <p:nvSpPr>
            <p:cNvPr id="16" name="Shape 14"/>
            <p:cNvSpPr/>
            <p:nvPr/>
          </p:nvSpPr>
          <p:spPr>
            <a:xfrm>
              <a:off x="411480" y="3493008"/>
              <a:ext cx="3200400" cy="658368"/>
            </a:xfrm>
            <a:prstGeom prst="roundRect">
              <a:avLst>
                <a:gd name="adj" fmla="val 11111"/>
              </a:avLst>
            </a:prstGeom>
            <a:solidFill>
              <a:srgbClr val="1565C0"/>
            </a:solidFill>
            <a:ln w="19050">
              <a:solidFill>
                <a:srgbClr val="1565C0"/>
              </a:solidFill>
              <a:prstDash val="solid"/>
            </a:ln>
          </p:spPr>
        </p:sp>
        <p:sp>
          <p:nvSpPr>
            <p:cNvPr id="17" name="Text 15"/>
            <p:cNvSpPr/>
            <p:nvPr/>
          </p:nvSpPr>
          <p:spPr>
            <a:xfrm>
              <a:off x="411480" y="3493008"/>
              <a:ext cx="3200400" cy="658368"/>
            </a:xfrm>
            <a:prstGeom prst="rect">
              <a:avLst/>
            </a:prstGeom>
            <a:noFill/>
            <a:ln/>
          </p:spPr>
          <p:txBody>
            <a:bodyPr wrap="square" rtlCol="0" anchor="ctr"/>
            <a:lstStyle/>
            <a:p>
              <a:pPr marL="0" indent="0" algn="ctr">
                <a:buNone/>
              </a:pPr>
              <a:r>
                <a:rPr lang="en-US" b="1" dirty="0">
                  <a:solidFill>
                    <a:srgbClr val="FFFFFF"/>
                  </a:solidFill>
                  <a:latin typeface="Calibri" pitchFamily="34" charset="0"/>
                  <a:ea typeface="Calibri" pitchFamily="34" charset="-122"/>
                  <a:cs typeface="Calibri" pitchFamily="34" charset="-120"/>
                </a:rPr>
                <a:t>Output: Context Representation (K, V)</a:t>
              </a:r>
              <a:endParaRPr lang="en-US" dirty="0"/>
            </a:p>
          </p:txBody>
        </p:sp>
      </p:grpSp>
      <p:grpSp>
        <p:nvGrpSpPr>
          <p:cNvPr id="43" name="Group 42">
            <a:extLst>
              <a:ext uri="{FF2B5EF4-FFF2-40B4-BE49-F238E27FC236}">
                <a16:creationId xmlns:a16="http://schemas.microsoft.com/office/drawing/2014/main" id="{18B4A96F-4B1C-D0F8-4402-36CDF4CE0393}"/>
              </a:ext>
            </a:extLst>
          </p:cNvPr>
          <p:cNvGrpSpPr/>
          <p:nvPr/>
        </p:nvGrpSpPr>
        <p:grpSpPr>
          <a:xfrm>
            <a:off x="4837176" y="804672"/>
            <a:ext cx="3474720" cy="384048"/>
            <a:chOff x="5394960" y="804672"/>
            <a:chExt cx="3474720" cy="384048"/>
          </a:xfrm>
        </p:grpSpPr>
        <p:sp>
          <p:nvSpPr>
            <p:cNvPr id="18" name="Shape 16"/>
            <p:cNvSpPr/>
            <p:nvPr/>
          </p:nvSpPr>
          <p:spPr>
            <a:xfrm>
              <a:off x="5394960" y="804672"/>
              <a:ext cx="3474720" cy="384048"/>
            </a:xfrm>
            <a:prstGeom prst="roundRect">
              <a:avLst>
                <a:gd name="adj" fmla="val 19048"/>
              </a:avLst>
            </a:prstGeom>
            <a:solidFill>
              <a:srgbClr val="2E7D32"/>
            </a:solidFill>
            <a:ln w="12700">
              <a:solidFill>
                <a:srgbClr val="2E7D32"/>
              </a:solidFill>
              <a:prstDash val="solid"/>
            </a:ln>
          </p:spPr>
        </p:sp>
        <p:sp>
          <p:nvSpPr>
            <p:cNvPr id="19" name="Text 17"/>
            <p:cNvSpPr/>
            <p:nvPr/>
          </p:nvSpPr>
          <p:spPr>
            <a:xfrm>
              <a:off x="5394960" y="804672"/>
              <a:ext cx="3474720" cy="384048"/>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DECODER  ✓ (Generation)</a:t>
              </a:r>
              <a:endParaRPr lang="en-US" sz="1300" dirty="0"/>
            </a:p>
          </p:txBody>
        </p:sp>
      </p:grpSp>
      <p:grpSp>
        <p:nvGrpSpPr>
          <p:cNvPr id="42" name="Group 41">
            <a:extLst>
              <a:ext uri="{FF2B5EF4-FFF2-40B4-BE49-F238E27FC236}">
                <a16:creationId xmlns:a16="http://schemas.microsoft.com/office/drawing/2014/main" id="{FD42707E-0D97-F883-A42A-06DB935FC392}"/>
              </a:ext>
            </a:extLst>
          </p:cNvPr>
          <p:cNvGrpSpPr/>
          <p:nvPr/>
        </p:nvGrpSpPr>
        <p:grpSpPr>
          <a:xfrm>
            <a:off x="4700016" y="1370094"/>
            <a:ext cx="3474720" cy="504426"/>
            <a:chOff x="5394960" y="1243584"/>
            <a:chExt cx="3337560" cy="749808"/>
          </a:xfrm>
        </p:grpSpPr>
        <p:sp>
          <p:nvSpPr>
            <p:cNvPr id="20" name="Shape 18"/>
            <p:cNvSpPr/>
            <p:nvPr/>
          </p:nvSpPr>
          <p:spPr>
            <a:xfrm>
              <a:off x="5532120" y="1243584"/>
              <a:ext cx="3200400" cy="658368"/>
            </a:xfrm>
            <a:prstGeom prst="roundRect">
              <a:avLst>
                <a:gd name="adj" fmla="val 11111"/>
              </a:avLst>
            </a:prstGeom>
            <a:solidFill>
              <a:srgbClr val="C8E6C9"/>
            </a:solidFill>
            <a:ln w="19050">
              <a:solidFill>
                <a:srgbClr val="81C784"/>
              </a:solidFill>
              <a:prstDash val="solid"/>
            </a:ln>
          </p:spPr>
        </p:sp>
        <p:sp>
          <p:nvSpPr>
            <p:cNvPr id="21" name="Shape 19"/>
            <p:cNvSpPr/>
            <p:nvPr/>
          </p:nvSpPr>
          <p:spPr>
            <a:xfrm>
              <a:off x="7132320" y="1901952"/>
              <a:ext cx="0" cy="91440"/>
            </a:xfrm>
            <a:prstGeom prst="line">
              <a:avLst/>
            </a:prstGeom>
            <a:noFill/>
            <a:ln w="25400">
              <a:solidFill>
                <a:srgbClr val="2E7D32"/>
              </a:solidFill>
              <a:prstDash val="solid"/>
            </a:ln>
          </p:spPr>
        </p:sp>
        <p:sp>
          <p:nvSpPr>
            <p:cNvPr id="22" name="Text 20"/>
            <p:cNvSpPr/>
            <p:nvPr/>
          </p:nvSpPr>
          <p:spPr>
            <a:xfrm>
              <a:off x="5394960" y="1243584"/>
              <a:ext cx="3337560" cy="658368"/>
            </a:xfrm>
            <a:prstGeom prst="rect">
              <a:avLst/>
            </a:prstGeom>
            <a:noFill/>
            <a:ln/>
          </p:spPr>
          <p:txBody>
            <a:bodyPr wrap="square" rtlCol="0" anchor="ctr"/>
            <a:lstStyle/>
            <a:p>
              <a:pPr marL="0" indent="0" algn="ctr">
                <a:buNone/>
              </a:pPr>
              <a:r>
                <a:rPr lang="en-US" dirty="0">
                  <a:solidFill>
                    <a:srgbClr val="1B5E20"/>
                  </a:solidFill>
                  <a:latin typeface="Calibri" pitchFamily="34" charset="0"/>
                  <a:ea typeface="Calibri" pitchFamily="34" charset="-122"/>
                  <a:cs typeface="Calibri" pitchFamily="34" charset="-120"/>
                </a:rPr>
                <a:t>Output Embeddings + Positional Encoding</a:t>
              </a:r>
              <a:endParaRPr lang="en-US" dirty="0"/>
            </a:p>
          </p:txBody>
        </p:sp>
      </p:grpSp>
      <p:grpSp>
        <p:nvGrpSpPr>
          <p:cNvPr id="44" name="Group 43">
            <a:extLst>
              <a:ext uri="{FF2B5EF4-FFF2-40B4-BE49-F238E27FC236}">
                <a16:creationId xmlns:a16="http://schemas.microsoft.com/office/drawing/2014/main" id="{067FDB4F-7597-80AF-8103-3D80F954E546}"/>
              </a:ext>
            </a:extLst>
          </p:cNvPr>
          <p:cNvGrpSpPr/>
          <p:nvPr/>
        </p:nvGrpSpPr>
        <p:grpSpPr>
          <a:xfrm>
            <a:off x="4837176" y="1993392"/>
            <a:ext cx="3337560" cy="549627"/>
            <a:chOff x="5394960" y="1993392"/>
            <a:chExt cx="3337560" cy="749808"/>
          </a:xfrm>
        </p:grpSpPr>
        <p:sp>
          <p:nvSpPr>
            <p:cNvPr id="23" name="Shape 21"/>
            <p:cNvSpPr/>
            <p:nvPr/>
          </p:nvSpPr>
          <p:spPr>
            <a:xfrm>
              <a:off x="5394960" y="1993392"/>
              <a:ext cx="3337560" cy="658368"/>
            </a:xfrm>
            <a:prstGeom prst="roundRect">
              <a:avLst>
                <a:gd name="adj" fmla="val 11111"/>
              </a:avLst>
            </a:prstGeom>
            <a:solidFill>
              <a:srgbClr val="A5D6A7"/>
            </a:solidFill>
            <a:ln w="19050">
              <a:solidFill>
                <a:srgbClr val="66BB6A"/>
              </a:solidFill>
              <a:prstDash val="solid"/>
            </a:ln>
          </p:spPr>
        </p:sp>
        <p:sp>
          <p:nvSpPr>
            <p:cNvPr id="24" name="Shape 22"/>
            <p:cNvSpPr/>
            <p:nvPr/>
          </p:nvSpPr>
          <p:spPr>
            <a:xfrm>
              <a:off x="7132320" y="2651760"/>
              <a:ext cx="0" cy="91440"/>
            </a:xfrm>
            <a:prstGeom prst="line">
              <a:avLst/>
            </a:prstGeom>
            <a:noFill/>
            <a:ln w="25400">
              <a:solidFill>
                <a:srgbClr val="2E7D32"/>
              </a:solidFill>
              <a:prstDash val="solid"/>
            </a:ln>
          </p:spPr>
        </p:sp>
        <p:sp>
          <p:nvSpPr>
            <p:cNvPr id="25" name="Text 23"/>
            <p:cNvSpPr/>
            <p:nvPr/>
          </p:nvSpPr>
          <p:spPr>
            <a:xfrm>
              <a:off x="5431172" y="1993392"/>
              <a:ext cx="3301348" cy="658368"/>
            </a:xfrm>
            <a:prstGeom prst="rect">
              <a:avLst/>
            </a:prstGeom>
            <a:noFill/>
            <a:ln/>
          </p:spPr>
          <p:txBody>
            <a:bodyPr wrap="square" rtlCol="0" anchor="ctr"/>
            <a:lstStyle/>
            <a:p>
              <a:pPr marL="0" indent="0" algn="ctr">
                <a:buNone/>
              </a:pPr>
              <a:r>
                <a:rPr lang="en-US" dirty="0">
                  <a:solidFill>
                    <a:srgbClr val="1B5E20"/>
                  </a:solidFill>
                  <a:latin typeface="Calibri" pitchFamily="34" charset="0"/>
                  <a:ea typeface="Calibri" pitchFamily="34" charset="-122"/>
                  <a:cs typeface="Calibri" pitchFamily="34" charset="-120"/>
                </a:rPr>
                <a:t>Masked Multi-Head Self-Attention (Causal)</a:t>
              </a:r>
              <a:endParaRPr lang="en-US" dirty="0"/>
            </a:p>
          </p:txBody>
        </p:sp>
      </p:grpSp>
      <p:grpSp>
        <p:nvGrpSpPr>
          <p:cNvPr id="45" name="Group 44">
            <a:extLst>
              <a:ext uri="{FF2B5EF4-FFF2-40B4-BE49-F238E27FC236}">
                <a16:creationId xmlns:a16="http://schemas.microsoft.com/office/drawing/2014/main" id="{B0FDB94D-5C7A-ADD1-44F6-B06EA9A85FCB}"/>
              </a:ext>
            </a:extLst>
          </p:cNvPr>
          <p:cNvGrpSpPr/>
          <p:nvPr/>
        </p:nvGrpSpPr>
        <p:grpSpPr>
          <a:xfrm>
            <a:off x="4773170" y="2706620"/>
            <a:ext cx="3401566" cy="623580"/>
            <a:chOff x="5532120" y="2695592"/>
            <a:chExt cx="3200400" cy="797416"/>
          </a:xfrm>
        </p:grpSpPr>
        <p:sp>
          <p:nvSpPr>
            <p:cNvPr id="26" name="Shape 24"/>
            <p:cNvSpPr/>
            <p:nvPr/>
          </p:nvSpPr>
          <p:spPr>
            <a:xfrm>
              <a:off x="5532120" y="2743200"/>
              <a:ext cx="3200400" cy="658368"/>
            </a:xfrm>
            <a:prstGeom prst="roundRect">
              <a:avLst>
                <a:gd name="adj" fmla="val 11111"/>
              </a:avLst>
            </a:prstGeom>
            <a:solidFill>
              <a:srgbClr val="C8E6C9"/>
            </a:solidFill>
            <a:ln w="19050">
              <a:solidFill>
                <a:srgbClr val="81C784"/>
              </a:solidFill>
              <a:prstDash val="solid"/>
            </a:ln>
          </p:spPr>
        </p:sp>
        <p:sp>
          <p:nvSpPr>
            <p:cNvPr id="27" name="Shape 25"/>
            <p:cNvSpPr/>
            <p:nvPr/>
          </p:nvSpPr>
          <p:spPr>
            <a:xfrm>
              <a:off x="7132320" y="3401568"/>
              <a:ext cx="0" cy="91440"/>
            </a:xfrm>
            <a:prstGeom prst="line">
              <a:avLst/>
            </a:prstGeom>
            <a:noFill/>
            <a:ln w="25400">
              <a:solidFill>
                <a:srgbClr val="2E7D32"/>
              </a:solidFill>
              <a:prstDash val="solid"/>
            </a:ln>
          </p:spPr>
        </p:sp>
        <p:sp>
          <p:nvSpPr>
            <p:cNvPr id="28" name="Text 26"/>
            <p:cNvSpPr/>
            <p:nvPr/>
          </p:nvSpPr>
          <p:spPr>
            <a:xfrm>
              <a:off x="5532120" y="2695592"/>
              <a:ext cx="3200400" cy="658368"/>
            </a:xfrm>
            <a:prstGeom prst="rect">
              <a:avLst/>
            </a:prstGeom>
            <a:noFill/>
            <a:ln/>
          </p:spPr>
          <p:txBody>
            <a:bodyPr wrap="square" rtlCol="0" anchor="ctr"/>
            <a:lstStyle/>
            <a:p>
              <a:pPr marL="0" indent="0" algn="ctr">
                <a:buNone/>
              </a:pPr>
              <a:r>
                <a:rPr lang="en-US" dirty="0">
                  <a:solidFill>
                    <a:srgbClr val="1B5E20"/>
                  </a:solidFill>
                  <a:latin typeface="Calibri" pitchFamily="34" charset="0"/>
                  <a:ea typeface="Calibri" pitchFamily="34" charset="-122"/>
                  <a:cs typeface="Calibri" pitchFamily="34" charset="-120"/>
                </a:rPr>
                <a:t>Cross-Attention (attends to Encoder K,V)</a:t>
              </a:r>
              <a:endParaRPr lang="en-US" dirty="0"/>
            </a:p>
          </p:txBody>
        </p:sp>
      </p:grpSp>
      <p:grpSp>
        <p:nvGrpSpPr>
          <p:cNvPr id="46" name="Group 45">
            <a:extLst>
              <a:ext uri="{FF2B5EF4-FFF2-40B4-BE49-F238E27FC236}">
                <a16:creationId xmlns:a16="http://schemas.microsoft.com/office/drawing/2014/main" id="{C57EBC63-E0E7-A23E-6CD5-97F7D2A756BA}"/>
              </a:ext>
            </a:extLst>
          </p:cNvPr>
          <p:cNvGrpSpPr/>
          <p:nvPr/>
        </p:nvGrpSpPr>
        <p:grpSpPr>
          <a:xfrm>
            <a:off x="4773170" y="3401568"/>
            <a:ext cx="3401566" cy="585216"/>
            <a:chOff x="5532120" y="3493008"/>
            <a:chExt cx="3200400" cy="749808"/>
          </a:xfrm>
        </p:grpSpPr>
        <p:sp>
          <p:nvSpPr>
            <p:cNvPr id="29" name="Shape 27"/>
            <p:cNvSpPr/>
            <p:nvPr/>
          </p:nvSpPr>
          <p:spPr>
            <a:xfrm>
              <a:off x="5532120" y="3493008"/>
              <a:ext cx="3200400" cy="658368"/>
            </a:xfrm>
            <a:prstGeom prst="roundRect">
              <a:avLst>
                <a:gd name="adj" fmla="val 11111"/>
              </a:avLst>
            </a:prstGeom>
            <a:solidFill>
              <a:srgbClr val="C8E6C9"/>
            </a:solidFill>
            <a:ln w="19050">
              <a:solidFill>
                <a:srgbClr val="81C784"/>
              </a:solidFill>
              <a:prstDash val="solid"/>
            </a:ln>
          </p:spPr>
        </p:sp>
        <p:sp>
          <p:nvSpPr>
            <p:cNvPr id="30" name="Shape 28"/>
            <p:cNvSpPr/>
            <p:nvPr/>
          </p:nvSpPr>
          <p:spPr>
            <a:xfrm>
              <a:off x="7132320" y="4151376"/>
              <a:ext cx="0" cy="91440"/>
            </a:xfrm>
            <a:prstGeom prst="line">
              <a:avLst/>
            </a:prstGeom>
            <a:noFill/>
            <a:ln w="25400">
              <a:solidFill>
                <a:srgbClr val="2E7D32"/>
              </a:solidFill>
              <a:prstDash val="solid"/>
            </a:ln>
          </p:spPr>
        </p:sp>
        <p:sp>
          <p:nvSpPr>
            <p:cNvPr id="31" name="Text 29"/>
            <p:cNvSpPr/>
            <p:nvPr/>
          </p:nvSpPr>
          <p:spPr>
            <a:xfrm>
              <a:off x="5532120" y="3493008"/>
              <a:ext cx="3200400" cy="658368"/>
            </a:xfrm>
            <a:prstGeom prst="rect">
              <a:avLst/>
            </a:prstGeom>
            <a:noFill/>
            <a:ln/>
          </p:spPr>
          <p:txBody>
            <a:bodyPr wrap="square" rtlCol="0" anchor="ctr"/>
            <a:lstStyle/>
            <a:p>
              <a:pPr marL="0" indent="0" algn="ctr">
                <a:buNone/>
              </a:pPr>
              <a:r>
                <a:rPr lang="en-US" dirty="0">
                  <a:solidFill>
                    <a:srgbClr val="1B5E20"/>
                  </a:solidFill>
                  <a:latin typeface="Calibri" pitchFamily="34" charset="0"/>
                  <a:ea typeface="Calibri" pitchFamily="34" charset="-122"/>
                  <a:cs typeface="Calibri" pitchFamily="34" charset="-120"/>
                </a:rPr>
                <a:t>Feed-Forward Network</a:t>
              </a:r>
              <a:endParaRPr lang="en-US" dirty="0"/>
            </a:p>
          </p:txBody>
        </p:sp>
      </p:grpSp>
      <p:grpSp>
        <p:nvGrpSpPr>
          <p:cNvPr id="47" name="Group 46">
            <a:extLst>
              <a:ext uri="{FF2B5EF4-FFF2-40B4-BE49-F238E27FC236}">
                <a16:creationId xmlns:a16="http://schemas.microsoft.com/office/drawing/2014/main" id="{D757E1E0-BC07-1053-B844-63D2492127B0}"/>
              </a:ext>
            </a:extLst>
          </p:cNvPr>
          <p:cNvGrpSpPr/>
          <p:nvPr/>
        </p:nvGrpSpPr>
        <p:grpSpPr>
          <a:xfrm>
            <a:off x="4956048" y="4133088"/>
            <a:ext cx="3200400" cy="385832"/>
            <a:chOff x="5532120" y="4242816"/>
            <a:chExt cx="3200400" cy="658368"/>
          </a:xfrm>
        </p:grpSpPr>
        <p:sp>
          <p:nvSpPr>
            <p:cNvPr id="32" name="Shape 30"/>
            <p:cNvSpPr/>
            <p:nvPr/>
          </p:nvSpPr>
          <p:spPr>
            <a:xfrm>
              <a:off x="5532120" y="4242816"/>
              <a:ext cx="3200400" cy="658368"/>
            </a:xfrm>
            <a:prstGeom prst="roundRect">
              <a:avLst>
                <a:gd name="adj" fmla="val 11111"/>
              </a:avLst>
            </a:prstGeom>
            <a:solidFill>
              <a:srgbClr val="2E7D32"/>
            </a:solidFill>
            <a:ln w="19050">
              <a:solidFill>
                <a:srgbClr val="2E7D32"/>
              </a:solidFill>
              <a:prstDash val="solid"/>
            </a:ln>
          </p:spPr>
        </p:sp>
        <p:sp>
          <p:nvSpPr>
            <p:cNvPr id="33" name="Text 31"/>
            <p:cNvSpPr/>
            <p:nvPr/>
          </p:nvSpPr>
          <p:spPr>
            <a:xfrm>
              <a:off x="5532120" y="4242816"/>
              <a:ext cx="3200400" cy="658368"/>
            </a:xfrm>
            <a:prstGeom prst="rect">
              <a:avLst/>
            </a:prstGeom>
            <a:noFill/>
            <a:ln/>
          </p:spPr>
          <p:txBody>
            <a:bodyPr wrap="square" rtlCol="0" anchor="ctr"/>
            <a:lstStyle/>
            <a:p>
              <a:pPr marL="0" indent="0" algn="ctr">
                <a:buNone/>
              </a:pPr>
              <a:r>
                <a:rPr lang="en-US" b="1" dirty="0">
                  <a:solidFill>
                    <a:srgbClr val="FFFFFF"/>
                  </a:solidFill>
                  <a:latin typeface="Calibri" pitchFamily="34" charset="0"/>
                  <a:ea typeface="Calibri" pitchFamily="34" charset="-122"/>
                  <a:cs typeface="Calibri" pitchFamily="34" charset="-120"/>
                </a:rPr>
                <a:t>🔁 Next Token  →  Loop Back!</a:t>
              </a:r>
              <a:endParaRPr lang="en-US" dirty="0"/>
            </a:p>
          </p:txBody>
        </p:sp>
      </p:grpSp>
      <p:sp>
        <p:nvSpPr>
          <p:cNvPr id="36" name="Text 34"/>
          <p:cNvSpPr/>
          <p:nvPr/>
        </p:nvSpPr>
        <p:spPr>
          <a:xfrm>
            <a:off x="3667107" y="2730975"/>
            <a:ext cx="1097280" cy="457200"/>
          </a:xfrm>
          <a:prstGeom prst="rect">
            <a:avLst/>
          </a:prstGeom>
          <a:noFill/>
          <a:ln/>
        </p:spPr>
        <p:txBody>
          <a:bodyPr wrap="square" rtlCol="0" anchor="ctr"/>
          <a:lstStyle/>
          <a:p>
            <a:pPr marL="0" indent="0" algn="ctr">
              <a:buNone/>
            </a:pPr>
            <a:r>
              <a:rPr lang="en-US" sz="1050" b="1" dirty="0">
                <a:solidFill>
                  <a:srgbClr val="E65100"/>
                </a:solidFill>
                <a:latin typeface="Calibri" pitchFamily="34" charset="0"/>
                <a:ea typeface="Calibri" pitchFamily="34" charset="-122"/>
                <a:cs typeface="Calibri" pitchFamily="34" charset="-120"/>
              </a:rPr>
              <a:t>K, V</a:t>
            </a:r>
            <a:endParaRPr lang="en-US" sz="1050" dirty="0"/>
          </a:p>
          <a:p>
            <a:pPr marL="0" indent="0" algn="ctr">
              <a:buNone/>
            </a:pPr>
            <a:r>
              <a:rPr lang="en-US" sz="1050" b="1" dirty="0">
                <a:solidFill>
                  <a:srgbClr val="E65100"/>
                </a:solidFill>
                <a:latin typeface="Calibri" pitchFamily="34" charset="0"/>
                <a:ea typeface="Calibri" pitchFamily="34" charset="-122"/>
                <a:cs typeface="Calibri" pitchFamily="34" charset="-120"/>
              </a:rPr>
              <a:t>Context →</a:t>
            </a:r>
            <a:endParaRPr lang="en-US" sz="1050" dirty="0"/>
          </a:p>
        </p:txBody>
      </p:sp>
      <p:grpSp>
        <p:nvGrpSpPr>
          <p:cNvPr id="8" name="Group 7">
            <a:extLst>
              <a:ext uri="{FF2B5EF4-FFF2-40B4-BE49-F238E27FC236}">
                <a16:creationId xmlns:a16="http://schemas.microsoft.com/office/drawing/2014/main" id="{18311C40-80A4-B083-DE4F-043D19FB6B39}"/>
              </a:ext>
            </a:extLst>
          </p:cNvPr>
          <p:cNvGrpSpPr/>
          <p:nvPr/>
        </p:nvGrpSpPr>
        <p:grpSpPr>
          <a:xfrm>
            <a:off x="274320" y="4619262"/>
            <a:ext cx="8595360" cy="292608"/>
            <a:chOff x="274320" y="4773168"/>
            <a:chExt cx="8595360" cy="292608"/>
          </a:xfrm>
        </p:grpSpPr>
        <p:sp>
          <p:nvSpPr>
            <p:cNvPr id="37" name="Shape 35"/>
            <p:cNvSpPr/>
            <p:nvPr/>
          </p:nvSpPr>
          <p:spPr>
            <a:xfrm>
              <a:off x="274320" y="4773168"/>
              <a:ext cx="8595360" cy="292608"/>
            </a:xfrm>
            <a:prstGeom prst="roundRect">
              <a:avLst>
                <a:gd name="adj" fmla="val 18750"/>
              </a:avLst>
            </a:prstGeom>
            <a:solidFill>
              <a:srgbClr val="FFF8E1"/>
            </a:solidFill>
            <a:ln w="12700">
              <a:solidFill>
                <a:srgbClr val="FFD54F"/>
              </a:solidFill>
              <a:prstDash val="solid"/>
            </a:ln>
          </p:spPr>
        </p:sp>
        <p:sp>
          <p:nvSpPr>
            <p:cNvPr id="38" name="Text 36"/>
            <p:cNvSpPr/>
            <p:nvPr/>
          </p:nvSpPr>
          <p:spPr>
            <a:xfrm>
              <a:off x="320040" y="4773168"/>
              <a:ext cx="8503920" cy="292608"/>
            </a:xfrm>
            <a:prstGeom prst="rect">
              <a:avLst/>
            </a:prstGeom>
            <a:noFill/>
            <a:ln/>
          </p:spPr>
          <p:txBody>
            <a:bodyPr wrap="square" rtlCol="0" anchor="ctr"/>
            <a:lstStyle/>
            <a:p>
              <a:pPr marL="0" indent="0">
                <a:buNone/>
              </a:pPr>
              <a:r>
                <a:rPr lang="en-US" sz="1100" dirty="0">
                  <a:solidFill>
                    <a:srgbClr val="5D4037"/>
                  </a:solidFill>
                  <a:latin typeface="Calibri" pitchFamily="34" charset="0"/>
                  <a:ea typeface="Calibri" pitchFamily="34" charset="-122"/>
                  <a:cs typeface="Calibri" pitchFamily="34" charset="-120"/>
                </a:rPr>
                <a:t>💡  GPT (decoder-only) removes the Encoder and cross-attention — the Decoder generates by attending only to its own previous outputs.</a:t>
              </a:r>
              <a:endParaRPr lang="en-US" sz="1100" dirty="0"/>
            </a:p>
          </p:txBody>
        </p:sp>
      </p:grpSp>
      <p:pic>
        <p:nvPicPr>
          <p:cNvPr id="2" name="Google Shape;328;p29">
            <a:extLst>
              <a:ext uri="{FF2B5EF4-FFF2-40B4-BE49-F238E27FC236}">
                <a16:creationId xmlns:a16="http://schemas.microsoft.com/office/drawing/2014/main" id="{E98A88C0-F1FC-A38B-7911-6F6721BB6722}"/>
              </a:ext>
            </a:extLst>
          </p:cNvPr>
          <p:cNvPicPr preferRelativeResize="0"/>
          <p:nvPr/>
        </p:nvPicPr>
        <p:blipFill>
          <a:blip r:embed="rId3">
            <a:alphaModFix/>
          </a:blip>
          <a:stretch>
            <a:fillRect/>
          </a:stretch>
        </p:blipFill>
        <p:spPr>
          <a:xfrm>
            <a:off x="8369125" y="0"/>
            <a:ext cx="774877" cy="867174"/>
          </a:xfrm>
          <a:prstGeom prst="rect">
            <a:avLst/>
          </a:prstGeom>
          <a:noFill/>
          <a:ln>
            <a:noFill/>
          </a:ln>
        </p:spPr>
      </p:pic>
      <p:cxnSp>
        <p:nvCxnSpPr>
          <p:cNvPr id="14" name="Straight Arrow Connector 13">
            <a:extLst>
              <a:ext uri="{FF2B5EF4-FFF2-40B4-BE49-F238E27FC236}">
                <a16:creationId xmlns:a16="http://schemas.microsoft.com/office/drawing/2014/main" id="{067D67EC-6B6B-548F-FBE5-76FE41FED5F8}"/>
              </a:ext>
            </a:extLst>
          </p:cNvPr>
          <p:cNvCxnSpPr>
            <a:stCxn id="16" idx="3"/>
            <a:endCxn id="28" idx="1"/>
          </p:cNvCxnSpPr>
          <p:nvPr/>
        </p:nvCxnSpPr>
        <p:spPr>
          <a:xfrm flipV="1">
            <a:off x="3611880" y="2964042"/>
            <a:ext cx="1161290" cy="75756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08">
          <a:extLst>
            <a:ext uri="{FF2B5EF4-FFF2-40B4-BE49-F238E27FC236}">
              <a16:creationId xmlns:a16="http://schemas.microsoft.com/office/drawing/2014/main" id="{E5EAC607-300E-33EF-1DDB-63BEF5A3B129}"/>
            </a:ext>
          </a:extLst>
        </p:cNvPr>
        <p:cNvGrpSpPr/>
        <p:nvPr/>
      </p:nvGrpSpPr>
      <p:grpSpPr>
        <a:xfrm>
          <a:off x="0" y="0"/>
          <a:ext cx="0" cy="0"/>
          <a:chOff x="0" y="0"/>
          <a:chExt cx="0" cy="0"/>
        </a:xfrm>
      </p:grpSpPr>
      <p:pic>
        <p:nvPicPr>
          <p:cNvPr id="109" name="Google Shape;109;p20">
            <a:extLst>
              <a:ext uri="{FF2B5EF4-FFF2-40B4-BE49-F238E27FC236}">
                <a16:creationId xmlns:a16="http://schemas.microsoft.com/office/drawing/2014/main" id="{00FB1B4E-8E2B-03CF-6FE4-ACEFD1C5D823}"/>
              </a:ext>
            </a:extLst>
          </p:cNvPr>
          <p:cNvPicPr preferRelativeResize="0"/>
          <p:nvPr/>
        </p:nvPicPr>
        <p:blipFill>
          <a:blip r:embed="rId3">
            <a:alphaModFix/>
          </a:blip>
          <a:stretch>
            <a:fillRect/>
          </a:stretch>
        </p:blipFill>
        <p:spPr>
          <a:xfrm>
            <a:off x="8369125" y="0"/>
            <a:ext cx="774877" cy="867174"/>
          </a:xfrm>
          <a:prstGeom prst="rect">
            <a:avLst/>
          </a:prstGeom>
          <a:noFill/>
          <a:ln>
            <a:noFill/>
          </a:ln>
        </p:spPr>
      </p:pic>
      <p:sp>
        <p:nvSpPr>
          <p:cNvPr id="110" name="Google Shape;110;p20">
            <a:extLst>
              <a:ext uri="{FF2B5EF4-FFF2-40B4-BE49-F238E27FC236}">
                <a16:creationId xmlns:a16="http://schemas.microsoft.com/office/drawing/2014/main" id="{0C97F3D5-799E-9F0A-9707-724B3AC16062}"/>
              </a:ext>
            </a:extLst>
          </p:cNvPr>
          <p:cNvSpPr txBox="1">
            <a:spLocks noGrp="1"/>
          </p:cNvSpPr>
          <p:nvPr>
            <p:ph type="ctrTitle" idx="4294967295"/>
          </p:nvPr>
        </p:nvSpPr>
        <p:spPr>
          <a:xfrm>
            <a:off x="418813" y="1507259"/>
            <a:ext cx="7772400" cy="8673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rgbClr val="C00000"/>
              </a:buClr>
              <a:buSzPts val="4400"/>
              <a:buFont typeface="Calibri"/>
              <a:buNone/>
            </a:pPr>
            <a:r>
              <a:rPr lang="en" sz="4000" b="1" dirty="0">
                <a:sym typeface="Calibri"/>
              </a:rPr>
              <a:t>Large Language Models </a:t>
            </a:r>
            <a:endParaRPr sz="4000" dirty="0">
              <a:latin typeface="Calibri"/>
              <a:ea typeface="Calibri"/>
              <a:cs typeface="Calibri"/>
              <a:sym typeface="Calibri"/>
            </a:endParaRPr>
          </a:p>
        </p:txBody>
      </p:sp>
      <p:sp>
        <p:nvSpPr>
          <p:cNvPr id="3" name="TextBox 2">
            <a:extLst>
              <a:ext uri="{FF2B5EF4-FFF2-40B4-BE49-F238E27FC236}">
                <a16:creationId xmlns:a16="http://schemas.microsoft.com/office/drawing/2014/main" id="{EEBC3BF9-8D67-B1CD-3C09-AC9186D95DBF}"/>
              </a:ext>
            </a:extLst>
          </p:cNvPr>
          <p:cNvSpPr txBox="1"/>
          <p:nvPr/>
        </p:nvSpPr>
        <p:spPr>
          <a:xfrm>
            <a:off x="2786932" y="2768942"/>
            <a:ext cx="3570135" cy="400110"/>
          </a:xfrm>
          <a:prstGeom prst="rect">
            <a:avLst/>
          </a:prstGeom>
          <a:noFill/>
        </p:spPr>
        <p:txBody>
          <a:bodyPr wrap="square" rtlCol="0">
            <a:spAutoFit/>
          </a:bodyPr>
          <a:lstStyle/>
          <a:p>
            <a:r>
              <a:rPr lang="en-US" sz="2000" dirty="0">
                <a:solidFill>
                  <a:srgbClr val="1A1F36"/>
                </a:solidFill>
                <a:latin typeface="Calibri"/>
              </a:rPr>
              <a:t>Model Architectures</a:t>
            </a:r>
          </a:p>
        </p:txBody>
      </p:sp>
    </p:spTree>
    <p:extLst>
      <p:ext uri="{BB962C8B-B14F-4D97-AF65-F5344CB8AC3E}">
        <p14:creationId xmlns:p14="http://schemas.microsoft.com/office/powerpoint/2010/main" val="184885127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3444" cy="5143500"/>
          </a:xfrm>
          <a:prstGeom prst="rect">
            <a:avLst/>
          </a:prstGeom>
          <a:solidFill>
            <a:srgbClr val="1A365D"/>
          </a:solidFill>
          <a:ln w="12700">
            <a:solidFill>
              <a:srgbClr val="1A365D"/>
            </a:solidFill>
            <a:prstDash val="solid"/>
          </a:ln>
        </p:spPr>
        <p:txBody>
          <a:bodyPr/>
          <a:lstStyle/>
          <a:p>
            <a:endParaRPr/>
          </a:p>
        </p:txBody>
      </p:sp>
      <p:sp>
        <p:nvSpPr>
          <p:cNvPr id="5" name="Shape 3"/>
          <p:cNvSpPr/>
          <p:nvPr/>
        </p:nvSpPr>
        <p:spPr>
          <a:xfrm>
            <a:off x="342900" y="4457700"/>
            <a:ext cx="8435340" cy="0"/>
          </a:xfrm>
          <a:prstGeom prst="line">
            <a:avLst/>
          </a:prstGeom>
          <a:noFill/>
          <a:ln w="9525">
            <a:solidFill>
              <a:srgbClr val="CBD5E0"/>
            </a:solidFill>
            <a:prstDash val="solid"/>
          </a:ln>
        </p:spPr>
        <p:txBody>
          <a:bodyPr/>
          <a:lstStyle/>
          <a:p>
            <a:endParaRPr/>
          </a:p>
        </p:txBody>
      </p:sp>
      <p:sp>
        <p:nvSpPr>
          <p:cNvPr id="7" name="Text 5"/>
          <p:cNvSpPr/>
          <p:nvPr/>
        </p:nvSpPr>
        <p:spPr>
          <a:xfrm>
            <a:off x="354330" y="277533"/>
            <a:ext cx="8435340" cy="617220"/>
          </a:xfrm>
          <a:prstGeom prst="rect">
            <a:avLst/>
          </a:prstGeom>
          <a:noFill/>
          <a:ln/>
        </p:spPr>
        <p:txBody>
          <a:bodyPr wrap="square" lIns="0" tIns="0" rIns="0" bIns="0" rtlCol="0" anchor="ctr"/>
          <a:lstStyle/>
          <a:p>
            <a:r>
              <a:rPr lang="en-US" sz="2250" b="1" dirty="0">
                <a:solidFill>
                  <a:srgbClr val="1E2761"/>
                </a:solidFill>
                <a:latin typeface="Georgia"/>
              </a:rPr>
              <a:t>BERT: Contextual LM Training</a:t>
            </a:r>
            <a:endParaRPr lang="en-US" sz="2250" dirty="0"/>
          </a:p>
        </p:txBody>
      </p:sp>
      <p:sp>
        <p:nvSpPr>
          <p:cNvPr id="8" name="Text 6"/>
          <p:cNvSpPr/>
          <p:nvPr/>
        </p:nvSpPr>
        <p:spPr>
          <a:xfrm>
            <a:off x="342900" y="1026920"/>
            <a:ext cx="4869180" cy="1611630"/>
          </a:xfrm>
          <a:prstGeom prst="rect">
            <a:avLst/>
          </a:prstGeom>
          <a:noFill/>
          <a:ln/>
        </p:spPr>
        <p:txBody>
          <a:bodyPr wrap="square" lIns="0" tIns="0" rIns="0" bIns="0" rtlCol="0" anchor="ctr"/>
          <a:lstStyle/>
          <a:p>
            <a:pPr marL="285750" indent="-285750">
              <a:spcAft>
                <a:spcPts val="300"/>
              </a:spcAft>
              <a:buFont typeface="Arial" panose="020B0604020202020204" pitchFamily="34" charset="0"/>
              <a:buChar char="•"/>
            </a:pPr>
            <a:r>
              <a:rPr lang="en-US" sz="1200" dirty="0">
                <a:solidFill>
                  <a:srgbClr val="1A1F36"/>
                </a:solidFill>
                <a:latin typeface="Calibri"/>
              </a:rPr>
              <a:t>Two self-supervised objectives - masked language modeling (MLM) and next-sentence prediction.</a:t>
            </a:r>
            <a:br>
              <a:rPr lang="en-US" sz="1200" dirty="0">
                <a:solidFill>
                  <a:srgbClr val="2D3748"/>
                </a:solidFill>
                <a:latin typeface="Calibri" pitchFamily="34" charset="0"/>
                <a:ea typeface="Calibri" pitchFamily="34" charset="-122"/>
                <a:cs typeface="Calibri" pitchFamily="34" charset="-120"/>
              </a:rPr>
            </a:br>
            <a:endParaRPr lang="en-US" sz="1200" dirty="0">
              <a:solidFill>
                <a:srgbClr val="2D3748"/>
              </a:solidFill>
              <a:latin typeface="Calibri" pitchFamily="34" charset="0"/>
              <a:ea typeface="Calibri" pitchFamily="34" charset="-122"/>
              <a:cs typeface="Calibri" pitchFamily="34" charset="-120"/>
            </a:endParaRPr>
          </a:p>
          <a:p>
            <a:pPr marL="285750" indent="-285750">
              <a:spcAft>
                <a:spcPts val="300"/>
              </a:spcAft>
              <a:buFont typeface="Arial" panose="020B0604020202020204" pitchFamily="34" charset="0"/>
              <a:buChar char="•"/>
            </a:pPr>
            <a:r>
              <a:rPr lang="en-US" sz="1200" dirty="0">
                <a:solidFill>
                  <a:srgbClr val="1A1F36"/>
                </a:solidFill>
                <a:latin typeface="Calibri"/>
              </a:rPr>
              <a:t> A small task-specific head plus a few epochs of fine-tuning produced new state-of-the-art results across GLUE, SQuAD, and NER.</a:t>
            </a:r>
          </a:p>
          <a:p>
            <a:pPr marL="285750" indent="-285750">
              <a:spcAft>
                <a:spcPts val="300"/>
              </a:spcAft>
              <a:buFont typeface="Arial" panose="020B0604020202020204" pitchFamily="34" charset="0"/>
              <a:buChar char="•"/>
            </a:pPr>
            <a:endParaRPr lang="en-US" sz="1200" dirty="0">
              <a:solidFill>
                <a:srgbClr val="2D3748"/>
              </a:solidFill>
              <a:latin typeface="Calibri" pitchFamily="34" charset="0"/>
              <a:ea typeface="Calibri" pitchFamily="34" charset="-122"/>
              <a:cs typeface="Calibri" pitchFamily="34" charset="-120"/>
            </a:endParaRPr>
          </a:p>
          <a:p>
            <a:pPr marL="285750" indent="-285750">
              <a:spcAft>
                <a:spcPts val="300"/>
              </a:spcAft>
              <a:buFont typeface="Arial" panose="020B0604020202020204" pitchFamily="34" charset="0"/>
              <a:buChar char="•"/>
            </a:pPr>
            <a:r>
              <a:rPr lang="en-US" sz="1200" dirty="0">
                <a:solidFill>
                  <a:srgbClr val="1A1F36"/>
                </a:solidFill>
                <a:latin typeface="Calibri"/>
              </a:rPr>
              <a:t>Establishing the pretrain-then-finetune paradigm.</a:t>
            </a:r>
            <a:endParaRPr lang="en-US" sz="1200" dirty="0"/>
          </a:p>
        </p:txBody>
      </p:sp>
      <p:grpSp>
        <p:nvGrpSpPr>
          <p:cNvPr id="47" name="Group 46">
            <a:extLst>
              <a:ext uri="{FF2B5EF4-FFF2-40B4-BE49-F238E27FC236}">
                <a16:creationId xmlns:a16="http://schemas.microsoft.com/office/drawing/2014/main" id="{54F72CC7-217C-93AC-79B8-0C4F0C408FCB}"/>
              </a:ext>
            </a:extLst>
          </p:cNvPr>
          <p:cNvGrpSpPr/>
          <p:nvPr/>
        </p:nvGrpSpPr>
        <p:grpSpPr>
          <a:xfrm>
            <a:off x="5347375" y="1152081"/>
            <a:ext cx="3463290" cy="1337312"/>
            <a:chOff x="5314950" y="1508758"/>
            <a:chExt cx="3463290" cy="1337312"/>
          </a:xfrm>
        </p:grpSpPr>
        <p:sp>
          <p:nvSpPr>
            <p:cNvPr id="9" name="Shape 7"/>
            <p:cNvSpPr/>
            <p:nvPr/>
          </p:nvSpPr>
          <p:spPr>
            <a:xfrm>
              <a:off x="5314950" y="1508758"/>
              <a:ext cx="3463290" cy="1337310"/>
            </a:xfrm>
            <a:prstGeom prst="rect">
              <a:avLst/>
            </a:prstGeom>
            <a:solidFill>
              <a:srgbClr val="FFFFFF"/>
            </a:solidFill>
            <a:ln w="9525">
              <a:solidFill>
                <a:srgbClr val="E2E8F0"/>
              </a:solidFill>
              <a:prstDash val="solid"/>
            </a:ln>
          </p:spPr>
          <p:txBody>
            <a:bodyPr/>
            <a:lstStyle/>
            <a:p>
              <a:endParaRPr lang="en-US" sz="2000" dirty="0"/>
            </a:p>
          </p:txBody>
        </p:sp>
        <p:sp>
          <p:nvSpPr>
            <p:cNvPr id="10" name="Shape 8"/>
            <p:cNvSpPr/>
            <p:nvPr/>
          </p:nvSpPr>
          <p:spPr>
            <a:xfrm>
              <a:off x="5314950" y="1508760"/>
              <a:ext cx="41148" cy="1337310"/>
            </a:xfrm>
            <a:prstGeom prst="rect">
              <a:avLst/>
            </a:prstGeom>
            <a:solidFill>
              <a:srgbClr val="8B6914"/>
            </a:solidFill>
            <a:ln w="12700">
              <a:solidFill>
                <a:srgbClr val="8B6914"/>
              </a:solidFill>
              <a:prstDash val="solid"/>
            </a:ln>
          </p:spPr>
          <p:txBody>
            <a:bodyPr/>
            <a:lstStyle/>
            <a:p>
              <a:endParaRPr/>
            </a:p>
          </p:txBody>
        </p:sp>
        <p:sp>
          <p:nvSpPr>
            <p:cNvPr id="11" name="Text 9"/>
            <p:cNvSpPr/>
            <p:nvPr/>
          </p:nvSpPr>
          <p:spPr>
            <a:xfrm>
              <a:off x="5465826" y="1577340"/>
              <a:ext cx="3223260" cy="150876"/>
            </a:xfrm>
            <a:prstGeom prst="rect">
              <a:avLst/>
            </a:prstGeom>
            <a:noFill/>
            <a:ln/>
          </p:spPr>
          <p:txBody>
            <a:bodyPr wrap="square" lIns="0" tIns="0" rIns="0" bIns="0" rtlCol="0" anchor="ctr"/>
            <a:lstStyle/>
            <a:p>
              <a:r>
                <a:rPr lang="en-US" sz="1000" b="1" spc="300" dirty="0">
                  <a:solidFill>
                    <a:srgbClr val="8B6914"/>
                  </a:solidFill>
                  <a:latin typeface="Calibri"/>
                </a:rPr>
                <a:t>KEY RESULT · GLUE TEST SERVER</a:t>
              </a:r>
              <a:endParaRPr lang="en-US" sz="1000" dirty="0"/>
            </a:p>
          </p:txBody>
        </p:sp>
        <p:sp>
          <p:nvSpPr>
            <p:cNvPr id="12" name="Text 10"/>
            <p:cNvSpPr/>
            <p:nvPr/>
          </p:nvSpPr>
          <p:spPr>
            <a:xfrm>
              <a:off x="5465826" y="1714500"/>
              <a:ext cx="3223260" cy="192024"/>
            </a:xfrm>
            <a:prstGeom prst="rect">
              <a:avLst/>
            </a:prstGeom>
            <a:noFill/>
            <a:ln/>
          </p:spPr>
          <p:txBody>
            <a:bodyPr wrap="square" lIns="0" tIns="0" rIns="0" bIns="0" rtlCol="0" anchor="ctr"/>
            <a:lstStyle/>
            <a:p>
              <a:r>
                <a:rPr lang="en-US" sz="1100" b="1" dirty="0">
                  <a:solidFill>
                    <a:srgbClr val="0F223E"/>
                  </a:solidFill>
                  <a:latin typeface="Calibri"/>
                </a:rPr>
                <a:t>GLUE benchmark average (Oct 2018)</a:t>
              </a:r>
              <a:endParaRPr lang="en-US" sz="1100" dirty="0"/>
            </a:p>
          </p:txBody>
        </p:sp>
        <p:sp>
          <p:nvSpPr>
            <p:cNvPr id="13" name="Text 11"/>
            <p:cNvSpPr/>
            <p:nvPr/>
          </p:nvSpPr>
          <p:spPr>
            <a:xfrm>
              <a:off x="5465826" y="1989892"/>
              <a:ext cx="1268730" cy="160735"/>
            </a:xfrm>
            <a:prstGeom prst="rect">
              <a:avLst/>
            </a:prstGeom>
            <a:noFill/>
            <a:ln/>
          </p:spPr>
          <p:txBody>
            <a:bodyPr wrap="square" lIns="0" tIns="0" rIns="0" bIns="0" rtlCol="0" anchor="ctr"/>
            <a:lstStyle/>
            <a:p>
              <a:r>
                <a:rPr lang="en-US" sz="1000" dirty="0">
                  <a:solidFill>
                    <a:srgbClr val="1A1F36"/>
                  </a:solidFill>
                  <a:latin typeface="Calibri"/>
                </a:rPr>
                <a:t>BiLSTM+ELMo+Attn</a:t>
              </a:r>
              <a:endParaRPr lang="en-US" sz="1000" dirty="0"/>
            </a:p>
          </p:txBody>
        </p:sp>
        <p:sp>
          <p:nvSpPr>
            <p:cNvPr id="14" name="Shape 12"/>
            <p:cNvSpPr/>
            <p:nvPr/>
          </p:nvSpPr>
          <p:spPr>
            <a:xfrm>
              <a:off x="6768846" y="2017324"/>
              <a:ext cx="1508760" cy="105871"/>
            </a:xfrm>
            <a:prstGeom prst="rect">
              <a:avLst/>
            </a:prstGeom>
            <a:solidFill>
              <a:srgbClr val="EDF2F7"/>
            </a:solidFill>
            <a:ln w="12700">
              <a:solidFill>
                <a:srgbClr val="EDF2F7"/>
              </a:solidFill>
              <a:prstDash val="solid"/>
            </a:ln>
          </p:spPr>
          <p:txBody>
            <a:bodyPr/>
            <a:lstStyle/>
            <a:p>
              <a:endParaRPr/>
            </a:p>
          </p:txBody>
        </p:sp>
        <p:sp>
          <p:nvSpPr>
            <p:cNvPr id="15" name="Shape 13"/>
            <p:cNvSpPr/>
            <p:nvPr/>
          </p:nvSpPr>
          <p:spPr>
            <a:xfrm>
              <a:off x="6768847" y="2017324"/>
              <a:ext cx="1304774" cy="105871"/>
            </a:xfrm>
            <a:prstGeom prst="rect">
              <a:avLst/>
            </a:prstGeom>
            <a:solidFill>
              <a:srgbClr val="4A5568"/>
            </a:solidFill>
            <a:ln w="12700">
              <a:solidFill>
                <a:srgbClr val="4A5568"/>
              </a:solidFill>
              <a:prstDash val="solid"/>
            </a:ln>
          </p:spPr>
          <p:txBody>
            <a:bodyPr/>
            <a:lstStyle/>
            <a:p>
              <a:endParaRPr/>
            </a:p>
          </p:txBody>
        </p:sp>
        <p:sp>
          <p:nvSpPr>
            <p:cNvPr id="16" name="Text 14"/>
            <p:cNvSpPr/>
            <p:nvPr/>
          </p:nvSpPr>
          <p:spPr>
            <a:xfrm>
              <a:off x="8332470" y="1989892"/>
              <a:ext cx="377190" cy="160735"/>
            </a:xfrm>
            <a:prstGeom prst="rect">
              <a:avLst/>
            </a:prstGeom>
            <a:noFill/>
            <a:ln/>
          </p:spPr>
          <p:txBody>
            <a:bodyPr wrap="square" lIns="0" tIns="0" rIns="0" bIns="0" rtlCol="0" anchor="ctr"/>
            <a:lstStyle/>
            <a:p>
              <a:r>
                <a:rPr lang="en-US" sz="1000" dirty="0">
                  <a:solidFill>
                    <a:srgbClr val="1A1F36"/>
                  </a:solidFill>
                  <a:latin typeface="Calibri"/>
                </a:rPr>
                <a:t>71.0</a:t>
              </a:r>
              <a:endParaRPr lang="en-US" sz="1000" dirty="0"/>
            </a:p>
          </p:txBody>
        </p:sp>
        <p:sp>
          <p:nvSpPr>
            <p:cNvPr id="17" name="Text 15"/>
            <p:cNvSpPr/>
            <p:nvPr/>
          </p:nvSpPr>
          <p:spPr>
            <a:xfrm>
              <a:off x="5465826" y="2152770"/>
              <a:ext cx="1268730" cy="160735"/>
            </a:xfrm>
            <a:prstGeom prst="rect">
              <a:avLst/>
            </a:prstGeom>
            <a:noFill/>
            <a:ln/>
          </p:spPr>
          <p:txBody>
            <a:bodyPr wrap="square" lIns="0" tIns="0" rIns="0" bIns="0" rtlCol="0" anchor="ctr"/>
            <a:lstStyle/>
            <a:p>
              <a:r>
                <a:rPr lang="en-US" sz="1000" dirty="0">
                  <a:solidFill>
                    <a:srgbClr val="1A1F36"/>
                  </a:solidFill>
                  <a:latin typeface="Calibri"/>
                </a:rPr>
                <a:t>OpenAI GPT</a:t>
              </a:r>
              <a:endParaRPr lang="en-US" sz="1000" dirty="0"/>
            </a:p>
          </p:txBody>
        </p:sp>
        <p:sp>
          <p:nvSpPr>
            <p:cNvPr id="18" name="Shape 16"/>
            <p:cNvSpPr/>
            <p:nvPr/>
          </p:nvSpPr>
          <p:spPr>
            <a:xfrm>
              <a:off x="6768846" y="2180202"/>
              <a:ext cx="1508760" cy="105871"/>
            </a:xfrm>
            <a:prstGeom prst="rect">
              <a:avLst/>
            </a:prstGeom>
            <a:solidFill>
              <a:srgbClr val="EDF2F7"/>
            </a:solidFill>
            <a:ln w="12700">
              <a:solidFill>
                <a:srgbClr val="EDF2F7"/>
              </a:solidFill>
              <a:prstDash val="solid"/>
            </a:ln>
          </p:spPr>
          <p:txBody>
            <a:bodyPr/>
            <a:lstStyle/>
            <a:p>
              <a:endParaRPr/>
            </a:p>
          </p:txBody>
        </p:sp>
        <p:sp>
          <p:nvSpPr>
            <p:cNvPr id="19" name="Shape 17"/>
            <p:cNvSpPr/>
            <p:nvPr/>
          </p:nvSpPr>
          <p:spPr>
            <a:xfrm>
              <a:off x="6768846" y="2180202"/>
              <a:ext cx="1380120" cy="105871"/>
            </a:xfrm>
            <a:prstGeom prst="rect">
              <a:avLst/>
            </a:prstGeom>
            <a:solidFill>
              <a:srgbClr val="4A5568"/>
            </a:solidFill>
            <a:ln w="12700">
              <a:solidFill>
                <a:srgbClr val="4A5568"/>
              </a:solidFill>
              <a:prstDash val="solid"/>
            </a:ln>
          </p:spPr>
          <p:txBody>
            <a:bodyPr/>
            <a:lstStyle/>
            <a:p>
              <a:endParaRPr/>
            </a:p>
          </p:txBody>
        </p:sp>
        <p:sp>
          <p:nvSpPr>
            <p:cNvPr id="20" name="Text 18"/>
            <p:cNvSpPr/>
            <p:nvPr/>
          </p:nvSpPr>
          <p:spPr>
            <a:xfrm>
              <a:off x="8332470" y="2152770"/>
              <a:ext cx="377190" cy="160735"/>
            </a:xfrm>
            <a:prstGeom prst="rect">
              <a:avLst/>
            </a:prstGeom>
            <a:noFill/>
            <a:ln/>
          </p:spPr>
          <p:txBody>
            <a:bodyPr wrap="square" lIns="0" tIns="0" rIns="0" bIns="0" rtlCol="0" anchor="ctr"/>
            <a:lstStyle/>
            <a:p>
              <a:r>
                <a:rPr lang="en-US" sz="1000" dirty="0">
                  <a:solidFill>
                    <a:srgbClr val="1A1F36"/>
                  </a:solidFill>
                  <a:latin typeface="Calibri"/>
                </a:rPr>
                <a:t>75.1</a:t>
              </a:r>
              <a:endParaRPr lang="en-US" sz="1000" dirty="0"/>
            </a:p>
          </p:txBody>
        </p:sp>
        <p:sp>
          <p:nvSpPr>
            <p:cNvPr id="21" name="Text 19"/>
            <p:cNvSpPr/>
            <p:nvPr/>
          </p:nvSpPr>
          <p:spPr>
            <a:xfrm>
              <a:off x="5465826" y="2315647"/>
              <a:ext cx="1268730" cy="160735"/>
            </a:xfrm>
            <a:prstGeom prst="rect">
              <a:avLst/>
            </a:prstGeom>
            <a:noFill/>
            <a:ln/>
          </p:spPr>
          <p:txBody>
            <a:bodyPr wrap="square" lIns="0" tIns="0" rIns="0" bIns="0" rtlCol="0" anchor="ctr"/>
            <a:lstStyle/>
            <a:p>
              <a:r>
                <a:rPr lang="en-US" sz="1000" dirty="0">
                  <a:solidFill>
                    <a:srgbClr val="1A1F36"/>
                  </a:solidFill>
                  <a:latin typeface="Calibri"/>
                </a:rPr>
                <a:t>BERT-Base</a:t>
              </a:r>
              <a:endParaRPr lang="en-US" sz="1000" dirty="0"/>
            </a:p>
          </p:txBody>
        </p:sp>
        <p:sp>
          <p:nvSpPr>
            <p:cNvPr id="22" name="Shape 20"/>
            <p:cNvSpPr/>
            <p:nvPr/>
          </p:nvSpPr>
          <p:spPr>
            <a:xfrm>
              <a:off x="6768846" y="2343079"/>
              <a:ext cx="1508760" cy="105871"/>
            </a:xfrm>
            <a:prstGeom prst="rect">
              <a:avLst/>
            </a:prstGeom>
            <a:solidFill>
              <a:srgbClr val="EDF2F7"/>
            </a:solidFill>
            <a:ln w="12700">
              <a:solidFill>
                <a:srgbClr val="EDF2F7"/>
              </a:solidFill>
              <a:prstDash val="solid"/>
            </a:ln>
          </p:spPr>
          <p:txBody>
            <a:bodyPr/>
            <a:lstStyle/>
            <a:p>
              <a:endParaRPr/>
            </a:p>
          </p:txBody>
        </p:sp>
        <p:sp>
          <p:nvSpPr>
            <p:cNvPr id="23" name="Shape 21"/>
            <p:cNvSpPr/>
            <p:nvPr/>
          </p:nvSpPr>
          <p:spPr>
            <a:xfrm>
              <a:off x="6768847" y="2343079"/>
              <a:ext cx="1462817" cy="105871"/>
            </a:xfrm>
            <a:prstGeom prst="rect">
              <a:avLst/>
            </a:prstGeom>
            <a:solidFill>
              <a:srgbClr val="4A5568"/>
            </a:solidFill>
            <a:ln w="12700">
              <a:solidFill>
                <a:srgbClr val="4A5568"/>
              </a:solidFill>
              <a:prstDash val="solid"/>
            </a:ln>
          </p:spPr>
          <p:txBody>
            <a:bodyPr/>
            <a:lstStyle/>
            <a:p>
              <a:endParaRPr/>
            </a:p>
          </p:txBody>
        </p:sp>
        <p:sp>
          <p:nvSpPr>
            <p:cNvPr id="24" name="Text 22"/>
            <p:cNvSpPr/>
            <p:nvPr/>
          </p:nvSpPr>
          <p:spPr>
            <a:xfrm>
              <a:off x="8332470" y="2315647"/>
              <a:ext cx="377190" cy="160735"/>
            </a:xfrm>
            <a:prstGeom prst="rect">
              <a:avLst/>
            </a:prstGeom>
            <a:noFill/>
            <a:ln/>
          </p:spPr>
          <p:txBody>
            <a:bodyPr wrap="square" lIns="0" tIns="0" rIns="0" bIns="0" rtlCol="0" anchor="ctr"/>
            <a:lstStyle/>
            <a:p>
              <a:r>
                <a:rPr lang="en-US" sz="1000" dirty="0">
                  <a:solidFill>
                    <a:srgbClr val="1A1F36"/>
                  </a:solidFill>
                  <a:latin typeface="Calibri"/>
                </a:rPr>
                <a:t>79.6</a:t>
              </a:r>
              <a:endParaRPr lang="en-US" sz="1000" dirty="0"/>
            </a:p>
          </p:txBody>
        </p:sp>
        <p:sp>
          <p:nvSpPr>
            <p:cNvPr id="25" name="Text 23"/>
            <p:cNvSpPr/>
            <p:nvPr/>
          </p:nvSpPr>
          <p:spPr>
            <a:xfrm>
              <a:off x="5465826" y="2478525"/>
              <a:ext cx="1268730" cy="160735"/>
            </a:xfrm>
            <a:prstGeom prst="rect">
              <a:avLst/>
            </a:prstGeom>
            <a:noFill/>
            <a:ln/>
          </p:spPr>
          <p:txBody>
            <a:bodyPr wrap="square" lIns="0" tIns="0" rIns="0" bIns="0" rtlCol="0" anchor="ctr"/>
            <a:lstStyle/>
            <a:p>
              <a:r>
                <a:rPr lang="en-US" sz="1000" dirty="0">
                  <a:solidFill>
                    <a:srgbClr val="1A1F36"/>
                  </a:solidFill>
                  <a:latin typeface="Calibri"/>
                </a:rPr>
                <a:t>BERT-Large</a:t>
              </a:r>
              <a:endParaRPr lang="en-US" sz="1000" dirty="0"/>
            </a:p>
          </p:txBody>
        </p:sp>
        <p:sp>
          <p:nvSpPr>
            <p:cNvPr id="26" name="Shape 24"/>
            <p:cNvSpPr/>
            <p:nvPr/>
          </p:nvSpPr>
          <p:spPr>
            <a:xfrm>
              <a:off x="6768846" y="2505957"/>
              <a:ext cx="1508760" cy="105871"/>
            </a:xfrm>
            <a:prstGeom prst="rect">
              <a:avLst/>
            </a:prstGeom>
            <a:solidFill>
              <a:srgbClr val="EDF2F7"/>
            </a:solidFill>
            <a:ln w="12700">
              <a:solidFill>
                <a:srgbClr val="EDF2F7"/>
              </a:solidFill>
              <a:prstDash val="solid"/>
            </a:ln>
          </p:spPr>
          <p:txBody>
            <a:bodyPr/>
            <a:lstStyle/>
            <a:p>
              <a:endParaRPr/>
            </a:p>
          </p:txBody>
        </p:sp>
        <p:sp>
          <p:nvSpPr>
            <p:cNvPr id="27" name="Shape 25"/>
            <p:cNvSpPr/>
            <p:nvPr/>
          </p:nvSpPr>
          <p:spPr>
            <a:xfrm>
              <a:off x="6768846" y="2505957"/>
              <a:ext cx="1508760" cy="105871"/>
            </a:xfrm>
            <a:prstGeom prst="rect">
              <a:avLst/>
            </a:prstGeom>
            <a:solidFill>
              <a:srgbClr val="0F223E"/>
            </a:solidFill>
            <a:ln w="12700">
              <a:solidFill>
                <a:srgbClr val="0F223E"/>
              </a:solidFill>
              <a:prstDash val="solid"/>
            </a:ln>
          </p:spPr>
          <p:txBody>
            <a:bodyPr/>
            <a:lstStyle/>
            <a:p>
              <a:endParaRPr/>
            </a:p>
          </p:txBody>
        </p:sp>
        <p:sp>
          <p:nvSpPr>
            <p:cNvPr id="28" name="Text 26"/>
            <p:cNvSpPr/>
            <p:nvPr/>
          </p:nvSpPr>
          <p:spPr>
            <a:xfrm>
              <a:off x="8332470" y="2478525"/>
              <a:ext cx="377190" cy="160735"/>
            </a:xfrm>
            <a:prstGeom prst="rect">
              <a:avLst/>
            </a:prstGeom>
            <a:noFill/>
            <a:ln/>
          </p:spPr>
          <p:txBody>
            <a:bodyPr wrap="square" lIns="0" tIns="0" rIns="0" bIns="0" rtlCol="0" anchor="ctr"/>
            <a:lstStyle/>
            <a:p>
              <a:r>
                <a:rPr lang="en-US" sz="1000" b="1" dirty="0">
                  <a:solidFill>
                    <a:srgbClr val="0F223E"/>
                  </a:solidFill>
                  <a:latin typeface="Calibri"/>
                </a:rPr>
                <a:t>82.1</a:t>
              </a:r>
              <a:endParaRPr lang="en-US" sz="1000" dirty="0"/>
            </a:p>
          </p:txBody>
        </p:sp>
        <p:sp>
          <p:nvSpPr>
            <p:cNvPr id="29" name="Text 27"/>
            <p:cNvSpPr/>
            <p:nvPr/>
          </p:nvSpPr>
          <p:spPr>
            <a:xfrm>
              <a:off x="5465826" y="2654046"/>
              <a:ext cx="3223260" cy="150876"/>
            </a:xfrm>
            <a:prstGeom prst="rect">
              <a:avLst/>
            </a:prstGeom>
            <a:noFill/>
            <a:ln/>
          </p:spPr>
          <p:txBody>
            <a:bodyPr wrap="square" lIns="0" tIns="0" rIns="0" bIns="0" rtlCol="0" anchor="ctr"/>
            <a:lstStyle/>
            <a:p>
              <a:r>
                <a:rPr lang="en-US" sz="900" i="1" dirty="0">
                  <a:solidFill>
                    <a:srgbClr val="1A1F36"/>
                  </a:solidFill>
                  <a:latin typeface="Calibri"/>
                </a:rPr>
                <a:t>Devlin et al. (2019), Table 1. Higher is better (max 100).</a:t>
              </a:r>
              <a:endParaRPr lang="en-US" sz="900" dirty="0"/>
            </a:p>
          </p:txBody>
        </p:sp>
      </p:grpSp>
      <p:grpSp>
        <p:nvGrpSpPr>
          <p:cNvPr id="44" name="Group 43">
            <a:extLst>
              <a:ext uri="{FF2B5EF4-FFF2-40B4-BE49-F238E27FC236}">
                <a16:creationId xmlns:a16="http://schemas.microsoft.com/office/drawing/2014/main" id="{D4C8DB56-ACE5-99B8-14D1-601445EF553F}"/>
              </a:ext>
            </a:extLst>
          </p:cNvPr>
          <p:cNvGrpSpPr/>
          <p:nvPr/>
        </p:nvGrpSpPr>
        <p:grpSpPr>
          <a:xfrm>
            <a:off x="218385" y="2758035"/>
            <a:ext cx="2777490" cy="1611630"/>
            <a:chOff x="342900" y="2777490"/>
            <a:chExt cx="2777490" cy="1611630"/>
          </a:xfrm>
        </p:grpSpPr>
        <p:sp>
          <p:nvSpPr>
            <p:cNvPr id="30" name="Shape 28"/>
            <p:cNvSpPr/>
            <p:nvPr/>
          </p:nvSpPr>
          <p:spPr>
            <a:xfrm>
              <a:off x="342900" y="2777490"/>
              <a:ext cx="2777490" cy="1611630"/>
            </a:xfrm>
            <a:prstGeom prst="rect">
              <a:avLst/>
            </a:prstGeom>
            <a:solidFill>
              <a:srgbClr val="F7FAFC"/>
            </a:solidFill>
            <a:ln w="9525">
              <a:solidFill>
                <a:srgbClr val="E2E8F0"/>
              </a:solidFill>
              <a:prstDash val="solid"/>
            </a:ln>
          </p:spPr>
          <p:txBody>
            <a:bodyPr/>
            <a:lstStyle/>
            <a:p>
              <a:endParaRPr/>
            </a:p>
          </p:txBody>
        </p:sp>
        <p:sp>
          <p:nvSpPr>
            <p:cNvPr id="31" name="Shape 29"/>
            <p:cNvSpPr/>
            <p:nvPr/>
          </p:nvSpPr>
          <p:spPr>
            <a:xfrm>
              <a:off x="342900" y="2777490"/>
              <a:ext cx="41148" cy="1611630"/>
            </a:xfrm>
            <a:prstGeom prst="rect">
              <a:avLst/>
            </a:prstGeom>
            <a:solidFill>
              <a:srgbClr val="1A365D"/>
            </a:solidFill>
            <a:ln w="12700">
              <a:solidFill>
                <a:srgbClr val="1A365D"/>
              </a:solidFill>
              <a:prstDash val="solid"/>
            </a:ln>
          </p:spPr>
          <p:txBody>
            <a:bodyPr/>
            <a:lstStyle/>
            <a:p>
              <a:endParaRPr/>
            </a:p>
          </p:txBody>
        </p:sp>
        <p:sp>
          <p:nvSpPr>
            <p:cNvPr id="32" name="Text 30"/>
            <p:cNvSpPr/>
            <p:nvPr/>
          </p:nvSpPr>
          <p:spPr>
            <a:xfrm>
              <a:off x="514350" y="2880360"/>
              <a:ext cx="2503170" cy="274320"/>
            </a:xfrm>
            <a:prstGeom prst="rect">
              <a:avLst/>
            </a:prstGeom>
            <a:noFill/>
            <a:ln/>
          </p:spPr>
          <p:txBody>
            <a:bodyPr wrap="square" lIns="0" tIns="0" rIns="0" bIns="0" rtlCol="0" anchor="ctr"/>
            <a:lstStyle/>
            <a:p>
              <a:r>
                <a:rPr lang="en-US" sz="1050" b="1" dirty="0">
                  <a:solidFill>
                    <a:srgbClr val="0F223E"/>
                  </a:solidFill>
                  <a:latin typeface="Calibri"/>
                </a:rPr>
                <a:t>Architecture</a:t>
              </a:r>
              <a:endParaRPr lang="en-US" sz="1050" dirty="0"/>
            </a:p>
          </p:txBody>
        </p:sp>
        <p:sp>
          <p:nvSpPr>
            <p:cNvPr id="33" name="Text 31"/>
            <p:cNvSpPr/>
            <p:nvPr/>
          </p:nvSpPr>
          <p:spPr>
            <a:xfrm>
              <a:off x="514350" y="3154680"/>
              <a:ext cx="2503170" cy="1131570"/>
            </a:xfrm>
            <a:prstGeom prst="rect">
              <a:avLst/>
            </a:prstGeom>
            <a:noFill/>
            <a:ln/>
          </p:spPr>
          <p:txBody>
            <a:bodyPr wrap="square" lIns="0" tIns="0" rIns="0" bIns="0" rtlCol="0" anchor="ctr"/>
            <a:lstStyle/>
            <a:p>
              <a:pPr marL="257175" indent="-257175">
                <a:spcAft>
                  <a:spcPts val="300"/>
                </a:spcAft>
                <a:buSzPct val="100000"/>
                <a:buChar char="•"/>
              </a:pPr>
              <a:r>
                <a:rPr lang="en-US" sz="1100" dirty="0">
                  <a:solidFill>
                    <a:srgbClr val="1A1F36"/>
                  </a:solidFill>
                  <a:latin typeface="Calibri"/>
                </a:rPr>
                <a:t>Transformer encoder only</a:t>
              </a:r>
              <a:endParaRPr lang="en-US" sz="1100" dirty="0"/>
            </a:p>
            <a:p>
              <a:pPr marL="257175" indent="-257175">
                <a:spcAft>
                  <a:spcPts val="300"/>
                </a:spcAft>
                <a:buSzPct val="100000"/>
                <a:buChar char="•"/>
              </a:pPr>
              <a:r>
                <a:rPr lang="en-US" sz="1100" dirty="0">
                  <a:solidFill>
                    <a:srgbClr val="1A1F36"/>
                  </a:solidFill>
                  <a:latin typeface="Calibri"/>
                </a:rPr>
                <a:t>BERT-Base: 110M params · 12 layers</a:t>
              </a:r>
              <a:endParaRPr lang="en-US" sz="1100" dirty="0"/>
            </a:p>
            <a:p>
              <a:pPr marL="257175" indent="-257175">
                <a:spcAft>
                  <a:spcPts val="300"/>
                </a:spcAft>
                <a:buSzPct val="100000"/>
                <a:buChar char="•"/>
              </a:pPr>
              <a:r>
                <a:rPr lang="en-US" sz="1100" dirty="0">
                  <a:solidFill>
                    <a:srgbClr val="1A1F36"/>
                  </a:solidFill>
                  <a:latin typeface="Calibri"/>
                </a:rPr>
                <a:t>BERT-Large: 340M params · 24 layers</a:t>
              </a:r>
              <a:endParaRPr lang="en-US" sz="1100" dirty="0"/>
            </a:p>
            <a:p>
              <a:pPr marL="257175" indent="-257175">
                <a:spcAft>
                  <a:spcPts val="300"/>
                </a:spcAft>
                <a:buSzPct val="100000"/>
                <a:buChar char="•"/>
              </a:pPr>
              <a:r>
                <a:rPr lang="en-US" sz="1100" dirty="0">
                  <a:solidFill>
                    <a:srgbClr val="1A1F36"/>
                  </a:solidFill>
                  <a:latin typeface="Calibri"/>
                </a:rPr>
                <a:t>WordPiece tokenization</a:t>
              </a:r>
              <a:endParaRPr lang="en-US" sz="1100" dirty="0"/>
            </a:p>
          </p:txBody>
        </p:sp>
      </p:grpSp>
      <p:grpSp>
        <p:nvGrpSpPr>
          <p:cNvPr id="45" name="Group 44">
            <a:extLst>
              <a:ext uri="{FF2B5EF4-FFF2-40B4-BE49-F238E27FC236}">
                <a16:creationId xmlns:a16="http://schemas.microsoft.com/office/drawing/2014/main" id="{A7464129-98B6-AD5B-7A1C-A7E1F58CAD15}"/>
              </a:ext>
            </a:extLst>
          </p:cNvPr>
          <p:cNvGrpSpPr/>
          <p:nvPr/>
        </p:nvGrpSpPr>
        <p:grpSpPr>
          <a:xfrm>
            <a:off x="3124120" y="2764520"/>
            <a:ext cx="2777490" cy="1611630"/>
            <a:chOff x="3188970" y="2777490"/>
            <a:chExt cx="2777490" cy="1611630"/>
          </a:xfrm>
        </p:grpSpPr>
        <p:sp>
          <p:nvSpPr>
            <p:cNvPr id="34" name="Shape 32"/>
            <p:cNvSpPr/>
            <p:nvPr/>
          </p:nvSpPr>
          <p:spPr>
            <a:xfrm>
              <a:off x="3188970" y="2777490"/>
              <a:ext cx="2777490" cy="1611630"/>
            </a:xfrm>
            <a:prstGeom prst="rect">
              <a:avLst/>
            </a:prstGeom>
            <a:solidFill>
              <a:srgbClr val="F7FAFC"/>
            </a:solidFill>
            <a:ln w="9525">
              <a:solidFill>
                <a:srgbClr val="E2E8F0"/>
              </a:solidFill>
              <a:prstDash val="solid"/>
            </a:ln>
          </p:spPr>
          <p:txBody>
            <a:bodyPr/>
            <a:lstStyle/>
            <a:p>
              <a:endParaRPr/>
            </a:p>
          </p:txBody>
        </p:sp>
        <p:sp>
          <p:nvSpPr>
            <p:cNvPr id="35" name="Shape 33"/>
            <p:cNvSpPr/>
            <p:nvPr/>
          </p:nvSpPr>
          <p:spPr>
            <a:xfrm>
              <a:off x="3188970" y="2777490"/>
              <a:ext cx="41148" cy="1611630"/>
            </a:xfrm>
            <a:prstGeom prst="rect">
              <a:avLst/>
            </a:prstGeom>
            <a:solidFill>
              <a:srgbClr val="1A365D"/>
            </a:solidFill>
            <a:ln w="12700">
              <a:solidFill>
                <a:srgbClr val="1A365D"/>
              </a:solidFill>
              <a:prstDash val="solid"/>
            </a:ln>
          </p:spPr>
          <p:txBody>
            <a:bodyPr/>
            <a:lstStyle/>
            <a:p>
              <a:endParaRPr/>
            </a:p>
          </p:txBody>
        </p:sp>
        <p:sp>
          <p:nvSpPr>
            <p:cNvPr id="36" name="Text 34"/>
            <p:cNvSpPr/>
            <p:nvPr/>
          </p:nvSpPr>
          <p:spPr>
            <a:xfrm>
              <a:off x="3360420" y="2880360"/>
              <a:ext cx="2503170" cy="274320"/>
            </a:xfrm>
            <a:prstGeom prst="rect">
              <a:avLst/>
            </a:prstGeom>
            <a:noFill/>
            <a:ln/>
          </p:spPr>
          <p:txBody>
            <a:bodyPr wrap="square" lIns="0" tIns="0" rIns="0" bIns="0" rtlCol="0" anchor="ctr"/>
            <a:lstStyle/>
            <a:p>
              <a:r>
                <a:rPr lang="en-US" sz="1050" b="1" dirty="0">
                  <a:solidFill>
                    <a:srgbClr val="0F223E"/>
                  </a:solidFill>
                  <a:latin typeface="Calibri"/>
                </a:rPr>
                <a:t>Training objectives</a:t>
              </a:r>
              <a:endParaRPr lang="en-US" sz="1050" dirty="0"/>
            </a:p>
          </p:txBody>
        </p:sp>
        <p:sp>
          <p:nvSpPr>
            <p:cNvPr id="37" name="Text 35"/>
            <p:cNvSpPr/>
            <p:nvPr/>
          </p:nvSpPr>
          <p:spPr>
            <a:xfrm>
              <a:off x="3360420" y="3154680"/>
              <a:ext cx="2503170" cy="1131570"/>
            </a:xfrm>
            <a:prstGeom prst="rect">
              <a:avLst/>
            </a:prstGeom>
            <a:noFill/>
            <a:ln/>
          </p:spPr>
          <p:txBody>
            <a:bodyPr wrap="square" lIns="0" tIns="0" rIns="0" bIns="0" rtlCol="0" anchor="ctr"/>
            <a:lstStyle/>
            <a:p>
              <a:pPr marL="257175" indent="-257175">
                <a:spcAft>
                  <a:spcPts val="300"/>
                </a:spcAft>
                <a:buSzPct val="100000"/>
                <a:buChar char="•"/>
              </a:pPr>
              <a:r>
                <a:rPr lang="en-US" sz="1100" dirty="0">
                  <a:solidFill>
                    <a:srgbClr val="1A1F36"/>
                  </a:solidFill>
                  <a:latin typeface="Calibri"/>
                </a:rPr>
                <a:t>Masked LM — predict 15% of tokens</a:t>
              </a:r>
              <a:endParaRPr lang="en-US" sz="1100" dirty="0"/>
            </a:p>
            <a:p>
              <a:pPr marL="257175" indent="-257175">
                <a:spcAft>
                  <a:spcPts val="300"/>
                </a:spcAft>
                <a:buSzPct val="100000"/>
                <a:buChar char="•"/>
              </a:pPr>
              <a:r>
                <a:rPr lang="en-US" sz="1100" dirty="0">
                  <a:solidFill>
                    <a:srgbClr val="1A1F36"/>
                  </a:solidFill>
                  <a:latin typeface="Calibri"/>
                </a:rPr>
                <a:t>Next Sentence Prediction</a:t>
              </a:r>
              <a:endParaRPr lang="en-US" sz="1100" dirty="0"/>
            </a:p>
            <a:p>
              <a:pPr marL="257175" indent="-257175">
                <a:spcAft>
                  <a:spcPts val="300"/>
                </a:spcAft>
                <a:buSzPct val="100000"/>
                <a:buChar char="•"/>
              </a:pPr>
              <a:r>
                <a:rPr lang="en-US" sz="1100" dirty="0">
                  <a:solidFill>
                    <a:srgbClr val="1A1F36"/>
                  </a:solidFill>
                  <a:latin typeface="Calibri"/>
                </a:rPr>
                <a:t>BookCorpus + English Wikipedia</a:t>
              </a:r>
              <a:endParaRPr lang="en-US" sz="1100" dirty="0"/>
            </a:p>
            <a:p>
              <a:pPr marL="257175" indent="-257175">
                <a:spcAft>
                  <a:spcPts val="300"/>
                </a:spcAft>
                <a:buSzPct val="100000"/>
                <a:buChar char="•"/>
              </a:pPr>
              <a:r>
                <a:rPr lang="en-US" sz="1100" dirty="0">
                  <a:solidFill>
                    <a:srgbClr val="1A1F36"/>
                  </a:solidFill>
                  <a:latin typeface="Calibri"/>
                </a:rPr>
                <a:t>~3.3B tokens</a:t>
              </a:r>
              <a:endParaRPr lang="en-US" sz="1100" dirty="0"/>
            </a:p>
          </p:txBody>
        </p:sp>
      </p:grpSp>
      <p:grpSp>
        <p:nvGrpSpPr>
          <p:cNvPr id="46" name="Group 45">
            <a:extLst>
              <a:ext uri="{FF2B5EF4-FFF2-40B4-BE49-F238E27FC236}">
                <a16:creationId xmlns:a16="http://schemas.microsoft.com/office/drawing/2014/main" id="{79D65805-557C-C6E0-BE4A-A72EFADB48C1}"/>
              </a:ext>
            </a:extLst>
          </p:cNvPr>
          <p:cNvGrpSpPr/>
          <p:nvPr/>
        </p:nvGrpSpPr>
        <p:grpSpPr>
          <a:xfrm>
            <a:off x="6035040" y="2764520"/>
            <a:ext cx="2777490" cy="1611630"/>
            <a:chOff x="6035040" y="2777490"/>
            <a:chExt cx="2777490" cy="1611630"/>
          </a:xfrm>
        </p:grpSpPr>
        <p:sp>
          <p:nvSpPr>
            <p:cNvPr id="38" name="Shape 36"/>
            <p:cNvSpPr/>
            <p:nvPr/>
          </p:nvSpPr>
          <p:spPr>
            <a:xfrm>
              <a:off x="6035040" y="2777490"/>
              <a:ext cx="2777490" cy="1611630"/>
            </a:xfrm>
            <a:prstGeom prst="rect">
              <a:avLst/>
            </a:prstGeom>
            <a:solidFill>
              <a:srgbClr val="F7FAFC"/>
            </a:solidFill>
            <a:ln w="9525">
              <a:solidFill>
                <a:srgbClr val="E2E8F0"/>
              </a:solidFill>
              <a:prstDash val="solid"/>
            </a:ln>
          </p:spPr>
          <p:txBody>
            <a:bodyPr/>
            <a:lstStyle/>
            <a:p>
              <a:endParaRPr/>
            </a:p>
          </p:txBody>
        </p:sp>
        <p:sp>
          <p:nvSpPr>
            <p:cNvPr id="39" name="Shape 37"/>
            <p:cNvSpPr/>
            <p:nvPr/>
          </p:nvSpPr>
          <p:spPr>
            <a:xfrm>
              <a:off x="6035040" y="2777490"/>
              <a:ext cx="41148" cy="1611630"/>
            </a:xfrm>
            <a:prstGeom prst="rect">
              <a:avLst/>
            </a:prstGeom>
            <a:solidFill>
              <a:srgbClr val="1A365D"/>
            </a:solidFill>
            <a:ln w="12700">
              <a:solidFill>
                <a:srgbClr val="1A365D"/>
              </a:solidFill>
              <a:prstDash val="solid"/>
            </a:ln>
          </p:spPr>
          <p:txBody>
            <a:bodyPr/>
            <a:lstStyle/>
            <a:p>
              <a:endParaRPr/>
            </a:p>
          </p:txBody>
        </p:sp>
        <p:sp>
          <p:nvSpPr>
            <p:cNvPr id="40" name="Text 38"/>
            <p:cNvSpPr/>
            <p:nvPr/>
          </p:nvSpPr>
          <p:spPr>
            <a:xfrm>
              <a:off x="6206490" y="2880360"/>
              <a:ext cx="2503170" cy="274320"/>
            </a:xfrm>
            <a:prstGeom prst="rect">
              <a:avLst/>
            </a:prstGeom>
            <a:noFill/>
            <a:ln/>
          </p:spPr>
          <p:txBody>
            <a:bodyPr wrap="square" lIns="0" tIns="0" rIns="0" bIns="0" rtlCol="0" anchor="ctr"/>
            <a:lstStyle/>
            <a:p>
              <a:r>
                <a:rPr lang="en-US" sz="1050" b="1" dirty="0">
                  <a:solidFill>
                    <a:srgbClr val="0F223E"/>
                  </a:solidFill>
                  <a:latin typeface="Calibri"/>
                </a:rPr>
                <a:t>Why it mattered</a:t>
              </a:r>
              <a:endParaRPr lang="en-US" sz="1050" dirty="0"/>
            </a:p>
          </p:txBody>
        </p:sp>
        <p:sp>
          <p:nvSpPr>
            <p:cNvPr id="41" name="Text 39"/>
            <p:cNvSpPr/>
            <p:nvPr/>
          </p:nvSpPr>
          <p:spPr>
            <a:xfrm>
              <a:off x="6206490" y="3154680"/>
              <a:ext cx="2503170" cy="1131570"/>
            </a:xfrm>
            <a:prstGeom prst="rect">
              <a:avLst/>
            </a:prstGeom>
            <a:noFill/>
            <a:ln/>
          </p:spPr>
          <p:txBody>
            <a:bodyPr wrap="square" lIns="0" tIns="0" rIns="0" bIns="0" rtlCol="0" anchor="ctr"/>
            <a:lstStyle/>
            <a:p>
              <a:pPr marL="257175" indent="-257175">
                <a:spcAft>
                  <a:spcPts val="300"/>
                </a:spcAft>
                <a:buSzPct val="100000"/>
                <a:buChar char="•"/>
              </a:pPr>
              <a:r>
                <a:rPr lang="en-US" sz="1100" dirty="0">
                  <a:solidFill>
                    <a:srgbClr val="1A1F36"/>
                  </a:solidFill>
                  <a:latin typeface="Calibri"/>
                </a:rPr>
                <a:t>Bidirectional context in one pass</a:t>
              </a:r>
              <a:endParaRPr lang="en-US" sz="1100" dirty="0"/>
            </a:p>
            <a:p>
              <a:pPr marL="257175" indent="-257175">
                <a:spcAft>
                  <a:spcPts val="300"/>
                </a:spcAft>
                <a:buSzPct val="100000"/>
                <a:buChar char="•"/>
              </a:pPr>
              <a:r>
                <a:rPr lang="en-US" sz="1100" dirty="0">
                  <a:solidFill>
                    <a:srgbClr val="1A1F36"/>
                  </a:solidFill>
                  <a:latin typeface="Calibri"/>
                </a:rPr>
                <a:t>Transfer via fine-tuning, not features</a:t>
              </a:r>
              <a:endParaRPr lang="en-US" sz="1100" dirty="0"/>
            </a:p>
            <a:p>
              <a:pPr marL="257175" indent="-257175">
                <a:spcAft>
                  <a:spcPts val="300"/>
                </a:spcAft>
                <a:buSzPct val="100000"/>
                <a:buChar char="•"/>
              </a:pPr>
              <a:r>
                <a:rPr lang="en-US" sz="1100" dirty="0">
                  <a:solidFill>
                    <a:srgbClr val="1A1F36"/>
                  </a:solidFill>
                  <a:latin typeface="Calibri"/>
                </a:rPr>
                <a:t>New SOTA on 11 NLP benchmarks</a:t>
              </a:r>
              <a:endParaRPr lang="en-US" sz="1100" dirty="0"/>
            </a:p>
            <a:p>
              <a:pPr marL="257175" indent="-257175">
                <a:spcAft>
                  <a:spcPts val="300"/>
                </a:spcAft>
                <a:buSzPct val="100000"/>
                <a:buChar char="•"/>
              </a:pPr>
              <a:r>
                <a:rPr lang="en-US" sz="1100" dirty="0">
                  <a:solidFill>
                    <a:srgbClr val="1A1F36"/>
                  </a:solidFill>
                  <a:latin typeface="Calibri"/>
                </a:rPr>
                <a:t>Template for RoBERTa, ALBERT, DeBERTa</a:t>
              </a:r>
              <a:endParaRPr lang="en-US" sz="1100" dirty="0"/>
            </a:p>
          </p:txBody>
        </p:sp>
      </p:grpSp>
      <p:sp>
        <p:nvSpPr>
          <p:cNvPr id="42" name="Text 40"/>
          <p:cNvSpPr/>
          <p:nvPr/>
        </p:nvSpPr>
        <p:spPr>
          <a:xfrm>
            <a:off x="342900" y="4512564"/>
            <a:ext cx="8435340" cy="582930"/>
          </a:xfrm>
          <a:prstGeom prst="rect">
            <a:avLst/>
          </a:prstGeom>
          <a:noFill/>
          <a:ln/>
        </p:spPr>
        <p:txBody>
          <a:bodyPr wrap="square" lIns="0" tIns="0" rIns="0" bIns="0" rtlCol="0" anchor="t"/>
          <a:lstStyle/>
          <a:p>
            <a:pPr>
              <a:spcAft>
                <a:spcPts val="75"/>
              </a:spcAft>
            </a:pPr>
            <a:r>
              <a:rPr lang="en-US" sz="675" i="1" dirty="0">
                <a:solidFill>
                  <a:srgbClr val="1A1F36"/>
                </a:solidFill>
                <a:latin typeface="Calibri"/>
              </a:rPr>
              <a:t>Devlin, Chang, Lee, Toutanova (2018/2019). BERT: Pre-training of Deep Bidirectional Transformers for Language Understanding. NAACL 2019. arXiv:1810.04805.</a:t>
            </a:r>
            <a:endParaRPr lang="en-US" sz="675" dirty="0"/>
          </a:p>
          <a:p>
            <a:pPr>
              <a:spcAft>
                <a:spcPts val="75"/>
              </a:spcAft>
            </a:pPr>
            <a:r>
              <a:rPr lang="en-US" sz="675" i="1" dirty="0">
                <a:solidFill>
                  <a:srgbClr val="1A1F36"/>
                </a:solidFill>
                <a:latin typeface="Calibri"/>
              </a:rPr>
              <a:t>Builds on: Vaswani et al. (2017). Attention Is All You Need. NeurIPS. arXiv:1706.03762.</a:t>
            </a:r>
            <a:endParaRPr lang="en-US" sz="675" dirty="0"/>
          </a:p>
        </p:txBody>
      </p:sp>
      <p:pic>
        <p:nvPicPr>
          <p:cNvPr id="48" name="Google Shape;109;p20">
            <a:extLst>
              <a:ext uri="{FF2B5EF4-FFF2-40B4-BE49-F238E27FC236}">
                <a16:creationId xmlns:a16="http://schemas.microsoft.com/office/drawing/2014/main" id="{7E089EAD-BE90-8182-6496-F0C440361366}"/>
              </a:ext>
            </a:extLst>
          </p:cNvPr>
          <p:cNvPicPr preferRelativeResize="0"/>
          <p:nvPr/>
        </p:nvPicPr>
        <p:blipFill>
          <a:blip r:embed="rId3">
            <a:alphaModFix/>
          </a:blip>
          <a:stretch>
            <a:fillRect/>
          </a:stretch>
        </p:blipFill>
        <p:spPr>
          <a:xfrm>
            <a:off x="8369125" y="0"/>
            <a:ext cx="774877" cy="867174"/>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320040" y="109728"/>
            <a:ext cx="7772400" cy="475488"/>
          </a:xfrm>
          <a:prstGeom prst="rect">
            <a:avLst/>
          </a:prstGeom>
          <a:noFill/>
          <a:ln/>
        </p:spPr>
        <p:txBody>
          <a:bodyPr wrap="square" lIns="0" tIns="0" rIns="0" bIns="0" rtlCol="0" anchor="ctr"/>
          <a:lstStyle/>
          <a:p>
            <a:pPr marL="0" indent="0">
              <a:buNone/>
            </a:pPr>
            <a:r>
              <a:rPr lang="en-US" sz="2800" b="1" dirty="0">
                <a:solidFill>
                  <a:srgbClr val="2C3E6B"/>
                </a:solidFill>
                <a:latin typeface="Calibri" pitchFamily="34" charset="0"/>
                <a:ea typeface="Calibri" pitchFamily="34" charset="-122"/>
                <a:cs typeface="Calibri" pitchFamily="34" charset="-120"/>
              </a:rPr>
              <a:t>BERT: Architecture &amp; Pre-training</a:t>
            </a:r>
            <a:endParaRPr lang="en-US" sz="2800" dirty="0"/>
          </a:p>
        </p:txBody>
      </p:sp>
      <p:sp>
        <p:nvSpPr>
          <p:cNvPr id="5" name="Shape 3"/>
          <p:cNvSpPr/>
          <p:nvPr/>
        </p:nvSpPr>
        <p:spPr>
          <a:xfrm>
            <a:off x="320040" y="658368"/>
            <a:ext cx="8732520" cy="0"/>
          </a:xfrm>
          <a:prstGeom prst="line">
            <a:avLst/>
          </a:prstGeom>
          <a:noFill/>
          <a:ln w="10160">
            <a:solidFill>
              <a:srgbClr val="CCCCCC"/>
            </a:solidFill>
            <a:prstDash val="solid"/>
          </a:ln>
        </p:spPr>
      </p:sp>
      <p:grpSp>
        <p:nvGrpSpPr>
          <p:cNvPr id="4" name="Group 3">
            <a:extLst>
              <a:ext uri="{FF2B5EF4-FFF2-40B4-BE49-F238E27FC236}">
                <a16:creationId xmlns:a16="http://schemas.microsoft.com/office/drawing/2014/main" id="{F0ECEB7B-2042-4764-D18E-38135F4E97E0}"/>
              </a:ext>
            </a:extLst>
          </p:cNvPr>
          <p:cNvGrpSpPr/>
          <p:nvPr/>
        </p:nvGrpSpPr>
        <p:grpSpPr>
          <a:xfrm>
            <a:off x="238561" y="803763"/>
            <a:ext cx="3840480" cy="3346704"/>
            <a:chOff x="320040" y="713232"/>
            <a:chExt cx="3840480" cy="3346704"/>
          </a:xfrm>
        </p:grpSpPr>
        <p:sp>
          <p:nvSpPr>
            <p:cNvPr id="6" name="Text 4"/>
            <p:cNvSpPr/>
            <p:nvPr/>
          </p:nvSpPr>
          <p:spPr>
            <a:xfrm>
              <a:off x="320040" y="713232"/>
              <a:ext cx="3657600" cy="256032"/>
            </a:xfrm>
            <a:prstGeom prst="rect">
              <a:avLst/>
            </a:prstGeom>
            <a:noFill/>
            <a:ln/>
          </p:spPr>
          <p:txBody>
            <a:bodyPr wrap="square" lIns="0" tIns="0" rIns="0" bIns="0" rtlCol="0" anchor="ctr"/>
            <a:lstStyle/>
            <a:p>
              <a:pPr marL="0" indent="0">
                <a:buNone/>
              </a:pPr>
              <a:r>
                <a:rPr lang="en-US" sz="1200" b="1" dirty="0">
                  <a:solidFill>
                    <a:srgbClr val="2C3E6B"/>
                  </a:solidFill>
                  <a:latin typeface="Calibri" pitchFamily="34" charset="0"/>
                  <a:ea typeface="Calibri" pitchFamily="34" charset="-122"/>
                  <a:cs typeface="Calibri" pitchFamily="34" charset="-120"/>
                </a:rPr>
                <a:t>Architecture: Bidirectional Transformer Encoder</a:t>
              </a:r>
              <a:endParaRPr lang="en-US" sz="1200" dirty="0"/>
            </a:p>
          </p:txBody>
        </p:sp>
        <p:sp>
          <p:nvSpPr>
            <p:cNvPr id="7" name="Shape 5"/>
            <p:cNvSpPr/>
            <p:nvPr/>
          </p:nvSpPr>
          <p:spPr>
            <a:xfrm>
              <a:off x="347472" y="1005840"/>
              <a:ext cx="512064" cy="274320"/>
            </a:xfrm>
            <a:prstGeom prst="roundRect">
              <a:avLst>
                <a:gd name="adj" fmla="val 13333"/>
              </a:avLst>
            </a:prstGeom>
            <a:solidFill>
              <a:srgbClr val="1B6B73"/>
            </a:solidFill>
            <a:ln w="12700">
              <a:solidFill>
                <a:srgbClr val="1B6B73"/>
              </a:solidFill>
              <a:prstDash val="solid"/>
            </a:ln>
          </p:spPr>
        </p:sp>
        <p:sp>
          <p:nvSpPr>
            <p:cNvPr id="8" name="Text 6"/>
            <p:cNvSpPr/>
            <p:nvPr/>
          </p:nvSpPr>
          <p:spPr>
            <a:xfrm>
              <a:off x="347472" y="1005840"/>
              <a:ext cx="512064" cy="27432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[CLS]</a:t>
              </a:r>
              <a:endParaRPr lang="en-US" sz="1000" dirty="0"/>
            </a:p>
          </p:txBody>
        </p:sp>
        <p:sp>
          <p:nvSpPr>
            <p:cNvPr id="9" name="Shape 7"/>
            <p:cNvSpPr/>
            <p:nvPr/>
          </p:nvSpPr>
          <p:spPr>
            <a:xfrm>
              <a:off x="896112" y="1005840"/>
              <a:ext cx="512064" cy="274320"/>
            </a:xfrm>
            <a:prstGeom prst="roundRect">
              <a:avLst>
                <a:gd name="adj" fmla="val 13333"/>
              </a:avLst>
            </a:prstGeom>
            <a:solidFill>
              <a:srgbClr val="455A75"/>
            </a:solidFill>
            <a:ln w="12700">
              <a:solidFill>
                <a:srgbClr val="455A75"/>
              </a:solidFill>
              <a:prstDash val="solid"/>
            </a:ln>
          </p:spPr>
        </p:sp>
        <p:sp>
          <p:nvSpPr>
            <p:cNvPr id="10" name="Text 8"/>
            <p:cNvSpPr/>
            <p:nvPr/>
          </p:nvSpPr>
          <p:spPr>
            <a:xfrm>
              <a:off x="896112" y="1005840"/>
              <a:ext cx="512064" cy="27432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The</a:t>
              </a:r>
              <a:endParaRPr lang="en-US" sz="1000" dirty="0"/>
            </a:p>
          </p:txBody>
        </p:sp>
        <p:sp>
          <p:nvSpPr>
            <p:cNvPr id="11" name="Shape 9"/>
            <p:cNvSpPr/>
            <p:nvPr/>
          </p:nvSpPr>
          <p:spPr>
            <a:xfrm>
              <a:off x="1444752" y="1005840"/>
              <a:ext cx="512064" cy="274320"/>
            </a:xfrm>
            <a:prstGeom prst="roundRect">
              <a:avLst>
                <a:gd name="adj" fmla="val 13333"/>
              </a:avLst>
            </a:prstGeom>
            <a:solidFill>
              <a:srgbClr val="455A75"/>
            </a:solidFill>
            <a:ln w="12700">
              <a:solidFill>
                <a:srgbClr val="455A75"/>
              </a:solidFill>
              <a:prstDash val="solid"/>
            </a:ln>
          </p:spPr>
        </p:sp>
        <p:sp>
          <p:nvSpPr>
            <p:cNvPr id="12" name="Text 10"/>
            <p:cNvSpPr/>
            <p:nvPr/>
          </p:nvSpPr>
          <p:spPr>
            <a:xfrm>
              <a:off x="1444752" y="1005840"/>
              <a:ext cx="512064" cy="27432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cat</a:t>
              </a:r>
              <a:endParaRPr lang="en-US" sz="1000" dirty="0"/>
            </a:p>
          </p:txBody>
        </p:sp>
        <p:sp>
          <p:nvSpPr>
            <p:cNvPr id="13" name="Shape 11"/>
            <p:cNvSpPr/>
            <p:nvPr/>
          </p:nvSpPr>
          <p:spPr>
            <a:xfrm>
              <a:off x="1993392" y="1005840"/>
              <a:ext cx="512064" cy="274320"/>
            </a:xfrm>
            <a:prstGeom prst="roundRect">
              <a:avLst>
                <a:gd name="adj" fmla="val 13333"/>
              </a:avLst>
            </a:prstGeom>
            <a:solidFill>
              <a:srgbClr val="455A75"/>
            </a:solidFill>
            <a:ln w="12700">
              <a:solidFill>
                <a:srgbClr val="455A75"/>
              </a:solidFill>
              <a:prstDash val="solid"/>
            </a:ln>
          </p:spPr>
        </p:sp>
        <p:sp>
          <p:nvSpPr>
            <p:cNvPr id="14" name="Text 12"/>
            <p:cNvSpPr/>
            <p:nvPr/>
          </p:nvSpPr>
          <p:spPr>
            <a:xfrm>
              <a:off x="1993392" y="1005840"/>
              <a:ext cx="512064" cy="27432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sat</a:t>
              </a:r>
              <a:endParaRPr lang="en-US" sz="1000" dirty="0"/>
            </a:p>
          </p:txBody>
        </p:sp>
        <p:sp>
          <p:nvSpPr>
            <p:cNvPr id="15" name="Shape 13"/>
            <p:cNvSpPr/>
            <p:nvPr/>
          </p:nvSpPr>
          <p:spPr>
            <a:xfrm>
              <a:off x="2542032" y="1005840"/>
              <a:ext cx="512064" cy="274320"/>
            </a:xfrm>
            <a:prstGeom prst="roundRect">
              <a:avLst>
                <a:gd name="adj" fmla="val 13333"/>
              </a:avLst>
            </a:prstGeom>
            <a:solidFill>
              <a:srgbClr val="1B6B73"/>
            </a:solidFill>
            <a:ln w="12700">
              <a:solidFill>
                <a:srgbClr val="1B6B73"/>
              </a:solidFill>
              <a:prstDash val="solid"/>
            </a:ln>
          </p:spPr>
        </p:sp>
        <p:sp>
          <p:nvSpPr>
            <p:cNvPr id="16" name="Text 14"/>
            <p:cNvSpPr/>
            <p:nvPr/>
          </p:nvSpPr>
          <p:spPr>
            <a:xfrm>
              <a:off x="2542032" y="1005840"/>
              <a:ext cx="512064" cy="27432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[SEP]</a:t>
              </a:r>
              <a:endParaRPr lang="en-US" sz="1000" dirty="0"/>
            </a:p>
          </p:txBody>
        </p:sp>
        <p:sp>
          <p:nvSpPr>
            <p:cNvPr id="17" name="Shape 15"/>
            <p:cNvSpPr/>
            <p:nvPr/>
          </p:nvSpPr>
          <p:spPr>
            <a:xfrm>
              <a:off x="3090672" y="1005840"/>
              <a:ext cx="512064" cy="274320"/>
            </a:xfrm>
            <a:prstGeom prst="roundRect">
              <a:avLst>
                <a:gd name="adj" fmla="val 13333"/>
              </a:avLst>
            </a:prstGeom>
            <a:solidFill>
              <a:srgbClr val="888888"/>
            </a:solidFill>
            <a:ln w="12700">
              <a:solidFill>
                <a:srgbClr val="888888"/>
              </a:solidFill>
              <a:prstDash val="solid"/>
            </a:ln>
          </p:spPr>
        </p:sp>
        <p:sp>
          <p:nvSpPr>
            <p:cNvPr id="18" name="Text 16"/>
            <p:cNvSpPr/>
            <p:nvPr/>
          </p:nvSpPr>
          <p:spPr>
            <a:xfrm>
              <a:off x="3090672" y="1005840"/>
              <a:ext cx="512064" cy="27432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a:t>
              </a:r>
              <a:endParaRPr lang="en-US" sz="1000" dirty="0"/>
            </a:p>
          </p:txBody>
        </p:sp>
        <p:sp>
          <p:nvSpPr>
            <p:cNvPr id="19" name="Shape 17"/>
            <p:cNvSpPr/>
            <p:nvPr/>
          </p:nvSpPr>
          <p:spPr>
            <a:xfrm>
              <a:off x="3639312" y="1005840"/>
              <a:ext cx="512064" cy="274320"/>
            </a:xfrm>
            <a:prstGeom prst="roundRect">
              <a:avLst>
                <a:gd name="adj" fmla="val 13333"/>
              </a:avLst>
            </a:prstGeom>
            <a:solidFill>
              <a:srgbClr val="C62828"/>
            </a:solidFill>
            <a:ln w="12700">
              <a:solidFill>
                <a:srgbClr val="C62828"/>
              </a:solidFill>
              <a:prstDash val="solid"/>
            </a:ln>
          </p:spPr>
        </p:sp>
        <p:sp>
          <p:nvSpPr>
            <p:cNvPr id="20" name="Text 18"/>
            <p:cNvSpPr/>
            <p:nvPr/>
          </p:nvSpPr>
          <p:spPr>
            <a:xfrm>
              <a:off x="3639312" y="1005840"/>
              <a:ext cx="512064" cy="27432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[MASK]</a:t>
              </a:r>
              <a:endParaRPr lang="en-US" sz="1000" dirty="0"/>
            </a:p>
          </p:txBody>
        </p:sp>
        <p:sp>
          <p:nvSpPr>
            <p:cNvPr id="21" name="Text 19"/>
            <p:cNvSpPr/>
            <p:nvPr/>
          </p:nvSpPr>
          <p:spPr>
            <a:xfrm>
              <a:off x="320040" y="1307592"/>
              <a:ext cx="3840480" cy="164592"/>
            </a:xfrm>
            <a:prstGeom prst="rect">
              <a:avLst/>
            </a:prstGeom>
            <a:noFill/>
            <a:ln/>
          </p:spPr>
          <p:txBody>
            <a:bodyPr wrap="square" lIns="0" tIns="0" rIns="0" bIns="0" rtlCol="0" anchor="ctr"/>
            <a:lstStyle/>
            <a:p>
              <a:pPr marL="0" indent="0">
                <a:buNone/>
              </a:pPr>
              <a:r>
                <a:rPr lang="en-US" sz="1000" i="1" dirty="0">
                  <a:solidFill>
                    <a:srgbClr val="666666"/>
                  </a:solidFill>
                  <a:latin typeface="Calibri" pitchFamily="34" charset="0"/>
                  <a:ea typeface="Calibri" pitchFamily="34" charset="-122"/>
                  <a:cs typeface="Calibri" pitchFamily="34" charset="-120"/>
                </a:rPr>
                <a:t>Input Tokens (+ Positional &amp; Segment Embeddings)</a:t>
              </a:r>
              <a:endParaRPr lang="en-US" sz="1000" dirty="0"/>
            </a:p>
          </p:txBody>
        </p:sp>
        <p:sp>
          <p:nvSpPr>
            <p:cNvPr id="22" name="Shape 20"/>
            <p:cNvSpPr/>
            <p:nvPr/>
          </p:nvSpPr>
          <p:spPr>
            <a:xfrm>
              <a:off x="603504" y="1280160"/>
              <a:ext cx="0" cy="201168"/>
            </a:xfrm>
            <a:prstGeom prst="line">
              <a:avLst/>
            </a:prstGeom>
            <a:noFill/>
            <a:ln w="8890">
              <a:solidFill>
                <a:srgbClr val="AAAAAA"/>
              </a:solidFill>
              <a:prstDash val="solid"/>
            </a:ln>
          </p:spPr>
        </p:sp>
        <p:sp>
          <p:nvSpPr>
            <p:cNvPr id="23" name="Shape 21"/>
            <p:cNvSpPr/>
            <p:nvPr/>
          </p:nvSpPr>
          <p:spPr>
            <a:xfrm>
              <a:off x="1152144" y="1280160"/>
              <a:ext cx="0" cy="201168"/>
            </a:xfrm>
            <a:prstGeom prst="line">
              <a:avLst/>
            </a:prstGeom>
            <a:noFill/>
            <a:ln w="8890">
              <a:solidFill>
                <a:srgbClr val="AAAAAA"/>
              </a:solidFill>
              <a:prstDash val="solid"/>
            </a:ln>
          </p:spPr>
        </p:sp>
        <p:sp>
          <p:nvSpPr>
            <p:cNvPr id="24" name="Shape 22"/>
            <p:cNvSpPr/>
            <p:nvPr/>
          </p:nvSpPr>
          <p:spPr>
            <a:xfrm>
              <a:off x="1700784" y="1280160"/>
              <a:ext cx="0" cy="201168"/>
            </a:xfrm>
            <a:prstGeom prst="line">
              <a:avLst/>
            </a:prstGeom>
            <a:noFill/>
            <a:ln w="8890">
              <a:solidFill>
                <a:srgbClr val="AAAAAA"/>
              </a:solidFill>
              <a:prstDash val="solid"/>
            </a:ln>
          </p:spPr>
        </p:sp>
        <p:sp>
          <p:nvSpPr>
            <p:cNvPr id="25" name="Shape 23"/>
            <p:cNvSpPr/>
            <p:nvPr/>
          </p:nvSpPr>
          <p:spPr>
            <a:xfrm>
              <a:off x="2249424" y="1280160"/>
              <a:ext cx="0" cy="201168"/>
            </a:xfrm>
            <a:prstGeom prst="line">
              <a:avLst/>
            </a:prstGeom>
            <a:noFill/>
            <a:ln w="8890">
              <a:solidFill>
                <a:srgbClr val="AAAAAA"/>
              </a:solidFill>
              <a:prstDash val="solid"/>
            </a:ln>
          </p:spPr>
        </p:sp>
        <p:sp>
          <p:nvSpPr>
            <p:cNvPr id="26" name="Shape 24"/>
            <p:cNvSpPr/>
            <p:nvPr/>
          </p:nvSpPr>
          <p:spPr>
            <a:xfrm>
              <a:off x="2798064" y="1280160"/>
              <a:ext cx="0" cy="201168"/>
            </a:xfrm>
            <a:prstGeom prst="line">
              <a:avLst/>
            </a:prstGeom>
            <a:noFill/>
            <a:ln w="8890">
              <a:solidFill>
                <a:srgbClr val="AAAAAA"/>
              </a:solidFill>
              <a:prstDash val="solid"/>
            </a:ln>
          </p:spPr>
        </p:sp>
        <p:sp>
          <p:nvSpPr>
            <p:cNvPr id="27" name="Shape 25"/>
            <p:cNvSpPr/>
            <p:nvPr/>
          </p:nvSpPr>
          <p:spPr>
            <a:xfrm>
              <a:off x="3346704" y="1280160"/>
              <a:ext cx="0" cy="201168"/>
            </a:xfrm>
            <a:prstGeom prst="line">
              <a:avLst/>
            </a:prstGeom>
            <a:noFill/>
            <a:ln w="8890">
              <a:solidFill>
                <a:srgbClr val="AAAAAA"/>
              </a:solidFill>
              <a:prstDash val="solid"/>
            </a:ln>
          </p:spPr>
        </p:sp>
        <p:sp>
          <p:nvSpPr>
            <p:cNvPr id="28" name="Shape 26"/>
            <p:cNvSpPr/>
            <p:nvPr/>
          </p:nvSpPr>
          <p:spPr>
            <a:xfrm>
              <a:off x="3895344" y="1280160"/>
              <a:ext cx="0" cy="201168"/>
            </a:xfrm>
            <a:prstGeom prst="line">
              <a:avLst/>
            </a:prstGeom>
            <a:noFill/>
            <a:ln w="8890">
              <a:solidFill>
                <a:srgbClr val="AAAAAA"/>
              </a:solidFill>
              <a:prstDash val="solid"/>
            </a:ln>
          </p:spPr>
        </p:sp>
        <p:sp>
          <p:nvSpPr>
            <p:cNvPr id="29" name="Shape 27"/>
            <p:cNvSpPr/>
            <p:nvPr/>
          </p:nvSpPr>
          <p:spPr>
            <a:xfrm>
              <a:off x="320040" y="1490381"/>
              <a:ext cx="3822192" cy="1481328"/>
            </a:xfrm>
            <a:prstGeom prst="roundRect">
              <a:avLst>
                <a:gd name="adj" fmla="val 4938"/>
              </a:avLst>
            </a:prstGeom>
            <a:solidFill>
              <a:srgbClr val="EEF2FF"/>
            </a:solidFill>
            <a:ln w="15240">
              <a:solidFill>
                <a:srgbClr val="3D5A99"/>
              </a:solidFill>
              <a:prstDash val="solid"/>
            </a:ln>
          </p:spPr>
        </p:sp>
        <p:sp>
          <p:nvSpPr>
            <p:cNvPr id="30" name="Text 28"/>
            <p:cNvSpPr/>
            <p:nvPr/>
          </p:nvSpPr>
          <p:spPr>
            <a:xfrm>
              <a:off x="365760" y="1508760"/>
              <a:ext cx="3730752" cy="201168"/>
            </a:xfrm>
            <a:prstGeom prst="rect">
              <a:avLst/>
            </a:prstGeom>
            <a:noFill/>
            <a:ln/>
          </p:spPr>
          <p:txBody>
            <a:bodyPr wrap="square" lIns="0" tIns="0" rIns="0" bIns="0" rtlCol="0" anchor="ctr"/>
            <a:lstStyle/>
            <a:p>
              <a:pPr marL="0" indent="0" algn="ctr">
                <a:buNone/>
              </a:pPr>
              <a:r>
                <a:rPr lang="en-US" sz="1050" b="1" dirty="0">
                  <a:solidFill>
                    <a:srgbClr val="1565C0"/>
                  </a:solidFill>
                  <a:latin typeface="Calibri" pitchFamily="34" charset="0"/>
                  <a:ea typeface="Calibri" pitchFamily="34" charset="-122"/>
                  <a:cs typeface="Calibri" pitchFamily="34" charset="-120"/>
                </a:rPr>
                <a:t>Transformer Encoder Block × 12 (Base) / 24 (Large)</a:t>
              </a:r>
              <a:endParaRPr lang="en-US" sz="1050" dirty="0"/>
            </a:p>
          </p:txBody>
        </p:sp>
        <p:sp>
          <p:nvSpPr>
            <p:cNvPr id="31" name="Shape 29"/>
            <p:cNvSpPr/>
            <p:nvPr/>
          </p:nvSpPr>
          <p:spPr>
            <a:xfrm>
              <a:off x="411480" y="1737360"/>
              <a:ext cx="3639312" cy="475488"/>
            </a:xfrm>
            <a:prstGeom prst="roundRect">
              <a:avLst>
                <a:gd name="adj" fmla="val 11538"/>
              </a:avLst>
            </a:prstGeom>
            <a:solidFill>
              <a:srgbClr val="DBEAFE"/>
            </a:solidFill>
            <a:ln w="12700">
              <a:solidFill>
                <a:srgbClr val="1565C0"/>
              </a:solidFill>
              <a:prstDash val="solid"/>
            </a:ln>
          </p:spPr>
        </p:sp>
        <p:sp>
          <p:nvSpPr>
            <p:cNvPr id="32" name="Text 30"/>
            <p:cNvSpPr/>
            <p:nvPr/>
          </p:nvSpPr>
          <p:spPr>
            <a:xfrm>
              <a:off x="411480" y="1737360"/>
              <a:ext cx="3639312" cy="237744"/>
            </a:xfrm>
            <a:prstGeom prst="rect">
              <a:avLst/>
            </a:prstGeom>
            <a:noFill/>
            <a:ln/>
          </p:spPr>
          <p:txBody>
            <a:bodyPr wrap="square" lIns="0" tIns="0" rIns="0" bIns="0" rtlCol="0" anchor="ctr"/>
            <a:lstStyle/>
            <a:p>
              <a:pPr marL="0" indent="0" algn="ctr">
                <a:buNone/>
              </a:pPr>
              <a:r>
                <a:rPr lang="en-US" sz="1100" b="1" dirty="0">
                  <a:solidFill>
                    <a:srgbClr val="1565C0"/>
                  </a:solidFill>
                  <a:latin typeface="Calibri" pitchFamily="34" charset="0"/>
                  <a:ea typeface="Calibri" pitchFamily="34" charset="-122"/>
                  <a:cs typeface="Calibri" pitchFamily="34" charset="-120"/>
                </a:rPr>
                <a:t>Multi-Head Self-Attention</a:t>
              </a:r>
              <a:endParaRPr lang="en-US" sz="1100" dirty="0"/>
            </a:p>
          </p:txBody>
        </p:sp>
        <p:sp>
          <p:nvSpPr>
            <p:cNvPr id="33" name="Text 31"/>
            <p:cNvSpPr/>
            <p:nvPr/>
          </p:nvSpPr>
          <p:spPr>
            <a:xfrm>
              <a:off x="411480" y="1975104"/>
              <a:ext cx="3639312" cy="219456"/>
            </a:xfrm>
            <a:prstGeom prst="rect">
              <a:avLst/>
            </a:prstGeom>
            <a:noFill/>
            <a:ln/>
          </p:spPr>
          <p:txBody>
            <a:bodyPr wrap="square" lIns="0" tIns="0" rIns="0" bIns="0" rtlCol="0" anchor="ctr"/>
            <a:lstStyle/>
            <a:p>
              <a:pPr marL="0" indent="0" algn="ctr">
                <a:buNone/>
              </a:pPr>
              <a:r>
                <a:rPr lang="en-US" sz="1000" i="1" dirty="0">
                  <a:solidFill>
                    <a:srgbClr val="334E8A"/>
                  </a:solidFill>
                  <a:latin typeface="Calibri" pitchFamily="34" charset="0"/>
                  <a:ea typeface="Calibri" pitchFamily="34" charset="-122"/>
                  <a:cs typeface="Calibri" pitchFamily="34" charset="-120"/>
                </a:rPr>
                <a:t>Every token attends to ALL tokens (bidirectional)</a:t>
              </a:r>
              <a:endParaRPr lang="en-US" sz="1000" dirty="0"/>
            </a:p>
          </p:txBody>
        </p:sp>
        <p:sp>
          <p:nvSpPr>
            <p:cNvPr id="34" name="Shape 32"/>
            <p:cNvSpPr/>
            <p:nvPr/>
          </p:nvSpPr>
          <p:spPr>
            <a:xfrm>
              <a:off x="411480" y="2286000"/>
              <a:ext cx="3639312" cy="329184"/>
            </a:xfrm>
            <a:prstGeom prst="roundRect">
              <a:avLst>
                <a:gd name="adj" fmla="val 16667"/>
              </a:avLst>
            </a:prstGeom>
            <a:solidFill>
              <a:srgbClr val="F3E8FF"/>
            </a:solidFill>
            <a:ln w="10160">
              <a:solidFill>
                <a:srgbClr val="7E22CE"/>
              </a:solidFill>
              <a:prstDash val="solid"/>
            </a:ln>
          </p:spPr>
        </p:sp>
        <p:sp>
          <p:nvSpPr>
            <p:cNvPr id="35" name="Text 33"/>
            <p:cNvSpPr/>
            <p:nvPr/>
          </p:nvSpPr>
          <p:spPr>
            <a:xfrm>
              <a:off x="411480" y="2286000"/>
              <a:ext cx="3639312" cy="329184"/>
            </a:xfrm>
            <a:prstGeom prst="rect">
              <a:avLst/>
            </a:prstGeom>
            <a:noFill/>
            <a:ln/>
          </p:spPr>
          <p:txBody>
            <a:bodyPr wrap="square" lIns="0" tIns="0" rIns="0" bIns="0" rtlCol="0" anchor="ctr"/>
            <a:lstStyle/>
            <a:p>
              <a:pPr marL="0" indent="0" algn="ctr">
                <a:buNone/>
              </a:pPr>
              <a:r>
                <a:rPr lang="en-US" sz="1050" dirty="0">
                  <a:solidFill>
                    <a:srgbClr val="5B21B6"/>
                  </a:solidFill>
                  <a:latin typeface="Calibri" pitchFamily="34" charset="0"/>
                  <a:ea typeface="Calibri" pitchFamily="34" charset="-122"/>
                  <a:cs typeface="Calibri" pitchFamily="34" charset="-120"/>
                </a:rPr>
                <a:t>Feed-Forward Network  +  Add &amp; Norm  (×2)</a:t>
              </a:r>
              <a:endParaRPr lang="en-US" sz="1050" dirty="0"/>
            </a:p>
          </p:txBody>
        </p:sp>
        <p:sp>
          <p:nvSpPr>
            <p:cNvPr id="36" name="Shape 34"/>
            <p:cNvSpPr/>
            <p:nvPr/>
          </p:nvSpPr>
          <p:spPr>
            <a:xfrm>
              <a:off x="603504" y="2962656"/>
              <a:ext cx="0" cy="164592"/>
            </a:xfrm>
            <a:prstGeom prst="line">
              <a:avLst/>
            </a:prstGeom>
            <a:noFill/>
            <a:ln w="8890">
              <a:solidFill>
                <a:srgbClr val="AAAAAA"/>
              </a:solidFill>
              <a:prstDash val="solid"/>
            </a:ln>
          </p:spPr>
        </p:sp>
        <p:sp>
          <p:nvSpPr>
            <p:cNvPr id="37" name="Shape 35"/>
            <p:cNvSpPr/>
            <p:nvPr/>
          </p:nvSpPr>
          <p:spPr>
            <a:xfrm>
              <a:off x="1152144" y="2962656"/>
              <a:ext cx="0" cy="164592"/>
            </a:xfrm>
            <a:prstGeom prst="line">
              <a:avLst/>
            </a:prstGeom>
            <a:noFill/>
            <a:ln w="8890">
              <a:solidFill>
                <a:srgbClr val="AAAAAA"/>
              </a:solidFill>
              <a:prstDash val="solid"/>
            </a:ln>
          </p:spPr>
        </p:sp>
        <p:sp>
          <p:nvSpPr>
            <p:cNvPr id="38" name="Shape 36"/>
            <p:cNvSpPr/>
            <p:nvPr/>
          </p:nvSpPr>
          <p:spPr>
            <a:xfrm>
              <a:off x="1700784" y="2962656"/>
              <a:ext cx="0" cy="164592"/>
            </a:xfrm>
            <a:prstGeom prst="line">
              <a:avLst/>
            </a:prstGeom>
            <a:noFill/>
            <a:ln w="8890">
              <a:solidFill>
                <a:srgbClr val="AAAAAA"/>
              </a:solidFill>
              <a:prstDash val="solid"/>
            </a:ln>
          </p:spPr>
        </p:sp>
        <p:sp>
          <p:nvSpPr>
            <p:cNvPr id="39" name="Shape 37"/>
            <p:cNvSpPr/>
            <p:nvPr/>
          </p:nvSpPr>
          <p:spPr>
            <a:xfrm>
              <a:off x="2249424" y="2962656"/>
              <a:ext cx="0" cy="164592"/>
            </a:xfrm>
            <a:prstGeom prst="line">
              <a:avLst/>
            </a:prstGeom>
            <a:noFill/>
            <a:ln w="8890">
              <a:solidFill>
                <a:srgbClr val="AAAAAA"/>
              </a:solidFill>
              <a:prstDash val="solid"/>
            </a:ln>
          </p:spPr>
        </p:sp>
        <p:sp>
          <p:nvSpPr>
            <p:cNvPr id="40" name="Shape 38"/>
            <p:cNvSpPr/>
            <p:nvPr/>
          </p:nvSpPr>
          <p:spPr>
            <a:xfrm>
              <a:off x="2798064" y="2962656"/>
              <a:ext cx="0" cy="164592"/>
            </a:xfrm>
            <a:prstGeom prst="line">
              <a:avLst/>
            </a:prstGeom>
            <a:noFill/>
            <a:ln w="8890">
              <a:solidFill>
                <a:srgbClr val="AAAAAA"/>
              </a:solidFill>
              <a:prstDash val="solid"/>
            </a:ln>
          </p:spPr>
        </p:sp>
        <p:sp>
          <p:nvSpPr>
            <p:cNvPr id="41" name="Shape 39"/>
            <p:cNvSpPr/>
            <p:nvPr/>
          </p:nvSpPr>
          <p:spPr>
            <a:xfrm>
              <a:off x="3346704" y="2962656"/>
              <a:ext cx="0" cy="164592"/>
            </a:xfrm>
            <a:prstGeom prst="line">
              <a:avLst/>
            </a:prstGeom>
            <a:noFill/>
            <a:ln w="8890">
              <a:solidFill>
                <a:srgbClr val="AAAAAA"/>
              </a:solidFill>
              <a:prstDash val="solid"/>
            </a:ln>
          </p:spPr>
        </p:sp>
        <p:sp>
          <p:nvSpPr>
            <p:cNvPr id="42" name="Shape 40"/>
            <p:cNvSpPr/>
            <p:nvPr/>
          </p:nvSpPr>
          <p:spPr>
            <a:xfrm>
              <a:off x="3895344" y="2962656"/>
              <a:ext cx="0" cy="164592"/>
            </a:xfrm>
            <a:prstGeom prst="line">
              <a:avLst/>
            </a:prstGeom>
            <a:noFill/>
            <a:ln w="8890">
              <a:solidFill>
                <a:srgbClr val="AAAAAA"/>
              </a:solidFill>
              <a:prstDash val="solid"/>
            </a:ln>
          </p:spPr>
        </p:sp>
        <p:sp>
          <p:nvSpPr>
            <p:cNvPr id="43" name="Shape 41"/>
            <p:cNvSpPr/>
            <p:nvPr/>
          </p:nvSpPr>
          <p:spPr>
            <a:xfrm>
              <a:off x="347472" y="3136392"/>
              <a:ext cx="512064" cy="274320"/>
            </a:xfrm>
            <a:prstGeom prst="roundRect">
              <a:avLst>
                <a:gd name="adj" fmla="val 13333"/>
              </a:avLst>
            </a:prstGeom>
            <a:solidFill>
              <a:srgbClr val="E8F5E9"/>
            </a:solidFill>
            <a:ln w="12700">
              <a:solidFill>
                <a:srgbClr val="2E7D32"/>
              </a:solidFill>
              <a:prstDash val="solid"/>
            </a:ln>
          </p:spPr>
        </p:sp>
        <p:sp>
          <p:nvSpPr>
            <p:cNvPr id="44" name="Text 42"/>
            <p:cNvSpPr/>
            <p:nvPr/>
          </p:nvSpPr>
          <p:spPr>
            <a:xfrm>
              <a:off x="347472" y="3136392"/>
              <a:ext cx="512064" cy="274320"/>
            </a:xfrm>
            <a:prstGeom prst="rect">
              <a:avLst/>
            </a:prstGeom>
            <a:noFill/>
            <a:ln/>
          </p:spPr>
          <p:txBody>
            <a:bodyPr wrap="square" lIns="0" tIns="0" rIns="0" bIns="0" rtlCol="0" anchor="ctr"/>
            <a:lstStyle/>
            <a:p>
              <a:pPr marL="0" indent="0" algn="ctr">
                <a:buNone/>
              </a:pPr>
              <a:r>
                <a:rPr lang="en-US" sz="1000" dirty="0">
                  <a:solidFill>
                    <a:srgbClr val="1B5E20"/>
                  </a:solidFill>
                  <a:latin typeface="Calibri" pitchFamily="34" charset="0"/>
                  <a:ea typeface="Calibri" pitchFamily="34" charset="-122"/>
                  <a:cs typeface="Calibri" pitchFamily="34" charset="-120"/>
                </a:rPr>
                <a:t>[CLS]</a:t>
              </a:r>
              <a:endParaRPr lang="en-US" sz="1000" dirty="0"/>
            </a:p>
          </p:txBody>
        </p:sp>
        <p:sp>
          <p:nvSpPr>
            <p:cNvPr id="45" name="Shape 43"/>
            <p:cNvSpPr/>
            <p:nvPr/>
          </p:nvSpPr>
          <p:spPr>
            <a:xfrm>
              <a:off x="896112" y="3136392"/>
              <a:ext cx="512064" cy="274320"/>
            </a:xfrm>
            <a:prstGeom prst="roundRect">
              <a:avLst>
                <a:gd name="adj" fmla="val 13333"/>
              </a:avLst>
            </a:prstGeom>
            <a:solidFill>
              <a:srgbClr val="E8F5E9"/>
            </a:solidFill>
            <a:ln w="12700">
              <a:solidFill>
                <a:srgbClr val="2E7D32"/>
              </a:solidFill>
              <a:prstDash val="solid"/>
            </a:ln>
          </p:spPr>
        </p:sp>
        <p:sp>
          <p:nvSpPr>
            <p:cNvPr id="46" name="Text 44"/>
            <p:cNvSpPr/>
            <p:nvPr/>
          </p:nvSpPr>
          <p:spPr>
            <a:xfrm>
              <a:off x="896112" y="3136392"/>
              <a:ext cx="512064" cy="274320"/>
            </a:xfrm>
            <a:prstGeom prst="rect">
              <a:avLst/>
            </a:prstGeom>
            <a:noFill/>
            <a:ln/>
          </p:spPr>
          <p:txBody>
            <a:bodyPr wrap="square" lIns="0" tIns="0" rIns="0" bIns="0" rtlCol="0" anchor="ctr"/>
            <a:lstStyle/>
            <a:p>
              <a:pPr marL="0" indent="0" algn="ctr">
                <a:buNone/>
              </a:pPr>
              <a:r>
                <a:rPr lang="en-US" sz="1000" dirty="0">
                  <a:solidFill>
                    <a:srgbClr val="1B5E20"/>
                  </a:solidFill>
                  <a:latin typeface="Calibri" pitchFamily="34" charset="0"/>
                  <a:ea typeface="Calibri" pitchFamily="34" charset="-122"/>
                  <a:cs typeface="Calibri" pitchFamily="34" charset="-120"/>
                </a:rPr>
                <a:t>The</a:t>
              </a:r>
              <a:endParaRPr lang="en-US" sz="1000" dirty="0"/>
            </a:p>
          </p:txBody>
        </p:sp>
        <p:sp>
          <p:nvSpPr>
            <p:cNvPr id="47" name="Shape 45"/>
            <p:cNvSpPr/>
            <p:nvPr/>
          </p:nvSpPr>
          <p:spPr>
            <a:xfrm>
              <a:off x="1444752" y="3136392"/>
              <a:ext cx="512064" cy="274320"/>
            </a:xfrm>
            <a:prstGeom prst="roundRect">
              <a:avLst>
                <a:gd name="adj" fmla="val 13333"/>
              </a:avLst>
            </a:prstGeom>
            <a:solidFill>
              <a:srgbClr val="E8F5E9"/>
            </a:solidFill>
            <a:ln w="12700">
              <a:solidFill>
                <a:srgbClr val="2E7D32"/>
              </a:solidFill>
              <a:prstDash val="solid"/>
            </a:ln>
          </p:spPr>
        </p:sp>
        <p:sp>
          <p:nvSpPr>
            <p:cNvPr id="48" name="Text 46"/>
            <p:cNvSpPr/>
            <p:nvPr/>
          </p:nvSpPr>
          <p:spPr>
            <a:xfrm>
              <a:off x="1444752" y="3136392"/>
              <a:ext cx="512064" cy="274320"/>
            </a:xfrm>
            <a:prstGeom prst="rect">
              <a:avLst/>
            </a:prstGeom>
            <a:noFill/>
            <a:ln/>
          </p:spPr>
          <p:txBody>
            <a:bodyPr wrap="square" lIns="0" tIns="0" rIns="0" bIns="0" rtlCol="0" anchor="ctr"/>
            <a:lstStyle/>
            <a:p>
              <a:pPr marL="0" indent="0" algn="ctr">
                <a:buNone/>
              </a:pPr>
              <a:r>
                <a:rPr lang="en-US" sz="1000" dirty="0">
                  <a:solidFill>
                    <a:srgbClr val="1B5E20"/>
                  </a:solidFill>
                  <a:latin typeface="Calibri" pitchFamily="34" charset="0"/>
                  <a:ea typeface="Calibri" pitchFamily="34" charset="-122"/>
                  <a:cs typeface="Calibri" pitchFamily="34" charset="-120"/>
                </a:rPr>
                <a:t>cat</a:t>
              </a:r>
              <a:endParaRPr lang="en-US" sz="1000" dirty="0"/>
            </a:p>
          </p:txBody>
        </p:sp>
        <p:sp>
          <p:nvSpPr>
            <p:cNvPr id="49" name="Shape 47"/>
            <p:cNvSpPr/>
            <p:nvPr/>
          </p:nvSpPr>
          <p:spPr>
            <a:xfrm>
              <a:off x="1993392" y="3136392"/>
              <a:ext cx="512064" cy="274320"/>
            </a:xfrm>
            <a:prstGeom prst="roundRect">
              <a:avLst>
                <a:gd name="adj" fmla="val 13333"/>
              </a:avLst>
            </a:prstGeom>
            <a:solidFill>
              <a:srgbClr val="E8F5E9"/>
            </a:solidFill>
            <a:ln w="12700">
              <a:solidFill>
                <a:srgbClr val="2E7D32"/>
              </a:solidFill>
              <a:prstDash val="solid"/>
            </a:ln>
          </p:spPr>
        </p:sp>
        <p:sp>
          <p:nvSpPr>
            <p:cNvPr id="50" name="Text 48"/>
            <p:cNvSpPr/>
            <p:nvPr/>
          </p:nvSpPr>
          <p:spPr>
            <a:xfrm>
              <a:off x="1993392" y="3136392"/>
              <a:ext cx="512064" cy="274320"/>
            </a:xfrm>
            <a:prstGeom prst="rect">
              <a:avLst/>
            </a:prstGeom>
            <a:noFill/>
            <a:ln/>
          </p:spPr>
          <p:txBody>
            <a:bodyPr wrap="square" lIns="0" tIns="0" rIns="0" bIns="0" rtlCol="0" anchor="ctr"/>
            <a:lstStyle/>
            <a:p>
              <a:pPr marL="0" indent="0" algn="ctr">
                <a:buNone/>
              </a:pPr>
              <a:r>
                <a:rPr lang="en-US" sz="1000" dirty="0">
                  <a:solidFill>
                    <a:srgbClr val="1B5E20"/>
                  </a:solidFill>
                  <a:latin typeface="Calibri" pitchFamily="34" charset="0"/>
                  <a:ea typeface="Calibri" pitchFamily="34" charset="-122"/>
                  <a:cs typeface="Calibri" pitchFamily="34" charset="-120"/>
                </a:rPr>
                <a:t>sat</a:t>
              </a:r>
              <a:endParaRPr lang="en-US" sz="1000" dirty="0"/>
            </a:p>
          </p:txBody>
        </p:sp>
        <p:sp>
          <p:nvSpPr>
            <p:cNvPr id="51" name="Shape 49"/>
            <p:cNvSpPr/>
            <p:nvPr/>
          </p:nvSpPr>
          <p:spPr>
            <a:xfrm>
              <a:off x="2542032" y="3136392"/>
              <a:ext cx="512064" cy="274320"/>
            </a:xfrm>
            <a:prstGeom prst="roundRect">
              <a:avLst>
                <a:gd name="adj" fmla="val 13333"/>
              </a:avLst>
            </a:prstGeom>
            <a:solidFill>
              <a:srgbClr val="E8F5E9"/>
            </a:solidFill>
            <a:ln w="12700">
              <a:solidFill>
                <a:srgbClr val="2E7D32"/>
              </a:solidFill>
              <a:prstDash val="solid"/>
            </a:ln>
          </p:spPr>
        </p:sp>
        <p:sp>
          <p:nvSpPr>
            <p:cNvPr id="52" name="Text 50"/>
            <p:cNvSpPr/>
            <p:nvPr/>
          </p:nvSpPr>
          <p:spPr>
            <a:xfrm>
              <a:off x="2542032" y="3136392"/>
              <a:ext cx="512064" cy="274320"/>
            </a:xfrm>
            <a:prstGeom prst="rect">
              <a:avLst/>
            </a:prstGeom>
            <a:noFill/>
            <a:ln/>
          </p:spPr>
          <p:txBody>
            <a:bodyPr wrap="square" lIns="0" tIns="0" rIns="0" bIns="0" rtlCol="0" anchor="ctr"/>
            <a:lstStyle/>
            <a:p>
              <a:pPr marL="0" indent="0" algn="ctr">
                <a:buNone/>
              </a:pPr>
              <a:r>
                <a:rPr lang="en-US" sz="1000" dirty="0">
                  <a:solidFill>
                    <a:srgbClr val="1B5E20"/>
                  </a:solidFill>
                  <a:latin typeface="Calibri" pitchFamily="34" charset="0"/>
                  <a:ea typeface="Calibri" pitchFamily="34" charset="-122"/>
                  <a:cs typeface="Calibri" pitchFamily="34" charset="-120"/>
                </a:rPr>
                <a:t>[SEP]</a:t>
              </a:r>
              <a:endParaRPr lang="en-US" sz="1000" dirty="0"/>
            </a:p>
          </p:txBody>
        </p:sp>
        <p:sp>
          <p:nvSpPr>
            <p:cNvPr id="53" name="Shape 51"/>
            <p:cNvSpPr/>
            <p:nvPr/>
          </p:nvSpPr>
          <p:spPr>
            <a:xfrm>
              <a:off x="3090672" y="3136392"/>
              <a:ext cx="512064" cy="274320"/>
            </a:xfrm>
            <a:prstGeom prst="roundRect">
              <a:avLst>
                <a:gd name="adj" fmla="val 13333"/>
              </a:avLst>
            </a:prstGeom>
            <a:solidFill>
              <a:srgbClr val="E8F5E9"/>
            </a:solidFill>
            <a:ln w="12700">
              <a:solidFill>
                <a:srgbClr val="2E7D32"/>
              </a:solidFill>
              <a:prstDash val="solid"/>
            </a:ln>
          </p:spPr>
        </p:sp>
        <p:sp>
          <p:nvSpPr>
            <p:cNvPr id="54" name="Text 52"/>
            <p:cNvSpPr/>
            <p:nvPr/>
          </p:nvSpPr>
          <p:spPr>
            <a:xfrm>
              <a:off x="3090672" y="3136392"/>
              <a:ext cx="512064" cy="274320"/>
            </a:xfrm>
            <a:prstGeom prst="rect">
              <a:avLst/>
            </a:prstGeom>
            <a:noFill/>
            <a:ln/>
          </p:spPr>
          <p:txBody>
            <a:bodyPr wrap="square" lIns="0" tIns="0" rIns="0" bIns="0" rtlCol="0" anchor="ctr"/>
            <a:lstStyle/>
            <a:p>
              <a:pPr marL="0" indent="0" algn="ctr">
                <a:buNone/>
              </a:pPr>
              <a:r>
                <a:rPr lang="en-US" sz="1000" dirty="0">
                  <a:solidFill>
                    <a:srgbClr val="1B5E20"/>
                  </a:solidFill>
                  <a:latin typeface="Calibri" pitchFamily="34" charset="0"/>
                  <a:ea typeface="Calibri" pitchFamily="34" charset="-122"/>
                  <a:cs typeface="Calibri" pitchFamily="34" charset="-120"/>
                </a:rPr>
                <a:t>...</a:t>
              </a:r>
              <a:endParaRPr lang="en-US" sz="1000" dirty="0"/>
            </a:p>
          </p:txBody>
        </p:sp>
        <p:sp>
          <p:nvSpPr>
            <p:cNvPr id="55" name="Shape 53"/>
            <p:cNvSpPr/>
            <p:nvPr/>
          </p:nvSpPr>
          <p:spPr>
            <a:xfrm>
              <a:off x="3639312" y="3136392"/>
              <a:ext cx="512064" cy="274320"/>
            </a:xfrm>
            <a:prstGeom prst="roundRect">
              <a:avLst>
                <a:gd name="adj" fmla="val 13333"/>
              </a:avLst>
            </a:prstGeom>
            <a:solidFill>
              <a:srgbClr val="E8F5E9"/>
            </a:solidFill>
            <a:ln w="12700">
              <a:solidFill>
                <a:srgbClr val="2E7D32"/>
              </a:solidFill>
              <a:prstDash val="solid"/>
            </a:ln>
          </p:spPr>
        </p:sp>
        <p:sp>
          <p:nvSpPr>
            <p:cNvPr id="56" name="Text 54"/>
            <p:cNvSpPr/>
            <p:nvPr/>
          </p:nvSpPr>
          <p:spPr>
            <a:xfrm>
              <a:off x="3639312" y="3136392"/>
              <a:ext cx="512064" cy="274320"/>
            </a:xfrm>
            <a:prstGeom prst="rect">
              <a:avLst/>
            </a:prstGeom>
            <a:noFill/>
            <a:ln/>
          </p:spPr>
          <p:txBody>
            <a:bodyPr wrap="square" lIns="0" tIns="0" rIns="0" bIns="0" rtlCol="0" anchor="ctr"/>
            <a:lstStyle/>
            <a:p>
              <a:pPr marL="0" indent="0" algn="ctr">
                <a:buNone/>
              </a:pPr>
              <a:r>
                <a:rPr lang="en-US" sz="1000" dirty="0">
                  <a:solidFill>
                    <a:srgbClr val="1B5E20"/>
                  </a:solidFill>
                  <a:latin typeface="Calibri" pitchFamily="34" charset="0"/>
                  <a:ea typeface="Calibri" pitchFamily="34" charset="-122"/>
                  <a:cs typeface="Calibri" pitchFamily="34" charset="-120"/>
                </a:rPr>
                <a:t>[MASK]</a:t>
              </a:r>
              <a:endParaRPr lang="en-US" sz="1000" dirty="0"/>
            </a:p>
          </p:txBody>
        </p:sp>
        <p:sp>
          <p:nvSpPr>
            <p:cNvPr id="57" name="Text 55"/>
            <p:cNvSpPr/>
            <p:nvPr/>
          </p:nvSpPr>
          <p:spPr>
            <a:xfrm>
              <a:off x="320040" y="3438144"/>
              <a:ext cx="3840480" cy="164592"/>
            </a:xfrm>
            <a:prstGeom prst="rect">
              <a:avLst/>
            </a:prstGeom>
            <a:noFill/>
            <a:ln/>
          </p:spPr>
          <p:txBody>
            <a:bodyPr wrap="square" lIns="0" tIns="0" rIns="0" bIns="0" rtlCol="0" anchor="ctr"/>
            <a:lstStyle/>
            <a:p>
              <a:pPr marL="0" indent="0">
                <a:buNone/>
              </a:pPr>
              <a:r>
                <a:rPr lang="en-US" sz="1000" i="1" dirty="0">
                  <a:solidFill>
                    <a:srgbClr val="666666"/>
                  </a:solidFill>
                  <a:latin typeface="Calibri" pitchFamily="34" charset="0"/>
                  <a:ea typeface="Calibri" pitchFamily="34" charset="-122"/>
                  <a:cs typeface="Calibri" pitchFamily="34" charset="-120"/>
                </a:rPr>
                <a:t>Contextual Output Embeddings  →  used for downstream tasks</a:t>
              </a:r>
              <a:endParaRPr lang="en-US" sz="1000" dirty="0"/>
            </a:p>
          </p:txBody>
        </p:sp>
        <p:sp>
          <p:nvSpPr>
            <p:cNvPr id="58" name="Shape 56"/>
            <p:cNvSpPr/>
            <p:nvPr/>
          </p:nvSpPr>
          <p:spPr>
            <a:xfrm>
              <a:off x="320040" y="3657600"/>
              <a:ext cx="3822192" cy="402336"/>
            </a:xfrm>
            <a:prstGeom prst="roundRect">
              <a:avLst>
                <a:gd name="adj" fmla="val 15909"/>
              </a:avLst>
            </a:prstGeom>
            <a:solidFill>
              <a:srgbClr val="FFF8E1"/>
            </a:solidFill>
            <a:ln w="15240">
              <a:solidFill>
                <a:srgbClr val="B8860B"/>
              </a:solidFill>
              <a:prstDash val="solid"/>
            </a:ln>
          </p:spPr>
        </p:sp>
        <p:sp>
          <p:nvSpPr>
            <p:cNvPr id="59" name="Text 57"/>
            <p:cNvSpPr/>
            <p:nvPr/>
          </p:nvSpPr>
          <p:spPr>
            <a:xfrm>
              <a:off x="365760" y="3657600"/>
              <a:ext cx="3730752" cy="402336"/>
            </a:xfrm>
            <a:prstGeom prst="rect">
              <a:avLst/>
            </a:prstGeom>
            <a:noFill/>
            <a:ln/>
          </p:spPr>
          <p:txBody>
            <a:bodyPr wrap="square" lIns="50800" tIns="50800" rIns="50800" bIns="50800" rtlCol="0" anchor="ctr"/>
            <a:lstStyle/>
            <a:p>
              <a:pPr marL="0" indent="0">
                <a:buNone/>
              </a:pPr>
              <a:r>
                <a:rPr lang="en-US" sz="1000" b="1" dirty="0">
                  <a:solidFill>
                    <a:srgbClr val="8B6914"/>
                  </a:solidFill>
                  <a:latin typeface="Calibri" pitchFamily="34" charset="0"/>
                  <a:ea typeface="Calibri" pitchFamily="34" charset="-122"/>
                  <a:cs typeface="Calibri" pitchFamily="34" charset="-120"/>
                </a:rPr>
                <a:t>Key insight: </a:t>
              </a:r>
              <a:r>
                <a:rPr lang="en-US" sz="1000" dirty="0">
                  <a:solidFill>
                    <a:srgbClr val="5D4037"/>
                  </a:solidFill>
                  <a:latin typeface="Calibri" pitchFamily="34" charset="0"/>
                  <a:ea typeface="Calibri" pitchFamily="34" charset="-122"/>
                  <a:cs typeface="Calibri" pitchFamily="34" charset="-120"/>
                </a:rPr>
                <a:t>Unlike GPT (left→right), BERT sees full context from BOTH directions simultaneously.</a:t>
              </a:r>
              <a:endParaRPr lang="en-US" sz="1000" dirty="0"/>
            </a:p>
          </p:txBody>
        </p:sp>
      </p:grpSp>
      <p:grpSp>
        <p:nvGrpSpPr>
          <p:cNvPr id="102" name="Group 101">
            <a:extLst>
              <a:ext uri="{FF2B5EF4-FFF2-40B4-BE49-F238E27FC236}">
                <a16:creationId xmlns:a16="http://schemas.microsoft.com/office/drawing/2014/main" id="{EE274124-001A-6EAC-6842-425A07C6F84A}"/>
              </a:ext>
            </a:extLst>
          </p:cNvPr>
          <p:cNvGrpSpPr/>
          <p:nvPr/>
        </p:nvGrpSpPr>
        <p:grpSpPr>
          <a:xfrm>
            <a:off x="4315968" y="713232"/>
            <a:ext cx="4663440" cy="1828798"/>
            <a:chOff x="4315968" y="713232"/>
            <a:chExt cx="4663440" cy="2194560"/>
          </a:xfrm>
        </p:grpSpPr>
        <p:sp>
          <p:nvSpPr>
            <p:cNvPr id="60" name="Text 58"/>
            <p:cNvSpPr/>
            <p:nvPr/>
          </p:nvSpPr>
          <p:spPr>
            <a:xfrm>
              <a:off x="4315968" y="713232"/>
              <a:ext cx="4663440" cy="256032"/>
            </a:xfrm>
            <a:prstGeom prst="rect">
              <a:avLst/>
            </a:prstGeom>
            <a:noFill/>
            <a:ln/>
          </p:spPr>
          <p:txBody>
            <a:bodyPr wrap="square" lIns="0" tIns="0" rIns="0" bIns="0" rtlCol="0" anchor="ctr"/>
            <a:lstStyle/>
            <a:p>
              <a:pPr marL="0" indent="0">
                <a:buNone/>
              </a:pPr>
              <a:r>
                <a:rPr lang="en-US" sz="1200" b="1" dirty="0">
                  <a:solidFill>
                    <a:srgbClr val="2C3E6B"/>
                  </a:solidFill>
                  <a:latin typeface="Calibri" pitchFamily="34" charset="0"/>
                  <a:ea typeface="Calibri" pitchFamily="34" charset="-122"/>
                  <a:cs typeface="Calibri" pitchFamily="34" charset="-120"/>
                </a:rPr>
                <a:t>Pre-training Objectives</a:t>
              </a:r>
              <a:endParaRPr lang="en-US" sz="1200" dirty="0"/>
            </a:p>
          </p:txBody>
        </p:sp>
        <p:sp>
          <p:nvSpPr>
            <p:cNvPr id="61" name="Shape 59"/>
            <p:cNvSpPr/>
            <p:nvPr/>
          </p:nvSpPr>
          <p:spPr>
            <a:xfrm>
              <a:off x="4315968" y="987552"/>
              <a:ext cx="4663440" cy="1920240"/>
            </a:xfrm>
            <a:prstGeom prst="roundRect">
              <a:avLst>
                <a:gd name="adj" fmla="val 4762"/>
              </a:avLst>
            </a:prstGeom>
            <a:solidFill>
              <a:srgbClr val="F1F8E9"/>
            </a:solidFill>
            <a:ln w="15240">
              <a:solidFill>
                <a:srgbClr val="2E7D32"/>
              </a:solidFill>
              <a:prstDash val="solid"/>
            </a:ln>
          </p:spPr>
        </p:sp>
        <p:sp>
          <p:nvSpPr>
            <p:cNvPr id="62" name="Shape 60"/>
            <p:cNvSpPr/>
            <p:nvPr/>
          </p:nvSpPr>
          <p:spPr>
            <a:xfrm>
              <a:off x="4315968" y="987552"/>
              <a:ext cx="4663440" cy="329184"/>
            </a:xfrm>
            <a:prstGeom prst="roundRect">
              <a:avLst>
                <a:gd name="adj" fmla="val 27778"/>
              </a:avLst>
            </a:prstGeom>
            <a:solidFill>
              <a:srgbClr val="2E7D32"/>
            </a:solidFill>
            <a:ln w="12700">
              <a:solidFill>
                <a:srgbClr val="2E7D32"/>
              </a:solidFill>
              <a:prstDash val="solid"/>
            </a:ln>
          </p:spPr>
        </p:sp>
        <p:sp>
          <p:nvSpPr>
            <p:cNvPr id="63" name="Shape 61"/>
            <p:cNvSpPr/>
            <p:nvPr/>
          </p:nvSpPr>
          <p:spPr>
            <a:xfrm>
              <a:off x="4315968" y="1170432"/>
              <a:ext cx="4663440" cy="146304"/>
            </a:xfrm>
            <a:prstGeom prst="rect">
              <a:avLst/>
            </a:prstGeom>
            <a:solidFill>
              <a:srgbClr val="2E7D32"/>
            </a:solidFill>
            <a:ln w="12700">
              <a:solidFill>
                <a:srgbClr val="2E7D32"/>
              </a:solidFill>
              <a:prstDash val="solid"/>
            </a:ln>
          </p:spPr>
        </p:sp>
        <p:sp>
          <p:nvSpPr>
            <p:cNvPr id="64" name="Text 62"/>
            <p:cNvSpPr/>
            <p:nvPr/>
          </p:nvSpPr>
          <p:spPr>
            <a:xfrm>
              <a:off x="4343400" y="987552"/>
              <a:ext cx="4608576" cy="329184"/>
            </a:xfrm>
            <a:prstGeom prst="rect">
              <a:avLst/>
            </a:prstGeom>
            <a:noFill/>
            <a:ln/>
          </p:spPr>
          <p:txBody>
            <a:bodyPr wrap="square" lIns="50800" tIns="50800" rIns="50800" bIns="5080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① Masked Language Model (MLM)</a:t>
              </a:r>
              <a:endParaRPr lang="en-US" sz="1200" dirty="0"/>
            </a:p>
          </p:txBody>
        </p:sp>
        <p:sp>
          <p:nvSpPr>
            <p:cNvPr id="65" name="Text 63"/>
            <p:cNvSpPr/>
            <p:nvPr/>
          </p:nvSpPr>
          <p:spPr>
            <a:xfrm>
              <a:off x="4370832" y="1371600"/>
              <a:ext cx="4572000" cy="201168"/>
            </a:xfrm>
            <a:prstGeom prst="rect">
              <a:avLst/>
            </a:prstGeom>
            <a:noFill/>
            <a:ln/>
          </p:spPr>
          <p:txBody>
            <a:bodyPr wrap="square" lIns="0" tIns="0" rIns="0" bIns="0" rtlCol="0" anchor="ctr"/>
            <a:lstStyle/>
            <a:p>
              <a:pPr marL="0" indent="0">
                <a:buNone/>
              </a:pPr>
              <a:r>
                <a:rPr lang="en-US" sz="1050" dirty="0">
                  <a:solidFill>
                    <a:srgbClr val="4A4A4A"/>
                  </a:solidFill>
                  <a:latin typeface="Calibri" pitchFamily="34" charset="0"/>
                  <a:ea typeface="Calibri" pitchFamily="34" charset="-122"/>
                  <a:cs typeface="Calibri" pitchFamily="34" charset="-120"/>
                </a:rPr>
                <a:t>Randomly mask 15% of tokens → predict original word</a:t>
              </a:r>
              <a:endParaRPr lang="en-US" sz="1050" dirty="0"/>
            </a:p>
          </p:txBody>
        </p:sp>
        <p:sp>
          <p:nvSpPr>
            <p:cNvPr id="66" name="Shape 64"/>
            <p:cNvSpPr/>
            <p:nvPr/>
          </p:nvSpPr>
          <p:spPr>
            <a:xfrm>
              <a:off x="4343400" y="1609344"/>
              <a:ext cx="420624" cy="256032"/>
            </a:xfrm>
            <a:prstGeom prst="roundRect">
              <a:avLst>
                <a:gd name="adj" fmla="val 14286"/>
              </a:avLst>
            </a:prstGeom>
            <a:solidFill>
              <a:srgbClr val="455A75"/>
            </a:solidFill>
            <a:ln w="12700">
              <a:solidFill>
                <a:srgbClr val="455A75"/>
              </a:solidFill>
              <a:prstDash val="solid"/>
            </a:ln>
          </p:spPr>
        </p:sp>
        <p:sp>
          <p:nvSpPr>
            <p:cNvPr id="67" name="Text 65"/>
            <p:cNvSpPr/>
            <p:nvPr/>
          </p:nvSpPr>
          <p:spPr>
            <a:xfrm>
              <a:off x="4343400" y="1609344"/>
              <a:ext cx="420624" cy="256032"/>
            </a:xfrm>
            <a:prstGeom prst="rect">
              <a:avLst/>
            </a:prstGeom>
            <a:noFill/>
            <a:ln/>
          </p:spPr>
          <p:txBody>
            <a:bodyPr wrap="square" lIns="0" tIns="0" rIns="0" bIns="0" rtlCol="0" anchor="ctr"/>
            <a:lstStyle/>
            <a:p>
              <a:pPr marL="0" indent="0" algn="ctr">
                <a:buNone/>
              </a:pPr>
              <a:r>
                <a:rPr lang="en-US" sz="1050" dirty="0">
                  <a:solidFill>
                    <a:srgbClr val="FFFFFF"/>
                  </a:solidFill>
                  <a:latin typeface="Calibri" pitchFamily="34" charset="0"/>
                  <a:ea typeface="Calibri" pitchFamily="34" charset="-122"/>
                  <a:cs typeface="Calibri" pitchFamily="34" charset="-120"/>
                </a:rPr>
                <a:t>The</a:t>
              </a:r>
              <a:endParaRPr lang="en-US" sz="1050" dirty="0"/>
            </a:p>
          </p:txBody>
        </p:sp>
        <p:sp>
          <p:nvSpPr>
            <p:cNvPr id="68" name="Shape 66"/>
            <p:cNvSpPr/>
            <p:nvPr/>
          </p:nvSpPr>
          <p:spPr>
            <a:xfrm>
              <a:off x="4800600" y="1609344"/>
              <a:ext cx="457200" cy="256032"/>
            </a:xfrm>
            <a:prstGeom prst="roundRect">
              <a:avLst>
                <a:gd name="adj" fmla="val 14286"/>
              </a:avLst>
            </a:prstGeom>
            <a:solidFill>
              <a:srgbClr val="455A75"/>
            </a:solidFill>
            <a:ln w="12700">
              <a:solidFill>
                <a:srgbClr val="455A75"/>
              </a:solidFill>
              <a:prstDash val="solid"/>
            </a:ln>
          </p:spPr>
        </p:sp>
        <p:sp>
          <p:nvSpPr>
            <p:cNvPr id="69" name="Text 67"/>
            <p:cNvSpPr/>
            <p:nvPr/>
          </p:nvSpPr>
          <p:spPr>
            <a:xfrm>
              <a:off x="4800600" y="1609344"/>
              <a:ext cx="457200" cy="256032"/>
            </a:xfrm>
            <a:prstGeom prst="rect">
              <a:avLst/>
            </a:prstGeom>
            <a:noFill/>
            <a:ln/>
          </p:spPr>
          <p:txBody>
            <a:bodyPr wrap="square" lIns="0" tIns="0" rIns="0" bIns="0" rtlCol="0" anchor="ctr"/>
            <a:lstStyle/>
            <a:p>
              <a:pPr marL="0" indent="0" algn="ctr">
                <a:buNone/>
              </a:pPr>
              <a:r>
                <a:rPr lang="en-US" sz="1050" dirty="0">
                  <a:solidFill>
                    <a:srgbClr val="FFFFFF"/>
                  </a:solidFill>
                  <a:latin typeface="Calibri" pitchFamily="34" charset="0"/>
                  <a:ea typeface="Calibri" pitchFamily="34" charset="-122"/>
                  <a:cs typeface="Calibri" pitchFamily="34" charset="-120"/>
                </a:rPr>
                <a:t>quick</a:t>
              </a:r>
              <a:endParaRPr lang="en-US" sz="1050" dirty="0"/>
            </a:p>
          </p:txBody>
        </p:sp>
        <p:sp>
          <p:nvSpPr>
            <p:cNvPr id="70" name="Shape 68"/>
            <p:cNvSpPr/>
            <p:nvPr/>
          </p:nvSpPr>
          <p:spPr>
            <a:xfrm>
              <a:off x="5285232" y="1609344"/>
              <a:ext cx="548640" cy="256032"/>
            </a:xfrm>
            <a:prstGeom prst="roundRect">
              <a:avLst>
                <a:gd name="adj" fmla="val 14286"/>
              </a:avLst>
            </a:prstGeom>
            <a:solidFill>
              <a:srgbClr val="C62828"/>
            </a:solidFill>
            <a:ln w="12700">
              <a:solidFill>
                <a:srgbClr val="C62828"/>
              </a:solidFill>
              <a:prstDash val="solid"/>
            </a:ln>
          </p:spPr>
        </p:sp>
        <p:sp>
          <p:nvSpPr>
            <p:cNvPr id="71" name="Text 69"/>
            <p:cNvSpPr/>
            <p:nvPr/>
          </p:nvSpPr>
          <p:spPr>
            <a:xfrm>
              <a:off x="5285232" y="1609344"/>
              <a:ext cx="548640" cy="256032"/>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[MASK]</a:t>
              </a:r>
              <a:endParaRPr lang="en-US" sz="1050" dirty="0"/>
            </a:p>
          </p:txBody>
        </p:sp>
        <p:sp>
          <p:nvSpPr>
            <p:cNvPr id="72" name="Shape 70"/>
            <p:cNvSpPr/>
            <p:nvPr/>
          </p:nvSpPr>
          <p:spPr>
            <a:xfrm>
              <a:off x="5870448" y="1609344"/>
              <a:ext cx="466344" cy="256032"/>
            </a:xfrm>
            <a:prstGeom prst="roundRect">
              <a:avLst>
                <a:gd name="adj" fmla="val 14286"/>
              </a:avLst>
            </a:prstGeom>
            <a:solidFill>
              <a:srgbClr val="455A75"/>
            </a:solidFill>
            <a:ln w="12700">
              <a:solidFill>
                <a:srgbClr val="455A75"/>
              </a:solidFill>
              <a:prstDash val="solid"/>
            </a:ln>
          </p:spPr>
        </p:sp>
        <p:sp>
          <p:nvSpPr>
            <p:cNvPr id="73" name="Text 71"/>
            <p:cNvSpPr/>
            <p:nvPr/>
          </p:nvSpPr>
          <p:spPr>
            <a:xfrm>
              <a:off x="5870448" y="1609344"/>
              <a:ext cx="466344" cy="256032"/>
            </a:xfrm>
            <a:prstGeom prst="rect">
              <a:avLst/>
            </a:prstGeom>
            <a:noFill/>
            <a:ln/>
          </p:spPr>
          <p:txBody>
            <a:bodyPr wrap="square" lIns="0" tIns="0" rIns="0" bIns="0" rtlCol="0" anchor="ctr"/>
            <a:lstStyle/>
            <a:p>
              <a:pPr marL="0" indent="0" algn="ctr">
                <a:buNone/>
              </a:pPr>
              <a:r>
                <a:rPr lang="en-US" sz="1050" dirty="0">
                  <a:solidFill>
                    <a:srgbClr val="FFFFFF"/>
                  </a:solidFill>
                  <a:latin typeface="Calibri" pitchFamily="34" charset="0"/>
                  <a:ea typeface="Calibri" pitchFamily="34" charset="-122"/>
                  <a:cs typeface="Calibri" pitchFamily="34" charset="-120"/>
                </a:rPr>
                <a:t>jumps</a:t>
              </a:r>
              <a:endParaRPr lang="en-US" sz="1050" dirty="0"/>
            </a:p>
          </p:txBody>
        </p:sp>
        <p:sp>
          <p:nvSpPr>
            <p:cNvPr id="74" name="Shape 72"/>
            <p:cNvSpPr/>
            <p:nvPr/>
          </p:nvSpPr>
          <p:spPr>
            <a:xfrm>
              <a:off x="6373368" y="1609344"/>
              <a:ext cx="420624" cy="256032"/>
            </a:xfrm>
            <a:prstGeom prst="roundRect">
              <a:avLst>
                <a:gd name="adj" fmla="val 14286"/>
              </a:avLst>
            </a:prstGeom>
            <a:solidFill>
              <a:srgbClr val="455A75"/>
            </a:solidFill>
            <a:ln w="12700">
              <a:solidFill>
                <a:srgbClr val="455A75"/>
              </a:solidFill>
              <a:prstDash val="solid"/>
            </a:ln>
          </p:spPr>
        </p:sp>
        <p:sp>
          <p:nvSpPr>
            <p:cNvPr id="75" name="Text 73"/>
            <p:cNvSpPr/>
            <p:nvPr/>
          </p:nvSpPr>
          <p:spPr>
            <a:xfrm>
              <a:off x="6373368" y="1609344"/>
              <a:ext cx="420624" cy="256032"/>
            </a:xfrm>
            <a:prstGeom prst="rect">
              <a:avLst/>
            </a:prstGeom>
            <a:noFill/>
            <a:ln/>
          </p:spPr>
          <p:txBody>
            <a:bodyPr wrap="square" lIns="0" tIns="0" rIns="0" bIns="0" rtlCol="0" anchor="ctr"/>
            <a:lstStyle/>
            <a:p>
              <a:pPr marL="0" indent="0" algn="ctr">
                <a:buNone/>
              </a:pPr>
              <a:r>
                <a:rPr lang="en-US" sz="1050" dirty="0">
                  <a:solidFill>
                    <a:srgbClr val="FFFFFF"/>
                  </a:solidFill>
                  <a:latin typeface="Calibri" pitchFamily="34" charset="0"/>
                  <a:ea typeface="Calibri" pitchFamily="34" charset="-122"/>
                  <a:cs typeface="Calibri" pitchFamily="34" charset="-120"/>
                </a:rPr>
                <a:t>over</a:t>
              </a:r>
              <a:endParaRPr lang="en-US" sz="1050" dirty="0"/>
            </a:p>
          </p:txBody>
        </p:sp>
        <p:sp>
          <p:nvSpPr>
            <p:cNvPr id="76" name="Shape 74"/>
            <p:cNvSpPr/>
            <p:nvPr/>
          </p:nvSpPr>
          <p:spPr>
            <a:xfrm>
              <a:off x="6812280" y="1609344"/>
              <a:ext cx="420624" cy="256032"/>
            </a:xfrm>
            <a:prstGeom prst="roundRect">
              <a:avLst>
                <a:gd name="adj" fmla="val 14286"/>
              </a:avLst>
            </a:prstGeom>
            <a:solidFill>
              <a:srgbClr val="455A75"/>
            </a:solidFill>
            <a:ln w="12700">
              <a:solidFill>
                <a:srgbClr val="455A75"/>
              </a:solidFill>
              <a:prstDash val="solid"/>
            </a:ln>
          </p:spPr>
        </p:sp>
        <p:sp>
          <p:nvSpPr>
            <p:cNvPr id="77" name="Text 75"/>
            <p:cNvSpPr/>
            <p:nvPr/>
          </p:nvSpPr>
          <p:spPr>
            <a:xfrm>
              <a:off x="6812280" y="1609344"/>
              <a:ext cx="420624" cy="256032"/>
            </a:xfrm>
            <a:prstGeom prst="rect">
              <a:avLst/>
            </a:prstGeom>
            <a:noFill/>
            <a:ln/>
          </p:spPr>
          <p:txBody>
            <a:bodyPr wrap="square" lIns="0" tIns="0" rIns="0" bIns="0" rtlCol="0" anchor="ctr"/>
            <a:lstStyle/>
            <a:p>
              <a:pPr marL="0" indent="0" algn="ctr">
                <a:buNone/>
              </a:pPr>
              <a:r>
                <a:rPr lang="en-US" sz="1050" dirty="0">
                  <a:solidFill>
                    <a:srgbClr val="FFFFFF"/>
                  </a:solidFill>
                  <a:latin typeface="Calibri" pitchFamily="34" charset="0"/>
                  <a:ea typeface="Calibri" pitchFamily="34" charset="-122"/>
                  <a:cs typeface="Calibri" pitchFamily="34" charset="-120"/>
                </a:rPr>
                <a:t>the</a:t>
              </a:r>
              <a:endParaRPr lang="en-US" sz="1050" dirty="0"/>
            </a:p>
          </p:txBody>
        </p:sp>
        <p:sp>
          <p:nvSpPr>
            <p:cNvPr id="78" name="Shape 76"/>
            <p:cNvSpPr/>
            <p:nvPr/>
          </p:nvSpPr>
          <p:spPr>
            <a:xfrm>
              <a:off x="7223760" y="1609344"/>
              <a:ext cx="457200" cy="256032"/>
            </a:xfrm>
            <a:prstGeom prst="roundRect">
              <a:avLst>
                <a:gd name="adj" fmla="val 14286"/>
              </a:avLst>
            </a:prstGeom>
            <a:solidFill>
              <a:srgbClr val="455A75"/>
            </a:solidFill>
            <a:ln w="12700">
              <a:solidFill>
                <a:srgbClr val="455A75"/>
              </a:solidFill>
              <a:prstDash val="solid"/>
            </a:ln>
          </p:spPr>
        </p:sp>
        <p:sp>
          <p:nvSpPr>
            <p:cNvPr id="79" name="Text 77"/>
            <p:cNvSpPr/>
            <p:nvPr/>
          </p:nvSpPr>
          <p:spPr>
            <a:xfrm>
              <a:off x="7223760" y="1609344"/>
              <a:ext cx="457200" cy="256032"/>
            </a:xfrm>
            <a:prstGeom prst="rect">
              <a:avLst/>
            </a:prstGeom>
            <a:noFill/>
            <a:ln/>
          </p:spPr>
          <p:txBody>
            <a:bodyPr wrap="square" lIns="0" tIns="0" rIns="0" bIns="0" rtlCol="0" anchor="ctr"/>
            <a:lstStyle/>
            <a:p>
              <a:pPr marL="0" indent="0" algn="ctr">
                <a:buNone/>
              </a:pPr>
              <a:r>
                <a:rPr lang="en-US" sz="1050" dirty="0">
                  <a:solidFill>
                    <a:srgbClr val="FFFFFF"/>
                  </a:solidFill>
                  <a:latin typeface="Calibri" pitchFamily="34" charset="0"/>
                  <a:ea typeface="Calibri" pitchFamily="34" charset="-122"/>
                  <a:cs typeface="Calibri" pitchFamily="34" charset="-120"/>
                </a:rPr>
                <a:t>fence</a:t>
              </a:r>
              <a:endParaRPr lang="en-US" sz="1050" dirty="0"/>
            </a:p>
          </p:txBody>
        </p:sp>
        <p:sp>
          <p:nvSpPr>
            <p:cNvPr id="80" name="Shape 78"/>
            <p:cNvSpPr/>
            <p:nvPr/>
          </p:nvSpPr>
          <p:spPr>
            <a:xfrm>
              <a:off x="5559552" y="1883664"/>
              <a:ext cx="0" cy="128016"/>
            </a:xfrm>
            <a:prstGeom prst="line">
              <a:avLst/>
            </a:prstGeom>
            <a:noFill/>
            <a:ln w="15240">
              <a:solidFill>
                <a:srgbClr val="2E7D32"/>
              </a:solidFill>
              <a:prstDash val="solid"/>
            </a:ln>
          </p:spPr>
        </p:sp>
        <p:sp>
          <p:nvSpPr>
            <p:cNvPr id="81" name="Shape 79"/>
            <p:cNvSpPr/>
            <p:nvPr/>
          </p:nvSpPr>
          <p:spPr>
            <a:xfrm>
              <a:off x="5212080" y="2011680"/>
              <a:ext cx="694944" cy="228600"/>
            </a:xfrm>
            <a:prstGeom prst="roundRect">
              <a:avLst>
                <a:gd name="adj" fmla="val 16000"/>
              </a:avLst>
            </a:prstGeom>
            <a:solidFill>
              <a:srgbClr val="A5D6A7"/>
            </a:solidFill>
            <a:ln w="10160">
              <a:solidFill>
                <a:srgbClr val="2E7D32"/>
              </a:solidFill>
              <a:prstDash val="solid"/>
            </a:ln>
          </p:spPr>
        </p:sp>
        <p:sp>
          <p:nvSpPr>
            <p:cNvPr id="82" name="Text 80"/>
            <p:cNvSpPr/>
            <p:nvPr/>
          </p:nvSpPr>
          <p:spPr>
            <a:xfrm>
              <a:off x="5212080" y="2011680"/>
              <a:ext cx="694944" cy="228600"/>
            </a:xfrm>
            <a:prstGeom prst="rect">
              <a:avLst/>
            </a:prstGeom>
            <a:noFill/>
            <a:ln/>
          </p:spPr>
          <p:txBody>
            <a:bodyPr wrap="square" lIns="0" tIns="0" rIns="0" bIns="0" rtlCol="0" anchor="ctr"/>
            <a:lstStyle/>
            <a:p>
              <a:pPr marL="0" indent="0" algn="ctr">
                <a:buNone/>
              </a:pPr>
              <a:r>
                <a:rPr lang="en-US" sz="1050" b="1" dirty="0">
                  <a:solidFill>
                    <a:srgbClr val="1B5E20"/>
                  </a:solidFill>
                  <a:latin typeface="Calibri" pitchFamily="34" charset="0"/>
                  <a:ea typeface="Calibri" pitchFamily="34" charset="-122"/>
                  <a:cs typeface="Calibri" pitchFamily="34" charset="-120"/>
                </a:rPr>
                <a:t>"fox" ✓</a:t>
              </a:r>
              <a:endParaRPr lang="en-US" sz="1050" dirty="0"/>
            </a:p>
          </p:txBody>
        </p:sp>
        <p:sp>
          <p:nvSpPr>
            <p:cNvPr id="83" name="Text 81"/>
            <p:cNvSpPr/>
            <p:nvPr/>
          </p:nvSpPr>
          <p:spPr>
            <a:xfrm>
              <a:off x="4370832" y="2615184"/>
              <a:ext cx="4572000" cy="182880"/>
            </a:xfrm>
            <a:prstGeom prst="rect">
              <a:avLst/>
            </a:prstGeom>
            <a:noFill/>
            <a:ln/>
          </p:spPr>
          <p:txBody>
            <a:bodyPr wrap="square" lIns="0" tIns="0" rIns="0" bIns="0" rtlCol="0" anchor="ctr"/>
            <a:lstStyle/>
            <a:p>
              <a:pPr marL="0" indent="0">
                <a:buNone/>
              </a:pPr>
              <a:r>
                <a:rPr lang="en-US" sz="1000" i="1" dirty="0">
                  <a:solidFill>
                    <a:srgbClr val="558B2F"/>
                  </a:solidFill>
                  <a:latin typeface="Calibri" pitchFamily="34" charset="0"/>
                  <a:ea typeface="Calibri" pitchFamily="34" charset="-122"/>
                  <a:cs typeface="Calibri" pitchFamily="34" charset="-120"/>
                </a:rPr>
                <a:t>Loss = cross-entropy on masked tokens only</a:t>
              </a:r>
              <a:endParaRPr lang="en-US" sz="1000" dirty="0"/>
            </a:p>
          </p:txBody>
        </p:sp>
      </p:grpSp>
      <p:grpSp>
        <p:nvGrpSpPr>
          <p:cNvPr id="103" name="Group 102">
            <a:extLst>
              <a:ext uri="{FF2B5EF4-FFF2-40B4-BE49-F238E27FC236}">
                <a16:creationId xmlns:a16="http://schemas.microsoft.com/office/drawing/2014/main" id="{0B78B5CC-B31A-B928-EEFF-BF898BF7506E}"/>
              </a:ext>
            </a:extLst>
          </p:cNvPr>
          <p:cNvGrpSpPr/>
          <p:nvPr/>
        </p:nvGrpSpPr>
        <p:grpSpPr>
          <a:xfrm>
            <a:off x="4315968" y="2772355"/>
            <a:ext cx="4663440" cy="2046521"/>
            <a:chOff x="4315968" y="2944367"/>
            <a:chExt cx="4663440" cy="2046521"/>
          </a:xfrm>
        </p:grpSpPr>
        <p:sp>
          <p:nvSpPr>
            <p:cNvPr id="84" name="Shape 82"/>
            <p:cNvSpPr/>
            <p:nvPr/>
          </p:nvSpPr>
          <p:spPr>
            <a:xfrm>
              <a:off x="4315968" y="2944367"/>
              <a:ext cx="4663440" cy="2046521"/>
            </a:xfrm>
            <a:prstGeom prst="roundRect">
              <a:avLst>
                <a:gd name="adj" fmla="val 5000"/>
              </a:avLst>
            </a:prstGeom>
            <a:solidFill>
              <a:srgbClr val="F3E8FF"/>
            </a:solidFill>
            <a:ln w="15240">
              <a:solidFill>
                <a:srgbClr val="6A1B9A"/>
              </a:solidFill>
              <a:prstDash val="solid"/>
            </a:ln>
          </p:spPr>
        </p:sp>
        <p:sp>
          <p:nvSpPr>
            <p:cNvPr id="85" name="Shape 83"/>
            <p:cNvSpPr/>
            <p:nvPr/>
          </p:nvSpPr>
          <p:spPr>
            <a:xfrm>
              <a:off x="4315968" y="2944368"/>
              <a:ext cx="4663440" cy="329184"/>
            </a:xfrm>
            <a:prstGeom prst="roundRect">
              <a:avLst>
                <a:gd name="adj" fmla="val 27778"/>
              </a:avLst>
            </a:prstGeom>
            <a:solidFill>
              <a:srgbClr val="6A1B9A"/>
            </a:solidFill>
            <a:ln w="12700">
              <a:solidFill>
                <a:srgbClr val="6A1B9A"/>
              </a:solidFill>
              <a:prstDash val="solid"/>
            </a:ln>
          </p:spPr>
        </p:sp>
        <p:sp>
          <p:nvSpPr>
            <p:cNvPr id="86" name="Shape 84"/>
            <p:cNvSpPr/>
            <p:nvPr/>
          </p:nvSpPr>
          <p:spPr>
            <a:xfrm>
              <a:off x="4315968" y="3127248"/>
              <a:ext cx="4663440" cy="146304"/>
            </a:xfrm>
            <a:prstGeom prst="rect">
              <a:avLst/>
            </a:prstGeom>
            <a:solidFill>
              <a:srgbClr val="6A1B9A"/>
            </a:solidFill>
            <a:ln w="12700">
              <a:solidFill>
                <a:srgbClr val="6A1B9A"/>
              </a:solidFill>
              <a:prstDash val="solid"/>
            </a:ln>
          </p:spPr>
        </p:sp>
        <p:sp>
          <p:nvSpPr>
            <p:cNvPr id="87" name="Text 85"/>
            <p:cNvSpPr/>
            <p:nvPr/>
          </p:nvSpPr>
          <p:spPr>
            <a:xfrm>
              <a:off x="4343400" y="2944368"/>
              <a:ext cx="4608576" cy="329184"/>
            </a:xfrm>
            <a:prstGeom prst="rect">
              <a:avLst/>
            </a:prstGeom>
            <a:noFill/>
            <a:ln/>
          </p:spPr>
          <p:txBody>
            <a:bodyPr wrap="square" lIns="50800" tIns="50800" rIns="50800" bIns="5080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② Next Sentence Prediction (NSP)</a:t>
              </a:r>
              <a:endParaRPr lang="en-US" sz="1200" dirty="0"/>
            </a:p>
          </p:txBody>
        </p:sp>
        <p:sp>
          <p:nvSpPr>
            <p:cNvPr id="88" name="Text 86"/>
            <p:cNvSpPr/>
            <p:nvPr/>
          </p:nvSpPr>
          <p:spPr>
            <a:xfrm>
              <a:off x="4370832" y="3310128"/>
              <a:ext cx="4572000" cy="201168"/>
            </a:xfrm>
            <a:prstGeom prst="rect">
              <a:avLst/>
            </a:prstGeom>
            <a:noFill/>
            <a:ln/>
          </p:spPr>
          <p:txBody>
            <a:bodyPr wrap="square" lIns="0" tIns="0" rIns="0" bIns="0" rtlCol="0" anchor="ctr"/>
            <a:lstStyle/>
            <a:p>
              <a:pPr marL="0" indent="0">
                <a:buNone/>
              </a:pPr>
              <a:r>
                <a:rPr lang="en-US" sz="1050" dirty="0">
                  <a:solidFill>
                    <a:srgbClr val="4A4A4A"/>
                  </a:solidFill>
                  <a:latin typeface="Calibri" pitchFamily="34" charset="0"/>
                  <a:ea typeface="Calibri" pitchFamily="34" charset="-122"/>
                  <a:cs typeface="Calibri" pitchFamily="34" charset="-120"/>
                </a:rPr>
                <a:t>Given sentence A, predict if B is the actual next sentence (50/50 split)</a:t>
              </a:r>
              <a:endParaRPr lang="en-US" sz="1050" dirty="0"/>
            </a:p>
          </p:txBody>
        </p:sp>
        <p:sp>
          <p:nvSpPr>
            <p:cNvPr id="89" name="Shape 87"/>
            <p:cNvSpPr/>
            <p:nvPr/>
          </p:nvSpPr>
          <p:spPr>
            <a:xfrm>
              <a:off x="4370832" y="3547872"/>
              <a:ext cx="2103120" cy="566928"/>
            </a:xfrm>
            <a:prstGeom prst="roundRect">
              <a:avLst>
                <a:gd name="adj" fmla="val 9677"/>
              </a:avLst>
            </a:prstGeom>
            <a:solidFill>
              <a:srgbClr val="EDE7F6"/>
            </a:solidFill>
            <a:ln w="10160">
              <a:solidFill>
                <a:srgbClr val="7E57C2"/>
              </a:solidFill>
              <a:prstDash val="solid"/>
            </a:ln>
          </p:spPr>
        </p:sp>
        <p:sp>
          <p:nvSpPr>
            <p:cNvPr id="90" name="Text 88"/>
            <p:cNvSpPr/>
            <p:nvPr/>
          </p:nvSpPr>
          <p:spPr>
            <a:xfrm>
              <a:off x="4407408" y="3566160"/>
              <a:ext cx="2029968" cy="219456"/>
            </a:xfrm>
            <a:prstGeom prst="rect">
              <a:avLst/>
            </a:prstGeom>
            <a:noFill/>
            <a:ln/>
          </p:spPr>
          <p:txBody>
            <a:bodyPr wrap="square" lIns="0" tIns="0" rIns="0" bIns="0" rtlCol="0" anchor="ctr"/>
            <a:lstStyle/>
            <a:p>
              <a:pPr marL="0" indent="0">
                <a:buNone/>
              </a:pPr>
              <a:r>
                <a:rPr lang="en-US" sz="1000" b="1" dirty="0">
                  <a:solidFill>
                    <a:srgbClr val="4527A0"/>
                  </a:solidFill>
                  <a:latin typeface="Calibri" pitchFamily="34" charset="0"/>
                  <a:ea typeface="Calibri" pitchFamily="34" charset="-122"/>
                  <a:cs typeface="Calibri" pitchFamily="34" charset="-120"/>
                </a:rPr>
                <a:t>[CLS] She opened the book.</a:t>
              </a:r>
              <a:endParaRPr lang="en-US" sz="1000" dirty="0"/>
            </a:p>
          </p:txBody>
        </p:sp>
        <p:sp>
          <p:nvSpPr>
            <p:cNvPr id="91" name="Text 89"/>
            <p:cNvSpPr/>
            <p:nvPr/>
          </p:nvSpPr>
          <p:spPr>
            <a:xfrm>
              <a:off x="4407408" y="3749040"/>
              <a:ext cx="2029968" cy="219456"/>
            </a:xfrm>
            <a:prstGeom prst="rect">
              <a:avLst/>
            </a:prstGeom>
            <a:noFill/>
            <a:ln/>
          </p:spPr>
          <p:txBody>
            <a:bodyPr wrap="square" lIns="0" tIns="0" rIns="0" bIns="0" rtlCol="0" anchor="ctr"/>
            <a:lstStyle/>
            <a:p>
              <a:pPr marL="0" indent="0">
                <a:buNone/>
              </a:pPr>
              <a:r>
                <a:rPr lang="en-US" sz="1000" dirty="0">
                  <a:solidFill>
                    <a:srgbClr val="4527A0"/>
                  </a:solidFill>
                  <a:latin typeface="Calibri" pitchFamily="34" charset="0"/>
                  <a:ea typeface="Calibri" pitchFamily="34" charset="-122"/>
                  <a:cs typeface="Calibri" pitchFamily="34" charset="-120"/>
                </a:rPr>
                <a:t>[SEP] She began to read.</a:t>
              </a:r>
              <a:endParaRPr lang="en-US" sz="1000" dirty="0"/>
            </a:p>
          </p:txBody>
        </p:sp>
        <p:sp>
          <p:nvSpPr>
            <p:cNvPr id="92" name="Shape 90"/>
            <p:cNvSpPr/>
            <p:nvPr/>
          </p:nvSpPr>
          <p:spPr>
            <a:xfrm>
              <a:off x="6565392" y="3547872"/>
              <a:ext cx="640080" cy="566928"/>
            </a:xfrm>
            <a:prstGeom prst="roundRect">
              <a:avLst>
                <a:gd name="adj" fmla="val 9677"/>
              </a:avLst>
            </a:prstGeom>
            <a:solidFill>
              <a:srgbClr val="C8E6C9"/>
            </a:solidFill>
            <a:ln w="10160">
              <a:solidFill>
                <a:srgbClr val="2E7D32"/>
              </a:solidFill>
              <a:prstDash val="solid"/>
            </a:ln>
          </p:spPr>
        </p:sp>
        <p:sp>
          <p:nvSpPr>
            <p:cNvPr id="93" name="Text 91"/>
            <p:cNvSpPr/>
            <p:nvPr/>
          </p:nvSpPr>
          <p:spPr>
            <a:xfrm>
              <a:off x="6565392" y="3547872"/>
              <a:ext cx="640080" cy="566928"/>
            </a:xfrm>
            <a:prstGeom prst="rect">
              <a:avLst/>
            </a:prstGeom>
            <a:noFill/>
            <a:ln/>
          </p:spPr>
          <p:txBody>
            <a:bodyPr wrap="square" lIns="0" tIns="0" rIns="0" bIns="0" rtlCol="0" anchor="ctr"/>
            <a:lstStyle/>
            <a:p>
              <a:pPr marL="0" indent="0" algn="ctr">
                <a:buNone/>
              </a:pPr>
              <a:r>
                <a:rPr lang="en-US" sz="1050" b="1" dirty="0">
                  <a:solidFill>
                    <a:srgbClr val="1B5E20"/>
                  </a:solidFill>
                  <a:latin typeface="Calibri" pitchFamily="34" charset="0"/>
                  <a:ea typeface="Calibri" pitchFamily="34" charset="-122"/>
                  <a:cs typeface="Calibri" pitchFamily="34" charset="-120"/>
                </a:rPr>
                <a:t>IsNext</a:t>
              </a:r>
              <a:endParaRPr lang="en-US" sz="1050" dirty="0"/>
            </a:p>
            <a:p>
              <a:pPr marL="0" indent="0" algn="ctr">
                <a:buNone/>
              </a:pPr>
              <a:r>
                <a:rPr lang="en-US" sz="1050" b="1" dirty="0">
                  <a:solidFill>
                    <a:srgbClr val="1B5E20"/>
                  </a:solidFill>
                  <a:latin typeface="Calibri" pitchFamily="34" charset="0"/>
                  <a:ea typeface="Calibri" pitchFamily="34" charset="-122"/>
                  <a:cs typeface="Calibri" pitchFamily="34" charset="-120"/>
                </a:rPr>
                <a:t>✓</a:t>
              </a:r>
              <a:endParaRPr lang="en-US" sz="1050" dirty="0"/>
            </a:p>
          </p:txBody>
        </p:sp>
        <p:sp>
          <p:nvSpPr>
            <p:cNvPr id="94" name="Shape 92"/>
            <p:cNvSpPr/>
            <p:nvPr/>
          </p:nvSpPr>
          <p:spPr>
            <a:xfrm>
              <a:off x="4370832" y="4151376"/>
              <a:ext cx="2103120" cy="566928"/>
            </a:xfrm>
            <a:prstGeom prst="roundRect">
              <a:avLst>
                <a:gd name="adj" fmla="val 9677"/>
              </a:avLst>
            </a:prstGeom>
            <a:solidFill>
              <a:srgbClr val="EDE7F6"/>
            </a:solidFill>
            <a:ln w="10160">
              <a:solidFill>
                <a:srgbClr val="7E57C2"/>
              </a:solidFill>
              <a:prstDash val="solid"/>
            </a:ln>
          </p:spPr>
        </p:sp>
        <p:sp>
          <p:nvSpPr>
            <p:cNvPr id="95" name="Text 93"/>
            <p:cNvSpPr/>
            <p:nvPr/>
          </p:nvSpPr>
          <p:spPr>
            <a:xfrm>
              <a:off x="4407408" y="4169664"/>
              <a:ext cx="2029968" cy="219456"/>
            </a:xfrm>
            <a:prstGeom prst="rect">
              <a:avLst/>
            </a:prstGeom>
            <a:noFill/>
            <a:ln/>
          </p:spPr>
          <p:txBody>
            <a:bodyPr wrap="square" lIns="0" tIns="0" rIns="0" bIns="0" rtlCol="0" anchor="ctr"/>
            <a:lstStyle/>
            <a:p>
              <a:pPr marL="0" indent="0">
                <a:buNone/>
              </a:pPr>
              <a:r>
                <a:rPr lang="en-US" sz="1000" b="1" dirty="0">
                  <a:solidFill>
                    <a:srgbClr val="4527A0"/>
                  </a:solidFill>
                  <a:latin typeface="Calibri" pitchFamily="34" charset="0"/>
                  <a:ea typeface="Calibri" pitchFamily="34" charset="-122"/>
                  <a:cs typeface="Calibri" pitchFamily="34" charset="-120"/>
                </a:rPr>
                <a:t>[CLS] She opened the book.</a:t>
              </a:r>
              <a:endParaRPr lang="en-US" sz="1000" dirty="0"/>
            </a:p>
          </p:txBody>
        </p:sp>
        <p:sp>
          <p:nvSpPr>
            <p:cNvPr id="96" name="Text 94"/>
            <p:cNvSpPr/>
            <p:nvPr/>
          </p:nvSpPr>
          <p:spPr>
            <a:xfrm>
              <a:off x="4407408" y="4352544"/>
              <a:ext cx="2029968" cy="219456"/>
            </a:xfrm>
            <a:prstGeom prst="rect">
              <a:avLst/>
            </a:prstGeom>
            <a:noFill/>
            <a:ln/>
          </p:spPr>
          <p:txBody>
            <a:bodyPr wrap="square" lIns="0" tIns="0" rIns="0" bIns="0" rtlCol="0" anchor="ctr"/>
            <a:lstStyle/>
            <a:p>
              <a:pPr marL="0" indent="0">
                <a:buNone/>
              </a:pPr>
              <a:r>
                <a:rPr lang="en-US" sz="1000" dirty="0">
                  <a:solidFill>
                    <a:srgbClr val="7E57C2"/>
                  </a:solidFill>
                  <a:latin typeface="Calibri" pitchFamily="34" charset="0"/>
                  <a:ea typeface="Calibri" pitchFamily="34" charset="-122"/>
                  <a:cs typeface="Calibri" pitchFamily="34" charset="-120"/>
                </a:rPr>
                <a:t>[SEP] The sky turned orange.</a:t>
              </a:r>
              <a:endParaRPr lang="en-US" sz="1000" dirty="0"/>
            </a:p>
          </p:txBody>
        </p:sp>
        <p:sp>
          <p:nvSpPr>
            <p:cNvPr id="97" name="Shape 95"/>
            <p:cNvSpPr/>
            <p:nvPr/>
          </p:nvSpPr>
          <p:spPr>
            <a:xfrm>
              <a:off x="6565392" y="4151376"/>
              <a:ext cx="640080" cy="566928"/>
            </a:xfrm>
            <a:prstGeom prst="roundRect">
              <a:avLst>
                <a:gd name="adj" fmla="val 9677"/>
              </a:avLst>
            </a:prstGeom>
            <a:solidFill>
              <a:srgbClr val="FFCDD2"/>
            </a:solidFill>
            <a:ln w="10160">
              <a:solidFill>
                <a:srgbClr val="C62828"/>
              </a:solidFill>
              <a:prstDash val="solid"/>
            </a:ln>
          </p:spPr>
        </p:sp>
        <p:sp>
          <p:nvSpPr>
            <p:cNvPr id="98" name="Text 96"/>
            <p:cNvSpPr/>
            <p:nvPr/>
          </p:nvSpPr>
          <p:spPr>
            <a:xfrm>
              <a:off x="6565392" y="4151376"/>
              <a:ext cx="640080" cy="566928"/>
            </a:xfrm>
            <a:prstGeom prst="rect">
              <a:avLst/>
            </a:prstGeom>
            <a:noFill/>
            <a:ln/>
          </p:spPr>
          <p:txBody>
            <a:bodyPr wrap="square" lIns="0" tIns="0" rIns="0" bIns="0" rtlCol="0" anchor="ctr"/>
            <a:lstStyle/>
            <a:p>
              <a:pPr marL="0" indent="0" algn="ctr">
                <a:buNone/>
              </a:pPr>
              <a:r>
                <a:rPr lang="en-US" sz="1050" b="1" dirty="0">
                  <a:solidFill>
                    <a:srgbClr val="B71C1C"/>
                  </a:solidFill>
                  <a:latin typeface="Calibri" pitchFamily="34" charset="0"/>
                  <a:ea typeface="Calibri" pitchFamily="34" charset="-122"/>
                  <a:cs typeface="Calibri" pitchFamily="34" charset="-120"/>
                </a:rPr>
                <a:t>NotNext</a:t>
              </a:r>
              <a:endParaRPr lang="en-US" sz="1050" dirty="0"/>
            </a:p>
            <a:p>
              <a:pPr marL="0" indent="0" algn="ctr">
                <a:buNone/>
              </a:pPr>
              <a:r>
                <a:rPr lang="en-US" sz="1050" b="1" dirty="0">
                  <a:solidFill>
                    <a:srgbClr val="B71C1C"/>
                  </a:solidFill>
                  <a:latin typeface="Calibri" pitchFamily="34" charset="0"/>
                  <a:ea typeface="Calibri" pitchFamily="34" charset="-122"/>
                  <a:cs typeface="Calibri" pitchFamily="34" charset="-120"/>
                </a:rPr>
                <a:t>✗</a:t>
              </a:r>
              <a:endParaRPr lang="en-US" sz="1050" dirty="0"/>
            </a:p>
          </p:txBody>
        </p:sp>
        <p:sp>
          <p:nvSpPr>
            <p:cNvPr id="99" name="Text 97"/>
            <p:cNvSpPr/>
            <p:nvPr/>
          </p:nvSpPr>
          <p:spPr>
            <a:xfrm>
              <a:off x="4370832" y="4718304"/>
              <a:ext cx="4480560" cy="182880"/>
            </a:xfrm>
            <a:prstGeom prst="rect">
              <a:avLst/>
            </a:prstGeom>
            <a:noFill/>
            <a:ln/>
          </p:spPr>
          <p:txBody>
            <a:bodyPr wrap="square" lIns="0" tIns="0" rIns="0" bIns="0" rtlCol="0" anchor="ctr"/>
            <a:lstStyle/>
            <a:p>
              <a:pPr marL="0" indent="0">
                <a:buNone/>
              </a:pPr>
              <a:r>
                <a:rPr lang="en-US" sz="1000" i="1" dirty="0">
                  <a:solidFill>
                    <a:srgbClr val="6A1B9A"/>
                  </a:solidFill>
                  <a:latin typeface="Calibri" pitchFamily="34" charset="0"/>
                  <a:ea typeface="Calibri" pitchFamily="34" charset="-122"/>
                  <a:cs typeface="Calibri" pitchFamily="34" charset="-120"/>
                </a:rPr>
                <a:t>[CLS] output → binary classifier for NSP  |  Combined loss = L_MLM + L_NSP</a:t>
              </a:r>
              <a:endParaRPr lang="en-US" sz="1000" dirty="0"/>
            </a:p>
          </p:txBody>
        </p:sp>
      </p:grpSp>
      <p:sp>
        <p:nvSpPr>
          <p:cNvPr id="100" name="Shape 98"/>
          <p:cNvSpPr/>
          <p:nvPr/>
        </p:nvSpPr>
        <p:spPr>
          <a:xfrm>
            <a:off x="4187952" y="685800"/>
            <a:ext cx="0" cy="4251960"/>
          </a:xfrm>
          <a:prstGeom prst="line">
            <a:avLst/>
          </a:prstGeom>
          <a:noFill/>
          <a:ln w="10160">
            <a:solidFill>
              <a:srgbClr val="DDDDDD"/>
            </a:solidFill>
            <a:prstDash val="solid"/>
          </a:ln>
        </p:spPr>
      </p:sp>
      <p:sp>
        <p:nvSpPr>
          <p:cNvPr id="101" name="Text 99"/>
          <p:cNvSpPr/>
          <p:nvPr/>
        </p:nvSpPr>
        <p:spPr>
          <a:xfrm>
            <a:off x="320040" y="4919472"/>
            <a:ext cx="8732520" cy="182880"/>
          </a:xfrm>
          <a:prstGeom prst="rect">
            <a:avLst/>
          </a:prstGeom>
          <a:noFill/>
          <a:ln/>
        </p:spPr>
        <p:txBody>
          <a:bodyPr wrap="square" lIns="0" tIns="0" rIns="0" bIns="0" rtlCol="0" anchor="ctr"/>
          <a:lstStyle/>
          <a:p>
            <a:pPr marL="0" indent="0">
              <a:buNone/>
            </a:pPr>
            <a:r>
              <a:rPr lang="en-US" sz="1000" i="1" dirty="0">
                <a:solidFill>
                  <a:srgbClr val="888888"/>
                </a:solidFill>
                <a:latin typeface="Calibri" pitchFamily="34" charset="0"/>
                <a:ea typeface="Calibri" pitchFamily="34" charset="-122"/>
                <a:cs typeface="Calibri" pitchFamily="34" charset="-120"/>
              </a:rPr>
              <a:t>Devlin, Chang, Lee, Toutanova (2018/2019). BERT: Pre-training of Deep Bidirectional Transformers for Language Understanding. NAACL 2019. arXiv:1810.04805.</a:t>
            </a:r>
            <a:endParaRPr lang="en-US" sz="1000" dirty="0"/>
          </a:p>
        </p:txBody>
      </p:sp>
      <p:pic>
        <p:nvPicPr>
          <p:cNvPr id="3" name="Google Shape;109;p20">
            <a:extLst>
              <a:ext uri="{FF2B5EF4-FFF2-40B4-BE49-F238E27FC236}">
                <a16:creationId xmlns:a16="http://schemas.microsoft.com/office/drawing/2014/main" id="{67DEB19C-BC32-2F0F-28F6-986262F189E4}"/>
              </a:ext>
            </a:extLst>
          </p:cNvPr>
          <p:cNvPicPr preferRelativeResize="0"/>
          <p:nvPr/>
        </p:nvPicPr>
        <p:blipFill>
          <a:blip r:embed="rId3">
            <a:alphaModFix/>
          </a:blip>
          <a:stretch>
            <a:fillRect/>
          </a:stretch>
        </p:blipFill>
        <p:spPr>
          <a:xfrm>
            <a:off x="8369125" y="0"/>
            <a:ext cx="774877" cy="867174"/>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3444" cy="5143500"/>
          </a:xfrm>
          <a:prstGeom prst="rect">
            <a:avLst/>
          </a:prstGeom>
          <a:solidFill>
            <a:srgbClr val="1A365D"/>
          </a:solidFill>
          <a:ln w="12700">
            <a:solidFill>
              <a:srgbClr val="1A365D"/>
            </a:solidFill>
            <a:prstDash val="solid"/>
          </a:ln>
        </p:spPr>
        <p:txBody>
          <a:bodyPr/>
          <a:lstStyle/>
          <a:p>
            <a:endParaRPr/>
          </a:p>
        </p:txBody>
      </p:sp>
      <p:sp>
        <p:nvSpPr>
          <p:cNvPr id="5" name="Shape 3"/>
          <p:cNvSpPr/>
          <p:nvPr/>
        </p:nvSpPr>
        <p:spPr>
          <a:xfrm>
            <a:off x="342900" y="4457700"/>
            <a:ext cx="8435340" cy="0"/>
          </a:xfrm>
          <a:prstGeom prst="line">
            <a:avLst/>
          </a:prstGeom>
          <a:noFill/>
          <a:ln w="9525">
            <a:solidFill>
              <a:srgbClr val="CBD5E0"/>
            </a:solidFill>
            <a:prstDash val="solid"/>
          </a:ln>
        </p:spPr>
        <p:txBody>
          <a:bodyPr/>
          <a:lstStyle/>
          <a:p>
            <a:endParaRPr/>
          </a:p>
        </p:txBody>
      </p:sp>
      <p:sp>
        <p:nvSpPr>
          <p:cNvPr id="7" name="Text 5"/>
          <p:cNvSpPr/>
          <p:nvPr/>
        </p:nvSpPr>
        <p:spPr>
          <a:xfrm>
            <a:off x="342900" y="293203"/>
            <a:ext cx="8435340" cy="617220"/>
          </a:xfrm>
          <a:prstGeom prst="rect">
            <a:avLst/>
          </a:prstGeom>
          <a:noFill/>
          <a:ln/>
        </p:spPr>
        <p:txBody>
          <a:bodyPr wrap="square" lIns="0" tIns="0" rIns="0" bIns="0" rtlCol="0" anchor="ctr"/>
          <a:lstStyle/>
          <a:p>
            <a:r>
              <a:rPr lang="en-US" sz="2250" b="1" dirty="0">
                <a:solidFill>
                  <a:srgbClr val="1E2761"/>
                </a:solidFill>
                <a:latin typeface="Georgia"/>
              </a:rPr>
              <a:t>GLUE: General Language Understanding Evaluation</a:t>
            </a:r>
            <a:endParaRPr lang="en-US" sz="2250" dirty="0"/>
          </a:p>
        </p:txBody>
      </p:sp>
      <p:sp>
        <p:nvSpPr>
          <p:cNvPr id="8" name="Text 6"/>
          <p:cNvSpPr/>
          <p:nvPr/>
        </p:nvSpPr>
        <p:spPr>
          <a:xfrm>
            <a:off x="218386" y="910423"/>
            <a:ext cx="4435096" cy="1728127"/>
          </a:xfrm>
          <a:prstGeom prst="rect">
            <a:avLst/>
          </a:prstGeom>
          <a:noFill/>
          <a:ln/>
        </p:spPr>
        <p:txBody>
          <a:bodyPr wrap="square" lIns="0" tIns="0" rIns="0" bIns="0" rtlCol="0" anchor="ctr"/>
          <a:lstStyle/>
          <a:p>
            <a:pPr marL="285750" indent="-285750">
              <a:spcAft>
                <a:spcPts val="300"/>
              </a:spcAft>
              <a:buFont typeface="Arial" panose="020B0604020202020204" pitchFamily="34" charset="0"/>
              <a:buChar char="•"/>
            </a:pPr>
            <a:r>
              <a:rPr lang="en-US" sz="1200" dirty="0">
                <a:solidFill>
                  <a:srgbClr val="1A1F36"/>
                </a:solidFill>
                <a:latin typeface="Calibri"/>
              </a:rPr>
              <a:t>Introduced in 2018, GLUE is a collection of 9 diverse NLU tasks designed to test a model’s ability to understand language at multiple levels of abstraction.</a:t>
            </a:r>
          </a:p>
          <a:p>
            <a:pPr marL="285750" indent="-285750">
              <a:spcAft>
                <a:spcPts val="300"/>
              </a:spcAft>
              <a:buFont typeface="Arial" panose="020B0604020202020204" pitchFamily="34" charset="0"/>
              <a:buChar char="•"/>
            </a:pPr>
            <a:r>
              <a:rPr lang="en-US" sz="1200" dirty="0">
                <a:solidFill>
                  <a:srgbClr val="1A1F36"/>
                </a:solidFill>
                <a:latin typeface="Calibri"/>
              </a:rPr>
              <a:t>Tasks span sentiment analysis, paraphrase detection, and natural language inference, reported as a single average score.</a:t>
            </a:r>
          </a:p>
          <a:p>
            <a:pPr marL="285750" indent="-285750">
              <a:spcAft>
                <a:spcPts val="300"/>
              </a:spcAft>
              <a:buFont typeface="Arial" panose="020B0604020202020204" pitchFamily="34" charset="0"/>
              <a:buChar char="•"/>
            </a:pPr>
            <a:r>
              <a:rPr lang="en-US" sz="1200" dirty="0">
                <a:solidFill>
                  <a:srgbClr val="1A1F36"/>
                </a:solidFill>
                <a:latin typeface="Calibri"/>
              </a:rPr>
              <a:t>BERT’s release immediately pushed the leaderboard above prior approaches, cementing pretrain-then-finetune as the dominant NLP paradigm.</a:t>
            </a:r>
          </a:p>
        </p:txBody>
      </p:sp>
      <p:grpSp>
        <p:nvGrpSpPr>
          <p:cNvPr id="47" name="Group 46"/>
          <p:cNvGrpSpPr/>
          <p:nvPr/>
        </p:nvGrpSpPr>
        <p:grpSpPr>
          <a:xfrm>
            <a:off x="4803276" y="863665"/>
            <a:ext cx="3826325" cy="1948698"/>
            <a:chOff x="5314950" y="1508758"/>
            <a:chExt cx="3463290" cy="1337312"/>
          </a:xfrm>
        </p:grpSpPr>
        <p:sp>
          <p:nvSpPr>
            <p:cNvPr id="9" name="Shape 7"/>
            <p:cNvSpPr/>
            <p:nvPr/>
          </p:nvSpPr>
          <p:spPr>
            <a:xfrm>
              <a:off x="5314950" y="1508758"/>
              <a:ext cx="3463290" cy="1337310"/>
            </a:xfrm>
            <a:prstGeom prst="rect">
              <a:avLst/>
            </a:prstGeom>
            <a:solidFill>
              <a:srgbClr val="FFFFFF"/>
            </a:solidFill>
            <a:ln w="9525">
              <a:solidFill>
                <a:srgbClr val="E2E8F0"/>
              </a:solidFill>
              <a:prstDash val="solid"/>
            </a:ln>
          </p:spPr>
          <p:txBody>
            <a:bodyPr/>
            <a:lstStyle/>
            <a:p>
              <a:endParaRPr/>
            </a:p>
          </p:txBody>
        </p:sp>
        <p:sp>
          <p:nvSpPr>
            <p:cNvPr id="10" name="Shape 8"/>
            <p:cNvSpPr/>
            <p:nvPr/>
          </p:nvSpPr>
          <p:spPr>
            <a:xfrm>
              <a:off x="5314950" y="1508760"/>
              <a:ext cx="41148" cy="1337310"/>
            </a:xfrm>
            <a:prstGeom prst="rect">
              <a:avLst/>
            </a:prstGeom>
            <a:solidFill>
              <a:srgbClr val="8B6914"/>
            </a:solidFill>
            <a:ln w="12700">
              <a:solidFill>
                <a:srgbClr val="8B6914"/>
              </a:solidFill>
              <a:prstDash val="solid"/>
            </a:ln>
          </p:spPr>
          <p:txBody>
            <a:bodyPr/>
            <a:lstStyle/>
            <a:p>
              <a:endParaRPr/>
            </a:p>
          </p:txBody>
        </p:sp>
        <p:sp>
          <p:nvSpPr>
            <p:cNvPr id="11" name="Text 9"/>
            <p:cNvSpPr/>
            <p:nvPr/>
          </p:nvSpPr>
          <p:spPr>
            <a:xfrm>
              <a:off x="5465826" y="1577340"/>
              <a:ext cx="3223260" cy="150876"/>
            </a:xfrm>
            <a:prstGeom prst="rect">
              <a:avLst/>
            </a:prstGeom>
            <a:noFill/>
            <a:ln/>
          </p:spPr>
          <p:txBody>
            <a:bodyPr wrap="square" lIns="0" tIns="0" rIns="0" bIns="0" rtlCol="0" anchor="ctr"/>
            <a:lstStyle/>
            <a:p>
              <a:r>
                <a:rPr lang="en-US" sz="900" b="1" spc="300" dirty="0">
                  <a:solidFill>
                    <a:srgbClr val="8B6914"/>
                  </a:solidFill>
                  <a:latin typeface="Calibri"/>
                </a:rPr>
                <a:t>KEY RESULT · GLUE TASK SUITE</a:t>
              </a:r>
              <a:endParaRPr lang="en-US" sz="900" dirty="0"/>
            </a:p>
          </p:txBody>
        </p:sp>
        <p:sp>
          <p:nvSpPr>
            <p:cNvPr id="12" name="Text 10"/>
            <p:cNvSpPr/>
            <p:nvPr/>
          </p:nvSpPr>
          <p:spPr>
            <a:xfrm>
              <a:off x="5465826" y="1714500"/>
              <a:ext cx="3223260" cy="192024"/>
            </a:xfrm>
            <a:prstGeom prst="rect">
              <a:avLst/>
            </a:prstGeom>
            <a:noFill/>
            <a:ln/>
          </p:spPr>
          <p:txBody>
            <a:bodyPr wrap="square" lIns="0" tIns="0" rIns="0" bIns="0" rtlCol="0" anchor="ctr"/>
            <a:lstStyle/>
            <a:p>
              <a:r>
                <a:rPr lang="en-US" sz="1050" b="1" dirty="0">
                  <a:solidFill>
                    <a:srgbClr val="0F223E"/>
                  </a:solidFill>
                  <a:latin typeface="Calibri"/>
                </a:rPr>
                <a:t>BERT-Large on GLUE subtasks (2018)</a:t>
              </a:r>
              <a:endParaRPr lang="en-US" sz="1050" dirty="0"/>
            </a:p>
          </p:txBody>
        </p:sp>
        <p:sp>
          <p:nvSpPr>
            <p:cNvPr id="13" name="Text 11"/>
            <p:cNvSpPr/>
            <p:nvPr/>
          </p:nvSpPr>
          <p:spPr>
            <a:xfrm>
              <a:off x="5465826" y="1989892"/>
              <a:ext cx="1268730" cy="160735"/>
            </a:xfrm>
            <a:prstGeom prst="rect">
              <a:avLst/>
            </a:prstGeom>
            <a:noFill/>
            <a:ln/>
          </p:spPr>
          <p:txBody>
            <a:bodyPr wrap="square" lIns="0" tIns="0" rIns="0" bIns="0" rtlCol="0" anchor="ctr"/>
            <a:lstStyle/>
            <a:p>
              <a:r>
                <a:rPr lang="en-US" sz="900" dirty="0">
                  <a:solidFill>
                    <a:srgbClr val="1A1F36"/>
                  </a:solidFill>
                  <a:latin typeface="Calibri"/>
                </a:rPr>
                <a:t>CoLA (Linguistic)</a:t>
              </a:r>
              <a:endParaRPr lang="en-US" sz="900" dirty="0"/>
            </a:p>
          </p:txBody>
        </p:sp>
        <p:sp>
          <p:nvSpPr>
            <p:cNvPr id="14" name="Shape 12"/>
            <p:cNvSpPr/>
            <p:nvPr/>
          </p:nvSpPr>
          <p:spPr>
            <a:xfrm>
              <a:off x="6768846" y="2017324"/>
              <a:ext cx="1508760" cy="105871"/>
            </a:xfrm>
            <a:prstGeom prst="rect">
              <a:avLst/>
            </a:prstGeom>
            <a:solidFill>
              <a:srgbClr val="EDF2F7"/>
            </a:solidFill>
            <a:ln w="12700">
              <a:solidFill>
                <a:srgbClr val="EDF2F7"/>
              </a:solidFill>
              <a:prstDash val="solid"/>
            </a:ln>
          </p:spPr>
          <p:txBody>
            <a:bodyPr/>
            <a:lstStyle/>
            <a:p>
              <a:endParaRPr/>
            </a:p>
          </p:txBody>
        </p:sp>
        <p:sp>
          <p:nvSpPr>
            <p:cNvPr id="15" name="Shape 13"/>
            <p:cNvSpPr/>
            <p:nvPr/>
          </p:nvSpPr>
          <p:spPr>
            <a:xfrm>
              <a:off x="6768846" y="2017324"/>
              <a:ext cx="913301" cy="105871"/>
            </a:xfrm>
            <a:prstGeom prst="rect">
              <a:avLst/>
            </a:prstGeom>
            <a:solidFill>
              <a:srgbClr val="4A5568"/>
            </a:solidFill>
            <a:ln w="12700">
              <a:solidFill>
                <a:srgbClr val="4A5568"/>
              </a:solidFill>
              <a:prstDash val="solid"/>
            </a:ln>
          </p:spPr>
          <p:txBody>
            <a:bodyPr/>
            <a:lstStyle/>
            <a:p>
              <a:endParaRPr/>
            </a:p>
          </p:txBody>
        </p:sp>
        <p:sp>
          <p:nvSpPr>
            <p:cNvPr id="16" name="Text 14"/>
            <p:cNvSpPr/>
            <p:nvPr/>
          </p:nvSpPr>
          <p:spPr>
            <a:xfrm>
              <a:off x="8332470" y="1989892"/>
              <a:ext cx="377190" cy="160735"/>
            </a:xfrm>
            <a:prstGeom prst="rect">
              <a:avLst/>
            </a:prstGeom>
            <a:noFill/>
            <a:ln/>
          </p:spPr>
          <p:txBody>
            <a:bodyPr wrap="square" lIns="0" tIns="0" rIns="0" bIns="0" rtlCol="0" anchor="ctr"/>
            <a:lstStyle/>
            <a:p>
              <a:r>
                <a:rPr lang="en-US" sz="900" dirty="0">
                  <a:solidFill>
                    <a:srgbClr val="1A1F36"/>
                  </a:solidFill>
                  <a:latin typeface="Calibri"/>
                </a:rPr>
                <a:t>60.5</a:t>
              </a:r>
              <a:endParaRPr lang="en-US" sz="900" dirty="0"/>
            </a:p>
          </p:txBody>
        </p:sp>
        <p:sp>
          <p:nvSpPr>
            <p:cNvPr id="17" name="Text 15"/>
            <p:cNvSpPr/>
            <p:nvPr/>
          </p:nvSpPr>
          <p:spPr>
            <a:xfrm>
              <a:off x="5465826" y="2152770"/>
              <a:ext cx="1268730" cy="160735"/>
            </a:xfrm>
            <a:prstGeom prst="rect">
              <a:avLst/>
            </a:prstGeom>
            <a:noFill/>
            <a:ln/>
          </p:spPr>
          <p:txBody>
            <a:bodyPr wrap="square" lIns="0" tIns="0" rIns="0" bIns="0" rtlCol="0" anchor="ctr"/>
            <a:lstStyle/>
            <a:p>
              <a:r>
                <a:rPr lang="en-US" sz="900" dirty="0">
                  <a:solidFill>
                    <a:srgbClr val="1A1F36"/>
                  </a:solidFill>
                  <a:latin typeface="Calibri"/>
                </a:rPr>
                <a:t>SST-2 (Sentiment)</a:t>
              </a:r>
              <a:endParaRPr lang="en-US" sz="900" dirty="0"/>
            </a:p>
          </p:txBody>
        </p:sp>
        <p:sp>
          <p:nvSpPr>
            <p:cNvPr id="18" name="Shape 16"/>
            <p:cNvSpPr/>
            <p:nvPr/>
          </p:nvSpPr>
          <p:spPr>
            <a:xfrm>
              <a:off x="6768846" y="2180202"/>
              <a:ext cx="1508760" cy="105871"/>
            </a:xfrm>
            <a:prstGeom prst="rect">
              <a:avLst/>
            </a:prstGeom>
            <a:solidFill>
              <a:srgbClr val="EDF2F7"/>
            </a:solidFill>
            <a:ln w="12700">
              <a:solidFill>
                <a:srgbClr val="EDF2F7"/>
              </a:solidFill>
              <a:prstDash val="solid"/>
            </a:ln>
          </p:spPr>
          <p:txBody>
            <a:bodyPr/>
            <a:lstStyle/>
            <a:p>
              <a:endParaRPr/>
            </a:p>
          </p:txBody>
        </p:sp>
        <p:sp>
          <p:nvSpPr>
            <p:cNvPr id="19" name="Shape 17"/>
            <p:cNvSpPr/>
            <p:nvPr/>
          </p:nvSpPr>
          <p:spPr>
            <a:xfrm>
              <a:off x="6768846" y="2180202"/>
              <a:ext cx="1431811" cy="105871"/>
            </a:xfrm>
            <a:prstGeom prst="rect">
              <a:avLst/>
            </a:prstGeom>
            <a:solidFill>
              <a:srgbClr val="4A5568"/>
            </a:solidFill>
            <a:ln w="12700">
              <a:solidFill>
                <a:srgbClr val="4A5568"/>
              </a:solidFill>
              <a:prstDash val="solid"/>
            </a:ln>
          </p:spPr>
          <p:txBody>
            <a:bodyPr/>
            <a:lstStyle/>
            <a:p>
              <a:endParaRPr/>
            </a:p>
          </p:txBody>
        </p:sp>
        <p:sp>
          <p:nvSpPr>
            <p:cNvPr id="20" name="Text 18"/>
            <p:cNvSpPr/>
            <p:nvPr/>
          </p:nvSpPr>
          <p:spPr>
            <a:xfrm>
              <a:off x="8332470" y="2152770"/>
              <a:ext cx="377190" cy="160735"/>
            </a:xfrm>
            <a:prstGeom prst="rect">
              <a:avLst/>
            </a:prstGeom>
            <a:noFill/>
            <a:ln/>
          </p:spPr>
          <p:txBody>
            <a:bodyPr wrap="square" lIns="0" tIns="0" rIns="0" bIns="0" rtlCol="0" anchor="ctr"/>
            <a:lstStyle/>
            <a:p>
              <a:r>
                <a:rPr lang="en-US" sz="900" dirty="0">
                  <a:solidFill>
                    <a:srgbClr val="1A1F36"/>
                  </a:solidFill>
                  <a:latin typeface="Calibri"/>
                </a:rPr>
                <a:t>94.9</a:t>
              </a:r>
              <a:endParaRPr lang="en-US" sz="900" dirty="0"/>
            </a:p>
          </p:txBody>
        </p:sp>
        <p:sp>
          <p:nvSpPr>
            <p:cNvPr id="21" name="Text 19"/>
            <p:cNvSpPr/>
            <p:nvPr/>
          </p:nvSpPr>
          <p:spPr>
            <a:xfrm>
              <a:off x="5465826" y="2315647"/>
              <a:ext cx="1268730" cy="160735"/>
            </a:xfrm>
            <a:prstGeom prst="rect">
              <a:avLst/>
            </a:prstGeom>
            <a:noFill/>
            <a:ln/>
          </p:spPr>
          <p:txBody>
            <a:bodyPr wrap="square" lIns="0" tIns="0" rIns="0" bIns="0" rtlCol="0" anchor="ctr"/>
            <a:lstStyle/>
            <a:p>
              <a:r>
                <a:rPr lang="en-US" sz="900" dirty="0">
                  <a:solidFill>
                    <a:srgbClr val="1A1F36"/>
                  </a:solidFill>
                  <a:latin typeface="Calibri"/>
                </a:rPr>
                <a:t>MRPC (Paraphrase)</a:t>
              </a:r>
              <a:endParaRPr lang="en-US" sz="900" dirty="0"/>
            </a:p>
          </p:txBody>
        </p:sp>
        <p:sp>
          <p:nvSpPr>
            <p:cNvPr id="22" name="Shape 20"/>
            <p:cNvSpPr/>
            <p:nvPr/>
          </p:nvSpPr>
          <p:spPr>
            <a:xfrm>
              <a:off x="6768846" y="2343079"/>
              <a:ext cx="1508760" cy="105871"/>
            </a:xfrm>
            <a:prstGeom prst="rect">
              <a:avLst/>
            </a:prstGeom>
            <a:solidFill>
              <a:srgbClr val="EDF2F7"/>
            </a:solidFill>
            <a:ln w="12700">
              <a:solidFill>
                <a:srgbClr val="EDF2F7"/>
              </a:solidFill>
              <a:prstDash val="solid"/>
            </a:ln>
          </p:spPr>
          <p:txBody>
            <a:bodyPr/>
            <a:lstStyle/>
            <a:p>
              <a:endParaRPr/>
            </a:p>
          </p:txBody>
        </p:sp>
        <p:sp>
          <p:nvSpPr>
            <p:cNvPr id="23" name="Shape 21"/>
            <p:cNvSpPr/>
            <p:nvPr/>
          </p:nvSpPr>
          <p:spPr>
            <a:xfrm>
              <a:off x="6768846" y="2343079"/>
              <a:ext cx="1347325" cy="105871"/>
            </a:xfrm>
            <a:prstGeom prst="rect">
              <a:avLst/>
            </a:prstGeom>
            <a:solidFill>
              <a:srgbClr val="4A5568"/>
            </a:solidFill>
            <a:ln w="12700">
              <a:solidFill>
                <a:srgbClr val="4A5568"/>
              </a:solidFill>
              <a:prstDash val="solid"/>
            </a:ln>
          </p:spPr>
          <p:txBody>
            <a:bodyPr/>
            <a:lstStyle/>
            <a:p>
              <a:endParaRPr/>
            </a:p>
          </p:txBody>
        </p:sp>
        <p:sp>
          <p:nvSpPr>
            <p:cNvPr id="24" name="Text 22"/>
            <p:cNvSpPr/>
            <p:nvPr/>
          </p:nvSpPr>
          <p:spPr>
            <a:xfrm>
              <a:off x="8332470" y="2315647"/>
              <a:ext cx="377190" cy="160735"/>
            </a:xfrm>
            <a:prstGeom prst="rect">
              <a:avLst/>
            </a:prstGeom>
            <a:noFill/>
            <a:ln/>
          </p:spPr>
          <p:txBody>
            <a:bodyPr wrap="square" lIns="0" tIns="0" rIns="0" bIns="0" rtlCol="0" anchor="ctr"/>
            <a:lstStyle/>
            <a:p>
              <a:r>
                <a:rPr lang="en-US" sz="900" dirty="0">
                  <a:solidFill>
                    <a:srgbClr val="1A1F36"/>
                  </a:solidFill>
                  <a:latin typeface="Calibri"/>
                </a:rPr>
                <a:t>89.3</a:t>
              </a:r>
              <a:endParaRPr lang="en-US" sz="900" dirty="0"/>
            </a:p>
          </p:txBody>
        </p:sp>
        <p:sp>
          <p:nvSpPr>
            <p:cNvPr id="25" name="Text 23"/>
            <p:cNvSpPr/>
            <p:nvPr/>
          </p:nvSpPr>
          <p:spPr>
            <a:xfrm>
              <a:off x="5465826" y="2478525"/>
              <a:ext cx="1268730" cy="160735"/>
            </a:xfrm>
            <a:prstGeom prst="rect">
              <a:avLst/>
            </a:prstGeom>
            <a:noFill/>
            <a:ln/>
          </p:spPr>
          <p:txBody>
            <a:bodyPr wrap="square" lIns="0" tIns="0" rIns="0" bIns="0" rtlCol="0" anchor="ctr"/>
            <a:lstStyle/>
            <a:p>
              <a:r>
                <a:rPr lang="en-US" sz="900" dirty="0">
                  <a:solidFill>
                    <a:srgbClr val="1A1F36"/>
                  </a:solidFill>
                  <a:latin typeface="Calibri"/>
                </a:rPr>
                <a:t>MNLI (Inference)</a:t>
              </a:r>
              <a:endParaRPr lang="en-US" sz="900" dirty="0"/>
            </a:p>
          </p:txBody>
        </p:sp>
        <p:sp>
          <p:nvSpPr>
            <p:cNvPr id="26" name="Shape 24"/>
            <p:cNvSpPr/>
            <p:nvPr/>
          </p:nvSpPr>
          <p:spPr>
            <a:xfrm>
              <a:off x="6768846" y="2505957"/>
              <a:ext cx="1508760" cy="105871"/>
            </a:xfrm>
            <a:prstGeom prst="rect">
              <a:avLst/>
            </a:prstGeom>
            <a:solidFill>
              <a:srgbClr val="EDF2F7"/>
            </a:solidFill>
            <a:ln w="12700">
              <a:solidFill>
                <a:srgbClr val="EDF2F7"/>
              </a:solidFill>
              <a:prstDash val="solid"/>
            </a:ln>
          </p:spPr>
          <p:txBody>
            <a:bodyPr/>
            <a:lstStyle/>
            <a:p>
              <a:endParaRPr/>
            </a:p>
          </p:txBody>
        </p:sp>
        <p:sp>
          <p:nvSpPr>
            <p:cNvPr id="27" name="Shape 25"/>
            <p:cNvSpPr/>
            <p:nvPr/>
          </p:nvSpPr>
          <p:spPr>
            <a:xfrm>
              <a:off x="6768846" y="2505957"/>
              <a:ext cx="1308095" cy="105871"/>
            </a:xfrm>
            <a:prstGeom prst="rect">
              <a:avLst/>
            </a:prstGeom>
            <a:solidFill>
              <a:srgbClr val="0F223E"/>
            </a:solidFill>
            <a:ln w="12700">
              <a:solidFill>
                <a:srgbClr val="0F223E"/>
              </a:solidFill>
              <a:prstDash val="solid"/>
            </a:ln>
          </p:spPr>
          <p:txBody>
            <a:bodyPr/>
            <a:lstStyle/>
            <a:p>
              <a:endParaRPr/>
            </a:p>
          </p:txBody>
        </p:sp>
        <p:sp>
          <p:nvSpPr>
            <p:cNvPr id="28" name="Text 26"/>
            <p:cNvSpPr/>
            <p:nvPr/>
          </p:nvSpPr>
          <p:spPr>
            <a:xfrm>
              <a:off x="8332470" y="2478525"/>
              <a:ext cx="377190" cy="160735"/>
            </a:xfrm>
            <a:prstGeom prst="rect">
              <a:avLst/>
            </a:prstGeom>
            <a:noFill/>
            <a:ln/>
          </p:spPr>
          <p:txBody>
            <a:bodyPr wrap="square" lIns="0" tIns="0" rIns="0" bIns="0" rtlCol="0" anchor="ctr"/>
            <a:lstStyle/>
            <a:p>
              <a:r>
                <a:rPr lang="en-US" sz="900" b="1" dirty="0">
                  <a:solidFill>
                    <a:srgbClr val="0F223E"/>
                  </a:solidFill>
                  <a:latin typeface="Calibri"/>
                </a:rPr>
                <a:t>86.7</a:t>
              </a:r>
              <a:endParaRPr lang="en-US" sz="900" dirty="0"/>
            </a:p>
          </p:txBody>
        </p:sp>
        <p:sp>
          <p:nvSpPr>
            <p:cNvPr id="29" name="Text 27"/>
            <p:cNvSpPr/>
            <p:nvPr/>
          </p:nvSpPr>
          <p:spPr>
            <a:xfrm>
              <a:off x="5465826" y="2654046"/>
              <a:ext cx="3223260" cy="150876"/>
            </a:xfrm>
            <a:prstGeom prst="rect">
              <a:avLst/>
            </a:prstGeom>
            <a:noFill/>
            <a:ln/>
          </p:spPr>
          <p:txBody>
            <a:bodyPr wrap="square" lIns="0" tIns="0" rIns="0" bIns="0" rtlCol="0" anchor="ctr"/>
            <a:lstStyle/>
            <a:p>
              <a:r>
                <a:rPr lang="en-US" sz="800" i="1" dirty="0">
                  <a:solidFill>
                    <a:srgbClr val="1A1F36"/>
                  </a:solidFill>
                  <a:latin typeface="Calibri"/>
                </a:rPr>
                <a:t>Wang et al. (2018). GLUE: A Multi-Task Benchmark. EMNLP. Scores from Devlin et al. (2019).</a:t>
              </a:r>
              <a:endParaRPr lang="en-US" sz="800" dirty="0"/>
            </a:p>
          </p:txBody>
        </p:sp>
      </p:grpSp>
      <p:grpSp>
        <p:nvGrpSpPr>
          <p:cNvPr id="44" name="Group 43"/>
          <p:cNvGrpSpPr/>
          <p:nvPr/>
        </p:nvGrpSpPr>
        <p:grpSpPr>
          <a:xfrm>
            <a:off x="218385" y="2867389"/>
            <a:ext cx="2777490" cy="1502275"/>
            <a:chOff x="342900" y="2777490"/>
            <a:chExt cx="2777490" cy="1611630"/>
          </a:xfrm>
        </p:grpSpPr>
        <p:sp>
          <p:nvSpPr>
            <p:cNvPr id="30" name="Shape 28"/>
            <p:cNvSpPr/>
            <p:nvPr/>
          </p:nvSpPr>
          <p:spPr>
            <a:xfrm>
              <a:off x="342900" y="2777490"/>
              <a:ext cx="2777490" cy="1611630"/>
            </a:xfrm>
            <a:prstGeom prst="rect">
              <a:avLst/>
            </a:prstGeom>
            <a:solidFill>
              <a:srgbClr val="F7FAFC"/>
            </a:solidFill>
            <a:ln w="9525">
              <a:solidFill>
                <a:srgbClr val="E2E8F0"/>
              </a:solidFill>
              <a:prstDash val="solid"/>
            </a:ln>
          </p:spPr>
          <p:txBody>
            <a:bodyPr/>
            <a:lstStyle/>
            <a:p>
              <a:endParaRPr sz="2000"/>
            </a:p>
          </p:txBody>
        </p:sp>
        <p:sp>
          <p:nvSpPr>
            <p:cNvPr id="31" name="Shape 29"/>
            <p:cNvSpPr/>
            <p:nvPr/>
          </p:nvSpPr>
          <p:spPr>
            <a:xfrm>
              <a:off x="342900" y="2777490"/>
              <a:ext cx="41148" cy="1611630"/>
            </a:xfrm>
            <a:prstGeom prst="rect">
              <a:avLst/>
            </a:prstGeom>
            <a:solidFill>
              <a:srgbClr val="1A365D"/>
            </a:solidFill>
            <a:ln w="12700">
              <a:solidFill>
                <a:srgbClr val="1A365D"/>
              </a:solidFill>
              <a:prstDash val="solid"/>
            </a:ln>
          </p:spPr>
          <p:txBody>
            <a:bodyPr/>
            <a:lstStyle/>
            <a:p>
              <a:endParaRPr sz="2000"/>
            </a:p>
          </p:txBody>
        </p:sp>
        <p:sp>
          <p:nvSpPr>
            <p:cNvPr id="32" name="Text 30"/>
            <p:cNvSpPr/>
            <p:nvPr/>
          </p:nvSpPr>
          <p:spPr>
            <a:xfrm>
              <a:off x="514350" y="2880360"/>
              <a:ext cx="2503170" cy="274320"/>
            </a:xfrm>
            <a:prstGeom prst="rect">
              <a:avLst/>
            </a:prstGeom>
            <a:noFill/>
            <a:ln/>
          </p:spPr>
          <p:txBody>
            <a:bodyPr wrap="square" lIns="0" tIns="0" rIns="0" bIns="0" rtlCol="0" anchor="ctr"/>
            <a:lstStyle/>
            <a:p>
              <a:r>
                <a:rPr lang="en-US" b="1" dirty="0">
                  <a:solidFill>
                    <a:srgbClr val="0F223E"/>
                  </a:solidFill>
                  <a:latin typeface="Calibri"/>
                </a:rPr>
                <a:t>Single-Sentence Tasks</a:t>
              </a:r>
              <a:endParaRPr lang="en-US" dirty="0"/>
            </a:p>
          </p:txBody>
        </p:sp>
        <p:sp>
          <p:nvSpPr>
            <p:cNvPr id="33" name="Text 31"/>
            <p:cNvSpPr/>
            <p:nvPr/>
          </p:nvSpPr>
          <p:spPr>
            <a:xfrm>
              <a:off x="514350" y="3154680"/>
              <a:ext cx="2503170" cy="1131570"/>
            </a:xfrm>
            <a:prstGeom prst="rect">
              <a:avLst/>
            </a:prstGeom>
            <a:noFill/>
            <a:ln/>
          </p:spPr>
          <p:txBody>
            <a:bodyPr wrap="square" lIns="0" tIns="0" rIns="0" bIns="0" rtlCol="0" anchor="ctr"/>
            <a:lstStyle/>
            <a:p>
              <a:pPr marL="257175" indent="-257175">
                <a:spcAft>
                  <a:spcPts val="300"/>
                </a:spcAft>
                <a:buSzPct val="100000"/>
                <a:buChar char="•"/>
              </a:pPr>
              <a:r>
                <a:rPr lang="en-US" sz="1200" dirty="0">
                  <a:solidFill>
                    <a:srgbClr val="1A1F36"/>
                  </a:solidFill>
                  <a:latin typeface="Calibri"/>
                </a:rPr>
                <a:t>CoLA — Linguistic acceptability</a:t>
              </a:r>
              <a:endParaRPr lang="en-US" sz="1200" dirty="0"/>
            </a:p>
            <a:p>
              <a:pPr marL="257175" indent="-257175">
                <a:spcAft>
                  <a:spcPts val="300"/>
                </a:spcAft>
                <a:buSzPct val="100000"/>
                <a:buChar char="•"/>
              </a:pPr>
              <a:r>
                <a:rPr lang="en-US" sz="1200" dirty="0">
                  <a:solidFill>
                    <a:srgbClr val="1A1F36"/>
                  </a:solidFill>
                  <a:latin typeface="Calibri"/>
                </a:rPr>
                <a:t>SST-2 — Binary sentiment (movie reviews)</a:t>
              </a:r>
              <a:endParaRPr lang="en-US" sz="1200" dirty="0"/>
            </a:p>
            <a:p>
              <a:pPr marL="257175" indent="-257175">
                <a:spcAft>
                  <a:spcPts val="300"/>
                </a:spcAft>
                <a:buSzPct val="100000"/>
                <a:buChar char="•"/>
              </a:pPr>
              <a:r>
                <a:rPr lang="en-US" sz="1200" dirty="0">
                  <a:solidFill>
                    <a:srgbClr val="1A1F36"/>
                  </a:solidFill>
                  <a:latin typeface="Calibri"/>
                </a:rPr>
                <a:t>Metric: Matthew’s corr. (CoLA), accuracy (SST-2)</a:t>
              </a:r>
              <a:endParaRPr lang="en-US" sz="1200" dirty="0"/>
            </a:p>
          </p:txBody>
        </p:sp>
      </p:grpSp>
      <p:grpSp>
        <p:nvGrpSpPr>
          <p:cNvPr id="45" name="Group 44"/>
          <p:cNvGrpSpPr/>
          <p:nvPr/>
        </p:nvGrpSpPr>
        <p:grpSpPr>
          <a:xfrm>
            <a:off x="3124120" y="2867226"/>
            <a:ext cx="2777490" cy="1508923"/>
            <a:chOff x="3188970" y="2777490"/>
            <a:chExt cx="2777490" cy="1611630"/>
          </a:xfrm>
        </p:grpSpPr>
        <p:sp>
          <p:nvSpPr>
            <p:cNvPr id="34" name="Shape 32"/>
            <p:cNvSpPr/>
            <p:nvPr/>
          </p:nvSpPr>
          <p:spPr>
            <a:xfrm>
              <a:off x="3188970" y="2777490"/>
              <a:ext cx="2777490" cy="1611630"/>
            </a:xfrm>
            <a:prstGeom prst="rect">
              <a:avLst/>
            </a:prstGeom>
            <a:solidFill>
              <a:srgbClr val="F7FAFC"/>
            </a:solidFill>
            <a:ln w="9525">
              <a:solidFill>
                <a:srgbClr val="E2E8F0"/>
              </a:solidFill>
              <a:prstDash val="solid"/>
            </a:ln>
          </p:spPr>
          <p:txBody>
            <a:bodyPr/>
            <a:lstStyle/>
            <a:p>
              <a:endParaRPr sz="2000"/>
            </a:p>
          </p:txBody>
        </p:sp>
        <p:sp>
          <p:nvSpPr>
            <p:cNvPr id="35" name="Shape 33"/>
            <p:cNvSpPr/>
            <p:nvPr/>
          </p:nvSpPr>
          <p:spPr>
            <a:xfrm>
              <a:off x="3188970" y="2777490"/>
              <a:ext cx="41148" cy="1611630"/>
            </a:xfrm>
            <a:prstGeom prst="rect">
              <a:avLst/>
            </a:prstGeom>
            <a:solidFill>
              <a:srgbClr val="1A365D"/>
            </a:solidFill>
            <a:ln w="12700">
              <a:solidFill>
                <a:srgbClr val="1A365D"/>
              </a:solidFill>
              <a:prstDash val="solid"/>
            </a:ln>
          </p:spPr>
          <p:txBody>
            <a:bodyPr/>
            <a:lstStyle/>
            <a:p>
              <a:endParaRPr sz="2000"/>
            </a:p>
          </p:txBody>
        </p:sp>
        <p:sp>
          <p:nvSpPr>
            <p:cNvPr id="36" name="Text 34"/>
            <p:cNvSpPr/>
            <p:nvPr/>
          </p:nvSpPr>
          <p:spPr>
            <a:xfrm>
              <a:off x="3360420" y="2880360"/>
              <a:ext cx="2503170" cy="274320"/>
            </a:xfrm>
            <a:prstGeom prst="rect">
              <a:avLst/>
            </a:prstGeom>
            <a:noFill/>
            <a:ln/>
          </p:spPr>
          <p:txBody>
            <a:bodyPr wrap="square" lIns="0" tIns="0" rIns="0" bIns="0" rtlCol="0" anchor="ctr"/>
            <a:lstStyle/>
            <a:p>
              <a:r>
                <a:rPr lang="en-US" b="1" dirty="0">
                  <a:solidFill>
                    <a:srgbClr val="0F223E"/>
                  </a:solidFill>
                  <a:latin typeface="Calibri"/>
                </a:rPr>
                <a:t>Similarity &amp; Paraphrase</a:t>
              </a:r>
              <a:endParaRPr lang="en-US" dirty="0"/>
            </a:p>
          </p:txBody>
        </p:sp>
        <p:sp>
          <p:nvSpPr>
            <p:cNvPr id="37" name="Text 35"/>
            <p:cNvSpPr/>
            <p:nvPr/>
          </p:nvSpPr>
          <p:spPr>
            <a:xfrm>
              <a:off x="3360420" y="3154680"/>
              <a:ext cx="2503170" cy="1131570"/>
            </a:xfrm>
            <a:prstGeom prst="rect">
              <a:avLst/>
            </a:prstGeom>
            <a:noFill/>
            <a:ln/>
          </p:spPr>
          <p:txBody>
            <a:bodyPr wrap="square" lIns="0" tIns="0" rIns="0" bIns="0" rtlCol="0" anchor="ctr"/>
            <a:lstStyle/>
            <a:p>
              <a:pPr marL="257175" indent="-257175">
                <a:spcAft>
                  <a:spcPts val="300"/>
                </a:spcAft>
                <a:buSzPct val="100000"/>
                <a:buChar char="•"/>
              </a:pPr>
              <a:r>
                <a:rPr lang="en-US" sz="1200" dirty="0">
                  <a:solidFill>
                    <a:srgbClr val="1A1F36"/>
                  </a:solidFill>
                  <a:latin typeface="Calibri"/>
                </a:rPr>
                <a:t>MRPC — Microsoft paraphrase pairs</a:t>
              </a:r>
              <a:endParaRPr lang="en-US" sz="1200" dirty="0"/>
            </a:p>
            <a:p>
              <a:pPr marL="257175" indent="-257175">
                <a:spcAft>
                  <a:spcPts val="300"/>
                </a:spcAft>
                <a:buSzPct val="100000"/>
                <a:buChar char="•"/>
              </a:pPr>
              <a:r>
                <a:rPr lang="en-US" sz="1200" dirty="0">
                  <a:solidFill>
                    <a:srgbClr val="1A1F36"/>
                  </a:solidFill>
                  <a:latin typeface="Calibri"/>
                </a:rPr>
                <a:t>STS-B — Semantic textual similarity</a:t>
              </a:r>
              <a:endParaRPr lang="en-US" sz="1200" dirty="0"/>
            </a:p>
            <a:p>
              <a:pPr marL="257175" indent="-257175">
                <a:spcAft>
                  <a:spcPts val="300"/>
                </a:spcAft>
                <a:buSzPct val="100000"/>
                <a:buChar char="•"/>
              </a:pPr>
              <a:r>
                <a:rPr lang="en-US" sz="1200" dirty="0">
                  <a:solidFill>
                    <a:srgbClr val="1A1F36"/>
                  </a:solidFill>
                  <a:latin typeface="Calibri"/>
                </a:rPr>
                <a:t>QQP — Quora duplicate questions</a:t>
              </a:r>
              <a:endParaRPr lang="en-US" sz="1200" dirty="0"/>
            </a:p>
          </p:txBody>
        </p:sp>
      </p:grpSp>
      <p:grpSp>
        <p:nvGrpSpPr>
          <p:cNvPr id="46" name="Group 45"/>
          <p:cNvGrpSpPr/>
          <p:nvPr/>
        </p:nvGrpSpPr>
        <p:grpSpPr>
          <a:xfrm>
            <a:off x="6035040" y="2867226"/>
            <a:ext cx="2777490" cy="1508924"/>
            <a:chOff x="6035040" y="2777490"/>
            <a:chExt cx="2777490" cy="1611630"/>
          </a:xfrm>
        </p:grpSpPr>
        <p:sp>
          <p:nvSpPr>
            <p:cNvPr id="38" name="Shape 36"/>
            <p:cNvSpPr/>
            <p:nvPr/>
          </p:nvSpPr>
          <p:spPr>
            <a:xfrm>
              <a:off x="6035040" y="2777490"/>
              <a:ext cx="2777490" cy="1611630"/>
            </a:xfrm>
            <a:prstGeom prst="rect">
              <a:avLst/>
            </a:prstGeom>
            <a:solidFill>
              <a:srgbClr val="F7FAFC"/>
            </a:solidFill>
            <a:ln w="9525">
              <a:solidFill>
                <a:srgbClr val="E2E8F0"/>
              </a:solidFill>
              <a:prstDash val="solid"/>
            </a:ln>
          </p:spPr>
          <p:txBody>
            <a:bodyPr/>
            <a:lstStyle/>
            <a:p>
              <a:endParaRPr sz="1800"/>
            </a:p>
          </p:txBody>
        </p:sp>
        <p:sp>
          <p:nvSpPr>
            <p:cNvPr id="39" name="Shape 37"/>
            <p:cNvSpPr/>
            <p:nvPr/>
          </p:nvSpPr>
          <p:spPr>
            <a:xfrm>
              <a:off x="6035040" y="2777490"/>
              <a:ext cx="41148" cy="1611630"/>
            </a:xfrm>
            <a:prstGeom prst="rect">
              <a:avLst/>
            </a:prstGeom>
            <a:solidFill>
              <a:srgbClr val="1A365D"/>
            </a:solidFill>
            <a:ln w="12700">
              <a:solidFill>
                <a:srgbClr val="1A365D"/>
              </a:solidFill>
              <a:prstDash val="solid"/>
            </a:ln>
          </p:spPr>
          <p:txBody>
            <a:bodyPr/>
            <a:lstStyle/>
            <a:p>
              <a:endParaRPr sz="1800"/>
            </a:p>
          </p:txBody>
        </p:sp>
        <p:sp>
          <p:nvSpPr>
            <p:cNvPr id="40" name="Text 38"/>
            <p:cNvSpPr/>
            <p:nvPr/>
          </p:nvSpPr>
          <p:spPr>
            <a:xfrm>
              <a:off x="6206490" y="2880360"/>
              <a:ext cx="2503170" cy="274320"/>
            </a:xfrm>
            <a:prstGeom prst="rect">
              <a:avLst/>
            </a:prstGeom>
            <a:noFill/>
            <a:ln/>
          </p:spPr>
          <p:txBody>
            <a:bodyPr wrap="square" lIns="0" tIns="0" rIns="0" bIns="0" rtlCol="0" anchor="ctr"/>
            <a:lstStyle/>
            <a:p>
              <a:r>
                <a:rPr lang="en-US" sz="1200" b="1" dirty="0">
                  <a:solidFill>
                    <a:srgbClr val="0F223E"/>
                  </a:solidFill>
                  <a:latin typeface="Calibri"/>
                </a:rPr>
                <a:t>Inference Tasks</a:t>
              </a:r>
              <a:endParaRPr lang="en-US" sz="1200" dirty="0"/>
            </a:p>
          </p:txBody>
        </p:sp>
        <p:sp>
          <p:nvSpPr>
            <p:cNvPr id="41" name="Text 39"/>
            <p:cNvSpPr/>
            <p:nvPr/>
          </p:nvSpPr>
          <p:spPr>
            <a:xfrm>
              <a:off x="6206490" y="3154680"/>
              <a:ext cx="2503170" cy="1131570"/>
            </a:xfrm>
            <a:prstGeom prst="rect">
              <a:avLst/>
            </a:prstGeom>
            <a:noFill/>
            <a:ln/>
          </p:spPr>
          <p:txBody>
            <a:bodyPr wrap="square" lIns="0" tIns="0" rIns="0" bIns="0" rtlCol="0" anchor="ctr"/>
            <a:lstStyle/>
            <a:p>
              <a:pPr marL="257175" indent="-257175">
                <a:spcAft>
                  <a:spcPts val="300"/>
                </a:spcAft>
                <a:buSzPct val="100000"/>
                <a:buChar char="•"/>
              </a:pPr>
              <a:r>
                <a:rPr lang="en-US" sz="1100" dirty="0">
                  <a:solidFill>
                    <a:srgbClr val="1A1F36"/>
                  </a:solidFill>
                  <a:latin typeface="Calibri"/>
                </a:rPr>
                <a:t>MNLI — Multi-genre NLI (entailment)</a:t>
              </a:r>
              <a:endParaRPr lang="en-US" sz="1100" dirty="0"/>
            </a:p>
            <a:p>
              <a:pPr marL="257175" indent="-257175">
                <a:spcAft>
                  <a:spcPts val="300"/>
                </a:spcAft>
                <a:buSzPct val="100000"/>
                <a:buChar char="•"/>
              </a:pPr>
              <a:r>
                <a:rPr lang="en-US" sz="1100" dirty="0">
                  <a:solidFill>
                    <a:srgbClr val="1A1F36"/>
                  </a:solidFill>
                  <a:latin typeface="Calibri"/>
                </a:rPr>
                <a:t>QNLI, RTE, WNLI — Textual entailment</a:t>
              </a:r>
              <a:endParaRPr lang="en-US" sz="1100" dirty="0"/>
            </a:p>
            <a:p>
              <a:pPr marL="257175" indent="-257175">
                <a:spcAft>
                  <a:spcPts val="300"/>
                </a:spcAft>
                <a:buSzPct val="100000"/>
                <a:buChar char="•"/>
              </a:pPr>
              <a:r>
                <a:rPr lang="en-US" sz="1100" dirty="0">
                  <a:solidFill>
                    <a:srgbClr val="1A1F36"/>
                  </a:solidFill>
                  <a:latin typeface="Calibri"/>
                </a:rPr>
                <a:t>BERT-Large averaged 82.1 — new SOTA</a:t>
              </a:r>
              <a:endParaRPr lang="en-US" sz="1100" dirty="0"/>
            </a:p>
          </p:txBody>
        </p:sp>
      </p:grpSp>
      <p:sp>
        <p:nvSpPr>
          <p:cNvPr id="42" name="Text 40"/>
          <p:cNvSpPr/>
          <p:nvPr/>
        </p:nvSpPr>
        <p:spPr>
          <a:xfrm>
            <a:off x="342900" y="4512564"/>
            <a:ext cx="8435340" cy="582930"/>
          </a:xfrm>
          <a:prstGeom prst="rect">
            <a:avLst/>
          </a:prstGeom>
          <a:noFill/>
          <a:ln/>
        </p:spPr>
        <p:txBody>
          <a:bodyPr wrap="square" lIns="0" tIns="0" rIns="0" bIns="0" rtlCol="0" anchor="t"/>
          <a:lstStyle/>
          <a:p>
            <a:pPr>
              <a:spcAft>
                <a:spcPts val="75"/>
              </a:spcAft>
            </a:pPr>
            <a:r>
              <a:rPr lang="en-US" sz="1000" i="1" dirty="0">
                <a:solidFill>
                  <a:srgbClr val="1A1F36"/>
                </a:solidFill>
                <a:latin typeface="Calibri"/>
              </a:rPr>
              <a:t>Wang et al. (2018). GLUE: A Multi-Task Benchmark and Analysis Platform for Natural Language Understanding. EMNLP 2018. arXiv:1804.07461.</a:t>
            </a:r>
            <a:endParaRPr lang="en-US" sz="1000" dirty="0"/>
          </a:p>
          <a:p>
            <a:pPr>
              <a:spcAft>
                <a:spcPts val="75"/>
              </a:spcAft>
            </a:pPr>
            <a:r>
              <a:rPr lang="en-US" sz="1000" i="1" dirty="0">
                <a:solidFill>
                  <a:srgbClr val="1A1F36"/>
                </a:solidFill>
                <a:latin typeface="Calibri"/>
              </a:rPr>
              <a:t>Results from: Devlin et al. (2019). BERT: Pre-training of Deep Bidirectional Transformers for Language Understanding. NAACL 2019.</a:t>
            </a:r>
            <a:endParaRPr lang="en-US" sz="1000" dirty="0"/>
          </a:p>
        </p:txBody>
      </p:sp>
      <p:pic>
        <p:nvPicPr>
          <p:cNvPr id="3" name="Google Shape;109;p20">
            <a:extLst>
              <a:ext uri="{FF2B5EF4-FFF2-40B4-BE49-F238E27FC236}">
                <a16:creationId xmlns:a16="http://schemas.microsoft.com/office/drawing/2014/main" id="{DDDF7AF5-6E06-58E1-34EA-8500EE367B59}"/>
              </a:ext>
            </a:extLst>
          </p:cNvPr>
          <p:cNvPicPr preferRelativeResize="0"/>
          <p:nvPr/>
        </p:nvPicPr>
        <p:blipFill>
          <a:blip r:embed="rId2">
            <a:alphaModFix/>
          </a:blip>
          <a:stretch>
            <a:fillRect/>
          </a:stretch>
        </p:blipFill>
        <p:spPr>
          <a:xfrm>
            <a:off x="8369125" y="0"/>
            <a:ext cx="774877" cy="867174"/>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320040" y="109728"/>
            <a:ext cx="7772400" cy="566928"/>
          </a:xfrm>
          <a:prstGeom prst="rect">
            <a:avLst/>
          </a:prstGeom>
          <a:noFill/>
          <a:ln/>
        </p:spPr>
        <p:txBody>
          <a:bodyPr wrap="square" lIns="0" tIns="0" rIns="0" bIns="0" rtlCol="0" anchor="ctr"/>
          <a:lstStyle/>
          <a:p>
            <a:pPr marL="0" indent="0">
              <a:buNone/>
            </a:pPr>
            <a:r>
              <a:rPr lang="en-US" sz="3000" b="1" dirty="0">
                <a:solidFill>
                  <a:srgbClr val="1F3864"/>
                </a:solidFill>
                <a:latin typeface="Calibri" pitchFamily="34" charset="0"/>
                <a:ea typeface="Calibri" pitchFamily="34" charset="-122"/>
                <a:cs typeface="Calibri" pitchFamily="34" charset="-120"/>
              </a:rPr>
              <a:t>GLUE: Inside the Benchmark</a:t>
            </a:r>
            <a:endParaRPr lang="en-US" sz="3000" dirty="0"/>
          </a:p>
        </p:txBody>
      </p:sp>
      <p:sp>
        <p:nvSpPr>
          <p:cNvPr id="34" name="Text 32"/>
          <p:cNvSpPr/>
          <p:nvPr/>
        </p:nvSpPr>
        <p:spPr>
          <a:xfrm>
            <a:off x="320040" y="3078897"/>
            <a:ext cx="2834640" cy="201168"/>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Inference (NLI)</a:t>
            </a:r>
            <a:endParaRPr lang="en-US" sz="850" dirty="0"/>
          </a:p>
        </p:txBody>
      </p:sp>
      <p:grpSp>
        <p:nvGrpSpPr>
          <p:cNvPr id="4" name="Group 3">
            <a:extLst>
              <a:ext uri="{FF2B5EF4-FFF2-40B4-BE49-F238E27FC236}">
                <a16:creationId xmlns:a16="http://schemas.microsoft.com/office/drawing/2014/main" id="{36C2A1C0-FC4A-275B-9C33-25435C337A16}"/>
              </a:ext>
            </a:extLst>
          </p:cNvPr>
          <p:cNvGrpSpPr/>
          <p:nvPr/>
        </p:nvGrpSpPr>
        <p:grpSpPr>
          <a:xfrm>
            <a:off x="320040" y="1039785"/>
            <a:ext cx="2624328" cy="3337560"/>
            <a:chOff x="320040" y="1039785"/>
            <a:chExt cx="2624328" cy="3337560"/>
          </a:xfrm>
        </p:grpSpPr>
        <p:sp>
          <p:nvSpPr>
            <p:cNvPr id="6" name="Shape 4"/>
            <p:cNvSpPr/>
            <p:nvPr/>
          </p:nvSpPr>
          <p:spPr>
            <a:xfrm>
              <a:off x="320040" y="1039785"/>
              <a:ext cx="2430417" cy="274320"/>
            </a:xfrm>
            <a:prstGeom prst="rect">
              <a:avLst/>
            </a:prstGeom>
            <a:solidFill>
              <a:srgbClr val="D9E1F2"/>
            </a:solidFill>
            <a:ln w="12700">
              <a:solidFill>
                <a:srgbClr val="D9E1F2"/>
              </a:solidFill>
              <a:prstDash val="solid"/>
            </a:ln>
          </p:spPr>
        </p:sp>
        <p:sp>
          <p:nvSpPr>
            <p:cNvPr id="7" name="Text 5"/>
            <p:cNvSpPr/>
            <p:nvPr/>
          </p:nvSpPr>
          <p:spPr>
            <a:xfrm>
              <a:off x="320040" y="1039785"/>
              <a:ext cx="2430417" cy="274320"/>
            </a:xfrm>
            <a:prstGeom prst="rect">
              <a:avLst/>
            </a:prstGeom>
            <a:noFill/>
            <a:ln/>
          </p:spPr>
          <p:txBody>
            <a:bodyPr wrap="square" lIns="0" tIns="0" rIns="0" bIns="0" rtlCol="0" anchor="ctr"/>
            <a:lstStyle/>
            <a:p>
              <a:pPr marL="0" indent="0" algn="ctr">
                <a:buNone/>
              </a:pPr>
              <a:r>
                <a:rPr lang="en-US" sz="1200" b="1" dirty="0">
                  <a:solidFill>
                    <a:srgbClr val="1F3864"/>
                  </a:solidFill>
                  <a:latin typeface="Calibri" pitchFamily="34" charset="0"/>
                  <a:ea typeface="Calibri" pitchFamily="34" charset="-122"/>
                  <a:cs typeface="Calibri" pitchFamily="34" charset="-120"/>
                </a:rPr>
                <a:t>9 Tasks · 3 Categories · One Score</a:t>
              </a:r>
              <a:endParaRPr lang="en-US" sz="1200" dirty="0"/>
            </a:p>
          </p:txBody>
        </p:sp>
        <p:sp>
          <p:nvSpPr>
            <p:cNvPr id="8" name="Shape 6"/>
            <p:cNvSpPr/>
            <p:nvPr/>
          </p:nvSpPr>
          <p:spPr>
            <a:xfrm>
              <a:off x="320040" y="1378113"/>
              <a:ext cx="2430417" cy="201168"/>
            </a:xfrm>
            <a:prstGeom prst="rect">
              <a:avLst/>
            </a:prstGeom>
            <a:solidFill>
              <a:srgbClr val="2E75B6"/>
            </a:solidFill>
            <a:ln w="12700">
              <a:solidFill>
                <a:srgbClr val="2E75B6"/>
              </a:solidFill>
              <a:prstDash val="solid"/>
            </a:ln>
          </p:spPr>
        </p:sp>
        <p:sp>
          <p:nvSpPr>
            <p:cNvPr id="9" name="Text 7"/>
            <p:cNvSpPr/>
            <p:nvPr/>
          </p:nvSpPr>
          <p:spPr>
            <a:xfrm>
              <a:off x="320040" y="1378113"/>
              <a:ext cx="2430417" cy="201168"/>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Single-Sentence</a:t>
              </a:r>
              <a:endParaRPr lang="en-US" sz="1050" dirty="0"/>
            </a:p>
          </p:txBody>
        </p:sp>
        <p:sp>
          <p:nvSpPr>
            <p:cNvPr id="10" name="Text 8"/>
            <p:cNvSpPr/>
            <p:nvPr/>
          </p:nvSpPr>
          <p:spPr>
            <a:xfrm>
              <a:off x="347472" y="1579281"/>
              <a:ext cx="2352016" cy="182880"/>
            </a:xfrm>
            <a:prstGeom prst="rect">
              <a:avLst/>
            </a:prstGeom>
            <a:noFill/>
            <a:ln/>
          </p:spPr>
          <p:txBody>
            <a:bodyPr wrap="square" lIns="0" tIns="0" rIns="0" bIns="0" rtlCol="0" anchor="ctr"/>
            <a:lstStyle/>
            <a:p>
              <a:pPr marL="0" indent="0">
                <a:buNone/>
              </a:pPr>
              <a:r>
                <a:rPr lang="en-US" sz="1000" b="1" dirty="0">
                  <a:solidFill>
                    <a:srgbClr val="44546A"/>
                  </a:solidFill>
                  <a:latin typeface="Calibri" pitchFamily="34" charset="0"/>
                  <a:ea typeface="Calibri" pitchFamily="34" charset="-122"/>
                  <a:cs typeface="Calibri" pitchFamily="34" charset="-120"/>
                </a:rPr>
                <a:t>Task                            # Examples             Metric</a:t>
              </a:r>
              <a:endParaRPr lang="en-US" sz="1000" dirty="0"/>
            </a:p>
          </p:txBody>
        </p:sp>
        <p:sp>
          <p:nvSpPr>
            <p:cNvPr id="11" name="Shape 9"/>
            <p:cNvSpPr/>
            <p:nvPr/>
          </p:nvSpPr>
          <p:spPr>
            <a:xfrm>
              <a:off x="320040" y="1762161"/>
              <a:ext cx="2430417" cy="201168"/>
            </a:xfrm>
            <a:prstGeom prst="rect">
              <a:avLst/>
            </a:prstGeom>
            <a:solidFill>
              <a:srgbClr val="F2F2F2"/>
            </a:solidFill>
            <a:ln w="6350">
              <a:solidFill>
                <a:srgbClr val="DDEEFF"/>
              </a:solidFill>
              <a:prstDash val="solid"/>
            </a:ln>
          </p:spPr>
        </p:sp>
        <p:sp>
          <p:nvSpPr>
            <p:cNvPr id="12" name="Text 10"/>
            <p:cNvSpPr/>
            <p:nvPr/>
          </p:nvSpPr>
          <p:spPr>
            <a:xfrm>
              <a:off x="384048" y="1771305"/>
              <a:ext cx="822960" cy="182880"/>
            </a:xfrm>
            <a:prstGeom prst="rect">
              <a:avLst/>
            </a:prstGeom>
            <a:noFill/>
            <a:ln/>
          </p:spPr>
          <p:txBody>
            <a:bodyPr wrap="square" lIns="0" tIns="0" rIns="0" bIns="0" rtlCol="0" anchor="ctr"/>
            <a:lstStyle/>
            <a:p>
              <a:pPr marL="0" indent="0">
                <a:buNone/>
              </a:pPr>
              <a:r>
                <a:rPr lang="en-US" sz="1050" b="1" dirty="0">
                  <a:solidFill>
                    <a:srgbClr val="1F3864"/>
                  </a:solidFill>
                  <a:latin typeface="Calibri" pitchFamily="34" charset="0"/>
                  <a:ea typeface="Calibri" pitchFamily="34" charset="-122"/>
                  <a:cs typeface="Calibri" pitchFamily="34" charset="-120"/>
                </a:rPr>
                <a:t>CoLA</a:t>
              </a:r>
              <a:endParaRPr lang="en-US" sz="1050" dirty="0"/>
            </a:p>
          </p:txBody>
        </p:sp>
        <p:sp>
          <p:nvSpPr>
            <p:cNvPr id="13" name="Text 11"/>
            <p:cNvSpPr/>
            <p:nvPr/>
          </p:nvSpPr>
          <p:spPr>
            <a:xfrm>
              <a:off x="1234440" y="1771305"/>
              <a:ext cx="822960" cy="182880"/>
            </a:xfrm>
            <a:prstGeom prst="rect">
              <a:avLst/>
            </a:prstGeom>
            <a:noFill/>
            <a:ln/>
          </p:spPr>
          <p:txBody>
            <a:bodyPr wrap="square" lIns="0" tIns="0" rIns="0" bIns="0" rtlCol="0" anchor="ctr"/>
            <a:lstStyle/>
            <a:p>
              <a:pPr marL="0" indent="0" algn="ctr">
                <a:buNone/>
              </a:pPr>
              <a:r>
                <a:rPr lang="en-US" sz="1050" dirty="0">
                  <a:solidFill>
                    <a:srgbClr val="595959"/>
                  </a:solidFill>
                  <a:latin typeface="Calibri" pitchFamily="34" charset="0"/>
                  <a:ea typeface="Calibri" pitchFamily="34" charset="-122"/>
                  <a:cs typeface="Calibri" pitchFamily="34" charset="-120"/>
                </a:rPr>
                <a:t>10.7k</a:t>
              </a:r>
              <a:endParaRPr lang="en-US" sz="1050" dirty="0"/>
            </a:p>
          </p:txBody>
        </p:sp>
        <p:sp>
          <p:nvSpPr>
            <p:cNvPr id="14" name="Text 12"/>
            <p:cNvSpPr/>
            <p:nvPr/>
          </p:nvSpPr>
          <p:spPr>
            <a:xfrm>
              <a:off x="2121408" y="1771305"/>
              <a:ext cx="822960" cy="182880"/>
            </a:xfrm>
            <a:prstGeom prst="rect">
              <a:avLst/>
            </a:prstGeom>
            <a:noFill/>
            <a:ln/>
          </p:spPr>
          <p:txBody>
            <a:bodyPr wrap="square" lIns="0" tIns="0" rIns="0" bIns="0" rtlCol="0" anchor="ctr"/>
            <a:lstStyle/>
            <a:p>
              <a:pPr marL="0" indent="0" algn="ctr">
                <a:buNone/>
              </a:pPr>
              <a:r>
                <a:rPr lang="en-US" sz="1050" dirty="0">
                  <a:solidFill>
                    <a:srgbClr val="44546A"/>
                  </a:solidFill>
                  <a:latin typeface="Calibri" pitchFamily="34" charset="0"/>
                  <a:ea typeface="Calibri" pitchFamily="34" charset="-122"/>
                  <a:cs typeface="Calibri" pitchFamily="34" charset="-120"/>
                </a:rPr>
                <a:t>MCC</a:t>
              </a:r>
              <a:endParaRPr lang="en-US" sz="1050" dirty="0"/>
            </a:p>
          </p:txBody>
        </p:sp>
        <p:sp>
          <p:nvSpPr>
            <p:cNvPr id="15" name="Shape 13"/>
            <p:cNvSpPr/>
            <p:nvPr/>
          </p:nvSpPr>
          <p:spPr>
            <a:xfrm>
              <a:off x="320040" y="1963329"/>
              <a:ext cx="2430417" cy="201168"/>
            </a:xfrm>
            <a:prstGeom prst="rect">
              <a:avLst/>
            </a:prstGeom>
            <a:solidFill>
              <a:srgbClr val="F7F9FF"/>
            </a:solidFill>
            <a:ln w="6350">
              <a:solidFill>
                <a:srgbClr val="DDEEFF"/>
              </a:solidFill>
              <a:prstDash val="solid"/>
            </a:ln>
          </p:spPr>
        </p:sp>
        <p:sp>
          <p:nvSpPr>
            <p:cNvPr id="16" name="Text 14"/>
            <p:cNvSpPr/>
            <p:nvPr/>
          </p:nvSpPr>
          <p:spPr>
            <a:xfrm>
              <a:off x="384048" y="1972473"/>
              <a:ext cx="822960" cy="182880"/>
            </a:xfrm>
            <a:prstGeom prst="rect">
              <a:avLst/>
            </a:prstGeom>
            <a:noFill/>
            <a:ln/>
          </p:spPr>
          <p:txBody>
            <a:bodyPr wrap="square" lIns="0" tIns="0" rIns="0" bIns="0" rtlCol="0" anchor="ctr"/>
            <a:lstStyle/>
            <a:p>
              <a:pPr marL="0" indent="0">
                <a:buNone/>
              </a:pPr>
              <a:r>
                <a:rPr lang="en-US" sz="1050" b="1" dirty="0">
                  <a:solidFill>
                    <a:srgbClr val="1F3864"/>
                  </a:solidFill>
                  <a:latin typeface="Calibri" pitchFamily="34" charset="0"/>
                  <a:ea typeface="Calibri" pitchFamily="34" charset="-122"/>
                  <a:cs typeface="Calibri" pitchFamily="34" charset="-120"/>
                </a:rPr>
                <a:t>SST-2</a:t>
              </a:r>
              <a:endParaRPr lang="en-US" sz="1050" dirty="0"/>
            </a:p>
          </p:txBody>
        </p:sp>
        <p:sp>
          <p:nvSpPr>
            <p:cNvPr id="17" name="Text 15"/>
            <p:cNvSpPr/>
            <p:nvPr/>
          </p:nvSpPr>
          <p:spPr>
            <a:xfrm>
              <a:off x="1234440" y="1972473"/>
              <a:ext cx="822960" cy="182880"/>
            </a:xfrm>
            <a:prstGeom prst="rect">
              <a:avLst/>
            </a:prstGeom>
            <a:noFill/>
            <a:ln/>
          </p:spPr>
          <p:txBody>
            <a:bodyPr wrap="square" lIns="0" tIns="0" rIns="0" bIns="0" rtlCol="0" anchor="ctr"/>
            <a:lstStyle/>
            <a:p>
              <a:pPr marL="0" indent="0" algn="ctr">
                <a:buNone/>
              </a:pPr>
              <a:r>
                <a:rPr lang="en-US" sz="1050" dirty="0">
                  <a:solidFill>
                    <a:srgbClr val="595959"/>
                  </a:solidFill>
                  <a:latin typeface="Calibri" pitchFamily="34" charset="0"/>
                  <a:ea typeface="Calibri" pitchFamily="34" charset="-122"/>
                  <a:cs typeface="Calibri" pitchFamily="34" charset="-120"/>
                </a:rPr>
                <a:t>70k</a:t>
              </a:r>
              <a:endParaRPr lang="en-US" sz="1050" dirty="0"/>
            </a:p>
          </p:txBody>
        </p:sp>
        <p:sp>
          <p:nvSpPr>
            <p:cNvPr id="18" name="Text 16"/>
            <p:cNvSpPr/>
            <p:nvPr/>
          </p:nvSpPr>
          <p:spPr>
            <a:xfrm>
              <a:off x="2121408" y="1972473"/>
              <a:ext cx="822960" cy="182880"/>
            </a:xfrm>
            <a:prstGeom prst="rect">
              <a:avLst/>
            </a:prstGeom>
            <a:noFill/>
            <a:ln/>
          </p:spPr>
          <p:txBody>
            <a:bodyPr wrap="square" lIns="0" tIns="0" rIns="0" bIns="0" rtlCol="0" anchor="ctr"/>
            <a:lstStyle/>
            <a:p>
              <a:pPr marL="0" indent="0" algn="ctr">
                <a:buNone/>
              </a:pPr>
              <a:r>
                <a:rPr lang="en-US" sz="1050" dirty="0">
                  <a:solidFill>
                    <a:srgbClr val="44546A"/>
                  </a:solidFill>
                  <a:latin typeface="Calibri" pitchFamily="34" charset="0"/>
                  <a:ea typeface="Calibri" pitchFamily="34" charset="-122"/>
                  <a:cs typeface="Calibri" pitchFamily="34" charset="-120"/>
                </a:rPr>
                <a:t>Acc</a:t>
              </a:r>
              <a:endParaRPr lang="en-US" sz="1050" dirty="0"/>
            </a:p>
          </p:txBody>
        </p:sp>
        <p:sp>
          <p:nvSpPr>
            <p:cNvPr id="19" name="Shape 17"/>
            <p:cNvSpPr/>
            <p:nvPr/>
          </p:nvSpPr>
          <p:spPr>
            <a:xfrm>
              <a:off x="320040" y="2219361"/>
              <a:ext cx="2430417" cy="201168"/>
            </a:xfrm>
            <a:prstGeom prst="rect">
              <a:avLst/>
            </a:prstGeom>
            <a:solidFill>
              <a:srgbClr val="375623"/>
            </a:solidFill>
            <a:ln w="12700">
              <a:solidFill>
                <a:srgbClr val="375623"/>
              </a:solidFill>
              <a:prstDash val="solid"/>
            </a:ln>
          </p:spPr>
        </p:sp>
        <p:sp>
          <p:nvSpPr>
            <p:cNvPr id="20" name="Text 18"/>
            <p:cNvSpPr/>
            <p:nvPr/>
          </p:nvSpPr>
          <p:spPr>
            <a:xfrm>
              <a:off x="320040" y="2219361"/>
              <a:ext cx="2430417" cy="201168"/>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Similarity &amp; Paraphrase</a:t>
              </a:r>
              <a:endParaRPr lang="en-US" sz="1050" dirty="0"/>
            </a:p>
          </p:txBody>
        </p:sp>
        <p:sp>
          <p:nvSpPr>
            <p:cNvPr id="21" name="Shape 19"/>
            <p:cNvSpPr/>
            <p:nvPr/>
          </p:nvSpPr>
          <p:spPr>
            <a:xfrm>
              <a:off x="320040" y="2420529"/>
              <a:ext cx="2430417" cy="201168"/>
            </a:xfrm>
            <a:prstGeom prst="rect">
              <a:avLst/>
            </a:prstGeom>
            <a:solidFill>
              <a:srgbClr val="F7F9FF"/>
            </a:solidFill>
            <a:ln w="6350">
              <a:solidFill>
                <a:srgbClr val="DDEEFF"/>
              </a:solidFill>
              <a:prstDash val="solid"/>
            </a:ln>
          </p:spPr>
        </p:sp>
        <p:sp>
          <p:nvSpPr>
            <p:cNvPr id="22" name="Text 20"/>
            <p:cNvSpPr/>
            <p:nvPr/>
          </p:nvSpPr>
          <p:spPr>
            <a:xfrm>
              <a:off x="384048" y="2429673"/>
              <a:ext cx="822960" cy="182880"/>
            </a:xfrm>
            <a:prstGeom prst="rect">
              <a:avLst/>
            </a:prstGeom>
            <a:noFill/>
            <a:ln/>
          </p:spPr>
          <p:txBody>
            <a:bodyPr wrap="square" lIns="0" tIns="0" rIns="0" bIns="0" rtlCol="0" anchor="ctr"/>
            <a:lstStyle/>
            <a:p>
              <a:pPr marL="0" indent="0">
                <a:buNone/>
              </a:pPr>
              <a:r>
                <a:rPr lang="en-US" sz="1050" b="1" dirty="0">
                  <a:solidFill>
                    <a:srgbClr val="1F3864"/>
                  </a:solidFill>
                  <a:latin typeface="Calibri" pitchFamily="34" charset="0"/>
                  <a:ea typeface="Calibri" pitchFamily="34" charset="-122"/>
                  <a:cs typeface="Calibri" pitchFamily="34" charset="-120"/>
                </a:rPr>
                <a:t>MRPC</a:t>
              </a:r>
              <a:endParaRPr lang="en-US" sz="1050" dirty="0"/>
            </a:p>
          </p:txBody>
        </p:sp>
        <p:sp>
          <p:nvSpPr>
            <p:cNvPr id="23" name="Text 21"/>
            <p:cNvSpPr/>
            <p:nvPr/>
          </p:nvSpPr>
          <p:spPr>
            <a:xfrm>
              <a:off x="1234440" y="2429673"/>
              <a:ext cx="822960" cy="182880"/>
            </a:xfrm>
            <a:prstGeom prst="rect">
              <a:avLst/>
            </a:prstGeom>
            <a:noFill/>
            <a:ln/>
          </p:spPr>
          <p:txBody>
            <a:bodyPr wrap="square" lIns="0" tIns="0" rIns="0" bIns="0" rtlCol="0" anchor="ctr"/>
            <a:lstStyle/>
            <a:p>
              <a:pPr marL="0" indent="0" algn="ctr">
                <a:buNone/>
              </a:pPr>
              <a:r>
                <a:rPr lang="en-US" sz="1050" dirty="0">
                  <a:solidFill>
                    <a:srgbClr val="595959"/>
                  </a:solidFill>
                  <a:latin typeface="Calibri" pitchFamily="34" charset="0"/>
                  <a:ea typeface="Calibri" pitchFamily="34" charset="-122"/>
                  <a:cs typeface="Calibri" pitchFamily="34" charset="-120"/>
                </a:rPr>
                <a:t>5.8k</a:t>
              </a:r>
              <a:endParaRPr lang="en-US" sz="1050" dirty="0"/>
            </a:p>
          </p:txBody>
        </p:sp>
        <p:sp>
          <p:nvSpPr>
            <p:cNvPr id="24" name="Text 22"/>
            <p:cNvSpPr/>
            <p:nvPr/>
          </p:nvSpPr>
          <p:spPr>
            <a:xfrm>
              <a:off x="2121408" y="2429673"/>
              <a:ext cx="822960" cy="182880"/>
            </a:xfrm>
            <a:prstGeom prst="rect">
              <a:avLst/>
            </a:prstGeom>
            <a:noFill/>
            <a:ln/>
          </p:spPr>
          <p:txBody>
            <a:bodyPr wrap="square" lIns="0" tIns="0" rIns="0" bIns="0" rtlCol="0" anchor="ctr"/>
            <a:lstStyle/>
            <a:p>
              <a:pPr marL="0" indent="0" algn="ctr">
                <a:buNone/>
              </a:pPr>
              <a:r>
                <a:rPr lang="en-US" sz="1050" dirty="0">
                  <a:solidFill>
                    <a:srgbClr val="44546A"/>
                  </a:solidFill>
                  <a:latin typeface="Calibri" pitchFamily="34" charset="0"/>
                  <a:ea typeface="Calibri" pitchFamily="34" charset="-122"/>
                  <a:cs typeface="Calibri" pitchFamily="34" charset="-120"/>
                </a:rPr>
                <a:t>F1/Acc</a:t>
              </a:r>
              <a:endParaRPr lang="en-US" sz="1050" dirty="0"/>
            </a:p>
          </p:txBody>
        </p:sp>
        <p:sp>
          <p:nvSpPr>
            <p:cNvPr id="25" name="Shape 23"/>
            <p:cNvSpPr/>
            <p:nvPr/>
          </p:nvSpPr>
          <p:spPr>
            <a:xfrm>
              <a:off x="320040" y="2621697"/>
              <a:ext cx="2430417" cy="201168"/>
            </a:xfrm>
            <a:prstGeom prst="rect">
              <a:avLst/>
            </a:prstGeom>
            <a:solidFill>
              <a:srgbClr val="F2F2F2"/>
            </a:solidFill>
            <a:ln w="6350">
              <a:solidFill>
                <a:srgbClr val="DDEEFF"/>
              </a:solidFill>
              <a:prstDash val="solid"/>
            </a:ln>
          </p:spPr>
        </p:sp>
        <p:sp>
          <p:nvSpPr>
            <p:cNvPr id="26" name="Text 24"/>
            <p:cNvSpPr/>
            <p:nvPr/>
          </p:nvSpPr>
          <p:spPr>
            <a:xfrm>
              <a:off x="384048" y="2630841"/>
              <a:ext cx="822960" cy="182880"/>
            </a:xfrm>
            <a:prstGeom prst="rect">
              <a:avLst/>
            </a:prstGeom>
            <a:noFill/>
            <a:ln/>
          </p:spPr>
          <p:txBody>
            <a:bodyPr wrap="square" lIns="0" tIns="0" rIns="0" bIns="0" rtlCol="0" anchor="ctr"/>
            <a:lstStyle/>
            <a:p>
              <a:pPr marL="0" indent="0">
                <a:buNone/>
              </a:pPr>
              <a:r>
                <a:rPr lang="en-US" sz="1050" b="1" dirty="0">
                  <a:solidFill>
                    <a:srgbClr val="1F3864"/>
                  </a:solidFill>
                  <a:latin typeface="Calibri" pitchFamily="34" charset="0"/>
                  <a:ea typeface="Calibri" pitchFamily="34" charset="-122"/>
                  <a:cs typeface="Calibri" pitchFamily="34" charset="-120"/>
                </a:rPr>
                <a:t>STS-B</a:t>
              </a:r>
              <a:endParaRPr lang="en-US" sz="1050" dirty="0"/>
            </a:p>
          </p:txBody>
        </p:sp>
        <p:sp>
          <p:nvSpPr>
            <p:cNvPr id="27" name="Text 25"/>
            <p:cNvSpPr/>
            <p:nvPr/>
          </p:nvSpPr>
          <p:spPr>
            <a:xfrm>
              <a:off x="1234440" y="2630841"/>
              <a:ext cx="822960" cy="182880"/>
            </a:xfrm>
            <a:prstGeom prst="rect">
              <a:avLst/>
            </a:prstGeom>
            <a:noFill/>
            <a:ln/>
          </p:spPr>
          <p:txBody>
            <a:bodyPr wrap="square" lIns="0" tIns="0" rIns="0" bIns="0" rtlCol="0" anchor="ctr"/>
            <a:lstStyle/>
            <a:p>
              <a:pPr marL="0" indent="0" algn="ctr">
                <a:buNone/>
              </a:pPr>
              <a:r>
                <a:rPr lang="en-US" sz="1050" dirty="0">
                  <a:solidFill>
                    <a:srgbClr val="595959"/>
                  </a:solidFill>
                  <a:latin typeface="Calibri" pitchFamily="34" charset="0"/>
                  <a:ea typeface="Calibri" pitchFamily="34" charset="-122"/>
                  <a:cs typeface="Calibri" pitchFamily="34" charset="-120"/>
                </a:rPr>
                <a:t>8.63k</a:t>
              </a:r>
              <a:endParaRPr lang="en-US" sz="1050" dirty="0"/>
            </a:p>
          </p:txBody>
        </p:sp>
        <p:sp>
          <p:nvSpPr>
            <p:cNvPr id="28" name="Text 26"/>
            <p:cNvSpPr/>
            <p:nvPr/>
          </p:nvSpPr>
          <p:spPr>
            <a:xfrm>
              <a:off x="2121408" y="2630841"/>
              <a:ext cx="822960" cy="182880"/>
            </a:xfrm>
            <a:prstGeom prst="rect">
              <a:avLst/>
            </a:prstGeom>
            <a:noFill/>
            <a:ln/>
          </p:spPr>
          <p:txBody>
            <a:bodyPr wrap="square" lIns="0" tIns="0" rIns="0" bIns="0" rtlCol="0" anchor="ctr"/>
            <a:lstStyle/>
            <a:p>
              <a:pPr marL="0" indent="0" algn="ctr">
                <a:buNone/>
              </a:pPr>
              <a:r>
                <a:rPr lang="en-US" sz="1050" dirty="0">
                  <a:solidFill>
                    <a:srgbClr val="44546A"/>
                  </a:solidFill>
                  <a:latin typeface="Calibri" pitchFamily="34" charset="0"/>
                  <a:ea typeface="Calibri" pitchFamily="34" charset="-122"/>
                  <a:cs typeface="Calibri" pitchFamily="34" charset="-120"/>
                </a:rPr>
                <a:t>PCC</a:t>
              </a:r>
              <a:endParaRPr lang="en-US" sz="1050" dirty="0"/>
            </a:p>
          </p:txBody>
        </p:sp>
        <p:sp>
          <p:nvSpPr>
            <p:cNvPr id="29" name="Shape 27"/>
            <p:cNvSpPr/>
            <p:nvPr/>
          </p:nvSpPr>
          <p:spPr>
            <a:xfrm>
              <a:off x="320040" y="2822865"/>
              <a:ext cx="2430417" cy="201168"/>
            </a:xfrm>
            <a:prstGeom prst="rect">
              <a:avLst/>
            </a:prstGeom>
            <a:solidFill>
              <a:srgbClr val="F7F9FF"/>
            </a:solidFill>
            <a:ln w="6350">
              <a:solidFill>
                <a:srgbClr val="DDEEFF"/>
              </a:solidFill>
              <a:prstDash val="solid"/>
            </a:ln>
          </p:spPr>
        </p:sp>
        <p:sp>
          <p:nvSpPr>
            <p:cNvPr id="30" name="Text 28"/>
            <p:cNvSpPr/>
            <p:nvPr/>
          </p:nvSpPr>
          <p:spPr>
            <a:xfrm>
              <a:off x="384048" y="2832009"/>
              <a:ext cx="822960" cy="182880"/>
            </a:xfrm>
            <a:prstGeom prst="rect">
              <a:avLst/>
            </a:prstGeom>
            <a:noFill/>
            <a:ln/>
          </p:spPr>
          <p:txBody>
            <a:bodyPr wrap="square" lIns="0" tIns="0" rIns="0" bIns="0" rtlCol="0" anchor="ctr"/>
            <a:lstStyle/>
            <a:p>
              <a:pPr marL="0" indent="0">
                <a:buNone/>
              </a:pPr>
              <a:r>
                <a:rPr lang="en-US" sz="1050" b="1" dirty="0">
                  <a:solidFill>
                    <a:srgbClr val="1F3864"/>
                  </a:solidFill>
                  <a:latin typeface="Calibri" pitchFamily="34" charset="0"/>
                  <a:ea typeface="Calibri" pitchFamily="34" charset="-122"/>
                  <a:cs typeface="Calibri" pitchFamily="34" charset="-120"/>
                </a:rPr>
                <a:t>QQP</a:t>
              </a:r>
              <a:endParaRPr lang="en-US" sz="1050" dirty="0"/>
            </a:p>
          </p:txBody>
        </p:sp>
        <p:sp>
          <p:nvSpPr>
            <p:cNvPr id="31" name="Text 29"/>
            <p:cNvSpPr/>
            <p:nvPr/>
          </p:nvSpPr>
          <p:spPr>
            <a:xfrm>
              <a:off x="1234440" y="2832009"/>
              <a:ext cx="822960" cy="182880"/>
            </a:xfrm>
            <a:prstGeom prst="rect">
              <a:avLst/>
            </a:prstGeom>
            <a:noFill/>
            <a:ln/>
          </p:spPr>
          <p:txBody>
            <a:bodyPr wrap="square" lIns="0" tIns="0" rIns="0" bIns="0" rtlCol="0" anchor="ctr"/>
            <a:lstStyle/>
            <a:p>
              <a:pPr marL="0" indent="0" algn="ctr">
                <a:buNone/>
              </a:pPr>
              <a:r>
                <a:rPr lang="en-US" sz="1050" dirty="0">
                  <a:solidFill>
                    <a:srgbClr val="595959"/>
                  </a:solidFill>
                  <a:latin typeface="Calibri" pitchFamily="34" charset="0"/>
                  <a:ea typeface="Calibri" pitchFamily="34" charset="-122"/>
                  <a:cs typeface="Calibri" pitchFamily="34" charset="-120"/>
                </a:rPr>
                <a:t>795k</a:t>
              </a:r>
              <a:endParaRPr lang="en-US" sz="1050" dirty="0"/>
            </a:p>
          </p:txBody>
        </p:sp>
        <p:sp>
          <p:nvSpPr>
            <p:cNvPr id="32" name="Text 30"/>
            <p:cNvSpPr/>
            <p:nvPr/>
          </p:nvSpPr>
          <p:spPr>
            <a:xfrm>
              <a:off x="2121408" y="2832009"/>
              <a:ext cx="822960" cy="182880"/>
            </a:xfrm>
            <a:prstGeom prst="rect">
              <a:avLst/>
            </a:prstGeom>
            <a:noFill/>
            <a:ln/>
          </p:spPr>
          <p:txBody>
            <a:bodyPr wrap="square" lIns="0" tIns="0" rIns="0" bIns="0" rtlCol="0" anchor="ctr"/>
            <a:lstStyle/>
            <a:p>
              <a:pPr marL="0" indent="0" algn="ctr">
                <a:buNone/>
              </a:pPr>
              <a:r>
                <a:rPr lang="en-US" sz="1050" dirty="0">
                  <a:solidFill>
                    <a:srgbClr val="44546A"/>
                  </a:solidFill>
                  <a:latin typeface="Calibri" pitchFamily="34" charset="0"/>
                  <a:ea typeface="Calibri" pitchFamily="34" charset="-122"/>
                  <a:cs typeface="Calibri" pitchFamily="34" charset="-120"/>
                </a:rPr>
                <a:t>F1/Acc</a:t>
              </a:r>
              <a:endParaRPr lang="en-US" sz="1050" dirty="0"/>
            </a:p>
          </p:txBody>
        </p:sp>
        <p:sp>
          <p:nvSpPr>
            <p:cNvPr id="33" name="Shape 31"/>
            <p:cNvSpPr/>
            <p:nvPr/>
          </p:nvSpPr>
          <p:spPr>
            <a:xfrm>
              <a:off x="320040" y="3078897"/>
              <a:ext cx="2430417" cy="201168"/>
            </a:xfrm>
            <a:prstGeom prst="rect">
              <a:avLst/>
            </a:prstGeom>
            <a:solidFill>
              <a:srgbClr val="7B3F00"/>
            </a:solidFill>
            <a:ln w="12700">
              <a:solidFill>
                <a:srgbClr val="7B3F00"/>
              </a:solidFill>
              <a:prstDash val="solid"/>
            </a:ln>
          </p:spPr>
        </p:sp>
        <p:sp>
          <p:nvSpPr>
            <p:cNvPr id="35" name="Shape 33"/>
            <p:cNvSpPr/>
            <p:nvPr/>
          </p:nvSpPr>
          <p:spPr>
            <a:xfrm>
              <a:off x="320040" y="3280065"/>
              <a:ext cx="2430417" cy="201168"/>
            </a:xfrm>
            <a:prstGeom prst="rect">
              <a:avLst/>
            </a:prstGeom>
            <a:solidFill>
              <a:srgbClr val="F2F2F2"/>
            </a:solidFill>
            <a:ln w="6350">
              <a:solidFill>
                <a:srgbClr val="DDEEFF"/>
              </a:solidFill>
              <a:prstDash val="solid"/>
            </a:ln>
          </p:spPr>
        </p:sp>
        <p:sp>
          <p:nvSpPr>
            <p:cNvPr id="36" name="Text 34"/>
            <p:cNvSpPr/>
            <p:nvPr/>
          </p:nvSpPr>
          <p:spPr>
            <a:xfrm>
              <a:off x="384048" y="3289209"/>
              <a:ext cx="822960" cy="182880"/>
            </a:xfrm>
            <a:prstGeom prst="rect">
              <a:avLst/>
            </a:prstGeom>
            <a:noFill/>
            <a:ln/>
          </p:spPr>
          <p:txBody>
            <a:bodyPr wrap="square" lIns="0" tIns="0" rIns="0" bIns="0" rtlCol="0" anchor="ctr"/>
            <a:lstStyle/>
            <a:p>
              <a:pPr marL="0" indent="0">
                <a:buNone/>
              </a:pPr>
              <a:r>
                <a:rPr lang="en-US" sz="1050" b="1" dirty="0">
                  <a:solidFill>
                    <a:srgbClr val="1F3864"/>
                  </a:solidFill>
                  <a:latin typeface="Calibri" pitchFamily="34" charset="0"/>
                  <a:ea typeface="Calibri" pitchFamily="34" charset="-122"/>
                  <a:cs typeface="Calibri" pitchFamily="34" charset="-120"/>
                </a:rPr>
                <a:t>MNLI</a:t>
              </a:r>
              <a:endParaRPr lang="en-US" sz="1050" dirty="0"/>
            </a:p>
          </p:txBody>
        </p:sp>
        <p:sp>
          <p:nvSpPr>
            <p:cNvPr id="37" name="Text 35"/>
            <p:cNvSpPr/>
            <p:nvPr/>
          </p:nvSpPr>
          <p:spPr>
            <a:xfrm>
              <a:off x="1234440" y="3289209"/>
              <a:ext cx="822960" cy="182880"/>
            </a:xfrm>
            <a:prstGeom prst="rect">
              <a:avLst/>
            </a:prstGeom>
            <a:noFill/>
            <a:ln/>
          </p:spPr>
          <p:txBody>
            <a:bodyPr wrap="square" lIns="0" tIns="0" rIns="0" bIns="0" rtlCol="0" anchor="ctr"/>
            <a:lstStyle/>
            <a:p>
              <a:pPr marL="0" indent="0" algn="ctr">
                <a:buNone/>
              </a:pPr>
              <a:r>
                <a:rPr lang="en-US" sz="1050" dirty="0">
                  <a:solidFill>
                    <a:srgbClr val="595959"/>
                  </a:solidFill>
                  <a:latin typeface="Calibri" pitchFamily="34" charset="0"/>
                  <a:ea typeface="Calibri" pitchFamily="34" charset="-122"/>
                  <a:cs typeface="Calibri" pitchFamily="34" charset="-120"/>
                </a:rPr>
                <a:t>432k</a:t>
              </a:r>
              <a:endParaRPr lang="en-US" sz="1050" dirty="0"/>
            </a:p>
          </p:txBody>
        </p:sp>
        <p:sp>
          <p:nvSpPr>
            <p:cNvPr id="38" name="Text 36"/>
            <p:cNvSpPr/>
            <p:nvPr/>
          </p:nvSpPr>
          <p:spPr>
            <a:xfrm>
              <a:off x="2121408" y="3289209"/>
              <a:ext cx="822960" cy="182880"/>
            </a:xfrm>
            <a:prstGeom prst="rect">
              <a:avLst/>
            </a:prstGeom>
            <a:noFill/>
            <a:ln/>
          </p:spPr>
          <p:txBody>
            <a:bodyPr wrap="square" lIns="0" tIns="0" rIns="0" bIns="0" rtlCol="0" anchor="ctr"/>
            <a:lstStyle/>
            <a:p>
              <a:pPr marL="0" indent="0" algn="ctr">
                <a:buNone/>
              </a:pPr>
              <a:r>
                <a:rPr lang="en-US" sz="1050" dirty="0">
                  <a:solidFill>
                    <a:srgbClr val="44546A"/>
                  </a:solidFill>
                  <a:latin typeface="Calibri" pitchFamily="34" charset="0"/>
                  <a:ea typeface="Calibri" pitchFamily="34" charset="-122"/>
                  <a:cs typeface="Calibri" pitchFamily="34" charset="-120"/>
                </a:rPr>
                <a:t>Acc</a:t>
              </a:r>
              <a:endParaRPr lang="en-US" sz="1050" dirty="0"/>
            </a:p>
          </p:txBody>
        </p:sp>
        <p:sp>
          <p:nvSpPr>
            <p:cNvPr id="39" name="Shape 37"/>
            <p:cNvSpPr/>
            <p:nvPr/>
          </p:nvSpPr>
          <p:spPr>
            <a:xfrm>
              <a:off x="320040" y="3481233"/>
              <a:ext cx="2430417" cy="201168"/>
            </a:xfrm>
            <a:prstGeom prst="rect">
              <a:avLst/>
            </a:prstGeom>
            <a:solidFill>
              <a:srgbClr val="F7F9FF"/>
            </a:solidFill>
            <a:ln w="6350">
              <a:solidFill>
                <a:srgbClr val="DDEEFF"/>
              </a:solidFill>
              <a:prstDash val="solid"/>
            </a:ln>
          </p:spPr>
        </p:sp>
        <p:sp>
          <p:nvSpPr>
            <p:cNvPr id="40" name="Text 38"/>
            <p:cNvSpPr/>
            <p:nvPr/>
          </p:nvSpPr>
          <p:spPr>
            <a:xfrm>
              <a:off x="384048" y="3490377"/>
              <a:ext cx="822960" cy="182880"/>
            </a:xfrm>
            <a:prstGeom prst="rect">
              <a:avLst/>
            </a:prstGeom>
            <a:noFill/>
            <a:ln/>
          </p:spPr>
          <p:txBody>
            <a:bodyPr wrap="square" lIns="0" tIns="0" rIns="0" bIns="0" rtlCol="0" anchor="ctr"/>
            <a:lstStyle/>
            <a:p>
              <a:pPr marL="0" indent="0">
                <a:buNone/>
              </a:pPr>
              <a:r>
                <a:rPr lang="en-US" sz="1050" b="1" dirty="0">
                  <a:solidFill>
                    <a:srgbClr val="1F3864"/>
                  </a:solidFill>
                  <a:latin typeface="Calibri" pitchFamily="34" charset="0"/>
                  <a:ea typeface="Calibri" pitchFamily="34" charset="-122"/>
                  <a:cs typeface="Calibri" pitchFamily="34" charset="-120"/>
                </a:rPr>
                <a:t>QNLI</a:t>
              </a:r>
              <a:endParaRPr lang="en-US" sz="1050" dirty="0"/>
            </a:p>
          </p:txBody>
        </p:sp>
        <p:sp>
          <p:nvSpPr>
            <p:cNvPr id="41" name="Text 39"/>
            <p:cNvSpPr/>
            <p:nvPr/>
          </p:nvSpPr>
          <p:spPr>
            <a:xfrm>
              <a:off x="1234440" y="3490377"/>
              <a:ext cx="822960" cy="182880"/>
            </a:xfrm>
            <a:prstGeom prst="rect">
              <a:avLst/>
            </a:prstGeom>
            <a:noFill/>
            <a:ln/>
          </p:spPr>
          <p:txBody>
            <a:bodyPr wrap="square" lIns="0" tIns="0" rIns="0" bIns="0" rtlCol="0" anchor="ctr"/>
            <a:lstStyle/>
            <a:p>
              <a:pPr marL="0" indent="0" algn="ctr">
                <a:buNone/>
              </a:pPr>
              <a:r>
                <a:rPr lang="en-US" sz="1050" dirty="0">
                  <a:solidFill>
                    <a:srgbClr val="595959"/>
                  </a:solidFill>
                  <a:latin typeface="Calibri" pitchFamily="34" charset="0"/>
                  <a:ea typeface="Calibri" pitchFamily="34" charset="-122"/>
                  <a:cs typeface="Calibri" pitchFamily="34" charset="-120"/>
                </a:rPr>
                <a:t>116k</a:t>
              </a:r>
              <a:endParaRPr lang="en-US" sz="1050" dirty="0"/>
            </a:p>
          </p:txBody>
        </p:sp>
        <p:sp>
          <p:nvSpPr>
            <p:cNvPr id="42" name="Text 40"/>
            <p:cNvSpPr/>
            <p:nvPr/>
          </p:nvSpPr>
          <p:spPr>
            <a:xfrm>
              <a:off x="2121408" y="3490377"/>
              <a:ext cx="822960" cy="182880"/>
            </a:xfrm>
            <a:prstGeom prst="rect">
              <a:avLst/>
            </a:prstGeom>
            <a:noFill/>
            <a:ln/>
          </p:spPr>
          <p:txBody>
            <a:bodyPr wrap="square" lIns="0" tIns="0" rIns="0" bIns="0" rtlCol="0" anchor="ctr"/>
            <a:lstStyle/>
            <a:p>
              <a:pPr marL="0" indent="0" algn="ctr">
                <a:buNone/>
              </a:pPr>
              <a:r>
                <a:rPr lang="en-US" sz="1050" dirty="0">
                  <a:solidFill>
                    <a:srgbClr val="44546A"/>
                  </a:solidFill>
                  <a:latin typeface="Calibri" pitchFamily="34" charset="0"/>
                  <a:ea typeface="Calibri" pitchFamily="34" charset="-122"/>
                  <a:cs typeface="Calibri" pitchFamily="34" charset="-120"/>
                </a:rPr>
                <a:t>Acc</a:t>
              </a:r>
              <a:endParaRPr lang="en-US" sz="1050" dirty="0"/>
            </a:p>
          </p:txBody>
        </p:sp>
        <p:sp>
          <p:nvSpPr>
            <p:cNvPr id="43" name="Shape 41"/>
            <p:cNvSpPr/>
            <p:nvPr/>
          </p:nvSpPr>
          <p:spPr>
            <a:xfrm>
              <a:off x="320040" y="3682401"/>
              <a:ext cx="2430417" cy="201168"/>
            </a:xfrm>
            <a:prstGeom prst="rect">
              <a:avLst/>
            </a:prstGeom>
            <a:solidFill>
              <a:srgbClr val="F2F2F2"/>
            </a:solidFill>
            <a:ln w="6350">
              <a:solidFill>
                <a:srgbClr val="DDEEFF"/>
              </a:solidFill>
              <a:prstDash val="solid"/>
            </a:ln>
          </p:spPr>
        </p:sp>
        <p:sp>
          <p:nvSpPr>
            <p:cNvPr id="44" name="Text 42"/>
            <p:cNvSpPr/>
            <p:nvPr/>
          </p:nvSpPr>
          <p:spPr>
            <a:xfrm>
              <a:off x="384048" y="3691545"/>
              <a:ext cx="822960" cy="182880"/>
            </a:xfrm>
            <a:prstGeom prst="rect">
              <a:avLst/>
            </a:prstGeom>
            <a:noFill/>
            <a:ln/>
          </p:spPr>
          <p:txBody>
            <a:bodyPr wrap="square" lIns="0" tIns="0" rIns="0" bIns="0" rtlCol="0" anchor="ctr"/>
            <a:lstStyle/>
            <a:p>
              <a:pPr marL="0" indent="0">
                <a:buNone/>
              </a:pPr>
              <a:r>
                <a:rPr lang="en-US" sz="1050" b="1" dirty="0">
                  <a:solidFill>
                    <a:srgbClr val="1F3864"/>
                  </a:solidFill>
                  <a:latin typeface="Calibri" pitchFamily="34" charset="0"/>
                  <a:ea typeface="Calibri" pitchFamily="34" charset="-122"/>
                  <a:cs typeface="Calibri" pitchFamily="34" charset="-120"/>
                </a:rPr>
                <a:t>RTE</a:t>
              </a:r>
              <a:endParaRPr lang="en-US" sz="1050" dirty="0"/>
            </a:p>
          </p:txBody>
        </p:sp>
        <p:sp>
          <p:nvSpPr>
            <p:cNvPr id="45" name="Text 43"/>
            <p:cNvSpPr/>
            <p:nvPr/>
          </p:nvSpPr>
          <p:spPr>
            <a:xfrm>
              <a:off x="1234440" y="3691545"/>
              <a:ext cx="822960" cy="182880"/>
            </a:xfrm>
            <a:prstGeom prst="rect">
              <a:avLst/>
            </a:prstGeom>
            <a:noFill/>
            <a:ln/>
          </p:spPr>
          <p:txBody>
            <a:bodyPr wrap="square" lIns="0" tIns="0" rIns="0" bIns="0" rtlCol="0" anchor="ctr"/>
            <a:lstStyle/>
            <a:p>
              <a:pPr marL="0" indent="0" algn="ctr">
                <a:buNone/>
              </a:pPr>
              <a:r>
                <a:rPr lang="en-US" sz="1050" dirty="0">
                  <a:solidFill>
                    <a:srgbClr val="595959"/>
                  </a:solidFill>
                  <a:latin typeface="Calibri" pitchFamily="34" charset="0"/>
                  <a:ea typeface="Calibri" pitchFamily="34" charset="-122"/>
                  <a:cs typeface="Calibri" pitchFamily="34" charset="-120"/>
                </a:rPr>
                <a:t>5.77k</a:t>
              </a:r>
              <a:endParaRPr lang="en-US" sz="1050" dirty="0"/>
            </a:p>
          </p:txBody>
        </p:sp>
        <p:sp>
          <p:nvSpPr>
            <p:cNvPr id="46" name="Text 44"/>
            <p:cNvSpPr/>
            <p:nvPr/>
          </p:nvSpPr>
          <p:spPr>
            <a:xfrm>
              <a:off x="2121408" y="3691545"/>
              <a:ext cx="822960" cy="182880"/>
            </a:xfrm>
            <a:prstGeom prst="rect">
              <a:avLst/>
            </a:prstGeom>
            <a:noFill/>
            <a:ln/>
          </p:spPr>
          <p:txBody>
            <a:bodyPr wrap="square" lIns="0" tIns="0" rIns="0" bIns="0" rtlCol="0" anchor="ctr"/>
            <a:lstStyle/>
            <a:p>
              <a:pPr marL="0" indent="0" algn="ctr">
                <a:buNone/>
              </a:pPr>
              <a:r>
                <a:rPr lang="en-US" sz="1050" dirty="0">
                  <a:solidFill>
                    <a:srgbClr val="44546A"/>
                  </a:solidFill>
                  <a:latin typeface="Calibri" pitchFamily="34" charset="0"/>
                  <a:ea typeface="Calibri" pitchFamily="34" charset="-122"/>
                  <a:cs typeface="Calibri" pitchFamily="34" charset="-120"/>
                </a:rPr>
                <a:t>Acc</a:t>
              </a:r>
              <a:endParaRPr lang="en-US" sz="1050" dirty="0"/>
            </a:p>
          </p:txBody>
        </p:sp>
        <p:sp>
          <p:nvSpPr>
            <p:cNvPr id="47" name="Shape 45"/>
            <p:cNvSpPr/>
            <p:nvPr/>
          </p:nvSpPr>
          <p:spPr>
            <a:xfrm>
              <a:off x="320040" y="3883569"/>
              <a:ext cx="2430417" cy="201168"/>
            </a:xfrm>
            <a:prstGeom prst="rect">
              <a:avLst/>
            </a:prstGeom>
            <a:solidFill>
              <a:srgbClr val="F7F9FF"/>
            </a:solidFill>
            <a:ln w="6350">
              <a:solidFill>
                <a:srgbClr val="DDEEFF"/>
              </a:solidFill>
              <a:prstDash val="solid"/>
            </a:ln>
          </p:spPr>
        </p:sp>
        <p:sp>
          <p:nvSpPr>
            <p:cNvPr id="48" name="Text 46"/>
            <p:cNvSpPr/>
            <p:nvPr/>
          </p:nvSpPr>
          <p:spPr>
            <a:xfrm>
              <a:off x="384048" y="3892713"/>
              <a:ext cx="822960" cy="182880"/>
            </a:xfrm>
            <a:prstGeom prst="rect">
              <a:avLst/>
            </a:prstGeom>
            <a:noFill/>
            <a:ln/>
          </p:spPr>
          <p:txBody>
            <a:bodyPr wrap="square" lIns="0" tIns="0" rIns="0" bIns="0" rtlCol="0" anchor="ctr"/>
            <a:lstStyle/>
            <a:p>
              <a:pPr marL="0" indent="0">
                <a:buNone/>
              </a:pPr>
              <a:r>
                <a:rPr lang="en-US" sz="1050" b="1" dirty="0">
                  <a:solidFill>
                    <a:srgbClr val="1F3864"/>
                  </a:solidFill>
                  <a:latin typeface="Calibri" pitchFamily="34" charset="0"/>
                  <a:ea typeface="Calibri" pitchFamily="34" charset="-122"/>
                  <a:cs typeface="Calibri" pitchFamily="34" charset="-120"/>
                </a:rPr>
                <a:t>WNLI</a:t>
              </a:r>
              <a:endParaRPr lang="en-US" sz="1050" dirty="0"/>
            </a:p>
          </p:txBody>
        </p:sp>
        <p:sp>
          <p:nvSpPr>
            <p:cNvPr id="49" name="Text 47"/>
            <p:cNvSpPr/>
            <p:nvPr/>
          </p:nvSpPr>
          <p:spPr>
            <a:xfrm>
              <a:off x="1234440" y="3892713"/>
              <a:ext cx="822960" cy="182880"/>
            </a:xfrm>
            <a:prstGeom prst="rect">
              <a:avLst/>
            </a:prstGeom>
            <a:noFill/>
            <a:ln/>
          </p:spPr>
          <p:txBody>
            <a:bodyPr wrap="square" lIns="0" tIns="0" rIns="0" bIns="0" rtlCol="0" anchor="ctr"/>
            <a:lstStyle/>
            <a:p>
              <a:pPr marL="0" indent="0" algn="ctr">
                <a:buNone/>
              </a:pPr>
              <a:r>
                <a:rPr lang="en-US" sz="1050" dirty="0">
                  <a:solidFill>
                    <a:srgbClr val="595959"/>
                  </a:solidFill>
                  <a:latin typeface="Calibri" pitchFamily="34" charset="0"/>
                  <a:ea typeface="Calibri" pitchFamily="34" charset="-122"/>
                  <a:cs typeface="Calibri" pitchFamily="34" charset="-120"/>
                </a:rPr>
                <a:t>634</a:t>
              </a:r>
              <a:endParaRPr lang="en-US" sz="1050" dirty="0"/>
            </a:p>
          </p:txBody>
        </p:sp>
        <p:sp>
          <p:nvSpPr>
            <p:cNvPr id="50" name="Text 48"/>
            <p:cNvSpPr/>
            <p:nvPr/>
          </p:nvSpPr>
          <p:spPr>
            <a:xfrm>
              <a:off x="2121408" y="3892713"/>
              <a:ext cx="822960" cy="182880"/>
            </a:xfrm>
            <a:prstGeom prst="rect">
              <a:avLst/>
            </a:prstGeom>
            <a:noFill/>
            <a:ln/>
          </p:spPr>
          <p:txBody>
            <a:bodyPr wrap="square" lIns="0" tIns="0" rIns="0" bIns="0" rtlCol="0" anchor="ctr"/>
            <a:lstStyle/>
            <a:p>
              <a:pPr marL="0" indent="0" algn="ctr">
                <a:buNone/>
              </a:pPr>
              <a:r>
                <a:rPr lang="en-US" sz="1050" dirty="0">
                  <a:solidFill>
                    <a:srgbClr val="44546A"/>
                  </a:solidFill>
                  <a:latin typeface="Calibri" pitchFamily="34" charset="0"/>
                  <a:ea typeface="Calibri" pitchFamily="34" charset="-122"/>
                  <a:cs typeface="Calibri" pitchFamily="34" charset="-120"/>
                </a:rPr>
                <a:t>Acc</a:t>
              </a:r>
              <a:endParaRPr lang="en-US" sz="1050" dirty="0"/>
            </a:p>
          </p:txBody>
        </p:sp>
        <p:sp>
          <p:nvSpPr>
            <p:cNvPr id="51" name="Shape 49"/>
            <p:cNvSpPr/>
            <p:nvPr/>
          </p:nvSpPr>
          <p:spPr>
            <a:xfrm>
              <a:off x="320040" y="4139601"/>
              <a:ext cx="2430417" cy="237744"/>
            </a:xfrm>
            <a:prstGeom prst="rect">
              <a:avLst/>
            </a:prstGeom>
            <a:solidFill>
              <a:srgbClr val="1F3864"/>
            </a:solidFill>
            <a:ln w="12700">
              <a:solidFill>
                <a:srgbClr val="1F3864"/>
              </a:solidFill>
              <a:prstDash val="solid"/>
            </a:ln>
          </p:spPr>
        </p:sp>
      </p:grpSp>
      <p:sp>
        <p:nvSpPr>
          <p:cNvPr id="52" name="Text 50"/>
          <p:cNvSpPr/>
          <p:nvPr/>
        </p:nvSpPr>
        <p:spPr>
          <a:xfrm>
            <a:off x="320040" y="4139601"/>
            <a:ext cx="2834640" cy="237744"/>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Total: &gt; 1.2M examples</a:t>
            </a:r>
            <a:endParaRPr lang="en-US" sz="850" dirty="0"/>
          </a:p>
        </p:txBody>
      </p:sp>
      <p:grpSp>
        <p:nvGrpSpPr>
          <p:cNvPr id="5" name="Group 4">
            <a:extLst>
              <a:ext uri="{FF2B5EF4-FFF2-40B4-BE49-F238E27FC236}">
                <a16:creationId xmlns:a16="http://schemas.microsoft.com/office/drawing/2014/main" id="{3B223934-A00B-BB6A-7156-BA578D82EF18}"/>
              </a:ext>
            </a:extLst>
          </p:cNvPr>
          <p:cNvGrpSpPr/>
          <p:nvPr/>
        </p:nvGrpSpPr>
        <p:grpSpPr>
          <a:xfrm>
            <a:off x="2836823" y="1039785"/>
            <a:ext cx="2880360" cy="3713284"/>
            <a:chOff x="2836823" y="1039785"/>
            <a:chExt cx="2880360" cy="3337560"/>
          </a:xfrm>
        </p:grpSpPr>
        <p:sp>
          <p:nvSpPr>
            <p:cNvPr id="53" name="Shape 51"/>
            <p:cNvSpPr/>
            <p:nvPr/>
          </p:nvSpPr>
          <p:spPr>
            <a:xfrm>
              <a:off x="2836823" y="1039785"/>
              <a:ext cx="2880360" cy="274320"/>
            </a:xfrm>
            <a:prstGeom prst="rect">
              <a:avLst/>
            </a:prstGeom>
            <a:solidFill>
              <a:srgbClr val="D9E1F2"/>
            </a:solidFill>
            <a:ln w="12700">
              <a:solidFill>
                <a:srgbClr val="D9E1F2"/>
              </a:solidFill>
              <a:prstDash val="solid"/>
            </a:ln>
          </p:spPr>
        </p:sp>
        <p:sp>
          <p:nvSpPr>
            <p:cNvPr id="54" name="Text 52"/>
            <p:cNvSpPr/>
            <p:nvPr/>
          </p:nvSpPr>
          <p:spPr>
            <a:xfrm>
              <a:off x="2836823" y="1039785"/>
              <a:ext cx="2880360" cy="274320"/>
            </a:xfrm>
            <a:prstGeom prst="rect">
              <a:avLst/>
            </a:prstGeom>
            <a:noFill/>
            <a:ln/>
          </p:spPr>
          <p:txBody>
            <a:bodyPr wrap="square" lIns="0" tIns="0" rIns="0" bIns="0" rtlCol="0" anchor="ctr"/>
            <a:lstStyle/>
            <a:p>
              <a:pPr marL="0" indent="0" algn="ctr">
                <a:buNone/>
              </a:pPr>
              <a:r>
                <a:rPr lang="en-US" sz="1050" b="1" dirty="0">
                  <a:solidFill>
                    <a:srgbClr val="1F3864"/>
                  </a:solidFill>
                  <a:latin typeface="Calibri" pitchFamily="34" charset="0"/>
                  <a:ea typeface="Calibri" pitchFamily="34" charset="-122"/>
                  <a:cs typeface="Calibri" pitchFamily="34" charset="-120"/>
                </a:rPr>
                <a:t>Representative Task Examples</a:t>
              </a:r>
              <a:endParaRPr lang="en-US" sz="1050" dirty="0"/>
            </a:p>
          </p:txBody>
        </p:sp>
        <p:sp>
          <p:nvSpPr>
            <p:cNvPr id="55" name="Shape 53"/>
            <p:cNvSpPr/>
            <p:nvPr/>
          </p:nvSpPr>
          <p:spPr>
            <a:xfrm>
              <a:off x="2836823" y="1378113"/>
              <a:ext cx="2880360" cy="201168"/>
            </a:xfrm>
            <a:prstGeom prst="rect">
              <a:avLst/>
            </a:prstGeom>
            <a:solidFill>
              <a:srgbClr val="2E75B6"/>
            </a:solidFill>
            <a:ln w="12700">
              <a:solidFill>
                <a:srgbClr val="2E75B6"/>
              </a:solidFill>
              <a:prstDash val="solid"/>
            </a:ln>
          </p:spPr>
        </p:sp>
        <p:sp>
          <p:nvSpPr>
            <p:cNvPr id="56" name="Text 54"/>
            <p:cNvSpPr/>
            <p:nvPr/>
          </p:nvSpPr>
          <p:spPr>
            <a:xfrm>
              <a:off x="2882543" y="1378113"/>
              <a:ext cx="2788920" cy="201168"/>
            </a:xfrm>
            <a:prstGeom prst="rect">
              <a:avLst/>
            </a:prstGeom>
            <a:noFill/>
            <a:ln/>
          </p:spPr>
          <p:txBody>
            <a:bodyPr wrap="square" lIns="0" tIns="0" rIns="0" bIns="0" rtlCol="0" anchor="ctr"/>
            <a:lstStyle/>
            <a:p>
              <a:pPr marL="0" indent="0">
                <a:buNone/>
              </a:pPr>
              <a:r>
                <a:rPr lang="en-US" sz="900" b="1" dirty="0">
                  <a:solidFill>
                    <a:srgbClr val="FFFFFF"/>
                  </a:solidFill>
                  <a:latin typeface="Calibri" pitchFamily="34" charset="0"/>
                  <a:ea typeface="Calibri" pitchFamily="34" charset="-122"/>
                  <a:cs typeface="Calibri" pitchFamily="34" charset="-120"/>
                </a:rPr>
                <a:t>CoLA  (Linguistic Acceptability)</a:t>
              </a:r>
              <a:endParaRPr lang="en-US" sz="900" dirty="0"/>
            </a:p>
          </p:txBody>
        </p:sp>
        <p:sp>
          <p:nvSpPr>
            <p:cNvPr id="57" name="Shape 55"/>
            <p:cNvSpPr/>
            <p:nvPr/>
          </p:nvSpPr>
          <p:spPr>
            <a:xfrm>
              <a:off x="2836823" y="1579281"/>
              <a:ext cx="2880360" cy="347472"/>
            </a:xfrm>
            <a:prstGeom prst="rect">
              <a:avLst/>
            </a:prstGeom>
            <a:solidFill>
              <a:srgbClr val="F0F4FA"/>
            </a:solidFill>
            <a:ln w="10160">
              <a:solidFill>
                <a:srgbClr val="CADCFC"/>
              </a:solidFill>
              <a:prstDash val="solid"/>
            </a:ln>
          </p:spPr>
        </p:sp>
        <p:sp>
          <p:nvSpPr>
            <p:cNvPr id="58" name="Text 56"/>
            <p:cNvSpPr/>
            <p:nvPr/>
          </p:nvSpPr>
          <p:spPr>
            <a:xfrm>
              <a:off x="2900831" y="1588425"/>
              <a:ext cx="2743200" cy="329184"/>
            </a:xfrm>
            <a:prstGeom prst="rect">
              <a:avLst/>
            </a:prstGeom>
            <a:noFill/>
            <a:ln/>
          </p:spPr>
          <p:txBody>
            <a:bodyPr wrap="square" lIns="0" tIns="0" rIns="0" bIns="0" rtlCol="0" anchor="ctr"/>
            <a:lstStyle/>
            <a:p>
              <a:pPr marL="0" indent="0">
                <a:buNone/>
              </a:pPr>
              <a:r>
                <a:rPr lang="en-US" sz="1050" i="1" dirty="0">
                  <a:solidFill>
                    <a:srgbClr val="44546A"/>
                  </a:solidFill>
                  <a:latin typeface="Calibri" pitchFamily="34" charset="0"/>
                  <a:ea typeface="Calibri" pitchFamily="34" charset="-122"/>
                  <a:cs typeface="Calibri" pitchFamily="34" charset="-120"/>
                </a:rPr>
                <a:t>"The horse raced past the barn fell."</a:t>
              </a:r>
              <a:endParaRPr lang="en-US" sz="1050" dirty="0"/>
            </a:p>
          </p:txBody>
        </p:sp>
        <p:sp>
          <p:nvSpPr>
            <p:cNvPr id="59" name="Text 57"/>
            <p:cNvSpPr/>
            <p:nvPr/>
          </p:nvSpPr>
          <p:spPr>
            <a:xfrm>
              <a:off x="2900831" y="1926753"/>
              <a:ext cx="2743200" cy="201168"/>
            </a:xfrm>
            <a:prstGeom prst="rect">
              <a:avLst/>
            </a:prstGeom>
            <a:noFill/>
            <a:ln/>
          </p:spPr>
          <p:txBody>
            <a:bodyPr wrap="square" lIns="0" tIns="0" rIns="0" bIns="0" rtlCol="0" anchor="ctr"/>
            <a:lstStyle/>
            <a:p>
              <a:pPr marL="0" indent="0">
                <a:buNone/>
              </a:pPr>
              <a:r>
                <a:rPr lang="en-US" sz="900" b="1" dirty="0">
                  <a:solidFill>
                    <a:srgbClr val="1F3864"/>
                  </a:solidFill>
                  <a:latin typeface="Calibri" pitchFamily="34" charset="0"/>
                  <a:ea typeface="Calibri" pitchFamily="34" charset="-122"/>
                  <a:cs typeface="Calibri" pitchFamily="34" charset="-120"/>
                </a:rPr>
                <a:t>▶  Acceptable? → No  (garden-path; grammatically ill-formed)</a:t>
              </a:r>
              <a:endParaRPr lang="en-US" sz="900" dirty="0"/>
            </a:p>
          </p:txBody>
        </p:sp>
        <p:sp>
          <p:nvSpPr>
            <p:cNvPr id="60" name="Text 58"/>
            <p:cNvSpPr/>
            <p:nvPr/>
          </p:nvSpPr>
          <p:spPr>
            <a:xfrm>
              <a:off x="2900831" y="2127921"/>
              <a:ext cx="2743200" cy="182880"/>
            </a:xfrm>
            <a:prstGeom prst="rect">
              <a:avLst/>
            </a:prstGeom>
            <a:noFill/>
            <a:ln/>
          </p:spPr>
          <p:txBody>
            <a:bodyPr wrap="square" lIns="0" tIns="0" rIns="0" bIns="0" rtlCol="0" anchor="t"/>
            <a:lstStyle/>
            <a:p>
              <a:pPr marL="0" indent="0">
                <a:buNone/>
              </a:pPr>
              <a:r>
                <a:rPr lang="en-US" sz="1000" i="1" dirty="0">
                  <a:solidFill>
                    <a:srgbClr val="595959"/>
                  </a:solidFill>
                  <a:latin typeface="Calibri" pitchFamily="34" charset="0"/>
                  <a:ea typeface="Calibri" pitchFamily="34" charset="-122"/>
                  <a:cs typeface="Calibri" pitchFamily="34" charset="-120"/>
                </a:rPr>
                <a:t>Tests deep syntactic knowledge beyond surface patterns.</a:t>
              </a:r>
              <a:endParaRPr lang="en-US" sz="1000" dirty="0"/>
            </a:p>
          </p:txBody>
        </p:sp>
        <p:sp>
          <p:nvSpPr>
            <p:cNvPr id="61" name="Shape 59"/>
            <p:cNvSpPr/>
            <p:nvPr/>
          </p:nvSpPr>
          <p:spPr>
            <a:xfrm>
              <a:off x="2836823" y="2411385"/>
              <a:ext cx="2880360" cy="201168"/>
            </a:xfrm>
            <a:prstGeom prst="rect">
              <a:avLst/>
            </a:prstGeom>
            <a:solidFill>
              <a:srgbClr val="7B3F00"/>
            </a:solidFill>
            <a:ln w="12700">
              <a:solidFill>
                <a:srgbClr val="7B3F00"/>
              </a:solidFill>
              <a:prstDash val="solid"/>
            </a:ln>
          </p:spPr>
        </p:sp>
        <p:sp>
          <p:nvSpPr>
            <p:cNvPr id="62" name="Text 60"/>
            <p:cNvSpPr/>
            <p:nvPr/>
          </p:nvSpPr>
          <p:spPr>
            <a:xfrm>
              <a:off x="2882543" y="2411385"/>
              <a:ext cx="2788920" cy="201168"/>
            </a:xfrm>
            <a:prstGeom prst="rect">
              <a:avLst/>
            </a:prstGeom>
            <a:noFill/>
            <a:ln/>
          </p:spPr>
          <p:txBody>
            <a:bodyPr wrap="square" lIns="0" tIns="0" rIns="0" bIns="0" rtlCol="0" anchor="ctr"/>
            <a:lstStyle/>
            <a:p>
              <a:pPr marL="0" indent="0">
                <a:buNone/>
              </a:pPr>
              <a:r>
                <a:rPr lang="en-US" sz="900" b="1" dirty="0">
                  <a:solidFill>
                    <a:srgbClr val="FFFFFF"/>
                  </a:solidFill>
                  <a:latin typeface="Calibri" pitchFamily="34" charset="0"/>
                  <a:ea typeface="Calibri" pitchFamily="34" charset="-122"/>
                  <a:cs typeface="Calibri" pitchFamily="34" charset="-120"/>
                </a:rPr>
                <a:t>MNLI  (Multi-Genre NLI)</a:t>
              </a:r>
              <a:endParaRPr lang="en-US" sz="900" dirty="0"/>
            </a:p>
          </p:txBody>
        </p:sp>
        <p:sp>
          <p:nvSpPr>
            <p:cNvPr id="63" name="Shape 61"/>
            <p:cNvSpPr/>
            <p:nvPr/>
          </p:nvSpPr>
          <p:spPr>
            <a:xfrm>
              <a:off x="2836823" y="2612553"/>
              <a:ext cx="2880360" cy="347472"/>
            </a:xfrm>
            <a:prstGeom prst="rect">
              <a:avLst/>
            </a:prstGeom>
            <a:solidFill>
              <a:srgbClr val="F0F4FA"/>
            </a:solidFill>
            <a:ln w="10160">
              <a:solidFill>
                <a:srgbClr val="CADCFC"/>
              </a:solidFill>
              <a:prstDash val="solid"/>
            </a:ln>
          </p:spPr>
        </p:sp>
        <p:sp>
          <p:nvSpPr>
            <p:cNvPr id="64" name="Text 62"/>
            <p:cNvSpPr/>
            <p:nvPr/>
          </p:nvSpPr>
          <p:spPr>
            <a:xfrm>
              <a:off x="2900831" y="2621697"/>
              <a:ext cx="2743200" cy="329184"/>
            </a:xfrm>
            <a:prstGeom prst="rect">
              <a:avLst/>
            </a:prstGeom>
            <a:noFill/>
            <a:ln/>
          </p:spPr>
          <p:txBody>
            <a:bodyPr wrap="square" lIns="0" tIns="0" rIns="0" bIns="0" rtlCol="0" anchor="ctr"/>
            <a:lstStyle/>
            <a:p>
              <a:pPr marL="0" indent="0">
                <a:buNone/>
              </a:pPr>
              <a:r>
                <a:rPr lang="en-US" sz="1000" i="1" dirty="0">
                  <a:solidFill>
                    <a:srgbClr val="44546A"/>
                  </a:solidFill>
                  <a:latin typeface="Calibri" pitchFamily="34" charset="0"/>
                  <a:ea typeface="Calibri" pitchFamily="34" charset="-122"/>
                  <a:cs typeface="Calibri" pitchFamily="34" charset="-120"/>
                </a:rPr>
                <a:t>P: "A soccer game with multiple males playing."</a:t>
              </a:r>
              <a:endParaRPr lang="en-US" sz="1000" dirty="0"/>
            </a:p>
            <a:p>
              <a:pPr marL="0" indent="0">
                <a:buNone/>
              </a:pPr>
              <a:r>
                <a:rPr lang="en-US" sz="1000" i="1" dirty="0">
                  <a:solidFill>
                    <a:srgbClr val="44546A"/>
                  </a:solidFill>
                  <a:latin typeface="Calibri" pitchFamily="34" charset="0"/>
                  <a:ea typeface="Calibri" pitchFamily="34" charset="-122"/>
                  <a:cs typeface="Calibri" pitchFamily="34" charset="-120"/>
                </a:rPr>
                <a:t>H: "Some men are playing a sport."</a:t>
              </a:r>
              <a:endParaRPr lang="en-US" sz="1000" dirty="0"/>
            </a:p>
          </p:txBody>
        </p:sp>
        <p:sp>
          <p:nvSpPr>
            <p:cNvPr id="65" name="Text 63"/>
            <p:cNvSpPr/>
            <p:nvPr/>
          </p:nvSpPr>
          <p:spPr>
            <a:xfrm>
              <a:off x="2900831" y="2960025"/>
              <a:ext cx="2743200" cy="201168"/>
            </a:xfrm>
            <a:prstGeom prst="rect">
              <a:avLst/>
            </a:prstGeom>
            <a:noFill/>
            <a:ln/>
          </p:spPr>
          <p:txBody>
            <a:bodyPr wrap="square" lIns="0" tIns="0" rIns="0" bIns="0" rtlCol="0" anchor="ctr"/>
            <a:lstStyle/>
            <a:p>
              <a:pPr marL="0" indent="0">
                <a:buNone/>
              </a:pPr>
              <a:r>
                <a:rPr lang="en-US" sz="1000" b="1" dirty="0">
                  <a:solidFill>
                    <a:srgbClr val="1F3864"/>
                  </a:solidFill>
                  <a:latin typeface="Calibri" pitchFamily="34" charset="0"/>
                  <a:ea typeface="Calibri" pitchFamily="34" charset="-122"/>
                  <a:cs typeface="Calibri" pitchFamily="34" charset="-120"/>
                </a:rPr>
                <a:t>▶  Relation → Entailment</a:t>
              </a:r>
              <a:endParaRPr lang="en-US" sz="1000" dirty="0"/>
            </a:p>
          </p:txBody>
        </p:sp>
        <p:sp>
          <p:nvSpPr>
            <p:cNvPr id="66" name="Text 64"/>
            <p:cNvSpPr/>
            <p:nvPr/>
          </p:nvSpPr>
          <p:spPr>
            <a:xfrm>
              <a:off x="2900831" y="3161193"/>
              <a:ext cx="2743200" cy="182880"/>
            </a:xfrm>
            <a:prstGeom prst="rect">
              <a:avLst/>
            </a:prstGeom>
            <a:noFill/>
            <a:ln/>
          </p:spPr>
          <p:txBody>
            <a:bodyPr wrap="square" lIns="0" tIns="0" rIns="0" bIns="0" rtlCol="0" anchor="t"/>
            <a:lstStyle/>
            <a:p>
              <a:pPr marL="0" indent="0">
                <a:buNone/>
              </a:pPr>
              <a:r>
                <a:rPr lang="en-US" sz="1000" i="1" dirty="0">
                  <a:solidFill>
                    <a:srgbClr val="595959"/>
                  </a:solidFill>
                  <a:latin typeface="Calibri" pitchFamily="34" charset="0"/>
                  <a:ea typeface="Calibri" pitchFamily="34" charset="-122"/>
                  <a:cs typeface="Calibri" pitchFamily="34" charset="-120"/>
                </a:rPr>
                <a:t>Covers fiction, government, telephone &amp; travel genres.</a:t>
              </a:r>
              <a:endParaRPr lang="en-US" sz="1000" dirty="0"/>
            </a:p>
          </p:txBody>
        </p:sp>
        <p:sp>
          <p:nvSpPr>
            <p:cNvPr id="67" name="Shape 65"/>
            <p:cNvSpPr/>
            <p:nvPr/>
          </p:nvSpPr>
          <p:spPr>
            <a:xfrm>
              <a:off x="2836823" y="3444657"/>
              <a:ext cx="2880360" cy="201168"/>
            </a:xfrm>
            <a:prstGeom prst="rect">
              <a:avLst/>
            </a:prstGeom>
            <a:solidFill>
              <a:srgbClr val="375623"/>
            </a:solidFill>
            <a:ln w="12700">
              <a:solidFill>
                <a:srgbClr val="375623"/>
              </a:solidFill>
              <a:prstDash val="solid"/>
            </a:ln>
          </p:spPr>
        </p:sp>
        <p:sp>
          <p:nvSpPr>
            <p:cNvPr id="68" name="Text 66"/>
            <p:cNvSpPr/>
            <p:nvPr/>
          </p:nvSpPr>
          <p:spPr>
            <a:xfrm>
              <a:off x="2882543" y="3444657"/>
              <a:ext cx="2788920" cy="201168"/>
            </a:xfrm>
            <a:prstGeom prst="rect">
              <a:avLst/>
            </a:prstGeom>
            <a:noFill/>
            <a:ln/>
          </p:spPr>
          <p:txBody>
            <a:bodyPr wrap="square" lIns="0" tIns="0" rIns="0" bIns="0" rtlCol="0" anchor="ctr"/>
            <a:lstStyle/>
            <a:p>
              <a:pPr marL="0" indent="0">
                <a:buNone/>
              </a:pPr>
              <a:r>
                <a:rPr lang="en-US" sz="900" b="1" dirty="0">
                  <a:solidFill>
                    <a:srgbClr val="FFFFFF"/>
                  </a:solidFill>
                  <a:latin typeface="Calibri" pitchFamily="34" charset="0"/>
                  <a:ea typeface="Calibri" pitchFamily="34" charset="-122"/>
                  <a:cs typeface="Calibri" pitchFamily="34" charset="-120"/>
                </a:rPr>
                <a:t>STS-B  (Semantic Textual Similarity)</a:t>
              </a:r>
              <a:endParaRPr lang="en-US" sz="900" dirty="0"/>
            </a:p>
          </p:txBody>
        </p:sp>
        <p:sp>
          <p:nvSpPr>
            <p:cNvPr id="69" name="Shape 67"/>
            <p:cNvSpPr/>
            <p:nvPr/>
          </p:nvSpPr>
          <p:spPr>
            <a:xfrm>
              <a:off x="2836823" y="3645825"/>
              <a:ext cx="2880360" cy="347472"/>
            </a:xfrm>
            <a:prstGeom prst="rect">
              <a:avLst/>
            </a:prstGeom>
            <a:solidFill>
              <a:srgbClr val="F0F4FA"/>
            </a:solidFill>
            <a:ln w="10160">
              <a:solidFill>
                <a:srgbClr val="CADCFC"/>
              </a:solidFill>
              <a:prstDash val="solid"/>
            </a:ln>
          </p:spPr>
        </p:sp>
        <p:sp>
          <p:nvSpPr>
            <p:cNvPr id="70" name="Text 68"/>
            <p:cNvSpPr/>
            <p:nvPr/>
          </p:nvSpPr>
          <p:spPr>
            <a:xfrm>
              <a:off x="2836823" y="3654969"/>
              <a:ext cx="2834640" cy="329184"/>
            </a:xfrm>
            <a:prstGeom prst="rect">
              <a:avLst/>
            </a:prstGeom>
            <a:noFill/>
            <a:ln/>
          </p:spPr>
          <p:txBody>
            <a:bodyPr wrap="square" lIns="0" tIns="0" rIns="0" bIns="0" rtlCol="0" anchor="ctr"/>
            <a:lstStyle/>
            <a:p>
              <a:pPr marL="0" indent="0">
                <a:buNone/>
              </a:pPr>
              <a:r>
                <a:rPr lang="en-US" sz="1000" i="1" dirty="0">
                  <a:solidFill>
                    <a:srgbClr val="44546A"/>
                  </a:solidFill>
                  <a:latin typeface="Calibri" pitchFamily="34" charset="0"/>
                  <a:ea typeface="Calibri" pitchFamily="34" charset="-122"/>
                  <a:cs typeface="Calibri" pitchFamily="34" charset="-120"/>
                </a:rPr>
                <a:t>"A man is playing guitar." vs "A man is strumming a guitar."</a:t>
              </a:r>
              <a:endParaRPr lang="en-US" sz="1000" dirty="0"/>
            </a:p>
          </p:txBody>
        </p:sp>
        <p:sp>
          <p:nvSpPr>
            <p:cNvPr id="71" name="Text 69"/>
            <p:cNvSpPr/>
            <p:nvPr/>
          </p:nvSpPr>
          <p:spPr>
            <a:xfrm>
              <a:off x="2900831" y="3993297"/>
              <a:ext cx="2743200" cy="201168"/>
            </a:xfrm>
            <a:prstGeom prst="rect">
              <a:avLst/>
            </a:prstGeom>
            <a:noFill/>
            <a:ln/>
          </p:spPr>
          <p:txBody>
            <a:bodyPr wrap="square" lIns="0" tIns="0" rIns="0" bIns="0" rtlCol="0" anchor="ctr"/>
            <a:lstStyle/>
            <a:p>
              <a:pPr marL="0" indent="0">
                <a:buNone/>
              </a:pPr>
              <a:r>
                <a:rPr lang="en-US" sz="1000" b="1" dirty="0">
                  <a:solidFill>
                    <a:srgbClr val="1F3864"/>
                  </a:solidFill>
                  <a:latin typeface="Calibri" pitchFamily="34" charset="0"/>
                  <a:ea typeface="Calibri" pitchFamily="34" charset="-122"/>
                  <a:cs typeface="Calibri" pitchFamily="34" charset="-120"/>
                </a:rPr>
                <a:t>▶  Similarity score → 4.2 / 5.0</a:t>
              </a:r>
              <a:endParaRPr lang="en-US" sz="1000" dirty="0"/>
            </a:p>
          </p:txBody>
        </p:sp>
        <p:sp>
          <p:nvSpPr>
            <p:cNvPr id="72" name="Text 70"/>
            <p:cNvSpPr/>
            <p:nvPr/>
          </p:nvSpPr>
          <p:spPr>
            <a:xfrm>
              <a:off x="2900831" y="4194465"/>
              <a:ext cx="2743200" cy="182880"/>
            </a:xfrm>
            <a:prstGeom prst="rect">
              <a:avLst/>
            </a:prstGeom>
            <a:noFill/>
            <a:ln/>
          </p:spPr>
          <p:txBody>
            <a:bodyPr wrap="square" lIns="0" tIns="0" rIns="0" bIns="0" rtlCol="0" anchor="t"/>
            <a:lstStyle/>
            <a:p>
              <a:pPr marL="0" indent="0">
                <a:buNone/>
              </a:pPr>
              <a:r>
                <a:rPr lang="en-US" sz="900" i="1" dirty="0">
                  <a:solidFill>
                    <a:srgbClr val="595959"/>
                  </a:solidFill>
                  <a:latin typeface="Calibri" pitchFamily="34" charset="0"/>
                  <a:ea typeface="Calibri" pitchFamily="34" charset="-122"/>
                  <a:cs typeface="Calibri" pitchFamily="34" charset="-120"/>
                </a:rPr>
                <a:t>Requires fine-grained semantic grading, not binary labels.</a:t>
              </a:r>
              <a:endParaRPr lang="en-US" sz="900" dirty="0"/>
            </a:p>
          </p:txBody>
        </p:sp>
      </p:grpSp>
      <p:grpSp>
        <p:nvGrpSpPr>
          <p:cNvPr id="79" name="Group 78">
            <a:extLst>
              <a:ext uri="{FF2B5EF4-FFF2-40B4-BE49-F238E27FC236}">
                <a16:creationId xmlns:a16="http://schemas.microsoft.com/office/drawing/2014/main" id="{F581873D-9D40-F79D-225C-DD0CE38A484B}"/>
              </a:ext>
            </a:extLst>
          </p:cNvPr>
          <p:cNvGrpSpPr/>
          <p:nvPr/>
        </p:nvGrpSpPr>
        <p:grpSpPr>
          <a:xfrm>
            <a:off x="5867557" y="1012353"/>
            <a:ext cx="3185003" cy="3347721"/>
            <a:chOff x="5867557" y="1012353"/>
            <a:chExt cx="3185003" cy="3347721"/>
          </a:xfrm>
        </p:grpSpPr>
        <p:sp>
          <p:nvSpPr>
            <p:cNvPr id="73" name="Text 71"/>
            <p:cNvSpPr/>
            <p:nvPr/>
          </p:nvSpPr>
          <p:spPr>
            <a:xfrm>
              <a:off x="5987143" y="1012353"/>
              <a:ext cx="3065417" cy="182880"/>
            </a:xfrm>
            <a:prstGeom prst="rect">
              <a:avLst/>
            </a:prstGeom>
            <a:noFill/>
            <a:ln/>
          </p:spPr>
          <p:txBody>
            <a:bodyPr wrap="square" lIns="0" tIns="0" rIns="0" bIns="0" rtlCol="0" anchor="ctr"/>
            <a:lstStyle/>
            <a:p>
              <a:pPr marL="0" indent="0">
                <a:buNone/>
              </a:pPr>
              <a:r>
                <a:rPr lang="en-US" sz="1050" b="1" kern="0" spc="200" dirty="0">
                  <a:solidFill>
                    <a:srgbClr val="BF9000"/>
                  </a:solidFill>
                  <a:latin typeface="Calibri" pitchFamily="34" charset="0"/>
                  <a:ea typeface="Calibri" pitchFamily="34" charset="-122"/>
                  <a:cs typeface="Calibri" pitchFamily="34" charset="-120"/>
                </a:rPr>
                <a:t>W H Y   C O M P R E H E N S I V E</a:t>
              </a:r>
              <a:endParaRPr lang="en-US" sz="1050" dirty="0"/>
            </a:p>
          </p:txBody>
        </p:sp>
        <p:grpSp>
          <p:nvGrpSpPr>
            <p:cNvPr id="104" name="Group 103">
              <a:extLst>
                <a:ext uri="{FF2B5EF4-FFF2-40B4-BE49-F238E27FC236}">
                  <a16:creationId xmlns:a16="http://schemas.microsoft.com/office/drawing/2014/main" id="{A058698F-4B30-E691-0132-805C848457FA}"/>
                </a:ext>
              </a:extLst>
            </p:cNvPr>
            <p:cNvGrpSpPr/>
            <p:nvPr/>
          </p:nvGrpSpPr>
          <p:grpSpPr>
            <a:xfrm>
              <a:off x="5867557" y="1222665"/>
              <a:ext cx="3185003" cy="731520"/>
              <a:chOff x="6400800" y="960120"/>
              <a:chExt cx="2651760" cy="731520"/>
            </a:xfrm>
          </p:grpSpPr>
          <p:sp>
            <p:nvSpPr>
              <p:cNvPr id="74" name="Shape 72"/>
              <p:cNvSpPr/>
              <p:nvPr/>
            </p:nvSpPr>
            <p:spPr>
              <a:xfrm>
                <a:off x="6400800" y="960120"/>
                <a:ext cx="2651760" cy="731520"/>
              </a:xfrm>
              <a:prstGeom prst="roundRect">
                <a:avLst>
                  <a:gd name="adj" fmla="val 5000"/>
                </a:avLst>
              </a:prstGeom>
              <a:solidFill>
                <a:srgbClr val="F7F9FF"/>
              </a:solidFill>
              <a:ln w="8890">
                <a:solidFill>
                  <a:srgbClr val="CADCFC"/>
                </a:solidFill>
                <a:prstDash val="solid"/>
              </a:ln>
              <a:effectLst>
                <a:outerShdw blurRad="50800" dist="12700" dir="2700000" algn="bl" rotWithShape="0">
                  <a:srgbClr val="000000">
                    <a:alpha val="10000"/>
                  </a:srgbClr>
                </a:outerShdw>
              </a:effectLst>
            </p:spPr>
          </p:sp>
          <p:sp>
            <p:nvSpPr>
              <p:cNvPr id="75" name="Shape 73"/>
              <p:cNvSpPr/>
              <p:nvPr/>
            </p:nvSpPr>
            <p:spPr>
              <a:xfrm>
                <a:off x="6455664" y="1069848"/>
                <a:ext cx="310896" cy="310896"/>
              </a:xfrm>
              <a:prstGeom prst="ellipse">
                <a:avLst/>
              </a:prstGeom>
              <a:solidFill>
                <a:srgbClr val="1F3864"/>
              </a:solidFill>
              <a:ln w="12700">
                <a:solidFill>
                  <a:srgbClr val="1F3864"/>
                </a:solidFill>
                <a:prstDash val="solid"/>
              </a:ln>
            </p:spPr>
          </p:sp>
          <p:sp>
            <p:nvSpPr>
              <p:cNvPr id="76" name="Text 74"/>
              <p:cNvSpPr/>
              <p:nvPr/>
            </p:nvSpPr>
            <p:spPr>
              <a:xfrm>
                <a:off x="6455664" y="1069848"/>
                <a:ext cx="310896" cy="310896"/>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cs typeface="Calibri" pitchFamily="34" charset="-120"/>
                  </a:rPr>
                  <a:t>1</a:t>
                </a:r>
                <a:endParaRPr lang="en-US" sz="1050" dirty="0"/>
              </a:p>
            </p:txBody>
          </p:sp>
          <p:sp>
            <p:nvSpPr>
              <p:cNvPr id="77" name="Text 75"/>
              <p:cNvSpPr/>
              <p:nvPr/>
            </p:nvSpPr>
            <p:spPr>
              <a:xfrm>
                <a:off x="6830568" y="1005840"/>
                <a:ext cx="2157984" cy="201168"/>
              </a:xfrm>
              <a:prstGeom prst="rect">
                <a:avLst/>
              </a:prstGeom>
              <a:noFill/>
              <a:ln/>
            </p:spPr>
            <p:txBody>
              <a:bodyPr wrap="square" lIns="0" tIns="0" rIns="0" bIns="0" rtlCol="0" anchor="ctr"/>
              <a:lstStyle/>
              <a:p>
                <a:pPr marL="0" indent="0">
                  <a:buNone/>
                </a:pPr>
                <a:r>
                  <a:rPr lang="en-US" sz="900" b="1" dirty="0">
                    <a:solidFill>
                      <a:srgbClr val="1F3864"/>
                    </a:solidFill>
                    <a:latin typeface="Calibri" pitchFamily="34" charset="0"/>
                    <a:ea typeface="Calibri" pitchFamily="34" charset="-122"/>
                    <a:cs typeface="Calibri" pitchFamily="34" charset="-120"/>
                  </a:rPr>
                  <a:t>Linguistic Diversity</a:t>
                </a:r>
                <a:endParaRPr lang="en-US" sz="900" dirty="0"/>
              </a:p>
            </p:txBody>
          </p:sp>
          <p:sp>
            <p:nvSpPr>
              <p:cNvPr id="78" name="Text 76"/>
              <p:cNvSpPr/>
              <p:nvPr/>
            </p:nvSpPr>
            <p:spPr>
              <a:xfrm>
                <a:off x="6830568" y="1188720"/>
                <a:ext cx="2157984" cy="457200"/>
              </a:xfrm>
              <a:prstGeom prst="rect">
                <a:avLst/>
              </a:prstGeom>
              <a:noFill/>
              <a:ln/>
            </p:spPr>
            <p:txBody>
              <a:bodyPr wrap="square" lIns="0" tIns="0" rIns="0" bIns="0" rtlCol="0" anchor="ctr"/>
              <a:lstStyle/>
              <a:p>
                <a:pPr marL="0" indent="0">
                  <a:buNone/>
                </a:pPr>
                <a:r>
                  <a:rPr lang="en-US" sz="1000" dirty="0">
                    <a:solidFill>
                      <a:srgbClr val="595959"/>
                    </a:solidFill>
                    <a:latin typeface="Calibri" pitchFamily="34" charset="0"/>
                    <a:ea typeface="Calibri" pitchFamily="34" charset="-122"/>
                    <a:cs typeface="Calibri" pitchFamily="34" charset="-120"/>
                  </a:rPr>
                  <a:t>Spans syntax (CoLA), semantics (STS-B), and pragmatics (NLI) — testing all levels of language understanding in one score.</a:t>
                </a:r>
                <a:endParaRPr lang="en-US" sz="1000" dirty="0"/>
              </a:p>
            </p:txBody>
          </p:sp>
        </p:grpSp>
        <p:grpSp>
          <p:nvGrpSpPr>
            <p:cNvPr id="103" name="Group 102">
              <a:extLst>
                <a:ext uri="{FF2B5EF4-FFF2-40B4-BE49-F238E27FC236}">
                  <a16:creationId xmlns:a16="http://schemas.microsoft.com/office/drawing/2014/main" id="{A7B992B3-D3DE-915C-7CBF-C89F3D202197}"/>
                </a:ext>
              </a:extLst>
            </p:cNvPr>
            <p:cNvGrpSpPr/>
            <p:nvPr/>
          </p:nvGrpSpPr>
          <p:grpSpPr>
            <a:xfrm>
              <a:off x="5867557" y="2832009"/>
              <a:ext cx="3185003" cy="731520"/>
              <a:chOff x="6400800" y="2569464"/>
              <a:chExt cx="2651760" cy="731520"/>
            </a:xfrm>
          </p:grpSpPr>
          <p:sp>
            <p:nvSpPr>
              <p:cNvPr id="84" name="Shape 82"/>
              <p:cNvSpPr/>
              <p:nvPr/>
            </p:nvSpPr>
            <p:spPr>
              <a:xfrm>
                <a:off x="6400800" y="2569464"/>
                <a:ext cx="2651760" cy="731520"/>
              </a:xfrm>
              <a:prstGeom prst="roundRect">
                <a:avLst>
                  <a:gd name="adj" fmla="val 5000"/>
                </a:avLst>
              </a:prstGeom>
              <a:solidFill>
                <a:srgbClr val="F7F9FF"/>
              </a:solidFill>
              <a:ln w="8890">
                <a:solidFill>
                  <a:srgbClr val="CADCFC"/>
                </a:solidFill>
                <a:prstDash val="solid"/>
              </a:ln>
              <a:effectLst>
                <a:outerShdw blurRad="50800" dist="12700" dir="2700000" algn="bl" rotWithShape="0">
                  <a:srgbClr val="000000">
                    <a:alpha val="10000"/>
                  </a:srgbClr>
                </a:outerShdw>
              </a:effectLst>
            </p:spPr>
          </p:sp>
          <p:sp>
            <p:nvSpPr>
              <p:cNvPr id="85" name="Shape 83"/>
              <p:cNvSpPr/>
              <p:nvPr/>
            </p:nvSpPr>
            <p:spPr>
              <a:xfrm>
                <a:off x="6455664" y="2679192"/>
                <a:ext cx="310896" cy="310896"/>
              </a:xfrm>
              <a:prstGeom prst="ellipse">
                <a:avLst/>
              </a:prstGeom>
              <a:solidFill>
                <a:srgbClr val="1F3864"/>
              </a:solidFill>
              <a:ln w="12700">
                <a:solidFill>
                  <a:srgbClr val="1F3864"/>
                </a:solidFill>
                <a:prstDash val="solid"/>
              </a:ln>
            </p:spPr>
          </p:sp>
          <p:sp>
            <p:nvSpPr>
              <p:cNvPr id="86" name="Text 84"/>
              <p:cNvSpPr/>
              <p:nvPr/>
            </p:nvSpPr>
            <p:spPr>
              <a:xfrm>
                <a:off x="6455664" y="2679192"/>
                <a:ext cx="310896" cy="310896"/>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cs typeface="Calibri" pitchFamily="34" charset="-120"/>
                  </a:rPr>
                  <a:t>3</a:t>
                </a:r>
                <a:endParaRPr lang="en-US" sz="1050" dirty="0"/>
              </a:p>
            </p:txBody>
          </p:sp>
          <p:sp>
            <p:nvSpPr>
              <p:cNvPr id="87" name="Text 85"/>
              <p:cNvSpPr/>
              <p:nvPr/>
            </p:nvSpPr>
            <p:spPr>
              <a:xfrm>
                <a:off x="6830568" y="2615184"/>
                <a:ext cx="2157984" cy="201168"/>
              </a:xfrm>
              <a:prstGeom prst="rect">
                <a:avLst/>
              </a:prstGeom>
              <a:noFill/>
              <a:ln/>
            </p:spPr>
            <p:txBody>
              <a:bodyPr wrap="square" lIns="0" tIns="0" rIns="0" bIns="0" rtlCol="0" anchor="ctr"/>
              <a:lstStyle/>
              <a:p>
                <a:pPr marL="0" indent="0">
                  <a:buNone/>
                </a:pPr>
                <a:r>
                  <a:rPr lang="en-US" sz="900" b="1" dirty="0">
                    <a:solidFill>
                      <a:srgbClr val="1F3864"/>
                    </a:solidFill>
                    <a:latin typeface="Calibri" pitchFamily="34" charset="0"/>
                    <a:ea typeface="Calibri" pitchFamily="34" charset="-122"/>
                    <a:cs typeface="Calibri" pitchFamily="34" charset="-120"/>
                  </a:rPr>
                  <a:t>Genre &amp; Domain Mix</a:t>
                </a:r>
                <a:endParaRPr lang="en-US" sz="900" dirty="0"/>
              </a:p>
            </p:txBody>
          </p:sp>
          <p:sp>
            <p:nvSpPr>
              <p:cNvPr id="88" name="Text 86"/>
              <p:cNvSpPr/>
              <p:nvPr/>
            </p:nvSpPr>
            <p:spPr>
              <a:xfrm>
                <a:off x="6830568" y="2798064"/>
                <a:ext cx="2157984" cy="457200"/>
              </a:xfrm>
              <a:prstGeom prst="rect">
                <a:avLst/>
              </a:prstGeom>
              <a:noFill/>
              <a:ln/>
            </p:spPr>
            <p:txBody>
              <a:bodyPr wrap="square" lIns="0" tIns="0" rIns="0" bIns="0" rtlCol="0" anchor="ctr"/>
              <a:lstStyle/>
              <a:p>
                <a:pPr marL="0" indent="0">
                  <a:buNone/>
                </a:pPr>
                <a:r>
                  <a:rPr lang="en-US" sz="900" dirty="0">
                    <a:solidFill>
                      <a:srgbClr val="595959"/>
                    </a:solidFill>
                    <a:latin typeface="Calibri" pitchFamily="34" charset="0"/>
                    <a:ea typeface="Calibri" pitchFamily="34" charset="-122"/>
                    <a:cs typeface="Calibri" pitchFamily="34" charset="-120"/>
                  </a:rPr>
                  <a:t>MNLI alone covers 5 genres (news, fiction, phone). QQP uses web queries; STS-B uses news + image captions. No single domain dominates.</a:t>
                </a:r>
                <a:endParaRPr lang="en-US" sz="900" dirty="0"/>
              </a:p>
            </p:txBody>
          </p:sp>
        </p:grpSp>
        <p:grpSp>
          <p:nvGrpSpPr>
            <p:cNvPr id="101" name="Group 100">
              <a:extLst>
                <a:ext uri="{FF2B5EF4-FFF2-40B4-BE49-F238E27FC236}">
                  <a16:creationId xmlns:a16="http://schemas.microsoft.com/office/drawing/2014/main" id="{3AB2BCDC-1265-A1EB-96A5-036A93C67565}"/>
                </a:ext>
              </a:extLst>
            </p:cNvPr>
            <p:cNvGrpSpPr/>
            <p:nvPr/>
          </p:nvGrpSpPr>
          <p:grpSpPr>
            <a:xfrm>
              <a:off x="5867557" y="2011088"/>
              <a:ext cx="3185003" cy="731520"/>
              <a:chOff x="6400800" y="3374136"/>
              <a:chExt cx="2651760" cy="731520"/>
            </a:xfrm>
          </p:grpSpPr>
          <p:sp>
            <p:nvSpPr>
              <p:cNvPr id="89" name="Shape 87"/>
              <p:cNvSpPr/>
              <p:nvPr/>
            </p:nvSpPr>
            <p:spPr>
              <a:xfrm>
                <a:off x="6400800" y="3374136"/>
                <a:ext cx="2651760" cy="731520"/>
              </a:xfrm>
              <a:prstGeom prst="roundRect">
                <a:avLst>
                  <a:gd name="adj" fmla="val 5000"/>
                </a:avLst>
              </a:prstGeom>
              <a:solidFill>
                <a:srgbClr val="F7F9FF"/>
              </a:solidFill>
              <a:ln w="8890">
                <a:solidFill>
                  <a:srgbClr val="CADCFC"/>
                </a:solidFill>
                <a:prstDash val="solid"/>
              </a:ln>
              <a:effectLst>
                <a:outerShdw blurRad="50800" dist="12700" dir="2700000" algn="bl" rotWithShape="0">
                  <a:srgbClr val="000000">
                    <a:alpha val="10000"/>
                  </a:srgbClr>
                </a:outerShdw>
              </a:effectLst>
            </p:spPr>
          </p:sp>
          <p:sp>
            <p:nvSpPr>
              <p:cNvPr id="90" name="Shape 88"/>
              <p:cNvSpPr/>
              <p:nvPr/>
            </p:nvSpPr>
            <p:spPr>
              <a:xfrm>
                <a:off x="6455664" y="3483864"/>
                <a:ext cx="310896" cy="310896"/>
              </a:xfrm>
              <a:prstGeom prst="ellipse">
                <a:avLst/>
              </a:prstGeom>
              <a:solidFill>
                <a:srgbClr val="1F3864"/>
              </a:solidFill>
              <a:ln w="12700">
                <a:solidFill>
                  <a:srgbClr val="1F3864"/>
                </a:solidFill>
                <a:prstDash val="solid"/>
              </a:ln>
            </p:spPr>
          </p:sp>
          <p:sp>
            <p:nvSpPr>
              <p:cNvPr id="91" name="Text 89"/>
              <p:cNvSpPr/>
              <p:nvPr/>
            </p:nvSpPr>
            <p:spPr>
              <a:xfrm>
                <a:off x="6455664" y="3483864"/>
                <a:ext cx="310896" cy="310896"/>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cs typeface="Calibri" pitchFamily="34" charset="-120"/>
                  </a:rPr>
                  <a:t>2</a:t>
                </a:r>
                <a:endParaRPr lang="en-US" sz="1050" dirty="0"/>
              </a:p>
            </p:txBody>
          </p:sp>
          <p:sp>
            <p:nvSpPr>
              <p:cNvPr id="92" name="Text 90"/>
              <p:cNvSpPr/>
              <p:nvPr/>
            </p:nvSpPr>
            <p:spPr>
              <a:xfrm>
                <a:off x="6830568" y="3419856"/>
                <a:ext cx="2157984" cy="201168"/>
              </a:xfrm>
              <a:prstGeom prst="rect">
                <a:avLst/>
              </a:prstGeom>
              <a:noFill/>
              <a:ln/>
            </p:spPr>
            <p:txBody>
              <a:bodyPr wrap="square" lIns="0" tIns="0" rIns="0" bIns="0" rtlCol="0" anchor="ctr"/>
              <a:lstStyle/>
              <a:p>
                <a:pPr marL="0" indent="0">
                  <a:buNone/>
                </a:pPr>
                <a:r>
                  <a:rPr lang="en-US" sz="900" b="1" dirty="0">
                    <a:solidFill>
                      <a:srgbClr val="1F3864"/>
                    </a:solidFill>
                    <a:latin typeface="Calibri" pitchFamily="34" charset="0"/>
                    <a:ea typeface="Calibri" pitchFamily="34" charset="-122"/>
                    <a:cs typeface="Calibri" pitchFamily="34" charset="-120"/>
                  </a:rPr>
                  <a:t>Multi-label Complexity</a:t>
                </a:r>
                <a:endParaRPr lang="en-US" sz="900" dirty="0"/>
              </a:p>
            </p:txBody>
          </p:sp>
          <p:sp>
            <p:nvSpPr>
              <p:cNvPr id="93" name="Text 91"/>
              <p:cNvSpPr/>
              <p:nvPr/>
            </p:nvSpPr>
            <p:spPr>
              <a:xfrm>
                <a:off x="6830568" y="3602736"/>
                <a:ext cx="2157984" cy="457200"/>
              </a:xfrm>
              <a:prstGeom prst="rect">
                <a:avLst/>
              </a:prstGeom>
              <a:noFill/>
              <a:ln/>
            </p:spPr>
            <p:txBody>
              <a:bodyPr wrap="square" lIns="0" tIns="0" rIns="0" bIns="0" rtlCol="0" anchor="ctr"/>
              <a:lstStyle/>
              <a:p>
                <a:pPr marL="0" indent="0">
                  <a:buNone/>
                </a:pPr>
                <a:r>
                  <a:rPr lang="en-US" sz="900" dirty="0">
                    <a:solidFill>
                      <a:srgbClr val="595959"/>
                    </a:solidFill>
                    <a:latin typeface="Calibri" pitchFamily="34" charset="0"/>
                    <a:ea typeface="Calibri" pitchFamily="34" charset="-122"/>
                    <a:cs typeface="Calibri" pitchFamily="34" charset="-120"/>
                  </a:rPr>
                  <a:t>Binary (SST-2), 3-way (MNLI), regression (STS-B), and MCC metric (CoLA) together prevent models from exploiting a single output format.</a:t>
                </a:r>
                <a:endParaRPr lang="en-US" sz="900" dirty="0"/>
              </a:p>
            </p:txBody>
          </p:sp>
        </p:grpSp>
        <p:grpSp>
          <p:nvGrpSpPr>
            <p:cNvPr id="102" name="Group 101">
              <a:extLst>
                <a:ext uri="{FF2B5EF4-FFF2-40B4-BE49-F238E27FC236}">
                  <a16:creationId xmlns:a16="http://schemas.microsoft.com/office/drawing/2014/main" id="{AB649F78-76D3-1551-4EA5-4BF5430FAB19}"/>
                </a:ext>
              </a:extLst>
            </p:cNvPr>
            <p:cNvGrpSpPr/>
            <p:nvPr/>
          </p:nvGrpSpPr>
          <p:grpSpPr>
            <a:xfrm>
              <a:off x="5867557" y="3628554"/>
              <a:ext cx="3185003" cy="731520"/>
              <a:chOff x="6400800" y="4178808"/>
              <a:chExt cx="2651760" cy="731520"/>
            </a:xfrm>
          </p:grpSpPr>
          <p:sp>
            <p:nvSpPr>
              <p:cNvPr id="94" name="Shape 92"/>
              <p:cNvSpPr/>
              <p:nvPr/>
            </p:nvSpPr>
            <p:spPr>
              <a:xfrm>
                <a:off x="6400800" y="4178808"/>
                <a:ext cx="2651760" cy="731520"/>
              </a:xfrm>
              <a:prstGeom prst="roundRect">
                <a:avLst>
                  <a:gd name="adj" fmla="val 5000"/>
                </a:avLst>
              </a:prstGeom>
              <a:solidFill>
                <a:srgbClr val="F7F9FF"/>
              </a:solidFill>
              <a:ln w="8890">
                <a:solidFill>
                  <a:srgbClr val="CADCFC"/>
                </a:solidFill>
                <a:prstDash val="solid"/>
              </a:ln>
              <a:effectLst>
                <a:outerShdw blurRad="50800" dist="12700" dir="2700000" algn="bl" rotWithShape="0">
                  <a:srgbClr val="000000">
                    <a:alpha val="10000"/>
                  </a:srgbClr>
                </a:outerShdw>
              </a:effectLst>
            </p:spPr>
          </p:sp>
          <p:sp>
            <p:nvSpPr>
              <p:cNvPr id="95" name="Shape 93"/>
              <p:cNvSpPr/>
              <p:nvPr/>
            </p:nvSpPr>
            <p:spPr>
              <a:xfrm>
                <a:off x="6455664" y="4288536"/>
                <a:ext cx="310896" cy="310896"/>
              </a:xfrm>
              <a:prstGeom prst="ellipse">
                <a:avLst/>
              </a:prstGeom>
              <a:solidFill>
                <a:srgbClr val="1F3864"/>
              </a:solidFill>
              <a:ln w="12700">
                <a:solidFill>
                  <a:srgbClr val="1F3864"/>
                </a:solidFill>
                <a:prstDash val="solid"/>
              </a:ln>
            </p:spPr>
          </p:sp>
          <p:sp>
            <p:nvSpPr>
              <p:cNvPr id="96" name="Text 94"/>
              <p:cNvSpPr/>
              <p:nvPr/>
            </p:nvSpPr>
            <p:spPr>
              <a:xfrm>
                <a:off x="6455664" y="4288536"/>
                <a:ext cx="310896" cy="310896"/>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cs typeface="Calibri" pitchFamily="34" charset="-120"/>
                  </a:rPr>
                  <a:t>4</a:t>
                </a:r>
                <a:endParaRPr lang="en-US" sz="1050" dirty="0"/>
              </a:p>
            </p:txBody>
          </p:sp>
          <p:sp>
            <p:nvSpPr>
              <p:cNvPr id="97" name="Text 95"/>
              <p:cNvSpPr/>
              <p:nvPr/>
            </p:nvSpPr>
            <p:spPr>
              <a:xfrm>
                <a:off x="6830568" y="4224528"/>
                <a:ext cx="2157984" cy="201168"/>
              </a:xfrm>
              <a:prstGeom prst="rect">
                <a:avLst/>
              </a:prstGeom>
              <a:noFill/>
              <a:ln/>
            </p:spPr>
            <p:txBody>
              <a:bodyPr wrap="square" lIns="0" tIns="0" rIns="0" bIns="0" rtlCol="0" anchor="ctr"/>
              <a:lstStyle/>
              <a:p>
                <a:pPr marL="0" indent="0">
                  <a:buNone/>
                </a:pPr>
                <a:r>
                  <a:rPr lang="en-US" sz="900" b="1" dirty="0">
                    <a:solidFill>
                      <a:srgbClr val="1F3864"/>
                    </a:solidFill>
                    <a:latin typeface="Calibri" pitchFamily="34" charset="0"/>
                    <a:ea typeface="Calibri" pitchFamily="34" charset="-122"/>
                    <a:cs typeface="Calibri" pitchFamily="34" charset="-120"/>
                  </a:rPr>
                  <a:t>Human Ceiling Insight</a:t>
                </a:r>
                <a:endParaRPr lang="en-US" sz="900" dirty="0"/>
              </a:p>
            </p:txBody>
          </p:sp>
          <p:sp>
            <p:nvSpPr>
              <p:cNvPr id="98" name="Text 96"/>
              <p:cNvSpPr/>
              <p:nvPr/>
            </p:nvSpPr>
            <p:spPr>
              <a:xfrm>
                <a:off x="6830568" y="4407408"/>
                <a:ext cx="2157984" cy="457200"/>
              </a:xfrm>
              <a:prstGeom prst="rect">
                <a:avLst/>
              </a:prstGeom>
              <a:noFill/>
              <a:ln/>
            </p:spPr>
            <p:txBody>
              <a:bodyPr wrap="square" lIns="0" tIns="0" rIns="0" bIns="0" rtlCol="0" anchor="ctr"/>
              <a:lstStyle/>
              <a:p>
                <a:pPr marL="0" indent="0">
                  <a:buNone/>
                </a:pPr>
                <a:r>
                  <a:rPr lang="en-US" sz="900" dirty="0">
                    <a:solidFill>
                      <a:srgbClr val="595959"/>
                    </a:solidFill>
                    <a:latin typeface="Calibri" pitchFamily="34" charset="0"/>
                    <a:ea typeface="Calibri" pitchFamily="34" charset="-122"/>
                    <a:cs typeface="Calibri" pitchFamily="34" charset="-120"/>
                  </a:rPr>
                  <a:t>GLUE publishes human baselines (~87 avg). Models that exceed them (e.g. BERT-Large = 82.1) reveal which tasks remain genuinely hard.</a:t>
                </a:r>
                <a:endParaRPr lang="en-US" sz="900" dirty="0"/>
              </a:p>
            </p:txBody>
          </p:sp>
        </p:grpSp>
      </p:grpSp>
      <p:sp>
        <p:nvSpPr>
          <p:cNvPr id="99" name="Text 97"/>
          <p:cNvSpPr/>
          <p:nvPr/>
        </p:nvSpPr>
        <p:spPr>
          <a:xfrm>
            <a:off x="320040" y="4801779"/>
            <a:ext cx="8503920" cy="182880"/>
          </a:xfrm>
          <a:prstGeom prst="rect">
            <a:avLst/>
          </a:prstGeom>
          <a:noFill/>
          <a:ln/>
        </p:spPr>
        <p:txBody>
          <a:bodyPr wrap="square" lIns="0" tIns="0" rIns="0" bIns="0" rtlCol="0" anchor="ctr"/>
          <a:lstStyle/>
          <a:p>
            <a:pPr marL="0" indent="0">
              <a:buNone/>
            </a:pPr>
            <a:r>
              <a:rPr lang="en-US" sz="1000" i="1" dirty="0">
                <a:solidFill>
                  <a:srgbClr val="999999"/>
                </a:solidFill>
                <a:latin typeface="Calibri" pitchFamily="34" charset="0"/>
                <a:ea typeface="Calibri" pitchFamily="34" charset="-122"/>
                <a:cs typeface="Calibri" pitchFamily="34" charset="-120"/>
              </a:rPr>
              <a:t>Wang et al. (2018). GLUE: A Multi-Task Benchmark. EMNLP 2018. arXiv:1804.07461.  |  Devlin et al. (2019). BERT: Pre-training of Deep Bidirectional Transformers. NAACL 2019.</a:t>
            </a:r>
            <a:endParaRPr lang="en-US" sz="1000" dirty="0"/>
          </a:p>
        </p:txBody>
      </p:sp>
      <p:pic>
        <p:nvPicPr>
          <p:cNvPr id="3" name="Google Shape;109;p20">
            <a:extLst>
              <a:ext uri="{FF2B5EF4-FFF2-40B4-BE49-F238E27FC236}">
                <a16:creationId xmlns:a16="http://schemas.microsoft.com/office/drawing/2014/main" id="{6BD1A6F9-D47B-CFA2-4680-E4679927D5D3}"/>
              </a:ext>
            </a:extLst>
          </p:cNvPr>
          <p:cNvPicPr preferRelativeResize="0"/>
          <p:nvPr/>
        </p:nvPicPr>
        <p:blipFill>
          <a:blip r:embed="rId3">
            <a:alphaModFix/>
          </a:blip>
          <a:stretch>
            <a:fillRect/>
          </a:stretch>
        </p:blipFill>
        <p:spPr>
          <a:xfrm>
            <a:off x="8369125" y="0"/>
            <a:ext cx="774877" cy="867174"/>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3444" cy="5143500"/>
          </a:xfrm>
          <a:prstGeom prst="rect">
            <a:avLst/>
          </a:prstGeom>
          <a:solidFill>
            <a:srgbClr val="1A365D"/>
          </a:solidFill>
          <a:ln w="12700">
            <a:solidFill>
              <a:srgbClr val="1A365D"/>
            </a:solidFill>
            <a:prstDash val="solid"/>
          </a:ln>
        </p:spPr>
        <p:txBody>
          <a:bodyPr/>
          <a:lstStyle/>
          <a:p>
            <a:endParaRPr/>
          </a:p>
        </p:txBody>
      </p:sp>
      <p:sp>
        <p:nvSpPr>
          <p:cNvPr id="5" name="Shape 3"/>
          <p:cNvSpPr/>
          <p:nvPr/>
        </p:nvSpPr>
        <p:spPr>
          <a:xfrm>
            <a:off x="342900" y="4457700"/>
            <a:ext cx="8435340" cy="0"/>
          </a:xfrm>
          <a:prstGeom prst="line">
            <a:avLst/>
          </a:prstGeom>
          <a:noFill/>
          <a:ln w="9525">
            <a:solidFill>
              <a:srgbClr val="CBD5E0"/>
            </a:solidFill>
            <a:prstDash val="solid"/>
          </a:ln>
        </p:spPr>
        <p:txBody>
          <a:bodyPr/>
          <a:lstStyle/>
          <a:p>
            <a:endParaRPr/>
          </a:p>
        </p:txBody>
      </p:sp>
      <p:sp>
        <p:nvSpPr>
          <p:cNvPr id="7" name="Text 5"/>
          <p:cNvSpPr/>
          <p:nvPr/>
        </p:nvSpPr>
        <p:spPr>
          <a:xfrm>
            <a:off x="342900" y="293203"/>
            <a:ext cx="8435340" cy="617220"/>
          </a:xfrm>
          <a:prstGeom prst="rect">
            <a:avLst/>
          </a:prstGeom>
          <a:noFill/>
          <a:ln/>
        </p:spPr>
        <p:txBody>
          <a:bodyPr wrap="square" lIns="0" tIns="0" rIns="0" bIns="0" rtlCol="0" anchor="ctr"/>
          <a:lstStyle/>
          <a:p>
            <a:r>
              <a:rPr lang="en-US" sz="2250" b="1" dirty="0">
                <a:solidFill>
                  <a:srgbClr val="1E2761"/>
                </a:solidFill>
                <a:latin typeface="Georgia"/>
              </a:rPr>
              <a:t>GPT-1 and GPT-2: Decoder-only Generation</a:t>
            </a:r>
            <a:endParaRPr lang="en-US" sz="2250" dirty="0"/>
          </a:p>
        </p:txBody>
      </p:sp>
      <p:sp>
        <p:nvSpPr>
          <p:cNvPr id="8" name="Text 6"/>
          <p:cNvSpPr/>
          <p:nvPr/>
        </p:nvSpPr>
        <p:spPr>
          <a:xfrm>
            <a:off x="342900" y="1190709"/>
            <a:ext cx="4442394" cy="1337310"/>
          </a:xfrm>
          <a:prstGeom prst="rect">
            <a:avLst/>
          </a:prstGeom>
          <a:noFill/>
          <a:ln/>
        </p:spPr>
        <p:txBody>
          <a:bodyPr wrap="square" lIns="0" tIns="0" rIns="0" bIns="0" rtlCol="0" anchor="ctr"/>
          <a:lstStyle/>
          <a:p>
            <a:pPr>
              <a:spcAft>
                <a:spcPts val="300"/>
              </a:spcAft>
            </a:pPr>
            <a:r>
              <a:rPr lang="en-US" sz="1200" dirty="0">
                <a:solidFill>
                  <a:srgbClr val="1A1F36"/>
                </a:solidFill>
                <a:latin typeface="Calibri"/>
              </a:rPr>
              <a:t>OpenAI trained a causal decoder-only Transformer-based model to predict the next token. </a:t>
            </a:r>
          </a:p>
          <a:p>
            <a:pPr>
              <a:spcAft>
                <a:spcPts val="300"/>
              </a:spcAft>
            </a:pPr>
            <a:endParaRPr lang="en-US" sz="1200" dirty="0">
              <a:solidFill>
                <a:srgbClr val="2D3748"/>
              </a:solidFill>
              <a:latin typeface="Calibri" pitchFamily="34" charset="0"/>
              <a:ea typeface="Calibri" pitchFamily="34" charset="-122"/>
              <a:cs typeface="Calibri" pitchFamily="34" charset="-120"/>
            </a:endParaRPr>
          </a:p>
          <a:p>
            <a:pPr>
              <a:spcAft>
                <a:spcPts val="300"/>
              </a:spcAft>
            </a:pPr>
            <a:r>
              <a:rPr lang="en-US" sz="1200" dirty="0">
                <a:solidFill>
                  <a:srgbClr val="1A1F36"/>
                </a:solidFill>
                <a:latin typeface="Calibri"/>
              </a:rPr>
              <a:t>GPT-1 (2018) showed a single generative pre-trained model could match task-specific architectures after fine-tuning. </a:t>
            </a:r>
          </a:p>
          <a:p>
            <a:pPr>
              <a:spcAft>
                <a:spcPts val="300"/>
              </a:spcAft>
            </a:pPr>
            <a:endParaRPr lang="en-US" sz="1200" dirty="0">
              <a:solidFill>
                <a:srgbClr val="2D3748"/>
              </a:solidFill>
              <a:latin typeface="Calibri" pitchFamily="34" charset="0"/>
              <a:ea typeface="Calibri" pitchFamily="34" charset="-122"/>
              <a:cs typeface="Calibri" pitchFamily="34" charset="-120"/>
            </a:endParaRPr>
          </a:p>
          <a:p>
            <a:pPr>
              <a:spcAft>
                <a:spcPts val="300"/>
              </a:spcAft>
            </a:pPr>
            <a:r>
              <a:rPr lang="en-US" sz="1200" dirty="0">
                <a:solidFill>
                  <a:srgbClr val="1A1F36"/>
                </a:solidFill>
                <a:latin typeface="Calibri"/>
              </a:rPr>
              <a:t>GPT-2 (2019) scaled this to 1.5B parameters on 40 GB of web text.</a:t>
            </a:r>
            <a:endParaRPr lang="en-US" sz="1200" dirty="0"/>
          </a:p>
        </p:txBody>
      </p:sp>
      <p:grpSp>
        <p:nvGrpSpPr>
          <p:cNvPr id="42" name="Group 41">
            <a:extLst>
              <a:ext uri="{FF2B5EF4-FFF2-40B4-BE49-F238E27FC236}">
                <a16:creationId xmlns:a16="http://schemas.microsoft.com/office/drawing/2014/main" id="{AC6D1060-A91D-D6CA-0845-69535F4AC75D}"/>
              </a:ext>
            </a:extLst>
          </p:cNvPr>
          <p:cNvGrpSpPr/>
          <p:nvPr/>
        </p:nvGrpSpPr>
        <p:grpSpPr>
          <a:xfrm>
            <a:off x="5212080" y="1034661"/>
            <a:ext cx="3682944" cy="1580819"/>
            <a:chOff x="5314950" y="1508760"/>
            <a:chExt cx="3463290" cy="1337310"/>
          </a:xfrm>
        </p:grpSpPr>
        <p:sp>
          <p:nvSpPr>
            <p:cNvPr id="9" name="Shape 7"/>
            <p:cNvSpPr/>
            <p:nvPr/>
          </p:nvSpPr>
          <p:spPr>
            <a:xfrm>
              <a:off x="5314950" y="1508760"/>
              <a:ext cx="3463290" cy="1337310"/>
            </a:xfrm>
            <a:prstGeom prst="rect">
              <a:avLst/>
            </a:prstGeom>
            <a:solidFill>
              <a:srgbClr val="FFFFFF"/>
            </a:solidFill>
            <a:ln w="9525">
              <a:solidFill>
                <a:srgbClr val="E2E8F0"/>
              </a:solidFill>
              <a:prstDash val="solid"/>
            </a:ln>
          </p:spPr>
          <p:txBody>
            <a:bodyPr/>
            <a:lstStyle/>
            <a:p>
              <a:endParaRPr/>
            </a:p>
          </p:txBody>
        </p:sp>
        <p:sp>
          <p:nvSpPr>
            <p:cNvPr id="10" name="Shape 8"/>
            <p:cNvSpPr/>
            <p:nvPr/>
          </p:nvSpPr>
          <p:spPr>
            <a:xfrm>
              <a:off x="5314950" y="1508760"/>
              <a:ext cx="41148" cy="1337310"/>
            </a:xfrm>
            <a:prstGeom prst="rect">
              <a:avLst/>
            </a:prstGeom>
            <a:solidFill>
              <a:srgbClr val="8B6914"/>
            </a:solidFill>
            <a:ln w="12700">
              <a:solidFill>
                <a:srgbClr val="8B6914"/>
              </a:solidFill>
              <a:prstDash val="solid"/>
            </a:ln>
          </p:spPr>
          <p:txBody>
            <a:bodyPr/>
            <a:lstStyle/>
            <a:p>
              <a:endParaRPr/>
            </a:p>
          </p:txBody>
        </p:sp>
        <p:sp>
          <p:nvSpPr>
            <p:cNvPr id="11" name="Text 9"/>
            <p:cNvSpPr/>
            <p:nvPr/>
          </p:nvSpPr>
          <p:spPr>
            <a:xfrm>
              <a:off x="5465826" y="1577340"/>
              <a:ext cx="3223260" cy="150876"/>
            </a:xfrm>
            <a:prstGeom prst="rect">
              <a:avLst/>
            </a:prstGeom>
            <a:noFill/>
            <a:ln/>
          </p:spPr>
          <p:txBody>
            <a:bodyPr wrap="square" lIns="0" tIns="0" rIns="0" bIns="0" rtlCol="0" anchor="ctr"/>
            <a:lstStyle/>
            <a:p>
              <a:r>
                <a:rPr lang="en-US" sz="900" b="1" spc="300" dirty="0">
                  <a:solidFill>
                    <a:srgbClr val="8B6914"/>
                  </a:solidFill>
                  <a:latin typeface="Calibri"/>
                </a:rPr>
                <a:t>KEY RESULT · ZERO-SHOT SCALING</a:t>
              </a:r>
              <a:endParaRPr lang="en-US" sz="900" dirty="0"/>
            </a:p>
          </p:txBody>
        </p:sp>
        <p:sp>
          <p:nvSpPr>
            <p:cNvPr id="12" name="Text 10"/>
            <p:cNvSpPr/>
            <p:nvPr/>
          </p:nvSpPr>
          <p:spPr>
            <a:xfrm>
              <a:off x="5465826" y="1714500"/>
              <a:ext cx="3223260" cy="192024"/>
            </a:xfrm>
            <a:prstGeom prst="rect">
              <a:avLst/>
            </a:prstGeom>
            <a:noFill/>
            <a:ln/>
          </p:spPr>
          <p:txBody>
            <a:bodyPr wrap="square" lIns="0" tIns="0" rIns="0" bIns="0" rtlCol="0" anchor="ctr"/>
            <a:lstStyle/>
            <a:p>
              <a:r>
                <a:rPr lang="en-US" sz="1050" b="1" dirty="0">
                  <a:solidFill>
                    <a:srgbClr val="0F223E"/>
                  </a:solidFill>
                  <a:latin typeface="Calibri"/>
                </a:rPr>
                <a:t>LAMBADA accuracy — zero-shot</a:t>
              </a:r>
              <a:endParaRPr lang="en-US" sz="1050" dirty="0"/>
            </a:p>
          </p:txBody>
        </p:sp>
        <p:sp>
          <p:nvSpPr>
            <p:cNvPr id="13" name="Text 11"/>
            <p:cNvSpPr/>
            <p:nvPr/>
          </p:nvSpPr>
          <p:spPr>
            <a:xfrm>
              <a:off x="5465826" y="1989892"/>
              <a:ext cx="1268730" cy="160735"/>
            </a:xfrm>
            <a:prstGeom prst="rect">
              <a:avLst/>
            </a:prstGeom>
            <a:noFill/>
            <a:ln/>
          </p:spPr>
          <p:txBody>
            <a:bodyPr wrap="square" lIns="0" tIns="0" rIns="0" bIns="0" rtlCol="0" anchor="ctr"/>
            <a:lstStyle/>
            <a:p>
              <a:r>
                <a:rPr lang="en-US" sz="900" dirty="0">
                  <a:solidFill>
                    <a:srgbClr val="1A1F36"/>
                  </a:solidFill>
                  <a:latin typeface="Calibri"/>
                </a:rPr>
                <a:t>Prior SOTA (2017)</a:t>
              </a:r>
              <a:endParaRPr lang="en-US" sz="900" dirty="0"/>
            </a:p>
          </p:txBody>
        </p:sp>
        <p:sp>
          <p:nvSpPr>
            <p:cNvPr id="14" name="Shape 12"/>
            <p:cNvSpPr/>
            <p:nvPr/>
          </p:nvSpPr>
          <p:spPr>
            <a:xfrm>
              <a:off x="6768846" y="2017324"/>
              <a:ext cx="1508760" cy="105871"/>
            </a:xfrm>
            <a:prstGeom prst="rect">
              <a:avLst/>
            </a:prstGeom>
            <a:solidFill>
              <a:srgbClr val="EDF2F7"/>
            </a:solidFill>
            <a:ln w="12700">
              <a:solidFill>
                <a:srgbClr val="EDF2F7"/>
              </a:solidFill>
              <a:prstDash val="solid"/>
            </a:ln>
          </p:spPr>
          <p:txBody>
            <a:bodyPr/>
            <a:lstStyle/>
            <a:p>
              <a:endParaRPr/>
            </a:p>
          </p:txBody>
        </p:sp>
        <p:sp>
          <p:nvSpPr>
            <p:cNvPr id="15" name="Shape 13"/>
            <p:cNvSpPr/>
            <p:nvPr/>
          </p:nvSpPr>
          <p:spPr>
            <a:xfrm>
              <a:off x="6768846" y="2017324"/>
              <a:ext cx="1413091" cy="105871"/>
            </a:xfrm>
            <a:prstGeom prst="rect">
              <a:avLst/>
            </a:prstGeom>
            <a:solidFill>
              <a:srgbClr val="4A5568"/>
            </a:solidFill>
            <a:ln w="12700">
              <a:solidFill>
                <a:srgbClr val="4A5568"/>
              </a:solidFill>
              <a:prstDash val="solid"/>
            </a:ln>
          </p:spPr>
          <p:txBody>
            <a:bodyPr/>
            <a:lstStyle/>
            <a:p>
              <a:endParaRPr/>
            </a:p>
          </p:txBody>
        </p:sp>
        <p:sp>
          <p:nvSpPr>
            <p:cNvPr id="16" name="Text 14"/>
            <p:cNvSpPr/>
            <p:nvPr/>
          </p:nvSpPr>
          <p:spPr>
            <a:xfrm>
              <a:off x="8332470" y="1989892"/>
              <a:ext cx="377190" cy="160735"/>
            </a:xfrm>
            <a:prstGeom prst="rect">
              <a:avLst/>
            </a:prstGeom>
            <a:noFill/>
            <a:ln/>
          </p:spPr>
          <p:txBody>
            <a:bodyPr wrap="square" lIns="0" tIns="0" rIns="0" bIns="0" rtlCol="0" anchor="ctr"/>
            <a:lstStyle/>
            <a:p>
              <a:r>
                <a:rPr lang="en-US" sz="900" dirty="0">
                  <a:solidFill>
                    <a:srgbClr val="1A1F36"/>
                  </a:solidFill>
                  <a:latin typeface="Calibri"/>
                </a:rPr>
                <a:t>59.2%</a:t>
              </a:r>
              <a:endParaRPr lang="en-US" sz="900" dirty="0"/>
            </a:p>
          </p:txBody>
        </p:sp>
        <p:sp>
          <p:nvSpPr>
            <p:cNvPr id="17" name="Text 15"/>
            <p:cNvSpPr/>
            <p:nvPr/>
          </p:nvSpPr>
          <p:spPr>
            <a:xfrm>
              <a:off x="5465826" y="2152770"/>
              <a:ext cx="1268730" cy="160735"/>
            </a:xfrm>
            <a:prstGeom prst="rect">
              <a:avLst/>
            </a:prstGeom>
            <a:noFill/>
            <a:ln/>
          </p:spPr>
          <p:txBody>
            <a:bodyPr wrap="square" lIns="0" tIns="0" rIns="0" bIns="0" rtlCol="0" anchor="ctr"/>
            <a:lstStyle/>
            <a:p>
              <a:r>
                <a:rPr lang="en-US" sz="900" dirty="0">
                  <a:solidFill>
                    <a:srgbClr val="1A1F36"/>
                  </a:solidFill>
                  <a:latin typeface="Calibri"/>
                </a:rPr>
                <a:t>GPT-2 345 M</a:t>
              </a:r>
              <a:endParaRPr lang="en-US" sz="900" dirty="0"/>
            </a:p>
          </p:txBody>
        </p:sp>
        <p:sp>
          <p:nvSpPr>
            <p:cNvPr id="18" name="Shape 16"/>
            <p:cNvSpPr/>
            <p:nvPr/>
          </p:nvSpPr>
          <p:spPr>
            <a:xfrm>
              <a:off x="6768846" y="2180202"/>
              <a:ext cx="1508760" cy="105871"/>
            </a:xfrm>
            <a:prstGeom prst="rect">
              <a:avLst/>
            </a:prstGeom>
            <a:solidFill>
              <a:srgbClr val="EDF2F7"/>
            </a:solidFill>
            <a:ln w="12700">
              <a:solidFill>
                <a:srgbClr val="EDF2F7"/>
              </a:solidFill>
              <a:prstDash val="solid"/>
            </a:ln>
          </p:spPr>
          <p:txBody>
            <a:bodyPr/>
            <a:lstStyle/>
            <a:p>
              <a:endParaRPr/>
            </a:p>
          </p:txBody>
        </p:sp>
        <p:sp>
          <p:nvSpPr>
            <p:cNvPr id="19" name="Shape 17"/>
            <p:cNvSpPr/>
            <p:nvPr/>
          </p:nvSpPr>
          <p:spPr>
            <a:xfrm>
              <a:off x="6768846" y="2180202"/>
              <a:ext cx="1323624" cy="105871"/>
            </a:xfrm>
            <a:prstGeom prst="rect">
              <a:avLst/>
            </a:prstGeom>
            <a:solidFill>
              <a:srgbClr val="4A5568"/>
            </a:solidFill>
            <a:ln w="12700">
              <a:solidFill>
                <a:srgbClr val="4A5568"/>
              </a:solidFill>
              <a:prstDash val="solid"/>
            </a:ln>
          </p:spPr>
          <p:txBody>
            <a:bodyPr/>
            <a:lstStyle/>
            <a:p>
              <a:endParaRPr/>
            </a:p>
          </p:txBody>
        </p:sp>
        <p:sp>
          <p:nvSpPr>
            <p:cNvPr id="20" name="Text 18"/>
            <p:cNvSpPr/>
            <p:nvPr/>
          </p:nvSpPr>
          <p:spPr>
            <a:xfrm>
              <a:off x="8332470" y="2152770"/>
              <a:ext cx="377190" cy="160735"/>
            </a:xfrm>
            <a:prstGeom prst="rect">
              <a:avLst/>
            </a:prstGeom>
            <a:noFill/>
            <a:ln/>
          </p:spPr>
          <p:txBody>
            <a:bodyPr wrap="square" lIns="0" tIns="0" rIns="0" bIns="0" rtlCol="0" anchor="ctr"/>
            <a:lstStyle/>
            <a:p>
              <a:r>
                <a:rPr lang="en-US" sz="900" dirty="0">
                  <a:solidFill>
                    <a:srgbClr val="1A1F36"/>
                  </a:solidFill>
                  <a:latin typeface="Calibri"/>
                </a:rPr>
                <a:t>55.5%</a:t>
              </a:r>
              <a:endParaRPr lang="en-US" sz="900" dirty="0"/>
            </a:p>
          </p:txBody>
        </p:sp>
        <p:sp>
          <p:nvSpPr>
            <p:cNvPr id="21" name="Text 19"/>
            <p:cNvSpPr/>
            <p:nvPr/>
          </p:nvSpPr>
          <p:spPr>
            <a:xfrm>
              <a:off x="5465826" y="2315647"/>
              <a:ext cx="1268730" cy="160735"/>
            </a:xfrm>
            <a:prstGeom prst="rect">
              <a:avLst/>
            </a:prstGeom>
            <a:noFill/>
            <a:ln/>
          </p:spPr>
          <p:txBody>
            <a:bodyPr wrap="square" lIns="0" tIns="0" rIns="0" bIns="0" rtlCol="0" anchor="ctr"/>
            <a:lstStyle/>
            <a:p>
              <a:r>
                <a:rPr lang="en-US" sz="900" dirty="0">
                  <a:solidFill>
                    <a:srgbClr val="1A1F36"/>
                  </a:solidFill>
                  <a:latin typeface="Calibri"/>
                </a:rPr>
                <a:t>GPT-2 774 M</a:t>
              </a:r>
              <a:endParaRPr lang="en-US" sz="900" dirty="0"/>
            </a:p>
          </p:txBody>
        </p:sp>
        <p:sp>
          <p:nvSpPr>
            <p:cNvPr id="22" name="Shape 20"/>
            <p:cNvSpPr/>
            <p:nvPr/>
          </p:nvSpPr>
          <p:spPr>
            <a:xfrm>
              <a:off x="6768846" y="2343079"/>
              <a:ext cx="1508760" cy="105871"/>
            </a:xfrm>
            <a:prstGeom prst="rect">
              <a:avLst/>
            </a:prstGeom>
            <a:solidFill>
              <a:srgbClr val="EDF2F7"/>
            </a:solidFill>
            <a:ln w="12700">
              <a:solidFill>
                <a:srgbClr val="EDF2F7"/>
              </a:solidFill>
              <a:prstDash val="solid"/>
            </a:ln>
          </p:spPr>
          <p:txBody>
            <a:bodyPr/>
            <a:lstStyle/>
            <a:p>
              <a:endParaRPr/>
            </a:p>
          </p:txBody>
        </p:sp>
        <p:sp>
          <p:nvSpPr>
            <p:cNvPr id="23" name="Shape 21"/>
            <p:cNvSpPr/>
            <p:nvPr/>
          </p:nvSpPr>
          <p:spPr>
            <a:xfrm>
              <a:off x="6768846" y="2343079"/>
              <a:ext cx="1434324" cy="105871"/>
            </a:xfrm>
            <a:prstGeom prst="rect">
              <a:avLst/>
            </a:prstGeom>
            <a:solidFill>
              <a:srgbClr val="4A5568"/>
            </a:solidFill>
            <a:ln w="12700">
              <a:solidFill>
                <a:srgbClr val="4A5568"/>
              </a:solidFill>
              <a:prstDash val="solid"/>
            </a:ln>
          </p:spPr>
          <p:txBody>
            <a:bodyPr/>
            <a:lstStyle/>
            <a:p>
              <a:endParaRPr/>
            </a:p>
          </p:txBody>
        </p:sp>
        <p:sp>
          <p:nvSpPr>
            <p:cNvPr id="24" name="Text 22"/>
            <p:cNvSpPr/>
            <p:nvPr/>
          </p:nvSpPr>
          <p:spPr>
            <a:xfrm>
              <a:off x="8332470" y="2315647"/>
              <a:ext cx="377190" cy="160735"/>
            </a:xfrm>
            <a:prstGeom prst="rect">
              <a:avLst/>
            </a:prstGeom>
            <a:noFill/>
            <a:ln/>
          </p:spPr>
          <p:txBody>
            <a:bodyPr wrap="square" lIns="0" tIns="0" rIns="0" bIns="0" rtlCol="0" anchor="ctr"/>
            <a:lstStyle/>
            <a:p>
              <a:r>
                <a:rPr lang="en-US" sz="900" dirty="0">
                  <a:solidFill>
                    <a:srgbClr val="1A1F36"/>
                  </a:solidFill>
                  <a:latin typeface="Calibri"/>
                </a:rPr>
                <a:t>60.1%</a:t>
              </a:r>
              <a:endParaRPr lang="en-US" sz="900" dirty="0"/>
            </a:p>
          </p:txBody>
        </p:sp>
        <p:sp>
          <p:nvSpPr>
            <p:cNvPr id="25" name="Text 23"/>
            <p:cNvSpPr/>
            <p:nvPr/>
          </p:nvSpPr>
          <p:spPr>
            <a:xfrm>
              <a:off x="5465826" y="2478525"/>
              <a:ext cx="1268730" cy="160735"/>
            </a:xfrm>
            <a:prstGeom prst="rect">
              <a:avLst/>
            </a:prstGeom>
            <a:noFill/>
            <a:ln/>
          </p:spPr>
          <p:txBody>
            <a:bodyPr wrap="square" lIns="0" tIns="0" rIns="0" bIns="0" rtlCol="0" anchor="ctr"/>
            <a:lstStyle/>
            <a:p>
              <a:r>
                <a:rPr lang="en-US" sz="900" dirty="0">
                  <a:solidFill>
                    <a:srgbClr val="1A1F36"/>
                  </a:solidFill>
                  <a:latin typeface="Calibri"/>
                </a:rPr>
                <a:t>GPT-2 1.5 B</a:t>
              </a:r>
              <a:endParaRPr lang="en-US" sz="900" dirty="0"/>
            </a:p>
          </p:txBody>
        </p:sp>
        <p:sp>
          <p:nvSpPr>
            <p:cNvPr id="26" name="Shape 24"/>
            <p:cNvSpPr/>
            <p:nvPr/>
          </p:nvSpPr>
          <p:spPr>
            <a:xfrm>
              <a:off x="6768846" y="2505957"/>
              <a:ext cx="1508760" cy="105871"/>
            </a:xfrm>
            <a:prstGeom prst="rect">
              <a:avLst/>
            </a:prstGeom>
            <a:solidFill>
              <a:srgbClr val="EDF2F7"/>
            </a:solidFill>
            <a:ln w="12700">
              <a:solidFill>
                <a:srgbClr val="EDF2F7"/>
              </a:solidFill>
              <a:prstDash val="solid"/>
            </a:ln>
          </p:spPr>
          <p:txBody>
            <a:bodyPr/>
            <a:lstStyle/>
            <a:p>
              <a:endParaRPr/>
            </a:p>
          </p:txBody>
        </p:sp>
        <p:sp>
          <p:nvSpPr>
            <p:cNvPr id="27" name="Shape 25"/>
            <p:cNvSpPr/>
            <p:nvPr/>
          </p:nvSpPr>
          <p:spPr>
            <a:xfrm>
              <a:off x="6768846" y="2505957"/>
              <a:ext cx="1508760" cy="105871"/>
            </a:xfrm>
            <a:prstGeom prst="rect">
              <a:avLst/>
            </a:prstGeom>
            <a:solidFill>
              <a:srgbClr val="0F223E"/>
            </a:solidFill>
            <a:ln w="12700">
              <a:solidFill>
                <a:srgbClr val="0F223E"/>
              </a:solidFill>
              <a:prstDash val="solid"/>
            </a:ln>
          </p:spPr>
          <p:txBody>
            <a:bodyPr/>
            <a:lstStyle/>
            <a:p>
              <a:endParaRPr/>
            </a:p>
          </p:txBody>
        </p:sp>
        <p:sp>
          <p:nvSpPr>
            <p:cNvPr id="28" name="Text 26"/>
            <p:cNvSpPr/>
            <p:nvPr/>
          </p:nvSpPr>
          <p:spPr>
            <a:xfrm>
              <a:off x="8332470" y="2478525"/>
              <a:ext cx="377190" cy="160735"/>
            </a:xfrm>
            <a:prstGeom prst="rect">
              <a:avLst/>
            </a:prstGeom>
            <a:noFill/>
            <a:ln/>
          </p:spPr>
          <p:txBody>
            <a:bodyPr wrap="square" lIns="0" tIns="0" rIns="0" bIns="0" rtlCol="0" anchor="ctr"/>
            <a:lstStyle/>
            <a:p>
              <a:r>
                <a:rPr lang="en-US" sz="900" b="1" dirty="0">
                  <a:solidFill>
                    <a:srgbClr val="0F223E"/>
                  </a:solidFill>
                  <a:latin typeface="Calibri"/>
                </a:rPr>
                <a:t>63.2%</a:t>
              </a:r>
              <a:endParaRPr lang="en-US" sz="900" dirty="0"/>
            </a:p>
          </p:txBody>
        </p:sp>
        <p:sp>
          <p:nvSpPr>
            <p:cNvPr id="29" name="Text 27"/>
            <p:cNvSpPr/>
            <p:nvPr/>
          </p:nvSpPr>
          <p:spPr>
            <a:xfrm>
              <a:off x="5465826" y="2654046"/>
              <a:ext cx="3223260" cy="150876"/>
            </a:xfrm>
            <a:prstGeom prst="rect">
              <a:avLst/>
            </a:prstGeom>
            <a:noFill/>
            <a:ln/>
          </p:spPr>
          <p:txBody>
            <a:bodyPr wrap="square" lIns="0" tIns="0" rIns="0" bIns="0" rtlCol="0" anchor="ctr"/>
            <a:lstStyle/>
            <a:p>
              <a:r>
                <a:rPr lang="en-US" sz="800" i="1" dirty="0">
                  <a:solidFill>
                    <a:srgbClr val="1A1F36"/>
                  </a:solidFill>
                  <a:latin typeface="Calibri"/>
                </a:rPr>
                <a:t>Radford et al. (2019), Table 3. Last word prediction on long passages.</a:t>
              </a:r>
              <a:endParaRPr lang="en-US" sz="800" dirty="0"/>
            </a:p>
          </p:txBody>
        </p:sp>
      </p:grpSp>
      <p:grpSp>
        <p:nvGrpSpPr>
          <p:cNvPr id="41" name="Group 40">
            <a:extLst>
              <a:ext uri="{FF2B5EF4-FFF2-40B4-BE49-F238E27FC236}">
                <a16:creationId xmlns:a16="http://schemas.microsoft.com/office/drawing/2014/main" id="{858E05B3-7F8F-C4A9-F8D7-907A66B0C750}"/>
              </a:ext>
            </a:extLst>
          </p:cNvPr>
          <p:cNvGrpSpPr/>
          <p:nvPr/>
        </p:nvGrpSpPr>
        <p:grpSpPr>
          <a:xfrm>
            <a:off x="3031433" y="2828675"/>
            <a:ext cx="2718352" cy="1474470"/>
            <a:chOff x="342900" y="2914650"/>
            <a:chExt cx="2718352" cy="1474470"/>
          </a:xfrm>
        </p:grpSpPr>
        <p:sp>
          <p:nvSpPr>
            <p:cNvPr id="30" name="Shape 28"/>
            <p:cNvSpPr/>
            <p:nvPr/>
          </p:nvSpPr>
          <p:spPr>
            <a:xfrm>
              <a:off x="342900" y="2914650"/>
              <a:ext cx="2718352" cy="1474470"/>
            </a:xfrm>
            <a:prstGeom prst="rect">
              <a:avLst/>
            </a:prstGeom>
            <a:solidFill>
              <a:srgbClr val="F7FAFC"/>
            </a:solidFill>
            <a:ln w="9525">
              <a:solidFill>
                <a:srgbClr val="E2E8F0"/>
              </a:solidFill>
              <a:prstDash val="solid"/>
            </a:ln>
          </p:spPr>
          <p:txBody>
            <a:bodyPr/>
            <a:lstStyle/>
            <a:p>
              <a:endParaRPr/>
            </a:p>
          </p:txBody>
        </p:sp>
        <p:sp>
          <p:nvSpPr>
            <p:cNvPr id="31" name="Shape 29"/>
            <p:cNvSpPr/>
            <p:nvPr/>
          </p:nvSpPr>
          <p:spPr>
            <a:xfrm>
              <a:off x="342900" y="2914650"/>
              <a:ext cx="41148" cy="1474470"/>
            </a:xfrm>
            <a:prstGeom prst="rect">
              <a:avLst/>
            </a:prstGeom>
            <a:solidFill>
              <a:srgbClr val="1A365D"/>
            </a:solidFill>
            <a:ln w="12700">
              <a:solidFill>
                <a:srgbClr val="1A365D"/>
              </a:solidFill>
              <a:prstDash val="solid"/>
            </a:ln>
          </p:spPr>
          <p:txBody>
            <a:bodyPr/>
            <a:lstStyle/>
            <a:p>
              <a:endParaRPr/>
            </a:p>
          </p:txBody>
        </p:sp>
        <p:sp>
          <p:nvSpPr>
            <p:cNvPr id="32" name="Text 30"/>
            <p:cNvSpPr/>
            <p:nvPr/>
          </p:nvSpPr>
          <p:spPr>
            <a:xfrm>
              <a:off x="514350" y="2985716"/>
              <a:ext cx="2464606" cy="274320"/>
            </a:xfrm>
            <a:prstGeom prst="rect">
              <a:avLst/>
            </a:prstGeom>
            <a:noFill/>
            <a:ln/>
          </p:spPr>
          <p:txBody>
            <a:bodyPr wrap="square" lIns="0" tIns="0" rIns="0" bIns="0" rtlCol="0" anchor="ctr"/>
            <a:lstStyle/>
            <a:p>
              <a:r>
                <a:rPr lang="en-US" sz="1050" b="1" dirty="0">
                  <a:solidFill>
                    <a:srgbClr val="0F223E"/>
                  </a:solidFill>
                  <a:latin typeface="Calibri"/>
                </a:rPr>
                <a:t>GPT-1 (June 2018)</a:t>
              </a:r>
              <a:endParaRPr lang="en-US" sz="1050" dirty="0"/>
            </a:p>
          </p:txBody>
        </p:sp>
        <p:sp>
          <p:nvSpPr>
            <p:cNvPr id="33" name="Text 31"/>
            <p:cNvSpPr/>
            <p:nvPr/>
          </p:nvSpPr>
          <p:spPr>
            <a:xfrm>
              <a:off x="514350" y="3291840"/>
              <a:ext cx="2464606" cy="994410"/>
            </a:xfrm>
            <a:prstGeom prst="rect">
              <a:avLst/>
            </a:prstGeom>
            <a:noFill/>
            <a:ln/>
          </p:spPr>
          <p:txBody>
            <a:bodyPr wrap="square" lIns="0" tIns="0" rIns="0" bIns="0" rtlCol="0" anchor="ctr"/>
            <a:lstStyle/>
            <a:p>
              <a:pPr marL="257175" indent="-257175">
                <a:spcAft>
                  <a:spcPts val="300"/>
                </a:spcAft>
                <a:buSzPct val="100000"/>
                <a:buChar char="•"/>
              </a:pPr>
              <a:r>
                <a:rPr lang="en-US" sz="1000" dirty="0">
                  <a:solidFill>
                    <a:srgbClr val="1A1F36"/>
                  </a:solidFill>
                  <a:latin typeface="Calibri"/>
                </a:rPr>
                <a:t>Decoder-only Transformer · 117M params</a:t>
              </a:r>
              <a:endParaRPr lang="en-US" sz="1000" dirty="0"/>
            </a:p>
            <a:p>
              <a:pPr marL="257175" indent="-257175">
                <a:spcAft>
                  <a:spcPts val="300"/>
                </a:spcAft>
                <a:buSzPct val="100000"/>
                <a:buChar char="•"/>
              </a:pPr>
              <a:r>
                <a:rPr lang="en-US" sz="1000" dirty="0">
                  <a:solidFill>
                    <a:srgbClr val="1A1F36"/>
                  </a:solidFill>
                  <a:latin typeface="Calibri"/>
                </a:rPr>
                <a:t>Pre-train on BookCorpus, then fine-tune</a:t>
              </a:r>
              <a:endParaRPr lang="en-US" sz="1000" dirty="0"/>
            </a:p>
            <a:p>
              <a:pPr marL="257175" indent="-257175">
                <a:spcAft>
                  <a:spcPts val="300"/>
                </a:spcAft>
                <a:buSzPct val="100000"/>
                <a:buChar char="•"/>
              </a:pPr>
              <a:r>
                <a:rPr lang="en-US" sz="1000" dirty="0">
                  <a:solidFill>
                    <a:srgbClr val="1A1F36"/>
                  </a:solidFill>
                  <a:latin typeface="Calibri"/>
                </a:rPr>
                <a:t>Auxiliary LM loss stabilizes transfer</a:t>
              </a:r>
              <a:endParaRPr lang="en-US" sz="1000" dirty="0"/>
            </a:p>
            <a:p>
              <a:pPr marL="257175" indent="-257175">
                <a:spcAft>
                  <a:spcPts val="300"/>
                </a:spcAft>
                <a:buSzPct val="100000"/>
                <a:buChar char="•"/>
              </a:pPr>
              <a:r>
                <a:rPr lang="en-US" sz="1000" dirty="0">
                  <a:solidFill>
                    <a:srgbClr val="1A1F36"/>
                  </a:solidFill>
                  <a:latin typeface="Calibri"/>
                </a:rPr>
                <a:t>Outperformed task-specific SOTA on 9/12 tasks</a:t>
              </a:r>
              <a:endParaRPr lang="en-US" sz="1000" dirty="0"/>
            </a:p>
          </p:txBody>
        </p:sp>
      </p:grpSp>
      <p:grpSp>
        <p:nvGrpSpPr>
          <p:cNvPr id="43" name="Group 42">
            <a:extLst>
              <a:ext uri="{FF2B5EF4-FFF2-40B4-BE49-F238E27FC236}">
                <a16:creationId xmlns:a16="http://schemas.microsoft.com/office/drawing/2014/main" id="{1D35CDD9-63FB-E5D3-1DB0-D071BE5A91AD}"/>
              </a:ext>
            </a:extLst>
          </p:cNvPr>
          <p:cNvGrpSpPr/>
          <p:nvPr/>
        </p:nvGrpSpPr>
        <p:grpSpPr>
          <a:xfrm>
            <a:off x="5979379" y="2763575"/>
            <a:ext cx="2781567" cy="1474470"/>
            <a:chOff x="4629150" y="2914650"/>
            <a:chExt cx="4217670" cy="1474470"/>
          </a:xfrm>
        </p:grpSpPr>
        <p:sp>
          <p:nvSpPr>
            <p:cNvPr id="34" name="Shape 32"/>
            <p:cNvSpPr/>
            <p:nvPr/>
          </p:nvSpPr>
          <p:spPr>
            <a:xfrm>
              <a:off x="4629150" y="2914650"/>
              <a:ext cx="4217670" cy="1474470"/>
            </a:xfrm>
            <a:prstGeom prst="rect">
              <a:avLst/>
            </a:prstGeom>
            <a:solidFill>
              <a:srgbClr val="F7FAFC"/>
            </a:solidFill>
            <a:ln w="9525">
              <a:solidFill>
                <a:srgbClr val="E2E8F0"/>
              </a:solidFill>
              <a:prstDash val="solid"/>
            </a:ln>
          </p:spPr>
          <p:txBody>
            <a:bodyPr/>
            <a:lstStyle/>
            <a:p>
              <a:endParaRPr/>
            </a:p>
          </p:txBody>
        </p:sp>
        <p:sp>
          <p:nvSpPr>
            <p:cNvPr id="35" name="Shape 33"/>
            <p:cNvSpPr/>
            <p:nvPr/>
          </p:nvSpPr>
          <p:spPr>
            <a:xfrm>
              <a:off x="4629150" y="2914650"/>
              <a:ext cx="41148" cy="1474470"/>
            </a:xfrm>
            <a:prstGeom prst="rect">
              <a:avLst/>
            </a:prstGeom>
            <a:solidFill>
              <a:srgbClr val="1A365D"/>
            </a:solidFill>
            <a:ln w="12700">
              <a:solidFill>
                <a:srgbClr val="1A365D"/>
              </a:solidFill>
              <a:prstDash val="solid"/>
            </a:ln>
          </p:spPr>
          <p:txBody>
            <a:bodyPr/>
            <a:lstStyle/>
            <a:p>
              <a:endParaRPr/>
            </a:p>
          </p:txBody>
        </p:sp>
        <p:sp>
          <p:nvSpPr>
            <p:cNvPr id="36" name="Text 34"/>
            <p:cNvSpPr/>
            <p:nvPr/>
          </p:nvSpPr>
          <p:spPr>
            <a:xfrm>
              <a:off x="4800600" y="3017520"/>
              <a:ext cx="3943350" cy="274320"/>
            </a:xfrm>
            <a:prstGeom prst="rect">
              <a:avLst/>
            </a:prstGeom>
            <a:noFill/>
            <a:ln/>
          </p:spPr>
          <p:txBody>
            <a:bodyPr wrap="square" lIns="0" tIns="0" rIns="0" bIns="0" rtlCol="0" anchor="ctr"/>
            <a:lstStyle/>
            <a:p>
              <a:r>
                <a:rPr lang="en-US" sz="1200" b="1" dirty="0">
                  <a:solidFill>
                    <a:srgbClr val="0F223E"/>
                  </a:solidFill>
                  <a:latin typeface="Calibri"/>
                </a:rPr>
                <a:t>GPT-2 (February 2019)</a:t>
              </a:r>
              <a:endParaRPr lang="en-US" sz="1200" dirty="0"/>
            </a:p>
          </p:txBody>
        </p:sp>
        <p:sp>
          <p:nvSpPr>
            <p:cNvPr id="37" name="Text 35"/>
            <p:cNvSpPr/>
            <p:nvPr/>
          </p:nvSpPr>
          <p:spPr>
            <a:xfrm>
              <a:off x="4800600" y="3291840"/>
              <a:ext cx="3943350" cy="994410"/>
            </a:xfrm>
            <a:prstGeom prst="rect">
              <a:avLst/>
            </a:prstGeom>
            <a:noFill/>
            <a:ln/>
          </p:spPr>
          <p:txBody>
            <a:bodyPr wrap="square" lIns="0" tIns="0" rIns="0" bIns="0" rtlCol="0" anchor="ctr"/>
            <a:lstStyle/>
            <a:p>
              <a:pPr marL="257175" indent="-257175">
                <a:spcAft>
                  <a:spcPts val="300"/>
                </a:spcAft>
                <a:buSzPct val="100000"/>
                <a:buChar char="•"/>
              </a:pPr>
              <a:r>
                <a:rPr lang="en-US" sz="1000" dirty="0">
                  <a:solidFill>
                    <a:srgbClr val="1A1F36"/>
                  </a:solidFill>
                  <a:latin typeface="Calibri"/>
                </a:rPr>
                <a:t>1.5B parameters · WebText (40 GB)</a:t>
              </a:r>
              <a:endParaRPr lang="en-US" sz="1000" dirty="0"/>
            </a:p>
            <a:p>
              <a:pPr marL="257175" indent="-257175">
                <a:spcAft>
                  <a:spcPts val="300"/>
                </a:spcAft>
                <a:buSzPct val="100000"/>
                <a:buChar char="•"/>
              </a:pPr>
              <a:r>
                <a:rPr lang="en-US" sz="1000" dirty="0">
                  <a:solidFill>
                    <a:srgbClr val="1A1F36"/>
                  </a:solidFill>
                  <a:latin typeface="Calibri"/>
                </a:rPr>
                <a:t>Zero-shot task performance from prompts</a:t>
              </a:r>
              <a:endParaRPr lang="en-US" sz="1000" dirty="0"/>
            </a:p>
            <a:p>
              <a:pPr marL="257175" indent="-257175">
                <a:spcAft>
                  <a:spcPts val="300"/>
                </a:spcAft>
                <a:buSzPct val="100000"/>
                <a:buChar char="•"/>
              </a:pPr>
              <a:r>
                <a:rPr lang="en-US" sz="1000" dirty="0">
                  <a:solidFill>
                    <a:srgbClr val="1A1F36"/>
                  </a:solidFill>
                  <a:latin typeface="Calibri"/>
                </a:rPr>
                <a:t>Staged release due to misuse concerns</a:t>
              </a:r>
              <a:endParaRPr lang="en-US" sz="1000" dirty="0"/>
            </a:p>
            <a:p>
              <a:pPr marL="257175" indent="-257175">
                <a:spcAft>
                  <a:spcPts val="300"/>
                </a:spcAft>
                <a:buSzPct val="100000"/>
                <a:buChar char="•"/>
              </a:pPr>
              <a:r>
                <a:rPr lang="en-US" sz="1000" dirty="0">
                  <a:solidFill>
                    <a:srgbClr val="1A1F36"/>
                  </a:solidFill>
                  <a:latin typeface="Calibri"/>
                </a:rPr>
                <a:t>First widely-felt hint of emergent capability</a:t>
              </a:r>
              <a:endParaRPr lang="en-US" sz="1000" dirty="0"/>
            </a:p>
          </p:txBody>
        </p:sp>
      </p:grpSp>
      <p:sp>
        <p:nvSpPr>
          <p:cNvPr id="38" name="Text 36"/>
          <p:cNvSpPr/>
          <p:nvPr/>
        </p:nvSpPr>
        <p:spPr>
          <a:xfrm>
            <a:off x="342900" y="4512564"/>
            <a:ext cx="8435340" cy="582930"/>
          </a:xfrm>
          <a:prstGeom prst="rect">
            <a:avLst/>
          </a:prstGeom>
          <a:noFill/>
          <a:ln/>
        </p:spPr>
        <p:txBody>
          <a:bodyPr wrap="square" lIns="0" tIns="0" rIns="0" bIns="0" rtlCol="0" anchor="t"/>
          <a:lstStyle/>
          <a:p>
            <a:pPr>
              <a:spcAft>
                <a:spcPts val="75"/>
              </a:spcAft>
            </a:pPr>
            <a:r>
              <a:rPr lang="en-US" sz="675" i="1" dirty="0">
                <a:solidFill>
                  <a:srgbClr val="1A1F36"/>
                </a:solidFill>
                <a:latin typeface="Calibri"/>
              </a:rPr>
              <a:t>Radford, Narasimhan, Salimans, Sutskever (2018). Improving Language Understanding by Generative Pre-Training. OpenAI Technical Report.</a:t>
            </a:r>
            <a:endParaRPr lang="en-US" sz="675" dirty="0"/>
          </a:p>
          <a:p>
            <a:pPr>
              <a:spcAft>
                <a:spcPts val="75"/>
              </a:spcAft>
            </a:pPr>
            <a:r>
              <a:rPr lang="en-US" sz="675" i="1" dirty="0">
                <a:solidFill>
                  <a:srgbClr val="1A1F36"/>
                </a:solidFill>
                <a:latin typeface="Calibri"/>
              </a:rPr>
              <a:t>Radford, Wu, Child, Luan, Amodei, Sutskever (2019). Language Models are Unsupervised Multitask Learners (GPT-2). OpenAI Technical Report.</a:t>
            </a:r>
            <a:endParaRPr lang="en-US" sz="675" dirty="0"/>
          </a:p>
        </p:txBody>
      </p:sp>
      <p:sp>
        <p:nvSpPr>
          <p:cNvPr id="44" name="Text 6">
            <a:extLst>
              <a:ext uri="{FF2B5EF4-FFF2-40B4-BE49-F238E27FC236}">
                <a16:creationId xmlns:a16="http://schemas.microsoft.com/office/drawing/2014/main" id="{BBFD495C-4362-DCB2-DCB2-0E1DA11CD58C}"/>
              </a:ext>
            </a:extLst>
          </p:cNvPr>
          <p:cNvSpPr/>
          <p:nvPr/>
        </p:nvSpPr>
        <p:spPr>
          <a:xfrm>
            <a:off x="374523" y="2996150"/>
            <a:ext cx="2405831" cy="1129793"/>
          </a:xfrm>
          <a:prstGeom prst="rect">
            <a:avLst/>
          </a:prstGeom>
          <a:noFill/>
          <a:ln/>
        </p:spPr>
        <p:txBody>
          <a:bodyPr wrap="square" lIns="0" tIns="0" rIns="0" bIns="0" rtlCol="0" anchor="ctr"/>
          <a:lstStyle/>
          <a:p>
            <a:pPr>
              <a:spcAft>
                <a:spcPts val="300"/>
              </a:spcAft>
            </a:pPr>
            <a:r>
              <a:rPr lang="en-US" sz="1200" dirty="0">
                <a:solidFill>
                  <a:srgbClr val="1A1F36"/>
                </a:solidFill>
                <a:latin typeface="Calibri"/>
              </a:rPr>
              <a:t>GPT2 demonstrated usable translation, summarization, and question answering purely from natural-language prompts, without any task-specific training – </a:t>
            </a:r>
            <a:r>
              <a:rPr lang="en-US" sz="1200" dirty="0">
                <a:solidFill>
                  <a:srgbClr val="FF0000"/>
                </a:solidFill>
                <a:latin typeface="Calibri"/>
              </a:rPr>
              <a:t>zero shot</a:t>
            </a:r>
            <a:r>
              <a:rPr lang="en-US" sz="1200" dirty="0">
                <a:solidFill>
                  <a:srgbClr val="1A1F36"/>
                </a:solidFill>
                <a:latin typeface="Calibri"/>
              </a:rPr>
              <a:t>.</a:t>
            </a:r>
            <a:endParaRPr lang="en-US" sz="1200" dirty="0"/>
          </a:p>
          <a:p>
            <a:pPr>
              <a:spcAft>
                <a:spcPts val="300"/>
              </a:spcAft>
            </a:pPr>
            <a:endParaRPr lang="en-US" sz="1200" dirty="0"/>
          </a:p>
        </p:txBody>
      </p:sp>
      <p:pic>
        <p:nvPicPr>
          <p:cNvPr id="3" name="Google Shape;109;p20">
            <a:extLst>
              <a:ext uri="{FF2B5EF4-FFF2-40B4-BE49-F238E27FC236}">
                <a16:creationId xmlns:a16="http://schemas.microsoft.com/office/drawing/2014/main" id="{53D3600A-9214-A0BE-091B-54377ECB6FB0}"/>
              </a:ext>
            </a:extLst>
          </p:cNvPr>
          <p:cNvPicPr preferRelativeResize="0"/>
          <p:nvPr/>
        </p:nvPicPr>
        <p:blipFill>
          <a:blip r:embed="rId3">
            <a:alphaModFix/>
          </a:blip>
          <a:stretch>
            <a:fillRect/>
          </a:stretch>
        </p:blipFill>
        <p:spPr>
          <a:xfrm>
            <a:off x="8369125" y="0"/>
            <a:ext cx="774877" cy="867174"/>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320040" y="109728"/>
            <a:ext cx="8229600" cy="475488"/>
          </a:xfrm>
          <a:prstGeom prst="rect">
            <a:avLst/>
          </a:prstGeom>
          <a:noFill/>
          <a:ln/>
        </p:spPr>
        <p:txBody>
          <a:bodyPr wrap="square" lIns="0" tIns="0" rIns="0" bIns="0" rtlCol="0" anchor="ctr"/>
          <a:lstStyle/>
          <a:p>
            <a:pPr marL="0" indent="0" algn="l">
              <a:buNone/>
            </a:pPr>
            <a:r>
              <a:rPr lang="en-US" sz="2600" b="1" dirty="0">
                <a:solidFill>
                  <a:srgbClr val="1B2A4A"/>
                </a:solidFill>
                <a:latin typeface="Calibri" pitchFamily="34" charset="0"/>
                <a:ea typeface="Calibri" pitchFamily="34" charset="-122"/>
                <a:cs typeface="Calibri" pitchFamily="34" charset="-120"/>
              </a:rPr>
              <a:t>Decoder-Only Model: Architecture &amp; Training</a:t>
            </a:r>
            <a:endParaRPr lang="en-US" sz="2600" dirty="0"/>
          </a:p>
        </p:txBody>
      </p:sp>
      <p:sp>
        <p:nvSpPr>
          <p:cNvPr id="5" name="Text 3"/>
          <p:cNvSpPr/>
          <p:nvPr/>
        </p:nvSpPr>
        <p:spPr>
          <a:xfrm>
            <a:off x="320040" y="713232"/>
            <a:ext cx="1828800" cy="201168"/>
          </a:xfrm>
          <a:prstGeom prst="rect">
            <a:avLst/>
          </a:prstGeom>
          <a:noFill/>
          <a:ln/>
        </p:spPr>
        <p:txBody>
          <a:bodyPr wrap="square" lIns="0" tIns="0" rIns="0" bIns="0" rtlCol="0" anchor="ctr"/>
          <a:lstStyle/>
          <a:p>
            <a:pPr marL="0" indent="0" algn="l">
              <a:buNone/>
            </a:pPr>
            <a:r>
              <a:rPr lang="en-US" sz="900" b="1" kern="0" spc="300" dirty="0">
                <a:solidFill>
                  <a:srgbClr val="B8860B"/>
                </a:solidFill>
                <a:latin typeface="Calibri" pitchFamily="34" charset="0"/>
                <a:ea typeface="Calibri" pitchFamily="34" charset="-122"/>
                <a:cs typeface="Calibri" pitchFamily="34" charset="-120"/>
              </a:rPr>
              <a:t>ARCHITECTURE</a:t>
            </a:r>
            <a:endParaRPr lang="en-US" sz="900" dirty="0"/>
          </a:p>
        </p:txBody>
      </p:sp>
      <p:sp>
        <p:nvSpPr>
          <p:cNvPr id="6" name="Shape 4"/>
          <p:cNvSpPr/>
          <p:nvPr/>
        </p:nvSpPr>
        <p:spPr>
          <a:xfrm>
            <a:off x="310896" y="987552"/>
            <a:ext cx="749808" cy="502920"/>
          </a:xfrm>
          <a:prstGeom prst="roundRect">
            <a:avLst>
              <a:gd name="adj" fmla="val 10909"/>
            </a:avLst>
          </a:prstGeom>
          <a:solidFill>
            <a:srgbClr val="F0F4FA"/>
          </a:solidFill>
          <a:ln w="15240">
            <a:solidFill>
              <a:srgbClr val="2D5FA8"/>
            </a:solidFill>
            <a:prstDash val="solid"/>
          </a:ln>
        </p:spPr>
      </p:sp>
      <p:sp>
        <p:nvSpPr>
          <p:cNvPr id="7" name="Text 5"/>
          <p:cNvSpPr/>
          <p:nvPr/>
        </p:nvSpPr>
        <p:spPr>
          <a:xfrm>
            <a:off x="310896" y="987552"/>
            <a:ext cx="749808" cy="502920"/>
          </a:xfrm>
          <a:prstGeom prst="rect">
            <a:avLst/>
          </a:prstGeom>
          <a:noFill/>
          <a:ln/>
        </p:spPr>
        <p:txBody>
          <a:bodyPr wrap="square" lIns="0" tIns="0" rIns="0" bIns="0" rtlCol="0" anchor="ctr"/>
          <a:lstStyle/>
          <a:p>
            <a:pPr marL="0" indent="0" algn="ctr">
              <a:buNone/>
            </a:pPr>
            <a:r>
              <a:rPr lang="en-US" sz="1300" b="1" dirty="0">
                <a:solidFill>
                  <a:srgbClr val="1B2A4A"/>
                </a:solidFill>
                <a:latin typeface="Calibri" pitchFamily="34" charset="0"/>
                <a:ea typeface="Calibri" pitchFamily="34" charset="-122"/>
                <a:cs typeface="Calibri" pitchFamily="34" charset="-120"/>
              </a:rPr>
              <a:t>The</a:t>
            </a:r>
            <a:endParaRPr lang="en-US" sz="1300" dirty="0"/>
          </a:p>
        </p:txBody>
      </p:sp>
      <p:sp>
        <p:nvSpPr>
          <p:cNvPr id="8" name="Shape 6"/>
          <p:cNvSpPr/>
          <p:nvPr/>
        </p:nvSpPr>
        <p:spPr>
          <a:xfrm>
            <a:off x="1133856" y="987552"/>
            <a:ext cx="749808" cy="502920"/>
          </a:xfrm>
          <a:prstGeom prst="roundRect">
            <a:avLst>
              <a:gd name="adj" fmla="val 10909"/>
            </a:avLst>
          </a:prstGeom>
          <a:solidFill>
            <a:srgbClr val="F0F4FA"/>
          </a:solidFill>
          <a:ln w="15240">
            <a:solidFill>
              <a:srgbClr val="2D5FA8"/>
            </a:solidFill>
            <a:prstDash val="solid"/>
          </a:ln>
        </p:spPr>
      </p:sp>
      <p:sp>
        <p:nvSpPr>
          <p:cNvPr id="9" name="Text 7"/>
          <p:cNvSpPr/>
          <p:nvPr/>
        </p:nvSpPr>
        <p:spPr>
          <a:xfrm>
            <a:off x="1133856" y="987552"/>
            <a:ext cx="749808" cy="502920"/>
          </a:xfrm>
          <a:prstGeom prst="rect">
            <a:avLst/>
          </a:prstGeom>
          <a:noFill/>
          <a:ln/>
        </p:spPr>
        <p:txBody>
          <a:bodyPr wrap="square" lIns="0" tIns="0" rIns="0" bIns="0" rtlCol="0" anchor="ctr"/>
          <a:lstStyle/>
          <a:p>
            <a:pPr marL="0" indent="0" algn="ctr">
              <a:buNone/>
            </a:pPr>
            <a:r>
              <a:rPr lang="en-US" sz="1300" b="1" dirty="0">
                <a:solidFill>
                  <a:srgbClr val="1B2A4A"/>
                </a:solidFill>
                <a:latin typeface="Calibri" pitchFamily="34" charset="0"/>
                <a:ea typeface="Calibri" pitchFamily="34" charset="-122"/>
                <a:cs typeface="Calibri" pitchFamily="34" charset="-120"/>
              </a:rPr>
              <a:t>cat</a:t>
            </a:r>
            <a:endParaRPr lang="en-US" sz="1300" dirty="0"/>
          </a:p>
        </p:txBody>
      </p:sp>
      <p:sp>
        <p:nvSpPr>
          <p:cNvPr id="10" name="Shape 8"/>
          <p:cNvSpPr/>
          <p:nvPr/>
        </p:nvSpPr>
        <p:spPr>
          <a:xfrm>
            <a:off x="1956816" y="987552"/>
            <a:ext cx="749808" cy="502920"/>
          </a:xfrm>
          <a:prstGeom prst="roundRect">
            <a:avLst>
              <a:gd name="adj" fmla="val 10909"/>
            </a:avLst>
          </a:prstGeom>
          <a:solidFill>
            <a:srgbClr val="F0F4FA"/>
          </a:solidFill>
          <a:ln w="15240">
            <a:solidFill>
              <a:srgbClr val="2D5FA8"/>
            </a:solidFill>
            <a:prstDash val="solid"/>
          </a:ln>
        </p:spPr>
      </p:sp>
      <p:sp>
        <p:nvSpPr>
          <p:cNvPr id="11" name="Text 9"/>
          <p:cNvSpPr/>
          <p:nvPr/>
        </p:nvSpPr>
        <p:spPr>
          <a:xfrm>
            <a:off x="1956816" y="987552"/>
            <a:ext cx="749808" cy="502920"/>
          </a:xfrm>
          <a:prstGeom prst="rect">
            <a:avLst/>
          </a:prstGeom>
          <a:noFill/>
          <a:ln/>
        </p:spPr>
        <p:txBody>
          <a:bodyPr wrap="square" lIns="0" tIns="0" rIns="0" bIns="0" rtlCol="0" anchor="ctr"/>
          <a:lstStyle/>
          <a:p>
            <a:pPr marL="0" indent="0" algn="ctr">
              <a:buNone/>
            </a:pPr>
            <a:r>
              <a:rPr lang="en-US" sz="1300" b="1" dirty="0">
                <a:solidFill>
                  <a:srgbClr val="1B2A4A"/>
                </a:solidFill>
                <a:latin typeface="Calibri" pitchFamily="34" charset="0"/>
                <a:ea typeface="Calibri" pitchFamily="34" charset="-122"/>
                <a:cs typeface="Calibri" pitchFamily="34" charset="-120"/>
              </a:rPr>
              <a:t>sat</a:t>
            </a:r>
            <a:endParaRPr lang="en-US" sz="1300" dirty="0"/>
          </a:p>
        </p:txBody>
      </p:sp>
      <p:sp>
        <p:nvSpPr>
          <p:cNvPr id="12" name="Shape 10"/>
          <p:cNvSpPr/>
          <p:nvPr/>
        </p:nvSpPr>
        <p:spPr>
          <a:xfrm>
            <a:off x="2779776" y="987552"/>
            <a:ext cx="749808" cy="502920"/>
          </a:xfrm>
          <a:prstGeom prst="roundRect">
            <a:avLst>
              <a:gd name="adj" fmla="val 10909"/>
            </a:avLst>
          </a:prstGeom>
          <a:solidFill>
            <a:srgbClr val="F0F4FA"/>
          </a:solidFill>
          <a:ln w="15240">
            <a:solidFill>
              <a:srgbClr val="2D5FA8"/>
            </a:solidFill>
            <a:prstDash val="solid"/>
          </a:ln>
        </p:spPr>
      </p:sp>
      <p:sp>
        <p:nvSpPr>
          <p:cNvPr id="13" name="Text 11"/>
          <p:cNvSpPr/>
          <p:nvPr/>
        </p:nvSpPr>
        <p:spPr>
          <a:xfrm>
            <a:off x="2779776" y="987552"/>
            <a:ext cx="749808" cy="502920"/>
          </a:xfrm>
          <a:prstGeom prst="rect">
            <a:avLst/>
          </a:prstGeom>
          <a:noFill/>
          <a:ln/>
        </p:spPr>
        <p:txBody>
          <a:bodyPr wrap="square" lIns="0" tIns="0" rIns="0" bIns="0" rtlCol="0" anchor="ctr"/>
          <a:lstStyle/>
          <a:p>
            <a:pPr marL="0" indent="0" algn="ctr">
              <a:buNone/>
            </a:pPr>
            <a:r>
              <a:rPr lang="en-US" sz="1300" b="1" dirty="0">
                <a:solidFill>
                  <a:srgbClr val="1B2A4A"/>
                </a:solidFill>
                <a:latin typeface="Calibri" pitchFamily="34" charset="0"/>
                <a:ea typeface="Calibri" pitchFamily="34" charset="-122"/>
                <a:cs typeface="Calibri" pitchFamily="34" charset="-120"/>
              </a:rPr>
              <a:t>on</a:t>
            </a:r>
            <a:endParaRPr lang="en-US" sz="1300" dirty="0"/>
          </a:p>
        </p:txBody>
      </p:sp>
      <p:sp>
        <p:nvSpPr>
          <p:cNvPr id="14" name="Shape 12"/>
          <p:cNvSpPr/>
          <p:nvPr/>
        </p:nvSpPr>
        <p:spPr>
          <a:xfrm>
            <a:off x="3602736" y="987552"/>
            <a:ext cx="749808" cy="502920"/>
          </a:xfrm>
          <a:prstGeom prst="roundRect">
            <a:avLst>
              <a:gd name="adj" fmla="val 10909"/>
            </a:avLst>
          </a:prstGeom>
          <a:solidFill>
            <a:srgbClr val="F0F4FA"/>
          </a:solidFill>
          <a:ln w="15240">
            <a:solidFill>
              <a:srgbClr val="2D5FA8"/>
            </a:solidFill>
            <a:prstDash val="solid"/>
          </a:ln>
        </p:spPr>
      </p:sp>
      <p:sp>
        <p:nvSpPr>
          <p:cNvPr id="15" name="Text 13"/>
          <p:cNvSpPr/>
          <p:nvPr/>
        </p:nvSpPr>
        <p:spPr>
          <a:xfrm>
            <a:off x="3602736" y="987552"/>
            <a:ext cx="749808" cy="502920"/>
          </a:xfrm>
          <a:prstGeom prst="rect">
            <a:avLst/>
          </a:prstGeom>
          <a:noFill/>
          <a:ln/>
        </p:spPr>
        <p:txBody>
          <a:bodyPr wrap="square" lIns="0" tIns="0" rIns="0" bIns="0" rtlCol="0" anchor="ctr"/>
          <a:lstStyle/>
          <a:p>
            <a:pPr marL="0" indent="0" algn="ctr">
              <a:buNone/>
            </a:pPr>
            <a:r>
              <a:rPr lang="en-US" sz="1300" b="1" dirty="0">
                <a:solidFill>
                  <a:srgbClr val="1B2A4A"/>
                </a:solidFill>
                <a:latin typeface="Calibri" pitchFamily="34" charset="0"/>
                <a:ea typeface="Calibri" pitchFamily="34" charset="-122"/>
                <a:cs typeface="Calibri" pitchFamily="34" charset="-120"/>
              </a:rPr>
              <a:t>the</a:t>
            </a:r>
            <a:endParaRPr lang="en-US" sz="1300" dirty="0"/>
          </a:p>
        </p:txBody>
      </p:sp>
      <p:sp>
        <p:nvSpPr>
          <p:cNvPr id="16" name="Text 14"/>
          <p:cNvSpPr/>
          <p:nvPr/>
        </p:nvSpPr>
        <p:spPr>
          <a:xfrm>
            <a:off x="274320" y="1527048"/>
            <a:ext cx="4114800" cy="201168"/>
          </a:xfrm>
          <a:prstGeom prst="rect">
            <a:avLst/>
          </a:prstGeom>
          <a:noFill/>
          <a:ln/>
        </p:spPr>
        <p:txBody>
          <a:bodyPr wrap="square" lIns="0" tIns="0" rIns="0" bIns="0" rtlCol="0" anchor="ctr"/>
          <a:lstStyle/>
          <a:p>
            <a:pPr marL="0" indent="0" algn="ctr">
              <a:buNone/>
            </a:pPr>
            <a:r>
              <a:rPr lang="en-US" sz="1000" i="1" dirty="0">
                <a:solidFill>
                  <a:srgbClr val="5A6A7A"/>
                </a:solidFill>
                <a:latin typeface="Calibri" pitchFamily="34" charset="0"/>
                <a:ea typeface="Calibri" pitchFamily="34" charset="-122"/>
                <a:cs typeface="Calibri" pitchFamily="34" charset="-120"/>
              </a:rPr>
              <a:t>Input Tokens  x₁  x₂  x₃  …  xₙ</a:t>
            </a:r>
            <a:endParaRPr lang="en-US" sz="1000" dirty="0"/>
          </a:p>
        </p:txBody>
      </p:sp>
      <p:sp>
        <p:nvSpPr>
          <p:cNvPr id="17" name="Shape 15"/>
          <p:cNvSpPr/>
          <p:nvPr/>
        </p:nvSpPr>
        <p:spPr>
          <a:xfrm>
            <a:off x="2331720" y="1719072"/>
            <a:ext cx="0" cy="201168"/>
          </a:xfrm>
          <a:prstGeom prst="line">
            <a:avLst/>
          </a:prstGeom>
          <a:noFill/>
          <a:ln w="19050">
            <a:solidFill>
              <a:srgbClr val="4A90D9"/>
            </a:solidFill>
            <a:prstDash val="solid"/>
          </a:ln>
        </p:spPr>
      </p:sp>
      <p:sp>
        <p:nvSpPr>
          <p:cNvPr id="18" name="Shape 16"/>
          <p:cNvSpPr/>
          <p:nvPr/>
        </p:nvSpPr>
        <p:spPr>
          <a:xfrm>
            <a:off x="274320" y="1947672"/>
            <a:ext cx="4114800" cy="438912"/>
          </a:xfrm>
          <a:prstGeom prst="roundRect">
            <a:avLst>
              <a:gd name="adj" fmla="val 16667"/>
            </a:avLst>
          </a:prstGeom>
          <a:solidFill>
            <a:srgbClr val="E8F0FC"/>
          </a:solidFill>
          <a:ln w="12700">
            <a:solidFill>
              <a:srgbClr val="2D5FA8"/>
            </a:solidFill>
            <a:prstDash val="solid"/>
          </a:ln>
        </p:spPr>
      </p:sp>
      <p:sp>
        <p:nvSpPr>
          <p:cNvPr id="19" name="Text 17"/>
          <p:cNvSpPr/>
          <p:nvPr/>
        </p:nvSpPr>
        <p:spPr>
          <a:xfrm>
            <a:off x="274320" y="1947672"/>
            <a:ext cx="4114800" cy="438912"/>
          </a:xfrm>
          <a:prstGeom prst="rect">
            <a:avLst/>
          </a:prstGeom>
          <a:noFill/>
          <a:ln/>
        </p:spPr>
        <p:txBody>
          <a:bodyPr wrap="square" lIns="0" tIns="0" rIns="0" bIns="0" rtlCol="0" anchor="ctr"/>
          <a:lstStyle/>
          <a:p>
            <a:pPr marL="0" indent="0" algn="ctr">
              <a:buNone/>
            </a:pPr>
            <a:r>
              <a:rPr lang="en-US" sz="1100" b="1" dirty="0">
                <a:solidFill>
                  <a:srgbClr val="1B2A4A"/>
                </a:solidFill>
                <a:latin typeface="Calibri" pitchFamily="34" charset="0"/>
                <a:ea typeface="Calibri" pitchFamily="34" charset="-122"/>
                <a:cs typeface="Calibri" pitchFamily="34" charset="-120"/>
              </a:rPr>
              <a:t>Token Embedding  +  Positional Encoding</a:t>
            </a:r>
            <a:endParaRPr lang="en-US" sz="1100" dirty="0"/>
          </a:p>
        </p:txBody>
      </p:sp>
      <p:sp>
        <p:nvSpPr>
          <p:cNvPr id="20" name="Shape 18"/>
          <p:cNvSpPr/>
          <p:nvPr/>
        </p:nvSpPr>
        <p:spPr>
          <a:xfrm>
            <a:off x="2331720" y="2404872"/>
            <a:ext cx="0" cy="201168"/>
          </a:xfrm>
          <a:prstGeom prst="line">
            <a:avLst/>
          </a:prstGeom>
          <a:noFill/>
          <a:ln w="19050">
            <a:solidFill>
              <a:srgbClr val="4A90D9"/>
            </a:solidFill>
            <a:prstDash val="solid"/>
          </a:ln>
        </p:spPr>
      </p:sp>
      <p:sp>
        <p:nvSpPr>
          <p:cNvPr id="21" name="Shape 19"/>
          <p:cNvSpPr/>
          <p:nvPr/>
        </p:nvSpPr>
        <p:spPr>
          <a:xfrm>
            <a:off x="274320" y="2624328"/>
            <a:ext cx="4114800" cy="530352"/>
          </a:xfrm>
          <a:prstGeom prst="roundRect">
            <a:avLst>
              <a:gd name="adj" fmla="val 13793"/>
            </a:avLst>
          </a:prstGeom>
          <a:solidFill>
            <a:srgbClr val="1B2A4A"/>
          </a:solidFill>
          <a:ln w="19050">
            <a:solidFill>
              <a:srgbClr val="B8860B"/>
            </a:solidFill>
            <a:prstDash val="solid"/>
          </a:ln>
        </p:spPr>
      </p:sp>
      <p:sp>
        <p:nvSpPr>
          <p:cNvPr id="22" name="Text 20"/>
          <p:cNvSpPr/>
          <p:nvPr/>
        </p:nvSpPr>
        <p:spPr>
          <a:xfrm>
            <a:off x="274320" y="2624328"/>
            <a:ext cx="4114800" cy="530352"/>
          </a:xfrm>
          <a:prstGeom prst="rect">
            <a:avLst/>
          </a:prstGeom>
          <a:noFill/>
          <a:ln/>
        </p:spPr>
        <p:txBody>
          <a:bodyPr wrap="square" lIns="0" tIns="0" rIns="0" bIns="0"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Masked Multi-Head Self-Attention</a:t>
            </a:r>
            <a:endParaRPr lang="en-US" sz="1150" dirty="0"/>
          </a:p>
          <a:p>
            <a:pPr marL="0" indent="0" algn="ctr">
              <a:buNone/>
            </a:pPr>
            <a:r>
              <a:rPr lang="en-US" sz="850" i="1" dirty="0">
                <a:solidFill>
                  <a:srgbClr val="FFD97A"/>
                </a:solidFill>
                <a:latin typeface="Calibri" pitchFamily="34" charset="0"/>
                <a:ea typeface="Calibri" pitchFamily="34" charset="-122"/>
                <a:cs typeface="Calibri" pitchFamily="34" charset="-120"/>
              </a:rPr>
              <a:t>causal mask — no future token visibility</a:t>
            </a:r>
            <a:endParaRPr lang="en-US" sz="1150" dirty="0"/>
          </a:p>
        </p:txBody>
      </p:sp>
      <p:sp>
        <p:nvSpPr>
          <p:cNvPr id="23" name="Shape 21"/>
          <p:cNvSpPr/>
          <p:nvPr/>
        </p:nvSpPr>
        <p:spPr>
          <a:xfrm>
            <a:off x="2331720" y="3099816"/>
            <a:ext cx="0" cy="201168"/>
          </a:xfrm>
          <a:prstGeom prst="line">
            <a:avLst/>
          </a:prstGeom>
          <a:noFill/>
          <a:ln w="19050">
            <a:solidFill>
              <a:srgbClr val="4A90D9"/>
            </a:solidFill>
            <a:prstDash val="solid"/>
          </a:ln>
        </p:spPr>
      </p:sp>
      <p:sp>
        <p:nvSpPr>
          <p:cNvPr id="24" name="Shape 22"/>
          <p:cNvSpPr/>
          <p:nvPr/>
        </p:nvSpPr>
        <p:spPr>
          <a:xfrm>
            <a:off x="274320" y="3319272"/>
            <a:ext cx="4114800" cy="438912"/>
          </a:xfrm>
          <a:prstGeom prst="roundRect">
            <a:avLst>
              <a:gd name="adj" fmla="val 16667"/>
            </a:avLst>
          </a:prstGeom>
          <a:solidFill>
            <a:srgbClr val="2D5FA8"/>
          </a:solidFill>
          <a:ln w="12700">
            <a:solidFill>
              <a:srgbClr val="2D5FA8"/>
            </a:solidFill>
            <a:prstDash val="solid"/>
          </a:ln>
        </p:spPr>
      </p:sp>
      <p:sp>
        <p:nvSpPr>
          <p:cNvPr id="25" name="Text 23"/>
          <p:cNvSpPr/>
          <p:nvPr/>
        </p:nvSpPr>
        <p:spPr>
          <a:xfrm>
            <a:off x="274320" y="3319272"/>
            <a:ext cx="4114800" cy="438912"/>
          </a:xfrm>
          <a:prstGeom prst="rect">
            <a:avLst/>
          </a:prstGeom>
          <a:noFill/>
          <a:ln/>
        </p:spPr>
        <p:txBody>
          <a:bodyPr wrap="square" lIns="0" tIns="0" rIns="0" bIns="0"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Feed-Forward Network  (×N layers)</a:t>
            </a:r>
            <a:endParaRPr lang="en-US" sz="1150" dirty="0"/>
          </a:p>
        </p:txBody>
      </p:sp>
      <p:sp>
        <p:nvSpPr>
          <p:cNvPr id="26" name="Shape 24"/>
          <p:cNvSpPr/>
          <p:nvPr/>
        </p:nvSpPr>
        <p:spPr>
          <a:xfrm>
            <a:off x="2331720" y="3776472"/>
            <a:ext cx="0" cy="201168"/>
          </a:xfrm>
          <a:prstGeom prst="line">
            <a:avLst/>
          </a:prstGeom>
          <a:noFill/>
          <a:ln w="19050">
            <a:solidFill>
              <a:srgbClr val="4A90D9"/>
            </a:solidFill>
            <a:prstDash val="solid"/>
          </a:ln>
        </p:spPr>
      </p:sp>
      <p:sp>
        <p:nvSpPr>
          <p:cNvPr id="27" name="Shape 25"/>
          <p:cNvSpPr/>
          <p:nvPr/>
        </p:nvSpPr>
        <p:spPr>
          <a:xfrm>
            <a:off x="274320" y="3995928"/>
            <a:ext cx="4114800" cy="420624"/>
          </a:xfrm>
          <a:prstGeom prst="roundRect">
            <a:avLst>
              <a:gd name="adj" fmla="val 17391"/>
            </a:avLst>
          </a:prstGeom>
          <a:solidFill>
            <a:srgbClr val="2D8A5A"/>
          </a:solidFill>
          <a:ln w="12700">
            <a:solidFill>
              <a:srgbClr val="1A6640"/>
            </a:solidFill>
            <a:prstDash val="solid"/>
          </a:ln>
        </p:spPr>
      </p:sp>
      <p:sp>
        <p:nvSpPr>
          <p:cNvPr id="28" name="Text 26"/>
          <p:cNvSpPr/>
          <p:nvPr/>
        </p:nvSpPr>
        <p:spPr>
          <a:xfrm>
            <a:off x="274320" y="3995928"/>
            <a:ext cx="4114800" cy="420624"/>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Linear Projection  →  Softmax  →  Vocabulary</a:t>
            </a:r>
            <a:endParaRPr lang="en-US" sz="1100" dirty="0"/>
          </a:p>
        </p:txBody>
      </p:sp>
      <p:sp>
        <p:nvSpPr>
          <p:cNvPr id="29" name="Text 27"/>
          <p:cNvSpPr/>
          <p:nvPr/>
        </p:nvSpPr>
        <p:spPr>
          <a:xfrm>
            <a:off x="4846320" y="713232"/>
            <a:ext cx="4160520" cy="201168"/>
          </a:xfrm>
          <a:prstGeom prst="rect">
            <a:avLst/>
          </a:prstGeom>
          <a:noFill/>
          <a:ln/>
        </p:spPr>
        <p:txBody>
          <a:bodyPr wrap="square" lIns="0" tIns="0" rIns="0" bIns="0" rtlCol="0" anchor="ctr"/>
          <a:lstStyle/>
          <a:p>
            <a:pPr marL="0" indent="0" algn="l">
              <a:buNone/>
            </a:pPr>
            <a:r>
              <a:rPr lang="en-US" sz="900" b="1" kern="0" spc="300" dirty="0">
                <a:solidFill>
                  <a:srgbClr val="B8860B"/>
                </a:solidFill>
                <a:latin typeface="Calibri" pitchFamily="34" charset="0"/>
                <a:ea typeface="Calibri" pitchFamily="34" charset="-122"/>
                <a:cs typeface="Calibri" pitchFamily="34" charset="-120"/>
              </a:rPr>
              <a:t>NEXT TOKEN PREDICTION  ·  LOSS &amp; UPDATE</a:t>
            </a:r>
            <a:endParaRPr lang="en-US" sz="900" dirty="0"/>
          </a:p>
        </p:txBody>
      </p:sp>
      <p:sp>
        <p:nvSpPr>
          <p:cNvPr id="30" name="Shape 28"/>
          <p:cNvSpPr/>
          <p:nvPr/>
        </p:nvSpPr>
        <p:spPr>
          <a:xfrm>
            <a:off x="4846320" y="969264"/>
            <a:ext cx="4160520" cy="1508760"/>
          </a:xfrm>
          <a:prstGeom prst="roundRect">
            <a:avLst>
              <a:gd name="adj" fmla="val 6061"/>
            </a:avLst>
          </a:prstGeom>
          <a:solidFill>
            <a:srgbClr val="F0F4FA"/>
          </a:solidFill>
          <a:ln w="12700">
            <a:solidFill>
              <a:srgbClr val="2D5FA8"/>
            </a:solidFill>
            <a:prstDash val="solid"/>
          </a:ln>
          <a:effectLst>
            <a:outerShdw blurRad="63500" dist="25400" dir="2700000" algn="bl" rotWithShape="0">
              <a:srgbClr val="000000">
                <a:alpha val="10000"/>
              </a:srgbClr>
            </a:outerShdw>
          </a:effectLst>
        </p:spPr>
      </p:sp>
      <p:sp>
        <p:nvSpPr>
          <p:cNvPr id="31" name="Text 29"/>
          <p:cNvSpPr/>
          <p:nvPr/>
        </p:nvSpPr>
        <p:spPr>
          <a:xfrm>
            <a:off x="5010912" y="1024128"/>
            <a:ext cx="3831336" cy="256032"/>
          </a:xfrm>
          <a:prstGeom prst="rect">
            <a:avLst/>
          </a:prstGeom>
          <a:noFill/>
          <a:ln/>
        </p:spPr>
        <p:txBody>
          <a:bodyPr wrap="square" lIns="0" tIns="0" rIns="0" bIns="0" rtlCol="0" anchor="ctr"/>
          <a:lstStyle/>
          <a:p>
            <a:pPr marL="0" indent="0" algn="l">
              <a:buNone/>
            </a:pPr>
            <a:r>
              <a:rPr lang="en-US" sz="1200" b="1" dirty="0">
                <a:solidFill>
                  <a:srgbClr val="1B2A4A"/>
                </a:solidFill>
                <a:latin typeface="Calibri" pitchFamily="34" charset="0"/>
                <a:ea typeface="Calibri" pitchFamily="34" charset="-122"/>
                <a:cs typeface="Calibri" pitchFamily="34" charset="-120"/>
              </a:rPr>
              <a:t>Autoregressive Prediction</a:t>
            </a:r>
            <a:endParaRPr lang="en-US" sz="1200" dirty="0"/>
          </a:p>
        </p:txBody>
      </p:sp>
      <p:sp>
        <p:nvSpPr>
          <p:cNvPr id="32" name="Shape 30"/>
          <p:cNvSpPr/>
          <p:nvPr/>
        </p:nvSpPr>
        <p:spPr>
          <a:xfrm>
            <a:off x="5010912" y="1344168"/>
            <a:ext cx="640080" cy="329184"/>
          </a:xfrm>
          <a:prstGeom prst="roundRect">
            <a:avLst>
              <a:gd name="adj" fmla="val 16667"/>
            </a:avLst>
          </a:prstGeom>
          <a:solidFill>
            <a:srgbClr val="DDEEFF"/>
          </a:solidFill>
          <a:ln w="12700">
            <a:solidFill>
              <a:srgbClr val="2D5FA8"/>
            </a:solidFill>
            <a:prstDash val="solid"/>
          </a:ln>
        </p:spPr>
      </p:sp>
      <p:sp>
        <p:nvSpPr>
          <p:cNvPr id="33" name="Text 31"/>
          <p:cNvSpPr/>
          <p:nvPr/>
        </p:nvSpPr>
        <p:spPr>
          <a:xfrm>
            <a:off x="5010912" y="1344168"/>
            <a:ext cx="640080" cy="329184"/>
          </a:xfrm>
          <a:prstGeom prst="rect">
            <a:avLst/>
          </a:prstGeom>
          <a:noFill/>
          <a:ln/>
        </p:spPr>
        <p:txBody>
          <a:bodyPr wrap="square" lIns="0" tIns="0" rIns="0" bIns="0" rtlCol="0" anchor="ctr"/>
          <a:lstStyle/>
          <a:p>
            <a:pPr marL="0" indent="0" algn="ctr">
              <a:buNone/>
            </a:pPr>
            <a:r>
              <a:rPr lang="en-US" sz="1200" b="1" dirty="0">
                <a:solidFill>
                  <a:srgbClr val="1B2A4A"/>
                </a:solidFill>
                <a:latin typeface="Calibri" pitchFamily="34" charset="0"/>
                <a:ea typeface="Calibri" pitchFamily="34" charset="-122"/>
                <a:cs typeface="Calibri" pitchFamily="34" charset="-120"/>
              </a:rPr>
              <a:t>The</a:t>
            </a:r>
            <a:endParaRPr lang="en-US" sz="1200" dirty="0"/>
          </a:p>
        </p:txBody>
      </p:sp>
      <p:sp>
        <p:nvSpPr>
          <p:cNvPr id="34" name="Shape 32"/>
          <p:cNvSpPr/>
          <p:nvPr/>
        </p:nvSpPr>
        <p:spPr>
          <a:xfrm>
            <a:off x="5669280" y="1508760"/>
            <a:ext cx="164592" cy="0"/>
          </a:xfrm>
          <a:prstGeom prst="line">
            <a:avLst/>
          </a:prstGeom>
          <a:noFill/>
          <a:ln w="19050">
            <a:solidFill>
              <a:srgbClr val="4A90D9"/>
            </a:solidFill>
            <a:prstDash val="solid"/>
          </a:ln>
        </p:spPr>
      </p:sp>
      <p:sp>
        <p:nvSpPr>
          <p:cNvPr id="35" name="Shape 33"/>
          <p:cNvSpPr/>
          <p:nvPr/>
        </p:nvSpPr>
        <p:spPr>
          <a:xfrm>
            <a:off x="5852160" y="1344168"/>
            <a:ext cx="640080" cy="329184"/>
          </a:xfrm>
          <a:prstGeom prst="roundRect">
            <a:avLst>
              <a:gd name="adj" fmla="val 16667"/>
            </a:avLst>
          </a:prstGeom>
          <a:solidFill>
            <a:srgbClr val="DDEEFF"/>
          </a:solidFill>
          <a:ln w="12700">
            <a:solidFill>
              <a:srgbClr val="2D5FA8"/>
            </a:solidFill>
            <a:prstDash val="solid"/>
          </a:ln>
        </p:spPr>
      </p:sp>
      <p:sp>
        <p:nvSpPr>
          <p:cNvPr id="36" name="Text 34"/>
          <p:cNvSpPr/>
          <p:nvPr/>
        </p:nvSpPr>
        <p:spPr>
          <a:xfrm>
            <a:off x="5852160" y="1344168"/>
            <a:ext cx="640080" cy="329184"/>
          </a:xfrm>
          <a:prstGeom prst="rect">
            <a:avLst/>
          </a:prstGeom>
          <a:noFill/>
          <a:ln/>
        </p:spPr>
        <p:txBody>
          <a:bodyPr wrap="square" lIns="0" tIns="0" rIns="0" bIns="0" rtlCol="0" anchor="ctr"/>
          <a:lstStyle/>
          <a:p>
            <a:pPr marL="0" indent="0" algn="ctr">
              <a:buNone/>
            </a:pPr>
            <a:r>
              <a:rPr lang="en-US" sz="1200" b="1" dirty="0">
                <a:solidFill>
                  <a:srgbClr val="1B2A4A"/>
                </a:solidFill>
                <a:latin typeface="Calibri" pitchFamily="34" charset="0"/>
                <a:ea typeface="Calibri" pitchFamily="34" charset="-122"/>
                <a:cs typeface="Calibri" pitchFamily="34" charset="-120"/>
              </a:rPr>
              <a:t>cat</a:t>
            </a:r>
            <a:endParaRPr lang="en-US" sz="1200" dirty="0"/>
          </a:p>
        </p:txBody>
      </p:sp>
      <p:sp>
        <p:nvSpPr>
          <p:cNvPr id="37" name="Shape 35"/>
          <p:cNvSpPr/>
          <p:nvPr/>
        </p:nvSpPr>
        <p:spPr>
          <a:xfrm>
            <a:off x="6510528" y="1508760"/>
            <a:ext cx="164592" cy="0"/>
          </a:xfrm>
          <a:prstGeom prst="line">
            <a:avLst/>
          </a:prstGeom>
          <a:noFill/>
          <a:ln w="19050">
            <a:solidFill>
              <a:srgbClr val="4A90D9"/>
            </a:solidFill>
            <a:prstDash val="solid"/>
          </a:ln>
        </p:spPr>
      </p:sp>
      <p:sp>
        <p:nvSpPr>
          <p:cNvPr id="38" name="Shape 36"/>
          <p:cNvSpPr/>
          <p:nvPr/>
        </p:nvSpPr>
        <p:spPr>
          <a:xfrm>
            <a:off x="6693408" y="1344168"/>
            <a:ext cx="640080" cy="329184"/>
          </a:xfrm>
          <a:prstGeom prst="roundRect">
            <a:avLst>
              <a:gd name="adj" fmla="val 16667"/>
            </a:avLst>
          </a:prstGeom>
          <a:solidFill>
            <a:srgbClr val="DDEEFF"/>
          </a:solidFill>
          <a:ln w="12700">
            <a:solidFill>
              <a:srgbClr val="2D5FA8"/>
            </a:solidFill>
            <a:prstDash val="solid"/>
          </a:ln>
        </p:spPr>
      </p:sp>
      <p:sp>
        <p:nvSpPr>
          <p:cNvPr id="39" name="Text 37"/>
          <p:cNvSpPr/>
          <p:nvPr/>
        </p:nvSpPr>
        <p:spPr>
          <a:xfrm>
            <a:off x="6693408" y="1344168"/>
            <a:ext cx="640080" cy="329184"/>
          </a:xfrm>
          <a:prstGeom prst="rect">
            <a:avLst/>
          </a:prstGeom>
          <a:noFill/>
          <a:ln/>
        </p:spPr>
        <p:txBody>
          <a:bodyPr wrap="square" lIns="0" tIns="0" rIns="0" bIns="0" rtlCol="0" anchor="ctr"/>
          <a:lstStyle/>
          <a:p>
            <a:pPr marL="0" indent="0" algn="ctr">
              <a:buNone/>
            </a:pPr>
            <a:r>
              <a:rPr lang="en-US" sz="1200" b="1" dirty="0">
                <a:solidFill>
                  <a:srgbClr val="1B2A4A"/>
                </a:solidFill>
                <a:latin typeface="Calibri" pitchFamily="34" charset="0"/>
                <a:ea typeface="Calibri" pitchFamily="34" charset="-122"/>
                <a:cs typeface="Calibri" pitchFamily="34" charset="-120"/>
              </a:rPr>
              <a:t>sat</a:t>
            </a:r>
            <a:endParaRPr lang="en-US" sz="1200" dirty="0"/>
          </a:p>
        </p:txBody>
      </p:sp>
      <p:sp>
        <p:nvSpPr>
          <p:cNvPr id="40" name="Shape 38"/>
          <p:cNvSpPr/>
          <p:nvPr/>
        </p:nvSpPr>
        <p:spPr>
          <a:xfrm>
            <a:off x="7351776" y="1508760"/>
            <a:ext cx="164592" cy="0"/>
          </a:xfrm>
          <a:prstGeom prst="line">
            <a:avLst/>
          </a:prstGeom>
          <a:noFill/>
          <a:ln w="19050">
            <a:solidFill>
              <a:srgbClr val="4A90D9"/>
            </a:solidFill>
            <a:prstDash val="solid"/>
          </a:ln>
        </p:spPr>
      </p:sp>
      <p:sp>
        <p:nvSpPr>
          <p:cNvPr id="41" name="Shape 39"/>
          <p:cNvSpPr/>
          <p:nvPr/>
        </p:nvSpPr>
        <p:spPr>
          <a:xfrm>
            <a:off x="7534656" y="1344168"/>
            <a:ext cx="640080" cy="329184"/>
          </a:xfrm>
          <a:prstGeom prst="roundRect">
            <a:avLst>
              <a:gd name="adj" fmla="val 16667"/>
            </a:avLst>
          </a:prstGeom>
          <a:solidFill>
            <a:srgbClr val="1B2A4A"/>
          </a:solidFill>
          <a:ln w="25400">
            <a:solidFill>
              <a:srgbClr val="B8860B"/>
            </a:solidFill>
            <a:prstDash val="solid"/>
          </a:ln>
        </p:spPr>
      </p:sp>
      <p:sp>
        <p:nvSpPr>
          <p:cNvPr id="42" name="Text 40"/>
          <p:cNvSpPr/>
          <p:nvPr/>
        </p:nvSpPr>
        <p:spPr>
          <a:xfrm>
            <a:off x="7534656" y="1344168"/>
            <a:ext cx="640080" cy="329184"/>
          </a:xfrm>
          <a:prstGeom prst="rect">
            <a:avLst/>
          </a:prstGeom>
          <a:noFill/>
          <a:ln/>
        </p:spPr>
        <p:txBody>
          <a:bodyPr wrap="square" lIns="0" tIns="0" rIns="0" bIns="0" rtlCol="0" anchor="ctr"/>
          <a:lstStyle/>
          <a:p>
            <a:pPr marL="0" indent="0" algn="ctr">
              <a:buNone/>
            </a:pPr>
            <a:r>
              <a:rPr lang="en-US" sz="1200" b="1" dirty="0">
                <a:solidFill>
                  <a:srgbClr val="B8860B"/>
                </a:solidFill>
                <a:latin typeface="Calibri" pitchFamily="34" charset="0"/>
                <a:ea typeface="Calibri" pitchFamily="34" charset="-122"/>
                <a:cs typeface="Calibri" pitchFamily="34" charset="-120"/>
              </a:rPr>
              <a:t>on</a:t>
            </a:r>
            <a:endParaRPr lang="en-US" sz="1200" dirty="0"/>
          </a:p>
        </p:txBody>
      </p:sp>
      <p:sp>
        <p:nvSpPr>
          <p:cNvPr id="43" name="Text 41"/>
          <p:cNvSpPr/>
          <p:nvPr/>
        </p:nvSpPr>
        <p:spPr>
          <a:xfrm>
            <a:off x="7443216" y="1709928"/>
            <a:ext cx="1280160" cy="182880"/>
          </a:xfrm>
          <a:prstGeom prst="rect">
            <a:avLst/>
          </a:prstGeom>
          <a:noFill/>
          <a:ln/>
        </p:spPr>
        <p:txBody>
          <a:bodyPr wrap="square" lIns="0" tIns="0" rIns="0" bIns="0" rtlCol="0" anchor="ctr"/>
          <a:lstStyle/>
          <a:p>
            <a:pPr marL="0" indent="0" algn="ctr">
              <a:buNone/>
            </a:pPr>
            <a:r>
              <a:rPr lang="en-US" sz="850" b="1" i="1" dirty="0">
                <a:solidFill>
                  <a:srgbClr val="B8860B"/>
                </a:solidFill>
                <a:latin typeface="Calibri" pitchFamily="34" charset="0"/>
                <a:ea typeface="Calibri" pitchFamily="34" charset="-122"/>
                <a:cs typeface="Calibri" pitchFamily="34" charset="-120"/>
              </a:rPr>
              <a:t>← Predicted Next Token</a:t>
            </a:r>
            <a:endParaRPr lang="en-US" sz="850" dirty="0"/>
          </a:p>
        </p:txBody>
      </p:sp>
      <p:sp>
        <p:nvSpPr>
          <p:cNvPr id="44" name="Text 42"/>
          <p:cNvSpPr/>
          <p:nvPr/>
        </p:nvSpPr>
        <p:spPr>
          <a:xfrm>
            <a:off x="4983480" y="1975104"/>
            <a:ext cx="3886200" cy="201168"/>
          </a:xfrm>
          <a:prstGeom prst="rect">
            <a:avLst/>
          </a:prstGeom>
          <a:noFill/>
          <a:ln/>
        </p:spPr>
        <p:txBody>
          <a:bodyPr wrap="square" lIns="0" tIns="0" rIns="0" bIns="0" rtlCol="0" anchor="ctr"/>
          <a:lstStyle/>
          <a:p>
            <a:pPr marL="0" indent="0" algn="l">
              <a:buNone/>
            </a:pPr>
            <a:r>
              <a:rPr lang="en-US" sz="950" i="1" dirty="0">
                <a:solidFill>
                  <a:srgbClr val="5A6A7A"/>
                </a:solidFill>
                <a:latin typeface="Calibri" pitchFamily="34" charset="0"/>
                <a:ea typeface="Calibri" pitchFamily="34" charset="-122"/>
                <a:cs typeface="Calibri" pitchFamily="34" charset="-120"/>
              </a:rPr>
              <a:t>Model sees only past context  —  causal masking enforces this</a:t>
            </a:r>
            <a:endParaRPr lang="en-US" sz="950" dirty="0"/>
          </a:p>
        </p:txBody>
      </p:sp>
      <p:sp>
        <p:nvSpPr>
          <p:cNvPr id="45" name="Shape 43"/>
          <p:cNvSpPr/>
          <p:nvPr/>
        </p:nvSpPr>
        <p:spPr>
          <a:xfrm>
            <a:off x="4846320" y="2578608"/>
            <a:ext cx="4160520" cy="1115568"/>
          </a:xfrm>
          <a:prstGeom prst="roundRect">
            <a:avLst>
              <a:gd name="adj" fmla="val 8197"/>
            </a:avLst>
          </a:prstGeom>
          <a:solidFill>
            <a:srgbClr val="1B2A4A"/>
          </a:solidFill>
          <a:ln w="12700">
            <a:solidFill>
              <a:srgbClr val="1B2A4A"/>
            </a:solidFill>
            <a:prstDash val="solid"/>
          </a:ln>
        </p:spPr>
      </p:sp>
      <p:sp>
        <p:nvSpPr>
          <p:cNvPr id="46" name="Text 44"/>
          <p:cNvSpPr/>
          <p:nvPr/>
        </p:nvSpPr>
        <p:spPr>
          <a:xfrm>
            <a:off x="5010912" y="2642616"/>
            <a:ext cx="3831336" cy="256032"/>
          </a:xfrm>
          <a:prstGeom prst="rect">
            <a:avLst/>
          </a:prstGeom>
          <a:noFill/>
          <a:ln/>
        </p:spPr>
        <p:txBody>
          <a:bodyPr wrap="square" lIns="0" tIns="0" rIns="0" bIns="0" rtlCol="0" anchor="ctr"/>
          <a:lstStyle/>
          <a:p>
            <a:pPr marL="0" indent="0" algn="l">
              <a:buNone/>
            </a:pPr>
            <a:r>
              <a:rPr lang="en-US" sz="1200" b="1" dirty="0">
                <a:solidFill>
                  <a:srgbClr val="B8860B"/>
                </a:solidFill>
                <a:latin typeface="Calibri" pitchFamily="34" charset="0"/>
                <a:ea typeface="Calibri" pitchFamily="34" charset="-122"/>
                <a:cs typeface="Calibri" pitchFamily="34" charset="-120"/>
              </a:rPr>
              <a:t>Cross-Entropy Loss</a:t>
            </a:r>
            <a:endParaRPr lang="en-US" sz="1200" dirty="0"/>
          </a:p>
        </p:txBody>
      </p:sp>
      <p:sp>
        <p:nvSpPr>
          <p:cNvPr id="47" name="Text 45"/>
          <p:cNvSpPr/>
          <p:nvPr/>
        </p:nvSpPr>
        <p:spPr>
          <a:xfrm>
            <a:off x="5010912" y="2926080"/>
            <a:ext cx="3831336" cy="329184"/>
          </a:xfrm>
          <a:prstGeom prst="rect">
            <a:avLst/>
          </a:prstGeom>
          <a:noFill/>
          <a:ln/>
        </p:spPr>
        <p:txBody>
          <a:bodyPr wrap="square" lIns="0" tIns="0" rIns="0" bIns="0" rtlCol="0" anchor="ctr"/>
          <a:lstStyle/>
          <a:p>
            <a:pPr marL="0" indent="0" algn="ctr">
              <a:buNone/>
            </a:pPr>
            <a:r>
              <a:rPr lang="en-US" sz="1300" dirty="0">
                <a:solidFill>
                  <a:srgbClr val="FFFFFF"/>
                </a:solidFill>
                <a:latin typeface="Courier New" pitchFamily="34" charset="0"/>
                <a:ea typeface="Courier New" pitchFamily="34" charset="-122"/>
                <a:cs typeface="Courier New" pitchFamily="34" charset="-120"/>
              </a:rPr>
              <a:t>ℒ = −  Σ  log P( xₜ | x₁, …, xₜ₋₁ ; θ )</a:t>
            </a:r>
            <a:endParaRPr lang="en-US" sz="1300" dirty="0"/>
          </a:p>
        </p:txBody>
      </p:sp>
      <p:sp>
        <p:nvSpPr>
          <p:cNvPr id="48" name="Text 46"/>
          <p:cNvSpPr/>
          <p:nvPr/>
        </p:nvSpPr>
        <p:spPr>
          <a:xfrm>
            <a:off x="5010912" y="3255264"/>
            <a:ext cx="3831336" cy="201168"/>
          </a:xfrm>
          <a:prstGeom prst="rect">
            <a:avLst/>
          </a:prstGeom>
          <a:noFill/>
          <a:ln/>
        </p:spPr>
        <p:txBody>
          <a:bodyPr wrap="square" lIns="0" tIns="0" rIns="0" bIns="0" rtlCol="0" anchor="ctr"/>
          <a:lstStyle/>
          <a:p>
            <a:pPr marL="0" indent="0" algn="ctr">
              <a:buNone/>
            </a:pPr>
            <a:r>
              <a:rPr lang="en-US" sz="900" i="1" dirty="0">
                <a:solidFill>
                  <a:srgbClr val="9BBAD4"/>
                </a:solidFill>
                <a:latin typeface="Calibri" pitchFamily="34" charset="0"/>
                <a:ea typeface="Calibri" pitchFamily="34" charset="-122"/>
                <a:cs typeface="Calibri" pitchFamily="34" charset="-120"/>
              </a:rPr>
              <a:t>Sum over all positions t in the sequence</a:t>
            </a:r>
            <a:endParaRPr lang="en-US" sz="900" dirty="0"/>
          </a:p>
        </p:txBody>
      </p:sp>
      <p:sp>
        <p:nvSpPr>
          <p:cNvPr id="49" name="Shape 47"/>
          <p:cNvSpPr/>
          <p:nvPr/>
        </p:nvSpPr>
        <p:spPr>
          <a:xfrm>
            <a:off x="4846320" y="3785616"/>
            <a:ext cx="4160520" cy="1115568"/>
          </a:xfrm>
          <a:prstGeom prst="roundRect">
            <a:avLst>
              <a:gd name="adj" fmla="val 8197"/>
            </a:avLst>
          </a:prstGeom>
          <a:solidFill>
            <a:srgbClr val="EFF7F0"/>
          </a:solidFill>
          <a:ln w="15240">
            <a:solidFill>
              <a:srgbClr val="2D8A5A"/>
            </a:solidFill>
            <a:prstDash val="solid"/>
          </a:ln>
        </p:spPr>
      </p:sp>
      <p:sp>
        <p:nvSpPr>
          <p:cNvPr id="50" name="Text 48"/>
          <p:cNvSpPr/>
          <p:nvPr/>
        </p:nvSpPr>
        <p:spPr>
          <a:xfrm>
            <a:off x="5010912" y="3840480"/>
            <a:ext cx="3831336" cy="256032"/>
          </a:xfrm>
          <a:prstGeom prst="rect">
            <a:avLst/>
          </a:prstGeom>
          <a:noFill/>
          <a:ln/>
        </p:spPr>
        <p:txBody>
          <a:bodyPr wrap="square" lIns="0" tIns="0" rIns="0" bIns="0" rtlCol="0" anchor="ctr"/>
          <a:lstStyle/>
          <a:p>
            <a:pPr marL="0" indent="0" algn="l">
              <a:buNone/>
            </a:pPr>
            <a:r>
              <a:rPr lang="en-US" sz="1200" b="1" dirty="0">
                <a:solidFill>
                  <a:srgbClr val="1A6640"/>
                </a:solidFill>
                <a:latin typeface="Calibri" pitchFamily="34" charset="0"/>
                <a:ea typeface="Calibri" pitchFamily="34" charset="-122"/>
                <a:cs typeface="Calibri" pitchFamily="34" charset="-120"/>
              </a:rPr>
              <a:t>Gradient Descent Update</a:t>
            </a:r>
            <a:endParaRPr lang="en-US" sz="1200" dirty="0"/>
          </a:p>
        </p:txBody>
      </p:sp>
      <p:sp>
        <p:nvSpPr>
          <p:cNvPr id="51" name="Text 49"/>
          <p:cNvSpPr/>
          <p:nvPr/>
        </p:nvSpPr>
        <p:spPr>
          <a:xfrm>
            <a:off x="4983480" y="4151376"/>
            <a:ext cx="256032" cy="219456"/>
          </a:xfrm>
          <a:prstGeom prst="rect">
            <a:avLst/>
          </a:prstGeom>
          <a:noFill/>
          <a:ln/>
        </p:spPr>
        <p:txBody>
          <a:bodyPr wrap="square" lIns="0" tIns="0" rIns="0" bIns="0" rtlCol="0" anchor="ctr"/>
          <a:lstStyle/>
          <a:p>
            <a:pPr marL="0" indent="0" algn="ctr">
              <a:buNone/>
            </a:pPr>
            <a:r>
              <a:rPr lang="en-US" sz="1100" b="1" dirty="0">
                <a:solidFill>
                  <a:srgbClr val="2D8A5A"/>
                </a:solidFill>
                <a:latin typeface="Calibri" pitchFamily="34" charset="0"/>
                <a:ea typeface="Calibri" pitchFamily="34" charset="-122"/>
                <a:cs typeface="Calibri" pitchFamily="34" charset="-120"/>
              </a:rPr>
              <a:t>①</a:t>
            </a:r>
            <a:endParaRPr lang="en-US" sz="1100" dirty="0"/>
          </a:p>
        </p:txBody>
      </p:sp>
      <p:sp>
        <p:nvSpPr>
          <p:cNvPr id="52" name="Text 50"/>
          <p:cNvSpPr/>
          <p:nvPr/>
        </p:nvSpPr>
        <p:spPr>
          <a:xfrm>
            <a:off x="5248656" y="4151376"/>
            <a:ext cx="3630168" cy="219456"/>
          </a:xfrm>
          <a:prstGeom prst="rect">
            <a:avLst/>
          </a:prstGeom>
          <a:noFill/>
          <a:ln/>
        </p:spPr>
        <p:txBody>
          <a:bodyPr wrap="square" lIns="0" tIns="0" rIns="0" bIns="0" rtlCol="0" anchor="ctr"/>
          <a:lstStyle/>
          <a:p>
            <a:pPr marL="0" indent="0" algn="l">
              <a:buNone/>
            </a:pPr>
            <a:r>
              <a:rPr lang="en-US" sz="950" dirty="0">
                <a:solidFill>
                  <a:srgbClr val="1B2A4A"/>
                </a:solidFill>
                <a:latin typeface="Calibri" pitchFamily="34" charset="0"/>
                <a:ea typeface="Calibri" pitchFamily="34" charset="-122"/>
                <a:cs typeface="Calibri" pitchFamily="34" charset="-120"/>
              </a:rPr>
              <a:t>Forward pass → compute logits for each position</a:t>
            </a:r>
            <a:endParaRPr lang="en-US" sz="950" dirty="0"/>
          </a:p>
        </p:txBody>
      </p:sp>
      <p:sp>
        <p:nvSpPr>
          <p:cNvPr id="53" name="Text 51"/>
          <p:cNvSpPr/>
          <p:nvPr/>
        </p:nvSpPr>
        <p:spPr>
          <a:xfrm>
            <a:off x="4983480" y="4389120"/>
            <a:ext cx="256032" cy="219456"/>
          </a:xfrm>
          <a:prstGeom prst="rect">
            <a:avLst/>
          </a:prstGeom>
          <a:noFill/>
          <a:ln/>
        </p:spPr>
        <p:txBody>
          <a:bodyPr wrap="square" lIns="0" tIns="0" rIns="0" bIns="0" rtlCol="0" anchor="ctr"/>
          <a:lstStyle/>
          <a:p>
            <a:pPr marL="0" indent="0" algn="ctr">
              <a:buNone/>
            </a:pPr>
            <a:r>
              <a:rPr lang="en-US" sz="1100" b="1" dirty="0">
                <a:solidFill>
                  <a:srgbClr val="2D8A5A"/>
                </a:solidFill>
                <a:latin typeface="Calibri" pitchFamily="34" charset="0"/>
                <a:ea typeface="Calibri" pitchFamily="34" charset="-122"/>
                <a:cs typeface="Calibri" pitchFamily="34" charset="-120"/>
              </a:rPr>
              <a:t>②</a:t>
            </a:r>
            <a:endParaRPr lang="en-US" sz="1100" dirty="0"/>
          </a:p>
        </p:txBody>
      </p:sp>
      <p:sp>
        <p:nvSpPr>
          <p:cNvPr id="54" name="Text 52"/>
          <p:cNvSpPr/>
          <p:nvPr/>
        </p:nvSpPr>
        <p:spPr>
          <a:xfrm>
            <a:off x="5248656" y="4389120"/>
            <a:ext cx="3630168" cy="219456"/>
          </a:xfrm>
          <a:prstGeom prst="rect">
            <a:avLst/>
          </a:prstGeom>
          <a:noFill/>
          <a:ln/>
        </p:spPr>
        <p:txBody>
          <a:bodyPr wrap="square" lIns="0" tIns="0" rIns="0" bIns="0" rtlCol="0" anchor="ctr"/>
          <a:lstStyle/>
          <a:p>
            <a:pPr marL="0" indent="0" algn="l">
              <a:buNone/>
            </a:pPr>
            <a:r>
              <a:rPr lang="en-US" sz="950" dirty="0">
                <a:solidFill>
                  <a:srgbClr val="1B2A4A"/>
                </a:solidFill>
                <a:latin typeface="Calibri" pitchFamily="34" charset="0"/>
                <a:ea typeface="Calibri" pitchFamily="34" charset="-122"/>
                <a:cs typeface="Calibri" pitchFamily="34" charset="-120"/>
              </a:rPr>
              <a:t>Compute ℒ vs. true next tokens (teacher forcing)</a:t>
            </a:r>
            <a:endParaRPr lang="en-US" sz="950" dirty="0"/>
          </a:p>
        </p:txBody>
      </p:sp>
      <p:sp>
        <p:nvSpPr>
          <p:cNvPr id="55" name="Text 53"/>
          <p:cNvSpPr/>
          <p:nvPr/>
        </p:nvSpPr>
        <p:spPr>
          <a:xfrm>
            <a:off x="4983480" y="4626864"/>
            <a:ext cx="256032" cy="219456"/>
          </a:xfrm>
          <a:prstGeom prst="rect">
            <a:avLst/>
          </a:prstGeom>
          <a:noFill/>
          <a:ln/>
        </p:spPr>
        <p:txBody>
          <a:bodyPr wrap="square" lIns="0" tIns="0" rIns="0" bIns="0" rtlCol="0" anchor="ctr"/>
          <a:lstStyle/>
          <a:p>
            <a:pPr marL="0" indent="0" algn="ctr">
              <a:buNone/>
            </a:pPr>
            <a:r>
              <a:rPr lang="en-US" sz="1100" b="1" dirty="0">
                <a:solidFill>
                  <a:srgbClr val="2D8A5A"/>
                </a:solidFill>
                <a:latin typeface="Calibri" pitchFamily="34" charset="0"/>
                <a:ea typeface="Calibri" pitchFamily="34" charset="-122"/>
                <a:cs typeface="Calibri" pitchFamily="34" charset="-120"/>
              </a:rPr>
              <a:t>③</a:t>
            </a:r>
            <a:endParaRPr lang="en-US" sz="1100" dirty="0"/>
          </a:p>
        </p:txBody>
      </p:sp>
      <p:sp>
        <p:nvSpPr>
          <p:cNvPr id="56" name="Text 54"/>
          <p:cNvSpPr/>
          <p:nvPr/>
        </p:nvSpPr>
        <p:spPr>
          <a:xfrm>
            <a:off x="5248656" y="4626864"/>
            <a:ext cx="3630168" cy="219456"/>
          </a:xfrm>
          <a:prstGeom prst="rect">
            <a:avLst/>
          </a:prstGeom>
          <a:noFill/>
          <a:ln/>
        </p:spPr>
        <p:txBody>
          <a:bodyPr wrap="square" lIns="0" tIns="0" rIns="0" bIns="0" rtlCol="0" anchor="ctr"/>
          <a:lstStyle/>
          <a:p>
            <a:pPr marL="0" indent="0" algn="l">
              <a:buNone/>
            </a:pPr>
            <a:r>
              <a:rPr lang="en-US" sz="950" dirty="0">
                <a:solidFill>
                  <a:srgbClr val="1B2A4A"/>
                </a:solidFill>
                <a:latin typeface="Calibri" pitchFamily="34" charset="0"/>
                <a:ea typeface="Calibri" pitchFamily="34" charset="-122"/>
                <a:cs typeface="Calibri" pitchFamily="34" charset="-120"/>
              </a:rPr>
              <a:t>Backprop through all layers → update θ via Adam</a:t>
            </a:r>
            <a:endParaRPr lang="en-US" sz="950" dirty="0"/>
          </a:p>
        </p:txBody>
      </p:sp>
      <p:sp>
        <p:nvSpPr>
          <p:cNvPr id="57" name="Text 55"/>
          <p:cNvSpPr/>
          <p:nvPr/>
        </p:nvSpPr>
        <p:spPr>
          <a:xfrm>
            <a:off x="320040" y="4956048"/>
            <a:ext cx="8503920" cy="164592"/>
          </a:xfrm>
          <a:prstGeom prst="rect">
            <a:avLst/>
          </a:prstGeom>
          <a:noFill/>
          <a:ln/>
        </p:spPr>
        <p:txBody>
          <a:bodyPr wrap="square" lIns="0" tIns="0" rIns="0" bIns="0" rtlCol="0" anchor="ctr"/>
          <a:lstStyle/>
          <a:p>
            <a:pPr marL="0" indent="0" algn="l">
              <a:buNone/>
            </a:pPr>
            <a:r>
              <a:rPr lang="en-US" sz="800" i="1" dirty="0">
                <a:solidFill>
                  <a:srgbClr val="999999"/>
                </a:solidFill>
                <a:latin typeface="Calibri" pitchFamily="34" charset="0"/>
                <a:ea typeface="Calibri" pitchFamily="34" charset="-122"/>
                <a:cs typeface="Calibri" pitchFamily="34" charset="-120"/>
              </a:rPr>
              <a:t>Radford et al. (2018/2019). Language Modeling with Transformers. OpenAI Technical Reports.</a:t>
            </a:r>
            <a:endParaRPr lang="en-US" sz="800" dirty="0"/>
          </a:p>
        </p:txBody>
      </p:sp>
      <p:pic>
        <p:nvPicPr>
          <p:cNvPr id="3" name="Google Shape;109;p20">
            <a:extLst>
              <a:ext uri="{FF2B5EF4-FFF2-40B4-BE49-F238E27FC236}">
                <a16:creationId xmlns:a16="http://schemas.microsoft.com/office/drawing/2014/main" id="{6AEDC4C4-494F-0075-1A92-0255049DECE3}"/>
              </a:ext>
            </a:extLst>
          </p:cNvPr>
          <p:cNvPicPr preferRelativeResize="0"/>
          <p:nvPr/>
        </p:nvPicPr>
        <p:blipFill>
          <a:blip r:embed="rId3">
            <a:alphaModFix/>
          </a:blip>
          <a:stretch>
            <a:fillRect/>
          </a:stretch>
        </p:blipFill>
        <p:spPr>
          <a:xfrm>
            <a:off x="8369125" y="0"/>
            <a:ext cx="774877" cy="867174"/>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3444" cy="5143500"/>
          </a:xfrm>
          <a:prstGeom prst="rect">
            <a:avLst/>
          </a:prstGeom>
          <a:solidFill>
            <a:srgbClr val="1A365D"/>
          </a:solidFill>
          <a:ln w="12700">
            <a:solidFill>
              <a:srgbClr val="1A365D"/>
            </a:solidFill>
            <a:prstDash val="solid"/>
          </a:ln>
        </p:spPr>
        <p:txBody>
          <a:bodyPr/>
          <a:lstStyle/>
          <a:p>
            <a:endParaRPr/>
          </a:p>
        </p:txBody>
      </p:sp>
      <p:sp>
        <p:nvSpPr>
          <p:cNvPr id="5" name="Shape 3"/>
          <p:cNvSpPr/>
          <p:nvPr/>
        </p:nvSpPr>
        <p:spPr>
          <a:xfrm>
            <a:off x="342900" y="4457700"/>
            <a:ext cx="8435340" cy="0"/>
          </a:xfrm>
          <a:prstGeom prst="line">
            <a:avLst/>
          </a:prstGeom>
          <a:noFill/>
          <a:ln w="9525">
            <a:solidFill>
              <a:srgbClr val="CBD5E0"/>
            </a:solidFill>
            <a:prstDash val="solid"/>
          </a:ln>
        </p:spPr>
        <p:txBody>
          <a:bodyPr/>
          <a:lstStyle/>
          <a:p>
            <a:endParaRPr/>
          </a:p>
        </p:txBody>
      </p:sp>
      <p:sp>
        <p:nvSpPr>
          <p:cNvPr id="7" name="Text 5"/>
          <p:cNvSpPr/>
          <p:nvPr/>
        </p:nvSpPr>
        <p:spPr>
          <a:xfrm>
            <a:off x="342900" y="293203"/>
            <a:ext cx="8435340" cy="617220"/>
          </a:xfrm>
          <a:prstGeom prst="rect">
            <a:avLst/>
          </a:prstGeom>
          <a:noFill/>
          <a:ln/>
        </p:spPr>
        <p:txBody>
          <a:bodyPr wrap="square" lIns="0" tIns="0" rIns="0" bIns="0" rtlCol="0" anchor="ctr"/>
          <a:lstStyle/>
          <a:p>
            <a:r>
              <a:rPr lang="en-US" sz="2250" b="1" dirty="0">
                <a:solidFill>
                  <a:srgbClr val="1E2761"/>
                </a:solidFill>
                <a:latin typeface="Georgia"/>
              </a:rPr>
              <a:t>LAMBADA: Measuring Long-Range Text </a:t>
            </a:r>
          </a:p>
          <a:p>
            <a:r>
              <a:rPr lang="en-US" sz="2250" b="1" dirty="0">
                <a:solidFill>
                  <a:srgbClr val="1E2761"/>
                </a:solidFill>
                <a:latin typeface="Georgia"/>
              </a:rPr>
              <a:t>Understanding</a:t>
            </a:r>
            <a:endParaRPr lang="en-US" sz="2250" dirty="0"/>
          </a:p>
        </p:txBody>
      </p:sp>
      <p:sp>
        <p:nvSpPr>
          <p:cNvPr id="8" name="Text 6"/>
          <p:cNvSpPr/>
          <p:nvPr/>
        </p:nvSpPr>
        <p:spPr>
          <a:xfrm>
            <a:off x="342900" y="1190709"/>
            <a:ext cx="5038978" cy="1000225"/>
          </a:xfrm>
          <a:prstGeom prst="rect">
            <a:avLst/>
          </a:prstGeom>
          <a:noFill/>
          <a:ln/>
        </p:spPr>
        <p:txBody>
          <a:bodyPr wrap="square" lIns="0" tIns="0" rIns="0" bIns="0" rtlCol="0" anchor="ctr"/>
          <a:lstStyle/>
          <a:p>
            <a:pPr>
              <a:spcAft>
                <a:spcPts val="300"/>
              </a:spcAft>
            </a:pPr>
            <a:r>
              <a:rPr lang="en-US" sz="1200" dirty="0">
                <a:solidFill>
                  <a:srgbClr val="1A1F36"/>
                </a:solidFill>
                <a:latin typeface="Calibri"/>
              </a:rPr>
              <a:t>LAMBADA (Language Modeling Broadened to Account for Discourse Aspects) tests a model’s ability to predict the last word of a narrative passage where local context alone is insufficient — the entire discourse is required.</a:t>
            </a:r>
          </a:p>
          <a:p>
            <a:pPr>
              <a:spcAft>
                <a:spcPts val="300"/>
              </a:spcAft>
            </a:pPr>
            <a:endParaRPr lang="en-US" sz="1200" dirty="0"/>
          </a:p>
        </p:txBody>
      </p:sp>
      <p:grpSp>
        <p:nvGrpSpPr>
          <p:cNvPr id="41" name="Group 40"/>
          <p:cNvGrpSpPr/>
          <p:nvPr/>
        </p:nvGrpSpPr>
        <p:grpSpPr>
          <a:xfrm>
            <a:off x="6035040" y="970044"/>
            <a:ext cx="2777490" cy="1611630"/>
            <a:chOff x="342900" y="2777490"/>
            <a:chExt cx="2777490" cy="1611630"/>
          </a:xfrm>
        </p:grpSpPr>
        <p:sp>
          <p:nvSpPr>
            <p:cNvPr id="30" name="Shape 28"/>
            <p:cNvSpPr/>
            <p:nvPr/>
          </p:nvSpPr>
          <p:spPr>
            <a:xfrm>
              <a:off x="342900" y="2777490"/>
              <a:ext cx="2777490" cy="1611630"/>
            </a:xfrm>
            <a:prstGeom prst="rect">
              <a:avLst/>
            </a:prstGeom>
            <a:solidFill>
              <a:srgbClr val="F7FAFC"/>
            </a:solidFill>
            <a:ln w="9525">
              <a:solidFill>
                <a:srgbClr val="E2E8F0"/>
              </a:solidFill>
              <a:prstDash val="solid"/>
            </a:ln>
          </p:spPr>
          <p:txBody>
            <a:bodyPr/>
            <a:lstStyle/>
            <a:p>
              <a:endParaRPr/>
            </a:p>
          </p:txBody>
        </p:sp>
        <p:sp>
          <p:nvSpPr>
            <p:cNvPr id="31" name="Shape 29"/>
            <p:cNvSpPr/>
            <p:nvPr/>
          </p:nvSpPr>
          <p:spPr>
            <a:xfrm>
              <a:off x="342900" y="2777490"/>
              <a:ext cx="41148" cy="1611630"/>
            </a:xfrm>
            <a:prstGeom prst="rect">
              <a:avLst/>
            </a:prstGeom>
            <a:solidFill>
              <a:srgbClr val="1A365D"/>
            </a:solidFill>
            <a:ln w="12700">
              <a:solidFill>
                <a:srgbClr val="1A365D"/>
              </a:solidFill>
              <a:prstDash val="solid"/>
            </a:ln>
          </p:spPr>
          <p:txBody>
            <a:bodyPr/>
            <a:lstStyle/>
            <a:p>
              <a:endParaRPr/>
            </a:p>
          </p:txBody>
        </p:sp>
        <p:sp>
          <p:nvSpPr>
            <p:cNvPr id="32" name="Text 30"/>
            <p:cNvSpPr/>
            <p:nvPr/>
          </p:nvSpPr>
          <p:spPr>
            <a:xfrm>
              <a:off x="514350" y="2880360"/>
              <a:ext cx="2503170" cy="274320"/>
            </a:xfrm>
            <a:prstGeom prst="rect">
              <a:avLst/>
            </a:prstGeom>
            <a:noFill/>
            <a:ln/>
          </p:spPr>
          <p:txBody>
            <a:bodyPr wrap="square" lIns="0" tIns="0" rIns="0" bIns="0" rtlCol="0" anchor="ctr"/>
            <a:lstStyle/>
            <a:p>
              <a:r>
                <a:rPr lang="en-US" sz="1050" b="1" dirty="0">
                  <a:solidFill>
                    <a:srgbClr val="0F223E"/>
                  </a:solidFill>
                  <a:latin typeface="Calibri"/>
                </a:rPr>
                <a:t>LAMBADA Benchmark</a:t>
              </a:r>
              <a:endParaRPr lang="en-US" sz="1050" dirty="0"/>
            </a:p>
          </p:txBody>
        </p:sp>
        <p:sp>
          <p:nvSpPr>
            <p:cNvPr id="33" name="Text 31"/>
            <p:cNvSpPr/>
            <p:nvPr/>
          </p:nvSpPr>
          <p:spPr>
            <a:xfrm>
              <a:off x="514350" y="3154680"/>
              <a:ext cx="2503170" cy="1131570"/>
            </a:xfrm>
            <a:prstGeom prst="rect">
              <a:avLst/>
            </a:prstGeom>
            <a:noFill/>
            <a:ln/>
          </p:spPr>
          <p:txBody>
            <a:bodyPr wrap="square" lIns="0" tIns="0" rIns="0" bIns="0" rtlCol="0" anchor="ctr"/>
            <a:lstStyle/>
            <a:p>
              <a:pPr marL="257175" indent="-257175">
                <a:spcAft>
                  <a:spcPts val="300"/>
                </a:spcAft>
                <a:buSzPct val="100000"/>
                <a:buChar char="•"/>
              </a:pPr>
              <a:r>
                <a:rPr lang="en-US" sz="1000" dirty="0">
                  <a:solidFill>
                    <a:srgbClr val="1A1F36"/>
                  </a:solidFill>
                  <a:latin typeface="Calibri"/>
                </a:rPr>
                <a:t>Released 2016; 10K cloze-style test passages</a:t>
              </a:r>
              <a:endParaRPr lang="en-US" sz="1000" dirty="0"/>
            </a:p>
            <a:p>
              <a:pPr marL="257175" indent="-257175">
                <a:spcAft>
                  <a:spcPts val="300"/>
                </a:spcAft>
                <a:buSzPct val="100000"/>
                <a:buChar char="•"/>
              </a:pPr>
              <a:r>
                <a:rPr lang="en-US" sz="1000" dirty="0">
                  <a:solidFill>
                    <a:srgbClr val="1A1F36"/>
                  </a:solidFill>
                  <a:latin typeface="Calibri"/>
                </a:rPr>
                <a:t>Last word unpredictable from final sentence alone</a:t>
              </a:r>
              <a:endParaRPr lang="en-US" sz="1000" dirty="0"/>
            </a:p>
            <a:p>
              <a:pPr marL="257175" indent="-257175">
                <a:spcAft>
                  <a:spcPts val="300"/>
                </a:spcAft>
                <a:buSzPct val="100000"/>
                <a:buChar char="•"/>
              </a:pPr>
              <a:r>
                <a:rPr lang="en-US" sz="1000" dirty="0">
                  <a:solidFill>
                    <a:srgbClr val="1A1F36"/>
                  </a:solidFill>
                  <a:latin typeface="Calibri"/>
                </a:rPr>
                <a:t>Drawn from BookCrossing fiction dataset</a:t>
              </a:r>
              <a:endParaRPr lang="en-US" sz="1000" dirty="0"/>
            </a:p>
          </p:txBody>
        </p:sp>
      </p:grpSp>
      <p:grpSp>
        <p:nvGrpSpPr>
          <p:cNvPr id="43" name="Group 42"/>
          <p:cNvGrpSpPr/>
          <p:nvPr/>
        </p:nvGrpSpPr>
        <p:grpSpPr>
          <a:xfrm>
            <a:off x="6000750" y="2710508"/>
            <a:ext cx="2777490" cy="1611630"/>
            <a:chOff x="3188970" y="2777490"/>
            <a:chExt cx="2777490" cy="1611630"/>
          </a:xfrm>
        </p:grpSpPr>
        <p:sp>
          <p:nvSpPr>
            <p:cNvPr id="34" name="Shape 32"/>
            <p:cNvSpPr/>
            <p:nvPr/>
          </p:nvSpPr>
          <p:spPr>
            <a:xfrm>
              <a:off x="3188970" y="2777490"/>
              <a:ext cx="2777490" cy="1611630"/>
            </a:xfrm>
            <a:prstGeom prst="rect">
              <a:avLst/>
            </a:prstGeom>
            <a:solidFill>
              <a:srgbClr val="F7FAFC"/>
            </a:solidFill>
            <a:ln w="9525">
              <a:solidFill>
                <a:srgbClr val="E2E8F0"/>
              </a:solidFill>
              <a:prstDash val="solid"/>
            </a:ln>
          </p:spPr>
          <p:txBody>
            <a:bodyPr/>
            <a:lstStyle/>
            <a:p>
              <a:endParaRPr/>
            </a:p>
          </p:txBody>
        </p:sp>
        <p:sp>
          <p:nvSpPr>
            <p:cNvPr id="35" name="Shape 33"/>
            <p:cNvSpPr/>
            <p:nvPr/>
          </p:nvSpPr>
          <p:spPr>
            <a:xfrm>
              <a:off x="3188970" y="2777490"/>
              <a:ext cx="41148" cy="1611630"/>
            </a:xfrm>
            <a:prstGeom prst="rect">
              <a:avLst/>
            </a:prstGeom>
            <a:solidFill>
              <a:srgbClr val="1A365D"/>
            </a:solidFill>
            <a:ln w="12700">
              <a:solidFill>
                <a:srgbClr val="1A365D"/>
              </a:solidFill>
              <a:prstDash val="solid"/>
            </a:ln>
          </p:spPr>
          <p:txBody>
            <a:bodyPr/>
            <a:lstStyle/>
            <a:p>
              <a:endParaRPr/>
            </a:p>
          </p:txBody>
        </p:sp>
        <p:sp>
          <p:nvSpPr>
            <p:cNvPr id="36" name="Text 34"/>
            <p:cNvSpPr/>
            <p:nvPr/>
          </p:nvSpPr>
          <p:spPr>
            <a:xfrm>
              <a:off x="3360420" y="2880360"/>
              <a:ext cx="2503170" cy="274320"/>
            </a:xfrm>
            <a:prstGeom prst="rect">
              <a:avLst/>
            </a:prstGeom>
            <a:noFill/>
            <a:ln/>
          </p:spPr>
          <p:txBody>
            <a:bodyPr wrap="square" lIns="0" tIns="0" rIns="0" bIns="0" rtlCol="0" anchor="ctr"/>
            <a:lstStyle/>
            <a:p>
              <a:r>
                <a:rPr lang="en-US" sz="1050" b="1" dirty="0">
                  <a:solidFill>
                    <a:srgbClr val="0F223E"/>
                  </a:solidFill>
                  <a:latin typeface="Calibri"/>
                </a:rPr>
                <a:t>Why It’s Hard</a:t>
              </a:r>
              <a:endParaRPr lang="en-US" sz="1050" dirty="0"/>
            </a:p>
          </p:txBody>
        </p:sp>
        <p:sp>
          <p:nvSpPr>
            <p:cNvPr id="37" name="Text 35"/>
            <p:cNvSpPr/>
            <p:nvPr/>
          </p:nvSpPr>
          <p:spPr>
            <a:xfrm>
              <a:off x="3360420" y="3154680"/>
              <a:ext cx="2503170" cy="1131570"/>
            </a:xfrm>
            <a:prstGeom prst="rect">
              <a:avLst/>
            </a:prstGeom>
            <a:noFill/>
            <a:ln/>
          </p:spPr>
          <p:txBody>
            <a:bodyPr wrap="square" lIns="0" tIns="0" rIns="0" bIns="0" rtlCol="0" anchor="ctr"/>
            <a:lstStyle/>
            <a:p>
              <a:pPr marL="257175" indent="-257175">
                <a:spcAft>
                  <a:spcPts val="300"/>
                </a:spcAft>
                <a:buSzPct val="100000"/>
                <a:buChar char="•"/>
              </a:pPr>
              <a:r>
                <a:rPr lang="en-US" sz="1000" dirty="0">
                  <a:solidFill>
                    <a:srgbClr val="1A1F36"/>
                  </a:solidFill>
                  <a:latin typeface="Calibri"/>
                </a:rPr>
                <a:t>Requires reading 4+ sentence narrative context</a:t>
              </a:r>
              <a:endParaRPr lang="en-US" sz="1000" dirty="0"/>
            </a:p>
            <a:p>
              <a:pPr marL="257175" indent="-257175">
                <a:spcAft>
                  <a:spcPts val="300"/>
                </a:spcAft>
                <a:buSzPct val="100000"/>
                <a:buChar char="•"/>
              </a:pPr>
              <a:r>
                <a:rPr lang="en-US" sz="1000" dirty="0">
                  <a:solidFill>
                    <a:srgbClr val="1A1F36"/>
                  </a:solidFill>
                  <a:latin typeface="Calibri"/>
                </a:rPr>
                <a:t>N-gram models score near 0% accuracy</a:t>
              </a:r>
              <a:endParaRPr lang="en-US" sz="1000" dirty="0"/>
            </a:p>
            <a:p>
              <a:pPr marL="257175" indent="-257175">
                <a:spcAft>
                  <a:spcPts val="300"/>
                </a:spcAft>
                <a:buSzPct val="100000"/>
                <a:buChar char="•"/>
              </a:pPr>
              <a:r>
                <a:rPr lang="en-US" sz="1000" dirty="0">
                  <a:solidFill>
                    <a:srgbClr val="1A1F36"/>
                  </a:solidFill>
                  <a:latin typeface="Calibri"/>
                </a:rPr>
                <a:t>Tests genuine discourse comprehension, not co-occurrence</a:t>
              </a:r>
              <a:endParaRPr lang="en-US" sz="1000" dirty="0"/>
            </a:p>
          </p:txBody>
        </p:sp>
      </p:grpSp>
      <p:sp>
        <p:nvSpPr>
          <p:cNvPr id="38" name="Text 36"/>
          <p:cNvSpPr/>
          <p:nvPr/>
        </p:nvSpPr>
        <p:spPr>
          <a:xfrm>
            <a:off x="342900" y="4512564"/>
            <a:ext cx="8435340" cy="582930"/>
          </a:xfrm>
          <a:prstGeom prst="rect">
            <a:avLst/>
          </a:prstGeom>
          <a:noFill/>
          <a:ln/>
        </p:spPr>
        <p:txBody>
          <a:bodyPr wrap="square" lIns="0" tIns="0" rIns="0" bIns="0" rtlCol="0" anchor="t"/>
          <a:lstStyle/>
          <a:p>
            <a:pPr>
              <a:spcAft>
                <a:spcPts val="75"/>
              </a:spcAft>
            </a:pPr>
            <a:r>
              <a:rPr lang="en-US" sz="900" i="1" dirty="0">
                <a:solidFill>
                  <a:srgbClr val="1A1F36"/>
                </a:solidFill>
                <a:latin typeface="Calibri"/>
              </a:rPr>
              <a:t>Paperno et al. (2016). The LAMBADA dataset: Word prediction requiring a broad discourse context. ACL 2016. arXiv:1606.06031.</a:t>
            </a:r>
            <a:endParaRPr lang="en-US" sz="900" dirty="0"/>
          </a:p>
          <a:p>
            <a:pPr>
              <a:spcAft>
                <a:spcPts val="75"/>
              </a:spcAft>
            </a:pPr>
            <a:r>
              <a:rPr lang="en-US" sz="900" i="1" dirty="0">
                <a:solidFill>
                  <a:srgbClr val="1A1F36"/>
                </a:solidFill>
                <a:latin typeface="Calibri"/>
              </a:rPr>
              <a:t>Radford, Wu, Child, Luan, Amodei, Sutskever (2019). Language Models are Unsupervised Multitask Learners (GPT-2). OpenAI Technical Report.</a:t>
            </a:r>
            <a:endParaRPr lang="en-US" sz="900" dirty="0"/>
          </a:p>
        </p:txBody>
      </p:sp>
      <p:pic>
        <p:nvPicPr>
          <p:cNvPr id="6" name="Google Shape;109;p20">
            <a:extLst>
              <a:ext uri="{FF2B5EF4-FFF2-40B4-BE49-F238E27FC236}">
                <a16:creationId xmlns:a16="http://schemas.microsoft.com/office/drawing/2014/main" id="{46B495F5-1981-EB89-4C2F-184D62170E49}"/>
              </a:ext>
            </a:extLst>
          </p:cNvPr>
          <p:cNvPicPr preferRelativeResize="0"/>
          <p:nvPr/>
        </p:nvPicPr>
        <p:blipFill>
          <a:blip r:embed="rId3">
            <a:alphaModFix/>
          </a:blip>
          <a:stretch>
            <a:fillRect/>
          </a:stretch>
        </p:blipFill>
        <p:spPr>
          <a:xfrm>
            <a:off x="8369125" y="0"/>
            <a:ext cx="774877" cy="867174"/>
          </a:xfrm>
          <a:prstGeom prst="rect">
            <a:avLst/>
          </a:prstGeom>
          <a:noFill/>
          <a:ln>
            <a:noFill/>
          </a:ln>
        </p:spPr>
      </p:pic>
      <p:sp>
        <p:nvSpPr>
          <p:cNvPr id="47" name="TextBox 46">
            <a:extLst>
              <a:ext uri="{FF2B5EF4-FFF2-40B4-BE49-F238E27FC236}">
                <a16:creationId xmlns:a16="http://schemas.microsoft.com/office/drawing/2014/main" id="{406345B5-C28D-3D72-D6B8-B88CD8C9231B}"/>
              </a:ext>
            </a:extLst>
          </p:cNvPr>
          <p:cNvSpPr txBox="1"/>
          <p:nvPr/>
        </p:nvSpPr>
        <p:spPr>
          <a:xfrm>
            <a:off x="401660" y="2071439"/>
            <a:ext cx="764953" cy="261610"/>
          </a:xfrm>
          <a:prstGeom prst="rect">
            <a:avLst/>
          </a:prstGeom>
          <a:noFill/>
        </p:spPr>
        <p:txBody>
          <a:bodyPr wrap="none" rtlCol="0">
            <a:spAutoFit/>
          </a:bodyPr>
          <a:lstStyle/>
          <a:p>
            <a:r>
              <a:rPr lang="en-US" sz="1100" b="1" dirty="0">
                <a:solidFill>
                  <a:srgbClr val="FF0000"/>
                </a:solidFill>
              </a:rPr>
              <a:t>Example</a:t>
            </a:r>
          </a:p>
        </p:txBody>
      </p:sp>
      <p:pic>
        <p:nvPicPr>
          <p:cNvPr id="49" name="Picture 48">
            <a:extLst>
              <a:ext uri="{FF2B5EF4-FFF2-40B4-BE49-F238E27FC236}">
                <a16:creationId xmlns:a16="http://schemas.microsoft.com/office/drawing/2014/main" id="{E703D356-37AA-A8B8-5124-637F7C779E5F}"/>
              </a:ext>
            </a:extLst>
          </p:cNvPr>
          <p:cNvPicPr>
            <a:picLocks noChangeAspect="1"/>
          </p:cNvPicPr>
          <p:nvPr/>
        </p:nvPicPr>
        <p:blipFill>
          <a:blip r:embed="rId4"/>
          <a:stretch>
            <a:fillRect/>
          </a:stretch>
        </p:blipFill>
        <p:spPr>
          <a:xfrm>
            <a:off x="77743" y="2631170"/>
            <a:ext cx="5707421" cy="909958"/>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90F765-5E77-6A6D-FFAB-E801607D0319}"/>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43154726-37F3-79E2-D2E2-5A4C2B080320}"/>
              </a:ext>
            </a:extLst>
          </p:cNvPr>
          <p:cNvSpPr/>
          <p:nvPr/>
        </p:nvSpPr>
        <p:spPr>
          <a:xfrm>
            <a:off x="0" y="0"/>
            <a:ext cx="123444" cy="5143500"/>
          </a:xfrm>
          <a:prstGeom prst="rect">
            <a:avLst/>
          </a:prstGeom>
          <a:solidFill>
            <a:srgbClr val="1A365D"/>
          </a:solidFill>
          <a:ln w="12700">
            <a:solidFill>
              <a:srgbClr val="1A365D"/>
            </a:solidFill>
            <a:prstDash val="solid"/>
          </a:ln>
        </p:spPr>
        <p:txBody>
          <a:bodyPr/>
          <a:lstStyle/>
          <a:p>
            <a:endParaRPr/>
          </a:p>
        </p:txBody>
      </p:sp>
      <p:sp>
        <p:nvSpPr>
          <p:cNvPr id="5" name="Shape 3">
            <a:extLst>
              <a:ext uri="{FF2B5EF4-FFF2-40B4-BE49-F238E27FC236}">
                <a16:creationId xmlns:a16="http://schemas.microsoft.com/office/drawing/2014/main" id="{4E39FC23-61E1-7301-A3E6-4F0E4E909BA3}"/>
              </a:ext>
            </a:extLst>
          </p:cNvPr>
          <p:cNvSpPr/>
          <p:nvPr/>
        </p:nvSpPr>
        <p:spPr>
          <a:xfrm>
            <a:off x="342900" y="4457700"/>
            <a:ext cx="8435340" cy="0"/>
          </a:xfrm>
          <a:prstGeom prst="line">
            <a:avLst/>
          </a:prstGeom>
          <a:noFill/>
          <a:ln w="9525">
            <a:solidFill>
              <a:srgbClr val="CBD5E0"/>
            </a:solidFill>
            <a:prstDash val="solid"/>
          </a:ln>
        </p:spPr>
        <p:txBody>
          <a:bodyPr/>
          <a:lstStyle/>
          <a:p>
            <a:endParaRPr/>
          </a:p>
        </p:txBody>
      </p:sp>
      <p:sp>
        <p:nvSpPr>
          <p:cNvPr id="7" name="Text 5">
            <a:extLst>
              <a:ext uri="{FF2B5EF4-FFF2-40B4-BE49-F238E27FC236}">
                <a16:creationId xmlns:a16="http://schemas.microsoft.com/office/drawing/2014/main" id="{F786B272-0580-C484-18F3-646C721C686F}"/>
              </a:ext>
            </a:extLst>
          </p:cNvPr>
          <p:cNvSpPr/>
          <p:nvPr/>
        </p:nvSpPr>
        <p:spPr>
          <a:xfrm>
            <a:off x="342900" y="293203"/>
            <a:ext cx="8435340" cy="617220"/>
          </a:xfrm>
          <a:prstGeom prst="rect">
            <a:avLst/>
          </a:prstGeom>
          <a:noFill/>
          <a:ln/>
        </p:spPr>
        <p:txBody>
          <a:bodyPr wrap="square" lIns="0" tIns="0" rIns="0" bIns="0" rtlCol="0" anchor="ctr"/>
          <a:lstStyle/>
          <a:p>
            <a:r>
              <a:rPr lang="en-US" sz="2250" b="1" dirty="0">
                <a:solidFill>
                  <a:srgbClr val="1E2761"/>
                </a:solidFill>
                <a:latin typeface="Georgia"/>
              </a:rPr>
              <a:t>LAMBADA: Measuring Long-Range Text </a:t>
            </a:r>
          </a:p>
          <a:p>
            <a:r>
              <a:rPr lang="en-US" sz="2250" b="1" dirty="0">
                <a:solidFill>
                  <a:srgbClr val="1E2761"/>
                </a:solidFill>
                <a:latin typeface="Georgia"/>
              </a:rPr>
              <a:t>Understanding</a:t>
            </a:r>
            <a:endParaRPr lang="en-US" sz="2250" dirty="0"/>
          </a:p>
        </p:txBody>
      </p:sp>
      <p:sp>
        <p:nvSpPr>
          <p:cNvPr id="8" name="Text 6">
            <a:extLst>
              <a:ext uri="{FF2B5EF4-FFF2-40B4-BE49-F238E27FC236}">
                <a16:creationId xmlns:a16="http://schemas.microsoft.com/office/drawing/2014/main" id="{D43E0FC0-5645-EB83-8E48-60FAA6EF9D8A}"/>
              </a:ext>
            </a:extLst>
          </p:cNvPr>
          <p:cNvSpPr/>
          <p:nvPr/>
        </p:nvSpPr>
        <p:spPr>
          <a:xfrm>
            <a:off x="342900" y="1190709"/>
            <a:ext cx="4442394" cy="1337310"/>
          </a:xfrm>
          <a:prstGeom prst="rect">
            <a:avLst/>
          </a:prstGeom>
          <a:noFill/>
          <a:ln/>
        </p:spPr>
        <p:txBody>
          <a:bodyPr wrap="square" lIns="0" tIns="0" rIns="0" bIns="0" rtlCol="0" anchor="ctr"/>
          <a:lstStyle/>
          <a:p>
            <a:pPr>
              <a:spcAft>
                <a:spcPts val="300"/>
              </a:spcAft>
            </a:pPr>
            <a:r>
              <a:rPr lang="en-US" sz="1200" dirty="0">
                <a:solidFill>
                  <a:srgbClr val="1A1F36"/>
                </a:solidFill>
                <a:latin typeface="Calibri"/>
              </a:rPr>
              <a:t>LAMBADA (Language Modeling Broadened to Account for Discourse Aspects) tests a model’s ability to predict the last word of a narrative passage where local context alone is insufficient — the entire discourse is required.</a:t>
            </a:r>
          </a:p>
          <a:p>
            <a:pPr>
              <a:spcAft>
                <a:spcPts val="300"/>
              </a:spcAft>
            </a:pPr>
            <a:endParaRPr lang="en-US" sz="1200" dirty="0">
              <a:solidFill>
                <a:srgbClr val="2D3748"/>
              </a:solidFill>
              <a:latin typeface="Calibri" pitchFamily="34" charset="0"/>
            </a:endParaRPr>
          </a:p>
          <a:p>
            <a:pPr>
              <a:spcAft>
                <a:spcPts val="300"/>
              </a:spcAft>
            </a:pPr>
            <a:r>
              <a:rPr lang="en-US" sz="1200" dirty="0">
                <a:solidFill>
                  <a:srgbClr val="1A1F36"/>
                </a:solidFill>
                <a:latin typeface="Calibri"/>
              </a:rPr>
              <a:t>GPT-2 (1.5B) surpassed the prior state of the art in zero-shot mode — no task-specific training — across multiple long-range cloze benchmarks.</a:t>
            </a:r>
            <a:endParaRPr lang="en-US" sz="1200" dirty="0"/>
          </a:p>
        </p:txBody>
      </p:sp>
      <p:grpSp>
        <p:nvGrpSpPr>
          <p:cNvPr id="42" name="Group 41">
            <a:extLst>
              <a:ext uri="{FF2B5EF4-FFF2-40B4-BE49-F238E27FC236}">
                <a16:creationId xmlns:a16="http://schemas.microsoft.com/office/drawing/2014/main" id="{4629FE82-6F9D-D3E7-720C-771ADC4C347F}"/>
              </a:ext>
            </a:extLst>
          </p:cNvPr>
          <p:cNvGrpSpPr/>
          <p:nvPr/>
        </p:nvGrpSpPr>
        <p:grpSpPr>
          <a:xfrm>
            <a:off x="5212080" y="1034661"/>
            <a:ext cx="3682944" cy="1580819"/>
            <a:chOff x="5314950" y="1508760"/>
            <a:chExt cx="3463290" cy="1337310"/>
          </a:xfrm>
        </p:grpSpPr>
        <p:sp>
          <p:nvSpPr>
            <p:cNvPr id="9" name="Shape 7">
              <a:extLst>
                <a:ext uri="{FF2B5EF4-FFF2-40B4-BE49-F238E27FC236}">
                  <a16:creationId xmlns:a16="http://schemas.microsoft.com/office/drawing/2014/main" id="{2EFD9A62-394A-7981-B500-09360C2C2623}"/>
                </a:ext>
              </a:extLst>
            </p:cNvPr>
            <p:cNvSpPr/>
            <p:nvPr/>
          </p:nvSpPr>
          <p:spPr>
            <a:xfrm>
              <a:off x="5314950" y="1508760"/>
              <a:ext cx="3463290" cy="1337310"/>
            </a:xfrm>
            <a:prstGeom prst="rect">
              <a:avLst/>
            </a:prstGeom>
            <a:solidFill>
              <a:srgbClr val="FFFFFF"/>
            </a:solidFill>
            <a:ln w="9525">
              <a:solidFill>
                <a:srgbClr val="E2E8F0"/>
              </a:solidFill>
              <a:prstDash val="solid"/>
            </a:ln>
          </p:spPr>
          <p:txBody>
            <a:bodyPr/>
            <a:lstStyle/>
            <a:p>
              <a:endParaRPr/>
            </a:p>
          </p:txBody>
        </p:sp>
        <p:sp>
          <p:nvSpPr>
            <p:cNvPr id="10" name="Shape 8">
              <a:extLst>
                <a:ext uri="{FF2B5EF4-FFF2-40B4-BE49-F238E27FC236}">
                  <a16:creationId xmlns:a16="http://schemas.microsoft.com/office/drawing/2014/main" id="{D8C7979C-5B7D-4C59-6442-594F452B227E}"/>
                </a:ext>
              </a:extLst>
            </p:cNvPr>
            <p:cNvSpPr/>
            <p:nvPr/>
          </p:nvSpPr>
          <p:spPr>
            <a:xfrm>
              <a:off x="5314950" y="1508760"/>
              <a:ext cx="41148" cy="1337310"/>
            </a:xfrm>
            <a:prstGeom prst="rect">
              <a:avLst/>
            </a:prstGeom>
            <a:solidFill>
              <a:srgbClr val="8B6914"/>
            </a:solidFill>
            <a:ln w="12700">
              <a:solidFill>
                <a:srgbClr val="8B6914"/>
              </a:solidFill>
              <a:prstDash val="solid"/>
            </a:ln>
          </p:spPr>
          <p:txBody>
            <a:bodyPr/>
            <a:lstStyle/>
            <a:p>
              <a:endParaRPr/>
            </a:p>
          </p:txBody>
        </p:sp>
        <p:sp>
          <p:nvSpPr>
            <p:cNvPr id="11" name="Text 9">
              <a:extLst>
                <a:ext uri="{FF2B5EF4-FFF2-40B4-BE49-F238E27FC236}">
                  <a16:creationId xmlns:a16="http://schemas.microsoft.com/office/drawing/2014/main" id="{62A42DF6-A070-57CA-F8C0-74D51DCEAE12}"/>
                </a:ext>
              </a:extLst>
            </p:cNvPr>
            <p:cNvSpPr/>
            <p:nvPr/>
          </p:nvSpPr>
          <p:spPr>
            <a:xfrm>
              <a:off x="5465826" y="1577340"/>
              <a:ext cx="3223260" cy="150876"/>
            </a:xfrm>
            <a:prstGeom prst="rect">
              <a:avLst/>
            </a:prstGeom>
            <a:noFill/>
            <a:ln/>
          </p:spPr>
          <p:txBody>
            <a:bodyPr wrap="square" lIns="0" tIns="0" rIns="0" bIns="0" rtlCol="0" anchor="ctr"/>
            <a:lstStyle/>
            <a:p>
              <a:r>
                <a:rPr lang="en-US" sz="900" b="1" spc="300" dirty="0">
                  <a:solidFill>
                    <a:srgbClr val="8B6914"/>
                  </a:solidFill>
                  <a:latin typeface="Calibri"/>
                </a:rPr>
                <a:t>KEY RESULT · ZERO-SHOT BENCHMARKS</a:t>
              </a:r>
              <a:endParaRPr lang="en-US" sz="900" dirty="0"/>
            </a:p>
          </p:txBody>
        </p:sp>
        <p:sp>
          <p:nvSpPr>
            <p:cNvPr id="12" name="Text 10">
              <a:extLst>
                <a:ext uri="{FF2B5EF4-FFF2-40B4-BE49-F238E27FC236}">
                  <a16:creationId xmlns:a16="http://schemas.microsoft.com/office/drawing/2014/main" id="{7C760E84-C869-7716-7A41-EB456A7750D3}"/>
                </a:ext>
              </a:extLst>
            </p:cNvPr>
            <p:cNvSpPr/>
            <p:nvPr/>
          </p:nvSpPr>
          <p:spPr>
            <a:xfrm>
              <a:off x="5465826" y="1714500"/>
              <a:ext cx="3223260" cy="192024"/>
            </a:xfrm>
            <a:prstGeom prst="rect">
              <a:avLst/>
            </a:prstGeom>
            <a:noFill/>
            <a:ln/>
          </p:spPr>
          <p:txBody>
            <a:bodyPr wrap="square" lIns="0" tIns="0" rIns="0" bIns="0" rtlCol="0" anchor="ctr"/>
            <a:lstStyle/>
            <a:p>
              <a:r>
                <a:rPr lang="en-US" sz="1050" b="1" dirty="0">
                  <a:solidFill>
                    <a:srgbClr val="0F223E"/>
                  </a:solidFill>
                  <a:latin typeface="Calibri"/>
                </a:rPr>
                <a:t>GPT-2 1.5B zero-shot accuracy (2019)</a:t>
              </a:r>
              <a:endParaRPr lang="en-US" sz="1050" dirty="0"/>
            </a:p>
          </p:txBody>
        </p:sp>
        <p:sp>
          <p:nvSpPr>
            <p:cNvPr id="13" name="Text 11">
              <a:extLst>
                <a:ext uri="{FF2B5EF4-FFF2-40B4-BE49-F238E27FC236}">
                  <a16:creationId xmlns:a16="http://schemas.microsoft.com/office/drawing/2014/main" id="{D99603AA-655C-A06A-3879-5784CECD1981}"/>
                </a:ext>
              </a:extLst>
            </p:cNvPr>
            <p:cNvSpPr/>
            <p:nvPr/>
          </p:nvSpPr>
          <p:spPr>
            <a:xfrm>
              <a:off x="5465826" y="1989892"/>
              <a:ext cx="1268730" cy="160735"/>
            </a:xfrm>
            <a:prstGeom prst="rect">
              <a:avLst/>
            </a:prstGeom>
            <a:noFill/>
            <a:ln/>
          </p:spPr>
          <p:txBody>
            <a:bodyPr wrap="square" lIns="0" tIns="0" rIns="0" bIns="0" rtlCol="0" anchor="ctr"/>
            <a:lstStyle/>
            <a:p>
              <a:r>
                <a:rPr lang="en-US" sz="900" dirty="0">
                  <a:solidFill>
                    <a:srgbClr val="1A1F36"/>
                  </a:solidFill>
                  <a:latin typeface="Calibri"/>
                </a:rPr>
                <a:t>LAMBADA (cloze)</a:t>
              </a:r>
              <a:endParaRPr lang="en-US" sz="900" dirty="0"/>
            </a:p>
          </p:txBody>
        </p:sp>
        <p:sp>
          <p:nvSpPr>
            <p:cNvPr id="14" name="Shape 12">
              <a:extLst>
                <a:ext uri="{FF2B5EF4-FFF2-40B4-BE49-F238E27FC236}">
                  <a16:creationId xmlns:a16="http://schemas.microsoft.com/office/drawing/2014/main" id="{BED30347-BA00-D7B4-FC4C-CD888F342B1C}"/>
                </a:ext>
              </a:extLst>
            </p:cNvPr>
            <p:cNvSpPr/>
            <p:nvPr/>
          </p:nvSpPr>
          <p:spPr>
            <a:xfrm>
              <a:off x="6768846" y="2017324"/>
              <a:ext cx="1508760" cy="105871"/>
            </a:xfrm>
            <a:prstGeom prst="rect">
              <a:avLst/>
            </a:prstGeom>
            <a:solidFill>
              <a:srgbClr val="EDF2F7"/>
            </a:solidFill>
            <a:ln w="12700">
              <a:solidFill>
                <a:srgbClr val="EDF2F7"/>
              </a:solidFill>
              <a:prstDash val="solid"/>
            </a:ln>
          </p:spPr>
          <p:txBody>
            <a:bodyPr/>
            <a:lstStyle/>
            <a:p>
              <a:endParaRPr/>
            </a:p>
          </p:txBody>
        </p:sp>
        <p:sp>
          <p:nvSpPr>
            <p:cNvPr id="15" name="Shape 13">
              <a:extLst>
                <a:ext uri="{FF2B5EF4-FFF2-40B4-BE49-F238E27FC236}">
                  <a16:creationId xmlns:a16="http://schemas.microsoft.com/office/drawing/2014/main" id="{14C43C14-096E-C0D8-3262-5872FB36731D}"/>
                </a:ext>
              </a:extLst>
            </p:cNvPr>
            <p:cNvSpPr/>
            <p:nvPr/>
          </p:nvSpPr>
          <p:spPr>
            <a:xfrm>
              <a:off x="6768846" y="2017324"/>
              <a:ext cx="953538" cy="105871"/>
            </a:xfrm>
            <a:prstGeom prst="rect">
              <a:avLst/>
            </a:prstGeom>
            <a:solidFill>
              <a:srgbClr val="4A5568"/>
            </a:solidFill>
            <a:ln w="12700">
              <a:solidFill>
                <a:srgbClr val="4A5568"/>
              </a:solidFill>
              <a:prstDash val="solid"/>
            </a:ln>
          </p:spPr>
          <p:txBody>
            <a:bodyPr/>
            <a:lstStyle/>
            <a:p>
              <a:endParaRPr/>
            </a:p>
          </p:txBody>
        </p:sp>
        <p:sp>
          <p:nvSpPr>
            <p:cNvPr id="16" name="Text 14">
              <a:extLst>
                <a:ext uri="{FF2B5EF4-FFF2-40B4-BE49-F238E27FC236}">
                  <a16:creationId xmlns:a16="http://schemas.microsoft.com/office/drawing/2014/main" id="{E121639E-3985-5D81-9287-14E160D154D5}"/>
                </a:ext>
              </a:extLst>
            </p:cNvPr>
            <p:cNvSpPr/>
            <p:nvPr/>
          </p:nvSpPr>
          <p:spPr>
            <a:xfrm>
              <a:off x="8332470" y="1989892"/>
              <a:ext cx="377190" cy="160735"/>
            </a:xfrm>
            <a:prstGeom prst="rect">
              <a:avLst/>
            </a:prstGeom>
            <a:noFill/>
            <a:ln/>
          </p:spPr>
          <p:txBody>
            <a:bodyPr wrap="square" lIns="0" tIns="0" rIns="0" bIns="0" rtlCol="0" anchor="ctr"/>
            <a:lstStyle/>
            <a:p>
              <a:r>
                <a:rPr lang="en-US" sz="900" dirty="0">
                  <a:solidFill>
                    <a:srgbClr val="1A1F36"/>
                  </a:solidFill>
                  <a:latin typeface="Calibri"/>
                </a:rPr>
                <a:t>63.2%</a:t>
              </a:r>
              <a:endParaRPr lang="en-US" sz="900" dirty="0"/>
            </a:p>
          </p:txBody>
        </p:sp>
        <p:sp>
          <p:nvSpPr>
            <p:cNvPr id="17" name="Text 15">
              <a:extLst>
                <a:ext uri="{FF2B5EF4-FFF2-40B4-BE49-F238E27FC236}">
                  <a16:creationId xmlns:a16="http://schemas.microsoft.com/office/drawing/2014/main" id="{20581E02-F937-254E-A1DE-584B5D71C308}"/>
                </a:ext>
              </a:extLst>
            </p:cNvPr>
            <p:cNvSpPr/>
            <p:nvPr/>
          </p:nvSpPr>
          <p:spPr>
            <a:xfrm>
              <a:off x="5465826" y="2152770"/>
              <a:ext cx="1268730" cy="160735"/>
            </a:xfrm>
            <a:prstGeom prst="rect">
              <a:avLst/>
            </a:prstGeom>
            <a:noFill/>
            <a:ln/>
          </p:spPr>
          <p:txBody>
            <a:bodyPr wrap="square" lIns="0" tIns="0" rIns="0" bIns="0" rtlCol="0" anchor="ctr"/>
            <a:lstStyle/>
            <a:p>
              <a:r>
                <a:rPr lang="en-US" sz="900" dirty="0">
                  <a:solidFill>
                    <a:srgbClr val="1A1F36"/>
                  </a:solidFill>
                  <a:latin typeface="Calibri"/>
                </a:rPr>
                <a:t>CBT-NE (named ent.)</a:t>
              </a:r>
              <a:endParaRPr lang="en-US" sz="900" dirty="0"/>
            </a:p>
          </p:txBody>
        </p:sp>
        <p:sp>
          <p:nvSpPr>
            <p:cNvPr id="18" name="Shape 16">
              <a:extLst>
                <a:ext uri="{FF2B5EF4-FFF2-40B4-BE49-F238E27FC236}">
                  <a16:creationId xmlns:a16="http://schemas.microsoft.com/office/drawing/2014/main" id="{935FE35E-732F-FD3C-9AC7-6F9B0E14FC57}"/>
                </a:ext>
              </a:extLst>
            </p:cNvPr>
            <p:cNvSpPr/>
            <p:nvPr/>
          </p:nvSpPr>
          <p:spPr>
            <a:xfrm>
              <a:off x="6768846" y="2180202"/>
              <a:ext cx="1508760" cy="105871"/>
            </a:xfrm>
            <a:prstGeom prst="rect">
              <a:avLst/>
            </a:prstGeom>
            <a:solidFill>
              <a:srgbClr val="EDF2F7"/>
            </a:solidFill>
            <a:ln w="12700">
              <a:solidFill>
                <a:srgbClr val="EDF2F7"/>
              </a:solidFill>
              <a:prstDash val="solid"/>
            </a:ln>
          </p:spPr>
          <p:txBody>
            <a:bodyPr/>
            <a:lstStyle/>
            <a:p>
              <a:endParaRPr/>
            </a:p>
          </p:txBody>
        </p:sp>
        <p:sp>
          <p:nvSpPr>
            <p:cNvPr id="19" name="Shape 17">
              <a:extLst>
                <a:ext uri="{FF2B5EF4-FFF2-40B4-BE49-F238E27FC236}">
                  <a16:creationId xmlns:a16="http://schemas.microsoft.com/office/drawing/2014/main" id="{7A77E318-703F-1418-D6BA-9AA94A1C5AC5}"/>
                </a:ext>
              </a:extLst>
            </p:cNvPr>
            <p:cNvSpPr/>
            <p:nvPr/>
          </p:nvSpPr>
          <p:spPr>
            <a:xfrm>
              <a:off x="6768846" y="2180202"/>
              <a:ext cx="1342796" cy="105871"/>
            </a:xfrm>
            <a:prstGeom prst="rect">
              <a:avLst/>
            </a:prstGeom>
            <a:solidFill>
              <a:srgbClr val="0F223E"/>
            </a:solidFill>
            <a:ln w="12700">
              <a:solidFill>
                <a:srgbClr val="0F223E"/>
              </a:solidFill>
              <a:prstDash val="solid"/>
            </a:ln>
          </p:spPr>
          <p:txBody>
            <a:bodyPr/>
            <a:lstStyle/>
            <a:p>
              <a:endParaRPr/>
            </a:p>
          </p:txBody>
        </p:sp>
        <p:sp>
          <p:nvSpPr>
            <p:cNvPr id="20" name="Text 18">
              <a:extLst>
                <a:ext uri="{FF2B5EF4-FFF2-40B4-BE49-F238E27FC236}">
                  <a16:creationId xmlns:a16="http://schemas.microsoft.com/office/drawing/2014/main" id="{6391BA61-9270-C8EE-9634-04EE8068D459}"/>
                </a:ext>
              </a:extLst>
            </p:cNvPr>
            <p:cNvSpPr/>
            <p:nvPr/>
          </p:nvSpPr>
          <p:spPr>
            <a:xfrm>
              <a:off x="8332470" y="2152770"/>
              <a:ext cx="377190" cy="160735"/>
            </a:xfrm>
            <a:prstGeom prst="rect">
              <a:avLst/>
            </a:prstGeom>
            <a:noFill/>
            <a:ln/>
          </p:spPr>
          <p:txBody>
            <a:bodyPr wrap="square" lIns="0" tIns="0" rIns="0" bIns="0" rtlCol="0" anchor="ctr"/>
            <a:lstStyle/>
            <a:p>
              <a:r>
                <a:rPr lang="en-US" sz="900" b="1" dirty="0">
                  <a:solidFill>
                    <a:srgbClr val="0F223E"/>
                  </a:solidFill>
                  <a:latin typeface="Calibri"/>
                </a:rPr>
                <a:t>89.0%</a:t>
              </a:r>
              <a:endParaRPr lang="en-US" sz="900" dirty="0"/>
            </a:p>
          </p:txBody>
        </p:sp>
        <p:sp>
          <p:nvSpPr>
            <p:cNvPr id="21" name="Text 19">
              <a:extLst>
                <a:ext uri="{FF2B5EF4-FFF2-40B4-BE49-F238E27FC236}">
                  <a16:creationId xmlns:a16="http://schemas.microsoft.com/office/drawing/2014/main" id="{67B1648F-13E3-D172-8B23-F1E9474566CF}"/>
                </a:ext>
              </a:extLst>
            </p:cNvPr>
            <p:cNvSpPr/>
            <p:nvPr/>
          </p:nvSpPr>
          <p:spPr>
            <a:xfrm>
              <a:off x="5465826" y="2315647"/>
              <a:ext cx="1268730" cy="160735"/>
            </a:xfrm>
            <a:prstGeom prst="rect">
              <a:avLst/>
            </a:prstGeom>
            <a:noFill/>
            <a:ln/>
          </p:spPr>
          <p:txBody>
            <a:bodyPr wrap="square" lIns="0" tIns="0" rIns="0" bIns="0" rtlCol="0" anchor="ctr"/>
            <a:lstStyle/>
            <a:p>
              <a:r>
                <a:rPr lang="en-US" sz="900" dirty="0">
                  <a:solidFill>
                    <a:srgbClr val="1A1F36"/>
                  </a:solidFill>
                  <a:latin typeface="Calibri"/>
                </a:rPr>
                <a:t>CBT-CN (common nouns)</a:t>
              </a:r>
              <a:endParaRPr lang="en-US" sz="900" dirty="0"/>
            </a:p>
          </p:txBody>
        </p:sp>
        <p:sp>
          <p:nvSpPr>
            <p:cNvPr id="22" name="Shape 20">
              <a:extLst>
                <a:ext uri="{FF2B5EF4-FFF2-40B4-BE49-F238E27FC236}">
                  <a16:creationId xmlns:a16="http://schemas.microsoft.com/office/drawing/2014/main" id="{1DF4484D-0E4F-C86E-B17E-75FEE319F1DE}"/>
                </a:ext>
              </a:extLst>
            </p:cNvPr>
            <p:cNvSpPr/>
            <p:nvPr/>
          </p:nvSpPr>
          <p:spPr>
            <a:xfrm>
              <a:off x="6768846" y="2343079"/>
              <a:ext cx="1508760" cy="105871"/>
            </a:xfrm>
            <a:prstGeom prst="rect">
              <a:avLst/>
            </a:prstGeom>
            <a:solidFill>
              <a:srgbClr val="EDF2F7"/>
            </a:solidFill>
            <a:ln w="12700">
              <a:solidFill>
                <a:srgbClr val="EDF2F7"/>
              </a:solidFill>
              <a:prstDash val="solid"/>
            </a:ln>
          </p:spPr>
          <p:txBody>
            <a:bodyPr/>
            <a:lstStyle/>
            <a:p>
              <a:endParaRPr/>
            </a:p>
          </p:txBody>
        </p:sp>
        <p:sp>
          <p:nvSpPr>
            <p:cNvPr id="23" name="Shape 21">
              <a:extLst>
                <a:ext uri="{FF2B5EF4-FFF2-40B4-BE49-F238E27FC236}">
                  <a16:creationId xmlns:a16="http://schemas.microsoft.com/office/drawing/2014/main" id="{FA436E69-BAA1-4B5E-43D9-C144528AFC00}"/>
                </a:ext>
              </a:extLst>
            </p:cNvPr>
            <p:cNvSpPr/>
            <p:nvPr/>
          </p:nvSpPr>
          <p:spPr>
            <a:xfrm>
              <a:off x="6768846" y="2343079"/>
              <a:ext cx="1324687" cy="105871"/>
            </a:xfrm>
            <a:prstGeom prst="rect">
              <a:avLst/>
            </a:prstGeom>
            <a:solidFill>
              <a:srgbClr val="4A5568"/>
            </a:solidFill>
            <a:ln w="12700">
              <a:solidFill>
                <a:srgbClr val="4A5568"/>
              </a:solidFill>
              <a:prstDash val="solid"/>
            </a:ln>
          </p:spPr>
          <p:txBody>
            <a:bodyPr/>
            <a:lstStyle/>
            <a:p>
              <a:endParaRPr/>
            </a:p>
          </p:txBody>
        </p:sp>
        <p:sp>
          <p:nvSpPr>
            <p:cNvPr id="24" name="Text 22">
              <a:extLst>
                <a:ext uri="{FF2B5EF4-FFF2-40B4-BE49-F238E27FC236}">
                  <a16:creationId xmlns:a16="http://schemas.microsoft.com/office/drawing/2014/main" id="{D344D8C8-4EBB-3039-CFD1-1710B698EE3E}"/>
                </a:ext>
              </a:extLst>
            </p:cNvPr>
            <p:cNvSpPr/>
            <p:nvPr/>
          </p:nvSpPr>
          <p:spPr>
            <a:xfrm>
              <a:off x="8332470" y="2315647"/>
              <a:ext cx="377190" cy="160735"/>
            </a:xfrm>
            <a:prstGeom prst="rect">
              <a:avLst/>
            </a:prstGeom>
            <a:noFill/>
            <a:ln/>
          </p:spPr>
          <p:txBody>
            <a:bodyPr wrap="square" lIns="0" tIns="0" rIns="0" bIns="0" rtlCol="0" anchor="ctr"/>
            <a:lstStyle/>
            <a:p>
              <a:r>
                <a:rPr lang="en-US" sz="900" dirty="0">
                  <a:solidFill>
                    <a:srgbClr val="1A1F36"/>
                  </a:solidFill>
                  <a:latin typeface="Calibri"/>
                </a:rPr>
                <a:t>87.8%</a:t>
              </a:r>
              <a:endParaRPr lang="en-US" sz="900" dirty="0"/>
            </a:p>
          </p:txBody>
        </p:sp>
        <p:sp>
          <p:nvSpPr>
            <p:cNvPr id="25" name="Text 23">
              <a:extLst>
                <a:ext uri="{FF2B5EF4-FFF2-40B4-BE49-F238E27FC236}">
                  <a16:creationId xmlns:a16="http://schemas.microsoft.com/office/drawing/2014/main" id="{1A7C43DE-9ECE-EF2F-F1A2-D119D65F2F81}"/>
                </a:ext>
              </a:extLst>
            </p:cNvPr>
            <p:cNvSpPr/>
            <p:nvPr/>
          </p:nvSpPr>
          <p:spPr>
            <a:xfrm>
              <a:off x="5465826" y="2478525"/>
              <a:ext cx="1268730" cy="160735"/>
            </a:xfrm>
            <a:prstGeom prst="rect">
              <a:avLst/>
            </a:prstGeom>
            <a:noFill/>
            <a:ln/>
          </p:spPr>
          <p:txBody>
            <a:bodyPr wrap="square" lIns="0" tIns="0" rIns="0" bIns="0" rtlCol="0" anchor="ctr"/>
            <a:lstStyle/>
            <a:p>
              <a:r>
                <a:rPr lang="en-US" sz="900" dirty="0">
                  <a:solidFill>
                    <a:srgbClr val="1A1F36"/>
                  </a:solidFill>
                  <a:latin typeface="Calibri"/>
                </a:rPr>
                <a:t>Winograd (coref.)</a:t>
              </a:r>
              <a:endParaRPr lang="en-US" sz="900" dirty="0"/>
            </a:p>
          </p:txBody>
        </p:sp>
        <p:sp>
          <p:nvSpPr>
            <p:cNvPr id="26" name="Shape 24">
              <a:extLst>
                <a:ext uri="{FF2B5EF4-FFF2-40B4-BE49-F238E27FC236}">
                  <a16:creationId xmlns:a16="http://schemas.microsoft.com/office/drawing/2014/main" id="{4C5203E7-E288-A196-B33E-B8E2AC2A8BB6}"/>
                </a:ext>
              </a:extLst>
            </p:cNvPr>
            <p:cNvSpPr/>
            <p:nvPr/>
          </p:nvSpPr>
          <p:spPr>
            <a:xfrm>
              <a:off x="6768846" y="2505957"/>
              <a:ext cx="1508760" cy="105871"/>
            </a:xfrm>
            <a:prstGeom prst="rect">
              <a:avLst/>
            </a:prstGeom>
            <a:solidFill>
              <a:srgbClr val="EDF2F7"/>
            </a:solidFill>
            <a:ln w="12700">
              <a:solidFill>
                <a:srgbClr val="EDF2F7"/>
              </a:solidFill>
              <a:prstDash val="solid"/>
            </a:ln>
          </p:spPr>
          <p:txBody>
            <a:bodyPr/>
            <a:lstStyle/>
            <a:p>
              <a:endParaRPr/>
            </a:p>
          </p:txBody>
        </p:sp>
        <p:sp>
          <p:nvSpPr>
            <p:cNvPr id="27" name="Shape 25">
              <a:extLst>
                <a:ext uri="{FF2B5EF4-FFF2-40B4-BE49-F238E27FC236}">
                  <a16:creationId xmlns:a16="http://schemas.microsoft.com/office/drawing/2014/main" id="{D2EC6A66-6C88-62DA-B0FE-C9FB5E549E13}"/>
                </a:ext>
              </a:extLst>
            </p:cNvPr>
            <p:cNvSpPr/>
            <p:nvPr/>
          </p:nvSpPr>
          <p:spPr>
            <a:xfrm>
              <a:off x="6768846" y="2505957"/>
              <a:ext cx="1066695" cy="105871"/>
            </a:xfrm>
            <a:prstGeom prst="rect">
              <a:avLst/>
            </a:prstGeom>
            <a:solidFill>
              <a:srgbClr val="4A5568"/>
            </a:solidFill>
            <a:ln w="12700">
              <a:solidFill>
                <a:srgbClr val="4A5568"/>
              </a:solidFill>
              <a:prstDash val="solid"/>
            </a:ln>
          </p:spPr>
          <p:txBody>
            <a:bodyPr/>
            <a:lstStyle/>
            <a:p>
              <a:endParaRPr/>
            </a:p>
          </p:txBody>
        </p:sp>
        <p:sp>
          <p:nvSpPr>
            <p:cNvPr id="28" name="Text 26">
              <a:extLst>
                <a:ext uri="{FF2B5EF4-FFF2-40B4-BE49-F238E27FC236}">
                  <a16:creationId xmlns:a16="http://schemas.microsoft.com/office/drawing/2014/main" id="{AE7A7193-4848-474E-B3BB-F7E930A03DF1}"/>
                </a:ext>
              </a:extLst>
            </p:cNvPr>
            <p:cNvSpPr/>
            <p:nvPr/>
          </p:nvSpPr>
          <p:spPr>
            <a:xfrm>
              <a:off x="8332470" y="2478525"/>
              <a:ext cx="377190" cy="160735"/>
            </a:xfrm>
            <a:prstGeom prst="rect">
              <a:avLst/>
            </a:prstGeom>
            <a:noFill/>
            <a:ln/>
          </p:spPr>
          <p:txBody>
            <a:bodyPr wrap="square" lIns="0" tIns="0" rIns="0" bIns="0" rtlCol="0" anchor="ctr"/>
            <a:lstStyle/>
            <a:p>
              <a:r>
                <a:rPr lang="en-US" sz="900" dirty="0">
                  <a:solidFill>
                    <a:srgbClr val="1A1F36"/>
                  </a:solidFill>
                  <a:latin typeface="Calibri"/>
                </a:rPr>
                <a:t>70.7%</a:t>
              </a:r>
              <a:endParaRPr lang="en-US" sz="900" dirty="0"/>
            </a:p>
          </p:txBody>
        </p:sp>
        <p:sp>
          <p:nvSpPr>
            <p:cNvPr id="29" name="Text 27">
              <a:extLst>
                <a:ext uri="{FF2B5EF4-FFF2-40B4-BE49-F238E27FC236}">
                  <a16:creationId xmlns:a16="http://schemas.microsoft.com/office/drawing/2014/main" id="{B3328BBA-E556-CDBF-E1DB-991EDCBD73DD}"/>
                </a:ext>
              </a:extLst>
            </p:cNvPr>
            <p:cNvSpPr/>
            <p:nvPr/>
          </p:nvSpPr>
          <p:spPr>
            <a:xfrm>
              <a:off x="5465826" y="2654046"/>
              <a:ext cx="3223260" cy="150876"/>
            </a:xfrm>
            <a:prstGeom prst="rect">
              <a:avLst/>
            </a:prstGeom>
            <a:noFill/>
            <a:ln/>
          </p:spPr>
          <p:txBody>
            <a:bodyPr wrap="square" lIns="0" tIns="0" rIns="0" bIns="0" rtlCol="0" anchor="ctr"/>
            <a:lstStyle/>
            <a:p>
              <a:r>
                <a:rPr lang="en-US" sz="800" i="1" dirty="0">
                  <a:solidFill>
                    <a:srgbClr val="1A1F36"/>
                  </a:solidFill>
                  <a:latin typeface="Calibri"/>
                </a:rPr>
                <a:t>Radford et al. (2019). GPT-2, Table 4. Zero-shot on each benchmark.</a:t>
              </a:r>
              <a:endParaRPr lang="en-US" sz="800" dirty="0"/>
            </a:p>
          </p:txBody>
        </p:sp>
      </p:grpSp>
      <p:grpSp>
        <p:nvGrpSpPr>
          <p:cNvPr id="41" name="Group 40">
            <a:extLst>
              <a:ext uri="{FF2B5EF4-FFF2-40B4-BE49-F238E27FC236}">
                <a16:creationId xmlns:a16="http://schemas.microsoft.com/office/drawing/2014/main" id="{CB84529B-6D2B-EC2F-155A-FB4E89ABE8DB}"/>
              </a:ext>
            </a:extLst>
          </p:cNvPr>
          <p:cNvGrpSpPr/>
          <p:nvPr/>
        </p:nvGrpSpPr>
        <p:grpSpPr>
          <a:xfrm>
            <a:off x="218385" y="2758035"/>
            <a:ext cx="2777490" cy="1611630"/>
            <a:chOff x="342900" y="2777490"/>
            <a:chExt cx="2777490" cy="1611630"/>
          </a:xfrm>
        </p:grpSpPr>
        <p:sp>
          <p:nvSpPr>
            <p:cNvPr id="30" name="Shape 28">
              <a:extLst>
                <a:ext uri="{FF2B5EF4-FFF2-40B4-BE49-F238E27FC236}">
                  <a16:creationId xmlns:a16="http://schemas.microsoft.com/office/drawing/2014/main" id="{2B660A6E-4E55-86E2-C84F-1859BB19F906}"/>
                </a:ext>
              </a:extLst>
            </p:cNvPr>
            <p:cNvSpPr/>
            <p:nvPr/>
          </p:nvSpPr>
          <p:spPr>
            <a:xfrm>
              <a:off x="342900" y="2777490"/>
              <a:ext cx="2777490" cy="1611630"/>
            </a:xfrm>
            <a:prstGeom prst="rect">
              <a:avLst/>
            </a:prstGeom>
            <a:solidFill>
              <a:srgbClr val="F7FAFC"/>
            </a:solidFill>
            <a:ln w="9525">
              <a:solidFill>
                <a:srgbClr val="E2E8F0"/>
              </a:solidFill>
              <a:prstDash val="solid"/>
            </a:ln>
          </p:spPr>
          <p:txBody>
            <a:bodyPr/>
            <a:lstStyle/>
            <a:p>
              <a:endParaRPr/>
            </a:p>
          </p:txBody>
        </p:sp>
        <p:sp>
          <p:nvSpPr>
            <p:cNvPr id="31" name="Shape 29">
              <a:extLst>
                <a:ext uri="{FF2B5EF4-FFF2-40B4-BE49-F238E27FC236}">
                  <a16:creationId xmlns:a16="http://schemas.microsoft.com/office/drawing/2014/main" id="{98EEA45D-B009-D004-A6BA-9D3AAF5DD2B7}"/>
                </a:ext>
              </a:extLst>
            </p:cNvPr>
            <p:cNvSpPr/>
            <p:nvPr/>
          </p:nvSpPr>
          <p:spPr>
            <a:xfrm>
              <a:off x="342900" y="2777490"/>
              <a:ext cx="41148" cy="1611630"/>
            </a:xfrm>
            <a:prstGeom prst="rect">
              <a:avLst/>
            </a:prstGeom>
            <a:solidFill>
              <a:srgbClr val="1A365D"/>
            </a:solidFill>
            <a:ln w="12700">
              <a:solidFill>
                <a:srgbClr val="1A365D"/>
              </a:solidFill>
              <a:prstDash val="solid"/>
            </a:ln>
          </p:spPr>
          <p:txBody>
            <a:bodyPr/>
            <a:lstStyle/>
            <a:p>
              <a:endParaRPr/>
            </a:p>
          </p:txBody>
        </p:sp>
        <p:sp>
          <p:nvSpPr>
            <p:cNvPr id="32" name="Text 30">
              <a:extLst>
                <a:ext uri="{FF2B5EF4-FFF2-40B4-BE49-F238E27FC236}">
                  <a16:creationId xmlns:a16="http://schemas.microsoft.com/office/drawing/2014/main" id="{81D82F0A-4EDF-99E8-9CE6-3468E9641E52}"/>
                </a:ext>
              </a:extLst>
            </p:cNvPr>
            <p:cNvSpPr/>
            <p:nvPr/>
          </p:nvSpPr>
          <p:spPr>
            <a:xfrm>
              <a:off x="514350" y="2880360"/>
              <a:ext cx="2503170" cy="274320"/>
            </a:xfrm>
            <a:prstGeom prst="rect">
              <a:avLst/>
            </a:prstGeom>
            <a:noFill/>
            <a:ln/>
          </p:spPr>
          <p:txBody>
            <a:bodyPr wrap="square" lIns="0" tIns="0" rIns="0" bIns="0" rtlCol="0" anchor="ctr"/>
            <a:lstStyle/>
            <a:p>
              <a:r>
                <a:rPr lang="en-US" sz="1050" b="1" dirty="0">
                  <a:solidFill>
                    <a:srgbClr val="0F223E"/>
                  </a:solidFill>
                  <a:latin typeface="Calibri"/>
                </a:rPr>
                <a:t>LAMBADA Benchmark</a:t>
              </a:r>
              <a:endParaRPr lang="en-US" sz="1050" dirty="0"/>
            </a:p>
          </p:txBody>
        </p:sp>
        <p:sp>
          <p:nvSpPr>
            <p:cNvPr id="33" name="Text 31">
              <a:extLst>
                <a:ext uri="{FF2B5EF4-FFF2-40B4-BE49-F238E27FC236}">
                  <a16:creationId xmlns:a16="http://schemas.microsoft.com/office/drawing/2014/main" id="{4D185A67-CC0F-8CEB-BBED-6B571A548EC8}"/>
                </a:ext>
              </a:extLst>
            </p:cNvPr>
            <p:cNvSpPr/>
            <p:nvPr/>
          </p:nvSpPr>
          <p:spPr>
            <a:xfrm>
              <a:off x="514350" y="3154680"/>
              <a:ext cx="2503170" cy="1131570"/>
            </a:xfrm>
            <a:prstGeom prst="rect">
              <a:avLst/>
            </a:prstGeom>
            <a:noFill/>
            <a:ln/>
          </p:spPr>
          <p:txBody>
            <a:bodyPr wrap="square" lIns="0" tIns="0" rIns="0" bIns="0" rtlCol="0" anchor="ctr"/>
            <a:lstStyle/>
            <a:p>
              <a:pPr marL="257175" indent="-257175">
                <a:spcAft>
                  <a:spcPts val="300"/>
                </a:spcAft>
                <a:buSzPct val="100000"/>
                <a:buChar char="•"/>
              </a:pPr>
              <a:r>
                <a:rPr lang="en-US" sz="1000" dirty="0">
                  <a:solidFill>
                    <a:srgbClr val="1A1F36"/>
                  </a:solidFill>
                  <a:latin typeface="Calibri"/>
                </a:rPr>
                <a:t>Released 2016; 10K cloze-style test passages</a:t>
              </a:r>
              <a:endParaRPr lang="en-US" sz="1000" dirty="0"/>
            </a:p>
            <a:p>
              <a:pPr marL="257175" indent="-257175">
                <a:spcAft>
                  <a:spcPts val="300"/>
                </a:spcAft>
                <a:buSzPct val="100000"/>
                <a:buChar char="•"/>
              </a:pPr>
              <a:r>
                <a:rPr lang="en-US" sz="1000" dirty="0">
                  <a:solidFill>
                    <a:srgbClr val="1A1F36"/>
                  </a:solidFill>
                  <a:latin typeface="Calibri"/>
                </a:rPr>
                <a:t>Last word unpredictable from final sentence alone</a:t>
              </a:r>
              <a:endParaRPr lang="en-US" sz="1000" dirty="0"/>
            </a:p>
            <a:p>
              <a:pPr marL="257175" indent="-257175">
                <a:spcAft>
                  <a:spcPts val="300"/>
                </a:spcAft>
                <a:buSzPct val="100000"/>
                <a:buChar char="•"/>
              </a:pPr>
              <a:r>
                <a:rPr lang="en-US" sz="1000" dirty="0">
                  <a:solidFill>
                    <a:srgbClr val="1A1F36"/>
                  </a:solidFill>
                  <a:latin typeface="Calibri"/>
                </a:rPr>
                <a:t>Drawn from BookCrossing fiction dataset</a:t>
              </a:r>
              <a:endParaRPr lang="en-US" sz="1000" dirty="0"/>
            </a:p>
          </p:txBody>
        </p:sp>
      </p:grpSp>
      <p:grpSp>
        <p:nvGrpSpPr>
          <p:cNvPr id="43" name="Group 42">
            <a:extLst>
              <a:ext uri="{FF2B5EF4-FFF2-40B4-BE49-F238E27FC236}">
                <a16:creationId xmlns:a16="http://schemas.microsoft.com/office/drawing/2014/main" id="{98B4FFC3-413F-D983-364A-783E99E73720}"/>
              </a:ext>
            </a:extLst>
          </p:cNvPr>
          <p:cNvGrpSpPr/>
          <p:nvPr/>
        </p:nvGrpSpPr>
        <p:grpSpPr>
          <a:xfrm>
            <a:off x="3124120" y="2764520"/>
            <a:ext cx="2777490" cy="1611630"/>
            <a:chOff x="3188970" y="2777490"/>
            <a:chExt cx="2777490" cy="1611630"/>
          </a:xfrm>
        </p:grpSpPr>
        <p:sp>
          <p:nvSpPr>
            <p:cNvPr id="34" name="Shape 32">
              <a:extLst>
                <a:ext uri="{FF2B5EF4-FFF2-40B4-BE49-F238E27FC236}">
                  <a16:creationId xmlns:a16="http://schemas.microsoft.com/office/drawing/2014/main" id="{C49BA66F-D50A-3153-E372-65E44B122D55}"/>
                </a:ext>
              </a:extLst>
            </p:cNvPr>
            <p:cNvSpPr/>
            <p:nvPr/>
          </p:nvSpPr>
          <p:spPr>
            <a:xfrm>
              <a:off x="3188970" y="2777490"/>
              <a:ext cx="2777490" cy="1611630"/>
            </a:xfrm>
            <a:prstGeom prst="rect">
              <a:avLst/>
            </a:prstGeom>
            <a:solidFill>
              <a:srgbClr val="F7FAFC"/>
            </a:solidFill>
            <a:ln w="9525">
              <a:solidFill>
                <a:srgbClr val="E2E8F0"/>
              </a:solidFill>
              <a:prstDash val="solid"/>
            </a:ln>
          </p:spPr>
          <p:txBody>
            <a:bodyPr/>
            <a:lstStyle/>
            <a:p>
              <a:endParaRPr/>
            </a:p>
          </p:txBody>
        </p:sp>
        <p:sp>
          <p:nvSpPr>
            <p:cNvPr id="35" name="Shape 33">
              <a:extLst>
                <a:ext uri="{FF2B5EF4-FFF2-40B4-BE49-F238E27FC236}">
                  <a16:creationId xmlns:a16="http://schemas.microsoft.com/office/drawing/2014/main" id="{E94EA48C-4378-F267-998E-82D56B673CBA}"/>
                </a:ext>
              </a:extLst>
            </p:cNvPr>
            <p:cNvSpPr/>
            <p:nvPr/>
          </p:nvSpPr>
          <p:spPr>
            <a:xfrm>
              <a:off x="3188970" y="2777490"/>
              <a:ext cx="41148" cy="1611630"/>
            </a:xfrm>
            <a:prstGeom prst="rect">
              <a:avLst/>
            </a:prstGeom>
            <a:solidFill>
              <a:srgbClr val="1A365D"/>
            </a:solidFill>
            <a:ln w="12700">
              <a:solidFill>
                <a:srgbClr val="1A365D"/>
              </a:solidFill>
              <a:prstDash val="solid"/>
            </a:ln>
          </p:spPr>
          <p:txBody>
            <a:bodyPr/>
            <a:lstStyle/>
            <a:p>
              <a:endParaRPr/>
            </a:p>
          </p:txBody>
        </p:sp>
        <p:sp>
          <p:nvSpPr>
            <p:cNvPr id="36" name="Text 34">
              <a:extLst>
                <a:ext uri="{FF2B5EF4-FFF2-40B4-BE49-F238E27FC236}">
                  <a16:creationId xmlns:a16="http://schemas.microsoft.com/office/drawing/2014/main" id="{52D5F91E-F80E-0BC5-6346-2350810FE29B}"/>
                </a:ext>
              </a:extLst>
            </p:cNvPr>
            <p:cNvSpPr/>
            <p:nvPr/>
          </p:nvSpPr>
          <p:spPr>
            <a:xfrm>
              <a:off x="3360420" y="2880360"/>
              <a:ext cx="2503170" cy="274320"/>
            </a:xfrm>
            <a:prstGeom prst="rect">
              <a:avLst/>
            </a:prstGeom>
            <a:noFill/>
            <a:ln/>
          </p:spPr>
          <p:txBody>
            <a:bodyPr wrap="square" lIns="0" tIns="0" rIns="0" bIns="0" rtlCol="0" anchor="ctr"/>
            <a:lstStyle/>
            <a:p>
              <a:r>
                <a:rPr lang="en-US" sz="1050" b="1" dirty="0">
                  <a:solidFill>
                    <a:srgbClr val="0F223E"/>
                  </a:solidFill>
                  <a:latin typeface="Calibri"/>
                </a:rPr>
                <a:t>Why It’s Hard</a:t>
              </a:r>
              <a:endParaRPr lang="en-US" sz="1050" dirty="0"/>
            </a:p>
          </p:txBody>
        </p:sp>
        <p:sp>
          <p:nvSpPr>
            <p:cNvPr id="37" name="Text 35">
              <a:extLst>
                <a:ext uri="{FF2B5EF4-FFF2-40B4-BE49-F238E27FC236}">
                  <a16:creationId xmlns:a16="http://schemas.microsoft.com/office/drawing/2014/main" id="{672F3609-F93D-57B6-585E-38AB0B95AE77}"/>
                </a:ext>
              </a:extLst>
            </p:cNvPr>
            <p:cNvSpPr/>
            <p:nvPr/>
          </p:nvSpPr>
          <p:spPr>
            <a:xfrm>
              <a:off x="3360420" y="3154680"/>
              <a:ext cx="2503170" cy="1131570"/>
            </a:xfrm>
            <a:prstGeom prst="rect">
              <a:avLst/>
            </a:prstGeom>
            <a:noFill/>
            <a:ln/>
          </p:spPr>
          <p:txBody>
            <a:bodyPr wrap="square" lIns="0" tIns="0" rIns="0" bIns="0" rtlCol="0" anchor="ctr"/>
            <a:lstStyle/>
            <a:p>
              <a:pPr marL="257175" indent="-257175">
                <a:spcAft>
                  <a:spcPts val="300"/>
                </a:spcAft>
                <a:buSzPct val="100000"/>
                <a:buChar char="•"/>
              </a:pPr>
              <a:r>
                <a:rPr lang="en-US" sz="1000" dirty="0">
                  <a:solidFill>
                    <a:srgbClr val="1A1F36"/>
                  </a:solidFill>
                  <a:latin typeface="Calibri"/>
                </a:rPr>
                <a:t>Requires reading 4+ sentence narrative context</a:t>
              </a:r>
              <a:endParaRPr lang="en-US" sz="1000" dirty="0"/>
            </a:p>
            <a:p>
              <a:pPr marL="257175" indent="-257175">
                <a:spcAft>
                  <a:spcPts val="300"/>
                </a:spcAft>
                <a:buSzPct val="100000"/>
                <a:buChar char="•"/>
              </a:pPr>
              <a:r>
                <a:rPr lang="en-US" sz="1000" dirty="0">
                  <a:solidFill>
                    <a:srgbClr val="1A1F36"/>
                  </a:solidFill>
                  <a:latin typeface="Calibri"/>
                </a:rPr>
                <a:t>N-gram models score near 0% accuracy</a:t>
              </a:r>
              <a:endParaRPr lang="en-US" sz="1000" dirty="0"/>
            </a:p>
            <a:p>
              <a:pPr marL="257175" indent="-257175">
                <a:spcAft>
                  <a:spcPts val="300"/>
                </a:spcAft>
                <a:buSzPct val="100000"/>
                <a:buChar char="•"/>
              </a:pPr>
              <a:r>
                <a:rPr lang="en-US" sz="1000" dirty="0">
                  <a:solidFill>
                    <a:srgbClr val="1A1F36"/>
                  </a:solidFill>
                  <a:latin typeface="Calibri"/>
                </a:rPr>
                <a:t>Tests genuine discourse comprehension, not co-occurrence</a:t>
              </a:r>
              <a:endParaRPr lang="en-US" sz="1000" dirty="0"/>
            </a:p>
          </p:txBody>
        </p:sp>
      </p:grpSp>
      <p:grpSp>
        <p:nvGrpSpPr>
          <p:cNvPr id="44" name="Group 43">
            <a:extLst>
              <a:ext uri="{FF2B5EF4-FFF2-40B4-BE49-F238E27FC236}">
                <a16:creationId xmlns:a16="http://schemas.microsoft.com/office/drawing/2014/main" id="{E7E1D894-5F48-F047-FD27-96DC2FEC2CDC}"/>
              </a:ext>
            </a:extLst>
          </p:cNvPr>
          <p:cNvGrpSpPr/>
          <p:nvPr/>
        </p:nvGrpSpPr>
        <p:grpSpPr>
          <a:xfrm>
            <a:off x="6035040" y="2764520"/>
            <a:ext cx="2777490" cy="1611630"/>
            <a:chOff x="6035040" y="2777490"/>
            <a:chExt cx="2777490" cy="1611630"/>
          </a:xfrm>
        </p:grpSpPr>
        <p:sp>
          <p:nvSpPr>
            <p:cNvPr id="3" name="Shape 36">
              <a:extLst>
                <a:ext uri="{FF2B5EF4-FFF2-40B4-BE49-F238E27FC236}">
                  <a16:creationId xmlns:a16="http://schemas.microsoft.com/office/drawing/2014/main" id="{2E3AAF9D-EE36-87AB-C327-E2FB9CB75E6C}"/>
                </a:ext>
              </a:extLst>
            </p:cNvPr>
            <p:cNvSpPr/>
            <p:nvPr/>
          </p:nvSpPr>
          <p:spPr>
            <a:xfrm>
              <a:off x="6035040" y="2777490"/>
              <a:ext cx="2777490" cy="1611630"/>
            </a:xfrm>
            <a:prstGeom prst="rect">
              <a:avLst/>
            </a:prstGeom>
            <a:solidFill>
              <a:srgbClr val="F7FAFC"/>
            </a:solidFill>
            <a:ln w="9525">
              <a:solidFill>
                <a:srgbClr val="E2E8F0"/>
              </a:solidFill>
              <a:prstDash val="solid"/>
            </a:ln>
          </p:spPr>
          <p:txBody>
            <a:bodyPr/>
            <a:lstStyle/>
            <a:p>
              <a:endParaRPr/>
            </a:p>
          </p:txBody>
        </p:sp>
        <p:sp>
          <p:nvSpPr>
            <p:cNvPr id="39" name="Shape 37">
              <a:extLst>
                <a:ext uri="{FF2B5EF4-FFF2-40B4-BE49-F238E27FC236}">
                  <a16:creationId xmlns:a16="http://schemas.microsoft.com/office/drawing/2014/main" id="{0E079E73-488E-CC38-4826-8A1C41394CA2}"/>
                </a:ext>
              </a:extLst>
            </p:cNvPr>
            <p:cNvSpPr/>
            <p:nvPr/>
          </p:nvSpPr>
          <p:spPr>
            <a:xfrm>
              <a:off x="6035040" y="2777490"/>
              <a:ext cx="41148" cy="1611630"/>
            </a:xfrm>
            <a:prstGeom prst="rect">
              <a:avLst/>
            </a:prstGeom>
            <a:solidFill>
              <a:srgbClr val="1A365D"/>
            </a:solidFill>
            <a:ln w="12700">
              <a:solidFill>
                <a:srgbClr val="1A365D"/>
              </a:solidFill>
              <a:prstDash val="solid"/>
            </a:ln>
          </p:spPr>
          <p:txBody>
            <a:bodyPr/>
            <a:lstStyle/>
            <a:p>
              <a:endParaRPr/>
            </a:p>
          </p:txBody>
        </p:sp>
        <p:sp>
          <p:nvSpPr>
            <p:cNvPr id="40" name="Text 38">
              <a:extLst>
                <a:ext uri="{FF2B5EF4-FFF2-40B4-BE49-F238E27FC236}">
                  <a16:creationId xmlns:a16="http://schemas.microsoft.com/office/drawing/2014/main" id="{446524FC-9FF6-DFA0-1153-B8131074871F}"/>
                </a:ext>
              </a:extLst>
            </p:cNvPr>
            <p:cNvSpPr/>
            <p:nvPr/>
          </p:nvSpPr>
          <p:spPr>
            <a:xfrm>
              <a:off x="6206490" y="2880360"/>
              <a:ext cx="2503170" cy="274320"/>
            </a:xfrm>
            <a:prstGeom prst="rect">
              <a:avLst/>
            </a:prstGeom>
            <a:noFill/>
            <a:ln/>
          </p:spPr>
          <p:txBody>
            <a:bodyPr wrap="square" lIns="0" tIns="0" rIns="0" bIns="0" rtlCol="0" anchor="ctr"/>
            <a:lstStyle/>
            <a:p>
              <a:r>
                <a:rPr lang="en-US" sz="1050" b="1" dirty="0">
                  <a:solidFill>
                    <a:srgbClr val="0F223E"/>
                  </a:solidFill>
                  <a:latin typeface="Calibri"/>
                </a:rPr>
                <a:t>GPT-2’s Significance</a:t>
              </a:r>
              <a:endParaRPr lang="en-US" sz="1050" dirty="0"/>
            </a:p>
          </p:txBody>
        </p:sp>
        <p:sp>
          <p:nvSpPr>
            <p:cNvPr id="4" name="Text 39">
              <a:extLst>
                <a:ext uri="{FF2B5EF4-FFF2-40B4-BE49-F238E27FC236}">
                  <a16:creationId xmlns:a16="http://schemas.microsoft.com/office/drawing/2014/main" id="{AF0D6994-FA4A-3950-1B0D-CC5C131D777F}"/>
                </a:ext>
              </a:extLst>
            </p:cNvPr>
            <p:cNvSpPr/>
            <p:nvPr/>
          </p:nvSpPr>
          <p:spPr>
            <a:xfrm>
              <a:off x="6206490" y="3154680"/>
              <a:ext cx="2503170" cy="1131570"/>
            </a:xfrm>
            <a:prstGeom prst="rect">
              <a:avLst/>
            </a:prstGeom>
            <a:noFill/>
            <a:ln/>
          </p:spPr>
          <p:txBody>
            <a:bodyPr wrap="square" lIns="0" tIns="0" rIns="0" bIns="0" rtlCol="0" anchor="ctr"/>
            <a:lstStyle/>
            <a:p>
              <a:pPr marL="257175" indent="-257175">
                <a:spcAft>
                  <a:spcPts val="300"/>
                </a:spcAft>
                <a:buSzPct val="100000"/>
                <a:buChar char="•"/>
              </a:pPr>
              <a:r>
                <a:rPr lang="en-US" sz="1000" dirty="0">
                  <a:solidFill>
                    <a:srgbClr val="1A1F36"/>
                  </a:solidFill>
                  <a:latin typeface="Calibri"/>
                </a:rPr>
                <a:t>First model to surpass prior LAMBADA SOTA zero-shot</a:t>
              </a:r>
              <a:endParaRPr lang="en-US" sz="1000" dirty="0"/>
            </a:p>
            <a:p>
              <a:pPr marL="257175" indent="-257175">
                <a:spcAft>
                  <a:spcPts val="300"/>
                </a:spcAft>
                <a:buSzPct val="100000"/>
                <a:buChar char="•"/>
              </a:pPr>
              <a:r>
                <a:rPr lang="en-US" sz="1000" dirty="0">
                  <a:solidFill>
                    <a:srgbClr val="1A1F36"/>
                  </a:solidFill>
                  <a:latin typeface="Calibri"/>
                </a:rPr>
                <a:t>Scale alone (without task supervision) drives gains</a:t>
              </a:r>
              <a:endParaRPr lang="en-US" sz="1000" dirty="0"/>
            </a:p>
            <a:p>
              <a:pPr marL="257175" indent="-257175">
                <a:spcAft>
                  <a:spcPts val="300"/>
                </a:spcAft>
                <a:buSzPct val="100000"/>
                <a:buChar char="•"/>
              </a:pPr>
              <a:r>
                <a:rPr lang="en-US" sz="1000" dirty="0">
                  <a:solidFill>
                    <a:srgbClr val="1A1F36"/>
                  </a:solidFill>
                  <a:latin typeface="Calibri"/>
                </a:rPr>
                <a:t>Early evidence that LLMs encode discourse structure</a:t>
              </a:r>
              <a:endParaRPr lang="en-US" sz="1000" dirty="0"/>
            </a:p>
          </p:txBody>
        </p:sp>
      </p:grpSp>
      <p:sp>
        <p:nvSpPr>
          <p:cNvPr id="38" name="Text 36">
            <a:extLst>
              <a:ext uri="{FF2B5EF4-FFF2-40B4-BE49-F238E27FC236}">
                <a16:creationId xmlns:a16="http://schemas.microsoft.com/office/drawing/2014/main" id="{26181C24-5AC5-E9C2-FF2E-C060B4AE65D1}"/>
              </a:ext>
            </a:extLst>
          </p:cNvPr>
          <p:cNvSpPr/>
          <p:nvPr/>
        </p:nvSpPr>
        <p:spPr>
          <a:xfrm>
            <a:off x="342900" y="4512564"/>
            <a:ext cx="8435340" cy="582930"/>
          </a:xfrm>
          <a:prstGeom prst="rect">
            <a:avLst/>
          </a:prstGeom>
          <a:noFill/>
          <a:ln/>
        </p:spPr>
        <p:txBody>
          <a:bodyPr wrap="square" lIns="0" tIns="0" rIns="0" bIns="0" rtlCol="0" anchor="t"/>
          <a:lstStyle/>
          <a:p>
            <a:pPr>
              <a:spcAft>
                <a:spcPts val="75"/>
              </a:spcAft>
            </a:pPr>
            <a:r>
              <a:rPr lang="en-US" sz="675" i="1" dirty="0">
                <a:solidFill>
                  <a:srgbClr val="1A1F36"/>
                </a:solidFill>
                <a:latin typeface="Calibri"/>
              </a:rPr>
              <a:t>Paperno et al. (2016). The LAMBADA dataset: Word prediction requiring a broad discourse context. ACL 2016. arXiv:1606.06031.</a:t>
            </a:r>
            <a:endParaRPr lang="en-US" sz="675" dirty="0"/>
          </a:p>
          <a:p>
            <a:pPr>
              <a:spcAft>
                <a:spcPts val="75"/>
              </a:spcAft>
            </a:pPr>
            <a:r>
              <a:rPr lang="en-US" sz="675" i="1" dirty="0">
                <a:solidFill>
                  <a:srgbClr val="1A1F36"/>
                </a:solidFill>
                <a:latin typeface="Calibri"/>
              </a:rPr>
              <a:t>Radford, Wu, Child, Luan, Amodei, Sutskever (2019). Language Models are Unsupervised Multitask Learners (GPT-2). OpenAI Technical Report.</a:t>
            </a:r>
            <a:endParaRPr lang="en-US" sz="675" dirty="0"/>
          </a:p>
        </p:txBody>
      </p:sp>
      <p:pic>
        <p:nvPicPr>
          <p:cNvPr id="6" name="Google Shape;109;p20">
            <a:extLst>
              <a:ext uri="{FF2B5EF4-FFF2-40B4-BE49-F238E27FC236}">
                <a16:creationId xmlns:a16="http://schemas.microsoft.com/office/drawing/2014/main" id="{603BFF7B-E127-12B5-BDFF-E4FEA337AD34}"/>
              </a:ext>
            </a:extLst>
          </p:cNvPr>
          <p:cNvPicPr preferRelativeResize="0"/>
          <p:nvPr/>
        </p:nvPicPr>
        <p:blipFill>
          <a:blip r:embed="rId2">
            <a:alphaModFix/>
          </a:blip>
          <a:stretch>
            <a:fillRect/>
          </a:stretch>
        </p:blipFill>
        <p:spPr>
          <a:xfrm>
            <a:off x="8369125" y="0"/>
            <a:ext cx="774877" cy="867174"/>
          </a:xfrm>
          <a:prstGeom prst="rect">
            <a:avLst/>
          </a:prstGeom>
          <a:noFill/>
          <a:ln>
            <a:noFill/>
          </a:ln>
        </p:spPr>
      </p:pic>
    </p:spTree>
    <p:extLst>
      <p:ext uri="{BB962C8B-B14F-4D97-AF65-F5344CB8AC3E}">
        <p14:creationId xmlns:p14="http://schemas.microsoft.com/office/powerpoint/2010/main" val="403941580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3444" cy="5143500"/>
          </a:xfrm>
          <a:prstGeom prst="rect">
            <a:avLst/>
          </a:prstGeom>
          <a:solidFill>
            <a:srgbClr val="1A365D"/>
          </a:solidFill>
          <a:ln w="12700">
            <a:solidFill>
              <a:srgbClr val="1A365D"/>
            </a:solidFill>
            <a:prstDash val="solid"/>
          </a:ln>
        </p:spPr>
        <p:txBody>
          <a:bodyPr/>
          <a:lstStyle/>
          <a:p>
            <a:endParaRPr/>
          </a:p>
        </p:txBody>
      </p:sp>
      <p:sp>
        <p:nvSpPr>
          <p:cNvPr id="5" name="Shape 3"/>
          <p:cNvSpPr/>
          <p:nvPr/>
        </p:nvSpPr>
        <p:spPr>
          <a:xfrm>
            <a:off x="342900" y="4457700"/>
            <a:ext cx="8435340" cy="0"/>
          </a:xfrm>
          <a:prstGeom prst="line">
            <a:avLst/>
          </a:prstGeom>
          <a:noFill/>
          <a:ln w="9525">
            <a:solidFill>
              <a:srgbClr val="CBD5E0"/>
            </a:solidFill>
            <a:prstDash val="solid"/>
          </a:ln>
        </p:spPr>
        <p:txBody>
          <a:bodyPr/>
          <a:lstStyle/>
          <a:p>
            <a:endParaRPr/>
          </a:p>
        </p:txBody>
      </p:sp>
      <p:sp>
        <p:nvSpPr>
          <p:cNvPr id="7" name="Text 5"/>
          <p:cNvSpPr/>
          <p:nvPr/>
        </p:nvSpPr>
        <p:spPr>
          <a:xfrm>
            <a:off x="342900" y="247312"/>
            <a:ext cx="8435340" cy="617220"/>
          </a:xfrm>
          <a:prstGeom prst="rect">
            <a:avLst/>
          </a:prstGeom>
          <a:noFill/>
          <a:ln/>
        </p:spPr>
        <p:txBody>
          <a:bodyPr wrap="square" lIns="0" tIns="0" rIns="0" bIns="0" rtlCol="0" anchor="ctr"/>
          <a:lstStyle/>
          <a:p>
            <a:r>
              <a:rPr lang="en-US" sz="2250" b="1" dirty="0">
                <a:solidFill>
                  <a:srgbClr val="1E2761"/>
                </a:solidFill>
                <a:latin typeface="Georgia"/>
              </a:rPr>
              <a:t>T5 and BART: Text-to-Text and Denoising Seq2Seq</a:t>
            </a:r>
            <a:endParaRPr lang="en-US" sz="2250" dirty="0"/>
          </a:p>
        </p:txBody>
      </p:sp>
      <p:sp>
        <p:nvSpPr>
          <p:cNvPr id="8" name="Text 6"/>
          <p:cNvSpPr/>
          <p:nvPr/>
        </p:nvSpPr>
        <p:spPr>
          <a:xfrm>
            <a:off x="336042" y="1168647"/>
            <a:ext cx="4293108" cy="1337310"/>
          </a:xfrm>
          <a:prstGeom prst="rect">
            <a:avLst/>
          </a:prstGeom>
          <a:noFill/>
          <a:ln/>
        </p:spPr>
        <p:txBody>
          <a:bodyPr wrap="square" lIns="0" tIns="0" rIns="0" bIns="0" rtlCol="0" anchor="ctr"/>
          <a:lstStyle/>
          <a:p>
            <a:pPr>
              <a:spcAft>
                <a:spcPts val="300"/>
              </a:spcAft>
            </a:pPr>
            <a:r>
              <a:rPr lang="en-US" sz="1200" dirty="0">
                <a:solidFill>
                  <a:srgbClr val="1A1F36"/>
                </a:solidFill>
                <a:latin typeface="Calibri"/>
              </a:rPr>
              <a:t>Google's T5 cast every NLP task — classification, translation, summarization, question answering — as string-to-string prediction with a single model and loss. </a:t>
            </a:r>
          </a:p>
          <a:p>
            <a:pPr>
              <a:spcAft>
                <a:spcPts val="300"/>
              </a:spcAft>
            </a:pPr>
            <a:endParaRPr lang="en-US" sz="1200" dirty="0">
              <a:solidFill>
                <a:srgbClr val="1A1F36"/>
              </a:solidFill>
              <a:latin typeface="Calibri"/>
            </a:endParaRPr>
          </a:p>
          <a:p>
            <a:pPr>
              <a:spcAft>
                <a:spcPts val="300"/>
              </a:spcAft>
            </a:pPr>
            <a:r>
              <a:rPr lang="en-US" sz="1200" dirty="0">
                <a:solidFill>
                  <a:srgbClr val="1A1F36"/>
                </a:solidFill>
                <a:latin typeface="Calibri"/>
              </a:rPr>
              <a:t>Facebook AI's BART combined a bidirectional encoder with an autoregressive decoder, pre-training on varied denoising corruptions. Together they established seq2seq pre-training as a strong alternative to BERT-style encoders.</a:t>
            </a:r>
            <a:endParaRPr lang="en-US" sz="1200" dirty="0"/>
          </a:p>
        </p:txBody>
      </p:sp>
      <p:grpSp>
        <p:nvGrpSpPr>
          <p:cNvPr id="4" name="Group 3">
            <a:extLst>
              <a:ext uri="{FF2B5EF4-FFF2-40B4-BE49-F238E27FC236}">
                <a16:creationId xmlns:a16="http://schemas.microsoft.com/office/drawing/2014/main" id="{6E899496-30A0-D1D0-D72B-CD1A73EFA7AA}"/>
              </a:ext>
            </a:extLst>
          </p:cNvPr>
          <p:cNvGrpSpPr/>
          <p:nvPr/>
        </p:nvGrpSpPr>
        <p:grpSpPr>
          <a:xfrm>
            <a:off x="4670298" y="936763"/>
            <a:ext cx="4131795" cy="1662817"/>
            <a:chOff x="5338803" y="1262270"/>
            <a:chExt cx="3463290" cy="1337310"/>
          </a:xfrm>
        </p:grpSpPr>
        <p:sp>
          <p:nvSpPr>
            <p:cNvPr id="9" name="Shape 7"/>
            <p:cNvSpPr/>
            <p:nvPr/>
          </p:nvSpPr>
          <p:spPr>
            <a:xfrm>
              <a:off x="5338803" y="1262270"/>
              <a:ext cx="3463290" cy="1337310"/>
            </a:xfrm>
            <a:prstGeom prst="rect">
              <a:avLst/>
            </a:prstGeom>
            <a:solidFill>
              <a:srgbClr val="FFFFFF"/>
            </a:solidFill>
            <a:ln w="9525">
              <a:solidFill>
                <a:srgbClr val="E2E8F0"/>
              </a:solidFill>
              <a:prstDash val="solid"/>
            </a:ln>
          </p:spPr>
          <p:txBody>
            <a:bodyPr/>
            <a:lstStyle/>
            <a:p>
              <a:endParaRPr sz="1800"/>
            </a:p>
          </p:txBody>
        </p:sp>
        <p:sp>
          <p:nvSpPr>
            <p:cNvPr id="10" name="Shape 8"/>
            <p:cNvSpPr/>
            <p:nvPr/>
          </p:nvSpPr>
          <p:spPr>
            <a:xfrm>
              <a:off x="5338803" y="1262270"/>
              <a:ext cx="41148" cy="1337310"/>
            </a:xfrm>
            <a:prstGeom prst="rect">
              <a:avLst/>
            </a:prstGeom>
            <a:solidFill>
              <a:srgbClr val="8B6914"/>
            </a:solidFill>
            <a:ln w="12700">
              <a:solidFill>
                <a:srgbClr val="8B6914"/>
              </a:solidFill>
              <a:prstDash val="solid"/>
            </a:ln>
          </p:spPr>
          <p:txBody>
            <a:bodyPr/>
            <a:lstStyle/>
            <a:p>
              <a:endParaRPr sz="1800"/>
            </a:p>
          </p:txBody>
        </p:sp>
        <p:sp>
          <p:nvSpPr>
            <p:cNvPr id="11" name="Text 9"/>
            <p:cNvSpPr/>
            <p:nvPr/>
          </p:nvSpPr>
          <p:spPr>
            <a:xfrm>
              <a:off x="5489679" y="1330850"/>
              <a:ext cx="3223260" cy="150876"/>
            </a:xfrm>
            <a:prstGeom prst="rect">
              <a:avLst/>
            </a:prstGeom>
            <a:noFill/>
            <a:ln/>
          </p:spPr>
          <p:txBody>
            <a:bodyPr wrap="square" lIns="0" tIns="0" rIns="0" bIns="0" rtlCol="0" anchor="ctr"/>
            <a:lstStyle/>
            <a:p>
              <a:r>
                <a:rPr lang="en-US" sz="1100" b="1" spc="300" dirty="0">
                  <a:solidFill>
                    <a:srgbClr val="8B6914"/>
                  </a:solidFill>
                  <a:latin typeface="Calibri"/>
                </a:rPr>
                <a:t>KEY RESULT · SUPERGLUE TEST SET</a:t>
              </a:r>
              <a:endParaRPr lang="en-US" sz="1100" dirty="0"/>
            </a:p>
          </p:txBody>
        </p:sp>
        <p:sp>
          <p:nvSpPr>
            <p:cNvPr id="12" name="Text 10"/>
            <p:cNvSpPr/>
            <p:nvPr/>
          </p:nvSpPr>
          <p:spPr>
            <a:xfrm>
              <a:off x="5489679" y="1468010"/>
              <a:ext cx="3223260" cy="192024"/>
            </a:xfrm>
            <a:prstGeom prst="rect">
              <a:avLst/>
            </a:prstGeom>
            <a:noFill/>
            <a:ln/>
          </p:spPr>
          <p:txBody>
            <a:bodyPr wrap="square" lIns="0" tIns="0" rIns="0" bIns="0" rtlCol="0" anchor="ctr"/>
            <a:lstStyle/>
            <a:p>
              <a:r>
                <a:rPr lang="en-US" b="1" dirty="0">
                  <a:solidFill>
                    <a:srgbClr val="0F223E"/>
                  </a:solidFill>
                  <a:latin typeface="Calibri"/>
                </a:rPr>
                <a:t>Closing the gap to human performance</a:t>
              </a:r>
              <a:endParaRPr lang="en-US" dirty="0"/>
            </a:p>
          </p:txBody>
        </p:sp>
        <p:sp>
          <p:nvSpPr>
            <p:cNvPr id="13" name="Text 11"/>
            <p:cNvSpPr/>
            <p:nvPr/>
          </p:nvSpPr>
          <p:spPr>
            <a:xfrm>
              <a:off x="5489679" y="1743402"/>
              <a:ext cx="1268730" cy="160735"/>
            </a:xfrm>
            <a:prstGeom prst="rect">
              <a:avLst/>
            </a:prstGeom>
            <a:noFill/>
            <a:ln/>
          </p:spPr>
          <p:txBody>
            <a:bodyPr wrap="square" lIns="0" tIns="0" rIns="0" bIns="0" rtlCol="0" anchor="ctr"/>
            <a:lstStyle/>
            <a:p>
              <a:r>
                <a:rPr lang="en-US" sz="1100" dirty="0">
                  <a:solidFill>
                    <a:srgbClr val="1A1F36"/>
                  </a:solidFill>
                  <a:latin typeface="Calibri"/>
                </a:rPr>
                <a:t>BERT-Large (2019)</a:t>
              </a:r>
              <a:endParaRPr lang="en-US" sz="1100" dirty="0"/>
            </a:p>
          </p:txBody>
        </p:sp>
        <p:sp>
          <p:nvSpPr>
            <p:cNvPr id="14" name="Shape 12"/>
            <p:cNvSpPr/>
            <p:nvPr/>
          </p:nvSpPr>
          <p:spPr>
            <a:xfrm>
              <a:off x="6792699" y="1770834"/>
              <a:ext cx="1508760" cy="105871"/>
            </a:xfrm>
            <a:prstGeom prst="rect">
              <a:avLst/>
            </a:prstGeom>
            <a:solidFill>
              <a:srgbClr val="EDF2F7"/>
            </a:solidFill>
            <a:ln w="12700">
              <a:solidFill>
                <a:srgbClr val="EDF2F7"/>
              </a:solidFill>
              <a:prstDash val="solid"/>
            </a:ln>
          </p:spPr>
          <p:txBody>
            <a:bodyPr/>
            <a:lstStyle/>
            <a:p>
              <a:endParaRPr sz="1800"/>
            </a:p>
          </p:txBody>
        </p:sp>
        <p:sp>
          <p:nvSpPr>
            <p:cNvPr id="15" name="Shape 13"/>
            <p:cNvSpPr/>
            <p:nvPr/>
          </p:nvSpPr>
          <p:spPr>
            <a:xfrm>
              <a:off x="6792700" y="1770834"/>
              <a:ext cx="1159292" cy="105871"/>
            </a:xfrm>
            <a:prstGeom prst="rect">
              <a:avLst/>
            </a:prstGeom>
            <a:solidFill>
              <a:srgbClr val="4A5568"/>
            </a:solidFill>
            <a:ln w="12700">
              <a:solidFill>
                <a:srgbClr val="4A5568"/>
              </a:solidFill>
              <a:prstDash val="solid"/>
            </a:ln>
          </p:spPr>
          <p:txBody>
            <a:bodyPr/>
            <a:lstStyle/>
            <a:p>
              <a:endParaRPr sz="1800"/>
            </a:p>
          </p:txBody>
        </p:sp>
        <p:sp>
          <p:nvSpPr>
            <p:cNvPr id="16" name="Text 14"/>
            <p:cNvSpPr/>
            <p:nvPr/>
          </p:nvSpPr>
          <p:spPr>
            <a:xfrm>
              <a:off x="8356323" y="1743402"/>
              <a:ext cx="377190" cy="160735"/>
            </a:xfrm>
            <a:prstGeom prst="rect">
              <a:avLst/>
            </a:prstGeom>
            <a:noFill/>
            <a:ln/>
          </p:spPr>
          <p:txBody>
            <a:bodyPr wrap="square" lIns="0" tIns="0" rIns="0" bIns="0" rtlCol="0" anchor="ctr"/>
            <a:lstStyle/>
            <a:p>
              <a:r>
                <a:rPr lang="en-US" sz="1100" dirty="0">
                  <a:solidFill>
                    <a:srgbClr val="1A1F36"/>
                  </a:solidFill>
                  <a:latin typeface="Calibri"/>
                </a:rPr>
                <a:t>69.0</a:t>
              </a:r>
              <a:endParaRPr lang="en-US" sz="1100" dirty="0"/>
            </a:p>
          </p:txBody>
        </p:sp>
        <p:sp>
          <p:nvSpPr>
            <p:cNvPr id="17" name="Text 15"/>
            <p:cNvSpPr/>
            <p:nvPr/>
          </p:nvSpPr>
          <p:spPr>
            <a:xfrm>
              <a:off x="5489679" y="1906280"/>
              <a:ext cx="1268730" cy="160735"/>
            </a:xfrm>
            <a:prstGeom prst="rect">
              <a:avLst/>
            </a:prstGeom>
            <a:noFill/>
            <a:ln/>
          </p:spPr>
          <p:txBody>
            <a:bodyPr wrap="square" lIns="0" tIns="0" rIns="0" bIns="0" rtlCol="0" anchor="ctr"/>
            <a:lstStyle/>
            <a:p>
              <a:r>
                <a:rPr lang="en-US" sz="1100" dirty="0">
                  <a:solidFill>
                    <a:srgbClr val="1A1F36"/>
                  </a:solidFill>
                  <a:latin typeface="Calibri"/>
                </a:rPr>
                <a:t>RoBERTa prior SOTA</a:t>
              </a:r>
              <a:endParaRPr lang="en-US" sz="1100" dirty="0"/>
            </a:p>
          </p:txBody>
        </p:sp>
        <p:sp>
          <p:nvSpPr>
            <p:cNvPr id="18" name="Shape 16"/>
            <p:cNvSpPr/>
            <p:nvPr/>
          </p:nvSpPr>
          <p:spPr>
            <a:xfrm>
              <a:off x="6792699" y="1933712"/>
              <a:ext cx="1508760" cy="105871"/>
            </a:xfrm>
            <a:prstGeom prst="rect">
              <a:avLst/>
            </a:prstGeom>
            <a:solidFill>
              <a:srgbClr val="EDF2F7"/>
            </a:solidFill>
            <a:ln w="12700">
              <a:solidFill>
                <a:srgbClr val="EDF2F7"/>
              </a:solidFill>
              <a:prstDash val="solid"/>
            </a:ln>
          </p:spPr>
          <p:txBody>
            <a:bodyPr/>
            <a:lstStyle/>
            <a:p>
              <a:endParaRPr sz="1800"/>
            </a:p>
          </p:txBody>
        </p:sp>
        <p:sp>
          <p:nvSpPr>
            <p:cNvPr id="19" name="Shape 17"/>
            <p:cNvSpPr/>
            <p:nvPr/>
          </p:nvSpPr>
          <p:spPr>
            <a:xfrm>
              <a:off x="6792700" y="1933712"/>
              <a:ext cx="1421393" cy="105871"/>
            </a:xfrm>
            <a:prstGeom prst="rect">
              <a:avLst/>
            </a:prstGeom>
            <a:solidFill>
              <a:srgbClr val="4A5568"/>
            </a:solidFill>
            <a:ln w="12700">
              <a:solidFill>
                <a:srgbClr val="4A5568"/>
              </a:solidFill>
              <a:prstDash val="solid"/>
            </a:ln>
          </p:spPr>
          <p:txBody>
            <a:bodyPr/>
            <a:lstStyle/>
            <a:p>
              <a:endParaRPr sz="1800"/>
            </a:p>
          </p:txBody>
        </p:sp>
        <p:sp>
          <p:nvSpPr>
            <p:cNvPr id="20" name="Text 18"/>
            <p:cNvSpPr/>
            <p:nvPr/>
          </p:nvSpPr>
          <p:spPr>
            <a:xfrm>
              <a:off x="8356323" y="1906280"/>
              <a:ext cx="377190" cy="160735"/>
            </a:xfrm>
            <a:prstGeom prst="rect">
              <a:avLst/>
            </a:prstGeom>
            <a:noFill/>
            <a:ln/>
          </p:spPr>
          <p:txBody>
            <a:bodyPr wrap="square" lIns="0" tIns="0" rIns="0" bIns="0" rtlCol="0" anchor="ctr"/>
            <a:lstStyle/>
            <a:p>
              <a:r>
                <a:rPr lang="en-US" sz="1100" dirty="0">
                  <a:solidFill>
                    <a:srgbClr val="1A1F36"/>
                  </a:solidFill>
                  <a:latin typeface="Calibri"/>
                </a:rPr>
                <a:t>84.6</a:t>
              </a:r>
              <a:endParaRPr lang="en-US" sz="1100" dirty="0"/>
            </a:p>
          </p:txBody>
        </p:sp>
        <p:sp>
          <p:nvSpPr>
            <p:cNvPr id="21" name="Text 19"/>
            <p:cNvSpPr/>
            <p:nvPr/>
          </p:nvSpPr>
          <p:spPr>
            <a:xfrm>
              <a:off x="5489679" y="2069157"/>
              <a:ext cx="1268730" cy="160735"/>
            </a:xfrm>
            <a:prstGeom prst="rect">
              <a:avLst/>
            </a:prstGeom>
            <a:noFill/>
            <a:ln/>
          </p:spPr>
          <p:txBody>
            <a:bodyPr wrap="square" lIns="0" tIns="0" rIns="0" bIns="0" rtlCol="0" anchor="ctr"/>
            <a:lstStyle/>
            <a:p>
              <a:r>
                <a:rPr lang="en-US" sz="1100" dirty="0">
                  <a:solidFill>
                    <a:srgbClr val="1A1F36"/>
                  </a:solidFill>
                  <a:latin typeface="Calibri"/>
                </a:rPr>
                <a:t>T5-11B</a:t>
              </a:r>
              <a:endParaRPr lang="en-US" sz="1100" dirty="0"/>
            </a:p>
          </p:txBody>
        </p:sp>
        <p:sp>
          <p:nvSpPr>
            <p:cNvPr id="22" name="Shape 20"/>
            <p:cNvSpPr/>
            <p:nvPr/>
          </p:nvSpPr>
          <p:spPr>
            <a:xfrm>
              <a:off x="6792699" y="2096589"/>
              <a:ext cx="1508760" cy="105871"/>
            </a:xfrm>
            <a:prstGeom prst="rect">
              <a:avLst/>
            </a:prstGeom>
            <a:solidFill>
              <a:srgbClr val="EDF2F7"/>
            </a:solidFill>
            <a:ln w="12700">
              <a:solidFill>
                <a:srgbClr val="EDF2F7"/>
              </a:solidFill>
              <a:prstDash val="solid"/>
            </a:ln>
          </p:spPr>
          <p:txBody>
            <a:bodyPr/>
            <a:lstStyle/>
            <a:p>
              <a:endParaRPr sz="1800"/>
            </a:p>
          </p:txBody>
        </p:sp>
        <p:sp>
          <p:nvSpPr>
            <p:cNvPr id="23" name="Shape 21"/>
            <p:cNvSpPr/>
            <p:nvPr/>
          </p:nvSpPr>
          <p:spPr>
            <a:xfrm>
              <a:off x="6792699" y="2096589"/>
              <a:ext cx="1493639" cy="105871"/>
            </a:xfrm>
            <a:prstGeom prst="rect">
              <a:avLst/>
            </a:prstGeom>
            <a:solidFill>
              <a:srgbClr val="0F223E"/>
            </a:solidFill>
            <a:ln w="12700">
              <a:solidFill>
                <a:srgbClr val="0F223E"/>
              </a:solidFill>
              <a:prstDash val="solid"/>
            </a:ln>
          </p:spPr>
          <p:txBody>
            <a:bodyPr/>
            <a:lstStyle/>
            <a:p>
              <a:endParaRPr sz="1800"/>
            </a:p>
          </p:txBody>
        </p:sp>
        <p:sp>
          <p:nvSpPr>
            <p:cNvPr id="24" name="Text 22"/>
            <p:cNvSpPr/>
            <p:nvPr/>
          </p:nvSpPr>
          <p:spPr>
            <a:xfrm>
              <a:off x="8356323" y="2069157"/>
              <a:ext cx="377190" cy="160735"/>
            </a:xfrm>
            <a:prstGeom prst="rect">
              <a:avLst/>
            </a:prstGeom>
            <a:noFill/>
            <a:ln/>
          </p:spPr>
          <p:txBody>
            <a:bodyPr wrap="square" lIns="0" tIns="0" rIns="0" bIns="0" rtlCol="0" anchor="ctr"/>
            <a:lstStyle/>
            <a:p>
              <a:r>
                <a:rPr lang="en-US" sz="1100" b="1" dirty="0">
                  <a:solidFill>
                    <a:srgbClr val="0F223E"/>
                  </a:solidFill>
                  <a:latin typeface="Calibri"/>
                </a:rPr>
                <a:t>88.9</a:t>
              </a:r>
              <a:endParaRPr lang="en-US" sz="1100" dirty="0"/>
            </a:p>
          </p:txBody>
        </p:sp>
        <p:sp>
          <p:nvSpPr>
            <p:cNvPr id="25" name="Text 23"/>
            <p:cNvSpPr/>
            <p:nvPr/>
          </p:nvSpPr>
          <p:spPr>
            <a:xfrm>
              <a:off x="5489679" y="2232035"/>
              <a:ext cx="1268730" cy="160735"/>
            </a:xfrm>
            <a:prstGeom prst="rect">
              <a:avLst/>
            </a:prstGeom>
            <a:noFill/>
            <a:ln/>
          </p:spPr>
          <p:txBody>
            <a:bodyPr wrap="square" lIns="0" tIns="0" rIns="0" bIns="0" rtlCol="0" anchor="ctr"/>
            <a:lstStyle/>
            <a:p>
              <a:r>
                <a:rPr lang="en-US" sz="1100" dirty="0">
                  <a:solidFill>
                    <a:srgbClr val="1A1F36"/>
                  </a:solidFill>
                  <a:latin typeface="Calibri"/>
                </a:rPr>
                <a:t>Human baseline</a:t>
              </a:r>
              <a:endParaRPr lang="en-US" sz="1100" dirty="0"/>
            </a:p>
          </p:txBody>
        </p:sp>
        <p:sp>
          <p:nvSpPr>
            <p:cNvPr id="26" name="Shape 24"/>
            <p:cNvSpPr/>
            <p:nvPr/>
          </p:nvSpPr>
          <p:spPr>
            <a:xfrm>
              <a:off x="6792699" y="2259467"/>
              <a:ext cx="1508760" cy="105871"/>
            </a:xfrm>
            <a:prstGeom prst="rect">
              <a:avLst/>
            </a:prstGeom>
            <a:solidFill>
              <a:srgbClr val="EDF2F7"/>
            </a:solidFill>
            <a:ln w="12700">
              <a:solidFill>
                <a:srgbClr val="EDF2F7"/>
              </a:solidFill>
              <a:prstDash val="solid"/>
            </a:ln>
          </p:spPr>
          <p:txBody>
            <a:bodyPr/>
            <a:lstStyle/>
            <a:p>
              <a:endParaRPr sz="1800"/>
            </a:p>
          </p:txBody>
        </p:sp>
        <p:sp>
          <p:nvSpPr>
            <p:cNvPr id="27" name="Shape 25"/>
            <p:cNvSpPr/>
            <p:nvPr/>
          </p:nvSpPr>
          <p:spPr>
            <a:xfrm>
              <a:off x="6792699" y="2259467"/>
              <a:ext cx="1508760" cy="105871"/>
            </a:xfrm>
            <a:prstGeom prst="rect">
              <a:avLst/>
            </a:prstGeom>
            <a:solidFill>
              <a:srgbClr val="4A5568"/>
            </a:solidFill>
            <a:ln w="12700">
              <a:solidFill>
                <a:srgbClr val="4A5568"/>
              </a:solidFill>
              <a:prstDash val="solid"/>
            </a:ln>
          </p:spPr>
          <p:txBody>
            <a:bodyPr/>
            <a:lstStyle/>
            <a:p>
              <a:endParaRPr sz="1800"/>
            </a:p>
          </p:txBody>
        </p:sp>
        <p:sp>
          <p:nvSpPr>
            <p:cNvPr id="28" name="Text 26"/>
            <p:cNvSpPr/>
            <p:nvPr/>
          </p:nvSpPr>
          <p:spPr>
            <a:xfrm>
              <a:off x="8356323" y="2232035"/>
              <a:ext cx="377190" cy="160735"/>
            </a:xfrm>
            <a:prstGeom prst="rect">
              <a:avLst/>
            </a:prstGeom>
            <a:noFill/>
            <a:ln/>
          </p:spPr>
          <p:txBody>
            <a:bodyPr wrap="square" lIns="0" tIns="0" rIns="0" bIns="0" rtlCol="0" anchor="ctr"/>
            <a:lstStyle/>
            <a:p>
              <a:r>
                <a:rPr lang="en-US" sz="1100" dirty="0">
                  <a:solidFill>
                    <a:srgbClr val="1A1F36"/>
                  </a:solidFill>
                  <a:latin typeface="Calibri"/>
                </a:rPr>
                <a:t>89.8</a:t>
              </a:r>
              <a:endParaRPr lang="en-US" sz="1100" dirty="0"/>
            </a:p>
          </p:txBody>
        </p:sp>
        <p:sp>
          <p:nvSpPr>
            <p:cNvPr id="29" name="Text 27"/>
            <p:cNvSpPr/>
            <p:nvPr/>
          </p:nvSpPr>
          <p:spPr>
            <a:xfrm>
              <a:off x="5489679" y="2407556"/>
              <a:ext cx="3223260" cy="150876"/>
            </a:xfrm>
            <a:prstGeom prst="rect">
              <a:avLst/>
            </a:prstGeom>
            <a:noFill/>
            <a:ln/>
          </p:spPr>
          <p:txBody>
            <a:bodyPr wrap="square" lIns="0" tIns="0" rIns="0" bIns="0" rtlCol="0" anchor="ctr"/>
            <a:lstStyle/>
            <a:p>
              <a:r>
                <a:rPr lang="en-US" sz="1050" i="1" dirty="0">
                  <a:solidFill>
                    <a:srgbClr val="1A1F36"/>
                  </a:solidFill>
                  <a:latin typeface="Calibri"/>
                </a:rPr>
                <a:t>Raffel et al. (2020), Table 14. SuperGLUE average score.</a:t>
              </a:r>
              <a:endParaRPr lang="en-US" sz="1050" dirty="0"/>
            </a:p>
          </p:txBody>
        </p:sp>
      </p:grpSp>
      <p:grpSp>
        <p:nvGrpSpPr>
          <p:cNvPr id="6" name="Group 5">
            <a:extLst>
              <a:ext uri="{FF2B5EF4-FFF2-40B4-BE49-F238E27FC236}">
                <a16:creationId xmlns:a16="http://schemas.microsoft.com/office/drawing/2014/main" id="{A6C501E9-19CD-5883-3B78-2E0C4CA598C3}"/>
              </a:ext>
            </a:extLst>
          </p:cNvPr>
          <p:cNvGrpSpPr/>
          <p:nvPr/>
        </p:nvGrpSpPr>
        <p:grpSpPr>
          <a:xfrm>
            <a:off x="342900" y="2835137"/>
            <a:ext cx="4114800" cy="1474470"/>
            <a:chOff x="342900" y="2914650"/>
            <a:chExt cx="4114800" cy="1474470"/>
          </a:xfrm>
        </p:grpSpPr>
        <p:sp>
          <p:nvSpPr>
            <p:cNvPr id="30" name="Shape 28"/>
            <p:cNvSpPr/>
            <p:nvPr/>
          </p:nvSpPr>
          <p:spPr>
            <a:xfrm>
              <a:off x="342900" y="2914650"/>
              <a:ext cx="4025646" cy="1474470"/>
            </a:xfrm>
            <a:prstGeom prst="rect">
              <a:avLst/>
            </a:prstGeom>
            <a:solidFill>
              <a:srgbClr val="F7FAFC"/>
            </a:solidFill>
            <a:ln w="9525">
              <a:solidFill>
                <a:srgbClr val="E2E8F0"/>
              </a:solidFill>
              <a:prstDash val="solid"/>
            </a:ln>
          </p:spPr>
          <p:txBody>
            <a:bodyPr/>
            <a:lstStyle/>
            <a:p>
              <a:endParaRPr sz="1800"/>
            </a:p>
          </p:txBody>
        </p:sp>
        <p:sp>
          <p:nvSpPr>
            <p:cNvPr id="31" name="Shape 29"/>
            <p:cNvSpPr/>
            <p:nvPr/>
          </p:nvSpPr>
          <p:spPr>
            <a:xfrm>
              <a:off x="342900" y="2914650"/>
              <a:ext cx="41148" cy="1474470"/>
            </a:xfrm>
            <a:prstGeom prst="rect">
              <a:avLst/>
            </a:prstGeom>
            <a:solidFill>
              <a:srgbClr val="1A365D"/>
            </a:solidFill>
            <a:ln w="12700">
              <a:solidFill>
                <a:srgbClr val="1A365D"/>
              </a:solidFill>
              <a:prstDash val="solid"/>
            </a:ln>
          </p:spPr>
          <p:txBody>
            <a:bodyPr/>
            <a:lstStyle/>
            <a:p>
              <a:endParaRPr sz="1800"/>
            </a:p>
          </p:txBody>
        </p:sp>
        <p:sp>
          <p:nvSpPr>
            <p:cNvPr id="32" name="Text 30"/>
            <p:cNvSpPr/>
            <p:nvPr/>
          </p:nvSpPr>
          <p:spPr>
            <a:xfrm>
              <a:off x="514350" y="3017520"/>
              <a:ext cx="3943350" cy="274320"/>
            </a:xfrm>
            <a:prstGeom prst="rect">
              <a:avLst/>
            </a:prstGeom>
            <a:noFill/>
            <a:ln/>
          </p:spPr>
          <p:txBody>
            <a:bodyPr wrap="square" lIns="0" tIns="0" rIns="0" bIns="0" rtlCol="0" anchor="ctr"/>
            <a:lstStyle/>
            <a:p>
              <a:r>
                <a:rPr lang="en-US" sz="1800" b="1" dirty="0">
                  <a:solidFill>
                    <a:srgbClr val="0F223E"/>
                  </a:solidFill>
                  <a:latin typeface="Calibri"/>
                </a:rPr>
                <a:t>T5 (Raffel et al., 2019)</a:t>
              </a:r>
              <a:endParaRPr lang="en-US" sz="1800" dirty="0"/>
            </a:p>
          </p:txBody>
        </p:sp>
        <p:sp>
          <p:nvSpPr>
            <p:cNvPr id="33" name="Text 31"/>
            <p:cNvSpPr/>
            <p:nvPr/>
          </p:nvSpPr>
          <p:spPr>
            <a:xfrm>
              <a:off x="514350" y="3291840"/>
              <a:ext cx="3943350" cy="994410"/>
            </a:xfrm>
            <a:prstGeom prst="rect">
              <a:avLst/>
            </a:prstGeom>
            <a:noFill/>
            <a:ln/>
          </p:spPr>
          <p:txBody>
            <a:bodyPr wrap="square" lIns="0" tIns="0" rIns="0" bIns="0" rtlCol="0" anchor="ctr"/>
            <a:lstStyle/>
            <a:p>
              <a:pPr marL="257175" indent="-257175">
                <a:spcAft>
                  <a:spcPts val="300"/>
                </a:spcAft>
                <a:buSzPct val="100000"/>
                <a:buChar char="•"/>
              </a:pPr>
              <a:r>
                <a:rPr lang="en-US" sz="1200" dirty="0">
                  <a:solidFill>
                    <a:srgbClr val="1A1F36"/>
                  </a:solidFill>
                  <a:latin typeface="Calibri"/>
                </a:rPr>
                <a:t>Encoder–decoder, span-corruption objective</a:t>
              </a:r>
              <a:endParaRPr lang="en-US" sz="1200" dirty="0"/>
            </a:p>
            <a:p>
              <a:pPr marL="257175" indent="-257175">
                <a:spcAft>
                  <a:spcPts val="300"/>
                </a:spcAft>
                <a:buSzPct val="100000"/>
                <a:buChar char="•"/>
              </a:pPr>
              <a:r>
                <a:rPr lang="en-US" sz="1200" dirty="0">
                  <a:solidFill>
                    <a:srgbClr val="1A1F36"/>
                  </a:solidFill>
                  <a:latin typeface="Calibri"/>
                </a:rPr>
                <a:t>Trained on C4 (750 GB cleaned web text)</a:t>
              </a:r>
              <a:endParaRPr lang="en-US" sz="1200" dirty="0"/>
            </a:p>
            <a:p>
              <a:pPr marL="257175" indent="-257175">
                <a:spcAft>
                  <a:spcPts val="300"/>
                </a:spcAft>
                <a:buSzPct val="100000"/>
                <a:buChar char="•"/>
              </a:pPr>
              <a:r>
                <a:rPr lang="en-US" sz="1200" dirty="0">
                  <a:solidFill>
                    <a:srgbClr val="1A1F36"/>
                  </a:solidFill>
                  <a:latin typeface="Calibri"/>
                </a:rPr>
                <a:t>Scales from 60M to 11B parameters</a:t>
              </a:r>
              <a:endParaRPr lang="en-US" sz="1200" dirty="0"/>
            </a:p>
            <a:p>
              <a:pPr marL="257175" indent="-257175">
                <a:spcAft>
                  <a:spcPts val="300"/>
                </a:spcAft>
                <a:buSzPct val="100000"/>
                <a:buChar char="•"/>
              </a:pPr>
              <a:r>
                <a:rPr lang="en-US" sz="1200" dirty="0">
                  <a:solidFill>
                    <a:srgbClr val="1A1F36"/>
                  </a:solidFill>
                  <a:latin typeface="Calibri"/>
                </a:rPr>
                <a:t>Unifies all tasks as text → text</a:t>
              </a:r>
              <a:endParaRPr lang="en-US" sz="1200" dirty="0"/>
            </a:p>
          </p:txBody>
        </p:sp>
      </p:grpSp>
      <p:grpSp>
        <p:nvGrpSpPr>
          <p:cNvPr id="39" name="Group 38">
            <a:extLst>
              <a:ext uri="{FF2B5EF4-FFF2-40B4-BE49-F238E27FC236}">
                <a16:creationId xmlns:a16="http://schemas.microsoft.com/office/drawing/2014/main" id="{F95D8186-D79D-DAEF-DFEE-5D4DDB3EC588}"/>
              </a:ext>
            </a:extLst>
          </p:cNvPr>
          <p:cNvGrpSpPr/>
          <p:nvPr/>
        </p:nvGrpSpPr>
        <p:grpSpPr>
          <a:xfrm>
            <a:off x="4629150" y="2835137"/>
            <a:ext cx="4217670" cy="1474470"/>
            <a:chOff x="4629150" y="2914650"/>
            <a:chExt cx="4217670" cy="1474470"/>
          </a:xfrm>
        </p:grpSpPr>
        <p:sp>
          <p:nvSpPr>
            <p:cNvPr id="34" name="Shape 32"/>
            <p:cNvSpPr/>
            <p:nvPr/>
          </p:nvSpPr>
          <p:spPr>
            <a:xfrm>
              <a:off x="4629150" y="2914650"/>
              <a:ext cx="4217670" cy="1474470"/>
            </a:xfrm>
            <a:prstGeom prst="rect">
              <a:avLst/>
            </a:prstGeom>
            <a:solidFill>
              <a:srgbClr val="F7FAFC"/>
            </a:solidFill>
            <a:ln w="9525">
              <a:solidFill>
                <a:srgbClr val="E2E8F0"/>
              </a:solidFill>
              <a:prstDash val="solid"/>
            </a:ln>
          </p:spPr>
          <p:txBody>
            <a:bodyPr/>
            <a:lstStyle/>
            <a:p>
              <a:endParaRPr sz="1800"/>
            </a:p>
          </p:txBody>
        </p:sp>
        <p:sp>
          <p:nvSpPr>
            <p:cNvPr id="35" name="Shape 33"/>
            <p:cNvSpPr/>
            <p:nvPr/>
          </p:nvSpPr>
          <p:spPr>
            <a:xfrm>
              <a:off x="4629150" y="2914650"/>
              <a:ext cx="41148" cy="1474470"/>
            </a:xfrm>
            <a:prstGeom prst="rect">
              <a:avLst/>
            </a:prstGeom>
            <a:solidFill>
              <a:srgbClr val="1A365D"/>
            </a:solidFill>
            <a:ln w="12700">
              <a:solidFill>
                <a:srgbClr val="1A365D"/>
              </a:solidFill>
              <a:prstDash val="solid"/>
            </a:ln>
          </p:spPr>
          <p:txBody>
            <a:bodyPr/>
            <a:lstStyle/>
            <a:p>
              <a:endParaRPr sz="1800"/>
            </a:p>
          </p:txBody>
        </p:sp>
        <p:sp>
          <p:nvSpPr>
            <p:cNvPr id="36" name="Text 34"/>
            <p:cNvSpPr/>
            <p:nvPr/>
          </p:nvSpPr>
          <p:spPr>
            <a:xfrm>
              <a:off x="4800600" y="3017520"/>
              <a:ext cx="3943350" cy="274320"/>
            </a:xfrm>
            <a:prstGeom prst="rect">
              <a:avLst/>
            </a:prstGeom>
            <a:noFill/>
            <a:ln/>
          </p:spPr>
          <p:txBody>
            <a:bodyPr wrap="square" lIns="0" tIns="0" rIns="0" bIns="0" rtlCol="0" anchor="ctr"/>
            <a:lstStyle/>
            <a:p>
              <a:r>
                <a:rPr lang="en-US" sz="1600" b="1" dirty="0">
                  <a:solidFill>
                    <a:srgbClr val="0F223E"/>
                  </a:solidFill>
                  <a:latin typeface="Calibri"/>
                </a:rPr>
                <a:t>BART (Lewis et al., 2019)</a:t>
              </a:r>
              <a:endParaRPr lang="en-US" sz="1600" dirty="0"/>
            </a:p>
          </p:txBody>
        </p:sp>
        <p:sp>
          <p:nvSpPr>
            <p:cNvPr id="37" name="Text 35"/>
            <p:cNvSpPr/>
            <p:nvPr/>
          </p:nvSpPr>
          <p:spPr>
            <a:xfrm>
              <a:off x="4800600" y="3291840"/>
              <a:ext cx="3943350" cy="994410"/>
            </a:xfrm>
            <a:prstGeom prst="rect">
              <a:avLst/>
            </a:prstGeom>
            <a:noFill/>
            <a:ln/>
          </p:spPr>
          <p:txBody>
            <a:bodyPr wrap="square" lIns="0" tIns="0" rIns="0" bIns="0" rtlCol="0" anchor="ctr"/>
            <a:lstStyle/>
            <a:p>
              <a:pPr marL="257175" indent="-257175">
                <a:spcAft>
                  <a:spcPts val="300"/>
                </a:spcAft>
                <a:buSzPct val="100000"/>
                <a:buChar char="•"/>
              </a:pPr>
              <a:r>
                <a:rPr lang="en-US" sz="1100" dirty="0">
                  <a:solidFill>
                    <a:srgbClr val="1A1F36"/>
                  </a:solidFill>
                  <a:latin typeface="Calibri"/>
                </a:rPr>
                <a:t>BERT-like encoder + GPT-like decoder</a:t>
              </a:r>
              <a:endParaRPr lang="en-US" sz="1100" dirty="0"/>
            </a:p>
            <a:p>
              <a:pPr marL="257175" indent="-257175">
                <a:spcAft>
                  <a:spcPts val="300"/>
                </a:spcAft>
                <a:buSzPct val="100000"/>
                <a:buChar char="•"/>
              </a:pPr>
              <a:r>
                <a:rPr lang="en-US" sz="1100" dirty="0">
                  <a:solidFill>
                    <a:srgbClr val="1A1F36"/>
                  </a:solidFill>
                  <a:latin typeface="Calibri"/>
                </a:rPr>
                <a:t>Denoising objective with varied corruptions</a:t>
              </a:r>
              <a:endParaRPr lang="en-US" sz="1100" dirty="0"/>
            </a:p>
            <a:p>
              <a:pPr marL="257175" indent="-257175">
                <a:spcAft>
                  <a:spcPts val="300"/>
                </a:spcAft>
                <a:buSzPct val="100000"/>
                <a:buChar char="•"/>
              </a:pPr>
              <a:r>
                <a:rPr lang="en-US" sz="1100" dirty="0">
                  <a:solidFill>
                    <a:srgbClr val="1A1F36"/>
                  </a:solidFill>
                  <a:latin typeface="Calibri"/>
                </a:rPr>
                <a:t>Strong on summarization and generation</a:t>
              </a:r>
              <a:endParaRPr lang="en-US" sz="1100" dirty="0"/>
            </a:p>
            <a:p>
              <a:pPr marL="257175" indent="-257175">
                <a:spcAft>
                  <a:spcPts val="300"/>
                </a:spcAft>
                <a:buSzPct val="100000"/>
                <a:buChar char="•"/>
              </a:pPr>
              <a:r>
                <a:rPr lang="en-US" sz="1100" dirty="0">
                  <a:solidFill>
                    <a:srgbClr val="1A1F36"/>
                  </a:solidFill>
                  <a:latin typeface="Calibri"/>
                </a:rPr>
                <a:t>Template for later seq2seq systems (mBART, Pegasus)</a:t>
              </a:r>
              <a:endParaRPr lang="en-US" sz="1100" dirty="0"/>
            </a:p>
          </p:txBody>
        </p:sp>
      </p:grpSp>
      <p:sp>
        <p:nvSpPr>
          <p:cNvPr id="38" name="Text 36"/>
          <p:cNvSpPr/>
          <p:nvPr/>
        </p:nvSpPr>
        <p:spPr>
          <a:xfrm>
            <a:off x="342900" y="4512564"/>
            <a:ext cx="8435340" cy="582930"/>
          </a:xfrm>
          <a:prstGeom prst="rect">
            <a:avLst/>
          </a:prstGeom>
          <a:noFill/>
          <a:ln/>
        </p:spPr>
        <p:txBody>
          <a:bodyPr wrap="square" lIns="0" tIns="0" rIns="0" bIns="0" rtlCol="0" anchor="t"/>
          <a:lstStyle/>
          <a:p>
            <a:pPr>
              <a:spcAft>
                <a:spcPts val="75"/>
              </a:spcAft>
            </a:pPr>
            <a:r>
              <a:rPr lang="en-US" sz="1000" i="1" dirty="0">
                <a:solidFill>
                  <a:srgbClr val="1A1F36"/>
                </a:solidFill>
                <a:latin typeface="Calibri"/>
              </a:rPr>
              <a:t>Raffel et al. (2019/2020). Exploring the Limits of Transfer Learning with a Unified Text-to-Text Transformer (T5). JMLR. arXiv:1910.10683.</a:t>
            </a:r>
            <a:endParaRPr lang="en-US" sz="1000" dirty="0"/>
          </a:p>
          <a:p>
            <a:pPr>
              <a:spcAft>
                <a:spcPts val="75"/>
              </a:spcAft>
            </a:pPr>
            <a:r>
              <a:rPr lang="en-US" sz="1000" i="1" dirty="0">
                <a:solidFill>
                  <a:srgbClr val="1A1F36"/>
                </a:solidFill>
                <a:latin typeface="Calibri"/>
              </a:rPr>
              <a:t>Lewis et al. (2019/2020). BART: Denoising Sequence-to-Sequence Pre-training for Natural Language Generation, Translation, and Comprehension. ACL. arXiv:1910.13461.</a:t>
            </a:r>
            <a:endParaRPr lang="en-US" sz="1000" dirty="0"/>
          </a:p>
        </p:txBody>
      </p:sp>
      <p:pic>
        <p:nvPicPr>
          <p:cNvPr id="3" name="Google Shape;109;p20">
            <a:extLst>
              <a:ext uri="{FF2B5EF4-FFF2-40B4-BE49-F238E27FC236}">
                <a16:creationId xmlns:a16="http://schemas.microsoft.com/office/drawing/2014/main" id="{2A433760-DD1A-EA84-70F9-376CB2379EEE}"/>
              </a:ext>
            </a:extLst>
          </p:cNvPr>
          <p:cNvPicPr preferRelativeResize="0"/>
          <p:nvPr/>
        </p:nvPicPr>
        <p:blipFill>
          <a:blip r:embed="rId3">
            <a:alphaModFix/>
          </a:blip>
          <a:stretch>
            <a:fillRect/>
          </a:stretch>
        </p:blipFill>
        <p:spPr>
          <a:xfrm>
            <a:off x="8369125" y="0"/>
            <a:ext cx="774877" cy="867174"/>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ext 0"/>
          <p:cNvSpPr/>
          <p:nvPr/>
        </p:nvSpPr>
        <p:spPr>
          <a:xfrm>
            <a:off x="365760" y="109728"/>
            <a:ext cx="8229600" cy="502920"/>
          </a:xfrm>
          <a:prstGeom prst="rect">
            <a:avLst/>
          </a:prstGeom>
          <a:noFill/>
          <a:ln/>
        </p:spPr>
        <p:txBody>
          <a:bodyPr wrap="square" lIns="0" tIns="0" rIns="0" bIns="0" rtlCol="0" anchor="ctr"/>
          <a:lstStyle/>
          <a:p>
            <a:pPr marL="0" indent="0" algn="l">
              <a:buNone/>
            </a:pPr>
            <a:r>
              <a:rPr lang="en-US" sz="2600" b="1" dirty="0">
                <a:solidFill>
                  <a:srgbClr val="1B3A6B"/>
                </a:solidFill>
                <a:latin typeface="Cambria" pitchFamily="34" charset="0"/>
                <a:ea typeface="Cambria" pitchFamily="34" charset="-122"/>
                <a:cs typeface="Cambria" pitchFamily="34" charset="-120"/>
              </a:rPr>
              <a:t>T5 Architecture: Text-to-Text Transfer Transformer</a:t>
            </a:r>
            <a:endParaRPr lang="en-US" sz="2600" dirty="0"/>
          </a:p>
        </p:txBody>
      </p:sp>
      <p:sp>
        <p:nvSpPr>
          <p:cNvPr id="4" name="Text 2"/>
          <p:cNvSpPr/>
          <p:nvPr/>
        </p:nvSpPr>
        <p:spPr>
          <a:xfrm>
            <a:off x="365760" y="713232"/>
            <a:ext cx="3840480" cy="201168"/>
          </a:xfrm>
          <a:prstGeom prst="rect">
            <a:avLst/>
          </a:prstGeom>
          <a:noFill/>
          <a:ln/>
        </p:spPr>
        <p:txBody>
          <a:bodyPr wrap="square" lIns="0" tIns="0" rIns="0" bIns="0" rtlCol="0" anchor="ctr"/>
          <a:lstStyle/>
          <a:p>
            <a:pPr marL="0" indent="0" algn="l">
              <a:buNone/>
            </a:pPr>
            <a:r>
              <a:rPr lang="en-US" sz="800" b="1" kern="0" spc="200" dirty="0">
                <a:solidFill>
                  <a:srgbClr val="B8922A"/>
                </a:solidFill>
                <a:latin typeface="Calibri" pitchFamily="34" charset="0"/>
                <a:ea typeface="Calibri" pitchFamily="34" charset="-122"/>
                <a:cs typeface="Calibri" pitchFamily="34" charset="-120"/>
              </a:rPr>
              <a:t>ENCODER–DECODER ARCHITECTURE</a:t>
            </a:r>
            <a:endParaRPr lang="en-US" sz="800" dirty="0"/>
          </a:p>
        </p:txBody>
      </p:sp>
      <p:sp>
        <p:nvSpPr>
          <p:cNvPr id="5" name="Shape 3"/>
          <p:cNvSpPr/>
          <p:nvPr/>
        </p:nvSpPr>
        <p:spPr>
          <a:xfrm>
            <a:off x="182880" y="987551"/>
            <a:ext cx="1097280" cy="2468875"/>
          </a:xfrm>
          <a:prstGeom prst="roundRect">
            <a:avLst>
              <a:gd name="adj" fmla="val 6667"/>
            </a:avLst>
          </a:prstGeom>
          <a:solidFill>
            <a:srgbClr val="EEF2FA"/>
          </a:solidFill>
          <a:ln w="12700">
            <a:solidFill>
              <a:srgbClr val="2E5598"/>
            </a:solidFill>
            <a:prstDash val="solid"/>
          </a:ln>
        </p:spPr>
      </p:sp>
      <p:sp>
        <p:nvSpPr>
          <p:cNvPr id="6" name="Text 4"/>
          <p:cNvSpPr/>
          <p:nvPr/>
        </p:nvSpPr>
        <p:spPr>
          <a:xfrm>
            <a:off x="182880" y="1078992"/>
            <a:ext cx="1097280" cy="411480"/>
          </a:xfrm>
          <a:prstGeom prst="rect">
            <a:avLst/>
          </a:prstGeom>
          <a:noFill/>
          <a:ln/>
        </p:spPr>
        <p:txBody>
          <a:bodyPr wrap="square" rtlCol="0" anchor="ctr"/>
          <a:lstStyle/>
          <a:p>
            <a:pPr marL="0" indent="0" algn="ctr">
              <a:buNone/>
            </a:pPr>
            <a:r>
              <a:rPr lang="en-US" sz="900" b="1" dirty="0">
                <a:solidFill>
                  <a:srgbClr val="1B3A6B"/>
                </a:solidFill>
                <a:latin typeface="Calibri" pitchFamily="34" charset="0"/>
                <a:ea typeface="Calibri" pitchFamily="34" charset="-122"/>
                <a:cs typeface="Calibri" pitchFamily="34" charset="-120"/>
              </a:rPr>
              <a:t>Input</a:t>
            </a:r>
            <a:endParaRPr lang="en-US" sz="900" dirty="0"/>
          </a:p>
          <a:p>
            <a:pPr marL="0" indent="0" algn="ctr">
              <a:buNone/>
            </a:pPr>
            <a:r>
              <a:rPr lang="en-US" sz="900" b="1" dirty="0">
                <a:solidFill>
                  <a:srgbClr val="1B3A6B"/>
                </a:solidFill>
                <a:latin typeface="Calibri" pitchFamily="34" charset="0"/>
                <a:ea typeface="Calibri" pitchFamily="34" charset="-122"/>
                <a:cs typeface="Calibri" pitchFamily="34" charset="-120"/>
              </a:rPr>
              <a:t>Tokens</a:t>
            </a:r>
            <a:endParaRPr lang="en-US" sz="900" dirty="0"/>
          </a:p>
        </p:txBody>
      </p:sp>
      <p:sp>
        <p:nvSpPr>
          <p:cNvPr id="7" name="Shape 5"/>
          <p:cNvSpPr/>
          <p:nvPr/>
        </p:nvSpPr>
        <p:spPr>
          <a:xfrm>
            <a:off x="274320" y="1554480"/>
            <a:ext cx="914400" cy="256032"/>
          </a:xfrm>
          <a:prstGeom prst="roundRect">
            <a:avLst>
              <a:gd name="adj" fmla="val 21429"/>
            </a:avLst>
          </a:prstGeom>
          <a:solidFill>
            <a:srgbClr val="2E5598"/>
          </a:solidFill>
          <a:ln w="12700">
            <a:solidFill>
              <a:srgbClr val="2E5598"/>
            </a:solidFill>
            <a:prstDash val="solid"/>
          </a:ln>
        </p:spPr>
      </p:sp>
      <p:sp>
        <p:nvSpPr>
          <p:cNvPr id="8" name="Text 6"/>
          <p:cNvSpPr/>
          <p:nvPr/>
        </p:nvSpPr>
        <p:spPr>
          <a:xfrm>
            <a:off x="274320" y="1554480"/>
            <a:ext cx="914400" cy="256032"/>
          </a:xfrm>
          <a:prstGeom prst="rect">
            <a:avLst/>
          </a:prstGeom>
          <a:noFill/>
          <a:ln/>
        </p:spPr>
        <p:txBody>
          <a:bodyPr wrap="square" rtlCol="0" anchor="ctr"/>
          <a:lstStyle/>
          <a:p>
            <a:pPr marL="0" indent="0" algn="ctr">
              <a:buNone/>
            </a:pPr>
            <a:r>
              <a:rPr lang="en-US" sz="800" dirty="0">
                <a:solidFill>
                  <a:srgbClr val="FFFFFF"/>
                </a:solidFill>
                <a:latin typeface="Calibri" pitchFamily="34" charset="0"/>
                <a:ea typeface="Calibri" pitchFamily="34" charset="-122"/>
                <a:cs typeface="Calibri" pitchFamily="34" charset="-120"/>
              </a:rPr>
              <a:t>Translate</a:t>
            </a:r>
            <a:endParaRPr lang="en-US" sz="800" dirty="0"/>
          </a:p>
        </p:txBody>
      </p:sp>
      <p:sp>
        <p:nvSpPr>
          <p:cNvPr id="9" name="Shape 7"/>
          <p:cNvSpPr/>
          <p:nvPr/>
        </p:nvSpPr>
        <p:spPr>
          <a:xfrm>
            <a:off x="274320" y="1883664"/>
            <a:ext cx="914400" cy="256032"/>
          </a:xfrm>
          <a:prstGeom prst="roundRect">
            <a:avLst>
              <a:gd name="adj" fmla="val 21429"/>
            </a:avLst>
          </a:prstGeom>
          <a:solidFill>
            <a:srgbClr val="2E5598"/>
          </a:solidFill>
          <a:ln w="12700">
            <a:solidFill>
              <a:srgbClr val="2E5598"/>
            </a:solidFill>
            <a:prstDash val="solid"/>
          </a:ln>
        </p:spPr>
      </p:sp>
      <p:sp>
        <p:nvSpPr>
          <p:cNvPr id="10" name="Text 8"/>
          <p:cNvSpPr/>
          <p:nvPr/>
        </p:nvSpPr>
        <p:spPr>
          <a:xfrm>
            <a:off x="274320" y="1883664"/>
            <a:ext cx="914400" cy="256032"/>
          </a:xfrm>
          <a:prstGeom prst="rect">
            <a:avLst/>
          </a:prstGeom>
          <a:noFill/>
          <a:ln/>
        </p:spPr>
        <p:txBody>
          <a:bodyPr wrap="square" rtlCol="0" anchor="ctr"/>
          <a:lstStyle/>
          <a:p>
            <a:pPr marL="0" indent="0" algn="ctr">
              <a:buNone/>
            </a:pPr>
            <a:r>
              <a:rPr lang="en-US" sz="800" dirty="0">
                <a:solidFill>
                  <a:srgbClr val="FFFFFF"/>
                </a:solidFill>
                <a:latin typeface="Calibri" pitchFamily="34" charset="0"/>
                <a:ea typeface="Calibri" pitchFamily="34" charset="-122"/>
                <a:cs typeface="Calibri" pitchFamily="34" charset="-120"/>
              </a:rPr>
              <a:t>English</a:t>
            </a:r>
            <a:endParaRPr lang="en-US" sz="800" dirty="0"/>
          </a:p>
        </p:txBody>
      </p:sp>
      <p:sp>
        <p:nvSpPr>
          <p:cNvPr id="11" name="Shape 9"/>
          <p:cNvSpPr/>
          <p:nvPr/>
        </p:nvSpPr>
        <p:spPr>
          <a:xfrm>
            <a:off x="274320" y="2212848"/>
            <a:ext cx="914400" cy="256032"/>
          </a:xfrm>
          <a:prstGeom prst="roundRect">
            <a:avLst>
              <a:gd name="adj" fmla="val 21429"/>
            </a:avLst>
          </a:prstGeom>
          <a:solidFill>
            <a:srgbClr val="2E5598"/>
          </a:solidFill>
          <a:ln w="12700">
            <a:solidFill>
              <a:srgbClr val="2E5598"/>
            </a:solidFill>
            <a:prstDash val="solid"/>
          </a:ln>
        </p:spPr>
      </p:sp>
      <p:sp>
        <p:nvSpPr>
          <p:cNvPr id="12" name="Text 10"/>
          <p:cNvSpPr/>
          <p:nvPr/>
        </p:nvSpPr>
        <p:spPr>
          <a:xfrm>
            <a:off x="274320" y="2212848"/>
            <a:ext cx="914400" cy="256032"/>
          </a:xfrm>
          <a:prstGeom prst="rect">
            <a:avLst/>
          </a:prstGeom>
          <a:noFill/>
          <a:ln/>
        </p:spPr>
        <p:txBody>
          <a:bodyPr wrap="square" rtlCol="0" anchor="ctr"/>
          <a:lstStyle/>
          <a:p>
            <a:pPr marL="0" indent="0" algn="ctr">
              <a:buNone/>
            </a:pPr>
            <a:r>
              <a:rPr lang="en-US" sz="800" dirty="0">
                <a:solidFill>
                  <a:srgbClr val="FFFFFF"/>
                </a:solidFill>
                <a:latin typeface="Calibri" pitchFamily="34" charset="0"/>
                <a:ea typeface="Calibri" pitchFamily="34" charset="-122"/>
                <a:cs typeface="Calibri" pitchFamily="34" charset="-120"/>
              </a:rPr>
              <a:t>to</a:t>
            </a:r>
            <a:endParaRPr lang="en-US" sz="800" dirty="0"/>
          </a:p>
        </p:txBody>
      </p:sp>
      <p:sp>
        <p:nvSpPr>
          <p:cNvPr id="13" name="Shape 11"/>
          <p:cNvSpPr/>
          <p:nvPr/>
        </p:nvSpPr>
        <p:spPr>
          <a:xfrm>
            <a:off x="274320" y="2542032"/>
            <a:ext cx="914400" cy="256032"/>
          </a:xfrm>
          <a:prstGeom prst="roundRect">
            <a:avLst>
              <a:gd name="adj" fmla="val 21429"/>
            </a:avLst>
          </a:prstGeom>
          <a:solidFill>
            <a:srgbClr val="2E5598"/>
          </a:solidFill>
          <a:ln w="12700">
            <a:solidFill>
              <a:srgbClr val="2E5598"/>
            </a:solidFill>
            <a:prstDash val="solid"/>
          </a:ln>
        </p:spPr>
      </p:sp>
      <p:sp>
        <p:nvSpPr>
          <p:cNvPr id="14" name="Text 12"/>
          <p:cNvSpPr/>
          <p:nvPr/>
        </p:nvSpPr>
        <p:spPr>
          <a:xfrm>
            <a:off x="274320" y="2542032"/>
            <a:ext cx="914400" cy="256032"/>
          </a:xfrm>
          <a:prstGeom prst="rect">
            <a:avLst/>
          </a:prstGeom>
          <a:noFill/>
          <a:ln/>
        </p:spPr>
        <p:txBody>
          <a:bodyPr wrap="square" rtlCol="0" anchor="ctr"/>
          <a:lstStyle/>
          <a:p>
            <a:pPr marL="0" indent="0" algn="ctr">
              <a:buNone/>
            </a:pPr>
            <a:r>
              <a:rPr lang="en-US" sz="800" dirty="0">
                <a:solidFill>
                  <a:srgbClr val="FFFFFF"/>
                </a:solidFill>
                <a:latin typeface="Calibri" pitchFamily="34" charset="0"/>
                <a:ea typeface="Calibri" pitchFamily="34" charset="-122"/>
                <a:cs typeface="Calibri" pitchFamily="34" charset="-120"/>
              </a:rPr>
              <a:t>German:</a:t>
            </a:r>
            <a:endParaRPr lang="en-US" sz="800" dirty="0"/>
          </a:p>
        </p:txBody>
      </p:sp>
      <p:sp>
        <p:nvSpPr>
          <p:cNvPr id="16" name="Text 14"/>
          <p:cNvSpPr/>
          <p:nvPr/>
        </p:nvSpPr>
        <p:spPr>
          <a:xfrm>
            <a:off x="274320" y="2871216"/>
            <a:ext cx="914400" cy="256032"/>
          </a:xfrm>
          <a:prstGeom prst="rect">
            <a:avLst/>
          </a:prstGeom>
          <a:noFill/>
          <a:ln/>
        </p:spPr>
        <p:txBody>
          <a:bodyPr wrap="square" rtlCol="0" anchor="ctr"/>
          <a:lstStyle/>
          <a:p>
            <a:pPr marL="0" indent="0" algn="ctr">
              <a:buNone/>
            </a:pPr>
            <a:r>
              <a:rPr lang="en-US" sz="800" dirty="0">
                <a:solidFill>
                  <a:srgbClr val="002060"/>
                </a:solidFill>
                <a:latin typeface="Calibri" pitchFamily="34" charset="0"/>
                <a:ea typeface="Calibri" pitchFamily="34" charset="-122"/>
                <a:cs typeface="Calibri" pitchFamily="34" charset="-120"/>
              </a:rPr>
              <a:t>Hello</a:t>
            </a:r>
            <a:endParaRPr lang="en-US" sz="800" dirty="0">
              <a:solidFill>
                <a:srgbClr val="002060"/>
              </a:solidFill>
            </a:endParaRPr>
          </a:p>
        </p:txBody>
      </p:sp>
      <p:sp>
        <p:nvSpPr>
          <p:cNvPr id="17" name="Shape 15"/>
          <p:cNvSpPr/>
          <p:nvPr/>
        </p:nvSpPr>
        <p:spPr>
          <a:xfrm>
            <a:off x="1298448" y="2153412"/>
            <a:ext cx="256032" cy="0"/>
          </a:xfrm>
          <a:prstGeom prst="line">
            <a:avLst/>
          </a:prstGeom>
          <a:noFill/>
          <a:ln w="25400">
            <a:solidFill>
              <a:srgbClr val="B8922A"/>
            </a:solidFill>
            <a:prstDash val="solid"/>
          </a:ln>
        </p:spPr>
      </p:sp>
      <p:sp>
        <p:nvSpPr>
          <p:cNvPr id="18" name="Shape 16"/>
          <p:cNvSpPr/>
          <p:nvPr/>
        </p:nvSpPr>
        <p:spPr>
          <a:xfrm>
            <a:off x="1527048" y="2107692"/>
            <a:ext cx="0" cy="0"/>
          </a:xfrm>
          <a:prstGeom prst="rect">
            <a:avLst/>
          </a:prstGeom>
          <a:solidFill>
            <a:srgbClr val="B8922A"/>
          </a:solidFill>
          <a:ln/>
        </p:spPr>
      </p:sp>
      <p:sp>
        <p:nvSpPr>
          <p:cNvPr id="19" name="Shape 17"/>
          <p:cNvSpPr/>
          <p:nvPr/>
        </p:nvSpPr>
        <p:spPr>
          <a:xfrm>
            <a:off x="1572768" y="987552"/>
            <a:ext cx="1920240" cy="2331720"/>
          </a:xfrm>
          <a:prstGeom prst="roundRect">
            <a:avLst>
              <a:gd name="adj" fmla="val 4762"/>
            </a:avLst>
          </a:prstGeom>
          <a:solidFill>
            <a:srgbClr val="E8F0FD"/>
          </a:solidFill>
          <a:ln w="19050">
            <a:solidFill>
              <a:srgbClr val="1B3A6B"/>
            </a:solidFill>
            <a:prstDash val="solid"/>
          </a:ln>
        </p:spPr>
      </p:sp>
      <p:sp>
        <p:nvSpPr>
          <p:cNvPr id="20" name="Text 18"/>
          <p:cNvSpPr/>
          <p:nvPr/>
        </p:nvSpPr>
        <p:spPr>
          <a:xfrm>
            <a:off x="1572768" y="1060704"/>
            <a:ext cx="1920240" cy="274320"/>
          </a:xfrm>
          <a:prstGeom prst="rect">
            <a:avLst/>
          </a:prstGeom>
          <a:noFill/>
          <a:ln/>
        </p:spPr>
        <p:txBody>
          <a:bodyPr wrap="square" rtlCol="0" anchor="ctr"/>
          <a:lstStyle/>
          <a:p>
            <a:pPr marL="0" indent="0" algn="ctr">
              <a:buNone/>
            </a:pPr>
            <a:r>
              <a:rPr lang="en-US" sz="900" b="1" kern="0" spc="200" dirty="0">
                <a:solidFill>
                  <a:srgbClr val="1B3A6B"/>
                </a:solidFill>
                <a:latin typeface="Calibri" pitchFamily="34" charset="0"/>
                <a:ea typeface="Calibri" pitchFamily="34" charset="-122"/>
                <a:cs typeface="Calibri" pitchFamily="34" charset="-120"/>
              </a:rPr>
              <a:t>ENCODER</a:t>
            </a:r>
            <a:endParaRPr lang="en-US" sz="900" dirty="0"/>
          </a:p>
        </p:txBody>
      </p:sp>
      <p:sp>
        <p:nvSpPr>
          <p:cNvPr id="21" name="Shape 19"/>
          <p:cNvSpPr/>
          <p:nvPr/>
        </p:nvSpPr>
        <p:spPr>
          <a:xfrm>
            <a:off x="1709928" y="1408176"/>
            <a:ext cx="1645920" cy="246888"/>
          </a:xfrm>
          <a:prstGeom prst="roundRect">
            <a:avLst>
              <a:gd name="adj" fmla="val 18519"/>
            </a:avLst>
          </a:prstGeom>
          <a:solidFill>
            <a:srgbClr val="3B68C4"/>
          </a:solidFill>
          <a:ln w="12700">
            <a:solidFill>
              <a:srgbClr val="3B68C4"/>
            </a:solidFill>
            <a:prstDash val="solid"/>
          </a:ln>
        </p:spPr>
      </p:sp>
      <p:sp>
        <p:nvSpPr>
          <p:cNvPr id="22" name="Text 20"/>
          <p:cNvSpPr/>
          <p:nvPr/>
        </p:nvSpPr>
        <p:spPr>
          <a:xfrm>
            <a:off x="1709928" y="1408176"/>
            <a:ext cx="1645920" cy="246888"/>
          </a:xfrm>
          <a:prstGeom prst="rect">
            <a:avLst/>
          </a:prstGeom>
          <a:noFill/>
          <a:ln/>
        </p:spPr>
        <p:txBody>
          <a:bodyPr wrap="square" rtlCol="0" anchor="ctr"/>
          <a:lstStyle/>
          <a:p>
            <a:pPr marL="0" indent="0" algn="ctr">
              <a:buNone/>
            </a:pPr>
            <a:r>
              <a:rPr lang="en-US" sz="750" dirty="0">
                <a:solidFill>
                  <a:srgbClr val="FFFFFF"/>
                </a:solidFill>
                <a:latin typeface="Calibri" pitchFamily="34" charset="0"/>
                <a:ea typeface="Calibri" pitchFamily="34" charset="-122"/>
                <a:cs typeface="Calibri" pitchFamily="34" charset="-120"/>
              </a:rPr>
              <a:t>Self-Attention</a:t>
            </a:r>
            <a:endParaRPr lang="en-US" sz="750" dirty="0"/>
          </a:p>
        </p:txBody>
      </p:sp>
      <p:sp>
        <p:nvSpPr>
          <p:cNvPr id="23" name="Shape 21"/>
          <p:cNvSpPr/>
          <p:nvPr/>
        </p:nvSpPr>
        <p:spPr>
          <a:xfrm>
            <a:off x="1709928" y="1719072"/>
            <a:ext cx="1645920" cy="246888"/>
          </a:xfrm>
          <a:prstGeom prst="roundRect">
            <a:avLst>
              <a:gd name="adj" fmla="val 18519"/>
            </a:avLst>
          </a:prstGeom>
          <a:solidFill>
            <a:srgbClr val="2E5598"/>
          </a:solidFill>
          <a:ln w="12700">
            <a:solidFill>
              <a:srgbClr val="2E5598"/>
            </a:solidFill>
            <a:prstDash val="solid"/>
          </a:ln>
        </p:spPr>
      </p:sp>
      <p:sp>
        <p:nvSpPr>
          <p:cNvPr id="24" name="Text 22"/>
          <p:cNvSpPr/>
          <p:nvPr/>
        </p:nvSpPr>
        <p:spPr>
          <a:xfrm>
            <a:off x="1709928" y="1719072"/>
            <a:ext cx="1645920" cy="246888"/>
          </a:xfrm>
          <a:prstGeom prst="rect">
            <a:avLst/>
          </a:prstGeom>
          <a:noFill/>
          <a:ln/>
        </p:spPr>
        <p:txBody>
          <a:bodyPr wrap="square" rtlCol="0" anchor="ctr"/>
          <a:lstStyle/>
          <a:p>
            <a:pPr marL="0" indent="0" algn="ctr">
              <a:buNone/>
            </a:pPr>
            <a:r>
              <a:rPr lang="en-US" sz="750" dirty="0">
                <a:solidFill>
                  <a:srgbClr val="FFFFFF"/>
                </a:solidFill>
                <a:latin typeface="Calibri" pitchFamily="34" charset="0"/>
                <a:ea typeface="Calibri" pitchFamily="34" charset="-122"/>
                <a:cs typeface="Calibri" pitchFamily="34" charset="-120"/>
              </a:rPr>
              <a:t>Feed-Forward</a:t>
            </a:r>
            <a:endParaRPr lang="en-US" sz="750" dirty="0"/>
          </a:p>
        </p:txBody>
      </p:sp>
      <p:sp>
        <p:nvSpPr>
          <p:cNvPr id="25" name="Shape 23"/>
          <p:cNvSpPr/>
          <p:nvPr/>
        </p:nvSpPr>
        <p:spPr>
          <a:xfrm>
            <a:off x="1709928" y="2029968"/>
            <a:ext cx="1645920" cy="246888"/>
          </a:xfrm>
          <a:prstGeom prst="roundRect">
            <a:avLst>
              <a:gd name="adj" fmla="val 18519"/>
            </a:avLst>
          </a:prstGeom>
          <a:solidFill>
            <a:srgbClr val="8BA8D8"/>
          </a:solidFill>
          <a:ln w="12700">
            <a:solidFill>
              <a:srgbClr val="8BA8D8"/>
            </a:solidFill>
            <a:prstDash val="solid"/>
          </a:ln>
        </p:spPr>
      </p:sp>
      <p:sp>
        <p:nvSpPr>
          <p:cNvPr id="26" name="Text 24"/>
          <p:cNvSpPr/>
          <p:nvPr/>
        </p:nvSpPr>
        <p:spPr>
          <a:xfrm>
            <a:off x="1709928" y="2029968"/>
            <a:ext cx="1645920" cy="246888"/>
          </a:xfrm>
          <a:prstGeom prst="rect">
            <a:avLst/>
          </a:prstGeom>
          <a:noFill/>
          <a:ln/>
        </p:spPr>
        <p:txBody>
          <a:bodyPr wrap="square" rtlCol="0" anchor="ctr"/>
          <a:lstStyle/>
          <a:p>
            <a:pPr marL="0" indent="0" algn="ctr">
              <a:buNone/>
            </a:pPr>
            <a:r>
              <a:rPr lang="en-US" sz="750" dirty="0">
                <a:solidFill>
                  <a:srgbClr val="FFFFFF"/>
                </a:solidFill>
                <a:latin typeface="Calibri" pitchFamily="34" charset="0"/>
                <a:ea typeface="Calibri" pitchFamily="34" charset="-122"/>
                <a:cs typeface="Calibri" pitchFamily="34" charset="-120"/>
              </a:rPr>
              <a:t>Layer Norm</a:t>
            </a:r>
            <a:endParaRPr lang="en-US" sz="750" dirty="0"/>
          </a:p>
        </p:txBody>
      </p:sp>
      <p:sp>
        <p:nvSpPr>
          <p:cNvPr id="27" name="Shape 25"/>
          <p:cNvSpPr/>
          <p:nvPr/>
        </p:nvSpPr>
        <p:spPr>
          <a:xfrm>
            <a:off x="1709928" y="2340864"/>
            <a:ext cx="1645920" cy="246888"/>
          </a:xfrm>
          <a:prstGeom prst="roundRect">
            <a:avLst>
              <a:gd name="adj" fmla="val 18519"/>
            </a:avLst>
          </a:prstGeom>
          <a:solidFill>
            <a:srgbClr val="3B68C4"/>
          </a:solidFill>
          <a:ln w="12700">
            <a:solidFill>
              <a:srgbClr val="3B68C4"/>
            </a:solidFill>
            <a:prstDash val="solid"/>
          </a:ln>
        </p:spPr>
      </p:sp>
      <p:sp>
        <p:nvSpPr>
          <p:cNvPr id="28" name="Text 26"/>
          <p:cNvSpPr/>
          <p:nvPr/>
        </p:nvSpPr>
        <p:spPr>
          <a:xfrm>
            <a:off x="1709928" y="2340864"/>
            <a:ext cx="1645920" cy="246888"/>
          </a:xfrm>
          <a:prstGeom prst="rect">
            <a:avLst/>
          </a:prstGeom>
          <a:noFill/>
          <a:ln/>
        </p:spPr>
        <p:txBody>
          <a:bodyPr wrap="square" rtlCol="0" anchor="ctr"/>
          <a:lstStyle/>
          <a:p>
            <a:pPr marL="0" indent="0" algn="ctr">
              <a:buNone/>
            </a:pPr>
            <a:r>
              <a:rPr lang="en-US" sz="750" dirty="0">
                <a:solidFill>
                  <a:srgbClr val="FFFFFF"/>
                </a:solidFill>
                <a:latin typeface="Calibri" pitchFamily="34" charset="0"/>
                <a:ea typeface="Calibri" pitchFamily="34" charset="-122"/>
                <a:cs typeface="Calibri" pitchFamily="34" charset="-120"/>
              </a:rPr>
              <a:t>Self-Attention</a:t>
            </a:r>
            <a:endParaRPr lang="en-US" sz="750" dirty="0"/>
          </a:p>
        </p:txBody>
      </p:sp>
      <p:sp>
        <p:nvSpPr>
          <p:cNvPr id="29" name="Shape 27"/>
          <p:cNvSpPr/>
          <p:nvPr/>
        </p:nvSpPr>
        <p:spPr>
          <a:xfrm>
            <a:off x="1709928" y="2651760"/>
            <a:ext cx="1645920" cy="246888"/>
          </a:xfrm>
          <a:prstGeom prst="roundRect">
            <a:avLst>
              <a:gd name="adj" fmla="val 18519"/>
            </a:avLst>
          </a:prstGeom>
          <a:solidFill>
            <a:srgbClr val="2E5598"/>
          </a:solidFill>
          <a:ln w="12700">
            <a:solidFill>
              <a:srgbClr val="2E5598"/>
            </a:solidFill>
            <a:prstDash val="solid"/>
          </a:ln>
        </p:spPr>
      </p:sp>
      <p:sp>
        <p:nvSpPr>
          <p:cNvPr id="30" name="Text 28"/>
          <p:cNvSpPr/>
          <p:nvPr/>
        </p:nvSpPr>
        <p:spPr>
          <a:xfrm>
            <a:off x="1709928" y="2651760"/>
            <a:ext cx="1645920" cy="246888"/>
          </a:xfrm>
          <a:prstGeom prst="rect">
            <a:avLst/>
          </a:prstGeom>
          <a:noFill/>
          <a:ln/>
        </p:spPr>
        <p:txBody>
          <a:bodyPr wrap="square" rtlCol="0" anchor="ctr"/>
          <a:lstStyle/>
          <a:p>
            <a:pPr marL="0" indent="0" algn="ctr">
              <a:buNone/>
            </a:pPr>
            <a:r>
              <a:rPr lang="en-US" sz="750" dirty="0">
                <a:solidFill>
                  <a:srgbClr val="FFFFFF"/>
                </a:solidFill>
                <a:latin typeface="Calibri" pitchFamily="34" charset="0"/>
                <a:ea typeface="Calibri" pitchFamily="34" charset="-122"/>
                <a:cs typeface="Calibri" pitchFamily="34" charset="-120"/>
              </a:rPr>
              <a:t>Feed-Forward</a:t>
            </a:r>
            <a:endParaRPr lang="en-US" sz="750" dirty="0"/>
          </a:p>
        </p:txBody>
      </p:sp>
      <p:sp>
        <p:nvSpPr>
          <p:cNvPr id="31" name="Shape 29"/>
          <p:cNvSpPr/>
          <p:nvPr/>
        </p:nvSpPr>
        <p:spPr>
          <a:xfrm>
            <a:off x="1709928" y="2962656"/>
            <a:ext cx="1645920" cy="246888"/>
          </a:xfrm>
          <a:prstGeom prst="roundRect">
            <a:avLst>
              <a:gd name="adj" fmla="val 18519"/>
            </a:avLst>
          </a:prstGeom>
          <a:solidFill>
            <a:srgbClr val="8BA8D8"/>
          </a:solidFill>
          <a:ln w="12700">
            <a:solidFill>
              <a:srgbClr val="8BA8D8"/>
            </a:solidFill>
            <a:prstDash val="solid"/>
          </a:ln>
        </p:spPr>
      </p:sp>
      <p:sp>
        <p:nvSpPr>
          <p:cNvPr id="32" name="Text 30"/>
          <p:cNvSpPr/>
          <p:nvPr/>
        </p:nvSpPr>
        <p:spPr>
          <a:xfrm>
            <a:off x="1709928" y="2962656"/>
            <a:ext cx="1645920" cy="246888"/>
          </a:xfrm>
          <a:prstGeom prst="rect">
            <a:avLst/>
          </a:prstGeom>
          <a:noFill/>
          <a:ln/>
        </p:spPr>
        <p:txBody>
          <a:bodyPr wrap="square" rtlCol="0" anchor="ctr"/>
          <a:lstStyle/>
          <a:p>
            <a:pPr marL="0" indent="0" algn="ctr">
              <a:buNone/>
            </a:pPr>
            <a:r>
              <a:rPr lang="en-US" sz="750" dirty="0">
                <a:solidFill>
                  <a:srgbClr val="FFFFFF"/>
                </a:solidFill>
                <a:latin typeface="Calibri" pitchFamily="34" charset="0"/>
                <a:ea typeface="Calibri" pitchFamily="34" charset="-122"/>
                <a:cs typeface="Calibri" pitchFamily="34" charset="-120"/>
              </a:rPr>
              <a:t>Layer Norm</a:t>
            </a:r>
            <a:endParaRPr lang="en-US" sz="750" dirty="0"/>
          </a:p>
        </p:txBody>
      </p:sp>
      <p:sp>
        <p:nvSpPr>
          <p:cNvPr id="33" name="Text 31"/>
          <p:cNvSpPr/>
          <p:nvPr/>
        </p:nvSpPr>
        <p:spPr>
          <a:xfrm>
            <a:off x="1572768" y="3044952"/>
            <a:ext cx="1920240" cy="201168"/>
          </a:xfrm>
          <a:prstGeom prst="rect">
            <a:avLst/>
          </a:prstGeom>
          <a:noFill/>
          <a:ln/>
        </p:spPr>
        <p:txBody>
          <a:bodyPr wrap="square" rtlCol="0" anchor="ctr"/>
          <a:lstStyle/>
          <a:p>
            <a:pPr marL="0" indent="0" algn="ctr">
              <a:buNone/>
            </a:pPr>
            <a:r>
              <a:rPr lang="en-US" sz="800" i="1" dirty="0">
                <a:solidFill>
                  <a:srgbClr val="2E5598"/>
                </a:solidFill>
                <a:latin typeface="Calibri" pitchFamily="34" charset="0"/>
                <a:ea typeface="Calibri" pitchFamily="34" charset="-122"/>
                <a:cs typeface="Calibri" pitchFamily="34" charset="-120"/>
              </a:rPr>
              <a:t>× N layers</a:t>
            </a:r>
            <a:endParaRPr lang="en-US" sz="800" dirty="0"/>
          </a:p>
        </p:txBody>
      </p:sp>
      <p:sp>
        <p:nvSpPr>
          <p:cNvPr id="34" name="Shape 32"/>
          <p:cNvSpPr/>
          <p:nvPr/>
        </p:nvSpPr>
        <p:spPr>
          <a:xfrm>
            <a:off x="3511296" y="2153412"/>
            <a:ext cx="457200" cy="0"/>
          </a:xfrm>
          <a:prstGeom prst="line">
            <a:avLst/>
          </a:prstGeom>
          <a:noFill/>
          <a:ln w="25400">
            <a:solidFill>
              <a:srgbClr val="B8922A"/>
            </a:solidFill>
            <a:prstDash val="solid"/>
          </a:ln>
        </p:spPr>
      </p:sp>
      <p:sp>
        <p:nvSpPr>
          <p:cNvPr id="35" name="Text 33"/>
          <p:cNvSpPr/>
          <p:nvPr/>
        </p:nvSpPr>
        <p:spPr>
          <a:xfrm>
            <a:off x="3493008" y="1915668"/>
            <a:ext cx="502920" cy="182880"/>
          </a:xfrm>
          <a:prstGeom prst="rect">
            <a:avLst/>
          </a:prstGeom>
          <a:noFill/>
          <a:ln/>
        </p:spPr>
        <p:txBody>
          <a:bodyPr wrap="square" rtlCol="0" anchor="ctr"/>
          <a:lstStyle/>
          <a:p>
            <a:pPr marL="0" indent="0" algn="ctr">
              <a:buNone/>
            </a:pPr>
            <a:r>
              <a:rPr lang="en-US" sz="700" i="1" dirty="0">
                <a:solidFill>
                  <a:srgbClr val="B8922A"/>
                </a:solidFill>
                <a:latin typeface="Calibri" pitchFamily="34" charset="0"/>
                <a:ea typeface="Calibri" pitchFamily="34" charset="-122"/>
                <a:cs typeface="Calibri" pitchFamily="34" charset="-120"/>
              </a:rPr>
              <a:t>context</a:t>
            </a:r>
            <a:endParaRPr lang="en-US" sz="700" dirty="0"/>
          </a:p>
        </p:txBody>
      </p:sp>
      <p:sp>
        <p:nvSpPr>
          <p:cNvPr id="36" name="Shape 34"/>
          <p:cNvSpPr/>
          <p:nvPr/>
        </p:nvSpPr>
        <p:spPr>
          <a:xfrm>
            <a:off x="3986784" y="987552"/>
            <a:ext cx="1965960" cy="2331720"/>
          </a:xfrm>
          <a:prstGeom prst="roundRect">
            <a:avLst>
              <a:gd name="adj" fmla="val 4651"/>
            </a:avLst>
          </a:prstGeom>
          <a:solidFill>
            <a:srgbClr val="FDF5E6"/>
          </a:solidFill>
          <a:ln w="19050">
            <a:solidFill>
              <a:srgbClr val="B8922A"/>
            </a:solidFill>
            <a:prstDash val="solid"/>
          </a:ln>
        </p:spPr>
      </p:sp>
      <p:sp>
        <p:nvSpPr>
          <p:cNvPr id="37" name="Text 35"/>
          <p:cNvSpPr/>
          <p:nvPr/>
        </p:nvSpPr>
        <p:spPr>
          <a:xfrm>
            <a:off x="3986784" y="1060704"/>
            <a:ext cx="1965960" cy="274320"/>
          </a:xfrm>
          <a:prstGeom prst="rect">
            <a:avLst/>
          </a:prstGeom>
          <a:noFill/>
          <a:ln/>
        </p:spPr>
        <p:txBody>
          <a:bodyPr wrap="square" rtlCol="0" anchor="ctr"/>
          <a:lstStyle/>
          <a:p>
            <a:pPr marL="0" indent="0" algn="ctr">
              <a:buNone/>
            </a:pPr>
            <a:r>
              <a:rPr lang="en-US" sz="900" b="1" kern="0" spc="200" dirty="0">
                <a:solidFill>
                  <a:srgbClr val="0F2547"/>
                </a:solidFill>
                <a:latin typeface="Calibri" pitchFamily="34" charset="0"/>
                <a:ea typeface="Calibri" pitchFamily="34" charset="-122"/>
                <a:cs typeface="Calibri" pitchFamily="34" charset="-120"/>
              </a:rPr>
              <a:t>DECODER</a:t>
            </a:r>
            <a:endParaRPr lang="en-US" sz="900" dirty="0"/>
          </a:p>
        </p:txBody>
      </p:sp>
      <p:sp>
        <p:nvSpPr>
          <p:cNvPr id="38" name="Shape 36"/>
          <p:cNvSpPr/>
          <p:nvPr/>
        </p:nvSpPr>
        <p:spPr>
          <a:xfrm>
            <a:off x="4123944" y="1408176"/>
            <a:ext cx="1691640" cy="246888"/>
          </a:xfrm>
          <a:prstGeom prst="roundRect">
            <a:avLst>
              <a:gd name="adj" fmla="val 18519"/>
            </a:avLst>
          </a:prstGeom>
          <a:solidFill>
            <a:srgbClr val="B8922A"/>
          </a:solidFill>
          <a:ln w="12700">
            <a:solidFill>
              <a:srgbClr val="B8922A"/>
            </a:solidFill>
            <a:prstDash val="solid"/>
          </a:ln>
        </p:spPr>
      </p:sp>
      <p:sp>
        <p:nvSpPr>
          <p:cNvPr id="39" name="Text 37"/>
          <p:cNvSpPr/>
          <p:nvPr/>
        </p:nvSpPr>
        <p:spPr>
          <a:xfrm>
            <a:off x="4123944" y="1408176"/>
            <a:ext cx="1691640" cy="246888"/>
          </a:xfrm>
          <a:prstGeom prst="rect">
            <a:avLst/>
          </a:prstGeom>
          <a:noFill/>
          <a:ln/>
        </p:spPr>
        <p:txBody>
          <a:bodyPr wrap="square" rtlCol="0" anchor="ctr"/>
          <a:lstStyle/>
          <a:p>
            <a:pPr marL="0" indent="0" algn="ctr">
              <a:buNone/>
            </a:pPr>
            <a:r>
              <a:rPr lang="en-US" sz="750" dirty="0">
                <a:solidFill>
                  <a:srgbClr val="FFFFFF"/>
                </a:solidFill>
                <a:latin typeface="Calibri" pitchFamily="34" charset="0"/>
                <a:ea typeface="Calibri" pitchFamily="34" charset="-122"/>
                <a:cs typeface="Calibri" pitchFamily="34" charset="-120"/>
              </a:rPr>
              <a:t>Masked Self-Attention</a:t>
            </a:r>
            <a:endParaRPr lang="en-US" sz="750" dirty="0"/>
          </a:p>
        </p:txBody>
      </p:sp>
      <p:sp>
        <p:nvSpPr>
          <p:cNvPr id="40" name="Shape 38"/>
          <p:cNvSpPr/>
          <p:nvPr/>
        </p:nvSpPr>
        <p:spPr>
          <a:xfrm>
            <a:off x="4123944" y="1719072"/>
            <a:ext cx="1691640" cy="246888"/>
          </a:xfrm>
          <a:prstGeom prst="roundRect">
            <a:avLst>
              <a:gd name="adj" fmla="val 18519"/>
            </a:avLst>
          </a:prstGeom>
          <a:solidFill>
            <a:srgbClr val="8B6914"/>
          </a:solidFill>
          <a:ln w="12700">
            <a:solidFill>
              <a:srgbClr val="8B6914"/>
            </a:solidFill>
            <a:prstDash val="solid"/>
          </a:ln>
        </p:spPr>
      </p:sp>
      <p:sp>
        <p:nvSpPr>
          <p:cNvPr id="41" name="Text 39"/>
          <p:cNvSpPr/>
          <p:nvPr/>
        </p:nvSpPr>
        <p:spPr>
          <a:xfrm>
            <a:off x="4123944" y="1719072"/>
            <a:ext cx="1691640" cy="246888"/>
          </a:xfrm>
          <a:prstGeom prst="rect">
            <a:avLst/>
          </a:prstGeom>
          <a:noFill/>
          <a:ln/>
        </p:spPr>
        <p:txBody>
          <a:bodyPr wrap="square" rtlCol="0" anchor="ctr"/>
          <a:lstStyle/>
          <a:p>
            <a:pPr marL="0" indent="0" algn="ctr">
              <a:buNone/>
            </a:pPr>
            <a:r>
              <a:rPr lang="en-US" sz="750" dirty="0">
                <a:solidFill>
                  <a:srgbClr val="FFFFFF"/>
                </a:solidFill>
                <a:latin typeface="Calibri" pitchFamily="34" charset="0"/>
                <a:ea typeface="Calibri" pitchFamily="34" charset="-122"/>
                <a:cs typeface="Calibri" pitchFamily="34" charset="-120"/>
              </a:rPr>
              <a:t>Cross-Attention</a:t>
            </a:r>
            <a:endParaRPr lang="en-US" sz="750" dirty="0"/>
          </a:p>
        </p:txBody>
      </p:sp>
      <p:sp>
        <p:nvSpPr>
          <p:cNvPr id="42" name="Shape 40"/>
          <p:cNvSpPr/>
          <p:nvPr/>
        </p:nvSpPr>
        <p:spPr>
          <a:xfrm>
            <a:off x="4123944" y="2029968"/>
            <a:ext cx="1691640" cy="246888"/>
          </a:xfrm>
          <a:prstGeom prst="roundRect">
            <a:avLst>
              <a:gd name="adj" fmla="val 18519"/>
            </a:avLst>
          </a:prstGeom>
          <a:solidFill>
            <a:srgbClr val="C8A84B"/>
          </a:solidFill>
          <a:ln w="12700">
            <a:solidFill>
              <a:srgbClr val="C8A84B"/>
            </a:solidFill>
            <a:prstDash val="solid"/>
          </a:ln>
        </p:spPr>
      </p:sp>
      <p:sp>
        <p:nvSpPr>
          <p:cNvPr id="43" name="Text 41"/>
          <p:cNvSpPr/>
          <p:nvPr/>
        </p:nvSpPr>
        <p:spPr>
          <a:xfrm>
            <a:off x="4123944" y="2029968"/>
            <a:ext cx="1691640" cy="246888"/>
          </a:xfrm>
          <a:prstGeom prst="rect">
            <a:avLst/>
          </a:prstGeom>
          <a:noFill/>
          <a:ln/>
        </p:spPr>
        <p:txBody>
          <a:bodyPr wrap="square" rtlCol="0" anchor="ctr"/>
          <a:lstStyle/>
          <a:p>
            <a:pPr marL="0" indent="0" algn="ctr">
              <a:buNone/>
            </a:pPr>
            <a:r>
              <a:rPr lang="en-US" sz="750" dirty="0">
                <a:solidFill>
                  <a:srgbClr val="FFFFFF"/>
                </a:solidFill>
                <a:latin typeface="Calibri" pitchFamily="34" charset="0"/>
                <a:ea typeface="Calibri" pitchFamily="34" charset="-122"/>
                <a:cs typeface="Calibri" pitchFamily="34" charset="-120"/>
              </a:rPr>
              <a:t>Feed-Forward</a:t>
            </a:r>
            <a:endParaRPr lang="en-US" sz="750" dirty="0"/>
          </a:p>
        </p:txBody>
      </p:sp>
      <p:sp>
        <p:nvSpPr>
          <p:cNvPr id="44" name="Shape 42"/>
          <p:cNvSpPr/>
          <p:nvPr/>
        </p:nvSpPr>
        <p:spPr>
          <a:xfrm>
            <a:off x="4123944" y="2340864"/>
            <a:ext cx="1691640" cy="246888"/>
          </a:xfrm>
          <a:prstGeom prst="roundRect">
            <a:avLst>
              <a:gd name="adj" fmla="val 18519"/>
            </a:avLst>
          </a:prstGeom>
          <a:solidFill>
            <a:srgbClr val="B8922A"/>
          </a:solidFill>
          <a:ln w="12700">
            <a:solidFill>
              <a:srgbClr val="B8922A"/>
            </a:solidFill>
            <a:prstDash val="solid"/>
          </a:ln>
        </p:spPr>
      </p:sp>
      <p:sp>
        <p:nvSpPr>
          <p:cNvPr id="45" name="Text 43"/>
          <p:cNvSpPr/>
          <p:nvPr/>
        </p:nvSpPr>
        <p:spPr>
          <a:xfrm>
            <a:off x="4123944" y="2340864"/>
            <a:ext cx="1691640" cy="246888"/>
          </a:xfrm>
          <a:prstGeom prst="rect">
            <a:avLst/>
          </a:prstGeom>
          <a:noFill/>
          <a:ln/>
        </p:spPr>
        <p:txBody>
          <a:bodyPr wrap="square" rtlCol="0" anchor="ctr"/>
          <a:lstStyle/>
          <a:p>
            <a:pPr marL="0" indent="0" algn="ctr">
              <a:buNone/>
            </a:pPr>
            <a:r>
              <a:rPr lang="en-US" sz="750" dirty="0">
                <a:solidFill>
                  <a:srgbClr val="FFFFFF"/>
                </a:solidFill>
                <a:latin typeface="Calibri" pitchFamily="34" charset="0"/>
                <a:ea typeface="Calibri" pitchFamily="34" charset="-122"/>
                <a:cs typeface="Calibri" pitchFamily="34" charset="-120"/>
              </a:rPr>
              <a:t>Masked Self-Attention</a:t>
            </a:r>
            <a:endParaRPr lang="en-US" sz="750" dirty="0"/>
          </a:p>
        </p:txBody>
      </p:sp>
      <p:sp>
        <p:nvSpPr>
          <p:cNvPr id="46" name="Shape 44"/>
          <p:cNvSpPr/>
          <p:nvPr/>
        </p:nvSpPr>
        <p:spPr>
          <a:xfrm>
            <a:off x="4123944" y="2651760"/>
            <a:ext cx="1691640" cy="246888"/>
          </a:xfrm>
          <a:prstGeom prst="roundRect">
            <a:avLst>
              <a:gd name="adj" fmla="val 18519"/>
            </a:avLst>
          </a:prstGeom>
          <a:solidFill>
            <a:srgbClr val="8B6914"/>
          </a:solidFill>
          <a:ln w="12700">
            <a:solidFill>
              <a:srgbClr val="8B6914"/>
            </a:solidFill>
            <a:prstDash val="solid"/>
          </a:ln>
        </p:spPr>
      </p:sp>
      <p:sp>
        <p:nvSpPr>
          <p:cNvPr id="47" name="Text 45"/>
          <p:cNvSpPr/>
          <p:nvPr/>
        </p:nvSpPr>
        <p:spPr>
          <a:xfrm>
            <a:off x="4123944" y="2651760"/>
            <a:ext cx="1691640" cy="246888"/>
          </a:xfrm>
          <a:prstGeom prst="rect">
            <a:avLst/>
          </a:prstGeom>
          <a:noFill/>
          <a:ln/>
        </p:spPr>
        <p:txBody>
          <a:bodyPr wrap="square" rtlCol="0" anchor="ctr"/>
          <a:lstStyle/>
          <a:p>
            <a:pPr marL="0" indent="0" algn="ctr">
              <a:buNone/>
            </a:pPr>
            <a:r>
              <a:rPr lang="en-US" sz="750" dirty="0">
                <a:solidFill>
                  <a:srgbClr val="FFFFFF"/>
                </a:solidFill>
                <a:latin typeface="Calibri" pitchFamily="34" charset="0"/>
                <a:ea typeface="Calibri" pitchFamily="34" charset="-122"/>
                <a:cs typeface="Calibri" pitchFamily="34" charset="-120"/>
              </a:rPr>
              <a:t>Cross-Attention</a:t>
            </a:r>
            <a:endParaRPr lang="en-US" sz="750" dirty="0"/>
          </a:p>
        </p:txBody>
      </p:sp>
      <p:sp>
        <p:nvSpPr>
          <p:cNvPr id="48" name="Shape 46"/>
          <p:cNvSpPr/>
          <p:nvPr/>
        </p:nvSpPr>
        <p:spPr>
          <a:xfrm>
            <a:off x="4123944" y="2962656"/>
            <a:ext cx="1691640" cy="246888"/>
          </a:xfrm>
          <a:prstGeom prst="roundRect">
            <a:avLst>
              <a:gd name="adj" fmla="val 18519"/>
            </a:avLst>
          </a:prstGeom>
          <a:solidFill>
            <a:srgbClr val="C8A84B"/>
          </a:solidFill>
          <a:ln w="12700">
            <a:solidFill>
              <a:srgbClr val="C8A84B"/>
            </a:solidFill>
            <a:prstDash val="solid"/>
          </a:ln>
        </p:spPr>
      </p:sp>
      <p:sp>
        <p:nvSpPr>
          <p:cNvPr id="49" name="Text 47"/>
          <p:cNvSpPr/>
          <p:nvPr/>
        </p:nvSpPr>
        <p:spPr>
          <a:xfrm>
            <a:off x="4123944" y="2962656"/>
            <a:ext cx="1691640" cy="246888"/>
          </a:xfrm>
          <a:prstGeom prst="rect">
            <a:avLst/>
          </a:prstGeom>
          <a:noFill/>
          <a:ln/>
        </p:spPr>
        <p:txBody>
          <a:bodyPr wrap="square" rtlCol="0" anchor="ctr"/>
          <a:lstStyle/>
          <a:p>
            <a:pPr marL="0" indent="0" algn="ctr">
              <a:buNone/>
            </a:pPr>
            <a:r>
              <a:rPr lang="en-US" sz="750" dirty="0">
                <a:solidFill>
                  <a:srgbClr val="FFFFFF"/>
                </a:solidFill>
                <a:latin typeface="Calibri" pitchFamily="34" charset="0"/>
                <a:ea typeface="Calibri" pitchFamily="34" charset="-122"/>
                <a:cs typeface="Calibri" pitchFamily="34" charset="-120"/>
              </a:rPr>
              <a:t>Feed-Forward</a:t>
            </a:r>
            <a:endParaRPr lang="en-US" sz="750" dirty="0"/>
          </a:p>
        </p:txBody>
      </p:sp>
      <p:sp>
        <p:nvSpPr>
          <p:cNvPr id="50" name="Text 48"/>
          <p:cNvSpPr/>
          <p:nvPr/>
        </p:nvSpPr>
        <p:spPr>
          <a:xfrm>
            <a:off x="3986784" y="3044952"/>
            <a:ext cx="1965960" cy="201168"/>
          </a:xfrm>
          <a:prstGeom prst="rect">
            <a:avLst/>
          </a:prstGeom>
          <a:noFill/>
          <a:ln/>
        </p:spPr>
        <p:txBody>
          <a:bodyPr wrap="square" rtlCol="0" anchor="ctr"/>
          <a:lstStyle/>
          <a:p>
            <a:pPr marL="0" indent="0" algn="ctr">
              <a:buNone/>
            </a:pPr>
            <a:r>
              <a:rPr lang="en-US" sz="800" i="1" dirty="0">
                <a:solidFill>
                  <a:srgbClr val="B8922A"/>
                </a:solidFill>
                <a:latin typeface="Calibri" pitchFamily="34" charset="0"/>
                <a:ea typeface="Calibri" pitchFamily="34" charset="-122"/>
                <a:cs typeface="Calibri" pitchFamily="34" charset="-120"/>
              </a:rPr>
              <a:t>× N layers</a:t>
            </a:r>
            <a:endParaRPr lang="en-US" sz="800" dirty="0"/>
          </a:p>
        </p:txBody>
      </p:sp>
      <p:sp>
        <p:nvSpPr>
          <p:cNvPr id="51" name="Shape 49"/>
          <p:cNvSpPr/>
          <p:nvPr/>
        </p:nvSpPr>
        <p:spPr>
          <a:xfrm>
            <a:off x="5971032" y="2153412"/>
            <a:ext cx="256032" cy="0"/>
          </a:xfrm>
          <a:prstGeom prst="line">
            <a:avLst/>
          </a:prstGeom>
          <a:noFill/>
          <a:ln w="25400">
            <a:solidFill>
              <a:srgbClr val="B8922A"/>
            </a:solidFill>
            <a:prstDash val="solid"/>
          </a:ln>
        </p:spPr>
      </p:sp>
      <p:sp>
        <p:nvSpPr>
          <p:cNvPr id="52" name="Shape 50"/>
          <p:cNvSpPr/>
          <p:nvPr/>
        </p:nvSpPr>
        <p:spPr>
          <a:xfrm>
            <a:off x="6245352" y="987552"/>
            <a:ext cx="1143000" cy="2331720"/>
          </a:xfrm>
          <a:prstGeom prst="roundRect">
            <a:avLst>
              <a:gd name="adj" fmla="val 6400"/>
            </a:avLst>
          </a:prstGeom>
          <a:solidFill>
            <a:srgbClr val="FFF8EC"/>
          </a:solidFill>
          <a:ln w="12700">
            <a:solidFill>
              <a:srgbClr val="B8922A"/>
            </a:solidFill>
            <a:prstDash val="solid"/>
          </a:ln>
        </p:spPr>
      </p:sp>
      <p:sp>
        <p:nvSpPr>
          <p:cNvPr id="53" name="Text 51"/>
          <p:cNvSpPr/>
          <p:nvPr/>
        </p:nvSpPr>
        <p:spPr>
          <a:xfrm>
            <a:off x="6245352" y="1078992"/>
            <a:ext cx="1143000" cy="411480"/>
          </a:xfrm>
          <a:prstGeom prst="rect">
            <a:avLst/>
          </a:prstGeom>
          <a:noFill/>
          <a:ln/>
        </p:spPr>
        <p:txBody>
          <a:bodyPr wrap="square" rtlCol="0" anchor="ctr"/>
          <a:lstStyle/>
          <a:p>
            <a:pPr marL="0" indent="0" algn="ctr">
              <a:buNone/>
            </a:pPr>
            <a:r>
              <a:rPr lang="en-US" sz="900" b="1" dirty="0">
                <a:solidFill>
                  <a:srgbClr val="0F2547"/>
                </a:solidFill>
                <a:latin typeface="Calibri" pitchFamily="34" charset="0"/>
                <a:ea typeface="Calibri" pitchFamily="34" charset="-122"/>
                <a:cs typeface="Calibri" pitchFamily="34" charset="-120"/>
              </a:rPr>
              <a:t>Output</a:t>
            </a:r>
            <a:endParaRPr lang="en-US" sz="900" dirty="0"/>
          </a:p>
          <a:p>
            <a:pPr marL="0" indent="0" algn="ctr">
              <a:buNone/>
            </a:pPr>
            <a:r>
              <a:rPr lang="en-US" sz="900" b="1" dirty="0">
                <a:solidFill>
                  <a:srgbClr val="0F2547"/>
                </a:solidFill>
                <a:latin typeface="Calibri" pitchFamily="34" charset="0"/>
                <a:ea typeface="Calibri" pitchFamily="34" charset="-122"/>
                <a:cs typeface="Calibri" pitchFamily="34" charset="-120"/>
              </a:rPr>
              <a:t>Tokens</a:t>
            </a:r>
            <a:endParaRPr lang="en-US" sz="900" dirty="0"/>
          </a:p>
        </p:txBody>
      </p:sp>
      <p:sp>
        <p:nvSpPr>
          <p:cNvPr id="54" name="Shape 52"/>
          <p:cNvSpPr/>
          <p:nvPr/>
        </p:nvSpPr>
        <p:spPr>
          <a:xfrm>
            <a:off x="6355080" y="1581912"/>
            <a:ext cx="932688" cy="246888"/>
          </a:xfrm>
          <a:prstGeom prst="roundRect">
            <a:avLst>
              <a:gd name="adj" fmla="val 22222"/>
            </a:avLst>
          </a:prstGeom>
          <a:solidFill>
            <a:srgbClr val="B8922A"/>
          </a:solidFill>
          <a:ln w="12700">
            <a:solidFill>
              <a:srgbClr val="B8922A"/>
            </a:solidFill>
            <a:prstDash val="solid"/>
          </a:ln>
        </p:spPr>
      </p:sp>
      <p:sp>
        <p:nvSpPr>
          <p:cNvPr id="55" name="Text 53"/>
          <p:cNvSpPr/>
          <p:nvPr/>
        </p:nvSpPr>
        <p:spPr>
          <a:xfrm>
            <a:off x="6355080" y="1581912"/>
            <a:ext cx="932688" cy="246888"/>
          </a:xfrm>
          <a:prstGeom prst="rect">
            <a:avLst/>
          </a:prstGeom>
          <a:noFill/>
          <a:ln/>
        </p:spPr>
        <p:txBody>
          <a:bodyPr wrap="square" rtlCol="0" anchor="ctr"/>
          <a:lstStyle/>
          <a:p>
            <a:pPr marL="0" indent="0" algn="ctr">
              <a:buNone/>
            </a:pPr>
            <a:r>
              <a:rPr lang="en-US" sz="800" dirty="0">
                <a:solidFill>
                  <a:srgbClr val="FFFFFF"/>
                </a:solidFill>
                <a:latin typeface="Calibri" pitchFamily="34" charset="0"/>
                <a:ea typeface="Calibri" pitchFamily="34" charset="-122"/>
                <a:cs typeface="Calibri" pitchFamily="34" charset="-120"/>
              </a:rPr>
              <a:t>Hallo</a:t>
            </a:r>
            <a:endParaRPr lang="en-US" sz="800" dirty="0"/>
          </a:p>
        </p:txBody>
      </p:sp>
      <p:sp>
        <p:nvSpPr>
          <p:cNvPr id="56" name="Shape 54"/>
          <p:cNvSpPr/>
          <p:nvPr/>
        </p:nvSpPr>
        <p:spPr>
          <a:xfrm>
            <a:off x="6355080" y="1911096"/>
            <a:ext cx="932688" cy="246888"/>
          </a:xfrm>
          <a:prstGeom prst="roundRect">
            <a:avLst>
              <a:gd name="adj" fmla="val 22222"/>
            </a:avLst>
          </a:prstGeom>
          <a:solidFill>
            <a:srgbClr val="B8922A"/>
          </a:solidFill>
          <a:ln w="12700">
            <a:solidFill>
              <a:srgbClr val="B8922A"/>
            </a:solidFill>
            <a:prstDash val="solid"/>
          </a:ln>
        </p:spPr>
      </p:sp>
      <p:sp>
        <p:nvSpPr>
          <p:cNvPr id="57" name="Text 55"/>
          <p:cNvSpPr/>
          <p:nvPr/>
        </p:nvSpPr>
        <p:spPr>
          <a:xfrm>
            <a:off x="6355080" y="1911096"/>
            <a:ext cx="932688" cy="246888"/>
          </a:xfrm>
          <a:prstGeom prst="rect">
            <a:avLst/>
          </a:prstGeom>
          <a:noFill/>
          <a:ln/>
        </p:spPr>
        <p:txBody>
          <a:bodyPr wrap="square" rtlCol="0" anchor="ctr"/>
          <a:lstStyle/>
          <a:p>
            <a:pPr marL="0" indent="0" algn="ctr">
              <a:buNone/>
            </a:pPr>
            <a:r>
              <a:rPr lang="en-US" sz="800" dirty="0">
                <a:solidFill>
                  <a:srgbClr val="FFFFFF"/>
                </a:solidFill>
                <a:latin typeface="Calibri" pitchFamily="34" charset="0"/>
                <a:ea typeface="Calibri" pitchFamily="34" charset="-122"/>
                <a:cs typeface="Calibri" pitchFamily="34" charset="-120"/>
              </a:rPr>
              <a:t>Welt</a:t>
            </a:r>
            <a:endParaRPr lang="en-US" sz="800" dirty="0"/>
          </a:p>
        </p:txBody>
      </p:sp>
      <p:sp>
        <p:nvSpPr>
          <p:cNvPr id="58" name="Shape 56"/>
          <p:cNvSpPr/>
          <p:nvPr/>
        </p:nvSpPr>
        <p:spPr>
          <a:xfrm>
            <a:off x="6355080" y="2240280"/>
            <a:ext cx="932688" cy="246888"/>
          </a:xfrm>
          <a:prstGeom prst="roundRect">
            <a:avLst>
              <a:gd name="adj" fmla="val 22222"/>
            </a:avLst>
          </a:prstGeom>
          <a:solidFill>
            <a:srgbClr val="B8922A"/>
          </a:solidFill>
          <a:ln w="12700">
            <a:solidFill>
              <a:srgbClr val="B8922A"/>
            </a:solidFill>
            <a:prstDash val="solid"/>
          </a:ln>
        </p:spPr>
      </p:sp>
      <p:sp>
        <p:nvSpPr>
          <p:cNvPr id="59" name="Text 57"/>
          <p:cNvSpPr/>
          <p:nvPr/>
        </p:nvSpPr>
        <p:spPr>
          <a:xfrm>
            <a:off x="6355080" y="2240280"/>
            <a:ext cx="932688" cy="246888"/>
          </a:xfrm>
          <a:prstGeom prst="rect">
            <a:avLst/>
          </a:prstGeom>
          <a:noFill/>
          <a:ln/>
        </p:spPr>
        <p:txBody>
          <a:bodyPr wrap="square" rtlCol="0" anchor="ctr"/>
          <a:lstStyle/>
          <a:p>
            <a:pPr marL="0" indent="0" algn="ctr">
              <a:buNone/>
            </a:pPr>
            <a:r>
              <a:rPr lang="en-US" sz="800" dirty="0">
                <a:solidFill>
                  <a:srgbClr val="FFFFFF"/>
                </a:solidFill>
                <a:latin typeface="Calibri" pitchFamily="34" charset="0"/>
                <a:ea typeface="Calibri" pitchFamily="34" charset="-122"/>
                <a:cs typeface="Calibri" pitchFamily="34" charset="-120"/>
              </a:rPr>
              <a:t>!</a:t>
            </a:r>
            <a:endParaRPr lang="en-US" sz="800" dirty="0"/>
          </a:p>
        </p:txBody>
      </p:sp>
      <p:sp>
        <p:nvSpPr>
          <p:cNvPr id="60" name="Shape 58"/>
          <p:cNvSpPr/>
          <p:nvPr/>
        </p:nvSpPr>
        <p:spPr>
          <a:xfrm>
            <a:off x="6355080" y="2569464"/>
            <a:ext cx="932688" cy="246888"/>
          </a:xfrm>
          <a:prstGeom prst="roundRect">
            <a:avLst>
              <a:gd name="adj" fmla="val 22222"/>
            </a:avLst>
          </a:prstGeom>
          <a:solidFill>
            <a:srgbClr val="D4A017"/>
          </a:solidFill>
          <a:ln w="12700">
            <a:solidFill>
              <a:srgbClr val="B8922A"/>
            </a:solidFill>
            <a:prstDash val="solid"/>
          </a:ln>
        </p:spPr>
      </p:sp>
      <p:sp>
        <p:nvSpPr>
          <p:cNvPr id="61" name="Text 59"/>
          <p:cNvSpPr/>
          <p:nvPr/>
        </p:nvSpPr>
        <p:spPr>
          <a:xfrm>
            <a:off x="6355080" y="2569464"/>
            <a:ext cx="932688" cy="246888"/>
          </a:xfrm>
          <a:prstGeom prst="rect">
            <a:avLst/>
          </a:prstGeom>
          <a:noFill/>
          <a:ln/>
        </p:spPr>
        <p:txBody>
          <a:bodyPr wrap="square"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&lt;EOS&gt;</a:t>
            </a:r>
            <a:endParaRPr lang="en-US" sz="800" dirty="0"/>
          </a:p>
        </p:txBody>
      </p:sp>
      <p:sp>
        <p:nvSpPr>
          <p:cNvPr id="62" name="Shape 60"/>
          <p:cNvSpPr/>
          <p:nvPr/>
        </p:nvSpPr>
        <p:spPr>
          <a:xfrm>
            <a:off x="7516368" y="987552"/>
            <a:ext cx="1481328" cy="2331720"/>
          </a:xfrm>
          <a:prstGeom prst="roundRect">
            <a:avLst>
              <a:gd name="adj" fmla="val 4938"/>
            </a:avLst>
          </a:prstGeom>
          <a:solidFill>
            <a:srgbClr val="F5F7FA"/>
          </a:solidFill>
          <a:ln w="12700">
            <a:solidFill>
              <a:srgbClr val="1B3A6B"/>
            </a:solidFill>
            <a:prstDash val="solid"/>
          </a:ln>
        </p:spPr>
      </p:sp>
      <p:sp>
        <p:nvSpPr>
          <p:cNvPr id="63" name="Text 61"/>
          <p:cNvSpPr/>
          <p:nvPr/>
        </p:nvSpPr>
        <p:spPr>
          <a:xfrm>
            <a:off x="7516368" y="1060704"/>
            <a:ext cx="1481328" cy="438912"/>
          </a:xfrm>
          <a:prstGeom prst="rect">
            <a:avLst/>
          </a:prstGeom>
          <a:noFill/>
          <a:ln/>
        </p:spPr>
        <p:txBody>
          <a:bodyPr wrap="square" rtlCol="0" anchor="ctr"/>
          <a:lstStyle/>
          <a:p>
            <a:pPr marL="0" indent="0" algn="ctr">
              <a:buNone/>
            </a:pPr>
            <a:r>
              <a:rPr lang="en-US" sz="750" b="1" kern="0" spc="100" dirty="0">
                <a:solidFill>
                  <a:srgbClr val="1B3A6B"/>
                </a:solidFill>
                <a:latin typeface="Calibri" pitchFamily="34" charset="0"/>
                <a:ea typeface="Calibri" pitchFamily="34" charset="-122"/>
                <a:cs typeface="Calibri" pitchFamily="34" charset="-120"/>
              </a:rPr>
              <a:t>TASKS</a:t>
            </a:r>
            <a:endParaRPr lang="en-US" sz="750" dirty="0"/>
          </a:p>
          <a:p>
            <a:pPr marL="0" indent="0" algn="ctr">
              <a:buNone/>
            </a:pPr>
            <a:r>
              <a:rPr lang="en-US" sz="750" b="1" kern="0" spc="100" dirty="0">
                <a:solidFill>
                  <a:srgbClr val="1B3A6B"/>
                </a:solidFill>
                <a:latin typeface="Calibri" pitchFamily="34" charset="0"/>
                <a:ea typeface="Calibri" pitchFamily="34" charset="-122"/>
                <a:cs typeface="Calibri" pitchFamily="34" charset="-120"/>
              </a:rPr>
              <a:t>AS TEXT → TEXT</a:t>
            </a:r>
            <a:endParaRPr lang="en-US" sz="750" dirty="0"/>
          </a:p>
        </p:txBody>
      </p:sp>
      <p:sp>
        <p:nvSpPr>
          <p:cNvPr id="64" name="Shape 62"/>
          <p:cNvSpPr/>
          <p:nvPr/>
        </p:nvSpPr>
        <p:spPr>
          <a:xfrm>
            <a:off x="7626096" y="1572768"/>
            <a:ext cx="256032" cy="256032"/>
          </a:xfrm>
          <a:prstGeom prst="ellipse">
            <a:avLst/>
          </a:prstGeom>
          <a:solidFill>
            <a:srgbClr val="1B3A6B"/>
          </a:solidFill>
          <a:ln w="12700">
            <a:solidFill>
              <a:srgbClr val="1B3A6B"/>
            </a:solidFill>
            <a:prstDash val="solid"/>
          </a:ln>
        </p:spPr>
      </p:sp>
      <p:sp>
        <p:nvSpPr>
          <p:cNvPr id="65" name="Text 63"/>
          <p:cNvSpPr/>
          <p:nvPr/>
        </p:nvSpPr>
        <p:spPr>
          <a:xfrm>
            <a:off x="7626096" y="1572768"/>
            <a:ext cx="256032" cy="256032"/>
          </a:xfrm>
          <a:prstGeom prst="rect">
            <a:avLst/>
          </a:prstGeom>
          <a:noFill/>
          <a:ln/>
        </p:spPr>
        <p:txBody>
          <a:bodyPr wrap="square" rtlCol="0" anchor="ctr"/>
          <a:lstStyle/>
          <a:p>
            <a:pPr marL="0" indent="0" algn="ctr">
              <a:buNone/>
            </a:pPr>
            <a:r>
              <a:rPr lang="en-US" sz="700" b="1" dirty="0">
                <a:solidFill>
                  <a:srgbClr val="FFFFFF"/>
                </a:solidFill>
                <a:latin typeface="Calibri" pitchFamily="34" charset="0"/>
                <a:ea typeface="Calibri" pitchFamily="34" charset="-122"/>
                <a:cs typeface="Calibri" pitchFamily="34" charset="-120"/>
              </a:rPr>
              <a:t>T</a:t>
            </a:r>
            <a:endParaRPr lang="en-US" sz="700" dirty="0"/>
          </a:p>
        </p:txBody>
      </p:sp>
      <p:sp>
        <p:nvSpPr>
          <p:cNvPr id="66" name="Text 64"/>
          <p:cNvSpPr/>
          <p:nvPr/>
        </p:nvSpPr>
        <p:spPr>
          <a:xfrm>
            <a:off x="7918704" y="1572768"/>
            <a:ext cx="1005840" cy="155448"/>
          </a:xfrm>
          <a:prstGeom prst="rect">
            <a:avLst/>
          </a:prstGeom>
          <a:noFill/>
          <a:ln/>
        </p:spPr>
        <p:txBody>
          <a:bodyPr wrap="square" lIns="0" tIns="0" rIns="0" bIns="0" rtlCol="0" anchor="ctr"/>
          <a:lstStyle/>
          <a:p>
            <a:pPr marL="0" indent="0" algn="l">
              <a:buNone/>
            </a:pPr>
            <a:r>
              <a:rPr lang="en-US" sz="750" b="1" dirty="0">
                <a:solidFill>
                  <a:srgbClr val="1B3A6B"/>
                </a:solidFill>
                <a:latin typeface="Calibri" pitchFamily="34" charset="0"/>
                <a:ea typeface="Calibri" pitchFamily="34" charset="-122"/>
                <a:cs typeface="Calibri" pitchFamily="34" charset="-120"/>
              </a:rPr>
              <a:t>Translation</a:t>
            </a:r>
            <a:endParaRPr lang="en-US" sz="750" dirty="0"/>
          </a:p>
        </p:txBody>
      </p:sp>
      <p:sp>
        <p:nvSpPr>
          <p:cNvPr id="67" name="Text 65"/>
          <p:cNvSpPr/>
          <p:nvPr/>
        </p:nvSpPr>
        <p:spPr>
          <a:xfrm>
            <a:off x="7918704" y="1728216"/>
            <a:ext cx="1005840" cy="137160"/>
          </a:xfrm>
          <a:prstGeom prst="rect">
            <a:avLst/>
          </a:prstGeom>
          <a:noFill/>
          <a:ln/>
        </p:spPr>
        <p:txBody>
          <a:bodyPr wrap="square" lIns="0" tIns="0" rIns="0" bIns="0" rtlCol="0" anchor="ctr"/>
          <a:lstStyle/>
          <a:p>
            <a:pPr marL="0" indent="0" algn="l">
              <a:buNone/>
            </a:pPr>
            <a:r>
              <a:rPr lang="en-US" sz="650" i="1" dirty="0">
                <a:solidFill>
                  <a:srgbClr val="555555"/>
                </a:solidFill>
                <a:latin typeface="Calibri" pitchFamily="34" charset="0"/>
                <a:ea typeface="Calibri" pitchFamily="34" charset="-122"/>
                <a:cs typeface="Calibri" pitchFamily="34" charset="-120"/>
              </a:rPr>
              <a:t>translate EN→DE:</a:t>
            </a:r>
            <a:endParaRPr lang="en-US" sz="650" dirty="0"/>
          </a:p>
        </p:txBody>
      </p:sp>
      <p:sp>
        <p:nvSpPr>
          <p:cNvPr id="68" name="Shape 66"/>
          <p:cNvSpPr/>
          <p:nvPr/>
        </p:nvSpPr>
        <p:spPr>
          <a:xfrm>
            <a:off x="7626096" y="2048256"/>
            <a:ext cx="256032" cy="256032"/>
          </a:xfrm>
          <a:prstGeom prst="ellipse">
            <a:avLst/>
          </a:prstGeom>
          <a:solidFill>
            <a:srgbClr val="1B3A6B"/>
          </a:solidFill>
          <a:ln w="12700">
            <a:solidFill>
              <a:srgbClr val="1B3A6B"/>
            </a:solidFill>
            <a:prstDash val="solid"/>
          </a:ln>
        </p:spPr>
      </p:sp>
      <p:sp>
        <p:nvSpPr>
          <p:cNvPr id="69" name="Text 67"/>
          <p:cNvSpPr/>
          <p:nvPr/>
        </p:nvSpPr>
        <p:spPr>
          <a:xfrm>
            <a:off x="7626096" y="2048256"/>
            <a:ext cx="256032" cy="256032"/>
          </a:xfrm>
          <a:prstGeom prst="rect">
            <a:avLst/>
          </a:prstGeom>
          <a:noFill/>
          <a:ln/>
        </p:spPr>
        <p:txBody>
          <a:bodyPr wrap="square" rtlCol="0" anchor="ctr"/>
          <a:lstStyle/>
          <a:p>
            <a:pPr marL="0" indent="0" algn="ctr">
              <a:buNone/>
            </a:pPr>
            <a:r>
              <a:rPr lang="en-US" sz="700" b="1" dirty="0">
                <a:solidFill>
                  <a:srgbClr val="FFFFFF"/>
                </a:solidFill>
                <a:latin typeface="Calibri" pitchFamily="34" charset="0"/>
                <a:ea typeface="Calibri" pitchFamily="34" charset="-122"/>
                <a:cs typeface="Calibri" pitchFamily="34" charset="-120"/>
              </a:rPr>
              <a:t>S</a:t>
            </a:r>
            <a:endParaRPr lang="en-US" sz="700" dirty="0"/>
          </a:p>
        </p:txBody>
      </p:sp>
      <p:sp>
        <p:nvSpPr>
          <p:cNvPr id="70" name="Text 68"/>
          <p:cNvSpPr/>
          <p:nvPr/>
        </p:nvSpPr>
        <p:spPr>
          <a:xfrm>
            <a:off x="7918704" y="2048256"/>
            <a:ext cx="1005840" cy="155448"/>
          </a:xfrm>
          <a:prstGeom prst="rect">
            <a:avLst/>
          </a:prstGeom>
          <a:noFill/>
          <a:ln/>
        </p:spPr>
        <p:txBody>
          <a:bodyPr wrap="square" lIns="0" tIns="0" rIns="0" bIns="0" rtlCol="0" anchor="ctr"/>
          <a:lstStyle/>
          <a:p>
            <a:pPr marL="0" indent="0" algn="l">
              <a:buNone/>
            </a:pPr>
            <a:r>
              <a:rPr lang="en-US" sz="750" b="1" dirty="0">
                <a:solidFill>
                  <a:srgbClr val="1B3A6B"/>
                </a:solidFill>
                <a:latin typeface="Calibri" pitchFamily="34" charset="0"/>
                <a:ea typeface="Calibri" pitchFamily="34" charset="-122"/>
                <a:cs typeface="Calibri" pitchFamily="34" charset="-120"/>
              </a:rPr>
              <a:t>Summarization</a:t>
            </a:r>
            <a:endParaRPr lang="en-US" sz="750" dirty="0"/>
          </a:p>
        </p:txBody>
      </p:sp>
      <p:sp>
        <p:nvSpPr>
          <p:cNvPr id="71" name="Text 69"/>
          <p:cNvSpPr/>
          <p:nvPr/>
        </p:nvSpPr>
        <p:spPr>
          <a:xfrm>
            <a:off x="7918704" y="2203704"/>
            <a:ext cx="1005840" cy="137160"/>
          </a:xfrm>
          <a:prstGeom prst="rect">
            <a:avLst/>
          </a:prstGeom>
          <a:noFill/>
          <a:ln/>
        </p:spPr>
        <p:txBody>
          <a:bodyPr wrap="square" lIns="0" tIns="0" rIns="0" bIns="0" rtlCol="0" anchor="ctr"/>
          <a:lstStyle/>
          <a:p>
            <a:pPr marL="0" indent="0" algn="l">
              <a:buNone/>
            </a:pPr>
            <a:r>
              <a:rPr lang="en-US" sz="650" i="1" dirty="0">
                <a:solidFill>
                  <a:srgbClr val="555555"/>
                </a:solidFill>
                <a:latin typeface="Calibri" pitchFamily="34" charset="0"/>
                <a:ea typeface="Calibri" pitchFamily="34" charset="-122"/>
                <a:cs typeface="Calibri" pitchFamily="34" charset="-120"/>
              </a:rPr>
              <a:t>summarize:</a:t>
            </a:r>
            <a:endParaRPr lang="en-US" sz="650" dirty="0"/>
          </a:p>
        </p:txBody>
      </p:sp>
      <p:sp>
        <p:nvSpPr>
          <p:cNvPr id="72" name="Shape 70"/>
          <p:cNvSpPr/>
          <p:nvPr/>
        </p:nvSpPr>
        <p:spPr>
          <a:xfrm>
            <a:off x="7626096" y="2523744"/>
            <a:ext cx="256032" cy="256032"/>
          </a:xfrm>
          <a:prstGeom prst="ellipse">
            <a:avLst/>
          </a:prstGeom>
          <a:solidFill>
            <a:srgbClr val="1B3A6B"/>
          </a:solidFill>
          <a:ln w="12700">
            <a:solidFill>
              <a:srgbClr val="1B3A6B"/>
            </a:solidFill>
            <a:prstDash val="solid"/>
          </a:ln>
        </p:spPr>
      </p:sp>
      <p:sp>
        <p:nvSpPr>
          <p:cNvPr id="73" name="Text 71"/>
          <p:cNvSpPr/>
          <p:nvPr/>
        </p:nvSpPr>
        <p:spPr>
          <a:xfrm>
            <a:off x="7626096" y="2523744"/>
            <a:ext cx="256032" cy="256032"/>
          </a:xfrm>
          <a:prstGeom prst="rect">
            <a:avLst/>
          </a:prstGeom>
          <a:noFill/>
          <a:ln/>
        </p:spPr>
        <p:txBody>
          <a:bodyPr wrap="square" rtlCol="0" anchor="ctr"/>
          <a:lstStyle/>
          <a:p>
            <a:pPr marL="0" indent="0" algn="ctr">
              <a:buNone/>
            </a:pPr>
            <a:r>
              <a:rPr lang="en-US" sz="700" b="1" dirty="0">
                <a:solidFill>
                  <a:srgbClr val="FFFFFF"/>
                </a:solidFill>
                <a:latin typeface="Calibri" pitchFamily="34" charset="0"/>
                <a:ea typeface="Calibri" pitchFamily="34" charset="-122"/>
                <a:cs typeface="Calibri" pitchFamily="34" charset="-120"/>
              </a:rPr>
              <a:t>Q</a:t>
            </a:r>
            <a:endParaRPr lang="en-US" sz="700" dirty="0"/>
          </a:p>
        </p:txBody>
      </p:sp>
      <p:sp>
        <p:nvSpPr>
          <p:cNvPr id="74" name="Text 72"/>
          <p:cNvSpPr/>
          <p:nvPr/>
        </p:nvSpPr>
        <p:spPr>
          <a:xfrm>
            <a:off x="7918704" y="2523744"/>
            <a:ext cx="1005840" cy="155448"/>
          </a:xfrm>
          <a:prstGeom prst="rect">
            <a:avLst/>
          </a:prstGeom>
          <a:noFill/>
          <a:ln/>
        </p:spPr>
        <p:txBody>
          <a:bodyPr wrap="square" lIns="0" tIns="0" rIns="0" bIns="0" rtlCol="0" anchor="ctr"/>
          <a:lstStyle/>
          <a:p>
            <a:pPr marL="0" indent="0" algn="l">
              <a:buNone/>
            </a:pPr>
            <a:r>
              <a:rPr lang="en-US" sz="750" b="1" dirty="0">
                <a:solidFill>
                  <a:srgbClr val="1B3A6B"/>
                </a:solidFill>
                <a:latin typeface="Calibri" pitchFamily="34" charset="0"/>
                <a:ea typeface="Calibri" pitchFamily="34" charset="-122"/>
                <a:cs typeface="Calibri" pitchFamily="34" charset="-120"/>
              </a:rPr>
              <a:t>QA</a:t>
            </a:r>
            <a:endParaRPr lang="en-US" sz="750" dirty="0"/>
          </a:p>
        </p:txBody>
      </p:sp>
      <p:sp>
        <p:nvSpPr>
          <p:cNvPr id="75" name="Text 73"/>
          <p:cNvSpPr/>
          <p:nvPr/>
        </p:nvSpPr>
        <p:spPr>
          <a:xfrm>
            <a:off x="7918704" y="2679192"/>
            <a:ext cx="1005840" cy="137160"/>
          </a:xfrm>
          <a:prstGeom prst="rect">
            <a:avLst/>
          </a:prstGeom>
          <a:noFill/>
          <a:ln/>
        </p:spPr>
        <p:txBody>
          <a:bodyPr wrap="square" lIns="0" tIns="0" rIns="0" bIns="0" rtlCol="0" anchor="ctr"/>
          <a:lstStyle/>
          <a:p>
            <a:pPr marL="0" indent="0" algn="l">
              <a:buNone/>
            </a:pPr>
            <a:r>
              <a:rPr lang="en-US" sz="650" i="1" dirty="0">
                <a:solidFill>
                  <a:srgbClr val="555555"/>
                </a:solidFill>
                <a:latin typeface="Calibri" pitchFamily="34" charset="0"/>
                <a:ea typeface="Calibri" pitchFamily="34" charset="-122"/>
                <a:cs typeface="Calibri" pitchFamily="34" charset="-120"/>
              </a:rPr>
              <a:t>question: ... context:</a:t>
            </a:r>
            <a:endParaRPr lang="en-US" sz="650" dirty="0"/>
          </a:p>
        </p:txBody>
      </p:sp>
      <p:sp>
        <p:nvSpPr>
          <p:cNvPr id="76" name="Shape 74"/>
          <p:cNvSpPr/>
          <p:nvPr/>
        </p:nvSpPr>
        <p:spPr>
          <a:xfrm>
            <a:off x="7626096" y="2999232"/>
            <a:ext cx="256032" cy="256032"/>
          </a:xfrm>
          <a:prstGeom prst="ellipse">
            <a:avLst/>
          </a:prstGeom>
          <a:solidFill>
            <a:srgbClr val="1B3A6B"/>
          </a:solidFill>
          <a:ln w="12700">
            <a:solidFill>
              <a:srgbClr val="1B3A6B"/>
            </a:solidFill>
            <a:prstDash val="solid"/>
          </a:ln>
        </p:spPr>
      </p:sp>
      <p:sp>
        <p:nvSpPr>
          <p:cNvPr id="77" name="Text 75"/>
          <p:cNvSpPr/>
          <p:nvPr/>
        </p:nvSpPr>
        <p:spPr>
          <a:xfrm>
            <a:off x="7626096" y="2999232"/>
            <a:ext cx="256032" cy="256032"/>
          </a:xfrm>
          <a:prstGeom prst="rect">
            <a:avLst/>
          </a:prstGeom>
          <a:noFill/>
          <a:ln/>
        </p:spPr>
        <p:txBody>
          <a:bodyPr wrap="square" rtlCol="0" anchor="ctr"/>
          <a:lstStyle/>
          <a:p>
            <a:pPr marL="0" indent="0" algn="ctr">
              <a:buNone/>
            </a:pPr>
            <a:r>
              <a:rPr lang="en-US" sz="700" b="1" dirty="0">
                <a:solidFill>
                  <a:srgbClr val="FFFFFF"/>
                </a:solidFill>
                <a:latin typeface="Calibri" pitchFamily="34" charset="0"/>
                <a:ea typeface="Calibri" pitchFamily="34" charset="-122"/>
                <a:cs typeface="Calibri" pitchFamily="34" charset="-120"/>
              </a:rPr>
              <a:t>C</a:t>
            </a:r>
            <a:endParaRPr lang="en-US" sz="700" dirty="0"/>
          </a:p>
        </p:txBody>
      </p:sp>
      <p:sp>
        <p:nvSpPr>
          <p:cNvPr id="78" name="Text 76"/>
          <p:cNvSpPr/>
          <p:nvPr/>
        </p:nvSpPr>
        <p:spPr>
          <a:xfrm>
            <a:off x="7918704" y="2999232"/>
            <a:ext cx="1005840" cy="155448"/>
          </a:xfrm>
          <a:prstGeom prst="rect">
            <a:avLst/>
          </a:prstGeom>
          <a:noFill/>
          <a:ln/>
        </p:spPr>
        <p:txBody>
          <a:bodyPr wrap="square" lIns="0" tIns="0" rIns="0" bIns="0" rtlCol="0" anchor="ctr"/>
          <a:lstStyle/>
          <a:p>
            <a:pPr marL="0" indent="0" algn="l">
              <a:buNone/>
            </a:pPr>
            <a:r>
              <a:rPr lang="en-US" sz="750" b="1" dirty="0">
                <a:solidFill>
                  <a:srgbClr val="1B3A6B"/>
                </a:solidFill>
                <a:latin typeface="Calibri" pitchFamily="34" charset="0"/>
                <a:ea typeface="Calibri" pitchFamily="34" charset="-122"/>
                <a:cs typeface="Calibri" pitchFamily="34" charset="-120"/>
              </a:rPr>
              <a:t>Classification</a:t>
            </a:r>
            <a:endParaRPr lang="en-US" sz="750" dirty="0"/>
          </a:p>
        </p:txBody>
      </p:sp>
      <p:sp>
        <p:nvSpPr>
          <p:cNvPr id="79" name="Text 77"/>
          <p:cNvSpPr/>
          <p:nvPr/>
        </p:nvSpPr>
        <p:spPr>
          <a:xfrm>
            <a:off x="7918704" y="3154680"/>
            <a:ext cx="1005840" cy="137160"/>
          </a:xfrm>
          <a:prstGeom prst="rect">
            <a:avLst/>
          </a:prstGeom>
          <a:noFill/>
          <a:ln/>
        </p:spPr>
        <p:txBody>
          <a:bodyPr wrap="square" lIns="0" tIns="0" rIns="0" bIns="0" rtlCol="0" anchor="ctr"/>
          <a:lstStyle/>
          <a:p>
            <a:pPr marL="0" indent="0" algn="l">
              <a:buNone/>
            </a:pPr>
            <a:r>
              <a:rPr lang="en-US" sz="650" i="1" dirty="0">
                <a:solidFill>
                  <a:srgbClr val="555555"/>
                </a:solidFill>
                <a:latin typeface="Calibri" pitchFamily="34" charset="0"/>
                <a:ea typeface="Calibri" pitchFamily="34" charset="-122"/>
                <a:cs typeface="Calibri" pitchFamily="34" charset="-120"/>
              </a:rPr>
              <a:t>sst2 sentence:</a:t>
            </a:r>
            <a:endParaRPr lang="en-US" sz="650" dirty="0"/>
          </a:p>
        </p:txBody>
      </p:sp>
      <p:sp>
        <p:nvSpPr>
          <p:cNvPr id="80" name="Text 78"/>
          <p:cNvSpPr/>
          <p:nvPr/>
        </p:nvSpPr>
        <p:spPr>
          <a:xfrm>
            <a:off x="365760" y="3456432"/>
            <a:ext cx="8412480" cy="201168"/>
          </a:xfrm>
          <a:prstGeom prst="rect">
            <a:avLst/>
          </a:prstGeom>
          <a:noFill/>
          <a:ln/>
        </p:spPr>
        <p:txBody>
          <a:bodyPr wrap="square" lIns="0" tIns="0" rIns="0" bIns="0" rtlCol="0" anchor="ctr"/>
          <a:lstStyle/>
          <a:p>
            <a:pPr marL="0" indent="0" algn="l">
              <a:buNone/>
            </a:pPr>
            <a:r>
              <a:rPr lang="en-US" sz="800" b="1" kern="0" spc="200" dirty="0">
                <a:solidFill>
                  <a:srgbClr val="B8922A"/>
                </a:solidFill>
                <a:latin typeface="Calibri" pitchFamily="34" charset="0"/>
                <a:ea typeface="Calibri" pitchFamily="34" charset="-122"/>
                <a:cs typeface="Calibri" pitchFamily="34" charset="-120"/>
              </a:rPr>
              <a:t>PRE-TRAINING OBJECTIVE: SPAN CORRUPTION (DENOISING)</a:t>
            </a:r>
            <a:endParaRPr lang="en-US" sz="800" dirty="0"/>
          </a:p>
        </p:txBody>
      </p:sp>
      <p:sp>
        <p:nvSpPr>
          <p:cNvPr id="81" name="Shape 79"/>
          <p:cNvSpPr/>
          <p:nvPr/>
        </p:nvSpPr>
        <p:spPr>
          <a:xfrm>
            <a:off x="365760" y="3712464"/>
            <a:ext cx="1920240" cy="804672"/>
          </a:xfrm>
          <a:prstGeom prst="roundRect">
            <a:avLst>
              <a:gd name="adj" fmla="val 7955"/>
            </a:avLst>
          </a:prstGeom>
          <a:solidFill>
            <a:srgbClr val="EEF2FA"/>
          </a:solidFill>
          <a:ln w="12700">
            <a:solidFill>
              <a:srgbClr val="2E5598"/>
            </a:solidFill>
            <a:prstDash val="solid"/>
          </a:ln>
        </p:spPr>
      </p:sp>
      <p:sp>
        <p:nvSpPr>
          <p:cNvPr id="82" name="Text 80"/>
          <p:cNvSpPr/>
          <p:nvPr/>
        </p:nvSpPr>
        <p:spPr>
          <a:xfrm>
            <a:off x="365760" y="3749040"/>
            <a:ext cx="1920240" cy="201168"/>
          </a:xfrm>
          <a:prstGeom prst="rect">
            <a:avLst/>
          </a:prstGeom>
          <a:noFill/>
          <a:ln/>
        </p:spPr>
        <p:txBody>
          <a:bodyPr wrap="square" rtlCol="0" anchor="ctr"/>
          <a:lstStyle/>
          <a:p>
            <a:pPr marL="0" indent="0" algn="ctr">
              <a:buNone/>
            </a:pPr>
            <a:r>
              <a:rPr lang="en-US" sz="800" b="1" dirty="0">
                <a:solidFill>
                  <a:srgbClr val="1B3A6B"/>
                </a:solidFill>
                <a:latin typeface="Calibri" pitchFamily="34" charset="0"/>
                <a:ea typeface="Calibri" pitchFamily="34" charset="-122"/>
                <a:cs typeface="Calibri" pitchFamily="34" charset="-120"/>
              </a:rPr>
              <a:t>Original Sentence</a:t>
            </a:r>
            <a:endParaRPr lang="en-US" sz="800" dirty="0"/>
          </a:p>
        </p:txBody>
      </p:sp>
      <p:sp>
        <p:nvSpPr>
          <p:cNvPr id="83" name="Text 81"/>
          <p:cNvSpPr/>
          <p:nvPr/>
        </p:nvSpPr>
        <p:spPr>
          <a:xfrm>
            <a:off x="438912" y="3986784"/>
            <a:ext cx="1773936" cy="256032"/>
          </a:xfrm>
          <a:prstGeom prst="rect">
            <a:avLst/>
          </a:prstGeom>
          <a:noFill/>
          <a:ln/>
        </p:spPr>
        <p:txBody>
          <a:bodyPr wrap="square" rtlCol="0" anchor="ctr"/>
          <a:lstStyle/>
          <a:p>
            <a:pPr marL="0" indent="0" algn="ctr">
              <a:buNone/>
            </a:pPr>
            <a:r>
              <a:rPr lang="en-US" sz="900" dirty="0">
                <a:solidFill>
                  <a:srgbClr val="000000"/>
                </a:solidFill>
                <a:latin typeface="Calibri" pitchFamily="34" charset="0"/>
                <a:ea typeface="Calibri" pitchFamily="34" charset="-122"/>
                <a:cs typeface="Calibri" pitchFamily="34" charset="-120"/>
              </a:rPr>
              <a:t>The </a:t>
            </a:r>
            <a:r>
              <a:rPr lang="en-US" sz="900" dirty="0">
                <a:solidFill>
                  <a:srgbClr val="2E5598"/>
                </a:solidFill>
                <a:latin typeface="Calibri" pitchFamily="34" charset="0"/>
                <a:ea typeface="Calibri" pitchFamily="34" charset="-122"/>
                <a:cs typeface="Calibri" pitchFamily="34" charset="-120"/>
              </a:rPr>
              <a:t>cat </a:t>
            </a:r>
            <a:r>
              <a:rPr lang="en-US" sz="900" dirty="0">
                <a:solidFill>
                  <a:srgbClr val="000000"/>
                </a:solidFill>
                <a:latin typeface="Calibri" pitchFamily="34" charset="0"/>
                <a:ea typeface="Calibri" pitchFamily="34" charset="-122"/>
                <a:cs typeface="Calibri" pitchFamily="34" charset="-120"/>
              </a:rPr>
              <a:t>sat on </a:t>
            </a:r>
            <a:r>
              <a:rPr lang="en-US" sz="900" dirty="0">
                <a:solidFill>
                  <a:srgbClr val="2E5598"/>
                </a:solidFill>
                <a:latin typeface="Calibri" pitchFamily="34" charset="0"/>
                <a:ea typeface="Calibri" pitchFamily="34" charset="-122"/>
                <a:cs typeface="Calibri" pitchFamily="34" charset="-120"/>
              </a:rPr>
              <a:t>a mat</a:t>
            </a:r>
            <a:endParaRPr lang="en-US" sz="900" dirty="0"/>
          </a:p>
        </p:txBody>
      </p:sp>
      <p:sp>
        <p:nvSpPr>
          <p:cNvPr id="84" name="Shape 82"/>
          <p:cNvSpPr/>
          <p:nvPr/>
        </p:nvSpPr>
        <p:spPr>
          <a:xfrm>
            <a:off x="2304288" y="4114800"/>
            <a:ext cx="320040" cy="0"/>
          </a:xfrm>
          <a:prstGeom prst="line">
            <a:avLst/>
          </a:prstGeom>
          <a:noFill/>
          <a:ln w="25400">
            <a:solidFill>
              <a:srgbClr val="B8922A"/>
            </a:solidFill>
            <a:prstDash val="solid"/>
          </a:ln>
        </p:spPr>
      </p:sp>
      <p:sp>
        <p:nvSpPr>
          <p:cNvPr id="85" name="Text 83"/>
          <p:cNvSpPr/>
          <p:nvPr/>
        </p:nvSpPr>
        <p:spPr>
          <a:xfrm>
            <a:off x="2286000" y="3858768"/>
            <a:ext cx="365760" cy="237744"/>
          </a:xfrm>
          <a:prstGeom prst="rect">
            <a:avLst/>
          </a:prstGeom>
          <a:noFill/>
          <a:ln/>
        </p:spPr>
        <p:txBody>
          <a:bodyPr wrap="square" rtlCol="0" anchor="ctr"/>
          <a:lstStyle/>
          <a:p>
            <a:pPr marL="0" indent="0" algn="ctr">
              <a:buNone/>
            </a:pPr>
            <a:r>
              <a:rPr lang="en-US" sz="650" i="1" dirty="0">
                <a:solidFill>
                  <a:srgbClr val="B8922A"/>
                </a:solidFill>
                <a:latin typeface="Calibri" pitchFamily="34" charset="0"/>
                <a:ea typeface="Calibri" pitchFamily="34" charset="-122"/>
                <a:cs typeface="Calibri" pitchFamily="34" charset="-120"/>
              </a:rPr>
              <a:t>15%</a:t>
            </a:r>
            <a:endParaRPr lang="en-US" sz="650" dirty="0"/>
          </a:p>
          <a:p>
            <a:pPr marL="0" indent="0" algn="ctr">
              <a:buNone/>
            </a:pPr>
            <a:r>
              <a:rPr lang="en-US" sz="650" i="1" dirty="0">
                <a:solidFill>
                  <a:srgbClr val="B8922A"/>
                </a:solidFill>
                <a:latin typeface="Calibri" pitchFamily="34" charset="0"/>
                <a:ea typeface="Calibri" pitchFamily="34" charset="-122"/>
                <a:cs typeface="Calibri" pitchFamily="34" charset="-120"/>
              </a:rPr>
              <a:t>masked</a:t>
            </a:r>
            <a:endParaRPr lang="en-US" sz="650" dirty="0"/>
          </a:p>
        </p:txBody>
      </p:sp>
      <p:sp>
        <p:nvSpPr>
          <p:cNvPr id="86" name="Shape 84"/>
          <p:cNvSpPr/>
          <p:nvPr/>
        </p:nvSpPr>
        <p:spPr>
          <a:xfrm>
            <a:off x="2651760" y="3712464"/>
            <a:ext cx="1965960" cy="804672"/>
          </a:xfrm>
          <a:prstGeom prst="roundRect">
            <a:avLst>
              <a:gd name="adj" fmla="val 7955"/>
            </a:avLst>
          </a:prstGeom>
          <a:solidFill>
            <a:srgbClr val="F5F7FA"/>
          </a:solidFill>
          <a:ln w="12700">
            <a:solidFill>
              <a:srgbClr val="1B3A6B"/>
            </a:solidFill>
            <a:prstDash val="solid"/>
          </a:ln>
        </p:spPr>
      </p:sp>
      <p:sp>
        <p:nvSpPr>
          <p:cNvPr id="87" name="Text 85"/>
          <p:cNvSpPr/>
          <p:nvPr/>
        </p:nvSpPr>
        <p:spPr>
          <a:xfrm>
            <a:off x="2651760" y="3749040"/>
            <a:ext cx="1965960" cy="201168"/>
          </a:xfrm>
          <a:prstGeom prst="rect">
            <a:avLst/>
          </a:prstGeom>
          <a:noFill/>
          <a:ln/>
        </p:spPr>
        <p:txBody>
          <a:bodyPr wrap="square" rtlCol="0" anchor="ctr"/>
          <a:lstStyle/>
          <a:p>
            <a:pPr marL="0" indent="0" algn="ctr">
              <a:buNone/>
            </a:pPr>
            <a:r>
              <a:rPr lang="en-US" sz="800" b="1" dirty="0">
                <a:solidFill>
                  <a:srgbClr val="1B3A6B"/>
                </a:solidFill>
                <a:latin typeface="Calibri" pitchFamily="34" charset="0"/>
                <a:ea typeface="Calibri" pitchFamily="34" charset="-122"/>
                <a:cs typeface="Calibri" pitchFamily="34" charset="-120"/>
              </a:rPr>
              <a:t>Encoder Input</a:t>
            </a:r>
            <a:endParaRPr lang="en-US" sz="800" dirty="0"/>
          </a:p>
        </p:txBody>
      </p:sp>
      <p:sp>
        <p:nvSpPr>
          <p:cNvPr id="88" name="Text 86"/>
          <p:cNvSpPr/>
          <p:nvPr/>
        </p:nvSpPr>
        <p:spPr>
          <a:xfrm>
            <a:off x="2724912" y="3986784"/>
            <a:ext cx="1819656" cy="256032"/>
          </a:xfrm>
          <a:prstGeom prst="rect">
            <a:avLst/>
          </a:prstGeom>
          <a:noFill/>
          <a:ln/>
        </p:spPr>
        <p:txBody>
          <a:bodyPr wrap="square" rtlCol="0" anchor="ctr"/>
          <a:lstStyle/>
          <a:p>
            <a:pPr marL="0" indent="0" algn="ctr">
              <a:buNone/>
            </a:pPr>
            <a:r>
              <a:rPr lang="en-US" sz="900" dirty="0">
                <a:solidFill>
                  <a:srgbClr val="000000"/>
                </a:solidFill>
                <a:latin typeface="Calibri" pitchFamily="34" charset="0"/>
                <a:ea typeface="Calibri" pitchFamily="34" charset="-122"/>
                <a:cs typeface="Calibri" pitchFamily="34" charset="-120"/>
              </a:rPr>
              <a:t>The </a:t>
            </a:r>
            <a:r>
              <a:rPr lang="en-US" sz="900" b="1" dirty="0">
                <a:solidFill>
                  <a:srgbClr val="CC3300"/>
                </a:solidFill>
                <a:latin typeface="Calibri" pitchFamily="34" charset="0"/>
                <a:ea typeface="Calibri" pitchFamily="34" charset="-122"/>
                <a:cs typeface="Calibri" pitchFamily="34" charset="-120"/>
              </a:rPr>
              <a:t>&lt;X&gt;</a:t>
            </a:r>
            <a:r>
              <a:rPr lang="en-US" sz="900" dirty="0">
                <a:solidFill>
                  <a:srgbClr val="000000"/>
                </a:solidFill>
                <a:latin typeface="Calibri" pitchFamily="34" charset="0"/>
                <a:ea typeface="Calibri" pitchFamily="34" charset="-122"/>
                <a:cs typeface="Calibri" pitchFamily="34" charset="-120"/>
              </a:rPr>
              <a:t> sat on </a:t>
            </a:r>
            <a:r>
              <a:rPr lang="en-US" sz="900" b="1" dirty="0">
                <a:solidFill>
                  <a:srgbClr val="CC3300"/>
                </a:solidFill>
                <a:latin typeface="Calibri" pitchFamily="34" charset="0"/>
                <a:ea typeface="Calibri" pitchFamily="34" charset="-122"/>
                <a:cs typeface="Calibri" pitchFamily="34" charset="-120"/>
              </a:rPr>
              <a:t>&lt;Y&gt;</a:t>
            </a:r>
            <a:endParaRPr lang="en-US" sz="900" dirty="0"/>
          </a:p>
        </p:txBody>
      </p:sp>
      <p:sp>
        <p:nvSpPr>
          <p:cNvPr id="89" name="Shape 87"/>
          <p:cNvSpPr/>
          <p:nvPr/>
        </p:nvSpPr>
        <p:spPr>
          <a:xfrm>
            <a:off x="4636008" y="4114800"/>
            <a:ext cx="320040" cy="0"/>
          </a:xfrm>
          <a:prstGeom prst="line">
            <a:avLst/>
          </a:prstGeom>
          <a:noFill/>
          <a:ln w="25400">
            <a:solidFill>
              <a:srgbClr val="B8922A"/>
            </a:solidFill>
            <a:prstDash val="solid"/>
          </a:ln>
        </p:spPr>
      </p:sp>
      <p:sp>
        <p:nvSpPr>
          <p:cNvPr id="90" name="Shape 88"/>
          <p:cNvSpPr/>
          <p:nvPr/>
        </p:nvSpPr>
        <p:spPr>
          <a:xfrm>
            <a:off x="4983480" y="3712464"/>
            <a:ext cx="1965960" cy="804672"/>
          </a:xfrm>
          <a:prstGeom prst="roundRect">
            <a:avLst>
              <a:gd name="adj" fmla="val 7955"/>
            </a:avLst>
          </a:prstGeom>
          <a:solidFill>
            <a:srgbClr val="FDF5E6"/>
          </a:solidFill>
          <a:ln w="12700">
            <a:solidFill>
              <a:srgbClr val="B8922A"/>
            </a:solidFill>
            <a:prstDash val="solid"/>
          </a:ln>
        </p:spPr>
      </p:sp>
      <p:sp>
        <p:nvSpPr>
          <p:cNvPr id="91" name="Text 89"/>
          <p:cNvSpPr/>
          <p:nvPr/>
        </p:nvSpPr>
        <p:spPr>
          <a:xfrm>
            <a:off x="4983480" y="3749040"/>
            <a:ext cx="1965960" cy="201168"/>
          </a:xfrm>
          <a:prstGeom prst="rect">
            <a:avLst/>
          </a:prstGeom>
          <a:noFill/>
          <a:ln/>
        </p:spPr>
        <p:txBody>
          <a:bodyPr wrap="square" rtlCol="0" anchor="ctr"/>
          <a:lstStyle/>
          <a:p>
            <a:pPr marL="0" indent="0" algn="ctr">
              <a:buNone/>
            </a:pPr>
            <a:r>
              <a:rPr lang="en-US" sz="800" b="1" dirty="0">
                <a:solidFill>
                  <a:srgbClr val="0F2547"/>
                </a:solidFill>
                <a:latin typeface="Calibri" pitchFamily="34" charset="0"/>
                <a:ea typeface="Calibri" pitchFamily="34" charset="-122"/>
                <a:cs typeface="Calibri" pitchFamily="34" charset="-120"/>
              </a:rPr>
              <a:t>Decoder Target</a:t>
            </a:r>
            <a:endParaRPr lang="en-US" sz="800" dirty="0"/>
          </a:p>
        </p:txBody>
      </p:sp>
      <p:sp>
        <p:nvSpPr>
          <p:cNvPr id="92" name="Text 90"/>
          <p:cNvSpPr/>
          <p:nvPr/>
        </p:nvSpPr>
        <p:spPr>
          <a:xfrm>
            <a:off x="5056632" y="3986784"/>
            <a:ext cx="1819656" cy="256032"/>
          </a:xfrm>
          <a:prstGeom prst="rect">
            <a:avLst/>
          </a:prstGeom>
          <a:noFill/>
          <a:ln/>
        </p:spPr>
        <p:txBody>
          <a:bodyPr wrap="square" rtlCol="0" anchor="ctr"/>
          <a:lstStyle/>
          <a:p>
            <a:pPr marL="0" indent="0" algn="ctr">
              <a:buNone/>
            </a:pPr>
            <a:r>
              <a:rPr lang="en-US" sz="900" b="1" dirty="0">
                <a:solidFill>
                  <a:srgbClr val="CC3300"/>
                </a:solidFill>
                <a:latin typeface="Calibri" pitchFamily="34" charset="0"/>
                <a:ea typeface="Calibri" pitchFamily="34" charset="-122"/>
                <a:cs typeface="Calibri" pitchFamily="34" charset="-120"/>
              </a:rPr>
              <a:t>&lt;X&gt;</a:t>
            </a:r>
            <a:r>
              <a:rPr lang="en-US" sz="900" dirty="0">
                <a:solidFill>
                  <a:srgbClr val="000000"/>
                </a:solidFill>
                <a:latin typeface="Calibri" pitchFamily="34" charset="0"/>
                <a:ea typeface="Calibri" pitchFamily="34" charset="-122"/>
                <a:cs typeface="Calibri" pitchFamily="34" charset="-120"/>
              </a:rPr>
              <a:t> cat </a:t>
            </a:r>
            <a:r>
              <a:rPr lang="en-US" sz="900" b="1" dirty="0">
                <a:solidFill>
                  <a:srgbClr val="CC3300"/>
                </a:solidFill>
                <a:latin typeface="Calibri" pitchFamily="34" charset="0"/>
                <a:ea typeface="Calibri" pitchFamily="34" charset="-122"/>
                <a:cs typeface="Calibri" pitchFamily="34" charset="-120"/>
              </a:rPr>
              <a:t>&lt;Y&gt;</a:t>
            </a:r>
            <a:r>
              <a:rPr lang="en-US" sz="900" dirty="0">
                <a:solidFill>
                  <a:srgbClr val="000000"/>
                </a:solidFill>
                <a:latin typeface="Calibri" pitchFamily="34" charset="0"/>
                <a:ea typeface="Calibri" pitchFamily="34" charset="-122"/>
                <a:cs typeface="Calibri" pitchFamily="34" charset="-120"/>
              </a:rPr>
              <a:t> a mat</a:t>
            </a:r>
            <a:endParaRPr lang="en-US" sz="900" dirty="0"/>
          </a:p>
        </p:txBody>
      </p:sp>
      <p:sp>
        <p:nvSpPr>
          <p:cNvPr id="93" name="Shape 91"/>
          <p:cNvSpPr/>
          <p:nvPr/>
        </p:nvSpPr>
        <p:spPr>
          <a:xfrm>
            <a:off x="7114032" y="3712464"/>
            <a:ext cx="1828800" cy="804672"/>
          </a:xfrm>
          <a:prstGeom prst="roundRect">
            <a:avLst>
              <a:gd name="adj" fmla="val 7955"/>
            </a:avLst>
          </a:prstGeom>
          <a:solidFill>
            <a:srgbClr val="1B3A6B"/>
          </a:solidFill>
          <a:ln w="12700">
            <a:solidFill>
              <a:srgbClr val="1B3A6B"/>
            </a:solidFill>
            <a:prstDash val="solid"/>
          </a:ln>
        </p:spPr>
      </p:sp>
      <p:sp>
        <p:nvSpPr>
          <p:cNvPr id="94" name="Text 92"/>
          <p:cNvSpPr/>
          <p:nvPr/>
        </p:nvSpPr>
        <p:spPr>
          <a:xfrm>
            <a:off x="7178040" y="3803904"/>
            <a:ext cx="1700784" cy="667512"/>
          </a:xfrm>
          <a:prstGeom prst="rect">
            <a:avLst/>
          </a:prstGeom>
          <a:noFill/>
          <a:ln/>
        </p:spPr>
        <p:txBody>
          <a:bodyPr wrap="square"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C4 Corpus
</a:t>
            </a:r>
            <a:r>
              <a:rPr lang="en-US" sz="750" dirty="0">
                <a:solidFill>
                  <a:srgbClr val="FFFFFF"/>
                </a:solidFill>
                <a:latin typeface="Calibri" pitchFamily="34" charset="0"/>
                <a:ea typeface="Calibri" pitchFamily="34" charset="-122"/>
                <a:cs typeface="Calibri" pitchFamily="34" charset="-120"/>
              </a:rPr>
              <a:t>750 GB cleaned</a:t>
            </a:r>
            <a:endParaRPr lang="en-US" sz="900" dirty="0"/>
          </a:p>
          <a:p>
            <a:pPr marL="0" indent="0" algn="ctr">
              <a:buNone/>
            </a:pPr>
            <a:r>
              <a:rPr lang="en-US" sz="750" dirty="0">
                <a:solidFill>
                  <a:srgbClr val="FFFFFF"/>
                </a:solidFill>
                <a:latin typeface="Calibri" pitchFamily="34" charset="0"/>
                <a:ea typeface="Calibri" pitchFamily="34" charset="-122"/>
                <a:cs typeface="Calibri" pitchFamily="34" charset="-120"/>
              </a:rPr>
              <a:t>Common Crawl text</a:t>
            </a:r>
            <a:endParaRPr lang="en-US" sz="900" dirty="0"/>
          </a:p>
          <a:p>
            <a:pPr marL="0" indent="0" algn="ctr">
              <a:buNone/>
            </a:pPr>
            <a:r>
              <a:rPr lang="en-US" sz="750" dirty="0">
                <a:solidFill>
                  <a:srgbClr val="FFFFFF"/>
                </a:solidFill>
                <a:latin typeface="Calibri" pitchFamily="34" charset="0"/>
                <a:ea typeface="Calibri" pitchFamily="34" charset="-122"/>
                <a:cs typeface="Calibri" pitchFamily="34" charset="-120"/>
              </a:rPr>
              <a:t>used for pre-training</a:t>
            </a:r>
            <a:endParaRPr lang="en-US" sz="900" dirty="0"/>
          </a:p>
        </p:txBody>
      </p:sp>
      <p:sp>
        <p:nvSpPr>
          <p:cNvPr id="95" name="Text 93"/>
          <p:cNvSpPr/>
          <p:nvPr/>
        </p:nvSpPr>
        <p:spPr>
          <a:xfrm>
            <a:off x="365760" y="4892040"/>
            <a:ext cx="8412480" cy="201168"/>
          </a:xfrm>
          <a:prstGeom prst="rect">
            <a:avLst/>
          </a:prstGeom>
          <a:noFill/>
          <a:ln/>
        </p:spPr>
        <p:txBody>
          <a:bodyPr wrap="square" rtlCol="0" anchor="ctr"/>
          <a:lstStyle/>
          <a:p>
            <a:pPr marL="0" indent="0" algn="l">
              <a:buNone/>
            </a:pPr>
            <a:r>
              <a:rPr lang="en-US" sz="1000" i="1" dirty="0">
                <a:solidFill>
                  <a:srgbClr val="888888"/>
                </a:solidFill>
                <a:latin typeface="Calibri" pitchFamily="34" charset="0"/>
                <a:ea typeface="Calibri" pitchFamily="34" charset="-122"/>
                <a:cs typeface="Calibri" pitchFamily="34" charset="-120"/>
              </a:rPr>
              <a:t>Raffel et al. (2019/2020). Exploring the Limits of Transfer Learning with a Unified Text-to-Text Transformer (T5). JMLR. arXiv:1910.10683.</a:t>
            </a:r>
            <a:endParaRPr lang="en-US" sz="1000" dirty="0"/>
          </a:p>
        </p:txBody>
      </p:sp>
      <p:pic>
        <p:nvPicPr>
          <p:cNvPr id="3" name="Google Shape;109;p20">
            <a:extLst>
              <a:ext uri="{FF2B5EF4-FFF2-40B4-BE49-F238E27FC236}">
                <a16:creationId xmlns:a16="http://schemas.microsoft.com/office/drawing/2014/main" id="{5547D8D0-65B6-AE21-AEAF-373BC1E01C8B}"/>
              </a:ext>
            </a:extLst>
          </p:cNvPr>
          <p:cNvPicPr preferRelativeResize="0"/>
          <p:nvPr/>
        </p:nvPicPr>
        <p:blipFill>
          <a:blip r:embed="rId3">
            <a:alphaModFix/>
          </a:blip>
          <a:stretch>
            <a:fillRect/>
          </a:stretch>
        </p:blipFill>
        <p:spPr>
          <a:xfrm>
            <a:off x="8369125" y="0"/>
            <a:ext cx="774877" cy="867174"/>
          </a:xfrm>
          <a:prstGeom prst="rect">
            <a:avLst/>
          </a:prstGeom>
          <a:noFill/>
          <a:ln>
            <a:noFill/>
          </a:ln>
        </p:spPr>
      </p:pic>
      <p:sp>
        <p:nvSpPr>
          <p:cNvPr id="96" name="Text 14">
            <a:extLst>
              <a:ext uri="{FF2B5EF4-FFF2-40B4-BE49-F238E27FC236}">
                <a16:creationId xmlns:a16="http://schemas.microsoft.com/office/drawing/2014/main" id="{58E3AAFA-8073-04C7-D73F-940DEB3C7EDF}"/>
              </a:ext>
            </a:extLst>
          </p:cNvPr>
          <p:cNvSpPr/>
          <p:nvPr/>
        </p:nvSpPr>
        <p:spPr>
          <a:xfrm>
            <a:off x="272815" y="3105095"/>
            <a:ext cx="914400" cy="256032"/>
          </a:xfrm>
          <a:prstGeom prst="rect">
            <a:avLst/>
          </a:prstGeom>
          <a:noFill/>
          <a:ln/>
        </p:spPr>
        <p:txBody>
          <a:bodyPr wrap="square" rtlCol="0" anchor="ctr"/>
          <a:lstStyle/>
          <a:p>
            <a:pPr marL="0" indent="0" algn="ctr">
              <a:buNone/>
            </a:pPr>
            <a:r>
              <a:rPr lang="en-US" sz="800" dirty="0">
                <a:solidFill>
                  <a:srgbClr val="002060"/>
                </a:solidFill>
                <a:latin typeface="Calibri" pitchFamily="34" charset="0"/>
                <a:ea typeface="Calibri" pitchFamily="34" charset="-122"/>
                <a:cs typeface="Calibri" pitchFamily="34" charset="-120"/>
              </a:rPr>
              <a:t>World</a:t>
            </a:r>
            <a:endParaRPr lang="en-US" sz="800" dirty="0">
              <a:solidFill>
                <a:srgbClr val="002060"/>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2"/>
          <p:cNvSpPr/>
          <p:nvPr/>
        </p:nvSpPr>
        <p:spPr>
          <a:xfrm>
            <a:off x="365760" y="502920"/>
            <a:ext cx="8412480" cy="502920"/>
          </a:xfrm>
          <a:prstGeom prst="rect">
            <a:avLst/>
          </a:prstGeom>
          <a:noFill/>
          <a:ln/>
        </p:spPr>
        <p:txBody>
          <a:bodyPr wrap="square" lIns="0" tIns="0" rIns="0" bIns="0" rtlCol="0" anchor="t"/>
          <a:lstStyle/>
          <a:p>
            <a:pPr marL="0" indent="0">
              <a:buNone/>
            </a:pPr>
            <a:r>
              <a:rPr lang="en-US" sz="2000" b="1" dirty="0">
                <a:solidFill>
                  <a:srgbClr val="002060"/>
                </a:solidFill>
                <a:latin typeface="Calibri" pitchFamily="34" charset="0"/>
                <a:ea typeface="Calibri" pitchFamily="34" charset="-122"/>
                <a:cs typeface="Calibri" pitchFamily="34" charset="-120"/>
              </a:rPr>
              <a:t>Question: Which approach would most improve performance?</a:t>
            </a:r>
            <a:endParaRPr lang="en-US" sz="2000" dirty="0">
              <a:solidFill>
                <a:srgbClr val="002060"/>
              </a:solidFill>
            </a:endParaRPr>
          </a:p>
        </p:txBody>
      </p:sp>
      <p:sp>
        <p:nvSpPr>
          <p:cNvPr id="5" name="Shape 3"/>
          <p:cNvSpPr/>
          <p:nvPr/>
        </p:nvSpPr>
        <p:spPr>
          <a:xfrm>
            <a:off x="320040" y="952609"/>
            <a:ext cx="8503920" cy="891652"/>
          </a:xfrm>
          <a:prstGeom prst="roundRect">
            <a:avLst>
              <a:gd name="adj" fmla="val 5797"/>
            </a:avLst>
          </a:prstGeom>
          <a:solidFill>
            <a:srgbClr val="EAF4F7"/>
          </a:solidFill>
          <a:ln w="19050">
            <a:solidFill>
              <a:srgbClr val="028090"/>
            </a:solidFill>
            <a:prstDash val="solid"/>
          </a:ln>
          <a:effectLst>
            <a:outerShdw blurRad="101600" dist="38100" dir="2700000" algn="bl" rotWithShape="0">
              <a:srgbClr val="000000">
                <a:alpha val="12000"/>
              </a:srgbClr>
            </a:outerShdw>
          </a:effectLst>
        </p:spPr>
      </p:sp>
      <p:sp>
        <p:nvSpPr>
          <p:cNvPr id="6" name="Text 4"/>
          <p:cNvSpPr/>
          <p:nvPr/>
        </p:nvSpPr>
        <p:spPr>
          <a:xfrm>
            <a:off x="502920" y="1043687"/>
            <a:ext cx="8138160" cy="836788"/>
          </a:xfrm>
          <a:prstGeom prst="rect">
            <a:avLst/>
          </a:prstGeom>
          <a:noFill/>
          <a:ln/>
        </p:spPr>
        <p:txBody>
          <a:bodyPr wrap="square" lIns="50800" tIns="50800" rIns="50800" bIns="50800" rtlCol="0" anchor="ctr"/>
          <a:lstStyle/>
          <a:p>
            <a:pPr marL="0" indent="0">
              <a:buNone/>
            </a:pPr>
            <a:r>
              <a:rPr lang="en-US" b="1" dirty="0">
                <a:solidFill>
                  <a:srgbClr val="028090"/>
                </a:solidFill>
                <a:latin typeface="Calibri" pitchFamily="34" charset="0"/>
                <a:ea typeface="Calibri" pitchFamily="34" charset="-122"/>
                <a:cs typeface="Calibri" pitchFamily="34" charset="-120"/>
              </a:rPr>
              <a:t>Scenario  </a:t>
            </a:r>
            <a:r>
              <a:rPr lang="en-US" dirty="0">
                <a:solidFill>
                  <a:srgbClr val="0D1B3E"/>
                </a:solidFill>
                <a:latin typeface="Calibri" pitchFamily="34" charset="0"/>
                <a:ea typeface="Calibri" pitchFamily="34" charset="-122"/>
                <a:cs typeface="Calibri" pitchFamily="34" charset="-120"/>
              </a:rPr>
              <a:t>A medical AI team has </a:t>
            </a:r>
            <a:r>
              <a:rPr lang="en-US" b="1" dirty="0">
                <a:solidFill>
                  <a:srgbClr val="0D1B3E"/>
                </a:solidFill>
                <a:latin typeface="Calibri" pitchFamily="34" charset="0"/>
                <a:ea typeface="Calibri" pitchFamily="34" charset="-122"/>
                <a:cs typeface="Calibri" pitchFamily="34" charset="-120"/>
              </a:rPr>
              <a:t>10 million unlabelled clinical notes</a:t>
            </a:r>
            <a:r>
              <a:rPr lang="en-US" dirty="0">
                <a:solidFill>
                  <a:srgbClr val="0D1B3E"/>
                </a:solidFill>
                <a:latin typeface="Calibri" pitchFamily="34" charset="0"/>
                <a:ea typeface="Calibri" pitchFamily="34" charset="-122"/>
                <a:cs typeface="Calibri" pitchFamily="34" charset="-120"/>
              </a:rPr>
              <a:t> and </a:t>
            </a:r>
            <a:r>
              <a:rPr lang="en-US" b="1" dirty="0">
                <a:solidFill>
                  <a:srgbClr val="0D1B3E"/>
                </a:solidFill>
                <a:latin typeface="Calibri" pitchFamily="34" charset="0"/>
                <a:ea typeface="Calibri" pitchFamily="34" charset="-122"/>
                <a:cs typeface="Calibri" pitchFamily="34" charset="-120"/>
              </a:rPr>
              <a:t>5,000 labelled examples</a:t>
            </a:r>
            <a:r>
              <a:rPr lang="en-US" dirty="0">
                <a:solidFill>
                  <a:srgbClr val="0D1B3E"/>
                </a:solidFill>
                <a:latin typeface="Calibri" pitchFamily="34" charset="0"/>
                <a:ea typeface="Calibri" pitchFamily="34" charset="-122"/>
                <a:cs typeface="Calibri" pitchFamily="34" charset="-120"/>
              </a:rPr>
              <a:t> for predicting 30-day hospital readmission. They fine-tune standard BERT-Base (pre-trained on BookCorpus + Wikipedia) on the 5,000 labelled examples and achieve 74% accuracy.</a:t>
            </a:r>
            <a:endParaRPr lang="en-US" dirty="0"/>
          </a:p>
        </p:txBody>
      </p:sp>
      <p:sp>
        <p:nvSpPr>
          <p:cNvPr id="7" name="Text 5"/>
          <p:cNvSpPr/>
          <p:nvPr/>
        </p:nvSpPr>
        <p:spPr>
          <a:xfrm>
            <a:off x="320040" y="1935951"/>
            <a:ext cx="8503920" cy="365760"/>
          </a:xfrm>
          <a:prstGeom prst="rect">
            <a:avLst/>
          </a:prstGeom>
          <a:noFill/>
          <a:ln/>
        </p:spPr>
        <p:txBody>
          <a:bodyPr wrap="square" lIns="0" tIns="0" rIns="0" bIns="0" rtlCol="0" anchor="ctr"/>
          <a:lstStyle/>
          <a:p>
            <a:pPr marL="0" indent="0">
              <a:buNone/>
            </a:pPr>
            <a:r>
              <a:rPr lang="en-US" sz="1300" b="1" dirty="0">
                <a:solidFill>
                  <a:srgbClr val="1E2761"/>
                </a:solidFill>
                <a:latin typeface="Calibri" pitchFamily="34" charset="0"/>
                <a:ea typeface="Calibri" pitchFamily="34" charset="-122"/>
                <a:cs typeface="Calibri" pitchFamily="34" charset="-120"/>
              </a:rPr>
              <a:t>Which alternative is most likely to yield the greatest improvement?</a:t>
            </a:r>
            <a:endParaRPr lang="en-US" sz="1300" dirty="0"/>
          </a:p>
        </p:txBody>
      </p:sp>
      <p:grpSp>
        <p:nvGrpSpPr>
          <p:cNvPr id="3" name="Group 2">
            <a:extLst>
              <a:ext uri="{FF2B5EF4-FFF2-40B4-BE49-F238E27FC236}">
                <a16:creationId xmlns:a16="http://schemas.microsoft.com/office/drawing/2014/main" id="{B0965EC9-F051-FA9F-90F7-BA21E3E23288}"/>
              </a:ext>
            </a:extLst>
          </p:cNvPr>
          <p:cNvGrpSpPr/>
          <p:nvPr/>
        </p:nvGrpSpPr>
        <p:grpSpPr>
          <a:xfrm>
            <a:off x="320040" y="2582997"/>
            <a:ext cx="7981164" cy="1938528"/>
            <a:chOff x="320041" y="2582997"/>
            <a:chExt cx="4251960" cy="1938528"/>
          </a:xfrm>
        </p:grpSpPr>
        <p:sp>
          <p:nvSpPr>
            <p:cNvPr id="8" name="Shape 6"/>
            <p:cNvSpPr/>
            <p:nvPr/>
          </p:nvSpPr>
          <p:spPr>
            <a:xfrm>
              <a:off x="320041" y="2582997"/>
              <a:ext cx="4251960" cy="429768"/>
            </a:xfrm>
            <a:prstGeom prst="roundRect">
              <a:avLst>
                <a:gd name="adj" fmla="val 12766"/>
              </a:avLst>
            </a:prstGeom>
            <a:solidFill>
              <a:srgbClr val="F4F8FB"/>
            </a:solidFill>
            <a:ln w="12700">
              <a:solidFill>
                <a:srgbClr val="C5D8E8"/>
              </a:solidFill>
              <a:prstDash val="solid"/>
            </a:ln>
            <a:effectLst>
              <a:outerShdw blurRad="101600" dist="38100" dir="2700000" algn="bl" rotWithShape="0">
                <a:srgbClr val="000000">
                  <a:alpha val="12000"/>
                </a:srgbClr>
              </a:outerShdw>
            </a:effectLst>
          </p:spPr>
        </p:sp>
        <p:sp>
          <p:nvSpPr>
            <p:cNvPr id="9" name="Shape 7"/>
            <p:cNvSpPr/>
            <p:nvPr/>
          </p:nvSpPr>
          <p:spPr>
            <a:xfrm>
              <a:off x="411480" y="2656149"/>
              <a:ext cx="283464" cy="283464"/>
            </a:xfrm>
            <a:prstGeom prst="ellipse">
              <a:avLst/>
            </a:prstGeom>
            <a:solidFill>
              <a:srgbClr val="1E2761"/>
            </a:solidFill>
            <a:ln w="12700">
              <a:solidFill>
                <a:srgbClr val="1E2761"/>
              </a:solidFill>
              <a:prstDash val="solid"/>
            </a:ln>
          </p:spPr>
        </p:sp>
        <p:sp>
          <p:nvSpPr>
            <p:cNvPr id="10" name="Text 8"/>
            <p:cNvSpPr/>
            <p:nvPr/>
          </p:nvSpPr>
          <p:spPr>
            <a:xfrm>
              <a:off x="411480" y="2656149"/>
              <a:ext cx="283464" cy="283464"/>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A</a:t>
              </a:r>
              <a:endParaRPr lang="en-US" sz="1100" dirty="0"/>
            </a:p>
          </p:txBody>
        </p:sp>
        <p:sp>
          <p:nvSpPr>
            <p:cNvPr id="11" name="Text 9"/>
            <p:cNvSpPr/>
            <p:nvPr/>
          </p:nvSpPr>
          <p:spPr>
            <a:xfrm>
              <a:off x="777240" y="2619573"/>
              <a:ext cx="3649905" cy="356616"/>
            </a:xfrm>
            <a:prstGeom prst="rect">
              <a:avLst/>
            </a:prstGeom>
            <a:noFill/>
            <a:ln/>
          </p:spPr>
          <p:txBody>
            <a:bodyPr wrap="square" lIns="0" tIns="0" rIns="0" bIns="0" rtlCol="0" anchor="ctr"/>
            <a:lstStyle/>
            <a:p>
              <a:pPr marL="0" indent="0">
                <a:buNone/>
              </a:pPr>
              <a:r>
                <a:rPr lang="en-US" sz="1200" dirty="0">
                  <a:solidFill>
                    <a:srgbClr val="0D1B3E"/>
                  </a:solidFill>
                  <a:latin typeface="Calibri" pitchFamily="34" charset="0"/>
                  <a:ea typeface="Calibri" pitchFamily="34" charset="-122"/>
                  <a:cs typeface="Calibri" pitchFamily="34" charset="-120"/>
                </a:rPr>
                <a:t>Switch from BERT-Base (110M) to BERT-Large (340M) and fine-tune on the same 5,000 labelled examples.</a:t>
              </a:r>
              <a:endParaRPr lang="en-US" sz="1200" dirty="0"/>
            </a:p>
          </p:txBody>
        </p:sp>
        <p:sp>
          <p:nvSpPr>
            <p:cNvPr id="12" name="Shape 10"/>
            <p:cNvSpPr/>
            <p:nvPr/>
          </p:nvSpPr>
          <p:spPr>
            <a:xfrm>
              <a:off x="320041" y="3085917"/>
              <a:ext cx="4251960" cy="429768"/>
            </a:xfrm>
            <a:prstGeom prst="roundRect">
              <a:avLst>
                <a:gd name="adj" fmla="val 12766"/>
              </a:avLst>
            </a:prstGeom>
            <a:solidFill>
              <a:srgbClr val="F4F8FB"/>
            </a:solidFill>
            <a:ln w="12700">
              <a:solidFill>
                <a:srgbClr val="C5D8E8"/>
              </a:solidFill>
              <a:prstDash val="solid"/>
            </a:ln>
            <a:effectLst>
              <a:outerShdw blurRad="101600" dist="38100" dir="2700000" algn="bl" rotWithShape="0">
                <a:srgbClr val="000000">
                  <a:alpha val="12000"/>
                </a:srgbClr>
              </a:outerShdw>
            </a:effectLst>
          </p:spPr>
        </p:sp>
        <p:sp>
          <p:nvSpPr>
            <p:cNvPr id="13" name="Shape 11"/>
            <p:cNvSpPr/>
            <p:nvPr/>
          </p:nvSpPr>
          <p:spPr>
            <a:xfrm>
              <a:off x="411480" y="3159069"/>
              <a:ext cx="283464" cy="283464"/>
            </a:xfrm>
            <a:prstGeom prst="ellipse">
              <a:avLst/>
            </a:prstGeom>
            <a:solidFill>
              <a:srgbClr val="1E2761"/>
            </a:solidFill>
            <a:ln w="12700">
              <a:solidFill>
                <a:srgbClr val="1E2761"/>
              </a:solidFill>
              <a:prstDash val="solid"/>
            </a:ln>
          </p:spPr>
        </p:sp>
        <p:sp>
          <p:nvSpPr>
            <p:cNvPr id="14" name="Text 12"/>
            <p:cNvSpPr/>
            <p:nvPr/>
          </p:nvSpPr>
          <p:spPr>
            <a:xfrm>
              <a:off x="411480" y="3159069"/>
              <a:ext cx="283464" cy="283464"/>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B</a:t>
              </a:r>
              <a:endParaRPr lang="en-US" sz="1100" dirty="0"/>
            </a:p>
          </p:txBody>
        </p:sp>
        <p:sp>
          <p:nvSpPr>
            <p:cNvPr id="15" name="Text 13"/>
            <p:cNvSpPr/>
            <p:nvPr/>
          </p:nvSpPr>
          <p:spPr>
            <a:xfrm>
              <a:off x="777241" y="3122493"/>
              <a:ext cx="3693911" cy="356616"/>
            </a:xfrm>
            <a:prstGeom prst="rect">
              <a:avLst/>
            </a:prstGeom>
            <a:noFill/>
            <a:ln/>
          </p:spPr>
          <p:txBody>
            <a:bodyPr wrap="square" lIns="0" tIns="0" rIns="0" bIns="0" rtlCol="0" anchor="ctr"/>
            <a:lstStyle/>
            <a:p>
              <a:pPr marL="0" indent="0">
                <a:buNone/>
              </a:pPr>
              <a:r>
                <a:rPr lang="en-US" sz="1200" dirty="0">
                  <a:solidFill>
                    <a:srgbClr val="0D1B3E"/>
                  </a:solidFill>
                  <a:latin typeface="Calibri" pitchFamily="34" charset="0"/>
                  <a:ea typeface="Calibri" pitchFamily="34" charset="-122"/>
                  <a:cs typeface="Calibri" pitchFamily="34" charset="-120"/>
                </a:rPr>
                <a:t>Continue pre-training BERT-Base using MLM on the 10M unlabelled clinical notes, then fine-tune on the 5,000 labelled examples.</a:t>
              </a:r>
              <a:endParaRPr lang="en-US" sz="1200" dirty="0"/>
            </a:p>
          </p:txBody>
        </p:sp>
        <p:sp>
          <p:nvSpPr>
            <p:cNvPr id="16" name="Shape 14"/>
            <p:cNvSpPr/>
            <p:nvPr/>
          </p:nvSpPr>
          <p:spPr>
            <a:xfrm>
              <a:off x="320041" y="3588837"/>
              <a:ext cx="4251960" cy="429768"/>
            </a:xfrm>
            <a:prstGeom prst="roundRect">
              <a:avLst>
                <a:gd name="adj" fmla="val 12766"/>
              </a:avLst>
            </a:prstGeom>
            <a:solidFill>
              <a:srgbClr val="F4F8FB"/>
            </a:solidFill>
            <a:ln w="12700">
              <a:solidFill>
                <a:srgbClr val="C5D8E8"/>
              </a:solidFill>
              <a:prstDash val="solid"/>
            </a:ln>
            <a:effectLst>
              <a:outerShdw blurRad="101600" dist="38100" dir="2700000" algn="bl" rotWithShape="0">
                <a:srgbClr val="000000">
                  <a:alpha val="12000"/>
                </a:srgbClr>
              </a:outerShdw>
            </a:effectLst>
          </p:spPr>
        </p:sp>
        <p:sp>
          <p:nvSpPr>
            <p:cNvPr id="17" name="Shape 15"/>
            <p:cNvSpPr/>
            <p:nvPr/>
          </p:nvSpPr>
          <p:spPr>
            <a:xfrm>
              <a:off x="411480" y="3661989"/>
              <a:ext cx="283464" cy="283464"/>
            </a:xfrm>
            <a:prstGeom prst="ellipse">
              <a:avLst/>
            </a:prstGeom>
            <a:solidFill>
              <a:srgbClr val="1E2761"/>
            </a:solidFill>
            <a:ln w="12700">
              <a:solidFill>
                <a:srgbClr val="1E2761"/>
              </a:solidFill>
              <a:prstDash val="solid"/>
            </a:ln>
          </p:spPr>
        </p:sp>
        <p:sp>
          <p:nvSpPr>
            <p:cNvPr id="18" name="Text 16"/>
            <p:cNvSpPr/>
            <p:nvPr/>
          </p:nvSpPr>
          <p:spPr>
            <a:xfrm>
              <a:off x="411480" y="3661989"/>
              <a:ext cx="283464" cy="283464"/>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C</a:t>
              </a:r>
              <a:endParaRPr lang="en-US" sz="1100" dirty="0"/>
            </a:p>
          </p:txBody>
        </p:sp>
        <p:sp>
          <p:nvSpPr>
            <p:cNvPr id="19" name="Text 17"/>
            <p:cNvSpPr/>
            <p:nvPr/>
          </p:nvSpPr>
          <p:spPr>
            <a:xfrm>
              <a:off x="777240" y="3625413"/>
              <a:ext cx="3649905" cy="356616"/>
            </a:xfrm>
            <a:prstGeom prst="rect">
              <a:avLst/>
            </a:prstGeom>
            <a:noFill/>
            <a:ln/>
          </p:spPr>
          <p:txBody>
            <a:bodyPr wrap="square" lIns="0" tIns="0" rIns="0" bIns="0" rtlCol="0" anchor="ctr"/>
            <a:lstStyle/>
            <a:p>
              <a:pPr marL="0" indent="0">
                <a:buNone/>
              </a:pPr>
              <a:r>
                <a:rPr lang="en-US" sz="1200" dirty="0">
                  <a:solidFill>
                    <a:srgbClr val="0D1B3E"/>
                  </a:solidFill>
                  <a:latin typeface="Calibri" pitchFamily="34" charset="0"/>
                  <a:ea typeface="Calibri" pitchFamily="34" charset="-122"/>
                  <a:cs typeface="Calibri" pitchFamily="34" charset="-120"/>
                </a:rPr>
                <a:t>Remove the [CLS] token and instead average all token embeddings before passing to the classification head.</a:t>
              </a:r>
              <a:endParaRPr lang="en-US" sz="1200" dirty="0"/>
            </a:p>
          </p:txBody>
        </p:sp>
        <p:sp>
          <p:nvSpPr>
            <p:cNvPr id="20" name="Shape 18"/>
            <p:cNvSpPr/>
            <p:nvPr/>
          </p:nvSpPr>
          <p:spPr>
            <a:xfrm>
              <a:off x="320041" y="4091757"/>
              <a:ext cx="4251960" cy="429768"/>
            </a:xfrm>
            <a:prstGeom prst="roundRect">
              <a:avLst>
                <a:gd name="adj" fmla="val 12766"/>
              </a:avLst>
            </a:prstGeom>
            <a:solidFill>
              <a:srgbClr val="F4F8FB"/>
            </a:solidFill>
            <a:ln w="12700">
              <a:solidFill>
                <a:srgbClr val="C5D8E8"/>
              </a:solidFill>
              <a:prstDash val="solid"/>
            </a:ln>
            <a:effectLst>
              <a:outerShdw blurRad="101600" dist="38100" dir="2700000" algn="bl" rotWithShape="0">
                <a:srgbClr val="000000">
                  <a:alpha val="12000"/>
                </a:srgbClr>
              </a:outerShdw>
            </a:effectLst>
          </p:spPr>
        </p:sp>
        <p:sp>
          <p:nvSpPr>
            <p:cNvPr id="21" name="Shape 19"/>
            <p:cNvSpPr/>
            <p:nvPr/>
          </p:nvSpPr>
          <p:spPr>
            <a:xfrm>
              <a:off x="411480" y="4164909"/>
              <a:ext cx="283464" cy="283464"/>
            </a:xfrm>
            <a:prstGeom prst="ellipse">
              <a:avLst/>
            </a:prstGeom>
            <a:solidFill>
              <a:srgbClr val="1E2761"/>
            </a:solidFill>
            <a:ln w="12700">
              <a:solidFill>
                <a:srgbClr val="1E2761"/>
              </a:solidFill>
              <a:prstDash val="solid"/>
            </a:ln>
          </p:spPr>
        </p:sp>
        <p:sp>
          <p:nvSpPr>
            <p:cNvPr id="22" name="Text 20"/>
            <p:cNvSpPr/>
            <p:nvPr/>
          </p:nvSpPr>
          <p:spPr>
            <a:xfrm>
              <a:off x="411480" y="4164909"/>
              <a:ext cx="283464" cy="283464"/>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D</a:t>
              </a:r>
              <a:endParaRPr lang="en-US" sz="1100" dirty="0"/>
            </a:p>
          </p:txBody>
        </p:sp>
        <p:sp>
          <p:nvSpPr>
            <p:cNvPr id="23" name="Text 21"/>
            <p:cNvSpPr/>
            <p:nvPr/>
          </p:nvSpPr>
          <p:spPr>
            <a:xfrm>
              <a:off x="777240" y="4128333"/>
              <a:ext cx="3649905" cy="356616"/>
            </a:xfrm>
            <a:prstGeom prst="rect">
              <a:avLst/>
            </a:prstGeom>
            <a:noFill/>
            <a:ln/>
          </p:spPr>
          <p:txBody>
            <a:bodyPr wrap="square" lIns="0" tIns="0" rIns="0" bIns="0" rtlCol="0" anchor="ctr"/>
            <a:lstStyle/>
            <a:p>
              <a:pPr marL="0" indent="0">
                <a:buNone/>
              </a:pPr>
              <a:r>
                <a:rPr lang="en-US" sz="1200" dirty="0">
                  <a:solidFill>
                    <a:srgbClr val="0D1B3E"/>
                  </a:solidFill>
                  <a:latin typeface="Calibri" pitchFamily="34" charset="0"/>
                  <a:ea typeface="Calibri" pitchFamily="34" charset="-122"/>
                  <a:cs typeface="Calibri" pitchFamily="34" charset="-120"/>
                </a:rPr>
                <a:t>Replace the NSP objective with Next-Paragraph Prediction during fine-tuning on the 5,000 labelled examples.</a:t>
              </a:r>
              <a:endParaRPr lang="en-US" sz="1200" dirty="0"/>
            </a:p>
          </p:txBody>
        </p:sp>
      </p:grpSp>
      <p:sp>
        <p:nvSpPr>
          <p:cNvPr id="24" name="Text 22"/>
          <p:cNvSpPr/>
          <p:nvPr/>
        </p:nvSpPr>
        <p:spPr>
          <a:xfrm>
            <a:off x="320040" y="4846320"/>
            <a:ext cx="8503920" cy="228600"/>
          </a:xfrm>
          <a:prstGeom prst="rect">
            <a:avLst/>
          </a:prstGeom>
          <a:noFill/>
          <a:ln/>
        </p:spPr>
        <p:txBody>
          <a:bodyPr wrap="square" lIns="0" tIns="0" rIns="0" bIns="0" rtlCol="0" anchor="ctr"/>
          <a:lstStyle/>
          <a:p>
            <a:pPr marL="0" indent="0">
              <a:buNone/>
            </a:pPr>
            <a:r>
              <a:rPr lang="en-US" sz="750" i="1" dirty="0">
                <a:solidFill>
                  <a:srgbClr val="6B7C9A"/>
                </a:solidFill>
                <a:latin typeface="Calibri" pitchFamily="34" charset="0"/>
                <a:ea typeface="Calibri" pitchFamily="34" charset="-122"/>
                <a:cs typeface="Calibri" pitchFamily="34" charset="-120"/>
              </a:rPr>
              <a:t>Devlin et al. (2019). BERT: Pre-training of Deep Bidirectional Transformers. NAACL 2019.</a:t>
            </a:r>
            <a:endParaRPr lang="en-US" sz="750" dirty="0"/>
          </a:p>
        </p:txBody>
      </p:sp>
      <p:pic>
        <p:nvPicPr>
          <p:cNvPr id="2" name="Google Shape;328;p29">
            <a:extLst>
              <a:ext uri="{FF2B5EF4-FFF2-40B4-BE49-F238E27FC236}">
                <a16:creationId xmlns:a16="http://schemas.microsoft.com/office/drawing/2014/main" id="{E75B5CB5-1E80-20FD-FF34-CCC61405F6BD}"/>
              </a:ext>
            </a:extLst>
          </p:cNvPr>
          <p:cNvPicPr preferRelativeResize="0"/>
          <p:nvPr/>
        </p:nvPicPr>
        <p:blipFill>
          <a:blip r:embed="rId3">
            <a:alphaModFix/>
          </a:blip>
          <a:stretch>
            <a:fillRect/>
          </a:stretch>
        </p:blipFill>
        <p:spPr>
          <a:xfrm>
            <a:off x="8369125" y="0"/>
            <a:ext cx="774877" cy="867174"/>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2"/>
          <p:cNvSpPr/>
          <p:nvPr/>
        </p:nvSpPr>
        <p:spPr>
          <a:xfrm>
            <a:off x="365760" y="331937"/>
            <a:ext cx="8412480" cy="502920"/>
          </a:xfrm>
          <a:prstGeom prst="rect">
            <a:avLst/>
          </a:prstGeom>
          <a:noFill/>
          <a:ln/>
        </p:spPr>
        <p:txBody>
          <a:bodyPr wrap="square" lIns="0" tIns="0" rIns="0" bIns="0" rtlCol="0" anchor="t"/>
          <a:lstStyle/>
          <a:p>
            <a:pPr marL="0" indent="0">
              <a:buNone/>
            </a:pPr>
            <a:r>
              <a:rPr lang="en-US" sz="1800" b="1" dirty="0">
                <a:solidFill>
                  <a:srgbClr val="002060"/>
                </a:solidFill>
                <a:latin typeface="Calibri" pitchFamily="34" charset="0"/>
                <a:ea typeface="Calibri" pitchFamily="34" charset="-122"/>
                <a:cs typeface="Calibri" pitchFamily="34" charset="-120"/>
              </a:rPr>
              <a:t>Correct Answer: (B)  Domain-Adaptive Pre-training (DAPT)</a:t>
            </a:r>
            <a:endParaRPr lang="en-US" sz="1800" dirty="0">
              <a:solidFill>
                <a:srgbClr val="002060"/>
              </a:solidFill>
            </a:endParaRPr>
          </a:p>
        </p:txBody>
      </p:sp>
      <p:sp>
        <p:nvSpPr>
          <p:cNvPr id="5" name="Shape 3"/>
          <p:cNvSpPr/>
          <p:nvPr/>
        </p:nvSpPr>
        <p:spPr>
          <a:xfrm>
            <a:off x="320040" y="773598"/>
            <a:ext cx="8503920" cy="905256"/>
          </a:xfrm>
          <a:prstGeom prst="roundRect">
            <a:avLst>
              <a:gd name="adj" fmla="val 7071"/>
            </a:avLst>
          </a:prstGeom>
          <a:solidFill>
            <a:srgbClr val="FEF5F5"/>
          </a:solidFill>
          <a:ln w="19050">
            <a:solidFill>
              <a:srgbClr val="EDACAC"/>
            </a:solidFill>
            <a:prstDash val="solid"/>
          </a:ln>
          <a:effectLst>
            <a:outerShdw blurRad="101600" dist="38100" dir="2700000" algn="bl" rotWithShape="0">
              <a:srgbClr val="000000">
                <a:alpha val="12000"/>
              </a:srgbClr>
            </a:outerShdw>
          </a:effectLst>
        </p:spPr>
      </p:sp>
      <p:sp>
        <p:nvSpPr>
          <p:cNvPr id="6" name="Shape 4"/>
          <p:cNvSpPr/>
          <p:nvPr/>
        </p:nvSpPr>
        <p:spPr>
          <a:xfrm>
            <a:off x="438912" y="865038"/>
            <a:ext cx="274320" cy="274320"/>
          </a:xfrm>
          <a:prstGeom prst="ellipse">
            <a:avLst/>
          </a:prstGeom>
          <a:solidFill>
            <a:srgbClr val="7F1F1F"/>
          </a:solidFill>
          <a:ln w="12700">
            <a:solidFill>
              <a:srgbClr val="7F1F1F"/>
            </a:solidFill>
            <a:prstDash val="solid"/>
          </a:ln>
        </p:spPr>
      </p:sp>
      <p:sp>
        <p:nvSpPr>
          <p:cNvPr id="7" name="Text 5"/>
          <p:cNvSpPr/>
          <p:nvPr/>
        </p:nvSpPr>
        <p:spPr>
          <a:xfrm>
            <a:off x="438912" y="865038"/>
            <a:ext cx="274320" cy="27432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A</a:t>
            </a:r>
            <a:endParaRPr lang="en-US" sz="1200" dirty="0"/>
          </a:p>
        </p:txBody>
      </p:sp>
      <p:sp>
        <p:nvSpPr>
          <p:cNvPr id="8" name="Text 6"/>
          <p:cNvSpPr/>
          <p:nvPr/>
        </p:nvSpPr>
        <p:spPr>
          <a:xfrm>
            <a:off x="804672" y="846750"/>
            <a:ext cx="1371600" cy="237744"/>
          </a:xfrm>
          <a:prstGeom prst="rect">
            <a:avLst/>
          </a:prstGeom>
          <a:noFill/>
          <a:ln/>
        </p:spPr>
        <p:txBody>
          <a:bodyPr wrap="square" lIns="0" tIns="0" rIns="0" bIns="0" rtlCol="0" anchor="ctr"/>
          <a:lstStyle/>
          <a:p>
            <a:pPr marL="0" indent="0">
              <a:buNone/>
            </a:pPr>
            <a:r>
              <a:rPr lang="en-US" sz="1100" b="1" dirty="0">
                <a:solidFill>
                  <a:srgbClr val="C0392B"/>
                </a:solidFill>
                <a:latin typeface="Calibri" pitchFamily="34" charset="0"/>
                <a:ea typeface="Calibri" pitchFamily="34" charset="-122"/>
                <a:cs typeface="Calibri" pitchFamily="34" charset="-120"/>
              </a:rPr>
              <a:t>INCORRECT</a:t>
            </a:r>
            <a:endParaRPr lang="en-US" sz="1100" dirty="0"/>
          </a:p>
        </p:txBody>
      </p:sp>
      <p:sp>
        <p:nvSpPr>
          <p:cNvPr id="9" name="Text 7"/>
          <p:cNvSpPr/>
          <p:nvPr/>
        </p:nvSpPr>
        <p:spPr>
          <a:xfrm>
            <a:off x="804672" y="1066206"/>
            <a:ext cx="7863840" cy="557784"/>
          </a:xfrm>
          <a:prstGeom prst="rect">
            <a:avLst/>
          </a:prstGeom>
          <a:noFill/>
          <a:ln/>
        </p:spPr>
        <p:txBody>
          <a:bodyPr wrap="square" lIns="0" tIns="0" rIns="0" bIns="0" rtlCol="0" anchor="t"/>
          <a:lstStyle/>
          <a:p>
            <a:pPr marL="0" indent="0">
              <a:buNone/>
            </a:pPr>
            <a:r>
              <a:rPr lang="en-US" sz="1100" dirty="0">
                <a:solidFill>
                  <a:srgbClr val="0D1B3E"/>
                </a:solidFill>
                <a:latin typeface="Calibri" pitchFamily="34" charset="0"/>
                <a:ea typeface="Calibri" pitchFamily="34" charset="-122"/>
                <a:cs typeface="Calibri" pitchFamily="34" charset="-120"/>
              </a:rPr>
              <a:t>Scaling to BERT-Large addresses model capacity, not the root problem: domain mismatch. Clinical notes use specialised abbreviations and syntax (e.g. 'Pt c/o SOB, hx of CHF') unseen in BookCorpus. Larger weights with the same mismatch will not close this gap, and may overfit the small labelled set.</a:t>
            </a:r>
            <a:endParaRPr lang="en-US" sz="1100" dirty="0"/>
          </a:p>
        </p:txBody>
      </p:sp>
      <p:sp>
        <p:nvSpPr>
          <p:cNvPr id="10" name="Shape 8"/>
          <p:cNvSpPr/>
          <p:nvPr/>
        </p:nvSpPr>
        <p:spPr>
          <a:xfrm>
            <a:off x="320040" y="1742862"/>
            <a:ext cx="8503920" cy="905256"/>
          </a:xfrm>
          <a:prstGeom prst="roundRect">
            <a:avLst>
              <a:gd name="adj" fmla="val 7071"/>
            </a:avLst>
          </a:prstGeom>
          <a:solidFill>
            <a:srgbClr val="F0FAF4"/>
          </a:solidFill>
          <a:ln w="19050">
            <a:solidFill>
              <a:srgbClr val="7DCBA0"/>
            </a:solidFill>
            <a:prstDash val="solid"/>
          </a:ln>
          <a:effectLst>
            <a:outerShdw blurRad="101600" dist="38100" dir="2700000" algn="bl" rotWithShape="0">
              <a:srgbClr val="000000">
                <a:alpha val="12000"/>
              </a:srgbClr>
            </a:outerShdw>
          </a:effectLst>
        </p:spPr>
      </p:sp>
      <p:sp>
        <p:nvSpPr>
          <p:cNvPr id="11" name="Shape 9"/>
          <p:cNvSpPr/>
          <p:nvPr/>
        </p:nvSpPr>
        <p:spPr>
          <a:xfrm>
            <a:off x="438912" y="1834302"/>
            <a:ext cx="274320" cy="274320"/>
          </a:xfrm>
          <a:prstGeom prst="ellipse">
            <a:avLst/>
          </a:prstGeom>
          <a:solidFill>
            <a:srgbClr val="1A7A4A"/>
          </a:solidFill>
          <a:ln w="12700">
            <a:solidFill>
              <a:srgbClr val="1A7A4A"/>
            </a:solidFill>
            <a:prstDash val="solid"/>
          </a:ln>
        </p:spPr>
      </p:sp>
      <p:sp>
        <p:nvSpPr>
          <p:cNvPr id="12" name="Text 10"/>
          <p:cNvSpPr/>
          <p:nvPr/>
        </p:nvSpPr>
        <p:spPr>
          <a:xfrm>
            <a:off x="438912" y="1834302"/>
            <a:ext cx="274320" cy="27432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B</a:t>
            </a:r>
            <a:endParaRPr lang="en-US" sz="1200" dirty="0"/>
          </a:p>
        </p:txBody>
      </p:sp>
      <p:sp>
        <p:nvSpPr>
          <p:cNvPr id="13" name="Text 11"/>
          <p:cNvSpPr/>
          <p:nvPr/>
        </p:nvSpPr>
        <p:spPr>
          <a:xfrm>
            <a:off x="804672" y="1816014"/>
            <a:ext cx="1371600" cy="237744"/>
          </a:xfrm>
          <a:prstGeom prst="rect">
            <a:avLst/>
          </a:prstGeom>
          <a:noFill/>
          <a:ln/>
        </p:spPr>
        <p:txBody>
          <a:bodyPr wrap="square" lIns="0" tIns="0" rIns="0" bIns="0" rtlCol="0" anchor="ctr"/>
          <a:lstStyle/>
          <a:p>
            <a:pPr marL="0" indent="0">
              <a:buNone/>
            </a:pPr>
            <a:r>
              <a:rPr lang="en-US" sz="1100" b="1" dirty="0">
                <a:solidFill>
                  <a:srgbClr val="1A7A4A"/>
                </a:solidFill>
                <a:latin typeface="Calibri" pitchFamily="34" charset="0"/>
                <a:ea typeface="Calibri" pitchFamily="34" charset="-122"/>
                <a:cs typeface="Calibri" pitchFamily="34" charset="-120"/>
              </a:rPr>
              <a:t>✓ CORRECT</a:t>
            </a:r>
            <a:endParaRPr lang="en-US" sz="1100" dirty="0"/>
          </a:p>
        </p:txBody>
      </p:sp>
      <p:sp>
        <p:nvSpPr>
          <p:cNvPr id="14" name="Text 12"/>
          <p:cNvSpPr/>
          <p:nvPr/>
        </p:nvSpPr>
        <p:spPr>
          <a:xfrm>
            <a:off x="804672" y="2035470"/>
            <a:ext cx="7863840" cy="557784"/>
          </a:xfrm>
          <a:prstGeom prst="rect">
            <a:avLst/>
          </a:prstGeom>
          <a:noFill/>
          <a:ln/>
        </p:spPr>
        <p:txBody>
          <a:bodyPr wrap="square" lIns="0" tIns="0" rIns="0" bIns="0" rtlCol="0" anchor="t"/>
          <a:lstStyle/>
          <a:p>
            <a:pPr marL="0" indent="0">
              <a:buNone/>
            </a:pPr>
            <a:r>
              <a:rPr lang="en-US" sz="1100" dirty="0">
                <a:solidFill>
                  <a:srgbClr val="0D1B3E"/>
                </a:solidFill>
                <a:latin typeface="Calibri" pitchFamily="34" charset="0"/>
                <a:ea typeface="Calibri" pitchFamily="34" charset="-122"/>
                <a:cs typeface="Calibri" pitchFamily="34" charset="-120"/>
              </a:rPr>
              <a:t>Domain-Adaptive Pre-training (DAPT): running additional MLM on the 10M unlabelled clinical notes updates BERT's weights so contextual embeddings reflect clinical vocabulary and syntax. Fine-tuning then starts from a far stronger, domain-appropriate initialisation — directly exploiting the pretrain-then-finetune paradigm.</a:t>
            </a:r>
            <a:endParaRPr lang="en-US" sz="1100" dirty="0"/>
          </a:p>
        </p:txBody>
      </p:sp>
      <p:sp>
        <p:nvSpPr>
          <p:cNvPr id="15" name="Shape 13"/>
          <p:cNvSpPr/>
          <p:nvPr/>
        </p:nvSpPr>
        <p:spPr>
          <a:xfrm>
            <a:off x="320040" y="2712126"/>
            <a:ext cx="8503920" cy="905256"/>
          </a:xfrm>
          <a:prstGeom prst="roundRect">
            <a:avLst>
              <a:gd name="adj" fmla="val 7071"/>
            </a:avLst>
          </a:prstGeom>
          <a:solidFill>
            <a:srgbClr val="FEF5F5"/>
          </a:solidFill>
          <a:ln w="19050">
            <a:solidFill>
              <a:srgbClr val="EDACAC"/>
            </a:solidFill>
            <a:prstDash val="solid"/>
          </a:ln>
          <a:effectLst>
            <a:outerShdw blurRad="101600" dist="38100" dir="2700000" algn="bl" rotWithShape="0">
              <a:srgbClr val="000000">
                <a:alpha val="12000"/>
              </a:srgbClr>
            </a:outerShdw>
          </a:effectLst>
        </p:spPr>
      </p:sp>
      <p:sp>
        <p:nvSpPr>
          <p:cNvPr id="16" name="Shape 14"/>
          <p:cNvSpPr/>
          <p:nvPr/>
        </p:nvSpPr>
        <p:spPr>
          <a:xfrm>
            <a:off x="438912" y="2803566"/>
            <a:ext cx="274320" cy="274320"/>
          </a:xfrm>
          <a:prstGeom prst="ellipse">
            <a:avLst/>
          </a:prstGeom>
          <a:solidFill>
            <a:srgbClr val="7F1F1F"/>
          </a:solidFill>
          <a:ln w="12700">
            <a:solidFill>
              <a:srgbClr val="7F1F1F"/>
            </a:solidFill>
            <a:prstDash val="solid"/>
          </a:ln>
        </p:spPr>
      </p:sp>
      <p:sp>
        <p:nvSpPr>
          <p:cNvPr id="17" name="Text 15"/>
          <p:cNvSpPr/>
          <p:nvPr/>
        </p:nvSpPr>
        <p:spPr>
          <a:xfrm>
            <a:off x="438912" y="2803566"/>
            <a:ext cx="274320" cy="27432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C</a:t>
            </a:r>
            <a:endParaRPr lang="en-US" sz="1200" dirty="0"/>
          </a:p>
        </p:txBody>
      </p:sp>
      <p:sp>
        <p:nvSpPr>
          <p:cNvPr id="18" name="Text 16"/>
          <p:cNvSpPr/>
          <p:nvPr/>
        </p:nvSpPr>
        <p:spPr>
          <a:xfrm>
            <a:off x="804672" y="2785278"/>
            <a:ext cx="1371600" cy="237744"/>
          </a:xfrm>
          <a:prstGeom prst="rect">
            <a:avLst/>
          </a:prstGeom>
          <a:noFill/>
          <a:ln/>
        </p:spPr>
        <p:txBody>
          <a:bodyPr wrap="square" lIns="0" tIns="0" rIns="0" bIns="0" rtlCol="0" anchor="ctr"/>
          <a:lstStyle/>
          <a:p>
            <a:pPr marL="0" indent="0">
              <a:buNone/>
            </a:pPr>
            <a:r>
              <a:rPr lang="en-US" sz="1100" b="1" dirty="0">
                <a:solidFill>
                  <a:srgbClr val="C0392B"/>
                </a:solidFill>
                <a:latin typeface="Calibri" pitchFamily="34" charset="0"/>
                <a:ea typeface="Calibri" pitchFamily="34" charset="-122"/>
                <a:cs typeface="Calibri" pitchFamily="34" charset="-120"/>
              </a:rPr>
              <a:t>INCORRECT</a:t>
            </a:r>
            <a:endParaRPr lang="en-US" sz="1100" dirty="0"/>
          </a:p>
        </p:txBody>
      </p:sp>
      <p:sp>
        <p:nvSpPr>
          <p:cNvPr id="19" name="Text 17"/>
          <p:cNvSpPr/>
          <p:nvPr/>
        </p:nvSpPr>
        <p:spPr>
          <a:xfrm>
            <a:off x="804672" y="3004734"/>
            <a:ext cx="7863840" cy="557784"/>
          </a:xfrm>
          <a:prstGeom prst="rect">
            <a:avLst/>
          </a:prstGeom>
          <a:noFill/>
          <a:ln/>
        </p:spPr>
        <p:txBody>
          <a:bodyPr wrap="square" lIns="0" tIns="0" rIns="0" bIns="0" rtlCol="0" anchor="t"/>
          <a:lstStyle/>
          <a:p>
            <a:pPr marL="0" indent="0">
              <a:buNone/>
            </a:pPr>
            <a:r>
              <a:rPr lang="en-US" sz="1100" dirty="0">
                <a:solidFill>
                  <a:srgbClr val="0D1B3E"/>
                </a:solidFill>
                <a:latin typeface="Calibri" pitchFamily="34" charset="0"/>
                <a:ea typeface="Calibri" pitchFamily="34" charset="-122"/>
                <a:cs typeface="Calibri" pitchFamily="34" charset="-120"/>
              </a:rPr>
              <a:t>The [CLS] token is specifically trained to aggregate sequence-level information for classification. It already attends to all tokens bidirectionally. Mean-pooling can work in some architectures, but in standard BERT it is not superior — and it does nothing to fix domain mismatch.</a:t>
            </a:r>
            <a:endParaRPr lang="en-US" sz="1100" dirty="0"/>
          </a:p>
        </p:txBody>
      </p:sp>
      <p:sp>
        <p:nvSpPr>
          <p:cNvPr id="20" name="Shape 18"/>
          <p:cNvSpPr/>
          <p:nvPr/>
        </p:nvSpPr>
        <p:spPr>
          <a:xfrm>
            <a:off x="320040" y="3681390"/>
            <a:ext cx="8503920" cy="905256"/>
          </a:xfrm>
          <a:prstGeom prst="roundRect">
            <a:avLst>
              <a:gd name="adj" fmla="val 7071"/>
            </a:avLst>
          </a:prstGeom>
          <a:solidFill>
            <a:srgbClr val="FEF5F5"/>
          </a:solidFill>
          <a:ln w="19050">
            <a:solidFill>
              <a:srgbClr val="EDACAC"/>
            </a:solidFill>
            <a:prstDash val="solid"/>
          </a:ln>
          <a:effectLst>
            <a:outerShdw blurRad="101600" dist="38100" dir="2700000" algn="bl" rotWithShape="0">
              <a:srgbClr val="000000">
                <a:alpha val="12000"/>
              </a:srgbClr>
            </a:outerShdw>
          </a:effectLst>
        </p:spPr>
      </p:sp>
      <p:sp>
        <p:nvSpPr>
          <p:cNvPr id="21" name="Shape 19"/>
          <p:cNvSpPr/>
          <p:nvPr/>
        </p:nvSpPr>
        <p:spPr>
          <a:xfrm>
            <a:off x="438912" y="3772830"/>
            <a:ext cx="274320" cy="274320"/>
          </a:xfrm>
          <a:prstGeom prst="ellipse">
            <a:avLst/>
          </a:prstGeom>
          <a:solidFill>
            <a:srgbClr val="7F1F1F"/>
          </a:solidFill>
          <a:ln w="12700">
            <a:solidFill>
              <a:srgbClr val="7F1F1F"/>
            </a:solidFill>
            <a:prstDash val="solid"/>
          </a:ln>
        </p:spPr>
      </p:sp>
      <p:sp>
        <p:nvSpPr>
          <p:cNvPr id="22" name="Text 20"/>
          <p:cNvSpPr/>
          <p:nvPr/>
        </p:nvSpPr>
        <p:spPr>
          <a:xfrm>
            <a:off x="438912" y="3772830"/>
            <a:ext cx="274320" cy="27432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D</a:t>
            </a:r>
            <a:endParaRPr lang="en-US" sz="1200" dirty="0"/>
          </a:p>
        </p:txBody>
      </p:sp>
      <p:sp>
        <p:nvSpPr>
          <p:cNvPr id="23" name="Text 21"/>
          <p:cNvSpPr/>
          <p:nvPr/>
        </p:nvSpPr>
        <p:spPr>
          <a:xfrm>
            <a:off x="804672" y="3754542"/>
            <a:ext cx="1371600" cy="237744"/>
          </a:xfrm>
          <a:prstGeom prst="rect">
            <a:avLst/>
          </a:prstGeom>
          <a:noFill/>
          <a:ln/>
        </p:spPr>
        <p:txBody>
          <a:bodyPr wrap="square" lIns="0" tIns="0" rIns="0" bIns="0" rtlCol="0" anchor="ctr"/>
          <a:lstStyle/>
          <a:p>
            <a:pPr marL="0" indent="0">
              <a:buNone/>
            </a:pPr>
            <a:r>
              <a:rPr lang="en-US" sz="1100" b="1" dirty="0">
                <a:solidFill>
                  <a:srgbClr val="C0392B"/>
                </a:solidFill>
                <a:latin typeface="Calibri" pitchFamily="34" charset="0"/>
                <a:ea typeface="Calibri" pitchFamily="34" charset="-122"/>
                <a:cs typeface="Calibri" pitchFamily="34" charset="-120"/>
              </a:rPr>
              <a:t>INCORRECT</a:t>
            </a:r>
            <a:endParaRPr lang="en-US" sz="1100" dirty="0"/>
          </a:p>
        </p:txBody>
      </p:sp>
      <p:sp>
        <p:nvSpPr>
          <p:cNvPr id="24" name="Text 22"/>
          <p:cNvSpPr/>
          <p:nvPr/>
        </p:nvSpPr>
        <p:spPr>
          <a:xfrm>
            <a:off x="804672" y="3973998"/>
            <a:ext cx="7863840" cy="557784"/>
          </a:xfrm>
          <a:prstGeom prst="rect">
            <a:avLst/>
          </a:prstGeom>
          <a:noFill/>
          <a:ln/>
        </p:spPr>
        <p:txBody>
          <a:bodyPr wrap="square" lIns="0" tIns="0" rIns="0" bIns="0" rtlCol="0" anchor="t"/>
          <a:lstStyle/>
          <a:p>
            <a:pPr marL="0" indent="0">
              <a:buNone/>
            </a:pPr>
            <a:r>
              <a:rPr lang="en-US" sz="1100" dirty="0">
                <a:solidFill>
                  <a:srgbClr val="0D1B3E"/>
                </a:solidFill>
                <a:latin typeface="Calibri" pitchFamily="34" charset="0"/>
                <a:ea typeface="Calibri" pitchFamily="34" charset="-122"/>
                <a:cs typeface="Calibri" pitchFamily="34" charset="-120"/>
              </a:rPr>
              <a:t>NSP is a pre-training objective, not a fine-tuning one. Applying it during fine-tuning conflates two separate pipeline stages. Moreover, RoBERTa (2019) showed NSP provides limited benefit even during pre-training. This option fundamentally misunderstands where each objective belongs.</a:t>
            </a:r>
            <a:endParaRPr lang="en-US" sz="1100" dirty="0"/>
          </a:p>
        </p:txBody>
      </p:sp>
      <p:grpSp>
        <p:nvGrpSpPr>
          <p:cNvPr id="2" name="Group 1">
            <a:extLst>
              <a:ext uri="{FF2B5EF4-FFF2-40B4-BE49-F238E27FC236}">
                <a16:creationId xmlns:a16="http://schemas.microsoft.com/office/drawing/2014/main" id="{FA597CA1-87C4-8831-5EC9-DC640B16C197}"/>
              </a:ext>
            </a:extLst>
          </p:cNvPr>
          <p:cNvGrpSpPr/>
          <p:nvPr/>
        </p:nvGrpSpPr>
        <p:grpSpPr>
          <a:xfrm>
            <a:off x="320040" y="4602393"/>
            <a:ext cx="8503920" cy="347472"/>
            <a:chOff x="320040" y="4348902"/>
            <a:chExt cx="8503920" cy="347472"/>
          </a:xfrm>
        </p:grpSpPr>
        <p:sp>
          <p:nvSpPr>
            <p:cNvPr id="25" name="Shape 23"/>
            <p:cNvSpPr/>
            <p:nvPr/>
          </p:nvSpPr>
          <p:spPr>
            <a:xfrm>
              <a:off x="320040" y="4348902"/>
              <a:ext cx="8503920" cy="347472"/>
            </a:xfrm>
            <a:prstGeom prst="roundRect">
              <a:avLst>
                <a:gd name="adj" fmla="val 13158"/>
              </a:avLst>
            </a:prstGeom>
            <a:solidFill>
              <a:srgbClr val="EAF4F7"/>
            </a:solidFill>
            <a:ln w="12700">
              <a:solidFill>
                <a:srgbClr val="028090"/>
              </a:solidFill>
              <a:prstDash val="solid"/>
            </a:ln>
          </p:spPr>
        </p:sp>
        <p:sp>
          <p:nvSpPr>
            <p:cNvPr id="26" name="Text 24"/>
            <p:cNvSpPr/>
            <p:nvPr/>
          </p:nvSpPr>
          <p:spPr>
            <a:xfrm>
              <a:off x="457200" y="4358046"/>
              <a:ext cx="8321040" cy="320040"/>
            </a:xfrm>
            <a:prstGeom prst="rect">
              <a:avLst/>
            </a:prstGeom>
            <a:noFill/>
            <a:ln/>
          </p:spPr>
          <p:txBody>
            <a:bodyPr wrap="square" lIns="0" tIns="0" rIns="0" bIns="0" rtlCol="0" anchor="ctr"/>
            <a:lstStyle/>
            <a:p>
              <a:pPr marL="0" indent="0">
                <a:buNone/>
              </a:pPr>
              <a:r>
                <a:rPr lang="en-US" sz="1100" b="1" dirty="0">
                  <a:solidFill>
                    <a:srgbClr val="028090"/>
                  </a:solidFill>
                  <a:latin typeface="Calibri" pitchFamily="34" charset="0"/>
                  <a:ea typeface="Calibri" pitchFamily="34" charset="-122"/>
                  <a:cs typeface="Calibri" pitchFamily="34" charset="-120"/>
                </a:rPr>
                <a:t>Key insight: </a:t>
              </a:r>
              <a:r>
                <a:rPr lang="en-US" sz="1100" dirty="0">
                  <a:solidFill>
                    <a:srgbClr val="0D1B3E"/>
                  </a:solidFill>
                  <a:latin typeface="Calibri" pitchFamily="34" charset="0"/>
                  <a:ea typeface="Calibri" pitchFamily="34" charset="-122"/>
                  <a:cs typeface="Calibri" pitchFamily="34" charset="-120"/>
                </a:rPr>
                <a:t>Domain shift, not model size, is the primary bottleneck when adapting general LMs to specialised domains. DAPT leverages the unlabelled in-domain corpus to bridge this gap before fine-tuning.</a:t>
              </a:r>
              <a:endParaRPr lang="en-US" sz="1100" dirty="0"/>
            </a:p>
          </p:txBody>
        </p:sp>
      </p:gr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3444" cy="5143500"/>
          </a:xfrm>
          <a:prstGeom prst="rect">
            <a:avLst/>
          </a:prstGeom>
          <a:solidFill>
            <a:srgbClr val="1A365D"/>
          </a:solidFill>
          <a:ln w="12700">
            <a:solidFill>
              <a:srgbClr val="1A365D"/>
            </a:solidFill>
            <a:prstDash val="solid"/>
          </a:ln>
        </p:spPr>
        <p:txBody>
          <a:bodyPr/>
          <a:lstStyle/>
          <a:p>
            <a:endParaRPr/>
          </a:p>
        </p:txBody>
      </p:sp>
      <p:sp>
        <p:nvSpPr>
          <p:cNvPr id="7" name="Text 5"/>
          <p:cNvSpPr/>
          <p:nvPr/>
        </p:nvSpPr>
        <p:spPr>
          <a:xfrm>
            <a:off x="342900" y="288406"/>
            <a:ext cx="8435340" cy="617220"/>
          </a:xfrm>
          <a:prstGeom prst="rect">
            <a:avLst/>
          </a:prstGeom>
          <a:noFill/>
          <a:ln/>
        </p:spPr>
        <p:txBody>
          <a:bodyPr wrap="square" lIns="0" tIns="0" rIns="0" bIns="0" rtlCol="0" anchor="ctr"/>
          <a:lstStyle/>
          <a:p>
            <a:r>
              <a:rPr lang="en-US" sz="2250" b="1" dirty="0">
                <a:solidFill>
                  <a:srgbClr val="1E2761"/>
                </a:solidFill>
                <a:latin typeface="Georgia"/>
              </a:rPr>
              <a:t>GPT-3: Few-Shot Learning and the Prompting </a:t>
            </a:r>
          </a:p>
          <a:p>
            <a:r>
              <a:rPr lang="en-US" sz="2250" b="1" dirty="0">
                <a:solidFill>
                  <a:srgbClr val="1E2761"/>
                </a:solidFill>
                <a:latin typeface="Georgia"/>
              </a:rPr>
              <a:t>Paradigm</a:t>
            </a:r>
            <a:endParaRPr lang="en-US" sz="2250" dirty="0"/>
          </a:p>
        </p:txBody>
      </p:sp>
      <p:sp>
        <p:nvSpPr>
          <p:cNvPr id="8" name="Text 6"/>
          <p:cNvSpPr/>
          <p:nvPr/>
        </p:nvSpPr>
        <p:spPr>
          <a:xfrm>
            <a:off x="342900" y="1286872"/>
            <a:ext cx="8435340" cy="803748"/>
          </a:xfrm>
          <a:prstGeom prst="rect">
            <a:avLst/>
          </a:prstGeom>
          <a:noFill/>
          <a:ln/>
        </p:spPr>
        <p:txBody>
          <a:bodyPr wrap="square" lIns="0" tIns="0" rIns="0" bIns="0" rtlCol="0" anchor="ctr"/>
          <a:lstStyle/>
          <a:p>
            <a:pPr>
              <a:spcAft>
                <a:spcPts val="300"/>
              </a:spcAft>
            </a:pPr>
            <a:r>
              <a:rPr lang="en-US" sz="1200" dirty="0">
                <a:solidFill>
                  <a:srgbClr val="1A1F36"/>
                </a:solidFill>
                <a:latin typeface="Calibri"/>
              </a:rPr>
              <a:t>GPT-3 scaled the GPT-2 recipe by two orders of magnitude.</a:t>
            </a:r>
          </a:p>
          <a:p>
            <a:pPr>
              <a:spcAft>
                <a:spcPts val="300"/>
              </a:spcAft>
            </a:pPr>
            <a:r>
              <a:rPr lang="en-US" sz="1200" dirty="0">
                <a:solidFill>
                  <a:srgbClr val="1A1F36"/>
                </a:solidFill>
                <a:latin typeface="Calibri"/>
              </a:rPr>
              <a:t> A sufficiently large language model can perform novel tasks from a handful of demonstrations in the prompt — no gradient updates, no fine-tuning. The era of API-served foundation models and prompt engineering began here.</a:t>
            </a:r>
            <a:endParaRPr lang="en-US" sz="1200" dirty="0"/>
          </a:p>
        </p:txBody>
      </p:sp>
      <p:grpSp>
        <p:nvGrpSpPr>
          <p:cNvPr id="4" name="Group 3">
            <a:extLst>
              <a:ext uri="{FF2B5EF4-FFF2-40B4-BE49-F238E27FC236}">
                <a16:creationId xmlns:a16="http://schemas.microsoft.com/office/drawing/2014/main" id="{F2C76B38-360B-B612-226B-F363672A2413}"/>
              </a:ext>
            </a:extLst>
          </p:cNvPr>
          <p:cNvGrpSpPr/>
          <p:nvPr/>
        </p:nvGrpSpPr>
        <p:grpSpPr>
          <a:xfrm>
            <a:off x="342900" y="2202016"/>
            <a:ext cx="8229600" cy="651510"/>
            <a:chOff x="342900" y="2297430"/>
            <a:chExt cx="8229600" cy="651510"/>
          </a:xfrm>
        </p:grpSpPr>
        <p:sp>
          <p:nvSpPr>
            <p:cNvPr id="9" name="Shape 7"/>
            <p:cNvSpPr/>
            <p:nvPr/>
          </p:nvSpPr>
          <p:spPr>
            <a:xfrm>
              <a:off x="342900" y="2297430"/>
              <a:ext cx="1954530" cy="651510"/>
            </a:xfrm>
            <a:prstGeom prst="rect">
              <a:avLst/>
            </a:prstGeom>
            <a:solidFill>
              <a:srgbClr val="F7FAFC"/>
            </a:solidFill>
            <a:ln w="9525">
              <a:solidFill>
                <a:srgbClr val="E2E8F0"/>
              </a:solidFill>
              <a:prstDash val="solid"/>
            </a:ln>
          </p:spPr>
          <p:txBody>
            <a:bodyPr/>
            <a:lstStyle/>
            <a:p>
              <a:endParaRPr/>
            </a:p>
          </p:txBody>
        </p:sp>
        <p:sp>
          <p:nvSpPr>
            <p:cNvPr id="10" name="Text 8"/>
            <p:cNvSpPr/>
            <p:nvPr/>
          </p:nvSpPr>
          <p:spPr>
            <a:xfrm>
              <a:off x="342900" y="2338578"/>
              <a:ext cx="1954530" cy="377190"/>
            </a:xfrm>
            <a:prstGeom prst="rect">
              <a:avLst/>
            </a:prstGeom>
            <a:noFill/>
            <a:ln/>
          </p:spPr>
          <p:txBody>
            <a:bodyPr wrap="square" lIns="0" tIns="0" rIns="0" bIns="0" rtlCol="0" anchor="ctr"/>
            <a:lstStyle/>
            <a:p>
              <a:pPr algn="ctr"/>
              <a:r>
                <a:rPr lang="en-US" sz="2100" b="1" dirty="0">
                  <a:solidFill>
                    <a:srgbClr val="0F223E"/>
                  </a:solidFill>
                  <a:latin typeface="Calibri"/>
                </a:rPr>
                <a:t>175 B</a:t>
              </a:r>
              <a:endParaRPr lang="en-US" sz="2100" dirty="0"/>
            </a:p>
          </p:txBody>
        </p:sp>
        <p:sp>
          <p:nvSpPr>
            <p:cNvPr id="11" name="Text 9"/>
            <p:cNvSpPr/>
            <p:nvPr/>
          </p:nvSpPr>
          <p:spPr>
            <a:xfrm>
              <a:off x="342900" y="2722626"/>
              <a:ext cx="1954530" cy="171450"/>
            </a:xfrm>
            <a:prstGeom prst="rect">
              <a:avLst/>
            </a:prstGeom>
            <a:noFill/>
            <a:ln/>
          </p:spPr>
          <p:txBody>
            <a:bodyPr wrap="square" lIns="0" tIns="0" rIns="0" bIns="0" rtlCol="0" anchor="ctr"/>
            <a:lstStyle/>
            <a:p>
              <a:pPr algn="ctr"/>
              <a:r>
                <a:rPr lang="en-US" sz="713" spc="300" dirty="0">
                  <a:solidFill>
                    <a:srgbClr val="1A1F36"/>
                  </a:solidFill>
                  <a:latin typeface="Calibri"/>
                </a:rPr>
                <a:t>PARAMETERS</a:t>
              </a:r>
              <a:endParaRPr lang="en-US" sz="713" dirty="0"/>
            </a:p>
          </p:txBody>
        </p:sp>
        <p:sp>
          <p:nvSpPr>
            <p:cNvPr id="12" name="Shape 10"/>
            <p:cNvSpPr/>
            <p:nvPr/>
          </p:nvSpPr>
          <p:spPr>
            <a:xfrm>
              <a:off x="2434590" y="2297430"/>
              <a:ext cx="1954530" cy="651510"/>
            </a:xfrm>
            <a:prstGeom prst="rect">
              <a:avLst/>
            </a:prstGeom>
            <a:solidFill>
              <a:srgbClr val="F7FAFC"/>
            </a:solidFill>
            <a:ln w="9525">
              <a:solidFill>
                <a:srgbClr val="E2E8F0"/>
              </a:solidFill>
              <a:prstDash val="solid"/>
            </a:ln>
          </p:spPr>
          <p:txBody>
            <a:bodyPr/>
            <a:lstStyle/>
            <a:p>
              <a:endParaRPr/>
            </a:p>
          </p:txBody>
        </p:sp>
        <p:sp>
          <p:nvSpPr>
            <p:cNvPr id="13" name="Text 11"/>
            <p:cNvSpPr/>
            <p:nvPr/>
          </p:nvSpPr>
          <p:spPr>
            <a:xfrm>
              <a:off x="2434590" y="2338578"/>
              <a:ext cx="1954530" cy="377190"/>
            </a:xfrm>
            <a:prstGeom prst="rect">
              <a:avLst/>
            </a:prstGeom>
            <a:noFill/>
            <a:ln/>
          </p:spPr>
          <p:txBody>
            <a:bodyPr wrap="square" lIns="0" tIns="0" rIns="0" bIns="0" rtlCol="0" anchor="ctr"/>
            <a:lstStyle/>
            <a:p>
              <a:pPr algn="ctr"/>
              <a:r>
                <a:rPr lang="en-US" sz="2100" b="1" dirty="0">
                  <a:solidFill>
                    <a:srgbClr val="0F223E"/>
                  </a:solidFill>
                  <a:latin typeface="Calibri"/>
                </a:rPr>
                <a:t>~300 B</a:t>
              </a:r>
              <a:endParaRPr lang="en-US" sz="2100" dirty="0"/>
            </a:p>
          </p:txBody>
        </p:sp>
        <p:sp>
          <p:nvSpPr>
            <p:cNvPr id="14" name="Text 12"/>
            <p:cNvSpPr/>
            <p:nvPr/>
          </p:nvSpPr>
          <p:spPr>
            <a:xfrm>
              <a:off x="2434590" y="2722626"/>
              <a:ext cx="1954530" cy="171450"/>
            </a:xfrm>
            <a:prstGeom prst="rect">
              <a:avLst/>
            </a:prstGeom>
            <a:noFill/>
            <a:ln/>
          </p:spPr>
          <p:txBody>
            <a:bodyPr wrap="square" lIns="0" tIns="0" rIns="0" bIns="0" rtlCol="0" anchor="ctr"/>
            <a:lstStyle/>
            <a:p>
              <a:pPr algn="ctr"/>
              <a:r>
                <a:rPr lang="en-US" sz="713" spc="300" dirty="0">
                  <a:solidFill>
                    <a:srgbClr val="1A1F36"/>
                  </a:solidFill>
                  <a:latin typeface="Calibri"/>
                </a:rPr>
                <a:t>TRAINING TOKENS</a:t>
              </a:r>
              <a:endParaRPr lang="en-US" sz="713" dirty="0"/>
            </a:p>
          </p:txBody>
        </p:sp>
        <p:sp>
          <p:nvSpPr>
            <p:cNvPr id="15" name="Shape 13"/>
            <p:cNvSpPr/>
            <p:nvPr/>
          </p:nvSpPr>
          <p:spPr>
            <a:xfrm>
              <a:off x="4526280" y="2297430"/>
              <a:ext cx="1954530" cy="651510"/>
            </a:xfrm>
            <a:prstGeom prst="rect">
              <a:avLst/>
            </a:prstGeom>
            <a:solidFill>
              <a:srgbClr val="F7FAFC"/>
            </a:solidFill>
            <a:ln w="9525">
              <a:solidFill>
                <a:srgbClr val="E2E8F0"/>
              </a:solidFill>
              <a:prstDash val="solid"/>
            </a:ln>
          </p:spPr>
          <p:txBody>
            <a:bodyPr/>
            <a:lstStyle/>
            <a:p>
              <a:endParaRPr/>
            </a:p>
          </p:txBody>
        </p:sp>
        <p:sp>
          <p:nvSpPr>
            <p:cNvPr id="16" name="Text 14"/>
            <p:cNvSpPr/>
            <p:nvPr/>
          </p:nvSpPr>
          <p:spPr>
            <a:xfrm>
              <a:off x="4526280" y="2338578"/>
              <a:ext cx="1954530" cy="377190"/>
            </a:xfrm>
            <a:prstGeom prst="rect">
              <a:avLst/>
            </a:prstGeom>
            <a:noFill/>
            <a:ln/>
          </p:spPr>
          <p:txBody>
            <a:bodyPr wrap="square" lIns="0" tIns="0" rIns="0" bIns="0" rtlCol="0" anchor="ctr"/>
            <a:lstStyle/>
            <a:p>
              <a:pPr algn="ctr"/>
              <a:r>
                <a:rPr lang="en-US" sz="2100" b="1" dirty="0">
                  <a:solidFill>
                    <a:srgbClr val="0F223E"/>
                  </a:solidFill>
                  <a:latin typeface="Calibri"/>
                </a:rPr>
                <a:t>2,048</a:t>
              </a:r>
              <a:endParaRPr lang="en-US" sz="2100" dirty="0"/>
            </a:p>
          </p:txBody>
        </p:sp>
        <p:sp>
          <p:nvSpPr>
            <p:cNvPr id="17" name="Text 15"/>
            <p:cNvSpPr/>
            <p:nvPr/>
          </p:nvSpPr>
          <p:spPr>
            <a:xfrm>
              <a:off x="4526280" y="2722626"/>
              <a:ext cx="1954530" cy="171450"/>
            </a:xfrm>
            <a:prstGeom prst="rect">
              <a:avLst/>
            </a:prstGeom>
            <a:noFill/>
            <a:ln/>
          </p:spPr>
          <p:txBody>
            <a:bodyPr wrap="square" lIns="0" tIns="0" rIns="0" bIns="0" rtlCol="0" anchor="ctr"/>
            <a:lstStyle/>
            <a:p>
              <a:pPr algn="ctr"/>
              <a:r>
                <a:rPr lang="en-US" sz="713" spc="300" dirty="0">
                  <a:solidFill>
                    <a:srgbClr val="1A1F36"/>
                  </a:solidFill>
                  <a:latin typeface="Calibri"/>
                </a:rPr>
                <a:t>CONTEXT WINDOW</a:t>
              </a:r>
              <a:endParaRPr lang="en-US" sz="713" dirty="0"/>
            </a:p>
          </p:txBody>
        </p:sp>
        <p:sp>
          <p:nvSpPr>
            <p:cNvPr id="18" name="Shape 16"/>
            <p:cNvSpPr/>
            <p:nvPr/>
          </p:nvSpPr>
          <p:spPr>
            <a:xfrm>
              <a:off x="6617970" y="2297430"/>
              <a:ext cx="1954530" cy="651510"/>
            </a:xfrm>
            <a:prstGeom prst="rect">
              <a:avLst/>
            </a:prstGeom>
            <a:solidFill>
              <a:srgbClr val="F7FAFC"/>
            </a:solidFill>
            <a:ln w="9525">
              <a:solidFill>
                <a:srgbClr val="E2E8F0"/>
              </a:solidFill>
              <a:prstDash val="solid"/>
            </a:ln>
          </p:spPr>
          <p:txBody>
            <a:bodyPr/>
            <a:lstStyle/>
            <a:p>
              <a:endParaRPr/>
            </a:p>
          </p:txBody>
        </p:sp>
        <p:sp>
          <p:nvSpPr>
            <p:cNvPr id="19" name="Text 17"/>
            <p:cNvSpPr/>
            <p:nvPr/>
          </p:nvSpPr>
          <p:spPr>
            <a:xfrm>
              <a:off x="6617970" y="2338578"/>
              <a:ext cx="1954530" cy="377190"/>
            </a:xfrm>
            <a:prstGeom prst="rect">
              <a:avLst/>
            </a:prstGeom>
            <a:noFill/>
            <a:ln/>
          </p:spPr>
          <p:txBody>
            <a:bodyPr wrap="square" lIns="0" tIns="0" rIns="0" bIns="0" rtlCol="0" anchor="ctr"/>
            <a:lstStyle/>
            <a:p>
              <a:pPr algn="ctr"/>
              <a:r>
                <a:rPr lang="en-US" sz="2100" b="1" dirty="0">
                  <a:solidFill>
                    <a:srgbClr val="0F223E"/>
                  </a:solidFill>
                  <a:latin typeface="Calibri"/>
                </a:rPr>
                <a:t>117×</a:t>
              </a:r>
              <a:endParaRPr lang="en-US" sz="2100" dirty="0"/>
            </a:p>
          </p:txBody>
        </p:sp>
        <p:sp>
          <p:nvSpPr>
            <p:cNvPr id="20" name="Text 18"/>
            <p:cNvSpPr/>
            <p:nvPr/>
          </p:nvSpPr>
          <p:spPr>
            <a:xfrm>
              <a:off x="6617970" y="2722626"/>
              <a:ext cx="1954530" cy="171450"/>
            </a:xfrm>
            <a:prstGeom prst="rect">
              <a:avLst/>
            </a:prstGeom>
            <a:noFill/>
            <a:ln/>
          </p:spPr>
          <p:txBody>
            <a:bodyPr wrap="square" lIns="0" tIns="0" rIns="0" bIns="0" rtlCol="0" anchor="ctr"/>
            <a:lstStyle/>
            <a:p>
              <a:pPr algn="ctr"/>
              <a:r>
                <a:rPr lang="en-US" sz="713" spc="300" dirty="0">
                  <a:solidFill>
                    <a:srgbClr val="1A1F36"/>
                  </a:solidFill>
                  <a:latin typeface="Calibri"/>
                </a:rPr>
                <a:t>LARGER THAN GPT-2</a:t>
              </a:r>
              <a:endParaRPr lang="en-US" sz="713" dirty="0"/>
            </a:p>
          </p:txBody>
        </p:sp>
      </p:grpSp>
      <p:grpSp>
        <p:nvGrpSpPr>
          <p:cNvPr id="6" name="Group 5">
            <a:extLst>
              <a:ext uri="{FF2B5EF4-FFF2-40B4-BE49-F238E27FC236}">
                <a16:creationId xmlns:a16="http://schemas.microsoft.com/office/drawing/2014/main" id="{C74D462F-6D8A-3B37-731B-E7FB87B666AA}"/>
              </a:ext>
            </a:extLst>
          </p:cNvPr>
          <p:cNvGrpSpPr/>
          <p:nvPr/>
        </p:nvGrpSpPr>
        <p:grpSpPr>
          <a:xfrm>
            <a:off x="211592" y="3051810"/>
            <a:ext cx="3942853" cy="1405890"/>
            <a:chOff x="342900" y="3051810"/>
            <a:chExt cx="8435340" cy="1405890"/>
          </a:xfrm>
        </p:grpSpPr>
        <p:sp>
          <p:nvSpPr>
            <p:cNvPr id="5" name="Shape 3"/>
            <p:cNvSpPr/>
            <p:nvPr/>
          </p:nvSpPr>
          <p:spPr>
            <a:xfrm>
              <a:off x="342900" y="4457700"/>
              <a:ext cx="8435340" cy="0"/>
            </a:xfrm>
            <a:prstGeom prst="line">
              <a:avLst/>
            </a:prstGeom>
            <a:noFill/>
            <a:ln w="9525">
              <a:solidFill>
                <a:srgbClr val="CBD5E0"/>
              </a:solidFill>
              <a:prstDash val="solid"/>
            </a:ln>
          </p:spPr>
          <p:txBody>
            <a:bodyPr/>
            <a:lstStyle/>
            <a:p>
              <a:endParaRPr/>
            </a:p>
          </p:txBody>
        </p:sp>
        <p:sp>
          <p:nvSpPr>
            <p:cNvPr id="21" name="Shape 19"/>
            <p:cNvSpPr/>
            <p:nvPr/>
          </p:nvSpPr>
          <p:spPr>
            <a:xfrm>
              <a:off x="342900" y="3051810"/>
              <a:ext cx="8435340" cy="1337310"/>
            </a:xfrm>
            <a:prstGeom prst="rect">
              <a:avLst/>
            </a:prstGeom>
            <a:solidFill>
              <a:srgbClr val="FFFFFF"/>
            </a:solidFill>
            <a:ln w="9525">
              <a:solidFill>
                <a:srgbClr val="E2E8F0"/>
              </a:solidFill>
              <a:prstDash val="solid"/>
            </a:ln>
          </p:spPr>
          <p:txBody>
            <a:bodyPr/>
            <a:lstStyle/>
            <a:p>
              <a:endParaRPr/>
            </a:p>
          </p:txBody>
        </p:sp>
        <p:sp>
          <p:nvSpPr>
            <p:cNvPr id="22" name="Shape 20"/>
            <p:cNvSpPr/>
            <p:nvPr/>
          </p:nvSpPr>
          <p:spPr>
            <a:xfrm>
              <a:off x="342900" y="3051810"/>
              <a:ext cx="41148" cy="1337310"/>
            </a:xfrm>
            <a:prstGeom prst="rect">
              <a:avLst/>
            </a:prstGeom>
            <a:solidFill>
              <a:srgbClr val="8B6914"/>
            </a:solidFill>
            <a:ln w="12700">
              <a:solidFill>
                <a:srgbClr val="8B6914"/>
              </a:solidFill>
              <a:prstDash val="solid"/>
            </a:ln>
          </p:spPr>
          <p:txBody>
            <a:bodyPr/>
            <a:lstStyle/>
            <a:p>
              <a:endParaRPr/>
            </a:p>
          </p:txBody>
        </p:sp>
        <p:sp>
          <p:nvSpPr>
            <p:cNvPr id="24" name="Text 22"/>
            <p:cNvSpPr/>
            <p:nvPr/>
          </p:nvSpPr>
          <p:spPr>
            <a:xfrm>
              <a:off x="493777" y="3106475"/>
              <a:ext cx="8195310" cy="192024"/>
            </a:xfrm>
            <a:prstGeom prst="rect">
              <a:avLst/>
            </a:prstGeom>
            <a:noFill/>
            <a:ln/>
          </p:spPr>
          <p:txBody>
            <a:bodyPr wrap="square" lIns="0" tIns="0" rIns="0" bIns="0" rtlCol="0" anchor="ctr"/>
            <a:lstStyle/>
            <a:p>
              <a:r>
                <a:rPr lang="en-US" sz="1100" b="1" dirty="0">
                  <a:solidFill>
                    <a:srgbClr val="0F223E"/>
                  </a:solidFill>
                  <a:latin typeface="Calibri"/>
                </a:rPr>
                <a:t>TriviaQA accuracy (closed-book, GPT-3 175B)</a:t>
              </a:r>
              <a:endParaRPr lang="en-US" sz="1100" dirty="0"/>
            </a:p>
          </p:txBody>
        </p:sp>
        <p:sp>
          <p:nvSpPr>
            <p:cNvPr id="25" name="Text 23"/>
            <p:cNvSpPr/>
            <p:nvPr/>
          </p:nvSpPr>
          <p:spPr>
            <a:xfrm>
              <a:off x="493776" y="3532942"/>
              <a:ext cx="1268730" cy="160735"/>
            </a:xfrm>
            <a:prstGeom prst="rect">
              <a:avLst/>
            </a:prstGeom>
            <a:noFill/>
            <a:ln/>
          </p:spPr>
          <p:txBody>
            <a:bodyPr wrap="square" lIns="0" tIns="0" rIns="0" bIns="0" rtlCol="0" anchor="ctr"/>
            <a:lstStyle/>
            <a:p>
              <a:r>
                <a:rPr lang="en-US" sz="700" dirty="0">
                  <a:solidFill>
                    <a:srgbClr val="1A1F36"/>
                  </a:solidFill>
                  <a:latin typeface="Calibri"/>
                </a:rPr>
                <a:t>Prior fine-tuned SOTA</a:t>
              </a:r>
              <a:endParaRPr lang="en-US" sz="700" dirty="0"/>
            </a:p>
          </p:txBody>
        </p:sp>
        <p:sp>
          <p:nvSpPr>
            <p:cNvPr id="26" name="Shape 24"/>
            <p:cNvSpPr/>
            <p:nvPr/>
          </p:nvSpPr>
          <p:spPr>
            <a:xfrm>
              <a:off x="1796796" y="3560374"/>
              <a:ext cx="6480810" cy="105871"/>
            </a:xfrm>
            <a:prstGeom prst="rect">
              <a:avLst/>
            </a:prstGeom>
            <a:solidFill>
              <a:srgbClr val="EDF2F7"/>
            </a:solidFill>
            <a:ln w="12700">
              <a:solidFill>
                <a:srgbClr val="EDF2F7"/>
              </a:solidFill>
              <a:prstDash val="solid"/>
            </a:ln>
          </p:spPr>
          <p:txBody>
            <a:bodyPr/>
            <a:lstStyle/>
            <a:p>
              <a:endParaRPr/>
            </a:p>
          </p:txBody>
        </p:sp>
        <p:sp>
          <p:nvSpPr>
            <p:cNvPr id="27" name="Shape 25"/>
            <p:cNvSpPr/>
            <p:nvPr/>
          </p:nvSpPr>
          <p:spPr>
            <a:xfrm>
              <a:off x="1796796" y="3560374"/>
              <a:ext cx="6189538" cy="105871"/>
            </a:xfrm>
            <a:prstGeom prst="rect">
              <a:avLst/>
            </a:prstGeom>
            <a:solidFill>
              <a:srgbClr val="4A5568"/>
            </a:solidFill>
            <a:ln w="12700">
              <a:solidFill>
                <a:srgbClr val="4A5568"/>
              </a:solidFill>
              <a:prstDash val="solid"/>
            </a:ln>
          </p:spPr>
          <p:txBody>
            <a:bodyPr/>
            <a:lstStyle/>
            <a:p>
              <a:endParaRPr/>
            </a:p>
          </p:txBody>
        </p:sp>
        <p:sp>
          <p:nvSpPr>
            <p:cNvPr id="28" name="Text 26"/>
            <p:cNvSpPr/>
            <p:nvPr/>
          </p:nvSpPr>
          <p:spPr>
            <a:xfrm>
              <a:off x="8157577" y="3560374"/>
              <a:ext cx="552083" cy="133303"/>
            </a:xfrm>
            <a:prstGeom prst="rect">
              <a:avLst/>
            </a:prstGeom>
            <a:noFill/>
            <a:ln/>
          </p:spPr>
          <p:txBody>
            <a:bodyPr wrap="square" lIns="0" tIns="0" rIns="0" bIns="0" rtlCol="0" anchor="ctr"/>
            <a:lstStyle/>
            <a:p>
              <a:r>
                <a:rPr lang="en-US" sz="700" dirty="0">
                  <a:solidFill>
                    <a:srgbClr val="1A1F36"/>
                  </a:solidFill>
                  <a:latin typeface="Calibri"/>
                </a:rPr>
                <a:t>68.0%</a:t>
              </a:r>
              <a:endParaRPr lang="en-US" sz="700" dirty="0"/>
            </a:p>
          </p:txBody>
        </p:sp>
        <p:sp>
          <p:nvSpPr>
            <p:cNvPr id="29" name="Text 27"/>
            <p:cNvSpPr/>
            <p:nvPr/>
          </p:nvSpPr>
          <p:spPr>
            <a:xfrm>
              <a:off x="493776" y="3695820"/>
              <a:ext cx="1268730" cy="160735"/>
            </a:xfrm>
            <a:prstGeom prst="rect">
              <a:avLst/>
            </a:prstGeom>
            <a:noFill/>
            <a:ln/>
          </p:spPr>
          <p:txBody>
            <a:bodyPr wrap="square" lIns="0" tIns="0" rIns="0" bIns="0" rtlCol="0" anchor="ctr"/>
            <a:lstStyle/>
            <a:p>
              <a:r>
                <a:rPr lang="en-US" sz="700" dirty="0">
                  <a:solidFill>
                    <a:srgbClr val="1A1F36"/>
                  </a:solidFill>
                  <a:latin typeface="Calibri"/>
                </a:rPr>
                <a:t>GPT-3 · zero-shot</a:t>
              </a:r>
              <a:endParaRPr lang="en-US" sz="700" dirty="0"/>
            </a:p>
          </p:txBody>
        </p:sp>
        <p:sp>
          <p:nvSpPr>
            <p:cNvPr id="30" name="Shape 28"/>
            <p:cNvSpPr/>
            <p:nvPr/>
          </p:nvSpPr>
          <p:spPr>
            <a:xfrm>
              <a:off x="1796796" y="3723252"/>
              <a:ext cx="6480810" cy="105871"/>
            </a:xfrm>
            <a:prstGeom prst="rect">
              <a:avLst/>
            </a:prstGeom>
            <a:solidFill>
              <a:srgbClr val="EDF2F7"/>
            </a:solidFill>
            <a:ln w="12700">
              <a:solidFill>
                <a:srgbClr val="EDF2F7"/>
              </a:solidFill>
              <a:prstDash val="solid"/>
            </a:ln>
          </p:spPr>
          <p:txBody>
            <a:bodyPr/>
            <a:lstStyle/>
            <a:p>
              <a:endParaRPr/>
            </a:p>
          </p:txBody>
        </p:sp>
        <p:sp>
          <p:nvSpPr>
            <p:cNvPr id="31" name="Shape 29"/>
            <p:cNvSpPr/>
            <p:nvPr/>
          </p:nvSpPr>
          <p:spPr>
            <a:xfrm>
              <a:off x="1796796" y="3723252"/>
              <a:ext cx="5852754" cy="105871"/>
            </a:xfrm>
            <a:prstGeom prst="rect">
              <a:avLst/>
            </a:prstGeom>
            <a:solidFill>
              <a:srgbClr val="4A5568"/>
            </a:solidFill>
            <a:ln w="12700">
              <a:solidFill>
                <a:srgbClr val="4A5568"/>
              </a:solidFill>
              <a:prstDash val="solid"/>
            </a:ln>
          </p:spPr>
          <p:txBody>
            <a:bodyPr/>
            <a:lstStyle/>
            <a:p>
              <a:endParaRPr/>
            </a:p>
          </p:txBody>
        </p:sp>
        <p:sp>
          <p:nvSpPr>
            <p:cNvPr id="32" name="Text 30"/>
            <p:cNvSpPr/>
            <p:nvPr/>
          </p:nvSpPr>
          <p:spPr>
            <a:xfrm>
              <a:off x="8157577" y="3711250"/>
              <a:ext cx="552083" cy="145305"/>
            </a:xfrm>
            <a:prstGeom prst="rect">
              <a:avLst/>
            </a:prstGeom>
            <a:noFill/>
            <a:ln/>
          </p:spPr>
          <p:txBody>
            <a:bodyPr wrap="square" lIns="0" tIns="0" rIns="0" bIns="0" rtlCol="0" anchor="ctr"/>
            <a:lstStyle/>
            <a:p>
              <a:r>
                <a:rPr lang="en-US" sz="700" dirty="0">
                  <a:solidFill>
                    <a:srgbClr val="1A1F36"/>
                  </a:solidFill>
                  <a:latin typeface="Calibri"/>
                </a:rPr>
                <a:t>64.3%</a:t>
              </a:r>
              <a:endParaRPr lang="en-US" sz="700" dirty="0"/>
            </a:p>
          </p:txBody>
        </p:sp>
        <p:sp>
          <p:nvSpPr>
            <p:cNvPr id="33" name="Text 31"/>
            <p:cNvSpPr/>
            <p:nvPr/>
          </p:nvSpPr>
          <p:spPr>
            <a:xfrm>
              <a:off x="493776" y="3858697"/>
              <a:ext cx="1268730" cy="160735"/>
            </a:xfrm>
            <a:prstGeom prst="rect">
              <a:avLst/>
            </a:prstGeom>
            <a:noFill/>
            <a:ln/>
          </p:spPr>
          <p:txBody>
            <a:bodyPr wrap="square" lIns="0" tIns="0" rIns="0" bIns="0" rtlCol="0" anchor="ctr"/>
            <a:lstStyle/>
            <a:p>
              <a:r>
                <a:rPr lang="en-US" sz="700" dirty="0">
                  <a:solidFill>
                    <a:srgbClr val="1A1F36"/>
                  </a:solidFill>
                  <a:latin typeface="Calibri"/>
                </a:rPr>
                <a:t>GPT-3 · one-shot</a:t>
              </a:r>
              <a:endParaRPr lang="en-US" sz="700" dirty="0"/>
            </a:p>
          </p:txBody>
        </p:sp>
        <p:sp>
          <p:nvSpPr>
            <p:cNvPr id="34" name="Shape 32"/>
            <p:cNvSpPr/>
            <p:nvPr/>
          </p:nvSpPr>
          <p:spPr>
            <a:xfrm>
              <a:off x="1796796" y="3886129"/>
              <a:ext cx="6480810" cy="105871"/>
            </a:xfrm>
            <a:prstGeom prst="rect">
              <a:avLst/>
            </a:prstGeom>
            <a:solidFill>
              <a:srgbClr val="EDF2F7"/>
            </a:solidFill>
            <a:ln w="12700">
              <a:solidFill>
                <a:srgbClr val="EDF2F7"/>
              </a:solidFill>
              <a:prstDash val="solid"/>
            </a:ln>
          </p:spPr>
          <p:txBody>
            <a:bodyPr/>
            <a:lstStyle/>
            <a:p>
              <a:endParaRPr/>
            </a:p>
          </p:txBody>
        </p:sp>
        <p:sp>
          <p:nvSpPr>
            <p:cNvPr id="35" name="Shape 33"/>
            <p:cNvSpPr/>
            <p:nvPr/>
          </p:nvSpPr>
          <p:spPr>
            <a:xfrm>
              <a:off x="1796796" y="3886129"/>
              <a:ext cx="6189538" cy="105871"/>
            </a:xfrm>
            <a:prstGeom prst="rect">
              <a:avLst/>
            </a:prstGeom>
            <a:solidFill>
              <a:srgbClr val="4A5568"/>
            </a:solidFill>
            <a:ln w="12700">
              <a:solidFill>
                <a:srgbClr val="4A5568"/>
              </a:solidFill>
              <a:prstDash val="solid"/>
            </a:ln>
          </p:spPr>
          <p:txBody>
            <a:bodyPr/>
            <a:lstStyle/>
            <a:p>
              <a:endParaRPr/>
            </a:p>
          </p:txBody>
        </p:sp>
        <p:sp>
          <p:nvSpPr>
            <p:cNvPr id="36" name="Text 34"/>
            <p:cNvSpPr/>
            <p:nvPr/>
          </p:nvSpPr>
          <p:spPr>
            <a:xfrm>
              <a:off x="8157577" y="3864529"/>
              <a:ext cx="552083" cy="154903"/>
            </a:xfrm>
            <a:prstGeom prst="rect">
              <a:avLst/>
            </a:prstGeom>
            <a:noFill/>
            <a:ln/>
          </p:spPr>
          <p:txBody>
            <a:bodyPr wrap="square" lIns="0" tIns="0" rIns="0" bIns="0" rtlCol="0" anchor="ctr"/>
            <a:lstStyle/>
            <a:p>
              <a:r>
                <a:rPr lang="en-US" sz="700" dirty="0">
                  <a:solidFill>
                    <a:srgbClr val="1A1F36"/>
                  </a:solidFill>
                  <a:latin typeface="Calibri"/>
                </a:rPr>
                <a:t>68.0%</a:t>
              </a:r>
              <a:endParaRPr lang="en-US" sz="700" dirty="0"/>
            </a:p>
          </p:txBody>
        </p:sp>
        <p:sp>
          <p:nvSpPr>
            <p:cNvPr id="37" name="Text 35"/>
            <p:cNvSpPr/>
            <p:nvPr/>
          </p:nvSpPr>
          <p:spPr>
            <a:xfrm>
              <a:off x="493776" y="4021575"/>
              <a:ext cx="1268730" cy="160735"/>
            </a:xfrm>
            <a:prstGeom prst="rect">
              <a:avLst/>
            </a:prstGeom>
            <a:noFill/>
            <a:ln/>
          </p:spPr>
          <p:txBody>
            <a:bodyPr wrap="square" lIns="0" tIns="0" rIns="0" bIns="0" rtlCol="0" anchor="ctr"/>
            <a:lstStyle/>
            <a:p>
              <a:r>
                <a:rPr lang="en-US" sz="700" dirty="0">
                  <a:solidFill>
                    <a:srgbClr val="1A1F36"/>
                  </a:solidFill>
                  <a:latin typeface="Calibri"/>
                </a:rPr>
                <a:t>GPT-3 · few-shot (64)</a:t>
              </a:r>
              <a:endParaRPr lang="en-US" sz="700" dirty="0"/>
            </a:p>
          </p:txBody>
        </p:sp>
        <p:sp>
          <p:nvSpPr>
            <p:cNvPr id="38" name="Shape 36"/>
            <p:cNvSpPr/>
            <p:nvPr/>
          </p:nvSpPr>
          <p:spPr>
            <a:xfrm>
              <a:off x="1796796" y="4049007"/>
              <a:ext cx="6480810" cy="105871"/>
            </a:xfrm>
            <a:prstGeom prst="rect">
              <a:avLst/>
            </a:prstGeom>
            <a:solidFill>
              <a:srgbClr val="EDF2F7"/>
            </a:solidFill>
            <a:ln w="12700">
              <a:solidFill>
                <a:srgbClr val="EDF2F7"/>
              </a:solidFill>
              <a:prstDash val="solid"/>
            </a:ln>
          </p:spPr>
          <p:txBody>
            <a:bodyPr/>
            <a:lstStyle/>
            <a:p>
              <a:endParaRPr/>
            </a:p>
          </p:txBody>
        </p:sp>
        <p:sp>
          <p:nvSpPr>
            <p:cNvPr id="39" name="Shape 37"/>
            <p:cNvSpPr/>
            <p:nvPr/>
          </p:nvSpPr>
          <p:spPr>
            <a:xfrm>
              <a:off x="1796796" y="4049007"/>
              <a:ext cx="6480810" cy="105871"/>
            </a:xfrm>
            <a:prstGeom prst="rect">
              <a:avLst/>
            </a:prstGeom>
            <a:solidFill>
              <a:srgbClr val="0F223E"/>
            </a:solidFill>
            <a:ln w="12700">
              <a:solidFill>
                <a:srgbClr val="0F223E"/>
              </a:solidFill>
              <a:prstDash val="solid"/>
            </a:ln>
          </p:spPr>
          <p:txBody>
            <a:bodyPr/>
            <a:lstStyle/>
            <a:p>
              <a:endParaRPr/>
            </a:p>
          </p:txBody>
        </p:sp>
        <p:sp>
          <p:nvSpPr>
            <p:cNvPr id="40" name="Text 38"/>
            <p:cNvSpPr/>
            <p:nvPr/>
          </p:nvSpPr>
          <p:spPr>
            <a:xfrm>
              <a:off x="8072525" y="4171898"/>
              <a:ext cx="552083" cy="121730"/>
            </a:xfrm>
            <a:prstGeom prst="rect">
              <a:avLst/>
            </a:prstGeom>
            <a:noFill/>
            <a:ln/>
          </p:spPr>
          <p:txBody>
            <a:bodyPr wrap="square" lIns="0" tIns="0" rIns="0" bIns="0" rtlCol="0" anchor="ctr"/>
            <a:lstStyle/>
            <a:p>
              <a:r>
                <a:rPr lang="en-US" sz="700" b="1" dirty="0">
                  <a:solidFill>
                    <a:srgbClr val="0F223E"/>
                  </a:solidFill>
                  <a:latin typeface="Calibri"/>
                </a:rPr>
                <a:t>71.2%</a:t>
              </a:r>
              <a:endParaRPr lang="en-US" sz="700" dirty="0"/>
            </a:p>
          </p:txBody>
        </p:sp>
        <p:sp>
          <p:nvSpPr>
            <p:cNvPr id="41" name="Text 39"/>
            <p:cNvSpPr/>
            <p:nvPr/>
          </p:nvSpPr>
          <p:spPr>
            <a:xfrm>
              <a:off x="493776" y="4197096"/>
              <a:ext cx="8195310" cy="150876"/>
            </a:xfrm>
            <a:prstGeom prst="rect">
              <a:avLst/>
            </a:prstGeom>
            <a:noFill/>
            <a:ln/>
          </p:spPr>
          <p:txBody>
            <a:bodyPr wrap="square" lIns="0" tIns="0" rIns="0" bIns="0" rtlCol="0" anchor="ctr"/>
            <a:lstStyle/>
            <a:p>
              <a:r>
                <a:rPr lang="en-US" sz="600" i="1" dirty="0">
                  <a:solidFill>
                    <a:srgbClr val="1A1F36"/>
                  </a:solidFill>
                  <a:latin typeface="Calibri"/>
                </a:rPr>
                <a:t>Brown et al. (2020), Table H.9. No parameter updates — adaptation purely via the prompt.</a:t>
              </a:r>
              <a:endParaRPr lang="en-US" sz="600" dirty="0"/>
            </a:p>
          </p:txBody>
        </p:sp>
      </p:grpSp>
      <p:sp>
        <p:nvSpPr>
          <p:cNvPr id="42" name="Text 40"/>
          <p:cNvSpPr/>
          <p:nvPr/>
        </p:nvSpPr>
        <p:spPr>
          <a:xfrm>
            <a:off x="342900" y="4512564"/>
            <a:ext cx="8435340" cy="582930"/>
          </a:xfrm>
          <a:prstGeom prst="rect">
            <a:avLst/>
          </a:prstGeom>
          <a:noFill/>
          <a:ln/>
        </p:spPr>
        <p:txBody>
          <a:bodyPr wrap="square" lIns="0" tIns="0" rIns="0" bIns="0" rtlCol="0" anchor="t"/>
          <a:lstStyle/>
          <a:p>
            <a:pPr>
              <a:spcAft>
                <a:spcPts val="75"/>
              </a:spcAft>
            </a:pPr>
            <a:r>
              <a:rPr lang="en-US" sz="675" i="1" dirty="0">
                <a:solidFill>
                  <a:srgbClr val="1A1F36"/>
                </a:solidFill>
                <a:latin typeface="Calibri"/>
              </a:rPr>
              <a:t>Brown et al. (2020). Language Models are Few-Shot Learners. NeurIPS. arXiv:2005.14165.</a:t>
            </a:r>
            <a:endParaRPr lang="en-US" sz="675" dirty="0"/>
          </a:p>
        </p:txBody>
      </p:sp>
      <p:pic>
        <p:nvPicPr>
          <p:cNvPr id="3" name="Google Shape;109;p20">
            <a:extLst>
              <a:ext uri="{FF2B5EF4-FFF2-40B4-BE49-F238E27FC236}">
                <a16:creationId xmlns:a16="http://schemas.microsoft.com/office/drawing/2014/main" id="{01A42FB9-E0D0-2D84-377D-4D878686F3FD}"/>
              </a:ext>
            </a:extLst>
          </p:cNvPr>
          <p:cNvPicPr preferRelativeResize="0"/>
          <p:nvPr/>
        </p:nvPicPr>
        <p:blipFill>
          <a:blip r:embed="rId3">
            <a:alphaModFix/>
          </a:blip>
          <a:stretch>
            <a:fillRect/>
          </a:stretch>
        </p:blipFill>
        <p:spPr>
          <a:xfrm>
            <a:off x="8369125" y="0"/>
            <a:ext cx="774877" cy="867174"/>
          </a:xfrm>
          <a:prstGeom prst="rect">
            <a:avLst/>
          </a:prstGeom>
          <a:noFill/>
          <a:ln>
            <a:noFill/>
          </a:ln>
        </p:spPr>
      </p:pic>
      <p:pic>
        <p:nvPicPr>
          <p:cNvPr id="44" name="Picture 43">
            <a:extLst>
              <a:ext uri="{FF2B5EF4-FFF2-40B4-BE49-F238E27FC236}">
                <a16:creationId xmlns:a16="http://schemas.microsoft.com/office/drawing/2014/main" id="{1F1CD57F-88DB-253A-6482-9C3A3D13F9D1}"/>
              </a:ext>
            </a:extLst>
          </p:cNvPr>
          <p:cNvPicPr>
            <a:picLocks noChangeAspect="1"/>
          </p:cNvPicPr>
          <p:nvPr/>
        </p:nvPicPr>
        <p:blipFill>
          <a:blip r:embed="rId4"/>
          <a:stretch>
            <a:fillRect/>
          </a:stretch>
        </p:blipFill>
        <p:spPr>
          <a:xfrm>
            <a:off x="4166023" y="3051810"/>
            <a:ext cx="4804882" cy="1914834"/>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3444" cy="5143500"/>
          </a:xfrm>
          <a:prstGeom prst="rect">
            <a:avLst/>
          </a:prstGeom>
          <a:solidFill>
            <a:srgbClr val="1A365D"/>
          </a:solidFill>
          <a:ln w="12700">
            <a:solidFill>
              <a:srgbClr val="1A365D"/>
            </a:solidFill>
            <a:prstDash val="solid"/>
          </a:ln>
        </p:spPr>
        <p:txBody>
          <a:bodyPr/>
          <a:lstStyle/>
          <a:p>
            <a:endParaRPr/>
          </a:p>
        </p:txBody>
      </p:sp>
      <p:sp>
        <p:nvSpPr>
          <p:cNvPr id="5" name="Shape 3"/>
          <p:cNvSpPr/>
          <p:nvPr/>
        </p:nvSpPr>
        <p:spPr>
          <a:xfrm>
            <a:off x="342900" y="4457700"/>
            <a:ext cx="8435340" cy="0"/>
          </a:xfrm>
          <a:prstGeom prst="line">
            <a:avLst/>
          </a:prstGeom>
          <a:noFill/>
          <a:ln w="9525">
            <a:solidFill>
              <a:srgbClr val="CBD5E0"/>
            </a:solidFill>
            <a:prstDash val="solid"/>
          </a:ln>
        </p:spPr>
        <p:txBody>
          <a:bodyPr/>
          <a:lstStyle/>
          <a:p>
            <a:endParaRPr/>
          </a:p>
        </p:txBody>
      </p:sp>
      <p:sp>
        <p:nvSpPr>
          <p:cNvPr id="7" name="Text 5"/>
          <p:cNvSpPr/>
          <p:nvPr/>
        </p:nvSpPr>
        <p:spPr>
          <a:xfrm>
            <a:off x="342900" y="293203"/>
            <a:ext cx="8435340" cy="617220"/>
          </a:xfrm>
          <a:prstGeom prst="rect">
            <a:avLst/>
          </a:prstGeom>
          <a:noFill/>
          <a:ln/>
        </p:spPr>
        <p:txBody>
          <a:bodyPr wrap="square" lIns="0" tIns="0" rIns="0" bIns="0" rtlCol="0" anchor="ctr"/>
          <a:lstStyle/>
          <a:p>
            <a:r>
              <a:rPr lang="en-US" sz="2250" b="1" dirty="0">
                <a:solidFill>
                  <a:srgbClr val="1E2761"/>
                </a:solidFill>
                <a:latin typeface="Georgia"/>
              </a:rPr>
              <a:t>GPT-3: In-Context Learning</a:t>
            </a:r>
            <a:endParaRPr lang="en-US" sz="2250" dirty="0"/>
          </a:p>
        </p:txBody>
      </p:sp>
      <p:sp>
        <p:nvSpPr>
          <p:cNvPr id="8" name="Text 6"/>
          <p:cNvSpPr/>
          <p:nvPr/>
        </p:nvSpPr>
        <p:spPr>
          <a:xfrm>
            <a:off x="342900" y="1190709"/>
            <a:ext cx="4442394" cy="1337310"/>
          </a:xfrm>
          <a:prstGeom prst="rect">
            <a:avLst/>
          </a:prstGeom>
          <a:noFill/>
          <a:ln/>
        </p:spPr>
        <p:txBody>
          <a:bodyPr wrap="square" lIns="0" tIns="0" rIns="0" bIns="0" rtlCol="0" anchor="ctr"/>
          <a:lstStyle/>
          <a:p>
            <a:pPr>
              <a:spcAft>
                <a:spcPts val="300"/>
              </a:spcAft>
            </a:pPr>
            <a:r>
              <a:rPr lang="en-US" sz="1200" dirty="0">
                <a:solidFill>
                  <a:srgbClr val="1A1F36"/>
                </a:solidFill>
                <a:latin typeface="Calibri"/>
              </a:rPr>
              <a:t>GPT-3 (175B parameters) demonstrated that scale alone enables in-context learning — solving novel tasks from prompt examples with no gradient updates.</a:t>
            </a:r>
          </a:p>
          <a:p>
            <a:pPr>
              <a:spcAft>
                <a:spcPts val="300"/>
              </a:spcAft>
            </a:pPr>
            <a:endParaRPr lang="en-US" sz="1200" dirty="0">
              <a:solidFill>
                <a:srgbClr val="2D3748"/>
              </a:solidFill>
              <a:latin typeface="Calibri" pitchFamily="34" charset="0"/>
            </a:endParaRPr>
          </a:p>
          <a:p>
            <a:pPr marL="257175" indent="-257175">
              <a:spcAft>
                <a:spcPts val="300"/>
              </a:spcAft>
              <a:buSzPct val="100000"/>
              <a:buChar char="•"/>
            </a:pPr>
            <a:r>
              <a:rPr lang="en-US" sz="1200" b="1" dirty="0">
                <a:solidFill>
                  <a:srgbClr val="1A365D"/>
                </a:solidFill>
                <a:latin typeface="Calibri"/>
              </a:rPr>
              <a:t>Zero-shot: </a:t>
            </a:r>
            <a:r>
              <a:rPr lang="en-US" sz="1200" dirty="0">
                <a:solidFill>
                  <a:srgbClr val="1A1F36"/>
                </a:solidFill>
                <a:latin typeface="Calibri"/>
              </a:rPr>
              <a:t>Task description only, no examples given</a:t>
            </a:r>
            <a:endParaRPr lang="en-US" sz="1200" dirty="0"/>
          </a:p>
          <a:p>
            <a:pPr marL="257175" indent="-257175">
              <a:spcAft>
                <a:spcPts val="300"/>
              </a:spcAft>
              <a:buSzPct val="100000"/>
              <a:buChar char="•"/>
            </a:pPr>
            <a:r>
              <a:rPr lang="en-US" sz="1200" b="1" dirty="0">
                <a:solidFill>
                  <a:srgbClr val="1A365D"/>
                </a:solidFill>
                <a:latin typeface="Calibri"/>
              </a:rPr>
              <a:t>Few-shot: </a:t>
            </a:r>
            <a:r>
              <a:rPr lang="en-US" sz="1200" dirty="0">
                <a:solidFill>
                  <a:srgbClr val="1A1F36"/>
                </a:solidFill>
                <a:latin typeface="Calibri"/>
              </a:rPr>
              <a:t>10–100 examples in-context; approaches fine-tuned models</a:t>
            </a:r>
            <a:endParaRPr lang="en-US" sz="1200" dirty="0"/>
          </a:p>
        </p:txBody>
      </p:sp>
      <p:grpSp>
        <p:nvGrpSpPr>
          <p:cNvPr id="42" name="Group 41"/>
          <p:cNvGrpSpPr/>
          <p:nvPr/>
        </p:nvGrpSpPr>
        <p:grpSpPr>
          <a:xfrm>
            <a:off x="5212080" y="1034661"/>
            <a:ext cx="3682944" cy="1580819"/>
            <a:chOff x="5314950" y="1508760"/>
            <a:chExt cx="3463290" cy="1337310"/>
          </a:xfrm>
        </p:grpSpPr>
        <p:sp>
          <p:nvSpPr>
            <p:cNvPr id="9" name="Shape 7"/>
            <p:cNvSpPr/>
            <p:nvPr/>
          </p:nvSpPr>
          <p:spPr>
            <a:xfrm>
              <a:off x="5314950" y="1508760"/>
              <a:ext cx="3463290" cy="1337310"/>
            </a:xfrm>
            <a:prstGeom prst="rect">
              <a:avLst/>
            </a:prstGeom>
            <a:solidFill>
              <a:srgbClr val="FFFFFF"/>
            </a:solidFill>
            <a:ln w="9525">
              <a:solidFill>
                <a:srgbClr val="E2E8F0"/>
              </a:solidFill>
              <a:prstDash val="solid"/>
            </a:ln>
          </p:spPr>
          <p:txBody>
            <a:bodyPr/>
            <a:lstStyle/>
            <a:p>
              <a:endParaRPr/>
            </a:p>
          </p:txBody>
        </p:sp>
        <p:sp>
          <p:nvSpPr>
            <p:cNvPr id="10" name="Shape 8"/>
            <p:cNvSpPr/>
            <p:nvPr/>
          </p:nvSpPr>
          <p:spPr>
            <a:xfrm>
              <a:off x="5314950" y="1508760"/>
              <a:ext cx="41148" cy="1337310"/>
            </a:xfrm>
            <a:prstGeom prst="rect">
              <a:avLst/>
            </a:prstGeom>
            <a:solidFill>
              <a:srgbClr val="8B6914"/>
            </a:solidFill>
            <a:ln w="12700">
              <a:solidFill>
                <a:srgbClr val="8B6914"/>
              </a:solidFill>
              <a:prstDash val="solid"/>
            </a:ln>
          </p:spPr>
          <p:txBody>
            <a:bodyPr/>
            <a:lstStyle/>
            <a:p>
              <a:endParaRPr/>
            </a:p>
          </p:txBody>
        </p:sp>
        <p:sp>
          <p:nvSpPr>
            <p:cNvPr id="11" name="Text 9"/>
            <p:cNvSpPr/>
            <p:nvPr/>
          </p:nvSpPr>
          <p:spPr>
            <a:xfrm>
              <a:off x="5465826" y="1577340"/>
              <a:ext cx="3223260" cy="150876"/>
            </a:xfrm>
            <a:prstGeom prst="rect">
              <a:avLst/>
            </a:prstGeom>
            <a:noFill/>
            <a:ln/>
          </p:spPr>
          <p:txBody>
            <a:bodyPr wrap="square" lIns="0" tIns="0" rIns="0" bIns="0" rtlCol="0" anchor="ctr"/>
            <a:lstStyle/>
            <a:p>
              <a:r>
                <a:rPr lang="en-US" sz="900" b="1" spc="300" dirty="0">
                  <a:solidFill>
                    <a:srgbClr val="8B6914"/>
                  </a:solidFill>
                  <a:latin typeface="Calibri"/>
                </a:rPr>
                <a:t>KEY RESULT · IN-CONTEXT LEARNING EMERGES</a:t>
              </a:r>
              <a:endParaRPr lang="en-US" sz="900" dirty="0"/>
            </a:p>
          </p:txBody>
        </p:sp>
        <p:sp>
          <p:nvSpPr>
            <p:cNvPr id="12" name="Text 10"/>
            <p:cNvSpPr/>
            <p:nvPr/>
          </p:nvSpPr>
          <p:spPr>
            <a:xfrm>
              <a:off x="5465826" y="1714500"/>
              <a:ext cx="3223260" cy="192024"/>
            </a:xfrm>
            <a:prstGeom prst="rect">
              <a:avLst/>
            </a:prstGeom>
            <a:noFill/>
            <a:ln/>
          </p:spPr>
          <p:txBody>
            <a:bodyPr wrap="square" lIns="0" tIns="0" rIns="0" bIns="0" rtlCol="0" anchor="ctr"/>
            <a:lstStyle/>
            <a:p>
              <a:r>
                <a:rPr lang="en-US" sz="1050" b="1" dirty="0">
                  <a:solidFill>
                    <a:srgbClr val="0F223E"/>
                  </a:solidFill>
                  <a:latin typeface="Calibri"/>
                </a:rPr>
                <a:t>GPT-3 175B TriviaQA accuracy (%)</a:t>
              </a:r>
              <a:endParaRPr lang="en-US" sz="1050" dirty="0"/>
            </a:p>
          </p:txBody>
        </p:sp>
        <p:sp>
          <p:nvSpPr>
            <p:cNvPr id="13" name="Text 11"/>
            <p:cNvSpPr/>
            <p:nvPr/>
          </p:nvSpPr>
          <p:spPr>
            <a:xfrm>
              <a:off x="5465826" y="1989892"/>
              <a:ext cx="1268730" cy="160735"/>
            </a:xfrm>
            <a:prstGeom prst="rect">
              <a:avLst/>
            </a:prstGeom>
            <a:noFill/>
            <a:ln/>
          </p:spPr>
          <p:txBody>
            <a:bodyPr wrap="square" lIns="0" tIns="0" rIns="0" bIns="0" rtlCol="0" anchor="ctr"/>
            <a:lstStyle/>
            <a:p>
              <a:r>
                <a:rPr lang="en-US" sz="900" dirty="0">
                  <a:solidFill>
                    <a:srgbClr val="1A1F36"/>
                  </a:solidFill>
                  <a:latin typeface="Calibri"/>
                </a:rPr>
                <a:t>0-shot</a:t>
              </a:r>
              <a:endParaRPr lang="en-US" sz="900" dirty="0"/>
            </a:p>
          </p:txBody>
        </p:sp>
        <p:sp>
          <p:nvSpPr>
            <p:cNvPr id="14" name="Shape 12"/>
            <p:cNvSpPr/>
            <p:nvPr/>
          </p:nvSpPr>
          <p:spPr>
            <a:xfrm>
              <a:off x="6768846" y="2017324"/>
              <a:ext cx="1508760" cy="105871"/>
            </a:xfrm>
            <a:prstGeom prst="rect">
              <a:avLst/>
            </a:prstGeom>
            <a:solidFill>
              <a:srgbClr val="EDF2F7"/>
            </a:solidFill>
            <a:ln w="12700">
              <a:solidFill>
                <a:srgbClr val="EDF2F7"/>
              </a:solidFill>
              <a:prstDash val="solid"/>
            </a:ln>
          </p:spPr>
          <p:txBody>
            <a:bodyPr/>
            <a:lstStyle/>
            <a:p>
              <a:endParaRPr/>
            </a:p>
          </p:txBody>
        </p:sp>
        <p:sp>
          <p:nvSpPr>
            <p:cNvPr id="15" name="Shape 13"/>
            <p:cNvSpPr/>
            <p:nvPr/>
          </p:nvSpPr>
          <p:spPr>
            <a:xfrm>
              <a:off x="6768846" y="2017324"/>
              <a:ext cx="970134" cy="105871"/>
            </a:xfrm>
            <a:prstGeom prst="rect">
              <a:avLst/>
            </a:prstGeom>
            <a:solidFill>
              <a:srgbClr val="4A5568"/>
            </a:solidFill>
            <a:ln w="12700">
              <a:solidFill>
                <a:srgbClr val="4A5568"/>
              </a:solidFill>
              <a:prstDash val="solid"/>
            </a:ln>
          </p:spPr>
          <p:txBody>
            <a:bodyPr/>
            <a:lstStyle/>
            <a:p>
              <a:endParaRPr/>
            </a:p>
          </p:txBody>
        </p:sp>
        <p:sp>
          <p:nvSpPr>
            <p:cNvPr id="16" name="Text 14"/>
            <p:cNvSpPr/>
            <p:nvPr/>
          </p:nvSpPr>
          <p:spPr>
            <a:xfrm>
              <a:off x="8332470" y="1989892"/>
              <a:ext cx="377190" cy="160735"/>
            </a:xfrm>
            <a:prstGeom prst="rect">
              <a:avLst/>
            </a:prstGeom>
            <a:noFill/>
            <a:ln/>
          </p:spPr>
          <p:txBody>
            <a:bodyPr wrap="square" lIns="0" tIns="0" rIns="0" bIns="0" rtlCol="0" anchor="ctr"/>
            <a:lstStyle/>
            <a:p>
              <a:r>
                <a:rPr lang="en-US" sz="900" dirty="0">
                  <a:solidFill>
                    <a:srgbClr val="1A1F36"/>
                  </a:solidFill>
                  <a:latin typeface="Calibri"/>
                </a:rPr>
                <a:t>64.3%</a:t>
              </a:r>
              <a:endParaRPr lang="en-US" sz="900" dirty="0"/>
            </a:p>
          </p:txBody>
        </p:sp>
        <p:sp>
          <p:nvSpPr>
            <p:cNvPr id="17" name="Text 15"/>
            <p:cNvSpPr/>
            <p:nvPr/>
          </p:nvSpPr>
          <p:spPr>
            <a:xfrm>
              <a:off x="5465826" y="2152770"/>
              <a:ext cx="1268730" cy="160735"/>
            </a:xfrm>
            <a:prstGeom prst="rect">
              <a:avLst/>
            </a:prstGeom>
            <a:noFill/>
            <a:ln/>
          </p:spPr>
          <p:txBody>
            <a:bodyPr wrap="square" lIns="0" tIns="0" rIns="0" bIns="0" rtlCol="0" anchor="ctr"/>
            <a:lstStyle/>
            <a:p>
              <a:r>
                <a:rPr lang="en-US" sz="900" dirty="0">
                  <a:solidFill>
                    <a:srgbClr val="1A1F36"/>
                  </a:solidFill>
                  <a:latin typeface="Calibri"/>
                </a:rPr>
                <a:t>1-shot</a:t>
              </a:r>
              <a:endParaRPr lang="en-US" sz="900" dirty="0"/>
            </a:p>
          </p:txBody>
        </p:sp>
        <p:sp>
          <p:nvSpPr>
            <p:cNvPr id="18" name="Shape 16"/>
            <p:cNvSpPr/>
            <p:nvPr/>
          </p:nvSpPr>
          <p:spPr>
            <a:xfrm>
              <a:off x="6768846" y="2180202"/>
              <a:ext cx="1508760" cy="105871"/>
            </a:xfrm>
            <a:prstGeom prst="rect">
              <a:avLst/>
            </a:prstGeom>
            <a:solidFill>
              <a:srgbClr val="EDF2F7"/>
            </a:solidFill>
            <a:ln w="12700">
              <a:solidFill>
                <a:srgbClr val="EDF2F7"/>
              </a:solidFill>
              <a:prstDash val="solid"/>
            </a:ln>
          </p:spPr>
          <p:txBody>
            <a:bodyPr/>
            <a:lstStyle/>
            <a:p>
              <a:endParaRPr/>
            </a:p>
          </p:txBody>
        </p:sp>
        <p:sp>
          <p:nvSpPr>
            <p:cNvPr id="19" name="Shape 17"/>
            <p:cNvSpPr/>
            <p:nvPr/>
          </p:nvSpPr>
          <p:spPr>
            <a:xfrm>
              <a:off x="6768846" y="2180202"/>
              <a:ext cx="1025957" cy="105871"/>
            </a:xfrm>
            <a:prstGeom prst="rect">
              <a:avLst/>
            </a:prstGeom>
            <a:solidFill>
              <a:srgbClr val="4A5568"/>
            </a:solidFill>
            <a:ln w="12700">
              <a:solidFill>
                <a:srgbClr val="4A5568"/>
              </a:solidFill>
              <a:prstDash val="solid"/>
            </a:ln>
          </p:spPr>
          <p:txBody>
            <a:bodyPr/>
            <a:lstStyle/>
            <a:p>
              <a:endParaRPr/>
            </a:p>
          </p:txBody>
        </p:sp>
        <p:sp>
          <p:nvSpPr>
            <p:cNvPr id="20" name="Text 18"/>
            <p:cNvSpPr/>
            <p:nvPr/>
          </p:nvSpPr>
          <p:spPr>
            <a:xfrm>
              <a:off x="8332470" y="2152770"/>
              <a:ext cx="377190" cy="160735"/>
            </a:xfrm>
            <a:prstGeom prst="rect">
              <a:avLst/>
            </a:prstGeom>
            <a:noFill/>
            <a:ln/>
          </p:spPr>
          <p:txBody>
            <a:bodyPr wrap="square" lIns="0" tIns="0" rIns="0" bIns="0" rtlCol="0" anchor="ctr"/>
            <a:lstStyle/>
            <a:p>
              <a:r>
                <a:rPr lang="en-US" sz="900" dirty="0">
                  <a:solidFill>
                    <a:srgbClr val="1A1F36"/>
                  </a:solidFill>
                  <a:latin typeface="Calibri"/>
                </a:rPr>
                <a:t>68.0%</a:t>
              </a:r>
              <a:endParaRPr lang="en-US" sz="900" dirty="0"/>
            </a:p>
          </p:txBody>
        </p:sp>
        <p:sp>
          <p:nvSpPr>
            <p:cNvPr id="21" name="Text 19"/>
            <p:cNvSpPr/>
            <p:nvPr/>
          </p:nvSpPr>
          <p:spPr>
            <a:xfrm>
              <a:off x="5465826" y="2315647"/>
              <a:ext cx="1268730" cy="160735"/>
            </a:xfrm>
            <a:prstGeom prst="rect">
              <a:avLst/>
            </a:prstGeom>
            <a:noFill/>
            <a:ln/>
          </p:spPr>
          <p:txBody>
            <a:bodyPr wrap="square" lIns="0" tIns="0" rIns="0" bIns="0" rtlCol="0" anchor="ctr"/>
            <a:lstStyle/>
            <a:p>
              <a:r>
                <a:rPr lang="en-US" sz="900" dirty="0">
                  <a:solidFill>
                    <a:srgbClr val="1A1F36"/>
                  </a:solidFill>
                  <a:latin typeface="Calibri"/>
                </a:rPr>
                <a:t>10-shot</a:t>
              </a:r>
              <a:endParaRPr lang="en-US" sz="900" dirty="0"/>
            </a:p>
          </p:txBody>
        </p:sp>
        <p:sp>
          <p:nvSpPr>
            <p:cNvPr id="22" name="Shape 20"/>
            <p:cNvSpPr/>
            <p:nvPr/>
          </p:nvSpPr>
          <p:spPr>
            <a:xfrm>
              <a:off x="6768846" y="2343079"/>
              <a:ext cx="1508760" cy="105871"/>
            </a:xfrm>
            <a:prstGeom prst="rect">
              <a:avLst/>
            </a:prstGeom>
            <a:solidFill>
              <a:srgbClr val="EDF2F7"/>
            </a:solidFill>
            <a:ln w="12700">
              <a:solidFill>
                <a:srgbClr val="EDF2F7"/>
              </a:solidFill>
              <a:prstDash val="solid"/>
            </a:ln>
          </p:spPr>
          <p:txBody>
            <a:bodyPr/>
            <a:lstStyle/>
            <a:p>
              <a:endParaRPr/>
            </a:p>
          </p:txBody>
        </p:sp>
        <p:sp>
          <p:nvSpPr>
            <p:cNvPr id="23" name="Shape 21"/>
            <p:cNvSpPr/>
            <p:nvPr/>
          </p:nvSpPr>
          <p:spPr>
            <a:xfrm>
              <a:off x="6768846" y="2343079"/>
              <a:ext cx="1051625" cy="105871"/>
            </a:xfrm>
            <a:prstGeom prst="rect">
              <a:avLst/>
            </a:prstGeom>
            <a:solidFill>
              <a:srgbClr val="4A5568"/>
            </a:solidFill>
            <a:ln w="12700">
              <a:solidFill>
                <a:srgbClr val="4A5568"/>
              </a:solidFill>
              <a:prstDash val="solid"/>
            </a:ln>
          </p:spPr>
          <p:txBody>
            <a:bodyPr/>
            <a:lstStyle/>
            <a:p>
              <a:endParaRPr/>
            </a:p>
          </p:txBody>
        </p:sp>
        <p:sp>
          <p:nvSpPr>
            <p:cNvPr id="24" name="Text 22"/>
            <p:cNvSpPr/>
            <p:nvPr/>
          </p:nvSpPr>
          <p:spPr>
            <a:xfrm>
              <a:off x="8332470" y="2315647"/>
              <a:ext cx="377190" cy="160735"/>
            </a:xfrm>
            <a:prstGeom prst="rect">
              <a:avLst/>
            </a:prstGeom>
            <a:noFill/>
            <a:ln/>
          </p:spPr>
          <p:txBody>
            <a:bodyPr wrap="square" lIns="0" tIns="0" rIns="0" bIns="0" rtlCol="0" anchor="ctr"/>
            <a:lstStyle/>
            <a:p>
              <a:r>
                <a:rPr lang="en-US" sz="900" dirty="0">
                  <a:solidFill>
                    <a:srgbClr val="1A1F36"/>
                  </a:solidFill>
                  <a:latin typeface="Calibri"/>
                </a:rPr>
                <a:t>69.7%</a:t>
              </a:r>
              <a:endParaRPr lang="en-US" sz="900" dirty="0"/>
            </a:p>
          </p:txBody>
        </p:sp>
        <p:sp>
          <p:nvSpPr>
            <p:cNvPr id="25" name="Text 23"/>
            <p:cNvSpPr/>
            <p:nvPr/>
          </p:nvSpPr>
          <p:spPr>
            <a:xfrm>
              <a:off x="5465826" y="2478525"/>
              <a:ext cx="1268730" cy="160735"/>
            </a:xfrm>
            <a:prstGeom prst="rect">
              <a:avLst/>
            </a:prstGeom>
            <a:noFill/>
            <a:ln/>
          </p:spPr>
          <p:txBody>
            <a:bodyPr wrap="square" lIns="0" tIns="0" rIns="0" bIns="0" rtlCol="0" anchor="ctr"/>
            <a:lstStyle/>
            <a:p>
              <a:r>
                <a:rPr lang="en-US" sz="900" b="1" dirty="0">
                  <a:solidFill>
                    <a:srgbClr val="0F223E"/>
                  </a:solidFill>
                  <a:latin typeface="Calibri"/>
                </a:rPr>
                <a:t>64-shot</a:t>
              </a:r>
              <a:endParaRPr lang="en-US" sz="900" dirty="0"/>
            </a:p>
          </p:txBody>
        </p:sp>
        <p:sp>
          <p:nvSpPr>
            <p:cNvPr id="26" name="Shape 24"/>
            <p:cNvSpPr/>
            <p:nvPr/>
          </p:nvSpPr>
          <p:spPr>
            <a:xfrm>
              <a:off x="6768846" y="2505957"/>
              <a:ext cx="1508760" cy="105871"/>
            </a:xfrm>
            <a:prstGeom prst="rect">
              <a:avLst/>
            </a:prstGeom>
            <a:solidFill>
              <a:srgbClr val="EDF2F7"/>
            </a:solidFill>
            <a:ln w="12700">
              <a:solidFill>
                <a:srgbClr val="EDF2F7"/>
              </a:solidFill>
              <a:prstDash val="solid"/>
            </a:ln>
          </p:spPr>
          <p:txBody>
            <a:bodyPr/>
            <a:lstStyle/>
            <a:p>
              <a:endParaRPr/>
            </a:p>
          </p:txBody>
        </p:sp>
        <p:sp>
          <p:nvSpPr>
            <p:cNvPr id="27" name="Shape 25"/>
            <p:cNvSpPr/>
            <p:nvPr/>
          </p:nvSpPr>
          <p:spPr>
            <a:xfrm>
              <a:off x="6768846" y="2505957"/>
              <a:ext cx="1074237" cy="105871"/>
            </a:xfrm>
            <a:prstGeom prst="rect">
              <a:avLst/>
            </a:prstGeom>
            <a:solidFill>
              <a:srgbClr val="0F223E"/>
            </a:solidFill>
            <a:ln w="12700">
              <a:solidFill>
                <a:srgbClr val="0F223E"/>
              </a:solidFill>
              <a:prstDash val="solid"/>
            </a:ln>
          </p:spPr>
          <p:txBody>
            <a:bodyPr/>
            <a:lstStyle/>
            <a:p>
              <a:endParaRPr/>
            </a:p>
          </p:txBody>
        </p:sp>
        <p:sp>
          <p:nvSpPr>
            <p:cNvPr id="28" name="Text 26"/>
            <p:cNvSpPr/>
            <p:nvPr/>
          </p:nvSpPr>
          <p:spPr>
            <a:xfrm>
              <a:off x="8332470" y="2478525"/>
              <a:ext cx="377190" cy="160735"/>
            </a:xfrm>
            <a:prstGeom prst="rect">
              <a:avLst/>
            </a:prstGeom>
            <a:noFill/>
            <a:ln/>
          </p:spPr>
          <p:txBody>
            <a:bodyPr wrap="square" lIns="0" tIns="0" rIns="0" bIns="0" rtlCol="0" anchor="ctr"/>
            <a:lstStyle/>
            <a:p>
              <a:r>
                <a:rPr lang="en-US" sz="900" b="1" dirty="0">
                  <a:solidFill>
                    <a:srgbClr val="0F223E"/>
                  </a:solidFill>
                  <a:latin typeface="Calibri"/>
                </a:rPr>
                <a:t>71.2%</a:t>
              </a:r>
              <a:endParaRPr lang="en-US" sz="900" dirty="0"/>
            </a:p>
          </p:txBody>
        </p:sp>
        <p:sp>
          <p:nvSpPr>
            <p:cNvPr id="29" name="Text 27"/>
            <p:cNvSpPr/>
            <p:nvPr/>
          </p:nvSpPr>
          <p:spPr>
            <a:xfrm>
              <a:off x="5465826" y="2654046"/>
              <a:ext cx="3223260" cy="150876"/>
            </a:xfrm>
            <a:prstGeom prst="rect">
              <a:avLst/>
            </a:prstGeom>
            <a:noFill/>
            <a:ln/>
          </p:spPr>
          <p:txBody>
            <a:bodyPr wrap="square" lIns="0" tIns="0" rIns="0" bIns="0" rtlCol="0" anchor="ctr"/>
            <a:lstStyle/>
            <a:p>
              <a:r>
                <a:rPr lang="en-US" sz="800" i="1" dirty="0">
                  <a:solidFill>
                    <a:srgbClr val="1A1F36"/>
                  </a:solidFill>
                  <a:latin typeface="Calibri"/>
                </a:rPr>
                <a:t>Brown et al. (2020). GPT-3, Table 3.4. TriviaQA closed-book.</a:t>
              </a:r>
              <a:endParaRPr lang="en-US" sz="800" dirty="0"/>
            </a:p>
          </p:txBody>
        </p:sp>
      </p:grpSp>
      <p:grpSp>
        <p:nvGrpSpPr>
          <p:cNvPr id="41" name="Group 40"/>
          <p:cNvGrpSpPr/>
          <p:nvPr/>
        </p:nvGrpSpPr>
        <p:grpSpPr>
          <a:xfrm>
            <a:off x="218385" y="2758035"/>
            <a:ext cx="2777490" cy="1611630"/>
            <a:chOff x="342900" y="2777490"/>
            <a:chExt cx="2777490" cy="1611630"/>
          </a:xfrm>
        </p:grpSpPr>
        <p:sp>
          <p:nvSpPr>
            <p:cNvPr id="30" name="Shape 28"/>
            <p:cNvSpPr/>
            <p:nvPr/>
          </p:nvSpPr>
          <p:spPr>
            <a:xfrm>
              <a:off x="342900" y="2777490"/>
              <a:ext cx="2777490" cy="1611630"/>
            </a:xfrm>
            <a:prstGeom prst="rect">
              <a:avLst/>
            </a:prstGeom>
            <a:solidFill>
              <a:srgbClr val="F7FAFC"/>
            </a:solidFill>
            <a:ln w="9525">
              <a:solidFill>
                <a:srgbClr val="E2E8F0"/>
              </a:solidFill>
              <a:prstDash val="solid"/>
            </a:ln>
          </p:spPr>
          <p:txBody>
            <a:bodyPr/>
            <a:lstStyle/>
            <a:p>
              <a:endParaRPr/>
            </a:p>
          </p:txBody>
        </p:sp>
        <p:sp>
          <p:nvSpPr>
            <p:cNvPr id="31" name="Shape 29"/>
            <p:cNvSpPr/>
            <p:nvPr/>
          </p:nvSpPr>
          <p:spPr>
            <a:xfrm>
              <a:off x="342900" y="2777490"/>
              <a:ext cx="41148" cy="1611630"/>
            </a:xfrm>
            <a:prstGeom prst="rect">
              <a:avLst/>
            </a:prstGeom>
            <a:solidFill>
              <a:srgbClr val="1A365D"/>
            </a:solidFill>
            <a:ln w="12700">
              <a:solidFill>
                <a:srgbClr val="1A365D"/>
              </a:solidFill>
              <a:prstDash val="solid"/>
            </a:ln>
          </p:spPr>
          <p:txBody>
            <a:bodyPr/>
            <a:lstStyle/>
            <a:p>
              <a:endParaRPr/>
            </a:p>
          </p:txBody>
        </p:sp>
        <p:sp>
          <p:nvSpPr>
            <p:cNvPr id="32" name="Text 30"/>
            <p:cNvSpPr/>
            <p:nvPr/>
          </p:nvSpPr>
          <p:spPr>
            <a:xfrm>
              <a:off x="514350" y="2880360"/>
              <a:ext cx="2503170" cy="274320"/>
            </a:xfrm>
            <a:prstGeom prst="rect">
              <a:avLst/>
            </a:prstGeom>
            <a:noFill/>
            <a:ln/>
          </p:spPr>
          <p:txBody>
            <a:bodyPr wrap="square" lIns="0" tIns="0" rIns="0" bIns="0" rtlCol="0" anchor="ctr"/>
            <a:lstStyle/>
            <a:p>
              <a:r>
                <a:rPr lang="en-US" sz="1050" b="1" dirty="0">
                  <a:solidFill>
                    <a:srgbClr val="0F223E"/>
                  </a:solidFill>
                  <a:latin typeface="Calibri"/>
                </a:rPr>
                <a:t>Zero-Shot Learning</a:t>
              </a:r>
              <a:endParaRPr lang="en-US" sz="1050" dirty="0"/>
            </a:p>
          </p:txBody>
        </p:sp>
        <p:sp>
          <p:nvSpPr>
            <p:cNvPr id="33" name="Text 31"/>
            <p:cNvSpPr/>
            <p:nvPr/>
          </p:nvSpPr>
          <p:spPr>
            <a:xfrm>
              <a:off x="514350" y="3154680"/>
              <a:ext cx="2503170" cy="1131570"/>
            </a:xfrm>
            <a:prstGeom prst="rect">
              <a:avLst/>
            </a:prstGeom>
            <a:noFill/>
            <a:ln/>
          </p:spPr>
          <p:txBody>
            <a:bodyPr wrap="square" lIns="0" tIns="0" rIns="0" bIns="0" rtlCol="0" anchor="ctr"/>
            <a:lstStyle/>
            <a:p>
              <a:pPr marL="257175" indent="-257175">
                <a:spcAft>
                  <a:spcPts val="300"/>
                </a:spcAft>
                <a:buSzPct val="100000"/>
                <a:buChar char="•"/>
              </a:pPr>
              <a:r>
                <a:rPr lang="en-US" sz="1000" dirty="0">
                  <a:solidFill>
                    <a:srgbClr val="1A1F36"/>
                  </a:solidFill>
                  <a:latin typeface="Calibri"/>
                </a:rPr>
                <a:t>Only a task description in the prompt; no examples provided</a:t>
              </a:r>
              <a:endParaRPr lang="en-US" sz="1000" dirty="0"/>
            </a:p>
            <a:p>
              <a:pPr marL="257175" indent="-257175">
                <a:spcAft>
                  <a:spcPts val="300"/>
                </a:spcAft>
                <a:buSzPct val="100000"/>
                <a:buChar char="•"/>
              </a:pPr>
              <a:r>
                <a:rPr lang="en-US" sz="1000" dirty="0">
                  <a:solidFill>
                    <a:srgbClr val="1A1F36"/>
                  </a:solidFill>
                  <a:latin typeface="Calibri"/>
                </a:rPr>
                <a:t>Demonstrates world knowledge captured during pre-training</a:t>
              </a:r>
              <a:endParaRPr lang="en-US" sz="1000" dirty="0"/>
            </a:p>
            <a:p>
              <a:pPr marL="257175" indent="-257175">
                <a:spcAft>
                  <a:spcPts val="300"/>
                </a:spcAft>
                <a:buSzPct val="100000"/>
                <a:buChar char="•"/>
              </a:pPr>
              <a:r>
                <a:rPr lang="en-US" sz="1000" dirty="0">
                  <a:solidFill>
                    <a:srgbClr val="1A1F36"/>
                  </a:solidFill>
                  <a:latin typeface="Calibri"/>
                </a:rPr>
                <a:t>Useful baseline; no prompt engineering required</a:t>
              </a:r>
              <a:endParaRPr lang="en-US" sz="1000" dirty="0"/>
            </a:p>
          </p:txBody>
        </p:sp>
      </p:grpSp>
      <p:grpSp>
        <p:nvGrpSpPr>
          <p:cNvPr id="43" name="Group 42"/>
          <p:cNvGrpSpPr/>
          <p:nvPr/>
        </p:nvGrpSpPr>
        <p:grpSpPr>
          <a:xfrm>
            <a:off x="3124120" y="2764520"/>
            <a:ext cx="2777490" cy="1611630"/>
            <a:chOff x="3188970" y="2777490"/>
            <a:chExt cx="2777490" cy="1611630"/>
          </a:xfrm>
        </p:grpSpPr>
        <p:sp>
          <p:nvSpPr>
            <p:cNvPr id="34" name="Shape 32"/>
            <p:cNvSpPr/>
            <p:nvPr/>
          </p:nvSpPr>
          <p:spPr>
            <a:xfrm>
              <a:off x="3188970" y="2777490"/>
              <a:ext cx="2777490" cy="1611630"/>
            </a:xfrm>
            <a:prstGeom prst="rect">
              <a:avLst/>
            </a:prstGeom>
            <a:solidFill>
              <a:srgbClr val="F7FAFC"/>
            </a:solidFill>
            <a:ln w="9525">
              <a:solidFill>
                <a:srgbClr val="E2E8F0"/>
              </a:solidFill>
              <a:prstDash val="solid"/>
            </a:ln>
          </p:spPr>
          <p:txBody>
            <a:bodyPr/>
            <a:lstStyle/>
            <a:p>
              <a:endParaRPr/>
            </a:p>
          </p:txBody>
        </p:sp>
        <p:sp>
          <p:nvSpPr>
            <p:cNvPr id="35" name="Shape 33"/>
            <p:cNvSpPr/>
            <p:nvPr/>
          </p:nvSpPr>
          <p:spPr>
            <a:xfrm>
              <a:off x="3188970" y="2777490"/>
              <a:ext cx="41148" cy="1611630"/>
            </a:xfrm>
            <a:prstGeom prst="rect">
              <a:avLst/>
            </a:prstGeom>
            <a:solidFill>
              <a:srgbClr val="1A365D"/>
            </a:solidFill>
            <a:ln w="12700">
              <a:solidFill>
                <a:srgbClr val="1A365D"/>
              </a:solidFill>
              <a:prstDash val="solid"/>
            </a:ln>
          </p:spPr>
          <p:txBody>
            <a:bodyPr/>
            <a:lstStyle/>
            <a:p>
              <a:endParaRPr/>
            </a:p>
          </p:txBody>
        </p:sp>
        <p:sp>
          <p:nvSpPr>
            <p:cNvPr id="36" name="Text 34"/>
            <p:cNvSpPr/>
            <p:nvPr/>
          </p:nvSpPr>
          <p:spPr>
            <a:xfrm>
              <a:off x="3360420" y="2880360"/>
              <a:ext cx="2503170" cy="274320"/>
            </a:xfrm>
            <a:prstGeom prst="rect">
              <a:avLst/>
            </a:prstGeom>
            <a:noFill/>
            <a:ln/>
          </p:spPr>
          <p:txBody>
            <a:bodyPr wrap="square" lIns="0" tIns="0" rIns="0" bIns="0" rtlCol="0" anchor="ctr"/>
            <a:lstStyle/>
            <a:p>
              <a:r>
                <a:rPr lang="en-US" sz="1050" b="1" dirty="0">
                  <a:solidFill>
                    <a:srgbClr val="0F223E"/>
                  </a:solidFill>
                  <a:latin typeface="Calibri"/>
                </a:rPr>
                <a:t>Few-Shot Learning</a:t>
              </a:r>
              <a:endParaRPr lang="en-US" sz="1050" dirty="0"/>
            </a:p>
          </p:txBody>
        </p:sp>
        <p:sp>
          <p:nvSpPr>
            <p:cNvPr id="37" name="Text 35"/>
            <p:cNvSpPr/>
            <p:nvPr/>
          </p:nvSpPr>
          <p:spPr>
            <a:xfrm>
              <a:off x="3360420" y="3154680"/>
              <a:ext cx="2503170" cy="1131570"/>
            </a:xfrm>
            <a:prstGeom prst="rect">
              <a:avLst/>
            </a:prstGeom>
            <a:noFill/>
            <a:ln/>
          </p:spPr>
          <p:txBody>
            <a:bodyPr wrap="square" lIns="0" tIns="0" rIns="0" bIns="0" rtlCol="0" anchor="ctr"/>
            <a:lstStyle/>
            <a:p>
              <a:pPr marL="257175" indent="-257175">
                <a:spcAft>
                  <a:spcPts val="300"/>
                </a:spcAft>
                <a:buSzPct val="100000"/>
                <a:buChar char="•"/>
              </a:pPr>
              <a:r>
                <a:rPr lang="en-US" sz="1000" dirty="0">
                  <a:solidFill>
                    <a:srgbClr val="1A1F36"/>
                  </a:solidFill>
                  <a:latin typeface="Calibri"/>
                </a:rPr>
                <a:t>10–100 input-output examples precede the query</a:t>
              </a:r>
              <a:endParaRPr lang="en-US" sz="1000" dirty="0"/>
            </a:p>
            <a:p>
              <a:pPr marL="257175" indent="-257175">
                <a:spcAft>
                  <a:spcPts val="300"/>
                </a:spcAft>
                <a:buSzPct val="100000"/>
                <a:buChar char="•"/>
              </a:pPr>
              <a:r>
                <a:rPr lang="en-US" sz="1000" dirty="0">
                  <a:solidFill>
                    <a:srgbClr val="1A1F36"/>
                  </a:solidFill>
                  <a:latin typeface="Calibri"/>
                </a:rPr>
                <a:t>No weight updates — adapts via attention over context</a:t>
              </a:r>
              <a:endParaRPr lang="en-US" sz="1000" dirty="0"/>
            </a:p>
            <a:p>
              <a:pPr marL="257175" indent="-257175">
                <a:spcAft>
                  <a:spcPts val="300"/>
                </a:spcAft>
                <a:buSzPct val="100000"/>
                <a:buChar char="•"/>
              </a:pPr>
              <a:r>
                <a:rPr lang="en-US" sz="1000" dirty="0">
                  <a:solidFill>
                    <a:srgbClr val="1A1F36"/>
                  </a:solidFill>
                  <a:latin typeface="Calibri"/>
                </a:rPr>
                <a:t>Approaches fine-tuned smaller models on many tasks</a:t>
              </a:r>
              <a:endParaRPr lang="en-US" sz="1000" dirty="0"/>
            </a:p>
          </p:txBody>
        </p:sp>
      </p:grpSp>
      <p:grpSp>
        <p:nvGrpSpPr>
          <p:cNvPr id="44" name="Group 43"/>
          <p:cNvGrpSpPr/>
          <p:nvPr/>
        </p:nvGrpSpPr>
        <p:grpSpPr>
          <a:xfrm>
            <a:off x="6035040" y="2764520"/>
            <a:ext cx="2777490" cy="1611630"/>
            <a:chOff x="6035040" y="2777490"/>
            <a:chExt cx="2777490" cy="1611630"/>
          </a:xfrm>
        </p:grpSpPr>
        <p:sp>
          <p:nvSpPr>
            <p:cNvPr id="38" name="Shape 36"/>
            <p:cNvSpPr/>
            <p:nvPr/>
          </p:nvSpPr>
          <p:spPr>
            <a:xfrm>
              <a:off x="6035040" y="2777490"/>
              <a:ext cx="2777490" cy="1611630"/>
            </a:xfrm>
            <a:prstGeom prst="rect">
              <a:avLst/>
            </a:prstGeom>
            <a:solidFill>
              <a:srgbClr val="F7FAFC"/>
            </a:solidFill>
            <a:ln w="9525">
              <a:solidFill>
                <a:srgbClr val="E2E8F0"/>
              </a:solidFill>
              <a:prstDash val="solid"/>
            </a:ln>
          </p:spPr>
          <p:txBody>
            <a:bodyPr/>
            <a:lstStyle/>
            <a:p>
              <a:endParaRPr/>
            </a:p>
          </p:txBody>
        </p:sp>
        <p:sp>
          <p:nvSpPr>
            <p:cNvPr id="39" name="Shape 37"/>
            <p:cNvSpPr/>
            <p:nvPr/>
          </p:nvSpPr>
          <p:spPr>
            <a:xfrm>
              <a:off x="6035040" y="2777490"/>
              <a:ext cx="41148" cy="1611630"/>
            </a:xfrm>
            <a:prstGeom prst="rect">
              <a:avLst/>
            </a:prstGeom>
            <a:solidFill>
              <a:srgbClr val="1A365D"/>
            </a:solidFill>
            <a:ln w="12700">
              <a:solidFill>
                <a:srgbClr val="1A365D"/>
              </a:solidFill>
              <a:prstDash val="solid"/>
            </a:ln>
          </p:spPr>
          <p:txBody>
            <a:bodyPr/>
            <a:lstStyle/>
            <a:p>
              <a:endParaRPr/>
            </a:p>
          </p:txBody>
        </p:sp>
        <p:sp>
          <p:nvSpPr>
            <p:cNvPr id="40" name="Text 38"/>
            <p:cNvSpPr/>
            <p:nvPr/>
          </p:nvSpPr>
          <p:spPr>
            <a:xfrm>
              <a:off x="6206490" y="2880360"/>
              <a:ext cx="2503170" cy="274320"/>
            </a:xfrm>
            <a:prstGeom prst="rect">
              <a:avLst/>
            </a:prstGeom>
            <a:noFill/>
            <a:ln/>
          </p:spPr>
          <p:txBody>
            <a:bodyPr wrap="square" lIns="0" tIns="0" rIns="0" bIns="0" rtlCol="0" anchor="ctr"/>
            <a:lstStyle/>
            <a:p>
              <a:r>
                <a:rPr lang="en-US" sz="1050" b="1" dirty="0">
                  <a:solidFill>
                    <a:srgbClr val="0F223E"/>
                  </a:solidFill>
                  <a:latin typeface="Calibri"/>
                </a:rPr>
                <a:t>Scale and Emergence</a:t>
              </a:r>
              <a:endParaRPr lang="en-US" sz="1050" dirty="0"/>
            </a:p>
          </p:txBody>
        </p:sp>
        <p:sp>
          <p:nvSpPr>
            <p:cNvPr id="3" name="Text 39"/>
            <p:cNvSpPr/>
            <p:nvPr/>
          </p:nvSpPr>
          <p:spPr>
            <a:xfrm>
              <a:off x="6206490" y="3154680"/>
              <a:ext cx="2503170" cy="1131570"/>
            </a:xfrm>
            <a:prstGeom prst="rect">
              <a:avLst/>
            </a:prstGeom>
            <a:noFill/>
            <a:ln/>
          </p:spPr>
          <p:txBody>
            <a:bodyPr wrap="square" lIns="0" tIns="0" rIns="0" bIns="0" rtlCol="0" anchor="ctr"/>
            <a:lstStyle/>
            <a:p>
              <a:pPr marL="257175" indent="-257175">
                <a:spcAft>
                  <a:spcPts val="300"/>
                </a:spcAft>
                <a:buSzPct val="100000"/>
                <a:buChar char="•"/>
              </a:pPr>
              <a:r>
                <a:rPr lang="en-US" sz="1000" dirty="0">
                  <a:solidFill>
                    <a:srgbClr val="1A1F36"/>
                  </a:solidFill>
                  <a:latin typeface="Calibri"/>
                </a:rPr>
                <a:t>Smaller GPT-3 variants show weaker in-context learning</a:t>
              </a:r>
              <a:endParaRPr lang="en-US" sz="1000" dirty="0"/>
            </a:p>
            <a:p>
              <a:pPr marL="257175" indent="-257175">
                <a:spcAft>
                  <a:spcPts val="300"/>
                </a:spcAft>
                <a:buSzPct val="100000"/>
                <a:buChar char="•"/>
              </a:pPr>
              <a:r>
                <a:rPr lang="en-US" sz="1000" dirty="0">
                  <a:solidFill>
                    <a:srgbClr val="1A1F36"/>
                  </a:solidFill>
                  <a:latin typeface="Calibri"/>
                </a:rPr>
                <a:t>Capability emerges sharply with scale — not a smooth trend</a:t>
              </a:r>
              <a:endParaRPr lang="en-US" sz="1000" dirty="0"/>
            </a:p>
            <a:p>
              <a:pPr marL="257175" indent="-257175">
                <a:spcAft>
                  <a:spcPts val="300"/>
                </a:spcAft>
                <a:buSzPct val="100000"/>
                <a:buChar char="•"/>
              </a:pPr>
              <a:r>
                <a:rPr lang="en-US" sz="1000" dirty="0">
                  <a:solidFill>
                    <a:srgbClr val="1A1F36"/>
                  </a:solidFill>
                  <a:latin typeface="Calibri"/>
                </a:rPr>
                <a:t>Hints at qualitative shifts beyond mere parameter count</a:t>
              </a:r>
              <a:endParaRPr lang="en-US" sz="1000" dirty="0"/>
            </a:p>
          </p:txBody>
        </p:sp>
      </p:grpSp>
      <p:sp>
        <p:nvSpPr>
          <p:cNvPr id="45" name="Text 44"/>
          <p:cNvSpPr/>
          <p:nvPr/>
        </p:nvSpPr>
        <p:spPr>
          <a:xfrm>
            <a:off x="342900" y="4512564"/>
            <a:ext cx="8435340" cy="582930"/>
          </a:xfrm>
          <a:prstGeom prst="rect">
            <a:avLst/>
          </a:prstGeom>
          <a:noFill/>
          <a:ln/>
        </p:spPr>
        <p:txBody>
          <a:bodyPr wrap="square" lIns="0" tIns="0" rIns="0" bIns="0" rtlCol="0" anchor="t"/>
          <a:lstStyle/>
          <a:p>
            <a:pPr>
              <a:spcAft>
                <a:spcPts val="75"/>
              </a:spcAft>
            </a:pPr>
            <a:r>
              <a:rPr lang="en-US" sz="675" i="1" dirty="0">
                <a:solidFill>
                  <a:srgbClr val="1A1F36"/>
                </a:solidFill>
                <a:latin typeface="Calibri"/>
              </a:rPr>
              <a:t>Brown, Mann, Ryder et al. (2020). Language Models are Few-Shot Learners. NeurIPS 2020. arXiv:2005.14165.</a:t>
            </a:r>
            <a:endParaRPr lang="en-US" sz="675" dirty="0"/>
          </a:p>
        </p:txBody>
      </p:sp>
      <p:pic>
        <p:nvPicPr>
          <p:cNvPr id="4" name="Google Shape;109;p20">
            <a:extLst>
              <a:ext uri="{FF2B5EF4-FFF2-40B4-BE49-F238E27FC236}">
                <a16:creationId xmlns:a16="http://schemas.microsoft.com/office/drawing/2014/main" id="{488D57F1-E725-47BD-7A65-2A8531A932BC}"/>
              </a:ext>
            </a:extLst>
          </p:cNvPr>
          <p:cNvPicPr preferRelativeResize="0"/>
          <p:nvPr/>
        </p:nvPicPr>
        <p:blipFill>
          <a:blip r:embed="rId2">
            <a:alphaModFix/>
          </a:blip>
          <a:stretch>
            <a:fillRect/>
          </a:stretch>
        </p:blipFill>
        <p:spPr>
          <a:xfrm>
            <a:off x="8369125" y="0"/>
            <a:ext cx="774877" cy="867174"/>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3444" cy="5143500"/>
          </a:xfrm>
          <a:prstGeom prst="rect">
            <a:avLst/>
          </a:prstGeom>
          <a:solidFill>
            <a:srgbClr val="1A365D"/>
          </a:solidFill>
          <a:ln w="12700">
            <a:solidFill>
              <a:srgbClr val="1A365D"/>
            </a:solidFill>
            <a:prstDash val="solid"/>
          </a:ln>
        </p:spPr>
        <p:txBody>
          <a:bodyPr/>
          <a:lstStyle/>
          <a:p>
            <a:endParaRPr/>
          </a:p>
        </p:txBody>
      </p:sp>
      <p:sp>
        <p:nvSpPr>
          <p:cNvPr id="5" name="Shape 3"/>
          <p:cNvSpPr/>
          <p:nvPr/>
        </p:nvSpPr>
        <p:spPr>
          <a:xfrm>
            <a:off x="342900" y="4457700"/>
            <a:ext cx="8435340" cy="0"/>
          </a:xfrm>
          <a:prstGeom prst="line">
            <a:avLst/>
          </a:prstGeom>
          <a:noFill/>
          <a:ln w="9525">
            <a:solidFill>
              <a:srgbClr val="CBD5E0"/>
            </a:solidFill>
            <a:prstDash val="solid"/>
          </a:ln>
        </p:spPr>
        <p:txBody>
          <a:bodyPr/>
          <a:lstStyle/>
          <a:p>
            <a:endParaRPr/>
          </a:p>
        </p:txBody>
      </p:sp>
      <p:sp>
        <p:nvSpPr>
          <p:cNvPr id="7" name="Text 5"/>
          <p:cNvSpPr/>
          <p:nvPr/>
        </p:nvSpPr>
        <p:spPr>
          <a:xfrm>
            <a:off x="311096" y="452231"/>
            <a:ext cx="8435340" cy="617220"/>
          </a:xfrm>
          <a:prstGeom prst="rect">
            <a:avLst/>
          </a:prstGeom>
          <a:noFill/>
          <a:ln/>
        </p:spPr>
        <p:txBody>
          <a:bodyPr wrap="square" lIns="0" tIns="0" rIns="0" bIns="0" rtlCol="0" anchor="ctr"/>
          <a:lstStyle/>
          <a:p>
            <a:r>
              <a:rPr lang="en-US" sz="2250" b="1" dirty="0">
                <a:solidFill>
                  <a:srgbClr val="1E2761"/>
                </a:solidFill>
                <a:latin typeface="Georgia"/>
              </a:rPr>
              <a:t>InstructGPT and RLHF: Aligning Models with Human Intent</a:t>
            </a:r>
            <a:endParaRPr lang="en-US" sz="2250" dirty="0"/>
          </a:p>
        </p:txBody>
      </p:sp>
      <p:sp>
        <p:nvSpPr>
          <p:cNvPr id="8" name="Text 6"/>
          <p:cNvSpPr/>
          <p:nvPr/>
        </p:nvSpPr>
        <p:spPr>
          <a:xfrm>
            <a:off x="342900" y="1278174"/>
            <a:ext cx="4492797" cy="1337310"/>
          </a:xfrm>
          <a:prstGeom prst="rect">
            <a:avLst/>
          </a:prstGeom>
          <a:noFill/>
          <a:ln/>
        </p:spPr>
        <p:txBody>
          <a:bodyPr wrap="square" lIns="0" tIns="0" rIns="0" bIns="0" rtlCol="0" anchor="ctr"/>
          <a:lstStyle/>
          <a:p>
            <a:pPr>
              <a:spcAft>
                <a:spcPts val="300"/>
              </a:spcAft>
            </a:pPr>
            <a:r>
              <a:rPr lang="en-US" sz="1100" dirty="0">
                <a:solidFill>
                  <a:srgbClr val="1A1F36"/>
                </a:solidFill>
                <a:latin typeface="Calibri"/>
              </a:rPr>
              <a:t>A raw language model predicts likely continuations — not helpful answers. InstructGPT aligned GPT-3 with human preferences through three stages: supervised fine-tuning on demonstrations, a reward model trained from pairwise comparisons, and policy optimization with PPO. Labelers preferred the 1.3B InstructGPT over the 175B base GPT-3. Released publicly as ChatGPT in late 2022, the technique defined what "using an LLM" would feel like.</a:t>
            </a:r>
            <a:endParaRPr lang="en-US" sz="1100" dirty="0"/>
          </a:p>
        </p:txBody>
      </p:sp>
      <p:grpSp>
        <p:nvGrpSpPr>
          <p:cNvPr id="4" name="Group 3">
            <a:extLst>
              <a:ext uri="{FF2B5EF4-FFF2-40B4-BE49-F238E27FC236}">
                <a16:creationId xmlns:a16="http://schemas.microsoft.com/office/drawing/2014/main" id="{238D6F70-5DCC-D178-A2A0-6F9C8E7DBF5D}"/>
              </a:ext>
            </a:extLst>
          </p:cNvPr>
          <p:cNvGrpSpPr/>
          <p:nvPr/>
        </p:nvGrpSpPr>
        <p:grpSpPr>
          <a:xfrm>
            <a:off x="4835697" y="1246368"/>
            <a:ext cx="3942543" cy="1337310"/>
            <a:chOff x="5314950" y="1508760"/>
            <a:chExt cx="3463290" cy="1337310"/>
          </a:xfrm>
        </p:grpSpPr>
        <p:sp>
          <p:nvSpPr>
            <p:cNvPr id="9" name="Shape 7"/>
            <p:cNvSpPr/>
            <p:nvPr/>
          </p:nvSpPr>
          <p:spPr>
            <a:xfrm>
              <a:off x="5314950" y="1508760"/>
              <a:ext cx="3463290" cy="1337310"/>
            </a:xfrm>
            <a:prstGeom prst="rect">
              <a:avLst/>
            </a:prstGeom>
            <a:solidFill>
              <a:srgbClr val="FFFFFF"/>
            </a:solidFill>
            <a:ln w="9525">
              <a:solidFill>
                <a:srgbClr val="E2E8F0"/>
              </a:solidFill>
              <a:prstDash val="solid"/>
            </a:ln>
          </p:spPr>
          <p:txBody>
            <a:bodyPr/>
            <a:lstStyle/>
            <a:p>
              <a:endParaRPr/>
            </a:p>
          </p:txBody>
        </p:sp>
        <p:sp>
          <p:nvSpPr>
            <p:cNvPr id="10" name="Shape 8"/>
            <p:cNvSpPr/>
            <p:nvPr/>
          </p:nvSpPr>
          <p:spPr>
            <a:xfrm>
              <a:off x="5314950" y="1508760"/>
              <a:ext cx="41148" cy="1337310"/>
            </a:xfrm>
            <a:prstGeom prst="rect">
              <a:avLst/>
            </a:prstGeom>
            <a:solidFill>
              <a:srgbClr val="8B6914"/>
            </a:solidFill>
            <a:ln w="12700">
              <a:solidFill>
                <a:srgbClr val="8B6914"/>
              </a:solidFill>
              <a:prstDash val="solid"/>
            </a:ln>
          </p:spPr>
          <p:txBody>
            <a:bodyPr/>
            <a:lstStyle/>
            <a:p>
              <a:endParaRPr/>
            </a:p>
          </p:txBody>
        </p:sp>
        <p:sp>
          <p:nvSpPr>
            <p:cNvPr id="11" name="Text 9"/>
            <p:cNvSpPr/>
            <p:nvPr/>
          </p:nvSpPr>
          <p:spPr>
            <a:xfrm>
              <a:off x="5465826" y="1577340"/>
              <a:ext cx="3223260" cy="150876"/>
            </a:xfrm>
            <a:prstGeom prst="rect">
              <a:avLst/>
            </a:prstGeom>
            <a:noFill/>
            <a:ln/>
          </p:spPr>
          <p:txBody>
            <a:bodyPr wrap="square" lIns="0" tIns="0" rIns="0" bIns="0" rtlCol="0" anchor="ctr"/>
            <a:lstStyle/>
            <a:p>
              <a:r>
                <a:rPr lang="en-US" sz="1000" b="1" spc="300" dirty="0">
                  <a:solidFill>
                    <a:srgbClr val="8B6914"/>
                  </a:solidFill>
                  <a:latin typeface="Calibri"/>
                </a:rPr>
                <a:t>KEY RESULT · HUMAN PREFERENCE</a:t>
              </a:r>
              <a:endParaRPr lang="en-US" sz="1000" dirty="0"/>
            </a:p>
          </p:txBody>
        </p:sp>
        <p:sp>
          <p:nvSpPr>
            <p:cNvPr id="12" name="Text 10"/>
            <p:cNvSpPr/>
            <p:nvPr/>
          </p:nvSpPr>
          <p:spPr>
            <a:xfrm>
              <a:off x="5465826" y="1714500"/>
              <a:ext cx="3223260" cy="192024"/>
            </a:xfrm>
            <a:prstGeom prst="rect">
              <a:avLst/>
            </a:prstGeom>
            <a:noFill/>
            <a:ln/>
          </p:spPr>
          <p:txBody>
            <a:bodyPr wrap="square" lIns="0" tIns="0" rIns="0" bIns="0" rtlCol="0" anchor="ctr"/>
            <a:lstStyle/>
            <a:p>
              <a:r>
                <a:rPr lang="en-US" sz="1100" b="1" dirty="0">
                  <a:solidFill>
                    <a:srgbClr val="0F223E"/>
                  </a:solidFill>
                  <a:latin typeface="Calibri"/>
                </a:rPr>
                <a:t>Win-rate vs 175B SFT baseline</a:t>
              </a:r>
              <a:endParaRPr lang="en-US" sz="1100" dirty="0"/>
            </a:p>
          </p:txBody>
        </p:sp>
        <p:sp>
          <p:nvSpPr>
            <p:cNvPr id="13" name="Text 11"/>
            <p:cNvSpPr/>
            <p:nvPr/>
          </p:nvSpPr>
          <p:spPr>
            <a:xfrm>
              <a:off x="5465826" y="1989892"/>
              <a:ext cx="1268730" cy="160735"/>
            </a:xfrm>
            <a:prstGeom prst="rect">
              <a:avLst/>
            </a:prstGeom>
            <a:noFill/>
            <a:ln/>
          </p:spPr>
          <p:txBody>
            <a:bodyPr wrap="square" lIns="0" tIns="0" rIns="0" bIns="0" rtlCol="0" anchor="ctr"/>
            <a:lstStyle/>
            <a:p>
              <a:r>
                <a:rPr lang="en-US" sz="1000" dirty="0">
                  <a:solidFill>
                    <a:srgbClr val="1A1F36"/>
                  </a:solidFill>
                  <a:latin typeface="Calibri"/>
                </a:rPr>
                <a:t>GPT-3 175B (default)</a:t>
              </a:r>
              <a:endParaRPr lang="en-US" sz="1000" dirty="0"/>
            </a:p>
          </p:txBody>
        </p:sp>
        <p:sp>
          <p:nvSpPr>
            <p:cNvPr id="14" name="Shape 12"/>
            <p:cNvSpPr/>
            <p:nvPr/>
          </p:nvSpPr>
          <p:spPr>
            <a:xfrm>
              <a:off x="6768846" y="2017324"/>
              <a:ext cx="1508760" cy="105871"/>
            </a:xfrm>
            <a:prstGeom prst="rect">
              <a:avLst/>
            </a:prstGeom>
            <a:solidFill>
              <a:srgbClr val="EDF2F7"/>
            </a:solidFill>
            <a:ln w="12700">
              <a:solidFill>
                <a:srgbClr val="EDF2F7"/>
              </a:solidFill>
              <a:prstDash val="solid"/>
            </a:ln>
          </p:spPr>
          <p:txBody>
            <a:bodyPr/>
            <a:lstStyle/>
            <a:p>
              <a:endParaRPr/>
            </a:p>
          </p:txBody>
        </p:sp>
        <p:sp>
          <p:nvSpPr>
            <p:cNvPr id="15" name="Shape 13"/>
            <p:cNvSpPr/>
            <p:nvPr/>
          </p:nvSpPr>
          <p:spPr>
            <a:xfrm>
              <a:off x="6768846" y="2017324"/>
              <a:ext cx="656754" cy="105871"/>
            </a:xfrm>
            <a:prstGeom prst="rect">
              <a:avLst/>
            </a:prstGeom>
            <a:solidFill>
              <a:srgbClr val="4A5568"/>
            </a:solidFill>
            <a:ln w="12700">
              <a:solidFill>
                <a:srgbClr val="4A5568"/>
              </a:solidFill>
              <a:prstDash val="solid"/>
            </a:ln>
          </p:spPr>
          <p:txBody>
            <a:bodyPr/>
            <a:lstStyle/>
            <a:p>
              <a:endParaRPr/>
            </a:p>
          </p:txBody>
        </p:sp>
        <p:sp>
          <p:nvSpPr>
            <p:cNvPr id="16" name="Text 14"/>
            <p:cNvSpPr/>
            <p:nvPr/>
          </p:nvSpPr>
          <p:spPr>
            <a:xfrm>
              <a:off x="8332470" y="1989892"/>
              <a:ext cx="377190" cy="160735"/>
            </a:xfrm>
            <a:prstGeom prst="rect">
              <a:avLst/>
            </a:prstGeom>
            <a:noFill/>
            <a:ln/>
          </p:spPr>
          <p:txBody>
            <a:bodyPr wrap="square" lIns="0" tIns="0" rIns="0" bIns="0" rtlCol="0" anchor="ctr"/>
            <a:lstStyle/>
            <a:p>
              <a:r>
                <a:rPr lang="en-US" sz="1000" dirty="0">
                  <a:solidFill>
                    <a:srgbClr val="1A1F36"/>
                  </a:solidFill>
                  <a:latin typeface="Calibri"/>
                </a:rPr>
                <a:t>37%</a:t>
              </a:r>
              <a:endParaRPr lang="en-US" sz="1000" dirty="0"/>
            </a:p>
          </p:txBody>
        </p:sp>
        <p:sp>
          <p:nvSpPr>
            <p:cNvPr id="17" name="Text 15"/>
            <p:cNvSpPr/>
            <p:nvPr/>
          </p:nvSpPr>
          <p:spPr>
            <a:xfrm>
              <a:off x="5465826" y="2152770"/>
              <a:ext cx="1268730" cy="160735"/>
            </a:xfrm>
            <a:prstGeom prst="rect">
              <a:avLst/>
            </a:prstGeom>
            <a:noFill/>
            <a:ln/>
          </p:spPr>
          <p:txBody>
            <a:bodyPr wrap="square" lIns="0" tIns="0" rIns="0" bIns="0" rtlCol="0" anchor="ctr"/>
            <a:lstStyle/>
            <a:p>
              <a:r>
                <a:rPr lang="en-US" sz="1000" dirty="0">
                  <a:solidFill>
                    <a:srgbClr val="1A1F36"/>
                  </a:solidFill>
                  <a:latin typeface="Calibri"/>
                </a:rPr>
                <a:t>GPT-3 175B (prompted)</a:t>
              </a:r>
              <a:endParaRPr lang="en-US" sz="1000" dirty="0"/>
            </a:p>
          </p:txBody>
        </p:sp>
        <p:sp>
          <p:nvSpPr>
            <p:cNvPr id="18" name="Shape 16"/>
            <p:cNvSpPr/>
            <p:nvPr/>
          </p:nvSpPr>
          <p:spPr>
            <a:xfrm>
              <a:off x="6768846" y="2180202"/>
              <a:ext cx="1508760" cy="105871"/>
            </a:xfrm>
            <a:prstGeom prst="rect">
              <a:avLst/>
            </a:prstGeom>
            <a:solidFill>
              <a:srgbClr val="EDF2F7"/>
            </a:solidFill>
            <a:ln w="12700">
              <a:solidFill>
                <a:srgbClr val="EDF2F7"/>
              </a:solidFill>
              <a:prstDash val="solid"/>
            </a:ln>
          </p:spPr>
          <p:txBody>
            <a:bodyPr/>
            <a:lstStyle/>
            <a:p>
              <a:endParaRPr/>
            </a:p>
          </p:txBody>
        </p:sp>
        <p:sp>
          <p:nvSpPr>
            <p:cNvPr id="19" name="Shape 17"/>
            <p:cNvSpPr/>
            <p:nvPr/>
          </p:nvSpPr>
          <p:spPr>
            <a:xfrm>
              <a:off x="6768846" y="2180202"/>
              <a:ext cx="1029507" cy="105871"/>
            </a:xfrm>
            <a:prstGeom prst="rect">
              <a:avLst/>
            </a:prstGeom>
            <a:solidFill>
              <a:srgbClr val="4A5568"/>
            </a:solidFill>
            <a:ln w="12700">
              <a:solidFill>
                <a:srgbClr val="4A5568"/>
              </a:solidFill>
              <a:prstDash val="solid"/>
            </a:ln>
          </p:spPr>
          <p:txBody>
            <a:bodyPr/>
            <a:lstStyle/>
            <a:p>
              <a:endParaRPr/>
            </a:p>
          </p:txBody>
        </p:sp>
        <p:sp>
          <p:nvSpPr>
            <p:cNvPr id="20" name="Text 18"/>
            <p:cNvSpPr/>
            <p:nvPr/>
          </p:nvSpPr>
          <p:spPr>
            <a:xfrm>
              <a:off x="8332470" y="2152770"/>
              <a:ext cx="377190" cy="160735"/>
            </a:xfrm>
            <a:prstGeom prst="rect">
              <a:avLst/>
            </a:prstGeom>
            <a:noFill/>
            <a:ln/>
          </p:spPr>
          <p:txBody>
            <a:bodyPr wrap="square" lIns="0" tIns="0" rIns="0" bIns="0" rtlCol="0" anchor="ctr"/>
            <a:lstStyle/>
            <a:p>
              <a:r>
                <a:rPr lang="en-US" sz="1000" dirty="0">
                  <a:solidFill>
                    <a:srgbClr val="1A1F36"/>
                  </a:solidFill>
                  <a:latin typeface="Calibri"/>
                </a:rPr>
                <a:t>58%</a:t>
              </a:r>
              <a:endParaRPr lang="en-US" sz="1000" dirty="0"/>
            </a:p>
          </p:txBody>
        </p:sp>
        <p:sp>
          <p:nvSpPr>
            <p:cNvPr id="21" name="Text 19"/>
            <p:cNvSpPr/>
            <p:nvPr/>
          </p:nvSpPr>
          <p:spPr>
            <a:xfrm>
              <a:off x="5465826" y="2315647"/>
              <a:ext cx="1268730" cy="160735"/>
            </a:xfrm>
            <a:prstGeom prst="rect">
              <a:avLst/>
            </a:prstGeom>
            <a:noFill/>
            <a:ln/>
          </p:spPr>
          <p:txBody>
            <a:bodyPr wrap="square" lIns="0" tIns="0" rIns="0" bIns="0" rtlCol="0" anchor="ctr"/>
            <a:lstStyle/>
            <a:p>
              <a:r>
                <a:rPr lang="en-US" sz="1000" dirty="0">
                  <a:solidFill>
                    <a:srgbClr val="1A1F36"/>
                  </a:solidFill>
                  <a:latin typeface="Calibri"/>
                </a:rPr>
                <a:t>InstructGPT 1.3B (PPO-ptx)</a:t>
              </a:r>
              <a:endParaRPr lang="en-US" sz="1000" dirty="0"/>
            </a:p>
          </p:txBody>
        </p:sp>
        <p:sp>
          <p:nvSpPr>
            <p:cNvPr id="22" name="Shape 20"/>
            <p:cNvSpPr/>
            <p:nvPr/>
          </p:nvSpPr>
          <p:spPr>
            <a:xfrm>
              <a:off x="6768846" y="2343079"/>
              <a:ext cx="1508760" cy="105871"/>
            </a:xfrm>
            <a:prstGeom prst="rect">
              <a:avLst/>
            </a:prstGeom>
            <a:solidFill>
              <a:srgbClr val="EDF2F7"/>
            </a:solidFill>
            <a:ln w="12700">
              <a:solidFill>
                <a:srgbClr val="EDF2F7"/>
              </a:solidFill>
              <a:prstDash val="solid"/>
            </a:ln>
          </p:spPr>
          <p:txBody>
            <a:bodyPr/>
            <a:lstStyle/>
            <a:p>
              <a:endParaRPr/>
            </a:p>
          </p:txBody>
        </p:sp>
        <p:sp>
          <p:nvSpPr>
            <p:cNvPr id="23" name="Shape 21"/>
            <p:cNvSpPr/>
            <p:nvPr/>
          </p:nvSpPr>
          <p:spPr>
            <a:xfrm>
              <a:off x="6768846" y="2343079"/>
              <a:ext cx="1260258" cy="105871"/>
            </a:xfrm>
            <a:prstGeom prst="rect">
              <a:avLst/>
            </a:prstGeom>
            <a:solidFill>
              <a:srgbClr val="0F223E"/>
            </a:solidFill>
            <a:ln w="12700">
              <a:solidFill>
                <a:srgbClr val="0F223E"/>
              </a:solidFill>
              <a:prstDash val="solid"/>
            </a:ln>
          </p:spPr>
          <p:txBody>
            <a:bodyPr/>
            <a:lstStyle/>
            <a:p>
              <a:endParaRPr/>
            </a:p>
          </p:txBody>
        </p:sp>
        <p:sp>
          <p:nvSpPr>
            <p:cNvPr id="24" name="Text 22"/>
            <p:cNvSpPr/>
            <p:nvPr/>
          </p:nvSpPr>
          <p:spPr>
            <a:xfrm>
              <a:off x="8332470" y="2315647"/>
              <a:ext cx="377190" cy="160735"/>
            </a:xfrm>
            <a:prstGeom prst="rect">
              <a:avLst/>
            </a:prstGeom>
            <a:noFill/>
            <a:ln/>
          </p:spPr>
          <p:txBody>
            <a:bodyPr wrap="square" lIns="0" tIns="0" rIns="0" bIns="0" rtlCol="0" anchor="ctr"/>
            <a:lstStyle/>
            <a:p>
              <a:r>
                <a:rPr lang="en-US" sz="1000" b="1" dirty="0">
                  <a:solidFill>
                    <a:srgbClr val="0F223E"/>
                  </a:solidFill>
                  <a:latin typeface="Calibri"/>
                </a:rPr>
                <a:t>71%</a:t>
              </a:r>
              <a:endParaRPr lang="en-US" sz="1000" dirty="0"/>
            </a:p>
          </p:txBody>
        </p:sp>
        <p:sp>
          <p:nvSpPr>
            <p:cNvPr id="25" name="Text 23"/>
            <p:cNvSpPr/>
            <p:nvPr/>
          </p:nvSpPr>
          <p:spPr>
            <a:xfrm>
              <a:off x="5465826" y="2478525"/>
              <a:ext cx="1268730" cy="160735"/>
            </a:xfrm>
            <a:prstGeom prst="rect">
              <a:avLst/>
            </a:prstGeom>
            <a:noFill/>
            <a:ln/>
          </p:spPr>
          <p:txBody>
            <a:bodyPr wrap="square" lIns="0" tIns="0" rIns="0" bIns="0" rtlCol="0" anchor="ctr"/>
            <a:lstStyle/>
            <a:p>
              <a:r>
                <a:rPr lang="en-US" sz="1000" dirty="0">
                  <a:solidFill>
                    <a:srgbClr val="1A1F36"/>
                  </a:solidFill>
                  <a:latin typeface="Calibri"/>
                </a:rPr>
                <a:t>InstructGPT 175B (PPO-ptx)</a:t>
              </a:r>
              <a:endParaRPr lang="en-US" sz="1000" dirty="0"/>
            </a:p>
          </p:txBody>
        </p:sp>
        <p:sp>
          <p:nvSpPr>
            <p:cNvPr id="26" name="Shape 24"/>
            <p:cNvSpPr/>
            <p:nvPr/>
          </p:nvSpPr>
          <p:spPr>
            <a:xfrm>
              <a:off x="6768846" y="2505957"/>
              <a:ext cx="1508760" cy="105871"/>
            </a:xfrm>
            <a:prstGeom prst="rect">
              <a:avLst/>
            </a:prstGeom>
            <a:solidFill>
              <a:srgbClr val="EDF2F7"/>
            </a:solidFill>
            <a:ln w="12700">
              <a:solidFill>
                <a:srgbClr val="EDF2F7"/>
              </a:solidFill>
              <a:prstDash val="solid"/>
            </a:ln>
          </p:spPr>
          <p:txBody>
            <a:bodyPr/>
            <a:lstStyle/>
            <a:p>
              <a:endParaRPr/>
            </a:p>
          </p:txBody>
        </p:sp>
        <p:sp>
          <p:nvSpPr>
            <p:cNvPr id="27" name="Shape 25"/>
            <p:cNvSpPr/>
            <p:nvPr/>
          </p:nvSpPr>
          <p:spPr>
            <a:xfrm>
              <a:off x="6768846" y="2505957"/>
              <a:ext cx="1508760" cy="105871"/>
            </a:xfrm>
            <a:prstGeom prst="rect">
              <a:avLst/>
            </a:prstGeom>
            <a:solidFill>
              <a:srgbClr val="4A5568"/>
            </a:solidFill>
            <a:ln w="12700">
              <a:solidFill>
                <a:srgbClr val="4A5568"/>
              </a:solidFill>
              <a:prstDash val="solid"/>
            </a:ln>
          </p:spPr>
          <p:txBody>
            <a:bodyPr/>
            <a:lstStyle/>
            <a:p>
              <a:endParaRPr/>
            </a:p>
          </p:txBody>
        </p:sp>
        <p:sp>
          <p:nvSpPr>
            <p:cNvPr id="28" name="Text 26"/>
            <p:cNvSpPr/>
            <p:nvPr/>
          </p:nvSpPr>
          <p:spPr>
            <a:xfrm>
              <a:off x="8332470" y="2478525"/>
              <a:ext cx="377190" cy="160735"/>
            </a:xfrm>
            <a:prstGeom prst="rect">
              <a:avLst/>
            </a:prstGeom>
            <a:noFill/>
            <a:ln/>
          </p:spPr>
          <p:txBody>
            <a:bodyPr wrap="square" lIns="0" tIns="0" rIns="0" bIns="0" rtlCol="0" anchor="ctr"/>
            <a:lstStyle/>
            <a:p>
              <a:r>
                <a:rPr lang="en-US" sz="1000" dirty="0">
                  <a:solidFill>
                    <a:srgbClr val="1A1F36"/>
                  </a:solidFill>
                  <a:latin typeface="Calibri"/>
                </a:rPr>
                <a:t>85%</a:t>
              </a:r>
              <a:endParaRPr lang="en-US" sz="1000" dirty="0"/>
            </a:p>
          </p:txBody>
        </p:sp>
        <p:sp>
          <p:nvSpPr>
            <p:cNvPr id="29" name="Text 27"/>
            <p:cNvSpPr/>
            <p:nvPr/>
          </p:nvSpPr>
          <p:spPr>
            <a:xfrm>
              <a:off x="5465826" y="2654046"/>
              <a:ext cx="3223260" cy="150876"/>
            </a:xfrm>
            <a:prstGeom prst="rect">
              <a:avLst/>
            </a:prstGeom>
            <a:noFill/>
            <a:ln/>
          </p:spPr>
          <p:txBody>
            <a:bodyPr wrap="square" lIns="0" tIns="0" rIns="0" bIns="0" rtlCol="0" anchor="ctr"/>
            <a:lstStyle/>
            <a:p>
              <a:r>
                <a:rPr lang="en-US" sz="900" i="1" dirty="0">
                  <a:solidFill>
                    <a:srgbClr val="1A1F36"/>
                  </a:solidFill>
                  <a:latin typeface="Calibri"/>
                </a:rPr>
                <a:t>Ouyang et al. (2022), Figure 1. Labeler preference on held-out prompts.</a:t>
              </a:r>
              <a:endParaRPr lang="en-US" sz="900" dirty="0"/>
            </a:p>
          </p:txBody>
        </p:sp>
      </p:grpSp>
      <p:sp>
        <p:nvSpPr>
          <p:cNvPr id="30" name="Shape 28"/>
          <p:cNvSpPr/>
          <p:nvPr/>
        </p:nvSpPr>
        <p:spPr>
          <a:xfrm>
            <a:off x="342900" y="2851040"/>
            <a:ext cx="2777490" cy="1474470"/>
          </a:xfrm>
          <a:prstGeom prst="rect">
            <a:avLst/>
          </a:prstGeom>
          <a:solidFill>
            <a:srgbClr val="F7FAFC"/>
          </a:solidFill>
          <a:ln w="9525">
            <a:solidFill>
              <a:srgbClr val="E2E8F0"/>
            </a:solidFill>
            <a:prstDash val="solid"/>
          </a:ln>
        </p:spPr>
        <p:txBody>
          <a:bodyPr/>
          <a:lstStyle/>
          <a:p>
            <a:endParaRPr/>
          </a:p>
        </p:txBody>
      </p:sp>
      <p:sp>
        <p:nvSpPr>
          <p:cNvPr id="31" name="Shape 29"/>
          <p:cNvSpPr/>
          <p:nvPr/>
        </p:nvSpPr>
        <p:spPr>
          <a:xfrm>
            <a:off x="342900" y="2851040"/>
            <a:ext cx="41148" cy="1474470"/>
          </a:xfrm>
          <a:prstGeom prst="rect">
            <a:avLst/>
          </a:prstGeom>
          <a:solidFill>
            <a:srgbClr val="1A365D"/>
          </a:solidFill>
          <a:ln w="12700">
            <a:solidFill>
              <a:srgbClr val="1A365D"/>
            </a:solidFill>
            <a:prstDash val="solid"/>
          </a:ln>
        </p:spPr>
        <p:txBody>
          <a:bodyPr/>
          <a:lstStyle/>
          <a:p>
            <a:endParaRPr/>
          </a:p>
        </p:txBody>
      </p:sp>
      <p:sp>
        <p:nvSpPr>
          <p:cNvPr id="32" name="Text 30"/>
          <p:cNvSpPr/>
          <p:nvPr/>
        </p:nvSpPr>
        <p:spPr>
          <a:xfrm>
            <a:off x="514350" y="2919620"/>
            <a:ext cx="685800" cy="274320"/>
          </a:xfrm>
          <a:prstGeom prst="rect">
            <a:avLst/>
          </a:prstGeom>
          <a:noFill/>
          <a:ln/>
        </p:spPr>
        <p:txBody>
          <a:bodyPr wrap="square" lIns="0" tIns="0" rIns="0" bIns="0" rtlCol="0" anchor="ctr"/>
          <a:lstStyle/>
          <a:p>
            <a:r>
              <a:rPr lang="en-US" sz="1800" b="1" dirty="0">
                <a:solidFill>
                  <a:srgbClr val="8B6914"/>
                </a:solidFill>
                <a:latin typeface="Calibri"/>
              </a:rPr>
              <a:t>01</a:t>
            </a:r>
            <a:endParaRPr lang="en-US" sz="1800" dirty="0"/>
          </a:p>
        </p:txBody>
      </p:sp>
      <p:sp>
        <p:nvSpPr>
          <p:cNvPr id="33" name="Text 31"/>
          <p:cNvSpPr/>
          <p:nvPr/>
        </p:nvSpPr>
        <p:spPr>
          <a:xfrm>
            <a:off x="514350" y="3159650"/>
            <a:ext cx="2503170" cy="274320"/>
          </a:xfrm>
          <a:prstGeom prst="rect">
            <a:avLst/>
          </a:prstGeom>
          <a:noFill/>
          <a:ln/>
        </p:spPr>
        <p:txBody>
          <a:bodyPr wrap="square" lIns="0" tIns="0" rIns="0" bIns="0" rtlCol="0" anchor="ctr"/>
          <a:lstStyle/>
          <a:p>
            <a:r>
              <a:rPr lang="en-US" b="1" dirty="0">
                <a:solidFill>
                  <a:srgbClr val="0F223E"/>
                </a:solidFill>
                <a:latin typeface="Calibri"/>
              </a:rPr>
              <a:t>Supervised Fine-Tuning</a:t>
            </a:r>
            <a:endParaRPr lang="en-US" dirty="0"/>
          </a:p>
        </p:txBody>
      </p:sp>
      <p:sp>
        <p:nvSpPr>
          <p:cNvPr id="34" name="Text 32"/>
          <p:cNvSpPr/>
          <p:nvPr/>
        </p:nvSpPr>
        <p:spPr>
          <a:xfrm>
            <a:off x="514350" y="3468260"/>
            <a:ext cx="2503170" cy="788670"/>
          </a:xfrm>
          <a:prstGeom prst="rect">
            <a:avLst/>
          </a:prstGeom>
          <a:noFill/>
          <a:ln/>
        </p:spPr>
        <p:txBody>
          <a:bodyPr wrap="square" lIns="0" tIns="0" rIns="0" bIns="0" rtlCol="0" anchor="ctr"/>
          <a:lstStyle/>
          <a:p>
            <a:pPr marL="257175" indent="-257175">
              <a:spcAft>
                <a:spcPts val="300"/>
              </a:spcAft>
              <a:buSzPct val="100000"/>
              <a:buChar char="•"/>
            </a:pPr>
            <a:r>
              <a:rPr lang="en-US" sz="1050" dirty="0">
                <a:solidFill>
                  <a:srgbClr val="1A1F36"/>
                </a:solidFill>
                <a:latin typeface="Calibri"/>
              </a:rPr>
              <a:t>Human-written prompt/response pairs</a:t>
            </a:r>
            <a:endParaRPr lang="en-US" sz="1050" dirty="0"/>
          </a:p>
          <a:p>
            <a:pPr marL="257175" indent="-257175">
              <a:spcAft>
                <a:spcPts val="300"/>
              </a:spcAft>
              <a:buSzPct val="100000"/>
              <a:buChar char="•"/>
            </a:pPr>
            <a:r>
              <a:rPr lang="en-US" sz="1050" dirty="0">
                <a:solidFill>
                  <a:srgbClr val="1A1F36"/>
                </a:solidFill>
                <a:latin typeface="Calibri"/>
              </a:rPr>
              <a:t>Fine-tune base model on demonstrations</a:t>
            </a:r>
            <a:endParaRPr lang="en-US" sz="1050" dirty="0"/>
          </a:p>
          <a:p>
            <a:pPr marL="257175" indent="-257175">
              <a:spcAft>
                <a:spcPts val="300"/>
              </a:spcAft>
              <a:buSzPct val="100000"/>
              <a:buChar char="•"/>
            </a:pPr>
            <a:r>
              <a:rPr lang="en-US" sz="1050" dirty="0">
                <a:solidFill>
                  <a:srgbClr val="1A1F36"/>
                </a:solidFill>
                <a:latin typeface="Calibri"/>
              </a:rPr>
              <a:t>Teaches format and style of helpful replies</a:t>
            </a:r>
            <a:endParaRPr lang="en-US" sz="1050" dirty="0"/>
          </a:p>
        </p:txBody>
      </p:sp>
      <p:sp>
        <p:nvSpPr>
          <p:cNvPr id="35" name="Shape 33"/>
          <p:cNvSpPr/>
          <p:nvPr/>
        </p:nvSpPr>
        <p:spPr>
          <a:xfrm>
            <a:off x="3188970" y="2851040"/>
            <a:ext cx="2777490" cy="1474470"/>
          </a:xfrm>
          <a:prstGeom prst="rect">
            <a:avLst/>
          </a:prstGeom>
          <a:solidFill>
            <a:srgbClr val="F7FAFC"/>
          </a:solidFill>
          <a:ln w="9525">
            <a:solidFill>
              <a:srgbClr val="E2E8F0"/>
            </a:solidFill>
            <a:prstDash val="solid"/>
          </a:ln>
        </p:spPr>
        <p:txBody>
          <a:bodyPr/>
          <a:lstStyle/>
          <a:p>
            <a:endParaRPr/>
          </a:p>
        </p:txBody>
      </p:sp>
      <p:sp>
        <p:nvSpPr>
          <p:cNvPr id="36" name="Shape 34"/>
          <p:cNvSpPr/>
          <p:nvPr/>
        </p:nvSpPr>
        <p:spPr>
          <a:xfrm>
            <a:off x="3188970" y="2851040"/>
            <a:ext cx="41148" cy="1474470"/>
          </a:xfrm>
          <a:prstGeom prst="rect">
            <a:avLst/>
          </a:prstGeom>
          <a:solidFill>
            <a:srgbClr val="1A365D"/>
          </a:solidFill>
          <a:ln w="12700">
            <a:solidFill>
              <a:srgbClr val="1A365D"/>
            </a:solidFill>
            <a:prstDash val="solid"/>
          </a:ln>
        </p:spPr>
        <p:txBody>
          <a:bodyPr/>
          <a:lstStyle/>
          <a:p>
            <a:endParaRPr/>
          </a:p>
        </p:txBody>
      </p:sp>
      <p:sp>
        <p:nvSpPr>
          <p:cNvPr id="37" name="Text 35"/>
          <p:cNvSpPr/>
          <p:nvPr/>
        </p:nvSpPr>
        <p:spPr>
          <a:xfrm>
            <a:off x="3360420" y="2919620"/>
            <a:ext cx="685800" cy="274320"/>
          </a:xfrm>
          <a:prstGeom prst="rect">
            <a:avLst/>
          </a:prstGeom>
          <a:noFill/>
          <a:ln/>
        </p:spPr>
        <p:txBody>
          <a:bodyPr wrap="square" lIns="0" tIns="0" rIns="0" bIns="0" rtlCol="0" anchor="ctr"/>
          <a:lstStyle/>
          <a:p>
            <a:r>
              <a:rPr lang="en-US" sz="1800" b="1" dirty="0">
                <a:solidFill>
                  <a:srgbClr val="8B6914"/>
                </a:solidFill>
                <a:latin typeface="Calibri"/>
              </a:rPr>
              <a:t>02</a:t>
            </a:r>
            <a:endParaRPr lang="en-US" sz="1800" dirty="0"/>
          </a:p>
        </p:txBody>
      </p:sp>
      <p:sp>
        <p:nvSpPr>
          <p:cNvPr id="38" name="Text 36"/>
          <p:cNvSpPr/>
          <p:nvPr/>
        </p:nvSpPr>
        <p:spPr>
          <a:xfrm>
            <a:off x="3360420" y="3159650"/>
            <a:ext cx="2503170" cy="274320"/>
          </a:xfrm>
          <a:prstGeom prst="rect">
            <a:avLst/>
          </a:prstGeom>
          <a:noFill/>
          <a:ln/>
        </p:spPr>
        <p:txBody>
          <a:bodyPr wrap="square" lIns="0" tIns="0" rIns="0" bIns="0" rtlCol="0" anchor="ctr"/>
          <a:lstStyle/>
          <a:p>
            <a:r>
              <a:rPr lang="en-US" b="1" dirty="0">
                <a:solidFill>
                  <a:srgbClr val="0F223E"/>
                </a:solidFill>
                <a:latin typeface="Calibri"/>
              </a:rPr>
              <a:t>Reward Model</a:t>
            </a:r>
            <a:endParaRPr lang="en-US" dirty="0"/>
          </a:p>
        </p:txBody>
      </p:sp>
      <p:sp>
        <p:nvSpPr>
          <p:cNvPr id="39" name="Text 37"/>
          <p:cNvSpPr/>
          <p:nvPr/>
        </p:nvSpPr>
        <p:spPr>
          <a:xfrm>
            <a:off x="3360420" y="3468260"/>
            <a:ext cx="2503170" cy="788670"/>
          </a:xfrm>
          <a:prstGeom prst="rect">
            <a:avLst/>
          </a:prstGeom>
          <a:noFill/>
          <a:ln/>
        </p:spPr>
        <p:txBody>
          <a:bodyPr wrap="square" lIns="0" tIns="0" rIns="0" bIns="0" rtlCol="0" anchor="ctr"/>
          <a:lstStyle/>
          <a:p>
            <a:pPr marL="257175" indent="-257175">
              <a:spcAft>
                <a:spcPts val="300"/>
              </a:spcAft>
              <a:buSzPct val="100000"/>
              <a:buChar char="•"/>
            </a:pPr>
            <a:r>
              <a:rPr lang="en-US" sz="1050" dirty="0">
                <a:solidFill>
                  <a:srgbClr val="1A1F36"/>
                </a:solidFill>
                <a:latin typeface="Calibri"/>
              </a:rPr>
              <a:t>Annotators rank model outputs</a:t>
            </a:r>
            <a:endParaRPr lang="en-US" sz="1050" dirty="0"/>
          </a:p>
          <a:p>
            <a:pPr marL="257175" indent="-257175">
              <a:spcAft>
                <a:spcPts val="300"/>
              </a:spcAft>
              <a:buSzPct val="100000"/>
              <a:buChar char="•"/>
            </a:pPr>
            <a:r>
              <a:rPr lang="en-US" sz="1050" dirty="0">
                <a:solidFill>
                  <a:srgbClr val="1A1F36"/>
                </a:solidFill>
                <a:latin typeface="Calibri"/>
              </a:rPr>
              <a:t>Train a reward model on pairwise comparisons</a:t>
            </a:r>
            <a:endParaRPr lang="en-US" sz="1050" dirty="0"/>
          </a:p>
          <a:p>
            <a:pPr marL="257175" indent="-257175">
              <a:spcAft>
                <a:spcPts val="300"/>
              </a:spcAft>
              <a:buSzPct val="100000"/>
              <a:buChar char="•"/>
            </a:pPr>
            <a:r>
              <a:rPr lang="en-US" sz="1050" dirty="0">
                <a:solidFill>
                  <a:srgbClr val="1A1F36"/>
                </a:solidFill>
                <a:latin typeface="Calibri"/>
              </a:rPr>
              <a:t>Proxy for human preference</a:t>
            </a:r>
            <a:endParaRPr lang="en-US" sz="1050" dirty="0"/>
          </a:p>
        </p:txBody>
      </p:sp>
      <p:sp>
        <p:nvSpPr>
          <p:cNvPr id="40" name="Shape 38"/>
          <p:cNvSpPr/>
          <p:nvPr/>
        </p:nvSpPr>
        <p:spPr>
          <a:xfrm>
            <a:off x="6035040" y="2851040"/>
            <a:ext cx="2777490" cy="1474470"/>
          </a:xfrm>
          <a:prstGeom prst="rect">
            <a:avLst/>
          </a:prstGeom>
          <a:solidFill>
            <a:srgbClr val="F7FAFC"/>
          </a:solidFill>
          <a:ln w="9525">
            <a:solidFill>
              <a:srgbClr val="E2E8F0"/>
            </a:solidFill>
            <a:prstDash val="solid"/>
          </a:ln>
        </p:spPr>
        <p:txBody>
          <a:bodyPr/>
          <a:lstStyle/>
          <a:p>
            <a:endParaRPr/>
          </a:p>
        </p:txBody>
      </p:sp>
      <p:sp>
        <p:nvSpPr>
          <p:cNvPr id="41" name="Shape 39"/>
          <p:cNvSpPr/>
          <p:nvPr/>
        </p:nvSpPr>
        <p:spPr>
          <a:xfrm>
            <a:off x="6035040" y="2851040"/>
            <a:ext cx="41148" cy="1474470"/>
          </a:xfrm>
          <a:prstGeom prst="rect">
            <a:avLst/>
          </a:prstGeom>
          <a:solidFill>
            <a:srgbClr val="1A365D"/>
          </a:solidFill>
          <a:ln w="12700">
            <a:solidFill>
              <a:srgbClr val="1A365D"/>
            </a:solidFill>
            <a:prstDash val="solid"/>
          </a:ln>
        </p:spPr>
        <p:txBody>
          <a:bodyPr/>
          <a:lstStyle/>
          <a:p>
            <a:endParaRPr/>
          </a:p>
        </p:txBody>
      </p:sp>
      <p:sp>
        <p:nvSpPr>
          <p:cNvPr id="42" name="Text 40"/>
          <p:cNvSpPr/>
          <p:nvPr/>
        </p:nvSpPr>
        <p:spPr>
          <a:xfrm>
            <a:off x="6206490" y="2919620"/>
            <a:ext cx="685800" cy="274320"/>
          </a:xfrm>
          <a:prstGeom prst="rect">
            <a:avLst/>
          </a:prstGeom>
          <a:noFill/>
          <a:ln/>
        </p:spPr>
        <p:txBody>
          <a:bodyPr wrap="square" lIns="0" tIns="0" rIns="0" bIns="0" rtlCol="0" anchor="ctr"/>
          <a:lstStyle/>
          <a:p>
            <a:r>
              <a:rPr lang="en-US" sz="1800" b="1" dirty="0">
                <a:solidFill>
                  <a:srgbClr val="8B6914"/>
                </a:solidFill>
                <a:latin typeface="Calibri"/>
              </a:rPr>
              <a:t>03</a:t>
            </a:r>
            <a:endParaRPr lang="en-US" sz="1800" dirty="0"/>
          </a:p>
        </p:txBody>
      </p:sp>
      <p:sp>
        <p:nvSpPr>
          <p:cNvPr id="43" name="Text 41"/>
          <p:cNvSpPr/>
          <p:nvPr/>
        </p:nvSpPr>
        <p:spPr>
          <a:xfrm>
            <a:off x="6206490" y="3159650"/>
            <a:ext cx="2503170" cy="274320"/>
          </a:xfrm>
          <a:prstGeom prst="rect">
            <a:avLst/>
          </a:prstGeom>
          <a:noFill/>
          <a:ln/>
        </p:spPr>
        <p:txBody>
          <a:bodyPr wrap="square" lIns="0" tIns="0" rIns="0" bIns="0" rtlCol="0" anchor="ctr"/>
          <a:lstStyle/>
          <a:p>
            <a:r>
              <a:rPr lang="en-US" b="1" dirty="0">
                <a:solidFill>
                  <a:srgbClr val="0F223E"/>
                </a:solidFill>
                <a:latin typeface="Calibri"/>
              </a:rPr>
              <a:t>RL with PPO</a:t>
            </a:r>
            <a:endParaRPr lang="en-US" dirty="0"/>
          </a:p>
        </p:txBody>
      </p:sp>
      <p:sp>
        <p:nvSpPr>
          <p:cNvPr id="44" name="Text 42"/>
          <p:cNvSpPr/>
          <p:nvPr/>
        </p:nvSpPr>
        <p:spPr>
          <a:xfrm>
            <a:off x="6206490" y="3468260"/>
            <a:ext cx="2503170" cy="788670"/>
          </a:xfrm>
          <a:prstGeom prst="rect">
            <a:avLst/>
          </a:prstGeom>
          <a:noFill/>
          <a:ln/>
        </p:spPr>
        <p:txBody>
          <a:bodyPr wrap="square" lIns="0" tIns="0" rIns="0" bIns="0" rtlCol="0" anchor="ctr"/>
          <a:lstStyle/>
          <a:p>
            <a:pPr marL="257175" indent="-257175">
              <a:spcAft>
                <a:spcPts val="300"/>
              </a:spcAft>
              <a:buSzPct val="100000"/>
              <a:buChar char="•"/>
            </a:pPr>
            <a:r>
              <a:rPr lang="en-US" sz="1050" dirty="0">
                <a:solidFill>
                  <a:srgbClr val="1A1F36"/>
                </a:solidFill>
                <a:latin typeface="Calibri"/>
              </a:rPr>
              <a:t>Policy optimized against reward model</a:t>
            </a:r>
            <a:endParaRPr lang="en-US" sz="1050" dirty="0"/>
          </a:p>
          <a:p>
            <a:pPr marL="257175" indent="-257175">
              <a:spcAft>
                <a:spcPts val="300"/>
              </a:spcAft>
              <a:buSzPct val="100000"/>
              <a:buChar char="•"/>
            </a:pPr>
            <a:r>
              <a:rPr lang="en-US" sz="1050" dirty="0">
                <a:solidFill>
                  <a:srgbClr val="1A1F36"/>
                </a:solidFill>
                <a:latin typeface="Calibri"/>
              </a:rPr>
              <a:t>KL penalty keeps policy near SFT</a:t>
            </a:r>
            <a:endParaRPr lang="en-US" sz="1050" dirty="0"/>
          </a:p>
          <a:p>
            <a:pPr marL="257175" indent="-257175">
              <a:spcAft>
                <a:spcPts val="300"/>
              </a:spcAft>
              <a:buSzPct val="100000"/>
              <a:buChar char="•"/>
            </a:pPr>
            <a:r>
              <a:rPr lang="en-US" sz="1050" dirty="0">
                <a:solidFill>
                  <a:srgbClr val="1A1F36"/>
                </a:solidFill>
                <a:latin typeface="Calibri"/>
              </a:rPr>
              <a:t>Yields helpful, harmless, honest model</a:t>
            </a:r>
            <a:endParaRPr lang="en-US" sz="1050" dirty="0"/>
          </a:p>
        </p:txBody>
      </p:sp>
      <p:sp>
        <p:nvSpPr>
          <p:cNvPr id="45" name="Text 43"/>
          <p:cNvSpPr/>
          <p:nvPr/>
        </p:nvSpPr>
        <p:spPr>
          <a:xfrm>
            <a:off x="342900" y="4512564"/>
            <a:ext cx="8435340" cy="582930"/>
          </a:xfrm>
          <a:prstGeom prst="rect">
            <a:avLst/>
          </a:prstGeom>
          <a:noFill/>
          <a:ln/>
        </p:spPr>
        <p:txBody>
          <a:bodyPr wrap="square" lIns="0" tIns="0" rIns="0" bIns="0" rtlCol="0" anchor="t"/>
          <a:lstStyle/>
          <a:p>
            <a:pPr>
              <a:spcAft>
                <a:spcPts val="75"/>
              </a:spcAft>
            </a:pPr>
            <a:r>
              <a:rPr lang="en-US" sz="675" i="1" dirty="0">
                <a:solidFill>
                  <a:srgbClr val="1A1F36"/>
                </a:solidFill>
                <a:latin typeface="Calibri"/>
              </a:rPr>
              <a:t>Ouyang et al. (2022). Training Language Models to Follow Instructions with Human Feedback (InstructGPT). NeurIPS. arXiv:2203.02155.</a:t>
            </a:r>
            <a:endParaRPr lang="en-US" sz="675" dirty="0"/>
          </a:p>
          <a:p>
            <a:pPr>
              <a:spcAft>
                <a:spcPts val="75"/>
              </a:spcAft>
            </a:pPr>
            <a:r>
              <a:rPr lang="en-US" sz="675" i="1" dirty="0">
                <a:solidFill>
                  <a:srgbClr val="1A1F36"/>
                </a:solidFill>
                <a:latin typeface="Calibri"/>
              </a:rPr>
              <a:t>Foundational: Christiano et al. (2017). Deep Reinforcement Learning from Human Preferences. NeurIPS. arXiv:1706.03741.   ·   Schulman et al. (2017). Proximal Policy Optimization Algorithms. arXiv:1707.06347.</a:t>
            </a:r>
            <a:endParaRPr lang="en-US" sz="675" dirty="0"/>
          </a:p>
        </p:txBody>
      </p:sp>
      <p:pic>
        <p:nvPicPr>
          <p:cNvPr id="3" name="Google Shape;109;p20">
            <a:extLst>
              <a:ext uri="{FF2B5EF4-FFF2-40B4-BE49-F238E27FC236}">
                <a16:creationId xmlns:a16="http://schemas.microsoft.com/office/drawing/2014/main" id="{DD83B84A-5F03-42A6-AE01-9E78B524CC70}"/>
              </a:ext>
            </a:extLst>
          </p:cNvPr>
          <p:cNvPicPr preferRelativeResize="0"/>
          <p:nvPr/>
        </p:nvPicPr>
        <p:blipFill>
          <a:blip r:embed="rId3">
            <a:alphaModFix/>
          </a:blip>
          <a:stretch>
            <a:fillRect/>
          </a:stretch>
        </p:blipFill>
        <p:spPr>
          <a:xfrm>
            <a:off x="8369125" y="0"/>
            <a:ext cx="774877" cy="867174"/>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3444" cy="5143500"/>
          </a:xfrm>
          <a:prstGeom prst="rect">
            <a:avLst/>
          </a:prstGeom>
          <a:solidFill>
            <a:srgbClr val="1A365D"/>
          </a:solidFill>
          <a:ln w="12700">
            <a:solidFill>
              <a:srgbClr val="1A365D"/>
            </a:solidFill>
            <a:prstDash val="solid"/>
          </a:ln>
        </p:spPr>
        <p:txBody>
          <a:bodyPr/>
          <a:lstStyle/>
          <a:p>
            <a:endParaRPr/>
          </a:p>
        </p:txBody>
      </p:sp>
      <p:sp>
        <p:nvSpPr>
          <p:cNvPr id="5" name="Shape 3"/>
          <p:cNvSpPr/>
          <p:nvPr/>
        </p:nvSpPr>
        <p:spPr>
          <a:xfrm>
            <a:off x="342900" y="4457700"/>
            <a:ext cx="8435340" cy="0"/>
          </a:xfrm>
          <a:prstGeom prst="line">
            <a:avLst/>
          </a:prstGeom>
          <a:noFill/>
          <a:ln w="9525">
            <a:solidFill>
              <a:srgbClr val="CBD5E0"/>
            </a:solidFill>
            <a:prstDash val="solid"/>
          </a:ln>
        </p:spPr>
        <p:txBody>
          <a:bodyPr/>
          <a:lstStyle/>
          <a:p>
            <a:endParaRPr/>
          </a:p>
        </p:txBody>
      </p:sp>
      <p:sp>
        <p:nvSpPr>
          <p:cNvPr id="7" name="Text 5"/>
          <p:cNvSpPr/>
          <p:nvPr/>
        </p:nvSpPr>
        <p:spPr>
          <a:xfrm>
            <a:off x="342900" y="428376"/>
            <a:ext cx="8435340" cy="617220"/>
          </a:xfrm>
          <a:prstGeom prst="rect">
            <a:avLst/>
          </a:prstGeom>
          <a:noFill/>
          <a:ln/>
        </p:spPr>
        <p:txBody>
          <a:bodyPr wrap="square" lIns="0" tIns="0" rIns="0" bIns="0" rtlCol="0" anchor="ctr"/>
          <a:lstStyle/>
          <a:p>
            <a:r>
              <a:rPr lang="en-US" sz="2250" b="1" dirty="0">
                <a:solidFill>
                  <a:srgbClr val="1E2761"/>
                </a:solidFill>
                <a:latin typeface="Georgia"/>
              </a:rPr>
              <a:t>The Open-Weights Wave: LLaMA, Mistral, Falcon</a:t>
            </a:r>
            <a:endParaRPr lang="en-US" sz="2250" dirty="0"/>
          </a:p>
        </p:txBody>
      </p:sp>
      <p:sp>
        <p:nvSpPr>
          <p:cNvPr id="8" name="Text 6"/>
          <p:cNvSpPr/>
          <p:nvPr/>
        </p:nvSpPr>
        <p:spPr>
          <a:xfrm>
            <a:off x="342900" y="1142999"/>
            <a:ext cx="4869180" cy="1337310"/>
          </a:xfrm>
          <a:prstGeom prst="rect">
            <a:avLst/>
          </a:prstGeom>
          <a:noFill/>
          <a:ln/>
        </p:spPr>
        <p:txBody>
          <a:bodyPr wrap="square" lIns="0" tIns="0" rIns="0" bIns="0" rtlCol="0" anchor="ctr"/>
          <a:lstStyle/>
          <a:p>
            <a:pPr>
              <a:spcAft>
                <a:spcPts val="300"/>
              </a:spcAft>
            </a:pPr>
            <a:r>
              <a:rPr lang="en-US" sz="1100" dirty="0">
                <a:solidFill>
                  <a:srgbClr val="1A1F36"/>
                </a:solidFill>
                <a:latin typeface="Calibri"/>
              </a:rPr>
              <a:t>Through 2022 the frontier was locked behind commercial APIs. Meta's LLaMA (Feb 2023) opened the gates with a family of models whose weights were distributed to researchers. LLaMA 2 added commercial licensing; Mistral brought compact dense and MoE variants; TII's Falcon pushed training-data transparency. A rich ecosystem of fine-tunes — Alpaca, Vicuna, and thousands more — made LLM customization accessible to any lab with a single GPU server.</a:t>
            </a:r>
            <a:endParaRPr lang="en-US" sz="1100" dirty="0"/>
          </a:p>
        </p:txBody>
      </p:sp>
      <p:grpSp>
        <p:nvGrpSpPr>
          <p:cNvPr id="3" name="Group 2">
            <a:extLst>
              <a:ext uri="{FF2B5EF4-FFF2-40B4-BE49-F238E27FC236}">
                <a16:creationId xmlns:a16="http://schemas.microsoft.com/office/drawing/2014/main" id="{5F9EA657-9725-F9FF-E309-6F6AE41241CC}"/>
              </a:ext>
            </a:extLst>
          </p:cNvPr>
          <p:cNvGrpSpPr/>
          <p:nvPr/>
        </p:nvGrpSpPr>
        <p:grpSpPr>
          <a:xfrm>
            <a:off x="5314950" y="1254319"/>
            <a:ext cx="3463290" cy="1337310"/>
            <a:chOff x="5314950" y="1508760"/>
            <a:chExt cx="3463290" cy="1337310"/>
          </a:xfrm>
        </p:grpSpPr>
        <p:sp>
          <p:nvSpPr>
            <p:cNvPr id="9" name="Shape 7"/>
            <p:cNvSpPr/>
            <p:nvPr/>
          </p:nvSpPr>
          <p:spPr>
            <a:xfrm>
              <a:off x="5314950" y="1508760"/>
              <a:ext cx="3463290" cy="1337310"/>
            </a:xfrm>
            <a:prstGeom prst="rect">
              <a:avLst/>
            </a:prstGeom>
            <a:solidFill>
              <a:srgbClr val="FFFFFF"/>
            </a:solidFill>
            <a:ln w="9525">
              <a:solidFill>
                <a:srgbClr val="E2E8F0"/>
              </a:solidFill>
              <a:prstDash val="solid"/>
            </a:ln>
          </p:spPr>
          <p:txBody>
            <a:bodyPr/>
            <a:lstStyle/>
            <a:p>
              <a:endParaRPr/>
            </a:p>
          </p:txBody>
        </p:sp>
        <p:sp>
          <p:nvSpPr>
            <p:cNvPr id="10" name="Shape 8"/>
            <p:cNvSpPr/>
            <p:nvPr/>
          </p:nvSpPr>
          <p:spPr>
            <a:xfrm>
              <a:off x="5314950" y="1508760"/>
              <a:ext cx="41148" cy="1337310"/>
            </a:xfrm>
            <a:prstGeom prst="rect">
              <a:avLst/>
            </a:prstGeom>
            <a:solidFill>
              <a:srgbClr val="8B6914"/>
            </a:solidFill>
            <a:ln w="12700">
              <a:solidFill>
                <a:srgbClr val="8B6914"/>
              </a:solidFill>
              <a:prstDash val="solid"/>
            </a:ln>
          </p:spPr>
          <p:txBody>
            <a:bodyPr/>
            <a:lstStyle/>
            <a:p>
              <a:endParaRPr/>
            </a:p>
          </p:txBody>
        </p:sp>
        <p:sp>
          <p:nvSpPr>
            <p:cNvPr id="11" name="Text 9"/>
            <p:cNvSpPr/>
            <p:nvPr/>
          </p:nvSpPr>
          <p:spPr>
            <a:xfrm>
              <a:off x="5465826" y="1577340"/>
              <a:ext cx="3223260" cy="150876"/>
            </a:xfrm>
            <a:prstGeom prst="rect">
              <a:avLst/>
            </a:prstGeom>
            <a:noFill/>
            <a:ln/>
          </p:spPr>
          <p:txBody>
            <a:bodyPr wrap="square" lIns="0" tIns="0" rIns="0" bIns="0" rtlCol="0" anchor="ctr"/>
            <a:lstStyle/>
            <a:p>
              <a:r>
                <a:rPr lang="en-US" sz="900" b="1" spc="300" dirty="0">
                  <a:solidFill>
                    <a:srgbClr val="8B6914"/>
                  </a:solidFill>
                  <a:latin typeface="Calibri"/>
                </a:rPr>
                <a:t>KEY RESULT · OPEN MODELS CATCH UP</a:t>
              </a:r>
              <a:endParaRPr lang="en-US" sz="900" dirty="0"/>
            </a:p>
          </p:txBody>
        </p:sp>
        <p:sp>
          <p:nvSpPr>
            <p:cNvPr id="12" name="Text 10"/>
            <p:cNvSpPr/>
            <p:nvPr/>
          </p:nvSpPr>
          <p:spPr>
            <a:xfrm>
              <a:off x="5465826" y="1714500"/>
              <a:ext cx="3223260" cy="192024"/>
            </a:xfrm>
            <a:prstGeom prst="rect">
              <a:avLst/>
            </a:prstGeom>
            <a:noFill/>
            <a:ln/>
          </p:spPr>
          <p:txBody>
            <a:bodyPr wrap="square" lIns="0" tIns="0" rIns="0" bIns="0" rtlCol="0" anchor="ctr"/>
            <a:lstStyle/>
            <a:p>
              <a:r>
                <a:rPr lang="en-US" sz="1050" b="1" dirty="0">
                  <a:solidFill>
                    <a:srgbClr val="0F223E"/>
                  </a:solidFill>
                  <a:latin typeface="Calibri"/>
                </a:rPr>
                <a:t>MMLU 5-shot accuracy (late 2023)</a:t>
              </a:r>
              <a:endParaRPr lang="en-US" sz="1050" dirty="0"/>
            </a:p>
          </p:txBody>
        </p:sp>
        <p:sp>
          <p:nvSpPr>
            <p:cNvPr id="13" name="Text 11"/>
            <p:cNvSpPr/>
            <p:nvPr/>
          </p:nvSpPr>
          <p:spPr>
            <a:xfrm>
              <a:off x="5465826" y="1989892"/>
              <a:ext cx="1268730" cy="160735"/>
            </a:xfrm>
            <a:prstGeom prst="rect">
              <a:avLst/>
            </a:prstGeom>
            <a:noFill/>
            <a:ln/>
          </p:spPr>
          <p:txBody>
            <a:bodyPr wrap="square" lIns="0" tIns="0" rIns="0" bIns="0" rtlCol="0" anchor="ctr"/>
            <a:lstStyle/>
            <a:p>
              <a:r>
                <a:rPr lang="en-US" sz="900" dirty="0">
                  <a:solidFill>
                    <a:srgbClr val="1A1F36"/>
                  </a:solidFill>
                  <a:latin typeface="Calibri"/>
                </a:rPr>
                <a:t>Mistral 7B</a:t>
              </a:r>
              <a:endParaRPr lang="en-US" sz="900" dirty="0"/>
            </a:p>
          </p:txBody>
        </p:sp>
        <p:sp>
          <p:nvSpPr>
            <p:cNvPr id="14" name="Shape 12"/>
            <p:cNvSpPr/>
            <p:nvPr/>
          </p:nvSpPr>
          <p:spPr>
            <a:xfrm>
              <a:off x="6768846" y="2017324"/>
              <a:ext cx="1508760" cy="105871"/>
            </a:xfrm>
            <a:prstGeom prst="rect">
              <a:avLst/>
            </a:prstGeom>
            <a:solidFill>
              <a:srgbClr val="EDF2F7"/>
            </a:solidFill>
            <a:ln w="12700">
              <a:solidFill>
                <a:srgbClr val="EDF2F7"/>
              </a:solidFill>
              <a:prstDash val="solid"/>
            </a:ln>
          </p:spPr>
          <p:txBody>
            <a:bodyPr/>
            <a:lstStyle/>
            <a:p>
              <a:endParaRPr/>
            </a:p>
          </p:txBody>
        </p:sp>
        <p:sp>
          <p:nvSpPr>
            <p:cNvPr id="15" name="Shape 13"/>
            <p:cNvSpPr/>
            <p:nvPr/>
          </p:nvSpPr>
          <p:spPr>
            <a:xfrm>
              <a:off x="6768846" y="2017324"/>
              <a:ext cx="1284369" cy="105871"/>
            </a:xfrm>
            <a:prstGeom prst="rect">
              <a:avLst/>
            </a:prstGeom>
            <a:solidFill>
              <a:srgbClr val="4A5568"/>
            </a:solidFill>
            <a:ln w="12700">
              <a:solidFill>
                <a:srgbClr val="4A5568"/>
              </a:solidFill>
              <a:prstDash val="solid"/>
            </a:ln>
          </p:spPr>
          <p:txBody>
            <a:bodyPr/>
            <a:lstStyle/>
            <a:p>
              <a:endParaRPr/>
            </a:p>
          </p:txBody>
        </p:sp>
        <p:sp>
          <p:nvSpPr>
            <p:cNvPr id="16" name="Text 14"/>
            <p:cNvSpPr/>
            <p:nvPr/>
          </p:nvSpPr>
          <p:spPr>
            <a:xfrm>
              <a:off x="8332470" y="1989892"/>
              <a:ext cx="377190" cy="160735"/>
            </a:xfrm>
            <a:prstGeom prst="rect">
              <a:avLst/>
            </a:prstGeom>
            <a:noFill/>
            <a:ln/>
          </p:spPr>
          <p:txBody>
            <a:bodyPr wrap="square" lIns="0" tIns="0" rIns="0" bIns="0" rtlCol="0" anchor="ctr"/>
            <a:lstStyle/>
            <a:p>
              <a:r>
                <a:rPr lang="en-US" sz="900" dirty="0">
                  <a:solidFill>
                    <a:srgbClr val="1A1F36"/>
                  </a:solidFill>
                  <a:latin typeface="Calibri"/>
                </a:rPr>
                <a:t>60.1</a:t>
              </a:r>
              <a:endParaRPr lang="en-US" sz="900" dirty="0"/>
            </a:p>
          </p:txBody>
        </p:sp>
        <p:sp>
          <p:nvSpPr>
            <p:cNvPr id="17" name="Text 15"/>
            <p:cNvSpPr/>
            <p:nvPr/>
          </p:nvSpPr>
          <p:spPr>
            <a:xfrm>
              <a:off x="5465826" y="2152770"/>
              <a:ext cx="1268730" cy="160735"/>
            </a:xfrm>
            <a:prstGeom prst="rect">
              <a:avLst/>
            </a:prstGeom>
            <a:noFill/>
            <a:ln/>
          </p:spPr>
          <p:txBody>
            <a:bodyPr wrap="square" lIns="0" tIns="0" rIns="0" bIns="0" rtlCol="0" anchor="ctr"/>
            <a:lstStyle/>
            <a:p>
              <a:r>
                <a:rPr lang="en-US" sz="900" dirty="0">
                  <a:solidFill>
                    <a:srgbClr val="1A1F36"/>
                  </a:solidFill>
                  <a:latin typeface="Calibri"/>
                </a:rPr>
                <a:t>LLaMA-2 70B</a:t>
              </a:r>
              <a:endParaRPr lang="en-US" sz="900" dirty="0"/>
            </a:p>
          </p:txBody>
        </p:sp>
        <p:sp>
          <p:nvSpPr>
            <p:cNvPr id="18" name="Shape 16"/>
            <p:cNvSpPr/>
            <p:nvPr/>
          </p:nvSpPr>
          <p:spPr>
            <a:xfrm>
              <a:off x="6768846" y="2180202"/>
              <a:ext cx="1508760" cy="105871"/>
            </a:xfrm>
            <a:prstGeom prst="rect">
              <a:avLst/>
            </a:prstGeom>
            <a:solidFill>
              <a:srgbClr val="EDF2F7"/>
            </a:solidFill>
            <a:ln w="12700">
              <a:solidFill>
                <a:srgbClr val="EDF2F7"/>
              </a:solidFill>
              <a:prstDash val="solid"/>
            </a:ln>
          </p:spPr>
          <p:txBody>
            <a:bodyPr/>
            <a:lstStyle/>
            <a:p>
              <a:endParaRPr/>
            </a:p>
          </p:txBody>
        </p:sp>
        <p:sp>
          <p:nvSpPr>
            <p:cNvPr id="19" name="Shape 17"/>
            <p:cNvSpPr/>
            <p:nvPr/>
          </p:nvSpPr>
          <p:spPr>
            <a:xfrm>
              <a:off x="6768846" y="2180202"/>
              <a:ext cx="1472430" cy="105871"/>
            </a:xfrm>
            <a:prstGeom prst="rect">
              <a:avLst/>
            </a:prstGeom>
            <a:solidFill>
              <a:srgbClr val="4A5568"/>
            </a:solidFill>
            <a:ln w="12700">
              <a:solidFill>
                <a:srgbClr val="4A5568"/>
              </a:solidFill>
              <a:prstDash val="solid"/>
            </a:ln>
          </p:spPr>
          <p:txBody>
            <a:bodyPr/>
            <a:lstStyle/>
            <a:p>
              <a:endParaRPr/>
            </a:p>
          </p:txBody>
        </p:sp>
        <p:sp>
          <p:nvSpPr>
            <p:cNvPr id="20" name="Text 18"/>
            <p:cNvSpPr/>
            <p:nvPr/>
          </p:nvSpPr>
          <p:spPr>
            <a:xfrm>
              <a:off x="8332470" y="2152770"/>
              <a:ext cx="377190" cy="160735"/>
            </a:xfrm>
            <a:prstGeom prst="rect">
              <a:avLst/>
            </a:prstGeom>
            <a:noFill/>
            <a:ln/>
          </p:spPr>
          <p:txBody>
            <a:bodyPr wrap="square" lIns="0" tIns="0" rIns="0" bIns="0" rtlCol="0" anchor="ctr"/>
            <a:lstStyle/>
            <a:p>
              <a:r>
                <a:rPr lang="en-US" sz="900" dirty="0">
                  <a:solidFill>
                    <a:srgbClr val="1A1F36"/>
                  </a:solidFill>
                  <a:latin typeface="Calibri"/>
                </a:rPr>
                <a:t>68.9</a:t>
              </a:r>
              <a:endParaRPr lang="en-US" sz="900" dirty="0"/>
            </a:p>
          </p:txBody>
        </p:sp>
        <p:sp>
          <p:nvSpPr>
            <p:cNvPr id="21" name="Text 19"/>
            <p:cNvSpPr/>
            <p:nvPr/>
          </p:nvSpPr>
          <p:spPr>
            <a:xfrm>
              <a:off x="5465826" y="2315647"/>
              <a:ext cx="1268730" cy="160735"/>
            </a:xfrm>
            <a:prstGeom prst="rect">
              <a:avLst/>
            </a:prstGeom>
            <a:noFill/>
            <a:ln/>
          </p:spPr>
          <p:txBody>
            <a:bodyPr wrap="square" lIns="0" tIns="0" rIns="0" bIns="0" rtlCol="0" anchor="ctr"/>
            <a:lstStyle/>
            <a:p>
              <a:r>
                <a:rPr lang="en-US" sz="900" dirty="0">
                  <a:solidFill>
                    <a:srgbClr val="1A1F36"/>
                  </a:solidFill>
                  <a:latin typeface="Calibri"/>
                </a:rPr>
                <a:t>GPT-3.5 (closed)</a:t>
              </a:r>
              <a:endParaRPr lang="en-US" sz="900" dirty="0"/>
            </a:p>
          </p:txBody>
        </p:sp>
        <p:sp>
          <p:nvSpPr>
            <p:cNvPr id="22" name="Shape 20"/>
            <p:cNvSpPr/>
            <p:nvPr/>
          </p:nvSpPr>
          <p:spPr>
            <a:xfrm>
              <a:off x="6768846" y="2343079"/>
              <a:ext cx="1508760" cy="105871"/>
            </a:xfrm>
            <a:prstGeom prst="rect">
              <a:avLst/>
            </a:prstGeom>
            <a:solidFill>
              <a:srgbClr val="EDF2F7"/>
            </a:solidFill>
            <a:ln w="12700">
              <a:solidFill>
                <a:srgbClr val="EDF2F7"/>
              </a:solidFill>
              <a:prstDash val="solid"/>
            </a:ln>
          </p:spPr>
          <p:txBody>
            <a:bodyPr/>
            <a:lstStyle/>
            <a:p>
              <a:endParaRPr/>
            </a:p>
          </p:txBody>
        </p:sp>
        <p:sp>
          <p:nvSpPr>
            <p:cNvPr id="23" name="Shape 21"/>
            <p:cNvSpPr/>
            <p:nvPr/>
          </p:nvSpPr>
          <p:spPr>
            <a:xfrm>
              <a:off x="6768846" y="2343079"/>
              <a:ext cx="1495938" cy="105871"/>
            </a:xfrm>
            <a:prstGeom prst="rect">
              <a:avLst/>
            </a:prstGeom>
            <a:solidFill>
              <a:srgbClr val="4A5568"/>
            </a:solidFill>
            <a:ln w="12700">
              <a:solidFill>
                <a:srgbClr val="4A5568"/>
              </a:solidFill>
              <a:prstDash val="solid"/>
            </a:ln>
          </p:spPr>
          <p:txBody>
            <a:bodyPr/>
            <a:lstStyle/>
            <a:p>
              <a:endParaRPr/>
            </a:p>
          </p:txBody>
        </p:sp>
        <p:sp>
          <p:nvSpPr>
            <p:cNvPr id="24" name="Text 22"/>
            <p:cNvSpPr/>
            <p:nvPr/>
          </p:nvSpPr>
          <p:spPr>
            <a:xfrm>
              <a:off x="8332470" y="2315647"/>
              <a:ext cx="377190" cy="160735"/>
            </a:xfrm>
            <a:prstGeom prst="rect">
              <a:avLst/>
            </a:prstGeom>
            <a:noFill/>
            <a:ln/>
          </p:spPr>
          <p:txBody>
            <a:bodyPr wrap="square" lIns="0" tIns="0" rIns="0" bIns="0" rtlCol="0" anchor="ctr"/>
            <a:lstStyle/>
            <a:p>
              <a:r>
                <a:rPr lang="en-US" sz="900" dirty="0">
                  <a:solidFill>
                    <a:srgbClr val="1A1F36"/>
                  </a:solidFill>
                  <a:latin typeface="Calibri"/>
                </a:rPr>
                <a:t>70.0</a:t>
              </a:r>
              <a:endParaRPr lang="en-US" sz="900" dirty="0"/>
            </a:p>
          </p:txBody>
        </p:sp>
        <p:sp>
          <p:nvSpPr>
            <p:cNvPr id="25" name="Text 23"/>
            <p:cNvSpPr/>
            <p:nvPr/>
          </p:nvSpPr>
          <p:spPr>
            <a:xfrm>
              <a:off x="5465826" y="2478525"/>
              <a:ext cx="1268730" cy="160735"/>
            </a:xfrm>
            <a:prstGeom prst="rect">
              <a:avLst/>
            </a:prstGeom>
            <a:noFill/>
            <a:ln/>
          </p:spPr>
          <p:txBody>
            <a:bodyPr wrap="square" lIns="0" tIns="0" rIns="0" bIns="0" rtlCol="0" anchor="ctr"/>
            <a:lstStyle/>
            <a:p>
              <a:r>
                <a:rPr lang="en-US" sz="900" dirty="0">
                  <a:solidFill>
                    <a:srgbClr val="1A1F36"/>
                  </a:solidFill>
                  <a:latin typeface="Calibri"/>
                </a:rPr>
                <a:t>Mixtral 8×7B</a:t>
              </a:r>
              <a:endParaRPr lang="en-US" sz="900" dirty="0"/>
            </a:p>
          </p:txBody>
        </p:sp>
        <p:sp>
          <p:nvSpPr>
            <p:cNvPr id="26" name="Shape 24"/>
            <p:cNvSpPr/>
            <p:nvPr/>
          </p:nvSpPr>
          <p:spPr>
            <a:xfrm>
              <a:off x="6768846" y="2505957"/>
              <a:ext cx="1508760" cy="105871"/>
            </a:xfrm>
            <a:prstGeom prst="rect">
              <a:avLst/>
            </a:prstGeom>
            <a:solidFill>
              <a:srgbClr val="EDF2F7"/>
            </a:solidFill>
            <a:ln w="12700">
              <a:solidFill>
                <a:srgbClr val="EDF2F7"/>
              </a:solidFill>
              <a:prstDash val="solid"/>
            </a:ln>
          </p:spPr>
          <p:txBody>
            <a:bodyPr/>
            <a:lstStyle/>
            <a:p>
              <a:endParaRPr/>
            </a:p>
          </p:txBody>
        </p:sp>
        <p:sp>
          <p:nvSpPr>
            <p:cNvPr id="27" name="Shape 25"/>
            <p:cNvSpPr/>
            <p:nvPr/>
          </p:nvSpPr>
          <p:spPr>
            <a:xfrm>
              <a:off x="6768846" y="2505957"/>
              <a:ext cx="1508760" cy="105871"/>
            </a:xfrm>
            <a:prstGeom prst="rect">
              <a:avLst/>
            </a:prstGeom>
            <a:solidFill>
              <a:srgbClr val="0F223E"/>
            </a:solidFill>
            <a:ln w="12700">
              <a:solidFill>
                <a:srgbClr val="0F223E"/>
              </a:solidFill>
              <a:prstDash val="solid"/>
            </a:ln>
          </p:spPr>
          <p:txBody>
            <a:bodyPr/>
            <a:lstStyle/>
            <a:p>
              <a:endParaRPr/>
            </a:p>
          </p:txBody>
        </p:sp>
        <p:sp>
          <p:nvSpPr>
            <p:cNvPr id="28" name="Text 26"/>
            <p:cNvSpPr/>
            <p:nvPr/>
          </p:nvSpPr>
          <p:spPr>
            <a:xfrm>
              <a:off x="8332470" y="2478525"/>
              <a:ext cx="377190" cy="160735"/>
            </a:xfrm>
            <a:prstGeom prst="rect">
              <a:avLst/>
            </a:prstGeom>
            <a:noFill/>
            <a:ln/>
          </p:spPr>
          <p:txBody>
            <a:bodyPr wrap="square" lIns="0" tIns="0" rIns="0" bIns="0" rtlCol="0" anchor="ctr"/>
            <a:lstStyle/>
            <a:p>
              <a:r>
                <a:rPr lang="en-US" sz="900" b="1" dirty="0">
                  <a:solidFill>
                    <a:srgbClr val="0F223E"/>
                  </a:solidFill>
                  <a:latin typeface="Calibri"/>
                </a:rPr>
                <a:t>70.6</a:t>
              </a:r>
              <a:endParaRPr lang="en-US" sz="900" dirty="0"/>
            </a:p>
          </p:txBody>
        </p:sp>
        <p:sp>
          <p:nvSpPr>
            <p:cNvPr id="29" name="Text 27"/>
            <p:cNvSpPr/>
            <p:nvPr/>
          </p:nvSpPr>
          <p:spPr>
            <a:xfrm>
              <a:off x="5465826" y="2654046"/>
              <a:ext cx="3223260" cy="150876"/>
            </a:xfrm>
            <a:prstGeom prst="rect">
              <a:avLst/>
            </a:prstGeom>
            <a:noFill/>
            <a:ln/>
          </p:spPr>
          <p:txBody>
            <a:bodyPr wrap="square" lIns="0" tIns="0" rIns="0" bIns="0" rtlCol="0" anchor="ctr"/>
            <a:lstStyle/>
            <a:p>
              <a:r>
                <a:rPr lang="en-US" sz="800" i="1" dirty="0">
                  <a:solidFill>
                    <a:srgbClr val="1A1F36"/>
                  </a:solidFill>
                  <a:latin typeface="Calibri"/>
                </a:rPr>
                <a:t>Jiang et al. (2024); Touvron et al. (2023). MMLU: 57-subject knowledge test.</a:t>
              </a:r>
              <a:endParaRPr lang="en-US" sz="800" dirty="0"/>
            </a:p>
          </p:txBody>
        </p:sp>
      </p:grpSp>
      <p:grpSp>
        <p:nvGrpSpPr>
          <p:cNvPr id="4" name="Group 3">
            <a:extLst>
              <a:ext uri="{FF2B5EF4-FFF2-40B4-BE49-F238E27FC236}">
                <a16:creationId xmlns:a16="http://schemas.microsoft.com/office/drawing/2014/main" id="{094AA330-70D1-986E-D934-F99AA7C04858}"/>
              </a:ext>
            </a:extLst>
          </p:cNvPr>
          <p:cNvGrpSpPr/>
          <p:nvPr/>
        </p:nvGrpSpPr>
        <p:grpSpPr>
          <a:xfrm>
            <a:off x="342900" y="2903717"/>
            <a:ext cx="2777490" cy="1405890"/>
            <a:chOff x="342900" y="2983230"/>
            <a:chExt cx="2777490" cy="1405890"/>
          </a:xfrm>
        </p:grpSpPr>
        <p:sp>
          <p:nvSpPr>
            <p:cNvPr id="30" name="Shape 28"/>
            <p:cNvSpPr/>
            <p:nvPr/>
          </p:nvSpPr>
          <p:spPr>
            <a:xfrm>
              <a:off x="342900" y="2983230"/>
              <a:ext cx="2777490" cy="1405890"/>
            </a:xfrm>
            <a:prstGeom prst="rect">
              <a:avLst/>
            </a:prstGeom>
            <a:solidFill>
              <a:srgbClr val="F7FAFC"/>
            </a:solidFill>
            <a:ln w="9525">
              <a:solidFill>
                <a:srgbClr val="E2E8F0"/>
              </a:solidFill>
              <a:prstDash val="solid"/>
            </a:ln>
          </p:spPr>
          <p:txBody>
            <a:bodyPr/>
            <a:lstStyle/>
            <a:p>
              <a:endParaRPr/>
            </a:p>
          </p:txBody>
        </p:sp>
        <p:sp>
          <p:nvSpPr>
            <p:cNvPr id="31" name="Shape 29"/>
            <p:cNvSpPr/>
            <p:nvPr/>
          </p:nvSpPr>
          <p:spPr>
            <a:xfrm>
              <a:off x="342900" y="2983230"/>
              <a:ext cx="41148" cy="1405890"/>
            </a:xfrm>
            <a:prstGeom prst="rect">
              <a:avLst/>
            </a:prstGeom>
            <a:solidFill>
              <a:srgbClr val="1A365D"/>
            </a:solidFill>
            <a:ln w="12700">
              <a:solidFill>
                <a:srgbClr val="1A365D"/>
              </a:solidFill>
              <a:prstDash val="solid"/>
            </a:ln>
          </p:spPr>
          <p:txBody>
            <a:bodyPr/>
            <a:lstStyle/>
            <a:p>
              <a:endParaRPr/>
            </a:p>
          </p:txBody>
        </p:sp>
        <p:sp>
          <p:nvSpPr>
            <p:cNvPr id="32" name="Text 30"/>
            <p:cNvSpPr/>
            <p:nvPr/>
          </p:nvSpPr>
          <p:spPr>
            <a:xfrm>
              <a:off x="514350" y="3086100"/>
              <a:ext cx="2503170" cy="274320"/>
            </a:xfrm>
            <a:prstGeom prst="rect">
              <a:avLst/>
            </a:prstGeom>
            <a:noFill/>
            <a:ln/>
          </p:spPr>
          <p:txBody>
            <a:bodyPr wrap="square" lIns="0" tIns="0" rIns="0" bIns="0" rtlCol="0" anchor="ctr"/>
            <a:lstStyle/>
            <a:p>
              <a:r>
                <a:rPr lang="en-US" sz="1200" b="1" dirty="0">
                  <a:solidFill>
                    <a:srgbClr val="0F223E"/>
                  </a:solidFill>
                  <a:latin typeface="Calibri"/>
                </a:rPr>
                <a:t>LLaMA / LLaMA 2 / LLaMA 3</a:t>
              </a:r>
              <a:endParaRPr lang="en-US" sz="1200" dirty="0"/>
            </a:p>
          </p:txBody>
        </p:sp>
        <p:sp>
          <p:nvSpPr>
            <p:cNvPr id="33" name="Text 31"/>
            <p:cNvSpPr/>
            <p:nvPr/>
          </p:nvSpPr>
          <p:spPr>
            <a:xfrm>
              <a:off x="514350" y="3360420"/>
              <a:ext cx="2503170" cy="925830"/>
            </a:xfrm>
            <a:prstGeom prst="rect">
              <a:avLst/>
            </a:prstGeom>
            <a:noFill/>
            <a:ln/>
          </p:spPr>
          <p:txBody>
            <a:bodyPr wrap="square" lIns="0" tIns="0" rIns="0" bIns="0" rtlCol="0" anchor="ctr"/>
            <a:lstStyle/>
            <a:p>
              <a:pPr marL="257175" indent="-257175">
                <a:spcAft>
                  <a:spcPts val="300"/>
                </a:spcAft>
                <a:buSzPct val="100000"/>
                <a:buChar char="•"/>
              </a:pPr>
              <a:r>
                <a:rPr lang="en-US" sz="1000" dirty="0">
                  <a:solidFill>
                    <a:srgbClr val="1A1F36"/>
                  </a:solidFill>
                  <a:latin typeface="Calibri"/>
                </a:rPr>
                <a:t>Meta, Feb 2023 → 2024</a:t>
              </a:r>
              <a:endParaRPr lang="en-US" sz="1000" dirty="0"/>
            </a:p>
            <a:p>
              <a:pPr marL="257175" indent="-257175">
                <a:spcAft>
                  <a:spcPts val="300"/>
                </a:spcAft>
                <a:buSzPct val="100000"/>
                <a:buChar char="•"/>
              </a:pPr>
              <a:r>
                <a:rPr lang="en-US" sz="1000" dirty="0">
                  <a:solidFill>
                    <a:srgbClr val="1A1F36"/>
                  </a:solidFill>
                  <a:latin typeface="Calibri"/>
                </a:rPr>
                <a:t>7B – 70B dense models</a:t>
              </a:r>
              <a:endParaRPr lang="en-US" sz="1000" dirty="0"/>
            </a:p>
            <a:p>
              <a:pPr marL="257175" indent="-257175">
                <a:spcAft>
                  <a:spcPts val="300"/>
                </a:spcAft>
                <a:buSzPct val="100000"/>
                <a:buChar char="•"/>
              </a:pPr>
              <a:r>
                <a:rPr lang="en-US" sz="1000" dirty="0">
                  <a:solidFill>
                    <a:srgbClr val="1A1F36"/>
                  </a:solidFill>
                  <a:latin typeface="Calibri"/>
                </a:rPr>
                <a:t>LLaMA 2: commercial license</a:t>
              </a:r>
              <a:endParaRPr lang="en-US" sz="1000" dirty="0"/>
            </a:p>
            <a:p>
              <a:pPr marL="257175" indent="-257175">
                <a:spcAft>
                  <a:spcPts val="300"/>
                </a:spcAft>
                <a:buSzPct val="100000"/>
                <a:buChar char="•"/>
              </a:pPr>
              <a:r>
                <a:rPr lang="en-US" sz="1000" dirty="0">
                  <a:solidFill>
                    <a:srgbClr val="1A1F36"/>
                  </a:solidFill>
                  <a:latin typeface="Calibri"/>
                </a:rPr>
                <a:t>Template for modern open models</a:t>
              </a:r>
              <a:endParaRPr lang="en-US" sz="1000" dirty="0"/>
            </a:p>
          </p:txBody>
        </p:sp>
      </p:grpSp>
      <p:grpSp>
        <p:nvGrpSpPr>
          <p:cNvPr id="6" name="Group 5">
            <a:extLst>
              <a:ext uri="{FF2B5EF4-FFF2-40B4-BE49-F238E27FC236}">
                <a16:creationId xmlns:a16="http://schemas.microsoft.com/office/drawing/2014/main" id="{8D9D9DFC-A849-2C9F-9620-437D482EE64B}"/>
              </a:ext>
            </a:extLst>
          </p:cNvPr>
          <p:cNvGrpSpPr/>
          <p:nvPr/>
        </p:nvGrpSpPr>
        <p:grpSpPr>
          <a:xfrm>
            <a:off x="3188970" y="2903719"/>
            <a:ext cx="2777490" cy="1405890"/>
            <a:chOff x="3188970" y="2983230"/>
            <a:chExt cx="2777490" cy="1405890"/>
          </a:xfrm>
        </p:grpSpPr>
        <p:sp>
          <p:nvSpPr>
            <p:cNvPr id="34" name="Shape 32"/>
            <p:cNvSpPr/>
            <p:nvPr/>
          </p:nvSpPr>
          <p:spPr>
            <a:xfrm>
              <a:off x="3188970" y="2983230"/>
              <a:ext cx="2777490" cy="1405890"/>
            </a:xfrm>
            <a:prstGeom prst="rect">
              <a:avLst/>
            </a:prstGeom>
            <a:solidFill>
              <a:srgbClr val="F7FAFC"/>
            </a:solidFill>
            <a:ln w="9525">
              <a:solidFill>
                <a:srgbClr val="E2E8F0"/>
              </a:solidFill>
              <a:prstDash val="solid"/>
            </a:ln>
          </p:spPr>
          <p:txBody>
            <a:bodyPr/>
            <a:lstStyle/>
            <a:p>
              <a:endParaRPr/>
            </a:p>
          </p:txBody>
        </p:sp>
        <p:sp>
          <p:nvSpPr>
            <p:cNvPr id="35" name="Shape 33"/>
            <p:cNvSpPr/>
            <p:nvPr/>
          </p:nvSpPr>
          <p:spPr>
            <a:xfrm>
              <a:off x="3188970" y="2983230"/>
              <a:ext cx="41148" cy="1405890"/>
            </a:xfrm>
            <a:prstGeom prst="rect">
              <a:avLst/>
            </a:prstGeom>
            <a:solidFill>
              <a:srgbClr val="1A365D"/>
            </a:solidFill>
            <a:ln w="12700">
              <a:solidFill>
                <a:srgbClr val="1A365D"/>
              </a:solidFill>
              <a:prstDash val="solid"/>
            </a:ln>
          </p:spPr>
          <p:txBody>
            <a:bodyPr/>
            <a:lstStyle/>
            <a:p>
              <a:endParaRPr/>
            </a:p>
          </p:txBody>
        </p:sp>
        <p:sp>
          <p:nvSpPr>
            <p:cNvPr id="36" name="Text 34"/>
            <p:cNvSpPr/>
            <p:nvPr/>
          </p:nvSpPr>
          <p:spPr>
            <a:xfrm>
              <a:off x="3360420" y="3086100"/>
              <a:ext cx="2503170" cy="274320"/>
            </a:xfrm>
            <a:prstGeom prst="rect">
              <a:avLst/>
            </a:prstGeom>
            <a:noFill/>
            <a:ln/>
          </p:spPr>
          <p:txBody>
            <a:bodyPr wrap="square" lIns="0" tIns="0" rIns="0" bIns="0" rtlCol="0" anchor="ctr"/>
            <a:lstStyle/>
            <a:p>
              <a:r>
                <a:rPr lang="en-US" b="1" dirty="0">
                  <a:solidFill>
                    <a:srgbClr val="0F223E"/>
                  </a:solidFill>
                  <a:latin typeface="Calibri"/>
                </a:rPr>
                <a:t>Mistral &amp; Mixtral</a:t>
              </a:r>
              <a:endParaRPr lang="en-US" dirty="0"/>
            </a:p>
          </p:txBody>
        </p:sp>
        <p:sp>
          <p:nvSpPr>
            <p:cNvPr id="37" name="Text 35"/>
            <p:cNvSpPr/>
            <p:nvPr/>
          </p:nvSpPr>
          <p:spPr>
            <a:xfrm>
              <a:off x="3360420" y="3360420"/>
              <a:ext cx="2503170" cy="925830"/>
            </a:xfrm>
            <a:prstGeom prst="rect">
              <a:avLst/>
            </a:prstGeom>
            <a:noFill/>
            <a:ln/>
          </p:spPr>
          <p:txBody>
            <a:bodyPr wrap="square" lIns="0" tIns="0" rIns="0" bIns="0" rtlCol="0" anchor="ctr"/>
            <a:lstStyle/>
            <a:p>
              <a:pPr marL="257175" indent="-257175">
                <a:spcAft>
                  <a:spcPts val="300"/>
                </a:spcAft>
                <a:buSzPct val="100000"/>
                <a:buChar char="•"/>
              </a:pPr>
              <a:r>
                <a:rPr lang="en-US" sz="1050" dirty="0">
                  <a:solidFill>
                    <a:srgbClr val="1A1F36"/>
                  </a:solidFill>
                  <a:latin typeface="Calibri"/>
                </a:rPr>
                <a:t>Mistral 7B (Sep 2023)</a:t>
              </a:r>
              <a:endParaRPr lang="en-US" sz="1050" dirty="0"/>
            </a:p>
            <a:p>
              <a:pPr marL="257175" indent="-257175">
                <a:spcAft>
                  <a:spcPts val="300"/>
                </a:spcAft>
                <a:buSzPct val="100000"/>
                <a:buChar char="•"/>
              </a:pPr>
              <a:r>
                <a:rPr lang="en-US" sz="1050" dirty="0">
                  <a:solidFill>
                    <a:srgbClr val="1A1F36"/>
                  </a:solidFill>
                  <a:latin typeface="Calibri"/>
                </a:rPr>
                <a:t>Mixtral-8x7B — open MoE (Dec 2023)</a:t>
              </a:r>
              <a:endParaRPr lang="en-US" sz="1050" dirty="0"/>
            </a:p>
            <a:p>
              <a:pPr marL="257175" indent="-257175">
                <a:spcAft>
                  <a:spcPts val="300"/>
                </a:spcAft>
                <a:buSzPct val="100000"/>
                <a:buChar char="•"/>
              </a:pPr>
              <a:r>
                <a:rPr lang="en-US" sz="1050" dirty="0">
                  <a:solidFill>
                    <a:srgbClr val="1A1F36"/>
                  </a:solidFill>
                  <a:latin typeface="Calibri"/>
                </a:rPr>
                <a:t>Strong quality-per-parameter</a:t>
              </a:r>
              <a:endParaRPr lang="en-US" sz="1050" dirty="0"/>
            </a:p>
            <a:p>
              <a:pPr marL="257175" indent="-257175">
                <a:spcAft>
                  <a:spcPts val="300"/>
                </a:spcAft>
                <a:buSzPct val="100000"/>
                <a:buChar char="•"/>
              </a:pPr>
              <a:r>
                <a:rPr lang="en-US" sz="1050" dirty="0">
                  <a:solidFill>
                    <a:srgbClr val="1A1F36"/>
                  </a:solidFill>
                  <a:latin typeface="Calibri"/>
                </a:rPr>
                <a:t>Apache-2.0 licensing</a:t>
              </a:r>
              <a:endParaRPr lang="en-US" sz="1050" dirty="0"/>
            </a:p>
          </p:txBody>
        </p:sp>
      </p:grpSp>
      <p:grpSp>
        <p:nvGrpSpPr>
          <p:cNvPr id="44" name="Group 43">
            <a:extLst>
              <a:ext uri="{FF2B5EF4-FFF2-40B4-BE49-F238E27FC236}">
                <a16:creationId xmlns:a16="http://schemas.microsoft.com/office/drawing/2014/main" id="{98D7D34E-BCF3-EC67-CC88-8B00A909B83A}"/>
              </a:ext>
            </a:extLst>
          </p:cNvPr>
          <p:cNvGrpSpPr/>
          <p:nvPr/>
        </p:nvGrpSpPr>
        <p:grpSpPr>
          <a:xfrm>
            <a:off x="6035040" y="2903718"/>
            <a:ext cx="2777490" cy="1405890"/>
            <a:chOff x="6035040" y="2983230"/>
            <a:chExt cx="2777490" cy="1405890"/>
          </a:xfrm>
        </p:grpSpPr>
        <p:sp>
          <p:nvSpPr>
            <p:cNvPr id="38" name="Shape 36"/>
            <p:cNvSpPr/>
            <p:nvPr/>
          </p:nvSpPr>
          <p:spPr>
            <a:xfrm>
              <a:off x="6035040" y="2983230"/>
              <a:ext cx="2777490" cy="1405890"/>
            </a:xfrm>
            <a:prstGeom prst="rect">
              <a:avLst/>
            </a:prstGeom>
            <a:solidFill>
              <a:srgbClr val="F7FAFC"/>
            </a:solidFill>
            <a:ln w="9525">
              <a:solidFill>
                <a:srgbClr val="E2E8F0"/>
              </a:solidFill>
              <a:prstDash val="solid"/>
            </a:ln>
          </p:spPr>
          <p:txBody>
            <a:bodyPr/>
            <a:lstStyle/>
            <a:p>
              <a:endParaRPr/>
            </a:p>
          </p:txBody>
        </p:sp>
        <p:sp>
          <p:nvSpPr>
            <p:cNvPr id="39" name="Shape 37"/>
            <p:cNvSpPr/>
            <p:nvPr/>
          </p:nvSpPr>
          <p:spPr>
            <a:xfrm>
              <a:off x="6035040" y="2983230"/>
              <a:ext cx="41148" cy="1405890"/>
            </a:xfrm>
            <a:prstGeom prst="rect">
              <a:avLst/>
            </a:prstGeom>
            <a:solidFill>
              <a:srgbClr val="1A365D"/>
            </a:solidFill>
            <a:ln w="12700">
              <a:solidFill>
                <a:srgbClr val="1A365D"/>
              </a:solidFill>
              <a:prstDash val="solid"/>
            </a:ln>
          </p:spPr>
          <p:txBody>
            <a:bodyPr/>
            <a:lstStyle/>
            <a:p>
              <a:endParaRPr/>
            </a:p>
          </p:txBody>
        </p:sp>
        <p:sp>
          <p:nvSpPr>
            <p:cNvPr id="40" name="Text 38"/>
            <p:cNvSpPr/>
            <p:nvPr/>
          </p:nvSpPr>
          <p:spPr>
            <a:xfrm>
              <a:off x="6206490" y="3086100"/>
              <a:ext cx="2503170" cy="274320"/>
            </a:xfrm>
            <a:prstGeom prst="rect">
              <a:avLst/>
            </a:prstGeom>
            <a:noFill/>
            <a:ln/>
          </p:spPr>
          <p:txBody>
            <a:bodyPr wrap="square" lIns="0" tIns="0" rIns="0" bIns="0" rtlCol="0" anchor="ctr"/>
            <a:lstStyle/>
            <a:p>
              <a:r>
                <a:rPr lang="en-US" b="1" dirty="0">
                  <a:solidFill>
                    <a:srgbClr val="0F223E"/>
                  </a:solidFill>
                  <a:latin typeface="Calibri"/>
                </a:rPr>
                <a:t>Falcon (TII, UAE)</a:t>
              </a:r>
              <a:endParaRPr lang="en-US" dirty="0"/>
            </a:p>
          </p:txBody>
        </p:sp>
        <p:sp>
          <p:nvSpPr>
            <p:cNvPr id="41" name="Text 39"/>
            <p:cNvSpPr/>
            <p:nvPr/>
          </p:nvSpPr>
          <p:spPr>
            <a:xfrm>
              <a:off x="6206490" y="3360420"/>
              <a:ext cx="2503170" cy="925830"/>
            </a:xfrm>
            <a:prstGeom prst="rect">
              <a:avLst/>
            </a:prstGeom>
            <a:noFill/>
            <a:ln/>
          </p:spPr>
          <p:txBody>
            <a:bodyPr wrap="square" lIns="0" tIns="0" rIns="0" bIns="0" rtlCol="0" anchor="ctr"/>
            <a:lstStyle/>
            <a:p>
              <a:pPr marL="257175" indent="-257175">
                <a:spcAft>
                  <a:spcPts val="300"/>
                </a:spcAft>
                <a:buSzPct val="100000"/>
                <a:buChar char="•"/>
              </a:pPr>
              <a:r>
                <a:rPr lang="en-US" sz="1050" dirty="0">
                  <a:solidFill>
                    <a:srgbClr val="1A1F36"/>
                  </a:solidFill>
                  <a:latin typeface="Calibri"/>
                </a:rPr>
                <a:t>Falcon-40B, Falcon-180B</a:t>
              </a:r>
              <a:endParaRPr lang="en-US" sz="1050" dirty="0"/>
            </a:p>
            <a:p>
              <a:pPr marL="257175" indent="-257175">
                <a:spcAft>
                  <a:spcPts val="300"/>
                </a:spcAft>
                <a:buSzPct val="100000"/>
                <a:buChar char="•"/>
              </a:pPr>
              <a:r>
                <a:rPr lang="en-US" sz="1050" dirty="0">
                  <a:solidFill>
                    <a:srgbClr val="1A1F36"/>
                  </a:solidFill>
                  <a:latin typeface="Calibri"/>
                </a:rPr>
                <a:t>Training data (RefinedWeb) released</a:t>
              </a:r>
              <a:endParaRPr lang="en-US" sz="1050" dirty="0"/>
            </a:p>
            <a:p>
              <a:pPr marL="257175" indent="-257175">
                <a:spcAft>
                  <a:spcPts val="300"/>
                </a:spcAft>
                <a:buSzPct val="100000"/>
                <a:buChar char="•"/>
              </a:pPr>
              <a:r>
                <a:rPr lang="en-US" sz="1050" dirty="0">
                  <a:solidFill>
                    <a:srgbClr val="1A1F36"/>
                  </a:solidFill>
                  <a:latin typeface="Calibri"/>
                </a:rPr>
                <a:t>Emphasis on transparency</a:t>
              </a:r>
              <a:endParaRPr lang="en-US" sz="1050" dirty="0"/>
            </a:p>
            <a:p>
              <a:pPr marL="257175" indent="-257175">
                <a:spcAft>
                  <a:spcPts val="300"/>
                </a:spcAft>
                <a:buSzPct val="100000"/>
                <a:buChar char="•"/>
              </a:pPr>
              <a:r>
                <a:rPr lang="en-US" sz="1050" dirty="0">
                  <a:solidFill>
                    <a:srgbClr val="1A1F36"/>
                  </a:solidFill>
                  <a:latin typeface="Calibri"/>
                </a:rPr>
                <a:t>Later joined by Qwen, DeepSeek, Yi</a:t>
              </a:r>
              <a:endParaRPr lang="en-US" sz="1050" dirty="0"/>
            </a:p>
          </p:txBody>
        </p:sp>
      </p:grpSp>
      <p:sp>
        <p:nvSpPr>
          <p:cNvPr id="42" name="Text 40"/>
          <p:cNvSpPr/>
          <p:nvPr/>
        </p:nvSpPr>
        <p:spPr>
          <a:xfrm>
            <a:off x="342900" y="4512564"/>
            <a:ext cx="8435340" cy="582930"/>
          </a:xfrm>
          <a:prstGeom prst="rect">
            <a:avLst/>
          </a:prstGeom>
          <a:noFill/>
          <a:ln/>
        </p:spPr>
        <p:txBody>
          <a:bodyPr wrap="square" lIns="0" tIns="0" rIns="0" bIns="0" rtlCol="0" anchor="t"/>
          <a:lstStyle/>
          <a:p>
            <a:pPr>
              <a:spcAft>
                <a:spcPts val="75"/>
              </a:spcAft>
            </a:pPr>
            <a:r>
              <a:rPr lang="en-US" sz="675" i="1" dirty="0">
                <a:solidFill>
                  <a:srgbClr val="1A1F36"/>
                </a:solidFill>
                <a:latin typeface="Calibri"/>
              </a:rPr>
              <a:t>Touvron et al. (2023). LLaMA: Open and Efficient Foundation Language Models. arXiv:2302.13971.   ·   Touvron et al. (2023). Llama 2. arXiv:2307.09288.</a:t>
            </a:r>
            <a:endParaRPr lang="en-US" sz="675" dirty="0"/>
          </a:p>
          <a:p>
            <a:pPr>
              <a:spcAft>
                <a:spcPts val="75"/>
              </a:spcAft>
            </a:pPr>
            <a:r>
              <a:rPr lang="en-US" sz="675" i="1" dirty="0">
                <a:solidFill>
                  <a:srgbClr val="1A1F36"/>
                </a:solidFill>
                <a:latin typeface="Calibri"/>
              </a:rPr>
              <a:t>Jiang et al. (2023). Mistral 7B. arXiv:2310.06825.   ·   Jiang et al. (2024). Mixtral of Experts. arXiv:2401.04088.   ·   Almazrouei et al. (2023). The Falcon Series of Open Language Models. arXiv:2311.16867.</a:t>
            </a:r>
            <a:endParaRPr lang="en-US" sz="675" dirty="0"/>
          </a:p>
        </p:txBody>
      </p:sp>
      <p:pic>
        <p:nvPicPr>
          <p:cNvPr id="43" name="Google Shape;109;p20">
            <a:extLst>
              <a:ext uri="{FF2B5EF4-FFF2-40B4-BE49-F238E27FC236}">
                <a16:creationId xmlns:a16="http://schemas.microsoft.com/office/drawing/2014/main" id="{739530CF-24D6-F955-0CDA-C2E1A792D732}"/>
              </a:ext>
            </a:extLst>
          </p:cNvPr>
          <p:cNvPicPr preferRelativeResize="0"/>
          <p:nvPr/>
        </p:nvPicPr>
        <p:blipFill>
          <a:blip r:embed="rId3">
            <a:alphaModFix/>
          </a:blip>
          <a:stretch>
            <a:fillRect/>
          </a:stretch>
        </p:blipFill>
        <p:spPr>
          <a:xfrm>
            <a:off x="8369125" y="0"/>
            <a:ext cx="774877" cy="867174"/>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DEEB8F-DE0A-47BE-4A06-9067D128763B}"/>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F8FC481C-AA15-5E9E-B956-EA1896ECA7C0}"/>
              </a:ext>
            </a:extLst>
          </p:cNvPr>
          <p:cNvSpPr/>
          <p:nvPr/>
        </p:nvSpPr>
        <p:spPr>
          <a:xfrm>
            <a:off x="0" y="0"/>
            <a:ext cx="123444" cy="5143500"/>
          </a:xfrm>
          <a:prstGeom prst="rect">
            <a:avLst/>
          </a:prstGeom>
          <a:solidFill>
            <a:srgbClr val="1A365D"/>
          </a:solidFill>
          <a:ln w="12700">
            <a:solidFill>
              <a:srgbClr val="1A365D"/>
            </a:solidFill>
            <a:prstDash val="solid"/>
          </a:ln>
        </p:spPr>
        <p:txBody>
          <a:bodyPr/>
          <a:lstStyle/>
          <a:p>
            <a:endParaRPr/>
          </a:p>
        </p:txBody>
      </p:sp>
      <p:sp>
        <p:nvSpPr>
          <p:cNvPr id="5" name="Shape 3">
            <a:extLst>
              <a:ext uri="{FF2B5EF4-FFF2-40B4-BE49-F238E27FC236}">
                <a16:creationId xmlns:a16="http://schemas.microsoft.com/office/drawing/2014/main" id="{6BDC8E84-6056-CEA4-3267-4E9730A6E9AC}"/>
              </a:ext>
            </a:extLst>
          </p:cNvPr>
          <p:cNvSpPr/>
          <p:nvPr/>
        </p:nvSpPr>
        <p:spPr>
          <a:xfrm>
            <a:off x="342900" y="4457700"/>
            <a:ext cx="8435340" cy="0"/>
          </a:xfrm>
          <a:prstGeom prst="line">
            <a:avLst/>
          </a:prstGeom>
          <a:noFill/>
          <a:ln w="9525">
            <a:solidFill>
              <a:srgbClr val="CBD5E0"/>
            </a:solidFill>
            <a:prstDash val="solid"/>
          </a:ln>
        </p:spPr>
        <p:txBody>
          <a:bodyPr/>
          <a:lstStyle/>
          <a:p>
            <a:endParaRPr/>
          </a:p>
        </p:txBody>
      </p:sp>
      <p:sp>
        <p:nvSpPr>
          <p:cNvPr id="7" name="Text 5">
            <a:extLst>
              <a:ext uri="{FF2B5EF4-FFF2-40B4-BE49-F238E27FC236}">
                <a16:creationId xmlns:a16="http://schemas.microsoft.com/office/drawing/2014/main" id="{7D238E8E-9E0A-F9B6-A9E4-6CFD4ADC89EC}"/>
              </a:ext>
            </a:extLst>
          </p:cNvPr>
          <p:cNvSpPr/>
          <p:nvPr/>
        </p:nvSpPr>
        <p:spPr>
          <a:xfrm>
            <a:off x="342900" y="428376"/>
            <a:ext cx="8435340" cy="617220"/>
          </a:xfrm>
          <a:prstGeom prst="rect">
            <a:avLst/>
          </a:prstGeom>
          <a:noFill/>
          <a:ln/>
        </p:spPr>
        <p:txBody>
          <a:bodyPr wrap="square" lIns="0" tIns="0" rIns="0" bIns="0" rtlCol="0" anchor="ctr"/>
          <a:lstStyle/>
          <a:p>
            <a:r>
              <a:rPr lang="en-US" sz="2250" b="1" dirty="0">
                <a:solidFill>
                  <a:srgbClr val="1E2761"/>
                </a:solidFill>
                <a:latin typeface="Georgia"/>
              </a:rPr>
              <a:t>Massive Multitask Language </a:t>
            </a:r>
            <a:r>
              <a:rPr lang="en-US" sz="2250" b="1" dirty="0" err="1">
                <a:solidFill>
                  <a:srgbClr val="1E2761"/>
                </a:solidFill>
                <a:latin typeface="Georgia"/>
              </a:rPr>
              <a:t>Uunderstanding</a:t>
            </a:r>
            <a:r>
              <a:rPr lang="en-US" sz="2250" b="1" dirty="0">
                <a:solidFill>
                  <a:srgbClr val="1E2761"/>
                </a:solidFill>
                <a:latin typeface="Georgia"/>
              </a:rPr>
              <a:t> </a:t>
            </a:r>
            <a:endParaRPr lang="en-US" sz="2250" dirty="0"/>
          </a:p>
        </p:txBody>
      </p:sp>
      <p:sp>
        <p:nvSpPr>
          <p:cNvPr id="8" name="Text 6">
            <a:extLst>
              <a:ext uri="{FF2B5EF4-FFF2-40B4-BE49-F238E27FC236}">
                <a16:creationId xmlns:a16="http://schemas.microsoft.com/office/drawing/2014/main" id="{2E4AD1C7-67FA-44BD-8015-95D19068C518}"/>
              </a:ext>
            </a:extLst>
          </p:cNvPr>
          <p:cNvSpPr/>
          <p:nvPr/>
        </p:nvSpPr>
        <p:spPr>
          <a:xfrm>
            <a:off x="342900" y="1142999"/>
            <a:ext cx="4869180" cy="1337310"/>
          </a:xfrm>
          <a:prstGeom prst="rect">
            <a:avLst/>
          </a:prstGeom>
          <a:noFill/>
          <a:ln/>
        </p:spPr>
        <p:txBody>
          <a:bodyPr wrap="square" lIns="0" tIns="0" rIns="0" bIns="0" rtlCol="0" anchor="ctr"/>
          <a:lstStyle/>
          <a:p>
            <a:pPr>
              <a:spcAft>
                <a:spcPts val="300"/>
              </a:spcAft>
            </a:pPr>
            <a:endParaRPr lang="en-US" sz="1100" dirty="0"/>
          </a:p>
        </p:txBody>
      </p:sp>
      <p:sp>
        <p:nvSpPr>
          <p:cNvPr id="42" name="Text 40">
            <a:extLst>
              <a:ext uri="{FF2B5EF4-FFF2-40B4-BE49-F238E27FC236}">
                <a16:creationId xmlns:a16="http://schemas.microsoft.com/office/drawing/2014/main" id="{47F0DDA6-3A3B-F304-A199-28A332F41558}"/>
              </a:ext>
            </a:extLst>
          </p:cNvPr>
          <p:cNvSpPr/>
          <p:nvPr/>
        </p:nvSpPr>
        <p:spPr>
          <a:xfrm>
            <a:off x="342900" y="4512564"/>
            <a:ext cx="8435340" cy="582930"/>
          </a:xfrm>
          <a:prstGeom prst="rect">
            <a:avLst/>
          </a:prstGeom>
          <a:noFill/>
          <a:ln/>
        </p:spPr>
        <p:txBody>
          <a:bodyPr wrap="square" lIns="0" tIns="0" rIns="0" bIns="0" rtlCol="0" anchor="t"/>
          <a:lstStyle/>
          <a:p>
            <a:pPr>
              <a:spcAft>
                <a:spcPts val="75"/>
              </a:spcAft>
            </a:pPr>
            <a:r>
              <a:rPr lang="en-US" sz="675" i="1" dirty="0">
                <a:solidFill>
                  <a:srgbClr val="1A1F36"/>
                </a:solidFill>
                <a:latin typeface="Calibri"/>
              </a:rPr>
              <a:t>Touvron et al. (2023). LLaMA: Open and Efficient Foundation Language Models. arXiv:2302.13971.   ·   Touvron et al. (2023). Llama 2. arXiv:2307.09288.</a:t>
            </a:r>
            <a:endParaRPr lang="en-US" sz="675" dirty="0"/>
          </a:p>
          <a:p>
            <a:pPr>
              <a:spcAft>
                <a:spcPts val="75"/>
              </a:spcAft>
            </a:pPr>
            <a:r>
              <a:rPr lang="en-US" sz="675" i="1" dirty="0">
                <a:solidFill>
                  <a:srgbClr val="1A1F36"/>
                </a:solidFill>
                <a:latin typeface="Calibri"/>
              </a:rPr>
              <a:t>Jiang et al. (2023). Mistral 7B. arXiv:2310.06825.   ·   Jiang et al. (2024). Mixtral of Experts. arXiv:2401.04088.   ·   Almazrouei et al. (2023). The Falcon Series of Open Language Models. arXiv:2311.16867.</a:t>
            </a:r>
            <a:endParaRPr lang="en-US" sz="675" dirty="0"/>
          </a:p>
        </p:txBody>
      </p:sp>
      <p:pic>
        <p:nvPicPr>
          <p:cNvPr id="43" name="Google Shape;109;p20">
            <a:extLst>
              <a:ext uri="{FF2B5EF4-FFF2-40B4-BE49-F238E27FC236}">
                <a16:creationId xmlns:a16="http://schemas.microsoft.com/office/drawing/2014/main" id="{2B954408-69C9-B1A9-87AA-037B02CA4E0F}"/>
              </a:ext>
            </a:extLst>
          </p:cNvPr>
          <p:cNvPicPr preferRelativeResize="0"/>
          <p:nvPr/>
        </p:nvPicPr>
        <p:blipFill>
          <a:blip r:embed="rId3">
            <a:alphaModFix/>
          </a:blip>
          <a:stretch>
            <a:fillRect/>
          </a:stretch>
        </p:blipFill>
        <p:spPr>
          <a:xfrm>
            <a:off x="8369125" y="0"/>
            <a:ext cx="774877" cy="867174"/>
          </a:xfrm>
          <a:prstGeom prst="rect">
            <a:avLst/>
          </a:prstGeom>
          <a:noFill/>
          <a:ln>
            <a:noFill/>
          </a:ln>
        </p:spPr>
      </p:pic>
      <p:sp>
        <p:nvSpPr>
          <p:cNvPr id="47" name="TextBox 46">
            <a:extLst>
              <a:ext uri="{FF2B5EF4-FFF2-40B4-BE49-F238E27FC236}">
                <a16:creationId xmlns:a16="http://schemas.microsoft.com/office/drawing/2014/main" id="{C4FC8204-B989-D662-9C72-C027FBA8E995}"/>
              </a:ext>
            </a:extLst>
          </p:cNvPr>
          <p:cNvSpPr txBox="1"/>
          <p:nvPr/>
        </p:nvSpPr>
        <p:spPr>
          <a:xfrm>
            <a:off x="397188" y="1222235"/>
            <a:ext cx="3768918" cy="2893100"/>
          </a:xfrm>
          <a:prstGeom prst="rect">
            <a:avLst/>
          </a:prstGeom>
          <a:noFill/>
        </p:spPr>
        <p:txBody>
          <a:bodyPr wrap="square" rtlCol="0">
            <a:spAutoFit/>
          </a:bodyPr>
          <a:lstStyle/>
          <a:p>
            <a:r>
              <a:rPr lang="en-US" b="1" dirty="0"/>
              <a:t>Key Aspects of the MMLU Benchmark:</a:t>
            </a:r>
          </a:p>
          <a:p>
            <a:endParaRPr lang="en-US" dirty="0"/>
          </a:p>
          <a:p>
            <a:r>
              <a:rPr lang="en-US" b="1" dirty="0"/>
              <a:t>Scope</a:t>
            </a:r>
            <a:r>
              <a:rPr lang="en-US" dirty="0"/>
              <a:t>: Covers </a:t>
            </a:r>
            <a:r>
              <a:rPr lang="en-US" dirty="0">
                <a:solidFill>
                  <a:srgbClr val="0070C0"/>
                </a:solidFill>
              </a:rPr>
              <a:t>57 diverse subjects,</a:t>
            </a:r>
            <a:r>
              <a:rPr lang="en-US" dirty="0"/>
              <a:t> including STEM, humanities, and social sciences, testing both knowledge and problem-solving skills.</a:t>
            </a:r>
          </a:p>
          <a:p>
            <a:endParaRPr lang="en-US" dirty="0"/>
          </a:p>
          <a:p>
            <a:r>
              <a:rPr lang="en-US" b="1" dirty="0"/>
              <a:t>Format</a:t>
            </a:r>
            <a:r>
              <a:rPr lang="en-US" dirty="0"/>
              <a:t>: </a:t>
            </a:r>
            <a:r>
              <a:rPr lang="en-US" dirty="0">
                <a:solidFill>
                  <a:srgbClr val="0070C0"/>
                </a:solidFill>
              </a:rPr>
              <a:t>Multiple-choice questions</a:t>
            </a:r>
            <a:r>
              <a:rPr lang="en-US" dirty="0"/>
              <a:t> (usually 4 options), testing both knowledge base and reasoning ability.</a:t>
            </a:r>
          </a:p>
          <a:p>
            <a:endParaRPr lang="en-US" dirty="0"/>
          </a:p>
          <a:p>
            <a:r>
              <a:rPr lang="en-US" b="1" dirty="0"/>
              <a:t>Purpose</a:t>
            </a:r>
            <a:r>
              <a:rPr lang="en-US" dirty="0"/>
              <a:t>: It is used as a standard measure of </a:t>
            </a:r>
            <a:r>
              <a:rPr lang="en-US" dirty="0">
                <a:solidFill>
                  <a:srgbClr val="0070C0"/>
                </a:solidFill>
              </a:rPr>
              <a:t>general knowledge</a:t>
            </a:r>
            <a:r>
              <a:rPr lang="en-US" dirty="0"/>
              <a:t> in AI model reports.</a:t>
            </a:r>
          </a:p>
        </p:txBody>
      </p:sp>
      <p:pic>
        <p:nvPicPr>
          <p:cNvPr id="1027" name="Picture 3" descr="Qwen3 MMLU-Pro Computer Science LLM Benchmark Results : r/LocalLLaMA">
            <a:extLst>
              <a:ext uri="{FF2B5EF4-FFF2-40B4-BE49-F238E27FC236}">
                <a16:creationId xmlns:a16="http://schemas.microsoft.com/office/drawing/2014/main" id="{0C7C5DF0-2A01-5A09-69CE-32FDC2F2F1AD}"/>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r="42400"/>
          <a:stretch>
            <a:fillRect/>
          </a:stretch>
        </p:blipFill>
        <p:spPr bwMode="auto">
          <a:xfrm>
            <a:off x="4166106" y="1078518"/>
            <a:ext cx="4389497" cy="32227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0461796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3444" cy="5143500"/>
          </a:xfrm>
          <a:prstGeom prst="rect">
            <a:avLst/>
          </a:prstGeom>
          <a:solidFill>
            <a:srgbClr val="1A365D"/>
          </a:solidFill>
          <a:ln w="12700">
            <a:solidFill>
              <a:srgbClr val="1A365D"/>
            </a:solidFill>
            <a:prstDash val="solid"/>
          </a:ln>
        </p:spPr>
        <p:txBody>
          <a:bodyPr/>
          <a:lstStyle/>
          <a:p>
            <a:endParaRPr/>
          </a:p>
        </p:txBody>
      </p:sp>
      <p:sp>
        <p:nvSpPr>
          <p:cNvPr id="5" name="Shape 3"/>
          <p:cNvSpPr/>
          <p:nvPr/>
        </p:nvSpPr>
        <p:spPr>
          <a:xfrm>
            <a:off x="342900" y="4457700"/>
            <a:ext cx="8435340" cy="0"/>
          </a:xfrm>
          <a:prstGeom prst="line">
            <a:avLst/>
          </a:prstGeom>
          <a:noFill/>
          <a:ln w="9525">
            <a:solidFill>
              <a:srgbClr val="CBD5E0"/>
            </a:solidFill>
            <a:prstDash val="solid"/>
          </a:ln>
        </p:spPr>
        <p:txBody>
          <a:bodyPr/>
          <a:lstStyle/>
          <a:p>
            <a:endParaRPr/>
          </a:p>
        </p:txBody>
      </p:sp>
      <p:sp>
        <p:nvSpPr>
          <p:cNvPr id="7" name="Text 5"/>
          <p:cNvSpPr/>
          <p:nvPr/>
        </p:nvSpPr>
        <p:spPr>
          <a:xfrm>
            <a:off x="255435" y="285252"/>
            <a:ext cx="8435340" cy="617220"/>
          </a:xfrm>
          <a:prstGeom prst="rect">
            <a:avLst/>
          </a:prstGeom>
          <a:noFill/>
          <a:ln/>
        </p:spPr>
        <p:txBody>
          <a:bodyPr wrap="square" lIns="0" tIns="0" rIns="0" bIns="0" rtlCol="0" anchor="ctr"/>
          <a:lstStyle/>
          <a:p>
            <a:r>
              <a:rPr lang="en-US" sz="2250" b="1" dirty="0">
                <a:solidFill>
                  <a:srgbClr val="1E2761"/>
                </a:solidFill>
                <a:latin typeface="Georgia"/>
              </a:rPr>
              <a:t>The Multimodal and Reasoning Era</a:t>
            </a:r>
            <a:endParaRPr lang="en-US" sz="2250" dirty="0"/>
          </a:p>
        </p:txBody>
      </p:sp>
      <p:sp>
        <p:nvSpPr>
          <p:cNvPr id="8" name="Text 6"/>
          <p:cNvSpPr/>
          <p:nvPr/>
        </p:nvSpPr>
        <p:spPr>
          <a:xfrm>
            <a:off x="342900" y="888557"/>
            <a:ext cx="8435340" cy="1371600"/>
          </a:xfrm>
          <a:prstGeom prst="rect">
            <a:avLst/>
          </a:prstGeom>
          <a:noFill/>
          <a:ln/>
        </p:spPr>
        <p:txBody>
          <a:bodyPr wrap="square" lIns="0" tIns="0" rIns="0" bIns="0" rtlCol="0" anchor="ctr"/>
          <a:lstStyle/>
          <a:p>
            <a:pPr>
              <a:spcAft>
                <a:spcPts val="300"/>
              </a:spcAft>
            </a:pPr>
            <a:r>
              <a:rPr lang="en-US" sz="1100" dirty="0">
                <a:solidFill>
                  <a:srgbClr val="1A1F36"/>
                </a:solidFill>
                <a:latin typeface="Calibri"/>
              </a:rPr>
              <a:t>The frontier bifurcated along two axes. On the input side, models became natively multimodal: </a:t>
            </a:r>
            <a:r>
              <a:rPr lang="en-US" sz="1100" dirty="0">
                <a:solidFill>
                  <a:srgbClr val="0070C0"/>
                </a:solidFill>
                <a:latin typeface="Calibri"/>
              </a:rPr>
              <a:t>GPT-4 (2023) </a:t>
            </a:r>
            <a:r>
              <a:rPr lang="en-US" sz="1100" dirty="0">
                <a:solidFill>
                  <a:srgbClr val="1A1F36"/>
                </a:solidFill>
                <a:latin typeface="Calibri"/>
              </a:rPr>
              <a:t>accepted images; </a:t>
            </a:r>
            <a:r>
              <a:rPr lang="en-US" sz="1100" dirty="0">
                <a:solidFill>
                  <a:srgbClr val="0070C0"/>
                </a:solidFill>
                <a:latin typeface="Calibri"/>
              </a:rPr>
              <a:t>Gemini (2023) </a:t>
            </a:r>
            <a:r>
              <a:rPr lang="en-US" sz="1100" dirty="0">
                <a:solidFill>
                  <a:srgbClr val="1A1F36"/>
                </a:solidFill>
                <a:latin typeface="Calibri"/>
              </a:rPr>
              <a:t>was trained on text, images, audio, and video end-to-end; Claude 3 and 4 offered long-context vision-language reasoning. </a:t>
            </a:r>
          </a:p>
          <a:p>
            <a:pPr>
              <a:spcAft>
                <a:spcPts val="300"/>
              </a:spcAft>
            </a:pPr>
            <a:endParaRPr lang="en-US" sz="1100" dirty="0">
              <a:solidFill>
                <a:srgbClr val="2D3748"/>
              </a:solidFill>
              <a:latin typeface="Calibri" pitchFamily="34" charset="0"/>
              <a:ea typeface="Calibri" pitchFamily="34" charset="-122"/>
              <a:cs typeface="Calibri" pitchFamily="34" charset="-120"/>
            </a:endParaRPr>
          </a:p>
          <a:p>
            <a:pPr>
              <a:spcAft>
                <a:spcPts val="300"/>
              </a:spcAft>
            </a:pPr>
            <a:r>
              <a:rPr lang="en-US" sz="1100" dirty="0">
                <a:solidFill>
                  <a:srgbClr val="1A1F36"/>
                </a:solidFill>
                <a:latin typeface="Calibri"/>
              </a:rPr>
              <a:t>On the reasoning side, a new generation of systems — OpenAI's o1/o3, DeepSeek-R1, and similar — spent significant inference-time compute on chain-of-thought search, optimized via reinforcement learning on verifiable outcomes. For the first time, models routinely solved competition-level mathematics and programming problems.</a:t>
            </a:r>
            <a:endParaRPr lang="en-US" sz="1100" dirty="0"/>
          </a:p>
        </p:txBody>
      </p:sp>
      <p:sp>
        <p:nvSpPr>
          <p:cNvPr id="9" name="Shape 7"/>
          <p:cNvSpPr/>
          <p:nvPr/>
        </p:nvSpPr>
        <p:spPr>
          <a:xfrm>
            <a:off x="342900" y="2657226"/>
            <a:ext cx="4217670" cy="1405890"/>
          </a:xfrm>
          <a:prstGeom prst="rect">
            <a:avLst/>
          </a:prstGeom>
          <a:solidFill>
            <a:srgbClr val="F7FAFC"/>
          </a:solidFill>
          <a:ln w="9525">
            <a:solidFill>
              <a:srgbClr val="E2E8F0"/>
            </a:solidFill>
            <a:prstDash val="solid"/>
          </a:ln>
        </p:spPr>
        <p:txBody>
          <a:bodyPr/>
          <a:lstStyle/>
          <a:p>
            <a:endParaRPr/>
          </a:p>
        </p:txBody>
      </p:sp>
      <p:sp>
        <p:nvSpPr>
          <p:cNvPr id="10" name="Shape 8"/>
          <p:cNvSpPr/>
          <p:nvPr/>
        </p:nvSpPr>
        <p:spPr>
          <a:xfrm>
            <a:off x="342900" y="2657226"/>
            <a:ext cx="41148" cy="1405890"/>
          </a:xfrm>
          <a:prstGeom prst="rect">
            <a:avLst/>
          </a:prstGeom>
          <a:solidFill>
            <a:srgbClr val="1A365D"/>
          </a:solidFill>
          <a:ln w="12700">
            <a:solidFill>
              <a:srgbClr val="1A365D"/>
            </a:solidFill>
            <a:prstDash val="solid"/>
          </a:ln>
        </p:spPr>
        <p:txBody>
          <a:bodyPr/>
          <a:lstStyle/>
          <a:p>
            <a:endParaRPr/>
          </a:p>
        </p:txBody>
      </p:sp>
      <p:sp>
        <p:nvSpPr>
          <p:cNvPr id="11" name="Text 9"/>
          <p:cNvSpPr/>
          <p:nvPr/>
        </p:nvSpPr>
        <p:spPr>
          <a:xfrm>
            <a:off x="514350" y="2760096"/>
            <a:ext cx="3943350" cy="274320"/>
          </a:xfrm>
          <a:prstGeom prst="rect">
            <a:avLst/>
          </a:prstGeom>
          <a:noFill/>
          <a:ln/>
        </p:spPr>
        <p:txBody>
          <a:bodyPr wrap="square" lIns="0" tIns="0" rIns="0" bIns="0" rtlCol="0" anchor="ctr"/>
          <a:lstStyle/>
          <a:p>
            <a:r>
              <a:rPr lang="en-US" sz="1600" b="1" dirty="0">
                <a:solidFill>
                  <a:srgbClr val="0F223E"/>
                </a:solidFill>
                <a:latin typeface="Calibri"/>
              </a:rPr>
              <a:t>Natively multimodal frontier</a:t>
            </a:r>
            <a:endParaRPr lang="en-US" sz="1600" dirty="0"/>
          </a:p>
        </p:txBody>
      </p:sp>
      <p:sp>
        <p:nvSpPr>
          <p:cNvPr id="12" name="Text 10"/>
          <p:cNvSpPr/>
          <p:nvPr/>
        </p:nvSpPr>
        <p:spPr>
          <a:xfrm>
            <a:off x="514350" y="3034416"/>
            <a:ext cx="3943350" cy="925830"/>
          </a:xfrm>
          <a:prstGeom prst="rect">
            <a:avLst/>
          </a:prstGeom>
          <a:noFill/>
          <a:ln/>
        </p:spPr>
        <p:txBody>
          <a:bodyPr wrap="square" lIns="0" tIns="0" rIns="0" bIns="0" rtlCol="0" anchor="ctr"/>
          <a:lstStyle/>
          <a:p>
            <a:pPr marL="257175" indent="-257175">
              <a:spcAft>
                <a:spcPts val="300"/>
              </a:spcAft>
              <a:buSzPct val="100000"/>
              <a:buChar char="•"/>
            </a:pPr>
            <a:r>
              <a:rPr lang="en-US" sz="1100" dirty="0">
                <a:solidFill>
                  <a:srgbClr val="1A1F36"/>
                </a:solidFill>
                <a:latin typeface="Calibri"/>
              </a:rPr>
              <a:t>GPT-4 / GPT-4V (OpenAI, Mar 2023)</a:t>
            </a:r>
            <a:endParaRPr lang="en-US" sz="1100" dirty="0"/>
          </a:p>
          <a:p>
            <a:pPr marL="257175" indent="-257175">
              <a:spcAft>
                <a:spcPts val="300"/>
              </a:spcAft>
              <a:buSzPct val="100000"/>
              <a:buChar char="•"/>
            </a:pPr>
            <a:r>
              <a:rPr lang="en-US" sz="1100" dirty="0">
                <a:solidFill>
                  <a:srgbClr val="1A1F36"/>
                </a:solidFill>
                <a:latin typeface="Calibri"/>
              </a:rPr>
              <a:t>Gemini 1.0 / 1.5 / 2 (Google DeepMind)</a:t>
            </a:r>
            <a:endParaRPr lang="en-US" sz="1100" dirty="0"/>
          </a:p>
          <a:p>
            <a:pPr marL="257175" indent="-257175">
              <a:spcAft>
                <a:spcPts val="300"/>
              </a:spcAft>
              <a:buSzPct val="100000"/>
              <a:buChar char="•"/>
            </a:pPr>
            <a:r>
              <a:rPr lang="en-US" sz="1100" dirty="0">
                <a:solidFill>
                  <a:srgbClr val="1A1F36"/>
                </a:solidFill>
                <a:latin typeface="Calibri"/>
              </a:rPr>
              <a:t>Claude 3 &amp; 4 (Anthropic) · long context, vision</a:t>
            </a:r>
            <a:endParaRPr lang="en-US" sz="1100" dirty="0"/>
          </a:p>
          <a:p>
            <a:pPr marL="257175" indent="-257175">
              <a:spcAft>
                <a:spcPts val="300"/>
              </a:spcAft>
              <a:buSzPct val="100000"/>
              <a:buChar char="•"/>
            </a:pPr>
            <a:r>
              <a:rPr lang="en-US" sz="1100" dirty="0">
                <a:solidFill>
                  <a:srgbClr val="1A1F36"/>
                </a:solidFill>
                <a:latin typeface="Calibri"/>
              </a:rPr>
              <a:t>Unified tokenizers over text, image, audio</a:t>
            </a:r>
            <a:endParaRPr lang="en-US" sz="1100" dirty="0"/>
          </a:p>
        </p:txBody>
      </p:sp>
      <p:sp>
        <p:nvSpPr>
          <p:cNvPr id="13" name="Shape 11"/>
          <p:cNvSpPr/>
          <p:nvPr/>
        </p:nvSpPr>
        <p:spPr>
          <a:xfrm>
            <a:off x="4629150" y="2657226"/>
            <a:ext cx="4217670" cy="1405890"/>
          </a:xfrm>
          <a:prstGeom prst="rect">
            <a:avLst/>
          </a:prstGeom>
          <a:solidFill>
            <a:srgbClr val="F7FAFC"/>
          </a:solidFill>
          <a:ln w="9525">
            <a:solidFill>
              <a:srgbClr val="E2E8F0"/>
            </a:solidFill>
            <a:prstDash val="solid"/>
          </a:ln>
        </p:spPr>
        <p:txBody>
          <a:bodyPr/>
          <a:lstStyle/>
          <a:p>
            <a:endParaRPr/>
          </a:p>
        </p:txBody>
      </p:sp>
      <p:sp>
        <p:nvSpPr>
          <p:cNvPr id="14" name="Shape 12"/>
          <p:cNvSpPr/>
          <p:nvPr/>
        </p:nvSpPr>
        <p:spPr>
          <a:xfrm>
            <a:off x="4629150" y="2657226"/>
            <a:ext cx="41148" cy="1405890"/>
          </a:xfrm>
          <a:prstGeom prst="rect">
            <a:avLst/>
          </a:prstGeom>
          <a:solidFill>
            <a:srgbClr val="1A365D"/>
          </a:solidFill>
          <a:ln w="12700">
            <a:solidFill>
              <a:srgbClr val="1A365D"/>
            </a:solidFill>
            <a:prstDash val="solid"/>
          </a:ln>
        </p:spPr>
        <p:txBody>
          <a:bodyPr/>
          <a:lstStyle/>
          <a:p>
            <a:endParaRPr/>
          </a:p>
        </p:txBody>
      </p:sp>
      <p:sp>
        <p:nvSpPr>
          <p:cNvPr id="15" name="Text 13"/>
          <p:cNvSpPr/>
          <p:nvPr/>
        </p:nvSpPr>
        <p:spPr>
          <a:xfrm>
            <a:off x="4800600" y="2760096"/>
            <a:ext cx="3943350" cy="274320"/>
          </a:xfrm>
          <a:prstGeom prst="rect">
            <a:avLst/>
          </a:prstGeom>
          <a:noFill/>
          <a:ln/>
        </p:spPr>
        <p:txBody>
          <a:bodyPr wrap="square" lIns="0" tIns="0" rIns="0" bIns="0" rtlCol="0" anchor="ctr"/>
          <a:lstStyle/>
          <a:p>
            <a:r>
              <a:rPr lang="en-US" sz="1600" b="1" dirty="0">
                <a:solidFill>
                  <a:srgbClr val="0F223E"/>
                </a:solidFill>
                <a:latin typeface="Calibri"/>
              </a:rPr>
              <a:t>Inference-time reasoning</a:t>
            </a:r>
            <a:endParaRPr lang="en-US" sz="1600" dirty="0"/>
          </a:p>
        </p:txBody>
      </p:sp>
      <p:sp>
        <p:nvSpPr>
          <p:cNvPr id="16" name="Text 14"/>
          <p:cNvSpPr/>
          <p:nvPr/>
        </p:nvSpPr>
        <p:spPr>
          <a:xfrm>
            <a:off x="4800600" y="3034416"/>
            <a:ext cx="3943350" cy="925830"/>
          </a:xfrm>
          <a:prstGeom prst="rect">
            <a:avLst/>
          </a:prstGeom>
          <a:noFill/>
          <a:ln/>
        </p:spPr>
        <p:txBody>
          <a:bodyPr wrap="square" lIns="0" tIns="0" rIns="0" bIns="0" rtlCol="0" anchor="ctr"/>
          <a:lstStyle/>
          <a:p>
            <a:pPr marL="257175" indent="-257175">
              <a:spcAft>
                <a:spcPts val="300"/>
              </a:spcAft>
              <a:buSzPct val="100000"/>
              <a:buChar char="•"/>
            </a:pPr>
            <a:r>
              <a:rPr lang="en-US" sz="1100" dirty="0">
                <a:solidFill>
                  <a:srgbClr val="1A1F36"/>
                </a:solidFill>
                <a:latin typeface="Calibri"/>
              </a:rPr>
              <a:t>OpenAI o1 (Sep 2024), o3 (2025)</a:t>
            </a:r>
            <a:endParaRPr lang="en-US" sz="1100" dirty="0"/>
          </a:p>
          <a:p>
            <a:pPr marL="257175" indent="-257175">
              <a:spcAft>
                <a:spcPts val="300"/>
              </a:spcAft>
              <a:buSzPct val="100000"/>
              <a:buChar char="•"/>
            </a:pPr>
            <a:r>
              <a:rPr lang="en-US" sz="1100" dirty="0">
                <a:solidFill>
                  <a:srgbClr val="1A1F36"/>
                </a:solidFill>
                <a:latin typeface="Calibri"/>
              </a:rPr>
              <a:t>DeepSeek-R1 — open reasoning via RL (2025)</a:t>
            </a:r>
            <a:endParaRPr lang="en-US" sz="1100" dirty="0"/>
          </a:p>
          <a:p>
            <a:pPr marL="257175" indent="-257175">
              <a:spcAft>
                <a:spcPts val="300"/>
              </a:spcAft>
              <a:buSzPct val="100000"/>
              <a:buChar char="•"/>
            </a:pPr>
            <a:r>
              <a:rPr lang="en-US" sz="1100" dirty="0">
                <a:solidFill>
                  <a:srgbClr val="1A1F36"/>
                </a:solidFill>
                <a:latin typeface="Calibri"/>
              </a:rPr>
              <a:t>Chain-of-thought as a first-class output</a:t>
            </a:r>
            <a:endParaRPr lang="en-US" sz="1100" dirty="0"/>
          </a:p>
          <a:p>
            <a:pPr marL="257175" indent="-257175">
              <a:spcAft>
                <a:spcPts val="300"/>
              </a:spcAft>
              <a:buSzPct val="100000"/>
              <a:buChar char="•"/>
            </a:pPr>
            <a:r>
              <a:rPr lang="en-US" sz="1100" dirty="0">
                <a:solidFill>
                  <a:srgbClr val="1A1F36"/>
                </a:solidFill>
                <a:latin typeface="Calibri"/>
              </a:rPr>
              <a:t>Compute shifts from training to inference</a:t>
            </a:r>
            <a:endParaRPr lang="en-US" sz="1100" dirty="0"/>
          </a:p>
        </p:txBody>
      </p:sp>
      <p:sp>
        <p:nvSpPr>
          <p:cNvPr id="17" name="Text 15"/>
          <p:cNvSpPr/>
          <p:nvPr/>
        </p:nvSpPr>
        <p:spPr>
          <a:xfrm>
            <a:off x="342900" y="4512564"/>
            <a:ext cx="8435340" cy="582930"/>
          </a:xfrm>
          <a:prstGeom prst="rect">
            <a:avLst/>
          </a:prstGeom>
          <a:noFill/>
          <a:ln/>
        </p:spPr>
        <p:txBody>
          <a:bodyPr wrap="square" lIns="0" tIns="0" rIns="0" bIns="0" rtlCol="0" anchor="t"/>
          <a:lstStyle/>
          <a:p>
            <a:pPr>
              <a:spcAft>
                <a:spcPts val="75"/>
              </a:spcAft>
            </a:pPr>
            <a:r>
              <a:rPr lang="en-US" sz="675" i="1" dirty="0">
                <a:solidFill>
                  <a:srgbClr val="1A1F36"/>
                </a:solidFill>
                <a:latin typeface="Calibri"/>
              </a:rPr>
              <a:t>OpenAI (2023). GPT-4 Technical Report. arXiv:2303.08774.   ·   Gemini Team (2023). Gemini: A Family of Highly Capable Multimodal Models. arXiv:2312.11805.   ·   Anthropic (2024). The Claude 3 Model Family: Opus, Sonnet, Haiku. Model Card.</a:t>
            </a:r>
            <a:endParaRPr lang="en-US" sz="675" dirty="0"/>
          </a:p>
          <a:p>
            <a:pPr>
              <a:spcAft>
                <a:spcPts val="75"/>
              </a:spcAft>
            </a:pPr>
            <a:r>
              <a:rPr lang="en-US" sz="675" i="1" dirty="0">
                <a:solidFill>
                  <a:srgbClr val="1A1F36"/>
                </a:solidFill>
                <a:latin typeface="Calibri"/>
              </a:rPr>
              <a:t>OpenAI (2024). Learning to Reason with LLMs (o1 system card).   ·   DeepSeek-AI (2025). DeepSeek-R1: Incentivizing Reasoning Capability in LLMs via Reinforcement Learning. arXiv:2501.12948.</a:t>
            </a:r>
            <a:endParaRPr lang="en-US" sz="675" dirty="0"/>
          </a:p>
        </p:txBody>
      </p:sp>
      <p:pic>
        <p:nvPicPr>
          <p:cNvPr id="3" name="Google Shape;109;p20">
            <a:extLst>
              <a:ext uri="{FF2B5EF4-FFF2-40B4-BE49-F238E27FC236}">
                <a16:creationId xmlns:a16="http://schemas.microsoft.com/office/drawing/2014/main" id="{8413D28B-16C5-A477-3FDA-242DFD9B0D41}"/>
              </a:ext>
            </a:extLst>
          </p:cNvPr>
          <p:cNvPicPr preferRelativeResize="0"/>
          <p:nvPr/>
        </p:nvPicPr>
        <p:blipFill>
          <a:blip r:embed="rId3">
            <a:alphaModFix/>
          </a:blip>
          <a:stretch>
            <a:fillRect/>
          </a:stretch>
        </p:blipFill>
        <p:spPr>
          <a:xfrm>
            <a:off x="8369125" y="0"/>
            <a:ext cx="774877" cy="867174"/>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3444" cy="5143500"/>
          </a:xfrm>
          <a:prstGeom prst="rect">
            <a:avLst/>
          </a:prstGeom>
          <a:solidFill>
            <a:srgbClr val="1A365D"/>
          </a:solidFill>
          <a:ln w="12700">
            <a:solidFill>
              <a:srgbClr val="1A365D"/>
            </a:solidFill>
            <a:prstDash val="solid"/>
          </a:ln>
        </p:spPr>
        <p:txBody>
          <a:bodyPr/>
          <a:lstStyle/>
          <a:p>
            <a:endParaRPr/>
          </a:p>
        </p:txBody>
      </p:sp>
      <p:sp>
        <p:nvSpPr>
          <p:cNvPr id="5" name="Shape 3"/>
          <p:cNvSpPr/>
          <p:nvPr/>
        </p:nvSpPr>
        <p:spPr>
          <a:xfrm>
            <a:off x="342900" y="4457700"/>
            <a:ext cx="8435340" cy="0"/>
          </a:xfrm>
          <a:prstGeom prst="line">
            <a:avLst/>
          </a:prstGeom>
          <a:noFill/>
          <a:ln w="9525">
            <a:solidFill>
              <a:srgbClr val="CBD5E0"/>
            </a:solidFill>
            <a:prstDash val="solid"/>
          </a:ln>
        </p:spPr>
        <p:txBody>
          <a:bodyPr/>
          <a:lstStyle/>
          <a:p>
            <a:endParaRPr/>
          </a:p>
        </p:txBody>
      </p:sp>
      <p:sp>
        <p:nvSpPr>
          <p:cNvPr id="7" name="Text 5"/>
          <p:cNvSpPr/>
          <p:nvPr/>
        </p:nvSpPr>
        <p:spPr>
          <a:xfrm>
            <a:off x="287241" y="301155"/>
            <a:ext cx="8435340" cy="617220"/>
          </a:xfrm>
          <a:prstGeom prst="rect">
            <a:avLst/>
          </a:prstGeom>
          <a:noFill/>
          <a:ln/>
        </p:spPr>
        <p:txBody>
          <a:bodyPr wrap="square" lIns="0" tIns="0" rIns="0" bIns="0" rtlCol="0" anchor="ctr"/>
          <a:lstStyle/>
          <a:p>
            <a:r>
              <a:rPr lang="en-US" sz="2250" b="1" dirty="0">
                <a:solidFill>
                  <a:srgbClr val="1E2761"/>
                </a:solidFill>
                <a:latin typeface="Georgia"/>
              </a:rPr>
              <a:t>A Map of Innovations: Architecture · Training · Data · Alignment · Inference</a:t>
            </a:r>
            <a:endParaRPr lang="en-US" sz="2250" dirty="0"/>
          </a:p>
        </p:txBody>
      </p:sp>
      <p:graphicFrame>
        <p:nvGraphicFramePr>
          <p:cNvPr id="12" name="Table 0"/>
          <p:cNvGraphicFramePr>
            <a:graphicFrameLocks noGrp="1"/>
          </p:cNvGraphicFramePr>
          <p:nvPr>
            <p:extLst>
              <p:ext uri="{D42A27DB-BD31-4B8C-83A1-F6EECF244321}">
                <p14:modId xmlns:p14="http://schemas.microsoft.com/office/powerpoint/2010/main" val="4028456464"/>
              </p:ext>
            </p:extLst>
          </p:nvPr>
        </p:nvGraphicFramePr>
        <p:xfrm>
          <a:off x="342900" y="1227980"/>
          <a:ext cx="8435340" cy="2761488"/>
        </p:xfrm>
        <a:graphic>
          <a:graphicData uri="http://schemas.openxmlformats.org/drawingml/2006/table">
            <a:tbl>
              <a:tblPr/>
              <a:tblGrid>
                <a:gridCol w="1851660">
                  <a:extLst>
                    <a:ext uri="{9D8B030D-6E8A-4147-A177-3AD203B41FA5}">
                      <a16:colId xmlns:a16="http://schemas.microsoft.com/office/drawing/2014/main" val="20000"/>
                    </a:ext>
                  </a:extLst>
                </a:gridCol>
                <a:gridCol w="2125980">
                  <a:extLst>
                    <a:ext uri="{9D8B030D-6E8A-4147-A177-3AD203B41FA5}">
                      <a16:colId xmlns:a16="http://schemas.microsoft.com/office/drawing/2014/main" val="20001"/>
                    </a:ext>
                  </a:extLst>
                </a:gridCol>
                <a:gridCol w="2263140">
                  <a:extLst>
                    <a:ext uri="{9D8B030D-6E8A-4147-A177-3AD203B41FA5}">
                      <a16:colId xmlns:a16="http://schemas.microsoft.com/office/drawing/2014/main" val="20002"/>
                    </a:ext>
                  </a:extLst>
                </a:gridCol>
                <a:gridCol w="2194560">
                  <a:extLst>
                    <a:ext uri="{9D8B030D-6E8A-4147-A177-3AD203B41FA5}">
                      <a16:colId xmlns:a16="http://schemas.microsoft.com/office/drawing/2014/main" val="20003"/>
                    </a:ext>
                  </a:extLst>
                </a:gridCol>
              </a:tblGrid>
              <a:tr h="226314">
                <a:tc>
                  <a:txBody>
                    <a:bodyPr/>
                    <a:lstStyle/>
                    <a:p>
                      <a:pPr marL="0" indent="0" algn="l">
                        <a:buNone/>
                      </a:pPr>
                      <a:r>
                        <a:rPr lang="en-US" sz="1100" b="1" dirty="0">
                          <a:solidFill>
                            <a:srgbClr val="FFFFFF"/>
                          </a:solidFill>
                          <a:latin typeface="Calibri" pitchFamily="34" charset="0"/>
                          <a:ea typeface="Calibri" pitchFamily="34" charset="-122"/>
                          <a:cs typeface="Calibri" pitchFamily="34" charset="-120"/>
                        </a:rPr>
                        <a:t>Era</a:t>
                      </a:r>
                      <a:endParaRPr lang="en-US" sz="1100" dirty="0">
                        <a:latin typeface="Calibri" charset="0"/>
                        <a:ea typeface="Calibri" charset="0"/>
                        <a:cs typeface="Calibri" charset="0"/>
                      </a:endParaRPr>
                    </a:p>
                  </a:txBody>
                  <a:tcPr marL="57150" marR="57150" marT="28575" marB="28575"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F223E"/>
                    </a:solidFill>
                  </a:tcPr>
                </a:tc>
                <a:tc>
                  <a:txBody>
                    <a:bodyPr/>
                    <a:lstStyle/>
                    <a:p>
                      <a:pPr marL="0" indent="0" algn="l">
                        <a:buNone/>
                      </a:pPr>
                      <a:r>
                        <a:rPr lang="en-US" sz="1100" b="1" dirty="0">
                          <a:solidFill>
                            <a:srgbClr val="FFFFFF"/>
                          </a:solidFill>
                          <a:latin typeface="Calibri" pitchFamily="34" charset="0"/>
                          <a:ea typeface="Calibri" pitchFamily="34" charset="-122"/>
                          <a:cs typeface="Calibri" pitchFamily="34" charset="-120"/>
                        </a:rPr>
                        <a:t>Architecture</a:t>
                      </a:r>
                      <a:endParaRPr lang="en-US" sz="1100" dirty="0">
                        <a:latin typeface="Calibri" charset="0"/>
                        <a:ea typeface="Calibri" charset="0"/>
                        <a:cs typeface="Calibri" charset="0"/>
                      </a:endParaRPr>
                    </a:p>
                  </a:txBody>
                  <a:tcPr marL="57150" marR="57150" marT="28575" marB="28575"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F223E"/>
                    </a:solidFill>
                  </a:tcPr>
                </a:tc>
                <a:tc>
                  <a:txBody>
                    <a:bodyPr/>
                    <a:lstStyle/>
                    <a:p>
                      <a:pPr marL="0" indent="0" algn="l">
                        <a:buNone/>
                      </a:pPr>
                      <a:r>
                        <a:rPr lang="en-US" sz="1100" b="1" dirty="0">
                          <a:solidFill>
                            <a:srgbClr val="FFFFFF"/>
                          </a:solidFill>
                          <a:latin typeface="Calibri" pitchFamily="34" charset="0"/>
                          <a:ea typeface="Calibri" pitchFamily="34" charset="-122"/>
                          <a:cs typeface="Calibri" pitchFamily="34" charset="-120"/>
                        </a:rPr>
                        <a:t>Training / Data</a:t>
                      </a:r>
                      <a:endParaRPr lang="en-US" sz="1100" dirty="0">
                        <a:latin typeface="Calibri" charset="0"/>
                        <a:ea typeface="Calibri" charset="0"/>
                        <a:cs typeface="Calibri" charset="0"/>
                      </a:endParaRPr>
                    </a:p>
                  </a:txBody>
                  <a:tcPr marL="57150" marR="57150" marT="28575" marB="28575"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F223E"/>
                    </a:solidFill>
                  </a:tcPr>
                </a:tc>
                <a:tc>
                  <a:txBody>
                    <a:bodyPr/>
                    <a:lstStyle/>
                    <a:p>
                      <a:pPr marL="0" indent="0" algn="l">
                        <a:buNone/>
                      </a:pPr>
                      <a:r>
                        <a:rPr lang="en-US" sz="1100" b="1" dirty="0">
                          <a:solidFill>
                            <a:srgbClr val="FFFFFF"/>
                          </a:solidFill>
                          <a:latin typeface="Calibri" pitchFamily="34" charset="0"/>
                          <a:ea typeface="Calibri" pitchFamily="34" charset="-122"/>
                          <a:cs typeface="Calibri" pitchFamily="34" charset="-120"/>
                        </a:rPr>
                        <a:t>Alignment / Inference</a:t>
                      </a:r>
                      <a:endParaRPr lang="en-US" sz="1100" dirty="0">
                        <a:latin typeface="Calibri" charset="0"/>
                        <a:ea typeface="Calibri" charset="0"/>
                        <a:cs typeface="Calibri" charset="0"/>
                      </a:endParaRPr>
                    </a:p>
                  </a:txBody>
                  <a:tcPr marL="57150" marR="57150" marT="28575" marB="28575"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F223E"/>
                    </a:solidFill>
                  </a:tcPr>
                </a:tc>
                <a:extLst>
                  <a:ext uri="{0D108BD9-81ED-4DB2-BD59-A6C34878D82A}">
                    <a16:rowId xmlns:a16="http://schemas.microsoft.com/office/drawing/2014/main" val="10000"/>
                  </a:ext>
                </a:extLst>
              </a:tr>
              <a:tr h="226314">
                <a:tc>
                  <a:txBody>
                    <a:bodyPr/>
                    <a:lstStyle/>
                    <a:p>
                      <a:pPr marL="0" indent="0">
                        <a:buNone/>
                      </a:pPr>
                      <a:r>
                        <a:rPr lang="en-US" sz="1100" dirty="0">
                          <a:solidFill>
                            <a:srgbClr val="2D3748"/>
                          </a:solidFill>
                          <a:latin typeface="Calibri" pitchFamily="34" charset="0"/>
                          <a:ea typeface="Calibri" pitchFamily="34" charset="-122"/>
                          <a:cs typeface="Calibri" pitchFamily="34" charset="-120"/>
                        </a:rPr>
                        <a:t>Pre-2018 (word2vec · ELMo)</a:t>
                      </a:r>
                      <a:endParaRPr lang="en-US" sz="1100" dirty="0">
                        <a:latin typeface="Calibri" charset="0"/>
                        <a:ea typeface="Calibri" charset="0"/>
                        <a:cs typeface="Calibri" charset="0"/>
                      </a:endParaRPr>
                    </a:p>
                  </a:txBody>
                  <a:tcPr marL="57150" marR="57150" marT="28575" marB="28575"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100" dirty="0">
                          <a:solidFill>
                            <a:srgbClr val="2D3748"/>
                          </a:solidFill>
                          <a:latin typeface="Calibri" pitchFamily="34" charset="0"/>
                          <a:ea typeface="Calibri" pitchFamily="34" charset="-122"/>
                          <a:cs typeface="Calibri" pitchFamily="34" charset="-120"/>
                        </a:rPr>
                        <a:t>Shallow embeddings; biLSTM LM</a:t>
                      </a:r>
                      <a:endParaRPr lang="en-US" sz="1100" dirty="0">
                        <a:latin typeface="Calibri" charset="0"/>
                        <a:ea typeface="Calibri" charset="0"/>
                        <a:cs typeface="Calibri" charset="0"/>
                      </a:endParaRPr>
                    </a:p>
                  </a:txBody>
                  <a:tcPr marL="57150" marR="57150" marT="28575" marB="28575"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100" dirty="0">
                          <a:solidFill>
                            <a:srgbClr val="2D3748"/>
                          </a:solidFill>
                          <a:latin typeface="Calibri" pitchFamily="34" charset="0"/>
                          <a:ea typeface="Calibri" pitchFamily="34" charset="-122"/>
                          <a:cs typeface="Calibri" pitchFamily="34" charset="-120"/>
                        </a:rPr>
                        <a:t>Co-occurrence statistics; small corpora</a:t>
                      </a:r>
                      <a:endParaRPr lang="en-US" sz="1100" dirty="0">
                        <a:latin typeface="Calibri" charset="0"/>
                        <a:ea typeface="Calibri" charset="0"/>
                        <a:cs typeface="Calibri" charset="0"/>
                      </a:endParaRPr>
                    </a:p>
                  </a:txBody>
                  <a:tcPr marL="57150" marR="57150" marT="28575" marB="28575"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100" dirty="0">
                          <a:solidFill>
                            <a:srgbClr val="2D3748"/>
                          </a:solidFill>
                          <a:latin typeface="Calibri" pitchFamily="34" charset="0"/>
                          <a:ea typeface="Calibri" pitchFamily="34" charset="-122"/>
                          <a:cs typeface="Calibri" pitchFamily="34" charset="-120"/>
                        </a:rPr>
                        <a:t>Feature-based transfer</a:t>
                      </a:r>
                      <a:endParaRPr lang="en-US" sz="1100" dirty="0">
                        <a:latin typeface="Calibri" charset="0"/>
                        <a:ea typeface="Calibri" charset="0"/>
                        <a:cs typeface="Calibri" charset="0"/>
                      </a:endParaRPr>
                    </a:p>
                  </a:txBody>
                  <a:tcPr marL="57150" marR="57150" marT="28575" marB="28575"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1"/>
                  </a:ext>
                </a:extLst>
              </a:tr>
              <a:tr h="226314">
                <a:tc>
                  <a:txBody>
                    <a:bodyPr/>
                    <a:lstStyle/>
                    <a:p>
                      <a:pPr marL="0" indent="0">
                        <a:buNone/>
                      </a:pPr>
                      <a:r>
                        <a:rPr lang="en-US" sz="1100" dirty="0">
                          <a:solidFill>
                            <a:srgbClr val="2D3748"/>
                          </a:solidFill>
                          <a:latin typeface="Calibri" pitchFamily="34" charset="0"/>
                          <a:ea typeface="Calibri" pitchFamily="34" charset="-122"/>
                          <a:cs typeface="Calibri" pitchFamily="34" charset="-120"/>
                        </a:rPr>
                        <a:t>BERT (2018)</a:t>
                      </a:r>
                      <a:endParaRPr lang="en-US" sz="1100" dirty="0">
                        <a:latin typeface="Calibri" charset="0"/>
                        <a:ea typeface="Calibri" charset="0"/>
                        <a:cs typeface="Calibri" charset="0"/>
                      </a:endParaRPr>
                    </a:p>
                  </a:txBody>
                  <a:tcPr marL="57150" marR="57150" marT="28575" marB="28575"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100" dirty="0">
                          <a:solidFill>
                            <a:srgbClr val="2D3748"/>
                          </a:solidFill>
                          <a:latin typeface="Calibri" pitchFamily="34" charset="0"/>
                          <a:ea typeface="Calibri" pitchFamily="34" charset="-122"/>
                          <a:cs typeface="Calibri" pitchFamily="34" charset="-120"/>
                        </a:rPr>
                        <a:t>Deep bidirectional encoder</a:t>
                      </a:r>
                      <a:endParaRPr lang="en-US" sz="1100" dirty="0">
                        <a:latin typeface="Calibri" charset="0"/>
                        <a:ea typeface="Calibri" charset="0"/>
                        <a:cs typeface="Calibri" charset="0"/>
                      </a:endParaRPr>
                    </a:p>
                  </a:txBody>
                  <a:tcPr marL="57150" marR="57150" marT="28575" marB="28575"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100" dirty="0">
                          <a:solidFill>
                            <a:srgbClr val="2D3748"/>
                          </a:solidFill>
                          <a:latin typeface="Calibri" pitchFamily="34" charset="0"/>
                          <a:ea typeface="Calibri" pitchFamily="34" charset="-122"/>
                          <a:cs typeface="Calibri" pitchFamily="34" charset="-120"/>
                        </a:rPr>
                        <a:t>MLM + NSP on 3.3B tokens</a:t>
                      </a:r>
                      <a:endParaRPr lang="en-US" sz="1100" dirty="0">
                        <a:latin typeface="Calibri" charset="0"/>
                        <a:ea typeface="Calibri" charset="0"/>
                        <a:cs typeface="Calibri" charset="0"/>
                      </a:endParaRPr>
                    </a:p>
                  </a:txBody>
                  <a:tcPr marL="57150" marR="57150" marT="28575" marB="28575"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100" dirty="0">
                          <a:solidFill>
                            <a:srgbClr val="2D3748"/>
                          </a:solidFill>
                          <a:latin typeface="Calibri" pitchFamily="34" charset="0"/>
                          <a:ea typeface="Calibri" pitchFamily="34" charset="-122"/>
                          <a:cs typeface="Calibri" pitchFamily="34" charset="-120"/>
                        </a:rPr>
                        <a:t>Fine-tune with small task head</a:t>
                      </a:r>
                      <a:endParaRPr lang="en-US" sz="1100" dirty="0">
                        <a:latin typeface="Calibri" charset="0"/>
                        <a:ea typeface="Calibri" charset="0"/>
                        <a:cs typeface="Calibri" charset="0"/>
                      </a:endParaRPr>
                    </a:p>
                  </a:txBody>
                  <a:tcPr marL="57150" marR="57150" marT="28575" marB="28575"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2"/>
                  </a:ext>
                </a:extLst>
              </a:tr>
              <a:tr h="226314">
                <a:tc>
                  <a:txBody>
                    <a:bodyPr/>
                    <a:lstStyle/>
                    <a:p>
                      <a:pPr marL="0" indent="0">
                        <a:buNone/>
                      </a:pPr>
                      <a:r>
                        <a:rPr lang="en-US" sz="1100" dirty="0">
                          <a:solidFill>
                            <a:srgbClr val="2D3748"/>
                          </a:solidFill>
                          <a:latin typeface="Calibri" pitchFamily="34" charset="0"/>
                          <a:ea typeface="Calibri" pitchFamily="34" charset="-122"/>
                          <a:cs typeface="Calibri" pitchFamily="34" charset="-120"/>
                        </a:rPr>
                        <a:t>GPT-1 / GPT-2 (2018–19)</a:t>
                      </a:r>
                      <a:endParaRPr lang="en-US" sz="1100" dirty="0">
                        <a:latin typeface="Calibri" charset="0"/>
                        <a:ea typeface="Calibri" charset="0"/>
                        <a:cs typeface="Calibri" charset="0"/>
                      </a:endParaRPr>
                    </a:p>
                  </a:txBody>
                  <a:tcPr marL="57150" marR="57150" marT="28575" marB="28575"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100" dirty="0">
                          <a:solidFill>
                            <a:srgbClr val="2D3748"/>
                          </a:solidFill>
                          <a:latin typeface="Calibri" pitchFamily="34" charset="0"/>
                          <a:ea typeface="Calibri" pitchFamily="34" charset="-122"/>
                          <a:cs typeface="Calibri" pitchFamily="34" charset="-120"/>
                        </a:rPr>
                        <a:t>Decoder-only causal Transformer</a:t>
                      </a:r>
                      <a:endParaRPr lang="en-US" sz="1100" dirty="0">
                        <a:latin typeface="Calibri" charset="0"/>
                        <a:ea typeface="Calibri" charset="0"/>
                        <a:cs typeface="Calibri" charset="0"/>
                      </a:endParaRPr>
                    </a:p>
                  </a:txBody>
                  <a:tcPr marL="57150" marR="57150" marT="28575" marB="28575"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100" dirty="0">
                          <a:solidFill>
                            <a:srgbClr val="2D3748"/>
                          </a:solidFill>
                          <a:latin typeface="Calibri" pitchFamily="34" charset="0"/>
                          <a:ea typeface="Calibri" pitchFamily="34" charset="-122"/>
                          <a:cs typeface="Calibri" pitchFamily="34" charset="-120"/>
                        </a:rPr>
                        <a:t>BookCorpus → WebText (40 GB)</a:t>
                      </a:r>
                      <a:endParaRPr lang="en-US" sz="1100" dirty="0">
                        <a:latin typeface="Calibri" charset="0"/>
                        <a:ea typeface="Calibri" charset="0"/>
                        <a:cs typeface="Calibri" charset="0"/>
                      </a:endParaRPr>
                    </a:p>
                  </a:txBody>
                  <a:tcPr marL="57150" marR="57150" marT="28575" marB="28575"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100" dirty="0">
                          <a:solidFill>
                            <a:srgbClr val="2D3748"/>
                          </a:solidFill>
                          <a:latin typeface="Calibri" pitchFamily="34" charset="0"/>
                          <a:ea typeface="Calibri" pitchFamily="34" charset="-122"/>
                          <a:cs typeface="Calibri" pitchFamily="34" charset="-120"/>
                        </a:rPr>
                        <a:t>Zero-shot task transfer via prompts</a:t>
                      </a:r>
                      <a:endParaRPr lang="en-US" sz="1100" dirty="0">
                        <a:latin typeface="Calibri" charset="0"/>
                        <a:ea typeface="Calibri" charset="0"/>
                        <a:cs typeface="Calibri" charset="0"/>
                      </a:endParaRPr>
                    </a:p>
                  </a:txBody>
                  <a:tcPr marL="57150" marR="57150" marT="28575" marB="28575"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3"/>
                  </a:ext>
                </a:extLst>
              </a:tr>
              <a:tr h="226314">
                <a:tc>
                  <a:txBody>
                    <a:bodyPr/>
                    <a:lstStyle/>
                    <a:p>
                      <a:pPr marL="0" indent="0">
                        <a:buNone/>
                      </a:pPr>
                      <a:r>
                        <a:rPr lang="en-US" sz="1100" dirty="0">
                          <a:solidFill>
                            <a:srgbClr val="2D3748"/>
                          </a:solidFill>
                          <a:latin typeface="Calibri" pitchFamily="34" charset="0"/>
                          <a:ea typeface="Calibri" pitchFamily="34" charset="-122"/>
                          <a:cs typeface="Calibri" pitchFamily="34" charset="-120"/>
                        </a:rPr>
                        <a:t>T5 / BART (2019–20)</a:t>
                      </a:r>
                      <a:endParaRPr lang="en-US" sz="1100" dirty="0">
                        <a:latin typeface="Calibri" charset="0"/>
                        <a:ea typeface="Calibri" charset="0"/>
                        <a:cs typeface="Calibri" charset="0"/>
                      </a:endParaRPr>
                    </a:p>
                  </a:txBody>
                  <a:tcPr marL="57150" marR="57150" marT="28575" marB="28575"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100" dirty="0">
                          <a:solidFill>
                            <a:srgbClr val="2D3748"/>
                          </a:solidFill>
                          <a:latin typeface="Calibri" pitchFamily="34" charset="0"/>
                          <a:ea typeface="Calibri" pitchFamily="34" charset="-122"/>
                          <a:cs typeface="Calibri" pitchFamily="34" charset="-120"/>
                        </a:rPr>
                        <a:t>Encoder–decoder seq2seq</a:t>
                      </a:r>
                      <a:endParaRPr lang="en-US" sz="1100" dirty="0">
                        <a:latin typeface="Calibri" charset="0"/>
                        <a:ea typeface="Calibri" charset="0"/>
                        <a:cs typeface="Calibri" charset="0"/>
                      </a:endParaRPr>
                    </a:p>
                  </a:txBody>
                  <a:tcPr marL="57150" marR="57150" marT="28575" marB="28575"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100" dirty="0">
                          <a:solidFill>
                            <a:srgbClr val="2D3748"/>
                          </a:solidFill>
                          <a:latin typeface="Calibri" pitchFamily="34" charset="0"/>
                          <a:ea typeface="Calibri" pitchFamily="34" charset="-122"/>
                          <a:cs typeface="Calibri" pitchFamily="34" charset="-120"/>
                        </a:rPr>
                        <a:t>C4 span-corruption; denoising</a:t>
                      </a:r>
                      <a:endParaRPr lang="en-US" sz="1100" dirty="0">
                        <a:latin typeface="Calibri" charset="0"/>
                        <a:ea typeface="Calibri" charset="0"/>
                        <a:cs typeface="Calibri" charset="0"/>
                      </a:endParaRPr>
                    </a:p>
                  </a:txBody>
                  <a:tcPr marL="57150" marR="57150" marT="28575" marB="28575"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100" dirty="0">
                          <a:solidFill>
                            <a:srgbClr val="2D3748"/>
                          </a:solidFill>
                          <a:latin typeface="Calibri" pitchFamily="34" charset="0"/>
                          <a:ea typeface="Calibri" pitchFamily="34" charset="-122"/>
                          <a:cs typeface="Calibri" pitchFamily="34" charset="-120"/>
                        </a:rPr>
                        <a:t>Unified text-to-text interface</a:t>
                      </a:r>
                      <a:endParaRPr lang="en-US" sz="1100" dirty="0">
                        <a:latin typeface="Calibri" charset="0"/>
                        <a:ea typeface="Calibri" charset="0"/>
                        <a:cs typeface="Calibri" charset="0"/>
                      </a:endParaRPr>
                    </a:p>
                  </a:txBody>
                  <a:tcPr marL="57150" marR="57150" marT="28575" marB="28575"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4"/>
                  </a:ext>
                </a:extLst>
              </a:tr>
              <a:tr h="226314">
                <a:tc>
                  <a:txBody>
                    <a:bodyPr/>
                    <a:lstStyle/>
                    <a:p>
                      <a:pPr marL="0" indent="0">
                        <a:buNone/>
                      </a:pPr>
                      <a:r>
                        <a:rPr lang="en-US" sz="1100" dirty="0">
                          <a:solidFill>
                            <a:srgbClr val="2D3748"/>
                          </a:solidFill>
                          <a:latin typeface="Calibri" pitchFamily="34" charset="0"/>
                          <a:ea typeface="Calibri" pitchFamily="34" charset="-122"/>
                          <a:cs typeface="Calibri" pitchFamily="34" charset="-120"/>
                        </a:rPr>
                        <a:t>GPT-3 (2020)</a:t>
                      </a:r>
                      <a:endParaRPr lang="en-US" sz="1100" dirty="0">
                        <a:latin typeface="Calibri" charset="0"/>
                        <a:ea typeface="Calibri" charset="0"/>
                        <a:cs typeface="Calibri" charset="0"/>
                      </a:endParaRPr>
                    </a:p>
                  </a:txBody>
                  <a:tcPr marL="57150" marR="57150" marT="28575" marB="28575"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100" dirty="0">
                          <a:solidFill>
                            <a:srgbClr val="2D3748"/>
                          </a:solidFill>
                          <a:latin typeface="Calibri" pitchFamily="34" charset="0"/>
                          <a:ea typeface="Calibri" pitchFamily="34" charset="-122"/>
                          <a:cs typeface="Calibri" pitchFamily="34" charset="-120"/>
                        </a:rPr>
                        <a:t>175B dense Transformer</a:t>
                      </a:r>
                      <a:endParaRPr lang="en-US" sz="1100" dirty="0">
                        <a:latin typeface="Calibri" charset="0"/>
                        <a:ea typeface="Calibri" charset="0"/>
                        <a:cs typeface="Calibri" charset="0"/>
                      </a:endParaRPr>
                    </a:p>
                  </a:txBody>
                  <a:tcPr marL="57150" marR="57150" marT="28575" marB="28575"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100" dirty="0">
                          <a:solidFill>
                            <a:srgbClr val="2D3748"/>
                          </a:solidFill>
                          <a:latin typeface="Calibri" pitchFamily="34" charset="0"/>
                          <a:ea typeface="Calibri" pitchFamily="34" charset="-122"/>
                          <a:cs typeface="Calibri" pitchFamily="34" charset="-120"/>
                        </a:rPr>
                        <a:t>~300B tokens, Common Crawl mix</a:t>
                      </a:r>
                      <a:endParaRPr lang="en-US" sz="1100" dirty="0">
                        <a:latin typeface="Calibri" charset="0"/>
                        <a:ea typeface="Calibri" charset="0"/>
                        <a:cs typeface="Calibri" charset="0"/>
                      </a:endParaRPr>
                    </a:p>
                  </a:txBody>
                  <a:tcPr marL="57150" marR="57150" marT="28575" marB="28575"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100" dirty="0">
                          <a:solidFill>
                            <a:srgbClr val="2D3748"/>
                          </a:solidFill>
                          <a:latin typeface="Calibri" pitchFamily="34" charset="0"/>
                          <a:ea typeface="Calibri" pitchFamily="34" charset="-122"/>
                          <a:cs typeface="Calibri" pitchFamily="34" charset="-120"/>
                        </a:rPr>
                        <a:t>In-context / few-shot learning</a:t>
                      </a:r>
                      <a:endParaRPr lang="en-US" sz="1100" dirty="0">
                        <a:latin typeface="Calibri" charset="0"/>
                        <a:ea typeface="Calibri" charset="0"/>
                        <a:cs typeface="Calibri" charset="0"/>
                      </a:endParaRPr>
                    </a:p>
                  </a:txBody>
                  <a:tcPr marL="57150" marR="57150" marT="28575" marB="28575"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5"/>
                  </a:ext>
                </a:extLst>
              </a:tr>
              <a:tr h="226314">
                <a:tc>
                  <a:txBody>
                    <a:bodyPr/>
                    <a:lstStyle/>
                    <a:p>
                      <a:pPr marL="0" indent="0">
                        <a:buNone/>
                      </a:pPr>
                      <a:r>
                        <a:rPr lang="en-US" sz="1100" dirty="0">
                          <a:solidFill>
                            <a:srgbClr val="2D3748"/>
                          </a:solidFill>
                          <a:latin typeface="Calibri" pitchFamily="34" charset="0"/>
                          <a:ea typeface="Calibri" pitchFamily="34" charset="-122"/>
                          <a:cs typeface="Calibri" pitchFamily="34" charset="-120"/>
                        </a:rPr>
                        <a:t>Scaling · Chinchilla (2020–22)</a:t>
                      </a:r>
                      <a:endParaRPr lang="en-US" sz="1100" dirty="0">
                        <a:latin typeface="Calibri" charset="0"/>
                        <a:ea typeface="Calibri" charset="0"/>
                        <a:cs typeface="Calibri" charset="0"/>
                      </a:endParaRPr>
                    </a:p>
                  </a:txBody>
                  <a:tcPr marL="57150" marR="57150" marT="28575" marB="28575"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100" dirty="0">
                          <a:solidFill>
                            <a:srgbClr val="2D3748"/>
                          </a:solidFill>
                          <a:latin typeface="Calibri" pitchFamily="34" charset="0"/>
                          <a:ea typeface="Calibri" pitchFamily="34" charset="-122"/>
                          <a:cs typeface="Calibri" pitchFamily="34" charset="-120"/>
                        </a:rPr>
                        <a:t>Same arch, principled sizing</a:t>
                      </a:r>
                      <a:endParaRPr lang="en-US" sz="1100" dirty="0">
                        <a:latin typeface="Calibri" charset="0"/>
                        <a:ea typeface="Calibri" charset="0"/>
                        <a:cs typeface="Calibri" charset="0"/>
                      </a:endParaRPr>
                    </a:p>
                  </a:txBody>
                  <a:tcPr marL="57150" marR="57150" marT="28575" marB="28575"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100" dirty="0">
                          <a:solidFill>
                            <a:srgbClr val="2D3748"/>
                          </a:solidFill>
                          <a:latin typeface="Calibri" pitchFamily="34" charset="0"/>
                          <a:ea typeface="Calibri" pitchFamily="34" charset="-122"/>
                          <a:cs typeface="Calibri" pitchFamily="34" charset="-120"/>
                        </a:rPr>
                        <a:t>~20 tokens / parameter optimal</a:t>
                      </a:r>
                      <a:endParaRPr lang="en-US" sz="1100" dirty="0">
                        <a:latin typeface="Calibri" charset="0"/>
                        <a:ea typeface="Calibri" charset="0"/>
                        <a:cs typeface="Calibri" charset="0"/>
                      </a:endParaRPr>
                    </a:p>
                  </a:txBody>
                  <a:tcPr marL="57150" marR="57150" marT="28575" marB="28575"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100" dirty="0">
                          <a:solidFill>
                            <a:srgbClr val="2D3748"/>
                          </a:solidFill>
                          <a:latin typeface="Calibri" pitchFamily="34" charset="0"/>
                          <a:ea typeface="Calibri" pitchFamily="34" charset="-122"/>
                          <a:cs typeface="Calibri" pitchFamily="34" charset="-120"/>
                        </a:rPr>
                        <a:t>Predictable loss curves</a:t>
                      </a:r>
                      <a:endParaRPr lang="en-US" sz="1100" dirty="0">
                        <a:latin typeface="Calibri" charset="0"/>
                        <a:ea typeface="Calibri" charset="0"/>
                        <a:cs typeface="Calibri" charset="0"/>
                      </a:endParaRPr>
                    </a:p>
                  </a:txBody>
                  <a:tcPr marL="57150" marR="57150" marT="28575" marB="28575"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6"/>
                  </a:ext>
                </a:extLst>
              </a:tr>
              <a:tr h="226314">
                <a:tc>
                  <a:txBody>
                    <a:bodyPr/>
                    <a:lstStyle/>
                    <a:p>
                      <a:pPr marL="0" indent="0">
                        <a:buNone/>
                      </a:pPr>
                      <a:r>
                        <a:rPr lang="en-US" sz="1100" dirty="0">
                          <a:solidFill>
                            <a:srgbClr val="2D3748"/>
                          </a:solidFill>
                          <a:latin typeface="Calibri" pitchFamily="34" charset="0"/>
                          <a:ea typeface="Calibri" pitchFamily="34" charset="-122"/>
                          <a:cs typeface="Calibri" pitchFamily="34" charset="-120"/>
                        </a:rPr>
                        <a:t>InstructGPT · RLHF (2022)</a:t>
                      </a:r>
                      <a:endParaRPr lang="en-US" sz="1100" dirty="0">
                        <a:latin typeface="Calibri" charset="0"/>
                        <a:ea typeface="Calibri" charset="0"/>
                        <a:cs typeface="Calibri" charset="0"/>
                      </a:endParaRPr>
                    </a:p>
                  </a:txBody>
                  <a:tcPr marL="57150" marR="57150" marT="28575" marB="28575"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100" dirty="0">
                          <a:solidFill>
                            <a:srgbClr val="2D3748"/>
                          </a:solidFill>
                          <a:latin typeface="Calibri" pitchFamily="34" charset="0"/>
                          <a:ea typeface="Calibri" pitchFamily="34" charset="-122"/>
                          <a:cs typeface="Calibri" pitchFamily="34" charset="-120"/>
                        </a:rPr>
                        <a:t>Base LM + reward model</a:t>
                      </a:r>
                      <a:endParaRPr lang="en-US" sz="1100" dirty="0">
                        <a:latin typeface="Calibri" charset="0"/>
                        <a:ea typeface="Calibri" charset="0"/>
                        <a:cs typeface="Calibri" charset="0"/>
                      </a:endParaRPr>
                    </a:p>
                  </a:txBody>
                  <a:tcPr marL="57150" marR="57150" marT="28575" marB="28575"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100" dirty="0">
                          <a:solidFill>
                            <a:srgbClr val="2D3748"/>
                          </a:solidFill>
                          <a:latin typeface="Calibri" pitchFamily="34" charset="0"/>
                          <a:ea typeface="Calibri" pitchFamily="34" charset="-122"/>
                          <a:cs typeface="Calibri" pitchFamily="34" charset="-120"/>
                        </a:rPr>
                        <a:t>Human demos + preference data</a:t>
                      </a:r>
                      <a:endParaRPr lang="en-US" sz="1100" dirty="0">
                        <a:latin typeface="Calibri" charset="0"/>
                        <a:ea typeface="Calibri" charset="0"/>
                        <a:cs typeface="Calibri" charset="0"/>
                      </a:endParaRPr>
                    </a:p>
                  </a:txBody>
                  <a:tcPr marL="57150" marR="57150" marT="28575" marB="28575"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100" dirty="0">
                          <a:solidFill>
                            <a:srgbClr val="2D3748"/>
                          </a:solidFill>
                          <a:latin typeface="Calibri" pitchFamily="34" charset="0"/>
                          <a:ea typeface="Calibri" pitchFamily="34" charset="-122"/>
                          <a:cs typeface="Calibri" pitchFamily="34" charset="-120"/>
                        </a:rPr>
                        <a:t>SFT + RLHF produce helpful assistants</a:t>
                      </a:r>
                      <a:endParaRPr lang="en-US" sz="1100" dirty="0">
                        <a:latin typeface="Calibri" charset="0"/>
                        <a:ea typeface="Calibri" charset="0"/>
                        <a:cs typeface="Calibri" charset="0"/>
                      </a:endParaRPr>
                    </a:p>
                  </a:txBody>
                  <a:tcPr marL="57150" marR="57150" marT="28575" marB="28575"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7"/>
                  </a:ext>
                </a:extLst>
              </a:tr>
              <a:tr h="226314">
                <a:tc>
                  <a:txBody>
                    <a:bodyPr/>
                    <a:lstStyle/>
                    <a:p>
                      <a:pPr marL="0" indent="0">
                        <a:buNone/>
                      </a:pPr>
                      <a:r>
                        <a:rPr lang="en-US" sz="1100" dirty="0">
                          <a:solidFill>
                            <a:srgbClr val="2D3748"/>
                          </a:solidFill>
                          <a:latin typeface="Calibri" pitchFamily="34" charset="0"/>
                          <a:ea typeface="Calibri" pitchFamily="34" charset="-122"/>
                          <a:cs typeface="Calibri" pitchFamily="34" charset="-120"/>
                        </a:rPr>
                        <a:t>Open-weights (2023–24)</a:t>
                      </a:r>
                      <a:endParaRPr lang="en-US" sz="1100" dirty="0">
                        <a:latin typeface="Calibri" charset="0"/>
                        <a:ea typeface="Calibri" charset="0"/>
                        <a:cs typeface="Calibri" charset="0"/>
                      </a:endParaRPr>
                    </a:p>
                  </a:txBody>
                  <a:tcPr marL="57150" marR="57150" marT="28575" marB="28575"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100" dirty="0">
                          <a:solidFill>
                            <a:srgbClr val="2D3748"/>
                          </a:solidFill>
                          <a:latin typeface="Calibri" pitchFamily="34" charset="0"/>
                          <a:ea typeface="Calibri" pitchFamily="34" charset="-122"/>
                          <a:cs typeface="Calibri" pitchFamily="34" charset="-120"/>
                        </a:rPr>
                        <a:t>LLaMA, Mistral (MoE), Falcon</a:t>
                      </a:r>
                      <a:endParaRPr lang="en-US" sz="1100" dirty="0">
                        <a:latin typeface="Calibri" charset="0"/>
                        <a:ea typeface="Calibri" charset="0"/>
                        <a:cs typeface="Calibri" charset="0"/>
                      </a:endParaRPr>
                    </a:p>
                  </a:txBody>
                  <a:tcPr marL="57150" marR="57150" marT="28575" marB="28575"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100" dirty="0">
                          <a:solidFill>
                            <a:srgbClr val="2D3748"/>
                          </a:solidFill>
                          <a:latin typeface="Calibri" pitchFamily="34" charset="0"/>
                          <a:ea typeface="Calibri" pitchFamily="34" charset="-122"/>
                          <a:cs typeface="Calibri" pitchFamily="34" charset="-120"/>
                        </a:rPr>
                        <a:t>Open corpora; permissive licenses</a:t>
                      </a:r>
                      <a:endParaRPr lang="en-US" sz="1100" dirty="0">
                        <a:latin typeface="Calibri" charset="0"/>
                        <a:ea typeface="Calibri" charset="0"/>
                        <a:cs typeface="Calibri" charset="0"/>
                      </a:endParaRPr>
                    </a:p>
                  </a:txBody>
                  <a:tcPr marL="57150" marR="57150" marT="28575" marB="28575"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100" dirty="0">
                          <a:solidFill>
                            <a:srgbClr val="2D3748"/>
                          </a:solidFill>
                          <a:latin typeface="Calibri" pitchFamily="34" charset="0"/>
                          <a:ea typeface="Calibri" pitchFamily="34" charset="-122"/>
                          <a:cs typeface="Calibri" pitchFamily="34" charset="-120"/>
                        </a:rPr>
                        <a:t>On-device, fine-tunable, auditable</a:t>
                      </a:r>
                      <a:endParaRPr lang="en-US" sz="1100" dirty="0">
                        <a:latin typeface="Calibri" charset="0"/>
                        <a:ea typeface="Calibri" charset="0"/>
                        <a:cs typeface="Calibri" charset="0"/>
                      </a:endParaRPr>
                    </a:p>
                  </a:txBody>
                  <a:tcPr marL="57150" marR="57150" marT="28575" marB="28575"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8"/>
                  </a:ext>
                </a:extLst>
              </a:tr>
              <a:tr h="226314">
                <a:tc>
                  <a:txBody>
                    <a:bodyPr/>
                    <a:lstStyle/>
                    <a:p>
                      <a:pPr marL="0" indent="0">
                        <a:buNone/>
                      </a:pPr>
                      <a:r>
                        <a:rPr lang="en-US" sz="1100" dirty="0">
                          <a:solidFill>
                            <a:srgbClr val="2D3748"/>
                          </a:solidFill>
                          <a:latin typeface="Calibri" pitchFamily="34" charset="0"/>
                          <a:ea typeface="Calibri" pitchFamily="34" charset="-122"/>
                          <a:cs typeface="Calibri" pitchFamily="34" charset="-120"/>
                        </a:rPr>
                        <a:t>Multimodal · Reasoning (2023–25)</a:t>
                      </a:r>
                      <a:endParaRPr lang="en-US" sz="1100" dirty="0">
                        <a:latin typeface="Calibri" charset="0"/>
                        <a:ea typeface="Calibri" charset="0"/>
                        <a:cs typeface="Calibri" charset="0"/>
                      </a:endParaRPr>
                    </a:p>
                  </a:txBody>
                  <a:tcPr marL="57150" marR="57150" marT="28575" marB="28575"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100" dirty="0">
                          <a:solidFill>
                            <a:srgbClr val="2D3748"/>
                          </a:solidFill>
                          <a:latin typeface="Calibri" pitchFamily="34" charset="0"/>
                          <a:ea typeface="Calibri" pitchFamily="34" charset="-122"/>
                          <a:cs typeface="Calibri" pitchFamily="34" charset="-120"/>
                        </a:rPr>
                        <a:t>Vision-language; deliberative policies</a:t>
                      </a:r>
                      <a:endParaRPr lang="en-US" sz="1100" dirty="0">
                        <a:latin typeface="Calibri" charset="0"/>
                        <a:ea typeface="Calibri" charset="0"/>
                        <a:cs typeface="Calibri" charset="0"/>
                      </a:endParaRPr>
                    </a:p>
                  </a:txBody>
                  <a:tcPr marL="57150" marR="57150" marT="28575" marB="28575"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100" dirty="0">
                          <a:solidFill>
                            <a:srgbClr val="2D3748"/>
                          </a:solidFill>
                          <a:latin typeface="Calibri" pitchFamily="34" charset="0"/>
                          <a:ea typeface="Calibri" pitchFamily="34" charset="-122"/>
                          <a:cs typeface="Calibri" pitchFamily="34" charset="-120"/>
                        </a:rPr>
                        <a:t>Text + image + audio; RL on outcomes</a:t>
                      </a:r>
                      <a:endParaRPr lang="en-US" sz="1100" dirty="0">
                        <a:latin typeface="Calibri" charset="0"/>
                        <a:ea typeface="Calibri" charset="0"/>
                        <a:cs typeface="Calibri" charset="0"/>
                      </a:endParaRPr>
                    </a:p>
                  </a:txBody>
                  <a:tcPr marL="57150" marR="57150" marT="28575" marB="28575"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100" dirty="0">
                          <a:solidFill>
                            <a:srgbClr val="2D3748"/>
                          </a:solidFill>
                          <a:latin typeface="Calibri" pitchFamily="34" charset="0"/>
                          <a:ea typeface="Calibri" pitchFamily="34" charset="-122"/>
                          <a:cs typeface="Calibri" pitchFamily="34" charset="-120"/>
                        </a:rPr>
                        <a:t>Inference-time chain-of-thought search</a:t>
                      </a:r>
                      <a:endParaRPr lang="en-US" sz="1100" dirty="0">
                        <a:latin typeface="Calibri" charset="0"/>
                        <a:ea typeface="Calibri" charset="0"/>
                        <a:cs typeface="Calibri" charset="0"/>
                      </a:endParaRPr>
                    </a:p>
                  </a:txBody>
                  <a:tcPr marL="57150" marR="57150" marT="28575" marB="28575"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9"/>
                  </a:ext>
                </a:extLst>
              </a:tr>
            </a:tbl>
          </a:graphicData>
        </a:graphic>
      </p:graphicFrame>
      <p:sp>
        <p:nvSpPr>
          <p:cNvPr id="9" name="Shape 6"/>
          <p:cNvSpPr/>
          <p:nvPr/>
        </p:nvSpPr>
        <p:spPr>
          <a:xfrm>
            <a:off x="342900" y="4066794"/>
            <a:ext cx="8435340" cy="342900"/>
          </a:xfrm>
          <a:prstGeom prst="rect">
            <a:avLst/>
          </a:prstGeom>
          <a:solidFill>
            <a:srgbClr val="0F223E"/>
          </a:solidFill>
          <a:ln w="12700">
            <a:solidFill>
              <a:srgbClr val="0F223E"/>
            </a:solidFill>
            <a:prstDash val="solid"/>
          </a:ln>
        </p:spPr>
        <p:txBody>
          <a:bodyPr/>
          <a:lstStyle/>
          <a:p>
            <a:endParaRPr/>
          </a:p>
        </p:txBody>
      </p:sp>
      <p:sp>
        <p:nvSpPr>
          <p:cNvPr id="10" name="Text 7"/>
          <p:cNvSpPr/>
          <p:nvPr/>
        </p:nvSpPr>
        <p:spPr>
          <a:xfrm>
            <a:off x="480060" y="4066794"/>
            <a:ext cx="8161020" cy="342900"/>
          </a:xfrm>
          <a:prstGeom prst="rect">
            <a:avLst/>
          </a:prstGeom>
          <a:noFill/>
          <a:ln/>
        </p:spPr>
        <p:txBody>
          <a:bodyPr wrap="square" lIns="0" tIns="0" rIns="0" bIns="0" rtlCol="0" anchor="ctr"/>
          <a:lstStyle/>
          <a:p>
            <a:r>
              <a:rPr lang="en-US" sz="900" i="1" dirty="0">
                <a:solidFill>
                  <a:srgbClr val="FFFFFF"/>
                </a:solidFill>
                <a:latin typeface="Calibri"/>
              </a:rPr>
              <a:t>Progress compounds along four axes — architecture, training data, alignment, and inference-time compute — not any single breakthrough.</a:t>
            </a:r>
            <a:endParaRPr lang="en-US" sz="9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CC6E82-D09B-40B2-5EAF-935B94FA345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9E887BF-F705-A1B7-0DDA-6EF1291CE977}"/>
              </a:ext>
            </a:extLst>
          </p:cNvPr>
          <p:cNvSpPr>
            <a:spLocks noGrp="1"/>
          </p:cNvSpPr>
          <p:nvPr>
            <p:ph type="title"/>
          </p:nvPr>
        </p:nvSpPr>
        <p:spPr/>
        <p:txBody>
          <a:bodyPr>
            <a:normAutofit fontScale="90000"/>
          </a:bodyPr>
          <a:lstStyle/>
          <a:p>
            <a:r>
              <a:rPr lang="en-US" b="1" dirty="0">
                <a:solidFill>
                  <a:srgbClr val="1E2761"/>
                </a:solidFill>
                <a:latin typeface="Georgia"/>
              </a:rPr>
              <a:t>Question</a:t>
            </a:r>
          </a:p>
        </p:txBody>
      </p:sp>
      <p:sp>
        <p:nvSpPr>
          <p:cNvPr id="3" name="Text Placeholder 2">
            <a:extLst>
              <a:ext uri="{FF2B5EF4-FFF2-40B4-BE49-F238E27FC236}">
                <a16:creationId xmlns:a16="http://schemas.microsoft.com/office/drawing/2014/main" id="{00B5770B-69A9-58F7-327E-A2B8C43B08DB}"/>
              </a:ext>
            </a:extLst>
          </p:cNvPr>
          <p:cNvSpPr>
            <a:spLocks noGrp="1"/>
          </p:cNvSpPr>
          <p:nvPr>
            <p:ph type="body" idx="1"/>
          </p:nvPr>
        </p:nvSpPr>
        <p:spPr/>
        <p:txBody>
          <a:bodyPr/>
          <a:lstStyle/>
          <a:p>
            <a:r>
              <a:rPr lang="en-US" dirty="0">
                <a:solidFill>
                  <a:srgbClr val="1A1F36"/>
                </a:solidFill>
                <a:latin typeface="Calibri"/>
              </a:rPr>
              <a:t>Which of these is a major disadvantage of reasoning models?</a:t>
            </a:r>
            <a:br>
              <a:rPr lang="en-US" dirty="0"/>
            </a:br>
            <a:endParaRPr lang="en-US" dirty="0"/>
          </a:p>
          <a:p>
            <a:pPr lvl="1"/>
            <a:r>
              <a:rPr lang="en-US" dirty="0">
                <a:solidFill>
                  <a:srgbClr val="1A1F36"/>
                </a:solidFill>
                <a:latin typeface="Calibri"/>
              </a:rPr>
              <a:t>They are not very good at reasoning. </a:t>
            </a:r>
          </a:p>
          <a:p>
            <a:pPr lvl="1"/>
            <a:r>
              <a:rPr lang="en-US" dirty="0">
                <a:solidFill>
                  <a:srgbClr val="1A1F36"/>
                </a:solidFill>
                <a:latin typeface="Calibri"/>
              </a:rPr>
              <a:t>They hallucinate more than non-reasoning models</a:t>
            </a:r>
          </a:p>
          <a:p>
            <a:pPr lvl="1"/>
            <a:r>
              <a:rPr lang="en-US" dirty="0">
                <a:solidFill>
                  <a:srgbClr val="1A1F36"/>
                </a:solidFill>
                <a:latin typeface="Calibri"/>
              </a:rPr>
              <a:t>They are time / token consuming.</a:t>
            </a:r>
          </a:p>
          <a:p>
            <a:pPr lvl="1"/>
            <a:r>
              <a:rPr lang="en-US" dirty="0">
                <a:solidFill>
                  <a:srgbClr val="1A1F36"/>
                </a:solidFill>
                <a:latin typeface="Calibri"/>
              </a:rPr>
              <a:t>None</a:t>
            </a:r>
          </a:p>
        </p:txBody>
      </p:sp>
      <p:pic>
        <p:nvPicPr>
          <p:cNvPr id="4" name="Google Shape;328;p29">
            <a:extLst>
              <a:ext uri="{FF2B5EF4-FFF2-40B4-BE49-F238E27FC236}">
                <a16:creationId xmlns:a16="http://schemas.microsoft.com/office/drawing/2014/main" id="{A318DCD3-94C4-5E50-6F67-89BDC239ED0E}"/>
              </a:ext>
            </a:extLst>
          </p:cNvPr>
          <p:cNvPicPr preferRelativeResize="0"/>
          <p:nvPr/>
        </p:nvPicPr>
        <p:blipFill>
          <a:blip r:embed="rId2">
            <a:alphaModFix/>
          </a:blip>
          <a:stretch>
            <a:fillRect/>
          </a:stretch>
        </p:blipFill>
        <p:spPr>
          <a:xfrm>
            <a:off x="8369125" y="0"/>
            <a:ext cx="774877" cy="867174"/>
          </a:xfrm>
          <a:prstGeom prst="rect">
            <a:avLst/>
          </a:prstGeom>
          <a:noFill/>
          <a:ln>
            <a:noFill/>
          </a:ln>
        </p:spPr>
      </p:pic>
    </p:spTree>
    <p:extLst>
      <p:ext uri="{BB962C8B-B14F-4D97-AF65-F5344CB8AC3E}">
        <p14:creationId xmlns:p14="http://schemas.microsoft.com/office/powerpoint/2010/main" val="340612749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365760" y="137160"/>
            <a:ext cx="7315200" cy="640080"/>
          </a:xfrm>
          <a:prstGeom prst="rect">
            <a:avLst/>
          </a:prstGeom>
          <a:noFill/>
          <a:ln/>
        </p:spPr>
        <p:txBody>
          <a:bodyPr wrap="square" lIns="0" tIns="0" rIns="0" bIns="0" rtlCol="0" anchor="ctr"/>
          <a:lstStyle/>
          <a:p>
            <a:pPr marL="0" indent="0">
              <a:buNone/>
            </a:pPr>
            <a:r>
              <a:rPr lang="en-US" sz="3600" b="1" dirty="0">
                <a:solidFill>
                  <a:srgbClr val="1A237E"/>
                </a:solidFill>
                <a:latin typeface="Calibri" pitchFamily="34" charset="0"/>
                <a:ea typeface="Calibri" pitchFamily="34" charset="-122"/>
                <a:cs typeface="Calibri" pitchFamily="34" charset="-120"/>
              </a:rPr>
              <a:t>Answer</a:t>
            </a:r>
            <a:endParaRPr lang="en-US" sz="3600" dirty="0"/>
          </a:p>
        </p:txBody>
      </p:sp>
      <p:sp>
        <p:nvSpPr>
          <p:cNvPr id="3" name="Text 1"/>
          <p:cNvSpPr/>
          <p:nvPr/>
        </p:nvSpPr>
        <p:spPr>
          <a:xfrm>
            <a:off x="365760" y="868680"/>
            <a:ext cx="8412480" cy="502920"/>
          </a:xfrm>
          <a:prstGeom prst="rect">
            <a:avLst/>
          </a:prstGeom>
          <a:noFill/>
          <a:ln/>
        </p:spPr>
        <p:txBody>
          <a:bodyPr wrap="square" lIns="0" tIns="0" rIns="0" bIns="0" rtlCol="0" anchor="ctr"/>
          <a:lstStyle/>
          <a:p>
            <a:pPr marL="0" indent="0">
              <a:buNone/>
            </a:pPr>
            <a:r>
              <a:rPr lang="en-US" sz="1600" b="1" dirty="0">
                <a:solidFill>
                  <a:srgbClr val="1A1A1A"/>
                </a:solidFill>
                <a:latin typeface="Calibri" pitchFamily="34" charset="0"/>
                <a:ea typeface="Calibri" pitchFamily="34" charset="-122"/>
                <a:cs typeface="Calibri" pitchFamily="34" charset="-120"/>
              </a:rPr>
              <a:t>Which of these is a major disadvantage of reasoning models?</a:t>
            </a:r>
            <a:endParaRPr lang="en-US" sz="1600" dirty="0"/>
          </a:p>
        </p:txBody>
      </p:sp>
      <p:sp>
        <p:nvSpPr>
          <p:cNvPr id="4" name="Shape 2"/>
          <p:cNvSpPr/>
          <p:nvPr/>
        </p:nvSpPr>
        <p:spPr>
          <a:xfrm>
            <a:off x="365760" y="1481328"/>
            <a:ext cx="8412480" cy="749808"/>
          </a:xfrm>
          <a:prstGeom prst="roundRect">
            <a:avLst>
              <a:gd name="adj" fmla="val 8537"/>
            </a:avLst>
          </a:prstGeom>
          <a:solidFill>
            <a:srgbClr val="FFEBEE"/>
          </a:solidFill>
          <a:ln w="19050">
            <a:solidFill>
              <a:srgbClr val="EF9A9A"/>
            </a:solidFill>
            <a:prstDash val="solid"/>
          </a:ln>
        </p:spPr>
      </p:sp>
      <p:sp>
        <p:nvSpPr>
          <p:cNvPr id="5" name="Shape 3"/>
          <p:cNvSpPr/>
          <p:nvPr/>
        </p:nvSpPr>
        <p:spPr>
          <a:xfrm>
            <a:off x="475488" y="1636776"/>
            <a:ext cx="347472" cy="347472"/>
          </a:xfrm>
          <a:prstGeom prst="ellipse">
            <a:avLst/>
          </a:prstGeom>
          <a:solidFill>
            <a:srgbClr val="B71C1C"/>
          </a:solidFill>
          <a:ln w="12700">
            <a:solidFill>
              <a:srgbClr val="B71C1C"/>
            </a:solidFill>
            <a:prstDash val="solid"/>
          </a:ln>
        </p:spPr>
      </p:sp>
      <p:sp>
        <p:nvSpPr>
          <p:cNvPr id="6" name="Text 4"/>
          <p:cNvSpPr/>
          <p:nvPr/>
        </p:nvSpPr>
        <p:spPr>
          <a:xfrm>
            <a:off x="475488" y="1636776"/>
            <a:ext cx="347472" cy="347472"/>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A</a:t>
            </a:r>
            <a:endParaRPr lang="en-US" sz="1200" dirty="0"/>
          </a:p>
        </p:txBody>
      </p:sp>
      <p:sp>
        <p:nvSpPr>
          <p:cNvPr id="7" name="Text 5"/>
          <p:cNvSpPr/>
          <p:nvPr/>
        </p:nvSpPr>
        <p:spPr>
          <a:xfrm>
            <a:off x="932688" y="1536192"/>
            <a:ext cx="7635240" cy="274320"/>
          </a:xfrm>
          <a:prstGeom prst="rect">
            <a:avLst/>
          </a:prstGeom>
          <a:noFill/>
          <a:ln/>
        </p:spPr>
        <p:txBody>
          <a:bodyPr wrap="square" lIns="0" tIns="0" rIns="0" bIns="0" rtlCol="0" anchor="ctr"/>
          <a:lstStyle/>
          <a:p>
            <a:pPr marL="0" indent="0">
              <a:buNone/>
            </a:pPr>
            <a:r>
              <a:rPr lang="en-US" sz="1300" dirty="0">
                <a:solidFill>
                  <a:srgbClr val="7B1C1C"/>
                </a:solidFill>
                <a:latin typeface="Calibri" pitchFamily="34" charset="0"/>
                <a:ea typeface="Calibri" pitchFamily="34" charset="-122"/>
                <a:cs typeface="Calibri" pitchFamily="34" charset="-120"/>
              </a:rPr>
              <a:t>They are not very good at reasoning.</a:t>
            </a:r>
            <a:endParaRPr lang="en-US" sz="1300" dirty="0"/>
          </a:p>
        </p:txBody>
      </p:sp>
      <p:sp>
        <p:nvSpPr>
          <p:cNvPr id="8" name="Text 6"/>
          <p:cNvSpPr/>
          <p:nvPr/>
        </p:nvSpPr>
        <p:spPr>
          <a:xfrm>
            <a:off x="932688" y="1828800"/>
            <a:ext cx="7635240" cy="347472"/>
          </a:xfrm>
          <a:prstGeom prst="rect">
            <a:avLst/>
          </a:prstGeom>
          <a:noFill/>
          <a:ln/>
        </p:spPr>
        <p:txBody>
          <a:bodyPr wrap="square" lIns="0" tIns="0" rIns="0" bIns="0" rtlCol="0" anchor="t"/>
          <a:lstStyle/>
          <a:p>
            <a:pPr marL="0" indent="0">
              <a:buNone/>
            </a:pPr>
            <a:r>
              <a:rPr lang="en-US" sz="1050" i="1" dirty="0">
                <a:solidFill>
                  <a:srgbClr val="8D3030"/>
                </a:solidFill>
                <a:latin typeface="Calibri" pitchFamily="34" charset="0"/>
                <a:ea typeface="Calibri" pitchFamily="34" charset="-122"/>
                <a:cs typeface="Calibri" pitchFamily="34" charset="-120"/>
              </a:rPr>
              <a:t>Incorrect. Reasoning models are specifically designed to excel at complex reasoning tasks — multi-step logic, math, and code — often surpassing standard LLMs.</a:t>
            </a:r>
            <a:endParaRPr lang="en-US" sz="1050" dirty="0"/>
          </a:p>
        </p:txBody>
      </p:sp>
      <p:sp>
        <p:nvSpPr>
          <p:cNvPr id="9" name="Shape 7"/>
          <p:cNvSpPr/>
          <p:nvPr/>
        </p:nvSpPr>
        <p:spPr>
          <a:xfrm>
            <a:off x="365760" y="2322576"/>
            <a:ext cx="8412480" cy="749808"/>
          </a:xfrm>
          <a:prstGeom prst="roundRect">
            <a:avLst>
              <a:gd name="adj" fmla="val 8537"/>
            </a:avLst>
          </a:prstGeom>
          <a:solidFill>
            <a:srgbClr val="FFEBEE"/>
          </a:solidFill>
          <a:ln w="19050">
            <a:solidFill>
              <a:srgbClr val="EF9A9A"/>
            </a:solidFill>
            <a:prstDash val="solid"/>
          </a:ln>
        </p:spPr>
      </p:sp>
      <p:sp>
        <p:nvSpPr>
          <p:cNvPr id="10" name="Shape 8"/>
          <p:cNvSpPr/>
          <p:nvPr/>
        </p:nvSpPr>
        <p:spPr>
          <a:xfrm>
            <a:off x="475488" y="2478024"/>
            <a:ext cx="347472" cy="347472"/>
          </a:xfrm>
          <a:prstGeom prst="ellipse">
            <a:avLst/>
          </a:prstGeom>
          <a:solidFill>
            <a:srgbClr val="B71C1C"/>
          </a:solidFill>
          <a:ln w="12700">
            <a:solidFill>
              <a:srgbClr val="B71C1C"/>
            </a:solidFill>
            <a:prstDash val="solid"/>
          </a:ln>
        </p:spPr>
      </p:sp>
      <p:sp>
        <p:nvSpPr>
          <p:cNvPr id="11" name="Text 9"/>
          <p:cNvSpPr/>
          <p:nvPr/>
        </p:nvSpPr>
        <p:spPr>
          <a:xfrm>
            <a:off x="475488" y="2478024"/>
            <a:ext cx="347472" cy="347472"/>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B</a:t>
            </a:r>
            <a:endParaRPr lang="en-US" sz="1200" dirty="0"/>
          </a:p>
        </p:txBody>
      </p:sp>
      <p:sp>
        <p:nvSpPr>
          <p:cNvPr id="12" name="Text 10"/>
          <p:cNvSpPr/>
          <p:nvPr/>
        </p:nvSpPr>
        <p:spPr>
          <a:xfrm>
            <a:off x="932688" y="2377440"/>
            <a:ext cx="7635240" cy="274320"/>
          </a:xfrm>
          <a:prstGeom prst="rect">
            <a:avLst/>
          </a:prstGeom>
          <a:noFill/>
          <a:ln/>
        </p:spPr>
        <p:txBody>
          <a:bodyPr wrap="square" lIns="0" tIns="0" rIns="0" bIns="0" rtlCol="0" anchor="ctr"/>
          <a:lstStyle/>
          <a:p>
            <a:pPr marL="0" indent="0">
              <a:buNone/>
            </a:pPr>
            <a:r>
              <a:rPr lang="en-US" sz="1300" dirty="0">
                <a:solidFill>
                  <a:srgbClr val="7B1C1C"/>
                </a:solidFill>
                <a:latin typeface="Calibri" pitchFamily="34" charset="0"/>
                <a:ea typeface="Calibri" pitchFamily="34" charset="-122"/>
                <a:cs typeface="Calibri" pitchFamily="34" charset="-120"/>
              </a:rPr>
              <a:t>They hallucinate more than non-reasoning models.</a:t>
            </a:r>
            <a:endParaRPr lang="en-US" sz="1300" dirty="0"/>
          </a:p>
        </p:txBody>
      </p:sp>
      <p:sp>
        <p:nvSpPr>
          <p:cNvPr id="13" name="Text 11"/>
          <p:cNvSpPr/>
          <p:nvPr/>
        </p:nvSpPr>
        <p:spPr>
          <a:xfrm>
            <a:off x="932688" y="2670048"/>
            <a:ext cx="7635240" cy="347472"/>
          </a:xfrm>
          <a:prstGeom prst="rect">
            <a:avLst/>
          </a:prstGeom>
          <a:noFill/>
          <a:ln/>
        </p:spPr>
        <p:txBody>
          <a:bodyPr wrap="square" lIns="0" tIns="0" rIns="0" bIns="0" rtlCol="0" anchor="t"/>
          <a:lstStyle/>
          <a:p>
            <a:pPr marL="0" indent="0">
              <a:buNone/>
            </a:pPr>
            <a:r>
              <a:rPr lang="en-US" sz="1050" i="1" dirty="0">
                <a:solidFill>
                  <a:srgbClr val="8D3030"/>
                </a:solidFill>
                <a:latin typeface="Calibri" pitchFamily="34" charset="0"/>
                <a:ea typeface="Calibri" pitchFamily="34" charset="-122"/>
                <a:cs typeface="Calibri" pitchFamily="34" charset="-120"/>
              </a:rPr>
              <a:t>Incorrect. Reasoning models typically hallucinate less because they verify intermediate steps before producing a final answer.</a:t>
            </a:r>
            <a:endParaRPr lang="en-US" sz="1050" dirty="0"/>
          </a:p>
        </p:txBody>
      </p:sp>
      <p:sp>
        <p:nvSpPr>
          <p:cNvPr id="14" name="Shape 12"/>
          <p:cNvSpPr/>
          <p:nvPr/>
        </p:nvSpPr>
        <p:spPr>
          <a:xfrm>
            <a:off x="365760" y="3163824"/>
            <a:ext cx="8412480" cy="749808"/>
          </a:xfrm>
          <a:prstGeom prst="roundRect">
            <a:avLst>
              <a:gd name="adj" fmla="val 8537"/>
            </a:avLst>
          </a:prstGeom>
          <a:solidFill>
            <a:srgbClr val="E8F5E9"/>
          </a:solidFill>
          <a:ln w="19050">
            <a:solidFill>
              <a:srgbClr val="4CAF50"/>
            </a:solidFill>
            <a:prstDash val="solid"/>
          </a:ln>
        </p:spPr>
      </p:sp>
      <p:sp>
        <p:nvSpPr>
          <p:cNvPr id="15" name="Shape 13"/>
          <p:cNvSpPr/>
          <p:nvPr/>
        </p:nvSpPr>
        <p:spPr>
          <a:xfrm>
            <a:off x="475488" y="3319272"/>
            <a:ext cx="347472" cy="347472"/>
          </a:xfrm>
          <a:prstGeom prst="ellipse">
            <a:avLst/>
          </a:prstGeom>
          <a:solidFill>
            <a:srgbClr val="1B5E20"/>
          </a:solidFill>
          <a:ln w="12700">
            <a:solidFill>
              <a:srgbClr val="1B5E20"/>
            </a:solidFill>
            <a:prstDash val="solid"/>
          </a:ln>
        </p:spPr>
      </p:sp>
      <p:sp>
        <p:nvSpPr>
          <p:cNvPr id="16" name="Text 14"/>
          <p:cNvSpPr/>
          <p:nvPr/>
        </p:nvSpPr>
        <p:spPr>
          <a:xfrm>
            <a:off x="475488" y="3319272"/>
            <a:ext cx="347472" cy="347472"/>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C</a:t>
            </a:r>
            <a:endParaRPr lang="en-US" sz="1200" dirty="0"/>
          </a:p>
        </p:txBody>
      </p:sp>
      <p:sp>
        <p:nvSpPr>
          <p:cNvPr id="17" name="Text 15"/>
          <p:cNvSpPr/>
          <p:nvPr/>
        </p:nvSpPr>
        <p:spPr>
          <a:xfrm>
            <a:off x="932688" y="3218688"/>
            <a:ext cx="7635240" cy="274320"/>
          </a:xfrm>
          <a:prstGeom prst="rect">
            <a:avLst/>
          </a:prstGeom>
          <a:noFill/>
          <a:ln/>
        </p:spPr>
        <p:txBody>
          <a:bodyPr wrap="square" lIns="0" tIns="0" rIns="0" bIns="0" rtlCol="0" anchor="ctr"/>
          <a:lstStyle/>
          <a:p>
            <a:pPr marL="0" indent="0">
              <a:buNone/>
            </a:pPr>
            <a:r>
              <a:rPr lang="en-US" sz="1300" b="1" dirty="0">
                <a:solidFill>
                  <a:srgbClr val="1B5E20"/>
                </a:solidFill>
                <a:latin typeface="Calibri" pitchFamily="34" charset="0"/>
                <a:ea typeface="Calibri" pitchFamily="34" charset="-122"/>
                <a:cs typeface="Calibri" pitchFamily="34" charset="-120"/>
              </a:rPr>
              <a:t>They are time / token consuming.</a:t>
            </a:r>
            <a:endParaRPr lang="en-US" sz="1300" dirty="0"/>
          </a:p>
        </p:txBody>
      </p:sp>
      <p:sp>
        <p:nvSpPr>
          <p:cNvPr id="18" name="Text 16"/>
          <p:cNvSpPr/>
          <p:nvPr/>
        </p:nvSpPr>
        <p:spPr>
          <a:xfrm>
            <a:off x="932688" y="3511296"/>
            <a:ext cx="7635240" cy="347472"/>
          </a:xfrm>
          <a:prstGeom prst="rect">
            <a:avLst/>
          </a:prstGeom>
          <a:noFill/>
          <a:ln/>
        </p:spPr>
        <p:txBody>
          <a:bodyPr wrap="square" lIns="0" tIns="0" rIns="0" bIns="0" rtlCol="0" anchor="t"/>
          <a:lstStyle/>
          <a:p>
            <a:pPr marL="0" indent="0">
              <a:buNone/>
            </a:pPr>
            <a:r>
              <a:rPr lang="en-US" sz="1050" dirty="0">
                <a:solidFill>
                  <a:srgbClr val="2E7D32"/>
                </a:solidFill>
                <a:latin typeface="Calibri" pitchFamily="34" charset="0"/>
                <a:ea typeface="Calibri" pitchFamily="34" charset="-122"/>
                <a:cs typeface="Calibri" pitchFamily="34" charset="-120"/>
              </a:rPr>
              <a:t>✓ Correct! Reasoning models generate long "chains of thought" before responding. This increases latency and token usage significantly compared to standard models.</a:t>
            </a:r>
            <a:endParaRPr lang="en-US" sz="1050" dirty="0"/>
          </a:p>
        </p:txBody>
      </p:sp>
      <p:sp>
        <p:nvSpPr>
          <p:cNvPr id="19" name="Shape 17"/>
          <p:cNvSpPr/>
          <p:nvPr/>
        </p:nvSpPr>
        <p:spPr>
          <a:xfrm>
            <a:off x="365760" y="4005072"/>
            <a:ext cx="8412480" cy="749808"/>
          </a:xfrm>
          <a:prstGeom prst="roundRect">
            <a:avLst>
              <a:gd name="adj" fmla="val 8537"/>
            </a:avLst>
          </a:prstGeom>
          <a:solidFill>
            <a:srgbClr val="FFEBEE"/>
          </a:solidFill>
          <a:ln w="19050">
            <a:solidFill>
              <a:srgbClr val="EF9A9A"/>
            </a:solidFill>
            <a:prstDash val="solid"/>
          </a:ln>
        </p:spPr>
      </p:sp>
      <p:sp>
        <p:nvSpPr>
          <p:cNvPr id="20" name="Shape 18"/>
          <p:cNvSpPr/>
          <p:nvPr/>
        </p:nvSpPr>
        <p:spPr>
          <a:xfrm>
            <a:off x="475488" y="4160520"/>
            <a:ext cx="347472" cy="347472"/>
          </a:xfrm>
          <a:prstGeom prst="ellipse">
            <a:avLst/>
          </a:prstGeom>
          <a:solidFill>
            <a:srgbClr val="B71C1C"/>
          </a:solidFill>
          <a:ln w="12700">
            <a:solidFill>
              <a:srgbClr val="B71C1C"/>
            </a:solidFill>
            <a:prstDash val="solid"/>
          </a:ln>
        </p:spPr>
      </p:sp>
      <p:sp>
        <p:nvSpPr>
          <p:cNvPr id="21" name="Text 19"/>
          <p:cNvSpPr/>
          <p:nvPr/>
        </p:nvSpPr>
        <p:spPr>
          <a:xfrm>
            <a:off x="475488" y="4160520"/>
            <a:ext cx="347472" cy="347472"/>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D</a:t>
            </a:r>
            <a:endParaRPr lang="en-US" sz="1200" dirty="0"/>
          </a:p>
        </p:txBody>
      </p:sp>
      <p:sp>
        <p:nvSpPr>
          <p:cNvPr id="22" name="Text 20"/>
          <p:cNvSpPr/>
          <p:nvPr/>
        </p:nvSpPr>
        <p:spPr>
          <a:xfrm>
            <a:off x="932688" y="4059936"/>
            <a:ext cx="7635240" cy="274320"/>
          </a:xfrm>
          <a:prstGeom prst="rect">
            <a:avLst/>
          </a:prstGeom>
          <a:noFill/>
          <a:ln/>
        </p:spPr>
        <p:txBody>
          <a:bodyPr wrap="square" lIns="0" tIns="0" rIns="0" bIns="0" rtlCol="0" anchor="ctr"/>
          <a:lstStyle/>
          <a:p>
            <a:pPr marL="0" indent="0">
              <a:buNone/>
            </a:pPr>
            <a:r>
              <a:rPr lang="en-US" sz="1300" dirty="0">
                <a:solidFill>
                  <a:srgbClr val="7B1C1C"/>
                </a:solidFill>
                <a:latin typeface="Calibri" pitchFamily="34" charset="0"/>
                <a:ea typeface="Calibri" pitchFamily="34" charset="-122"/>
                <a:cs typeface="Calibri" pitchFamily="34" charset="-120"/>
              </a:rPr>
              <a:t>None</a:t>
            </a:r>
            <a:endParaRPr lang="en-US" sz="1300" dirty="0"/>
          </a:p>
        </p:txBody>
      </p:sp>
      <p:sp>
        <p:nvSpPr>
          <p:cNvPr id="23" name="Text 21"/>
          <p:cNvSpPr/>
          <p:nvPr/>
        </p:nvSpPr>
        <p:spPr>
          <a:xfrm>
            <a:off x="932688" y="4352544"/>
            <a:ext cx="7635240" cy="347472"/>
          </a:xfrm>
          <a:prstGeom prst="rect">
            <a:avLst/>
          </a:prstGeom>
          <a:noFill/>
          <a:ln/>
        </p:spPr>
        <p:txBody>
          <a:bodyPr wrap="square" lIns="0" tIns="0" rIns="0" bIns="0" rtlCol="0" anchor="t"/>
          <a:lstStyle/>
          <a:p>
            <a:pPr marL="0" indent="0">
              <a:buNone/>
            </a:pPr>
            <a:r>
              <a:rPr lang="en-US" sz="1050" i="1" dirty="0">
                <a:solidFill>
                  <a:srgbClr val="8D3030"/>
                </a:solidFill>
                <a:latin typeface="Calibri" pitchFamily="34" charset="0"/>
                <a:ea typeface="Calibri" pitchFamily="34" charset="-122"/>
                <a:cs typeface="Calibri" pitchFamily="34" charset="-120"/>
              </a:rPr>
              <a:t>Incorrect. Option C is a well-documented trade-off: reasoning models are slower and more expensive to run due to extended internal reasoning traces.</a:t>
            </a:r>
            <a:endParaRPr lang="en-US" sz="1050" dirty="0"/>
          </a:p>
        </p:txBody>
      </p:sp>
      <p:sp>
        <p:nvSpPr>
          <p:cNvPr id="25" name="Text 23"/>
          <p:cNvSpPr/>
          <p:nvPr/>
        </p:nvSpPr>
        <p:spPr>
          <a:xfrm>
            <a:off x="8549640" y="73152"/>
            <a:ext cx="502920" cy="502920"/>
          </a:xfrm>
          <a:prstGeom prst="rect">
            <a:avLst/>
          </a:prstGeom>
          <a:noFill/>
          <a:ln/>
        </p:spPr>
        <p:txBody>
          <a:bodyPr wrap="square" lIns="0" tIns="0" rIns="0" bIns="0" rtlCol="0" anchor="ctr"/>
          <a:lstStyle/>
          <a:p>
            <a:pPr marL="0" indent="0" algn="ctr">
              <a:buNone/>
            </a:pPr>
            <a:r>
              <a:rPr lang="en-US" sz="700" b="1" dirty="0">
                <a:solidFill>
                  <a:srgbClr val="FFFFFF"/>
                </a:solidFill>
                <a:latin typeface="Calibri" pitchFamily="34" charset="0"/>
                <a:ea typeface="Calibri" pitchFamily="34" charset="-122"/>
                <a:cs typeface="Calibri" pitchFamily="34" charset="-120"/>
              </a:rPr>
              <a:t>IIT</a:t>
            </a:r>
            <a:endParaRPr lang="en-US" sz="700" dirty="0"/>
          </a:p>
          <a:p>
            <a:pPr marL="0" indent="0" algn="ctr">
              <a:buNone/>
            </a:pPr>
            <a:r>
              <a:rPr lang="en-US" sz="700" b="1" dirty="0">
                <a:solidFill>
                  <a:srgbClr val="FFFFFF"/>
                </a:solidFill>
                <a:latin typeface="Calibri" pitchFamily="34" charset="0"/>
                <a:ea typeface="Calibri" pitchFamily="34" charset="-122"/>
                <a:cs typeface="Calibri" pitchFamily="34" charset="-120"/>
              </a:rPr>
              <a:t>KGP</a:t>
            </a:r>
            <a:endParaRPr lang="en-US" sz="700" dirty="0"/>
          </a:p>
        </p:txBody>
      </p:sp>
      <p:pic>
        <p:nvPicPr>
          <p:cNvPr id="24" name="Google Shape;328;p29">
            <a:extLst>
              <a:ext uri="{FF2B5EF4-FFF2-40B4-BE49-F238E27FC236}">
                <a16:creationId xmlns:a16="http://schemas.microsoft.com/office/drawing/2014/main" id="{FB9C8F67-BDF0-38C9-6016-3A24EEA4EB23}"/>
              </a:ext>
            </a:extLst>
          </p:cNvPr>
          <p:cNvPicPr preferRelativeResize="0"/>
          <p:nvPr/>
        </p:nvPicPr>
        <p:blipFill>
          <a:blip r:embed="rId3">
            <a:alphaModFix/>
          </a:blip>
          <a:stretch>
            <a:fillRect/>
          </a:stretch>
        </p:blipFill>
        <p:spPr>
          <a:xfrm>
            <a:off x="8369125" y="0"/>
            <a:ext cx="774877" cy="867174"/>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108">
          <a:extLst>
            <a:ext uri="{FF2B5EF4-FFF2-40B4-BE49-F238E27FC236}">
              <a16:creationId xmlns:a16="http://schemas.microsoft.com/office/drawing/2014/main" id="{016515F6-02A3-1A98-155B-39377265BFF2}"/>
            </a:ext>
          </a:extLst>
        </p:cNvPr>
        <p:cNvGrpSpPr/>
        <p:nvPr/>
      </p:nvGrpSpPr>
      <p:grpSpPr>
        <a:xfrm>
          <a:off x="0" y="0"/>
          <a:ext cx="0" cy="0"/>
          <a:chOff x="0" y="0"/>
          <a:chExt cx="0" cy="0"/>
        </a:xfrm>
      </p:grpSpPr>
      <p:pic>
        <p:nvPicPr>
          <p:cNvPr id="109" name="Google Shape;109;p20">
            <a:extLst>
              <a:ext uri="{FF2B5EF4-FFF2-40B4-BE49-F238E27FC236}">
                <a16:creationId xmlns:a16="http://schemas.microsoft.com/office/drawing/2014/main" id="{9C5643CC-EC83-07C4-C194-D5C9BCACF169}"/>
              </a:ext>
            </a:extLst>
          </p:cNvPr>
          <p:cNvPicPr preferRelativeResize="0"/>
          <p:nvPr/>
        </p:nvPicPr>
        <p:blipFill>
          <a:blip r:embed="rId3">
            <a:alphaModFix/>
          </a:blip>
          <a:stretch>
            <a:fillRect/>
          </a:stretch>
        </p:blipFill>
        <p:spPr>
          <a:xfrm>
            <a:off x="8369125" y="0"/>
            <a:ext cx="774877" cy="867174"/>
          </a:xfrm>
          <a:prstGeom prst="rect">
            <a:avLst/>
          </a:prstGeom>
          <a:noFill/>
          <a:ln>
            <a:noFill/>
          </a:ln>
        </p:spPr>
      </p:pic>
      <p:sp>
        <p:nvSpPr>
          <p:cNvPr id="110" name="Google Shape;110;p20">
            <a:extLst>
              <a:ext uri="{FF2B5EF4-FFF2-40B4-BE49-F238E27FC236}">
                <a16:creationId xmlns:a16="http://schemas.microsoft.com/office/drawing/2014/main" id="{3A96A375-7E05-937E-164F-755C0A102560}"/>
              </a:ext>
            </a:extLst>
          </p:cNvPr>
          <p:cNvSpPr txBox="1">
            <a:spLocks noGrp="1"/>
          </p:cNvSpPr>
          <p:nvPr>
            <p:ph type="ctrTitle" idx="4294967295"/>
          </p:nvPr>
        </p:nvSpPr>
        <p:spPr>
          <a:xfrm>
            <a:off x="418813" y="1507259"/>
            <a:ext cx="7772400" cy="8673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rgbClr val="C00000"/>
              </a:buClr>
              <a:buSzPts val="4400"/>
              <a:buFont typeface="Calibri"/>
              <a:buNone/>
            </a:pPr>
            <a:r>
              <a:rPr lang="en" sz="4000" b="1" dirty="0">
                <a:sym typeface="Calibri"/>
              </a:rPr>
              <a:t>Large Language Models </a:t>
            </a:r>
            <a:endParaRPr sz="4000" dirty="0">
              <a:latin typeface="Calibri"/>
              <a:ea typeface="Calibri"/>
              <a:cs typeface="Calibri"/>
              <a:sym typeface="Calibri"/>
            </a:endParaRPr>
          </a:p>
        </p:txBody>
      </p:sp>
      <p:sp>
        <p:nvSpPr>
          <p:cNvPr id="3" name="TextBox 2">
            <a:extLst>
              <a:ext uri="{FF2B5EF4-FFF2-40B4-BE49-F238E27FC236}">
                <a16:creationId xmlns:a16="http://schemas.microsoft.com/office/drawing/2014/main" id="{D090F965-D7BA-2583-71E2-5700B2C6E5B8}"/>
              </a:ext>
            </a:extLst>
          </p:cNvPr>
          <p:cNvSpPr txBox="1"/>
          <p:nvPr/>
        </p:nvSpPr>
        <p:spPr>
          <a:xfrm>
            <a:off x="2786932" y="2768942"/>
            <a:ext cx="3570135" cy="400110"/>
          </a:xfrm>
          <a:prstGeom prst="rect">
            <a:avLst/>
          </a:prstGeom>
          <a:noFill/>
        </p:spPr>
        <p:txBody>
          <a:bodyPr wrap="square" rtlCol="0">
            <a:spAutoFit/>
          </a:bodyPr>
          <a:lstStyle/>
          <a:p>
            <a:r>
              <a:rPr lang="en-US" sz="2000" dirty="0">
                <a:solidFill>
                  <a:srgbClr val="1A1F36"/>
                </a:solidFill>
                <a:latin typeface="Calibri"/>
              </a:rPr>
              <a:t>Basic Prompting</a:t>
            </a:r>
          </a:p>
        </p:txBody>
      </p:sp>
    </p:spTree>
    <p:extLst>
      <p:ext uri="{BB962C8B-B14F-4D97-AF65-F5344CB8AC3E}">
        <p14:creationId xmlns:p14="http://schemas.microsoft.com/office/powerpoint/2010/main" val="30188775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04043" y="166919"/>
            <a:ext cx="4339828" cy="452502"/>
          </a:xfrm>
          <a:prstGeom prst="rect">
            <a:avLst/>
          </a:prstGeom>
        </p:spPr>
        <p:txBody>
          <a:bodyPr spcFirstLastPara="1" vert="horz" wrap="square" lIns="0" tIns="8706" rIns="0" bIns="0" rtlCol="0" anchor="ctr" anchorCtr="0">
            <a:spAutoFit/>
          </a:bodyPr>
          <a:lstStyle/>
          <a:p>
            <a:pPr marL="6697">
              <a:spcBef>
                <a:spcPts val="69"/>
              </a:spcBef>
            </a:pPr>
            <a:r>
              <a:rPr b="1" spc="-21" dirty="0">
                <a:solidFill>
                  <a:srgbClr val="1E2761"/>
                </a:solidFill>
                <a:latin typeface="Georgia"/>
              </a:rPr>
              <a:t>What</a:t>
            </a:r>
            <a:r>
              <a:rPr b="1" spc="-187" dirty="0">
                <a:solidFill>
                  <a:srgbClr val="1E2761"/>
                </a:solidFill>
                <a:latin typeface="Georgia"/>
              </a:rPr>
              <a:t> </a:t>
            </a:r>
            <a:r>
              <a:rPr b="1" spc="-29" dirty="0">
                <a:solidFill>
                  <a:srgbClr val="1E2761"/>
                </a:solidFill>
                <a:latin typeface="Georgia"/>
              </a:rPr>
              <a:t>are</a:t>
            </a:r>
            <a:r>
              <a:rPr b="1" spc="-148" dirty="0">
                <a:solidFill>
                  <a:srgbClr val="1E2761"/>
                </a:solidFill>
                <a:latin typeface="Georgia"/>
              </a:rPr>
              <a:t> </a:t>
            </a:r>
            <a:r>
              <a:rPr b="1" spc="-18" dirty="0">
                <a:solidFill>
                  <a:srgbClr val="1E2761"/>
                </a:solidFill>
                <a:latin typeface="Georgia"/>
              </a:rPr>
              <a:t>prompts?</a:t>
            </a:r>
          </a:p>
        </p:txBody>
      </p:sp>
      <p:grpSp>
        <p:nvGrpSpPr>
          <p:cNvPr id="3" name="object 3"/>
          <p:cNvGrpSpPr/>
          <p:nvPr/>
        </p:nvGrpSpPr>
        <p:grpSpPr>
          <a:xfrm>
            <a:off x="789900" y="2950011"/>
            <a:ext cx="6565057" cy="2026569"/>
            <a:chOff x="1058862" y="5594096"/>
            <a:chExt cx="10902950" cy="3340735"/>
          </a:xfrm>
        </p:grpSpPr>
        <p:sp>
          <p:nvSpPr>
            <p:cNvPr id="4" name="object 4"/>
            <p:cNvSpPr/>
            <p:nvPr/>
          </p:nvSpPr>
          <p:spPr>
            <a:xfrm>
              <a:off x="1085850" y="5621147"/>
              <a:ext cx="10829925" cy="3277235"/>
            </a:xfrm>
            <a:custGeom>
              <a:avLst/>
              <a:gdLst/>
              <a:ahLst/>
              <a:cxnLst/>
              <a:rect l="l" t="t" r="r" b="b"/>
              <a:pathLst>
                <a:path w="10829925" h="3277234">
                  <a:moveTo>
                    <a:pt x="10720832" y="126"/>
                  </a:moveTo>
                  <a:lnTo>
                    <a:pt x="10693781" y="0"/>
                  </a:lnTo>
                  <a:lnTo>
                    <a:pt x="109067" y="126"/>
                  </a:lnTo>
                  <a:lnTo>
                    <a:pt x="69824" y="2793"/>
                  </a:lnTo>
                  <a:lnTo>
                    <a:pt x="25882" y="26035"/>
                  </a:lnTo>
                  <a:lnTo>
                    <a:pt x="2717" y="69976"/>
                  </a:lnTo>
                  <a:lnTo>
                    <a:pt x="0" y="109219"/>
                  </a:lnTo>
                  <a:lnTo>
                    <a:pt x="0" y="3167570"/>
                  </a:lnTo>
                  <a:lnTo>
                    <a:pt x="14630" y="3236810"/>
                  </a:lnTo>
                  <a:lnTo>
                    <a:pt x="56197" y="3270173"/>
                  </a:lnTo>
                  <a:lnTo>
                    <a:pt x="109067" y="3276752"/>
                  </a:lnTo>
                  <a:lnTo>
                    <a:pt x="10693781" y="3276854"/>
                  </a:lnTo>
                  <a:lnTo>
                    <a:pt x="10742676" y="3276028"/>
                  </a:lnTo>
                  <a:lnTo>
                    <a:pt x="10790047" y="3262109"/>
                  </a:lnTo>
                  <a:lnTo>
                    <a:pt x="10823321" y="3220491"/>
                  </a:lnTo>
                  <a:lnTo>
                    <a:pt x="10829925" y="3167570"/>
                  </a:lnTo>
                  <a:lnTo>
                    <a:pt x="10829925" y="109219"/>
                  </a:lnTo>
                  <a:lnTo>
                    <a:pt x="10827258" y="69976"/>
                  </a:lnTo>
                  <a:lnTo>
                    <a:pt x="10804017" y="26035"/>
                  </a:lnTo>
                  <a:lnTo>
                    <a:pt x="10760075" y="2793"/>
                  </a:lnTo>
                  <a:lnTo>
                    <a:pt x="10720832" y="126"/>
                  </a:lnTo>
                  <a:close/>
                </a:path>
              </a:pathLst>
            </a:custGeom>
            <a:solidFill>
              <a:srgbClr val="F1F1F1"/>
            </a:solidFill>
          </p:spPr>
          <p:txBody>
            <a:bodyPr wrap="square" lIns="0" tIns="0" rIns="0" bIns="0" rtlCol="0"/>
            <a:lstStyle/>
            <a:p>
              <a:endParaRPr sz="738"/>
            </a:p>
          </p:txBody>
        </p:sp>
        <p:sp>
          <p:nvSpPr>
            <p:cNvPr id="5" name="object 5"/>
            <p:cNvSpPr/>
            <p:nvPr/>
          </p:nvSpPr>
          <p:spPr>
            <a:xfrm>
              <a:off x="1090612" y="5625846"/>
              <a:ext cx="10839450" cy="3277235"/>
            </a:xfrm>
            <a:custGeom>
              <a:avLst/>
              <a:gdLst/>
              <a:ahLst/>
              <a:cxnLst/>
              <a:rect l="l" t="t" r="r" b="b"/>
              <a:pathLst>
                <a:path w="10839450" h="3277234">
                  <a:moveTo>
                    <a:pt x="136397" y="0"/>
                  </a:moveTo>
                  <a:lnTo>
                    <a:pt x="10702607" y="0"/>
                  </a:lnTo>
                  <a:lnTo>
                    <a:pt x="10729785" y="126"/>
                  </a:lnTo>
                  <a:lnTo>
                    <a:pt x="10769028" y="2920"/>
                  </a:lnTo>
                  <a:lnTo>
                    <a:pt x="10812970" y="26034"/>
                  </a:lnTo>
                  <a:lnTo>
                    <a:pt x="10836211" y="70103"/>
                  </a:lnTo>
                  <a:lnTo>
                    <a:pt x="10838878" y="109346"/>
                  </a:lnTo>
                  <a:lnTo>
                    <a:pt x="10839005" y="136525"/>
                  </a:lnTo>
                  <a:lnTo>
                    <a:pt x="10839005" y="3140481"/>
                  </a:lnTo>
                  <a:lnTo>
                    <a:pt x="10838243" y="3189528"/>
                  </a:lnTo>
                  <a:lnTo>
                    <a:pt x="10824273" y="3236874"/>
                  </a:lnTo>
                  <a:lnTo>
                    <a:pt x="10782617" y="3270237"/>
                  </a:lnTo>
                  <a:lnTo>
                    <a:pt x="10729785" y="3276815"/>
                  </a:lnTo>
                  <a:lnTo>
                    <a:pt x="10702607" y="3276917"/>
                  </a:lnTo>
                  <a:lnTo>
                    <a:pt x="136397" y="3276917"/>
                  </a:lnTo>
                  <a:lnTo>
                    <a:pt x="87363" y="3276091"/>
                  </a:lnTo>
                  <a:lnTo>
                    <a:pt x="40030" y="3262172"/>
                  </a:lnTo>
                  <a:lnTo>
                    <a:pt x="6680" y="3220554"/>
                  </a:lnTo>
                  <a:lnTo>
                    <a:pt x="101" y="3167634"/>
                  </a:lnTo>
                  <a:lnTo>
                    <a:pt x="0" y="3140481"/>
                  </a:lnTo>
                  <a:lnTo>
                    <a:pt x="0" y="136525"/>
                  </a:lnTo>
                  <a:lnTo>
                    <a:pt x="838" y="87375"/>
                  </a:lnTo>
                  <a:lnTo>
                    <a:pt x="14744" y="40131"/>
                  </a:lnTo>
                  <a:lnTo>
                    <a:pt x="56349" y="6730"/>
                  </a:lnTo>
                  <a:lnTo>
                    <a:pt x="109258" y="126"/>
                  </a:lnTo>
                  <a:lnTo>
                    <a:pt x="136397" y="0"/>
                  </a:lnTo>
                  <a:close/>
                </a:path>
              </a:pathLst>
            </a:custGeom>
            <a:ln w="63500">
              <a:solidFill>
                <a:srgbClr val="6C6BE7"/>
              </a:solidFill>
            </a:ln>
          </p:spPr>
          <p:txBody>
            <a:bodyPr wrap="square" lIns="0" tIns="0" rIns="0" bIns="0" rtlCol="0"/>
            <a:lstStyle/>
            <a:p>
              <a:endParaRPr sz="738"/>
            </a:p>
          </p:txBody>
        </p:sp>
      </p:grpSp>
      <p:sp>
        <p:nvSpPr>
          <p:cNvPr id="6" name="object 6"/>
          <p:cNvSpPr txBox="1"/>
          <p:nvPr/>
        </p:nvSpPr>
        <p:spPr>
          <a:xfrm>
            <a:off x="596349" y="761111"/>
            <a:ext cx="6661088" cy="2167744"/>
          </a:xfrm>
          <a:prstGeom prst="rect">
            <a:avLst/>
          </a:prstGeom>
        </p:spPr>
        <p:txBody>
          <a:bodyPr vert="horz" wrap="square" lIns="0" tIns="43532" rIns="0" bIns="0" rtlCol="0">
            <a:spAutoFit/>
          </a:bodyPr>
          <a:lstStyle/>
          <a:p>
            <a:pPr marL="237733" marR="137952" indent="-231371">
              <a:lnSpc>
                <a:spcPts val="1861"/>
              </a:lnSpc>
              <a:spcBef>
                <a:spcPts val="343"/>
              </a:spcBef>
              <a:buClr>
                <a:srgbClr val="7570FF"/>
              </a:buClr>
              <a:buFont typeface="Arial"/>
              <a:buChar char="•"/>
              <a:tabLst>
                <a:tab pos="237733" algn="l"/>
              </a:tabLst>
            </a:pPr>
            <a:r>
              <a:rPr sz="1600" b="1" dirty="0">
                <a:solidFill>
                  <a:srgbClr val="1A1F36"/>
                </a:solidFill>
                <a:latin typeface="Calibri"/>
              </a:rPr>
              <a:t>Prompts</a:t>
            </a:r>
            <a:r>
              <a:rPr sz="1600" b="1" spc="84" dirty="0">
                <a:solidFill>
                  <a:srgbClr val="1A1F36"/>
                </a:solidFill>
                <a:latin typeface="Calibri"/>
              </a:rPr>
              <a:t> </a:t>
            </a:r>
            <a:r>
              <a:rPr sz="1600" dirty="0">
                <a:solidFill>
                  <a:srgbClr val="1A1F36"/>
                </a:solidFill>
                <a:latin typeface="Calibri"/>
              </a:rPr>
              <a:t>involve</a:t>
            </a:r>
            <a:r>
              <a:rPr sz="1600" spc="40" dirty="0">
                <a:solidFill>
                  <a:srgbClr val="1A1F36"/>
                </a:solidFill>
                <a:latin typeface="Calibri"/>
              </a:rPr>
              <a:t> </a:t>
            </a:r>
            <a:r>
              <a:rPr sz="1600" dirty="0">
                <a:solidFill>
                  <a:srgbClr val="1A1F36"/>
                </a:solidFill>
                <a:latin typeface="Calibri"/>
              </a:rPr>
              <a:t>instructions</a:t>
            </a:r>
            <a:r>
              <a:rPr sz="1600" spc="-13" dirty="0">
                <a:solidFill>
                  <a:srgbClr val="1A1F36"/>
                </a:solidFill>
                <a:latin typeface="Calibri"/>
              </a:rPr>
              <a:t> </a:t>
            </a:r>
            <a:r>
              <a:rPr sz="1600" dirty="0">
                <a:solidFill>
                  <a:srgbClr val="1A1F36"/>
                </a:solidFill>
                <a:latin typeface="Calibri"/>
              </a:rPr>
              <a:t>and</a:t>
            </a:r>
            <a:r>
              <a:rPr sz="1600" spc="82" dirty="0">
                <a:solidFill>
                  <a:srgbClr val="1A1F36"/>
                </a:solidFill>
                <a:latin typeface="Calibri"/>
              </a:rPr>
              <a:t> </a:t>
            </a:r>
            <a:r>
              <a:rPr sz="1600" dirty="0">
                <a:solidFill>
                  <a:srgbClr val="1A1F36"/>
                </a:solidFill>
                <a:latin typeface="Calibri"/>
              </a:rPr>
              <a:t>context</a:t>
            </a:r>
            <a:r>
              <a:rPr sz="1600" spc="24" dirty="0">
                <a:solidFill>
                  <a:srgbClr val="1A1F36"/>
                </a:solidFill>
                <a:latin typeface="Calibri"/>
              </a:rPr>
              <a:t> </a:t>
            </a:r>
            <a:r>
              <a:rPr sz="1600" dirty="0">
                <a:solidFill>
                  <a:srgbClr val="1A1F36"/>
                </a:solidFill>
                <a:latin typeface="Calibri"/>
              </a:rPr>
              <a:t>passed</a:t>
            </a:r>
            <a:r>
              <a:rPr sz="1600" spc="45" dirty="0">
                <a:solidFill>
                  <a:srgbClr val="1A1F36"/>
                </a:solidFill>
                <a:latin typeface="Calibri"/>
              </a:rPr>
              <a:t> </a:t>
            </a:r>
            <a:r>
              <a:rPr sz="1600" dirty="0">
                <a:solidFill>
                  <a:srgbClr val="1A1F36"/>
                </a:solidFill>
                <a:latin typeface="Calibri"/>
              </a:rPr>
              <a:t>to </a:t>
            </a:r>
            <a:r>
              <a:rPr sz="1600" spc="-26" dirty="0">
                <a:solidFill>
                  <a:srgbClr val="1A1F36"/>
                </a:solidFill>
                <a:latin typeface="Calibri"/>
              </a:rPr>
              <a:t>a </a:t>
            </a:r>
            <a:r>
              <a:rPr sz="1600" dirty="0">
                <a:solidFill>
                  <a:srgbClr val="1A1F36"/>
                </a:solidFill>
                <a:latin typeface="Calibri"/>
              </a:rPr>
              <a:t>language</a:t>
            </a:r>
            <a:r>
              <a:rPr sz="1600" spc="66" dirty="0">
                <a:solidFill>
                  <a:srgbClr val="1A1F36"/>
                </a:solidFill>
                <a:latin typeface="Calibri"/>
              </a:rPr>
              <a:t> </a:t>
            </a:r>
            <a:r>
              <a:rPr sz="1600" dirty="0">
                <a:solidFill>
                  <a:srgbClr val="1A1F36"/>
                </a:solidFill>
                <a:latin typeface="Calibri"/>
              </a:rPr>
              <a:t>model</a:t>
            </a:r>
            <a:r>
              <a:rPr sz="1600" spc="29" dirty="0">
                <a:solidFill>
                  <a:srgbClr val="1A1F36"/>
                </a:solidFill>
                <a:latin typeface="Calibri"/>
              </a:rPr>
              <a:t> </a:t>
            </a:r>
            <a:r>
              <a:rPr sz="1600" dirty="0">
                <a:solidFill>
                  <a:srgbClr val="1A1F36"/>
                </a:solidFill>
                <a:latin typeface="Calibri"/>
              </a:rPr>
              <a:t>to</a:t>
            </a:r>
            <a:r>
              <a:rPr sz="1600" spc="-11" dirty="0">
                <a:solidFill>
                  <a:srgbClr val="1A1F36"/>
                </a:solidFill>
                <a:latin typeface="Calibri"/>
              </a:rPr>
              <a:t> </a:t>
            </a:r>
            <a:r>
              <a:rPr sz="1600" dirty="0">
                <a:solidFill>
                  <a:srgbClr val="1A1F36"/>
                </a:solidFill>
                <a:latin typeface="Calibri"/>
              </a:rPr>
              <a:t>achieve</a:t>
            </a:r>
            <a:r>
              <a:rPr sz="1600" spc="32" dirty="0">
                <a:solidFill>
                  <a:srgbClr val="1A1F36"/>
                </a:solidFill>
                <a:latin typeface="Calibri"/>
              </a:rPr>
              <a:t> </a:t>
            </a:r>
            <a:r>
              <a:rPr sz="1600" dirty="0">
                <a:solidFill>
                  <a:srgbClr val="1A1F36"/>
                </a:solidFill>
                <a:latin typeface="Calibri"/>
              </a:rPr>
              <a:t>a</a:t>
            </a:r>
            <a:r>
              <a:rPr sz="1600" spc="32" dirty="0">
                <a:solidFill>
                  <a:srgbClr val="1A1F36"/>
                </a:solidFill>
                <a:latin typeface="Calibri"/>
              </a:rPr>
              <a:t> </a:t>
            </a:r>
            <a:r>
              <a:rPr sz="1600" dirty="0">
                <a:solidFill>
                  <a:srgbClr val="1A1F36"/>
                </a:solidFill>
                <a:latin typeface="Calibri"/>
              </a:rPr>
              <a:t>desired</a:t>
            </a:r>
            <a:r>
              <a:rPr sz="1600" spc="24" dirty="0">
                <a:solidFill>
                  <a:srgbClr val="1A1F36"/>
                </a:solidFill>
                <a:latin typeface="Calibri"/>
              </a:rPr>
              <a:t> </a:t>
            </a:r>
            <a:r>
              <a:rPr sz="1600" spc="-11" dirty="0">
                <a:solidFill>
                  <a:srgbClr val="1A1F36"/>
                </a:solidFill>
                <a:latin typeface="Calibri"/>
              </a:rPr>
              <a:t>task</a:t>
            </a:r>
            <a:endParaRPr sz="1600" dirty="0"/>
          </a:p>
          <a:p>
            <a:pPr marL="237733" marR="52569" indent="-231371">
              <a:lnSpc>
                <a:spcPct val="86900"/>
              </a:lnSpc>
              <a:spcBef>
                <a:spcPts val="1150"/>
              </a:spcBef>
              <a:buClr>
                <a:srgbClr val="7570FF"/>
              </a:buClr>
              <a:buFont typeface="Arial"/>
              <a:buChar char="•"/>
              <a:tabLst>
                <a:tab pos="237733" algn="l"/>
              </a:tabLst>
            </a:pPr>
            <a:r>
              <a:rPr sz="1600" b="1" dirty="0">
                <a:solidFill>
                  <a:srgbClr val="1A1F36"/>
                </a:solidFill>
                <a:latin typeface="Calibri"/>
              </a:rPr>
              <a:t>Prompt</a:t>
            </a:r>
            <a:r>
              <a:rPr sz="1600" b="1" spc="55" dirty="0">
                <a:solidFill>
                  <a:srgbClr val="1A1F36"/>
                </a:solidFill>
                <a:latin typeface="Calibri"/>
              </a:rPr>
              <a:t> </a:t>
            </a:r>
            <a:r>
              <a:rPr sz="1600" b="1" dirty="0">
                <a:solidFill>
                  <a:srgbClr val="1A1F36"/>
                </a:solidFill>
                <a:latin typeface="Calibri"/>
              </a:rPr>
              <a:t>engineering</a:t>
            </a:r>
            <a:r>
              <a:rPr sz="1600" b="1" spc="158" dirty="0">
                <a:solidFill>
                  <a:srgbClr val="1A1F36"/>
                </a:solidFill>
                <a:latin typeface="Calibri"/>
              </a:rPr>
              <a:t> </a:t>
            </a:r>
            <a:r>
              <a:rPr sz="1600" dirty="0">
                <a:solidFill>
                  <a:srgbClr val="1A1F36"/>
                </a:solidFill>
                <a:latin typeface="Calibri"/>
              </a:rPr>
              <a:t>is</a:t>
            </a:r>
            <a:r>
              <a:rPr sz="1600" spc="34" dirty="0">
                <a:solidFill>
                  <a:srgbClr val="1A1F36"/>
                </a:solidFill>
                <a:latin typeface="Calibri"/>
              </a:rPr>
              <a:t> </a:t>
            </a:r>
            <a:r>
              <a:rPr sz="1600" dirty="0">
                <a:solidFill>
                  <a:srgbClr val="1A1F36"/>
                </a:solidFill>
                <a:latin typeface="Calibri"/>
              </a:rPr>
              <a:t>the</a:t>
            </a:r>
            <a:r>
              <a:rPr sz="1600" spc="-26" dirty="0">
                <a:solidFill>
                  <a:srgbClr val="1A1F36"/>
                </a:solidFill>
                <a:latin typeface="Calibri"/>
              </a:rPr>
              <a:t> </a:t>
            </a:r>
            <a:r>
              <a:rPr sz="1600" dirty="0">
                <a:solidFill>
                  <a:srgbClr val="1A1F36"/>
                </a:solidFill>
                <a:latin typeface="Calibri"/>
              </a:rPr>
              <a:t>practice</a:t>
            </a:r>
            <a:r>
              <a:rPr sz="1600" spc="-29" dirty="0">
                <a:solidFill>
                  <a:srgbClr val="1A1F36"/>
                </a:solidFill>
                <a:latin typeface="Calibri"/>
              </a:rPr>
              <a:t> </a:t>
            </a:r>
            <a:r>
              <a:rPr sz="1600" dirty="0">
                <a:solidFill>
                  <a:srgbClr val="1A1F36"/>
                </a:solidFill>
                <a:latin typeface="Calibri"/>
              </a:rPr>
              <a:t>of</a:t>
            </a:r>
            <a:r>
              <a:rPr sz="1600" spc="32" dirty="0">
                <a:solidFill>
                  <a:srgbClr val="1A1F36"/>
                </a:solidFill>
                <a:latin typeface="Calibri"/>
              </a:rPr>
              <a:t> </a:t>
            </a:r>
            <a:r>
              <a:rPr sz="1600" dirty="0">
                <a:solidFill>
                  <a:srgbClr val="1A1F36"/>
                </a:solidFill>
                <a:latin typeface="Calibri"/>
              </a:rPr>
              <a:t>developing</a:t>
            </a:r>
            <a:r>
              <a:rPr sz="1600" spc="5" dirty="0">
                <a:solidFill>
                  <a:srgbClr val="1A1F36"/>
                </a:solidFill>
                <a:latin typeface="Calibri"/>
              </a:rPr>
              <a:t> </a:t>
            </a:r>
            <a:r>
              <a:rPr sz="1600" spc="-13" dirty="0">
                <a:solidFill>
                  <a:srgbClr val="1A1F36"/>
                </a:solidFill>
                <a:latin typeface="Calibri"/>
              </a:rPr>
              <a:t>and </a:t>
            </a:r>
            <a:r>
              <a:rPr sz="1600" dirty="0">
                <a:solidFill>
                  <a:srgbClr val="1A1F36"/>
                </a:solidFill>
                <a:latin typeface="Calibri"/>
              </a:rPr>
              <a:t>optimizing</a:t>
            </a:r>
            <a:r>
              <a:rPr sz="1600" spc="45" dirty="0">
                <a:solidFill>
                  <a:srgbClr val="1A1F36"/>
                </a:solidFill>
                <a:latin typeface="Calibri"/>
              </a:rPr>
              <a:t> </a:t>
            </a:r>
            <a:r>
              <a:rPr sz="1600" dirty="0">
                <a:solidFill>
                  <a:srgbClr val="1A1F36"/>
                </a:solidFill>
                <a:latin typeface="Calibri"/>
              </a:rPr>
              <a:t>prompts</a:t>
            </a:r>
            <a:r>
              <a:rPr sz="1600" spc="34" dirty="0">
                <a:solidFill>
                  <a:srgbClr val="1A1F36"/>
                </a:solidFill>
                <a:latin typeface="Calibri"/>
              </a:rPr>
              <a:t> </a:t>
            </a:r>
            <a:r>
              <a:rPr sz="1600" dirty="0">
                <a:solidFill>
                  <a:srgbClr val="1A1F36"/>
                </a:solidFill>
                <a:latin typeface="Calibri"/>
              </a:rPr>
              <a:t>to</a:t>
            </a:r>
            <a:r>
              <a:rPr sz="1600" spc="47" dirty="0">
                <a:solidFill>
                  <a:srgbClr val="1A1F36"/>
                </a:solidFill>
                <a:latin typeface="Calibri"/>
              </a:rPr>
              <a:t> </a:t>
            </a:r>
            <a:r>
              <a:rPr sz="1600" dirty="0">
                <a:solidFill>
                  <a:srgbClr val="1A1F36"/>
                </a:solidFill>
                <a:latin typeface="Calibri"/>
              </a:rPr>
              <a:t>efficiently</a:t>
            </a:r>
            <a:r>
              <a:rPr sz="1600" spc="-5" dirty="0">
                <a:solidFill>
                  <a:srgbClr val="1A1F36"/>
                </a:solidFill>
                <a:latin typeface="Calibri"/>
              </a:rPr>
              <a:t> </a:t>
            </a:r>
            <a:r>
              <a:rPr sz="1600" dirty="0">
                <a:solidFill>
                  <a:srgbClr val="1A1F36"/>
                </a:solidFill>
                <a:latin typeface="Calibri"/>
              </a:rPr>
              <a:t>use</a:t>
            </a:r>
            <a:r>
              <a:rPr sz="1600" spc="11" dirty="0">
                <a:solidFill>
                  <a:srgbClr val="1A1F36"/>
                </a:solidFill>
                <a:latin typeface="Calibri"/>
              </a:rPr>
              <a:t> </a:t>
            </a:r>
            <a:r>
              <a:rPr sz="1600" dirty="0">
                <a:solidFill>
                  <a:srgbClr val="1A1F36"/>
                </a:solidFill>
                <a:latin typeface="Calibri"/>
              </a:rPr>
              <a:t>language</a:t>
            </a:r>
            <a:r>
              <a:rPr sz="1600" spc="87" dirty="0">
                <a:solidFill>
                  <a:srgbClr val="1A1F36"/>
                </a:solidFill>
                <a:latin typeface="Calibri"/>
              </a:rPr>
              <a:t> </a:t>
            </a:r>
            <a:r>
              <a:rPr sz="1600" spc="-5" dirty="0">
                <a:solidFill>
                  <a:srgbClr val="1A1F36"/>
                </a:solidFill>
                <a:latin typeface="Calibri"/>
              </a:rPr>
              <a:t>models </a:t>
            </a:r>
            <a:r>
              <a:rPr sz="1600" dirty="0">
                <a:solidFill>
                  <a:srgbClr val="1A1F36"/>
                </a:solidFill>
                <a:latin typeface="Calibri"/>
              </a:rPr>
              <a:t>(LMs)</a:t>
            </a:r>
            <a:r>
              <a:rPr sz="1600" spc="76" dirty="0">
                <a:solidFill>
                  <a:srgbClr val="1A1F36"/>
                </a:solidFill>
                <a:latin typeface="Calibri"/>
              </a:rPr>
              <a:t> </a:t>
            </a:r>
            <a:r>
              <a:rPr sz="1600" dirty="0">
                <a:solidFill>
                  <a:srgbClr val="1A1F36"/>
                </a:solidFill>
                <a:latin typeface="Calibri"/>
              </a:rPr>
              <a:t>for</a:t>
            </a:r>
            <a:r>
              <a:rPr sz="1600" spc="-5" dirty="0">
                <a:solidFill>
                  <a:srgbClr val="1A1F36"/>
                </a:solidFill>
                <a:latin typeface="Calibri"/>
              </a:rPr>
              <a:t> </a:t>
            </a:r>
            <a:r>
              <a:rPr sz="1600" dirty="0">
                <a:solidFill>
                  <a:srgbClr val="1A1F36"/>
                </a:solidFill>
                <a:latin typeface="Calibri"/>
              </a:rPr>
              <a:t>a</a:t>
            </a:r>
            <a:r>
              <a:rPr sz="1600" spc="37" dirty="0">
                <a:solidFill>
                  <a:srgbClr val="1A1F36"/>
                </a:solidFill>
                <a:latin typeface="Calibri"/>
              </a:rPr>
              <a:t> </a:t>
            </a:r>
            <a:r>
              <a:rPr sz="1600" dirty="0">
                <a:solidFill>
                  <a:srgbClr val="1A1F36"/>
                </a:solidFill>
                <a:latin typeface="Calibri"/>
              </a:rPr>
              <a:t>variety</a:t>
            </a:r>
            <a:r>
              <a:rPr sz="1600" spc="13" dirty="0">
                <a:solidFill>
                  <a:srgbClr val="1A1F36"/>
                </a:solidFill>
                <a:latin typeface="Calibri"/>
              </a:rPr>
              <a:t> </a:t>
            </a:r>
            <a:r>
              <a:rPr sz="1600" dirty="0">
                <a:solidFill>
                  <a:srgbClr val="1A1F36"/>
                </a:solidFill>
                <a:latin typeface="Calibri"/>
              </a:rPr>
              <a:t>of</a:t>
            </a:r>
            <a:r>
              <a:rPr sz="1600" spc="18" dirty="0">
                <a:solidFill>
                  <a:srgbClr val="1A1F36"/>
                </a:solidFill>
                <a:latin typeface="Calibri"/>
              </a:rPr>
              <a:t> </a:t>
            </a:r>
            <a:r>
              <a:rPr sz="1600" spc="-5" dirty="0">
                <a:solidFill>
                  <a:srgbClr val="1A1F36"/>
                </a:solidFill>
                <a:latin typeface="Calibri"/>
              </a:rPr>
              <a:t>applications</a:t>
            </a:r>
            <a:endParaRPr sz="1600" dirty="0"/>
          </a:p>
          <a:p>
            <a:pPr marL="468770" marR="2679" lvl="1" indent="-221326">
              <a:lnSpc>
                <a:spcPts val="1666"/>
              </a:lnSpc>
              <a:spcBef>
                <a:spcPts val="1163"/>
              </a:spcBef>
              <a:buClr>
                <a:srgbClr val="7570FF"/>
              </a:buClr>
              <a:buSzPct val="121666"/>
              <a:buChar char="•"/>
              <a:tabLst>
                <a:tab pos="468770" algn="l"/>
              </a:tabLst>
            </a:pPr>
            <a:r>
              <a:rPr dirty="0">
                <a:solidFill>
                  <a:srgbClr val="1A1F36"/>
                </a:solidFill>
                <a:latin typeface="Calibri"/>
              </a:rPr>
              <a:t>Prompt</a:t>
            </a:r>
            <a:r>
              <a:rPr spc="-111" dirty="0">
                <a:solidFill>
                  <a:srgbClr val="1A1F36"/>
                </a:solidFill>
                <a:latin typeface="Calibri"/>
              </a:rPr>
              <a:t> </a:t>
            </a:r>
            <a:r>
              <a:rPr spc="-5" dirty="0">
                <a:solidFill>
                  <a:srgbClr val="1A1F36"/>
                </a:solidFill>
                <a:latin typeface="Calibri"/>
              </a:rPr>
              <a:t>engineering</a:t>
            </a:r>
            <a:r>
              <a:rPr spc="95" dirty="0">
                <a:solidFill>
                  <a:srgbClr val="1A1F36"/>
                </a:solidFill>
                <a:latin typeface="Calibri"/>
              </a:rPr>
              <a:t> </a:t>
            </a:r>
            <a:r>
              <a:rPr dirty="0">
                <a:solidFill>
                  <a:srgbClr val="1A1F36"/>
                </a:solidFill>
                <a:latin typeface="Calibri"/>
              </a:rPr>
              <a:t>is</a:t>
            </a:r>
            <a:r>
              <a:rPr spc="-37" dirty="0">
                <a:solidFill>
                  <a:srgbClr val="1A1F36"/>
                </a:solidFill>
                <a:latin typeface="Calibri"/>
              </a:rPr>
              <a:t> </a:t>
            </a:r>
            <a:r>
              <a:rPr dirty="0">
                <a:solidFill>
                  <a:srgbClr val="1A1F36"/>
                </a:solidFill>
                <a:latin typeface="Calibri"/>
              </a:rPr>
              <a:t>a</a:t>
            </a:r>
            <a:r>
              <a:rPr spc="-42" dirty="0">
                <a:solidFill>
                  <a:srgbClr val="1A1F36"/>
                </a:solidFill>
                <a:latin typeface="Calibri"/>
              </a:rPr>
              <a:t> </a:t>
            </a:r>
            <a:r>
              <a:rPr dirty="0">
                <a:solidFill>
                  <a:srgbClr val="1A1F36"/>
                </a:solidFill>
                <a:latin typeface="Calibri"/>
              </a:rPr>
              <a:t>useful</a:t>
            </a:r>
            <a:r>
              <a:rPr spc="11" dirty="0">
                <a:solidFill>
                  <a:srgbClr val="1A1F36"/>
                </a:solidFill>
                <a:latin typeface="Calibri"/>
              </a:rPr>
              <a:t> </a:t>
            </a:r>
            <a:r>
              <a:rPr dirty="0">
                <a:solidFill>
                  <a:srgbClr val="1A1F36"/>
                </a:solidFill>
                <a:latin typeface="Calibri"/>
              </a:rPr>
              <a:t>skill</a:t>
            </a:r>
            <a:r>
              <a:rPr spc="40" dirty="0">
                <a:solidFill>
                  <a:srgbClr val="1A1F36"/>
                </a:solidFill>
                <a:latin typeface="Calibri"/>
              </a:rPr>
              <a:t> </a:t>
            </a:r>
            <a:r>
              <a:rPr dirty="0">
                <a:solidFill>
                  <a:srgbClr val="1A1F36"/>
                </a:solidFill>
                <a:latin typeface="Calibri"/>
              </a:rPr>
              <a:t>for</a:t>
            </a:r>
            <a:r>
              <a:rPr spc="-137" dirty="0">
                <a:solidFill>
                  <a:srgbClr val="1A1F36"/>
                </a:solidFill>
                <a:latin typeface="Calibri"/>
              </a:rPr>
              <a:t> </a:t>
            </a:r>
            <a:r>
              <a:rPr dirty="0">
                <a:solidFill>
                  <a:srgbClr val="1A1F36"/>
                </a:solidFill>
                <a:latin typeface="Calibri"/>
              </a:rPr>
              <a:t>AI</a:t>
            </a:r>
            <a:r>
              <a:rPr spc="-71" dirty="0">
                <a:solidFill>
                  <a:srgbClr val="1A1F36"/>
                </a:solidFill>
                <a:latin typeface="Calibri"/>
              </a:rPr>
              <a:t> </a:t>
            </a:r>
            <a:r>
              <a:rPr dirty="0">
                <a:solidFill>
                  <a:srgbClr val="1A1F36"/>
                </a:solidFill>
                <a:latin typeface="Calibri"/>
              </a:rPr>
              <a:t>engineers</a:t>
            </a:r>
            <a:r>
              <a:rPr spc="66" dirty="0">
                <a:solidFill>
                  <a:srgbClr val="1A1F36"/>
                </a:solidFill>
                <a:latin typeface="Calibri"/>
              </a:rPr>
              <a:t> </a:t>
            </a:r>
            <a:r>
              <a:rPr spc="-13" dirty="0">
                <a:solidFill>
                  <a:srgbClr val="1A1F36"/>
                </a:solidFill>
                <a:latin typeface="Calibri"/>
              </a:rPr>
              <a:t>and </a:t>
            </a:r>
            <a:r>
              <a:rPr dirty="0">
                <a:solidFill>
                  <a:srgbClr val="1A1F36"/>
                </a:solidFill>
                <a:latin typeface="Calibri"/>
              </a:rPr>
              <a:t>researchers</a:t>
            </a:r>
            <a:r>
              <a:rPr spc="26" dirty="0">
                <a:solidFill>
                  <a:srgbClr val="1A1F36"/>
                </a:solidFill>
                <a:latin typeface="Calibri"/>
              </a:rPr>
              <a:t> </a:t>
            </a:r>
            <a:r>
              <a:rPr dirty="0">
                <a:solidFill>
                  <a:srgbClr val="1A1F36"/>
                </a:solidFill>
                <a:latin typeface="Calibri"/>
              </a:rPr>
              <a:t>to</a:t>
            </a:r>
            <a:r>
              <a:rPr spc="-103" dirty="0">
                <a:solidFill>
                  <a:srgbClr val="1A1F36"/>
                </a:solidFill>
                <a:latin typeface="Calibri"/>
              </a:rPr>
              <a:t> </a:t>
            </a:r>
            <a:r>
              <a:rPr dirty="0">
                <a:solidFill>
                  <a:srgbClr val="1A1F36"/>
                </a:solidFill>
                <a:latin typeface="Calibri"/>
              </a:rPr>
              <a:t>improve</a:t>
            </a:r>
            <a:r>
              <a:rPr spc="-42" dirty="0">
                <a:solidFill>
                  <a:srgbClr val="1A1F36"/>
                </a:solidFill>
                <a:latin typeface="Calibri"/>
              </a:rPr>
              <a:t> </a:t>
            </a:r>
            <a:r>
              <a:rPr dirty="0">
                <a:solidFill>
                  <a:srgbClr val="1A1F36"/>
                </a:solidFill>
                <a:latin typeface="Calibri"/>
              </a:rPr>
              <a:t>and</a:t>
            </a:r>
            <a:r>
              <a:rPr spc="-42" dirty="0">
                <a:solidFill>
                  <a:srgbClr val="1A1F36"/>
                </a:solidFill>
                <a:latin typeface="Calibri"/>
              </a:rPr>
              <a:t> </a:t>
            </a:r>
            <a:r>
              <a:rPr dirty="0">
                <a:solidFill>
                  <a:srgbClr val="1A1F36"/>
                </a:solidFill>
                <a:latin typeface="Calibri"/>
              </a:rPr>
              <a:t>efficiently</a:t>
            </a:r>
            <a:r>
              <a:rPr spc="-29" dirty="0">
                <a:solidFill>
                  <a:srgbClr val="1A1F36"/>
                </a:solidFill>
                <a:latin typeface="Calibri"/>
              </a:rPr>
              <a:t> </a:t>
            </a:r>
            <a:r>
              <a:rPr dirty="0">
                <a:solidFill>
                  <a:srgbClr val="1A1F36"/>
                </a:solidFill>
                <a:latin typeface="Calibri"/>
              </a:rPr>
              <a:t>use</a:t>
            </a:r>
            <a:r>
              <a:rPr spc="-11" dirty="0">
                <a:solidFill>
                  <a:srgbClr val="1A1F36"/>
                </a:solidFill>
                <a:latin typeface="Calibri"/>
              </a:rPr>
              <a:t> </a:t>
            </a:r>
            <a:r>
              <a:rPr dirty="0">
                <a:solidFill>
                  <a:srgbClr val="1A1F36"/>
                </a:solidFill>
                <a:latin typeface="Calibri"/>
              </a:rPr>
              <a:t>language</a:t>
            </a:r>
            <a:r>
              <a:rPr spc="18" dirty="0">
                <a:solidFill>
                  <a:srgbClr val="1A1F36"/>
                </a:solidFill>
                <a:latin typeface="Calibri"/>
              </a:rPr>
              <a:t> </a:t>
            </a:r>
            <a:r>
              <a:rPr spc="-5" dirty="0">
                <a:solidFill>
                  <a:srgbClr val="1A1F36"/>
                </a:solidFill>
                <a:latin typeface="Calibri"/>
              </a:rPr>
              <a:t>models</a:t>
            </a:r>
            <a:br>
              <a:rPr lang="en-US" spc="-5" dirty="0">
                <a:solidFill>
                  <a:srgbClr val="1A1F36"/>
                </a:solidFill>
                <a:latin typeface="Calibri"/>
              </a:rPr>
            </a:br>
            <a:endParaRPr dirty="0"/>
          </a:p>
          <a:p>
            <a:pPr marL="427920"/>
            <a:r>
              <a:rPr sz="1600" dirty="0">
                <a:solidFill/>
                <a:latin typeface="Consolas"/>
              </a:rPr>
              <a:t>What is</a:t>
            </a:r>
            <a:r>
              <a:rPr sz="1600" spc="5" dirty="0">
                <a:solidFill/>
                <a:latin typeface="Consolas"/>
              </a:rPr>
              <a:t> </a:t>
            </a:r>
            <a:r>
              <a:rPr sz="1600" dirty="0">
                <a:solidFill/>
                <a:latin typeface="Consolas"/>
              </a:rPr>
              <a:t>prompt</a:t>
            </a:r>
            <a:r>
              <a:rPr sz="1600" spc="3" dirty="0">
                <a:solidFill/>
                <a:latin typeface="Consolas"/>
              </a:rPr>
              <a:t> </a:t>
            </a:r>
            <a:r>
              <a:rPr sz="1600" spc="-5" dirty="0">
                <a:solidFill/>
                <a:latin typeface="Consolas"/>
              </a:rPr>
              <a:t>engineering?</a:t>
            </a:r>
            <a:endParaRPr sz="1600" dirty="0">
              <a:latin typeface="Consolas"/>
              <a:cs typeface="Consolas"/>
            </a:endParaRPr>
          </a:p>
        </p:txBody>
      </p:sp>
      <p:grpSp>
        <p:nvGrpSpPr>
          <p:cNvPr id="15" name="Group 14">
            <a:extLst>
              <a:ext uri="{FF2B5EF4-FFF2-40B4-BE49-F238E27FC236}">
                <a16:creationId xmlns:a16="http://schemas.microsoft.com/office/drawing/2014/main" id="{F32A6C15-0FE9-5D9B-3254-EC22C509CFCA}"/>
              </a:ext>
            </a:extLst>
          </p:cNvPr>
          <p:cNvGrpSpPr/>
          <p:nvPr/>
        </p:nvGrpSpPr>
        <p:grpSpPr>
          <a:xfrm>
            <a:off x="1121406" y="3446412"/>
            <a:ext cx="5480038" cy="1217654"/>
            <a:chOff x="1916534" y="3446412"/>
            <a:chExt cx="5480038" cy="1217654"/>
          </a:xfrm>
        </p:grpSpPr>
        <p:sp>
          <p:nvSpPr>
            <p:cNvPr id="7" name="object 7"/>
            <p:cNvSpPr txBox="1"/>
            <p:nvPr/>
          </p:nvSpPr>
          <p:spPr>
            <a:xfrm>
              <a:off x="1916534" y="3446412"/>
              <a:ext cx="5429808" cy="315471"/>
            </a:xfrm>
            <a:prstGeom prst="rect">
              <a:avLst/>
            </a:prstGeom>
            <a:solidFill>
              <a:srgbClr val="9AE988"/>
            </a:solidFill>
          </p:spPr>
          <p:txBody>
            <a:bodyPr vert="horz" wrap="square" lIns="0" tIns="0" rIns="0" bIns="0" rtlCol="0">
              <a:spAutoFit/>
            </a:bodyPr>
            <a:lstStyle/>
            <a:p>
              <a:pPr marL="1674">
                <a:lnSpc>
                  <a:spcPts val="1163"/>
                </a:lnSpc>
              </a:pPr>
              <a:r>
                <a:rPr dirty="0">
                  <a:solidFill/>
                  <a:latin typeface="Consolas"/>
                </a:rPr>
                <a:t>Prompt</a:t>
              </a:r>
              <a:r>
                <a:rPr spc="-3" dirty="0">
                  <a:solidFill/>
                  <a:latin typeface="Consolas"/>
                </a:rPr>
                <a:t> </a:t>
              </a:r>
              <a:r>
                <a:rPr dirty="0">
                  <a:solidFill/>
                  <a:latin typeface="Consolas"/>
                </a:rPr>
                <a:t>engineering</a:t>
              </a:r>
              <a:r>
                <a:rPr spc="8" dirty="0">
                  <a:solidFill/>
                  <a:latin typeface="Consolas"/>
                </a:rPr>
                <a:t> </a:t>
              </a:r>
              <a:r>
                <a:rPr dirty="0">
                  <a:solidFill/>
                  <a:latin typeface="Consolas"/>
                </a:rPr>
                <a:t>is</a:t>
              </a:r>
              <a:r>
                <a:rPr spc="8" dirty="0">
                  <a:solidFill/>
                  <a:latin typeface="Consolas"/>
                </a:rPr>
                <a:t> </a:t>
              </a:r>
              <a:r>
                <a:rPr dirty="0">
                  <a:solidFill/>
                  <a:latin typeface="Consolas"/>
                </a:rPr>
                <a:t>a</a:t>
              </a:r>
              <a:r>
                <a:rPr spc="5" dirty="0">
                  <a:solidFill/>
                  <a:latin typeface="Consolas"/>
                </a:rPr>
                <a:t> </a:t>
              </a:r>
              <a:r>
                <a:rPr dirty="0">
                  <a:solidFill/>
                  <a:latin typeface="Consolas"/>
                </a:rPr>
                <a:t>process of</a:t>
              </a:r>
              <a:r>
                <a:rPr spc="8" dirty="0">
                  <a:solidFill/>
                  <a:latin typeface="Consolas"/>
                </a:rPr>
                <a:t> </a:t>
              </a:r>
              <a:r>
                <a:rPr dirty="0">
                  <a:solidFill/>
                  <a:latin typeface="Consolas"/>
                </a:rPr>
                <a:t>creating</a:t>
              </a:r>
              <a:r>
                <a:rPr spc="8" dirty="0">
                  <a:solidFill/>
                  <a:latin typeface="Consolas"/>
                </a:rPr>
                <a:t> </a:t>
              </a:r>
              <a:r>
                <a:rPr dirty="0">
                  <a:solidFill/>
                  <a:latin typeface="Consolas"/>
                </a:rPr>
                <a:t>a</a:t>
              </a:r>
              <a:r>
                <a:rPr spc="5" dirty="0">
                  <a:solidFill/>
                  <a:latin typeface="Consolas"/>
                </a:rPr>
                <a:t> </a:t>
              </a:r>
              <a:r>
                <a:rPr dirty="0">
                  <a:solidFill/>
                  <a:latin typeface="Consolas"/>
                </a:rPr>
                <a:t>set</a:t>
              </a:r>
              <a:r>
                <a:rPr spc="8" dirty="0">
                  <a:solidFill/>
                  <a:latin typeface="Consolas"/>
                </a:rPr>
                <a:t> </a:t>
              </a:r>
              <a:r>
                <a:rPr dirty="0">
                  <a:solidFill/>
                  <a:latin typeface="Consolas"/>
                </a:rPr>
                <a:t>of</a:t>
              </a:r>
              <a:r>
                <a:rPr spc="5" dirty="0">
                  <a:solidFill/>
                  <a:latin typeface="Consolas"/>
                </a:rPr>
                <a:t> </a:t>
              </a:r>
              <a:r>
                <a:rPr spc="-5" dirty="0">
                  <a:solidFill/>
                  <a:latin typeface="Consolas"/>
                </a:rPr>
                <a:t>prompts,</a:t>
              </a:r>
              <a:endParaRPr dirty="0">
                <a:latin typeface="Consolas"/>
                <a:cs typeface="Consolas"/>
              </a:endParaRPr>
            </a:p>
          </p:txBody>
        </p:sp>
        <p:sp>
          <p:nvSpPr>
            <p:cNvPr id="8" name="object 8"/>
            <p:cNvSpPr txBox="1"/>
            <p:nvPr/>
          </p:nvSpPr>
          <p:spPr>
            <a:xfrm>
              <a:off x="1916534" y="3597101"/>
              <a:ext cx="5480038" cy="315471"/>
            </a:xfrm>
            <a:prstGeom prst="rect">
              <a:avLst/>
            </a:prstGeom>
            <a:solidFill>
              <a:srgbClr val="9AE988"/>
            </a:solidFill>
          </p:spPr>
          <p:txBody>
            <a:bodyPr vert="horz" wrap="square" lIns="0" tIns="0" rIns="0" bIns="0" rtlCol="0">
              <a:spAutoFit/>
            </a:bodyPr>
            <a:lstStyle/>
            <a:p>
              <a:pPr marL="1674">
                <a:lnSpc>
                  <a:spcPts val="1215"/>
                </a:lnSpc>
              </a:pPr>
              <a:r>
                <a:rPr dirty="0">
                  <a:solidFill/>
                  <a:latin typeface="Consolas"/>
                </a:rPr>
                <a:t>or</a:t>
              </a:r>
              <a:r>
                <a:rPr spc="5" dirty="0">
                  <a:solidFill/>
                  <a:latin typeface="Consolas"/>
                </a:rPr>
                <a:t> </a:t>
              </a:r>
              <a:r>
                <a:rPr dirty="0">
                  <a:solidFill/>
                  <a:latin typeface="Consolas"/>
                </a:rPr>
                <a:t>questions,</a:t>
              </a:r>
              <a:r>
                <a:rPr spc="3" dirty="0">
                  <a:solidFill/>
                  <a:latin typeface="Consolas"/>
                </a:rPr>
                <a:t> </a:t>
              </a:r>
              <a:r>
                <a:rPr dirty="0">
                  <a:solidFill/>
                  <a:latin typeface="Consolas"/>
                </a:rPr>
                <a:t>that</a:t>
              </a:r>
              <a:r>
                <a:rPr spc="8" dirty="0">
                  <a:solidFill/>
                  <a:latin typeface="Consolas"/>
                </a:rPr>
                <a:t> </a:t>
              </a:r>
              <a:r>
                <a:rPr dirty="0">
                  <a:solidFill/>
                  <a:latin typeface="Consolas"/>
                </a:rPr>
                <a:t>are</a:t>
              </a:r>
              <a:r>
                <a:rPr spc="8" dirty="0">
                  <a:solidFill/>
                  <a:latin typeface="Consolas"/>
                </a:rPr>
                <a:t> </a:t>
              </a:r>
              <a:r>
                <a:rPr dirty="0">
                  <a:solidFill/>
                  <a:latin typeface="Consolas"/>
                </a:rPr>
                <a:t>used</a:t>
              </a:r>
              <a:r>
                <a:rPr spc="11" dirty="0">
                  <a:solidFill/>
                  <a:latin typeface="Consolas"/>
                </a:rPr>
                <a:t> </a:t>
              </a:r>
              <a:r>
                <a:rPr dirty="0">
                  <a:solidFill/>
                  <a:latin typeface="Consolas"/>
                </a:rPr>
                <a:t>to</a:t>
              </a:r>
              <a:r>
                <a:rPr spc="8" dirty="0">
                  <a:solidFill/>
                  <a:latin typeface="Consolas"/>
                </a:rPr>
                <a:t> </a:t>
              </a:r>
              <a:r>
                <a:rPr dirty="0">
                  <a:solidFill/>
                  <a:latin typeface="Consolas"/>
                </a:rPr>
                <a:t>guide</a:t>
              </a:r>
              <a:r>
                <a:rPr spc="8" dirty="0">
                  <a:solidFill/>
                  <a:latin typeface="Consolas"/>
                </a:rPr>
                <a:t> </a:t>
              </a:r>
              <a:r>
                <a:rPr dirty="0">
                  <a:solidFill/>
                  <a:latin typeface="Consolas"/>
                </a:rPr>
                <a:t>the</a:t>
              </a:r>
              <a:r>
                <a:rPr spc="5" dirty="0">
                  <a:solidFill/>
                  <a:latin typeface="Consolas"/>
                </a:rPr>
                <a:t> </a:t>
              </a:r>
              <a:r>
                <a:rPr dirty="0">
                  <a:solidFill/>
                  <a:latin typeface="Consolas"/>
                </a:rPr>
                <a:t>user</a:t>
              </a:r>
              <a:r>
                <a:rPr spc="8" dirty="0">
                  <a:solidFill/>
                  <a:latin typeface="Consolas"/>
                </a:rPr>
                <a:t> </a:t>
              </a:r>
              <a:r>
                <a:rPr dirty="0">
                  <a:solidFill/>
                  <a:latin typeface="Consolas"/>
                </a:rPr>
                <a:t>toward</a:t>
              </a:r>
              <a:r>
                <a:rPr spc="8" dirty="0">
                  <a:solidFill/>
                  <a:latin typeface="Consolas"/>
                </a:rPr>
                <a:t> </a:t>
              </a:r>
              <a:r>
                <a:rPr dirty="0">
                  <a:solidFill/>
                  <a:latin typeface="Consolas"/>
                </a:rPr>
                <a:t>a</a:t>
              </a:r>
              <a:r>
                <a:rPr spc="8" dirty="0">
                  <a:solidFill/>
                  <a:latin typeface="Consolas"/>
                </a:rPr>
                <a:t> </a:t>
              </a:r>
              <a:r>
                <a:rPr spc="-5" dirty="0">
                  <a:solidFill/>
                  <a:latin typeface="Consolas"/>
                </a:rPr>
                <a:t>desired</a:t>
              </a:r>
              <a:endParaRPr>
                <a:latin typeface="Consolas"/>
                <a:cs typeface="Consolas"/>
              </a:endParaRPr>
            </a:p>
          </p:txBody>
        </p:sp>
        <p:sp>
          <p:nvSpPr>
            <p:cNvPr id="9" name="object 9"/>
            <p:cNvSpPr txBox="1"/>
            <p:nvPr/>
          </p:nvSpPr>
          <p:spPr>
            <a:xfrm>
              <a:off x="1916534" y="3764533"/>
              <a:ext cx="5429808" cy="270587"/>
            </a:xfrm>
            <a:prstGeom prst="rect">
              <a:avLst/>
            </a:prstGeom>
            <a:solidFill>
              <a:srgbClr val="9AE988"/>
            </a:solidFill>
          </p:spPr>
          <p:txBody>
            <a:bodyPr vert="horz" wrap="square" lIns="0" tIns="0" rIns="0" bIns="0" rtlCol="0">
              <a:spAutoFit/>
            </a:bodyPr>
            <a:lstStyle/>
            <a:p>
              <a:pPr marL="1674">
                <a:lnSpc>
                  <a:spcPts val="1049"/>
                </a:lnSpc>
              </a:pPr>
              <a:r>
                <a:rPr dirty="0">
                  <a:solidFill/>
                  <a:latin typeface="Consolas"/>
                </a:rPr>
                <a:t>outcome.</a:t>
              </a:r>
              <a:r>
                <a:rPr spc="5" dirty="0">
                  <a:solidFill/>
                  <a:latin typeface="Consolas"/>
                </a:rPr>
                <a:t> </a:t>
              </a:r>
              <a:r>
                <a:rPr dirty="0">
                  <a:solidFill/>
                  <a:latin typeface="Consolas"/>
                </a:rPr>
                <a:t>It</a:t>
              </a:r>
              <a:r>
                <a:rPr spc="8" dirty="0">
                  <a:solidFill/>
                  <a:latin typeface="Consolas"/>
                </a:rPr>
                <a:t> </a:t>
              </a:r>
              <a:r>
                <a:rPr dirty="0">
                  <a:solidFill/>
                  <a:latin typeface="Consolas"/>
                </a:rPr>
                <a:t>is</a:t>
              </a:r>
              <a:r>
                <a:rPr spc="11" dirty="0">
                  <a:solidFill/>
                  <a:latin typeface="Consolas"/>
                </a:rPr>
                <a:t> </a:t>
              </a:r>
              <a:r>
                <a:rPr dirty="0">
                  <a:solidFill/>
                  <a:latin typeface="Consolas"/>
                </a:rPr>
                <a:t>an</a:t>
              </a:r>
              <a:r>
                <a:rPr spc="11" dirty="0">
                  <a:solidFill/>
                  <a:latin typeface="Consolas"/>
                </a:rPr>
                <a:t> </a:t>
              </a:r>
              <a:r>
                <a:rPr dirty="0">
                  <a:solidFill/>
                  <a:latin typeface="Consolas"/>
                </a:rPr>
                <a:t>effective</a:t>
              </a:r>
              <a:r>
                <a:rPr spc="3" dirty="0">
                  <a:solidFill/>
                  <a:latin typeface="Consolas"/>
                </a:rPr>
                <a:t> </a:t>
              </a:r>
              <a:r>
                <a:rPr dirty="0">
                  <a:solidFill/>
                  <a:latin typeface="Consolas"/>
                </a:rPr>
                <a:t>tool</a:t>
              </a:r>
              <a:r>
                <a:rPr spc="8" dirty="0">
                  <a:solidFill/>
                  <a:latin typeface="Consolas"/>
                </a:rPr>
                <a:t> </a:t>
              </a:r>
              <a:r>
                <a:rPr dirty="0">
                  <a:solidFill/>
                  <a:latin typeface="Consolas"/>
                </a:rPr>
                <a:t>for</a:t>
              </a:r>
              <a:r>
                <a:rPr spc="11" dirty="0">
                  <a:solidFill/>
                  <a:latin typeface="Consolas"/>
                </a:rPr>
                <a:t> </a:t>
              </a:r>
              <a:r>
                <a:rPr dirty="0">
                  <a:solidFill/>
                  <a:latin typeface="Consolas"/>
                </a:rPr>
                <a:t>designers</a:t>
              </a:r>
              <a:r>
                <a:rPr spc="3" dirty="0">
                  <a:solidFill/>
                  <a:latin typeface="Consolas"/>
                </a:rPr>
                <a:t> </a:t>
              </a:r>
              <a:r>
                <a:rPr dirty="0">
                  <a:solidFill/>
                  <a:latin typeface="Consolas"/>
                </a:rPr>
                <a:t>to</a:t>
              </a:r>
              <a:r>
                <a:rPr spc="5" dirty="0">
                  <a:solidFill/>
                  <a:latin typeface="Consolas"/>
                </a:rPr>
                <a:t> </a:t>
              </a:r>
              <a:r>
                <a:rPr dirty="0">
                  <a:solidFill/>
                  <a:latin typeface="Consolas"/>
                </a:rPr>
                <a:t>create</a:t>
              </a:r>
              <a:r>
                <a:rPr spc="5" dirty="0">
                  <a:solidFill/>
                  <a:latin typeface="Consolas"/>
                </a:rPr>
                <a:t> </a:t>
              </a:r>
              <a:r>
                <a:rPr spc="-11" dirty="0">
                  <a:solidFill/>
                  <a:latin typeface="Consolas"/>
                </a:rPr>
                <a:t>user</a:t>
              </a:r>
              <a:endParaRPr>
                <a:latin typeface="Consolas"/>
                <a:cs typeface="Consolas"/>
              </a:endParaRPr>
            </a:p>
          </p:txBody>
        </p:sp>
        <p:sp>
          <p:nvSpPr>
            <p:cNvPr id="10" name="object 10"/>
            <p:cNvSpPr txBox="1"/>
            <p:nvPr/>
          </p:nvSpPr>
          <p:spPr>
            <a:xfrm>
              <a:off x="1916534" y="3897809"/>
              <a:ext cx="5480038" cy="315471"/>
            </a:xfrm>
            <a:prstGeom prst="rect">
              <a:avLst/>
            </a:prstGeom>
            <a:solidFill>
              <a:srgbClr val="9AE988"/>
            </a:solidFill>
          </p:spPr>
          <p:txBody>
            <a:bodyPr vert="horz" wrap="square" lIns="0" tIns="0" rIns="0" bIns="0" rtlCol="0">
              <a:spAutoFit/>
            </a:bodyPr>
            <a:lstStyle/>
            <a:p>
              <a:pPr marL="1674">
                <a:lnSpc>
                  <a:spcPts val="1226"/>
                </a:lnSpc>
              </a:pPr>
              <a:r>
                <a:rPr dirty="0">
                  <a:solidFill/>
                  <a:latin typeface="Consolas"/>
                </a:rPr>
                <a:t>experiences</a:t>
              </a:r>
              <a:r>
                <a:rPr spc="-8" dirty="0">
                  <a:solidFill/>
                  <a:latin typeface="Consolas"/>
                </a:rPr>
                <a:t> </a:t>
              </a:r>
              <a:r>
                <a:rPr dirty="0">
                  <a:solidFill/>
                  <a:latin typeface="Consolas"/>
                </a:rPr>
                <a:t>that</a:t>
              </a:r>
              <a:r>
                <a:rPr spc="47" dirty="0">
                  <a:solidFill/>
                  <a:latin typeface="Consolas"/>
                </a:rPr>
                <a:t> </a:t>
              </a:r>
              <a:r>
                <a:rPr dirty="0">
                  <a:solidFill/>
                  <a:latin typeface="Consolas"/>
                </a:rPr>
                <a:t>are</a:t>
              </a:r>
              <a:r>
                <a:rPr spc="5" dirty="0">
                  <a:solidFill/>
                  <a:latin typeface="Consolas"/>
                </a:rPr>
                <a:t> </a:t>
              </a:r>
              <a:r>
                <a:rPr dirty="0">
                  <a:solidFill/>
                  <a:latin typeface="Consolas"/>
                </a:rPr>
                <a:t>easy</a:t>
              </a:r>
              <a:r>
                <a:rPr spc="5" dirty="0">
                  <a:solidFill/>
                  <a:latin typeface="Consolas"/>
                </a:rPr>
                <a:t> </a:t>
              </a:r>
              <a:r>
                <a:rPr dirty="0">
                  <a:solidFill/>
                  <a:latin typeface="Consolas"/>
                </a:rPr>
                <a:t>to</a:t>
              </a:r>
              <a:r>
                <a:rPr spc="3" dirty="0">
                  <a:solidFill/>
                  <a:latin typeface="Consolas"/>
                </a:rPr>
                <a:t> </a:t>
              </a:r>
              <a:r>
                <a:rPr dirty="0">
                  <a:solidFill/>
                  <a:latin typeface="Consolas"/>
                </a:rPr>
                <a:t>use</a:t>
              </a:r>
              <a:r>
                <a:rPr spc="5" dirty="0">
                  <a:solidFill/>
                  <a:latin typeface="Consolas"/>
                </a:rPr>
                <a:t> </a:t>
              </a:r>
              <a:r>
                <a:rPr dirty="0">
                  <a:solidFill/>
                  <a:latin typeface="Consolas"/>
                </a:rPr>
                <a:t>and</a:t>
              </a:r>
              <a:r>
                <a:rPr spc="5" dirty="0">
                  <a:solidFill/>
                  <a:latin typeface="Consolas"/>
                </a:rPr>
                <a:t> </a:t>
              </a:r>
              <a:r>
                <a:rPr dirty="0">
                  <a:solidFill/>
                  <a:latin typeface="Consolas"/>
                </a:rPr>
                <a:t>intuitive.</a:t>
              </a:r>
              <a:r>
                <a:rPr spc="-5" dirty="0">
                  <a:solidFill/>
                  <a:latin typeface="Consolas"/>
                </a:rPr>
                <a:t> </a:t>
              </a:r>
              <a:r>
                <a:rPr dirty="0">
                  <a:solidFill/>
                  <a:latin typeface="Consolas"/>
                </a:rPr>
                <a:t>This</a:t>
              </a:r>
              <a:r>
                <a:rPr spc="8" dirty="0">
                  <a:solidFill/>
                  <a:latin typeface="Consolas"/>
                </a:rPr>
                <a:t> </a:t>
              </a:r>
              <a:r>
                <a:rPr dirty="0">
                  <a:solidFill/>
                  <a:latin typeface="Consolas"/>
                </a:rPr>
                <a:t>method</a:t>
              </a:r>
              <a:r>
                <a:rPr spc="42" dirty="0">
                  <a:solidFill/>
                  <a:latin typeface="Consolas"/>
                </a:rPr>
                <a:t> </a:t>
              </a:r>
              <a:r>
                <a:rPr spc="-13" dirty="0">
                  <a:solidFill/>
                  <a:latin typeface="Consolas"/>
                </a:rPr>
                <a:t>is</a:t>
              </a:r>
              <a:endParaRPr dirty="0">
                <a:latin typeface="Consolas"/>
                <a:cs typeface="Consolas"/>
              </a:endParaRPr>
            </a:p>
          </p:txBody>
        </p:sp>
        <p:sp>
          <p:nvSpPr>
            <p:cNvPr id="11" name="object 11"/>
            <p:cNvSpPr txBox="1"/>
            <p:nvPr/>
          </p:nvSpPr>
          <p:spPr>
            <a:xfrm>
              <a:off x="1916534" y="4065240"/>
              <a:ext cx="5429808" cy="293029"/>
            </a:xfrm>
            <a:prstGeom prst="rect">
              <a:avLst/>
            </a:prstGeom>
            <a:solidFill>
              <a:srgbClr val="9AE988"/>
            </a:solidFill>
          </p:spPr>
          <p:txBody>
            <a:bodyPr vert="horz" wrap="square" lIns="0" tIns="0" rIns="0" bIns="0" rtlCol="0">
              <a:spAutoFit/>
            </a:bodyPr>
            <a:lstStyle/>
            <a:p>
              <a:pPr marL="1674">
                <a:lnSpc>
                  <a:spcPts val="1094"/>
                </a:lnSpc>
              </a:pPr>
              <a:r>
                <a:rPr dirty="0">
                  <a:solidFill/>
                  <a:latin typeface="Consolas"/>
                </a:rPr>
                <a:t>often</a:t>
              </a:r>
              <a:r>
                <a:rPr spc="-5" dirty="0">
                  <a:solidFill/>
                  <a:latin typeface="Consolas"/>
                </a:rPr>
                <a:t> </a:t>
              </a:r>
              <a:r>
                <a:rPr dirty="0">
                  <a:solidFill/>
                  <a:latin typeface="Consolas"/>
                </a:rPr>
                <a:t>used</a:t>
              </a:r>
              <a:r>
                <a:rPr spc="40" dirty="0">
                  <a:solidFill/>
                  <a:latin typeface="Consolas"/>
                </a:rPr>
                <a:t> </a:t>
              </a:r>
              <a:r>
                <a:rPr dirty="0">
                  <a:solidFill/>
                  <a:latin typeface="Consolas"/>
                </a:rPr>
                <a:t>in</a:t>
              </a:r>
              <a:r>
                <a:rPr spc="-3" dirty="0">
                  <a:solidFill/>
                  <a:latin typeface="Consolas"/>
                </a:rPr>
                <a:t> </a:t>
              </a:r>
              <a:r>
                <a:rPr dirty="0">
                  <a:solidFill/>
                  <a:latin typeface="Consolas"/>
                </a:rPr>
                <a:t>interactive</a:t>
              </a:r>
              <a:r>
                <a:rPr spc="3" dirty="0">
                  <a:solidFill/>
                  <a:latin typeface="Consolas"/>
                </a:rPr>
                <a:t> </a:t>
              </a:r>
              <a:r>
                <a:rPr dirty="0">
                  <a:solidFill/>
                  <a:latin typeface="Consolas"/>
                </a:rPr>
                <a:t>design</a:t>
              </a:r>
              <a:r>
                <a:rPr spc="-5" dirty="0">
                  <a:solidFill/>
                  <a:latin typeface="Consolas"/>
                </a:rPr>
                <a:t> </a:t>
              </a:r>
              <a:r>
                <a:rPr dirty="0">
                  <a:solidFill/>
                  <a:latin typeface="Consolas"/>
                </a:rPr>
                <a:t>and</a:t>
              </a:r>
              <a:r>
                <a:rPr spc="-3" dirty="0">
                  <a:solidFill/>
                  <a:latin typeface="Consolas"/>
                </a:rPr>
                <a:t> </a:t>
              </a:r>
              <a:r>
                <a:rPr dirty="0">
                  <a:solidFill/>
                  <a:latin typeface="Consolas"/>
                </a:rPr>
                <a:t>software</a:t>
              </a:r>
              <a:r>
                <a:rPr spc="-8" dirty="0">
                  <a:solidFill/>
                  <a:latin typeface="Consolas"/>
                </a:rPr>
                <a:t> </a:t>
              </a:r>
              <a:r>
                <a:rPr dirty="0">
                  <a:solidFill/>
                  <a:latin typeface="Consolas"/>
                </a:rPr>
                <a:t>development,</a:t>
              </a:r>
              <a:r>
                <a:rPr spc="42" dirty="0">
                  <a:solidFill/>
                  <a:latin typeface="Consolas"/>
                </a:rPr>
                <a:t> </a:t>
              </a:r>
              <a:r>
                <a:rPr spc="-13" dirty="0">
                  <a:solidFill/>
                  <a:latin typeface="Consolas"/>
                </a:rPr>
                <a:t>as</a:t>
              </a:r>
              <a:endParaRPr>
                <a:latin typeface="Consolas"/>
                <a:cs typeface="Consolas"/>
              </a:endParaRPr>
            </a:p>
          </p:txBody>
        </p:sp>
        <p:sp>
          <p:nvSpPr>
            <p:cNvPr id="12" name="object 12"/>
            <p:cNvSpPr txBox="1"/>
            <p:nvPr/>
          </p:nvSpPr>
          <p:spPr>
            <a:xfrm>
              <a:off x="1916534" y="4215259"/>
              <a:ext cx="5254675" cy="293029"/>
            </a:xfrm>
            <a:prstGeom prst="rect">
              <a:avLst/>
            </a:prstGeom>
            <a:solidFill>
              <a:srgbClr val="9AE988"/>
            </a:solidFill>
          </p:spPr>
          <p:txBody>
            <a:bodyPr vert="horz" wrap="square" lIns="0" tIns="0" rIns="0" bIns="0" rtlCol="0">
              <a:spAutoFit/>
            </a:bodyPr>
            <a:lstStyle/>
            <a:p>
              <a:pPr marL="1674">
                <a:lnSpc>
                  <a:spcPts val="1102"/>
                </a:lnSpc>
              </a:pPr>
              <a:r>
                <a:rPr dirty="0">
                  <a:solidFill/>
                  <a:latin typeface="Consolas"/>
                </a:rPr>
                <a:t>it</a:t>
              </a:r>
              <a:r>
                <a:rPr spc="-5" dirty="0">
                  <a:solidFill/>
                  <a:latin typeface="Consolas"/>
                </a:rPr>
                <a:t> </a:t>
              </a:r>
              <a:r>
                <a:rPr dirty="0">
                  <a:solidFill/>
                  <a:latin typeface="Consolas"/>
                </a:rPr>
                <a:t>allows</a:t>
              </a:r>
              <a:r>
                <a:rPr spc="-3" dirty="0">
                  <a:solidFill/>
                  <a:latin typeface="Consolas"/>
                </a:rPr>
                <a:t> </a:t>
              </a:r>
              <a:r>
                <a:rPr dirty="0">
                  <a:solidFill/>
                  <a:latin typeface="Consolas"/>
                </a:rPr>
                <a:t>users</a:t>
              </a:r>
              <a:r>
                <a:rPr spc="5" dirty="0">
                  <a:solidFill/>
                  <a:latin typeface="Consolas"/>
                </a:rPr>
                <a:t> </a:t>
              </a:r>
              <a:r>
                <a:rPr dirty="0">
                  <a:solidFill/>
                  <a:latin typeface="Consolas"/>
                </a:rPr>
                <a:t>to</a:t>
              </a:r>
              <a:r>
                <a:rPr spc="3" dirty="0">
                  <a:solidFill/>
                  <a:latin typeface="Consolas"/>
                </a:rPr>
                <a:t> </a:t>
              </a:r>
              <a:r>
                <a:rPr dirty="0">
                  <a:solidFill/>
                  <a:latin typeface="Consolas"/>
                </a:rPr>
                <a:t>easily</a:t>
              </a:r>
              <a:r>
                <a:rPr spc="3" dirty="0">
                  <a:solidFill/>
                  <a:latin typeface="Consolas"/>
                </a:rPr>
                <a:t> </a:t>
              </a:r>
              <a:r>
                <a:rPr dirty="0">
                  <a:solidFill/>
                  <a:latin typeface="Consolas"/>
                </a:rPr>
                <a:t>understand</a:t>
              </a:r>
              <a:r>
                <a:rPr spc="-5" dirty="0">
                  <a:solidFill/>
                  <a:latin typeface="Consolas"/>
                </a:rPr>
                <a:t> </a:t>
              </a:r>
              <a:r>
                <a:rPr dirty="0">
                  <a:solidFill/>
                  <a:latin typeface="Consolas"/>
                </a:rPr>
                <a:t>how</a:t>
              </a:r>
              <a:r>
                <a:rPr spc="3" dirty="0">
                  <a:solidFill/>
                  <a:latin typeface="Consolas"/>
                </a:rPr>
                <a:t> </a:t>
              </a:r>
              <a:r>
                <a:rPr dirty="0">
                  <a:solidFill/>
                  <a:latin typeface="Consolas"/>
                </a:rPr>
                <a:t>to</a:t>
              </a:r>
              <a:r>
                <a:rPr spc="40" dirty="0">
                  <a:solidFill/>
                  <a:latin typeface="Consolas"/>
                </a:rPr>
                <a:t> </a:t>
              </a:r>
              <a:r>
                <a:rPr dirty="0">
                  <a:solidFill/>
                  <a:latin typeface="Consolas"/>
                </a:rPr>
                <a:t>interact</a:t>
              </a:r>
              <a:r>
                <a:rPr spc="5" dirty="0">
                  <a:solidFill/>
                  <a:latin typeface="Consolas"/>
                </a:rPr>
                <a:t> </a:t>
              </a:r>
              <a:r>
                <a:rPr dirty="0">
                  <a:solidFill/>
                  <a:latin typeface="Consolas"/>
                </a:rPr>
                <a:t>with</a:t>
              </a:r>
              <a:r>
                <a:rPr spc="37" dirty="0">
                  <a:solidFill/>
                  <a:latin typeface="Consolas"/>
                </a:rPr>
                <a:t> </a:t>
              </a:r>
              <a:r>
                <a:rPr spc="-26" dirty="0">
                  <a:solidFill/>
                  <a:latin typeface="Consolas"/>
                </a:rPr>
                <a:t>a</a:t>
              </a:r>
              <a:endParaRPr>
                <a:latin typeface="Consolas"/>
                <a:cs typeface="Consolas"/>
              </a:endParaRPr>
            </a:p>
          </p:txBody>
        </p:sp>
        <p:sp>
          <p:nvSpPr>
            <p:cNvPr id="13" name="object 13"/>
            <p:cNvSpPr txBox="1"/>
            <p:nvPr/>
          </p:nvSpPr>
          <p:spPr>
            <a:xfrm>
              <a:off x="1916534" y="4371037"/>
              <a:ext cx="1667619" cy="293029"/>
            </a:xfrm>
            <a:prstGeom prst="rect">
              <a:avLst/>
            </a:prstGeom>
            <a:solidFill>
              <a:srgbClr val="9AE988"/>
            </a:solidFill>
          </p:spPr>
          <p:txBody>
            <a:bodyPr vert="horz" wrap="square" lIns="0" tIns="0" rIns="0" bIns="0" rtlCol="0">
              <a:spAutoFit/>
            </a:bodyPr>
            <a:lstStyle/>
            <a:p>
              <a:pPr marL="1674">
                <a:lnSpc>
                  <a:spcPts val="1062"/>
                </a:lnSpc>
              </a:pPr>
              <a:r>
                <a:rPr dirty="0">
                  <a:solidFill/>
                  <a:latin typeface="Consolas"/>
                </a:rPr>
                <a:t>system</a:t>
              </a:r>
              <a:r>
                <a:rPr spc="-13" dirty="0">
                  <a:solidFill/>
                  <a:latin typeface="Consolas"/>
                </a:rPr>
                <a:t> </a:t>
              </a:r>
              <a:r>
                <a:rPr dirty="0">
                  <a:solidFill/>
                  <a:latin typeface="Consolas"/>
                </a:rPr>
                <a:t>or</a:t>
              </a:r>
              <a:r>
                <a:rPr spc="-5" dirty="0">
                  <a:solidFill/>
                  <a:latin typeface="Consolas"/>
                </a:rPr>
                <a:t> product..</a:t>
              </a:r>
              <a:endParaRPr>
                <a:latin typeface="Consolas"/>
                <a:cs typeface="Consolas"/>
              </a:endParaRPr>
            </a:p>
          </p:txBody>
        </p:sp>
      </p:grpSp>
      <p:pic>
        <p:nvPicPr>
          <p:cNvPr id="14" name="Google Shape;109;p20">
            <a:extLst>
              <a:ext uri="{FF2B5EF4-FFF2-40B4-BE49-F238E27FC236}">
                <a16:creationId xmlns:a16="http://schemas.microsoft.com/office/drawing/2014/main" id="{7AEB9FD5-DD3C-BC70-0389-29541294702E}"/>
              </a:ext>
            </a:extLst>
          </p:cNvPr>
          <p:cNvPicPr preferRelativeResize="0"/>
          <p:nvPr/>
        </p:nvPicPr>
        <p:blipFill>
          <a:blip r:embed="rId2">
            <a:alphaModFix/>
          </a:blip>
          <a:stretch>
            <a:fillRect/>
          </a:stretch>
        </p:blipFill>
        <p:spPr>
          <a:xfrm>
            <a:off x="8369125" y="0"/>
            <a:ext cx="774877" cy="867174"/>
          </a:xfrm>
          <a:prstGeom prst="rect">
            <a:avLst/>
          </a:prstGeom>
          <a:noFill/>
          <a:ln>
            <a:noFill/>
          </a:ln>
        </p:spPr>
      </p:pic>
    </p:spTree>
    <p:extLst>
      <p:ext uri="{BB962C8B-B14F-4D97-AF65-F5344CB8AC3E}">
        <p14:creationId xmlns:p14="http://schemas.microsoft.com/office/powerpoint/2010/main" val="314578334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842672" y="170684"/>
            <a:ext cx="4339828" cy="452502"/>
          </a:xfrm>
          <a:prstGeom prst="rect">
            <a:avLst/>
          </a:prstGeom>
        </p:spPr>
        <p:txBody>
          <a:bodyPr spcFirstLastPara="1" vert="horz" wrap="square" lIns="0" tIns="8706" rIns="0" bIns="0" rtlCol="0" anchor="ctr" anchorCtr="0">
            <a:spAutoFit/>
          </a:bodyPr>
          <a:lstStyle/>
          <a:p>
            <a:pPr marL="6697">
              <a:spcBef>
                <a:spcPts val="69"/>
              </a:spcBef>
            </a:pPr>
            <a:r>
              <a:rPr b="1" spc="-37" dirty="0">
                <a:solidFill>
                  <a:srgbClr val="1E2761"/>
                </a:solidFill>
                <a:latin typeface="Georgia"/>
              </a:rPr>
              <a:t>First</a:t>
            </a:r>
            <a:r>
              <a:rPr b="1" spc="-148" dirty="0">
                <a:solidFill>
                  <a:srgbClr val="1E2761"/>
                </a:solidFill>
                <a:latin typeface="Georgia"/>
              </a:rPr>
              <a:t> </a:t>
            </a:r>
            <a:r>
              <a:rPr b="1" spc="-34" dirty="0">
                <a:solidFill>
                  <a:srgbClr val="1E2761"/>
                </a:solidFill>
                <a:latin typeface="Georgia"/>
              </a:rPr>
              <a:t>Basic</a:t>
            </a:r>
            <a:r>
              <a:rPr b="1" spc="-148" dirty="0">
                <a:solidFill>
                  <a:srgbClr val="1E2761"/>
                </a:solidFill>
                <a:latin typeface="Georgia"/>
              </a:rPr>
              <a:t> </a:t>
            </a:r>
            <a:r>
              <a:rPr b="1" spc="-16" dirty="0">
                <a:solidFill>
                  <a:srgbClr val="1E2761"/>
                </a:solidFill>
                <a:latin typeface="Georgia"/>
              </a:rPr>
              <a:t>Prompt</a:t>
            </a:r>
          </a:p>
        </p:txBody>
      </p:sp>
      <p:sp>
        <p:nvSpPr>
          <p:cNvPr id="13" name="object 13"/>
          <p:cNvSpPr txBox="1"/>
          <p:nvPr/>
        </p:nvSpPr>
        <p:spPr>
          <a:xfrm>
            <a:off x="6702177" y="1409790"/>
            <a:ext cx="2054386" cy="762721"/>
          </a:xfrm>
          <a:prstGeom prst="rect">
            <a:avLst/>
          </a:prstGeom>
          <a:solidFill>
            <a:srgbClr val="8477FF"/>
          </a:solidFill>
        </p:spPr>
        <p:txBody>
          <a:bodyPr vert="horz" wrap="square" lIns="0" tIns="88404" rIns="0" bIns="0" rtlCol="0">
            <a:spAutoFit/>
          </a:bodyPr>
          <a:lstStyle/>
          <a:p>
            <a:pPr marL="62949">
              <a:spcBef>
                <a:spcPts val="696"/>
              </a:spcBef>
              <a:tabLst>
                <a:tab pos="616097" algn="l"/>
              </a:tabLst>
            </a:pPr>
            <a:r>
              <a:rPr sz="1292" spc="-5" dirty="0">
                <a:solidFill>
                  <a:srgbClr val="FFFFFF"/>
                </a:solidFill>
                <a:latin typeface="Calibri"/>
              </a:rPr>
              <a:t>Model:</a:t>
            </a:r>
            <a:r>
              <a:rPr sz="1292" dirty="0">
                <a:solidFill>
                  <a:srgbClr val="FFFFFF"/>
                </a:solidFill>
                <a:latin typeface="Calibri"/>
              </a:rPr>
              <a:t>	</a:t>
            </a:r>
            <a:r>
              <a:rPr sz="1292" spc="-21" dirty="0">
                <a:solidFill>
                  <a:srgbClr val="FFFFFF"/>
                </a:solidFill>
                <a:latin typeface="Calibri"/>
              </a:rPr>
              <a:t>“text-</a:t>
            </a:r>
            <a:r>
              <a:rPr sz="1292" spc="-5" dirty="0">
                <a:solidFill>
                  <a:srgbClr val="FFFFFF"/>
                </a:solidFill>
                <a:latin typeface="Calibri"/>
              </a:rPr>
              <a:t>davinci-</a:t>
            </a:r>
            <a:r>
              <a:rPr sz="1292" spc="-11" dirty="0">
                <a:solidFill>
                  <a:srgbClr val="FFFFFF"/>
                </a:solidFill>
                <a:latin typeface="Calibri"/>
              </a:rPr>
              <a:t>003”</a:t>
            </a:r>
            <a:endParaRPr sz="1292" dirty="0"/>
          </a:p>
          <a:p>
            <a:pPr marL="62949">
              <a:spcBef>
                <a:spcPts val="150"/>
              </a:spcBef>
              <a:tabLst>
                <a:tab pos="1058415" algn="l"/>
              </a:tabLst>
            </a:pPr>
            <a:r>
              <a:rPr sz="1292" spc="-5" dirty="0">
                <a:solidFill>
                  <a:srgbClr val="FFFFFF"/>
                </a:solidFill>
                <a:latin typeface="Calibri"/>
              </a:rPr>
              <a:t>temperature:</a:t>
            </a:r>
            <a:r>
              <a:rPr sz="1292" dirty="0">
                <a:solidFill>
                  <a:srgbClr val="FFFFFF"/>
                </a:solidFill>
                <a:latin typeface="Calibri"/>
              </a:rPr>
              <a:t>	</a:t>
            </a:r>
            <a:r>
              <a:rPr sz="1292" spc="-13" dirty="0">
                <a:solidFill>
                  <a:srgbClr val="FFFFFF"/>
                </a:solidFill>
                <a:latin typeface="Calibri"/>
              </a:rPr>
              <a:t>0.7</a:t>
            </a:r>
            <a:endParaRPr sz="1292" dirty="0"/>
          </a:p>
          <a:p>
            <a:pPr marL="62949">
              <a:spcBef>
                <a:spcPts val="351"/>
              </a:spcBef>
            </a:pPr>
            <a:r>
              <a:rPr sz="1292" spc="-18" dirty="0">
                <a:solidFill>
                  <a:srgbClr val="FFFFFF"/>
                </a:solidFill>
                <a:latin typeface="Calibri"/>
              </a:rPr>
              <a:t>top-</a:t>
            </a:r>
            <a:r>
              <a:rPr sz="1292" dirty="0">
                <a:solidFill>
                  <a:srgbClr val="FFFFFF"/>
                </a:solidFill>
                <a:latin typeface="Calibri"/>
              </a:rPr>
              <a:t>p:</a:t>
            </a:r>
            <a:r>
              <a:rPr sz="1292" spc="156" dirty="0">
                <a:solidFill>
                  <a:srgbClr val="FFFFFF"/>
                </a:solidFill>
                <a:latin typeface="Calibri"/>
              </a:rPr>
              <a:t> </a:t>
            </a:r>
            <a:r>
              <a:rPr sz="1292" spc="-26" dirty="0">
                <a:solidFill>
                  <a:srgbClr val="FFFFFF"/>
                </a:solidFill>
                <a:latin typeface="Calibri"/>
              </a:rPr>
              <a:t>1</a:t>
            </a:r>
            <a:endParaRPr sz="1292" dirty="0"/>
          </a:p>
        </p:txBody>
      </p:sp>
      <p:grpSp>
        <p:nvGrpSpPr>
          <p:cNvPr id="22" name="Group 21">
            <a:extLst>
              <a:ext uri="{FF2B5EF4-FFF2-40B4-BE49-F238E27FC236}">
                <a16:creationId xmlns:a16="http://schemas.microsoft.com/office/drawing/2014/main" id="{D6786DDB-4EC3-547B-E32F-2136C7CCB554}"/>
              </a:ext>
            </a:extLst>
          </p:cNvPr>
          <p:cNvGrpSpPr/>
          <p:nvPr/>
        </p:nvGrpSpPr>
        <p:grpSpPr>
          <a:xfrm>
            <a:off x="653771" y="570460"/>
            <a:ext cx="5565097" cy="2208759"/>
            <a:chOff x="1639732" y="824901"/>
            <a:chExt cx="5565097" cy="2208759"/>
          </a:xfrm>
        </p:grpSpPr>
        <p:grpSp>
          <p:nvGrpSpPr>
            <p:cNvPr id="3" name="object 3"/>
            <p:cNvGrpSpPr/>
            <p:nvPr/>
          </p:nvGrpSpPr>
          <p:grpSpPr>
            <a:xfrm>
              <a:off x="1942453" y="1256875"/>
              <a:ext cx="5262376" cy="1776785"/>
              <a:chOff x="1515999" y="2383408"/>
              <a:chExt cx="9979025" cy="3369310"/>
            </a:xfrm>
          </p:grpSpPr>
          <p:sp>
            <p:nvSpPr>
              <p:cNvPr id="4" name="object 4"/>
              <p:cNvSpPr/>
              <p:nvPr/>
            </p:nvSpPr>
            <p:spPr>
              <a:xfrm>
                <a:off x="1543050" y="2410459"/>
                <a:ext cx="9925050" cy="3305810"/>
              </a:xfrm>
              <a:custGeom>
                <a:avLst/>
                <a:gdLst/>
                <a:ahLst/>
                <a:cxnLst/>
                <a:rect l="l" t="t" r="r" b="b"/>
                <a:pathLst>
                  <a:path w="9925050" h="3305810">
                    <a:moveTo>
                      <a:pt x="9818497" y="0"/>
                    </a:moveTo>
                    <a:lnTo>
                      <a:pt x="9792208" y="0"/>
                    </a:lnTo>
                    <a:lnTo>
                      <a:pt x="105918" y="0"/>
                    </a:lnTo>
                    <a:lnTo>
                      <a:pt x="84708" y="762"/>
                    </a:lnTo>
                    <a:lnTo>
                      <a:pt x="14224" y="38735"/>
                    </a:lnTo>
                    <a:lnTo>
                      <a:pt x="762" y="84709"/>
                    </a:lnTo>
                    <a:lnTo>
                      <a:pt x="0" y="105918"/>
                    </a:lnTo>
                    <a:lnTo>
                      <a:pt x="0" y="3199511"/>
                    </a:lnTo>
                    <a:lnTo>
                      <a:pt x="2666" y="3237611"/>
                    </a:lnTo>
                    <a:lnTo>
                      <a:pt x="25146" y="3280283"/>
                    </a:lnTo>
                    <a:lnTo>
                      <a:pt x="67818" y="3302762"/>
                    </a:lnTo>
                    <a:lnTo>
                      <a:pt x="105918" y="3305429"/>
                    </a:lnTo>
                    <a:lnTo>
                      <a:pt x="9792208" y="3305556"/>
                    </a:lnTo>
                    <a:lnTo>
                      <a:pt x="9839833" y="3304667"/>
                    </a:lnTo>
                    <a:lnTo>
                      <a:pt x="9885680" y="3291205"/>
                    </a:lnTo>
                    <a:lnTo>
                      <a:pt x="9918065" y="3250819"/>
                    </a:lnTo>
                    <a:lnTo>
                      <a:pt x="9924542" y="3199511"/>
                    </a:lnTo>
                    <a:lnTo>
                      <a:pt x="9924542" y="105918"/>
                    </a:lnTo>
                    <a:lnTo>
                      <a:pt x="9923780" y="84709"/>
                    </a:lnTo>
                    <a:lnTo>
                      <a:pt x="9910318" y="38735"/>
                    </a:lnTo>
                    <a:lnTo>
                      <a:pt x="9869932" y="6476"/>
                    </a:lnTo>
                    <a:lnTo>
                      <a:pt x="9818497" y="0"/>
                    </a:lnTo>
                    <a:close/>
                  </a:path>
                </a:pathLst>
              </a:custGeom>
              <a:solidFill>
                <a:srgbClr val="F1F1F1"/>
              </a:solidFill>
            </p:spPr>
            <p:txBody>
              <a:bodyPr wrap="square" lIns="0" tIns="0" rIns="0" bIns="0" rtlCol="0"/>
              <a:lstStyle/>
              <a:p>
                <a:endParaRPr sz="738"/>
              </a:p>
            </p:txBody>
          </p:sp>
          <p:sp>
            <p:nvSpPr>
              <p:cNvPr id="5" name="object 5"/>
              <p:cNvSpPr/>
              <p:nvPr/>
            </p:nvSpPr>
            <p:spPr>
              <a:xfrm>
                <a:off x="1547749" y="2415158"/>
                <a:ext cx="9915525" cy="3305810"/>
              </a:xfrm>
              <a:custGeom>
                <a:avLst/>
                <a:gdLst/>
                <a:ahLst/>
                <a:cxnLst/>
                <a:rect l="l" t="t" r="r" b="b"/>
                <a:pathLst>
                  <a:path w="9915525" h="3305810">
                    <a:moveTo>
                      <a:pt x="132333" y="0"/>
                    </a:moveTo>
                    <a:lnTo>
                      <a:pt x="9782937" y="0"/>
                    </a:lnTo>
                    <a:lnTo>
                      <a:pt x="9809226" y="126"/>
                    </a:lnTo>
                    <a:lnTo>
                      <a:pt x="9847326" y="2794"/>
                    </a:lnTo>
                    <a:lnTo>
                      <a:pt x="9889998" y="25273"/>
                    </a:lnTo>
                    <a:lnTo>
                      <a:pt x="9912477" y="67945"/>
                    </a:lnTo>
                    <a:lnTo>
                      <a:pt x="9915271" y="132334"/>
                    </a:lnTo>
                    <a:lnTo>
                      <a:pt x="9915271" y="3173349"/>
                    </a:lnTo>
                    <a:lnTo>
                      <a:pt x="9914382" y="3220847"/>
                    </a:lnTo>
                    <a:lnTo>
                      <a:pt x="9900920" y="3266694"/>
                    </a:lnTo>
                    <a:lnTo>
                      <a:pt x="9860534" y="3299079"/>
                    </a:lnTo>
                    <a:lnTo>
                      <a:pt x="9809226" y="3305429"/>
                    </a:lnTo>
                    <a:lnTo>
                      <a:pt x="9782937" y="3305556"/>
                    </a:lnTo>
                    <a:lnTo>
                      <a:pt x="132333" y="3305556"/>
                    </a:lnTo>
                    <a:lnTo>
                      <a:pt x="84836" y="3304794"/>
                    </a:lnTo>
                    <a:lnTo>
                      <a:pt x="38862" y="3291332"/>
                    </a:lnTo>
                    <a:lnTo>
                      <a:pt x="6603" y="3250946"/>
                    </a:lnTo>
                    <a:lnTo>
                      <a:pt x="126" y="3199638"/>
                    </a:lnTo>
                    <a:lnTo>
                      <a:pt x="0" y="3173349"/>
                    </a:lnTo>
                    <a:lnTo>
                      <a:pt x="0" y="132334"/>
                    </a:lnTo>
                    <a:lnTo>
                      <a:pt x="888" y="84709"/>
                    </a:lnTo>
                    <a:lnTo>
                      <a:pt x="14350" y="38862"/>
                    </a:lnTo>
                    <a:lnTo>
                      <a:pt x="54737" y="6476"/>
                    </a:lnTo>
                    <a:lnTo>
                      <a:pt x="106044" y="126"/>
                    </a:lnTo>
                    <a:lnTo>
                      <a:pt x="132333" y="0"/>
                    </a:lnTo>
                    <a:close/>
                  </a:path>
                </a:pathLst>
              </a:custGeom>
              <a:ln w="63500">
                <a:solidFill>
                  <a:srgbClr val="6C6BE7"/>
                </a:solidFill>
              </a:ln>
            </p:spPr>
            <p:txBody>
              <a:bodyPr wrap="square" lIns="0" tIns="0" rIns="0" bIns="0" rtlCol="0"/>
              <a:lstStyle/>
              <a:p>
                <a:endParaRPr sz="738"/>
              </a:p>
            </p:txBody>
          </p:sp>
        </p:grpSp>
        <p:sp>
          <p:nvSpPr>
            <p:cNvPr id="6" name="object 6"/>
            <p:cNvSpPr txBox="1"/>
            <p:nvPr/>
          </p:nvSpPr>
          <p:spPr>
            <a:xfrm>
              <a:off x="2151474" y="1421662"/>
              <a:ext cx="878012" cy="182989"/>
            </a:xfrm>
            <a:prstGeom prst="rect">
              <a:avLst/>
            </a:prstGeom>
          </p:spPr>
          <p:txBody>
            <a:bodyPr vert="horz" wrap="square" lIns="0" tIns="8372" rIns="0" bIns="0" rtlCol="0">
              <a:spAutoFit/>
            </a:bodyPr>
            <a:lstStyle/>
            <a:p>
              <a:pPr marL="6697">
                <a:spcBef>
                  <a:spcPts val="66"/>
                </a:spcBef>
              </a:pPr>
              <a:r>
                <a:rPr sz="1134" dirty="0">
                  <a:solidFill/>
                  <a:latin typeface="Consolas"/>
                </a:rPr>
                <a:t>The</a:t>
              </a:r>
              <a:r>
                <a:rPr sz="1134" spc="3" dirty="0">
                  <a:solidFill/>
                  <a:latin typeface="Consolas"/>
                </a:rPr>
                <a:t> </a:t>
              </a:r>
              <a:r>
                <a:rPr sz="1134" dirty="0">
                  <a:solidFill/>
                  <a:latin typeface="Consolas"/>
                </a:rPr>
                <a:t>sky</a:t>
              </a:r>
              <a:r>
                <a:rPr sz="1134" spc="-3" dirty="0">
                  <a:solidFill/>
                  <a:latin typeface="Consolas"/>
                </a:rPr>
                <a:t> </a:t>
              </a:r>
              <a:r>
                <a:rPr sz="1134" spc="-13" dirty="0">
                  <a:solidFill/>
                  <a:latin typeface="Consolas"/>
                </a:rPr>
                <a:t>is</a:t>
              </a:r>
              <a:endParaRPr sz="1134">
                <a:latin typeface="Consolas"/>
                <a:cs typeface="Consolas"/>
              </a:endParaRPr>
            </a:p>
          </p:txBody>
        </p:sp>
        <p:sp>
          <p:nvSpPr>
            <p:cNvPr id="7" name="object 7"/>
            <p:cNvSpPr txBox="1"/>
            <p:nvPr/>
          </p:nvSpPr>
          <p:spPr>
            <a:xfrm>
              <a:off x="2157636" y="1758461"/>
              <a:ext cx="442020" cy="159018"/>
            </a:xfrm>
            <a:prstGeom prst="rect">
              <a:avLst/>
            </a:prstGeom>
            <a:solidFill>
              <a:srgbClr val="9AE988"/>
            </a:solidFill>
          </p:spPr>
          <p:txBody>
            <a:bodyPr vert="horz" wrap="square" lIns="0" tIns="0" rIns="0" bIns="0" rtlCol="0">
              <a:spAutoFit/>
            </a:bodyPr>
            <a:lstStyle/>
            <a:p>
              <a:pPr marL="2009">
                <a:lnSpc>
                  <a:spcPts val="1171"/>
                </a:lnSpc>
              </a:pPr>
              <a:r>
                <a:rPr sz="1134" spc="-11" dirty="0">
                  <a:solidFill/>
                  <a:latin typeface="Consolas"/>
                </a:rPr>
                <a:t>blue</a:t>
              </a:r>
              <a:endParaRPr sz="1134">
                <a:latin typeface="Consolas"/>
                <a:cs typeface="Consolas"/>
              </a:endParaRPr>
            </a:p>
          </p:txBody>
        </p:sp>
        <p:sp>
          <p:nvSpPr>
            <p:cNvPr id="8" name="object 8"/>
            <p:cNvSpPr txBox="1"/>
            <p:nvPr/>
          </p:nvSpPr>
          <p:spPr>
            <a:xfrm>
              <a:off x="2157636" y="2060079"/>
              <a:ext cx="4732288" cy="159018"/>
            </a:xfrm>
            <a:prstGeom prst="rect">
              <a:avLst/>
            </a:prstGeom>
            <a:solidFill>
              <a:srgbClr val="9AE988"/>
            </a:solidFill>
          </p:spPr>
          <p:txBody>
            <a:bodyPr vert="horz" wrap="square" lIns="0" tIns="0" rIns="0" bIns="0" rtlCol="0">
              <a:spAutoFit/>
            </a:bodyPr>
            <a:lstStyle/>
            <a:p>
              <a:pPr marL="2009">
                <a:lnSpc>
                  <a:spcPts val="1171"/>
                </a:lnSpc>
              </a:pPr>
              <a:r>
                <a:rPr sz="1134" dirty="0">
                  <a:solidFill/>
                  <a:latin typeface="Consolas"/>
                </a:rPr>
                <a:t>The sky</a:t>
              </a:r>
              <a:r>
                <a:rPr sz="1134" spc="-3" dirty="0">
                  <a:solidFill/>
                  <a:latin typeface="Consolas"/>
                </a:rPr>
                <a:t> </a:t>
              </a:r>
              <a:r>
                <a:rPr sz="1134" dirty="0">
                  <a:solidFill/>
                  <a:latin typeface="Consolas"/>
                </a:rPr>
                <a:t>is</a:t>
              </a:r>
              <a:r>
                <a:rPr sz="1134" spc="3" dirty="0">
                  <a:solidFill/>
                  <a:latin typeface="Consolas"/>
                </a:rPr>
                <a:t> </a:t>
              </a:r>
              <a:r>
                <a:rPr sz="1134" dirty="0">
                  <a:solidFill/>
                  <a:latin typeface="Consolas"/>
                </a:rPr>
                <a:t>a</a:t>
              </a:r>
              <a:r>
                <a:rPr sz="1134" spc="-3" dirty="0">
                  <a:solidFill/>
                  <a:latin typeface="Consolas"/>
                </a:rPr>
                <a:t> </a:t>
              </a:r>
              <a:r>
                <a:rPr sz="1134" dirty="0">
                  <a:solidFill/>
                  <a:latin typeface="Consolas"/>
                </a:rPr>
                <a:t>beautiful</a:t>
              </a:r>
              <a:r>
                <a:rPr sz="1134" spc="3" dirty="0">
                  <a:solidFill/>
                  <a:latin typeface="Consolas"/>
                </a:rPr>
                <a:t> </a:t>
              </a:r>
              <a:r>
                <a:rPr sz="1134" dirty="0">
                  <a:solidFill/>
                  <a:latin typeface="Consolas"/>
                </a:rPr>
                <a:t>blue color</a:t>
              </a:r>
              <a:r>
                <a:rPr sz="1134" spc="3" dirty="0">
                  <a:solidFill/>
                  <a:latin typeface="Consolas"/>
                </a:rPr>
                <a:t> </a:t>
              </a:r>
              <a:r>
                <a:rPr sz="1134" dirty="0">
                  <a:solidFill/>
                  <a:latin typeface="Consolas"/>
                </a:rPr>
                <a:t>during</a:t>
              </a:r>
              <a:r>
                <a:rPr sz="1134" spc="40" dirty="0">
                  <a:solidFill/>
                  <a:latin typeface="Consolas"/>
                </a:rPr>
                <a:t> </a:t>
              </a:r>
              <a:r>
                <a:rPr sz="1134" dirty="0">
                  <a:solidFill/>
                  <a:latin typeface="Consolas"/>
                </a:rPr>
                <a:t>the</a:t>
              </a:r>
              <a:r>
                <a:rPr sz="1134" spc="-5" dirty="0">
                  <a:solidFill/>
                  <a:latin typeface="Consolas"/>
                </a:rPr>
                <a:t> </a:t>
              </a:r>
              <a:r>
                <a:rPr sz="1134" dirty="0">
                  <a:solidFill/>
                  <a:latin typeface="Consolas"/>
                </a:rPr>
                <a:t>day.</a:t>
              </a:r>
              <a:r>
                <a:rPr sz="1134" spc="3" dirty="0">
                  <a:solidFill/>
                  <a:latin typeface="Consolas"/>
                </a:rPr>
                <a:t> </a:t>
              </a:r>
              <a:r>
                <a:rPr sz="1134" spc="-13" dirty="0">
                  <a:solidFill/>
                  <a:latin typeface="Consolas"/>
                </a:rPr>
                <a:t>The</a:t>
              </a:r>
              <a:endParaRPr sz="1134" dirty="0">
                <a:latin typeface="Consolas"/>
                <a:cs typeface="Consolas"/>
              </a:endParaRPr>
            </a:p>
          </p:txBody>
        </p:sp>
        <p:sp>
          <p:nvSpPr>
            <p:cNvPr id="9" name="object 9"/>
            <p:cNvSpPr txBox="1"/>
            <p:nvPr/>
          </p:nvSpPr>
          <p:spPr>
            <a:xfrm>
              <a:off x="2157636" y="2228180"/>
              <a:ext cx="4644554" cy="149400"/>
            </a:xfrm>
            <a:prstGeom prst="rect">
              <a:avLst/>
            </a:prstGeom>
            <a:solidFill>
              <a:srgbClr val="9AE988"/>
            </a:solidFill>
          </p:spPr>
          <p:txBody>
            <a:bodyPr vert="horz" wrap="square" lIns="0" tIns="0" rIns="0" bIns="0" rtlCol="0">
              <a:spAutoFit/>
            </a:bodyPr>
            <a:lstStyle/>
            <a:p>
              <a:pPr marL="2009">
                <a:lnSpc>
                  <a:spcPts val="1060"/>
                </a:lnSpc>
              </a:pPr>
              <a:r>
                <a:rPr sz="1134" dirty="0">
                  <a:solidFill/>
                  <a:latin typeface="Consolas"/>
                </a:rPr>
                <a:t>blue of</a:t>
              </a:r>
              <a:r>
                <a:rPr sz="1134" spc="8" dirty="0">
                  <a:solidFill/>
                  <a:latin typeface="Consolas"/>
                </a:rPr>
                <a:t> </a:t>
              </a:r>
              <a:r>
                <a:rPr sz="1134" dirty="0">
                  <a:solidFill/>
                  <a:latin typeface="Consolas"/>
                </a:rPr>
                <a:t>the</a:t>
              </a:r>
              <a:r>
                <a:rPr sz="1134" spc="5" dirty="0">
                  <a:solidFill/>
                  <a:latin typeface="Consolas"/>
                </a:rPr>
                <a:t> </a:t>
              </a:r>
              <a:r>
                <a:rPr sz="1134" dirty="0">
                  <a:solidFill/>
                  <a:latin typeface="Consolas"/>
                </a:rPr>
                <a:t>sky</a:t>
              </a:r>
              <a:r>
                <a:rPr sz="1134" spc="3" dirty="0">
                  <a:solidFill/>
                  <a:latin typeface="Consolas"/>
                </a:rPr>
                <a:t> </a:t>
              </a:r>
              <a:r>
                <a:rPr sz="1134" dirty="0">
                  <a:solidFill/>
                  <a:latin typeface="Consolas"/>
                </a:rPr>
                <a:t>is</a:t>
              </a:r>
              <a:r>
                <a:rPr sz="1134" spc="8" dirty="0">
                  <a:solidFill/>
                  <a:latin typeface="Consolas"/>
                </a:rPr>
                <a:t> </a:t>
              </a:r>
              <a:r>
                <a:rPr sz="1134" dirty="0">
                  <a:solidFill/>
                  <a:latin typeface="Consolas"/>
                </a:rPr>
                <a:t>created</a:t>
              </a:r>
              <a:r>
                <a:rPr sz="1134" spc="5" dirty="0">
                  <a:solidFill/>
                  <a:latin typeface="Consolas"/>
                </a:rPr>
                <a:t> </a:t>
              </a:r>
              <a:r>
                <a:rPr sz="1134" dirty="0">
                  <a:solidFill/>
                  <a:latin typeface="Consolas"/>
                </a:rPr>
                <a:t>by</a:t>
              </a:r>
              <a:r>
                <a:rPr sz="1134" spc="3" dirty="0">
                  <a:solidFill/>
                  <a:latin typeface="Consolas"/>
                </a:rPr>
                <a:t> </a:t>
              </a:r>
              <a:r>
                <a:rPr sz="1134" dirty="0">
                  <a:solidFill/>
                  <a:latin typeface="Consolas"/>
                </a:rPr>
                <a:t>the</a:t>
              </a:r>
              <a:r>
                <a:rPr sz="1134" spc="5" dirty="0">
                  <a:solidFill/>
                  <a:latin typeface="Consolas"/>
                </a:rPr>
                <a:t> </a:t>
              </a:r>
              <a:r>
                <a:rPr sz="1134" dirty="0">
                  <a:solidFill/>
                  <a:latin typeface="Consolas"/>
                </a:rPr>
                <a:t>Earth’s</a:t>
              </a:r>
              <a:r>
                <a:rPr sz="1134" spc="5" dirty="0">
                  <a:solidFill/>
                  <a:latin typeface="Consolas"/>
                </a:rPr>
                <a:t> </a:t>
              </a:r>
              <a:r>
                <a:rPr sz="1134" spc="-5" dirty="0">
                  <a:solidFill/>
                  <a:latin typeface="Consolas"/>
                </a:rPr>
                <a:t>atmosphere</a:t>
              </a:r>
              <a:endParaRPr sz="1134">
                <a:latin typeface="Consolas"/>
                <a:cs typeface="Consolas"/>
              </a:endParaRPr>
            </a:p>
          </p:txBody>
        </p:sp>
        <p:sp>
          <p:nvSpPr>
            <p:cNvPr id="10" name="object 10"/>
            <p:cNvSpPr txBox="1"/>
            <p:nvPr/>
          </p:nvSpPr>
          <p:spPr>
            <a:xfrm>
              <a:off x="2157636" y="2362795"/>
              <a:ext cx="4907421" cy="159018"/>
            </a:xfrm>
            <a:prstGeom prst="rect">
              <a:avLst/>
            </a:prstGeom>
            <a:solidFill>
              <a:srgbClr val="9AE988"/>
            </a:solidFill>
          </p:spPr>
          <p:txBody>
            <a:bodyPr vert="horz" wrap="square" lIns="0" tIns="0" rIns="0" bIns="0" rtlCol="0">
              <a:spAutoFit/>
            </a:bodyPr>
            <a:lstStyle/>
            <a:p>
              <a:pPr marL="2009">
                <a:lnSpc>
                  <a:spcPts val="1213"/>
                </a:lnSpc>
              </a:pPr>
              <a:r>
                <a:rPr sz="1134" dirty="0">
                  <a:solidFill/>
                  <a:latin typeface="Consolas"/>
                </a:rPr>
                <a:t>scattering</a:t>
              </a:r>
              <a:r>
                <a:rPr sz="1134" spc="11" dirty="0">
                  <a:solidFill/>
                  <a:latin typeface="Consolas"/>
                </a:rPr>
                <a:t> </a:t>
              </a:r>
              <a:r>
                <a:rPr sz="1134" dirty="0">
                  <a:solidFill/>
                  <a:latin typeface="Consolas"/>
                </a:rPr>
                <a:t>the</a:t>
              </a:r>
              <a:r>
                <a:rPr sz="1134" spc="5" dirty="0">
                  <a:solidFill/>
                  <a:latin typeface="Consolas"/>
                </a:rPr>
                <a:t> </a:t>
              </a:r>
              <a:r>
                <a:rPr sz="1134" dirty="0">
                  <a:solidFill/>
                  <a:latin typeface="Consolas"/>
                </a:rPr>
                <a:t>sun’s</a:t>
              </a:r>
              <a:r>
                <a:rPr sz="1134" spc="5" dirty="0">
                  <a:solidFill/>
                  <a:latin typeface="Consolas"/>
                </a:rPr>
                <a:t> </a:t>
              </a:r>
              <a:r>
                <a:rPr sz="1134" dirty="0">
                  <a:solidFill/>
                  <a:latin typeface="Consolas"/>
                </a:rPr>
                <a:t>light.</a:t>
              </a:r>
              <a:r>
                <a:rPr sz="1134" spc="5" dirty="0">
                  <a:solidFill/>
                  <a:latin typeface="Consolas"/>
                </a:rPr>
                <a:t> </a:t>
              </a:r>
              <a:r>
                <a:rPr sz="1134" dirty="0">
                  <a:solidFill/>
                  <a:latin typeface="Consolas"/>
                </a:rPr>
                <a:t>The</a:t>
              </a:r>
              <a:r>
                <a:rPr sz="1134" spc="5" dirty="0">
                  <a:solidFill/>
                  <a:latin typeface="Consolas"/>
                </a:rPr>
                <a:t> </a:t>
              </a:r>
              <a:r>
                <a:rPr sz="1134" dirty="0">
                  <a:solidFill/>
                  <a:latin typeface="Consolas"/>
                </a:rPr>
                <a:t>blue</a:t>
              </a:r>
              <a:r>
                <a:rPr sz="1134" spc="3" dirty="0">
                  <a:solidFill/>
                  <a:latin typeface="Consolas"/>
                </a:rPr>
                <a:t> </a:t>
              </a:r>
              <a:r>
                <a:rPr sz="1134" dirty="0">
                  <a:solidFill/>
                  <a:latin typeface="Consolas"/>
                </a:rPr>
                <a:t>is</a:t>
              </a:r>
              <a:r>
                <a:rPr sz="1134" spc="5" dirty="0">
                  <a:solidFill/>
                  <a:latin typeface="Consolas"/>
                </a:rPr>
                <a:t> </a:t>
              </a:r>
              <a:r>
                <a:rPr sz="1134" dirty="0">
                  <a:solidFill/>
                  <a:latin typeface="Consolas"/>
                </a:rPr>
                <a:t>a</a:t>
              </a:r>
              <a:r>
                <a:rPr sz="1134" spc="5" dirty="0">
                  <a:solidFill/>
                  <a:latin typeface="Consolas"/>
                </a:rPr>
                <a:t> </a:t>
              </a:r>
              <a:r>
                <a:rPr sz="1134" dirty="0">
                  <a:solidFill/>
                  <a:latin typeface="Consolas"/>
                </a:rPr>
                <a:t>result</a:t>
              </a:r>
              <a:r>
                <a:rPr sz="1134" spc="5" dirty="0">
                  <a:solidFill/>
                  <a:latin typeface="Consolas"/>
                </a:rPr>
                <a:t> </a:t>
              </a:r>
              <a:r>
                <a:rPr sz="1134" dirty="0">
                  <a:solidFill/>
                  <a:latin typeface="Consolas"/>
                </a:rPr>
                <a:t>of</a:t>
              </a:r>
              <a:r>
                <a:rPr sz="1134" spc="5" dirty="0">
                  <a:solidFill/>
                  <a:latin typeface="Consolas"/>
                </a:rPr>
                <a:t> </a:t>
              </a:r>
              <a:r>
                <a:rPr sz="1134" spc="-13" dirty="0">
                  <a:solidFill/>
                  <a:latin typeface="Consolas"/>
                </a:rPr>
                <a:t>the</a:t>
              </a:r>
              <a:endParaRPr sz="1134">
                <a:latin typeface="Consolas"/>
                <a:cs typeface="Consolas"/>
              </a:endParaRPr>
            </a:p>
          </p:txBody>
        </p:sp>
        <p:sp>
          <p:nvSpPr>
            <p:cNvPr id="11" name="object 11"/>
            <p:cNvSpPr txBox="1"/>
            <p:nvPr/>
          </p:nvSpPr>
          <p:spPr>
            <a:xfrm>
              <a:off x="2157636" y="2531566"/>
              <a:ext cx="4820022" cy="149400"/>
            </a:xfrm>
            <a:prstGeom prst="rect">
              <a:avLst/>
            </a:prstGeom>
            <a:solidFill>
              <a:srgbClr val="9AE988"/>
            </a:solidFill>
          </p:spPr>
          <p:txBody>
            <a:bodyPr vert="horz" wrap="square" lIns="0" tIns="0" rIns="0" bIns="0" rtlCol="0">
              <a:spAutoFit/>
            </a:bodyPr>
            <a:lstStyle/>
            <a:p>
              <a:pPr marL="2009">
                <a:lnSpc>
                  <a:spcPts val="1073"/>
                </a:lnSpc>
              </a:pPr>
              <a:r>
                <a:rPr sz="1134" dirty="0">
                  <a:solidFill/>
                  <a:latin typeface="Consolas"/>
                </a:rPr>
                <a:t>air</a:t>
              </a:r>
              <a:r>
                <a:rPr sz="1134" spc="-5" dirty="0">
                  <a:solidFill/>
                  <a:latin typeface="Consolas"/>
                </a:rPr>
                <a:t> </a:t>
              </a:r>
              <a:r>
                <a:rPr sz="1134" dirty="0">
                  <a:solidFill/>
                  <a:latin typeface="Consolas"/>
                </a:rPr>
                <a:t>molecules</a:t>
              </a:r>
              <a:r>
                <a:rPr sz="1134" spc="-13" dirty="0">
                  <a:solidFill/>
                  <a:latin typeface="Consolas"/>
                </a:rPr>
                <a:t> </a:t>
              </a:r>
              <a:r>
                <a:rPr sz="1134" dirty="0">
                  <a:solidFill/>
                  <a:latin typeface="Consolas"/>
                </a:rPr>
                <a:t>in</a:t>
              </a:r>
              <a:r>
                <a:rPr sz="1134" spc="32" dirty="0">
                  <a:solidFill/>
                  <a:latin typeface="Consolas"/>
                </a:rPr>
                <a:t> </a:t>
              </a:r>
              <a:r>
                <a:rPr sz="1134" dirty="0">
                  <a:solidFill/>
                  <a:latin typeface="Consolas"/>
                </a:rPr>
                <a:t>the</a:t>
              </a:r>
              <a:r>
                <a:rPr sz="1134" spc="-8" dirty="0">
                  <a:solidFill/>
                  <a:latin typeface="Consolas"/>
                </a:rPr>
                <a:t> </a:t>
              </a:r>
              <a:r>
                <a:rPr sz="1134" dirty="0">
                  <a:solidFill/>
                  <a:latin typeface="Consolas"/>
                </a:rPr>
                <a:t>atmosphere</a:t>
              </a:r>
              <a:r>
                <a:rPr sz="1134" spc="-3" dirty="0">
                  <a:solidFill/>
                  <a:latin typeface="Consolas"/>
                </a:rPr>
                <a:t> </a:t>
              </a:r>
              <a:r>
                <a:rPr sz="1134" dirty="0">
                  <a:solidFill/>
                  <a:latin typeface="Consolas"/>
                </a:rPr>
                <a:t>reflecting</a:t>
              </a:r>
              <a:r>
                <a:rPr sz="1134" spc="34" dirty="0">
                  <a:solidFill/>
                  <a:latin typeface="Consolas"/>
                </a:rPr>
                <a:t> </a:t>
              </a:r>
              <a:r>
                <a:rPr sz="1134" dirty="0">
                  <a:solidFill/>
                  <a:latin typeface="Consolas"/>
                </a:rPr>
                <a:t>the</a:t>
              </a:r>
              <a:r>
                <a:rPr sz="1134" spc="-8" dirty="0">
                  <a:solidFill/>
                  <a:latin typeface="Consolas"/>
                </a:rPr>
                <a:t> </a:t>
              </a:r>
              <a:r>
                <a:rPr sz="1134" spc="-5" dirty="0">
                  <a:solidFill/>
                  <a:latin typeface="Consolas"/>
                </a:rPr>
                <a:t>shorter</a:t>
              </a:r>
              <a:endParaRPr sz="1134">
                <a:latin typeface="Consolas"/>
                <a:cs typeface="Consolas"/>
              </a:endParaRPr>
            </a:p>
          </p:txBody>
        </p:sp>
        <p:sp>
          <p:nvSpPr>
            <p:cNvPr id="12" name="object 12"/>
            <p:cNvSpPr txBox="1"/>
            <p:nvPr/>
          </p:nvSpPr>
          <p:spPr>
            <a:xfrm>
              <a:off x="2157636" y="2687914"/>
              <a:ext cx="3681822" cy="139782"/>
            </a:xfrm>
            <a:prstGeom prst="rect">
              <a:avLst/>
            </a:prstGeom>
            <a:solidFill>
              <a:srgbClr val="9AE988"/>
            </a:solidFill>
          </p:spPr>
          <p:txBody>
            <a:bodyPr vert="horz" wrap="square" lIns="0" tIns="0" rIns="0" bIns="0" rtlCol="0">
              <a:spAutoFit/>
            </a:bodyPr>
            <a:lstStyle/>
            <a:p>
              <a:pPr marL="2009">
                <a:lnSpc>
                  <a:spcPts val="1031"/>
                </a:lnSpc>
              </a:pPr>
              <a:r>
                <a:rPr sz="1134" dirty="0">
                  <a:solidFill/>
                  <a:latin typeface="Consolas"/>
                </a:rPr>
                <a:t>wavelength</a:t>
              </a:r>
              <a:r>
                <a:rPr sz="1134" spc="11" dirty="0">
                  <a:solidFill/>
                  <a:latin typeface="Consolas"/>
                </a:rPr>
                <a:t> </a:t>
              </a:r>
              <a:r>
                <a:rPr sz="1134" dirty="0">
                  <a:solidFill/>
                  <a:latin typeface="Consolas"/>
                </a:rPr>
                <a:t>of</a:t>
              </a:r>
              <a:r>
                <a:rPr sz="1134" spc="3" dirty="0">
                  <a:solidFill/>
                  <a:latin typeface="Consolas"/>
                </a:rPr>
                <a:t> </a:t>
              </a:r>
              <a:r>
                <a:rPr sz="1134" dirty="0">
                  <a:solidFill/>
                  <a:latin typeface="Consolas"/>
                </a:rPr>
                <a:t>blue</a:t>
              </a:r>
              <a:r>
                <a:rPr sz="1134" spc="3" dirty="0">
                  <a:solidFill/>
                  <a:latin typeface="Consolas"/>
                </a:rPr>
                <a:t> </a:t>
              </a:r>
              <a:r>
                <a:rPr sz="1134" dirty="0">
                  <a:solidFill/>
                  <a:latin typeface="Consolas"/>
                </a:rPr>
                <a:t>light</a:t>
              </a:r>
              <a:r>
                <a:rPr sz="1134" spc="3" dirty="0">
                  <a:solidFill/>
                  <a:latin typeface="Consolas"/>
                </a:rPr>
                <a:t> </a:t>
              </a:r>
              <a:r>
                <a:rPr sz="1134" dirty="0">
                  <a:solidFill/>
                  <a:latin typeface="Consolas"/>
                </a:rPr>
                <a:t>back</a:t>
              </a:r>
              <a:r>
                <a:rPr sz="1134" spc="3" dirty="0">
                  <a:solidFill/>
                  <a:latin typeface="Consolas"/>
                </a:rPr>
                <a:t> </a:t>
              </a:r>
              <a:r>
                <a:rPr sz="1134" dirty="0">
                  <a:solidFill/>
                  <a:latin typeface="Consolas"/>
                </a:rPr>
                <a:t>to</a:t>
              </a:r>
              <a:r>
                <a:rPr sz="1134" spc="3" dirty="0">
                  <a:solidFill/>
                  <a:latin typeface="Consolas"/>
                </a:rPr>
                <a:t> </a:t>
              </a:r>
              <a:r>
                <a:rPr sz="1134" dirty="0">
                  <a:solidFill/>
                  <a:latin typeface="Consolas"/>
                </a:rPr>
                <a:t>our </a:t>
              </a:r>
              <a:r>
                <a:rPr sz="1134" spc="-5" dirty="0">
                  <a:solidFill/>
                  <a:latin typeface="Consolas"/>
                </a:rPr>
                <a:t>eyes.</a:t>
              </a:r>
              <a:endParaRPr sz="1134">
                <a:latin typeface="Consolas"/>
                <a:cs typeface="Consolas"/>
              </a:endParaRPr>
            </a:p>
          </p:txBody>
        </p:sp>
        <p:sp>
          <p:nvSpPr>
            <p:cNvPr id="14" name="object 14"/>
            <p:cNvSpPr txBox="1"/>
            <p:nvPr/>
          </p:nvSpPr>
          <p:spPr>
            <a:xfrm>
              <a:off x="2280196" y="824901"/>
              <a:ext cx="504974" cy="134194"/>
            </a:xfrm>
            <a:prstGeom prst="rect">
              <a:avLst/>
            </a:prstGeom>
          </p:spPr>
          <p:txBody>
            <a:bodyPr vert="horz" wrap="square" lIns="0" tIns="8372" rIns="0" bIns="0" rtlCol="0">
              <a:spAutoFit/>
            </a:bodyPr>
            <a:lstStyle/>
            <a:p>
              <a:pPr marL="6697">
                <a:spcBef>
                  <a:spcPts val="66"/>
                </a:spcBef>
              </a:pPr>
              <a:r>
                <a:rPr sz="817" spc="-5" dirty="0">
                  <a:solidFill>
                    <a:srgbClr val="1A1F36"/>
                  </a:solidFill>
                  <a:latin typeface="Calibri"/>
                </a:rPr>
                <a:t>Instruction</a:t>
              </a:r>
              <a:endParaRPr sz="817"/>
            </a:p>
          </p:txBody>
        </p:sp>
        <p:grpSp>
          <p:nvGrpSpPr>
            <p:cNvPr id="15" name="object 15"/>
            <p:cNvGrpSpPr/>
            <p:nvPr/>
          </p:nvGrpSpPr>
          <p:grpSpPr>
            <a:xfrm>
              <a:off x="1803518" y="1002313"/>
              <a:ext cx="771190" cy="1499853"/>
              <a:chOff x="1252537" y="1900682"/>
              <a:chExt cx="1462405" cy="2844165"/>
            </a:xfrm>
          </p:grpSpPr>
          <p:sp>
            <p:nvSpPr>
              <p:cNvPr id="16" name="object 16"/>
              <p:cNvSpPr/>
              <p:nvPr/>
            </p:nvSpPr>
            <p:spPr>
              <a:xfrm>
                <a:off x="2652649" y="1900682"/>
                <a:ext cx="0" cy="647700"/>
              </a:xfrm>
              <a:custGeom>
                <a:avLst/>
                <a:gdLst/>
                <a:ahLst/>
                <a:cxnLst/>
                <a:rect l="l" t="t" r="r" b="b"/>
                <a:pathLst>
                  <a:path h="647700">
                    <a:moveTo>
                      <a:pt x="0" y="0"/>
                    </a:moveTo>
                    <a:lnTo>
                      <a:pt x="0" y="635126"/>
                    </a:lnTo>
                    <a:lnTo>
                      <a:pt x="0" y="647700"/>
                    </a:lnTo>
                  </a:path>
                </a:pathLst>
              </a:custGeom>
              <a:ln w="25400">
                <a:solidFill>
                  <a:srgbClr val="350E0D"/>
                </a:solidFill>
                <a:prstDash val="sysDot"/>
              </a:ln>
            </p:spPr>
            <p:txBody>
              <a:bodyPr wrap="square" lIns="0" tIns="0" rIns="0" bIns="0" rtlCol="0"/>
              <a:lstStyle/>
              <a:p>
                <a:endParaRPr sz="738"/>
              </a:p>
            </p:txBody>
          </p:sp>
          <p:sp>
            <p:nvSpPr>
              <p:cNvPr id="17" name="object 17"/>
              <p:cNvSpPr/>
              <p:nvPr/>
            </p:nvSpPr>
            <p:spPr>
              <a:xfrm>
                <a:off x="2590800" y="2534285"/>
                <a:ext cx="123825" cy="123825"/>
              </a:xfrm>
              <a:custGeom>
                <a:avLst/>
                <a:gdLst/>
                <a:ahLst/>
                <a:cxnLst/>
                <a:rect l="l" t="t" r="r" b="b"/>
                <a:pathLst>
                  <a:path w="123825" h="123825">
                    <a:moveTo>
                      <a:pt x="123825" y="0"/>
                    </a:moveTo>
                    <a:lnTo>
                      <a:pt x="0" y="0"/>
                    </a:lnTo>
                    <a:lnTo>
                      <a:pt x="61975" y="123825"/>
                    </a:lnTo>
                    <a:lnTo>
                      <a:pt x="123825" y="0"/>
                    </a:lnTo>
                    <a:close/>
                  </a:path>
                </a:pathLst>
              </a:custGeom>
              <a:solidFill>
                <a:srgbClr val="350E0D"/>
              </a:solidFill>
            </p:spPr>
            <p:txBody>
              <a:bodyPr wrap="square" lIns="0" tIns="0" rIns="0" bIns="0" rtlCol="0"/>
              <a:lstStyle/>
              <a:p>
                <a:endParaRPr sz="738"/>
              </a:p>
            </p:txBody>
          </p:sp>
          <p:sp>
            <p:nvSpPr>
              <p:cNvPr id="18" name="object 18"/>
              <p:cNvSpPr/>
              <p:nvPr/>
            </p:nvSpPr>
            <p:spPr>
              <a:xfrm>
                <a:off x="1252537" y="4682744"/>
                <a:ext cx="485775" cy="0"/>
              </a:xfrm>
              <a:custGeom>
                <a:avLst/>
                <a:gdLst/>
                <a:ahLst/>
                <a:cxnLst/>
                <a:rect l="l" t="t" r="r" b="b"/>
                <a:pathLst>
                  <a:path w="485775">
                    <a:moveTo>
                      <a:pt x="0" y="0"/>
                    </a:moveTo>
                    <a:lnTo>
                      <a:pt x="472884" y="0"/>
                    </a:lnTo>
                    <a:lnTo>
                      <a:pt x="485711" y="0"/>
                    </a:lnTo>
                  </a:path>
                </a:pathLst>
              </a:custGeom>
              <a:ln w="25400">
                <a:solidFill>
                  <a:srgbClr val="350E0D"/>
                </a:solidFill>
                <a:prstDash val="sysDot"/>
              </a:ln>
            </p:spPr>
            <p:txBody>
              <a:bodyPr wrap="square" lIns="0" tIns="0" rIns="0" bIns="0" rtlCol="0"/>
              <a:lstStyle/>
              <a:p>
                <a:endParaRPr sz="738"/>
              </a:p>
            </p:txBody>
          </p:sp>
          <p:sp>
            <p:nvSpPr>
              <p:cNvPr id="19" name="object 19"/>
              <p:cNvSpPr/>
              <p:nvPr/>
            </p:nvSpPr>
            <p:spPr>
              <a:xfrm>
                <a:off x="1714500" y="4620767"/>
                <a:ext cx="123825" cy="123825"/>
              </a:xfrm>
              <a:custGeom>
                <a:avLst/>
                <a:gdLst/>
                <a:ahLst/>
                <a:cxnLst/>
                <a:rect l="l" t="t" r="r" b="b"/>
                <a:pathLst>
                  <a:path w="123825" h="123825">
                    <a:moveTo>
                      <a:pt x="0" y="0"/>
                    </a:moveTo>
                    <a:lnTo>
                      <a:pt x="0" y="123825"/>
                    </a:lnTo>
                    <a:lnTo>
                      <a:pt x="123825" y="61849"/>
                    </a:lnTo>
                    <a:lnTo>
                      <a:pt x="0" y="0"/>
                    </a:lnTo>
                    <a:close/>
                  </a:path>
                </a:pathLst>
              </a:custGeom>
              <a:solidFill>
                <a:srgbClr val="350E0D"/>
              </a:solidFill>
            </p:spPr>
            <p:txBody>
              <a:bodyPr wrap="square" lIns="0" tIns="0" rIns="0" bIns="0" rtlCol="0"/>
              <a:lstStyle/>
              <a:p>
                <a:endParaRPr sz="738"/>
              </a:p>
            </p:txBody>
          </p:sp>
        </p:grpSp>
        <p:sp>
          <p:nvSpPr>
            <p:cNvPr id="20" name="object 20"/>
            <p:cNvSpPr txBox="1"/>
            <p:nvPr/>
          </p:nvSpPr>
          <p:spPr>
            <a:xfrm>
              <a:off x="1639732" y="2232495"/>
              <a:ext cx="120033" cy="489235"/>
            </a:xfrm>
            <a:prstGeom prst="rect">
              <a:avLst/>
            </a:prstGeom>
          </p:spPr>
          <p:txBody>
            <a:bodyPr vert="vert270" wrap="square" lIns="0" tIns="0" rIns="0" bIns="0" rtlCol="0">
              <a:spAutoFit/>
            </a:bodyPr>
            <a:lstStyle/>
            <a:p>
              <a:pPr marL="6697">
                <a:lnSpc>
                  <a:spcPts val="970"/>
                </a:lnSpc>
              </a:pPr>
              <a:r>
                <a:rPr sz="817" spc="-5" dirty="0">
                  <a:solidFill>
                    <a:srgbClr val="1A1F36"/>
                  </a:solidFill>
                  <a:latin typeface="Calibri"/>
                </a:rPr>
                <a:t>Response</a:t>
              </a:r>
              <a:endParaRPr sz="817"/>
            </a:p>
          </p:txBody>
        </p:sp>
      </p:grpSp>
      <p:pic>
        <p:nvPicPr>
          <p:cNvPr id="21" name="Google Shape;109;p20">
            <a:extLst>
              <a:ext uri="{FF2B5EF4-FFF2-40B4-BE49-F238E27FC236}">
                <a16:creationId xmlns:a16="http://schemas.microsoft.com/office/drawing/2014/main" id="{BF97B5AF-2750-D6A3-8FBE-D4188641E083}"/>
              </a:ext>
            </a:extLst>
          </p:cNvPr>
          <p:cNvPicPr preferRelativeResize="0"/>
          <p:nvPr/>
        </p:nvPicPr>
        <p:blipFill>
          <a:blip r:embed="rId2">
            <a:alphaModFix/>
          </a:blip>
          <a:stretch>
            <a:fillRect/>
          </a:stretch>
        </p:blipFill>
        <p:spPr>
          <a:xfrm>
            <a:off x="8369125" y="0"/>
            <a:ext cx="774877" cy="867174"/>
          </a:xfrm>
          <a:prstGeom prst="rect">
            <a:avLst/>
          </a:prstGeom>
          <a:noFill/>
          <a:ln>
            <a:noFill/>
          </a:ln>
        </p:spPr>
      </p:pic>
      <p:pic>
        <p:nvPicPr>
          <p:cNvPr id="24" name="Picture 23">
            <a:extLst>
              <a:ext uri="{FF2B5EF4-FFF2-40B4-BE49-F238E27FC236}">
                <a16:creationId xmlns:a16="http://schemas.microsoft.com/office/drawing/2014/main" id="{39081310-7A66-C0D5-9485-27D63D6DF032}"/>
              </a:ext>
            </a:extLst>
          </p:cNvPr>
          <p:cNvPicPr>
            <a:picLocks noChangeAspect="1"/>
          </p:cNvPicPr>
          <p:nvPr/>
        </p:nvPicPr>
        <p:blipFill>
          <a:blip r:embed="rId3"/>
          <a:stretch>
            <a:fillRect/>
          </a:stretch>
        </p:blipFill>
        <p:spPr>
          <a:xfrm>
            <a:off x="888865" y="2844209"/>
            <a:ext cx="2798141" cy="2009932"/>
          </a:xfrm>
          <a:prstGeom prst="rect">
            <a:avLst/>
          </a:prstGeom>
        </p:spPr>
      </p:pic>
      <p:sp>
        <p:nvSpPr>
          <p:cNvPr id="25" name="TextBox 24">
            <a:extLst>
              <a:ext uri="{FF2B5EF4-FFF2-40B4-BE49-F238E27FC236}">
                <a16:creationId xmlns:a16="http://schemas.microsoft.com/office/drawing/2014/main" id="{4B6D0940-A29F-8F2A-6C41-6C850D7F0DE9}"/>
              </a:ext>
            </a:extLst>
          </p:cNvPr>
          <p:cNvSpPr txBox="1"/>
          <p:nvPr/>
        </p:nvSpPr>
        <p:spPr>
          <a:xfrm>
            <a:off x="159026" y="3498574"/>
            <a:ext cx="755335" cy="307777"/>
          </a:xfrm>
          <a:prstGeom prst="rect">
            <a:avLst/>
          </a:prstGeom>
          <a:noFill/>
        </p:spPr>
        <p:txBody>
          <a:bodyPr wrap="none" rtlCol="0">
            <a:spAutoFit/>
          </a:bodyPr>
          <a:lstStyle/>
          <a:p>
            <a:r>
              <a:rPr lang="en-US" dirty="0">
                <a:solidFill>
                  <a:srgbClr val="1A1F36"/>
                </a:solidFill>
                <a:latin typeface="Calibri"/>
              </a:rPr>
              <a:t>I ran -&gt;</a:t>
            </a:r>
          </a:p>
        </p:txBody>
      </p:sp>
      <p:pic>
        <p:nvPicPr>
          <p:cNvPr id="27" name="Picture 26">
            <a:extLst>
              <a:ext uri="{FF2B5EF4-FFF2-40B4-BE49-F238E27FC236}">
                <a16:creationId xmlns:a16="http://schemas.microsoft.com/office/drawing/2014/main" id="{53968920-3A21-E07F-4C2D-D66BBFC04F20}"/>
              </a:ext>
            </a:extLst>
          </p:cNvPr>
          <p:cNvPicPr>
            <a:picLocks noChangeAspect="1"/>
          </p:cNvPicPr>
          <p:nvPr/>
        </p:nvPicPr>
        <p:blipFill>
          <a:blip r:embed="rId4"/>
          <a:stretch>
            <a:fillRect/>
          </a:stretch>
        </p:blipFill>
        <p:spPr>
          <a:xfrm>
            <a:off x="4420822" y="3664248"/>
            <a:ext cx="4564152" cy="920150"/>
          </a:xfrm>
          <a:prstGeom prst="rect">
            <a:avLst/>
          </a:prstGeom>
        </p:spPr>
      </p:pic>
      <p:sp>
        <p:nvSpPr>
          <p:cNvPr id="28" name="TextBox 27">
            <a:extLst>
              <a:ext uri="{FF2B5EF4-FFF2-40B4-BE49-F238E27FC236}">
                <a16:creationId xmlns:a16="http://schemas.microsoft.com/office/drawing/2014/main" id="{DFE87E26-714C-D42D-DD16-9D070573355D}"/>
              </a:ext>
            </a:extLst>
          </p:cNvPr>
          <p:cNvSpPr txBox="1"/>
          <p:nvPr/>
        </p:nvSpPr>
        <p:spPr>
          <a:xfrm>
            <a:off x="4373217" y="3140765"/>
            <a:ext cx="934871" cy="307777"/>
          </a:xfrm>
          <a:prstGeom prst="rect">
            <a:avLst/>
          </a:prstGeom>
          <a:noFill/>
        </p:spPr>
        <p:txBody>
          <a:bodyPr wrap="none" rtlCol="0">
            <a:spAutoFit/>
          </a:bodyPr>
          <a:lstStyle/>
          <a:p>
            <a:r>
              <a:rPr lang="en-US" dirty="0">
                <a:solidFill>
                  <a:srgbClr val="1A1F36"/>
                </a:solidFill>
                <a:latin typeface="Calibri"/>
              </a:rPr>
              <a:t>Output -&gt;</a:t>
            </a:r>
          </a:p>
        </p:txBody>
      </p:sp>
    </p:spTree>
    <p:extLst>
      <p:ext uri="{BB962C8B-B14F-4D97-AF65-F5344CB8AC3E}">
        <p14:creationId xmlns:p14="http://schemas.microsoft.com/office/powerpoint/2010/main" val="220244982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76BEC6-EA25-8605-50B9-DD6301957289}"/>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AA00F037-D4FB-6ABF-AE67-0AA4F85EB6A1}"/>
              </a:ext>
            </a:extLst>
          </p:cNvPr>
          <p:cNvSpPr txBox="1">
            <a:spLocks noGrp="1"/>
          </p:cNvSpPr>
          <p:nvPr>
            <p:ph type="title"/>
          </p:nvPr>
        </p:nvSpPr>
        <p:spPr>
          <a:xfrm>
            <a:off x="842672" y="170684"/>
            <a:ext cx="4339828" cy="452502"/>
          </a:xfrm>
          <a:prstGeom prst="rect">
            <a:avLst/>
          </a:prstGeom>
        </p:spPr>
        <p:txBody>
          <a:bodyPr spcFirstLastPara="1" vert="horz" wrap="square" lIns="0" tIns="8706" rIns="0" bIns="0" rtlCol="0" anchor="ctr" anchorCtr="0">
            <a:spAutoFit/>
          </a:bodyPr>
          <a:lstStyle/>
          <a:p>
            <a:pPr marL="6697">
              <a:spcBef>
                <a:spcPts val="69"/>
              </a:spcBef>
            </a:pPr>
            <a:r>
              <a:rPr lang="en-US" b="1" spc="-37" dirty="0">
                <a:solidFill>
                  <a:srgbClr val="1E2761"/>
                </a:solidFill>
                <a:latin typeface="Georgia"/>
              </a:rPr>
              <a:t>A more advanced</a:t>
            </a:r>
            <a:r>
              <a:rPr b="1" spc="-148" dirty="0">
                <a:solidFill>
                  <a:srgbClr val="1E2761"/>
                </a:solidFill>
                <a:latin typeface="Georgia"/>
              </a:rPr>
              <a:t> </a:t>
            </a:r>
            <a:r>
              <a:rPr b="1" spc="-16" dirty="0">
                <a:solidFill>
                  <a:srgbClr val="1E2761"/>
                </a:solidFill>
                <a:latin typeface="Georgia"/>
              </a:rPr>
              <a:t>Prompt</a:t>
            </a:r>
          </a:p>
        </p:txBody>
      </p:sp>
      <p:pic>
        <p:nvPicPr>
          <p:cNvPr id="21" name="Google Shape;109;p20">
            <a:extLst>
              <a:ext uri="{FF2B5EF4-FFF2-40B4-BE49-F238E27FC236}">
                <a16:creationId xmlns:a16="http://schemas.microsoft.com/office/drawing/2014/main" id="{633FE0B7-DAA4-ABCC-BEC0-A3518558A105}"/>
              </a:ext>
            </a:extLst>
          </p:cNvPr>
          <p:cNvPicPr preferRelativeResize="0"/>
          <p:nvPr/>
        </p:nvPicPr>
        <p:blipFill>
          <a:blip r:embed="rId2">
            <a:alphaModFix/>
          </a:blip>
          <a:stretch>
            <a:fillRect/>
          </a:stretch>
        </p:blipFill>
        <p:spPr>
          <a:xfrm>
            <a:off x="8369125" y="0"/>
            <a:ext cx="774877" cy="867174"/>
          </a:xfrm>
          <a:prstGeom prst="rect">
            <a:avLst/>
          </a:prstGeom>
          <a:noFill/>
          <a:ln>
            <a:noFill/>
          </a:ln>
        </p:spPr>
      </p:pic>
      <p:pic>
        <p:nvPicPr>
          <p:cNvPr id="26" name="Picture 25">
            <a:extLst>
              <a:ext uri="{FF2B5EF4-FFF2-40B4-BE49-F238E27FC236}">
                <a16:creationId xmlns:a16="http://schemas.microsoft.com/office/drawing/2014/main" id="{FC32CBE3-311B-40F3-5A86-3E6509A859D8}"/>
              </a:ext>
            </a:extLst>
          </p:cNvPr>
          <p:cNvPicPr>
            <a:picLocks noChangeAspect="1"/>
          </p:cNvPicPr>
          <p:nvPr/>
        </p:nvPicPr>
        <p:blipFill>
          <a:blip r:embed="rId3"/>
          <a:stretch>
            <a:fillRect/>
          </a:stretch>
        </p:blipFill>
        <p:spPr>
          <a:xfrm>
            <a:off x="139173" y="830896"/>
            <a:ext cx="5553961" cy="3638177"/>
          </a:xfrm>
          <a:prstGeom prst="rect">
            <a:avLst/>
          </a:prstGeom>
        </p:spPr>
      </p:pic>
      <p:pic>
        <p:nvPicPr>
          <p:cNvPr id="30" name="Picture 29">
            <a:extLst>
              <a:ext uri="{FF2B5EF4-FFF2-40B4-BE49-F238E27FC236}">
                <a16:creationId xmlns:a16="http://schemas.microsoft.com/office/drawing/2014/main" id="{E8F042A4-3DDD-0C8F-44E6-7B899C382666}"/>
              </a:ext>
            </a:extLst>
          </p:cNvPr>
          <p:cNvPicPr>
            <a:picLocks noChangeAspect="1"/>
          </p:cNvPicPr>
          <p:nvPr/>
        </p:nvPicPr>
        <p:blipFill>
          <a:blip r:embed="rId4"/>
          <a:stretch>
            <a:fillRect/>
          </a:stretch>
        </p:blipFill>
        <p:spPr>
          <a:xfrm>
            <a:off x="4965791" y="2649984"/>
            <a:ext cx="4130677" cy="1464312"/>
          </a:xfrm>
          <a:prstGeom prst="rect">
            <a:avLst/>
          </a:prstGeom>
        </p:spPr>
      </p:pic>
      <p:sp>
        <p:nvSpPr>
          <p:cNvPr id="31" name="TextBox 30">
            <a:extLst>
              <a:ext uri="{FF2B5EF4-FFF2-40B4-BE49-F238E27FC236}">
                <a16:creationId xmlns:a16="http://schemas.microsoft.com/office/drawing/2014/main" id="{21F20F94-BDF8-F67D-F0BE-DFC1604E9A23}"/>
              </a:ext>
            </a:extLst>
          </p:cNvPr>
          <p:cNvSpPr txBox="1"/>
          <p:nvPr/>
        </p:nvSpPr>
        <p:spPr>
          <a:xfrm>
            <a:off x="6599583" y="1200647"/>
            <a:ext cx="992644" cy="1384995"/>
          </a:xfrm>
          <a:prstGeom prst="rect">
            <a:avLst/>
          </a:prstGeom>
          <a:noFill/>
        </p:spPr>
        <p:txBody>
          <a:bodyPr wrap="none" rtlCol="0">
            <a:spAutoFit/>
          </a:bodyPr>
          <a:lstStyle/>
          <a:p>
            <a:r>
              <a:rPr lang="en-US" dirty="0">
                <a:solidFill>
                  <a:srgbClr val="FF0000"/>
                </a:solidFill>
                <a:latin typeface="Calibri"/>
              </a:rPr>
              <a:t>&lt;- Prompt</a:t>
            </a:r>
          </a:p>
          <a:p>
            <a:endParaRPr lang="en-US" dirty="0"/>
          </a:p>
          <a:p>
            <a:endParaRPr lang="en-US" dirty="0"/>
          </a:p>
          <a:p>
            <a:pPr algn="r"/>
            <a:r>
              <a:rPr lang="en-US" dirty="0">
                <a:solidFill>
                  <a:srgbClr val="1A1F36"/>
                </a:solidFill>
                <a:latin typeface="Calibri"/>
              </a:rPr>
              <a:t>Output</a:t>
            </a:r>
          </a:p>
          <a:p>
            <a:pPr algn="r"/>
            <a:r>
              <a:rPr lang="en-US" dirty="0">
                <a:solidFill>
                  <a:srgbClr val="1A1F36"/>
                </a:solidFill>
                <a:latin typeface="Calibri"/>
              </a:rPr>
              <a:t>|   </a:t>
            </a:r>
          </a:p>
          <a:p>
            <a:pPr algn="r"/>
            <a:r>
              <a:rPr lang="en-US" dirty="0">
                <a:solidFill>
                  <a:srgbClr val="1A1F36"/>
                </a:solidFill>
                <a:latin typeface="Calibri"/>
              </a:rPr>
              <a:t>V  </a:t>
            </a:r>
          </a:p>
        </p:txBody>
      </p:sp>
    </p:spTree>
    <p:extLst>
      <p:ext uri="{BB962C8B-B14F-4D97-AF65-F5344CB8AC3E}">
        <p14:creationId xmlns:p14="http://schemas.microsoft.com/office/powerpoint/2010/main" val="250202007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384102" y="108442"/>
            <a:ext cx="4339828" cy="452502"/>
          </a:xfrm>
          <a:prstGeom prst="rect">
            <a:avLst/>
          </a:prstGeom>
        </p:spPr>
        <p:txBody>
          <a:bodyPr spcFirstLastPara="1" vert="horz" wrap="square" lIns="0" tIns="8706" rIns="0" bIns="0" rtlCol="0" anchor="ctr" anchorCtr="0">
            <a:spAutoFit/>
          </a:bodyPr>
          <a:lstStyle/>
          <a:p>
            <a:pPr marL="6697">
              <a:spcBef>
                <a:spcPts val="69"/>
              </a:spcBef>
            </a:pPr>
            <a:r>
              <a:rPr b="1" spc="-42" dirty="0">
                <a:solidFill>
                  <a:srgbClr val="1E2761"/>
                </a:solidFill>
                <a:latin typeface="Georgia"/>
              </a:rPr>
              <a:t>Elements</a:t>
            </a:r>
            <a:r>
              <a:rPr b="1" spc="-203" dirty="0">
                <a:solidFill>
                  <a:srgbClr val="1E2761"/>
                </a:solidFill>
                <a:latin typeface="Georgia"/>
              </a:rPr>
              <a:t> </a:t>
            </a:r>
            <a:r>
              <a:rPr b="1" dirty="0">
                <a:solidFill>
                  <a:srgbClr val="1E2761"/>
                </a:solidFill>
                <a:latin typeface="Georgia"/>
              </a:rPr>
              <a:t>of</a:t>
            </a:r>
            <a:r>
              <a:rPr b="1" spc="-111" dirty="0">
                <a:solidFill>
                  <a:srgbClr val="1E2761"/>
                </a:solidFill>
                <a:latin typeface="Georgia"/>
              </a:rPr>
              <a:t> </a:t>
            </a:r>
            <a:r>
              <a:rPr b="1" dirty="0">
                <a:solidFill>
                  <a:srgbClr val="1E2761"/>
                </a:solidFill>
                <a:latin typeface="Georgia"/>
              </a:rPr>
              <a:t>a</a:t>
            </a:r>
            <a:r>
              <a:rPr b="1" spc="-113" dirty="0">
                <a:solidFill>
                  <a:srgbClr val="1E2761"/>
                </a:solidFill>
                <a:latin typeface="Georgia"/>
              </a:rPr>
              <a:t> </a:t>
            </a:r>
            <a:r>
              <a:rPr b="1" spc="-13" dirty="0">
                <a:solidFill>
                  <a:srgbClr val="1E2761"/>
                </a:solidFill>
                <a:latin typeface="Georgia"/>
              </a:rPr>
              <a:t>Prompt</a:t>
            </a:r>
          </a:p>
        </p:txBody>
      </p:sp>
      <p:sp>
        <p:nvSpPr>
          <p:cNvPr id="3" name="object 3"/>
          <p:cNvSpPr txBox="1"/>
          <p:nvPr/>
        </p:nvSpPr>
        <p:spPr>
          <a:xfrm>
            <a:off x="1488411" y="702163"/>
            <a:ext cx="5661199" cy="1776241"/>
          </a:xfrm>
          <a:prstGeom prst="rect">
            <a:avLst/>
          </a:prstGeom>
        </p:spPr>
        <p:txBody>
          <a:bodyPr vert="horz" wrap="square" lIns="0" tIns="68312" rIns="0" bIns="0" rtlCol="0">
            <a:spAutoFit/>
          </a:bodyPr>
          <a:lstStyle/>
          <a:p>
            <a:pPr marL="237733" indent="-231036">
              <a:spcBef>
                <a:spcPts val="537"/>
              </a:spcBef>
              <a:buClr>
                <a:srgbClr val="7570FF"/>
              </a:buClr>
              <a:buChar char="•"/>
              <a:tabLst>
                <a:tab pos="237733" algn="l"/>
              </a:tabLst>
            </a:pPr>
            <a:r>
              <a:rPr sz="1766" dirty="0">
                <a:solidFill>
                  <a:srgbClr val="1A1F36"/>
                </a:solidFill>
                <a:latin typeface="Calibri"/>
              </a:rPr>
              <a:t>A</a:t>
            </a:r>
            <a:r>
              <a:rPr sz="1766" spc="-82" dirty="0">
                <a:solidFill>
                  <a:srgbClr val="1A1F36"/>
                </a:solidFill>
                <a:latin typeface="Calibri"/>
              </a:rPr>
              <a:t> </a:t>
            </a:r>
            <a:r>
              <a:rPr sz="1766" dirty="0">
                <a:solidFill>
                  <a:srgbClr val="1A1F36"/>
                </a:solidFill>
                <a:latin typeface="Calibri"/>
              </a:rPr>
              <a:t>prompt</a:t>
            </a:r>
            <a:r>
              <a:rPr sz="1766" spc="63" dirty="0">
                <a:solidFill>
                  <a:srgbClr val="1A1F36"/>
                </a:solidFill>
                <a:latin typeface="Calibri"/>
              </a:rPr>
              <a:t> </a:t>
            </a:r>
            <a:r>
              <a:rPr sz="1766" dirty="0">
                <a:solidFill>
                  <a:srgbClr val="1A1F36"/>
                </a:solidFill>
                <a:latin typeface="Calibri"/>
              </a:rPr>
              <a:t>is</a:t>
            </a:r>
            <a:r>
              <a:rPr sz="1766" spc="24" dirty="0">
                <a:solidFill>
                  <a:srgbClr val="1A1F36"/>
                </a:solidFill>
                <a:latin typeface="Calibri"/>
              </a:rPr>
              <a:t> </a:t>
            </a:r>
            <a:r>
              <a:rPr sz="1766" dirty="0">
                <a:solidFill>
                  <a:srgbClr val="1A1F36"/>
                </a:solidFill>
                <a:latin typeface="Calibri"/>
              </a:rPr>
              <a:t>composed</a:t>
            </a:r>
            <a:r>
              <a:rPr sz="1766" spc="40" dirty="0">
                <a:solidFill>
                  <a:srgbClr val="1A1F36"/>
                </a:solidFill>
                <a:latin typeface="Calibri"/>
              </a:rPr>
              <a:t> </a:t>
            </a:r>
            <a:r>
              <a:rPr sz="1766" dirty="0">
                <a:solidFill>
                  <a:srgbClr val="1A1F36"/>
                </a:solidFill>
                <a:latin typeface="Calibri"/>
              </a:rPr>
              <a:t>with</a:t>
            </a:r>
            <a:r>
              <a:rPr sz="1766" spc="5" dirty="0">
                <a:solidFill>
                  <a:srgbClr val="1A1F36"/>
                </a:solidFill>
                <a:latin typeface="Calibri"/>
              </a:rPr>
              <a:t> </a:t>
            </a:r>
            <a:r>
              <a:rPr sz="1766" dirty="0">
                <a:solidFill>
                  <a:srgbClr val="1A1F36"/>
                </a:solidFill>
                <a:latin typeface="Calibri"/>
              </a:rPr>
              <a:t>the</a:t>
            </a:r>
            <a:r>
              <a:rPr sz="1766" spc="40" dirty="0">
                <a:solidFill>
                  <a:srgbClr val="1A1F36"/>
                </a:solidFill>
                <a:latin typeface="Calibri"/>
              </a:rPr>
              <a:t> </a:t>
            </a:r>
            <a:r>
              <a:rPr sz="1766" dirty="0">
                <a:solidFill>
                  <a:srgbClr val="1A1F36"/>
                </a:solidFill>
                <a:latin typeface="Calibri"/>
              </a:rPr>
              <a:t>following</a:t>
            </a:r>
            <a:r>
              <a:rPr sz="1766" spc="3" dirty="0">
                <a:solidFill>
                  <a:srgbClr val="1A1F36"/>
                </a:solidFill>
                <a:latin typeface="Calibri"/>
              </a:rPr>
              <a:t> </a:t>
            </a:r>
            <a:r>
              <a:rPr sz="1766" spc="-5" dirty="0">
                <a:solidFill>
                  <a:srgbClr val="1A1F36"/>
                </a:solidFill>
                <a:latin typeface="Calibri"/>
              </a:rPr>
              <a:t>components:</a:t>
            </a:r>
            <a:endParaRPr sz="1766"/>
          </a:p>
          <a:p>
            <a:pPr marL="468770" lvl="1" indent="-220991">
              <a:spcBef>
                <a:spcPts val="875"/>
              </a:spcBef>
              <a:buClr>
                <a:srgbClr val="7570FF"/>
              </a:buClr>
              <a:buSzPct val="121666"/>
              <a:buChar char="•"/>
              <a:tabLst>
                <a:tab pos="468770" algn="l"/>
              </a:tabLst>
            </a:pPr>
            <a:r>
              <a:rPr sz="1582" spc="-5" dirty="0">
                <a:solidFill>
                  <a:srgbClr val="0C78F8"/>
                </a:solidFill>
                <a:latin typeface="Calibri"/>
              </a:rPr>
              <a:t>Instructions</a:t>
            </a:r>
            <a:endParaRPr sz="1582"/>
          </a:p>
          <a:p>
            <a:pPr marL="468770" lvl="1" indent="-220991">
              <a:spcBef>
                <a:spcPts val="875"/>
              </a:spcBef>
              <a:buClr>
                <a:srgbClr val="7570FF"/>
              </a:buClr>
              <a:buSzPct val="121666"/>
              <a:buChar char="•"/>
              <a:tabLst>
                <a:tab pos="468770" algn="l"/>
              </a:tabLst>
            </a:pPr>
            <a:r>
              <a:rPr sz="1582" spc="-5" dirty="0">
                <a:solidFill>
                  <a:srgbClr val="1A1F36"/>
                </a:solidFill>
                <a:latin typeface="Calibri"/>
              </a:rPr>
              <a:t>Context</a:t>
            </a:r>
            <a:endParaRPr sz="1582"/>
          </a:p>
          <a:p>
            <a:pPr marL="468770" lvl="1" indent="-220991">
              <a:spcBef>
                <a:spcPts val="912"/>
              </a:spcBef>
              <a:buClr>
                <a:srgbClr val="7570FF"/>
              </a:buClr>
              <a:buSzPct val="121666"/>
              <a:buChar char="•"/>
              <a:tabLst>
                <a:tab pos="468770" algn="l"/>
              </a:tabLst>
            </a:pPr>
            <a:r>
              <a:rPr sz="1582" dirty="0">
                <a:solidFill>
                  <a:srgbClr val="D69911"/>
                </a:solidFill>
                <a:latin typeface="Calibri"/>
              </a:rPr>
              <a:t>Input</a:t>
            </a:r>
            <a:r>
              <a:rPr sz="1582" spc="-18" dirty="0">
                <a:solidFill>
                  <a:srgbClr val="D69911"/>
                </a:solidFill>
                <a:latin typeface="Calibri"/>
              </a:rPr>
              <a:t> </a:t>
            </a:r>
            <a:r>
              <a:rPr sz="1582" spc="-11" dirty="0">
                <a:solidFill>
                  <a:srgbClr val="D69911"/>
                </a:solidFill>
                <a:latin typeface="Calibri"/>
              </a:rPr>
              <a:t>data</a:t>
            </a:r>
            <a:endParaRPr sz="1582"/>
          </a:p>
          <a:p>
            <a:pPr marL="468770" lvl="1" indent="-220991">
              <a:spcBef>
                <a:spcPts val="912"/>
              </a:spcBef>
              <a:buClr>
                <a:srgbClr val="7570FF"/>
              </a:buClr>
              <a:buSzPct val="121666"/>
              <a:buChar char="•"/>
              <a:tabLst>
                <a:tab pos="468770" algn="l"/>
              </a:tabLst>
            </a:pPr>
            <a:r>
              <a:rPr sz="1582" dirty="0">
                <a:solidFill>
                  <a:srgbClr val="D112B8"/>
                </a:solidFill>
                <a:latin typeface="Calibri"/>
              </a:rPr>
              <a:t>Output</a:t>
            </a:r>
            <a:r>
              <a:rPr sz="1582" spc="-26" dirty="0">
                <a:solidFill>
                  <a:srgbClr val="D112B8"/>
                </a:solidFill>
                <a:latin typeface="Calibri"/>
              </a:rPr>
              <a:t> </a:t>
            </a:r>
            <a:r>
              <a:rPr sz="1582" spc="-5" dirty="0">
                <a:solidFill>
                  <a:srgbClr val="D112B8"/>
                </a:solidFill>
                <a:latin typeface="Calibri"/>
              </a:rPr>
              <a:t>indicator</a:t>
            </a:r>
            <a:endParaRPr sz="1582"/>
          </a:p>
        </p:txBody>
      </p:sp>
      <p:grpSp>
        <p:nvGrpSpPr>
          <p:cNvPr id="4" name="object 4"/>
          <p:cNvGrpSpPr/>
          <p:nvPr/>
        </p:nvGrpSpPr>
        <p:grpSpPr>
          <a:xfrm>
            <a:off x="1942453" y="2764162"/>
            <a:ext cx="5262376" cy="1776785"/>
            <a:chOff x="1515999" y="5241671"/>
            <a:chExt cx="9979025" cy="3369310"/>
          </a:xfrm>
        </p:grpSpPr>
        <p:sp>
          <p:nvSpPr>
            <p:cNvPr id="5" name="object 5"/>
            <p:cNvSpPr/>
            <p:nvPr/>
          </p:nvSpPr>
          <p:spPr>
            <a:xfrm>
              <a:off x="1543050" y="5268595"/>
              <a:ext cx="9925050" cy="3305810"/>
            </a:xfrm>
            <a:custGeom>
              <a:avLst/>
              <a:gdLst/>
              <a:ahLst/>
              <a:cxnLst/>
              <a:rect l="l" t="t" r="r" b="b"/>
              <a:pathLst>
                <a:path w="9925050" h="3305809">
                  <a:moveTo>
                    <a:pt x="9818497" y="126"/>
                  </a:moveTo>
                  <a:lnTo>
                    <a:pt x="9792208" y="0"/>
                  </a:lnTo>
                  <a:lnTo>
                    <a:pt x="105918" y="126"/>
                  </a:lnTo>
                  <a:lnTo>
                    <a:pt x="67818" y="2793"/>
                  </a:lnTo>
                  <a:lnTo>
                    <a:pt x="25146" y="25272"/>
                  </a:lnTo>
                  <a:lnTo>
                    <a:pt x="2666" y="67944"/>
                  </a:lnTo>
                  <a:lnTo>
                    <a:pt x="0" y="105917"/>
                  </a:lnTo>
                  <a:lnTo>
                    <a:pt x="0" y="3199638"/>
                  </a:lnTo>
                  <a:lnTo>
                    <a:pt x="2666" y="3237699"/>
                  </a:lnTo>
                  <a:lnTo>
                    <a:pt x="25146" y="3280346"/>
                  </a:lnTo>
                  <a:lnTo>
                    <a:pt x="67818" y="3302838"/>
                  </a:lnTo>
                  <a:lnTo>
                    <a:pt x="105918" y="3305467"/>
                  </a:lnTo>
                  <a:lnTo>
                    <a:pt x="9792208" y="3305568"/>
                  </a:lnTo>
                  <a:lnTo>
                    <a:pt x="9839833" y="3304768"/>
                  </a:lnTo>
                  <a:lnTo>
                    <a:pt x="9885680" y="3291281"/>
                  </a:lnTo>
                  <a:lnTo>
                    <a:pt x="9918065" y="3250920"/>
                  </a:lnTo>
                  <a:lnTo>
                    <a:pt x="9924542" y="3199638"/>
                  </a:lnTo>
                  <a:lnTo>
                    <a:pt x="9924542" y="105917"/>
                  </a:lnTo>
                  <a:lnTo>
                    <a:pt x="9923780" y="84708"/>
                  </a:lnTo>
                  <a:lnTo>
                    <a:pt x="9910318" y="38862"/>
                  </a:lnTo>
                  <a:lnTo>
                    <a:pt x="9869932" y="6476"/>
                  </a:lnTo>
                  <a:lnTo>
                    <a:pt x="9818497" y="126"/>
                  </a:lnTo>
                  <a:close/>
                </a:path>
              </a:pathLst>
            </a:custGeom>
            <a:solidFill>
              <a:srgbClr val="F1F1F1"/>
            </a:solidFill>
          </p:spPr>
          <p:txBody>
            <a:bodyPr wrap="square" lIns="0" tIns="0" rIns="0" bIns="0" rtlCol="0"/>
            <a:lstStyle/>
            <a:p>
              <a:endParaRPr sz="738"/>
            </a:p>
          </p:txBody>
        </p:sp>
        <p:sp>
          <p:nvSpPr>
            <p:cNvPr id="6" name="object 6"/>
            <p:cNvSpPr/>
            <p:nvPr/>
          </p:nvSpPr>
          <p:spPr>
            <a:xfrm>
              <a:off x="1547749" y="5273421"/>
              <a:ext cx="9915525" cy="3305810"/>
            </a:xfrm>
            <a:custGeom>
              <a:avLst/>
              <a:gdLst/>
              <a:ahLst/>
              <a:cxnLst/>
              <a:rect l="l" t="t" r="r" b="b"/>
              <a:pathLst>
                <a:path w="9915525" h="3305809">
                  <a:moveTo>
                    <a:pt x="132333" y="0"/>
                  </a:moveTo>
                  <a:lnTo>
                    <a:pt x="9782937" y="0"/>
                  </a:lnTo>
                  <a:lnTo>
                    <a:pt x="9809226" y="0"/>
                  </a:lnTo>
                  <a:lnTo>
                    <a:pt x="9847326" y="2666"/>
                  </a:lnTo>
                  <a:lnTo>
                    <a:pt x="9889998" y="25145"/>
                  </a:lnTo>
                  <a:lnTo>
                    <a:pt x="9912477" y="67817"/>
                  </a:lnTo>
                  <a:lnTo>
                    <a:pt x="9915144" y="105917"/>
                  </a:lnTo>
                  <a:lnTo>
                    <a:pt x="9915271" y="132206"/>
                  </a:lnTo>
                  <a:lnTo>
                    <a:pt x="9915271" y="3173222"/>
                  </a:lnTo>
                  <a:lnTo>
                    <a:pt x="9914382" y="3220783"/>
                  </a:lnTo>
                  <a:lnTo>
                    <a:pt x="9900920" y="3266693"/>
                  </a:lnTo>
                  <a:lnTo>
                    <a:pt x="9860534" y="3299028"/>
                  </a:lnTo>
                  <a:lnTo>
                    <a:pt x="9809226" y="3305416"/>
                  </a:lnTo>
                  <a:lnTo>
                    <a:pt x="9782937" y="3305505"/>
                  </a:lnTo>
                  <a:lnTo>
                    <a:pt x="132333" y="3305505"/>
                  </a:lnTo>
                  <a:lnTo>
                    <a:pt x="84836" y="3304705"/>
                  </a:lnTo>
                  <a:lnTo>
                    <a:pt x="38862" y="3291217"/>
                  </a:lnTo>
                  <a:lnTo>
                    <a:pt x="6603" y="3250869"/>
                  </a:lnTo>
                  <a:lnTo>
                    <a:pt x="126" y="3199510"/>
                  </a:lnTo>
                  <a:lnTo>
                    <a:pt x="0" y="3173222"/>
                  </a:lnTo>
                  <a:lnTo>
                    <a:pt x="0" y="132206"/>
                  </a:lnTo>
                  <a:lnTo>
                    <a:pt x="888" y="84708"/>
                  </a:lnTo>
                  <a:lnTo>
                    <a:pt x="14350" y="38734"/>
                  </a:lnTo>
                  <a:lnTo>
                    <a:pt x="54737" y="6476"/>
                  </a:lnTo>
                  <a:lnTo>
                    <a:pt x="106044" y="0"/>
                  </a:lnTo>
                  <a:lnTo>
                    <a:pt x="132333" y="0"/>
                  </a:lnTo>
                  <a:close/>
                </a:path>
              </a:pathLst>
            </a:custGeom>
            <a:ln w="63500">
              <a:solidFill>
                <a:srgbClr val="6C6BE7"/>
              </a:solidFill>
            </a:ln>
          </p:spPr>
          <p:txBody>
            <a:bodyPr wrap="square" lIns="0" tIns="0" rIns="0" bIns="0" rtlCol="0"/>
            <a:lstStyle/>
            <a:p>
              <a:endParaRPr sz="738"/>
            </a:p>
          </p:txBody>
        </p:sp>
      </p:grpSp>
      <p:sp>
        <p:nvSpPr>
          <p:cNvPr id="7" name="object 7"/>
          <p:cNvSpPr txBox="1"/>
          <p:nvPr/>
        </p:nvSpPr>
        <p:spPr>
          <a:xfrm>
            <a:off x="2151474" y="3231397"/>
            <a:ext cx="4525342" cy="761224"/>
          </a:xfrm>
          <a:prstGeom prst="rect">
            <a:avLst/>
          </a:prstGeom>
        </p:spPr>
        <p:txBody>
          <a:bodyPr vert="horz" wrap="square" lIns="0" tIns="8372" rIns="0" bIns="0" rtlCol="0">
            <a:spAutoFit/>
          </a:bodyPr>
          <a:lstStyle/>
          <a:p>
            <a:pPr marL="6697">
              <a:spcBef>
                <a:spcPts val="66"/>
              </a:spcBef>
            </a:pPr>
            <a:r>
              <a:rPr sz="1134" dirty="0">
                <a:solidFill>
                  <a:srgbClr val="0D5FF6"/>
                </a:solidFill>
                <a:latin typeface="Consolas"/>
              </a:rPr>
              <a:t>Classify</a:t>
            </a:r>
            <a:r>
              <a:rPr sz="1134" spc="-5" dirty="0">
                <a:solidFill>
                  <a:srgbClr val="0D5FF6"/>
                </a:solidFill>
                <a:latin typeface="Consolas"/>
              </a:rPr>
              <a:t> </a:t>
            </a:r>
            <a:r>
              <a:rPr sz="1134" dirty="0">
                <a:solidFill>
                  <a:srgbClr val="0D5FF6"/>
                </a:solidFill>
                <a:latin typeface="Consolas"/>
              </a:rPr>
              <a:t>the</a:t>
            </a:r>
            <a:r>
              <a:rPr sz="1134" spc="132" dirty="0">
                <a:solidFill>
                  <a:srgbClr val="0D5FF6"/>
                </a:solidFill>
                <a:latin typeface="Consolas"/>
              </a:rPr>
              <a:t> </a:t>
            </a:r>
            <a:r>
              <a:rPr sz="1134" dirty="0">
                <a:solidFill>
                  <a:srgbClr val="0D5FF6"/>
                </a:solidFill>
                <a:latin typeface="Consolas"/>
              </a:rPr>
              <a:t>text</a:t>
            </a:r>
            <a:r>
              <a:rPr sz="1134" spc="-8" dirty="0">
                <a:solidFill>
                  <a:srgbClr val="0D5FF6"/>
                </a:solidFill>
                <a:latin typeface="Consolas"/>
              </a:rPr>
              <a:t> </a:t>
            </a:r>
            <a:r>
              <a:rPr sz="1134" dirty="0">
                <a:solidFill>
                  <a:srgbClr val="0D5FF6"/>
                </a:solidFill>
                <a:latin typeface="Consolas"/>
              </a:rPr>
              <a:t>into</a:t>
            </a:r>
            <a:r>
              <a:rPr sz="1134" spc="-8" dirty="0">
                <a:solidFill>
                  <a:srgbClr val="0D5FF6"/>
                </a:solidFill>
                <a:latin typeface="Consolas"/>
              </a:rPr>
              <a:t> </a:t>
            </a:r>
            <a:r>
              <a:rPr sz="1134" dirty="0">
                <a:solidFill>
                  <a:srgbClr val="0D5FF6"/>
                </a:solidFill>
                <a:latin typeface="Consolas"/>
              </a:rPr>
              <a:t>neutral,</a:t>
            </a:r>
            <a:r>
              <a:rPr sz="1134" spc="-3" dirty="0">
                <a:solidFill>
                  <a:srgbClr val="0D5FF6"/>
                </a:solidFill>
                <a:latin typeface="Consolas"/>
              </a:rPr>
              <a:t> </a:t>
            </a:r>
            <a:r>
              <a:rPr sz="1134" dirty="0">
                <a:solidFill>
                  <a:srgbClr val="0D5FF6"/>
                </a:solidFill>
                <a:latin typeface="Consolas"/>
              </a:rPr>
              <a:t>negative</a:t>
            </a:r>
            <a:r>
              <a:rPr sz="1134" spc="-16" dirty="0">
                <a:solidFill>
                  <a:srgbClr val="0D5FF6"/>
                </a:solidFill>
                <a:latin typeface="Consolas"/>
              </a:rPr>
              <a:t> </a:t>
            </a:r>
            <a:r>
              <a:rPr sz="1134" dirty="0">
                <a:solidFill>
                  <a:srgbClr val="0D5FF6"/>
                </a:solidFill>
                <a:latin typeface="Consolas"/>
              </a:rPr>
              <a:t>or</a:t>
            </a:r>
            <a:r>
              <a:rPr sz="1134" spc="-5" dirty="0">
                <a:solidFill>
                  <a:srgbClr val="0D5FF6"/>
                </a:solidFill>
                <a:latin typeface="Consolas"/>
              </a:rPr>
              <a:t> positive</a:t>
            </a:r>
            <a:endParaRPr sz="1134">
              <a:latin typeface="Consolas"/>
              <a:cs typeface="Consolas"/>
            </a:endParaRPr>
          </a:p>
          <a:p>
            <a:pPr marL="6697" marR="1739136">
              <a:lnSpc>
                <a:spcPct val="174600"/>
              </a:lnSpc>
            </a:pPr>
            <a:r>
              <a:rPr sz="1134" dirty="0">
                <a:solidFill/>
                <a:latin typeface="Consolas"/>
              </a:rPr>
              <a:t>Text:</a:t>
            </a:r>
            <a:r>
              <a:rPr sz="1134" spc="8" dirty="0">
                <a:solidFill/>
                <a:latin typeface="Consolas"/>
              </a:rPr>
              <a:t> </a:t>
            </a:r>
            <a:r>
              <a:rPr sz="1134" dirty="0">
                <a:solidFill>
                  <a:srgbClr val="D99911"/>
                </a:solidFill>
                <a:latin typeface="Consolas"/>
              </a:rPr>
              <a:t>I</a:t>
            </a:r>
            <a:r>
              <a:rPr sz="1134" spc="5" dirty="0">
                <a:solidFill>
                  <a:srgbClr val="D99911"/>
                </a:solidFill>
                <a:latin typeface="Consolas"/>
              </a:rPr>
              <a:t> </a:t>
            </a:r>
            <a:r>
              <a:rPr sz="1134" dirty="0">
                <a:solidFill>
                  <a:srgbClr val="D99911"/>
                </a:solidFill>
                <a:latin typeface="Consolas"/>
              </a:rPr>
              <a:t>think</a:t>
            </a:r>
            <a:r>
              <a:rPr sz="1134" spc="8" dirty="0">
                <a:solidFill>
                  <a:srgbClr val="D99911"/>
                </a:solidFill>
                <a:latin typeface="Consolas"/>
              </a:rPr>
              <a:t> </a:t>
            </a:r>
            <a:r>
              <a:rPr sz="1134" dirty="0">
                <a:solidFill>
                  <a:srgbClr val="D99911"/>
                </a:solidFill>
                <a:latin typeface="Consolas"/>
              </a:rPr>
              <a:t>the</a:t>
            </a:r>
            <a:r>
              <a:rPr sz="1134" spc="5" dirty="0">
                <a:solidFill>
                  <a:srgbClr val="D99911"/>
                </a:solidFill>
                <a:latin typeface="Consolas"/>
              </a:rPr>
              <a:t> </a:t>
            </a:r>
            <a:r>
              <a:rPr sz="1134" dirty="0">
                <a:solidFill>
                  <a:srgbClr val="D99911"/>
                </a:solidFill>
                <a:latin typeface="Consolas"/>
              </a:rPr>
              <a:t>food</a:t>
            </a:r>
            <a:r>
              <a:rPr sz="1134" spc="5" dirty="0">
                <a:solidFill>
                  <a:srgbClr val="D99911"/>
                </a:solidFill>
                <a:latin typeface="Consolas"/>
              </a:rPr>
              <a:t> </a:t>
            </a:r>
            <a:r>
              <a:rPr sz="1134" dirty="0">
                <a:solidFill>
                  <a:srgbClr val="D99911"/>
                </a:solidFill>
                <a:latin typeface="Consolas"/>
              </a:rPr>
              <a:t>was</a:t>
            </a:r>
            <a:r>
              <a:rPr sz="1134" spc="8" dirty="0">
                <a:solidFill>
                  <a:srgbClr val="D99911"/>
                </a:solidFill>
                <a:latin typeface="Consolas"/>
              </a:rPr>
              <a:t> </a:t>
            </a:r>
            <a:r>
              <a:rPr sz="1134" spc="-5" dirty="0">
                <a:solidFill>
                  <a:srgbClr val="D99911"/>
                </a:solidFill>
                <a:latin typeface="Consolas"/>
              </a:rPr>
              <a:t>okay. </a:t>
            </a:r>
            <a:r>
              <a:rPr sz="1134" spc="-5" dirty="0">
                <a:solidFill>
                  <a:srgbClr val="CA13B7"/>
                </a:solidFill>
                <a:latin typeface="Consolas"/>
              </a:rPr>
              <a:t>Sentiment:</a:t>
            </a:r>
            <a:endParaRPr sz="1134">
              <a:latin typeface="Consolas"/>
              <a:cs typeface="Consolas"/>
            </a:endParaRPr>
          </a:p>
        </p:txBody>
      </p:sp>
      <p:grpSp>
        <p:nvGrpSpPr>
          <p:cNvPr id="8" name="object 8"/>
          <p:cNvGrpSpPr/>
          <p:nvPr/>
        </p:nvGrpSpPr>
        <p:grpSpPr>
          <a:xfrm>
            <a:off x="1862152" y="1281990"/>
            <a:ext cx="2771998" cy="2747553"/>
            <a:chOff x="1363725" y="2431033"/>
            <a:chExt cx="5256530" cy="5210175"/>
          </a:xfrm>
        </p:grpSpPr>
        <p:sp>
          <p:nvSpPr>
            <p:cNvPr id="9" name="object 9"/>
            <p:cNvSpPr/>
            <p:nvPr/>
          </p:nvSpPr>
          <p:spPr>
            <a:xfrm>
              <a:off x="3700399" y="2443733"/>
              <a:ext cx="2857500" cy="3677285"/>
            </a:xfrm>
            <a:custGeom>
              <a:avLst/>
              <a:gdLst/>
              <a:ahLst/>
              <a:cxnLst/>
              <a:rect l="l" t="t" r="r" b="b"/>
              <a:pathLst>
                <a:path w="2857500" h="3677285">
                  <a:moveTo>
                    <a:pt x="0" y="0"/>
                  </a:moveTo>
                  <a:lnTo>
                    <a:pt x="2834385" y="6731"/>
                  </a:lnTo>
                  <a:lnTo>
                    <a:pt x="2857373" y="3664458"/>
                  </a:lnTo>
                  <a:lnTo>
                    <a:pt x="2857500" y="3677031"/>
                  </a:lnTo>
                </a:path>
              </a:pathLst>
            </a:custGeom>
            <a:ln w="25399">
              <a:solidFill>
                <a:srgbClr val="350E0D"/>
              </a:solidFill>
              <a:prstDash val="sysDash"/>
            </a:ln>
          </p:spPr>
          <p:txBody>
            <a:bodyPr wrap="square" lIns="0" tIns="0" rIns="0" bIns="0" rtlCol="0"/>
            <a:lstStyle/>
            <a:p>
              <a:endParaRPr sz="738"/>
            </a:p>
          </p:txBody>
        </p:sp>
        <p:sp>
          <p:nvSpPr>
            <p:cNvPr id="10" name="object 10"/>
            <p:cNvSpPr/>
            <p:nvPr/>
          </p:nvSpPr>
          <p:spPr>
            <a:xfrm>
              <a:off x="6496049" y="6107049"/>
              <a:ext cx="123825" cy="123825"/>
            </a:xfrm>
            <a:custGeom>
              <a:avLst/>
              <a:gdLst/>
              <a:ahLst/>
              <a:cxnLst/>
              <a:rect l="l" t="t" r="r" b="b"/>
              <a:pathLst>
                <a:path w="123825" h="123825">
                  <a:moveTo>
                    <a:pt x="123825" y="0"/>
                  </a:moveTo>
                  <a:lnTo>
                    <a:pt x="0" y="762"/>
                  </a:lnTo>
                  <a:lnTo>
                    <a:pt x="62738" y="123571"/>
                  </a:lnTo>
                  <a:lnTo>
                    <a:pt x="123825" y="0"/>
                  </a:lnTo>
                  <a:close/>
                </a:path>
              </a:pathLst>
            </a:custGeom>
            <a:solidFill>
              <a:srgbClr val="350E0D"/>
            </a:solidFill>
          </p:spPr>
          <p:txBody>
            <a:bodyPr wrap="square" lIns="0" tIns="0" rIns="0" bIns="0" rtlCol="0"/>
            <a:lstStyle/>
            <a:p>
              <a:endParaRPr sz="738"/>
            </a:p>
          </p:txBody>
        </p:sp>
        <p:sp>
          <p:nvSpPr>
            <p:cNvPr id="11" name="object 11"/>
            <p:cNvSpPr/>
            <p:nvPr/>
          </p:nvSpPr>
          <p:spPr>
            <a:xfrm>
              <a:off x="3386074" y="3777614"/>
              <a:ext cx="2695575" cy="2924810"/>
            </a:xfrm>
            <a:custGeom>
              <a:avLst/>
              <a:gdLst/>
              <a:ahLst/>
              <a:cxnLst/>
              <a:rect l="l" t="t" r="r" b="b"/>
              <a:pathLst>
                <a:path w="2695575" h="2924809">
                  <a:moveTo>
                    <a:pt x="0" y="0"/>
                  </a:moveTo>
                  <a:lnTo>
                    <a:pt x="2673985" y="5334"/>
                  </a:lnTo>
                  <a:lnTo>
                    <a:pt x="2695448" y="2912110"/>
                  </a:lnTo>
                  <a:lnTo>
                    <a:pt x="2695575" y="2924810"/>
                  </a:lnTo>
                </a:path>
              </a:pathLst>
            </a:custGeom>
            <a:ln w="25400">
              <a:solidFill>
                <a:srgbClr val="350E0D"/>
              </a:solidFill>
              <a:prstDash val="sysDash"/>
            </a:ln>
          </p:spPr>
          <p:txBody>
            <a:bodyPr wrap="square" lIns="0" tIns="0" rIns="0" bIns="0" rtlCol="0"/>
            <a:lstStyle/>
            <a:p>
              <a:endParaRPr sz="738"/>
            </a:p>
          </p:txBody>
        </p:sp>
        <p:sp>
          <p:nvSpPr>
            <p:cNvPr id="12" name="object 12"/>
            <p:cNvSpPr/>
            <p:nvPr/>
          </p:nvSpPr>
          <p:spPr>
            <a:xfrm>
              <a:off x="6010274" y="6678675"/>
              <a:ext cx="123825" cy="123825"/>
            </a:xfrm>
            <a:custGeom>
              <a:avLst/>
              <a:gdLst/>
              <a:ahLst/>
              <a:cxnLst/>
              <a:rect l="l" t="t" r="r" b="b"/>
              <a:pathLst>
                <a:path w="123825" h="123825">
                  <a:moveTo>
                    <a:pt x="123825" y="0"/>
                  </a:moveTo>
                  <a:lnTo>
                    <a:pt x="0" y="888"/>
                  </a:lnTo>
                  <a:lnTo>
                    <a:pt x="62864" y="123698"/>
                  </a:lnTo>
                  <a:lnTo>
                    <a:pt x="123825" y="0"/>
                  </a:lnTo>
                  <a:close/>
                </a:path>
              </a:pathLst>
            </a:custGeom>
            <a:solidFill>
              <a:srgbClr val="350E0D"/>
            </a:solidFill>
          </p:spPr>
          <p:txBody>
            <a:bodyPr wrap="square" lIns="0" tIns="0" rIns="0" bIns="0" rtlCol="0"/>
            <a:lstStyle/>
            <a:p>
              <a:endParaRPr sz="738"/>
            </a:p>
          </p:txBody>
        </p:sp>
        <p:sp>
          <p:nvSpPr>
            <p:cNvPr id="13" name="object 13"/>
            <p:cNvSpPr/>
            <p:nvPr/>
          </p:nvSpPr>
          <p:spPr>
            <a:xfrm>
              <a:off x="1376425" y="4549266"/>
              <a:ext cx="247650" cy="3039110"/>
            </a:xfrm>
            <a:custGeom>
              <a:avLst/>
              <a:gdLst/>
              <a:ahLst/>
              <a:cxnLst/>
              <a:rect l="l" t="t" r="r" b="b"/>
              <a:pathLst>
                <a:path w="247650" h="3039109">
                  <a:moveTo>
                    <a:pt x="247269" y="3038856"/>
                  </a:moveTo>
                  <a:lnTo>
                    <a:pt x="234315" y="3038729"/>
                  </a:lnTo>
                  <a:lnTo>
                    <a:pt x="2921" y="3035173"/>
                  </a:lnTo>
                  <a:lnTo>
                    <a:pt x="0" y="0"/>
                  </a:lnTo>
                </a:path>
              </a:pathLst>
            </a:custGeom>
            <a:ln w="25400">
              <a:solidFill>
                <a:srgbClr val="350E0D"/>
              </a:solidFill>
              <a:prstDash val="sysDash"/>
            </a:ln>
          </p:spPr>
          <p:txBody>
            <a:bodyPr wrap="square" lIns="0" tIns="0" rIns="0" bIns="0" rtlCol="0"/>
            <a:lstStyle/>
            <a:p>
              <a:endParaRPr sz="738"/>
            </a:p>
          </p:txBody>
        </p:sp>
        <p:sp>
          <p:nvSpPr>
            <p:cNvPr id="14" name="object 14"/>
            <p:cNvSpPr/>
            <p:nvPr/>
          </p:nvSpPr>
          <p:spPr>
            <a:xfrm>
              <a:off x="1600199" y="7517002"/>
              <a:ext cx="123825" cy="124460"/>
            </a:xfrm>
            <a:custGeom>
              <a:avLst/>
              <a:gdLst/>
              <a:ahLst/>
              <a:cxnLst/>
              <a:rect l="l" t="t" r="r" b="b"/>
              <a:pathLst>
                <a:path w="123825" h="124459">
                  <a:moveTo>
                    <a:pt x="1905" y="0"/>
                  </a:moveTo>
                  <a:lnTo>
                    <a:pt x="0" y="123952"/>
                  </a:lnTo>
                  <a:lnTo>
                    <a:pt x="123443" y="63881"/>
                  </a:lnTo>
                  <a:lnTo>
                    <a:pt x="1905" y="0"/>
                  </a:lnTo>
                  <a:close/>
                </a:path>
              </a:pathLst>
            </a:custGeom>
            <a:solidFill>
              <a:srgbClr val="350E0D"/>
            </a:solidFill>
          </p:spPr>
          <p:txBody>
            <a:bodyPr wrap="square" lIns="0" tIns="0" rIns="0" bIns="0" rtlCol="0"/>
            <a:lstStyle/>
            <a:p>
              <a:endParaRPr sz="738"/>
            </a:p>
          </p:txBody>
        </p:sp>
      </p:grpSp>
      <p:pic>
        <p:nvPicPr>
          <p:cNvPr id="15" name="Google Shape;109;p20">
            <a:extLst>
              <a:ext uri="{FF2B5EF4-FFF2-40B4-BE49-F238E27FC236}">
                <a16:creationId xmlns:a16="http://schemas.microsoft.com/office/drawing/2014/main" id="{878AF138-E724-D8AC-675A-E6DD4313BCE8}"/>
              </a:ext>
            </a:extLst>
          </p:cNvPr>
          <p:cNvPicPr preferRelativeResize="0"/>
          <p:nvPr/>
        </p:nvPicPr>
        <p:blipFill>
          <a:blip r:embed="rId2">
            <a:alphaModFix/>
          </a:blip>
          <a:stretch>
            <a:fillRect/>
          </a:stretch>
        </p:blipFill>
        <p:spPr>
          <a:xfrm>
            <a:off x="8369125" y="0"/>
            <a:ext cx="774877" cy="867174"/>
          </a:xfrm>
          <a:prstGeom prst="rect">
            <a:avLst/>
          </a:prstGeom>
          <a:noFill/>
          <a:ln>
            <a:noFill/>
          </a:ln>
        </p:spPr>
      </p:pic>
    </p:spTree>
    <p:extLst>
      <p:ext uri="{BB962C8B-B14F-4D97-AF65-F5344CB8AC3E}">
        <p14:creationId xmlns:p14="http://schemas.microsoft.com/office/powerpoint/2010/main" val="251867476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08">
          <a:extLst>
            <a:ext uri="{FF2B5EF4-FFF2-40B4-BE49-F238E27FC236}">
              <a16:creationId xmlns:a16="http://schemas.microsoft.com/office/drawing/2014/main" id="{C2521349-4E49-FFA8-A00C-EB230EE60D20}"/>
            </a:ext>
          </a:extLst>
        </p:cNvPr>
        <p:cNvGrpSpPr/>
        <p:nvPr/>
      </p:nvGrpSpPr>
      <p:grpSpPr>
        <a:xfrm>
          <a:off x="0" y="0"/>
          <a:ext cx="0" cy="0"/>
          <a:chOff x="0" y="0"/>
          <a:chExt cx="0" cy="0"/>
        </a:xfrm>
      </p:grpSpPr>
      <p:pic>
        <p:nvPicPr>
          <p:cNvPr id="109" name="Google Shape;109;p20">
            <a:extLst>
              <a:ext uri="{FF2B5EF4-FFF2-40B4-BE49-F238E27FC236}">
                <a16:creationId xmlns:a16="http://schemas.microsoft.com/office/drawing/2014/main" id="{BF36021D-6086-6A86-E102-6A93E45862D3}"/>
              </a:ext>
            </a:extLst>
          </p:cNvPr>
          <p:cNvPicPr preferRelativeResize="0"/>
          <p:nvPr/>
        </p:nvPicPr>
        <p:blipFill>
          <a:blip r:embed="rId4">
            <a:alphaModFix/>
          </a:blip>
          <a:stretch>
            <a:fillRect/>
          </a:stretch>
        </p:blipFill>
        <p:spPr>
          <a:xfrm>
            <a:off x="8369125" y="0"/>
            <a:ext cx="774877" cy="867174"/>
          </a:xfrm>
          <a:prstGeom prst="rect">
            <a:avLst/>
          </a:prstGeom>
          <a:noFill/>
          <a:ln>
            <a:noFill/>
          </a:ln>
        </p:spPr>
      </p:pic>
      <p:sp>
        <p:nvSpPr>
          <p:cNvPr id="110" name="Google Shape;110;p20">
            <a:extLst>
              <a:ext uri="{FF2B5EF4-FFF2-40B4-BE49-F238E27FC236}">
                <a16:creationId xmlns:a16="http://schemas.microsoft.com/office/drawing/2014/main" id="{143A0463-73E5-5CB1-9B75-F2843F772BBA}"/>
              </a:ext>
            </a:extLst>
          </p:cNvPr>
          <p:cNvSpPr txBox="1">
            <a:spLocks noGrp="1"/>
          </p:cNvSpPr>
          <p:nvPr>
            <p:ph type="ctrTitle" idx="4294967295"/>
          </p:nvPr>
        </p:nvSpPr>
        <p:spPr>
          <a:xfrm>
            <a:off x="418813" y="1507259"/>
            <a:ext cx="7772400" cy="8673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rgbClr val="C00000"/>
              </a:buClr>
              <a:buSzPts val="4400"/>
              <a:buFont typeface="Calibri"/>
              <a:buNone/>
            </a:pPr>
            <a:r>
              <a:rPr lang="en" sz="4000" b="1" dirty="0">
                <a:sym typeface="Calibri"/>
              </a:rPr>
              <a:t>Large Language Models </a:t>
            </a:r>
            <a:endParaRPr sz="4000" dirty="0">
              <a:latin typeface="Calibri"/>
              <a:ea typeface="Calibri"/>
              <a:cs typeface="Calibri"/>
              <a:sym typeface="Calibri"/>
            </a:endParaRPr>
          </a:p>
        </p:txBody>
      </p:sp>
      <p:sp>
        <p:nvSpPr>
          <p:cNvPr id="3" name="TextBox 2">
            <a:extLst>
              <a:ext uri="{FF2B5EF4-FFF2-40B4-BE49-F238E27FC236}">
                <a16:creationId xmlns:a16="http://schemas.microsoft.com/office/drawing/2014/main" id="{642EBC28-F2CA-3749-6D39-0ED5CE44A03F}"/>
              </a:ext>
            </a:extLst>
          </p:cNvPr>
          <p:cNvSpPr txBox="1"/>
          <p:nvPr/>
        </p:nvSpPr>
        <p:spPr>
          <a:xfrm>
            <a:off x="1759528" y="2768942"/>
            <a:ext cx="4597540" cy="400110"/>
          </a:xfrm>
          <a:prstGeom prst="rect">
            <a:avLst/>
          </a:prstGeom>
          <a:noFill/>
        </p:spPr>
        <p:txBody>
          <a:bodyPr wrap="square" rtlCol="0">
            <a:spAutoFit/>
          </a:bodyPr>
          <a:lstStyle/>
          <a:p>
            <a:r>
              <a:rPr lang="en-US" sz="2000" dirty="0">
                <a:solidFill>
                  <a:srgbClr val="1A1F36"/>
                </a:solidFill>
                <a:latin typeface="Calibri"/>
              </a:rPr>
              <a:t>Response Generation and Decoding</a:t>
            </a:r>
          </a:p>
        </p:txBody>
      </p:sp>
    </p:spTree>
    <p:extLst>
      <p:ext uri="{BB962C8B-B14F-4D97-AF65-F5344CB8AC3E}">
        <p14:creationId xmlns:p14="http://schemas.microsoft.com/office/powerpoint/2010/main" val="313949359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home/claude/deck/iit_logo.png"/>
          <p:cNvPicPr>
            <a:picLocks noChangeAspect="1"/>
          </p:cNvPicPr>
          <p:nvPr/>
        </p:nvPicPr>
        <p:blipFill>
          <a:blip r:embed="rId3"/>
          <a:stretch>
            <a:fillRect/>
          </a:stretch>
        </p:blipFill>
        <p:spPr>
          <a:xfrm>
            <a:off x="8401050" y="123444"/>
            <a:ext cx="651510" cy="726948"/>
          </a:xfrm>
          <a:prstGeom prst="rect">
            <a:avLst/>
          </a:prstGeom>
        </p:spPr>
      </p:pic>
      <p:sp>
        <p:nvSpPr>
          <p:cNvPr id="3" name="Text 0"/>
          <p:cNvSpPr txBox="1"/>
          <p:nvPr/>
        </p:nvSpPr>
        <p:spPr>
          <a:xfrm>
            <a:off x="377190" y="240030"/>
            <a:ext cx="7749540" cy="582930"/>
          </a:xfrm>
          <a:prstGeom prst="rect">
            <a:avLst/>
          </a:prstGeom>
          <a:noFill/>
          <a:ln/>
        </p:spPr>
        <p:txBody>
          <a:bodyPr wrap="square" lIns="0" tIns="0" rIns="0" bIns="0" rtlCol="0" anchor="ctr"/>
          <a:lstStyle/>
          <a:p>
            <a:r>
              <a:rPr lang="en-US" sz="2100" b="1" dirty="0">
                <a:solidFill>
                  <a:srgbClr val="1E2761"/>
                </a:solidFill>
                <a:latin typeface="Cambria" pitchFamily="34" charset="0"/>
                <a:ea typeface="Cambria" pitchFamily="34" charset="-122"/>
                <a:cs typeface="Cambria" pitchFamily="34" charset="-120"/>
              </a:rPr>
              <a:t>Which words do we generate at each step?</a:t>
            </a:r>
            <a:endParaRPr lang="en-US" sz="2100" dirty="0"/>
          </a:p>
        </p:txBody>
      </p:sp>
      <p:sp>
        <p:nvSpPr>
          <p:cNvPr id="4" name="Shape 1"/>
          <p:cNvSpPr/>
          <p:nvPr/>
        </p:nvSpPr>
        <p:spPr>
          <a:xfrm>
            <a:off x="377190" y="925830"/>
            <a:ext cx="7955280" cy="829818"/>
          </a:xfrm>
          <a:prstGeom prst="roundRect">
            <a:avLst>
              <a:gd name="adj" fmla="val 4959"/>
            </a:avLst>
          </a:prstGeom>
          <a:solidFill>
            <a:srgbClr val="DDDDF5"/>
          </a:solidFill>
          <a:ln w="9525">
            <a:solidFill>
              <a:srgbClr val="C9C9EC"/>
            </a:solidFill>
            <a:prstDash val="solid"/>
          </a:ln>
          <a:effectLst>
            <a:outerShdw blurRad="63500" dist="25400" dir="5400000" algn="bl" rotWithShape="0">
              <a:srgbClr val="8A8AC0">
                <a:alpha val="28000"/>
              </a:srgbClr>
            </a:outerShdw>
          </a:effectLst>
        </p:spPr>
      </p:sp>
      <p:sp>
        <p:nvSpPr>
          <p:cNvPr id="5" name="Text 2"/>
          <p:cNvSpPr txBox="1"/>
          <p:nvPr/>
        </p:nvSpPr>
        <p:spPr>
          <a:xfrm>
            <a:off x="569214" y="1008126"/>
            <a:ext cx="7571232" cy="288036"/>
          </a:xfrm>
          <a:prstGeom prst="rect">
            <a:avLst/>
          </a:prstGeom>
          <a:noFill/>
          <a:ln/>
        </p:spPr>
        <p:txBody>
          <a:bodyPr wrap="square" lIns="0" tIns="0" rIns="0" bIns="0" rtlCol="0" anchor="ctr"/>
          <a:lstStyle/>
          <a:p>
            <a:r>
              <a:rPr lang="en-US" sz="1200" b="1" i="1" dirty="0">
                <a:solidFill>
                  <a:srgbClr val="1E2761"/>
                </a:solidFill>
                <a:latin typeface="Cambria" pitchFamily="34" charset="0"/>
                <a:ea typeface="Cambria" pitchFamily="34" charset="-122"/>
                <a:cs typeface="Cambria" pitchFamily="34" charset="-120"/>
              </a:rPr>
              <a:t>Greedy Decoding</a:t>
            </a:r>
            <a:endParaRPr lang="en-US" sz="1200" dirty="0"/>
          </a:p>
        </p:txBody>
      </p:sp>
      <p:sp>
        <p:nvSpPr>
          <p:cNvPr id="6" name="Text 3"/>
          <p:cNvSpPr txBox="1"/>
          <p:nvPr/>
        </p:nvSpPr>
        <p:spPr>
          <a:xfrm>
            <a:off x="569214" y="1261872"/>
            <a:ext cx="7571232" cy="377190"/>
          </a:xfrm>
          <a:prstGeom prst="rect">
            <a:avLst/>
          </a:prstGeom>
          <a:noFill/>
          <a:ln/>
        </p:spPr>
        <p:txBody>
          <a:bodyPr wrap="square" lIns="0" tIns="0" rIns="0" bIns="0" rtlCol="0" anchor="t"/>
          <a:lstStyle/>
          <a:p>
            <a:pPr>
              <a:lnSpc>
                <a:spcPct val="125000"/>
              </a:lnSpc>
            </a:pPr>
            <a:r>
              <a:rPr lang="en-US" sz="1200" dirty="0">
                <a:solidFill>
                  <a:srgbClr val="222222"/>
                </a:solidFill>
                <a:latin typeface="Calibri" pitchFamily="34" charset="0"/>
                <a:ea typeface="Calibri" pitchFamily="34" charset="-122"/>
                <a:cs typeface="Calibri" pitchFamily="34" charset="-120"/>
              </a:rPr>
              <a:t>One simple way is to always generate the most likely word given the context.</a:t>
            </a:r>
            <a:endParaRPr lang="en-US" sz="1200" dirty="0"/>
          </a:p>
        </p:txBody>
      </p:sp>
      <p:sp>
        <p:nvSpPr>
          <p:cNvPr id="7" name="Text 4"/>
          <p:cNvSpPr txBox="1"/>
          <p:nvPr/>
        </p:nvSpPr>
        <p:spPr>
          <a:xfrm>
            <a:off x="377190" y="1995678"/>
            <a:ext cx="7955280" cy="342900"/>
          </a:xfrm>
          <a:prstGeom prst="rect">
            <a:avLst/>
          </a:prstGeom>
          <a:noFill/>
          <a:ln/>
        </p:spPr>
        <p:txBody>
          <a:bodyPr wrap="square" lIns="0" tIns="0" rIns="0" bIns="0" rtlCol="0" anchor="ctr"/>
          <a:lstStyle/>
          <a:p>
            <a:r>
              <a:rPr lang="en-US" sz="1200" dirty="0">
                <a:solidFill>
                  <a:srgbClr val="222222"/>
                </a:solidFill>
                <a:latin typeface="Calibri" pitchFamily="34" charset="0"/>
                <a:ea typeface="Calibri" pitchFamily="34" charset="-122"/>
                <a:cs typeface="Calibri" pitchFamily="34" charset="-120"/>
              </a:rPr>
              <a:t>Generating the most likely word given the context is called </a:t>
            </a:r>
            <a:r>
              <a:rPr lang="en-US" sz="1200" i="1" dirty="0">
                <a:solidFill>
                  <a:srgbClr val="222222"/>
                </a:solidFill>
                <a:latin typeface="Calibri" pitchFamily="34" charset="0"/>
                <a:ea typeface="Calibri" pitchFamily="34" charset="-122"/>
                <a:cs typeface="Calibri" pitchFamily="34" charset="-120"/>
              </a:rPr>
              <a:t>greedy decoding</a:t>
            </a:r>
            <a:r>
              <a:rPr lang="en-US" sz="1200" dirty="0">
                <a:solidFill>
                  <a:srgbClr val="222222"/>
                </a:solidFill>
                <a:latin typeface="Calibri" pitchFamily="34" charset="0"/>
                <a:ea typeface="Calibri" pitchFamily="34" charset="-122"/>
                <a:cs typeface="Calibri" pitchFamily="34" charset="-120"/>
              </a:rPr>
              <a:t>.</a:t>
            </a:r>
            <a:endParaRPr lang="en-US" sz="1200" dirty="0"/>
          </a:p>
        </p:txBody>
      </p:sp>
      <p:sp>
        <p:nvSpPr>
          <p:cNvPr id="8" name="Text 5"/>
          <p:cNvSpPr txBox="1"/>
          <p:nvPr/>
        </p:nvSpPr>
        <p:spPr>
          <a:xfrm>
            <a:off x="377190" y="2434590"/>
            <a:ext cx="7955280" cy="480060"/>
          </a:xfrm>
          <a:prstGeom prst="rect">
            <a:avLst/>
          </a:prstGeom>
          <a:noFill/>
          <a:ln/>
        </p:spPr>
        <p:txBody>
          <a:bodyPr wrap="square" lIns="0" tIns="0" rIns="0" bIns="0" rtlCol="0" anchor="ctr"/>
          <a:lstStyle/>
          <a:p>
            <a:pPr algn="ctr"/>
            <a:r>
              <a:rPr lang="en-US" sz="1950" i="1" dirty="0">
                <a:solidFill>
                  <a:srgbClr val="141B4D"/>
                </a:solidFill>
                <a:latin typeface="Cambria" pitchFamily="34" charset="0"/>
                <a:ea typeface="Cambria" pitchFamily="34" charset="-122"/>
                <a:cs typeface="Cambria" pitchFamily="34" charset="-120"/>
              </a:rPr>
              <a:t>ŵₜ = argmax P(w | w&lt;t)</a:t>
            </a:r>
            <a:endParaRPr lang="en-US" sz="1950" dirty="0"/>
          </a:p>
        </p:txBody>
      </p:sp>
      <p:sp>
        <p:nvSpPr>
          <p:cNvPr id="9" name="Text 6"/>
          <p:cNvSpPr txBox="1"/>
          <p:nvPr/>
        </p:nvSpPr>
        <p:spPr>
          <a:xfrm>
            <a:off x="377190" y="2880360"/>
            <a:ext cx="7955280" cy="274320"/>
          </a:xfrm>
          <a:prstGeom prst="rect">
            <a:avLst/>
          </a:prstGeom>
          <a:noFill/>
          <a:ln/>
        </p:spPr>
        <p:txBody>
          <a:bodyPr wrap="square" lIns="0" tIns="0" rIns="0" bIns="0" rtlCol="0" anchor="ctr"/>
          <a:lstStyle/>
          <a:p>
            <a:pPr algn="ctr"/>
            <a:r>
              <a:rPr lang="en-US" sz="1050" i="1" dirty="0">
                <a:solidFill>
                  <a:srgbClr val="5B6472"/>
                </a:solidFill>
                <a:latin typeface="Cambria" pitchFamily="34" charset="0"/>
                <a:ea typeface="Cambria" pitchFamily="34" charset="-122"/>
                <a:cs typeface="Cambria" pitchFamily="34" charset="-120"/>
              </a:rPr>
              <a:t>w ∈ V</a:t>
            </a:r>
            <a:endParaRPr lang="en-US" sz="1050" dirty="0"/>
          </a:p>
        </p:txBody>
      </p:sp>
      <p:sp>
        <p:nvSpPr>
          <p:cNvPr id="10" name="Text 7"/>
          <p:cNvSpPr txBox="1"/>
          <p:nvPr/>
        </p:nvSpPr>
        <p:spPr>
          <a:xfrm>
            <a:off x="377190" y="4389120"/>
            <a:ext cx="7955280" cy="342900"/>
          </a:xfrm>
          <a:prstGeom prst="rect">
            <a:avLst/>
          </a:prstGeom>
          <a:noFill/>
          <a:ln/>
        </p:spPr>
        <p:txBody>
          <a:bodyPr wrap="square" lIns="0" tIns="0" rIns="0" bIns="0" rtlCol="0" anchor="ctr"/>
          <a:lstStyle/>
          <a:p>
            <a:r>
              <a:rPr lang="en-US" sz="975" i="1" dirty="0">
                <a:solidFill>
                  <a:srgbClr val="5B6472"/>
                </a:solidFill>
                <a:latin typeface="Calibri" pitchFamily="34" charset="0"/>
                <a:ea typeface="Calibri" pitchFamily="34" charset="-122"/>
                <a:cs typeface="Calibri" pitchFamily="34" charset="-120"/>
              </a:rPr>
              <a:t>A locally greedy choice, made independently at every step — with no way to undo it later.</a:t>
            </a:r>
            <a:endParaRPr lang="en-US" sz="975" dirty="0"/>
          </a:p>
        </p:txBody>
      </p:sp>
      <p:sp>
        <p:nvSpPr>
          <p:cNvPr id="11" name="Text 8"/>
          <p:cNvSpPr txBox="1"/>
          <p:nvPr/>
        </p:nvSpPr>
        <p:spPr>
          <a:xfrm>
            <a:off x="8743950" y="4882896"/>
            <a:ext cx="274320" cy="205740"/>
          </a:xfrm>
          <a:prstGeom prst="rect">
            <a:avLst/>
          </a:prstGeom>
          <a:noFill/>
          <a:ln/>
        </p:spPr>
        <p:txBody>
          <a:bodyPr wrap="square" lIns="0" tIns="0" rIns="0" bIns="0" rtlCol="0" anchor="ctr"/>
          <a:lstStyle/>
          <a:p>
            <a:pPr algn="r"/>
            <a:r>
              <a:rPr lang="en-US" sz="750" dirty="0">
                <a:solidFill>
                  <a:srgbClr val="5B6472"/>
                </a:solidFill>
                <a:latin typeface="Calibri" pitchFamily="34" charset="0"/>
                <a:ea typeface="Calibri" pitchFamily="34" charset="-122"/>
                <a:cs typeface="Calibri" pitchFamily="34" charset="-120"/>
              </a:rPr>
              <a:t>1</a:t>
            </a:r>
            <a:endParaRPr lang="en-US" sz="7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home/claude/deck/iit_logo.png"/>
          <p:cNvPicPr>
            <a:picLocks noChangeAspect="1"/>
          </p:cNvPicPr>
          <p:nvPr/>
        </p:nvPicPr>
        <p:blipFill>
          <a:blip r:embed="rId3"/>
          <a:stretch>
            <a:fillRect/>
          </a:stretch>
        </p:blipFill>
        <p:spPr>
          <a:xfrm>
            <a:off x="8401050" y="123444"/>
            <a:ext cx="651510" cy="726948"/>
          </a:xfrm>
          <a:prstGeom prst="rect">
            <a:avLst/>
          </a:prstGeom>
        </p:spPr>
      </p:pic>
      <p:sp>
        <p:nvSpPr>
          <p:cNvPr id="3" name="Text 0"/>
          <p:cNvSpPr txBox="1"/>
          <p:nvPr/>
        </p:nvSpPr>
        <p:spPr>
          <a:xfrm>
            <a:off x="377190" y="240030"/>
            <a:ext cx="7749540" cy="582930"/>
          </a:xfrm>
          <a:prstGeom prst="rect">
            <a:avLst/>
          </a:prstGeom>
          <a:noFill/>
          <a:ln/>
        </p:spPr>
        <p:txBody>
          <a:bodyPr wrap="square" lIns="0" tIns="0" rIns="0" bIns="0" rtlCol="0" anchor="ctr"/>
          <a:lstStyle/>
          <a:p>
            <a:r>
              <a:rPr lang="en-US" sz="2025" b="1" dirty="0">
                <a:solidFill>
                  <a:srgbClr val="1E2761"/>
                </a:solidFill>
                <a:latin typeface="Cambria" pitchFamily="34" charset="0"/>
                <a:ea typeface="Cambria" pitchFamily="34" charset="-122"/>
                <a:cs typeface="Cambria" pitchFamily="34" charset="-120"/>
              </a:rPr>
              <a:t>What is the issue with greedy decoding?</a:t>
            </a:r>
            <a:endParaRPr lang="en-US" sz="2025" dirty="0"/>
          </a:p>
        </p:txBody>
      </p:sp>
      <p:sp>
        <p:nvSpPr>
          <p:cNvPr id="4" name="Shape 1"/>
          <p:cNvSpPr/>
          <p:nvPr/>
        </p:nvSpPr>
        <p:spPr>
          <a:xfrm>
            <a:off x="274320" y="788670"/>
            <a:ext cx="8572500" cy="3634740"/>
          </a:xfrm>
          <a:prstGeom prst="rect">
            <a:avLst/>
          </a:prstGeom>
          <a:solidFill>
            <a:srgbClr val="FFFFFF"/>
          </a:solidFill>
          <a:ln w="12700">
            <a:solidFill>
              <a:srgbClr val="D9D9D9"/>
            </a:solidFill>
            <a:prstDash val="solid"/>
          </a:ln>
        </p:spPr>
      </p:sp>
      <p:sp>
        <p:nvSpPr>
          <p:cNvPr id="5" name="Shape 2"/>
          <p:cNvSpPr/>
          <p:nvPr/>
        </p:nvSpPr>
        <p:spPr>
          <a:xfrm flipV="1">
            <a:off x="668655" y="1803654"/>
            <a:ext cx="1594485" cy="1170432"/>
          </a:xfrm>
          <a:prstGeom prst="line">
            <a:avLst/>
          </a:prstGeom>
          <a:noFill/>
          <a:ln w="13970">
            <a:solidFill>
              <a:srgbClr val="5B6472"/>
            </a:solidFill>
            <a:prstDash val="solid"/>
          </a:ln>
        </p:spPr>
      </p:sp>
      <p:sp>
        <p:nvSpPr>
          <p:cNvPr id="6" name="Shape 3"/>
          <p:cNvSpPr/>
          <p:nvPr/>
        </p:nvSpPr>
        <p:spPr>
          <a:xfrm>
            <a:off x="668655" y="2974086"/>
            <a:ext cx="1594485" cy="118872"/>
          </a:xfrm>
          <a:prstGeom prst="line">
            <a:avLst/>
          </a:prstGeom>
          <a:noFill/>
          <a:ln w="13970">
            <a:solidFill>
              <a:srgbClr val="5B6472"/>
            </a:solidFill>
            <a:prstDash val="solid"/>
          </a:ln>
        </p:spPr>
      </p:sp>
      <p:sp>
        <p:nvSpPr>
          <p:cNvPr id="7" name="Shape 4"/>
          <p:cNvSpPr/>
          <p:nvPr/>
        </p:nvSpPr>
        <p:spPr>
          <a:xfrm>
            <a:off x="668655" y="2974086"/>
            <a:ext cx="1594485" cy="1051560"/>
          </a:xfrm>
          <a:prstGeom prst="line">
            <a:avLst/>
          </a:prstGeom>
          <a:noFill/>
          <a:ln w="13970">
            <a:solidFill>
              <a:srgbClr val="5B6472"/>
            </a:solidFill>
            <a:prstDash val="solid"/>
          </a:ln>
        </p:spPr>
      </p:sp>
      <p:sp>
        <p:nvSpPr>
          <p:cNvPr id="8" name="Shape 5"/>
          <p:cNvSpPr/>
          <p:nvPr/>
        </p:nvSpPr>
        <p:spPr>
          <a:xfrm flipV="1">
            <a:off x="2554605" y="1419606"/>
            <a:ext cx="1594485" cy="384048"/>
          </a:xfrm>
          <a:prstGeom prst="line">
            <a:avLst/>
          </a:prstGeom>
          <a:noFill/>
          <a:ln w="13970">
            <a:solidFill>
              <a:srgbClr val="5B6472"/>
            </a:solidFill>
            <a:prstDash val="solid"/>
          </a:ln>
        </p:spPr>
      </p:sp>
      <p:sp>
        <p:nvSpPr>
          <p:cNvPr id="9" name="Shape 6"/>
          <p:cNvSpPr/>
          <p:nvPr/>
        </p:nvSpPr>
        <p:spPr>
          <a:xfrm flipV="1">
            <a:off x="2554605" y="1803654"/>
            <a:ext cx="1594485" cy="6858"/>
          </a:xfrm>
          <a:prstGeom prst="line">
            <a:avLst/>
          </a:prstGeom>
          <a:noFill/>
          <a:ln w="13970">
            <a:solidFill>
              <a:srgbClr val="5B6472"/>
            </a:solidFill>
            <a:prstDash val="solid"/>
          </a:ln>
        </p:spPr>
      </p:sp>
      <p:sp>
        <p:nvSpPr>
          <p:cNvPr id="10" name="Shape 7"/>
          <p:cNvSpPr/>
          <p:nvPr/>
        </p:nvSpPr>
        <p:spPr>
          <a:xfrm>
            <a:off x="2554605" y="1803654"/>
            <a:ext cx="1594485" cy="384048"/>
          </a:xfrm>
          <a:prstGeom prst="line">
            <a:avLst/>
          </a:prstGeom>
          <a:noFill/>
          <a:ln w="13970">
            <a:solidFill>
              <a:srgbClr val="5B6472"/>
            </a:solidFill>
            <a:prstDash val="solid"/>
          </a:ln>
        </p:spPr>
      </p:sp>
      <p:sp>
        <p:nvSpPr>
          <p:cNvPr id="11" name="Shape 8"/>
          <p:cNvSpPr/>
          <p:nvPr/>
        </p:nvSpPr>
        <p:spPr>
          <a:xfrm flipV="1">
            <a:off x="2554605" y="2708910"/>
            <a:ext cx="1594485" cy="384048"/>
          </a:xfrm>
          <a:prstGeom prst="line">
            <a:avLst/>
          </a:prstGeom>
          <a:noFill/>
          <a:ln w="13970">
            <a:solidFill>
              <a:srgbClr val="5B6472"/>
            </a:solidFill>
            <a:prstDash val="solid"/>
          </a:ln>
        </p:spPr>
      </p:sp>
      <p:sp>
        <p:nvSpPr>
          <p:cNvPr id="12" name="Shape 9"/>
          <p:cNvSpPr/>
          <p:nvPr/>
        </p:nvSpPr>
        <p:spPr>
          <a:xfrm flipV="1">
            <a:off x="2554605" y="3092958"/>
            <a:ext cx="1594485" cy="6858"/>
          </a:xfrm>
          <a:prstGeom prst="line">
            <a:avLst/>
          </a:prstGeom>
          <a:noFill/>
          <a:ln w="13970">
            <a:solidFill>
              <a:srgbClr val="5B6472"/>
            </a:solidFill>
            <a:prstDash val="solid"/>
          </a:ln>
        </p:spPr>
      </p:sp>
      <p:sp>
        <p:nvSpPr>
          <p:cNvPr id="13" name="Shape 10"/>
          <p:cNvSpPr/>
          <p:nvPr/>
        </p:nvSpPr>
        <p:spPr>
          <a:xfrm>
            <a:off x="2554605" y="3092958"/>
            <a:ext cx="1594485" cy="384048"/>
          </a:xfrm>
          <a:prstGeom prst="line">
            <a:avLst/>
          </a:prstGeom>
          <a:noFill/>
          <a:ln w="13970">
            <a:solidFill>
              <a:srgbClr val="5B6472"/>
            </a:solidFill>
            <a:prstDash val="solid"/>
          </a:ln>
        </p:spPr>
      </p:sp>
      <p:sp>
        <p:nvSpPr>
          <p:cNvPr id="14" name="Shape 11"/>
          <p:cNvSpPr/>
          <p:nvPr/>
        </p:nvSpPr>
        <p:spPr>
          <a:xfrm flipV="1">
            <a:off x="4440555" y="1419606"/>
            <a:ext cx="1594485" cy="6858"/>
          </a:xfrm>
          <a:prstGeom prst="line">
            <a:avLst/>
          </a:prstGeom>
          <a:noFill/>
          <a:ln w="13970">
            <a:solidFill>
              <a:srgbClr val="5B6472"/>
            </a:solidFill>
            <a:prstDash val="solid"/>
          </a:ln>
        </p:spPr>
      </p:sp>
      <p:sp>
        <p:nvSpPr>
          <p:cNvPr id="15" name="Shape 12"/>
          <p:cNvSpPr/>
          <p:nvPr/>
        </p:nvSpPr>
        <p:spPr>
          <a:xfrm flipV="1">
            <a:off x="4440555" y="1803654"/>
            <a:ext cx="1594485" cy="6858"/>
          </a:xfrm>
          <a:prstGeom prst="line">
            <a:avLst/>
          </a:prstGeom>
          <a:noFill/>
          <a:ln w="13970">
            <a:solidFill>
              <a:srgbClr val="5B6472"/>
            </a:solidFill>
            <a:prstDash val="solid"/>
          </a:ln>
        </p:spPr>
      </p:sp>
      <p:sp>
        <p:nvSpPr>
          <p:cNvPr id="16" name="Shape 13"/>
          <p:cNvSpPr/>
          <p:nvPr/>
        </p:nvSpPr>
        <p:spPr>
          <a:xfrm flipV="1">
            <a:off x="4440555" y="2708910"/>
            <a:ext cx="1594485" cy="6858"/>
          </a:xfrm>
          <a:prstGeom prst="line">
            <a:avLst/>
          </a:prstGeom>
          <a:noFill/>
          <a:ln w="13970">
            <a:solidFill>
              <a:srgbClr val="5B6472"/>
            </a:solidFill>
            <a:prstDash val="solid"/>
          </a:ln>
        </p:spPr>
      </p:sp>
      <p:sp>
        <p:nvSpPr>
          <p:cNvPr id="17" name="Shape 14"/>
          <p:cNvSpPr/>
          <p:nvPr/>
        </p:nvSpPr>
        <p:spPr>
          <a:xfrm flipV="1">
            <a:off x="4440555" y="3092958"/>
            <a:ext cx="1594485" cy="6858"/>
          </a:xfrm>
          <a:prstGeom prst="line">
            <a:avLst/>
          </a:prstGeom>
          <a:noFill/>
          <a:ln w="13970">
            <a:solidFill>
              <a:srgbClr val="5B6472"/>
            </a:solidFill>
            <a:prstDash val="solid"/>
          </a:ln>
        </p:spPr>
      </p:sp>
      <p:sp>
        <p:nvSpPr>
          <p:cNvPr id="18" name="Text 15"/>
          <p:cNvSpPr txBox="1"/>
          <p:nvPr/>
        </p:nvSpPr>
        <p:spPr>
          <a:xfrm>
            <a:off x="1273874" y="2686050"/>
            <a:ext cx="411480" cy="192024"/>
          </a:xfrm>
          <a:prstGeom prst="rect">
            <a:avLst/>
          </a:prstGeom>
          <a:noFill/>
          <a:ln/>
        </p:spPr>
        <p:txBody>
          <a:bodyPr wrap="square" lIns="0" tIns="0" rIns="0" bIns="0" rtlCol="0" anchor="ctr"/>
          <a:lstStyle/>
          <a:p>
            <a:pPr algn="ctr"/>
            <a:r>
              <a:rPr lang="en-US" sz="788" i="1" dirty="0">
                <a:solidFill>
                  <a:srgbClr val="B5591E"/>
                </a:solidFill>
                <a:latin typeface="Calibri" pitchFamily="34" charset="0"/>
                <a:ea typeface="Calibri" pitchFamily="34" charset="-122"/>
                <a:cs typeface="Calibri" pitchFamily="34" charset="-120"/>
              </a:rPr>
              <a:t>.4</a:t>
            </a:r>
            <a:endParaRPr lang="en-US" sz="788" dirty="0"/>
          </a:p>
        </p:txBody>
      </p:sp>
      <p:sp>
        <p:nvSpPr>
          <p:cNvPr id="19" name="Text 16"/>
          <p:cNvSpPr txBox="1"/>
          <p:nvPr/>
        </p:nvSpPr>
        <p:spPr>
          <a:xfrm>
            <a:off x="1273874" y="2960370"/>
            <a:ext cx="411480" cy="192024"/>
          </a:xfrm>
          <a:prstGeom prst="rect">
            <a:avLst/>
          </a:prstGeom>
          <a:noFill/>
          <a:ln/>
        </p:spPr>
        <p:txBody>
          <a:bodyPr wrap="square" lIns="0" tIns="0" rIns="0" bIns="0" rtlCol="0" anchor="ctr"/>
          <a:lstStyle/>
          <a:p>
            <a:pPr algn="ctr"/>
            <a:r>
              <a:rPr lang="en-US" sz="788" i="1" dirty="0">
                <a:solidFill>
                  <a:srgbClr val="B5591E"/>
                </a:solidFill>
                <a:latin typeface="Calibri" pitchFamily="34" charset="0"/>
                <a:ea typeface="Calibri" pitchFamily="34" charset="-122"/>
                <a:cs typeface="Calibri" pitchFamily="34" charset="-120"/>
              </a:rPr>
              <a:t>.5</a:t>
            </a:r>
            <a:endParaRPr lang="en-US" sz="788" dirty="0"/>
          </a:p>
        </p:txBody>
      </p:sp>
      <p:sp>
        <p:nvSpPr>
          <p:cNvPr id="20" name="Text 17"/>
          <p:cNvSpPr txBox="1"/>
          <p:nvPr/>
        </p:nvSpPr>
        <p:spPr>
          <a:xfrm>
            <a:off x="1273874" y="3179826"/>
            <a:ext cx="411480" cy="192024"/>
          </a:xfrm>
          <a:prstGeom prst="rect">
            <a:avLst/>
          </a:prstGeom>
          <a:noFill/>
          <a:ln/>
        </p:spPr>
        <p:txBody>
          <a:bodyPr wrap="square" lIns="0" tIns="0" rIns="0" bIns="0" rtlCol="0" anchor="ctr"/>
          <a:lstStyle/>
          <a:p>
            <a:pPr algn="ctr"/>
            <a:r>
              <a:rPr lang="en-US" sz="788" i="1" dirty="0">
                <a:solidFill>
                  <a:srgbClr val="B5591E"/>
                </a:solidFill>
                <a:latin typeface="Calibri" pitchFamily="34" charset="0"/>
                <a:ea typeface="Calibri" pitchFamily="34" charset="-122"/>
                <a:cs typeface="Calibri" pitchFamily="34" charset="-120"/>
              </a:rPr>
              <a:t>.1</a:t>
            </a:r>
            <a:endParaRPr lang="en-US" sz="788" dirty="0"/>
          </a:p>
        </p:txBody>
      </p:sp>
      <p:sp>
        <p:nvSpPr>
          <p:cNvPr id="21" name="Text 18"/>
          <p:cNvSpPr txBox="1"/>
          <p:nvPr/>
        </p:nvSpPr>
        <p:spPr>
          <a:xfrm>
            <a:off x="3159824" y="1543050"/>
            <a:ext cx="411480" cy="192024"/>
          </a:xfrm>
          <a:prstGeom prst="rect">
            <a:avLst/>
          </a:prstGeom>
          <a:noFill/>
          <a:ln/>
        </p:spPr>
        <p:txBody>
          <a:bodyPr wrap="square" lIns="0" tIns="0" rIns="0" bIns="0" rtlCol="0" anchor="ctr"/>
          <a:lstStyle/>
          <a:p>
            <a:pPr algn="ctr"/>
            <a:r>
              <a:rPr lang="en-US" sz="788" i="1" dirty="0">
                <a:solidFill>
                  <a:srgbClr val="B5591E"/>
                </a:solidFill>
                <a:latin typeface="Calibri" pitchFamily="34" charset="0"/>
                <a:ea typeface="Calibri" pitchFamily="34" charset="-122"/>
                <a:cs typeface="Calibri" pitchFamily="34" charset="-120"/>
              </a:rPr>
              <a:t>.7</a:t>
            </a:r>
            <a:endParaRPr lang="en-US" sz="788" dirty="0"/>
          </a:p>
        </p:txBody>
      </p:sp>
      <p:sp>
        <p:nvSpPr>
          <p:cNvPr id="22" name="Text 19"/>
          <p:cNvSpPr txBox="1"/>
          <p:nvPr/>
        </p:nvSpPr>
        <p:spPr>
          <a:xfrm>
            <a:off x="3159824" y="1789938"/>
            <a:ext cx="411480" cy="192024"/>
          </a:xfrm>
          <a:prstGeom prst="rect">
            <a:avLst/>
          </a:prstGeom>
          <a:noFill/>
          <a:ln/>
        </p:spPr>
        <p:txBody>
          <a:bodyPr wrap="square" lIns="0" tIns="0" rIns="0" bIns="0" rtlCol="0" anchor="ctr"/>
          <a:lstStyle/>
          <a:p>
            <a:pPr algn="ctr"/>
            <a:r>
              <a:rPr lang="en-US" sz="788" i="1" dirty="0">
                <a:solidFill>
                  <a:srgbClr val="B5591E"/>
                </a:solidFill>
                <a:latin typeface="Calibri" pitchFamily="34" charset="0"/>
                <a:ea typeface="Calibri" pitchFamily="34" charset="-122"/>
                <a:cs typeface="Calibri" pitchFamily="34" charset="-120"/>
              </a:rPr>
              <a:t>.2</a:t>
            </a:r>
            <a:endParaRPr lang="en-US" sz="788" dirty="0"/>
          </a:p>
        </p:txBody>
      </p:sp>
      <p:sp>
        <p:nvSpPr>
          <p:cNvPr id="23" name="Text 20"/>
          <p:cNvSpPr txBox="1"/>
          <p:nvPr/>
        </p:nvSpPr>
        <p:spPr>
          <a:xfrm>
            <a:off x="3159824" y="1995678"/>
            <a:ext cx="411480" cy="192024"/>
          </a:xfrm>
          <a:prstGeom prst="rect">
            <a:avLst/>
          </a:prstGeom>
          <a:noFill/>
          <a:ln/>
        </p:spPr>
        <p:txBody>
          <a:bodyPr wrap="square" lIns="0" tIns="0" rIns="0" bIns="0" rtlCol="0" anchor="ctr"/>
          <a:lstStyle/>
          <a:p>
            <a:pPr algn="ctr"/>
            <a:r>
              <a:rPr lang="en-US" sz="788" i="1" dirty="0">
                <a:solidFill>
                  <a:srgbClr val="B5591E"/>
                </a:solidFill>
                <a:latin typeface="Calibri" pitchFamily="34" charset="0"/>
                <a:ea typeface="Calibri" pitchFamily="34" charset="-122"/>
                <a:cs typeface="Calibri" pitchFamily="34" charset="-120"/>
              </a:rPr>
              <a:t>.1</a:t>
            </a:r>
            <a:endParaRPr lang="en-US" sz="788" dirty="0"/>
          </a:p>
        </p:txBody>
      </p:sp>
      <p:sp>
        <p:nvSpPr>
          <p:cNvPr id="24" name="Text 21"/>
          <p:cNvSpPr txBox="1"/>
          <p:nvPr/>
        </p:nvSpPr>
        <p:spPr>
          <a:xfrm>
            <a:off x="3159824" y="2832354"/>
            <a:ext cx="411480" cy="192024"/>
          </a:xfrm>
          <a:prstGeom prst="rect">
            <a:avLst/>
          </a:prstGeom>
          <a:noFill/>
          <a:ln/>
        </p:spPr>
        <p:txBody>
          <a:bodyPr wrap="square" lIns="0" tIns="0" rIns="0" bIns="0" rtlCol="0" anchor="ctr"/>
          <a:lstStyle/>
          <a:p>
            <a:pPr algn="ctr"/>
            <a:r>
              <a:rPr lang="en-US" sz="788" i="1" dirty="0">
                <a:solidFill>
                  <a:srgbClr val="B5591E"/>
                </a:solidFill>
                <a:latin typeface="Calibri" pitchFamily="34" charset="0"/>
                <a:ea typeface="Calibri" pitchFamily="34" charset="-122"/>
                <a:cs typeface="Calibri" pitchFamily="34" charset="-120"/>
              </a:rPr>
              <a:t>.3</a:t>
            </a:r>
            <a:endParaRPr lang="en-US" sz="788" dirty="0"/>
          </a:p>
        </p:txBody>
      </p:sp>
      <p:sp>
        <p:nvSpPr>
          <p:cNvPr id="25" name="Text 22"/>
          <p:cNvSpPr txBox="1"/>
          <p:nvPr/>
        </p:nvSpPr>
        <p:spPr>
          <a:xfrm>
            <a:off x="3159824" y="3079242"/>
            <a:ext cx="411480" cy="192024"/>
          </a:xfrm>
          <a:prstGeom prst="rect">
            <a:avLst/>
          </a:prstGeom>
          <a:noFill/>
          <a:ln/>
        </p:spPr>
        <p:txBody>
          <a:bodyPr wrap="square" lIns="0" tIns="0" rIns="0" bIns="0" rtlCol="0" anchor="ctr"/>
          <a:lstStyle/>
          <a:p>
            <a:pPr algn="ctr"/>
            <a:r>
              <a:rPr lang="en-US" sz="788" i="1" dirty="0">
                <a:solidFill>
                  <a:srgbClr val="B5591E"/>
                </a:solidFill>
                <a:latin typeface="Calibri" pitchFamily="34" charset="0"/>
                <a:ea typeface="Calibri" pitchFamily="34" charset="-122"/>
                <a:cs typeface="Calibri" pitchFamily="34" charset="-120"/>
              </a:rPr>
              <a:t>.4</a:t>
            </a:r>
            <a:endParaRPr lang="en-US" sz="788" dirty="0"/>
          </a:p>
        </p:txBody>
      </p:sp>
      <p:sp>
        <p:nvSpPr>
          <p:cNvPr id="26" name="Text 23"/>
          <p:cNvSpPr txBox="1"/>
          <p:nvPr/>
        </p:nvSpPr>
        <p:spPr>
          <a:xfrm>
            <a:off x="3159824" y="3284982"/>
            <a:ext cx="411480" cy="192024"/>
          </a:xfrm>
          <a:prstGeom prst="rect">
            <a:avLst/>
          </a:prstGeom>
          <a:noFill/>
          <a:ln/>
        </p:spPr>
        <p:txBody>
          <a:bodyPr wrap="square" lIns="0" tIns="0" rIns="0" bIns="0" rtlCol="0" anchor="ctr"/>
          <a:lstStyle/>
          <a:p>
            <a:pPr algn="ctr"/>
            <a:r>
              <a:rPr lang="en-US" sz="788" i="1" dirty="0">
                <a:solidFill>
                  <a:srgbClr val="B5591E"/>
                </a:solidFill>
                <a:latin typeface="Calibri" pitchFamily="34" charset="0"/>
                <a:ea typeface="Calibri" pitchFamily="34" charset="-122"/>
                <a:cs typeface="Calibri" pitchFamily="34" charset="-120"/>
              </a:rPr>
              <a:t>.3</a:t>
            </a:r>
            <a:endParaRPr lang="en-US" sz="788" dirty="0"/>
          </a:p>
        </p:txBody>
      </p:sp>
      <p:sp>
        <p:nvSpPr>
          <p:cNvPr id="27" name="Text 24"/>
          <p:cNvSpPr txBox="1"/>
          <p:nvPr/>
        </p:nvSpPr>
        <p:spPr>
          <a:xfrm>
            <a:off x="5045774" y="1186434"/>
            <a:ext cx="411480" cy="192024"/>
          </a:xfrm>
          <a:prstGeom prst="rect">
            <a:avLst/>
          </a:prstGeom>
          <a:noFill/>
          <a:ln/>
        </p:spPr>
        <p:txBody>
          <a:bodyPr wrap="square" lIns="0" tIns="0" rIns="0" bIns="0" rtlCol="0" anchor="ctr"/>
          <a:lstStyle/>
          <a:p>
            <a:pPr algn="ctr"/>
            <a:r>
              <a:rPr lang="en-US" sz="788" i="1" dirty="0">
                <a:solidFill>
                  <a:srgbClr val="B5591E"/>
                </a:solidFill>
                <a:latin typeface="Calibri" pitchFamily="34" charset="0"/>
                <a:ea typeface="Calibri" pitchFamily="34" charset="-122"/>
                <a:cs typeface="Calibri" pitchFamily="34" charset="-120"/>
              </a:rPr>
              <a:t>1.0</a:t>
            </a:r>
            <a:endParaRPr lang="en-US" sz="788" dirty="0"/>
          </a:p>
        </p:txBody>
      </p:sp>
      <p:sp>
        <p:nvSpPr>
          <p:cNvPr id="28" name="Text 25"/>
          <p:cNvSpPr txBox="1"/>
          <p:nvPr/>
        </p:nvSpPr>
        <p:spPr>
          <a:xfrm>
            <a:off x="5045774" y="1570482"/>
            <a:ext cx="411480" cy="192024"/>
          </a:xfrm>
          <a:prstGeom prst="rect">
            <a:avLst/>
          </a:prstGeom>
          <a:noFill/>
          <a:ln/>
        </p:spPr>
        <p:txBody>
          <a:bodyPr wrap="square" lIns="0" tIns="0" rIns="0" bIns="0" rtlCol="0" anchor="ctr"/>
          <a:lstStyle/>
          <a:p>
            <a:pPr algn="ctr"/>
            <a:r>
              <a:rPr lang="en-US" sz="788" i="1" dirty="0">
                <a:solidFill>
                  <a:srgbClr val="B5591E"/>
                </a:solidFill>
                <a:latin typeface="Calibri" pitchFamily="34" charset="0"/>
                <a:ea typeface="Calibri" pitchFamily="34" charset="-122"/>
                <a:cs typeface="Calibri" pitchFamily="34" charset="-120"/>
              </a:rPr>
              <a:t>1.0</a:t>
            </a:r>
            <a:endParaRPr lang="en-US" sz="788" dirty="0"/>
          </a:p>
        </p:txBody>
      </p:sp>
      <p:sp>
        <p:nvSpPr>
          <p:cNvPr id="29" name="Text 26"/>
          <p:cNvSpPr txBox="1"/>
          <p:nvPr/>
        </p:nvSpPr>
        <p:spPr>
          <a:xfrm>
            <a:off x="5004626" y="2475738"/>
            <a:ext cx="411480" cy="192024"/>
          </a:xfrm>
          <a:prstGeom prst="rect">
            <a:avLst/>
          </a:prstGeom>
          <a:noFill/>
          <a:ln/>
        </p:spPr>
        <p:txBody>
          <a:bodyPr wrap="square" lIns="0" tIns="0" rIns="0" bIns="0" rtlCol="0" anchor="ctr"/>
          <a:lstStyle/>
          <a:p>
            <a:pPr algn="ctr"/>
            <a:r>
              <a:rPr lang="en-US" sz="788" i="1" dirty="0">
                <a:solidFill>
                  <a:srgbClr val="B5591E"/>
                </a:solidFill>
                <a:latin typeface="Calibri" pitchFamily="34" charset="0"/>
                <a:ea typeface="Calibri" pitchFamily="34" charset="-122"/>
                <a:cs typeface="Calibri" pitchFamily="34" charset="-120"/>
              </a:rPr>
              <a:t>1.0</a:t>
            </a:r>
            <a:endParaRPr lang="en-US" sz="788" dirty="0"/>
          </a:p>
        </p:txBody>
      </p:sp>
      <p:sp>
        <p:nvSpPr>
          <p:cNvPr id="30" name="Text 27"/>
          <p:cNvSpPr txBox="1"/>
          <p:nvPr/>
        </p:nvSpPr>
        <p:spPr>
          <a:xfrm>
            <a:off x="5004626" y="2859786"/>
            <a:ext cx="411480" cy="192024"/>
          </a:xfrm>
          <a:prstGeom prst="rect">
            <a:avLst/>
          </a:prstGeom>
          <a:noFill/>
          <a:ln/>
        </p:spPr>
        <p:txBody>
          <a:bodyPr wrap="square" lIns="0" tIns="0" rIns="0" bIns="0" rtlCol="0" anchor="ctr"/>
          <a:lstStyle/>
          <a:p>
            <a:pPr algn="ctr"/>
            <a:r>
              <a:rPr lang="en-US" sz="788" i="1" dirty="0">
                <a:solidFill>
                  <a:srgbClr val="B5591E"/>
                </a:solidFill>
                <a:latin typeface="Calibri" pitchFamily="34" charset="0"/>
                <a:ea typeface="Calibri" pitchFamily="34" charset="-122"/>
                <a:cs typeface="Calibri" pitchFamily="34" charset="-120"/>
              </a:rPr>
              <a:t>1.0</a:t>
            </a:r>
            <a:endParaRPr lang="en-US" sz="788" dirty="0"/>
          </a:p>
        </p:txBody>
      </p:sp>
      <p:sp>
        <p:nvSpPr>
          <p:cNvPr id="31" name="Text 28"/>
          <p:cNvSpPr txBox="1"/>
          <p:nvPr/>
        </p:nvSpPr>
        <p:spPr>
          <a:xfrm>
            <a:off x="2023110" y="994410"/>
            <a:ext cx="1062990" cy="219456"/>
          </a:xfrm>
          <a:prstGeom prst="rect">
            <a:avLst/>
          </a:prstGeom>
          <a:noFill/>
          <a:ln/>
        </p:spPr>
        <p:txBody>
          <a:bodyPr wrap="square" lIns="0" tIns="0" rIns="0" bIns="0" rtlCol="0" anchor="ctr"/>
          <a:lstStyle/>
          <a:p>
            <a:pPr algn="ctr"/>
            <a:r>
              <a:rPr lang="en-US" sz="863" b="1" i="1" dirty="0">
                <a:solidFill>
                  <a:srgbClr val="B5591E"/>
                </a:solidFill>
                <a:latin typeface="Calibri" pitchFamily="34" charset="0"/>
                <a:ea typeface="Calibri" pitchFamily="34" charset="-122"/>
                <a:cs typeface="Calibri" pitchFamily="34" charset="-120"/>
              </a:rPr>
              <a:t>p(t₁ | start)</a:t>
            </a:r>
            <a:endParaRPr lang="en-US" sz="863" dirty="0"/>
          </a:p>
        </p:txBody>
      </p:sp>
      <p:sp>
        <p:nvSpPr>
          <p:cNvPr id="32" name="Text 29"/>
          <p:cNvSpPr txBox="1"/>
          <p:nvPr/>
        </p:nvSpPr>
        <p:spPr>
          <a:xfrm>
            <a:off x="3909060" y="994410"/>
            <a:ext cx="1062990" cy="219456"/>
          </a:xfrm>
          <a:prstGeom prst="rect">
            <a:avLst/>
          </a:prstGeom>
          <a:noFill/>
          <a:ln/>
        </p:spPr>
        <p:txBody>
          <a:bodyPr wrap="square" lIns="0" tIns="0" rIns="0" bIns="0" rtlCol="0" anchor="ctr"/>
          <a:lstStyle/>
          <a:p>
            <a:pPr algn="ctr"/>
            <a:r>
              <a:rPr lang="en-US" sz="863" b="1" i="1" dirty="0">
                <a:solidFill>
                  <a:srgbClr val="B5591E"/>
                </a:solidFill>
                <a:latin typeface="Calibri" pitchFamily="34" charset="0"/>
                <a:ea typeface="Calibri" pitchFamily="34" charset="-122"/>
                <a:cs typeface="Calibri" pitchFamily="34" charset="-120"/>
              </a:rPr>
              <a:t>p(t₂ | t₁)</a:t>
            </a:r>
            <a:endParaRPr lang="en-US" sz="863" dirty="0"/>
          </a:p>
        </p:txBody>
      </p:sp>
      <p:sp>
        <p:nvSpPr>
          <p:cNvPr id="33" name="Text 30"/>
          <p:cNvSpPr txBox="1"/>
          <p:nvPr/>
        </p:nvSpPr>
        <p:spPr>
          <a:xfrm>
            <a:off x="5795010" y="994410"/>
            <a:ext cx="1062990" cy="219456"/>
          </a:xfrm>
          <a:prstGeom prst="rect">
            <a:avLst/>
          </a:prstGeom>
          <a:noFill/>
          <a:ln/>
        </p:spPr>
        <p:txBody>
          <a:bodyPr wrap="square" lIns="0" tIns="0" rIns="0" bIns="0" rtlCol="0" anchor="ctr"/>
          <a:lstStyle/>
          <a:p>
            <a:pPr algn="ctr"/>
            <a:r>
              <a:rPr lang="en-US" sz="863" b="1" i="1" dirty="0">
                <a:solidFill>
                  <a:srgbClr val="B5591E"/>
                </a:solidFill>
                <a:latin typeface="Calibri" pitchFamily="34" charset="0"/>
                <a:ea typeface="Calibri" pitchFamily="34" charset="-122"/>
                <a:cs typeface="Calibri" pitchFamily="34" charset="-120"/>
              </a:rPr>
              <a:t>p(t₃ | t₁, t₂)</a:t>
            </a:r>
            <a:endParaRPr lang="en-US" sz="863" dirty="0"/>
          </a:p>
        </p:txBody>
      </p:sp>
      <p:sp>
        <p:nvSpPr>
          <p:cNvPr id="34" name="Text 31"/>
          <p:cNvSpPr txBox="1"/>
          <p:nvPr/>
        </p:nvSpPr>
        <p:spPr>
          <a:xfrm>
            <a:off x="2023110" y="4286250"/>
            <a:ext cx="1062990" cy="205740"/>
          </a:xfrm>
          <a:prstGeom prst="rect">
            <a:avLst/>
          </a:prstGeom>
          <a:noFill/>
          <a:ln/>
        </p:spPr>
        <p:txBody>
          <a:bodyPr wrap="square" lIns="0" tIns="0" rIns="0" bIns="0" rtlCol="0" anchor="ctr"/>
          <a:lstStyle/>
          <a:p>
            <a:pPr algn="ctr"/>
            <a:r>
              <a:rPr lang="en-US" sz="900" b="1" dirty="0">
                <a:solidFill>
                  <a:srgbClr val="5B6472"/>
                </a:solidFill>
                <a:latin typeface="Calibri" pitchFamily="34" charset="0"/>
                <a:ea typeface="Calibri" pitchFamily="34" charset="-122"/>
                <a:cs typeface="Calibri" pitchFamily="34" charset="-120"/>
              </a:rPr>
              <a:t>t₁</a:t>
            </a:r>
            <a:endParaRPr lang="en-US" sz="900" dirty="0"/>
          </a:p>
        </p:txBody>
      </p:sp>
      <p:sp>
        <p:nvSpPr>
          <p:cNvPr id="35" name="Text 32"/>
          <p:cNvSpPr txBox="1"/>
          <p:nvPr/>
        </p:nvSpPr>
        <p:spPr>
          <a:xfrm>
            <a:off x="3909060" y="4286250"/>
            <a:ext cx="1062990" cy="205740"/>
          </a:xfrm>
          <a:prstGeom prst="rect">
            <a:avLst/>
          </a:prstGeom>
          <a:noFill/>
          <a:ln/>
        </p:spPr>
        <p:txBody>
          <a:bodyPr wrap="square" lIns="0" tIns="0" rIns="0" bIns="0" rtlCol="0" anchor="ctr"/>
          <a:lstStyle/>
          <a:p>
            <a:pPr algn="ctr"/>
            <a:r>
              <a:rPr lang="en-US" sz="900" b="1" dirty="0">
                <a:solidFill>
                  <a:srgbClr val="5B6472"/>
                </a:solidFill>
                <a:latin typeface="Calibri" pitchFamily="34" charset="0"/>
                <a:ea typeface="Calibri" pitchFamily="34" charset="-122"/>
                <a:cs typeface="Calibri" pitchFamily="34" charset="-120"/>
              </a:rPr>
              <a:t>t₂</a:t>
            </a:r>
            <a:endParaRPr lang="en-US" sz="900" dirty="0"/>
          </a:p>
        </p:txBody>
      </p:sp>
      <p:sp>
        <p:nvSpPr>
          <p:cNvPr id="36" name="Text 33"/>
          <p:cNvSpPr txBox="1"/>
          <p:nvPr/>
        </p:nvSpPr>
        <p:spPr>
          <a:xfrm>
            <a:off x="5795010" y="4286250"/>
            <a:ext cx="1062990" cy="205740"/>
          </a:xfrm>
          <a:prstGeom prst="rect">
            <a:avLst/>
          </a:prstGeom>
          <a:noFill/>
          <a:ln/>
        </p:spPr>
        <p:txBody>
          <a:bodyPr wrap="square" lIns="0" tIns="0" rIns="0" bIns="0" rtlCol="0" anchor="ctr"/>
          <a:lstStyle/>
          <a:p>
            <a:pPr algn="ctr"/>
            <a:r>
              <a:rPr lang="en-US" sz="900" b="1" dirty="0">
                <a:solidFill>
                  <a:srgbClr val="5B6472"/>
                </a:solidFill>
                <a:latin typeface="Calibri" pitchFamily="34" charset="0"/>
                <a:ea typeface="Calibri" pitchFamily="34" charset="-122"/>
                <a:cs typeface="Calibri" pitchFamily="34" charset="-120"/>
              </a:rPr>
              <a:t>t₃</a:t>
            </a:r>
            <a:endParaRPr lang="en-US" sz="900" dirty="0"/>
          </a:p>
        </p:txBody>
      </p:sp>
      <p:sp>
        <p:nvSpPr>
          <p:cNvPr id="37" name="Text 34"/>
          <p:cNvSpPr txBox="1"/>
          <p:nvPr/>
        </p:nvSpPr>
        <p:spPr>
          <a:xfrm>
            <a:off x="377190" y="2823210"/>
            <a:ext cx="582930" cy="301752"/>
          </a:xfrm>
          <a:prstGeom prst="ellipse">
            <a:avLst/>
          </a:prstGeom>
          <a:solidFill>
            <a:srgbClr val="FFFFFF"/>
          </a:solidFill>
          <a:ln w="17780">
            <a:solidFill>
              <a:srgbClr val="1E2761"/>
            </a:solidFill>
          </a:ln>
        </p:spPr>
        <p:txBody>
          <a:bodyPr wrap="square" rtlCol="0" anchor="ctr"/>
          <a:lstStyle/>
          <a:p>
            <a:pPr algn="ctr"/>
            <a:r>
              <a:rPr lang="en-US" sz="900" dirty="0">
                <a:solidFill>
                  <a:srgbClr val="141B4D"/>
                </a:solidFill>
                <a:latin typeface="Calibri" pitchFamily="34" charset="0"/>
                <a:ea typeface="Calibri" pitchFamily="34" charset="-122"/>
                <a:cs typeface="Calibri" pitchFamily="34" charset="-120"/>
              </a:rPr>
              <a:t>start</a:t>
            </a:r>
            <a:endParaRPr lang="en-US" sz="900" dirty="0"/>
          </a:p>
        </p:txBody>
      </p:sp>
      <p:sp>
        <p:nvSpPr>
          <p:cNvPr id="38" name="Text 35"/>
          <p:cNvSpPr txBox="1"/>
          <p:nvPr/>
        </p:nvSpPr>
        <p:spPr>
          <a:xfrm>
            <a:off x="2263140" y="1652778"/>
            <a:ext cx="582930" cy="301752"/>
          </a:xfrm>
          <a:prstGeom prst="ellipse">
            <a:avLst/>
          </a:prstGeom>
          <a:solidFill>
            <a:srgbClr val="FFFFFF"/>
          </a:solidFill>
          <a:ln w="17780">
            <a:solidFill>
              <a:srgbClr val="1E2761"/>
            </a:solidFill>
          </a:ln>
        </p:spPr>
        <p:txBody>
          <a:bodyPr wrap="square" rtlCol="0" anchor="ctr"/>
          <a:lstStyle/>
          <a:p>
            <a:pPr algn="ctr"/>
            <a:r>
              <a:rPr lang="en-US" sz="900" dirty="0">
                <a:solidFill>
                  <a:srgbClr val="141B4D"/>
                </a:solidFill>
                <a:latin typeface="Calibri" pitchFamily="34" charset="0"/>
                <a:ea typeface="Calibri" pitchFamily="34" charset="-122"/>
                <a:cs typeface="Calibri" pitchFamily="34" charset="-120"/>
              </a:rPr>
              <a:t>ok</a:t>
            </a:r>
            <a:endParaRPr lang="en-US" sz="900" dirty="0"/>
          </a:p>
        </p:txBody>
      </p:sp>
      <p:sp>
        <p:nvSpPr>
          <p:cNvPr id="39" name="Text 36"/>
          <p:cNvSpPr txBox="1"/>
          <p:nvPr/>
        </p:nvSpPr>
        <p:spPr>
          <a:xfrm>
            <a:off x="2263140" y="2942082"/>
            <a:ext cx="582930" cy="301752"/>
          </a:xfrm>
          <a:prstGeom prst="ellipse">
            <a:avLst/>
          </a:prstGeom>
          <a:solidFill>
            <a:srgbClr val="FFFFFF"/>
          </a:solidFill>
          <a:ln w="17780">
            <a:solidFill>
              <a:srgbClr val="1E2761"/>
            </a:solidFill>
          </a:ln>
        </p:spPr>
        <p:txBody>
          <a:bodyPr wrap="square" rtlCol="0" anchor="ctr"/>
          <a:lstStyle/>
          <a:p>
            <a:pPr algn="ctr"/>
            <a:r>
              <a:rPr lang="en-US" sz="900" dirty="0">
                <a:solidFill>
                  <a:srgbClr val="141B4D"/>
                </a:solidFill>
                <a:latin typeface="Calibri" pitchFamily="34" charset="0"/>
                <a:ea typeface="Calibri" pitchFamily="34" charset="-122"/>
                <a:cs typeface="Calibri" pitchFamily="34" charset="-120"/>
              </a:rPr>
              <a:t>yes</a:t>
            </a:r>
            <a:endParaRPr lang="en-US" sz="900" dirty="0"/>
          </a:p>
        </p:txBody>
      </p:sp>
      <p:sp>
        <p:nvSpPr>
          <p:cNvPr id="40" name="Text 37"/>
          <p:cNvSpPr txBox="1"/>
          <p:nvPr/>
        </p:nvSpPr>
        <p:spPr>
          <a:xfrm>
            <a:off x="2263140" y="3874770"/>
            <a:ext cx="582930" cy="301752"/>
          </a:xfrm>
          <a:prstGeom prst="ellipse">
            <a:avLst/>
          </a:prstGeom>
          <a:solidFill>
            <a:srgbClr val="EEF0FB"/>
          </a:solidFill>
          <a:ln w="17780">
            <a:solidFill>
              <a:srgbClr val="1E2761"/>
            </a:solidFill>
          </a:ln>
        </p:spPr>
        <p:txBody>
          <a:bodyPr wrap="square" rtlCol="0" anchor="ctr"/>
          <a:lstStyle/>
          <a:p>
            <a:pPr algn="ctr"/>
            <a:r>
              <a:rPr lang="en-US" sz="900" b="1" dirty="0">
                <a:solidFill>
                  <a:srgbClr val="141B4D"/>
                </a:solidFill>
                <a:latin typeface="Calibri" pitchFamily="34" charset="0"/>
                <a:ea typeface="Calibri" pitchFamily="34" charset="-122"/>
                <a:cs typeface="Calibri" pitchFamily="34" charset="-120"/>
              </a:rPr>
              <a:t>EOS</a:t>
            </a:r>
            <a:endParaRPr lang="en-US" sz="900" dirty="0"/>
          </a:p>
        </p:txBody>
      </p:sp>
      <p:sp>
        <p:nvSpPr>
          <p:cNvPr id="41" name="Text 38"/>
          <p:cNvSpPr txBox="1"/>
          <p:nvPr/>
        </p:nvSpPr>
        <p:spPr>
          <a:xfrm>
            <a:off x="4149090" y="1268730"/>
            <a:ext cx="582930" cy="301752"/>
          </a:xfrm>
          <a:prstGeom prst="ellipse">
            <a:avLst/>
          </a:prstGeom>
          <a:solidFill>
            <a:srgbClr val="FFFFFF"/>
          </a:solidFill>
          <a:ln w="17780">
            <a:solidFill>
              <a:srgbClr val="1E2761"/>
            </a:solidFill>
          </a:ln>
        </p:spPr>
        <p:txBody>
          <a:bodyPr wrap="square" rtlCol="0" anchor="ctr"/>
          <a:lstStyle/>
          <a:p>
            <a:pPr algn="ctr"/>
            <a:r>
              <a:rPr lang="en-US" sz="900" dirty="0">
                <a:solidFill>
                  <a:srgbClr val="141B4D"/>
                </a:solidFill>
                <a:latin typeface="Calibri" pitchFamily="34" charset="0"/>
                <a:ea typeface="Calibri" pitchFamily="34" charset="-122"/>
                <a:cs typeface="Calibri" pitchFamily="34" charset="-120"/>
              </a:rPr>
              <a:t>ok</a:t>
            </a:r>
            <a:endParaRPr lang="en-US" sz="900" dirty="0"/>
          </a:p>
        </p:txBody>
      </p:sp>
      <p:sp>
        <p:nvSpPr>
          <p:cNvPr id="42" name="Text 39"/>
          <p:cNvSpPr txBox="1"/>
          <p:nvPr/>
        </p:nvSpPr>
        <p:spPr>
          <a:xfrm>
            <a:off x="4149090" y="1652778"/>
            <a:ext cx="582930" cy="301752"/>
          </a:xfrm>
          <a:prstGeom prst="ellipse">
            <a:avLst/>
          </a:prstGeom>
          <a:solidFill>
            <a:srgbClr val="FFFFFF"/>
          </a:solidFill>
          <a:ln w="17780">
            <a:solidFill>
              <a:srgbClr val="1E2761"/>
            </a:solidFill>
          </a:ln>
        </p:spPr>
        <p:txBody>
          <a:bodyPr wrap="square" rtlCol="0" anchor="ctr"/>
          <a:lstStyle/>
          <a:p>
            <a:pPr algn="ctr"/>
            <a:r>
              <a:rPr lang="en-US" sz="900" dirty="0">
                <a:solidFill>
                  <a:srgbClr val="141B4D"/>
                </a:solidFill>
                <a:latin typeface="Calibri" pitchFamily="34" charset="0"/>
                <a:ea typeface="Calibri" pitchFamily="34" charset="-122"/>
                <a:cs typeface="Calibri" pitchFamily="34" charset="-120"/>
              </a:rPr>
              <a:t>yes</a:t>
            </a:r>
            <a:endParaRPr lang="en-US" sz="900" dirty="0"/>
          </a:p>
        </p:txBody>
      </p:sp>
      <p:sp>
        <p:nvSpPr>
          <p:cNvPr id="43" name="Text 40"/>
          <p:cNvSpPr txBox="1"/>
          <p:nvPr/>
        </p:nvSpPr>
        <p:spPr>
          <a:xfrm>
            <a:off x="4149090" y="2036826"/>
            <a:ext cx="582930" cy="301752"/>
          </a:xfrm>
          <a:prstGeom prst="ellipse">
            <a:avLst/>
          </a:prstGeom>
          <a:solidFill>
            <a:srgbClr val="EEF0FB"/>
          </a:solidFill>
          <a:ln w="17780">
            <a:solidFill>
              <a:srgbClr val="1E2761"/>
            </a:solidFill>
          </a:ln>
        </p:spPr>
        <p:txBody>
          <a:bodyPr wrap="square" rtlCol="0" anchor="ctr"/>
          <a:lstStyle/>
          <a:p>
            <a:pPr algn="ctr"/>
            <a:r>
              <a:rPr lang="en-US" sz="900" b="1" dirty="0">
                <a:solidFill>
                  <a:srgbClr val="141B4D"/>
                </a:solidFill>
                <a:latin typeface="Calibri" pitchFamily="34" charset="0"/>
                <a:ea typeface="Calibri" pitchFamily="34" charset="-122"/>
                <a:cs typeface="Calibri" pitchFamily="34" charset="-120"/>
              </a:rPr>
              <a:t>EOS</a:t>
            </a:r>
            <a:endParaRPr lang="en-US" sz="900" dirty="0"/>
          </a:p>
        </p:txBody>
      </p:sp>
      <p:sp>
        <p:nvSpPr>
          <p:cNvPr id="44" name="Text 41"/>
          <p:cNvSpPr txBox="1"/>
          <p:nvPr/>
        </p:nvSpPr>
        <p:spPr>
          <a:xfrm>
            <a:off x="4149090" y="2558034"/>
            <a:ext cx="582930" cy="301752"/>
          </a:xfrm>
          <a:prstGeom prst="ellipse">
            <a:avLst/>
          </a:prstGeom>
          <a:solidFill>
            <a:srgbClr val="FFFFFF"/>
          </a:solidFill>
          <a:ln w="17780">
            <a:solidFill>
              <a:srgbClr val="1E2761"/>
            </a:solidFill>
          </a:ln>
        </p:spPr>
        <p:txBody>
          <a:bodyPr wrap="square" rtlCol="0" anchor="ctr"/>
          <a:lstStyle/>
          <a:p>
            <a:pPr algn="ctr"/>
            <a:r>
              <a:rPr lang="en-US" sz="900" dirty="0">
                <a:solidFill>
                  <a:srgbClr val="141B4D"/>
                </a:solidFill>
                <a:latin typeface="Calibri" pitchFamily="34" charset="0"/>
                <a:ea typeface="Calibri" pitchFamily="34" charset="-122"/>
                <a:cs typeface="Calibri" pitchFamily="34" charset="-120"/>
              </a:rPr>
              <a:t>ok</a:t>
            </a:r>
            <a:endParaRPr lang="en-US" sz="900" dirty="0"/>
          </a:p>
        </p:txBody>
      </p:sp>
      <p:sp>
        <p:nvSpPr>
          <p:cNvPr id="45" name="Text 42"/>
          <p:cNvSpPr txBox="1"/>
          <p:nvPr/>
        </p:nvSpPr>
        <p:spPr>
          <a:xfrm>
            <a:off x="4149090" y="2942082"/>
            <a:ext cx="582930" cy="301752"/>
          </a:xfrm>
          <a:prstGeom prst="ellipse">
            <a:avLst/>
          </a:prstGeom>
          <a:solidFill>
            <a:srgbClr val="FFFFFF"/>
          </a:solidFill>
          <a:ln w="17780">
            <a:solidFill>
              <a:srgbClr val="1E2761"/>
            </a:solidFill>
          </a:ln>
        </p:spPr>
        <p:txBody>
          <a:bodyPr wrap="square" rtlCol="0" anchor="ctr"/>
          <a:lstStyle/>
          <a:p>
            <a:pPr algn="ctr"/>
            <a:r>
              <a:rPr lang="en-US" sz="900" dirty="0">
                <a:solidFill>
                  <a:srgbClr val="141B4D"/>
                </a:solidFill>
                <a:latin typeface="Calibri" pitchFamily="34" charset="0"/>
                <a:ea typeface="Calibri" pitchFamily="34" charset="-122"/>
                <a:cs typeface="Calibri" pitchFamily="34" charset="-120"/>
              </a:rPr>
              <a:t>yes</a:t>
            </a:r>
            <a:endParaRPr lang="en-US" sz="900" dirty="0"/>
          </a:p>
        </p:txBody>
      </p:sp>
      <p:sp>
        <p:nvSpPr>
          <p:cNvPr id="46" name="Text 43"/>
          <p:cNvSpPr txBox="1"/>
          <p:nvPr/>
        </p:nvSpPr>
        <p:spPr>
          <a:xfrm>
            <a:off x="4149090" y="3326130"/>
            <a:ext cx="582930" cy="301752"/>
          </a:xfrm>
          <a:prstGeom prst="ellipse">
            <a:avLst/>
          </a:prstGeom>
          <a:solidFill>
            <a:srgbClr val="EEF0FB"/>
          </a:solidFill>
          <a:ln w="17780">
            <a:solidFill>
              <a:srgbClr val="1E2761"/>
            </a:solidFill>
          </a:ln>
        </p:spPr>
        <p:txBody>
          <a:bodyPr wrap="square" rtlCol="0" anchor="ctr"/>
          <a:lstStyle/>
          <a:p>
            <a:pPr algn="ctr"/>
            <a:r>
              <a:rPr lang="en-US" sz="900" b="1" dirty="0">
                <a:solidFill>
                  <a:srgbClr val="141B4D"/>
                </a:solidFill>
                <a:latin typeface="Calibri" pitchFamily="34" charset="0"/>
                <a:ea typeface="Calibri" pitchFamily="34" charset="-122"/>
                <a:cs typeface="Calibri" pitchFamily="34" charset="-120"/>
              </a:rPr>
              <a:t>EOS</a:t>
            </a:r>
            <a:endParaRPr lang="en-US" sz="900" dirty="0"/>
          </a:p>
        </p:txBody>
      </p:sp>
      <p:sp>
        <p:nvSpPr>
          <p:cNvPr id="47" name="Text 44"/>
          <p:cNvSpPr txBox="1"/>
          <p:nvPr/>
        </p:nvSpPr>
        <p:spPr>
          <a:xfrm>
            <a:off x="6035040" y="1268730"/>
            <a:ext cx="582930" cy="301752"/>
          </a:xfrm>
          <a:prstGeom prst="ellipse">
            <a:avLst/>
          </a:prstGeom>
          <a:solidFill>
            <a:srgbClr val="EEF0FB"/>
          </a:solidFill>
          <a:ln w="17780">
            <a:solidFill>
              <a:srgbClr val="1E2761"/>
            </a:solidFill>
          </a:ln>
        </p:spPr>
        <p:txBody>
          <a:bodyPr wrap="square" rtlCol="0" anchor="ctr"/>
          <a:lstStyle/>
          <a:p>
            <a:pPr algn="ctr"/>
            <a:r>
              <a:rPr lang="en-US" sz="900" b="1" dirty="0">
                <a:solidFill>
                  <a:srgbClr val="141B4D"/>
                </a:solidFill>
                <a:latin typeface="Calibri" pitchFamily="34" charset="0"/>
                <a:ea typeface="Calibri" pitchFamily="34" charset="-122"/>
                <a:cs typeface="Calibri" pitchFamily="34" charset="-120"/>
              </a:rPr>
              <a:t>EOS</a:t>
            </a:r>
            <a:endParaRPr lang="en-US" sz="900" dirty="0"/>
          </a:p>
        </p:txBody>
      </p:sp>
      <p:sp>
        <p:nvSpPr>
          <p:cNvPr id="48" name="Text 45"/>
          <p:cNvSpPr txBox="1"/>
          <p:nvPr/>
        </p:nvSpPr>
        <p:spPr>
          <a:xfrm>
            <a:off x="6035040" y="1652778"/>
            <a:ext cx="582930" cy="301752"/>
          </a:xfrm>
          <a:prstGeom prst="ellipse">
            <a:avLst/>
          </a:prstGeom>
          <a:solidFill>
            <a:srgbClr val="EEF0FB"/>
          </a:solidFill>
          <a:ln w="17780">
            <a:solidFill>
              <a:srgbClr val="1E2761"/>
            </a:solidFill>
          </a:ln>
        </p:spPr>
        <p:txBody>
          <a:bodyPr wrap="square" rtlCol="0" anchor="ctr"/>
          <a:lstStyle/>
          <a:p>
            <a:pPr algn="ctr"/>
            <a:r>
              <a:rPr lang="en-US" sz="900" b="1" dirty="0">
                <a:solidFill>
                  <a:srgbClr val="141B4D"/>
                </a:solidFill>
                <a:latin typeface="Calibri" pitchFamily="34" charset="0"/>
                <a:ea typeface="Calibri" pitchFamily="34" charset="-122"/>
                <a:cs typeface="Calibri" pitchFamily="34" charset="-120"/>
              </a:rPr>
              <a:t>EOS</a:t>
            </a:r>
            <a:endParaRPr lang="en-US" sz="900" dirty="0"/>
          </a:p>
        </p:txBody>
      </p:sp>
      <p:sp>
        <p:nvSpPr>
          <p:cNvPr id="49" name="Text 46"/>
          <p:cNvSpPr txBox="1"/>
          <p:nvPr/>
        </p:nvSpPr>
        <p:spPr>
          <a:xfrm>
            <a:off x="6035040" y="2558034"/>
            <a:ext cx="582930" cy="301752"/>
          </a:xfrm>
          <a:prstGeom prst="ellipse">
            <a:avLst/>
          </a:prstGeom>
          <a:solidFill>
            <a:srgbClr val="EEF0FB"/>
          </a:solidFill>
          <a:ln w="17780">
            <a:solidFill>
              <a:srgbClr val="1E2761"/>
            </a:solidFill>
          </a:ln>
        </p:spPr>
        <p:txBody>
          <a:bodyPr wrap="square" rtlCol="0" anchor="ctr"/>
          <a:lstStyle/>
          <a:p>
            <a:pPr algn="ctr"/>
            <a:r>
              <a:rPr lang="en-US" sz="900" b="1" dirty="0">
                <a:solidFill>
                  <a:srgbClr val="141B4D"/>
                </a:solidFill>
                <a:latin typeface="Calibri" pitchFamily="34" charset="0"/>
                <a:ea typeface="Calibri" pitchFamily="34" charset="-122"/>
                <a:cs typeface="Calibri" pitchFamily="34" charset="-120"/>
              </a:rPr>
              <a:t>EOS</a:t>
            </a:r>
            <a:endParaRPr lang="en-US" sz="900" dirty="0"/>
          </a:p>
        </p:txBody>
      </p:sp>
      <p:sp>
        <p:nvSpPr>
          <p:cNvPr id="50" name="Text 47"/>
          <p:cNvSpPr txBox="1"/>
          <p:nvPr/>
        </p:nvSpPr>
        <p:spPr>
          <a:xfrm>
            <a:off x="6035040" y="2942082"/>
            <a:ext cx="582930" cy="301752"/>
          </a:xfrm>
          <a:prstGeom prst="ellipse">
            <a:avLst/>
          </a:prstGeom>
          <a:solidFill>
            <a:srgbClr val="EEF0FB"/>
          </a:solidFill>
          <a:ln w="17780">
            <a:solidFill>
              <a:srgbClr val="1E2761"/>
            </a:solidFill>
          </a:ln>
        </p:spPr>
        <p:txBody>
          <a:bodyPr wrap="square" rtlCol="0" anchor="ctr"/>
          <a:lstStyle/>
          <a:p>
            <a:pPr algn="ctr"/>
            <a:r>
              <a:rPr lang="en-US" sz="900" b="1" dirty="0">
                <a:solidFill>
                  <a:srgbClr val="141B4D"/>
                </a:solidFill>
                <a:latin typeface="Calibri" pitchFamily="34" charset="0"/>
                <a:ea typeface="Calibri" pitchFamily="34" charset="-122"/>
                <a:cs typeface="Calibri" pitchFamily="34" charset="-120"/>
              </a:rPr>
              <a:t>EOS</a:t>
            </a:r>
            <a:endParaRPr lang="en-US" sz="900" dirty="0"/>
          </a:p>
        </p:txBody>
      </p:sp>
      <p:sp>
        <p:nvSpPr>
          <p:cNvPr id="51" name="Text 48"/>
          <p:cNvSpPr txBox="1"/>
          <p:nvPr/>
        </p:nvSpPr>
        <p:spPr>
          <a:xfrm>
            <a:off x="377190" y="4539996"/>
            <a:ext cx="5486400" cy="480060"/>
          </a:xfrm>
          <a:prstGeom prst="rect">
            <a:avLst/>
          </a:prstGeom>
          <a:noFill/>
          <a:ln/>
        </p:spPr>
        <p:txBody>
          <a:bodyPr wrap="square" lIns="0" tIns="0" rIns="0" bIns="0" rtlCol="0" anchor="ctr"/>
          <a:lstStyle/>
          <a:p>
            <a:pPr marL="171450" indent="-171450">
              <a:spcAft>
                <a:spcPts val="300"/>
              </a:spcAft>
              <a:buSzPct val="100000"/>
              <a:buChar char="●"/>
            </a:pPr>
            <a:r>
              <a:rPr lang="en-US" sz="1050" i="1" dirty="0">
                <a:solidFill>
                  <a:srgbClr val="222222"/>
                </a:solidFill>
                <a:latin typeface="Calibri" pitchFamily="34" charset="0"/>
                <a:ea typeface="Calibri" pitchFamily="34" charset="-122"/>
                <a:cs typeface="Calibri" pitchFamily="34" charset="-120"/>
              </a:rPr>
              <a:t>What will greedy decoding choose?</a:t>
            </a:r>
            <a:endParaRPr lang="en-US" sz="1050" dirty="0"/>
          </a:p>
          <a:p>
            <a:pPr marL="171450" indent="-171450">
              <a:buSzPct val="100000"/>
              <a:buChar char="●"/>
            </a:pPr>
            <a:r>
              <a:rPr lang="en-US" sz="1050" i="1" dirty="0">
                <a:solidFill>
                  <a:srgbClr val="222222"/>
                </a:solidFill>
                <a:latin typeface="Calibri" pitchFamily="34" charset="0"/>
                <a:ea typeface="Calibri" pitchFamily="34" charset="-122"/>
                <a:cs typeface="Calibri" pitchFamily="34" charset="-120"/>
              </a:rPr>
              <a:t>What is globally optimal?</a:t>
            </a:r>
            <a:endParaRPr lang="en-US" sz="1050" dirty="0"/>
          </a:p>
        </p:txBody>
      </p:sp>
      <p:sp>
        <p:nvSpPr>
          <p:cNvPr id="52" name="Text 49"/>
          <p:cNvSpPr txBox="1"/>
          <p:nvPr/>
        </p:nvSpPr>
        <p:spPr>
          <a:xfrm>
            <a:off x="377190" y="4924044"/>
            <a:ext cx="6515100" cy="205740"/>
          </a:xfrm>
          <a:prstGeom prst="rect">
            <a:avLst/>
          </a:prstGeom>
          <a:noFill/>
          <a:ln/>
        </p:spPr>
        <p:txBody>
          <a:bodyPr wrap="square" lIns="0" tIns="0" rIns="0" bIns="0" rtlCol="0" anchor="ctr"/>
          <a:lstStyle/>
          <a:p>
            <a:r>
              <a:rPr lang="en-US" sz="750" i="1" dirty="0">
                <a:solidFill>
                  <a:srgbClr val="5B6472"/>
                </a:solidFill>
                <a:latin typeface="Calibri" pitchFamily="34" charset="0"/>
                <a:ea typeface="Calibri" pitchFamily="34" charset="-122"/>
                <a:cs typeface="Calibri" pitchFamily="34" charset="-120"/>
              </a:rPr>
              <a:t>Source: web.stanford.edu/~jurafsky/slp3</a:t>
            </a:r>
            <a:endParaRPr lang="en-US" sz="750" dirty="0"/>
          </a:p>
        </p:txBody>
      </p:sp>
      <p:sp>
        <p:nvSpPr>
          <p:cNvPr id="53" name="Text 50"/>
          <p:cNvSpPr txBox="1"/>
          <p:nvPr/>
        </p:nvSpPr>
        <p:spPr>
          <a:xfrm>
            <a:off x="8743950" y="4882896"/>
            <a:ext cx="274320" cy="205740"/>
          </a:xfrm>
          <a:prstGeom prst="rect">
            <a:avLst/>
          </a:prstGeom>
          <a:noFill/>
          <a:ln/>
        </p:spPr>
        <p:txBody>
          <a:bodyPr wrap="square" lIns="0" tIns="0" rIns="0" bIns="0" rtlCol="0" anchor="ctr"/>
          <a:lstStyle/>
          <a:p>
            <a:pPr algn="r"/>
            <a:r>
              <a:rPr lang="en-US" sz="750" dirty="0">
                <a:solidFill>
                  <a:srgbClr val="5B6472"/>
                </a:solidFill>
                <a:latin typeface="Calibri" pitchFamily="34" charset="0"/>
                <a:ea typeface="Calibri" pitchFamily="34" charset="-122"/>
                <a:cs typeface="Calibri" pitchFamily="34" charset="-120"/>
              </a:rPr>
              <a:t>2</a:t>
            </a:r>
            <a:endParaRPr lang="en-US" sz="7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home/claude/deck/iit_logo.png"/>
          <p:cNvPicPr>
            <a:picLocks noChangeAspect="1"/>
          </p:cNvPicPr>
          <p:nvPr/>
        </p:nvPicPr>
        <p:blipFill>
          <a:blip r:embed="rId3"/>
          <a:stretch>
            <a:fillRect/>
          </a:stretch>
        </p:blipFill>
        <p:spPr>
          <a:xfrm>
            <a:off x="8401050" y="123444"/>
            <a:ext cx="651510" cy="726948"/>
          </a:xfrm>
          <a:prstGeom prst="rect">
            <a:avLst/>
          </a:prstGeom>
        </p:spPr>
      </p:pic>
      <p:sp>
        <p:nvSpPr>
          <p:cNvPr id="3" name="Text 0"/>
          <p:cNvSpPr txBox="1"/>
          <p:nvPr/>
        </p:nvSpPr>
        <p:spPr>
          <a:xfrm>
            <a:off x="377190" y="240030"/>
            <a:ext cx="7749540" cy="582930"/>
          </a:xfrm>
          <a:prstGeom prst="rect">
            <a:avLst/>
          </a:prstGeom>
          <a:noFill/>
          <a:ln/>
        </p:spPr>
        <p:txBody>
          <a:bodyPr wrap="square" lIns="0" tIns="0" rIns="0" bIns="0" rtlCol="0" anchor="ctr"/>
          <a:lstStyle/>
          <a:p>
            <a:r>
              <a:rPr lang="en-US" sz="2250" b="1" dirty="0">
                <a:solidFill>
                  <a:srgbClr val="1E2761"/>
                </a:solidFill>
                <a:latin typeface="Cambria" pitchFamily="34" charset="0"/>
                <a:ea typeface="Cambria" pitchFamily="34" charset="-122"/>
                <a:cs typeface="Cambria" pitchFamily="34" charset="-120"/>
              </a:rPr>
              <a:t>Beam Search</a:t>
            </a:r>
            <a:endParaRPr lang="en-US" sz="2250" dirty="0"/>
          </a:p>
        </p:txBody>
      </p:sp>
      <p:sp>
        <p:nvSpPr>
          <p:cNvPr id="4" name="Shape 1"/>
          <p:cNvSpPr/>
          <p:nvPr/>
        </p:nvSpPr>
        <p:spPr>
          <a:xfrm>
            <a:off x="377190" y="1028700"/>
            <a:ext cx="7955280" cy="1481328"/>
          </a:xfrm>
          <a:prstGeom prst="roundRect">
            <a:avLst>
              <a:gd name="adj" fmla="val 2778"/>
            </a:avLst>
          </a:prstGeom>
          <a:solidFill>
            <a:srgbClr val="DDDDF5"/>
          </a:solidFill>
          <a:ln w="9525">
            <a:solidFill>
              <a:srgbClr val="C9C9EC"/>
            </a:solidFill>
            <a:prstDash val="solid"/>
          </a:ln>
          <a:effectLst>
            <a:outerShdw blurRad="63500" dist="25400" dir="5400000" algn="bl" rotWithShape="0">
              <a:srgbClr val="8A8AC0">
                <a:alpha val="28000"/>
              </a:srgbClr>
            </a:outerShdw>
          </a:effectLst>
        </p:spPr>
      </p:sp>
      <p:sp>
        <p:nvSpPr>
          <p:cNvPr id="5" name="Text 2"/>
          <p:cNvSpPr txBox="1"/>
          <p:nvPr/>
        </p:nvSpPr>
        <p:spPr>
          <a:xfrm>
            <a:off x="569214" y="1110996"/>
            <a:ext cx="7571232" cy="288036"/>
          </a:xfrm>
          <a:prstGeom prst="rect">
            <a:avLst/>
          </a:prstGeom>
          <a:noFill/>
          <a:ln/>
        </p:spPr>
        <p:txBody>
          <a:bodyPr wrap="square" lIns="0" tIns="0" rIns="0" bIns="0" rtlCol="0" anchor="ctr"/>
          <a:lstStyle/>
          <a:p>
            <a:r>
              <a:rPr lang="en-US" sz="1200" b="1" i="1" dirty="0">
                <a:solidFill>
                  <a:srgbClr val="1E2761"/>
                </a:solidFill>
                <a:latin typeface="Cambria" pitchFamily="34" charset="0"/>
                <a:ea typeface="Cambria" pitchFamily="34" charset="-122"/>
                <a:cs typeface="Cambria" pitchFamily="34" charset="-120"/>
              </a:rPr>
              <a:t>Core Idea</a:t>
            </a:r>
            <a:endParaRPr lang="en-US" sz="1200" dirty="0"/>
          </a:p>
        </p:txBody>
      </p:sp>
      <p:sp>
        <p:nvSpPr>
          <p:cNvPr id="6" name="Text 3"/>
          <p:cNvSpPr txBox="1"/>
          <p:nvPr/>
        </p:nvSpPr>
        <p:spPr>
          <a:xfrm>
            <a:off x="582930" y="1474470"/>
            <a:ext cx="7543800" cy="1028700"/>
          </a:xfrm>
          <a:prstGeom prst="rect">
            <a:avLst/>
          </a:prstGeom>
          <a:noFill/>
          <a:ln/>
        </p:spPr>
        <p:txBody>
          <a:bodyPr wrap="square" lIns="0" tIns="0" rIns="0" bIns="0" rtlCol="0" anchor="t"/>
          <a:lstStyle/>
          <a:p>
            <a:pPr marL="171450" indent="-171450">
              <a:spcAft>
                <a:spcPts val="750"/>
              </a:spcAft>
              <a:buSzPct val="100000"/>
              <a:buChar char="●"/>
            </a:pPr>
            <a:r>
              <a:rPr lang="en-US" sz="1200" dirty="0">
                <a:solidFill>
                  <a:srgbClr val="222222"/>
                </a:solidFill>
                <a:latin typeface="Calibri" pitchFamily="34" charset="0"/>
                <a:ea typeface="Calibri" pitchFamily="34" charset="-122"/>
                <a:cs typeface="Calibri" pitchFamily="34" charset="-120"/>
              </a:rPr>
              <a:t>On each step of the decoder, keep track of the k most probable partial translations (hypotheses)</a:t>
            </a:r>
            <a:endParaRPr lang="en-US" sz="1200" dirty="0"/>
          </a:p>
          <a:p>
            <a:pPr marL="171450" indent="-171450">
              <a:spcAft>
                <a:spcPts val="750"/>
              </a:spcAft>
              <a:buSzPct val="100000"/>
              <a:buChar char="●"/>
            </a:pPr>
            <a:r>
              <a:rPr lang="en-US" sz="1200" dirty="0">
                <a:solidFill>
                  <a:srgbClr val="222222"/>
                </a:solidFill>
                <a:latin typeface="Calibri" pitchFamily="34" charset="0"/>
                <a:ea typeface="Calibri" pitchFamily="34" charset="-122"/>
                <a:cs typeface="Calibri" pitchFamily="34" charset="-120"/>
              </a:rPr>
              <a:t>k is the beam size / beam width (in practice around 5 to 10)</a:t>
            </a:r>
            <a:endParaRPr lang="en-US" sz="1200" dirty="0"/>
          </a:p>
        </p:txBody>
      </p:sp>
      <p:sp>
        <p:nvSpPr>
          <p:cNvPr id="7" name="Text 4"/>
          <p:cNvSpPr txBox="1"/>
          <p:nvPr/>
        </p:nvSpPr>
        <p:spPr>
          <a:xfrm>
            <a:off x="8743950" y="4882896"/>
            <a:ext cx="274320" cy="205740"/>
          </a:xfrm>
          <a:prstGeom prst="rect">
            <a:avLst/>
          </a:prstGeom>
          <a:noFill/>
          <a:ln/>
        </p:spPr>
        <p:txBody>
          <a:bodyPr wrap="square" lIns="0" tIns="0" rIns="0" bIns="0" rtlCol="0" anchor="ctr"/>
          <a:lstStyle/>
          <a:p>
            <a:pPr algn="r"/>
            <a:r>
              <a:rPr lang="en-US" sz="750" dirty="0">
                <a:solidFill>
                  <a:srgbClr val="5B6472"/>
                </a:solidFill>
                <a:latin typeface="Calibri" pitchFamily="34" charset="0"/>
                <a:ea typeface="Calibri" pitchFamily="34" charset="-122"/>
                <a:cs typeface="Calibri" pitchFamily="34" charset="-120"/>
              </a:rPr>
              <a:t>3</a:t>
            </a:r>
            <a:endParaRPr lang="en-US" sz="7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2" name="Image 0" descr="/home/claude/deck/iit_logo.png"/>
          <p:cNvPicPr>
            <a:picLocks noChangeAspect="1"/>
          </p:cNvPicPr>
          <p:nvPr/>
        </p:nvPicPr>
        <p:blipFill>
          <a:blip r:embed="rId3"/>
          <a:stretch>
            <a:fillRect/>
          </a:stretch>
        </p:blipFill>
        <p:spPr>
          <a:xfrm>
            <a:off x="8401050" y="123444"/>
            <a:ext cx="651510" cy="726948"/>
          </a:xfrm>
          <a:prstGeom prst="rect">
            <a:avLst/>
          </a:prstGeom>
        </p:spPr>
      </p:pic>
      <p:sp>
        <p:nvSpPr>
          <p:cNvPr id="3" name="Text 0"/>
          <p:cNvSpPr txBox="1"/>
          <p:nvPr/>
        </p:nvSpPr>
        <p:spPr>
          <a:xfrm>
            <a:off x="377190" y="240030"/>
            <a:ext cx="7749540" cy="582930"/>
          </a:xfrm>
          <a:prstGeom prst="rect">
            <a:avLst/>
          </a:prstGeom>
          <a:noFill/>
          <a:ln/>
        </p:spPr>
        <p:txBody>
          <a:bodyPr wrap="square" lIns="0" tIns="0" rIns="0" bIns="0" rtlCol="0" anchor="ctr"/>
          <a:lstStyle/>
          <a:p>
            <a:r>
              <a:rPr lang="en-US" sz="2100" b="1" dirty="0">
                <a:solidFill>
                  <a:srgbClr val="1E2761"/>
                </a:solidFill>
                <a:latin typeface="Cambria" pitchFamily="34" charset="0"/>
                <a:ea typeface="Cambria" pitchFamily="34" charset="-122"/>
                <a:cs typeface="Cambria" pitchFamily="34" charset="-120"/>
              </a:rPr>
              <a:t>Beam Search: How does it work?</a:t>
            </a:r>
            <a:endParaRPr lang="en-US" sz="2100" dirty="0"/>
          </a:p>
        </p:txBody>
      </p:sp>
      <p:sp>
        <p:nvSpPr>
          <p:cNvPr id="4" name="Shape 1"/>
          <p:cNvSpPr/>
          <p:nvPr/>
        </p:nvSpPr>
        <p:spPr>
          <a:xfrm>
            <a:off x="274320" y="788670"/>
            <a:ext cx="8572500" cy="3806190"/>
          </a:xfrm>
          <a:prstGeom prst="rect">
            <a:avLst/>
          </a:prstGeom>
          <a:solidFill>
            <a:srgbClr val="FFFFFF"/>
          </a:solidFill>
          <a:ln w="12700">
            <a:solidFill>
              <a:srgbClr val="D9D9D9"/>
            </a:solidFill>
            <a:prstDash val="solid"/>
          </a:ln>
        </p:spPr>
      </p:sp>
      <p:sp>
        <p:nvSpPr>
          <p:cNvPr id="5" name="Text 2"/>
          <p:cNvSpPr txBox="1"/>
          <p:nvPr/>
        </p:nvSpPr>
        <p:spPr>
          <a:xfrm>
            <a:off x="754380" y="809244"/>
            <a:ext cx="2160270" cy="233172"/>
          </a:xfrm>
          <a:prstGeom prst="rect">
            <a:avLst/>
          </a:prstGeom>
          <a:noFill/>
          <a:ln/>
        </p:spPr>
        <p:txBody>
          <a:bodyPr wrap="square" lIns="0" tIns="0" rIns="0" bIns="0" rtlCol="0" anchor="ctr"/>
          <a:lstStyle/>
          <a:p>
            <a:pPr algn="ctr"/>
            <a:r>
              <a:rPr lang="en-US" sz="975" b="1" dirty="0">
                <a:solidFill>
                  <a:srgbClr val="5B6472"/>
                </a:solidFill>
                <a:latin typeface="Calibri" pitchFamily="34" charset="0"/>
                <a:ea typeface="Calibri" pitchFamily="34" charset="-122"/>
                <a:cs typeface="Calibri" pitchFamily="34" charset="-120"/>
              </a:rPr>
              <a:t>t1</a:t>
            </a:r>
            <a:endParaRPr lang="en-US" sz="975" dirty="0"/>
          </a:p>
        </p:txBody>
      </p:sp>
      <p:sp>
        <p:nvSpPr>
          <p:cNvPr id="6" name="Shape 3"/>
          <p:cNvSpPr/>
          <p:nvPr/>
        </p:nvSpPr>
        <p:spPr>
          <a:xfrm>
            <a:off x="754380" y="1097280"/>
            <a:ext cx="2160270" cy="452628"/>
          </a:xfrm>
          <a:prstGeom prst="roundRect">
            <a:avLst>
              <a:gd name="adj" fmla="val 10606"/>
            </a:avLst>
          </a:prstGeom>
          <a:solidFill>
            <a:srgbClr val="FFFFFF"/>
          </a:solidFill>
          <a:ln w="12700">
            <a:solidFill>
              <a:srgbClr val="C7CEDB"/>
            </a:solidFill>
            <a:prstDash val="solid"/>
          </a:ln>
        </p:spPr>
      </p:sp>
      <p:sp>
        <p:nvSpPr>
          <p:cNvPr id="7" name="Text 4"/>
          <p:cNvSpPr txBox="1"/>
          <p:nvPr/>
        </p:nvSpPr>
        <p:spPr>
          <a:xfrm>
            <a:off x="754380" y="1097280"/>
            <a:ext cx="2160270" cy="452628"/>
          </a:xfrm>
          <a:prstGeom prst="rect">
            <a:avLst/>
          </a:prstGeom>
          <a:noFill/>
          <a:ln/>
        </p:spPr>
        <p:txBody>
          <a:bodyPr wrap="square" lIns="0" tIns="0" rIns="0" bIns="0" rtlCol="0" anchor="ctr"/>
          <a:lstStyle/>
          <a:p>
            <a:pPr algn="ctr"/>
            <a:r>
              <a:rPr lang="en-US" sz="1013" dirty="0">
                <a:solidFill>
                  <a:srgbClr val="4A5364"/>
                </a:solidFill>
                <a:latin typeface="Calibri" pitchFamily="34" charset="0"/>
                <a:ea typeface="Calibri" pitchFamily="34" charset="-122"/>
                <a:cs typeface="Calibri" pitchFamily="34" charset="-120"/>
              </a:rPr>
              <a:t>a</a:t>
            </a:r>
            <a:endParaRPr lang="en-US" sz="1013" dirty="0"/>
          </a:p>
        </p:txBody>
      </p:sp>
      <p:sp>
        <p:nvSpPr>
          <p:cNvPr id="8" name="Shape 5"/>
          <p:cNvSpPr/>
          <p:nvPr/>
        </p:nvSpPr>
        <p:spPr>
          <a:xfrm>
            <a:off x="754380" y="1645920"/>
            <a:ext cx="2160270" cy="452628"/>
          </a:xfrm>
          <a:prstGeom prst="roundRect">
            <a:avLst>
              <a:gd name="adj" fmla="val 10606"/>
            </a:avLst>
          </a:prstGeom>
          <a:solidFill>
            <a:srgbClr val="F3DCC8"/>
          </a:solidFill>
          <a:ln w="22225">
            <a:solidFill>
              <a:srgbClr val="B5591E"/>
            </a:solidFill>
            <a:prstDash val="solid"/>
          </a:ln>
        </p:spPr>
      </p:sp>
      <p:sp>
        <p:nvSpPr>
          <p:cNvPr id="9" name="Text 6"/>
          <p:cNvSpPr txBox="1"/>
          <p:nvPr/>
        </p:nvSpPr>
        <p:spPr>
          <a:xfrm>
            <a:off x="754380" y="1645920"/>
            <a:ext cx="2160270" cy="452628"/>
          </a:xfrm>
          <a:prstGeom prst="rect">
            <a:avLst/>
          </a:prstGeom>
          <a:noFill/>
          <a:ln/>
        </p:spPr>
        <p:txBody>
          <a:bodyPr wrap="square" lIns="0" tIns="0" rIns="0" bIns="0" rtlCol="0" anchor="ctr"/>
          <a:lstStyle/>
          <a:p>
            <a:pPr algn="ctr"/>
            <a:r>
              <a:rPr lang="en-US" sz="1013" b="1" dirty="0">
                <a:solidFill>
                  <a:srgbClr val="141B4D"/>
                </a:solidFill>
                <a:latin typeface="Calibri" pitchFamily="34" charset="0"/>
                <a:ea typeface="Calibri" pitchFamily="34" charset="-122"/>
                <a:cs typeface="Calibri" pitchFamily="34" charset="-120"/>
              </a:rPr>
              <a:t>arrived</a:t>
            </a:r>
            <a:endParaRPr lang="en-US" sz="1013" dirty="0"/>
          </a:p>
        </p:txBody>
      </p:sp>
      <p:sp>
        <p:nvSpPr>
          <p:cNvPr id="10" name="Shape 7"/>
          <p:cNvSpPr/>
          <p:nvPr/>
        </p:nvSpPr>
        <p:spPr>
          <a:xfrm>
            <a:off x="754380" y="2194560"/>
            <a:ext cx="2160270" cy="452628"/>
          </a:xfrm>
          <a:prstGeom prst="roundRect">
            <a:avLst>
              <a:gd name="adj" fmla="val 10606"/>
            </a:avLst>
          </a:prstGeom>
          <a:solidFill>
            <a:srgbClr val="F3DCC8"/>
          </a:solidFill>
          <a:ln w="22225">
            <a:solidFill>
              <a:srgbClr val="B5591E"/>
            </a:solidFill>
            <a:prstDash val="solid"/>
          </a:ln>
        </p:spPr>
      </p:sp>
      <p:sp>
        <p:nvSpPr>
          <p:cNvPr id="11" name="Text 8"/>
          <p:cNvSpPr txBox="1"/>
          <p:nvPr/>
        </p:nvSpPr>
        <p:spPr>
          <a:xfrm>
            <a:off x="754380" y="2194560"/>
            <a:ext cx="2160270" cy="452628"/>
          </a:xfrm>
          <a:prstGeom prst="rect">
            <a:avLst/>
          </a:prstGeom>
          <a:noFill/>
          <a:ln/>
        </p:spPr>
        <p:txBody>
          <a:bodyPr wrap="square" lIns="0" tIns="0" rIns="0" bIns="0" rtlCol="0" anchor="ctr"/>
          <a:lstStyle/>
          <a:p>
            <a:pPr algn="ctr"/>
            <a:r>
              <a:rPr lang="en-US" sz="1013" b="1" dirty="0">
                <a:solidFill>
                  <a:srgbClr val="141B4D"/>
                </a:solidFill>
                <a:latin typeface="Calibri" pitchFamily="34" charset="0"/>
                <a:ea typeface="Calibri" pitchFamily="34" charset="-122"/>
                <a:cs typeface="Calibri" pitchFamily="34" charset="-120"/>
              </a:rPr>
              <a:t>the</a:t>
            </a:r>
            <a:endParaRPr lang="en-US" sz="1013" dirty="0"/>
          </a:p>
        </p:txBody>
      </p:sp>
      <p:sp>
        <p:nvSpPr>
          <p:cNvPr id="12" name="Shape 9"/>
          <p:cNvSpPr/>
          <p:nvPr/>
        </p:nvSpPr>
        <p:spPr>
          <a:xfrm>
            <a:off x="754380" y="2743200"/>
            <a:ext cx="2160270" cy="452628"/>
          </a:xfrm>
          <a:prstGeom prst="roundRect">
            <a:avLst>
              <a:gd name="adj" fmla="val 10606"/>
            </a:avLst>
          </a:prstGeom>
          <a:solidFill>
            <a:srgbClr val="FFFFFF"/>
          </a:solidFill>
          <a:ln w="12700">
            <a:solidFill>
              <a:srgbClr val="C7CEDB"/>
            </a:solidFill>
            <a:prstDash val="solid"/>
          </a:ln>
        </p:spPr>
      </p:sp>
      <p:sp>
        <p:nvSpPr>
          <p:cNvPr id="13" name="Text 10"/>
          <p:cNvSpPr txBox="1"/>
          <p:nvPr/>
        </p:nvSpPr>
        <p:spPr>
          <a:xfrm>
            <a:off x="754380" y="2743200"/>
            <a:ext cx="2160270" cy="452628"/>
          </a:xfrm>
          <a:prstGeom prst="rect">
            <a:avLst/>
          </a:prstGeom>
          <a:noFill/>
          <a:ln/>
        </p:spPr>
        <p:txBody>
          <a:bodyPr wrap="square" lIns="0" tIns="0" rIns="0" bIns="0" rtlCol="0" anchor="ctr"/>
          <a:lstStyle/>
          <a:p>
            <a:pPr algn="ctr"/>
            <a:r>
              <a:rPr lang="en-US" sz="1013" dirty="0">
                <a:solidFill>
                  <a:srgbClr val="4A5364"/>
                </a:solidFill>
                <a:latin typeface="Calibri" pitchFamily="34" charset="0"/>
                <a:ea typeface="Calibri" pitchFamily="34" charset="-122"/>
                <a:cs typeface="Calibri" pitchFamily="34" charset="-120"/>
              </a:rPr>
              <a:t>witch</a:t>
            </a:r>
            <a:endParaRPr lang="en-US" sz="1013" dirty="0"/>
          </a:p>
        </p:txBody>
      </p:sp>
      <p:sp>
        <p:nvSpPr>
          <p:cNvPr id="14" name="Shape 11"/>
          <p:cNvSpPr/>
          <p:nvPr/>
        </p:nvSpPr>
        <p:spPr>
          <a:xfrm>
            <a:off x="754380" y="3291840"/>
            <a:ext cx="2160270" cy="452628"/>
          </a:xfrm>
          <a:prstGeom prst="roundRect">
            <a:avLst>
              <a:gd name="adj" fmla="val 10606"/>
            </a:avLst>
          </a:prstGeom>
          <a:solidFill>
            <a:srgbClr val="FFFFFF"/>
          </a:solidFill>
          <a:ln w="12700">
            <a:solidFill>
              <a:srgbClr val="C7CEDB"/>
            </a:solidFill>
            <a:prstDash val="solid"/>
          </a:ln>
        </p:spPr>
      </p:sp>
      <p:sp>
        <p:nvSpPr>
          <p:cNvPr id="15" name="Text 12"/>
          <p:cNvSpPr txBox="1"/>
          <p:nvPr/>
        </p:nvSpPr>
        <p:spPr>
          <a:xfrm>
            <a:off x="754380" y="3291840"/>
            <a:ext cx="2160270" cy="452628"/>
          </a:xfrm>
          <a:prstGeom prst="rect">
            <a:avLst/>
          </a:prstGeom>
          <a:noFill/>
          <a:ln/>
        </p:spPr>
        <p:txBody>
          <a:bodyPr wrap="square" lIns="0" tIns="0" rIns="0" bIns="0" rtlCol="0" anchor="ctr"/>
          <a:lstStyle/>
          <a:p>
            <a:pPr algn="ctr"/>
            <a:r>
              <a:rPr lang="en-US" sz="1013" dirty="0">
                <a:solidFill>
                  <a:srgbClr val="4A5364"/>
                </a:solidFill>
                <a:latin typeface="Calibri" pitchFamily="34" charset="0"/>
                <a:ea typeface="Calibri" pitchFamily="34" charset="-122"/>
                <a:cs typeface="Calibri" pitchFamily="34" charset="-120"/>
              </a:rPr>
              <a:t>zebra</a:t>
            </a:r>
            <a:endParaRPr lang="en-US" sz="1013" dirty="0"/>
          </a:p>
        </p:txBody>
      </p:sp>
      <p:sp>
        <p:nvSpPr>
          <p:cNvPr id="16" name="Shape 13"/>
          <p:cNvSpPr/>
          <p:nvPr/>
        </p:nvSpPr>
        <p:spPr>
          <a:xfrm>
            <a:off x="2914650" y="1872234"/>
            <a:ext cx="720090" cy="548640"/>
          </a:xfrm>
          <a:prstGeom prst="line">
            <a:avLst/>
          </a:prstGeom>
          <a:noFill/>
          <a:ln w="12700">
            <a:solidFill>
              <a:srgbClr val="C7CEDB"/>
            </a:solidFill>
            <a:prstDash val="solid"/>
          </a:ln>
        </p:spPr>
      </p:sp>
      <p:sp>
        <p:nvSpPr>
          <p:cNvPr id="17" name="Shape 14"/>
          <p:cNvSpPr/>
          <p:nvPr/>
        </p:nvSpPr>
        <p:spPr>
          <a:xfrm flipV="1">
            <a:off x="2914650" y="1872234"/>
            <a:ext cx="720090" cy="6858"/>
          </a:xfrm>
          <a:prstGeom prst="line">
            <a:avLst/>
          </a:prstGeom>
          <a:noFill/>
          <a:ln w="12700">
            <a:solidFill>
              <a:srgbClr val="C7CEDB"/>
            </a:solidFill>
            <a:prstDash val="solid"/>
          </a:ln>
        </p:spPr>
      </p:sp>
      <p:sp>
        <p:nvSpPr>
          <p:cNvPr id="18" name="Shape 15"/>
          <p:cNvSpPr/>
          <p:nvPr/>
        </p:nvSpPr>
        <p:spPr>
          <a:xfrm flipV="1">
            <a:off x="2914650" y="2420874"/>
            <a:ext cx="720090" cy="6858"/>
          </a:xfrm>
          <a:prstGeom prst="line">
            <a:avLst/>
          </a:prstGeom>
          <a:noFill/>
          <a:ln w="12700">
            <a:solidFill>
              <a:srgbClr val="C7CEDB"/>
            </a:solidFill>
            <a:prstDash val="solid"/>
          </a:ln>
        </p:spPr>
      </p:sp>
      <p:sp>
        <p:nvSpPr>
          <p:cNvPr id="19" name="Shape 16"/>
          <p:cNvSpPr/>
          <p:nvPr/>
        </p:nvSpPr>
        <p:spPr>
          <a:xfrm flipV="1">
            <a:off x="2914650" y="1872234"/>
            <a:ext cx="720090" cy="548640"/>
          </a:xfrm>
          <a:prstGeom prst="line">
            <a:avLst/>
          </a:prstGeom>
          <a:noFill/>
          <a:ln w="12700">
            <a:solidFill>
              <a:srgbClr val="C7CEDB"/>
            </a:solidFill>
            <a:prstDash val="solid"/>
          </a:ln>
        </p:spPr>
      </p:sp>
      <p:sp>
        <p:nvSpPr>
          <p:cNvPr id="20" name="Shape 17"/>
          <p:cNvSpPr/>
          <p:nvPr/>
        </p:nvSpPr>
        <p:spPr>
          <a:xfrm>
            <a:off x="2883789" y="1841373"/>
            <a:ext cx="61722" cy="61722"/>
          </a:xfrm>
          <a:prstGeom prst="ellipse">
            <a:avLst/>
          </a:prstGeom>
          <a:solidFill>
            <a:srgbClr val="B5591E"/>
          </a:solidFill>
          <a:ln/>
        </p:spPr>
      </p:sp>
      <p:sp>
        <p:nvSpPr>
          <p:cNvPr id="21" name="Shape 18"/>
          <p:cNvSpPr/>
          <p:nvPr/>
        </p:nvSpPr>
        <p:spPr>
          <a:xfrm>
            <a:off x="2883789" y="2390013"/>
            <a:ext cx="61722" cy="61722"/>
          </a:xfrm>
          <a:prstGeom prst="ellipse">
            <a:avLst/>
          </a:prstGeom>
          <a:solidFill>
            <a:srgbClr val="B5591E"/>
          </a:solidFill>
          <a:ln/>
        </p:spPr>
      </p:sp>
      <p:sp>
        <p:nvSpPr>
          <p:cNvPr id="22" name="Text 19"/>
          <p:cNvSpPr txBox="1"/>
          <p:nvPr/>
        </p:nvSpPr>
        <p:spPr>
          <a:xfrm>
            <a:off x="3634740" y="809244"/>
            <a:ext cx="2160270" cy="233172"/>
          </a:xfrm>
          <a:prstGeom prst="rect">
            <a:avLst/>
          </a:prstGeom>
          <a:noFill/>
          <a:ln/>
        </p:spPr>
        <p:txBody>
          <a:bodyPr wrap="square" lIns="0" tIns="0" rIns="0" bIns="0" rtlCol="0" anchor="ctr"/>
          <a:lstStyle/>
          <a:p>
            <a:pPr algn="ctr"/>
            <a:r>
              <a:rPr lang="en-US" sz="975" b="1" dirty="0">
                <a:solidFill>
                  <a:srgbClr val="5B6472"/>
                </a:solidFill>
                <a:latin typeface="Calibri" pitchFamily="34" charset="0"/>
                <a:ea typeface="Calibri" pitchFamily="34" charset="-122"/>
                <a:cs typeface="Calibri" pitchFamily="34" charset="-120"/>
              </a:rPr>
              <a:t>t2</a:t>
            </a:r>
            <a:endParaRPr lang="en-US" sz="975" dirty="0"/>
          </a:p>
        </p:txBody>
      </p:sp>
      <p:sp>
        <p:nvSpPr>
          <p:cNvPr id="23" name="Shape 20"/>
          <p:cNvSpPr/>
          <p:nvPr/>
        </p:nvSpPr>
        <p:spPr>
          <a:xfrm>
            <a:off x="3634740" y="1097280"/>
            <a:ext cx="2160270" cy="452628"/>
          </a:xfrm>
          <a:prstGeom prst="roundRect">
            <a:avLst>
              <a:gd name="adj" fmla="val 10606"/>
            </a:avLst>
          </a:prstGeom>
          <a:solidFill>
            <a:srgbClr val="FFFFFF"/>
          </a:solidFill>
          <a:ln w="12700">
            <a:solidFill>
              <a:srgbClr val="C7CEDB"/>
            </a:solidFill>
            <a:prstDash val="solid"/>
          </a:ln>
        </p:spPr>
      </p:sp>
      <p:sp>
        <p:nvSpPr>
          <p:cNvPr id="24" name="Text 21"/>
          <p:cNvSpPr txBox="1"/>
          <p:nvPr/>
        </p:nvSpPr>
        <p:spPr>
          <a:xfrm>
            <a:off x="3634740" y="1097280"/>
            <a:ext cx="2160270" cy="452628"/>
          </a:xfrm>
          <a:prstGeom prst="rect">
            <a:avLst/>
          </a:prstGeom>
          <a:noFill/>
          <a:ln/>
        </p:spPr>
        <p:txBody>
          <a:bodyPr wrap="square" lIns="0" tIns="0" rIns="0" bIns="0" rtlCol="0" anchor="ctr"/>
          <a:lstStyle/>
          <a:p>
            <a:pPr algn="ctr"/>
            <a:r>
              <a:rPr lang="en-US" sz="1013" dirty="0">
                <a:solidFill>
                  <a:srgbClr val="4A5364"/>
                </a:solidFill>
                <a:latin typeface="Calibri" pitchFamily="34" charset="0"/>
                <a:ea typeface="Calibri" pitchFamily="34" charset="-122"/>
                <a:cs typeface="Calibri" pitchFamily="34" charset="-120"/>
              </a:rPr>
              <a:t>a</a:t>
            </a:r>
            <a:endParaRPr lang="en-US" sz="1013" dirty="0"/>
          </a:p>
        </p:txBody>
      </p:sp>
      <p:sp>
        <p:nvSpPr>
          <p:cNvPr id="25" name="Shape 22"/>
          <p:cNvSpPr/>
          <p:nvPr/>
        </p:nvSpPr>
        <p:spPr>
          <a:xfrm>
            <a:off x="3634740" y="1645920"/>
            <a:ext cx="2160270" cy="452628"/>
          </a:xfrm>
          <a:prstGeom prst="roundRect">
            <a:avLst>
              <a:gd name="adj" fmla="val 10606"/>
            </a:avLst>
          </a:prstGeom>
          <a:solidFill>
            <a:srgbClr val="F3DCC8"/>
          </a:solidFill>
          <a:ln w="22225">
            <a:solidFill>
              <a:srgbClr val="B5591E"/>
            </a:solidFill>
            <a:prstDash val="solid"/>
          </a:ln>
        </p:spPr>
      </p:sp>
      <p:sp>
        <p:nvSpPr>
          <p:cNvPr id="26" name="Text 23"/>
          <p:cNvSpPr txBox="1"/>
          <p:nvPr/>
        </p:nvSpPr>
        <p:spPr>
          <a:xfrm>
            <a:off x="3634740" y="1645920"/>
            <a:ext cx="2160270" cy="452628"/>
          </a:xfrm>
          <a:prstGeom prst="rect">
            <a:avLst/>
          </a:prstGeom>
          <a:noFill/>
          <a:ln/>
        </p:spPr>
        <p:txBody>
          <a:bodyPr wrap="square" lIns="0" tIns="0" rIns="0" bIns="0" rtlCol="0" anchor="ctr"/>
          <a:lstStyle/>
          <a:p>
            <a:pPr algn="ctr"/>
            <a:r>
              <a:rPr lang="en-US" sz="1013" b="1" dirty="0">
                <a:solidFill>
                  <a:srgbClr val="141B4D"/>
                </a:solidFill>
                <a:latin typeface="Calibri" pitchFamily="34" charset="0"/>
                <a:ea typeface="Calibri" pitchFamily="34" charset="-122"/>
                <a:cs typeface="Calibri" pitchFamily="34" charset="-120"/>
              </a:rPr>
              <a:t>the green</a:t>
            </a:r>
            <a:endParaRPr lang="en-US" sz="1013" dirty="0"/>
          </a:p>
        </p:txBody>
      </p:sp>
      <p:sp>
        <p:nvSpPr>
          <p:cNvPr id="27" name="Shape 24"/>
          <p:cNvSpPr/>
          <p:nvPr/>
        </p:nvSpPr>
        <p:spPr>
          <a:xfrm>
            <a:off x="3634740" y="2194560"/>
            <a:ext cx="2160270" cy="452628"/>
          </a:xfrm>
          <a:prstGeom prst="roundRect">
            <a:avLst>
              <a:gd name="adj" fmla="val 10606"/>
            </a:avLst>
          </a:prstGeom>
          <a:solidFill>
            <a:srgbClr val="F3DCC8"/>
          </a:solidFill>
          <a:ln w="22225">
            <a:solidFill>
              <a:srgbClr val="B5591E"/>
            </a:solidFill>
            <a:prstDash val="solid"/>
          </a:ln>
        </p:spPr>
      </p:sp>
      <p:sp>
        <p:nvSpPr>
          <p:cNvPr id="28" name="Text 25"/>
          <p:cNvSpPr txBox="1"/>
          <p:nvPr/>
        </p:nvSpPr>
        <p:spPr>
          <a:xfrm>
            <a:off x="3634740" y="2194560"/>
            <a:ext cx="2160270" cy="452628"/>
          </a:xfrm>
          <a:prstGeom prst="rect">
            <a:avLst/>
          </a:prstGeom>
          <a:noFill/>
          <a:ln/>
        </p:spPr>
        <p:txBody>
          <a:bodyPr wrap="square" lIns="0" tIns="0" rIns="0" bIns="0" rtlCol="0" anchor="ctr"/>
          <a:lstStyle/>
          <a:p>
            <a:pPr algn="ctr"/>
            <a:r>
              <a:rPr lang="en-US" sz="1013" b="1" dirty="0">
                <a:solidFill>
                  <a:srgbClr val="141B4D"/>
                </a:solidFill>
                <a:latin typeface="Calibri" pitchFamily="34" charset="0"/>
                <a:ea typeface="Calibri" pitchFamily="34" charset="-122"/>
                <a:cs typeface="Calibri" pitchFamily="34" charset="-120"/>
              </a:rPr>
              <a:t>the witch</a:t>
            </a:r>
            <a:endParaRPr lang="en-US" sz="1013" dirty="0"/>
          </a:p>
        </p:txBody>
      </p:sp>
      <p:sp>
        <p:nvSpPr>
          <p:cNvPr id="29" name="Shape 26"/>
          <p:cNvSpPr/>
          <p:nvPr/>
        </p:nvSpPr>
        <p:spPr>
          <a:xfrm>
            <a:off x="3634740" y="2743200"/>
            <a:ext cx="2160270" cy="452628"/>
          </a:xfrm>
          <a:prstGeom prst="roundRect">
            <a:avLst>
              <a:gd name="adj" fmla="val 10606"/>
            </a:avLst>
          </a:prstGeom>
          <a:solidFill>
            <a:srgbClr val="FFFFFF"/>
          </a:solidFill>
          <a:ln w="12700">
            <a:solidFill>
              <a:srgbClr val="C7CEDB"/>
            </a:solidFill>
            <a:prstDash val="solid"/>
          </a:ln>
        </p:spPr>
      </p:sp>
      <p:sp>
        <p:nvSpPr>
          <p:cNvPr id="30" name="Text 27"/>
          <p:cNvSpPr txBox="1"/>
          <p:nvPr/>
        </p:nvSpPr>
        <p:spPr>
          <a:xfrm>
            <a:off x="3634740" y="2743200"/>
            <a:ext cx="2160270" cy="452628"/>
          </a:xfrm>
          <a:prstGeom prst="rect">
            <a:avLst/>
          </a:prstGeom>
          <a:noFill/>
          <a:ln/>
        </p:spPr>
        <p:txBody>
          <a:bodyPr wrap="square" lIns="0" tIns="0" rIns="0" bIns="0" rtlCol="0" anchor="ctr"/>
          <a:lstStyle/>
          <a:p>
            <a:pPr algn="ctr"/>
            <a:r>
              <a:rPr lang="en-US" sz="1013" dirty="0">
                <a:solidFill>
                  <a:srgbClr val="4A5364"/>
                </a:solidFill>
                <a:latin typeface="Calibri" pitchFamily="34" charset="0"/>
                <a:ea typeface="Calibri" pitchFamily="34" charset="-122"/>
                <a:cs typeface="Calibri" pitchFamily="34" charset="-120"/>
              </a:rPr>
              <a:t>aardvark</a:t>
            </a:r>
            <a:endParaRPr lang="en-US" sz="1013" dirty="0"/>
          </a:p>
        </p:txBody>
      </p:sp>
      <p:sp>
        <p:nvSpPr>
          <p:cNvPr id="31" name="Shape 28"/>
          <p:cNvSpPr/>
          <p:nvPr/>
        </p:nvSpPr>
        <p:spPr>
          <a:xfrm>
            <a:off x="3634740" y="3291840"/>
            <a:ext cx="2160270" cy="452628"/>
          </a:xfrm>
          <a:prstGeom prst="roundRect">
            <a:avLst>
              <a:gd name="adj" fmla="val 10606"/>
            </a:avLst>
          </a:prstGeom>
          <a:solidFill>
            <a:srgbClr val="FFFFFF"/>
          </a:solidFill>
          <a:ln w="12700">
            <a:solidFill>
              <a:srgbClr val="C7CEDB"/>
            </a:solidFill>
            <a:prstDash val="solid"/>
          </a:ln>
        </p:spPr>
      </p:sp>
      <p:sp>
        <p:nvSpPr>
          <p:cNvPr id="32" name="Text 29"/>
          <p:cNvSpPr txBox="1"/>
          <p:nvPr/>
        </p:nvSpPr>
        <p:spPr>
          <a:xfrm>
            <a:off x="3634740" y="3291840"/>
            <a:ext cx="2160270" cy="452628"/>
          </a:xfrm>
          <a:prstGeom prst="rect">
            <a:avLst/>
          </a:prstGeom>
          <a:noFill/>
          <a:ln/>
        </p:spPr>
        <p:txBody>
          <a:bodyPr wrap="square" lIns="0" tIns="0" rIns="0" bIns="0" rtlCol="0" anchor="ctr"/>
          <a:lstStyle/>
          <a:p>
            <a:pPr algn="ctr"/>
            <a:r>
              <a:rPr lang="en-US" sz="1013" dirty="0">
                <a:solidFill>
                  <a:srgbClr val="4A5364"/>
                </a:solidFill>
                <a:latin typeface="Calibri" pitchFamily="34" charset="0"/>
                <a:ea typeface="Calibri" pitchFamily="34" charset="-122"/>
                <a:cs typeface="Calibri" pitchFamily="34" charset="-120"/>
              </a:rPr>
              <a:t>zebra</a:t>
            </a:r>
            <a:endParaRPr lang="en-US" sz="1013" dirty="0"/>
          </a:p>
        </p:txBody>
      </p:sp>
      <p:sp>
        <p:nvSpPr>
          <p:cNvPr id="33" name="Shape 30"/>
          <p:cNvSpPr/>
          <p:nvPr/>
        </p:nvSpPr>
        <p:spPr>
          <a:xfrm flipV="1">
            <a:off x="5795010" y="1872234"/>
            <a:ext cx="720090" cy="548640"/>
          </a:xfrm>
          <a:prstGeom prst="line">
            <a:avLst/>
          </a:prstGeom>
          <a:noFill/>
          <a:ln w="12700">
            <a:solidFill>
              <a:srgbClr val="C7CEDB"/>
            </a:solidFill>
            <a:prstDash val="solid"/>
          </a:ln>
        </p:spPr>
      </p:sp>
      <p:sp>
        <p:nvSpPr>
          <p:cNvPr id="34" name="Shape 31"/>
          <p:cNvSpPr/>
          <p:nvPr/>
        </p:nvSpPr>
        <p:spPr>
          <a:xfrm flipV="1">
            <a:off x="5795010" y="2420874"/>
            <a:ext cx="720090" cy="6858"/>
          </a:xfrm>
          <a:prstGeom prst="line">
            <a:avLst/>
          </a:prstGeom>
          <a:noFill/>
          <a:ln w="12700">
            <a:solidFill>
              <a:srgbClr val="C7CEDB"/>
            </a:solidFill>
            <a:prstDash val="solid"/>
          </a:ln>
        </p:spPr>
      </p:sp>
      <p:sp>
        <p:nvSpPr>
          <p:cNvPr id="35" name="Shape 32"/>
          <p:cNvSpPr/>
          <p:nvPr/>
        </p:nvSpPr>
        <p:spPr>
          <a:xfrm flipV="1">
            <a:off x="5795010" y="1872234"/>
            <a:ext cx="720090" cy="6858"/>
          </a:xfrm>
          <a:prstGeom prst="line">
            <a:avLst/>
          </a:prstGeom>
          <a:noFill/>
          <a:ln w="12700">
            <a:solidFill>
              <a:srgbClr val="C7CEDB"/>
            </a:solidFill>
            <a:prstDash val="solid"/>
          </a:ln>
        </p:spPr>
      </p:sp>
      <p:sp>
        <p:nvSpPr>
          <p:cNvPr id="36" name="Shape 33"/>
          <p:cNvSpPr/>
          <p:nvPr/>
        </p:nvSpPr>
        <p:spPr>
          <a:xfrm>
            <a:off x="5795010" y="1872234"/>
            <a:ext cx="720090" cy="548640"/>
          </a:xfrm>
          <a:prstGeom prst="line">
            <a:avLst/>
          </a:prstGeom>
          <a:noFill/>
          <a:ln w="12700">
            <a:solidFill>
              <a:srgbClr val="C7CEDB"/>
            </a:solidFill>
            <a:prstDash val="solid"/>
          </a:ln>
        </p:spPr>
      </p:sp>
      <p:sp>
        <p:nvSpPr>
          <p:cNvPr id="37" name="Shape 34"/>
          <p:cNvSpPr/>
          <p:nvPr/>
        </p:nvSpPr>
        <p:spPr>
          <a:xfrm>
            <a:off x="5764149" y="2390013"/>
            <a:ext cx="61722" cy="61722"/>
          </a:xfrm>
          <a:prstGeom prst="ellipse">
            <a:avLst/>
          </a:prstGeom>
          <a:solidFill>
            <a:srgbClr val="B5591E"/>
          </a:solidFill>
          <a:ln/>
        </p:spPr>
      </p:sp>
      <p:sp>
        <p:nvSpPr>
          <p:cNvPr id="38" name="Shape 35"/>
          <p:cNvSpPr/>
          <p:nvPr/>
        </p:nvSpPr>
        <p:spPr>
          <a:xfrm>
            <a:off x="5764149" y="1841373"/>
            <a:ext cx="61722" cy="61722"/>
          </a:xfrm>
          <a:prstGeom prst="ellipse">
            <a:avLst/>
          </a:prstGeom>
          <a:solidFill>
            <a:srgbClr val="B5591E"/>
          </a:solidFill>
          <a:ln/>
        </p:spPr>
      </p:sp>
      <p:sp>
        <p:nvSpPr>
          <p:cNvPr id="39" name="Text 36"/>
          <p:cNvSpPr txBox="1"/>
          <p:nvPr/>
        </p:nvSpPr>
        <p:spPr>
          <a:xfrm>
            <a:off x="6515100" y="809244"/>
            <a:ext cx="2160270" cy="233172"/>
          </a:xfrm>
          <a:prstGeom prst="rect">
            <a:avLst/>
          </a:prstGeom>
          <a:noFill/>
          <a:ln/>
        </p:spPr>
        <p:txBody>
          <a:bodyPr wrap="square" lIns="0" tIns="0" rIns="0" bIns="0" rtlCol="0" anchor="ctr"/>
          <a:lstStyle/>
          <a:p>
            <a:pPr algn="ctr"/>
            <a:r>
              <a:rPr lang="en-US" sz="975" b="1" dirty="0">
                <a:solidFill>
                  <a:srgbClr val="5B6472"/>
                </a:solidFill>
                <a:latin typeface="Calibri" pitchFamily="34" charset="0"/>
                <a:ea typeface="Calibri" pitchFamily="34" charset="-122"/>
                <a:cs typeface="Calibri" pitchFamily="34" charset="-120"/>
              </a:rPr>
              <a:t>t3</a:t>
            </a:r>
            <a:endParaRPr lang="en-US" sz="975" dirty="0"/>
          </a:p>
        </p:txBody>
      </p:sp>
      <p:sp>
        <p:nvSpPr>
          <p:cNvPr id="40" name="Shape 37"/>
          <p:cNvSpPr/>
          <p:nvPr/>
        </p:nvSpPr>
        <p:spPr>
          <a:xfrm>
            <a:off x="6515100" y="1097280"/>
            <a:ext cx="2160270" cy="452628"/>
          </a:xfrm>
          <a:prstGeom prst="roundRect">
            <a:avLst>
              <a:gd name="adj" fmla="val 10606"/>
            </a:avLst>
          </a:prstGeom>
          <a:solidFill>
            <a:srgbClr val="FFFFFF"/>
          </a:solidFill>
          <a:ln w="12700">
            <a:solidFill>
              <a:srgbClr val="C7CEDB"/>
            </a:solidFill>
            <a:prstDash val="solid"/>
          </a:ln>
        </p:spPr>
      </p:sp>
      <p:sp>
        <p:nvSpPr>
          <p:cNvPr id="41" name="Text 38"/>
          <p:cNvSpPr txBox="1"/>
          <p:nvPr/>
        </p:nvSpPr>
        <p:spPr>
          <a:xfrm>
            <a:off x="6515100" y="1097280"/>
            <a:ext cx="2160270" cy="452628"/>
          </a:xfrm>
          <a:prstGeom prst="rect">
            <a:avLst/>
          </a:prstGeom>
          <a:noFill/>
          <a:ln/>
        </p:spPr>
        <p:txBody>
          <a:bodyPr wrap="square" lIns="0" tIns="0" rIns="0" bIns="0" rtlCol="0" anchor="ctr"/>
          <a:lstStyle/>
          <a:p>
            <a:pPr algn="ctr"/>
            <a:r>
              <a:rPr lang="en-US" sz="1013" dirty="0">
                <a:solidFill>
                  <a:srgbClr val="4A5364"/>
                </a:solidFill>
                <a:latin typeface="Calibri" pitchFamily="34" charset="0"/>
                <a:ea typeface="Calibri" pitchFamily="34" charset="-122"/>
                <a:cs typeface="Calibri" pitchFamily="34" charset="-120"/>
              </a:rPr>
              <a:t>a mage</a:t>
            </a:r>
            <a:endParaRPr lang="en-US" sz="1013" dirty="0"/>
          </a:p>
        </p:txBody>
      </p:sp>
      <p:sp>
        <p:nvSpPr>
          <p:cNvPr id="42" name="Shape 39"/>
          <p:cNvSpPr/>
          <p:nvPr/>
        </p:nvSpPr>
        <p:spPr>
          <a:xfrm>
            <a:off x="6515100" y="1645920"/>
            <a:ext cx="2160270" cy="452628"/>
          </a:xfrm>
          <a:prstGeom prst="roundRect">
            <a:avLst>
              <a:gd name="adj" fmla="val 10606"/>
            </a:avLst>
          </a:prstGeom>
          <a:solidFill>
            <a:srgbClr val="F3DCC8"/>
          </a:solidFill>
          <a:ln w="22225">
            <a:solidFill>
              <a:srgbClr val="B5591E"/>
            </a:solidFill>
            <a:prstDash val="solid"/>
          </a:ln>
        </p:spPr>
      </p:sp>
      <p:sp>
        <p:nvSpPr>
          <p:cNvPr id="43" name="Text 40"/>
          <p:cNvSpPr txBox="1"/>
          <p:nvPr/>
        </p:nvSpPr>
        <p:spPr>
          <a:xfrm>
            <a:off x="6515100" y="1645920"/>
            <a:ext cx="2160270" cy="452628"/>
          </a:xfrm>
          <a:prstGeom prst="rect">
            <a:avLst/>
          </a:prstGeom>
          <a:noFill/>
          <a:ln/>
        </p:spPr>
        <p:txBody>
          <a:bodyPr wrap="square" lIns="0" tIns="0" rIns="0" bIns="0" rtlCol="0" anchor="ctr"/>
          <a:lstStyle/>
          <a:p>
            <a:pPr algn="ctr"/>
            <a:r>
              <a:rPr lang="en-US" sz="1013" b="1" dirty="0">
                <a:solidFill>
                  <a:srgbClr val="141B4D"/>
                </a:solidFill>
                <a:latin typeface="Calibri" pitchFamily="34" charset="0"/>
                <a:ea typeface="Calibri" pitchFamily="34" charset="-122"/>
                <a:cs typeface="Calibri" pitchFamily="34" charset="-120"/>
              </a:rPr>
              <a:t>the witch</a:t>
            </a:r>
            <a:endParaRPr lang="en-US" sz="1013" dirty="0"/>
          </a:p>
        </p:txBody>
      </p:sp>
      <p:sp>
        <p:nvSpPr>
          <p:cNvPr id="44" name="Shape 41"/>
          <p:cNvSpPr/>
          <p:nvPr/>
        </p:nvSpPr>
        <p:spPr>
          <a:xfrm>
            <a:off x="6515100" y="2194560"/>
            <a:ext cx="2160270" cy="452628"/>
          </a:xfrm>
          <a:prstGeom prst="roundRect">
            <a:avLst>
              <a:gd name="adj" fmla="val 10606"/>
            </a:avLst>
          </a:prstGeom>
          <a:solidFill>
            <a:srgbClr val="F3DCC8"/>
          </a:solidFill>
          <a:ln w="22225">
            <a:solidFill>
              <a:srgbClr val="B5591E"/>
            </a:solidFill>
            <a:prstDash val="solid"/>
          </a:ln>
        </p:spPr>
      </p:sp>
      <p:sp>
        <p:nvSpPr>
          <p:cNvPr id="45" name="Text 42"/>
          <p:cNvSpPr txBox="1"/>
          <p:nvPr/>
        </p:nvSpPr>
        <p:spPr>
          <a:xfrm>
            <a:off x="6515100" y="2194560"/>
            <a:ext cx="2160270" cy="452628"/>
          </a:xfrm>
          <a:prstGeom prst="rect">
            <a:avLst/>
          </a:prstGeom>
          <a:noFill/>
          <a:ln/>
        </p:spPr>
        <p:txBody>
          <a:bodyPr wrap="square" lIns="0" tIns="0" rIns="0" bIns="0" rtlCol="0" anchor="ctr"/>
          <a:lstStyle/>
          <a:p>
            <a:pPr algn="ctr"/>
            <a:r>
              <a:rPr lang="en-US" sz="1013" b="1" dirty="0">
                <a:solidFill>
                  <a:srgbClr val="141B4D"/>
                </a:solidFill>
                <a:latin typeface="Calibri" pitchFamily="34" charset="0"/>
                <a:ea typeface="Calibri" pitchFamily="34" charset="-122"/>
                <a:cs typeface="Calibri" pitchFamily="34" charset="-120"/>
              </a:rPr>
              <a:t>arrived</a:t>
            </a:r>
            <a:endParaRPr lang="en-US" sz="1013" dirty="0"/>
          </a:p>
        </p:txBody>
      </p:sp>
      <p:sp>
        <p:nvSpPr>
          <p:cNvPr id="46" name="Shape 43"/>
          <p:cNvSpPr/>
          <p:nvPr/>
        </p:nvSpPr>
        <p:spPr>
          <a:xfrm>
            <a:off x="6515100" y="2743200"/>
            <a:ext cx="2160270" cy="452628"/>
          </a:xfrm>
          <a:prstGeom prst="roundRect">
            <a:avLst>
              <a:gd name="adj" fmla="val 10606"/>
            </a:avLst>
          </a:prstGeom>
          <a:solidFill>
            <a:srgbClr val="FFFFFF"/>
          </a:solidFill>
          <a:ln w="12700">
            <a:solidFill>
              <a:srgbClr val="C7CEDB"/>
            </a:solidFill>
            <a:prstDash val="solid"/>
          </a:ln>
        </p:spPr>
      </p:sp>
      <p:sp>
        <p:nvSpPr>
          <p:cNvPr id="47" name="Text 44"/>
          <p:cNvSpPr txBox="1"/>
          <p:nvPr/>
        </p:nvSpPr>
        <p:spPr>
          <a:xfrm>
            <a:off x="6515100" y="2743200"/>
            <a:ext cx="2160270" cy="452628"/>
          </a:xfrm>
          <a:prstGeom prst="rect">
            <a:avLst/>
          </a:prstGeom>
          <a:noFill/>
          <a:ln/>
        </p:spPr>
        <p:txBody>
          <a:bodyPr wrap="square" lIns="0" tIns="0" rIns="0" bIns="0" rtlCol="0" anchor="ctr"/>
          <a:lstStyle/>
          <a:p>
            <a:pPr algn="ctr"/>
            <a:r>
              <a:rPr lang="en-US" sz="1013" dirty="0">
                <a:solidFill>
                  <a:srgbClr val="4A5364"/>
                </a:solidFill>
                <a:latin typeface="Calibri" pitchFamily="34" charset="0"/>
                <a:ea typeface="Calibri" pitchFamily="34" charset="-122"/>
                <a:cs typeface="Calibri" pitchFamily="34" charset="-120"/>
              </a:rPr>
              <a:t>who</a:t>
            </a:r>
            <a:endParaRPr lang="en-US" sz="1013" dirty="0"/>
          </a:p>
        </p:txBody>
      </p:sp>
      <p:sp>
        <p:nvSpPr>
          <p:cNvPr id="48" name="Shape 45"/>
          <p:cNvSpPr/>
          <p:nvPr/>
        </p:nvSpPr>
        <p:spPr>
          <a:xfrm>
            <a:off x="6515100" y="3291840"/>
            <a:ext cx="2160270" cy="452628"/>
          </a:xfrm>
          <a:prstGeom prst="roundRect">
            <a:avLst>
              <a:gd name="adj" fmla="val 10606"/>
            </a:avLst>
          </a:prstGeom>
          <a:solidFill>
            <a:srgbClr val="FFFFFF"/>
          </a:solidFill>
          <a:ln w="12700">
            <a:solidFill>
              <a:srgbClr val="C7CEDB"/>
            </a:solidFill>
            <a:prstDash val="solid"/>
          </a:ln>
        </p:spPr>
      </p:sp>
      <p:sp>
        <p:nvSpPr>
          <p:cNvPr id="49" name="Text 46"/>
          <p:cNvSpPr txBox="1"/>
          <p:nvPr/>
        </p:nvSpPr>
        <p:spPr>
          <a:xfrm>
            <a:off x="6515100" y="3291840"/>
            <a:ext cx="2160270" cy="452628"/>
          </a:xfrm>
          <a:prstGeom prst="rect">
            <a:avLst/>
          </a:prstGeom>
          <a:noFill/>
          <a:ln/>
        </p:spPr>
        <p:txBody>
          <a:bodyPr wrap="square" lIns="0" tIns="0" rIns="0" bIns="0" rtlCol="0" anchor="ctr"/>
          <a:lstStyle/>
          <a:p>
            <a:pPr algn="ctr"/>
            <a:r>
              <a:rPr lang="en-US" sz="1013" dirty="0">
                <a:solidFill>
                  <a:srgbClr val="4A5364"/>
                </a:solidFill>
                <a:latin typeface="Calibri" pitchFamily="34" charset="0"/>
                <a:ea typeface="Calibri" pitchFamily="34" charset="-122"/>
                <a:cs typeface="Calibri" pitchFamily="34" charset="-120"/>
              </a:rPr>
              <a:t>zebra</a:t>
            </a:r>
            <a:endParaRPr lang="en-US" sz="1013" dirty="0"/>
          </a:p>
        </p:txBody>
      </p:sp>
      <p:sp>
        <p:nvSpPr>
          <p:cNvPr id="50" name="Shape 47"/>
          <p:cNvSpPr/>
          <p:nvPr/>
        </p:nvSpPr>
        <p:spPr>
          <a:xfrm>
            <a:off x="754380" y="4149090"/>
            <a:ext cx="178308" cy="178308"/>
          </a:xfrm>
          <a:prstGeom prst="roundRect">
            <a:avLst>
              <a:gd name="adj" fmla="val 19231"/>
            </a:avLst>
          </a:prstGeom>
          <a:solidFill>
            <a:srgbClr val="F3DCC8"/>
          </a:solidFill>
          <a:ln w="15875">
            <a:solidFill>
              <a:srgbClr val="B5591E"/>
            </a:solidFill>
            <a:prstDash val="solid"/>
          </a:ln>
        </p:spPr>
      </p:sp>
      <p:sp>
        <p:nvSpPr>
          <p:cNvPr id="51" name="Text 48"/>
          <p:cNvSpPr txBox="1"/>
          <p:nvPr/>
        </p:nvSpPr>
        <p:spPr>
          <a:xfrm>
            <a:off x="994410" y="4128516"/>
            <a:ext cx="2194560" cy="219456"/>
          </a:xfrm>
          <a:prstGeom prst="rect">
            <a:avLst/>
          </a:prstGeom>
          <a:noFill/>
          <a:ln/>
        </p:spPr>
        <p:txBody>
          <a:bodyPr wrap="square" lIns="0" tIns="0" rIns="0" bIns="0" rtlCol="0" anchor="ctr"/>
          <a:lstStyle/>
          <a:p>
            <a:r>
              <a:rPr lang="en-US" sz="863" dirty="0">
                <a:solidFill>
                  <a:srgbClr val="222222"/>
                </a:solidFill>
                <a:latin typeface="Calibri" pitchFamily="34" charset="0"/>
                <a:ea typeface="Calibri" pitchFamily="34" charset="-122"/>
                <a:cs typeface="Calibri" pitchFamily="34" charset="-120"/>
              </a:rPr>
              <a:t>kept in the beam (top-k so far)</a:t>
            </a:r>
            <a:endParaRPr lang="en-US" sz="863" dirty="0"/>
          </a:p>
        </p:txBody>
      </p:sp>
      <p:sp>
        <p:nvSpPr>
          <p:cNvPr id="52" name="Shape 49"/>
          <p:cNvSpPr/>
          <p:nvPr/>
        </p:nvSpPr>
        <p:spPr>
          <a:xfrm>
            <a:off x="3634740" y="4149090"/>
            <a:ext cx="178308" cy="178308"/>
          </a:xfrm>
          <a:prstGeom prst="roundRect">
            <a:avLst>
              <a:gd name="adj" fmla="val 19231"/>
            </a:avLst>
          </a:prstGeom>
          <a:solidFill>
            <a:srgbClr val="FFFFFF"/>
          </a:solidFill>
          <a:ln w="12700">
            <a:solidFill>
              <a:srgbClr val="C7CEDB"/>
            </a:solidFill>
            <a:prstDash val="solid"/>
          </a:ln>
        </p:spPr>
      </p:sp>
      <p:sp>
        <p:nvSpPr>
          <p:cNvPr id="53" name="Text 50"/>
          <p:cNvSpPr txBox="1"/>
          <p:nvPr/>
        </p:nvSpPr>
        <p:spPr>
          <a:xfrm>
            <a:off x="3874770" y="4128516"/>
            <a:ext cx="2194560" cy="219456"/>
          </a:xfrm>
          <a:prstGeom prst="rect">
            <a:avLst/>
          </a:prstGeom>
          <a:noFill/>
          <a:ln/>
        </p:spPr>
        <p:txBody>
          <a:bodyPr wrap="square" lIns="0" tIns="0" rIns="0" bIns="0" rtlCol="0" anchor="ctr"/>
          <a:lstStyle/>
          <a:p>
            <a:r>
              <a:rPr lang="en-US" sz="863" dirty="0">
                <a:solidFill>
                  <a:srgbClr val="222222"/>
                </a:solidFill>
                <a:latin typeface="Calibri" pitchFamily="34" charset="0"/>
                <a:ea typeface="Calibri" pitchFamily="34" charset="-122"/>
                <a:cs typeface="Calibri" pitchFamily="34" charset="-120"/>
              </a:rPr>
              <a:t>pruned — falls outside top-k</a:t>
            </a:r>
            <a:endParaRPr lang="en-US" sz="863" dirty="0"/>
          </a:p>
        </p:txBody>
      </p:sp>
      <p:sp>
        <p:nvSpPr>
          <p:cNvPr id="54" name="Text 51"/>
          <p:cNvSpPr txBox="1"/>
          <p:nvPr/>
        </p:nvSpPr>
        <p:spPr>
          <a:xfrm>
            <a:off x="6515100" y="4080510"/>
            <a:ext cx="2160270" cy="445770"/>
          </a:xfrm>
          <a:prstGeom prst="rect">
            <a:avLst/>
          </a:prstGeom>
          <a:noFill/>
          <a:ln/>
        </p:spPr>
        <p:txBody>
          <a:bodyPr wrap="square" lIns="0" tIns="0" rIns="0" bIns="0" rtlCol="0" anchor="ctr"/>
          <a:lstStyle/>
          <a:p>
            <a:pPr>
              <a:lnSpc>
                <a:spcPct val="115000"/>
              </a:lnSpc>
            </a:pPr>
            <a:r>
              <a:rPr lang="en-US" sz="713" i="1" dirty="0">
                <a:solidFill>
                  <a:srgbClr val="5B6472"/>
                </a:solidFill>
                <a:latin typeface="Calibri" pitchFamily="34" charset="0"/>
                <a:ea typeface="Calibri" pitchFamily="34" charset="-122"/>
                <a:cs typeface="Calibri" pitchFamily="34" charset="-120"/>
              </a:rPr>
              <a:t>At every step, each surviving hypothesis expands over the whole vocabulary — but only the k highest-scoring hypotheses overall are kept.</a:t>
            </a:r>
            <a:endParaRPr lang="en-US" sz="713" dirty="0"/>
          </a:p>
        </p:txBody>
      </p:sp>
      <p:sp>
        <p:nvSpPr>
          <p:cNvPr id="55" name="Text 52"/>
          <p:cNvSpPr txBox="1"/>
          <p:nvPr/>
        </p:nvSpPr>
        <p:spPr>
          <a:xfrm>
            <a:off x="377190" y="4924044"/>
            <a:ext cx="6515100" cy="205740"/>
          </a:xfrm>
          <a:prstGeom prst="rect">
            <a:avLst/>
          </a:prstGeom>
          <a:noFill/>
          <a:ln/>
        </p:spPr>
        <p:txBody>
          <a:bodyPr wrap="square" lIns="0" tIns="0" rIns="0" bIns="0" rtlCol="0" anchor="ctr"/>
          <a:lstStyle/>
          <a:p>
            <a:r>
              <a:rPr lang="en-US" sz="750" i="1" dirty="0">
                <a:solidFill>
                  <a:srgbClr val="5B6472"/>
                </a:solidFill>
                <a:latin typeface="Calibri" pitchFamily="34" charset="0"/>
                <a:ea typeface="Calibri" pitchFamily="34" charset="-122"/>
                <a:cs typeface="Calibri" pitchFamily="34" charset="-120"/>
              </a:rPr>
              <a:t>Adapted from web.stanford.edu/~jurafsky/slp3 (beam size k = 2)</a:t>
            </a:r>
            <a:endParaRPr lang="en-US" sz="750" dirty="0"/>
          </a:p>
        </p:txBody>
      </p:sp>
      <p:sp>
        <p:nvSpPr>
          <p:cNvPr id="56" name="Text 53"/>
          <p:cNvSpPr txBox="1"/>
          <p:nvPr/>
        </p:nvSpPr>
        <p:spPr>
          <a:xfrm>
            <a:off x="8743950" y="4882896"/>
            <a:ext cx="274320" cy="205740"/>
          </a:xfrm>
          <a:prstGeom prst="rect">
            <a:avLst/>
          </a:prstGeom>
          <a:noFill/>
          <a:ln/>
        </p:spPr>
        <p:txBody>
          <a:bodyPr wrap="square" lIns="0" tIns="0" rIns="0" bIns="0" rtlCol="0" anchor="ctr"/>
          <a:lstStyle/>
          <a:p>
            <a:pPr algn="r"/>
            <a:r>
              <a:rPr lang="en-US" sz="750" dirty="0">
                <a:solidFill>
                  <a:srgbClr val="5B6472"/>
                </a:solidFill>
                <a:latin typeface="Calibri" pitchFamily="34" charset="0"/>
                <a:ea typeface="Calibri" pitchFamily="34" charset="-122"/>
                <a:cs typeface="Calibri" pitchFamily="34" charset="-120"/>
              </a:rPr>
              <a:t>4</a:t>
            </a:r>
            <a:endParaRPr lang="en-US" sz="75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home/claude/deck/iit_logo.png"/>
          <p:cNvPicPr>
            <a:picLocks noChangeAspect="1"/>
          </p:cNvPicPr>
          <p:nvPr/>
        </p:nvPicPr>
        <p:blipFill>
          <a:blip r:embed="rId3"/>
          <a:stretch>
            <a:fillRect/>
          </a:stretch>
        </p:blipFill>
        <p:spPr>
          <a:xfrm>
            <a:off x="8401050" y="123444"/>
            <a:ext cx="651510" cy="726948"/>
          </a:xfrm>
          <a:prstGeom prst="rect">
            <a:avLst/>
          </a:prstGeom>
        </p:spPr>
      </p:pic>
      <p:sp>
        <p:nvSpPr>
          <p:cNvPr id="3" name="Text 0"/>
          <p:cNvSpPr txBox="1"/>
          <p:nvPr/>
        </p:nvSpPr>
        <p:spPr>
          <a:xfrm>
            <a:off x="377190" y="240030"/>
            <a:ext cx="7749540" cy="582930"/>
          </a:xfrm>
          <a:prstGeom prst="rect">
            <a:avLst/>
          </a:prstGeom>
          <a:noFill/>
          <a:ln/>
        </p:spPr>
        <p:txBody>
          <a:bodyPr wrap="square" lIns="0" tIns="0" rIns="0" bIns="0" rtlCol="0" anchor="ctr"/>
          <a:lstStyle/>
          <a:p>
            <a:r>
              <a:rPr lang="en-US" sz="2025" b="1" dirty="0">
                <a:solidFill>
                  <a:srgbClr val="1E2761"/>
                </a:solidFill>
                <a:latin typeface="Cambria" pitchFamily="34" charset="0"/>
                <a:ea typeface="Cambria" pitchFamily="34" charset="-122"/>
                <a:cs typeface="Cambria" pitchFamily="34" charset="-120"/>
              </a:rPr>
              <a:t>Beam Search on the prev. example</a:t>
            </a:r>
            <a:endParaRPr lang="en-US" sz="2025" dirty="0"/>
          </a:p>
        </p:txBody>
      </p:sp>
      <p:sp>
        <p:nvSpPr>
          <p:cNvPr id="4" name="Shape 1"/>
          <p:cNvSpPr/>
          <p:nvPr/>
        </p:nvSpPr>
        <p:spPr>
          <a:xfrm>
            <a:off x="274320" y="788670"/>
            <a:ext cx="8572500" cy="3634740"/>
          </a:xfrm>
          <a:prstGeom prst="rect">
            <a:avLst/>
          </a:prstGeom>
          <a:solidFill>
            <a:srgbClr val="FFFFFF"/>
          </a:solidFill>
          <a:ln w="12700">
            <a:solidFill>
              <a:srgbClr val="D9D9D9"/>
            </a:solidFill>
            <a:prstDash val="solid"/>
          </a:ln>
        </p:spPr>
      </p:sp>
      <p:sp>
        <p:nvSpPr>
          <p:cNvPr id="5" name="Shape 2"/>
          <p:cNvSpPr/>
          <p:nvPr/>
        </p:nvSpPr>
        <p:spPr>
          <a:xfrm flipV="1">
            <a:off x="668655" y="1803654"/>
            <a:ext cx="1594485" cy="1170432"/>
          </a:xfrm>
          <a:prstGeom prst="line">
            <a:avLst/>
          </a:prstGeom>
          <a:noFill/>
          <a:ln w="34925">
            <a:solidFill>
              <a:srgbClr val="B5591E"/>
            </a:solidFill>
            <a:prstDash val="solid"/>
          </a:ln>
        </p:spPr>
      </p:sp>
      <p:sp>
        <p:nvSpPr>
          <p:cNvPr id="6" name="Shape 3"/>
          <p:cNvSpPr/>
          <p:nvPr/>
        </p:nvSpPr>
        <p:spPr>
          <a:xfrm>
            <a:off x="668655" y="2974086"/>
            <a:ext cx="1594485" cy="118872"/>
          </a:xfrm>
          <a:prstGeom prst="line">
            <a:avLst/>
          </a:prstGeom>
          <a:noFill/>
          <a:ln w="34925">
            <a:solidFill>
              <a:srgbClr val="B5591E"/>
            </a:solidFill>
            <a:prstDash val="solid"/>
          </a:ln>
        </p:spPr>
      </p:sp>
      <p:sp>
        <p:nvSpPr>
          <p:cNvPr id="7" name="Shape 4"/>
          <p:cNvSpPr/>
          <p:nvPr/>
        </p:nvSpPr>
        <p:spPr>
          <a:xfrm>
            <a:off x="668655" y="2974086"/>
            <a:ext cx="1594485" cy="1051560"/>
          </a:xfrm>
          <a:prstGeom prst="line">
            <a:avLst/>
          </a:prstGeom>
          <a:noFill/>
          <a:ln w="13970">
            <a:solidFill>
              <a:srgbClr val="5B6472"/>
            </a:solidFill>
            <a:prstDash val="solid"/>
          </a:ln>
        </p:spPr>
      </p:sp>
      <p:sp>
        <p:nvSpPr>
          <p:cNvPr id="8" name="Shape 5"/>
          <p:cNvSpPr/>
          <p:nvPr/>
        </p:nvSpPr>
        <p:spPr>
          <a:xfrm flipV="1">
            <a:off x="2554605" y="1419606"/>
            <a:ext cx="1594485" cy="384048"/>
          </a:xfrm>
          <a:prstGeom prst="line">
            <a:avLst/>
          </a:prstGeom>
          <a:noFill/>
          <a:ln w="34925">
            <a:solidFill>
              <a:srgbClr val="B5591E"/>
            </a:solidFill>
            <a:prstDash val="solid"/>
          </a:ln>
        </p:spPr>
      </p:sp>
      <p:sp>
        <p:nvSpPr>
          <p:cNvPr id="9" name="Shape 6"/>
          <p:cNvSpPr/>
          <p:nvPr/>
        </p:nvSpPr>
        <p:spPr>
          <a:xfrm flipV="1">
            <a:off x="2554605" y="1803654"/>
            <a:ext cx="1594485" cy="6858"/>
          </a:xfrm>
          <a:prstGeom prst="line">
            <a:avLst/>
          </a:prstGeom>
          <a:noFill/>
          <a:ln w="13970">
            <a:solidFill>
              <a:srgbClr val="5B6472"/>
            </a:solidFill>
            <a:prstDash val="solid"/>
          </a:ln>
        </p:spPr>
      </p:sp>
      <p:sp>
        <p:nvSpPr>
          <p:cNvPr id="10" name="Shape 7"/>
          <p:cNvSpPr/>
          <p:nvPr/>
        </p:nvSpPr>
        <p:spPr>
          <a:xfrm>
            <a:off x="2554605" y="1803654"/>
            <a:ext cx="1594485" cy="384048"/>
          </a:xfrm>
          <a:prstGeom prst="line">
            <a:avLst/>
          </a:prstGeom>
          <a:noFill/>
          <a:ln w="13970">
            <a:solidFill>
              <a:srgbClr val="5B6472"/>
            </a:solidFill>
            <a:prstDash val="solid"/>
          </a:ln>
        </p:spPr>
      </p:sp>
      <p:sp>
        <p:nvSpPr>
          <p:cNvPr id="11" name="Shape 8"/>
          <p:cNvSpPr/>
          <p:nvPr/>
        </p:nvSpPr>
        <p:spPr>
          <a:xfrm flipV="1">
            <a:off x="2554605" y="2708910"/>
            <a:ext cx="1594485" cy="384048"/>
          </a:xfrm>
          <a:prstGeom prst="line">
            <a:avLst/>
          </a:prstGeom>
          <a:noFill/>
          <a:ln w="13970">
            <a:solidFill>
              <a:srgbClr val="5B6472"/>
            </a:solidFill>
            <a:prstDash val="solid"/>
          </a:ln>
        </p:spPr>
      </p:sp>
      <p:sp>
        <p:nvSpPr>
          <p:cNvPr id="12" name="Shape 9"/>
          <p:cNvSpPr/>
          <p:nvPr/>
        </p:nvSpPr>
        <p:spPr>
          <a:xfrm flipV="1">
            <a:off x="2554605" y="3092958"/>
            <a:ext cx="1594485" cy="6858"/>
          </a:xfrm>
          <a:prstGeom prst="line">
            <a:avLst/>
          </a:prstGeom>
          <a:noFill/>
          <a:ln w="34925">
            <a:solidFill>
              <a:srgbClr val="B5591E"/>
            </a:solidFill>
            <a:prstDash val="solid"/>
          </a:ln>
        </p:spPr>
      </p:sp>
      <p:sp>
        <p:nvSpPr>
          <p:cNvPr id="13" name="Shape 10"/>
          <p:cNvSpPr/>
          <p:nvPr/>
        </p:nvSpPr>
        <p:spPr>
          <a:xfrm>
            <a:off x="2554605" y="3092958"/>
            <a:ext cx="1594485" cy="384048"/>
          </a:xfrm>
          <a:prstGeom prst="line">
            <a:avLst/>
          </a:prstGeom>
          <a:noFill/>
          <a:ln w="13970">
            <a:solidFill>
              <a:srgbClr val="5B6472"/>
            </a:solidFill>
            <a:prstDash val="solid"/>
          </a:ln>
        </p:spPr>
      </p:sp>
      <p:sp>
        <p:nvSpPr>
          <p:cNvPr id="14" name="Shape 11"/>
          <p:cNvSpPr/>
          <p:nvPr/>
        </p:nvSpPr>
        <p:spPr>
          <a:xfrm flipV="1">
            <a:off x="4440555" y="1419606"/>
            <a:ext cx="1594485" cy="6858"/>
          </a:xfrm>
          <a:prstGeom prst="line">
            <a:avLst/>
          </a:prstGeom>
          <a:noFill/>
          <a:ln w="34925">
            <a:solidFill>
              <a:srgbClr val="B5591E"/>
            </a:solidFill>
            <a:prstDash val="solid"/>
          </a:ln>
        </p:spPr>
      </p:sp>
      <p:sp>
        <p:nvSpPr>
          <p:cNvPr id="15" name="Shape 12"/>
          <p:cNvSpPr/>
          <p:nvPr/>
        </p:nvSpPr>
        <p:spPr>
          <a:xfrm flipV="1">
            <a:off x="4440555" y="1803654"/>
            <a:ext cx="1594485" cy="6858"/>
          </a:xfrm>
          <a:prstGeom prst="line">
            <a:avLst/>
          </a:prstGeom>
          <a:noFill/>
          <a:ln w="13970">
            <a:solidFill>
              <a:srgbClr val="5B6472"/>
            </a:solidFill>
            <a:prstDash val="solid"/>
          </a:ln>
        </p:spPr>
      </p:sp>
      <p:sp>
        <p:nvSpPr>
          <p:cNvPr id="16" name="Shape 13"/>
          <p:cNvSpPr/>
          <p:nvPr/>
        </p:nvSpPr>
        <p:spPr>
          <a:xfrm flipV="1">
            <a:off x="4440555" y="2708910"/>
            <a:ext cx="1594485" cy="6858"/>
          </a:xfrm>
          <a:prstGeom prst="line">
            <a:avLst/>
          </a:prstGeom>
          <a:noFill/>
          <a:ln w="13970">
            <a:solidFill>
              <a:srgbClr val="5B6472"/>
            </a:solidFill>
            <a:prstDash val="solid"/>
          </a:ln>
        </p:spPr>
      </p:sp>
      <p:sp>
        <p:nvSpPr>
          <p:cNvPr id="17" name="Shape 14"/>
          <p:cNvSpPr/>
          <p:nvPr/>
        </p:nvSpPr>
        <p:spPr>
          <a:xfrm flipV="1">
            <a:off x="4440555" y="3092958"/>
            <a:ext cx="1594485" cy="6858"/>
          </a:xfrm>
          <a:prstGeom prst="line">
            <a:avLst/>
          </a:prstGeom>
          <a:noFill/>
          <a:ln w="34925">
            <a:solidFill>
              <a:srgbClr val="B5591E"/>
            </a:solidFill>
            <a:prstDash val="solid"/>
          </a:ln>
        </p:spPr>
      </p:sp>
      <p:sp>
        <p:nvSpPr>
          <p:cNvPr id="18" name="Text 15"/>
          <p:cNvSpPr txBox="1"/>
          <p:nvPr/>
        </p:nvSpPr>
        <p:spPr>
          <a:xfrm>
            <a:off x="1273874" y="2686050"/>
            <a:ext cx="411480" cy="192024"/>
          </a:xfrm>
          <a:prstGeom prst="rect">
            <a:avLst/>
          </a:prstGeom>
          <a:noFill/>
          <a:ln/>
        </p:spPr>
        <p:txBody>
          <a:bodyPr wrap="square" lIns="0" tIns="0" rIns="0" bIns="0" rtlCol="0" anchor="ctr"/>
          <a:lstStyle/>
          <a:p>
            <a:pPr algn="ctr"/>
            <a:r>
              <a:rPr lang="en-US" sz="788" i="1" dirty="0">
                <a:solidFill>
                  <a:srgbClr val="B5591E"/>
                </a:solidFill>
                <a:latin typeface="Calibri" pitchFamily="34" charset="0"/>
                <a:ea typeface="Calibri" pitchFamily="34" charset="-122"/>
                <a:cs typeface="Calibri" pitchFamily="34" charset="-120"/>
              </a:rPr>
              <a:t>.4</a:t>
            </a:r>
            <a:endParaRPr lang="en-US" sz="788" dirty="0"/>
          </a:p>
        </p:txBody>
      </p:sp>
      <p:sp>
        <p:nvSpPr>
          <p:cNvPr id="19" name="Text 16"/>
          <p:cNvSpPr txBox="1"/>
          <p:nvPr/>
        </p:nvSpPr>
        <p:spPr>
          <a:xfrm>
            <a:off x="1273874" y="2960370"/>
            <a:ext cx="411480" cy="192024"/>
          </a:xfrm>
          <a:prstGeom prst="rect">
            <a:avLst/>
          </a:prstGeom>
          <a:noFill/>
          <a:ln/>
        </p:spPr>
        <p:txBody>
          <a:bodyPr wrap="square" lIns="0" tIns="0" rIns="0" bIns="0" rtlCol="0" anchor="ctr"/>
          <a:lstStyle/>
          <a:p>
            <a:pPr algn="ctr"/>
            <a:r>
              <a:rPr lang="en-US" sz="788" i="1" dirty="0">
                <a:solidFill>
                  <a:srgbClr val="B5591E"/>
                </a:solidFill>
                <a:latin typeface="Calibri" pitchFamily="34" charset="0"/>
                <a:ea typeface="Calibri" pitchFamily="34" charset="-122"/>
                <a:cs typeface="Calibri" pitchFamily="34" charset="-120"/>
              </a:rPr>
              <a:t>.5</a:t>
            </a:r>
            <a:endParaRPr lang="en-US" sz="788" dirty="0"/>
          </a:p>
        </p:txBody>
      </p:sp>
      <p:sp>
        <p:nvSpPr>
          <p:cNvPr id="20" name="Text 17"/>
          <p:cNvSpPr txBox="1"/>
          <p:nvPr/>
        </p:nvSpPr>
        <p:spPr>
          <a:xfrm>
            <a:off x="1273874" y="3179826"/>
            <a:ext cx="411480" cy="192024"/>
          </a:xfrm>
          <a:prstGeom prst="rect">
            <a:avLst/>
          </a:prstGeom>
          <a:noFill/>
          <a:ln/>
        </p:spPr>
        <p:txBody>
          <a:bodyPr wrap="square" lIns="0" tIns="0" rIns="0" bIns="0" rtlCol="0" anchor="ctr"/>
          <a:lstStyle/>
          <a:p>
            <a:pPr algn="ctr"/>
            <a:r>
              <a:rPr lang="en-US" sz="788" i="1" dirty="0">
                <a:solidFill>
                  <a:srgbClr val="B5591E"/>
                </a:solidFill>
                <a:latin typeface="Calibri" pitchFamily="34" charset="0"/>
                <a:ea typeface="Calibri" pitchFamily="34" charset="-122"/>
                <a:cs typeface="Calibri" pitchFamily="34" charset="-120"/>
              </a:rPr>
              <a:t>.1</a:t>
            </a:r>
            <a:endParaRPr lang="en-US" sz="788" dirty="0"/>
          </a:p>
        </p:txBody>
      </p:sp>
      <p:sp>
        <p:nvSpPr>
          <p:cNvPr id="21" name="Text 18"/>
          <p:cNvSpPr txBox="1"/>
          <p:nvPr/>
        </p:nvSpPr>
        <p:spPr>
          <a:xfrm>
            <a:off x="3159824" y="1543050"/>
            <a:ext cx="411480" cy="192024"/>
          </a:xfrm>
          <a:prstGeom prst="rect">
            <a:avLst/>
          </a:prstGeom>
          <a:noFill/>
          <a:ln/>
        </p:spPr>
        <p:txBody>
          <a:bodyPr wrap="square" lIns="0" tIns="0" rIns="0" bIns="0" rtlCol="0" anchor="ctr"/>
          <a:lstStyle/>
          <a:p>
            <a:pPr algn="ctr"/>
            <a:r>
              <a:rPr lang="en-US" sz="788" i="1" dirty="0">
                <a:solidFill>
                  <a:srgbClr val="B5591E"/>
                </a:solidFill>
                <a:latin typeface="Calibri" pitchFamily="34" charset="0"/>
                <a:ea typeface="Calibri" pitchFamily="34" charset="-122"/>
                <a:cs typeface="Calibri" pitchFamily="34" charset="-120"/>
              </a:rPr>
              <a:t>.7</a:t>
            </a:r>
            <a:endParaRPr lang="en-US" sz="788" dirty="0"/>
          </a:p>
        </p:txBody>
      </p:sp>
      <p:sp>
        <p:nvSpPr>
          <p:cNvPr id="22" name="Text 19"/>
          <p:cNvSpPr txBox="1"/>
          <p:nvPr/>
        </p:nvSpPr>
        <p:spPr>
          <a:xfrm>
            <a:off x="3159824" y="1789938"/>
            <a:ext cx="411480" cy="192024"/>
          </a:xfrm>
          <a:prstGeom prst="rect">
            <a:avLst/>
          </a:prstGeom>
          <a:noFill/>
          <a:ln/>
        </p:spPr>
        <p:txBody>
          <a:bodyPr wrap="square" lIns="0" tIns="0" rIns="0" bIns="0" rtlCol="0" anchor="ctr"/>
          <a:lstStyle/>
          <a:p>
            <a:pPr algn="ctr"/>
            <a:r>
              <a:rPr lang="en-US" sz="788" i="1" dirty="0">
                <a:solidFill>
                  <a:srgbClr val="B5591E"/>
                </a:solidFill>
                <a:latin typeface="Calibri" pitchFamily="34" charset="0"/>
                <a:ea typeface="Calibri" pitchFamily="34" charset="-122"/>
                <a:cs typeface="Calibri" pitchFamily="34" charset="-120"/>
              </a:rPr>
              <a:t>.2</a:t>
            </a:r>
            <a:endParaRPr lang="en-US" sz="788" dirty="0"/>
          </a:p>
        </p:txBody>
      </p:sp>
      <p:sp>
        <p:nvSpPr>
          <p:cNvPr id="23" name="Text 20"/>
          <p:cNvSpPr txBox="1"/>
          <p:nvPr/>
        </p:nvSpPr>
        <p:spPr>
          <a:xfrm>
            <a:off x="3159824" y="1995678"/>
            <a:ext cx="411480" cy="192024"/>
          </a:xfrm>
          <a:prstGeom prst="rect">
            <a:avLst/>
          </a:prstGeom>
          <a:noFill/>
          <a:ln/>
        </p:spPr>
        <p:txBody>
          <a:bodyPr wrap="square" lIns="0" tIns="0" rIns="0" bIns="0" rtlCol="0" anchor="ctr"/>
          <a:lstStyle/>
          <a:p>
            <a:pPr algn="ctr"/>
            <a:r>
              <a:rPr lang="en-US" sz="788" i="1" dirty="0">
                <a:solidFill>
                  <a:srgbClr val="B5591E"/>
                </a:solidFill>
                <a:latin typeface="Calibri" pitchFamily="34" charset="0"/>
                <a:ea typeface="Calibri" pitchFamily="34" charset="-122"/>
                <a:cs typeface="Calibri" pitchFamily="34" charset="-120"/>
              </a:rPr>
              <a:t>.1</a:t>
            </a:r>
            <a:endParaRPr lang="en-US" sz="788" dirty="0"/>
          </a:p>
        </p:txBody>
      </p:sp>
      <p:sp>
        <p:nvSpPr>
          <p:cNvPr id="24" name="Text 21"/>
          <p:cNvSpPr txBox="1"/>
          <p:nvPr/>
        </p:nvSpPr>
        <p:spPr>
          <a:xfrm>
            <a:off x="3159824" y="2832354"/>
            <a:ext cx="411480" cy="192024"/>
          </a:xfrm>
          <a:prstGeom prst="rect">
            <a:avLst/>
          </a:prstGeom>
          <a:noFill/>
          <a:ln/>
        </p:spPr>
        <p:txBody>
          <a:bodyPr wrap="square" lIns="0" tIns="0" rIns="0" bIns="0" rtlCol="0" anchor="ctr"/>
          <a:lstStyle/>
          <a:p>
            <a:pPr algn="ctr"/>
            <a:r>
              <a:rPr lang="en-US" sz="788" i="1" dirty="0">
                <a:solidFill>
                  <a:srgbClr val="B5591E"/>
                </a:solidFill>
                <a:latin typeface="Calibri" pitchFamily="34" charset="0"/>
                <a:ea typeface="Calibri" pitchFamily="34" charset="-122"/>
                <a:cs typeface="Calibri" pitchFamily="34" charset="-120"/>
              </a:rPr>
              <a:t>.3</a:t>
            </a:r>
            <a:endParaRPr lang="en-US" sz="788" dirty="0"/>
          </a:p>
        </p:txBody>
      </p:sp>
      <p:sp>
        <p:nvSpPr>
          <p:cNvPr id="25" name="Text 22"/>
          <p:cNvSpPr txBox="1"/>
          <p:nvPr/>
        </p:nvSpPr>
        <p:spPr>
          <a:xfrm>
            <a:off x="3159824" y="3079242"/>
            <a:ext cx="411480" cy="192024"/>
          </a:xfrm>
          <a:prstGeom prst="rect">
            <a:avLst/>
          </a:prstGeom>
          <a:noFill/>
          <a:ln/>
        </p:spPr>
        <p:txBody>
          <a:bodyPr wrap="square" lIns="0" tIns="0" rIns="0" bIns="0" rtlCol="0" anchor="ctr"/>
          <a:lstStyle/>
          <a:p>
            <a:pPr algn="ctr"/>
            <a:r>
              <a:rPr lang="en-US" sz="788" i="1" dirty="0">
                <a:solidFill>
                  <a:srgbClr val="B5591E"/>
                </a:solidFill>
                <a:latin typeface="Calibri" pitchFamily="34" charset="0"/>
                <a:ea typeface="Calibri" pitchFamily="34" charset="-122"/>
                <a:cs typeface="Calibri" pitchFamily="34" charset="-120"/>
              </a:rPr>
              <a:t>.4</a:t>
            </a:r>
            <a:endParaRPr lang="en-US" sz="788" dirty="0"/>
          </a:p>
        </p:txBody>
      </p:sp>
      <p:sp>
        <p:nvSpPr>
          <p:cNvPr id="26" name="Text 23"/>
          <p:cNvSpPr txBox="1"/>
          <p:nvPr/>
        </p:nvSpPr>
        <p:spPr>
          <a:xfrm>
            <a:off x="3159824" y="3284982"/>
            <a:ext cx="411480" cy="192024"/>
          </a:xfrm>
          <a:prstGeom prst="rect">
            <a:avLst/>
          </a:prstGeom>
          <a:noFill/>
          <a:ln/>
        </p:spPr>
        <p:txBody>
          <a:bodyPr wrap="square" lIns="0" tIns="0" rIns="0" bIns="0" rtlCol="0" anchor="ctr"/>
          <a:lstStyle/>
          <a:p>
            <a:pPr algn="ctr"/>
            <a:r>
              <a:rPr lang="en-US" sz="788" i="1" dirty="0">
                <a:solidFill>
                  <a:srgbClr val="B5591E"/>
                </a:solidFill>
                <a:latin typeface="Calibri" pitchFamily="34" charset="0"/>
                <a:ea typeface="Calibri" pitchFamily="34" charset="-122"/>
                <a:cs typeface="Calibri" pitchFamily="34" charset="-120"/>
              </a:rPr>
              <a:t>.3</a:t>
            </a:r>
            <a:endParaRPr lang="en-US" sz="788" dirty="0"/>
          </a:p>
        </p:txBody>
      </p:sp>
      <p:sp>
        <p:nvSpPr>
          <p:cNvPr id="27" name="Text 24"/>
          <p:cNvSpPr txBox="1"/>
          <p:nvPr/>
        </p:nvSpPr>
        <p:spPr>
          <a:xfrm>
            <a:off x="5045774" y="1186434"/>
            <a:ext cx="411480" cy="192024"/>
          </a:xfrm>
          <a:prstGeom prst="rect">
            <a:avLst/>
          </a:prstGeom>
          <a:noFill/>
          <a:ln/>
        </p:spPr>
        <p:txBody>
          <a:bodyPr wrap="square" lIns="0" tIns="0" rIns="0" bIns="0" rtlCol="0" anchor="ctr"/>
          <a:lstStyle/>
          <a:p>
            <a:pPr algn="ctr"/>
            <a:r>
              <a:rPr lang="en-US" sz="788" i="1" dirty="0">
                <a:solidFill>
                  <a:srgbClr val="B5591E"/>
                </a:solidFill>
                <a:latin typeface="Calibri" pitchFamily="34" charset="0"/>
                <a:ea typeface="Calibri" pitchFamily="34" charset="-122"/>
                <a:cs typeface="Calibri" pitchFamily="34" charset="-120"/>
              </a:rPr>
              <a:t>1.0</a:t>
            </a:r>
            <a:endParaRPr lang="en-US" sz="788" dirty="0"/>
          </a:p>
        </p:txBody>
      </p:sp>
      <p:sp>
        <p:nvSpPr>
          <p:cNvPr id="28" name="Text 25"/>
          <p:cNvSpPr txBox="1"/>
          <p:nvPr/>
        </p:nvSpPr>
        <p:spPr>
          <a:xfrm>
            <a:off x="5045774" y="1570482"/>
            <a:ext cx="411480" cy="192024"/>
          </a:xfrm>
          <a:prstGeom prst="rect">
            <a:avLst/>
          </a:prstGeom>
          <a:noFill/>
          <a:ln/>
        </p:spPr>
        <p:txBody>
          <a:bodyPr wrap="square" lIns="0" tIns="0" rIns="0" bIns="0" rtlCol="0" anchor="ctr"/>
          <a:lstStyle/>
          <a:p>
            <a:pPr algn="ctr"/>
            <a:r>
              <a:rPr lang="en-US" sz="788" i="1" dirty="0">
                <a:solidFill>
                  <a:srgbClr val="B5591E"/>
                </a:solidFill>
                <a:latin typeface="Calibri" pitchFamily="34" charset="0"/>
                <a:ea typeface="Calibri" pitchFamily="34" charset="-122"/>
                <a:cs typeface="Calibri" pitchFamily="34" charset="-120"/>
              </a:rPr>
              <a:t>1.0</a:t>
            </a:r>
            <a:endParaRPr lang="en-US" sz="788" dirty="0"/>
          </a:p>
        </p:txBody>
      </p:sp>
      <p:sp>
        <p:nvSpPr>
          <p:cNvPr id="29" name="Text 26"/>
          <p:cNvSpPr txBox="1"/>
          <p:nvPr/>
        </p:nvSpPr>
        <p:spPr>
          <a:xfrm>
            <a:off x="5004626" y="2475738"/>
            <a:ext cx="411480" cy="192024"/>
          </a:xfrm>
          <a:prstGeom prst="rect">
            <a:avLst/>
          </a:prstGeom>
          <a:noFill/>
          <a:ln/>
        </p:spPr>
        <p:txBody>
          <a:bodyPr wrap="square" lIns="0" tIns="0" rIns="0" bIns="0" rtlCol="0" anchor="ctr"/>
          <a:lstStyle/>
          <a:p>
            <a:pPr algn="ctr"/>
            <a:r>
              <a:rPr lang="en-US" sz="788" i="1" dirty="0">
                <a:solidFill>
                  <a:srgbClr val="B5591E"/>
                </a:solidFill>
                <a:latin typeface="Calibri" pitchFamily="34" charset="0"/>
                <a:ea typeface="Calibri" pitchFamily="34" charset="-122"/>
                <a:cs typeface="Calibri" pitchFamily="34" charset="-120"/>
              </a:rPr>
              <a:t>1.0</a:t>
            </a:r>
            <a:endParaRPr lang="en-US" sz="788" dirty="0"/>
          </a:p>
        </p:txBody>
      </p:sp>
      <p:sp>
        <p:nvSpPr>
          <p:cNvPr id="30" name="Text 27"/>
          <p:cNvSpPr txBox="1"/>
          <p:nvPr/>
        </p:nvSpPr>
        <p:spPr>
          <a:xfrm>
            <a:off x="5004626" y="2859786"/>
            <a:ext cx="411480" cy="192024"/>
          </a:xfrm>
          <a:prstGeom prst="rect">
            <a:avLst/>
          </a:prstGeom>
          <a:noFill/>
          <a:ln/>
        </p:spPr>
        <p:txBody>
          <a:bodyPr wrap="square" lIns="0" tIns="0" rIns="0" bIns="0" rtlCol="0" anchor="ctr"/>
          <a:lstStyle/>
          <a:p>
            <a:pPr algn="ctr"/>
            <a:r>
              <a:rPr lang="en-US" sz="788" i="1" dirty="0">
                <a:solidFill>
                  <a:srgbClr val="B5591E"/>
                </a:solidFill>
                <a:latin typeface="Calibri" pitchFamily="34" charset="0"/>
                <a:ea typeface="Calibri" pitchFamily="34" charset="-122"/>
                <a:cs typeface="Calibri" pitchFamily="34" charset="-120"/>
              </a:rPr>
              <a:t>1.0</a:t>
            </a:r>
            <a:endParaRPr lang="en-US" sz="788" dirty="0"/>
          </a:p>
        </p:txBody>
      </p:sp>
      <p:sp>
        <p:nvSpPr>
          <p:cNvPr id="31" name="Text 28"/>
          <p:cNvSpPr txBox="1"/>
          <p:nvPr/>
        </p:nvSpPr>
        <p:spPr>
          <a:xfrm>
            <a:off x="2023110" y="994410"/>
            <a:ext cx="1062990" cy="219456"/>
          </a:xfrm>
          <a:prstGeom prst="rect">
            <a:avLst/>
          </a:prstGeom>
          <a:noFill/>
          <a:ln/>
        </p:spPr>
        <p:txBody>
          <a:bodyPr wrap="square" lIns="0" tIns="0" rIns="0" bIns="0" rtlCol="0" anchor="ctr"/>
          <a:lstStyle/>
          <a:p>
            <a:pPr algn="ctr"/>
            <a:r>
              <a:rPr lang="en-US" sz="863" b="1" i="1" dirty="0">
                <a:solidFill>
                  <a:srgbClr val="B5591E"/>
                </a:solidFill>
                <a:latin typeface="Calibri" pitchFamily="34" charset="0"/>
                <a:ea typeface="Calibri" pitchFamily="34" charset="-122"/>
                <a:cs typeface="Calibri" pitchFamily="34" charset="-120"/>
              </a:rPr>
              <a:t>p(t₁ | start)</a:t>
            </a:r>
            <a:endParaRPr lang="en-US" sz="863" dirty="0"/>
          </a:p>
        </p:txBody>
      </p:sp>
      <p:sp>
        <p:nvSpPr>
          <p:cNvPr id="32" name="Text 29"/>
          <p:cNvSpPr txBox="1"/>
          <p:nvPr/>
        </p:nvSpPr>
        <p:spPr>
          <a:xfrm>
            <a:off x="3909060" y="994410"/>
            <a:ext cx="1062990" cy="219456"/>
          </a:xfrm>
          <a:prstGeom prst="rect">
            <a:avLst/>
          </a:prstGeom>
          <a:noFill/>
          <a:ln/>
        </p:spPr>
        <p:txBody>
          <a:bodyPr wrap="square" lIns="0" tIns="0" rIns="0" bIns="0" rtlCol="0" anchor="ctr"/>
          <a:lstStyle/>
          <a:p>
            <a:pPr algn="ctr"/>
            <a:r>
              <a:rPr lang="en-US" sz="863" b="1" i="1" dirty="0">
                <a:solidFill>
                  <a:srgbClr val="B5591E"/>
                </a:solidFill>
                <a:latin typeface="Calibri" pitchFamily="34" charset="0"/>
                <a:ea typeface="Calibri" pitchFamily="34" charset="-122"/>
                <a:cs typeface="Calibri" pitchFamily="34" charset="-120"/>
              </a:rPr>
              <a:t>p(t₂ | t₁)</a:t>
            </a:r>
            <a:endParaRPr lang="en-US" sz="863" dirty="0"/>
          </a:p>
        </p:txBody>
      </p:sp>
      <p:sp>
        <p:nvSpPr>
          <p:cNvPr id="33" name="Text 30"/>
          <p:cNvSpPr txBox="1"/>
          <p:nvPr/>
        </p:nvSpPr>
        <p:spPr>
          <a:xfrm>
            <a:off x="5795010" y="994410"/>
            <a:ext cx="1062990" cy="219456"/>
          </a:xfrm>
          <a:prstGeom prst="rect">
            <a:avLst/>
          </a:prstGeom>
          <a:noFill/>
          <a:ln/>
        </p:spPr>
        <p:txBody>
          <a:bodyPr wrap="square" lIns="0" tIns="0" rIns="0" bIns="0" rtlCol="0" anchor="ctr"/>
          <a:lstStyle/>
          <a:p>
            <a:pPr algn="ctr"/>
            <a:r>
              <a:rPr lang="en-US" sz="863" b="1" i="1" dirty="0">
                <a:solidFill>
                  <a:srgbClr val="B5591E"/>
                </a:solidFill>
                <a:latin typeface="Calibri" pitchFamily="34" charset="0"/>
                <a:ea typeface="Calibri" pitchFamily="34" charset="-122"/>
                <a:cs typeface="Calibri" pitchFamily="34" charset="-120"/>
              </a:rPr>
              <a:t>p(t₃ | t₁, t₂)</a:t>
            </a:r>
            <a:endParaRPr lang="en-US" sz="863" dirty="0"/>
          </a:p>
        </p:txBody>
      </p:sp>
      <p:sp>
        <p:nvSpPr>
          <p:cNvPr id="34" name="Text 31"/>
          <p:cNvSpPr txBox="1"/>
          <p:nvPr/>
        </p:nvSpPr>
        <p:spPr>
          <a:xfrm>
            <a:off x="2023110" y="4286250"/>
            <a:ext cx="1062990" cy="205740"/>
          </a:xfrm>
          <a:prstGeom prst="rect">
            <a:avLst/>
          </a:prstGeom>
          <a:noFill/>
          <a:ln/>
        </p:spPr>
        <p:txBody>
          <a:bodyPr wrap="square" lIns="0" tIns="0" rIns="0" bIns="0" rtlCol="0" anchor="ctr"/>
          <a:lstStyle/>
          <a:p>
            <a:pPr algn="ctr"/>
            <a:r>
              <a:rPr lang="en-US" sz="900" b="1" dirty="0">
                <a:solidFill>
                  <a:srgbClr val="5B6472"/>
                </a:solidFill>
                <a:latin typeface="Calibri" pitchFamily="34" charset="0"/>
                <a:ea typeface="Calibri" pitchFamily="34" charset="-122"/>
                <a:cs typeface="Calibri" pitchFamily="34" charset="-120"/>
              </a:rPr>
              <a:t>t₁</a:t>
            </a:r>
            <a:endParaRPr lang="en-US" sz="900" dirty="0"/>
          </a:p>
        </p:txBody>
      </p:sp>
      <p:sp>
        <p:nvSpPr>
          <p:cNvPr id="35" name="Text 32"/>
          <p:cNvSpPr txBox="1"/>
          <p:nvPr/>
        </p:nvSpPr>
        <p:spPr>
          <a:xfrm>
            <a:off x="3909060" y="4286250"/>
            <a:ext cx="1062990" cy="205740"/>
          </a:xfrm>
          <a:prstGeom prst="rect">
            <a:avLst/>
          </a:prstGeom>
          <a:noFill/>
          <a:ln/>
        </p:spPr>
        <p:txBody>
          <a:bodyPr wrap="square" lIns="0" tIns="0" rIns="0" bIns="0" rtlCol="0" anchor="ctr"/>
          <a:lstStyle/>
          <a:p>
            <a:pPr algn="ctr"/>
            <a:r>
              <a:rPr lang="en-US" sz="900" b="1" dirty="0">
                <a:solidFill>
                  <a:srgbClr val="5B6472"/>
                </a:solidFill>
                <a:latin typeface="Calibri" pitchFamily="34" charset="0"/>
                <a:ea typeface="Calibri" pitchFamily="34" charset="-122"/>
                <a:cs typeface="Calibri" pitchFamily="34" charset="-120"/>
              </a:rPr>
              <a:t>t₂</a:t>
            </a:r>
            <a:endParaRPr lang="en-US" sz="900" dirty="0"/>
          </a:p>
        </p:txBody>
      </p:sp>
      <p:sp>
        <p:nvSpPr>
          <p:cNvPr id="36" name="Text 33"/>
          <p:cNvSpPr txBox="1"/>
          <p:nvPr/>
        </p:nvSpPr>
        <p:spPr>
          <a:xfrm>
            <a:off x="5795010" y="4286250"/>
            <a:ext cx="1062990" cy="205740"/>
          </a:xfrm>
          <a:prstGeom prst="rect">
            <a:avLst/>
          </a:prstGeom>
          <a:noFill/>
          <a:ln/>
        </p:spPr>
        <p:txBody>
          <a:bodyPr wrap="square" lIns="0" tIns="0" rIns="0" bIns="0" rtlCol="0" anchor="ctr"/>
          <a:lstStyle/>
          <a:p>
            <a:pPr algn="ctr"/>
            <a:r>
              <a:rPr lang="en-US" sz="900" b="1" dirty="0">
                <a:solidFill>
                  <a:srgbClr val="5B6472"/>
                </a:solidFill>
                <a:latin typeface="Calibri" pitchFamily="34" charset="0"/>
                <a:ea typeface="Calibri" pitchFamily="34" charset="-122"/>
                <a:cs typeface="Calibri" pitchFamily="34" charset="-120"/>
              </a:rPr>
              <a:t>t₃</a:t>
            </a:r>
            <a:endParaRPr lang="en-US" sz="900" dirty="0"/>
          </a:p>
        </p:txBody>
      </p:sp>
      <p:sp>
        <p:nvSpPr>
          <p:cNvPr id="37" name="Text 34"/>
          <p:cNvSpPr txBox="1"/>
          <p:nvPr/>
        </p:nvSpPr>
        <p:spPr>
          <a:xfrm>
            <a:off x="377190" y="2823210"/>
            <a:ext cx="582930" cy="301752"/>
          </a:xfrm>
          <a:prstGeom prst="ellipse">
            <a:avLst/>
          </a:prstGeom>
          <a:solidFill>
            <a:srgbClr val="F3DCC8"/>
          </a:solidFill>
          <a:ln w="26670">
            <a:solidFill>
              <a:srgbClr val="B5591E"/>
            </a:solidFill>
          </a:ln>
        </p:spPr>
        <p:txBody>
          <a:bodyPr wrap="square" rtlCol="0" anchor="ctr"/>
          <a:lstStyle/>
          <a:p>
            <a:pPr algn="ctr"/>
            <a:r>
              <a:rPr lang="en-US" sz="900" b="1" dirty="0">
                <a:solidFill>
                  <a:srgbClr val="141B4D"/>
                </a:solidFill>
                <a:latin typeface="Calibri" pitchFamily="34" charset="0"/>
                <a:ea typeface="Calibri" pitchFamily="34" charset="-122"/>
                <a:cs typeface="Calibri" pitchFamily="34" charset="-120"/>
              </a:rPr>
              <a:t>start</a:t>
            </a:r>
            <a:endParaRPr lang="en-US" sz="900" dirty="0"/>
          </a:p>
        </p:txBody>
      </p:sp>
      <p:sp>
        <p:nvSpPr>
          <p:cNvPr id="38" name="Text 35"/>
          <p:cNvSpPr txBox="1"/>
          <p:nvPr/>
        </p:nvSpPr>
        <p:spPr>
          <a:xfrm>
            <a:off x="2263140" y="1652778"/>
            <a:ext cx="582930" cy="301752"/>
          </a:xfrm>
          <a:prstGeom prst="ellipse">
            <a:avLst/>
          </a:prstGeom>
          <a:solidFill>
            <a:srgbClr val="F3DCC8"/>
          </a:solidFill>
          <a:ln w="26670">
            <a:solidFill>
              <a:srgbClr val="B5591E"/>
            </a:solidFill>
          </a:ln>
        </p:spPr>
        <p:txBody>
          <a:bodyPr wrap="square" rtlCol="0" anchor="ctr"/>
          <a:lstStyle/>
          <a:p>
            <a:pPr algn="ctr"/>
            <a:r>
              <a:rPr lang="en-US" sz="900" b="1" dirty="0">
                <a:solidFill>
                  <a:srgbClr val="141B4D"/>
                </a:solidFill>
                <a:latin typeface="Calibri" pitchFamily="34" charset="0"/>
                <a:ea typeface="Calibri" pitchFamily="34" charset="-122"/>
                <a:cs typeface="Calibri" pitchFamily="34" charset="-120"/>
              </a:rPr>
              <a:t>ok</a:t>
            </a:r>
            <a:endParaRPr lang="en-US" sz="900" dirty="0"/>
          </a:p>
        </p:txBody>
      </p:sp>
      <p:sp>
        <p:nvSpPr>
          <p:cNvPr id="39" name="Text 36"/>
          <p:cNvSpPr txBox="1"/>
          <p:nvPr/>
        </p:nvSpPr>
        <p:spPr>
          <a:xfrm>
            <a:off x="2263140" y="2942082"/>
            <a:ext cx="582930" cy="301752"/>
          </a:xfrm>
          <a:prstGeom prst="ellipse">
            <a:avLst/>
          </a:prstGeom>
          <a:solidFill>
            <a:srgbClr val="F3DCC8"/>
          </a:solidFill>
          <a:ln w="26670">
            <a:solidFill>
              <a:srgbClr val="B5591E"/>
            </a:solidFill>
          </a:ln>
        </p:spPr>
        <p:txBody>
          <a:bodyPr wrap="square" rtlCol="0" anchor="ctr"/>
          <a:lstStyle/>
          <a:p>
            <a:pPr algn="ctr"/>
            <a:r>
              <a:rPr lang="en-US" sz="900" b="1" dirty="0">
                <a:solidFill>
                  <a:srgbClr val="141B4D"/>
                </a:solidFill>
                <a:latin typeface="Calibri" pitchFamily="34" charset="0"/>
                <a:ea typeface="Calibri" pitchFamily="34" charset="-122"/>
                <a:cs typeface="Calibri" pitchFamily="34" charset="-120"/>
              </a:rPr>
              <a:t>yes</a:t>
            </a:r>
            <a:endParaRPr lang="en-US" sz="900" dirty="0"/>
          </a:p>
        </p:txBody>
      </p:sp>
      <p:sp>
        <p:nvSpPr>
          <p:cNvPr id="40" name="Text 37"/>
          <p:cNvSpPr txBox="1"/>
          <p:nvPr/>
        </p:nvSpPr>
        <p:spPr>
          <a:xfrm>
            <a:off x="2263140" y="3874770"/>
            <a:ext cx="582930" cy="301752"/>
          </a:xfrm>
          <a:prstGeom prst="ellipse">
            <a:avLst/>
          </a:prstGeom>
          <a:solidFill>
            <a:srgbClr val="EEF0FB"/>
          </a:solidFill>
          <a:ln w="17780">
            <a:solidFill>
              <a:srgbClr val="1E2761"/>
            </a:solidFill>
          </a:ln>
        </p:spPr>
        <p:txBody>
          <a:bodyPr wrap="square" rtlCol="0" anchor="ctr"/>
          <a:lstStyle/>
          <a:p>
            <a:pPr algn="ctr"/>
            <a:r>
              <a:rPr lang="en-US" sz="900" b="1" dirty="0">
                <a:solidFill>
                  <a:srgbClr val="141B4D"/>
                </a:solidFill>
                <a:latin typeface="Calibri" pitchFamily="34" charset="0"/>
                <a:ea typeface="Calibri" pitchFamily="34" charset="-122"/>
                <a:cs typeface="Calibri" pitchFamily="34" charset="-120"/>
              </a:rPr>
              <a:t>EOS</a:t>
            </a:r>
            <a:endParaRPr lang="en-US" sz="900" dirty="0"/>
          </a:p>
        </p:txBody>
      </p:sp>
      <p:sp>
        <p:nvSpPr>
          <p:cNvPr id="41" name="Text 38"/>
          <p:cNvSpPr txBox="1"/>
          <p:nvPr/>
        </p:nvSpPr>
        <p:spPr>
          <a:xfrm>
            <a:off x="4149090" y="1268730"/>
            <a:ext cx="582930" cy="301752"/>
          </a:xfrm>
          <a:prstGeom prst="ellipse">
            <a:avLst/>
          </a:prstGeom>
          <a:solidFill>
            <a:srgbClr val="F3DCC8"/>
          </a:solidFill>
          <a:ln w="26670">
            <a:solidFill>
              <a:srgbClr val="B5591E"/>
            </a:solidFill>
          </a:ln>
        </p:spPr>
        <p:txBody>
          <a:bodyPr wrap="square" rtlCol="0" anchor="ctr"/>
          <a:lstStyle/>
          <a:p>
            <a:pPr algn="ctr"/>
            <a:r>
              <a:rPr lang="en-US" sz="900" b="1" dirty="0">
                <a:solidFill>
                  <a:srgbClr val="141B4D"/>
                </a:solidFill>
                <a:latin typeface="Calibri" pitchFamily="34" charset="0"/>
                <a:ea typeface="Calibri" pitchFamily="34" charset="-122"/>
                <a:cs typeface="Calibri" pitchFamily="34" charset="-120"/>
              </a:rPr>
              <a:t>ok</a:t>
            </a:r>
            <a:endParaRPr lang="en-US" sz="900" dirty="0"/>
          </a:p>
        </p:txBody>
      </p:sp>
      <p:sp>
        <p:nvSpPr>
          <p:cNvPr id="42" name="Text 39"/>
          <p:cNvSpPr txBox="1"/>
          <p:nvPr/>
        </p:nvSpPr>
        <p:spPr>
          <a:xfrm>
            <a:off x="4149090" y="1652778"/>
            <a:ext cx="582930" cy="301752"/>
          </a:xfrm>
          <a:prstGeom prst="ellipse">
            <a:avLst/>
          </a:prstGeom>
          <a:solidFill>
            <a:srgbClr val="FFFFFF"/>
          </a:solidFill>
          <a:ln w="17780">
            <a:solidFill>
              <a:srgbClr val="1E2761"/>
            </a:solidFill>
          </a:ln>
        </p:spPr>
        <p:txBody>
          <a:bodyPr wrap="square" rtlCol="0" anchor="ctr"/>
          <a:lstStyle/>
          <a:p>
            <a:pPr algn="ctr"/>
            <a:r>
              <a:rPr lang="en-US" sz="900" dirty="0">
                <a:solidFill>
                  <a:srgbClr val="141B4D"/>
                </a:solidFill>
                <a:latin typeface="Calibri" pitchFamily="34" charset="0"/>
                <a:ea typeface="Calibri" pitchFamily="34" charset="-122"/>
                <a:cs typeface="Calibri" pitchFamily="34" charset="-120"/>
              </a:rPr>
              <a:t>yes</a:t>
            </a:r>
            <a:endParaRPr lang="en-US" sz="900" dirty="0"/>
          </a:p>
        </p:txBody>
      </p:sp>
      <p:sp>
        <p:nvSpPr>
          <p:cNvPr id="43" name="Text 40"/>
          <p:cNvSpPr txBox="1"/>
          <p:nvPr/>
        </p:nvSpPr>
        <p:spPr>
          <a:xfrm>
            <a:off x="4149090" y="2036826"/>
            <a:ext cx="582930" cy="301752"/>
          </a:xfrm>
          <a:prstGeom prst="ellipse">
            <a:avLst/>
          </a:prstGeom>
          <a:solidFill>
            <a:srgbClr val="EEF0FB"/>
          </a:solidFill>
          <a:ln w="17780">
            <a:solidFill>
              <a:srgbClr val="1E2761"/>
            </a:solidFill>
          </a:ln>
        </p:spPr>
        <p:txBody>
          <a:bodyPr wrap="square" rtlCol="0" anchor="ctr"/>
          <a:lstStyle/>
          <a:p>
            <a:pPr algn="ctr"/>
            <a:r>
              <a:rPr lang="en-US" sz="900" b="1" dirty="0">
                <a:solidFill>
                  <a:srgbClr val="141B4D"/>
                </a:solidFill>
                <a:latin typeface="Calibri" pitchFamily="34" charset="0"/>
                <a:ea typeface="Calibri" pitchFamily="34" charset="-122"/>
                <a:cs typeface="Calibri" pitchFamily="34" charset="-120"/>
              </a:rPr>
              <a:t>EOS</a:t>
            </a:r>
            <a:endParaRPr lang="en-US" sz="900" dirty="0"/>
          </a:p>
        </p:txBody>
      </p:sp>
      <p:sp>
        <p:nvSpPr>
          <p:cNvPr id="44" name="Text 41"/>
          <p:cNvSpPr txBox="1"/>
          <p:nvPr/>
        </p:nvSpPr>
        <p:spPr>
          <a:xfrm>
            <a:off x="4149090" y="2558034"/>
            <a:ext cx="582930" cy="301752"/>
          </a:xfrm>
          <a:prstGeom prst="ellipse">
            <a:avLst/>
          </a:prstGeom>
          <a:solidFill>
            <a:srgbClr val="FFFFFF"/>
          </a:solidFill>
          <a:ln w="17780">
            <a:solidFill>
              <a:srgbClr val="1E2761"/>
            </a:solidFill>
          </a:ln>
        </p:spPr>
        <p:txBody>
          <a:bodyPr wrap="square" rtlCol="0" anchor="ctr"/>
          <a:lstStyle/>
          <a:p>
            <a:pPr algn="ctr"/>
            <a:r>
              <a:rPr lang="en-US" sz="900" dirty="0">
                <a:solidFill>
                  <a:srgbClr val="141B4D"/>
                </a:solidFill>
                <a:latin typeface="Calibri" pitchFamily="34" charset="0"/>
                <a:ea typeface="Calibri" pitchFamily="34" charset="-122"/>
                <a:cs typeface="Calibri" pitchFamily="34" charset="-120"/>
              </a:rPr>
              <a:t>ok</a:t>
            </a:r>
            <a:endParaRPr lang="en-US" sz="900" dirty="0"/>
          </a:p>
        </p:txBody>
      </p:sp>
      <p:sp>
        <p:nvSpPr>
          <p:cNvPr id="45" name="Text 42"/>
          <p:cNvSpPr txBox="1"/>
          <p:nvPr/>
        </p:nvSpPr>
        <p:spPr>
          <a:xfrm>
            <a:off x="4149090" y="2942082"/>
            <a:ext cx="582930" cy="301752"/>
          </a:xfrm>
          <a:prstGeom prst="ellipse">
            <a:avLst/>
          </a:prstGeom>
          <a:solidFill>
            <a:srgbClr val="F3DCC8"/>
          </a:solidFill>
          <a:ln w="26670">
            <a:solidFill>
              <a:srgbClr val="B5591E"/>
            </a:solidFill>
          </a:ln>
        </p:spPr>
        <p:txBody>
          <a:bodyPr wrap="square" rtlCol="0" anchor="ctr"/>
          <a:lstStyle/>
          <a:p>
            <a:pPr algn="ctr"/>
            <a:r>
              <a:rPr lang="en-US" sz="900" b="1" dirty="0">
                <a:solidFill>
                  <a:srgbClr val="141B4D"/>
                </a:solidFill>
                <a:latin typeface="Calibri" pitchFamily="34" charset="0"/>
                <a:ea typeface="Calibri" pitchFamily="34" charset="-122"/>
                <a:cs typeface="Calibri" pitchFamily="34" charset="-120"/>
              </a:rPr>
              <a:t>yes</a:t>
            </a:r>
            <a:endParaRPr lang="en-US" sz="900" dirty="0"/>
          </a:p>
        </p:txBody>
      </p:sp>
      <p:sp>
        <p:nvSpPr>
          <p:cNvPr id="46" name="Text 43"/>
          <p:cNvSpPr txBox="1"/>
          <p:nvPr/>
        </p:nvSpPr>
        <p:spPr>
          <a:xfrm>
            <a:off x="4149090" y="3326130"/>
            <a:ext cx="582930" cy="301752"/>
          </a:xfrm>
          <a:prstGeom prst="ellipse">
            <a:avLst/>
          </a:prstGeom>
          <a:solidFill>
            <a:srgbClr val="EEF0FB"/>
          </a:solidFill>
          <a:ln w="17780">
            <a:solidFill>
              <a:srgbClr val="1E2761"/>
            </a:solidFill>
          </a:ln>
        </p:spPr>
        <p:txBody>
          <a:bodyPr wrap="square" rtlCol="0" anchor="ctr"/>
          <a:lstStyle/>
          <a:p>
            <a:pPr algn="ctr"/>
            <a:r>
              <a:rPr lang="en-US" sz="900" b="1" dirty="0">
                <a:solidFill>
                  <a:srgbClr val="141B4D"/>
                </a:solidFill>
                <a:latin typeface="Calibri" pitchFamily="34" charset="0"/>
                <a:ea typeface="Calibri" pitchFamily="34" charset="-122"/>
                <a:cs typeface="Calibri" pitchFamily="34" charset="-120"/>
              </a:rPr>
              <a:t>EOS</a:t>
            </a:r>
            <a:endParaRPr lang="en-US" sz="900" dirty="0"/>
          </a:p>
        </p:txBody>
      </p:sp>
      <p:sp>
        <p:nvSpPr>
          <p:cNvPr id="47" name="Text 44"/>
          <p:cNvSpPr txBox="1"/>
          <p:nvPr/>
        </p:nvSpPr>
        <p:spPr>
          <a:xfrm>
            <a:off x="6035040" y="1268730"/>
            <a:ext cx="582930" cy="301752"/>
          </a:xfrm>
          <a:prstGeom prst="ellipse">
            <a:avLst/>
          </a:prstGeom>
          <a:solidFill>
            <a:srgbClr val="F3DCC8"/>
          </a:solidFill>
          <a:ln w="26670">
            <a:solidFill>
              <a:srgbClr val="B5591E"/>
            </a:solidFill>
          </a:ln>
        </p:spPr>
        <p:txBody>
          <a:bodyPr wrap="square" rtlCol="0" anchor="ctr"/>
          <a:lstStyle/>
          <a:p>
            <a:pPr algn="ctr"/>
            <a:r>
              <a:rPr lang="en-US" sz="900" b="1" dirty="0">
                <a:solidFill>
                  <a:srgbClr val="141B4D"/>
                </a:solidFill>
                <a:latin typeface="Calibri" pitchFamily="34" charset="0"/>
                <a:ea typeface="Calibri" pitchFamily="34" charset="-122"/>
                <a:cs typeface="Calibri" pitchFamily="34" charset="-120"/>
              </a:rPr>
              <a:t>EOS</a:t>
            </a:r>
            <a:endParaRPr lang="en-US" sz="900" dirty="0"/>
          </a:p>
        </p:txBody>
      </p:sp>
      <p:sp>
        <p:nvSpPr>
          <p:cNvPr id="48" name="Text 45"/>
          <p:cNvSpPr txBox="1"/>
          <p:nvPr/>
        </p:nvSpPr>
        <p:spPr>
          <a:xfrm>
            <a:off x="6035040" y="1652778"/>
            <a:ext cx="582930" cy="301752"/>
          </a:xfrm>
          <a:prstGeom prst="ellipse">
            <a:avLst/>
          </a:prstGeom>
          <a:solidFill>
            <a:srgbClr val="EEF0FB"/>
          </a:solidFill>
          <a:ln w="17780">
            <a:solidFill>
              <a:srgbClr val="1E2761"/>
            </a:solidFill>
          </a:ln>
        </p:spPr>
        <p:txBody>
          <a:bodyPr wrap="square" rtlCol="0" anchor="ctr"/>
          <a:lstStyle/>
          <a:p>
            <a:pPr algn="ctr"/>
            <a:r>
              <a:rPr lang="en-US" sz="900" b="1" dirty="0">
                <a:solidFill>
                  <a:srgbClr val="141B4D"/>
                </a:solidFill>
                <a:latin typeface="Calibri" pitchFamily="34" charset="0"/>
                <a:ea typeface="Calibri" pitchFamily="34" charset="-122"/>
                <a:cs typeface="Calibri" pitchFamily="34" charset="-120"/>
              </a:rPr>
              <a:t>EOS</a:t>
            </a:r>
            <a:endParaRPr lang="en-US" sz="900" dirty="0"/>
          </a:p>
        </p:txBody>
      </p:sp>
      <p:sp>
        <p:nvSpPr>
          <p:cNvPr id="49" name="Text 46"/>
          <p:cNvSpPr txBox="1"/>
          <p:nvPr/>
        </p:nvSpPr>
        <p:spPr>
          <a:xfrm>
            <a:off x="6035040" y="2558034"/>
            <a:ext cx="582930" cy="301752"/>
          </a:xfrm>
          <a:prstGeom prst="ellipse">
            <a:avLst/>
          </a:prstGeom>
          <a:solidFill>
            <a:srgbClr val="EEF0FB"/>
          </a:solidFill>
          <a:ln w="17780">
            <a:solidFill>
              <a:srgbClr val="1E2761"/>
            </a:solidFill>
          </a:ln>
        </p:spPr>
        <p:txBody>
          <a:bodyPr wrap="square" rtlCol="0" anchor="ctr"/>
          <a:lstStyle/>
          <a:p>
            <a:pPr algn="ctr"/>
            <a:r>
              <a:rPr lang="en-US" sz="900" b="1" dirty="0">
                <a:solidFill>
                  <a:srgbClr val="141B4D"/>
                </a:solidFill>
                <a:latin typeface="Calibri" pitchFamily="34" charset="0"/>
                <a:ea typeface="Calibri" pitchFamily="34" charset="-122"/>
                <a:cs typeface="Calibri" pitchFamily="34" charset="-120"/>
              </a:rPr>
              <a:t>EOS</a:t>
            </a:r>
            <a:endParaRPr lang="en-US" sz="900" dirty="0"/>
          </a:p>
        </p:txBody>
      </p:sp>
      <p:sp>
        <p:nvSpPr>
          <p:cNvPr id="50" name="Text 47"/>
          <p:cNvSpPr txBox="1"/>
          <p:nvPr/>
        </p:nvSpPr>
        <p:spPr>
          <a:xfrm>
            <a:off x="6035040" y="2942082"/>
            <a:ext cx="582930" cy="301752"/>
          </a:xfrm>
          <a:prstGeom prst="ellipse">
            <a:avLst/>
          </a:prstGeom>
          <a:solidFill>
            <a:srgbClr val="F3DCC8"/>
          </a:solidFill>
          <a:ln w="26670">
            <a:solidFill>
              <a:srgbClr val="B5591E"/>
            </a:solidFill>
          </a:ln>
        </p:spPr>
        <p:txBody>
          <a:bodyPr wrap="square" rtlCol="0" anchor="ctr"/>
          <a:lstStyle/>
          <a:p>
            <a:pPr algn="ctr"/>
            <a:r>
              <a:rPr lang="en-US" sz="900" b="1" dirty="0">
                <a:solidFill>
                  <a:srgbClr val="141B4D"/>
                </a:solidFill>
                <a:latin typeface="Calibri" pitchFamily="34" charset="0"/>
                <a:ea typeface="Calibri" pitchFamily="34" charset="-122"/>
                <a:cs typeface="Calibri" pitchFamily="34" charset="-120"/>
              </a:rPr>
              <a:t>EOS</a:t>
            </a:r>
            <a:endParaRPr lang="en-US" sz="900" dirty="0"/>
          </a:p>
        </p:txBody>
      </p:sp>
      <p:sp>
        <p:nvSpPr>
          <p:cNvPr id="51" name="Text 48"/>
          <p:cNvSpPr txBox="1"/>
          <p:nvPr/>
        </p:nvSpPr>
        <p:spPr>
          <a:xfrm>
            <a:off x="377190" y="4539996"/>
            <a:ext cx="7955280" cy="342900"/>
          </a:xfrm>
          <a:prstGeom prst="rect">
            <a:avLst/>
          </a:prstGeom>
          <a:noFill/>
          <a:ln/>
        </p:spPr>
        <p:txBody>
          <a:bodyPr wrap="square" lIns="0" tIns="0" rIns="0" bIns="0" rtlCol="0" anchor="ctr"/>
          <a:lstStyle/>
          <a:p>
            <a:r>
              <a:rPr lang="en-US" sz="1125" b="1" i="1" dirty="0">
                <a:solidFill>
                  <a:srgbClr val="222222"/>
                </a:solidFill>
                <a:latin typeface="Calibri" pitchFamily="34" charset="0"/>
                <a:ea typeface="Calibri" pitchFamily="34" charset="-122"/>
                <a:cs typeface="Calibri" pitchFamily="34" charset="-120"/>
              </a:rPr>
              <a:t>Take Beam Size = 2. </a:t>
            </a:r>
            <a:r>
              <a:rPr lang="en-US" sz="1125" i="1" dirty="0">
                <a:solidFill>
                  <a:srgbClr val="222222"/>
                </a:solidFill>
                <a:latin typeface="Calibri" pitchFamily="34" charset="0"/>
                <a:ea typeface="Calibri" pitchFamily="34" charset="-122"/>
                <a:cs typeface="Calibri" pitchFamily="34" charset="-120"/>
              </a:rPr>
              <a:t>Is the Beam search solution the same as the optimal solution?</a:t>
            </a:r>
            <a:endParaRPr lang="en-US" sz="1125" dirty="0"/>
          </a:p>
        </p:txBody>
      </p:sp>
      <p:sp>
        <p:nvSpPr>
          <p:cNvPr id="52" name="Text 49"/>
          <p:cNvSpPr txBox="1"/>
          <p:nvPr/>
        </p:nvSpPr>
        <p:spPr>
          <a:xfrm>
            <a:off x="377190" y="4924044"/>
            <a:ext cx="6515100" cy="205740"/>
          </a:xfrm>
          <a:prstGeom prst="rect">
            <a:avLst/>
          </a:prstGeom>
          <a:noFill/>
          <a:ln/>
        </p:spPr>
        <p:txBody>
          <a:bodyPr wrap="square" lIns="0" tIns="0" rIns="0" bIns="0" rtlCol="0" anchor="ctr"/>
          <a:lstStyle/>
          <a:p>
            <a:r>
              <a:rPr lang="en-US" sz="750" i="1" dirty="0">
                <a:solidFill>
                  <a:srgbClr val="5B6472"/>
                </a:solidFill>
                <a:latin typeface="Calibri" pitchFamily="34" charset="0"/>
                <a:ea typeface="Calibri" pitchFamily="34" charset="-122"/>
                <a:cs typeface="Calibri" pitchFamily="34" charset="-120"/>
              </a:rPr>
              <a:t>Source: web.stanford.edu/~jurafsky/slp3</a:t>
            </a:r>
            <a:endParaRPr lang="en-US" sz="750" dirty="0"/>
          </a:p>
        </p:txBody>
      </p:sp>
      <p:sp>
        <p:nvSpPr>
          <p:cNvPr id="53" name="Text 50"/>
          <p:cNvSpPr txBox="1"/>
          <p:nvPr/>
        </p:nvSpPr>
        <p:spPr>
          <a:xfrm>
            <a:off x="8743950" y="4882896"/>
            <a:ext cx="274320" cy="205740"/>
          </a:xfrm>
          <a:prstGeom prst="rect">
            <a:avLst/>
          </a:prstGeom>
          <a:noFill/>
          <a:ln/>
        </p:spPr>
        <p:txBody>
          <a:bodyPr wrap="square" lIns="0" tIns="0" rIns="0" bIns="0" rtlCol="0" anchor="ctr"/>
          <a:lstStyle/>
          <a:p>
            <a:pPr algn="r"/>
            <a:r>
              <a:rPr lang="en-US" sz="750" dirty="0">
                <a:solidFill>
                  <a:srgbClr val="5B6472"/>
                </a:solidFill>
                <a:latin typeface="Calibri" pitchFamily="34" charset="0"/>
                <a:ea typeface="Calibri" pitchFamily="34" charset="-122"/>
                <a:cs typeface="Calibri" pitchFamily="34" charset="-120"/>
              </a:rPr>
              <a:t>5</a:t>
            </a:r>
            <a:endParaRPr lang="en-US" sz="75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home/claude/deck/iit_logo.png"/>
          <p:cNvPicPr>
            <a:picLocks noChangeAspect="1"/>
          </p:cNvPicPr>
          <p:nvPr/>
        </p:nvPicPr>
        <p:blipFill>
          <a:blip r:embed="rId3"/>
          <a:stretch>
            <a:fillRect/>
          </a:stretch>
        </p:blipFill>
        <p:spPr>
          <a:xfrm>
            <a:off x="8401050" y="123444"/>
            <a:ext cx="651510" cy="726948"/>
          </a:xfrm>
          <a:prstGeom prst="rect">
            <a:avLst/>
          </a:prstGeom>
        </p:spPr>
      </p:pic>
      <p:sp>
        <p:nvSpPr>
          <p:cNvPr id="3" name="Text 0"/>
          <p:cNvSpPr txBox="1"/>
          <p:nvPr/>
        </p:nvSpPr>
        <p:spPr>
          <a:xfrm>
            <a:off x="377190" y="240030"/>
            <a:ext cx="7749540" cy="582930"/>
          </a:xfrm>
          <a:prstGeom prst="rect">
            <a:avLst/>
          </a:prstGeom>
          <a:noFill/>
          <a:ln/>
        </p:spPr>
        <p:txBody>
          <a:bodyPr wrap="square" lIns="0" tIns="0" rIns="0" bIns="0" rtlCol="0" anchor="ctr"/>
          <a:lstStyle/>
          <a:p>
            <a:r>
              <a:rPr lang="en-US" sz="1950" b="1" dirty="0">
                <a:solidFill>
                  <a:srgbClr val="1E2761"/>
                </a:solidFill>
                <a:latin typeface="Cambria" pitchFamily="34" charset="0"/>
                <a:ea typeface="Cambria" pitchFamily="34" charset="-122"/>
                <a:cs typeface="Cambria" pitchFamily="34" charset="-120"/>
              </a:rPr>
              <a:t>Greedy and Beam Search are deterministic!</a:t>
            </a:r>
            <a:endParaRPr lang="en-US" sz="1950" dirty="0"/>
          </a:p>
        </p:txBody>
      </p:sp>
      <p:sp>
        <p:nvSpPr>
          <p:cNvPr id="4" name="Text 1"/>
          <p:cNvSpPr txBox="1"/>
          <p:nvPr/>
        </p:nvSpPr>
        <p:spPr>
          <a:xfrm>
            <a:off x="377190" y="960120"/>
            <a:ext cx="7955280" cy="1028700"/>
          </a:xfrm>
          <a:prstGeom prst="rect">
            <a:avLst/>
          </a:prstGeom>
          <a:noFill/>
          <a:ln/>
        </p:spPr>
        <p:txBody>
          <a:bodyPr wrap="square" lIns="0" tIns="0" rIns="0" bIns="0" rtlCol="0" anchor="t"/>
          <a:lstStyle/>
          <a:p>
            <a:pPr marL="171450" indent="-171450">
              <a:spcAft>
                <a:spcPts val="750"/>
              </a:spcAft>
              <a:buSzPct val="100000"/>
              <a:buChar char="●"/>
            </a:pPr>
            <a:r>
              <a:rPr lang="en-US" sz="1200" dirty="0">
                <a:solidFill>
                  <a:srgbClr val="222222"/>
                </a:solidFill>
                <a:latin typeface="Calibri" pitchFamily="34" charset="0"/>
                <a:ea typeface="Calibri" pitchFamily="34" charset="-122"/>
                <a:cs typeface="Calibri" pitchFamily="34" charset="-120"/>
              </a:rPr>
              <a:t>Greedy decoding as well as Beam Search decoding will give a “deterministic” output</a:t>
            </a:r>
            <a:endParaRPr lang="en-US" sz="1200" dirty="0"/>
          </a:p>
          <a:p>
            <a:pPr marL="171450" indent="-171450">
              <a:spcAft>
                <a:spcPts val="750"/>
              </a:spcAft>
              <a:buSzPct val="100000"/>
              <a:buChar char="●"/>
            </a:pPr>
            <a:r>
              <a:rPr lang="en-US" sz="1200" dirty="0">
                <a:solidFill>
                  <a:srgbClr val="222222"/>
                </a:solidFill>
                <a:latin typeface="Calibri" pitchFamily="34" charset="0"/>
                <a:ea typeface="Calibri" pitchFamily="34" charset="-122"/>
                <a:cs typeface="Calibri" pitchFamily="34" charset="-120"/>
              </a:rPr>
              <a:t>Other common decoding algorithms involve “sampling”, and bring in some degree of “randomness”</a:t>
            </a:r>
            <a:endParaRPr lang="en-US" sz="1200" dirty="0"/>
          </a:p>
        </p:txBody>
      </p:sp>
      <p:sp>
        <p:nvSpPr>
          <p:cNvPr id="5" name="Text 2"/>
          <p:cNvSpPr txBox="1"/>
          <p:nvPr/>
        </p:nvSpPr>
        <p:spPr>
          <a:xfrm>
            <a:off x="377190" y="2091690"/>
            <a:ext cx="7955280" cy="342900"/>
          </a:xfrm>
          <a:prstGeom prst="rect">
            <a:avLst/>
          </a:prstGeom>
          <a:noFill/>
          <a:ln/>
        </p:spPr>
        <p:txBody>
          <a:bodyPr wrap="square" lIns="0" tIns="0" rIns="0" bIns="0" rtlCol="0" anchor="ctr"/>
          <a:lstStyle/>
          <a:p>
            <a:r>
              <a:rPr lang="en-US" sz="1275" i="1" dirty="0">
                <a:solidFill>
                  <a:srgbClr val="222222"/>
                </a:solidFill>
                <a:latin typeface="Cambria" pitchFamily="34" charset="0"/>
                <a:ea typeface="Cambria" pitchFamily="34" charset="-122"/>
                <a:cs typeface="Cambria" pitchFamily="34" charset="-120"/>
              </a:rPr>
              <a:t>x ~ p(x)</a:t>
            </a:r>
            <a:r>
              <a:rPr lang="en-US" sz="1275" dirty="0">
                <a:solidFill>
                  <a:srgbClr val="222222"/>
                </a:solidFill>
                <a:latin typeface="Calibri" pitchFamily="34" charset="0"/>
                <a:ea typeface="Calibri" pitchFamily="34" charset="-122"/>
                <a:cs typeface="Calibri" pitchFamily="34" charset="-120"/>
              </a:rPr>
              <a:t>  →  choose x by sampling from the distribution p(x)</a:t>
            </a:r>
            <a:endParaRPr lang="en-US" sz="1275" dirty="0"/>
          </a:p>
        </p:txBody>
      </p:sp>
      <p:sp>
        <p:nvSpPr>
          <p:cNvPr id="6" name="Shape 3"/>
          <p:cNvSpPr/>
          <p:nvPr/>
        </p:nvSpPr>
        <p:spPr>
          <a:xfrm>
            <a:off x="377190" y="2571750"/>
            <a:ext cx="7955280" cy="452628"/>
          </a:xfrm>
          <a:prstGeom prst="roundRect">
            <a:avLst>
              <a:gd name="adj" fmla="val 9091"/>
            </a:avLst>
          </a:prstGeom>
          <a:solidFill>
            <a:srgbClr val="DDDDF5"/>
          </a:solidFill>
          <a:ln w="9525">
            <a:solidFill>
              <a:srgbClr val="C9C9EC"/>
            </a:solidFill>
            <a:prstDash val="solid"/>
          </a:ln>
          <a:effectLst>
            <a:outerShdw blurRad="63500" dist="25400" dir="5400000" algn="bl" rotWithShape="0">
              <a:srgbClr val="8A8AC0">
                <a:alpha val="28000"/>
              </a:srgbClr>
            </a:outerShdw>
          </a:effectLst>
        </p:spPr>
      </p:sp>
      <p:sp>
        <p:nvSpPr>
          <p:cNvPr id="7" name="Text 4"/>
          <p:cNvSpPr txBox="1"/>
          <p:nvPr/>
        </p:nvSpPr>
        <p:spPr>
          <a:xfrm>
            <a:off x="569214" y="2654046"/>
            <a:ext cx="7571232" cy="288036"/>
          </a:xfrm>
          <a:prstGeom prst="rect">
            <a:avLst/>
          </a:prstGeom>
          <a:noFill/>
          <a:ln/>
        </p:spPr>
        <p:txBody>
          <a:bodyPr wrap="square" lIns="0" tIns="0" rIns="0" bIns="0" rtlCol="0" anchor="ctr"/>
          <a:lstStyle/>
          <a:p>
            <a:r>
              <a:rPr lang="en-US" sz="1200" b="1" i="1" dirty="0">
                <a:solidFill>
                  <a:srgbClr val="1E2761"/>
                </a:solidFill>
                <a:latin typeface="Cambria" pitchFamily="34" charset="0"/>
                <a:ea typeface="Cambria" pitchFamily="34" charset="-122"/>
                <a:cs typeface="Cambria" pitchFamily="34" charset="-120"/>
              </a:rPr>
              <a:t>Random Sampling</a:t>
            </a:r>
            <a:endParaRPr lang="en-US" sz="1200" dirty="0"/>
          </a:p>
        </p:txBody>
      </p:sp>
      <p:sp>
        <p:nvSpPr>
          <p:cNvPr id="8" name="Text 5"/>
          <p:cNvSpPr txBox="1"/>
          <p:nvPr/>
        </p:nvSpPr>
        <p:spPr>
          <a:xfrm>
            <a:off x="2880360" y="3120390"/>
            <a:ext cx="3429000" cy="1371600"/>
          </a:xfrm>
          <a:prstGeom prst="rect">
            <a:avLst/>
          </a:prstGeom>
          <a:noFill/>
          <a:ln/>
        </p:spPr>
        <p:txBody>
          <a:bodyPr wrap="square" lIns="0" tIns="0" rIns="0" bIns="0" rtlCol="0" anchor="ctr"/>
          <a:lstStyle/>
          <a:p>
            <a:pPr>
              <a:lnSpc>
                <a:spcPct val="135000"/>
              </a:lnSpc>
            </a:pPr>
            <a:r>
              <a:rPr lang="en-US" sz="1125" dirty="0">
                <a:solidFill>
                  <a:srgbClr val="222222"/>
                </a:solidFill>
                <a:latin typeface="Consolas" pitchFamily="34" charset="0"/>
                <a:ea typeface="Consolas" pitchFamily="34" charset="-122"/>
                <a:cs typeface="Consolas" pitchFamily="34" charset="-120"/>
              </a:rPr>
              <a:t>i ← 1</a:t>
            </a:r>
            <a:endParaRPr lang="en-US" sz="1125" dirty="0"/>
          </a:p>
          <a:p>
            <a:pPr>
              <a:lnSpc>
                <a:spcPct val="135000"/>
              </a:lnSpc>
            </a:pPr>
            <a:r>
              <a:rPr lang="en-US" sz="1125" dirty="0">
                <a:solidFill>
                  <a:srgbClr val="222222"/>
                </a:solidFill>
                <a:latin typeface="Consolas" pitchFamily="34" charset="0"/>
                <a:ea typeface="Consolas" pitchFamily="34" charset="-122"/>
                <a:cs typeface="Consolas" pitchFamily="34" charset="-120"/>
              </a:rPr>
              <a:t>wᵢ ∼  p(w)</a:t>
            </a:r>
            <a:endParaRPr lang="en-US" sz="1125" dirty="0"/>
          </a:p>
          <a:p>
            <a:pPr>
              <a:lnSpc>
                <a:spcPct val="135000"/>
              </a:lnSpc>
            </a:pPr>
            <a:r>
              <a:rPr lang="en-US" sz="1125" dirty="0">
                <a:solidFill>
                  <a:srgbClr val="222222"/>
                </a:solidFill>
                <a:latin typeface="Consolas" pitchFamily="34" charset="0"/>
                <a:ea typeface="Consolas" pitchFamily="34" charset="-122"/>
                <a:cs typeface="Consolas" pitchFamily="34" charset="-120"/>
              </a:rPr>
              <a:t>while wᵢ != EOS</a:t>
            </a:r>
            <a:endParaRPr lang="en-US" sz="1125" dirty="0"/>
          </a:p>
          <a:p>
            <a:pPr>
              <a:lnSpc>
                <a:spcPct val="135000"/>
              </a:lnSpc>
            </a:pPr>
            <a:r>
              <a:rPr lang="en-US" sz="1125" dirty="0">
                <a:solidFill>
                  <a:srgbClr val="222222"/>
                </a:solidFill>
                <a:latin typeface="Consolas" pitchFamily="34" charset="0"/>
                <a:ea typeface="Consolas" pitchFamily="34" charset="-122"/>
                <a:cs typeface="Consolas" pitchFamily="34" charset="-120"/>
              </a:rPr>
              <a:t>    i ← i + 1</a:t>
            </a:r>
            <a:endParaRPr lang="en-US" sz="1125" dirty="0"/>
          </a:p>
          <a:p>
            <a:pPr>
              <a:lnSpc>
                <a:spcPct val="135000"/>
              </a:lnSpc>
            </a:pPr>
            <a:r>
              <a:rPr lang="en-US" sz="1125" dirty="0">
                <a:solidFill>
                  <a:srgbClr val="222222"/>
                </a:solidFill>
                <a:latin typeface="Consolas" pitchFamily="34" charset="0"/>
                <a:ea typeface="Consolas" pitchFamily="34" charset="-122"/>
                <a:cs typeface="Consolas" pitchFamily="34" charset="-120"/>
              </a:rPr>
              <a:t>    wᵢ ∼  p(wᵢ | w&lt;i)</a:t>
            </a:r>
            <a:endParaRPr lang="en-US" sz="1125" dirty="0"/>
          </a:p>
        </p:txBody>
      </p:sp>
      <p:sp>
        <p:nvSpPr>
          <p:cNvPr id="9" name="Text 6"/>
          <p:cNvSpPr txBox="1"/>
          <p:nvPr/>
        </p:nvSpPr>
        <p:spPr>
          <a:xfrm>
            <a:off x="8743950" y="4882896"/>
            <a:ext cx="274320" cy="205740"/>
          </a:xfrm>
          <a:prstGeom prst="rect">
            <a:avLst/>
          </a:prstGeom>
          <a:noFill/>
          <a:ln/>
        </p:spPr>
        <p:txBody>
          <a:bodyPr wrap="square" lIns="0" tIns="0" rIns="0" bIns="0" rtlCol="0" anchor="ctr"/>
          <a:lstStyle/>
          <a:p>
            <a:pPr algn="r"/>
            <a:r>
              <a:rPr lang="en-US" sz="750" dirty="0">
                <a:solidFill>
                  <a:srgbClr val="5B6472"/>
                </a:solidFill>
                <a:latin typeface="Calibri" pitchFamily="34" charset="0"/>
                <a:ea typeface="Calibri" pitchFamily="34" charset="-122"/>
                <a:cs typeface="Calibri" pitchFamily="34" charset="-120"/>
              </a:rPr>
              <a:t>6</a:t>
            </a:r>
            <a:endParaRPr lang="en-US" sz="75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home/claude/deck/iit_logo.png"/>
          <p:cNvPicPr>
            <a:picLocks noChangeAspect="1"/>
          </p:cNvPicPr>
          <p:nvPr/>
        </p:nvPicPr>
        <p:blipFill>
          <a:blip r:embed="rId3"/>
          <a:stretch>
            <a:fillRect/>
          </a:stretch>
        </p:blipFill>
        <p:spPr>
          <a:xfrm>
            <a:off x="8401050" y="123444"/>
            <a:ext cx="651510" cy="726948"/>
          </a:xfrm>
          <a:prstGeom prst="rect">
            <a:avLst/>
          </a:prstGeom>
        </p:spPr>
      </p:pic>
      <p:sp>
        <p:nvSpPr>
          <p:cNvPr id="3" name="Text 0"/>
          <p:cNvSpPr txBox="1"/>
          <p:nvPr/>
        </p:nvSpPr>
        <p:spPr>
          <a:xfrm>
            <a:off x="377190" y="240030"/>
            <a:ext cx="7749540" cy="582930"/>
          </a:xfrm>
          <a:prstGeom prst="rect">
            <a:avLst/>
          </a:prstGeom>
          <a:noFill/>
          <a:ln/>
        </p:spPr>
        <p:txBody>
          <a:bodyPr wrap="square" lIns="0" tIns="0" rIns="0" bIns="0" rtlCol="0" anchor="ctr"/>
          <a:lstStyle/>
          <a:p>
            <a:r>
              <a:rPr lang="en-US" sz="2175" b="1" dirty="0">
                <a:solidFill>
                  <a:srgbClr val="1E2761"/>
                </a:solidFill>
                <a:latin typeface="Cambria" pitchFamily="34" charset="0"/>
                <a:ea typeface="Cambria" pitchFamily="34" charset="-122"/>
                <a:cs typeface="Cambria" pitchFamily="34" charset="-120"/>
              </a:rPr>
              <a:t>Quality vs Diversity trade-off</a:t>
            </a:r>
            <a:endParaRPr lang="en-US" sz="2175" dirty="0"/>
          </a:p>
        </p:txBody>
      </p:sp>
      <p:sp>
        <p:nvSpPr>
          <p:cNvPr id="4" name="Text 1"/>
          <p:cNvSpPr txBox="1"/>
          <p:nvPr/>
        </p:nvSpPr>
        <p:spPr>
          <a:xfrm>
            <a:off x="377190" y="925830"/>
            <a:ext cx="7955280" cy="514350"/>
          </a:xfrm>
          <a:prstGeom prst="rect">
            <a:avLst/>
          </a:prstGeom>
          <a:noFill/>
          <a:ln/>
        </p:spPr>
        <p:txBody>
          <a:bodyPr wrap="square" lIns="0" tIns="0" rIns="0" bIns="0" rtlCol="0" anchor="ctr"/>
          <a:lstStyle/>
          <a:p>
            <a:pPr>
              <a:lnSpc>
                <a:spcPct val="120000"/>
              </a:lnSpc>
            </a:pPr>
            <a:r>
              <a:rPr lang="en-US" sz="1275" dirty="0">
                <a:solidFill>
                  <a:srgbClr val="222222"/>
                </a:solidFill>
                <a:latin typeface="Calibri" pitchFamily="34" charset="0"/>
                <a:ea typeface="Calibri" pitchFamily="34" charset="-122"/>
                <a:cs typeface="Calibri" pitchFamily="34" charset="-120"/>
              </a:rPr>
              <a:t>Various sampling methods enable trading off two important factors in generation: </a:t>
            </a:r>
            <a:r>
              <a:rPr lang="en-US" sz="1275" i="1" dirty="0">
                <a:solidFill>
                  <a:srgbClr val="222222"/>
                </a:solidFill>
                <a:latin typeface="Calibri" pitchFamily="34" charset="0"/>
                <a:ea typeface="Calibri" pitchFamily="34" charset="-122"/>
                <a:cs typeface="Calibri" pitchFamily="34" charset="-120"/>
              </a:rPr>
              <a:t>quality</a:t>
            </a:r>
            <a:r>
              <a:rPr lang="en-US" sz="1275" dirty="0">
                <a:solidFill>
                  <a:srgbClr val="222222"/>
                </a:solidFill>
                <a:latin typeface="Calibri" pitchFamily="34" charset="0"/>
                <a:ea typeface="Calibri" pitchFamily="34" charset="-122"/>
                <a:cs typeface="Calibri" pitchFamily="34" charset="-120"/>
              </a:rPr>
              <a:t> and </a:t>
            </a:r>
            <a:r>
              <a:rPr lang="en-US" sz="1275" i="1" dirty="0">
                <a:solidFill>
                  <a:srgbClr val="222222"/>
                </a:solidFill>
                <a:latin typeface="Calibri" pitchFamily="34" charset="0"/>
                <a:ea typeface="Calibri" pitchFamily="34" charset="-122"/>
                <a:cs typeface="Calibri" pitchFamily="34" charset="-120"/>
              </a:rPr>
              <a:t>diversity</a:t>
            </a:r>
            <a:r>
              <a:rPr lang="en-US" sz="1275" dirty="0">
                <a:solidFill>
                  <a:srgbClr val="222222"/>
                </a:solidFill>
                <a:latin typeface="Calibri" pitchFamily="34" charset="0"/>
                <a:ea typeface="Calibri" pitchFamily="34" charset="-122"/>
                <a:cs typeface="Calibri" pitchFamily="34" charset="-120"/>
              </a:rPr>
              <a:t>.</a:t>
            </a:r>
            <a:endParaRPr lang="en-US" sz="1275" dirty="0"/>
          </a:p>
        </p:txBody>
      </p:sp>
      <p:sp>
        <p:nvSpPr>
          <p:cNvPr id="5" name="Shape 2"/>
          <p:cNvSpPr/>
          <p:nvPr/>
        </p:nvSpPr>
        <p:spPr>
          <a:xfrm>
            <a:off x="377190" y="1611630"/>
            <a:ext cx="7955280" cy="1824228"/>
          </a:xfrm>
          <a:prstGeom prst="roundRect">
            <a:avLst>
              <a:gd name="adj" fmla="val 2256"/>
            </a:avLst>
          </a:prstGeom>
          <a:solidFill>
            <a:srgbClr val="DDDDF5"/>
          </a:solidFill>
          <a:ln w="9525">
            <a:solidFill>
              <a:srgbClr val="C9C9EC"/>
            </a:solidFill>
            <a:prstDash val="solid"/>
          </a:ln>
          <a:effectLst>
            <a:outerShdw blurRad="63500" dist="25400" dir="5400000" algn="bl" rotWithShape="0">
              <a:srgbClr val="8A8AC0">
                <a:alpha val="28000"/>
              </a:srgbClr>
            </a:outerShdw>
          </a:effectLst>
        </p:spPr>
      </p:sp>
      <p:sp>
        <p:nvSpPr>
          <p:cNvPr id="6" name="Text 3"/>
          <p:cNvSpPr txBox="1"/>
          <p:nvPr/>
        </p:nvSpPr>
        <p:spPr>
          <a:xfrm>
            <a:off x="569214" y="1693926"/>
            <a:ext cx="7571232" cy="288036"/>
          </a:xfrm>
          <a:prstGeom prst="rect">
            <a:avLst/>
          </a:prstGeom>
          <a:noFill/>
          <a:ln/>
        </p:spPr>
        <p:txBody>
          <a:bodyPr wrap="square" lIns="0" tIns="0" rIns="0" bIns="0" rtlCol="0" anchor="ctr"/>
          <a:lstStyle/>
          <a:p>
            <a:r>
              <a:rPr lang="en-US" sz="1200" b="1" i="1" dirty="0">
                <a:solidFill>
                  <a:srgbClr val="1E2761"/>
                </a:solidFill>
                <a:latin typeface="Cambria" pitchFamily="34" charset="0"/>
                <a:ea typeface="Cambria" pitchFamily="34" charset="-122"/>
                <a:cs typeface="Cambria" pitchFamily="34" charset="-120"/>
              </a:rPr>
              <a:t>Quality vs Diversity trade-off</a:t>
            </a:r>
            <a:endParaRPr lang="en-US" sz="1200" dirty="0"/>
          </a:p>
        </p:txBody>
      </p:sp>
      <p:sp>
        <p:nvSpPr>
          <p:cNvPr id="7" name="Text 4"/>
          <p:cNvSpPr txBox="1"/>
          <p:nvPr/>
        </p:nvSpPr>
        <p:spPr>
          <a:xfrm>
            <a:off x="582930" y="2057400"/>
            <a:ext cx="7543800" cy="1028700"/>
          </a:xfrm>
          <a:prstGeom prst="rect">
            <a:avLst/>
          </a:prstGeom>
          <a:noFill/>
          <a:ln/>
        </p:spPr>
        <p:txBody>
          <a:bodyPr wrap="square" lIns="0" tIns="0" rIns="0" bIns="0" rtlCol="0" anchor="t"/>
          <a:lstStyle/>
          <a:p>
            <a:pPr marL="171450" indent="-171450">
              <a:spcAft>
                <a:spcPts val="900"/>
              </a:spcAft>
              <a:buSzPct val="100000"/>
              <a:buChar char="●"/>
            </a:pPr>
            <a:r>
              <a:rPr lang="en-US" sz="1163" dirty="0">
                <a:solidFill>
                  <a:srgbClr val="222222"/>
                </a:solidFill>
                <a:latin typeface="Calibri" pitchFamily="34" charset="0"/>
                <a:ea typeface="Calibri" pitchFamily="34" charset="-122"/>
                <a:cs typeface="Calibri" pitchFamily="34" charset="-120"/>
              </a:rPr>
              <a:t>Methods that emphasize the most probable words tend to produce more coherent and accurate generations but also tend to be repetitive and boring</a:t>
            </a:r>
            <a:endParaRPr lang="en-US" sz="1163" dirty="0"/>
          </a:p>
          <a:p>
            <a:pPr marL="171450" indent="-171450">
              <a:spcAft>
                <a:spcPts val="900"/>
              </a:spcAft>
              <a:buSzPct val="100000"/>
              <a:buChar char="●"/>
            </a:pPr>
            <a:r>
              <a:rPr lang="en-US" sz="1163" dirty="0">
                <a:solidFill>
                  <a:srgbClr val="222222"/>
                </a:solidFill>
                <a:latin typeface="Calibri" pitchFamily="34" charset="0"/>
                <a:ea typeface="Calibri" pitchFamily="34" charset="-122"/>
                <a:cs typeface="Calibri" pitchFamily="34" charset="-120"/>
              </a:rPr>
              <a:t>Methods that give a bit more weight to the middle-probability words tend to be more creative and diverse, but likely to be incoherent and less factual</a:t>
            </a:r>
            <a:endParaRPr lang="en-US" sz="1163" dirty="0"/>
          </a:p>
        </p:txBody>
      </p:sp>
      <p:sp>
        <p:nvSpPr>
          <p:cNvPr id="8" name="Text 5"/>
          <p:cNvSpPr txBox="1"/>
          <p:nvPr/>
        </p:nvSpPr>
        <p:spPr>
          <a:xfrm>
            <a:off x="8743950" y="4882896"/>
            <a:ext cx="274320" cy="205740"/>
          </a:xfrm>
          <a:prstGeom prst="rect">
            <a:avLst/>
          </a:prstGeom>
          <a:noFill/>
          <a:ln/>
        </p:spPr>
        <p:txBody>
          <a:bodyPr wrap="square" lIns="0" tIns="0" rIns="0" bIns="0" rtlCol="0" anchor="ctr"/>
          <a:lstStyle/>
          <a:p>
            <a:pPr algn="r"/>
            <a:r>
              <a:rPr lang="en-US" sz="750" dirty="0">
                <a:solidFill>
                  <a:srgbClr val="5B6472"/>
                </a:solidFill>
                <a:latin typeface="Calibri" pitchFamily="34" charset="0"/>
                <a:ea typeface="Calibri" pitchFamily="34" charset="-122"/>
                <a:cs typeface="Calibri" pitchFamily="34" charset="-120"/>
              </a:rPr>
              <a:t>7</a:t>
            </a:r>
            <a:endParaRPr lang="en-US" sz="75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home/claude/deck/iit_logo.png"/>
          <p:cNvPicPr>
            <a:picLocks noChangeAspect="1"/>
          </p:cNvPicPr>
          <p:nvPr/>
        </p:nvPicPr>
        <p:blipFill>
          <a:blip r:embed="rId3"/>
          <a:stretch>
            <a:fillRect/>
          </a:stretch>
        </p:blipFill>
        <p:spPr>
          <a:xfrm>
            <a:off x="8401050" y="123444"/>
            <a:ext cx="651510" cy="726948"/>
          </a:xfrm>
          <a:prstGeom prst="rect">
            <a:avLst/>
          </a:prstGeom>
        </p:spPr>
      </p:pic>
      <p:sp>
        <p:nvSpPr>
          <p:cNvPr id="3" name="Text 0"/>
          <p:cNvSpPr txBox="1"/>
          <p:nvPr/>
        </p:nvSpPr>
        <p:spPr>
          <a:xfrm>
            <a:off x="377190" y="240030"/>
            <a:ext cx="7749540" cy="582930"/>
          </a:xfrm>
          <a:prstGeom prst="rect">
            <a:avLst/>
          </a:prstGeom>
          <a:noFill/>
          <a:ln/>
        </p:spPr>
        <p:txBody>
          <a:bodyPr wrap="square" lIns="0" tIns="0" rIns="0" bIns="0" rtlCol="0" anchor="ctr"/>
          <a:lstStyle/>
          <a:p>
            <a:r>
              <a:rPr lang="en-US" sz="2025" b="1" dirty="0">
                <a:solidFill>
                  <a:srgbClr val="1E2761"/>
                </a:solidFill>
                <a:latin typeface="Cambria" pitchFamily="34" charset="0"/>
                <a:ea typeface="Cambria" pitchFamily="34" charset="-122"/>
                <a:cs typeface="Cambria" pitchFamily="34" charset="-120"/>
              </a:rPr>
              <a:t>Random Sampling with Temperature</a:t>
            </a:r>
            <a:endParaRPr lang="en-US" sz="2025" dirty="0"/>
          </a:p>
        </p:txBody>
      </p:sp>
      <p:sp>
        <p:nvSpPr>
          <p:cNvPr id="4" name="Shape 1"/>
          <p:cNvSpPr/>
          <p:nvPr/>
        </p:nvSpPr>
        <p:spPr>
          <a:xfrm>
            <a:off x="377190" y="925830"/>
            <a:ext cx="7955280" cy="966978"/>
          </a:xfrm>
          <a:prstGeom prst="roundRect">
            <a:avLst>
              <a:gd name="adj" fmla="val 4255"/>
            </a:avLst>
          </a:prstGeom>
          <a:solidFill>
            <a:srgbClr val="DDDDF5"/>
          </a:solidFill>
          <a:ln w="9525">
            <a:solidFill>
              <a:srgbClr val="C9C9EC"/>
            </a:solidFill>
            <a:prstDash val="solid"/>
          </a:ln>
          <a:effectLst>
            <a:outerShdw blurRad="63500" dist="25400" dir="5400000" algn="bl" rotWithShape="0">
              <a:srgbClr val="8A8AC0">
                <a:alpha val="28000"/>
              </a:srgbClr>
            </a:outerShdw>
          </a:effectLst>
        </p:spPr>
      </p:sp>
      <p:sp>
        <p:nvSpPr>
          <p:cNvPr id="5" name="Text 2"/>
          <p:cNvSpPr txBox="1"/>
          <p:nvPr/>
        </p:nvSpPr>
        <p:spPr>
          <a:xfrm>
            <a:off x="569214" y="1008126"/>
            <a:ext cx="7571232" cy="288036"/>
          </a:xfrm>
          <a:prstGeom prst="rect">
            <a:avLst/>
          </a:prstGeom>
          <a:noFill/>
          <a:ln/>
        </p:spPr>
        <p:txBody>
          <a:bodyPr wrap="square" lIns="0" tIns="0" rIns="0" bIns="0" rtlCol="0" anchor="ctr"/>
          <a:lstStyle/>
          <a:p>
            <a:r>
              <a:rPr lang="en-US" sz="1200" b="1" i="1" dirty="0">
                <a:solidFill>
                  <a:srgbClr val="1E2761"/>
                </a:solidFill>
                <a:latin typeface="Cambria" pitchFamily="34" charset="0"/>
                <a:ea typeface="Cambria" pitchFamily="34" charset="-122"/>
                <a:cs typeface="Cambria" pitchFamily="34" charset="-120"/>
              </a:rPr>
              <a:t>Intuition from thermodynamics</a:t>
            </a:r>
            <a:endParaRPr lang="en-US" sz="1200" dirty="0"/>
          </a:p>
        </p:txBody>
      </p:sp>
      <p:sp>
        <p:nvSpPr>
          <p:cNvPr id="6" name="Text 3"/>
          <p:cNvSpPr txBox="1"/>
          <p:nvPr/>
        </p:nvSpPr>
        <p:spPr>
          <a:xfrm>
            <a:off x="569214" y="1261872"/>
            <a:ext cx="7571232" cy="514350"/>
          </a:xfrm>
          <a:prstGeom prst="rect">
            <a:avLst/>
          </a:prstGeom>
          <a:noFill/>
          <a:ln/>
        </p:spPr>
        <p:txBody>
          <a:bodyPr wrap="square" lIns="0" tIns="0" rIns="0" bIns="0" rtlCol="0" anchor="t"/>
          <a:lstStyle/>
          <a:p>
            <a:pPr>
              <a:lnSpc>
                <a:spcPct val="125000"/>
              </a:lnSpc>
            </a:pPr>
            <a:r>
              <a:rPr lang="en-US" sz="1163" dirty="0">
                <a:solidFill>
                  <a:srgbClr val="222222"/>
                </a:solidFill>
                <a:latin typeface="Calibri" pitchFamily="34" charset="0"/>
                <a:ea typeface="Calibri" pitchFamily="34" charset="-122"/>
                <a:cs typeface="Calibri" pitchFamily="34" charset="-120"/>
              </a:rPr>
              <a:t>A system at a high temperature is flexible and can explore various states, while a system at a low temperature is likely to explore a subset of lower energy (better) states.</a:t>
            </a:r>
            <a:endParaRPr lang="en-US" sz="1163" dirty="0"/>
          </a:p>
        </p:txBody>
      </p:sp>
      <p:sp>
        <p:nvSpPr>
          <p:cNvPr id="7" name="Shape 4"/>
          <p:cNvSpPr/>
          <p:nvPr/>
        </p:nvSpPr>
        <p:spPr>
          <a:xfrm>
            <a:off x="377190" y="2098548"/>
            <a:ext cx="7955280" cy="829818"/>
          </a:xfrm>
          <a:prstGeom prst="roundRect">
            <a:avLst>
              <a:gd name="adj" fmla="val 4959"/>
            </a:avLst>
          </a:prstGeom>
          <a:solidFill>
            <a:srgbClr val="DDDDF5"/>
          </a:solidFill>
          <a:ln w="9525">
            <a:solidFill>
              <a:srgbClr val="C9C9EC"/>
            </a:solidFill>
            <a:prstDash val="solid"/>
          </a:ln>
          <a:effectLst>
            <a:outerShdw blurRad="63500" dist="25400" dir="5400000" algn="bl" rotWithShape="0">
              <a:srgbClr val="8A8AC0">
                <a:alpha val="28000"/>
              </a:srgbClr>
            </a:outerShdw>
          </a:effectLst>
        </p:spPr>
      </p:sp>
      <p:sp>
        <p:nvSpPr>
          <p:cNvPr id="8" name="Text 5"/>
          <p:cNvSpPr txBox="1"/>
          <p:nvPr/>
        </p:nvSpPr>
        <p:spPr>
          <a:xfrm>
            <a:off x="569214" y="2180844"/>
            <a:ext cx="7571232" cy="288036"/>
          </a:xfrm>
          <a:prstGeom prst="rect">
            <a:avLst/>
          </a:prstGeom>
          <a:noFill/>
          <a:ln/>
        </p:spPr>
        <p:txBody>
          <a:bodyPr wrap="square" lIns="0" tIns="0" rIns="0" bIns="0" rtlCol="0" anchor="ctr"/>
          <a:lstStyle/>
          <a:p>
            <a:r>
              <a:rPr lang="en-US" sz="1200" b="1" i="1" dirty="0">
                <a:solidFill>
                  <a:srgbClr val="1E2761"/>
                </a:solidFill>
                <a:latin typeface="Cambria" pitchFamily="34" charset="0"/>
                <a:ea typeface="Cambria" pitchFamily="34" charset="-122"/>
                <a:cs typeface="Cambria" pitchFamily="34" charset="-120"/>
              </a:rPr>
              <a:t>How is this implemented</a:t>
            </a:r>
            <a:endParaRPr lang="en-US" sz="1200" dirty="0"/>
          </a:p>
        </p:txBody>
      </p:sp>
      <p:sp>
        <p:nvSpPr>
          <p:cNvPr id="9" name="Text 6"/>
          <p:cNvSpPr txBox="1"/>
          <p:nvPr/>
        </p:nvSpPr>
        <p:spPr>
          <a:xfrm>
            <a:off x="569214" y="2434590"/>
            <a:ext cx="7571232" cy="377190"/>
          </a:xfrm>
          <a:prstGeom prst="rect">
            <a:avLst/>
          </a:prstGeom>
          <a:noFill/>
          <a:ln/>
        </p:spPr>
        <p:txBody>
          <a:bodyPr wrap="square" lIns="0" tIns="0" rIns="0" bIns="0" rtlCol="0" anchor="t"/>
          <a:lstStyle/>
          <a:p>
            <a:pPr>
              <a:lnSpc>
                <a:spcPct val="125000"/>
              </a:lnSpc>
            </a:pPr>
            <a:r>
              <a:rPr lang="en-US" sz="1163" dirty="0">
                <a:solidFill>
                  <a:srgbClr val="222222"/>
                </a:solidFill>
                <a:latin typeface="Calibri" pitchFamily="34" charset="0"/>
                <a:ea typeface="Calibri" pitchFamily="34" charset="-122"/>
                <a:cs typeface="Calibri" pitchFamily="34" charset="-120"/>
              </a:rPr>
              <a:t>Divide the logits by a temperature parameter </a:t>
            </a:r>
            <a:r>
              <a:rPr lang="en-US" sz="1163" dirty="0" err="1">
                <a:solidFill>
                  <a:srgbClr val="222222"/>
                </a:solidFill>
                <a:latin typeface="Calibri" pitchFamily="34" charset="0"/>
                <a:ea typeface="Calibri" pitchFamily="34" charset="-122"/>
                <a:cs typeface="Calibri" pitchFamily="34" charset="-120"/>
              </a:rPr>
              <a:t>τ</a:t>
            </a:r>
            <a:r>
              <a:rPr lang="en-US" sz="1163" dirty="0">
                <a:solidFill>
                  <a:srgbClr val="222222"/>
                </a:solidFill>
                <a:latin typeface="Calibri" pitchFamily="34" charset="0"/>
                <a:ea typeface="Calibri" pitchFamily="34" charset="-122"/>
                <a:cs typeface="Calibri" pitchFamily="34" charset="-120"/>
              </a:rPr>
              <a:t>  before passing it through softmax.</a:t>
            </a:r>
            <a:endParaRPr lang="en-US" sz="1163" dirty="0"/>
          </a:p>
        </p:txBody>
      </p:sp>
      <p:sp>
        <p:nvSpPr>
          <p:cNvPr id="10" name="Text 7"/>
          <p:cNvSpPr txBox="1"/>
          <p:nvPr/>
        </p:nvSpPr>
        <p:spPr>
          <a:xfrm>
            <a:off x="377190" y="3236976"/>
            <a:ext cx="7955280" cy="274320"/>
          </a:xfrm>
          <a:prstGeom prst="rect">
            <a:avLst/>
          </a:prstGeom>
          <a:noFill/>
          <a:ln/>
        </p:spPr>
        <p:txBody>
          <a:bodyPr wrap="square" lIns="0" tIns="0" rIns="0" bIns="0" rtlCol="0" anchor="ctr"/>
          <a:lstStyle/>
          <a:p>
            <a:r>
              <a:rPr lang="en-US" sz="1200" dirty="0">
                <a:solidFill>
                  <a:srgbClr val="222222"/>
                </a:solidFill>
                <a:latin typeface="Calibri" pitchFamily="34" charset="0"/>
                <a:ea typeface="Calibri" pitchFamily="34" charset="-122"/>
                <a:cs typeface="Calibri" pitchFamily="34" charset="-120"/>
              </a:rPr>
              <a:t>Random sampling:  </a:t>
            </a:r>
            <a:r>
              <a:rPr lang="en-US" sz="1200" i="1" dirty="0">
                <a:solidFill>
                  <a:srgbClr val="222222"/>
                </a:solidFill>
                <a:latin typeface="Cambria" pitchFamily="34" charset="0"/>
                <a:ea typeface="Cambria" pitchFamily="34" charset="-122"/>
                <a:cs typeface="Cambria" pitchFamily="34" charset="-120"/>
              </a:rPr>
              <a:t>y = softmax(u)</a:t>
            </a:r>
            <a:endParaRPr lang="en-US" sz="1200" dirty="0"/>
          </a:p>
        </p:txBody>
      </p:sp>
      <p:sp>
        <p:nvSpPr>
          <p:cNvPr id="11" name="Text 8"/>
          <p:cNvSpPr txBox="1"/>
          <p:nvPr/>
        </p:nvSpPr>
        <p:spPr>
          <a:xfrm>
            <a:off x="377190" y="3579876"/>
            <a:ext cx="7955280" cy="274320"/>
          </a:xfrm>
          <a:prstGeom prst="rect">
            <a:avLst/>
          </a:prstGeom>
          <a:noFill/>
          <a:ln/>
        </p:spPr>
        <p:txBody>
          <a:bodyPr wrap="square" lIns="0" tIns="0" rIns="0" bIns="0" rtlCol="0" anchor="ctr"/>
          <a:lstStyle/>
          <a:p>
            <a:r>
              <a:rPr lang="en-US" sz="1200" dirty="0">
                <a:solidFill>
                  <a:srgbClr val="222222"/>
                </a:solidFill>
                <a:latin typeface="Calibri" pitchFamily="34" charset="0"/>
                <a:ea typeface="Calibri" pitchFamily="34" charset="-122"/>
                <a:cs typeface="Calibri" pitchFamily="34" charset="-120"/>
              </a:rPr>
              <a:t>Random sampling with temperature:  </a:t>
            </a:r>
            <a:r>
              <a:rPr lang="en-US" sz="1200" i="1" dirty="0">
                <a:solidFill>
                  <a:srgbClr val="222222"/>
                </a:solidFill>
                <a:latin typeface="Cambria" pitchFamily="34" charset="0"/>
                <a:ea typeface="Cambria" pitchFamily="34" charset="-122"/>
                <a:cs typeface="Cambria" pitchFamily="34" charset="-120"/>
              </a:rPr>
              <a:t>y = softmax(u / τ)</a:t>
            </a:r>
            <a:endParaRPr lang="en-US" sz="1200" dirty="0"/>
          </a:p>
        </p:txBody>
      </p:sp>
      <p:sp>
        <p:nvSpPr>
          <p:cNvPr id="12" name="Text 9"/>
          <p:cNvSpPr txBox="1"/>
          <p:nvPr/>
        </p:nvSpPr>
        <p:spPr>
          <a:xfrm>
            <a:off x="8743950" y="4882896"/>
            <a:ext cx="274320" cy="205740"/>
          </a:xfrm>
          <a:prstGeom prst="rect">
            <a:avLst/>
          </a:prstGeom>
          <a:noFill/>
          <a:ln/>
        </p:spPr>
        <p:txBody>
          <a:bodyPr wrap="square" lIns="0" tIns="0" rIns="0" bIns="0" rtlCol="0" anchor="ctr"/>
          <a:lstStyle/>
          <a:p>
            <a:pPr algn="r"/>
            <a:r>
              <a:rPr lang="en-US" sz="750" dirty="0">
                <a:solidFill>
                  <a:srgbClr val="5B6472"/>
                </a:solidFill>
                <a:latin typeface="Calibri" pitchFamily="34" charset="0"/>
                <a:ea typeface="Calibri" pitchFamily="34" charset="-122"/>
                <a:cs typeface="Calibri" pitchFamily="34" charset="-120"/>
              </a:rPr>
              <a:t>8</a:t>
            </a:r>
            <a:endParaRPr lang="en-US" sz="75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2629"/>
        <p:cNvGrpSpPr/>
        <p:nvPr/>
      </p:nvGrpSpPr>
      <p:grpSpPr>
        <a:xfrm>
          <a:off x="0" y="0"/>
          <a:ext cx="0" cy="0"/>
          <a:chOff x="0" y="0"/>
          <a:chExt cx="0" cy="0"/>
        </a:xfrm>
      </p:grpSpPr>
      <p:sp>
        <p:nvSpPr>
          <p:cNvPr id="2630" name="Google Shape;2630;p117"/>
          <p:cNvSpPr/>
          <p:nvPr/>
        </p:nvSpPr>
        <p:spPr>
          <a:xfrm>
            <a:off x="365760" y="0"/>
            <a:ext cx="8412600" cy="6402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FFFFFF"/>
              </a:buClr>
              <a:buSzPts val="2400"/>
              <a:buFont typeface="Calibri"/>
              <a:buNone/>
            </a:pPr>
            <a:r>
              <a:rPr lang="en" sz="2400" b="1" i="0" u="none" strike="noStrike" cap="none" dirty="0">
                <a:solidFill>
                  <a:srgbClr val="1E2761"/>
                </a:solidFill>
                <a:sym typeface="Calibri"/>
              </a:rPr>
              <a:t>🌡  Temperature</a:t>
            </a:r>
            <a:endParaRPr sz="2400" b="0" i="0" u="none" strike="noStrike" cap="none" dirty="0">
              <a:solidFill>
                <a:schemeClr val="dk1"/>
              </a:solidFill>
              <a:latin typeface="Calibri"/>
              <a:ea typeface="Calibri"/>
              <a:cs typeface="Calibri"/>
              <a:sym typeface="Calibri"/>
            </a:endParaRPr>
          </a:p>
        </p:txBody>
      </p:sp>
      <p:sp>
        <p:nvSpPr>
          <p:cNvPr id="2631" name="Google Shape;2631;p117"/>
          <p:cNvSpPr/>
          <p:nvPr/>
        </p:nvSpPr>
        <p:spPr>
          <a:xfrm>
            <a:off x="274320" y="749808"/>
            <a:ext cx="8595300" cy="640200"/>
          </a:xfrm>
          <a:prstGeom prst="rect">
            <a:avLst/>
          </a:prstGeom>
          <a:solidFill>
            <a:srgbClr val="FFF7ED"/>
          </a:solidFill>
          <a:ln>
            <a:noFill/>
          </a:ln>
          <a:effectLst>
            <a:outerShdw blurRad="101600" dist="25400" dir="8100000" algn="bl" rotWithShape="0">
              <a:srgbClr val="000000">
                <a:alpha val="784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2" name="Google Shape;2632;p117"/>
          <p:cNvSpPr/>
          <p:nvPr/>
        </p:nvSpPr>
        <p:spPr>
          <a:xfrm>
            <a:off x="274320" y="749808"/>
            <a:ext cx="109800" cy="640200"/>
          </a:xfrm>
          <a:prstGeom prst="rect">
            <a:avLst/>
          </a:prstGeom>
          <a:solidFill>
            <a:srgbClr val="EA580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3" name="Google Shape;2633;p117"/>
          <p:cNvSpPr/>
          <p:nvPr/>
        </p:nvSpPr>
        <p:spPr>
          <a:xfrm>
            <a:off x="502920" y="749808"/>
            <a:ext cx="8138100" cy="6402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1E1B4B"/>
              </a:buClr>
              <a:buSzPts val="1300"/>
              <a:buFont typeface="Calibri"/>
              <a:buNone/>
            </a:pPr>
            <a:r>
              <a:rPr lang="en" sz="1300" b="0" i="0" u="none" strike="noStrike" cap="none">
                <a:solidFill>
                  <a:srgbClr val="1E1B4B"/>
                </a:solidFill>
                <a:sym typeface="Calibri"/>
              </a:rPr>
              <a:t>Definition: Temperature scales the logits before softmax.  P(token) = softmax(logits / T)</a:t>
            </a:r>
            <a:endParaRPr sz="1300" b="0" i="0" u="none" strike="noStrike" cap="none">
              <a:solidFill>
                <a:schemeClr val="dk1"/>
              </a:solidFill>
              <a:latin typeface="Calibri"/>
              <a:ea typeface="Calibri"/>
              <a:cs typeface="Calibri"/>
              <a:sym typeface="Calibri"/>
            </a:endParaRPr>
          </a:p>
        </p:txBody>
      </p:sp>
      <p:sp>
        <p:nvSpPr>
          <p:cNvPr id="2634" name="Google Shape;2634;p117"/>
          <p:cNvSpPr/>
          <p:nvPr/>
        </p:nvSpPr>
        <p:spPr>
          <a:xfrm>
            <a:off x="274320" y="1572768"/>
            <a:ext cx="2743200" cy="3200400"/>
          </a:xfrm>
          <a:prstGeom prst="rect">
            <a:avLst/>
          </a:prstGeom>
          <a:solidFill>
            <a:srgbClr val="F8F9FF"/>
          </a:solidFill>
          <a:ln>
            <a:noFill/>
          </a:ln>
          <a:effectLst>
            <a:outerShdw blurRad="101600" dist="25400" dir="8100000" algn="bl" rotWithShape="0">
              <a:srgbClr val="000000">
                <a:alpha val="784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5" name="Google Shape;2635;p117"/>
          <p:cNvSpPr/>
          <p:nvPr/>
        </p:nvSpPr>
        <p:spPr>
          <a:xfrm>
            <a:off x="274320" y="1572768"/>
            <a:ext cx="2743200" cy="457200"/>
          </a:xfrm>
          <a:prstGeom prst="rect">
            <a:avLst/>
          </a:prstGeom>
          <a:solidFill>
            <a:srgbClr val="1D4E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6" name="Google Shape;2636;p117"/>
          <p:cNvSpPr/>
          <p:nvPr/>
        </p:nvSpPr>
        <p:spPr>
          <a:xfrm>
            <a:off x="274320" y="1572768"/>
            <a:ext cx="1417200" cy="45720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FFFFFF"/>
              </a:buClr>
              <a:buSzPts val="1500"/>
              <a:buFont typeface="Calibri"/>
              <a:buNone/>
            </a:pPr>
            <a:r>
              <a:rPr lang="en" sz="1500" b="1" i="0" u="none" strike="noStrike" cap="none">
                <a:solidFill>
                  <a:srgbClr val="FFFFFF"/>
                </a:solidFill>
                <a:sym typeface="Calibri"/>
              </a:rPr>
              <a:t>T = 0.3</a:t>
            </a:r>
            <a:endParaRPr sz="1500" b="0" i="0" u="none" strike="noStrike" cap="none">
              <a:solidFill>
                <a:schemeClr val="dk1"/>
              </a:solidFill>
              <a:latin typeface="Calibri"/>
              <a:ea typeface="Calibri"/>
              <a:cs typeface="Calibri"/>
              <a:sym typeface="Calibri"/>
            </a:endParaRPr>
          </a:p>
        </p:txBody>
      </p:sp>
      <p:sp>
        <p:nvSpPr>
          <p:cNvPr id="2637" name="Google Shape;2637;p117"/>
          <p:cNvSpPr/>
          <p:nvPr/>
        </p:nvSpPr>
        <p:spPr>
          <a:xfrm>
            <a:off x="1691640" y="1572768"/>
            <a:ext cx="1326000" cy="45720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FFFFFF"/>
              </a:buClr>
              <a:buSzPts val="1300"/>
              <a:buFont typeface="Calibri"/>
              <a:buNone/>
            </a:pPr>
            <a:r>
              <a:rPr lang="en" sz="1300" b="0" i="0" u="none" strike="noStrike" cap="none">
                <a:solidFill>
                  <a:srgbClr val="FFFFFF"/>
                </a:solidFill>
                <a:sym typeface="Calibri"/>
              </a:rPr>
              <a:t>Very Cold</a:t>
            </a:r>
            <a:endParaRPr sz="1300" b="0" i="0" u="none" strike="noStrike" cap="none">
              <a:solidFill>
                <a:schemeClr val="dk1"/>
              </a:solidFill>
              <a:latin typeface="Calibri"/>
              <a:ea typeface="Calibri"/>
              <a:cs typeface="Calibri"/>
              <a:sym typeface="Calibri"/>
            </a:endParaRPr>
          </a:p>
        </p:txBody>
      </p:sp>
      <p:sp>
        <p:nvSpPr>
          <p:cNvPr id="2638" name="Google Shape;2638;p117"/>
          <p:cNvSpPr/>
          <p:nvPr/>
        </p:nvSpPr>
        <p:spPr>
          <a:xfrm>
            <a:off x="384048" y="2148840"/>
            <a:ext cx="2523600" cy="7773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374151"/>
              </a:buClr>
              <a:buSzPts val="1100"/>
              <a:buFont typeface="Calibri"/>
              <a:buNone/>
            </a:pPr>
            <a:r>
              <a:rPr lang="en" sz="1100" b="0" i="0" u="none" strike="noStrike" cap="none">
                <a:solidFill>
                  <a:srgbClr val="1A1F36"/>
                </a:solidFill>
                <a:sym typeface="Calibri"/>
              </a:rPr>
              <a:t>Almost deterministic.</a:t>
            </a:r>
            <a:endParaRPr sz="1100" b="0" i="0" u="none" strike="noStrike" cap="none">
              <a:solidFill>
                <a:schemeClr val="dk1"/>
              </a:solidFill>
              <a:latin typeface="Calibri"/>
              <a:ea typeface="Calibri"/>
              <a:cs typeface="Calibri"/>
              <a:sym typeface="Calibri"/>
            </a:endParaRPr>
          </a:p>
          <a:p>
            <a:pPr marL="0" marR="0" lvl="0" indent="0" algn="l" rtl="0">
              <a:spcBef>
                <a:spcPts val="0"/>
              </a:spcBef>
              <a:spcAft>
                <a:spcPts val="0"/>
              </a:spcAft>
              <a:buClr>
                <a:srgbClr val="374151"/>
              </a:buClr>
              <a:buSzPts val="1100"/>
              <a:buFont typeface="Calibri"/>
              <a:buNone/>
            </a:pPr>
            <a:r>
              <a:rPr lang="en" sz="1100" b="0" i="0" u="none" strike="noStrike" cap="none">
                <a:solidFill>
                  <a:srgbClr val="1A1F36"/>
                </a:solidFill>
                <a:sym typeface="Calibri"/>
              </a:rPr>
              <a:t>Always picks the most likely token.</a:t>
            </a:r>
            <a:endParaRPr sz="1100" b="0" i="0" u="none" strike="noStrike" cap="none">
              <a:solidFill>
                <a:schemeClr val="dk1"/>
              </a:solidFill>
              <a:latin typeface="Calibri"/>
              <a:ea typeface="Calibri"/>
              <a:cs typeface="Calibri"/>
              <a:sym typeface="Calibri"/>
            </a:endParaRPr>
          </a:p>
        </p:txBody>
      </p:sp>
      <p:sp>
        <p:nvSpPr>
          <p:cNvPr id="2639" name="Google Shape;2639;p117"/>
          <p:cNvSpPr/>
          <p:nvPr/>
        </p:nvSpPr>
        <p:spPr>
          <a:xfrm>
            <a:off x="384048" y="3035808"/>
            <a:ext cx="2523600" cy="201300"/>
          </a:xfrm>
          <a:prstGeom prst="rect">
            <a:avLst/>
          </a:prstGeom>
          <a:solidFill>
            <a:srgbClr val="EEF2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0" name="Google Shape;2640;p117"/>
          <p:cNvSpPr/>
          <p:nvPr/>
        </p:nvSpPr>
        <p:spPr>
          <a:xfrm>
            <a:off x="384048" y="3035808"/>
            <a:ext cx="2523600" cy="2013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1D4ED8"/>
              </a:buClr>
              <a:buSzPts val="900"/>
              <a:buFont typeface="Calibri"/>
              <a:buNone/>
            </a:pPr>
            <a:r>
              <a:rPr lang="en" sz="900" b="1" i="0" u="none" strike="noStrike" cap="none">
                <a:solidFill>
                  <a:srgbClr val="1D4ED8"/>
                </a:solidFill>
                <a:sym typeface="Calibri"/>
              </a:rPr>
              <a:t>Example output:</a:t>
            </a:r>
            <a:endParaRPr sz="900" b="0" i="0" u="none" strike="noStrike" cap="none">
              <a:solidFill>
                <a:schemeClr val="dk1"/>
              </a:solidFill>
              <a:latin typeface="Calibri"/>
              <a:ea typeface="Calibri"/>
              <a:cs typeface="Calibri"/>
              <a:sym typeface="Calibri"/>
            </a:endParaRPr>
          </a:p>
        </p:txBody>
      </p:sp>
      <p:sp>
        <p:nvSpPr>
          <p:cNvPr id="2641" name="Google Shape;2641;p117"/>
          <p:cNvSpPr/>
          <p:nvPr/>
        </p:nvSpPr>
        <p:spPr>
          <a:xfrm>
            <a:off x="384048" y="3246120"/>
            <a:ext cx="2523600" cy="822900"/>
          </a:xfrm>
          <a:prstGeom prst="rect">
            <a:avLst/>
          </a:prstGeom>
          <a:solidFill>
            <a:srgbClr val="1E1B4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2" name="Google Shape;2642;p117"/>
          <p:cNvSpPr/>
          <p:nvPr/>
        </p:nvSpPr>
        <p:spPr>
          <a:xfrm>
            <a:off x="438912" y="3246120"/>
            <a:ext cx="2414100" cy="8229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A5F3FC"/>
              </a:buClr>
              <a:buSzPts val="1000"/>
              <a:buFont typeface="Consolas"/>
              <a:buNone/>
            </a:pPr>
            <a:r>
              <a:rPr lang="en" sz="1000" b="0" i="0" u="none" strike="noStrike" cap="none">
                <a:solidFill>
                  <a:srgbClr val="A5F3FC"/>
                </a:solidFill>
                <a:sym typeface="Consolas"/>
              </a:rPr>
              <a:t>"Paris is the capital of France."</a:t>
            </a:r>
            <a:endParaRPr sz="1000" b="0" i="0" u="none" strike="noStrike" cap="none">
              <a:solidFill>
                <a:schemeClr val="dk1"/>
              </a:solidFill>
              <a:latin typeface="Calibri"/>
              <a:ea typeface="Calibri"/>
              <a:cs typeface="Calibri"/>
              <a:sym typeface="Calibri"/>
            </a:endParaRPr>
          </a:p>
        </p:txBody>
      </p:sp>
      <p:sp>
        <p:nvSpPr>
          <p:cNvPr id="2643" name="Google Shape;2643;p117"/>
          <p:cNvSpPr/>
          <p:nvPr/>
        </p:nvSpPr>
        <p:spPr>
          <a:xfrm>
            <a:off x="3200400" y="1572768"/>
            <a:ext cx="2743200" cy="3200400"/>
          </a:xfrm>
          <a:prstGeom prst="rect">
            <a:avLst/>
          </a:prstGeom>
          <a:solidFill>
            <a:srgbClr val="F8F9FF"/>
          </a:solidFill>
          <a:ln>
            <a:noFill/>
          </a:ln>
          <a:effectLst>
            <a:outerShdw blurRad="101600" dist="25400" dir="8100000" algn="bl" rotWithShape="0">
              <a:srgbClr val="000000">
                <a:alpha val="784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4" name="Google Shape;2644;p117"/>
          <p:cNvSpPr/>
          <p:nvPr/>
        </p:nvSpPr>
        <p:spPr>
          <a:xfrm>
            <a:off x="3200400" y="1572768"/>
            <a:ext cx="2743200" cy="457200"/>
          </a:xfrm>
          <a:prstGeom prst="rect">
            <a:avLst/>
          </a:prstGeom>
          <a:solidFill>
            <a:srgbClr val="05966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5" name="Google Shape;2645;p117"/>
          <p:cNvSpPr/>
          <p:nvPr/>
        </p:nvSpPr>
        <p:spPr>
          <a:xfrm>
            <a:off x="3200400" y="1572768"/>
            <a:ext cx="1417200" cy="45720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FFFFFF"/>
              </a:buClr>
              <a:buSzPts val="1500"/>
              <a:buFont typeface="Calibri"/>
              <a:buNone/>
            </a:pPr>
            <a:r>
              <a:rPr lang="en" sz="1500" b="1" i="0" u="none" strike="noStrike" cap="none">
                <a:solidFill>
                  <a:srgbClr val="FFFFFF"/>
                </a:solidFill>
                <a:sym typeface="Calibri"/>
              </a:rPr>
              <a:t>T = 1.0</a:t>
            </a:r>
            <a:endParaRPr sz="1500" b="0" i="0" u="none" strike="noStrike" cap="none">
              <a:solidFill>
                <a:schemeClr val="dk1"/>
              </a:solidFill>
              <a:latin typeface="Calibri"/>
              <a:ea typeface="Calibri"/>
              <a:cs typeface="Calibri"/>
              <a:sym typeface="Calibri"/>
            </a:endParaRPr>
          </a:p>
        </p:txBody>
      </p:sp>
      <p:sp>
        <p:nvSpPr>
          <p:cNvPr id="2646" name="Google Shape;2646;p117"/>
          <p:cNvSpPr/>
          <p:nvPr/>
        </p:nvSpPr>
        <p:spPr>
          <a:xfrm>
            <a:off x="4617720" y="1572768"/>
            <a:ext cx="1326000" cy="45720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FFFFFF"/>
              </a:buClr>
              <a:buSzPts val="1300"/>
              <a:buFont typeface="Calibri"/>
              <a:buNone/>
            </a:pPr>
            <a:r>
              <a:rPr lang="en" sz="1300" b="0" i="0" u="none" strike="noStrike" cap="none">
                <a:solidFill>
                  <a:srgbClr val="FFFFFF"/>
                </a:solidFill>
                <a:sym typeface="Calibri"/>
              </a:rPr>
              <a:t>Default</a:t>
            </a:r>
            <a:endParaRPr sz="1300" b="0" i="0" u="none" strike="noStrike" cap="none">
              <a:solidFill>
                <a:schemeClr val="dk1"/>
              </a:solidFill>
              <a:latin typeface="Calibri"/>
              <a:ea typeface="Calibri"/>
              <a:cs typeface="Calibri"/>
              <a:sym typeface="Calibri"/>
            </a:endParaRPr>
          </a:p>
        </p:txBody>
      </p:sp>
      <p:sp>
        <p:nvSpPr>
          <p:cNvPr id="2647" name="Google Shape;2647;p117"/>
          <p:cNvSpPr/>
          <p:nvPr/>
        </p:nvSpPr>
        <p:spPr>
          <a:xfrm>
            <a:off x="3310128" y="2148840"/>
            <a:ext cx="2523600" cy="7773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374151"/>
              </a:buClr>
              <a:buSzPts val="1100"/>
              <a:buFont typeface="Calibri"/>
              <a:buNone/>
            </a:pPr>
            <a:r>
              <a:rPr lang="en" sz="1100" b="0" i="0" u="none" strike="noStrike" cap="none">
                <a:solidFill>
                  <a:srgbClr val="1A1F36"/>
                </a:solidFill>
                <a:sym typeface="Calibri"/>
              </a:rPr>
              <a:t>Natural distribution.</a:t>
            </a:r>
            <a:endParaRPr sz="1100" b="0" i="0" u="none" strike="noStrike" cap="none">
              <a:solidFill>
                <a:schemeClr val="dk1"/>
              </a:solidFill>
              <a:latin typeface="Calibri"/>
              <a:ea typeface="Calibri"/>
              <a:cs typeface="Calibri"/>
              <a:sym typeface="Calibri"/>
            </a:endParaRPr>
          </a:p>
          <a:p>
            <a:pPr marL="0" marR="0" lvl="0" indent="0" algn="l" rtl="0">
              <a:spcBef>
                <a:spcPts val="0"/>
              </a:spcBef>
              <a:spcAft>
                <a:spcPts val="0"/>
              </a:spcAft>
              <a:buClr>
                <a:srgbClr val="374151"/>
              </a:buClr>
              <a:buSzPts val="1100"/>
              <a:buFont typeface="Calibri"/>
              <a:buNone/>
            </a:pPr>
            <a:r>
              <a:rPr lang="en" sz="1100" b="0" i="0" u="none" strike="noStrike" cap="none">
                <a:solidFill>
                  <a:srgbClr val="1A1F36"/>
                </a:solidFill>
                <a:sym typeface="Calibri"/>
              </a:rPr>
              <a:t>Balanced creativity + coherence.</a:t>
            </a:r>
            <a:endParaRPr sz="1100" b="0" i="0" u="none" strike="noStrike" cap="none">
              <a:solidFill>
                <a:schemeClr val="dk1"/>
              </a:solidFill>
              <a:latin typeface="Calibri"/>
              <a:ea typeface="Calibri"/>
              <a:cs typeface="Calibri"/>
              <a:sym typeface="Calibri"/>
            </a:endParaRPr>
          </a:p>
        </p:txBody>
      </p:sp>
      <p:sp>
        <p:nvSpPr>
          <p:cNvPr id="2648" name="Google Shape;2648;p117"/>
          <p:cNvSpPr/>
          <p:nvPr/>
        </p:nvSpPr>
        <p:spPr>
          <a:xfrm>
            <a:off x="3310128" y="3035808"/>
            <a:ext cx="2523600" cy="201300"/>
          </a:xfrm>
          <a:prstGeom prst="rect">
            <a:avLst/>
          </a:prstGeom>
          <a:solidFill>
            <a:srgbClr val="EEF2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9" name="Google Shape;2649;p117"/>
          <p:cNvSpPr/>
          <p:nvPr/>
        </p:nvSpPr>
        <p:spPr>
          <a:xfrm>
            <a:off x="3310128" y="3035808"/>
            <a:ext cx="2523600" cy="2013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059669"/>
              </a:buClr>
              <a:buSzPts val="900"/>
              <a:buFont typeface="Calibri"/>
              <a:buNone/>
            </a:pPr>
            <a:r>
              <a:rPr lang="en" sz="900" b="1" i="0" u="none" strike="noStrike" cap="none">
                <a:solidFill>
                  <a:srgbClr val="059669"/>
                </a:solidFill>
                <a:sym typeface="Calibri"/>
              </a:rPr>
              <a:t>Example output:</a:t>
            </a:r>
            <a:endParaRPr sz="900" b="0" i="0" u="none" strike="noStrike" cap="none">
              <a:solidFill>
                <a:schemeClr val="dk1"/>
              </a:solidFill>
              <a:latin typeface="Calibri"/>
              <a:ea typeface="Calibri"/>
              <a:cs typeface="Calibri"/>
              <a:sym typeface="Calibri"/>
            </a:endParaRPr>
          </a:p>
        </p:txBody>
      </p:sp>
      <p:sp>
        <p:nvSpPr>
          <p:cNvPr id="2650" name="Google Shape;2650;p117"/>
          <p:cNvSpPr/>
          <p:nvPr/>
        </p:nvSpPr>
        <p:spPr>
          <a:xfrm>
            <a:off x="3310128" y="3246120"/>
            <a:ext cx="2523600" cy="822900"/>
          </a:xfrm>
          <a:prstGeom prst="rect">
            <a:avLst/>
          </a:prstGeom>
          <a:solidFill>
            <a:srgbClr val="1E1B4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1" name="Google Shape;2651;p117"/>
          <p:cNvSpPr/>
          <p:nvPr/>
        </p:nvSpPr>
        <p:spPr>
          <a:xfrm>
            <a:off x="3364992" y="3246120"/>
            <a:ext cx="2414100" cy="8229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A5F3FC"/>
              </a:buClr>
              <a:buSzPts val="1000"/>
              <a:buFont typeface="Consolas"/>
              <a:buNone/>
            </a:pPr>
            <a:r>
              <a:rPr lang="en" sz="1000" b="0" i="0" u="none" strike="noStrike" cap="none">
                <a:solidFill>
                  <a:srgbClr val="A5F3FC"/>
                </a:solidFill>
                <a:sym typeface="Consolas"/>
              </a:rPr>
              <a:t>"Paris is a stunning European capital."</a:t>
            </a:r>
            <a:endParaRPr sz="1000" b="0" i="0" u="none" strike="noStrike" cap="none">
              <a:solidFill>
                <a:schemeClr val="dk1"/>
              </a:solidFill>
              <a:latin typeface="Calibri"/>
              <a:ea typeface="Calibri"/>
              <a:cs typeface="Calibri"/>
              <a:sym typeface="Calibri"/>
            </a:endParaRPr>
          </a:p>
        </p:txBody>
      </p:sp>
      <p:sp>
        <p:nvSpPr>
          <p:cNvPr id="2652" name="Google Shape;2652;p117"/>
          <p:cNvSpPr/>
          <p:nvPr/>
        </p:nvSpPr>
        <p:spPr>
          <a:xfrm>
            <a:off x="6126480" y="1572768"/>
            <a:ext cx="2743200" cy="3200400"/>
          </a:xfrm>
          <a:prstGeom prst="rect">
            <a:avLst/>
          </a:prstGeom>
          <a:solidFill>
            <a:srgbClr val="F8F9FF"/>
          </a:solidFill>
          <a:ln>
            <a:noFill/>
          </a:ln>
          <a:effectLst>
            <a:outerShdw blurRad="101600" dist="25400" dir="8100000" algn="bl" rotWithShape="0">
              <a:srgbClr val="000000">
                <a:alpha val="784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3" name="Google Shape;2653;p117"/>
          <p:cNvSpPr/>
          <p:nvPr/>
        </p:nvSpPr>
        <p:spPr>
          <a:xfrm>
            <a:off x="6126480" y="1572768"/>
            <a:ext cx="2743200" cy="457200"/>
          </a:xfrm>
          <a:prstGeom prst="rect">
            <a:avLst/>
          </a:prstGeom>
          <a:solidFill>
            <a:srgbClr val="DC26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4" name="Google Shape;2654;p117"/>
          <p:cNvSpPr/>
          <p:nvPr/>
        </p:nvSpPr>
        <p:spPr>
          <a:xfrm>
            <a:off x="6126480" y="1572768"/>
            <a:ext cx="1417200" cy="45720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FFFFFF"/>
              </a:buClr>
              <a:buSzPts val="1500"/>
              <a:buFont typeface="Calibri"/>
              <a:buNone/>
            </a:pPr>
            <a:r>
              <a:rPr lang="en" sz="1500" b="1" i="0" u="none" strike="noStrike" cap="none">
                <a:solidFill>
                  <a:srgbClr val="FFFFFF"/>
                </a:solidFill>
                <a:sym typeface="Calibri"/>
              </a:rPr>
              <a:t>T = 1.8</a:t>
            </a:r>
            <a:endParaRPr sz="1500" b="0" i="0" u="none" strike="noStrike" cap="none">
              <a:solidFill>
                <a:schemeClr val="dk1"/>
              </a:solidFill>
              <a:latin typeface="Calibri"/>
              <a:ea typeface="Calibri"/>
              <a:cs typeface="Calibri"/>
              <a:sym typeface="Calibri"/>
            </a:endParaRPr>
          </a:p>
        </p:txBody>
      </p:sp>
      <p:sp>
        <p:nvSpPr>
          <p:cNvPr id="2655" name="Google Shape;2655;p117"/>
          <p:cNvSpPr/>
          <p:nvPr/>
        </p:nvSpPr>
        <p:spPr>
          <a:xfrm>
            <a:off x="7543800" y="1572768"/>
            <a:ext cx="1326000" cy="45720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FFFFFF"/>
              </a:buClr>
              <a:buSzPts val="1300"/>
              <a:buFont typeface="Calibri"/>
              <a:buNone/>
            </a:pPr>
            <a:r>
              <a:rPr lang="en" sz="1300" b="0" i="0" u="none" strike="noStrike" cap="none">
                <a:solidFill>
                  <a:srgbClr val="FFFFFF"/>
                </a:solidFill>
                <a:sym typeface="Calibri"/>
              </a:rPr>
              <a:t>Very Hot</a:t>
            </a:r>
            <a:endParaRPr sz="1300" b="0" i="0" u="none" strike="noStrike" cap="none">
              <a:solidFill>
                <a:schemeClr val="dk1"/>
              </a:solidFill>
              <a:latin typeface="Calibri"/>
              <a:ea typeface="Calibri"/>
              <a:cs typeface="Calibri"/>
              <a:sym typeface="Calibri"/>
            </a:endParaRPr>
          </a:p>
        </p:txBody>
      </p:sp>
      <p:sp>
        <p:nvSpPr>
          <p:cNvPr id="2656" name="Google Shape;2656;p117"/>
          <p:cNvSpPr/>
          <p:nvPr/>
        </p:nvSpPr>
        <p:spPr>
          <a:xfrm>
            <a:off x="6236208" y="2148840"/>
            <a:ext cx="2523600" cy="7773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374151"/>
              </a:buClr>
              <a:buSzPts val="1100"/>
              <a:buFont typeface="Calibri"/>
              <a:buNone/>
            </a:pPr>
            <a:r>
              <a:rPr lang="en" sz="1100" b="0" i="0" u="none" strike="noStrike" cap="none">
                <a:solidFill>
                  <a:srgbClr val="1A1F36"/>
                </a:solidFill>
                <a:sym typeface="Calibri"/>
              </a:rPr>
              <a:t>High randomness.</a:t>
            </a:r>
            <a:endParaRPr sz="1100" b="0" i="0" u="none" strike="noStrike" cap="none">
              <a:solidFill>
                <a:schemeClr val="dk1"/>
              </a:solidFill>
              <a:latin typeface="Calibri"/>
              <a:ea typeface="Calibri"/>
              <a:cs typeface="Calibri"/>
              <a:sym typeface="Calibri"/>
            </a:endParaRPr>
          </a:p>
          <a:p>
            <a:pPr marL="0" marR="0" lvl="0" indent="0" algn="l" rtl="0">
              <a:spcBef>
                <a:spcPts val="0"/>
              </a:spcBef>
              <a:spcAft>
                <a:spcPts val="0"/>
              </a:spcAft>
              <a:buClr>
                <a:srgbClr val="374151"/>
              </a:buClr>
              <a:buSzPts val="1100"/>
              <a:buFont typeface="Calibri"/>
              <a:buNone/>
            </a:pPr>
            <a:r>
              <a:rPr lang="en" sz="1100" b="0" i="0" u="none" strike="noStrike" cap="none">
                <a:solidFill>
                  <a:srgbClr val="1A1F36"/>
                </a:solidFill>
                <a:sym typeface="Calibri"/>
              </a:rPr>
              <a:t>Creative but can be incoherent.</a:t>
            </a:r>
            <a:endParaRPr sz="1100" b="0" i="0" u="none" strike="noStrike" cap="none">
              <a:solidFill>
                <a:schemeClr val="dk1"/>
              </a:solidFill>
              <a:latin typeface="Calibri"/>
              <a:ea typeface="Calibri"/>
              <a:cs typeface="Calibri"/>
              <a:sym typeface="Calibri"/>
            </a:endParaRPr>
          </a:p>
        </p:txBody>
      </p:sp>
      <p:sp>
        <p:nvSpPr>
          <p:cNvPr id="2657" name="Google Shape;2657;p117"/>
          <p:cNvSpPr/>
          <p:nvPr/>
        </p:nvSpPr>
        <p:spPr>
          <a:xfrm>
            <a:off x="6236208" y="3035808"/>
            <a:ext cx="2523600" cy="201300"/>
          </a:xfrm>
          <a:prstGeom prst="rect">
            <a:avLst/>
          </a:prstGeom>
          <a:solidFill>
            <a:srgbClr val="EEF2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8" name="Google Shape;2658;p117"/>
          <p:cNvSpPr/>
          <p:nvPr/>
        </p:nvSpPr>
        <p:spPr>
          <a:xfrm>
            <a:off x="6236208" y="3035808"/>
            <a:ext cx="2523600" cy="2013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DC2626"/>
              </a:buClr>
              <a:buSzPts val="900"/>
              <a:buFont typeface="Calibri"/>
              <a:buNone/>
            </a:pPr>
            <a:r>
              <a:rPr lang="en" sz="900" b="1" i="0" u="none" strike="noStrike" cap="none">
                <a:solidFill>
                  <a:srgbClr val="DC2626"/>
                </a:solidFill>
                <a:sym typeface="Calibri"/>
              </a:rPr>
              <a:t>Example output:</a:t>
            </a:r>
            <a:endParaRPr sz="900" b="0" i="0" u="none" strike="noStrike" cap="none">
              <a:solidFill>
                <a:schemeClr val="dk1"/>
              </a:solidFill>
              <a:latin typeface="Calibri"/>
              <a:ea typeface="Calibri"/>
              <a:cs typeface="Calibri"/>
              <a:sym typeface="Calibri"/>
            </a:endParaRPr>
          </a:p>
        </p:txBody>
      </p:sp>
      <p:sp>
        <p:nvSpPr>
          <p:cNvPr id="2659" name="Google Shape;2659;p117"/>
          <p:cNvSpPr/>
          <p:nvPr/>
        </p:nvSpPr>
        <p:spPr>
          <a:xfrm>
            <a:off x="6236208" y="3246120"/>
            <a:ext cx="2523600" cy="822900"/>
          </a:xfrm>
          <a:prstGeom prst="rect">
            <a:avLst/>
          </a:prstGeom>
          <a:solidFill>
            <a:srgbClr val="1E1B4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0" name="Google Shape;2660;p117"/>
          <p:cNvSpPr/>
          <p:nvPr/>
        </p:nvSpPr>
        <p:spPr>
          <a:xfrm>
            <a:off x="6291072" y="3246120"/>
            <a:ext cx="2414100" cy="8229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A5F3FC"/>
              </a:buClr>
              <a:buSzPts val="1000"/>
              <a:buFont typeface="Consolas"/>
              <a:buNone/>
            </a:pPr>
            <a:r>
              <a:rPr lang="en" sz="1000" b="0" i="0" u="none" strike="noStrike" cap="none">
                <a:solidFill>
                  <a:srgbClr val="A5F3FC"/>
                </a:solidFill>
                <a:sym typeface="Consolas"/>
              </a:rPr>
              <a:t>"Paris is cheese-dream cobblestone forever!"</a:t>
            </a:r>
            <a:endParaRPr sz="1000" b="0" i="0" u="none" strike="noStrike" cap="none">
              <a:solidFill>
                <a:schemeClr val="dk1"/>
              </a:solidFill>
              <a:latin typeface="Calibri"/>
              <a:ea typeface="Calibri"/>
              <a:cs typeface="Calibri"/>
              <a:sym typeface="Calibri"/>
            </a:endParaRPr>
          </a:p>
        </p:txBody>
      </p:sp>
      <p:sp>
        <p:nvSpPr>
          <p:cNvPr id="2661" name="Google Shape;2661;p117"/>
          <p:cNvSpPr/>
          <p:nvPr/>
        </p:nvSpPr>
        <p:spPr>
          <a:xfrm>
            <a:off x="274320" y="4800600"/>
            <a:ext cx="8595300" cy="228600"/>
          </a:xfrm>
          <a:prstGeom prst="rect">
            <a:avLst/>
          </a:prstGeom>
          <a:solidFill>
            <a:srgbClr val="FFF7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2" name="Google Shape;2662;p117"/>
          <p:cNvSpPr/>
          <p:nvPr/>
        </p:nvSpPr>
        <p:spPr>
          <a:xfrm>
            <a:off x="457200" y="4800600"/>
            <a:ext cx="8321100" cy="2286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EA580C"/>
              </a:buClr>
              <a:buSzPts val="1050"/>
              <a:buFont typeface="Calibri"/>
              <a:buNone/>
            </a:pPr>
            <a:r>
              <a:rPr lang="en" sz="1050" b="0" i="1" u="none" strike="noStrike" cap="none">
                <a:solidFill>
                  <a:srgbClr val="EA580C"/>
                </a:solidFill>
                <a:sym typeface="Calibri"/>
              </a:rPr>
              <a:t>💡 Tip: Use T≈0.7 for factual tasks, T≈1.2 for creative writing, T&gt;1.5 only for brainstorming.</a:t>
            </a:r>
            <a:endParaRPr sz="1050" b="0" i="0" u="none" strike="noStrike" cap="none">
              <a:solidFill>
                <a:schemeClr val="dk1"/>
              </a:solidFill>
              <a:latin typeface="Calibri"/>
              <a:ea typeface="Calibri"/>
              <a:cs typeface="Calibri"/>
              <a:sym typeface="Calibri"/>
            </a:endParaRPr>
          </a:p>
        </p:txBody>
      </p:sp>
      <p:pic>
        <p:nvPicPr>
          <p:cNvPr id="2663" name="Google Shape;2663;p117"/>
          <p:cNvPicPr preferRelativeResize="0"/>
          <p:nvPr/>
        </p:nvPicPr>
        <p:blipFill>
          <a:blip r:embed="rId3">
            <a:alphaModFix/>
          </a:blip>
          <a:stretch>
            <a:fillRect/>
          </a:stretch>
        </p:blipFill>
        <p:spPr>
          <a:xfrm>
            <a:off x="8369125" y="0"/>
            <a:ext cx="774877" cy="867174"/>
          </a:xfrm>
          <a:prstGeom prst="rect">
            <a:avLst/>
          </a:prstGeom>
          <a:noFill/>
          <a:ln>
            <a:noFill/>
          </a:ln>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home/claude/work/logo.png"/>
          <p:cNvPicPr>
            <a:picLocks noChangeAspect="1"/>
          </p:cNvPicPr>
          <p:nvPr/>
        </p:nvPicPr>
        <p:blipFill>
          <a:blip r:embed="rId3"/>
          <a:stretch>
            <a:fillRect/>
          </a:stretch>
        </p:blipFill>
        <p:spPr>
          <a:xfrm>
            <a:off x="8366760" y="0"/>
            <a:ext cx="774497" cy="866851"/>
          </a:xfrm>
          <a:prstGeom prst="rect">
            <a:avLst/>
          </a:prstGeom>
        </p:spPr>
      </p:pic>
      <p:sp>
        <p:nvSpPr>
          <p:cNvPr id="3" name="Text 0"/>
          <p:cNvSpPr txBox="1"/>
          <p:nvPr/>
        </p:nvSpPr>
        <p:spPr>
          <a:xfrm>
            <a:off x="365760" y="256032"/>
            <a:ext cx="7772400" cy="457200"/>
          </a:xfrm>
          <a:prstGeom prst="rect">
            <a:avLst/>
          </a:prstGeom>
          <a:noFill/>
          <a:ln/>
        </p:spPr>
        <p:txBody>
          <a:bodyPr wrap="square" lIns="0" tIns="0" rIns="0" bIns="0" rtlCol="0" anchor="ctr"/>
          <a:lstStyle/>
          <a:p>
            <a:pPr marL="0" indent="0">
              <a:buNone/>
            </a:pPr>
            <a:r>
              <a:rPr lang="en-US" sz="2500" b="1" dirty="0">
                <a:solidFill>
                  <a:srgbClr val="1E2761"/>
                </a:solidFill>
                <a:latin typeface="Calibri" pitchFamily="34" charset="0"/>
                <a:ea typeface="Calibri" pitchFamily="34" charset="-122"/>
                <a:cs typeface="Calibri" pitchFamily="34" charset="-120"/>
              </a:rPr>
              <a:t>🌡️  Temperature in Practice</a:t>
            </a:r>
            <a:endParaRPr lang="en-US" sz="2500" dirty="0"/>
          </a:p>
        </p:txBody>
      </p:sp>
      <p:sp>
        <p:nvSpPr>
          <p:cNvPr id="4" name="Text 1"/>
          <p:cNvSpPr txBox="1"/>
          <p:nvPr/>
        </p:nvSpPr>
        <p:spPr>
          <a:xfrm>
            <a:off x="365760" y="676656"/>
            <a:ext cx="7863840" cy="292608"/>
          </a:xfrm>
          <a:prstGeom prst="rect">
            <a:avLst/>
          </a:prstGeom>
          <a:noFill/>
          <a:ln/>
        </p:spPr>
        <p:txBody>
          <a:bodyPr wrap="square" lIns="0" tIns="0" rIns="0" bIns="0" rtlCol="0" anchor="ctr"/>
          <a:lstStyle/>
          <a:p>
            <a:pPr marL="0" indent="0">
              <a:buNone/>
            </a:pPr>
            <a:r>
              <a:rPr lang="en-US" sz="1250" i="1" dirty="0">
                <a:solidFill>
                  <a:srgbClr val="6B7280"/>
                </a:solidFill>
                <a:latin typeface="Calibri" pitchFamily="34" charset="0"/>
                <a:ea typeface="Calibri" pitchFamily="34" charset="-122"/>
                <a:cs typeface="Calibri" pitchFamily="34" charset="-120"/>
              </a:rPr>
              <a:t>Same prompt, 3 temperatures, 2 runs</a:t>
            </a:r>
            <a:endParaRPr lang="en-US" sz="1250" dirty="0"/>
          </a:p>
        </p:txBody>
      </p:sp>
      <p:sp>
        <p:nvSpPr>
          <p:cNvPr id="5" name="Shape 2"/>
          <p:cNvSpPr/>
          <p:nvPr/>
        </p:nvSpPr>
        <p:spPr>
          <a:xfrm>
            <a:off x="365760" y="1078992"/>
            <a:ext cx="3246120" cy="3703320"/>
          </a:xfrm>
          <a:prstGeom prst="roundRect">
            <a:avLst>
              <a:gd name="adj" fmla="val 2254"/>
            </a:avLst>
          </a:prstGeom>
          <a:solidFill>
            <a:srgbClr val="1A1F36"/>
          </a:solidFill>
          <a:ln/>
          <a:effectLst>
            <a:outerShdw blurRad="76200" dist="25400" dir="5400000" algn="bl" rotWithShape="0">
              <a:srgbClr val="000000">
                <a:alpha val="25000"/>
              </a:srgbClr>
            </a:outerShdw>
          </a:effectLst>
        </p:spPr>
        <p:txBody>
          <a:bodyPr/>
          <a:lstStyle/>
          <a:p>
            <a:endParaRPr lang="en-IN"/>
          </a:p>
        </p:txBody>
      </p:sp>
      <p:sp>
        <p:nvSpPr>
          <p:cNvPr id="6" name="Text 3"/>
          <p:cNvSpPr txBox="1"/>
          <p:nvPr/>
        </p:nvSpPr>
        <p:spPr>
          <a:xfrm>
            <a:off x="530352" y="1225296"/>
            <a:ext cx="2916936" cy="3429000"/>
          </a:xfrm>
          <a:prstGeom prst="rect">
            <a:avLst/>
          </a:prstGeom>
          <a:noFill/>
          <a:ln/>
        </p:spPr>
        <p:txBody>
          <a:bodyPr wrap="square" lIns="0" tIns="0" rIns="0" bIns="0" rtlCol="0" anchor="t"/>
          <a:lstStyle/>
          <a:p>
            <a:pPr marL="0" indent="0">
              <a:lnSpc>
                <a:spcPct val="112000"/>
              </a:lnSpc>
              <a:buNone/>
            </a:pPr>
            <a:r>
              <a:rPr lang="en-US" sz="930" dirty="0">
                <a:solidFill>
                  <a:srgbClr val="86EFAC"/>
                </a:solidFill>
                <a:latin typeface="Consolas" pitchFamily="34" charset="0"/>
                <a:ea typeface="Consolas" pitchFamily="34" charset="-122"/>
                <a:cs typeface="Consolas" pitchFamily="34" charset="-120"/>
              </a:rPr>
              <a:t>PROMPT = "Suggest one novel"</a:t>
            </a:r>
            <a:endParaRPr lang="en-US" sz="930" dirty="0"/>
          </a:p>
          <a:p>
            <a:pPr marL="0" indent="0">
              <a:lnSpc>
                <a:spcPct val="112000"/>
              </a:lnSpc>
              <a:buNone/>
            </a:pPr>
            <a:r>
              <a:rPr lang="en-US" sz="930" dirty="0">
                <a:solidFill>
                  <a:srgbClr val="86EFAC"/>
                </a:solidFill>
                <a:latin typeface="Consolas" pitchFamily="34" charset="0"/>
                <a:ea typeface="Consolas" pitchFamily="34" charset="-122"/>
                <a:cs typeface="Consolas" pitchFamily="34" charset="-120"/>
              </a:rPr>
              <a:t>          "research direction using LLMs.</a:t>
            </a:r>
            <a:endParaRPr lang="en-US" sz="930" dirty="0"/>
          </a:p>
          <a:p>
            <a:pPr marL="0" indent="0">
              <a:lnSpc>
                <a:spcPct val="112000"/>
              </a:lnSpc>
              <a:buNone/>
            </a:pPr>
            <a:r>
              <a:rPr lang="en-US" sz="930" dirty="0">
                <a:solidFill>
                  <a:srgbClr val="86EFAC"/>
                </a:solidFill>
                <a:latin typeface="Consolas" pitchFamily="34" charset="0"/>
                <a:ea typeface="Consolas" pitchFamily="34" charset="-122"/>
                <a:cs typeface="Consolas" pitchFamily="34" charset="-120"/>
              </a:rPr>
              <a:t>          Keep the answer under 50 words."</a:t>
            </a:r>
            <a:endParaRPr lang="en-US" sz="930" dirty="0"/>
          </a:p>
          <a:p>
            <a:pPr marL="0" indent="0">
              <a:lnSpc>
                <a:spcPct val="112000"/>
              </a:lnSpc>
              <a:buNone/>
            </a:pPr>
            <a:r>
              <a:rPr lang="en-US" sz="930" dirty="0">
                <a:solidFill>
                  <a:srgbClr val="E2E8F0"/>
                </a:solidFill>
                <a:latin typeface="Consolas" pitchFamily="34" charset="0"/>
                <a:ea typeface="Consolas" pitchFamily="34" charset="-122"/>
                <a:cs typeface="Consolas" pitchFamily="34" charset="-120"/>
              </a:rPr>
              <a:t> </a:t>
            </a:r>
            <a:endParaRPr lang="en-US" sz="930" dirty="0"/>
          </a:p>
          <a:p>
            <a:pPr marL="0" indent="0">
              <a:lnSpc>
                <a:spcPct val="112000"/>
              </a:lnSpc>
              <a:buNone/>
            </a:pPr>
            <a:r>
              <a:rPr lang="en-US" sz="930" dirty="0">
                <a:solidFill>
                  <a:srgbClr val="E2E8F0"/>
                </a:solidFill>
                <a:latin typeface="Consolas" pitchFamily="34" charset="0"/>
                <a:ea typeface="Consolas" pitchFamily="34" charset="-122"/>
                <a:cs typeface="Consolas" pitchFamily="34" charset="-120"/>
              </a:rPr>
              <a:t>temperatures = [0.0, 1.0, 1.8]</a:t>
            </a:r>
            <a:endParaRPr lang="en-US" sz="930" dirty="0"/>
          </a:p>
          <a:p>
            <a:pPr marL="0" indent="0">
              <a:lnSpc>
                <a:spcPct val="112000"/>
              </a:lnSpc>
              <a:buNone/>
            </a:pPr>
            <a:r>
              <a:rPr lang="en-US" sz="930" dirty="0">
                <a:solidFill>
                  <a:srgbClr val="E2E8F0"/>
                </a:solidFill>
                <a:latin typeface="Consolas" pitchFamily="34" charset="0"/>
                <a:ea typeface="Consolas" pitchFamily="34" charset="-122"/>
                <a:cs typeface="Consolas" pitchFamily="34" charset="-120"/>
              </a:rPr>
              <a:t>num_runs = 2</a:t>
            </a:r>
            <a:endParaRPr lang="en-US" sz="930" dirty="0"/>
          </a:p>
          <a:p>
            <a:pPr marL="0" indent="0">
              <a:lnSpc>
                <a:spcPct val="112000"/>
              </a:lnSpc>
              <a:buNone/>
            </a:pPr>
            <a:r>
              <a:rPr lang="en-US" sz="930" dirty="0">
                <a:solidFill>
                  <a:srgbClr val="E2E8F0"/>
                </a:solidFill>
                <a:latin typeface="Consolas" pitchFamily="34" charset="0"/>
                <a:ea typeface="Consolas" pitchFamily="34" charset="-122"/>
                <a:cs typeface="Consolas" pitchFamily="34" charset="-120"/>
              </a:rPr>
              <a:t> </a:t>
            </a:r>
            <a:endParaRPr lang="en-US" sz="930" dirty="0"/>
          </a:p>
          <a:p>
            <a:pPr marL="0" indent="0">
              <a:lnSpc>
                <a:spcPct val="112000"/>
              </a:lnSpc>
              <a:buNone/>
            </a:pPr>
            <a:r>
              <a:rPr lang="en-US" sz="930" dirty="0">
                <a:solidFill>
                  <a:srgbClr val="7DD3FC"/>
                </a:solidFill>
                <a:latin typeface="Consolas" pitchFamily="34" charset="0"/>
                <a:ea typeface="Consolas" pitchFamily="34" charset="-122"/>
                <a:cs typeface="Consolas" pitchFamily="34" charset="-120"/>
              </a:rPr>
              <a:t>for temp in temperatures:</a:t>
            </a:r>
            <a:endParaRPr lang="en-US" sz="930" dirty="0"/>
          </a:p>
          <a:p>
            <a:pPr marL="0" indent="0">
              <a:lnSpc>
                <a:spcPct val="112000"/>
              </a:lnSpc>
              <a:buNone/>
            </a:pPr>
            <a:r>
              <a:rPr lang="en-US" sz="930" dirty="0">
                <a:solidFill>
                  <a:srgbClr val="7DD3FC"/>
                </a:solidFill>
                <a:latin typeface="Consolas" pitchFamily="34" charset="0"/>
                <a:ea typeface="Consolas" pitchFamily="34" charset="-122"/>
                <a:cs typeface="Consolas" pitchFamily="34" charset="-120"/>
              </a:rPr>
              <a:t>  for run in range(num_runs):</a:t>
            </a:r>
            <a:endParaRPr lang="en-US" sz="930" dirty="0"/>
          </a:p>
          <a:p>
            <a:pPr marL="0" indent="0">
              <a:lnSpc>
                <a:spcPct val="112000"/>
              </a:lnSpc>
              <a:buNone/>
            </a:pPr>
            <a:r>
              <a:rPr lang="en-US" sz="930" dirty="0">
                <a:solidFill>
                  <a:srgbClr val="E2E8F0"/>
                </a:solidFill>
                <a:latin typeface="Consolas" pitchFamily="34" charset="0"/>
                <a:ea typeface="Consolas" pitchFamily="34" charset="-122"/>
                <a:cs typeface="Consolas" pitchFamily="34" charset="-120"/>
              </a:rPr>
              <a:t>    response = client.chat.completions</a:t>
            </a:r>
            <a:endParaRPr lang="en-US" sz="930" dirty="0"/>
          </a:p>
          <a:p>
            <a:pPr marL="0" indent="0">
              <a:lnSpc>
                <a:spcPct val="112000"/>
              </a:lnSpc>
              <a:buNone/>
            </a:pPr>
            <a:r>
              <a:rPr lang="en-US" sz="930" dirty="0">
                <a:solidFill>
                  <a:srgbClr val="E2E8F0"/>
                </a:solidFill>
                <a:latin typeface="Consolas" pitchFamily="34" charset="0"/>
                <a:ea typeface="Consolas" pitchFamily="34" charset="-122"/>
                <a:cs typeface="Consolas" pitchFamily="34" charset="-120"/>
              </a:rPr>
              <a:t>      .create(</a:t>
            </a:r>
            <a:endParaRPr lang="en-US" sz="930" dirty="0"/>
          </a:p>
          <a:p>
            <a:pPr marL="0" indent="0">
              <a:lnSpc>
                <a:spcPct val="112000"/>
              </a:lnSpc>
              <a:buNone/>
            </a:pPr>
            <a:r>
              <a:rPr lang="en-US" sz="930" dirty="0">
                <a:solidFill>
                  <a:srgbClr val="E2E8F0"/>
                </a:solidFill>
                <a:latin typeface="Consolas" pitchFamily="34" charset="0"/>
                <a:ea typeface="Consolas" pitchFamily="34" charset="-122"/>
                <a:cs typeface="Consolas" pitchFamily="34" charset="-120"/>
              </a:rPr>
              <a:t>        model=MODEL,</a:t>
            </a:r>
            <a:endParaRPr lang="en-US" sz="930" dirty="0"/>
          </a:p>
          <a:p>
            <a:pPr marL="0" indent="0">
              <a:lnSpc>
                <a:spcPct val="112000"/>
              </a:lnSpc>
              <a:buNone/>
            </a:pPr>
            <a:r>
              <a:rPr lang="en-US" sz="930" dirty="0">
                <a:solidFill>
                  <a:srgbClr val="E2E8F0"/>
                </a:solidFill>
                <a:latin typeface="Consolas" pitchFamily="34" charset="0"/>
                <a:ea typeface="Consolas" pitchFamily="34" charset="-122"/>
                <a:cs typeface="Consolas" pitchFamily="34" charset="-120"/>
              </a:rPr>
              <a:t>        messages=[{"role": "user",</a:t>
            </a:r>
            <a:endParaRPr lang="en-US" sz="930" dirty="0"/>
          </a:p>
          <a:p>
            <a:pPr marL="0" indent="0">
              <a:lnSpc>
                <a:spcPct val="112000"/>
              </a:lnSpc>
              <a:buNone/>
            </a:pPr>
            <a:r>
              <a:rPr lang="en-US" sz="930" dirty="0">
                <a:solidFill>
                  <a:srgbClr val="E2E8F0"/>
                </a:solidFill>
                <a:latin typeface="Consolas" pitchFamily="34" charset="0"/>
                <a:ea typeface="Consolas" pitchFamily="34" charset="-122"/>
                <a:cs typeface="Consolas" pitchFamily="34" charset="-120"/>
              </a:rPr>
              <a:t>                    "content": PROMPT}],</a:t>
            </a:r>
            <a:endParaRPr lang="en-US" sz="930" dirty="0"/>
          </a:p>
          <a:p>
            <a:pPr marL="0" indent="0">
              <a:lnSpc>
                <a:spcPct val="112000"/>
              </a:lnSpc>
              <a:buNone/>
            </a:pPr>
            <a:r>
              <a:rPr lang="en-US" sz="930" b="1" dirty="0">
                <a:solidFill>
                  <a:srgbClr val="FDE68A"/>
                </a:solidFill>
                <a:latin typeface="Consolas" pitchFamily="34" charset="0"/>
                <a:ea typeface="Consolas" pitchFamily="34" charset="-122"/>
                <a:cs typeface="Consolas" pitchFamily="34" charset="-120"/>
              </a:rPr>
              <a:t>        temperature=temp,</a:t>
            </a:r>
            <a:endParaRPr lang="en-US" sz="930" dirty="0"/>
          </a:p>
          <a:p>
            <a:pPr marL="0" indent="0">
              <a:lnSpc>
                <a:spcPct val="112000"/>
              </a:lnSpc>
              <a:buNone/>
            </a:pPr>
            <a:r>
              <a:rPr lang="en-US" sz="930" dirty="0">
                <a:solidFill>
                  <a:srgbClr val="E2E8F0"/>
                </a:solidFill>
                <a:latin typeface="Consolas" pitchFamily="34" charset="0"/>
                <a:ea typeface="Consolas" pitchFamily="34" charset="-122"/>
                <a:cs typeface="Consolas" pitchFamily="34" charset="-120"/>
              </a:rPr>
              <a:t>        max_tokens=300</a:t>
            </a:r>
            <a:endParaRPr lang="en-US" sz="930" dirty="0"/>
          </a:p>
          <a:p>
            <a:pPr marL="0" indent="0">
              <a:lnSpc>
                <a:spcPct val="112000"/>
              </a:lnSpc>
              <a:buNone/>
            </a:pPr>
            <a:r>
              <a:rPr lang="en-US" sz="930" dirty="0">
                <a:solidFill>
                  <a:srgbClr val="E2E8F0"/>
                </a:solidFill>
                <a:latin typeface="Consolas" pitchFamily="34" charset="0"/>
                <a:ea typeface="Consolas" pitchFamily="34" charset="-122"/>
                <a:cs typeface="Consolas" pitchFamily="34" charset="-120"/>
              </a:rPr>
              <a:t>    )</a:t>
            </a:r>
            <a:endParaRPr lang="en-US" sz="930" dirty="0"/>
          </a:p>
          <a:p>
            <a:pPr marL="0" indent="0">
              <a:lnSpc>
                <a:spcPct val="112000"/>
              </a:lnSpc>
              <a:buNone/>
            </a:pPr>
            <a:r>
              <a:rPr lang="en-US" sz="930" dirty="0">
                <a:solidFill>
                  <a:srgbClr val="E2E8F0"/>
                </a:solidFill>
                <a:latin typeface="Consolas" pitchFamily="34" charset="0"/>
                <a:ea typeface="Consolas" pitchFamily="34" charset="-122"/>
                <a:cs typeface="Consolas" pitchFamily="34" charset="-120"/>
              </a:rPr>
              <a:t> </a:t>
            </a:r>
            <a:endParaRPr lang="en-US" sz="930" dirty="0"/>
          </a:p>
          <a:p>
            <a:pPr marL="0" indent="0">
              <a:lnSpc>
                <a:spcPct val="112000"/>
              </a:lnSpc>
              <a:buNone/>
            </a:pPr>
            <a:r>
              <a:rPr lang="en-US" sz="930" dirty="0">
                <a:solidFill>
                  <a:srgbClr val="94A3B8"/>
                </a:solidFill>
                <a:latin typeface="Consolas" pitchFamily="34" charset="0"/>
                <a:ea typeface="Consolas" pitchFamily="34" charset="-122"/>
                <a:cs typeface="Consolas" pitchFamily="34" charset="-120"/>
              </a:rPr>
              <a:t>    </a:t>
            </a:r>
            <a:r>
              <a:rPr lang="en-US" sz="930" dirty="0">
                <a:solidFill>
                  <a:srgbClr val="E2E8F0"/>
                </a:solidFill>
                <a:latin typeface="Consolas" pitchFamily="34" charset="0"/>
              </a:rPr>
              <a:t>print(response.choices[0]</a:t>
            </a:r>
          </a:p>
          <a:p>
            <a:pPr marL="0" indent="0">
              <a:lnSpc>
                <a:spcPct val="112000"/>
              </a:lnSpc>
              <a:buNone/>
            </a:pPr>
            <a:r>
              <a:rPr lang="en-US" sz="930" dirty="0">
                <a:solidFill>
                  <a:srgbClr val="E2E8F0"/>
                </a:solidFill>
                <a:latin typeface="Consolas" pitchFamily="34" charset="0"/>
              </a:rPr>
              <a:t>          .message.content)</a:t>
            </a:r>
          </a:p>
        </p:txBody>
      </p:sp>
      <p:sp>
        <p:nvSpPr>
          <p:cNvPr id="7" name="Shape 4"/>
          <p:cNvSpPr/>
          <p:nvPr/>
        </p:nvSpPr>
        <p:spPr>
          <a:xfrm>
            <a:off x="3794760" y="1078992"/>
            <a:ext cx="1627632" cy="566928"/>
          </a:xfrm>
          <a:prstGeom prst="roundRect">
            <a:avLst>
              <a:gd name="adj" fmla="val 9677"/>
            </a:avLst>
          </a:prstGeom>
          <a:solidFill>
            <a:srgbClr val="1D4ED8"/>
          </a:solidFill>
          <a:ln/>
        </p:spPr>
        <p:txBody>
          <a:bodyPr/>
          <a:lstStyle/>
          <a:p>
            <a:endParaRPr lang="en-IN"/>
          </a:p>
        </p:txBody>
      </p:sp>
      <p:sp>
        <p:nvSpPr>
          <p:cNvPr id="8" name="Text 5"/>
          <p:cNvSpPr txBox="1"/>
          <p:nvPr/>
        </p:nvSpPr>
        <p:spPr>
          <a:xfrm>
            <a:off x="3794760" y="1124712"/>
            <a:ext cx="1627632" cy="27432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T = 0.0</a:t>
            </a:r>
            <a:endParaRPr lang="en-US" sz="1400" dirty="0"/>
          </a:p>
        </p:txBody>
      </p:sp>
      <p:sp>
        <p:nvSpPr>
          <p:cNvPr id="9" name="Text 6"/>
          <p:cNvSpPr txBox="1"/>
          <p:nvPr/>
        </p:nvSpPr>
        <p:spPr>
          <a:xfrm>
            <a:off x="3794760" y="1389888"/>
            <a:ext cx="1627632" cy="219456"/>
          </a:xfrm>
          <a:prstGeom prst="rect">
            <a:avLst/>
          </a:prstGeom>
          <a:noFill/>
          <a:ln/>
        </p:spPr>
        <p:txBody>
          <a:bodyPr wrap="square" lIns="0" tIns="0" rIns="0" bIns="0" rtlCol="0" anchor="ctr"/>
          <a:lstStyle/>
          <a:p>
            <a:pPr marL="0" indent="0" algn="ctr">
              <a:buNone/>
            </a:pPr>
            <a:r>
              <a:rPr lang="en-US" sz="850" dirty="0">
                <a:solidFill>
                  <a:srgbClr val="FFFFFF"/>
                </a:solidFill>
                <a:latin typeface="Calibri" pitchFamily="34" charset="0"/>
                <a:ea typeface="Calibri" pitchFamily="34" charset="-122"/>
                <a:cs typeface="Calibri" pitchFamily="34" charset="-120"/>
              </a:rPr>
              <a:t>Deterministic</a:t>
            </a:r>
            <a:endParaRPr lang="en-US" sz="850" dirty="0"/>
          </a:p>
        </p:txBody>
      </p:sp>
      <p:sp>
        <p:nvSpPr>
          <p:cNvPr id="10" name="Shape 7"/>
          <p:cNvSpPr/>
          <p:nvPr/>
        </p:nvSpPr>
        <p:spPr>
          <a:xfrm>
            <a:off x="3794760" y="1773936"/>
            <a:ext cx="1627632" cy="3008376"/>
          </a:xfrm>
          <a:prstGeom prst="roundRect">
            <a:avLst>
              <a:gd name="adj" fmla="val 3371"/>
            </a:avLst>
          </a:prstGeom>
          <a:solidFill>
            <a:srgbClr val="EEF2FF"/>
          </a:solidFill>
          <a:ln w="9525">
            <a:solidFill>
              <a:srgbClr val="1D4ED8"/>
            </a:solidFill>
            <a:prstDash val="solid"/>
          </a:ln>
        </p:spPr>
        <p:txBody>
          <a:bodyPr/>
          <a:lstStyle/>
          <a:p>
            <a:endParaRPr lang="en-IN"/>
          </a:p>
        </p:txBody>
      </p:sp>
      <p:sp>
        <p:nvSpPr>
          <p:cNvPr id="11" name="Text 8"/>
          <p:cNvSpPr txBox="1"/>
          <p:nvPr/>
        </p:nvSpPr>
        <p:spPr>
          <a:xfrm>
            <a:off x="3886200" y="1828800"/>
            <a:ext cx="1444752" cy="2898648"/>
          </a:xfrm>
          <a:prstGeom prst="rect">
            <a:avLst/>
          </a:prstGeom>
          <a:noFill/>
          <a:ln/>
        </p:spPr>
        <p:txBody>
          <a:bodyPr wrap="square" lIns="0" tIns="0" rIns="0" bIns="0" rtlCol="0" anchor="t"/>
          <a:lstStyle/>
          <a:p>
            <a:pPr marL="0" indent="0">
              <a:lnSpc>
                <a:spcPct val="105000"/>
              </a:lnSpc>
              <a:buNone/>
            </a:pPr>
            <a:r>
              <a:rPr lang="en-US" sz="900" b="1" dirty="0">
                <a:solidFill>
                  <a:srgbClr val="1D4ED8"/>
                </a:solidFill>
                <a:latin typeface="Calibri" pitchFamily="34" charset="0"/>
                <a:ea typeface="Calibri" pitchFamily="34" charset="-122"/>
                <a:cs typeface="Calibri" pitchFamily="34" charset="-120"/>
              </a:rPr>
              <a:t>Run 1 &amp; 2 (identical)
</a:t>
            </a:r>
            <a:endParaRPr lang="en-US" sz="900" dirty="0"/>
          </a:p>
          <a:p>
            <a:pPr marL="0" indent="0">
              <a:lnSpc>
                <a:spcPct val="105000"/>
              </a:lnSpc>
              <a:buNone/>
            </a:pPr>
            <a:r>
              <a:rPr lang="en-US" sz="930" dirty="0">
                <a:solidFill>
                  <a:srgbClr val="1A1F36"/>
                </a:solidFill>
                <a:latin typeface="Calibri" pitchFamily="34" charset="0"/>
                <a:ea typeface="Calibri" pitchFamily="34" charset="-122"/>
                <a:cs typeface="Calibri" pitchFamily="34" charset="-120"/>
              </a:rPr>
              <a:t>Exploring LLMs for generative art creation and style transfer, integrating natural language descriptions with visual outputs.</a:t>
            </a:r>
            <a:endParaRPr lang="en-US" sz="900" dirty="0"/>
          </a:p>
        </p:txBody>
      </p:sp>
      <p:sp>
        <p:nvSpPr>
          <p:cNvPr id="12" name="Shape 9"/>
          <p:cNvSpPr/>
          <p:nvPr/>
        </p:nvSpPr>
        <p:spPr>
          <a:xfrm>
            <a:off x="5513832" y="1078992"/>
            <a:ext cx="1627632" cy="566928"/>
          </a:xfrm>
          <a:prstGeom prst="roundRect">
            <a:avLst>
              <a:gd name="adj" fmla="val 9677"/>
            </a:avLst>
          </a:prstGeom>
          <a:solidFill>
            <a:srgbClr val="059669"/>
          </a:solidFill>
          <a:ln/>
        </p:spPr>
        <p:txBody>
          <a:bodyPr/>
          <a:lstStyle/>
          <a:p>
            <a:endParaRPr lang="en-IN"/>
          </a:p>
        </p:txBody>
      </p:sp>
      <p:sp>
        <p:nvSpPr>
          <p:cNvPr id="13" name="Text 10"/>
          <p:cNvSpPr txBox="1"/>
          <p:nvPr/>
        </p:nvSpPr>
        <p:spPr>
          <a:xfrm>
            <a:off x="5513832" y="1124712"/>
            <a:ext cx="1627632" cy="27432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T = 1.0</a:t>
            </a:r>
            <a:endParaRPr lang="en-US" sz="1400" dirty="0"/>
          </a:p>
        </p:txBody>
      </p:sp>
      <p:sp>
        <p:nvSpPr>
          <p:cNvPr id="14" name="Text 11"/>
          <p:cNvSpPr txBox="1"/>
          <p:nvPr/>
        </p:nvSpPr>
        <p:spPr>
          <a:xfrm>
            <a:off x="5513832" y="1389888"/>
            <a:ext cx="1627632" cy="219456"/>
          </a:xfrm>
          <a:prstGeom prst="rect">
            <a:avLst/>
          </a:prstGeom>
          <a:noFill/>
          <a:ln/>
        </p:spPr>
        <p:txBody>
          <a:bodyPr wrap="square" lIns="0" tIns="0" rIns="0" bIns="0" rtlCol="0" anchor="ctr"/>
          <a:lstStyle/>
          <a:p>
            <a:pPr marL="0" indent="0" algn="ctr">
              <a:buNone/>
            </a:pPr>
            <a:r>
              <a:rPr lang="en-US" sz="850" dirty="0">
                <a:solidFill>
                  <a:srgbClr val="FFFFFF"/>
                </a:solidFill>
                <a:latin typeface="Calibri" pitchFamily="34" charset="0"/>
                <a:ea typeface="Calibri" pitchFamily="34" charset="-122"/>
                <a:cs typeface="Calibri" pitchFamily="34" charset="-120"/>
              </a:rPr>
              <a:t>Balanced</a:t>
            </a:r>
            <a:endParaRPr lang="en-US" sz="850" dirty="0"/>
          </a:p>
        </p:txBody>
      </p:sp>
      <p:sp>
        <p:nvSpPr>
          <p:cNvPr id="15" name="Shape 12"/>
          <p:cNvSpPr/>
          <p:nvPr/>
        </p:nvSpPr>
        <p:spPr>
          <a:xfrm>
            <a:off x="5513832" y="1773936"/>
            <a:ext cx="1627632" cy="1440180"/>
          </a:xfrm>
          <a:prstGeom prst="roundRect">
            <a:avLst>
              <a:gd name="adj" fmla="val 3810"/>
            </a:avLst>
          </a:prstGeom>
          <a:solidFill>
            <a:srgbClr val="ECFDF5"/>
          </a:solidFill>
          <a:ln w="9525">
            <a:solidFill>
              <a:srgbClr val="059669"/>
            </a:solidFill>
            <a:prstDash val="solid"/>
          </a:ln>
        </p:spPr>
        <p:txBody>
          <a:bodyPr/>
          <a:lstStyle/>
          <a:p>
            <a:endParaRPr lang="en-IN"/>
          </a:p>
        </p:txBody>
      </p:sp>
      <p:sp>
        <p:nvSpPr>
          <p:cNvPr id="16" name="Text 13"/>
          <p:cNvSpPr txBox="1"/>
          <p:nvPr/>
        </p:nvSpPr>
        <p:spPr>
          <a:xfrm>
            <a:off x="5605272" y="1828800"/>
            <a:ext cx="1444752" cy="1330452"/>
          </a:xfrm>
          <a:prstGeom prst="rect">
            <a:avLst/>
          </a:prstGeom>
          <a:noFill/>
          <a:ln/>
        </p:spPr>
        <p:txBody>
          <a:bodyPr wrap="square" lIns="0" tIns="0" rIns="0" bIns="0" rtlCol="0" anchor="t"/>
          <a:lstStyle/>
          <a:p>
            <a:pPr marL="0" indent="0">
              <a:lnSpc>
                <a:spcPct val="105000"/>
              </a:lnSpc>
              <a:buNone/>
            </a:pPr>
            <a:r>
              <a:rPr lang="en-US" sz="900" b="1" dirty="0">
                <a:solidFill>
                  <a:srgbClr val="059669"/>
                </a:solidFill>
                <a:latin typeface="Calibri" pitchFamily="34" charset="0"/>
                <a:ea typeface="Calibri" pitchFamily="34" charset="-122"/>
                <a:cs typeface="Calibri" pitchFamily="34" charset="-120"/>
              </a:rPr>
              <a:t>Run 1
</a:t>
            </a:r>
            <a:endParaRPr lang="en-US" sz="900" dirty="0"/>
          </a:p>
          <a:p>
            <a:pPr marL="0" indent="0">
              <a:lnSpc>
                <a:spcPct val="105000"/>
              </a:lnSpc>
              <a:buNone/>
            </a:pPr>
            <a:r>
              <a:rPr lang="en-US" sz="930" dirty="0">
                <a:solidFill>
                  <a:srgbClr val="1A1F36"/>
                </a:solidFill>
                <a:latin typeface="Calibri" pitchFamily="34" charset="0"/>
                <a:ea typeface="Calibri" pitchFamily="34" charset="-122"/>
                <a:cs typeface="Calibri" pitchFamily="34" charset="-120"/>
              </a:rPr>
              <a:t>Explore LLMs for generative creative writing assistance, focusing on personalized storytelling and emotional resonance in AI-generated narratives.</a:t>
            </a:r>
            <a:endParaRPr lang="en-US" sz="900" dirty="0"/>
          </a:p>
        </p:txBody>
      </p:sp>
      <p:sp>
        <p:nvSpPr>
          <p:cNvPr id="17" name="Shape 14"/>
          <p:cNvSpPr/>
          <p:nvPr/>
        </p:nvSpPr>
        <p:spPr>
          <a:xfrm>
            <a:off x="5513832" y="3342132"/>
            <a:ext cx="1627632" cy="1440180"/>
          </a:xfrm>
          <a:prstGeom prst="roundRect">
            <a:avLst>
              <a:gd name="adj" fmla="val 3810"/>
            </a:avLst>
          </a:prstGeom>
          <a:solidFill>
            <a:srgbClr val="ECFDF5"/>
          </a:solidFill>
          <a:ln w="9525">
            <a:solidFill>
              <a:srgbClr val="059669"/>
            </a:solidFill>
            <a:prstDash val="solid"/>
          </a:ln>
        </p:spPr>
        <p:txBody>
          <a:bodyPr/>
          <a:lstStyle/>
          <a:p>
            <a:endParaRPr lang="en-IN"/>
          </a:p>
        </p:txBody>
      </p:sp>
      <p:sp>
        <p:nvSpPr>
          <p:cNvPr id="18" name="Text 15"/>
          <p:cNvSpPr txBox="1"/>
          <p:nvPr/>
        </p:nvSpPr>
        <p:spPr>
          <a:xfrm>
            <a:off x="5605272" y="3396996"/>
            <a:ext cx="1444752" cy="1330452"/>
          </a:xfrm>
          <a:prstGeom prst="rect">
            <a:avLst/>
          </a:prstGeom>
          <a:noFill/>
          <a:ln/>
        </p:spPr>
        <p:txBody>
          <a:bodyPr wrap="square" lIns="0" tIns="0" rIns="0" bIns="0" rtlCol="0" anchor="t"/>
          <a:lstStyle/>
          <a:p>
            <a:pPr marL="0" indent="0">
              <a:lnSpc>
                <a:spcPct val="105000"/>
              </a:lnSpc>
              <a:buNone/>
            </a:pPr>
            <a:r>
              <a:rPr lang="en-US" sz="900" b="1" dirty="0">
                <a:solidFill>
                  <a:srgbClr val="059669"/>
                </a:solidFill>
                <a:latin typeface="Calibri" pitchFamily="34" charset="0"/>
                <a:ea typeface="Calibri" pitchFamily="34" charset="-122"/>
                <a:cs typeface="Calibri" pitchFamily="34" charset="-120"/>
              </a:rPr>
              <a:t>Run 2
</a:t>
            </a:r>
            <a:endParaRPr lang="en-US" sz="900" dirty="0"/>
          </a:p>
          <a:p>
            <a:pPr marL="0" indent="0">
              <a:lnSpc>
                <a:spcPct val="105000"/>
              </a:lnSpc>
              <a:buNone/>
            </a:pPr>
            <a:r>
              <a:rPr lang="en-US" sz="930" dirty="0">
                <a:solidFill>
                  <a:srgbClr val="1A1F36"/>
                </a:solidFill>
                <a:latin typeface="Calibri" pitchFamily="34" charset="0"/>
                <a:ea typeface="Calibri" pitchFamily="34" charset="-122"/>
                <a:cs typeface="Calibri" pitchFamily="34" charset="-120"/>
              </a:rPr>
              <a:t>Exploring generative LLMs for creating synthetic datasets to mimic specific distributions, enhancing privacy and data accessibility in AI training.</a:t>
            </a:r>
            <a:endParaRPr lang="en-US" sz="900" dirty="0"/>
          </a:p>
        </p:txBody>
      </p:sp>
      <p:sp>
        <p:nvSpPr>
          <p:cNvPr id="19" name="Shape 16"/>
          <p:cNvSpPr/>
          <p:nvPr/>
        </p:nvSpPr>
        <p:spPr>
          <a:xfrm>
            <a:off x="7232904" y="1078992"/>
            <a:ext cx="1627632" cy="566928"/>
          </a:xfrm>
          <a:prstGeom prst="roundRect">
            <a:avLst>
              <a:gd name="adj" fmla="val 9677"/>
            </a:avLst>
          </a:prstGeom>
          <a:solidFill>
            <a:srgbClr val="DC2626"/>
          </a:solidFill>
          <a:ln/>
        </p:spPr>
        <p:txBody>
          <a:bodyPr/>
          <a:lstStyle/>
          <a:p>
            <a:endParaRPr lang="en-IN"/>
          </a:p>
        </p:txBody>
      </p:sp>
      <p:sp>
        <p:nvSpPr>
          <p:cNvPr id="20" name="Text 17"/>
          <p:cNvSpPr txBox="1"/>
          <p:nvPr/>
        </p:nvSpPr>
        <p:spPr>
          <a:xfrm>
            <a:off x="7232904" y="1124712"/>
            <a:ext cx="1627632" cy="27432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T = 1.8</a:t>
            </a:r>
            <a:endParaRPr lang="en-US" sz="1400" dirty="0"/>
          </a:p>
        </p:txBody>
      </p:sp>
      <p:sp>
        <p:nvSpPr>
          <p:cNvPr id="21" name="Text 18"/>
          <p:cNvSpPr txBox="1"/>
          <p:nvPr/>
        </p:nvSpPr>
        <p:spPr>
          <a:xfrm>
            <a:off x="7232904" y="1389888"/>
            <a:ext cx="1627632" cy="219456"/>
          </a:xfrm>
          <a:prstGeom prst="rect">
            <a:avLst/>
          </a:prstGeom>
          <a:noFill/>
          <a:ln/>
        </p:spPr>
        <p:txBody>
          <a:bodyPr wrap="square" lIns="0" tIns="0" rIns="0" bIns="0" rtlCol="0" anchor="ctr"/>
          <a:lstStyle/>
          <a:p>
            <a:pPr marL="0" indent="0" algn="ctr">
              <a:buNone/>
            </a:pPr>
            <a:r>
              <a:rPr lang="en-US" sz="850" dirty="0">
                <a:solidFill>
                  <a:srgbClr val="FFFFFF"/>
                </a:solidFill>
                <a:latin typeface="Calibri" pitchFamily="34" charset="0"/>
                <a:ea typeface="Calibri" pitchFamily="34" charset="-122"/>
                <a:cs typeface="Calibri" pitchFamily="34" charset="-120"/>
              </a:rPr>
              <a:t>High Randomness</a:t>
            </a:r>
            <a:endParaRPr lang="en-US" sz="850" dirty="0"/>
          </a:p>
        </p:txBody>
      </p:sp>
      <p:sp>
        <p:nvSpPr>
          <p:cNvPr id="22" name="Shape 19"/>
          <p:cNvSpPr/>
          <p:nvPr/>
        </p:nvSpPr>
        <p:spPr>
          <a:xfrm>
            <a:off x="7232904" y="1773936"/>
            <a:ext cx="1627632" cy="1440180"/>
          </a:xfrm>
          <a:prstGeom prst="roundRect">
            <a:avLst>
              <a:gd name="adj" fmla="val 3810"/>
            </a:avLst>
          </a:prstGeom>
          <a:solidFill>
            <a:srgbClr val="FEF2F2"/>
          </a:solidFill>
          <a:ln w="9525">
            <a:solidFill>
              <a:srgbClr val="DC2626"/>
            </a:solidFill>
            <a:prstDash val="solid"/>
          </a:ln>
        </p:spPr>
        <p:txBody>
          <a:bodyPr/>
          <a:lstStyle/>
          <a:p>
            <a:endParaRPr lang="en-IN"/>
          </a:p>
        </p:txBody>
      </p:sp>
      <p:sp>
        <p:nvSpPr>
          <p:cNvPr id="23" name="Text 20"/>
          <p:cNvSpPr txBox="1"/>
          <p:nvPr/>
        </p:nvSpPr>
        <p:spPr>
          <a:xfrm>
            <a:off x="7324344" y="1828800"/>
            <a:ext cx="1444752" cy="1330452"/>
          </a:xfrm>
          <a:prstGeom prst="rect">
            <a:avLst/>
          </a:prstGeom>
          <a:noFill/>
          <a:ln/>
        </p:spPr>
        <p:txBody>
          <a:bodyPr wrap="square" lIns="0" tIns="0" rIns="0" bIns="0" rtlCol="0" anchor="t"/>
          <a:lstStyle/>
          <a:p>
            <a:pPr marL="0" indent="0">
              <a:lnSpc>
                <a:spcPct val="105000"/>
              </a:lnSpc>
              <a:buNone/>
            </a:pPr>
            <a:r>
              <a:rPr lang="en-US" sz="900" b="1" dirty="0">
                <a:solidFill>
                  <a:srgbClr val="DC2626"/>
                </a:solidFill>
                <a:latin typeface="Calibri" pitchFamily="34" charset="0"/>
                <a:ea typeface="Calibri" pitchFamily="34" charset="-122"/>
                <a:cs typeface="Calibri" pitchFamily="34" charset="-120"/>
              </a:rPr>
              <a:t>Run 1
</a:t>
            </a:r>
            <a:endParaRPr lang="en-US" sz="900" dirty="0"/>
          </a:p>
          <a:p>
            <a:pPr marL="0" indent="0">
              <a:lnSpc>
                <a:spcPct val="105000"/>
              </a:lnSpc>
              <a:buNone/>
            </a:pPr>
            <a:r>
              <a:rPr lang="en-US" sz="930" dirty="0">
                <a:solidFill>
                  <a:srgbClr val="1A1F36"/>
                </a:solidFill>
                <a:latin typeface="Calibri" pitchFamily="34" charset="0"/>
                <a:ea typeface="Calibri" pitchFamily="34" charset="-122"/>
                <a:cs typeface="Calibri" pitchFamily="34" charset="-120"/>
              </a:rPr>
              <a:t>Exploring LLMs for generating and optimizing complex multidisciplinary research hypotheses across fields like biology, physics, and chemistry.</a:t>
            </a:r>
            <a:endParaRPr lang="en-US" sz="900" dirty="0"/>
          </a:p>
        </p:txBody>
      </p:sp>
      <p:sp>
        <p:nvSpPr>
          <p:cNvPr id="24" name="Shape 21"/>
          <p:cNvSpPr/>
          <p:nvPr/>
        </p:nvSpPr>
        <p:spPr>
          <a:xfrm>
            <a:off x="7232904" y="3342132"/>
            <a:ext cx="1627632" cy="1440180"/>
          </a:xfrm>
          <a:prstGeom prst="roundRect">
            <a:avLst>
              <a:gd name="adj" fmla="val 3810"/>
            </a:avLst>
          </a:prstGeom>
          <a:solidFill>
            <a:srgbClr val="FEF2F2"/>
          </a:solidFill>
          <a:ln w="9525">
            <a:solidFill>
              <a:srgbClr val="DC2626"/>
            </a:solidFill>
            <a:prstDash val="solid"/>
          </a:ln>
        </p:spPr>
        <p:txBody>
          <a:bodyPr/>
          <a:lstStyle/>
          <a:p>
            <a:endParaRPr lang="en-IN"/>
          </a:p>
        </p:txBody>
      </p:sp>
      <p:sp>
        <p:nvSpPr>
          <p:cNvPr id="25" name="Text 22"/>
          <p:cNvSpPr txBox="1"/>
          <p:nvPr/>
        </p:nvSpPr>
        <p:spPr>
          <a:xfrm>
            <a:off x="7324344" y="3396996"/>
            <a:ext cx="1444752" cy="1330452"/>
          </a:xfrm>
          <a:prstGeom prst="rect">
            <a:avLst/>
          </a:prstGeom>
          <a:noFill/>
          <a:ln/>
        </p:spPr>
        <p:txBody>
          <a:bodyPr wrap="square" lIns="0" tIns="0" rIns="0" bIns="0" rtlCol="0" anchor="t"/>
          <a:lstStyle/>
          <a:p>
            <a:pPr marL="0" indent="0">
              <a:lnSpc>
                <a:spcPct val="105000"/>
              </a:lnSpc>
              <a:buNone/>
            </a:pPr>
            <a:r>
              <a:rPr lang="en-US" sz="900" b="1" dirty="0">
                <a:solidFill>
                  <a:srgbClr val="DC2626"/>
                </a:solidFill>
                <a:latin typeface="Calibri" pitchFamily="34" charset="0"/>
                <a:ea typeface="Calibri" pitchFamily="34" charset="-122"/>
                <a:cs typeface="Calibri" pitchFamily="34" charset="-120"/>
              </a:rPr>
              <a:t>Run 2
</a:t>
            </a:r>
            <a:endParaRPr lang="en-US" sz="900" dirty="0"/>
          </a:p>
          <a:p>
            <a:pPr marL="0" indent="0">
              <a:lnSpc>
                <a:spcPct val="105000"/>
              </a:lnSpc>
              <a:buNone/>
            </a:pPr>
            <a:r>
              <a:rPr lang="en-US" sz="930" dirty="0">
                <a:solidFill>
                  <a:srgbClr val="1A1F36"/>
                </a:solidFill>
                <a:latin typeface="Calibri" pitchFamily="34" charset="0"/>
                <a:ea typeface="Calibri" pitchFamily="34" charset="-122"/>
                <a:cs typeface="Calibri" pitchFamily="34" charset="-120"/>
              </a:rPr>
              <a:t>Develop LLMs for cross-lingual understanding without parallel text, enhancing global language interaction and accessibility.</a:t>
            </a:r>
            <a:endParaRPr lang="en-US" sz="900" dirty="0"/>
          </a:p>
        </p:txBody>
      </p:sp>
      <p:sp>
        <p:nvSpPr>
          <p:cNvPr id="26" name="Text 23"/>
          <p:cNvSpPr txBox="1"/>
          <p:nvPr/>
        </p:nvSpPr>
        <p:spPr>
          <a:xfrm>
            <a:off x="365760" y="4828032"/>
            <a:ext cx="8503920" cy="274320"/>
          </a:xfrm>
          <a:prstGeom prst="rect">
            <a:avLst/>
          </a:prstGeom>
          <a:noFill/>
          <a:ln/>
        </p:spPr>
        <p:txBody>
          <a:bodyPr wrap="square" lIns="0" tIns="0" rIns="0" bIns="0" rtlCol="0" anchor="ctr"/>
          <a:lstStyle/>
          <a:p>
            <a:pPr marL="0" indent="0">
              <a:buNone/>
            </a:pPr>
            <a:endParaRPr lang="en-US" sz="95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2668"/>
        <p:cNvGrpSpPr/>
        <p:nvPr/>
      </p:nvGrpSpPr>
      <p:grpSpPr>
        <a:xfrm>
          <a:off x="0" y="0"/>
          <a:ext cx="0" cy="0"/>
          <a:chOff x="0" y="0"/>
          <a:chExt cx="0" cy="0"/>
        </a:xfrm>
      </p:grpSpPr>
      <p:sp>
        <p:nvSpPr>
          <p:cNvPr id="2669" name="Google Shape;2669;p118"/>
          <p:cNvSpPr/>
          <p:nvPr/>
        </p:nvSpPr>
        <p:spPr>
          <a:xfrm>
            <a:off x="7543800" y="1572768"/>
            <a:ext cx="1326000" cy="45720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FFFFFF"/>
              </a:buClr>
              <a:buSzPts val="1300"/>
              <a:buFont typeface="Calibri"/>
              <a:buNone/>
            </a:pPr>
            <a:r>
              <a:rPr lang="en" sz="1300" b="0" i="0" u="none" strike="noStrike" cap="none">
                <a:solidFill>
                  <a:srgbClr val="FFFFFF"/>
                </a:solidFill>
                <a:sym typeface="Calibri"/>
              </a:rPr>
              <a:t>Very Hot</a:t>
            </a:r>
            <a:endParaRPr sz="1300" b="0" i="0" u="none" strike="noStrike" cap="none">
              <a:solidFill>
                <a:schemeClr val="dk1"/>
              </a:solidFill>
              <a:latin typeface="Calibri"/>
              <a:ea typeface="Calibri"/>
              <a:cs typeface="Calibri"/>
              <a:sym typeface="Calibri"/>
            </a:endParaRPr>
          </a:p>
        </p:txBody>
      </p:sp>
      <p:sp>
        <p:nvSpPr>
          <p:cNvPr id="2670" name="Google Shape;2670;p118"/>
          <p:cNvSpPr/>
          <p:nvPr/>
        </p:nvSpPr>
        <p:spPr>
          <a:xfrm>
            <a:off x="365760" y="0"/>
            <a:ext cx="8412600" cy="6402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FFFFFF"/>
              </a:buClr>
              <a:buSzPts val="2400"/>
              <a:buFont typeface="Calibri"/>
              <a:buNone/>
            </a:pPr>
            <a:r>
              <a:rPr lang="en" sz="2400" b="1" i="0" u="none" strike="noStrike" cap="none">
                <a:solidFill>
                  <a:srgbClr val="1E2761"/>
                </a:solidFill>
                <a:sym typeface="Calibri"/>
              </a:rPr>
              <a:t>🎯  Top-k Sampling</a:t>
            </a:r>
            <a:endParaRPr sz="2400" b="0" i="0" u="none" strike="noStrike" cap="none">
              <a:solidFill>
                <a:schemeClr val="dk1"/>
              </a:solidFill>
              <a:latin typeface="Calibri"/>
              <a:ea typeface="Calibri"/>
              <a:cs typeface="Calibri"/>
              <a:sym typeface="Calibri"/>
            </a:endParaRPr>
          </a:p>
        </p:txBody>
      </p:sp>
      <p:sp>
        <p:nvSpPr>
          <p:cNvPr id="2671" name="Google Shape;2671;p118"/>
          <p:cNvSpPr/>
          <p:nvPr/>
        </p:nvSpPr>
        <p:spPr>
          <a:xfrm>
            <a:off x="274320" y="749808"/>
            <a:ext cx="8595300" cy="548700"/>
          </a:xfrm>
          <a:prstGeom prst="rect">
            <a:avLst/>
          </a:prstGeom>
          <a:solidFill>
            <a:srgbClr val="F0FDF4"/>
          </a:solidFill>
          <a:ln>
            <a:noFill/>
          </a:ln>
          <a:effectLst>
            <a:outerShdw blurRad="101600" dist="25400" dir="8100000" algn="bl" rotWithShape="0">
              <a:srgbClr val="000000">
                <a:alpha val="784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2" name="Google Shape;2672;p118"/>
          <p:cNvSpPr/>
          <p:nvPr/>
        </p:nvSpPr>
        <p:spPr>
          <a:xfrm>
            <a:off x="274320" y="749808"/>
            <a:ext cx="109800" cy="548700"/>
          </a:xfrm>
          <a:prstGeom prst="rect">
            <a:avLst/>
          </a:prstGeom>
          <a:solidFill>
            <a:srgbClr val="05966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3" name="Google Shape;2673;p118"/>
          <p:cNvSpPr/>
          <p:nvPr/>
        </p:nvSpPr>
        <p:spPr>
          <a:xfrm>
            <a:off x="502920" y="749808"/>
            <a:ext cx="8092500" cy="5487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1E1B4B"/>
              </a:buClr>
              <a:buSzPts val="1250"/>
              <a:buFont typeface="Calibri"/>
              <a:buNone/>
            </a:pPr>
            <a:r>
              <a:rPr lang="en" sz="1250" b="0" i="0" u="none" strike="noStrike" cap="none">
                <a:solidFill>
                  <a:srgbClr val="1E1B4B"/>
                </a:solidFill>
                <a:sym typeface="Calibri"/>
              </a:rPr>
              <a:t>Keep only the k most probable next tokens; redistribute probability mass among them, then sample.</a:t>
            </a:r>
            <a:endParaRPr sz="1250" b="0" i="0" u="none" strike="noStrike" cap="none">
              <a:solidFill>
                <a:schemeClr val="dk1"/>
              </a:solidFill>
              <a:latin typeface="Calibri"/>
              <a:ea typeface="Calibri"/>
              <a:cs typeface="Calibri"/>
              <a:sym typeface="Calibri"/>
            </a:endParaRPr>
          </a:p>
        </p:txBody>
      </p:sp>
      <p:sp>
        <p:nvSpPr>
          <p:cNvPr id="2674" name="Google Shape;2674;p118"/>
          <p:cNvSpPr/>
          <p:nvPr/>
        </p:nvSpPr>
        <p:spPr>
          <a:xfrm>
            <a:off x="274320" y="1426464"/>
            <a:ext cx="5029200" cy="2925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1E1B4B"/>
              </a:buClr>
              <a:buSzPts val="1200"/>
              <a:buFont typeface="Calibri"/>
              <a:buNone/>
            </a:pPr>
            <a:r>
              <a:rPr lang="en" sz="1200" b="1" i="0" u="none" strike="noStrike" cap="none">
                <a:solidFill>
                  <a:srgbClr val="1E1B4B"/>
                </a:solidFill>
                <a:sym typeface="Calibri"/>
              </a:rPr>
              <a:t>Vocabulary Probabilities (top 8 tokens):</a:t>
            </a:r>
            <a:endParaRPr sz="1200" b="0" i="0" u="none" strike="noStrike" cap="none">
              <a:solidFill>
                <a:schemeClr val="dk1"/>
              </a:solidFill>
              <a:latin typeface="Calibri"/>
              <a:ea typeface="Calibri"/>
              <a:cs typeface="Calibri"/>
              <a:sym typeface="Calibri"/>
            </a:endParaRPr>
          </a:p>
        </p:txBody>
      </p:sp>
      <p:sp>
        <p:nvSpPr>
          <p:cNvPr id="2675" name="Google Shape;2675;p118"/>
          <p:cNvSpPr/>
          <p:nvPr/>
        </p:nvSpPr>
        <p:spPr>
          <a:xfrm>
            <a:off x="274320" y="1792224"/>
            <a:ext cx="777300" cy="292500"/>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Clr>
                <a:srgbClr val="059669"/>
              </a:buClr>
              <a:buSzPts val="1100"/>
              <a:buFont typeface="Calibri"/>
              <a:buNone/>
            </a:pPr>
            <a:r>
              <a:rPr lang="en" sz="1100" b="1" i="0" u="none" strike="noStrike" cap="none">
                <a:solidFill>
                  <a:srgbClr val="059669"/>
                </a:solidFill>
                <a:sym typeface="Calibri"/>
              </a:rPr>
              <a:t>dog</a:t>
            </a:r>
            <a:endParaRPr sz="1100" b="0" i="0" u="none" strike="noStrike" cap="none">
              <a:solidFill>
                <a:schemeClr val="dk1"/>
              </a:solidFill>
              <a:latin typeface="Calibri"/>
              <a:ea typeface="Calibri"/>
              <a:cs typeface="Calibri"/>
              <a:sym typeface="Calibri"/>
            </a:endParaRPr>
          </a:p>
        </p:txBody>
      </p:sp>
      <p:sp>
        <p:nvSpPr>
          <p:cNvPr id="2676" name="Google Shape;2676;p118"/>
          <p:cNvSpPr/>
          <p:nvPr/>
        </p:nvSpPr>
        <p:spPr>
          <a:xfrm>
            <a:off x="1115568" y="1837944"/>
            <a:ext cx="3072300" cy="201300"/>
          </a:xfrm>
          <a:prstGeom prst="rect">
            <a:avLst/>
          </a:prstGeom>
          <a:solidFill>
            <a:srgbClr val="05966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7" name="Google Shape;2677;p118"/>
          <p:cNvSpPr/>
          <p:nvPr/>
        </p:nvSpPr>
        <p:spPr>
          <a:xfrm>
            <a:off x="4215384" y="1792224"/>
            <a:ext cx="548700" cy="2925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6B7280"/>
              </a:buClr>
              <a:buSzPts val="1000"/>
              <a:buFont typeface="Calibri"/>
              <a:buNone/>
            </a:pPr>
            <a:r>
              <a:rPr lang="en" sz="1000" b="0" i="0" u="none" strike="noStrike" cap="none">
                <a:solidFill>
                  <a:srgbClr val="1A1F36"/>
                </a:solidFill>
                <a:sym typeface="Calibri"/>
              </a:rPr>
              <a:t>28%</a:t>
            </a:r>
            <a:endParaRPr sz="1000" b="0" i="0" u="none" strike="noStrike" cap="none">
              <a:solidFill>
                <a:schemeClr val="dk1"/>
              </a:solidFill>
              <a:latin typeface="Calibri"/>
              <a:ea typeface="Calibri"/>
              <a:cs typeface="Calibri"/>
              <a:sym typeface="Calibri"/>
            </a:endParaRPr>
          </a:p>
        </p:txBody>
      </p:sp>
      <p:sp>
        <p:nvSpPr>
          <p:cNvPr id="2678" name="Google Shape;2678;p118"/>
          <p:cNvSpPr/>
          <p:nvPr/>
        </p:nvSpPr>
        <p:spPr>
          <a:xfrm>
            <a:off x="4681728" y="1837944"/>
            <a:ext cx="164700" cy="201300"/>
          </a:xfrm>
          <a:prstGeom prst="rect">
            <a:avLst/>
          </a:prstGeom>
          <a:solidFill>
            <a:srgbClr val="6EE7B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9" name="Google Shape;2679;p118"/>
          <p:cNvSpPr/>
          <p:nvPr/>
        </p:nvSpPr>
        <p:spPr>
          <a:xfrm>
            <a:off x="4864608" y="1792224"/>
            <a:ext cx="594300" cy="2925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059669"/>
              </a:buClr>
              <a:buSzPts val="950"/>
              <a:buFont typeface="Calibri"/>
              <a:buNone/>
            </a:pPr>
            <a:r>
              <a:rPr lang="en" sz="950" b="0" i="0" u="none" strike="noStrike" cap="none">
                <a:solidFill>
                  <a:srgbClr val="059669"/>
                </a:solidFill>
                <a:sym typeface="Calibri"/>
              </a:rPr>
              <a:t>✓ k=4</a:t>
            </a:r>
            <a:endParaRPr sz="950" b="0" i="0" u="none" strike="noStrike" cap="none">
              <a:solidFill>
                <a:schemeClr val="dk1"/>
              </a:solidFill>
              <a:latin typeface="Calibri"/>
              <a:ea typeface="Calibri"/>
              <a:cs typeface="Calibri"/>
              <a:sym typeface="Calibri"/>
            </a:endParaRPr>
          </a:p>
        </p:txBody>
      </p:sp>
      <p:sp>
        <p:nvSpPr>
          <p:cNvPr id="2680" name="Google Shape;2680;p118"/>
          <p:cNvSpPr/>
          <p:nvPr/>
        </p:nvSpPr>
        <p:spPr>
          <a:xfrm>
            <a:off x="274320" y="2139696"/>
            <a:ext cx="777300" cy="292500"/>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Clr>
                <a:srgbClr val="059669"/>
              </a:buClr>
              <a:buSzPts val="1100"/>
              <a:buFont typeface="Calibri"/>
              <a:buNone/>
            </a:pPr>
            <a:r>
              <a:rPr lang="en" sz="1100" b="1" i="0" u="none" strike="noStrike" cap="none">
                <a:solidFill>
                  <a:srgbClr val="059669"/>
                </a:solidFill>
                <a:sym typeface="Calibri"/>
              </a:rPr>
              <a:t>cat</a:t>
            </a:r>
            <a:endParaRPr sz="1100" b="0" i="0" u="none" strike="noStrike" cap="none">
              <a:solidFill>
                <a:schemeClr val="dk1"/>
              </a:solidFill>
              <a:latin typeface="Calibri"/>
              <a:ea typeface="Calibri"/>
              <a:cs typeface="Calibri"/>
              <a:sym typeface="Calibri"/>
            </a:endParaRPr>
          </a:p>
        </p:txBody>
      </p:sp>
      <p:sp>
        <p:nvSpPr>
          <p:cNvPr id="2681" name="Google Shape;2681;p118"/>
          <p:cNvSpPr/>
          <p:nvPr/>
        </p:nvSpPr>
        <p:spPr>
          <a:xfrm>
            <a:off x="1115568" y="2185416"/>
            <a:ext cx="2414100" cy="201300"/>
          </a:xfrm>
          <a:prstGeom prst="rect">
            <a:avLst/>
          </a:prstGeom>
          <a:solidFill>
            <a:srgbClr val="05966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2" name="Google Shape;2682;p118"/>
          <p:cNvSpPr/>
          <p:nvPr/>
        </p:nvSpPr>
        <p:spPr>
          <a:xfrm>
            <a:off x="3557016" y="2139696"/>
            <a:ext cx="548700" cy="2925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6B7280"/>
              </a:buClr>
              <a:buSzPts val="1000"/>
              <a:buFont typeface="Calibri"/>
              <a:buNone/>
            </a:pPr>
            <a:r>
              <a:rPr lang="en" sz="1000" b="0" i="0" u="none" strike="noStrike" cap="none">
                <a:solidFill>
                  <a:srgbClr val="1A1F36"/>
                </a:solidFill>
                <a:sym typeface="Calibri"/>
              </a:rPr>
              <a:t>22%</a:t>
            </a:r>
            <a:endParaRPr sz="1000" b="0" i="0" u="none" strike="noStrike" cap="none">
              <a:solidFill>
                <a:schemeClr val="dk1"/>
              </a:solidFill>
              <a:latin typeface="Calibri"/>
              <a:ea typeface="Calibri"/>
              <a:cs typeface="Calibri"/>
              <a:sym typeface="Calibri"/>
            </a:endParaRPr>
          </a:p>
        </p:txBody>
      </p:sp>
      <p:sp>
        <p:nvSpPr>
          <p:cNvPr id="2683" name="Google Shape;2683;p118"/>
          <p:cNvSpPr/>
          <p:nvPr/>
        </p:nvSpPr>
        <p:spPr>
          <a:xfrm>
            <a:off x="4681728" y="2185416"/>
            <a:ext cx="164700" cy="201300"/>
          </a:xfrm>
          <a:prstGeom prst="rect">
            <a:avLst/>
          </a:prstGeom>
          <a:solidFill>
            <a:srgbClr val="6EE7B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4" name="Google Shape;2684;p118"/>
          <p:cNvSpPr/>
          <p:nvPr/>
        </p:nvSpPr>
        <p:spPr>
          <a:xfrm>
            <a:off x="4864608" y="2139696"/>
            <a:ext cx="594300" cy="2925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059669"/>
              </a:buClr>
              <a:buSzPts val="950"/>
              <a:buFont typeface="Calibri"/>
              <a:buNone/>
            </a:pPr>
            <a:r>
              <a:rPr lang="en" sz="950" b="0" i="0" u="none" strike="noStrike" cap="none">
                <a:solidFill>
                  <a:srgbClr val="059669"/>
                </a:solidFill>
                <a:sym typeface="Calibri"/>
              </a:rPr>
              <a:t>✓ k=4</a:t>
            </a:r>
            <a:endParaRPr sz="950" b="0" i="0" u="none" strike="noStrike" cap="none">
              <a:solidFill>
                <a:schemeClr val="dk1"/>
              </a:solidFill>
              <a:latin typeface="Calibri"/>
              <a:ea typeface="Calibri"/>
              <a:cs typeface="Calibri"/>
              <a:sym typeface="Calibri"/>
            </a:endParaRPr>
          </a:p>
        </p:txBody>
      </p:sp>
      <p:sp>
        <p:nvSpPr>
          <p:cNvPr id="2685" name="Google Shape;2685;p118"/>
          <p:cNvSpPr/>
          <p:nvPr/>
        </p:nvSpPr>
        <p:spPr>
          <a:xfrm>
            <a:off x="274320" y="2487168"/>
            <a:ext cx="777300" cy="292500"/>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Clr>
                <a:srgbClr val="059669"/>
              </a:buClr>
              <a:buSzPts val="1100"/>
              <a:buFont typeface="Calibri"/>
              <a:buNone/>
            </a:pPr>
            <a:r>
              <a:rPr lang="en" sz="1100" b="1" i="0" u="none" strike="noStrike" cap="none">
                <a:solidFill>
                  <a:srgbClr val="059669"/>
                </a:solidFill>
                <a:sym typeface="Calibri"/>
              </a:rPr>
              <a:t>bird</a:t>
            </a:r>
            <a:endParaRPr sz="1100" b="0" i="0" u="none" strike="noStrike" cap="none">
              <a:solidFill>
                <a:schemeClr val="dk1"/>
              </a:solidFill>
              <a:latin typeface="Calibri"/>
              <a:ea typeface="Calibri"/>
              <a:cs typeface="Calibri"/>
              <a:sym typeface="Calibri"/>
            </a:endParaRPr>
          </a:p>
        </p:txBody>
      </p:sp>
      <p:sp>
        <p:nvSpPr>
          <p:cNvPr id="2686" name="Google Shape;2686;p118"/>
          <p:cNvSpPr/>
          <p:nvPr/>
        </p:nvSpPr>
        <p:spPr>
          <a:xfrm>
            <a:off x="1115568" y="2532888"/>
            <a:ext cx="1645800" cy="201300"/>
          </a:xfrm>
          <a:prstGeom prst="rect">
            <a:avLst/>
          </a:prstGeom>
          <a:solidFill>
            <a:srgbClr val="05966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7" name="Google Shape;2687;p118"/>
          <p:cNvSpPr/>
          <p:nvPr/>
        </p:nvSpPr>
        <p:spPr>
          <a:xfrm>
            <a:off x="2788920" y="2487168"/>
            <a:ext cx="548700" cy="2925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6B7280"/>
              </a:buClr>
              <a:buSzPts val="1000"/>
              <a:buFont typeface="Calibri"/>
              <a:buNone/>
            </a:pPr>
            <a:r>
              <a:rPr lang="en" sz="1000" b="0" i="0" u="none" strike="noStrike" cap="none">
                <a:solidFill>
                  <a:srgbClr val="1A1F36"/>
                </a:solidFill>
                <a:sym typeface="Calibri"/>
              </a:rPr>
              <a:t>15%</a:t>
            </a:r>
            <a:endParaRPr sz="1000" b="0" i="0" u="none" strike="noStrike" cap="none">
              <a:solidFill>
                <a:schemeClr val="dk1"/>
              </a:solidFill>
              <a:latin typeface="Calibri"/>
              <a:ea typeface="Calibri"/>
              <a:cs typeface="Calibri"/>
              <a:sym typeface="Calibri"/>
            </a:endParaRPr>
          </a:p>
        </p:txBody>
      </p:sp>
      <p:sp>
        <p:nvSpPr>
          <p:cNvPr id="2688" name="Google Shape;2688;p118"/>
          <p:cNvSpPr/>
          <p:nvPr/>
        </p:nvSpPr>
        <p:spPr>
          <a:xfrm>
            <a:off x="4681728" y="2532888"/>
            <a:ext cx="164700" cy="201300"/>
          </a:xfrm>
          <a:prstGeom prst="rect">
            <a:avLst/>
          </a:prstGeom>
          <a:solidFill>
            <a:srgbClr val="6EE7B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9" name="Google Shape;2689;p118"/>
          <p:cNvSpPr/>
          <p:nvPr/>
        </p:nvSpPr>
        <p:spPr>
          <a:xfrm>
            <a:off x="4864608" y="2487168"/>
            <a:ext cx="594300" cy="2925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059669"/>
              </a:buClr>
              <a:buSzPts val="950"/>
              <a:buFont typeface="Calibri"/>
              <a:buNone/>
            </a:pPr>
            <a:r>
              <a:rPr lang="en" sz="950" b="0" i="0" u="none" strike="noStrike" cap="none">
                <a:solidFill>
                  <a:srgbClr val="059669"/>
                </a:solidFill>
                <a:sym typeface="Calibri"/>
              </a:rPr>
              <a:t>✓ k=4</a:t>
            </a:r>
            <a:endParaRPr sz="950" b="0" i="0" u="none" strike="noStrike" cap="none">
              <a:solidFill>
                <a:schemeClr val="dk1"/>
              </a:solidFill>
              <a:latin typeface="Calibri"/>
              <a:ea typeface="Calibri"/>
              <a:cs typeface="Calibri"/>
              <a:sym typeface="Calibri"/>
            </a:endParaRPr>
          </a:p>
        </p:txBody>
      </p:sp>
      <p:sp>
        <p:nvSpPr>
          <p:cNvPr id="2690" name="Google Shape;2690;p118"/>
          <p:cNvSpPr/>
          <p:nvPr/>
        </p:nvSpPr>
        <p:spPr>
          <a:xfrm>
            <a:off x="274320" y="2834640"/>
            <a:ext cx="777300" cy="292500"/>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Clr>
                <a:srgbClr val="059669"/>
              </a:buClr>
              <a:buSzPts val="1100"/>
              <a:buFont typeface="Calibri"/>
              <a:buNone/>
            </a:pPr>
            <a:r>
              <a:rPr lang="en" sz="1100" b="1" i="0" u="none" strike="noStrike" cap="none">
                <a:solidFill>
                  <a:srgbClr val="059669"/>
                </a:solidFill>
                <a:sym typeface="Calibri"/>
              </a:rPr>
              <a:t>fish</a:t>
            </a:r>
            <a:endParaRPr sz="1100" b="0" i="0" u="none" strike="noStrike" cap="none">
              <a:solidFill>
                <a:schemeClr val="dk1"/>
              </a:solidFill>
              <a:latin typeface="Calibri"/>
              <a:ea typeface="Calibri"/>
              <a:cs typeface="Calibri"/>
              <a:sym typeface="Calibri"/>
            </a:endParaRPr>
          </a:p>
        </p:txBody>
      </p:sp>
      <p:sp>
        <p:nvSpPr>
          <p:cNvPr id="2691" name="Google Shape;2691;p118"/>
          <p:cNvSpPr/>
          <p:nvPr/>
        </p:nvSpPr>
        <p:spPr>
          <a:xfrm>
            <a:off x="1115568" y="2880360"/>
            <a:ext cx="1097400" cy="201300"/>
          </a:xfrm>
          <a:prstGeom prst="rect">
            <a:avLst/>
          </a:prstGeom>
          <a:solidFill>
            <a:srgbClr val="05966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2" name="Google Shape;2692;p118"/>
          <p:cNvSpPr/>
          <p:nvPr/>
        </p:nvSpPr>
        <p:spPr>
          <a:xfrm>
            <a:off x="2240280" y="2834640"/>
            <a:ext cx="548700" cy="2925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6B7280"/>
              </a:buClr>
              <a:buSzPts val="1000"/>
              <a:buFont typeface="Calibri"/>
              <a:buNone/>
            </a:pPr>
            <a:r>
              <a:rPr lang="en" sz="1000" b="0" i="0" u="none" strike="noStrike" cap="none">
                <a:solidFill>
                  <a:srgbClr val="1A1F36"/>
                </a:solidFill>
                <a:sym typeface="Calibri"/>
              </a:rPr>
              <a:t>10%</a:t>
            </a:r>
            <a:endParaRPr sz="1000" b="0" i="0" u="none" strike="noStrike" cap="none">
              <a:solidFill>
                <a:schemeClr val="dk1"/>
              </a:solidFill>
              <a:latin typeface="Calibri"/>
              <a:ea typeface="Calibri"/>
              <a:cs typeface="Calibri"/>
              <a:sym typeface="Calibri"/>
            </a:endParaRPr>
          </a:p>
        </p:txBody>
      </p:sp>
      <p:sp>
        <p:nvSpPr>
          <p:cNvPr id="2693" name="Google Shape;2693;p118"/>
          <p:cNvSpPr/>
          <p:nvPr/>
        </p:nvSpPr>
        <p:spPr>
          <a:xfrm>
            <a:off x="4681728" y="2880360"/>
            <a:ext cx="164700" cy="201300"/>
          </a:xfrm>
          <a:prstGeom prst="rect">
            <a:avLst/>
          </a:prstGeom>
          <a:solidFill>
            <a:srgbClr val="6EE7B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4" name="Google Shape;2694;p118"/>
          <p:cNvSpPr/>
          <p:nvPr/>
        </p:nvSpPr>
        <p:spPr>
          <a:xfrm>
            <a:off x="4864608" y="2834640"/>
            <a:ext cx="594300" cy="2925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059669"/>
              </a:buClr>
              <a:buSzPts val="950"/>
              <a:buFont typeface="Calibri"/>
              <a:buNone/>
            </a:pPr>
            <a:r>
              <a:rPr lang="en" sz="950" b="0" i="0" u="none" strike="noStrike" cap="none">
                <a:solidFill>
                  <a:srgbClr val="059669"/>
                </a:solidFill>
                <a:sym typeface="Calibri"/>
              </a:rPr>
              <a:t>✓ k=4</a:t>
            </a:r>
            <a:endParaRPr sz="950" b="0" i="0" u="none" strike="noStrike" cap="none">
              <a:solidFill>
                <a:schemeClr val="dk1"/>
              </a:solidFill>
              <a:latin typeface="Calibri"/>
              <a:ea typeface="Calibri"/>
              <a:cs typeface="Calibri"/>
              <a:sym typeface="Calibri"/>
            </a:endParaRPr>
          </a:p>
        </p:txBody>
      </p:sp>
      <p:sp>
        <p:nvSpPr>
          <p:cNvPr id="2695" name="Google Shape;2695;p118"/>
          <p:cNvSpPr/>
          <p:nvPr/>
        </p:nvSpPr>
        <p:spPr>
          <a:xfrm>
            <a:off x="274320" y="3182112"/>
            <a:ext cx="777300" cy="292500"/>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Clr>
                <a:srgbClr val="6B7280"/>
              </a:buClr>
              <a:buSzPts val="1100"/>
              <a:buFont typeface="Calibri"/>
              <a:buNone/>
            </a:pPr>
            <a:r>
              <a:rPr lang="en" sz="1100" b="0" i="0" u="none" strike="noStrike" cap="none">
                <a:solidFill>
                  <a:srgbClr val="1A1F36"/>
                </a:solidFill>
                <a:sym typeface="Calibri"/>
              </a:rPr>
              <a:t>horse</a:t>
            </a:r>
            <a:endParaRPr sz="1100" b="0" i="0" u="none" strike="noStrike" cap="none">
              <a:solidFill>
                <a:schemeClr val="dk1"/>
              </a:solidFill>
              <a:latin typeface="Calibri"/>
              <a:ea typeface="Calibri"/>
              <a:cs typeface="Calibri"/>
              <a:sym typeface="Calibri"/>
            </a:endParaRPr>
          </a:p>
        </p:txBody>
      </p:sp>
      <p:sp>
        <p:nvSpPr>
          <p:cNvPr id="2696" name="Google Shape;2696;p118"/>
          <p:cNvSpPr/>
          <p:nvPr/>
        </p:nvSpPr>
        <p:spPr>
          <a:xfrm>
            <a:off x="1115568" y="3227832"/>
            <a:ext cx="877800" cy="201300"/>
          </a:xfrm>
          <a:prstGeom prst="rect">
            <a:avLst/>
          </a:prstGeom>
          <a:solidFill>
            <a:srgbClr val="D1D5D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7" name="Google Shape;2697;p118"/>
          <p:cNvSpPr/>
          <p:nvPr/>
        </p:nvSpPr>
        <p:spPr>
          <a:xfrm>
            <a:off x="2020824" y="3182112"/>
            <a:ext cx="548700" cy="2925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6B7280"/>
              </a:buClr>
              <a:buSzPts val="1000"/>
              <a:buFont typeface="Calibri"/>
              <a:buNone/>
            </a:pPr>
            <a:r>
              <a:rPr lang="en" sz="1000" b="0" i="0" u="none" strike="noStrike" cap="none">
                <a:solidFill>
                  <a:srgbClr val="1A1F36"/>
                </a:solidFill>
                <a:sym typeface="Calibri"/>
              </a:rPr>
              <a:t>8%</a:t>
            </a:r>
            <a:endParaRPr sz="1000" b="0" i="0" u="none" strike="noStrike" cap="none">
              <a:solidFill>
                <a:schemeClr val="dk1"/>
              </a:solidFill>
              <a:latin typeface="Calibri"/>
              <a:ea typeface="Calibri"/>
              <a:cs typeface="Calibri"/>
              <a:sym typeface="Calibri"/>
            </a:endParaRPr>
          </a:p>
        </p:txBody>
      </p:sp>
      <p:sp>
        <p:nvSpPr>
          <p:cNvPr id="2698" name="Google Shape;2698;p118"/>
          <p:cNvSpPr/>
          <p:nvPr/>
        </p:nvSpPr>
        <p:spPr>
          <a:xfrm>
            <a:off x="274320" y="3529584"/>
            <a:ext cx="777300" cy="292500"/>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Clr>
                <a:srgbClr val="6B7280"/>
              </a:buClr>
              <a:buSzPts val="1100"/>
              <a:buFont typeface="Calibri"/>
              <a:buNone/>
            </a:pPr>
            <a:r>
              <a:rPr lang="en" sz="1100" b="0" i="0" u="none" strike="noStrike" cap="none">
                <a:solidFill>
                  <a:srgbClr val="1A1F36"/>
                </a:solidFill>
                <a:sym typeface="Calibri"/>
              </a:rPr>
              <a:t>rabbit</a:t>
            </a:r>
            <a:endParaRPr sz="1100" b="0" i="0" u="none" strike="noStrike" cap="none">
              <a:solidFill>
                <a:schemeClr val="dk1"/>
              </a:solidFill>
              <a:latin typeface="Calibri"/>
              <a:ea typeface="Calibri"/>
              <a:cs typeface="Calibri"/>
              <a:sym typeface="Calibri"/>
            </a:endParaRPr>
          </a:p>
        </p:txBody>
      </p:sp>
      <p:sp>
        <p:nvSpPr>
          <p:cNvPr id="2699" name="Google Shape;2699;p118"/>
          <p:cNvSpPr/>
          <p:nvPr/>
        </p:nvSpPr>
        <p:spPr>
          <a:xfrm>
            <a:off x="1115568" y="3575304"/>
            <a:ext cx="658500" cy="201300"/>
          </a:xfrm>
          <a:prstGeom prst="rect">
            <a:avLst/>
          </a:prstGeom>
          <a:solidFill>
            <a:srgbClr val="D1D5D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0" name="Google Shape;2700;p118"/>
          <p:cNvSpPr/>
          <p:nvPr/>
        </p:nvSpPr>
        <p:spPr>
          <a:xfrm>
            <a:off x="1801368" y="3529584"/>
            <a:ext cx="548700" cy="2925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6B7280"/>
              </a:buClr>
              <a:buSzPts val="1000"/>
              <a:buFont typeface="Calibri"/>
              <a:buNone/>
            </a:pPr>
            <a:r>
              <a:rPr lang="en" sz="1000" b="0" i="0" u="none" strike="noStrike" cap="none">
                <a:solidFill>
                  <a:srgbClr val="1A1F36"/>
                </a:solidFill>
                <a:sym typeface="Calibri"/>
              </a:rPr>
              <a:t>6%</a:t>
            </a:r>
            <a:endParaRPr sz="1000" b="0" i="0" u="none" strike="noStrike" cap="none">
              <a:solidFill>
                <a:schemeClr val="dk1"/>
              </a:solidFill>
              <a:latin typeface="Calibri"/>
              <a:ea typeface="Calibri"/>
              <a:cs typeface="Calibri"/>
              <a:sym typeface="Calibri"/>
            </a:endParaRPr>
          </a:p>
        </p:txBody>
      </p:sp>
      <p:sp>
        <p:nvSpPr>
          <p:cNvPr id="2701" name="Google Shape;2701;p118"/>
          <p:cNvSpPr/>
          <p:nvPr/>
        </p:nvSpPr>
        <p:spPr>
          <a:xfrm>
            <a:off x="274320" y="3877056"/>
            <a:ext cx="777300" cy="292500"/>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Clr>
                <a:srgbClr val="6B7280"/>
              </a:buClr>
              <a:buSzPts val="1100"/>
              <a:buFont typeface="Calibri"/>
              <a:buNone/>
            </a:pPr>
            <a:r>
              <a:rPr lang="en" sz="1100" b="0" i="0" u="none" strike="noStrike" cap="none">
                <a:solidFill>
                  <a:srgbClr val="1A1F36"/>
                </a:solidFill>
                <a:sym typeface="Calibri"/>
              </a:rPr>
              <a:t>turtle</a:t>
            </a:r>
            <a:endParaRPr sz="1100" b="0" i="0" u="none" strike="noStrike" cap="none">
              <a:solidFill>
                <a:schemeClr val="dk1"/>
              </a:solidFill>
              <a:latin typeface="Calibri"/>
              <a:ea typeface="Calibri"/>
              <a:cs typeface="Calibri"/>
              <a:sym typeface="Calibri"/>
            </a:endParaRPr>
          </a:p>
        </p:txBody>
      </p:sp>
      <p:sp>
        <p:nvSpPr>
          <p:cNvPr id="2702" name="Google Shape;2702;p118"/>
          <p:cNvSpPr/>
          <p:nvPr/>
        </p:nvSpPr>
        <p:spPr>
          <a:xfrm>
            <a:off x="1115568" y="3922776"/>
            <a:ext cx="438900" cy="201300"/>
          </a:xfrm>
          <a:prstGeom prst="rect">
            <a:avLst/>
          </a:prstGeom>
          <a:solidFill>
            <a:srgbClr val="D1D5D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3" name="Google Shape;2703;p118"/>
          <p:cNvSpPr/>
          <p:nvPr/>
        </p:nvSpPr>
        <p:spPr>
          <a:xfrm>
            <a:off x="1581912" y="3877056"/>
            <a:ext cx="548700" cy="2925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6B7280"/>
              </a:buClr>
              <a:buSzPts val="1000"/>
              <a:buFont typeface="Calibri"/>
              <a:buNone/>
            </a:pPr>
            <a:r>
              <a:rPr lang="en" sz="1000" b="0" i="0" u="none" strike="noStrike" cap="none">
                <a:solidFill>
                  <a:srgbClr val="1A1F36"/>
                </a:solidFill>
                <a:sym typeface="Calibri"/>
              </a:rPr>
              <a:t>4%</a:t>
            </a:r>
            <a:endParaRPr sz="1000" b="0" i="0" u="none" strike="noStrike" cap="none">
              <a:solidFill>
                <a:schemeClr val="dk1"/>
              </a:solidFill>
              <a:latin typeface="Calibri"/>
              <a:ea typeface="Calibri"/>
              <a:cs typeface="Calibri"/>
              <a:sym typeface="Calibri"/>
            </a:endParaRPr>
          </a:p>
        </p:txBody>
      </p:sp>
      <p:sp>
        <p:nvSpPr>
          <p:cNvPr id="2704" name="Google Shape;2704;p118"/>
          <p:cNvSpPr/>
          <p:nvPr/>
        </p:nvSpPr>
        <p:spPr>
          <a:xfrm>
            <a:off x="274320" y="4224528"/>
            <a:ext cx="777300" cy="292500"/>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Clr>
                <a:srgbClr val="6B7280"/>
              </a:buClr>
              <a:buSzPts val="1100"/>
              <a:buFont typeface="Calibri"/>
              <a:buNone/>
            </a:pPr>
            <a:r>
              <a:rPr lang="en" sz="1100" b="0" i="0" u="none" strike="noStrike" cap="none">
                <a:solidFill>
                  <a:srgbClr val="1A1F36"/>
                </a:solidFill>
                <a:sym typeface="Calibri"/>
              </a:rPr>
              <a:t>zebra</a:t>
            </a:r>
            <a:endParaRPr sz="1100" b="0" i="0" u="none" strike="noStrike" cap="none">
              <a:solidFill>
                <a:schemeClr val="dk1"/>
              </a:solidFill>
              <a:latin typeface="Calibri"/>
              <a:ea typeface="Calibri"/>
              <a:cs typeface="Calibri"/>
              <a:sym typeface="Calibri"/>
            </a:endParaRPr>
          </a:p>
        </p:txBody>
      </p:sp>
      <p:sp>
        <p:nvSpPr>
          <p:cNvPr id="2705" name="Google Shape;2705;p118"/>
          <p:cNvSpPr/>
          <p:nvPr/>
        </p:nvSpPr>
        <p:spPr>
          <a:xfrm>
            <a:off x="1115568" y="4270248"/>
            <a:ext cx="219600" cy="201300"/>
          </a:xfrm>
          <a:prstGeom prst="rect">
            <a:avLst/>
          </a:prstGeom>
          <a:solidFill>
            <a:srgbClr val="D1D5D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6" name="Google Shape;2706;p118"/>
          <p:cNvSpPr/>
          <p:nvPr/>
        </p:nvSpPr>
        <p:spPr>
          <a:xfrm>
            <a:off x="1362456" y="4224528"/>
            <a:ext cx="548700" cy="2925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6B7280"/>
              </a:buClr>
              <a:buSzPts val="1000"/>
              <a:buFont typeface="Calibri"/>
              <a:buNone/>
            </a:pPr>
            <a:r>
              <a:rPr lang="en" sz="1000" b="0" i="0" u="none" strike="noStrike" cap="none">
                <a:solidFill>
                  <a:srgbClr val="1A1F36"/>
                </a:solidFill>
                <a:sym typeface="Calibri"/>
              </a:rPr>
              <a:t>2%</a:t>
            </a:r>
            <a:endParaRPr sz="1000" b="0" i="0" u="none" strike="noStrike" cap="none">
              <a:solidFill>
                <a:schemeClr val="dk1"/>
              </a:solidFill>
              <a:latin typeface="Calibri"/>
              <a:ea typeface="Calibri"/>
              <a:cs typeface="Calibri"/>
              <a:sym typeface="Calibri"/>
            </a:endParaRPr>
          </a:p>
        </p:txBody>
      </p:sp>
      <p:sp>
        <p:nvSpPr>
          <p:cNvPr id="2707" name="Google Shape;2707;p118"/>
          <p:cNvSpPr/>
          <p:nvPr/>
        </p:nvSpPr>
        <p:spPr>
          <a:xfrm>
            <a:off x="5486400" y="749808"/>
            <a:ext cx="3474600" cy="4370700"/>
          </a:xfrm>
          <a:prstGeom prst="rect">
            <a:avLst/>
          </a:prstGeom>
          <a:solidFill>
            <a:srgbClr val="F8F9FF"/>
          </a:solidFill>
          <a:ln>
            <a:noFill/>
          </a:ln>
          <a:effectLst>
            <a:outerShdw blurRad="101600" dist="25400" dir="8100000" algn="bl" rotWithShape="0">
              <a:srgbClr val="000000">
                <a:alpha val="784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8" name="Google Shape;2708;p118"/>
          <p:cNvSpPr/>
          <p:nvPr/>
        </p:nvSpPr>
        <p:spPr>
          <a:xfrm>
            <a:off x="5669280" y="841248"/>
            <a:ext cx="3108900" cy="3474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059669"/>
              </a:buClr>
              <a:buSzPts val="1400"/>
              <a:buFont typeface="Calibri"/>
              <a:buNone/>
            </a:pPr>
            <a:r>
              <a:rPr lang="en" sz="1400" b="1" i="0" u="none" strike="noStrike" cap="none">
                <a:solidFill>
                  <a:srgbClr val="059669"/>
                </a:solidFill>
                <a:sym typeface="Calibri"/>
              </a:rPr>
              <a:t>How It Works  (k = 4)</a:t>
            </a:r>
            <a:endParaRPr sz="1400" b="0" i="0" u="none" strike="noStrike" cap="none">
              <a:solidFill>
                <a:schemeClr val="dk1"/>
              </a:solidFill>
              <a:latin typeface="Calibri"/>
              <a:ea typeface="Calibri"/>
              <a:cs typeface="Calibri"/>
              <a:sym typeface="Calibri"/>
            </a:endParaRPr>
          </a:p>
        </p:txBody>
      </p:sp>
      <p:sp>
        <p:nvSpPr>
          <p:cNvPr id="2709" name="Google Shape;2709;p118"/>
          <p:cNvSpPr/>
          <p:nvPr/>
        </p:nvSpPr>
        <p:spPr>
          <a:xfrm>
            <a:off x="5669280" y="1298448"/>
            <a:ext cx="292500" cy="292500"/>
          </a:xfrm>
          <a:prstGeom prst="ellipse">
            <a:avLst/>
          </a:prstGeom>
          <a:solidFill>
            <a:srgbClr val="05966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0" name="Google Shape;2710;p118"/>
          <p:cNvSpPr/>
          <p:nvPr/>
        </p:nvSpPr>
        <p:spPr>
          <a:xfrm>
            <a:off x="5669280" y="1298448"/>
            <a:ext cx="292500" cy="29250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FFFFFF"/>
              </a:buClr>
              <a:buSzPts val="1100"/>
              <a:buFont typeface="Calibri"/>
              <a:buNone/>
            </a:pPr>
            <a:r>
              <a:rPr lang="en" sz="1100" b="1" i="0" u="none" strike="noStrike" cap="none">
                <a:solidFill>
                  <a:srgbClr val="FFFFFF"/>
                </a:solidFill>
                <a:sym typeface="Calibri"/>
              </a:rPr>
              <a:t>1</a:t>
            </a:r>
            <a:endParaRPr sz="1100" b="0" i="0" u="none" strike="noStrike" cap="none">
              <a:solidFill>
                <a:schemeClr val="dk1"/>
              </a:solidFill>
              <a:latin typeface="Calibri"/>
              <a:ea typeface="Calibri"/>
              <a:cs typeface="Calibri"/>
              <a:sym typeface="Calibri"/>
            </a:endParaRPr>
          </a:p>
        </p:txBody>
      </p:sp>
      <p:sp>
        <p:nvSpPr>
          <p:cNvPr id="2711" name="Google Shape;2711;p118"/>
          <p:cNvSpPr/>
          <p:nvPr/>
        </p:nvSpPr>
        <p:spPr>
          <a:xfrm>
            <a:off x="6035040" y="1298448"/>
            <a:ext cx="2724900" cy="5487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374151"/>
              </a:buClr>
              <a:buSzPts val="1050"/>
              <a:buFont typeface="Calibri"/>
              <a:buNone/>
            </a:pPr>
            <a:r>
              <a:rPr lang="en" sz="1050" b="0" i="0" u="none" strike="noStrike" cap="none">
                <a:solidFill>
                  <a:srgbClr val="1A1F36"/>
                </a:solidFill>
                <a:sym typeface="Calibri"/>
              </a:rPr>
              <a:t>Compute logits over full vocabulary (e.g. 50,000 tokens)</a:t>
            </a:r>
            <a:endParaRPr sz="1050" b="0" i="0" u="none" strike="noStrike" cap="none">
              <a:solidFill>
                <a:schemeClr val="dk1"/>
              </a:solidFill>
              <a:latin typeface="Calibri"/>
              <a:ea typeface="Calibri"/>
              <a:cs typeface="Calibri"/>
              <a:sym typeface="Calibri"/>
            </a:endParaRPr>
          </a:p>
        </p:txBody>
      </p:sp>
      <p:sp>
        <p:nvSpPr>
          <p:cNvPr id="2712" name="Google Shape;2712;p118"/>
          <p:cNvSpPr/>
          <p:nvPr/>
        </p:nvSpPr>
        <p:spPr>
          <a:xfrm>
            <a:off x="5669280" y="1938528"/>
            <a:ext cx="292500" cy="292500"/>
          </a:xfrm>
          <a:prstGeom prst="ellipse">
            <a:avLst/>
          </a:prstGeom>
          <a:solidFill>
            <a:srgbClr val="05966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3" name="Google Shape;2713;p118"/>
          <p:cNvSpPr/>
          <p:nvPr/>
        </p:nvSpPr>
        <p:spPr>
          <a:xfrm>
            <a:off x="5669280" y="1938528"/>
            <a:ext cx="292500" cy="29250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FFFFFF"/>
              </a:buClr>
              <a:buSzPts val="1100"/>
              <a:buFont typeface="Calibri"/>
              <a:buNone/>
            </a:pPr>
            <a:r>
              <a:rPr lang="en" sz="1100" b="1" i="0" u="none" strike="noStrike" cap="none">
                <a:solidFill>
                  <a:srgbClr val="FFFFFF"/>
                </a:solidFill>
                <a:sym typeface="Calibri"/>
              </a:rPr>
              <a:t>2</a:t>
            </a:r>
            <a:endParaRPr sz="1100" b="0" i="0" u="none" strike="noStrike" cap="none">
              <a:solidFill>
                <a:schemeClr val="dk1"/>
              </a:solidFill>
              <a:latin typeface="Calibri"/>
              <a:ea typeface="Calibri"/>
              <a:cs typeface="Calibri"/>
              <a:sym typeface="Calibri"/>
            </a:endParaRPr>
          </a:p>
        </p:txBody>
      </p:sp>
      <p:sp>
        <p:nvSpPr>
          <p:cNvPr id="2714" name="Google Shape;2714;p118"/>
          <p:cNvSpPr/>
          <p:nvPr/>
        </p:nvSpPr>
        <p:spPr>
          <a:xfrm>
            <a:off x="6035040" y="1938528"/>
            <a:ext cx="2724900" cy="5487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374151"/>
              </a:buClr>
              <a:buSzPts val="1050"/>
              <a:buFont typeface="Calibri"/>
              <a:buNone/>
            </a:pPr>
            <a:r>
              <a:rPr lang="en" sz="1050" b="0" i="0" u="none" strike="noStrike" cap="none">
                <a:solidFill>
                  <a:srgbClr val="1A1F36"/>
                </a:solidFill>
                <a:sym typeface="Calibri"/>
              </a:rPr>
              <a:t>Sort tokens by probability (descending)</a:t>
            </a:r>
            <a:endParaRPr sz="1050" b="0" i="0" u="none" strike="noStrike" cap="none">
              <a:solidFill>
                <a:schemeClr val="dk1"/>
              </a:solidFill>
              <a:latin typeface="Calibri"/>
              <a:ea typeface="Calibri"/>
              <a:cs typeface="Calibri"/>
              <a:sym typeface="Calibri"/>
            </a:endParaRPr>
          </a:p>
        </p:txBody>
      </p:sp>
      <p:sp>
        <p:nvSpPr>
          <p:cNvPr id="2715" name="Google Shape;2715;p118"/>
          <p:cNvSpPr/>
          <p:nvPr/>
        </p:nvSpPr>
        <p:spPr>
          <a:xfrm>
            <a:off x="5669280" y="2578608"/>
            <a:ext cx="292500" cy="292500"/>
          </a:xfrm>
          <a:prstGeom prst="ellipse">
            <a:avLst/>
          </a:prstGeom>
          <a:solidFill>
            <a:srgbClr val="05966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6" name="Google Shape;2716;p118"/>
          <p:cNvSpPr/>
          <p:nvPr/>
        </p:nvSpPr>
        <p:spPr>
          <a:xfrm>
            <a:off x="5669280" y="2578608"/>
            <a:ext cx="292500" cy="29250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FFFFFF"/>
              </a:buClr>
              <a:buSzPts val="1100"/>
              <a:buFont typeface="Calibri"/>
              <a:buNone/>
            </a:pPr>
            <a:r>
              <a:rPr lang="en" sz="1100" b="1" i="0" u="none" strike="noStrike" cap="none">
                <a:solidFill>
                  <a:srgbClr val="FFFFFF"/>
                </a:solidFill>
                <a:sym typeface="Calibri"/>
              </a:rPr>
              <a:t>3</a:t>
            </a:r>
            <a:endParaRPr sz="1100" b="0" i="0" u="none" strike="noStrike" cap="none">
              <a:solidFill>
                <a:schemeClr val="dk1"/>
              </a:solidFill>
              <a:latin typeface="Calibri"/>
              <a:ea typeface="Calibri"/>
              <a:cs typeface="Calibri"/>
              <a:sym typeface="Calibri"/>
            </a:endParaRPr>
          </a:p>
        </p:txBody>
      </p:sp>
      <p:sp>
        <p:nvSpPr>
          <p:cNvPr id="2717" name="Google Shape;2717;p118"/>
          <p:cNvSpPr/>
          <p:nvPr/>
        </p:nvSpPr>
        <p:spPr>
          <a:xfrm>
            <a:off x="6035040" y="2578608"/>
            <a:ext cx="2724900" cy="5487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374151"/>
              </a:buClr>
              <a:buSzPts val="1050"/>
              <a:buFont typeface="Calibri"/>
              <a:buNone/>
            </a:pPr>
            <a:r>
              <a:rPr lang="en" sz="1050" b="0" i="0" u="none" strike="noStrike" cap="none">
                <a:solidFill>
                  <a:srgbClr val="1A1F36"/>
                </a:solidFill>
                <a:sym typeface="Calibri"/>
              </a:rPr>
              <a:t>Keep only top-k tokens. Discard the rest.</a:t>
            </a:r>
            <a:endParaRPr sz="1050" b="0" i="0" u="none" strike="noStrike" cap="none">
              <a:solidFill>
                <a:schemeClr val="dk1"/>
              </a:solidFill>
              <a:latin typeface="Calibri"/>
              <a:ea typeface="Calibri"/>
              <a:cs typeface="Calibri"/>
              <a:sym typeface="Calibri"/>
            </a:endParaRPr>
          </a:p>
        </p:txBody>
      </p:sp>
      <p:sp>
        <p:nvSpPr>
          <p:cNvPr id="2718" name="Google Shape;2718;p118"/>
          <p:cNvSpPr/>
          <p:nvPr/>
        </p:nvSpPr>
        <p:spPr>
          <a:xfrm>
            <a:off x="5669280" y="3218688"/>
            <a:ext cx="292500" cy="292500"/>
          </a:xfrm>
          <a:prstGeom prst="ellipse">
            <a:avLst/>
          </a:prstGeom>
          <a:solidFill>
            <a:srgbClr val="05966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9" name="Google Shape;2719;p118"/>
          <p:cNvSpPr/>
          <p:nvPr/>
        </p:nvSpPr>
        <p:spPr>
          <a:xfrm>
            <a:off x="5669280" y="3218688"/>
            <a:ext cx="292500" cy="29250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FFFFFF"/>
              </a:buClr>
              <a:buSzPts val="1100"/>
              <a:buFont typeface="Calibri"/>
              <a:buNone/>
            </a:pPr>
            <a:r>
              <a:rPr lang="en" sz="1100" b="1" i="0" u="none" strike="noStrike" cap="none">
                <a:solidFill>
                  <a:srgbClr val="FFFFFF"/>
                </a:solidFill>
                <a:sym typeface="Calibri"/>
              </a:rPr>
              <a:t>4</a:t>
            </a:r>
            <a:endParaRPr sz="1100" b="0" i="0" u="none" strike="noStrike" cap="none">
              <a:solidFill>
                <a:schemeClr val="dk1"/>
              </a:solidFill>
              <a:latin typeface="Calibri"/>
              <a:ea typeface="Calibri"/>
              <a:cs typeface="Calibri"/>
              <a:sym typeface="Calibri"/>
            </a:endParaRPr>
          </a:p>
        </p:txBody>
      </p:sp>
      <p:sp>
        <p:nvSpPr>
          <p:cNvPr id="2720" name="Google Shape;2720;p118"/>
          <p:cNvSpPr/>
          <p:nvPr/>
        </p:nvSpPr>
        <p:spPr>
          <a:xfrm>
            <a:off x="6035040" y="3218688"/>
            <a:ext cx="2724900" cy="5487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374151"/>
              </a:buClr>
              <a:buSzPts val="1050"/>
              <a:buFont typeface="Calibri"/>
              <a:buNone/>
            </a:pPr>
            <a:r>
              <a:rPr lang="en" sz="1050" b="0" i="0" u="none" strike="noStrike" cap="none">
                <a:solidFill>
                  <a:srgbClr val="1A1F36"/>
                </a:solidFill>
                <a:sym typeface="Calibri"/>
              </a:rPr>
              <a:t>Re-normalize probabilities to sum to 1</a:t>
            </a:r>
            <a:endParaRPr sz="1050" b="0" i="0" u="none" strike="noStrike" cap="none">
              <a:solidFill>
                <a:schemeClr val="dk1"/>
              </a:solidFill>
              <a:latin typeface="Calibri"/>
              <a:ea typeface="Calibri"/>
              <a:cs typeface="Calibri"/>
              <a:sym typeface="Calibri"/>
            </a:endParaRPr>
          </a:p>
        </p:txBody>
      </p:sp>
      <p:sp>
        <p:nvSpPr>
          <p:cNvPr id="2721" name="Google Shape;2721;p118"/>
          <p:cNvSpPr/>
          <p:nvPr/>
        </p:nvSpPr>
        <p:spPr>
          <a:xfrm>
            <a:off x="5669280" y="3858768"/>
            <a:ext cx="292500" cy="292500"/>
          </a:xfrm>
          <a:prstGeom prst="ellipse">
            <a:avLst/>
          </a:prstGeom>
          <a:solidFill>
            <a:srgbClr val="05966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2" name="Google Shape;2722;p118"/>
          <p:cNvSpPr/>
          <p:nvPr/>
        </p:nvSpPr>
        <p:spPr>
          <a:xfrm>
            <a:off x="5669280" y="3858768"/>
            <a:ext cx="292500" cy="29250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FFFFFF"/>
              </a:buClr>
              <a:buSzPts val="1100"/>
              <a:buFont typeface="Calibri"/>
              <a:buNone/>
            </a:pPr>
            <a:r>
              <a:rPr lang="en" sz="1100" b="1" i="0" u="none" strike="noStrike" cap="none">
                <a:solidFill>
                  <a:srgbClr val="FFFFFF"/>
                </a:solidFill>
                <a:sym typeface="Calibri"/>
              </a:rPr>
              <a:t>5</a:t>
            </a:r>
            <a:endParaRPr sz="1100" b="0" i="0" u="none" strike="noStrike" cap="none">
              <a:solidFill>
                <a:schemeClr val="dk1"/>
              </a:solidFill>
              <a:latin typeface="Calibri"/>
              <a:ea typeface="Calibri"/>
              <a:cs typeface="Calibri"/>
              <a:sym typeface="Calibri"/>
            </a:endParaRPr>
          </a:p>
        </p:txBody>
      </p:sp>
      <p:sp>
        <p:nvSpPr>
          <p:cNvPr id="2723" name="Google Shape;2723;p118"/>
          <p:cNvSpPr/>
          <p:nvPr/>
        </p:nvSpPr>
        <p:spPr>
          <a:xfrm>
            <a:off x="6035040" y="3858768"/>
            <a:ext cx="2724900" cy="5487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374151"/>
              </a:buClr>
              <a:buSzPts val="1050"/>
              <a:buFont typeface="Calibri"/>
              <a:buNone/>
            </a:pPr>
            <a:r>
              <a:rPr lang="en" sz="1050" b="0" i="0" u="none" strike="noStrike" cap="none">
                <a:solidFill>
                  <a:srgbClr val="1A1F36"/>
                </a:solidFill>
                <a:sym typeface="Calibri"/>
              </a:rPr>
              <a:t>Sample from the reduced distribution</a:t>
            </a:r>
            <a:endParaRPr sz="1050" b="0" i="0" u="none" strike="noStrike" cap="none">
              <a:solidFill>
                <a:schemeClr val="dk1"/>
              </a:solidFill>
              <a:latin typeface="Calibri"/>
              <a:ea typeface="Calibri"/>
              <a:cs typeface="Calibri"/>
              <a:sym typeface="Calibri"/>
            </a:endParaRPr>
          </a:p>
        </p:txBody>
      </p:sp>
      <p:sp>
        <p:nvSpPr>
          <p:cNvPr id="2724" name="Google Shape;2724;p118"/>
          <p:cNvSpPr/>
          <p:nvPr/>
        </p:nvSpPr>
        <p:spPr>
          <a:xfrm>
            <a:off x="5669280" y="4572000"/>
            <a:ext cx="3108900" cy="320100"/>
          </a:xfrm>
          <a:prstGeom prst="rect">
            <a:avLst/>
          </a:prstGeom>
          <a:solidFill>
            <a:srgbClr val="F0FD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5" name="Google Shape;2725;p118"/>
          <p:cNvSpPr/>
          <p:nvPr/>
        </p:nvSpPr>
        <p:spPr>
          <a:xfrm>
            <a:off x="5669280" y="4572000"/>
            <a:ext cx="3108900" cy="32010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059669"/>
              </a:buClr>
              <a:buSzPts val="1000"/>
              <a:buFont typeface="Calibri"/>
              <a:buNone/>
            </a:pPr>
            <a:r>
              <a:rPr lang="en" sz="1000" b="0" i="0" u="none" strike="noStrike" cap="none">
                <a:solidFill>
                  <a:srgbClr val="059669"/>
                </a:solidFill>
                <a:sym typeface="Calibri"/>
              </a:rPr>
              <a:t>Low k = conservative,  High k = diverse</a:t>
            </a:r>
            <a:endParaRPr sz="1000" b="0" i="0" u="none" strike="noStrike" cap="none">
              <a:solidFill>
                <a:schemeClr val="dk1"/>
              </a:solidFill>
              <a:latin typeface="Calibri"/>
              <a:ea typeface="Calibri"/>
              <a:cs typeface="Calibri"/>
              <a:sym typeface="Calibri"/>
            </a:endParaRPr>
          </a:p>
        </p:txBody>
      </p:sp>
      <p:pic>
        <p:nvPicPr>
          <p:cNvPr id="2726" name="Google Shape;2726;p118"/>
          <p:cNvPicPr preferRelativeResize="0"/>
          <p:nvPr/>
        </p:nvPicPr>
        <p:blipFill>
          <a:blip r:embed="rId3">
            <a:alphaModFix/>
          </a:blip>
          <a:stretch>
            <a:fillRect/>
          </a:stretch>
        </p:blipFill>
        <p:spPr>
          <a:xfrm>
            <a:off x="8369125" y="0"/>
            <a:ext cx="774877" cy="867174"/>
          </a:xfrm>
          <a:prstGeom prst="rect">
            <a:avLst/>
          </a:prstGeom>
          <a:noFill/>
          <a:ln>
            <a:noFill/>
          </a:ln>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2731"/>
        <p:cNvGrpSpPr/>
        <p:nvPr/>
      </p:nvGrpSpPr>
      <p:grpSpPr>
        <a:xfrm>
          <a:off x="0" y="0"/>
          <a:ext cx="0" cy="0"/>
          <a:chOff x="0" y="0"/>
          <a:chExt cx="0" cy="0"/>
        </a:xfrm>
      </p:grpSpPr>
      <p:sp>
        <p:nvSpPr>
          <p:cNvPr id="2732" name="Google Shape;2732;p119"/>
          <p:cNvSpPr/>
          <p:nvPr/>
        </p:nvSpPr>
        <p:spPr>
          <a:xfrm>
            <a:off x="7543800" y="1572768"/>
            <a:ext cx="1326000" cy="45720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FFFFFF"/>
              </a:buClr>
              <a:buSzPts val="1300"/>
              <a:buFont typeface="Calibri"/>
              <a:buNone/>
            </a:pPr>
            <a:r>
              <a:rPr lang="en" sz="1300" b="0" i="0" u="none" strike="noStrike" cap="none">
                <a:solidFill>
                  <a:srgbClr val="FFFFFF"/>
                </a:solidFill>
                <a:sym typeface="Calibri"/>
              </a:rPr>
              <a:t>Very Hot</a:t>
            </a:r>
            <a:endParaRPr sz="1300" b="0" i="0" u="none" strike="noStrike" cap="none">
              <a:solidFill>
                <a:schemeClr val="dk1"/>
              </a:solidFill>
              <a:latin typeface="Calibri"/>
              <a:ea typeface="Calibri"/>
              <a:cs typeface="Calibri"/>
              <a:sym typeface="Calibri"/>
            </a:endParaRPr>
          </a:p>
        </p:txBody>
      </p:sp>
      <p:sp>
        <p:nvSpPr>
          <p:cNvPr id="2733" name="Google Shape;2733;p119"/>
          <p:cNvSpPr/>
          <p:nvPr/>
        </p:nvSpPr>
        <p:spPr>
          <a:xfrm>
            <a:off x="365760" y="0"/>
            <a:ext cx="8412600" cy="6402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FFFFFF"/>
              </a:buClr>
              <a:buSzPts val="2400"/>
              <a:buFont typeface="Calibri"/>
              <a:buNone/>
            </a:pPr>
            <a:r>
              <a:rPr lang="en" sz="2400" b="1" i="0" u="none" strike="noStrike" cap="none">
                <a:solidFill>
                  <a:srgbClr val="1E2761"/>
                </a:solidFill>
                <a:sym typeface="Calibri"/>
              </a:rPr>
              <a:t>🎲  Top-p (Nucleus) Sampling</a:t>
            </a:r>
            <a:endParaRPr sz="2400" b="0" i="0" u="none" strike="noStrike" cap="none">
              <a:solidFill>
                <a:schemeClr val="dk1"/>
              </a:solidFill>
              <a:latin typeface="Calibri"/>
              <a:ea typeface="Calibri"/>
              <a:cs typeface="Calibri"/>
              <a:sym typeface="Calibri"/>
            </a:endParaRPr>
          </a:p>
        </p:txBody>
      </p:sp>
      <p:sp>
        <p:nvSpPr>
          <p:cNvPr id="2734" name="Google Shape;2734;p119"/>
          <p:cNvSpPr/>
          <p:nvPr/>
        </p:nvSpPr>
        <p:spPr>
          <a:xfrm>
            <a:off x="274320" y="749808"/>
            <a:ext cx="8595300" cy="594300"/>
          </a:xfrm>
          <a:prstGeom prst="rect">
            <a:avLst/>
          </a:prstGeom>
          <a:solidFill>
            <a:srgbClr val="ECFEFF"/>
          </a:solidFill>
          <a:ln>
            <a:noFill/>
          </a:ln>
          <a:effectLst>
            <a:outerShdw blurRad="101600" dist="25400" dir="8100000" algn="bl" rotWithShape="0">
              <a:srgbClr val="000000">
                <a:alpha val="784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5" name="Google Shape;2735;p119"/>
          <p:cNvSpPr/>
          <p:nvPr/>
        </p:nvSpPr>
        <p:spPr>
          <a:xfrm>
            <a:off x="274320" y="749808"/>
            <a:ext cx="109800" cy="594300"/>
          </a:xfrm>
          <a:prstGeom prst="rect">
            <a:avLst/>
          </a:prstGeom>
          <a:solidFill>
            <a:srgbClr val="06B6D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6" name="Google Shape;2736;p119"/>
          <p:cNvSpPr/>
          <p:nvPr/>
        </p:nvSpPr>
        <p:spPr>
          <a:xfrm>
            <a:off x="502923" y="749800"/>
            <a:ext cx="4755000" cy="5943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1E1B4B"/>
              </a:buClr>
              <a:buSzPts val="1300"/>
              <a:buFont typeface="Calibri"/>
              <a:buNone/>
            </a:pPr>
            <a:r>
              <a:rPr lang="en" sz="1300" b="0" i="0" u="none" strike="noStrike" cap="none">
                <a:solidFill>
                  <a:srgbClr val="1E1B4B"/>
                </a:solidFill>
                <a:sym typeface="Calibri"/>
              </a:rPr>
              <a:t>Sample from the smallest set of tokens whose cumulative probability ≥ p. Dynamic vocabulary cutoff!</a:t>
            </a:r>
            <a:endParaRPr sz="1300" b="0" i="0" u="none" strike="noStrike" cap="none">
              <a:solidFill>
                <a:schemeClr val="dk1"/>
              </a:solidFill>
              <a:latin typeface="Calibri"/>
              <a:ea typeface="Calibri"/>
              <a:cs typeface="Calibri"/>
              <a:sym typeface="Calibri"/>
            </a:endParaRPr>
          </a:p>
        </p:txBody>
      </p:sp>
      <p:sp>
        <p:nvSpPr>
          <p:cNvPr id="2737" name="Google Shape;2737;p119"/>
          <p:cNvSpPr/>
          <p:nvPr/>
        </p:nvSpPr>
        <p:spPr>
          <a:xfrm>
            <a:off x="274320" y="1463040"/>
            <a:ext cx="4937760" cy="2925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1E1B4B"/>
              </a:buClr>
              <a:buSzPts val="1200"/>
              <a:buFont typeface="Calibri"/>
              <a:buNone/>
            </a:pPr>
            <a:r>
              <a:rPr lang="en" sz="1200" b="1" i="0" u="none" strike="noStrike" cap="none">
                <a:solidFill>
                  <a:srgbClr val="1E1B4B"/>
                </a:solidFill>
                <a:sym typeface="Calibri"/>
              </a:rPr>
              <a:t>p = 0.85 example  (cumulative probability reaches 0.85):</a:t>
            </a:r>
            <a:endParaRPr sz="1200" b="0" i="0" u="none" strike="noStrike" cap="none">
              <a:solidFill>
                <a:schemeClr val="dk1"/>
              </a:solidFill>
              <a:latin typeface="Calibri"/>
              <a:ea typeface="Calibri"/>
              <a:cs typeface="Calibri"/>
              <a:sym typeface="Calibri"/>
            </a:endParaRPr>
          </a:p>
        </p:txBody>
      </p:sp>
      <p:sp>
        <p:nvSpPr>
          <p:cNvPr id="2738" name="Google Shape;2738;p119"/>
          <p:cNvSpPr/>
          <p:nvPr/>
        </p:nvSpPr>
        <p:spPr>
          <a:xfrm>
            <a:off x="274320" y="1847088"/>
            <a:ext cx="4755000" cy="274200"/>
          </a:xfrm>
          <a:prstGeom prst="rect">
            <a:avLst/>
          </a:prstGeom>
          <a:solidFill>
            <a:srgbClr val="ECFE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9" name="Google Shape;2739;p119"/>
          <p:cNvSpPr/>
          <p:nvPr/>
        </p:nvSpPr>
        <p:spPr>
          <a:xfrm>
            <a:off x="347472" y="1847088"/>
            <a:ext cx="777300" cy="2742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06B6D4"/>
              </a:buClr>
              <a:buSzPts val="1100"/>
              <a:buFont typeface="Calibri"/>
              <a:buNone/>
            </a:pPr>
            <a:r>
              <a:rPr lang="en" sz="1100" b="1" i="0" u="none" strike="noStrike" cap="none">
                <a:solidFill>
                  <a:srgbClr val="06B6D4"/>
                </a:solidFill>
                <a:sym typeface="Calibri"/>
              </a:rPr>
              <a:t>dog</a:t>
            </a:r>
            <a:endParaRPr sz="1100" b="0" i="0" u="none" strike="noStrike" cap="none">
              <a:solidFill>
                <a:schemeClr val="dk1"/>
              </a:solidFill>
              <a:latin typeface="Calibri"/>
              <a:ea typeface="Calibri"/>
              <a:cs typeface="Calibri"/>
              <a:sym typeface="Calibri"/>
            </a:endParaRPr>
          </a:p>
        </p:txBody>
      </p:sp>
      <p:sp>
        <p:nvSpPr>
          <p:cNvPr id="2740" name="Google Shape;2740;p119"/>
          <p:cNvSpPr/>
          <p:nvPr/>
        </p:nvSpPr>
        <p:spPr>
          <a:xfrm>
            <a:off x="1188720" y="1892808"/>
            <a:ext cx="2560200" cy="183000"/>
          </a:xfrm>
          <a:prstGeom prst="rect">
            <a:avLst/>
          </a:prstGeom>
          <a:solidFill>
            <a:srgbClr val="06B6D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1" name="Google Shape;2741;p119"/>
          <p:cNvSpPr/>
          <p:nvPr/>
        </p:nvSpPr>
        <p:spPr>
          <a:xfrm>
            <a:off x="3880405" y="1846980"/>
            <a:ext cx="548700" cy="2742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6B7280"/>
              </a:buClr>
              <a:buSzPts val="950"/>
              <a:buFont typeface="Calibri"/>
              <a:buNone/>
            </a:pPr>
            <a:r>
              <a:rPr lang="en" sz="950" b="0" i="0" u="none" strike="noStrike" cap="none" dirty="0">
                <a:solidFill>
                  <a:srgbClr val="1A1F36"/>
                </a:solidFill>
                <a:sym typeface="Calibri"/>
              </a:rPr>
              <a:t>28%</a:t>
            </a:r>
            <a:endParaRPr sz="950" b="0" i="0" u="none" strike="noStrike" cap="none" dirty="0">
              <a:solidFill>
                <a:schemeClr val="dk1"/>
              </a:solidFill>
              <a:latin typeface="Calibri"/>
              <a:ea typeface="Calibri"/>
              <a:cs typeface="Calibri"/>
              <a:sym typeface="Calibri"/>
            </a:endParaRPr>
          </a:p>
        </p:txBody>
      </p:sp>
      <p:sp>
        <p:nvSpPr>
          <p:cNvPr id="2742" name="Google Shape;2742;p119"/>
          <p:cNvSpPr/>
          <p:nvPr/>
        </p:nvSpPr>
        <p:spPr>
          <a:xfrm>
            <a:off x="3200400" y="1847088"/>
            <a:ext cx="868800" cy="274200"/>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Clr>
                <a:srgbClr val="06B6D4"/>
              </a:buClr>
              <a:buSzPts val="950"/>
              <a:buFont typeface="Calibri"/>
              <a:buNone/>
            </a:pPr>
            <a:r>
              <a:rPr lang="en" sz="950" b="0" i="0" u="none" strike="noStrike" cap="none">
                <a:solidFill>
                  <a:srgbClr val="06B6D4"/>
                </a:solidFill>
                <a:sym typeface="Calibri"/>
              </a:rPr>
              <a:t>cum: 28%</a:t>
            </a:r>
            <a:endParaRPr sz="950" b="0" i="0" u="none" strike="noStrike" cap="none">
              <a:solidFill>
                <a:schemeClr val="dk1"/>
              </a:solidFill>
              <a:latin typeface="Calibri"/>
              <a:ea typeface="Calibri"/>
              <a:cs typeface="Calibri"/>
              <a:sym typeface="Calibri"/>
            </a:endParaRPr>
          </a:p>
        </p:txBody>
      </p:sp>
      <p:sp>
        <p:nvSpPr>
          <p:cNvPr id="2743" name="Google Shape;2743;p119"/>
          <p:cNvSpPr/>
          <p:nvPr/>
        </p:nvSpPr>
        <p:spPr>
          <a:xfrm>
            <a:off x="4169664" y="1892808"/>
            <a:ext cx="228600" cy="183000"/>
          </a:xfrm>
          <a:prstGeom prst="rect">
            <a:avLst/>
          </a:prstGeom>
          <a:solidFill>
            <a:srgbClr val="A5F3F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4" name="Google Shape;2744;p119"/>
          <p:cNvSpPr/>
          <p:nvPr/>
        </p:nvSpPr>
        <p:spPr>
          <a:xfrm>
            <a:off x="4169664" y="1847088"/>
            <a:ext cx="228600" cy="27420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06B6D4"/>
              </a:buClr>
              <a:buSzPts val="1000"/>
              <a:buFont typeface="Calibri"/>
              <a:buNone/>
            </a:pPr>
            <a:r>
              <a:rPr lang="en" sz="1000" b="0" i="0" u="none" strike="noStrike" cap="none">
                <a:solidFill>
                  <a:srgbClr val="06B6D4"/>
                </a:solidFill>
                <a:sym typeface="Calibri"/>
              </a:rPr>
              <a:t>✓</a:t>
            </a:r>
            <a:endParaRPr sz="1000" b="0" i="0" u="none" strike="noStrike" cap="none">
              <a:solidFill>
                <a:schemeClr val="dk1"/>
              </a:solidFill>
              <a:latin typeface="Calibri"/>
              <a:ea typeface="Calibri"/>
              <a:cs typeface="Calibri"/>
              <a:sym typeface="Calibri"/>
            </a:endParaRPr>
          </a:p>
        </p:txBody>
      </p:sp>
      <p:sp>
        <p:nvSpPr>
          <p:cNvPr id="2745" name="Google Shape;2745;p119"/>
          <p:cNvSpPr/>
          <p:nvPr/>
        </p:nvSpPr>
        <p:spPr>
          <a:xfrm>
            <a:off x="274320" y="2185416"/>
            <a:ext cx="4755000" cy="274200"/>
          </a:xfrm>
          <a:prstGeom prst="rect">
            <a:avLst/>
          </a:prstGeom>
          <a:solidFill>
            <a:srgbClr val="ECFE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6" name="Google Shape;2746;p119"/>
          <p:cNvSpPr/>
          <p:nvPr/>
        </p:nvSpPr>
        <p:spPr>
          <a:xfrm>
            <a:off x="347472" y="2185416"/>
            <a:ext cx="777300" cy="2742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06B6D4"/>
              </a:buClr>
              <a:buSzPts val="1100"/>
              <a:buFont typeface="Calibri"/>
              <a:buNone/>
            </a:pPr>
            <a:r>
              <a:rPr lang="en" sz="1100" b="1" i="0" u="none" strike="noStrike" cap="none">
                <a:solidFill>
                  <a:srgbClr val="06B6D4"/>
                </a:solidFill>
                <a:sym typeface="Calibri"/>
              </a:rPr>
              <a:t>cat</a:t>
            </a:r>
            <a:endParaRPr sz="1100" b="0" i="0" u="none" strike="noStrike" cap="none">
              <a:solidFill>
                <a:schemeClr val="dk1"/>
              </a:solidFill>
              <a:latin typeface="Calibri"/>
              <a:ea typeface="Calibri"/>
              <a:cs typeface="Calibri"/>
              <a:sym typeface="Calibri"/>
            </a:endParaRPr>
          </a:p>
        </p:txBody>
      </p:sp>
      <p:sp>
        <p:nvSpPr>
          <p:cNvPr id="2747" name="Google Shape;2747;p119"/>
          <p:cNvSpPr/>
          <p:nvPr/>
        </p:nvSpPr>
        <p:spPr>
          <a:xfrm>
            <a:off x="1188720" y="2231136"/>
            <a:ext cx="2011800" cy="183000"/>
          </a:xfrm>
          <a:prstGeom prst="rect">
            <a:avLst/>
          </a:prstGeom>
          <a:solidFill>
            <a:srgbClr val="06B6D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8" name="Google Shape;2748;p119"/>
          <p:cNvSpPr/>
          <p:nvPr/>
        </p:nvSpPr>
        <p:spPr>
          <a:xfrm>
            <a:off x="3218688" y="2185416"/>
            <a:ext cx="548700" cy="2742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6B7280"/>
              </a:buClr>
              <a:buSzPts val="950"/>
              <a:buFont typeface="Calibri"/>
              <a:buNone/>
            </a:pPr>
            <a:r>
              <a:rPr lang="en" sz="950" b="0" i="0" u="none" strike="noStrike" cap="none">
                <a:solidFill>
                  <a:srgbClr val="1A1F36"/>
                </a:solidFill>
                <a:sym typeface="Calibri"/>
              </a:rPr>
              <a:t>22%</a:t>
            </a:r>
            <a:endParaRPr sz="950" b="0" i="0" u="none" strike="noStrike" cap="none">
              <a:solidFill>
                <a:schemeClr val="dk1"/>
              </a:solidFill>
              <a:latin typeface="Calibri"/>
              <a:ea typeface="Calibri"/>
              <a:cs typeface="Calibri"/>
              <a:sym typeface="Calibri"/>
            </a:endParaRPr>
          </a:p>
        </p:txBody>
      </p:sp>
      <p:sp>
        <p:nvSpPr>
          <p:cNvPr id="2749" name="Google Shape;2749;p119"/>
          <p:cNvSpPr/>
          <p:nvPr/>
        </p:nvSpPr>
        <p:spPr>
          <a:xfrm>
            <a:off x="3200400" y="2185416"/>
            <a:ext cx="868800" cy="274200"/>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Clr>
                <a:srgbClr val="06B6D4"/>
              </a:buClr>
              <a:buSzPts val="950"/>
              <a:buFont typeface="Calibri"/>
              <a:buNone/>
            </a:pPr>
            <a:r>
              <a:rPr lang="en" sz="950" b="0" i="0" u="none" strike="noStrike" cap="none">
                <a:solidFill>
                  <a:srgbClr val="06B6D4"/>
                </a:solidFill>
                <a:sym typeface="Calibri"/>
              </a:rPr>
              <a:t>cum: 50%</a:t>
            </a:r>
            <a:endParaRPr sz="950" b="0" i="0" u="none" strike="noStrike" cap="none">
              <a:solidFill>
                <a:schemeClr val="dk1"/>
              </a:solidFill>
              <a:latin typeface="Calibri"/>
              <a:ea typeface="Calibri"/>
              <a:cs typeface="Calibri"/>
              <a:sym typeface="Calibri"/>
            </a:endParaRPr>
          </a:p>
        </p:txBody>
      </p:sp>
      <p:sp>
        <p:nvSpPr>
          <p:cNvPr id="2750" name="Google Shape;2750;p119"/>
          <p:cNvSpPr/>
          <p:nvPr/>
        </p:nvSpPr>
        <p:spPr>
          <a:xfrm>
            <a:off x="4169664" y="2231136"/>
            <a:ext cx="228600" cy="183000"/>
          </a:xfrm>
          <a:prstGeom prst="rect">
            <a:avLst/>
          </a:prstGeom>
          <a:solidFill>
            <a:srgbClr val="A5F3F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1" name="Google Shape;2751;p119"/>
          <p:cNvSpPr/>
          <p:nvPr/>
        </p:nvSpPr>
        <p:spPr>
          <a:xfrm>
            <a:off x="4169664" y="2185416"/>
            <a:ext cx="228600" cy="27420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06B6D4"/>
              </a:buClr>
              <a:buSzPts val="1000"/>
              <a:buFont typeface="Calibri"/>
              <a:buNone/>
            </a:pPr>
            <a:r>
              <a:rPr lang="en" sz="1000" b="0" i="0" u="none" strike="noStrike" cap="none">
                <a:solidFill>
                  <a:srgbClr val="06B6D4"/>
                </a:solidFill>
                <a:sym typeface="Calibri"/>
              </a:rPr>
              <a:t>✓</a:t>
            </a:r>
            <a:endParaRPr sz="1000" b="0" i="0" u="none" strike="noStrike" cap="none">
              <a:solidFill>
                <a:schemeClr val="dk1"/>
              </a:solidFill>
              <a:latin typeface="Calibri"/>
              <a:ea typeface="Calibri"/>
              <a:cs typeface="Calibri"/>
              <a:sym typeface="Calibri"/>
            </a:endParaRPr>
          </a:p>
        </p:txBody>
      </p:sp>
      <p:sp>
        <p:nvSpPr>
          <p:cNvPr id="2752" name="Google Shape;2752;p119"/>
          <p:cNvSpPr/>
          <p:nvPr/>
        </p:nvSpPr>
        <p:spPr>
          <a:xfrm>
            <a:off x="274320" y="2523744"/>
            <a:ext cx="4755000" cy="274200"/>
          </a:xfrm>
          <a:prstGeom prst="rect">
            <a:avLst/>
          </a:prstGeom>
          <a:solidFill>
            <a:srgbClr val="ECFE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3" name="Google Shape;2753;p119"/>
          <p:cNvSpPr/>
          <p:nvPr/>
        </p:nvSpPr>
        <p:spPr>
          <a:xfrm>
            <a:off x="347472" y="2523744"/>
            <a:ext cx="777300" cy="2742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06B6D4"/>
              </a:buClr>
              <a:buSzPts val="1100"/>
              <a:buFont typeface="Calibri"/>
              <a:buNone/>
            </a:pPr>
            <a:r>
              <a:rPr lang="en" sz="1100" b="1" i="0" u="none" strike="noStrike" cap="none">
                <a:solidFill>
                  <a:srgbClr val="06B6D4"/>
                </a:solidFill>
                <a:sym typeface="Calibri"/>
              </a:rPr>
              <a:t>bird</a:t>
            </a:r>
            <a:endParaRPr sz="1100" b="0" i="0" u="none" strike="noStrike" cap="none">
              <a:solidFill>
                <a:schemeClr val="dk1"/>
              </a:solidFill>
              <a:latin typeface="Calibri"/>
              <a:ea typeface="Calibri"/>
              <a:cs typeface="Calibri"/>
              <a:sym typeface="Calibri"/>
            </a:endParaRPr>
          </a:p>
        </p:txBody>
      </p:sp>
      <p:sp>
        <p:nvSpPr>
          <p:cNvPr id="2754" name="Google Shape;2754;p119"/>
          <p:cNvSpPr/>
          <p:nvPr/>
        </p:nvSpPr>
        <p:spPr>
          <a:xfrm>
            <a:off x="1188720" y="2569464"/>
            <a:ext cx="1371600" cy="183000"/>
          </a:xfrm>
          <a:prstGeom prst="rect">
            <a:avLst/>
          </a:prstGeom>
          <a:solidFill>
            <a:srgbClr val="06B6D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5" name="Google Shape;2755;p119"/>
          <p:cNvSpPr/>
          <p:nvPr/>
        </p:nvSpPr>
        <p:spPr>
          <a:xfrm>
            <a:off x="2578608" y="2523744"/>
            <a:ext cx="548700" cy="2742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6B7280"/>
              </a:buClr>
              <a:buSzPts val="950"/>
              <a:buFont typeface="Calibri"/>
              <a:buNone/>
            </a:pPr>
            <a:r>
              <a:rPr lang="en" sz="950" b="0" i="0" u="none" strike="noStrike" cap="none">
                <a:solidFill>
                  <a:srgbClr val="1A1F36"/>
                </a:solidFill>
                <a:sym typeface="Calibri"/>
              </a:rPr>
              <a:t>15%</a:t>
            </a:r>
            <a:endParaRPr sz="950" b="0" i="0" u="none" strike="noStrike" cap="none">
              <a:solidFill>
                <a:schemeClr val="dk1"/>
              </a:solidFill>
              <a:latin typeface="Calibri"/>
              <a:ea typeface="Calibri"/>
              <a:cs typeface="Calibri"/>
              <a:sym typeface="Calibri"/>
            </a:endParaRPr>
          </a:p>
        </p:txBody>
      </p:sp>
      <p:sp>
        <p:nvSpPr>
          <p:cNvPr id="2756" name="Google Shape;2756;p119"/>
          <p:cNvSpPr/>
          <p:nvPr/>
        </p:nvSpPr>
        <p:spPr>
          <a:xfrm>
            <a:off x="3200400" y="2523744"/>
            <a:ext cx="868800" cy="274200"/>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Clr>
                <a:srgbClr val="06B6D4"/>
              </a:buClr>
              <a:buSzPts val="950"/>
              <a:buFont typeface="Calibri"/>
              <a:buNone/>
            </a:pPr>
            <a:r>
              <a:rPr lang="en" sz="950" b="0" i="0" u="none" strike="noStrike" cap="none">
                <a:solidFill>
                  <a:srgbClr val="06B6D4"/>
                </a:solidFill>
                <a:sym typeface="Calibri"/>
              </a:rPr>
              <a:t>cum: 65%</a:t>
            </a:r>
            <a:endParaRPr sz="950" b="0" i="0" u="none" strike="noStrike" cap="none">
              <a:solidFill>
                <a:schemeClr val="dk1"/>
              </a:solidFill>
              <a:latin typeface="Calibri"/>
              <a:ea typeface="Calibri"/>
              <a:cs typeface="Calibri"/>
              <a:sym typeface="Calibri"/>
            </a:endParaRPr>
          </a:p>
        </p:txBody>
      </p:sp>
      <p:sp>
        <p:nvSpPr>
          <p:cNvPr id="2757" name="Google Shape;2757;p119"/>
          <p:cNvSpPr/>
          <p:nvPr/>
        </p:nvSpPr>
        <p:spPr>
          <a:xfrm>
            <a:off x="4169664" y="2569464"/>
            <a:ext cx="228600" cy="183000"/>
          </a:xfrm>
          <a:prstGeom prst="rect">
            <a:avLst/>
          </a:prstGeom>
          <a:solidFill>
            <a:srgbClr val="A5F3F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8" name="Google Shape;2758;p119"/>
          <p:cNvSpPr/>
          <p:nvPr/>
        </p:nvSpPr>
        <p:spPr>
          <a:xfrm>
            <a:off x="4169664" y="2523744"/>
            <a:ext cx="228600" cy="27420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06B6D4"/>
              </a:buClr>
              <a:buSzPts val="1000"/>
              <a:buFont typeface="Calibri"/>
              <a:buNone/>
            </a:pPr>
            <a:r>
              <a:rPr lang="en" sz="1000" b="0" i="0" u="none" strike="noStrike" cap="none">
                <a:solidFill>
                  <a:srgbClr val="06B6D4"/>
                </a:solidFill>
                <a:sym typeface="Calibri"/>
              </a:rPr>
              <a:t>✓</a:t>
            </a:r>
            <a:endParaRPr sz="1000" b="0" i="0" u="none" strike="noStrike" cap="none">
              <a:solidFill>
                <a:schemeClr val="dk1"/>
              </a:solidFill>
              <a:latin typeface="Calibri"/>
              <a:ea typeface="Calibri"/>
              <a:cs typeface="Calibri"/>
              <a:sym typeface="Calibri"/>
            </a:endParaRPr>
          </a:p>
        </p:txBody>
      </p:sp>
      <p:sp>
        <p:nvSpPr>
          <p:cNvPr id="2759" name="Google Shape;2759;p119"/>
          <p:cNvSpPr/>
          <p:nvPr/>
        </p:nvSpPr>
        <p:spPr>
          <a:xfrm>
            <a:off x="274320" y="2862072"/>
            <a:ext cx="4755000" cy="274200"/>
          </a:xfrm>
          <a:prstGeom prst="rect">
            <a:avLst/>
          </a:prstGeom>
          <a:solidFill>
            <a:srgbClr val="ECFE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0" name="Google Shape;2760;p119"/>
          <p:cNvSpPr/>
          <p:nvPr/>
        </p:nvSpPr>
        <p:spPr>
          <a:xfrm>
            <a:off x="347472" y="2862072"/>
            <a:ext cx="777300" cy="2742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06B6D4"/>
              </a:buClr>
              <a:buSzPts val="1100"/>
              <a:buFont typeface="Calibri"/>
              <a:buNone/>
            </a:pPr>
            <a:r>
              <a:rPr lang="en" sz="1100" b="1" i="0" u="none" strike="noStrike" cap="none">
                <a:solidFill>
                  <a:srgbClr val="06B6D4"/>
                </a:solidFill>
                <a:sym typeface="Calibri"/>
              </a:rPr>
              <a:t>fish</a:t>
            </a:r>
            <a:endParaRPr sz="1100" b="0" i="0" u="none" strike="noStrike" cap="none">
              <a:solidFill>
                <a:schemeClr val="dk1"/>
              </a:solidFill>
              <a:latin typeface="Calibri"/>
              <a:ea typeface="Calibri"/>
              <a:cs typeface="Calibri"/>
              <a:sym typeface="Calibri"/>
            </a:endParaRPr>
          </a:p>
        </p:txBody>
      </p:sp>
      <p:sp>
        <p:nvSpPr>
          <p:cNvPr id="2761" name="Google Shape;2761;p119"/>
          <p:cNvSpPr/>
          <p:nvPr/>
        </p:nvSpPr>
        <p:spPr>
          <a:xfrm>
            <a:off x="1188720" y="2907792"/>
            <a:ext cx="914400" cy="183000"/>
          </a:xfrm>
          <a:prstGeom prst="rect">
            <a:avLst/>
          </a:prstGeom>
          <a:solidFill>
            <a:srgbClr val="06B6D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2" name="Google Shape;2762;p119"/>
          <p:cNvSpPr/>
          <p:nvPr/>
        </p:nvSpPr>
        <p:spPr>
          <a:xfrm>
            <a:off x="2121408" y="2862072"/>
            <a:ext cx="548700" cy="2742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6B7280"/>
              </a:buClr>
              <a:buSzPts val="950"/>
              <a:buFont typeface="Calibri"/>
              <a:buNone/>
            </a:pPr>
            <a:r>
              <a:rPr lang="en" sz="950" b="0" i="0" u="none" strike="noStrike" cap="none">
                <a:solidFill>
                  <a:srgbClr val="1A1F36"/>
                </a:solidFill>
                <a:sym typeface="Calibri"/>
              </a:rPr>
              <a:t>10%</a:t>
            </a:r>
            <a:endParaRPr sz="950" b="0" i="0" u="none" strike="noStrike" cap="none">
              <a:solidFill>
                <a:schemeClr val="dk1"/>
              </a:solidFill>
              <a:latin typeface="Calibri"/>
              <a:ea typeface="Calibri"/>
              <a:cs typeface="Calibri"/>
              <a:sym typeface="Calibri"/>
            </a:endParaRPr>
          </a:p>
        </p:txBody>
      </p:sp>
      <p:sp>
        <p:nvSpPr>
          <p:cNvPr id="2763" name="Google Shape;2763;p119"/>
          <p:cNvSpPr/>
          <p:nvPr/>
        </p:nvSpPr>
        <p:spPr>
          <a:xfrm>
            <a:off x="3200400" y="2862072"/>
            <a:ext cx="868800" cy="274200"/>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Clr>
                <a:srgbClr val="06B6D4"/>
              </a:buClr>
              <a:buSzPts val="950"/>
              <a:buFont typeface="Calibri"/>
              <a:buNone/>
            </a:pPr>
            <a:r>
              <a:rPr lang="en" sz="950" b="0" i="0" u="none" strike="noStrike" cap="none">
                <a:solidFill>
                  <a:srgbClr val="06B6D4"/>
                </a:solidFill>
                <a:sym typeface="Calibri"/>
              </a:rPr>
              <a:t>cum: 75%</a:t>
            </a:r>
            <a:endParaRPr sz="950" b="0" i="0" u="none" strike="noStrike" cap="none">
              <a:solidFill>
                <a:schemeClr val="dk1"/>
              </a:solidFill>
              <a:latin typeface="Calibri"/>
              <a:ea typeface="Calibri"/>
              <a:cs typeface="Calibri"/>
              <a:sym typeface="Calibri"/>
            </a:endParaRPr>
          </a:p>
        </p:txBody>
      </p:sp>
      <p:sp>
        <p:nvSpPr>
          <p:cNvPr id="2764" name="Google Shape;2764;p119"/>
          <p:cNvSpPr/>
          <p:nvPr/>
        </p:nvSpPr>
        <p:spPr>
          <a:xfrm>
            <a:off x="4169664" y="2907792"/>
            <a:ext cx="228600" cy="183000"/>
          </a:xfrm>
          <a:prstGeom prst="rect">
            <a:avLst/>
          </a:prstGeom>
          <a:solidFill>
            <a:srgbClr val="A5F3F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5" name="Google Shape;2765;p119"/>
          <p:cNvSpPr/>
          <p:nvPr/>
        </p:nvSpPr>
        <p:spPr>
          <a:xfrm>
            <a:off x="4169664" y="2862072"/>
            <a:ext cx="228600" cy="27420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06B6D4"/>
              </a:buClr>
              <a:buSzPts val="1000"/>
              <a:buFont typeface="Calibri"/>
              <a:buNone/>
            </a:pPr>
            <a:r>
              <a:rPr lang="en" sz="1000" b="0" i="0" u="none" strike="noStrike" cap="none">
                <a:solidFill>
                  <a:srgbClr val="06B6D4"/>
                </a:solidFill>
                <a:sym typeface="Calibri"/>
              </a:rPr>
              <a:t>✓</a:t>
            </a:r>
            <a:endParaRPr sz="1000" b="0" i="0" u="none" strike="noStrike" cap="none">
              <a:solidFill>
                <a:schemeClr val="dk1"/>
              </a:solidFill>
              <a:latin typeface="Calibri"/>
              <a:ea typeface="Calibri"/>
              <a:cs typeface="Calibri"/>
              <a:sym typeface="Calibri"/>
            </a:endParaRPr>
          </a:p>
        </p:txBody>
      </p:sp>
      <p:sp>
        <p:nvSpPr>
          <p:cNvPr id="2766" name="Google Shape;2766;p119"/>
          <p:cNvSpPr/>
          <p:nvPr/>
        </p:nvSpPr>
        <p:spPr>
          <a:xfrm>
            <a:off x="274320" y="3200400"/>
            <a:ext cx="4755000" cy="274200"/>
          </a:xfrm>
          <a:prstGeom prst="rect">
            <a:avLst/>
          </a:prstGeom>
          <a:solidFill>
            <a:srgbClr val="ECFE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7" name="Google Shape;2767;p119"/>
          <p:cNvSpPr/>
          <p:nvPr/>
        </p:nvSpPr>
        <p:spPr>
          <a:xfrm>
            <a:off x="347472" y="3200400"/>
            <a:ext cx="777300" cy="2742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06B6D4"/>
              </a:buClr>
              <a:buSzPts val="1100"/>
              <a:buFont typeface="Calibri"/>
              <a:buNone/>
            </a:pPr>
            <a:r>
              <a:rPr lang="en" sz="1100" b="1" i="0" u="none" strike="noStrike" cap="none">
                <a:solidFill>
                  <a:srgbClr val="06B6D4"/>
                </a:solidFill>
                <a:sym typeface="Calibri"/>
              </a:rPr>
              <a:t>horse</a:t>
            </a:r>
            <a:endParaRPr sz="1100" b="0" i="0" u="none" strike="noStrike" cap="none">
              <a:solidFill>
                <a:schemeClr val="dk1"/>
              </a:solidFill>
              <a:latin typeface="Calibri"/>
              <a:ea typeface="Calibri"/>
              <a:cs typeface="Calibri"/>
              <a:sym typeface="Calibri"/>
            </a:endParaRPr>
          </a:p>
        </p:txBody>
      </p:sp>
      <p:sp>
        <p:nvSpPr>
          <p:cNvPr id="2768" name="Google Shape;2768;p119"/>
          <p:cNvSpPr/>
          <p:nvPr/>
        </p:nvSpPr>
        <p:spPr>
          <a:xfrm>
            <a:off x="1188720" y="3246120"/>
            <a:ext cx="731400" cy="183000"/>
          </a:xfrm>
          <a:prstGeom prst="rect">
            <a:avLst/>
          </a:prstGeom>
          <a:solidFill>
            <a:srgbClr val="06B6D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9" name="Google Shape;2769;p119"/>
          <p:cNvSpPr/>
          <p:nvPr/>
        </p:nvSpPr>
        <p:spPr>
          <a:xfrm>
            <a:off x="1938528" y="3200400"/>
            <a:ext cx="548700" cy="2742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6B7280"/>
              </a:buClr>
              <a:buSzPts val="950"/>
              <a:buFont typeface="Calibri"/>
              <a:buNone/>
            </a:pPr>
            <a:r>
              <a:rPr lang="en" sz="950" b="0" i="0" u="none" strike="noStrike" cap="none">
                <a:solidFill>
                  <a:srgbClr val="1A1F36"/>
                </a:solidFill>
                <a:sym typeface="Calibri"/>
              </a:rPr>
              <a:t>8%</a:t>
            </a:r>
            <a:endParaRPr sz="950" b="0" i="0" u="none" strike="noStrike" cap="none">
              <a:solidFill>
                <a:schemeClr val="dk1"/>
              </a:solidFill>
              <a:latin typeface="Calibri"/>
              <a:ea typeface="Calibri"/>
              <a:cs typeface="Calibri"/>
              <a:sym typeface="Calibri"/>
            </a:endParaRPr>
          </a:p>
        </p:txBody>
      </p:sp>
      <p:sp>
        <p:nvSpPr>
          <p:cNvPr id="2770" name="Google Shape;2770;p119"/>
          <p:cNvSpPr/>
          <p:nvPr/>
        </p:nvSpPr>
        <p:spPr>
          <a:xfrm>
            <a:off x="3200400" y="3200400"/>
            <a:ext cx="868800" cy="274200"/>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Clr>
                <a:srgbClr val="06B6D4"/>
              </a:buClr>
              <a:buSzPts val="950"/>
              <a:buFont typeface="Calibri"/>
              <a:buNone/>
            </a:pPr>
            <a:r>
              <a:rPr lang="en" sz="950" b="0" i="0" u="none" strike="noStrike" cap="none">
                <a:solidFill>
                  <a:srgbClr val="06B6D4"/>
                </a:solidFill>
                <a:sym typeface="Calibri"/>
              </a:rPr>
              <a:t>cum: 83%</a:t>
            </a:r>
            <a:endParaRPr sz="950" b="0" i="0" u="none" strike="noStrike" cap="none">
              <a:solidFill>
                <a:schemeClr val="dk1"/>
              </a:solidFill>
              <a:latin typeface="Calibri"/>
              <a:ea typeface="Calibri"/>
              <a:cs typeface="Calibri"/>
              <a:sym typeface="Calibri"/>
            </a:endParaRPr>
          </a:p>
        </p:txBody>
      </p:sp>
      <p:sp>
        <p:nvSpPr>
          <p:cNvPr id="2771" name="Google Shape;2771;p119"/>
          <p:cNvSpPr/>
          <p:nvPr/>
        </p:nvSpPr>
        <p:spPr>
          <a:xfrm>
            <a:off x="4169664" y="3246120"/>
            <a:ext cx="228600" cy="183000"/>
          </a:xfrm>
          <a:prstGeom prst="rect">
            <a:avLst/>
          </a:prstGeom>
          <a:solidFill>
            <a:srgbClr val="A5F3F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2" name="Google Shape;2772;p119"/>
          <p:cNvSpPr/>
          <p:nvPr/>
        </p:nvSpPr>
        <p:spPr>
          <a:xfrm>
            <a:off x="4169664" y="3200400"/>
            <a:ext cx="228600" cy="27420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06B6D4"/>
              </a:buClr>
              <a:buSzPts val="1000"/>
              <a:buFont typeface="Calibri"/>
              <a:buNone/>
            </a:pPr>
            <a:r>
              <a:rPr lang="en" sz="1000" b="0" i="0" u="none" strike="noStrike" cap="none">
                <a:solidFill>
                  <a:srgbClr val="06B6D4"/>
                </a:solidFill>
                <a:sym typeface="Calibri"/>
              </a:rPr>
              <a:t>✓</a:t>
            </a:r>
            <a:endParaRPr sz="1000" b="0" i="0" u="none" strike="noStrike" cap="none">
              <a:solidFill>
                <a:schemeClr val="dk1"/>
              </a:solidFill>
              <a:latin typeface="Calibri"/>
              <a:ea typeface="Calibri"/>
              <a:cs typeface="Calibri"/>
              <a:sym typeface="Calibri"/>
            </a:endParaRPr>
          </a:p>
        </p:txBody>
      </p:sp>
      <p:sp>
        <p:nvSpPr>
          <p:cNvPr id="2773" name="Google Shape;2773;p119"/>
          <p:cNvSpPr/>
          <p:nvPr/>
        </p:nvSpPr>
        <p:spPr>
          <a:xfrm>
            <a:off x="274320" y="3538728"/>
            <a:ext cx="4755000" cy="274200"/>
          </a:xfrm>
          <a:prstGeom prst="rect">
            <a:avLst/>
          </a:prstGeom>
          <a:solidFill>
            <a:srgbClr val="ECFE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4" name="Google Shape;2774;p119"/>
          <p:cNvSpPr/>
          <p:nvPr/>
        </p:nvSpPr>
        <p:spPr>
          <a:xfrm>
            <a:off x="347472" y="3538728"/>
            <a:ext cx="777300" cy="2742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06B6D4"/>
              </a:buClr>
              <a:buSzPts val="1100"/>
              <a:buFont typeface="Calibri"/>
              <a:buNone/>
            </a:pPr>
            <a:r>
              <a:rPr lang="en" sz="1100" b="1" i="0" u="none" strike="noStrike" cap="none">
                <a:solidFill>
                  <a:srgbClr val="06B6D4"/>
                </a:solidFill>
                <a:sym typeface="Calibri"/>
              </a:rPr>
              <a:t>rabbit</a:t>
            </a:r>
            <a:endParaRPr sz="1100" b="0" i="0" u="none" strike="noStrike" cap="none">
              <a:solidFill>
                <a:schemeClr val="dk1"/>
              </a:solidFill>
              <a:latin typeface="Calibri"/>
              <a:ea typeface="Calibri"/>
              <a:cs typeface="Calibri"/>
              <a:sym typeface="Calibri"/>
            </a:endParaRPr>
          </a:p>
        </p:txBody>
      </p:sp>
      <p:sp>
        <p:nvSpPr>
          <p:cNvPr id="2775" name="Google Shape;2775;p119"/>
          <p:cNvSpPr/>
          <p:nvPr/>
        </p:nvSpPr>
        <p:spPr>
          <a:xfrm>
            <a:off x="1188720" y="3584448"/>
            <a:ext cx="548700" cy="183000"/>
          </a:xfrm>
          <a:prstGeom prst="rect">
            <a:avLst/>
          </a:prstGeom>
          <a:solidFill>
            <a:srgbClr val="06B6D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6" name="Google Shape;2776;p119"/>
          <p:cNvSpPr/>
          <p:nvPr/>
        </p:nvSpPr>
        <p:spPr>
          <a:xfrm>
            <a:off x="1755648" y="3538728"/>
            <a:ext cx="548700" cy="2742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6B7280"/>
              </a:buClr>
              <a:buSzPts val="950"/>
              <a:buFont typeface="Calibri"/>
              <a:buNone/>
            </a:pPr>
            <a:r>
              <a:rPr lang="en" sz="950" b="0" i="0" u="none" strike="noStrike" cap="none">
                <a:solidFill>
                  <a:srgbClr val="1A1F36"/>
                </a:solidFill>
                <a:sym typeface="Calibri"/>
              </a:rPr>
              <a:t>6%</a:t>
            </a:r>
            <a:endParaRPr sz="950" b="0" i="0" u="none" strike="noStrike" cap="none">
              <a:solidFill>
                <a:schemeClr val="dk1"/>
              </a:solidFill>
              <a:latin typeface="Calibri"/>
              <a:ea typeface="Calibri"/>
              <a:cs typeface="Calibri"/>
              <a:sym typeface="Calibri"/>
            </a:endParaRPr>
          </a:p>
        </p:txBody>
      </p:sp>
      <p:sp>
        <p:nvSpPr>
          <p:cNvPr id="2777" name="Google Shape;2777;p119"/>
          <p:cNvSpPr/>
          <p:nvPr/>
        </p:nvSpPr>
        <p:spPr>
          <a:xfrm>
            <a:off x="3200400" y="3538728"/>
            <a:ext cx="868800" cy="274200"/>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Clr>
                <a:srgbClr val="06B6D4"/>
              </a:buClr>
              <a:buSzPts val="950"/>
              <a:buFont typeface="Calibri"/>
              <a:buNone/>
            </a:pPr>
            <a:r>
              <a:rPr lang="en" sz="950" b="0" i="0" u="none" strike="noStrike" cap="none">
                <a:solidFill>
                  <a:srgbClr val="06B6D4"/>
                </a:solidFill>
                <a:sym typeface="Calibri"/>
              </a:rPr>
              <a:t>cum: 89%</a:t>
            </a:r>
            <a:endParaRPr sz="950" b="0" i="0" u="none" strike="noStrike" cap="none">
              <a:solidFill>
                <a:schemeClr val="dk1"/>
              </a:solidFill>
              <a:latin typeface="Calibri"/>
              <a:ea typeface="Calibri"/>
              <a:cs typeface="Calibri"/>
              <a:sym typeface="Calibri"/>
            </a:endParaRPr>
          </a:p>
        </p:txBody>
      </p:sp>
      <p:sp>
        <p:nvSpPr>
          <p:cNvPr id="2778" name="Google Shape;2778;p119"/>
          <p:cNvSpPr/>
          <p:nvPr/>
        </p:nvSpPr>
        <p:spPr>
          <a:xfrm>
            <a:off x="4169664" y="3584448"/>
            <a:ext cx="228600" cy="183000"/>
          </a:xfrm>
          <a:prstGeom prst="rect">
            <a:avLst/>
          </a:prstGeom>
          <a:solidFill>
            <a:srgbClr val="A5F3F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9" name="Google Shape;2779;p119"/>
          <p:cNvSpPr/>
          <p:nvPr/>
        </p:nvSpPr>
        <p:spPr>
          <a:xfrm>
            <a:off x="4169664" y="3538728"/>
            <a:ext cx="228600" cy="27420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06B6D4"/>
              </a:buClr>
              <a:buSzPts val="1000"/>
              <a:buFont typeface="Calibri"/>
              <a:buNone/>
            </a:pPr>
            <a:r>
              <a:rPr lang="en" sz="1000" b="0" i="0" u="none" strike="noStrike" cap="none">
                <a:solidFill>
                  <a:srgbClr val="06B6D4"/>
                </a:solidFill>
                <a:sym typeface="Calibri"/>
              </a:rPr>
              <a:t>✓</a:t>
            </a:r>
            <a:endParaRPr sz="1000" b="0" i="0" u="none" strike="noStrike" cap="none">
              <a:solidFill>
                <a:schemeClr val="dk1"/>
              </a:solidFill>
              <a:latin typeface="Calibri"/>
              <a:ea typeface="Calibri"/>
              <a:cs typeface="Calibri"/>
              <a:sym typeface="Calibri"/>
            </a:endParaRPr>
          </a:p>
        </p:txBody>
      </p:sp>
      <p:sp>
        <p:nvSpPr>
          <p:cNvPr id="2780" name="Google Shape;2780;p119"/>
          <p:cNvSpPr/>
          <p:nvPr/>
        </p:nvSpPr>
        <p:spPr>
          <a:xfrm>
            <a:off x="274320" y="3877056"/>
            <a:ext cx="4755000" cy="274200"/>
          </a:xfrm>
          <a:prstGeom prst="rect">
            <a:avLst/>
          </a:prstGeom>
          <a:solidFill>
            <a:srgbClr val="F8F9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1" name="Google Shape;2781;p119"/>
          <p:cNvSpPr/>
          <p:nvPr/>
        </p:nvSpPr>
        <p:spPr>
          <a:xfrm>
            <a:off x="347472" y="3877056"/>
            <a:ext cx="777300" cy="2742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6B7280"/>
              </a:buClr>
              <a:buSzPts val="1100"/>
              <a:buFont typeface="Calibri"/>
              <a:buNone/>
            </a:pPr>
            <a:r>
              <a:rPr lang="en" sz="1100" b="0" i="0" u="none" strike="noStrike" cap="none">
                <a:solidFill>
                  <a:srgbClr val="1A1F36"/>
                </a:solidFill>
                <a:sym typeface="Calibri"/>
              </a:rPr>
              <a:t>turtle</a:t>
            </a:r>
            <a:endParaRPr sz="1100" b="0" i="0" u="none" strike="noStrike" cap="none">
              <a:solidFill>
                <a:schemeClr val="dk1"/>
              </a:solidFill>
              <a:latin typeface="Calibri"/>
              <a:ea typeface="Calibri"/>
              <a:cs typeface="Calibri"/>
              <a:sym typeface="Calibri"/>
            </a:endParaRPr>
          </a:p>
        </p:txBody>
      </p:sp>
      <p:sp>
        <p:nvSpPr>
          <p:cNvPr id="2782" name="Google Shape;2782;p119"/>
          <p:cNvSpPr/>
          <p:nvPr/>
        </p:nvSpPr>
        <p:spPr>
          <a:xfrm>
            <a:off x="1188720" y="3922776"/>
            <a:ext cx="365700" cy="183000"/>
          </a:xfrm>
          <a:prstGeom prst="rect">
            <a:avLst/>
          </a:prstGeom>
          <a:solidFill>
            <a:srgbClr val="D1D5D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3" name="Google Shape;2783;p119"/>
          <p:cNvSpPr/>
          <p:nvPr/>
        </p:nvSpPr>
        <p:spPr>
          <a:xfrm>
            <a:off x="1572768" y="3877056"/>
            <a:ext cx="548700" cy="2742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6B7280"/>
              </a:buClr>
              <a:buSzPts val="950"/>
              <a:buFont typeface="Calibri"/>
              <a:buNone/>
            </a:pPr>
            <a:r>
              <a:rPr lang="en" sz="950" b="0" i="0" u="none" strike="noStrike" cap="none">
                <a:solidFill>
                  <a:srgbClr val="1A1F36"/>
                </a:solidFill>
                <a:sym typeface="Calibri"/>
              </a:rPr>
              <a:t>4%</a:t>
            </a:r>
            <a:endParaRPr sz="950" b="0" i="0" u="none" strike="noStrike" cap="none">
              <a:solidFill>
                <a:schemeClr val="dk1"/>
              </a:solidFill>
              <a:latin typeface="Calibri"/>
              <a:ea typeface="Calibri"/>
              <a:cs typeface="Calibri"/>
              <a:sym typeface="Calibri"/>
            </a:endParaRPr>
          </a:p>
        </p:txBody>
      </p:sp>
      <p:sp>
        <p:nvSpPr>
          <p:cNvPr id="2784" name="Google Shape;2784;p119"/>
          <p:cNvSpPr/>
          <p:nvPr/>
        </p:nvSpPr>
        <p:spPr>
          <a:xfrm>
            <a:off x="3200400" y="3877056"/>
            <a:ext cx="868800" cy="274200"/>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Clr>
                <a:srgbClr val="6B7280"/>
              </a:buClr>
              <a:buSzPts val="950"/>
              <a:buFont typeface="Calibri"/>
              <a:buNone/>
            </a:pPr>
            <a:r>
              <a:rPr lang="en" sz="950" b="0" i="0" u="none" strike="noStrike" cap="none">
                <a:solidFill>
                  <a:srgbClr val="1A1F36"/>
                </a:solidFill>
                <a:sym typeface="Calibri"/>
              </a:rPr>
              <a:t>cum: 93%</a:t>
            </a:r>
            <a:endParaRPr sz="950" b="0" i="0" u="none" strike="noStrike" cap="none">
              <a:solidFill>
                <a:schemeClr val="dk1"/>
              </a:solidFill>
              <a:latin typeface="Calibri"/>
              <a:ea typeface="Calibri"/>
              <a:cs typeface="Calibri"/>
              <a:sym typeface="Calibri"/>
            </a:endParaRPr>
          </a:p>
        </p:txBody>
      </p:sp>
      <p:sp>
        <p:nvSpPr>
          <p:cNvPr id="2785" name="Google Shape;2785;p119"/>
          <p:cNvSpPr/>
          <p:nvPr/>
        </p:nvSpPr>
        <p:spPr>
          <a:xfrm>
            <a:off x="274320" y="4215384"/>
            <a:ext cx="4755000" cy="274200"/>
          </a:xfrm>
          <a:prstGeom prst="rect">
            <a:avLst/>
          </a:prstGeom>
          <a:solidFill>
            <a:srgbClr val="F8F9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6" name="Google Shape;2786;p119"/>
          <p:cNvSpPr/>
          <p:nvPr/>
        </p:nvSpPr>
        <p:spPr>
          <a:xfrm>
            <a:off x="347472" y="4215384"/>
            <a:ext cx="777300" cy="2742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6B7280"/>
              </a:buClr>
              <a:buSzPts val="1100"/>
              <a:buFont typeface="Calibri"/>
              <a:buNone/>
            </a:pPr>
            <a:r>
              <a:rPr lang="en" sz="1100" b="0" i="0" u="none" strike="noStrike" cap="none">
                <a:solidFill>
                  <a:srgbClr val="1A1F36"/>
                </a:solidFill>
                <a:sym typeface="Calibri"/>
              </a:rPr>
              <a:t>zebra</a:t>
            </a:r>
            <a:endParaRPr sz="1100" b="0" i="0" u="none" strike="noStrike" cap="none">
              <a:solidFill>
                <a:schemeClr val="dk1"/>
              </a:solidFill>
              <a:latin typeface="Calibri"/>
              <a:ea typeface="Calibri"/>
              <a:cs typeface="Calibri"/>
              <a:sym typeface="Calibri"/>
            </a:endParaRPr>
          </a:p>
        </p:txBody>
      </p:sp>
      <p:sp>
        <p:nvSpPr>
          <p:cNvPr id="2787" name="Google Shape;2787;p119"/>
          <p:cNvSpPr/>
          <p:nvPr/>
        </p:nvSpPr>
        <p:spPr>
          <a:xfrm>
            <a:off x="1188720" y="4261104"/>
            <a:ext cx="183000" cy="183000"/>
          </a:xfrm>
          <a:prstGeom prst="rect">
            <a:avLst/>
          </a:prstGeom>
          <a:solidFill>
            <a:srgbClr val="D1D5D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8" name="Google Shape;2788;p119"/>
          <p:cNvSpPr/>
          <p:nvPr/>
        </p:nvSpPr>
        <p:spPr>
          <a:xfrm>
            <a:off x="1389888" y="4215384"/>
            <a:ext cx="548700" cy="2742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6B7280"/>
              </a:buClr>
              <a:buSzPts val="950"/>
              <a:buFont typeface="Calibri"/>
              <a:buNone/>
            </a:pPr>
            <a:r>
              <a:rPr lang="en" sz="950" b="0" i="0" u="none" strike="noStrike" cap="none">
                <a:solidFill>
                  <a:srgbClr val="1A1F36"/>
                </a:solidFill>
                <a:sym typeface="Calibri"/>
              </a:rPr>
              <a:t>2%</a:t>
            </a:r>
            <a:endParaRPr sz="950" b="0" i="0" u="none" strike="noStrike" cap="none">
              <a:solidFill>
                <a:schemeClr val="dk1"/>
              </a:solidFill>
              <a:latin typeface="Calibri"/>
              <a:ea typeface="Calibri"/>
              <a:cs typeface="Calibri"/>
              <a:sym typeface="Calibri"/>
            </a:endParaRPr>
          </a:p>
        </p:txBody>
      </p:sp>
      <p:sp>
        <p:nvSpPr>
          <p:cNvPr id="2789" name="Google Shape;2789;p119"/>
          <p:cNvSpPr/>
          <p:nvPr/>
        </p:nvSpPr>
        <p:spPr>
          <a:xfrm>
            <a:off x="3200400" y="4215384"/>
            <a:ext cx="868800" cy="274200"/>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Clr>
                <a:srgbClr val="6B7280"/>
              </a:buClr>
              <a:buSzPts val="950"/>
              <a:buFont typeface="Calibri"/>
              <a:buNone/>
            </a:pPr>
            <a:r>
              <a:rPr lang="en" sz="950" b="0" i="0" u="none" strike="noStrike" cap="none">
                <a:solidFill>
                  <a:srgbClr val="1A1F36"/>
                </a:solidFill>
                <a:sym typeface="Calibri"/>
              </a:rPr>
              <a:t>cum: 95%</a:t>
            </a:r>
            <a:endParaRPr sz="950" b="0" i="0" u="none" strike="noStrike" cap="none">
              <a:solidFill>
                <a:schemeClr val="dk1"/>
              </a:solidFill>
              <a:latin typeface="Calibri"/>
              <a:ea typeface="Calibri"/>
              <a:cs typeface="Calibri"/>
              <a:sym typeface="Calibri"/>
            </a:endParaRPr>
          </a:p>
        </p:txBody>
      </p:sp>
      <p:cxnSp>
        <p:nvCxnSpPr>
          <p:cNvPr id="2790" name="Google Shape;2790;p119"/>
          <p:cNvCxnSpPr/>
          <p:nvPr/>
        </p:nvCxnSpPr>
        <p:spPr>
          <a:xfrm>
            <a:off x="274320" y="3840480"/>
            <a:ext cx="4755000" cy="0"/>
          </a:xfrm>
          <a:prstGeom prst="straightConnector1">
            <a:avLst/>
          </a:prstGeom>
          <a:noFill/>
          <a:ln w="19050" cap="flat" cmpd="sng">
            <a:solidFill>
              <a:srgbClr val="06B6D4"/>
            </a:solidFill>
            <a:prstDash val="dash"/>
            <a:round/>
            <a:headEnd type="none" w="sm" len="sm"/>
            <a:tailEnd type="none" w="sm" len="sm"/>
          </a:ln>
        </p:spPr>
      </p:cxnSp>
      <p:sp>
        <p:nvSpPr>
          <p:cNvPr id="2791" name="Google Shape;2791;p119"/>
          <p:cNvSpPr/>
          <p:nvPr/>
        </p:nvSpPr>
        <p:spPr>
          <a:xfrm>
            <a:off x="3383280" y="3675888"/>
            <a:ext cx="1828800" cy="2013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06B6D4"/>
              </a:buClr>
              <a:buSzPts val="900"/>
              <a:buFont typeface="Calibri"/>
              <a:buNone/>
            </a:pPr>
            <a:r>
              <a:rPr lang="en" sz="900" b="0" i="0" u="none" strike="noStrike" cap="none">
                <a:solidFill>
                  <a:srgbClr val="06B6D4"/>
                </a:solidFill>
                <a:sym typeface="Calibri"/>
              </a:rPr>
              <a:t>← p=0.85 threshold</a:t>
            </a:r>
            <a:endParaRPr sz="900" b="0" i="0" u="none" strike="noStrike" cap="none">
              <a:solidFill>
                <a:schemeClr val="dk1"/>
              </a:solidFill>
              <a:latin typeface="Calibri"/>
              <a:ea typeface="Calibri"/>
              <a:cs typeface="Calibri"/>
              <a:sym typeface="Calibri"/>
            </a:endParaRPr>
          </a:p>
        </p:txBody>
      </p:sp>
      <p:sp>
        <p:nvSpPr>
          <p:cNvPr id="2792" name="Google Shape;2792;p119"/>
          <p:cNvSpPr/>
          <p:nvPr/>
        </p:nvSpPr>
        <p:spPr>
          <a:xfrm>
            <a:off x="5303520" y="749808"/>
            <a:ext cx="3657600" cy="4370700"/>
          </a:xfrm>
          <a:prstGeom prst="rect">
            <a:avLst/>
          </a:prstGeom>
          <a:solidFill>
            <a:srgbClr val="F8F9FF"/>
          </a:solidFill>
          <a:ln>
            <a:noFill/>
          </a:ln>
          <a:effectLst>
            <a:outerShdw blurRad="101600" dist="25400" dir="8100000" algn="bl" rotWithShape="0">
              <a:srgbClr val="000000">
                <a:alpha val="784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3" name="Google Shape;2793;p119"/>
          <p:cNvSpPr/>
          <p:nvPr/>
        </p:nvSpPr>
        <p:spPr>
          <a:xfrm>
            <a:off x="5486400" y="841248"/>
            <a:ext cx="3291900" cy="3474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06B6D4"/>
              </a:buClr>
              <a:buSzPts val="1400"/>
              <a:buFont typeface="Calibri"/>
              <a:buNone/>
            </a:pPr>
            <a:r>
              <a:rPr lang="en" sz="1400" b="1" i="0" u="none" strike="noStrike" cap="none">
                <a:solidFill>
                  <a:srgbClr val="06B6D4"/>
                </a:solidFill>
                <a:sym typeface="Calibri"/>
              </a:rPr>
              <a:t>Top-p vs Top-k</a:t>
            </a:r>
            <a:endParaRPr sz="1400" b="0" i="0" u="none" strike="noStrike" cap="none">
              <a:solidFill>
                <a:schemeClr val="dk1"/>
              </a:solidFill>
              <a:latin typeface="Calibri"/>
              <a:ea typeface="Calibri"/>
              <a:cs typeface="Calibri"/>
              <a:sym typeface="Calibri"/>
            </a:endParaRPr>
          </a:p>
        </p:txBody>
      </p:sp>
      <p:sp>
        <p:nvSpPr>
          <p:cNvPr id="2794" name="Google Shape;2794;p119"/>
          <p:cNvSpPr/>
          <p:nvPr/>
        </p:nvSpPr>
        <p:spPr>
          <a:xfrm>
            <a:off x="5486400" y="1298448"/>
            <a:ext cx="1005900" cy="274200"/>
          </a:xfrm>
          <a:prstGeom prst="rect">
            <a:avLst/>
          </a:prstGeom>
          <a:solidFill>
            <a:srgbClr val="4F46E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5" name="Google Shape;2795;p119"/>
          <p:cNvSpPr/>
          <p:nvPr/>
        </p:nvSpPr>
        <p:spPr>
          <a:xfrm>
            <a:off x="5486400" y="1298448"/>
            <a:ext cx="1005900" cy="27420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FFFFFF"/>
              </a:buClr>
              <a:buSzPts val="1000"/>
              <a:buFont typeface="Calibri"/>
              <a:buNone/>
            </a:pPr>
            <a:r>
              <a:rPr lang="en" sz="1000" b="1" i="0" u="none" strike="noStrike" cap="none">
                <a:solidFill>
                  <a:srgbClr val="FFFFFF"/>
                </a:solidFill>
                <a:sym typeface="Calibri"/>
              </a:rPr>
              <a:t>Aspect</a:t>
            </a:r>
            <a:endParaRPr sz="1000" b="0" i="0" u="none" strike="noStrike" cap="none">
              <a:solidFill>
                <a:schemeClr val="dk1"/>
              </a:solidFill>
              <a:latin typeface="Calibri"/>
              <a:ea typeface="Calibri"/>
              <a:cs typeface="Calibri"/>
              <a:sym typeface="Calibri"/>
            </a:endParaRPr>
          </a:p>
        </p:txBody>
      </p:sp>
      <p:sp>
        <p:nvSpPr>
          <p:cNvPr id="2796" name="Google Shape;2796;p119"/>
          <p:cNvSpPr/>
          <p:nvPr/>
        </p:nvSpPr>
        <p:spPr>
          <a:xfrm>
            <a:off x="6537960" y="1298448"/>
            <a:ext cx="1188600" cy="274200"/>
          </a:xfrm>
          <a:prstGeom prst="rect">
            <a:avLst/>
          </a:prstGeom>
          <a:solidFill>
            <a:srgbClr val="05966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7" name="Google Shape;2797;p119"/>
          <p:cNvSpPr/>
          <p:nvPr/>
        </p:nvSpPr>
        <p:spPr>
          <a:xfrm>
            <a:off x="6537960" y="1298448"/>
            <a:ext cx="1188600" cy="27420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FFFFFF"/>
              </a:buClr>
              <a:buSzPts val="1000"/>
              <a:buFont typeface="Calibri"/>
              <a:buNone/>
            </a:pPr>
            <a:r>
              <a:rPr lang="en" sz="1000" b="1" i="0" u="none" strike="noStrike" cap="none">
                <a:solidFill>
                  <a:srgbClr val="FFFFFF"/>
                </a:solidFill>
                <a:sym typeface="Calibri"/>
              </a:rPr>
              <a:t>Top-k</a:t>
            </a:r>
            <a:endParaRPr sz="1000" b="0" i="0" u="none" strike="noStrike" cap="none">
              <a:solidFill>
                <a:schemeClr val="dk1"/>
              </a:solidFill>
              <a:latin typeface="Calibri"/>
              <a:ea typeface="Calibri"/>
              <a:cs typeface="Calibri"/>
              <a:sym typeface="Calibri"/>
            </a:endParaRPr>
          </a:p>
        </p:txBody>
      </p:sp>
      <p:sp>
        <p:nvSpPr>
          <p:cNvPr id="2798" name="Google Shape;2798;p119"/>
          <p:cNvSpPr/>
          <p:nvPr/>
        </p:nvSpPr>
        <p:spPr>
          <a:xfrm>
            <a:off x="7772400" y="1298448"/>
            <a:ext cx="1188600" cy="274200"/>
          </a:xfrm>
          <a:prstGeom prst="rect">
            <a:avLst/>
          </a:prstGeom>
          <a:solidFill>
            <a:srgbClr val="06B6D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9" name="Google Shape;2799;p119"/>
          <p:cNvSpPr/>
          <p:nvPr/>
        </p:nvSpPr>
        <p:spPr>
          <a:xfrm>
            <a:off x="7772400" y="1298448"/>
            <a:ext cx="1188600" cy="27420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FFFFFF"/>
              </a:buClr>
              <a:buSzPts val="1000"/>
              <a:buFont typeface="Calibri"/>
              <a:buNone/>
            </a:pPr>
            <a:r>
              <a:rPr lang="en" sz="1000" b="1" i="0" u="none" strike="noStrike" cap="none">
                <a:solidFill>
                  <a:srgbClr val="FFFFFF"/>
                </a:solidFill>
                <a:sym typeface="Calibri"/>
              </a:rPr>
              <a:t>Top-p</a:t>
            </a:r>
            <a:endParaRPr sz="1000" b="0" i="0" u="none" strike="noStrike" cap="none">
              <a:solidFill>
                <a:schemeClr val="dk1"/>
              </a:solidFill>
              <a:latin typeface="Calibri"/>
              <a:ea typeface="Calibri"/>
              <a:cs typeface="Calibri"/>
              <a:sym typeface="Calibri"/>
            </a:endParaRPr>
          </a:p>
        </p:txBody>
      </p:sp>
      <p:sp>
        <p:nvSpPr>
          <p:cNvPr id="2800" name="Google Shape;2800;p119"/>
          <p:cNvSpPr/>
          <p:nvPr/>
        </p:nvSpPr>
        <p:spPr>
          <a:xfrm>
            <a:off x="5486400" y="1664208"/>
            <a:ext cx="3474600" cy="548700"/>
          </a:xfrm>
          <a:prstGeom prst="rect">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1" name="Google Shape;2801;p119"/>
          <p:cNvSpPr/>
          <p:nvPr/>
        </p:nvSpPr>
        <p:spPr>
          <a:xfrm>
            <a:off x="5532120" y="1664208"/>
            <a:ext cx="960000" cy="5487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1E1B4B"/>
              </a:buClr>
              <a:buSzPts val="950"/>
              <a:buFont typeface="Calibri"/>
              <a:buNone/>
            </a:pPr>
            <a:r>
              <a:rPr lang="en" sz="950" b="1" i="0" u="none" strike="noStrike" cap="none">
                <a:solidFill>
                  <a:srgbClr val="1E1B4B"/>
                </a:solidFill>
                <a:sym typeface="Calibri"/>
              </a:rPr>
              <a:t>Cutoff type</a:t>
            </a:r>
            <a:endParaRPr sz="950" b="0" i="0" u="none" strike="noStrike" cap="none">
              <a:solidFill>
                <a:schemeClr val="dk1"/>
              </a:solidFill>
              <a:latin typeface="Calibri"/>
              <a:ea typeface="Calibri"/>
              <a:cs typeface="Calibri"/>
              <a:sym typeface="Calibri"/>
            </a:endParaRPr>
          </a:p>
        </p:txBody>
      </p:sp>
      <p:sp>
        <p:nvSpPr>
          <p:cNvPr id="2802" name="Google Shape;2802;p119"/>
          <p:cNvSpPr/>
          <p:nvPr/>
        </p:nvSpPr>
        <p:spPr>
          <a:xfrm>
            <a:off x="6537960" y="1664208"/>
            <a:ext cx="1188600" cy="5487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059669"/>
              </a:buClr>
              <a:buSzPts val="950"/>
              <a:buFont typeface="Calibri"/>
              <a:buNone/>
            </a:pPr>
            <a:r>
              <a:rPr lang="en" sz="950" b="0" i="0" u="none" strike="noStrike" cap="none">
                <a:solidFill>
                  <a:srgbClr val="059669"/>
                </a:solidFill>
                <a:sym typeface="Calibri"/>
              </a:rPr>
              <a:t>Fixed count (k tokens)</a:t>
            </a:r>
            <a:endParaRPr sz="950" b="0" i="0" u="none" strike="noStrike" cap="none">
              <a:solidFill>
                <a:schemeClr val="dk1"/>
              </a:solidFill>
              <a:latin typeface="Calibri"/>
              <a:ea typeface="Calibri"/>
              <a:cs typeface="Calibri"/>
              <a:sym typeface="Calibri"/>
            </a:endParaRPr>
          </a:p>
        </p:txBody>
      </p:sp>
      <p:sp>
        <p:nvSpPr>
          <p:cNvPr id="2803" name="Google Shape;2803;p119"/>
          <p:cNvSpPr/>
          <p:nvPr/>
        </p:nvSpPr>
        <p:spPr>
          <a:xfrm>
            <a:off x="7772400" y="1664208"/>
            <a:ext cx="1170300" cy="5487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06B6D4"/>
              </a:buClr>
              <a:buSzPts val="950"/>
              <a:buFont typeface="Calibri"/>
              <a:buNone/>
            </a:pPr>
            <a:r>
              <a:rPr lang="en" sz="950" b="0" i="0" u="none" strike="noStrike" cap="none">
                <a:solidFill>
                  <a:srgbClr val="06B6D4"/>
                </a:solidFill>
                <a:sym typeface="Calibri"/>
              </a:rPr>
              <a:t>Dynamic (by prob mass)</a:t>
            </a:r>
            <a:endParaRPr sz="950" b="0" i="0" u="none" strike="noStrike" cap="none">
              <a:solidFill>
                <a:schemeClr val="dk1"/>
              </a:solidFill>
              <a:latin typeface="Calibri"/>
              <a:ea typeface="Calibri"/>
              <a:cs typeface="Calibri"/>
              <a:sym typeface="Calibri"/>
            </a:endParaRPr>
          </a:p>
        </p:txBody>
      </p:sp>
      <p:sp>
        <p:nvSpPr>
          <p:cNvPr id="2804" name="Google Shape;2804;p119"/>
          <p:cNvSpPr/>
          <p:nvPr/>
        </p:nvSpPr>
        <p:spPr>
          <a:xfrm>
            <a:off x="5486400" y="2258568"/>
            <a:ext cx="3474600" cy="548700"/>
          </a:xfrm>
          <a:prstGeom prst="rect">
            <a:avLst/>
          </a:prstGeom>
          <a:solidFill>
            <a:srgbClr val="EEF2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5" name="Google Shape;2805;p119"/>
          <p:cNvSpPr/>
          <p:nvPr/>
        </p:nvSpPr>
        <p:spPr>
          <a:xfrm>
            <a:off x="5532120" y="2258568"/>
            <a:ext cx="960000" cy="5487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1E1B4B"/>
              </a:buClr>
              <a:buSzPts val="950"/>
              <a:buFont typeface="Calibri"/>
              <a:buNone/>
            </a:pPr>
            <a:r>
              <a:rPr lang="en" sz="950" b="1" i="0" u="none" strike="noStrike" cap="none">
                <a:solidFill>
                  <a:srgbClr val="1E1B4B"/>
                </a:solidFill>
                <a:sym typeface="Calibri"/>
              </a:rPr>
              <a:t>Low confidence</a:t>
            </a:r>
            <a:endParaRPr sz="950" b="0" i="0" u="none" strike="noStrike" cap="none">
              <a:solidFill>
                <a:schemeClr val="dk1"/>
              </a:solidFill>
              <a:latin typeface="Calibri"/>
              <a:ea typeface="Calibri"/>
              <a:cs typeface="Calibri"/>
              <a:sym typeface="Calibri"/>
            </a:endParaRPr>
          </a:p>
        </p:txBody>
      </p:sp>
      <p:sp>
        <p:nvSpPr>
          <p:cNvPr id="2806" name="Google Shape;2806;p119"/>
          <p:cNvSpPr/>
          <p:nvPr/>
        </p:nvSpPr>
        <p:spPr>
          <a:xfrm>
            <a:off x="6537960" y="2258568"/>
            <a:ext cx="1188600" cy="5487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059669"/>
              </a:buClr>
              <a:buSzPts val="950"/>
              <a:buFont typeface="Calibri"/>
              <a:buNone/>
            </a:pPr>
            <a:r>
              <a:rPr lang="en" sz="950" b="0" i="0" u="none" strike="noStrike" cap="none">
                <a:solidFill>
                  <a:srgbClr val="059669"/>
                </a:solidFill>
                <a:sym typeface="Calibri"/>
              </a:rPr>
              <a:t>Always uses k tokens</a:t>
            </a:r>
            <a:endParaRPr sz="950" b="0" i="0" u="none" strike="noStrike" cap="none">
              <a:solidFill>
                <a:schemeClr val="dk1"/>
              </a:solidFill>
              <a:latin typeface="Calibri"/>
              <a:ea typeface="Calibri"/>
              <a:cs typeface="Calibri"/>
              <a:sym typeface="Calibri"/>
            </a:endParaRPr>
          </a:p>
        </p:txBody>
      </p:sp>
      <p:sp>
        <p:nvSpPr>
          <p:cNvPr id="2807" name="Google Shape;2807;p119"/>
          <p:cNvSpPr/>
          <p:nvPr/>
        </p:nvSpPr>
        <p:spPr>
          <a:xfrm>
            <a:off x="7772400" y="2258568"/>
            <a:ext cx="1170300" cy="5487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06B6D4"/>
              </a:buClr>
              <a:buSzPts val="950"/>
              <a:buFont typeface="Calibri"/>
              <a:buNone/>
            </a:pPr>
            <a:r>
              <a:rPr lang="en" sz="950" b="0" i="0" u="none" strike="noStrike" cap="none">
                <a:solidFill>
                  <a:srgbClr val="06B6D4"/>
                </a:solidFill>
                <a:sym typeface="Calibri"/>
              </a:rPr>
              <a:t>Restricts to fewer</a:t>
            </a:r>
            <a:endParaRPr sz="950" b="0" i="0" u="none" strike="noStrike" cap="none">
              <a:solidFill>
                <a:schemeClr val="dk1"/>
              </a:solidFill>
              <a:latin typeface="Calibri"/>
              <a:ea typeface="Calibri"/>
              <a:cs typeface="Calibri"/>
              <a:sym typeface="Calibri"/>
            </a:endParaRPr>
          </a:p>
        </p:txBody>
      </p:sp>
      <p:sp>
        <p:nvSpPr>
          <p:cNvPr id="2808" name="Google Shape;2808;p119"/>
          <p:cNvSpPr/>
          <p:nvPr/>
        </p:nvSpPr>
        <p:spPr>
          <a:xfrm>
            <a:off x="5486400" y="2852928"/>
            <a:ext cx="3474600" cy="548700"/>
          </a:xfrm>
          <a:prstGeom prst="rect">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9" name="Google Shape;2809;p119"/>
          <p:cNvSpPr/>
          <p:nvPr/>
        </p:nvSpPr>
        <p:spPr>
          <a:xfrm>
            <a:off x="5532120" y="2852928"/>
            <a:ext cx="960000" cy="5487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1E1B4B"/>
              </a:buClr>
              <a:buSzPts val="950"/>
              <a:buFont typeface="Calibri"/>
              <a:buNone/>
            </a:pPr>
            <a:r>
              <a:rPr lang="en" sz="950" b="1" i="0" u="none" strike="noStrike" cap="none">
                <a:solidFill>
                  <a:srgbClr val="1E1B4B"/>
                </a:solidFill>
                <a:sym typeface="Calibri"/>
              </a:rPr>
              <a:t>High confidence</a:t>
            </a:r>
            <a:endParaRPr sz="950" b="0" i="0" u="none" strike="noStrike" cap="none">
              <a:solidFill>
                <a:schemeClr val="dk1"/>
              </a:solidFill>
              <a:latin typeface="Calibri"/>
              <a:ea typeface="Calibri"/>
              <a:cs typeface="Calibri"/>
              <a:sym typeface="Calibri"/>
            </a:endParaRPr>
          </a:p>
        </p:txBody>
      </p:sp>
      <p:sp>
        <p:nvSpPr>
          <p:cNvPr id="2810" name="Google Shape;2810;p119"/>
          <p:cNvSpPr/>
          <p:nvPr/>
        </p:nvSpPr>
        <p:spPr>
          <a:xfrm>
            <a:off x="6537960" y="2852928"/>
            <a:ext cx="1188600" cy="5487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059669"/>
              </a:buClr>
              <a:buSzPts val="950"/>
              <a:buFont typeface="Calibri"/>
              <a:buNone/>
            </a:pPr>
            <a:r>
              <a:rPr lang="en" sz="950" b="0" i="0" u="none" strike="noStrike" cap="none">
                <a:solidFill>
                  <a:srgbClr val="059669"/>
                </a:solidFill>
                <a:sym typeface="Calibri"/>
              </a:rPr>
              <a:t>May include garbage</a:t>
            </a:r>
            <a:endParaRPr sz="950" b="0" i="0" u="none" strike="noStrike" cap="none">
              <a:solidFill>
                <a:schemeClr val="dk1"/>
              </a:solidFill>
              <a:latin typeface="Calibri"/>
              <a:ea typeface="Calibri"/>
              <a:cs typeface="Calibri"/>
              <a:sym typeface="Calibri"/>
            </a:endParaRPr>
          </a:p>
        </p:txBody>
      </p:sp>
      <p:sp>
        <p:nvSpPr>
          <p:cNvPr id="2811" name="Google Shape;2811;p119"/>
          <p:cNvSpPr/>
          <p:nvPr/>
        </p:nvSpPr>
        <p:spPr>
          <a:xfrm>
            <a:off x="7772400" y="2852928"/>
            <a:ext cx="1170300" cy="5487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06B6D4"/>
              </a:buClr>
              <a:buSzPts val="950"/>
              <a:buFont typeface="Calibri"/>
              <a:buNone/>
            </a:pPr>
            <a:r>
              <a:rPr lang="en" sz="950" b="0" i="0" u="none" strike="noStrike" cap="none">
                <a:solidFill>
                  <a:srgbClr val="06B6D4"/>
                </a:solidFill>
                <a:sym typeface="Calibri"/>
              </a:rPr>
              <a:t>Stays focused</a:t>
            </a:r>
            <a:endParaRPr sz="950" b="0" i="0" u="none" strike="noStrike" cap="none">
              <a:solidFill>
                <a:schemeClr val="dk1"/>
              </a:solidFill>
              <a:latin typeface="Calibri"/>
              <a:ea typeface="Calibri"/>
              <a:cs typeface="Calibri"/>
              <a:sym typeface="Calibri"/>
            </a:endParaRPr>
          </a:p>
        </p:txBody>
      </p:sp>
      <p:sp>
        <p:nvSpPr>
          <p:cNvPr id="2812" name="Google Shape;2812;p119"/>
          <p:cNvSpPr/>
          <p:nvPr/>
        </p:nvSpPr>
        <p:spPr>
          <a:xfrm>
            <a:off x="5486400" y="3447288"/>
            <a:ext cx="3474600" cy="548700"/>
          </a:xfrm>
          <a:prstGeom prst="rect">
            <a:avLst/>
          </a:prstGeom>
          <a:solidFill>
            <a:srgbClr val="EEF2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3" name="Google Shape;2813;p119"/>
          <p:cNvSpPr/>
          <p:nvPr/>
        </p:nvSpPr>
        <p:spPr>
          <a:xfrm>
            <a:off x="5532120" y="3447288"/>
            <a:ext cx="960000" cy="5487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1E1B4B"/>
              </a:buClr>
              <a:buSzPts val="950"/>
              <a:buFont typeface="Calibri"/>
              <a:buNone/>
            </a:pPr>
            <a:r>
              <a:rPr lang="en" sz="950" b="1" i="0" u="none" strike="noStrike" cap="none">
                <a:solidFill>
                  <a:srgbClr val="1E1B4B"/>
                </a:solidFill>
                <a:sym typeface="Calibri"/>
              </a:rPr>
              <a:t>Typical value</a:t>
            </a:r>
            <a:endParaRPr sz="950" b="0" i="0" u="none" strike="noStrike" cap="none">
              <a:solidFill>
                <a:schemeClr val="dk1"/>
              </a:solidFill>
              <a:latin typeface="Calibri"/>
              <a:ea typeface="Calibri"/>
              <a:cs typeface="Calibri"/>
              <a:sym typeface="Calibri"/>
            </a:endParaRPr>
          </a:p>
        </p:txBody>
      </p:sp>
      <p:sp>
        <p:nvSpPr>
          <p:cNvPr id="2814" name="Google Shape;2814;p119"/>
          <p:cNvSpPr/>
          <p:nvPr/>
        </p:nvSpPr>
        <p:spPr>
          <a:xfrm>
            <a:off x="6537960" y="3447288"/>
            <a:ext cx="1188600" cy="5487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059669"/>
              </a:buClr>
              <a:buSzPts val="950"/>
              <a:buFont typeface="Calibri"/>
              <a:buNone/>
            </a:pPr>
            <a:r>
              <a:rPr lang="en" sz="950" b="0" i="0" u="none" strike="noStrike" cap="none">
                <a:solidFill>
                  <a:srgbClr val="059669"/>
                </a:solidFill>
                <a:sym typeface="Calibri"/>
              </a:rPr>
              <a:t>k = 40–50</a:t>
            </a:r>
            <a:endParaRPr sz="950" b="0" i="0" u="none" strike="noStrike" cap="none">
              <a:solidFill>
                <a:schemeClr val="dk1"/>
              </a:solidFill>
              <a:latin typeface="Calibri"/>
              <a:ea typeface="Calibri"/>
              <a:cs typeface="Calibri"/>
              <a:sym typeface="Calibri"/>
            </a:endParaRPr>
          </a:p>
        </p:txBody>
      </p:sp>
      <p:sp>
        <p:nvSpPr>
          <p:cNvPr id="2815" name="Google Shape;2815;p119"/>
          <p:cNvSpPr/>
          <p:nvPr/>
        </p:nvSpPr>
        <p:spPr>
          <a:xfrm>
            <a:off x="7772400" y="3447288"/>
            <a:ext cx="1170300" cy="5487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06B6D4"/>
              </a:buClr>
              <a:buSzPts val="950"/>
              <a:buFont typeface="Calibri"/>
              <a:buNone/>
            </a:pPr>
            <a:r>
              <a:rPr lang="en" sz="950" b="0" i="0" u="none" strike="noStrike" cap="none">
                <a:solidFill>
                  <a:srgbClr val="06B6D4"/>
                </a:solidFill>
                <a:sym typeface="Calibri"/>
              </a:rPr>
              <a:t>p = 0.9–0.95</a:t>
            </a:r>
            <a:endParaRPr sz="950" b="0" i="0" u="none" strike="noStrike" cap="none">
              <a:solidFill>
                <a:schemeClr val="dk1"/>
              </a:solidFill>
              <a:latin typeface="Calibri"/>
              <a:ea typeface="Calibri"/>
              <a:cs typeface="Calibri"/>
              <a:sym typeface="Calibri"/>
            </a:endParaRPr>
          </a:p>
        </p:txBody>
      </p:sp>
      <p:pic>
        <p:nvPicPr>
          <p:cNvPr id="2816" name="Google Shape;2816;p119"/>
          <p:cNvPicPr preferRelativeResize="0"/>
          <p:nvPr/>
        </p:nvPicPr>
        <p:blipFill>
          <a:blip r:embed="rId3">
            <a:alphaModFix/>
          </a:blip>
          <a:stretch>
            <a:fillRect/>
          </a:stretch>
        </p:blipFill>
        <p:spPr>
          <a:xfrm>
            <a:off x="8369125" y="0"/>
            <a:ext cx="774877" cy="867174"/>
          </a:xfrm>
          <a:prstGeom prst="rect">
            <a:avLst/>
          </a:prstGeom>
          <a:noFill/>
          <a:ln>
            <a:noFill/>
          </a:ln>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home/claude/work/logo.png"/>
          <p:cNvPicPr>
            <a:picLocks noChangeAspect="1"/>
          </p:cNvPicPr>
          <p:nvPr/>
        </p:nvPicPr>
        <p:blipFill>
          <a:blip r:embed="rId3"/>
          <a:stretch>
            <a:fillRect/>
          </a:stretch>
        </p:blipFill>
        <p:spPr>
          <a:xfrm>
            <a:off x="8366760" y="0"/>
            <a:ext cx="774497" cy="866851"/>
          </a:xfrm>
          <a:prstGeom prst="rect">
            <a:avLst/>
          </a:prstGeom>
        </p:spPr>
      </p:pic>
      <p:sp>
        <p:nvSpPr>
          <p:cNvPr id="3" name="Text 0"/>
          <p:cNvSpPr txBox="1"/>
          <p:nvPr/>
        </p:nvSpPr>
        <p:spPr>
          <a:xfrm>
            <a:off x="365760" y="256032"/>
            <a:ext cx="7772400" cy="457200"/>
          </a:xfrm>
          <a:prstGeom prst="rect">
            <a:avLst/>
          </a:prstGeom>
          <a:noFill/>
          <a:ln/>
        </p:spPr>
        <p:txBody>
          <a:bodyPr wrap="square" lIns="0" tIns="0" rIns="0" bIns="0" rtlCol="0" anchor="ctr"/>
          <a:lstStyle/>
          <a:p>
            <a:pPr marL="0" indent="0">
              <a:buNone/>
            </a:pPr>
            <a:r>
              <a:rPr lang="en-US" sz="2500" b="1" dirty="0">
                <a:solidFill>
                  <a:srgbClr val="1E2761"/>
                </a:solidFill>
                <a:latin typeface="Calibri" pitchFamily="34" charset="0"/>
                <a:ea typeface="Calibri" pitchFamily="34" charset="-122"/>
                <a:cs typeface="Calibri" pitchFamily="34" charset="-120"/>
              </a:rPr>
              <a:t>🎯  Top-p (Nucleus) Sampling in Practice</a:t>
            </a:r>
            <a:endParaRPr lang="en-US" sz="2500" dirty="0"/>
          </a:p>
        </p:txBody>
      </p:sp>
      <p:sp>
        <p:nvSpPr>
          <p:cNvPr id="4" name="Text 1"/>
          <p:cNvSpPr txBox="1"/>
          <p:nvPr/>
        </p:nvSpPr>
        <p:spPr>
          <a:xfrm>
            <a:off x="365760" y="676656"/>
            <a:ext cx="7863840" cy="292608"/>
          </a:xfrm>
          <a:prstGeom prst="rect">
            <a:avLst/>
          </a:prstGeom>
          <a:noFill/>
          <a:ln/>
        </p:spPr>
        <p:txBody>
          <a:bodyPr wrap="square" lIns="0" tIns="0" rIns="0" bIns="0" rtlCol="0" anchor="ctr"/>
          <a:lstStyle/>
          <a:p>
            <a:pPr marL="0" indent="0">
              <a:buNone/>
            </a:pPr>
            <a:r>
              <a:rPr lang="en-US" sz="1250" i="1" dirty="0">
                <a:solidFill>
                  <a:srgbClr val="6B7280"/>
                </a:solidFill>
                <a:latin typeface="Calibri" pitchFamily="34" charset="0"/>
                <a:ea typeface="Calibri" pitchFamily="34" charset="-122"/>
                <a:cs typeface="Calibri" pitchFamily="34" charset="-120"/>
              </a:rPr>
              <a:t>temperature=0.8, n=3 completions per call </a:t>
            </a:r>
            <a:endParaRPr lang="en-US" sz="1250" dirty="0"/>
          </a:p>
        </p:txBody>
      </p:sp>
      <p:sp>
        <p:nvSpPr>
          <p:cNvPr id="5" name="Shape 2"/>
          <p:cNvSpPr/>
          <p:nvPr/>
        </p:nvSpPr>
        <p:spPr>
          <a:xfrm>
            <a:off x="365760" y="1078992"/>
            <a:ext cx="3246120" cy="3703320"/>
          </a:xfrm>
          <a:prstGeom prst="roundRect">
            <a:avLst>
              <a:gd name="adj" fmla="val 2254"/>
            </a:avLst>
          </a:prstGeom>
          <a:solidFill>
            <a:srgbClr val="1A1F36"/>
          </a:solidFill>
          <a:ln/>
          <a:effectLst>
            <a:outerShdw blurRad="76200" dist="25400" dir="5400000" algn="bl" rotWithShape="0">
              <a:srgbClr val="000000">
                <a:alpha val="25000"/>
              </a:srgbClr>
            </a:outerShdw>
          </a:effectLst>
        </p:spPr>
        <p:txBody>
          <a:bodyPr/>
          <a:lstStyle/>
          <a:p>
            <a:endParaRPr lang="en-IN"/>
          </a:p>
        </p:txBody>
      </p:sp>
      <p:sp>
        <p:nvSpPr>
          <p:cNvPr id="6" name="Text 3"/>
          <p:cNvSpPr txBox="1"/>
          <p:nvPr/>
        </p:nvSpPr>
        <p:spPr>
          <a:xfrm>
            <a:off x="530352" y="1225296"/>
            <a:ext cx="2916936" cy="3429000"/>
          </a:xfrm>
          <a:prstGeom prst="rect">
            <a:avLst/>
          </a:prstGeom>
          <a:noFill/>
          <a:ln/>
        </p:spPr>
        <p:txBody>
          <a:bodyPr wrap="square" lIns="0" tIns="0" rIns="0" bIns="0" rtlCol="0" anchor="t"/>
          <a:lstStyle/>
          <a:p>
            <a:pPr marL="0" indent="0">
              <a:lnSpc>
                <a:spcPct val="112000"/>
              </a:lnSpc>
              <a:buNone/>
            </a:pPr>
            <a:r>
              <a:rPr lang="en-US" sz="930" dirty="0">
                <a:solidFill>
                  <a:srgbClr val="86EFAC"/>
                </a:solidFill>
                <a:latin typeface="Consolas" pitchFamily="34" charset="0"/>
                <a:ea typeface="Consolas" pitchFamily="34" charset="-122"/>
                <a:cs typeface="Consolas" pitchFamily="34" charset="-120"/>
              </a:rPr>
              <a:t>PROMPT = "Suggest one novel"</a:t>
            </a:r>
            <a:endParaRPr lang="en-US" sz="930" dirty="0"/>
          </a:p>
          <a:p>
            <a:pPr marL="0" indent="0">
              <a:lnSpc>
                <a:spcPct val="112000"/>
              </a:lnSpc>
              <a:buNone/>
            </a:pPr>
            <a:r>
              <a:rPr lang="en-US" sz="930" dirty="0">
                <a:solidFill>
                  <a:srgbClr val="86EFAC"/>
                </a:solidFill>
                <a:latin typeface="Consolas" pitchFamily="34" charset="0"/>
                <a:ea typeface="Consolas" pitchFamily="34" charset="-122"/>
                <a:cs typeface="Consolas" pitchFamily="34" charset="-120"/>
              </a:rPr>
              <a:t>          "research direction using LLMs.</a:t>
            </a:r>
            <a:endParaRPr lang="en-US" sz="930" dirty="0"/>
          </a:p>
          <a:p>
            <a:pPr marL="0" indent="0">
              <a:lnSpc>
                <a:spcPct val="112000"/>
              </a:lnSpc>
              <a:buNone/>
            </a:pPr>
            <a:r>
              <a:rPr lang="en-US" sz="930" dirty="0">
                <a:solidFill>
                  <a:srgbClr val="86EFAC"/>
                </a:solidFill>
                <a:latin typeface="Consolas" pitchFamily="34" charset="0"/>
                <a:ea typeface="Consolas" pitchFamily="34" charset="-122"/>
                <a:cs typeface="Consolas" pitchFamily="34" charset="-120"/>
              </a:rPr>
              <a:t>          Keep the answer under 80 words."</a:t>
            </a:r>
            <a:endParaRPr lang="en-US" sz="930" dirty="0"/>
          </a:p>
          <a:p>
            <a:pPr marL="0" indent="0">
              <a:lnSpc>
                <a:spcPct val="112000"/>
              </a:lnSpc>
              <a:buNone/>
            </a:pPr>
            <a:r>
              <a:rPr lang="en-US" sz="930" dirty="0">
                <a:solidFill>
                  <a:srgbClr val="E2E8F0"/>
                </a:solidFill>
                <a:latin typeface="Consolas" pitchFamily="34" charset="0"/>
                <a:ea typeface="Consolas" pitchFamily="34" charset="-122"/>
                <a:cs typeface="Consolas" pitchFamily="34" charset="-120"/>
              </a:rPr>
              <a:t> </a:t>
            </a:r>
            <a:endParaRPr lang="en-US" sz="930" dirty="0"/>
          </a:p>
          <a:p>
            <a:pPr marL="0" indent="0">
              <a:lnSpc>
                <a:spcPct val="112000"/>
              </a:lnSpc>
              <a:buNone/>
            </a:pPr>
            <a:r>
              <a:rPr lang="en-US" sz="930" dirty="0">
                <a:solidFill>
                  <a:srgbClr val="7DD3FC"/>
                </a:solidFill>
                <a:latin typeface="Consolas" pitchFamily="34" charset="0"/>
                <a:ea typeface="Consolas" pitchFamily="34" charset="-122"/>
                <a:cs typeface="Consolas" pitchFamily="34" charset="-120"/>
              </a:rPr>
              <a:t>for p in [0.3, 1.0]:</a:t>
            </a:r>
            <a:endParaRPr lang="en-US" sz="930" dirty="0"/>
          </a:p>
          <a:p>
            <a:pPr marL="0" indent="0">
              <a:lnSpc>
                <a:spcPct val="112000"/>
              </a:lnSpc>
              <a:buNone/>
            </a:pPr>
            <a:r>
              <a:rPr lang="en-US" sz="930" dirty="0">
                <a:solidFill>
                  <a:srgbClr val="E2E8F0"/>
                </a:solidFill>
                <a:latin typeface="Consolas" pitchFamily="34" charset="0"/>
                <a:ea typeface="Consolas" pitchFamily="34" charset="-122"/>
                <a:cs typeface="Consolas" pitchFamily="34" charset="-120"/>
              </a:rPr>
              <a:t>  response = client.chat.completions</a:t>
            </a:r>
            <a:endParaRPr lang="en-US" sz="930" dirty="0"/>
          </a:p>
          <a:p>
            <a:pPr marL="0" indent="0">
              <a:lnSpc>
                <a:spcPct val="112000"/>
              </a:lnSpc>
              <a:buNone/>
            </a:pPr>
            <a:r>
              <a:rPr lang="en-US" sz="930" dirty="0">
                <a:solidFill>
                  <a:srgbClr val="E2E8F0"/>
                </a:solidFill>
                <a:latin typeface="Consolas" pitchFamily="34" charset="0"/>
                <a:ea typeface="Consolas" pitchFamily="34" charset="-122"/>
                <a:cs typeface="Consolas" pitchFamily="34" charset="-120"/>
              </a:rPr>
              <a:t>    .create(</a:t>
            </a:r>
            <a:endParaRPr lang="en-US" sz="930" dirty="0"/>
          </a:p>
          <a:p>
            <a:pPr marL="0" indent="0">
              <a:lnSpc>
                <a:spcPct val="112000"/>
              </a:lnSpc>
              <a:buNone/>
            </a:pPr>
            <a:r>
              <a:rPr lang="en-US" sz="930" dirty="0">
                <a:solidFill>
                  <a:srgbClr val="E2E8F0"/>
                </a:solidFill>
                <a:latin typeface="Consolas" pitchFamily="34" charset="0"/>
                <a:ea typeface="Consolas" pitchFamily="34" charset="-122"/>
                <a:cs typeface="Consolas" pitchFamily="34" charset="-120"/>
              </a:rPr>
              <a:t>      model=MODEL,</a:t>
            </a:r>
            <a:endParaRPr lang="en-US" sz="930" dirty="0"/>
          </a:p>
          <a:p>
            <a:pPr marL="0" indent="0">
              <a:lnSpc>
                <a:spcPct val="112000"/>
              </a:lnSpc>
              <a:buNone/>
            </a:pPr>
            <a:r>
              <a:rPr lang="en-US" sz="930" dirty="0">
                <a:solidFill>
                  <a:srgbClr val="E2E8F0"/>
                </a:solidFill>
                <a:latin typeface="Consolas" pitchFamily="34" charset="0"/>
                <a:ea typeface="Consolas" pitchFamily="34" charset="-122"/>
                <a:cs typeface="Consolas" pitchFamily="34" charset="-120"/>
              </a:rPr>
              <a:t>      messages=[{"role": "user",</a:t>
            </a:r>
            <a:endParaRPr lang="en-US" sz="930" dirty="0"/>
          </a:p>
          <a:p>
            <a:pPr marL="0" indent="0">
              <a:lnSpc>
                <a:spcPct val="112000"/>
              </a:lnSpc>
              <a:buNone/>
            </a:pPr>
            <a:r>
              <a:rPr lang="en-US" sz="930" dirty="0">
                <a:solidFill>
                  <a:srgbClr val="E2E8F0"/>
                </a:solidFill>
                <a:latin typeface="Consolas" pitchFamily="34" charset="0"/>
                <a:ea typeface="Consolas" pitchFamily="34" charset="-122"/>
                <a:cs typeface="Consolas" pitchFamily="34" charset="-120"/>
              </a:rPr>
              <a:t>                  "content": PROMPT}],</a:t>
            </a:r>
            <a:endParaRPr lang="en-US" sz="930" dirty="0"/>
          </a:p>
          <a:p>
            <a:pPr marL="0" indent="0">
              <a:lnSpc>
                <a:spcPct val="112000"/>
              </a:lnSpc>
              <a:buNone/>
            </a:pPr>
            <a:r>
              <a:rPr lang="en-US" sz="930" dirty="0">
                <a:solidFill>
                  <a:srgbClr val="E2E8F0"/>
                </a:solidFill>
                <a:latin typeface="Consolas" pitchFamily="34" charset="0"/>
                <a:ea typeface="Consolas" pitchFamily="34" charset="-122"/>
                <a:cs typeface="Consolas" pitchFamily="34" charset="-120"/>
              </a:rPr>
              <a:t>      temperature=0.8,</a:t>
            </a:r>
            <a:endParaRPr lang="en-US" sz="930" dirty="0"/>
          </a:p>
          <a:p>
            <a:pPr marL="0" indent="0">
              <a:lnSpc>
                <a:spcPct val="112000"/>
              </a:lnSpc>
              <a:buNone/>
            </a:pPr>
            <a:r>
              <a:rPr lang="en-US" sz="930" b="1" dirty="0">
                <a:solidFill>
                  <a:srgbClr val="FDE68A"/>
                </a:solidFill>
                <a:latin typeface="Consolas" pitchFamily="34" charset="0"/>
                <a:ea typeface="Consolas" pitchFamily="34" charset="-122"/>
                <a:cs typeface="Consolas" pitchFamily="34" charset="-120"/>
              </a:rPr>
              <a:t>      top_p=p,</a:t>
            </a:r>
            <a:endParaRPr lang="en-US" sz="930" dirty="0"/>
          </a:p>
          <a:p>
            <a:pPr marL="0" indent="0">
              <a:lnSpc>
                <a:spcPct val="112000"/>
              </a:lnSpc>
              <a:buNone/>
            </a:pPr>
            <a:r>
              <a:rPr lang="en-US" sz="930" dirty="0">
                <a:solidFill>
                  <a:srgbClr val="94A3B8"/>
                </a:solidFill>
                <a:latin typeface="Consolas" pitchFamily="34" charset="0"/>
                <a:ea typeface="Consolas" pitchFamily="34" charset="-122"/>
                <a:cs typeface="Consolas" pitchFamily="34" charset="-120"/>
              </a:rPr>
              <a:t>      n=3,      # 3 completions</a:t>
            </a:r>
            <a:endParaRPr lang="en-US" sz="930" dirty="0"/>
          </a:p>
          <a:p>
            <a:pPr marL="0" indent="0">
              <a:lnSpc>
                <a:spcPct val="112000"/>
              </a:lnSpc>
              <a:buNone/>
            </a:pPr>
            <a:r>
              <a:rPr lang="en-US" sz="930" dirty="0">
                <a:solidFill>
                  <a:srgbClr val="E2E8F0"/>
                </a:solidFill>
                <a:latin typeface="Consolas" pitchFamily="34" charset="0"/>
                <a:ea typeface="Consolas" pitchFamily="34" charset="-122"/>
                <a:cs typeface="Consolas" pitchFamily="34" charset="-120"/>
              </a:rPr>
              <a:t>      max_tokens=150</a:t>
            </a:r>
            <a:endParaRPr lang="en-US" sz="930" dirty="0"/>
          </a:p>
          <a:p>
            <a:pPr marL="0" indent="0">
              <a:lnSpc>
                <a:spcPct val="112000"/>
              </a:lnSpc>
              <a:buNone/>
            </a:pPr>
            <a:r>
              <a:rPr lang="en-US" sz="930" dirty="0">
                <a:solidFill>
                  <a:srgbClr val="E2E8F0"/>
                </a:solidFill>
                <a:latin typeface="Consolas" pitchFamily="34" charset="0"/>
                <a:ea typeface="Consolas" pitchFamily="34" charset="-122"/>
                <a:cs typeface="Consolas" pitchFamily="34" charset="-120"/>
              </a:rPr>
              <a:t>  )</a:t>
            </a:r>
            <a:endParaRPr lang="en-US" sz="930" dirty="0"/>
          </a:p>
          <a:p>
            <a:pPr marL="0" indent="0">
              <a:lnSpc>
                <a:spcPct val="112000"/>
              </a:lnSpc>
              <a:buNone/>
            </a:pPr>
            <a:r>
              <a:rPr lang="en-US" sz="930" dirty="0">
                <a:solidFill>
                  <a:srgbClr val="E2E8F0"/>
                </a:solidFill>
                <a:latin typeface="Consolas" pitchFamily="34" charset="0"/>
                <a:ea typeface="Consolas" pitchFamily="34" charset="-122"/>
                <a:cs typeface="Consolas" pitchFamily="34" charset="-120"/>
              </a:rPr>
              <a:t> </a:t>
            </a:r>
            <a:endParaRPr lang="en-US" sz="930" dirty="0"/>
          </a:p>
          <a:p>
            <a:pPr marL="0" indent="0">
              <a:lnSpc>
                <a:spcPct val="112000"/>
              </a:lnSpc>
              <a:buNone/>
            </a:pPr>
            <a:r>
              <a:rPr lang="en-US" sz="930" dirty="0">
                <a:solidFill>
                  <a:srgbClr val="E2E8F0"/>
                </a:solidFill>
                <a:latin typeface="Consolas" pitchFamily="34" charset="0"/>
                <a:ea typeface="Consolas" pitchFamily="34" charset="-122"/>
                <a:cs typeface="Consolas" pitchFamily="34" charset="-120"/>
              </a:rPr>
              <a:t>  for choice in response.choices:</a:t>
            </a:r>
            <a:endParaRPr lang="en-US" sz="930" dirty="0"/>
          </a:p>
          <a:p>
            <a:pPr marL="0" indent="0">
              <a:lnSpc>
                <a:spcPct val="112000"/>
              </a:lnSpc>
              <a:buNone/>
            </a:pPr>
            <a:r>
              <a:rPr lang="en-US" sz="930" dirty="0">
                <a:solidFill>
                  <a:srgbClr val="E2E8F0"/>
                </a:solidFill>
                <a:latin typeface="Consolas" pitchFamily="34" charset="0"/>
                <a:ea typeface="Consolas" pitchFamily="34" charset="-122"/>
                <a:cs typeface="Consolas" pitchFamily="34" charset="-120"/>
              </a:rPr>
              <a:t>    print(choice.message.content)</a:t>
            </a:r>
            <a:endParaRPr lang="en-US" sz="930" dirty="0"/>
          </a:p>
        </p:txBody>
      </p:sp>
      <p:sp>
        <p:nvSpPr>
          <p:cNvPr id="7" name="Shape 4"/>
          <p:cNvSpPr/>
          <p:nvPr/>
        </p:nvSpPr>
        <p:spPr>
          <a:xfrm>
            <a:off x="3794760" y="1078992"/>
            <a:ext cx="2514600" cy="566928"/>
          </a:xfrm>
          <a:prstGeom prst="roundRect">
            <a:avLst>
              <a:gd name="adj" fmla="val 9677"/>
            </a:avLst>
          </a:prstGeom>
          <a:solidFill>
            <a:srgbClr val="1D4ED8"/>
          </a:solidFill>
          <a:ln/>
        </p:spPr>
        <p:txBody>
          <a:bodyPr/>
          <a:lstStyle/>
          <a:p>
            <a:endParaRPr lang="en-IN"/>
          </a:p>
        </p:txBody>
      </p:sp>
      <p:sp>
        <p:nvSpPr>
          <p:cNvPr id="8" name="Text 5"/>
          <p:cNvSpPr txBox="1"/>
          <p:nvPr/>
        </p:nvSpPr>
        <p:spPr>
          <a:xfrm>
            <a:off x="3794760" y="1124712"/>
            <a:ext cx="2514600" cy="27432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top_p = 0.3</a:t>
            </a:r>
            <a:endParaRPr lang="en-US" sz="1400" dirty="0"/>
          </a:p>
        </p:txBody>
      </p:sp>
      <p:sp>
        <p:nvSpPr>
          <p:cNvPr id="9" name="Text 6"/>
          <p:cNvSpPr txBox="1"/>
          <p:nvPr/>
        </p:nvSpPr>
        <p:spPr>
          <a:xfrm>
            <a:off x="3794760" y="1389888"/>
            <a:ext cx="2514600" cy="219456"/>
          </a:xfrm>
          <a:prstGeom prst="rect">
            <a:avLst/>
          </a:prstGeom>
          <a:noFill/>
          <a:ln/>
        </p:spPr>
        <p:txBody>
          <a:bodyPr wrap="square" lIns="0" tIns="0" rIns="0" bIns="0" rtlCol="0" anchor="ctr"/>
          <a:lstStyle/>
          <a:p>
            <a:pPr marL="0" indent="0" algn="ctr">
              <a:buNone/>
            </a:pPr>
            <a:r>
              <a:rPr lang="en-US" sz="850" dirty="0">
                <a:solidFill>
                  <a:srgbClr val="FFFFFF"/>
                </a:solidFill>
                <a:latin typeface="Calibri" pitchFamily="34" charset="0"/>
                <a:ea typeface="Calibri" pitchFamily="34" charset="-122"/>
                <a:cs typeface="Calibri" pitchFamily="34" charset="-120"/>
              </a:rPr>
              <a:t>Narrow candidate pool</a:t>
            </a:r>
            <a:endParaRPr lang="en-US" sz="850" dirty="0"/>
          </a:p>
        </p:txBody>
      </p:sp>
      <p:sp>
        <p:nvSpPr>
          <p:cNvPr id="10" name="Shape 7"/>
          <p:cNvSpPr/>
          <p:nvPr/>
        </p:nvSpPr>
        <p:spPr>
          <a:xfrm>
            <a:off x="3794760" y="1755648"/>
            <a:ext cx="2514600" cy="1342545"/>
          </a:xfrm>
          <a:prstGeom prst="roundRect">
            <a:avLst>
              <a:gd name="adj" fmla="val 4087"/>
            </a:avLst>
          </a:prstGeom>
          <a:solidFill>
            <a:srgbClr val="EEF2FF"/>
          </a:solidFill>
          <a:ln w="9525">
            <a:solidFill>
              <a:srgbClr val="1D4ED8"/>
            </a:solidFill>
            <a:prstDash val="solid"/>
          </a:ln>
        </p:spPr>
        <p:txBody>
          <a:bodyPr/>
          <a:lstStyle/>
          <a:p>
            <a:endParaRPr lang="en-IN"/>
          </a:p>
        </p:txBody>
      </p:sp>
      <p:sp>
        <p:nvSpPr>
          <p:cNvPr id="11" name="Text 8"/>
          <p:cNvSpPr txBox="1"/>
          <p:nvPr/>
        </p:nvSpPr>
        <p:spPr>
          <a:xfrm>
            <a:off x="3886200" y="1801368"/>
            <a:ext cx="2331720" cy="1251105"/>
          </a:xfrm>
          <a:prstGeom prst="rect">
            <a:avLst/>
          </a:prstGeom>
          <a:noFill/>
          <a:ln/>
        </p:spPr>
        <p:txBody>
          <a:bodyPr wrap="square" lIns="0" tIns="0" rIns="0" bIns="0" rtlCol="0" anchor="t"/>
          <a:lstStyle/>
          <a:p>
            <a:pPr marL="0" indent="0">
              <a:lnSpc>
                <a:spcPct val="103000"/>
              </a:lnSpc>
              <a:buNone/>
            </a:pPr>
            <a:r>
              <a:rPr lang="en-US" sz="850" b="1" dirty="0">
                <a:solidFill>
                  <a:srgbClr val="1D4ED8"/>
                </a:solidFill>
                <a:latin typeface="Calibri" pitchFamily="34" charset="0"/>
                <a:ea typeface="Calibri" pitchFamily="34" charset="-122"/>
                <a:cs typeface="Calibri" pitchFamily="34" charset="-120"/>
              </a:rPr>
              <a:t>Choice 1 &amp; 2 (identical)
</a:t>
            </a:r>
            <a:endParaRPr lang="en-US" sz="850" dirty="0"/>
          </a:p>
          <a:p>
            <a:pPr marL="0" indent="0">
              <a:lnSpc>
                <a:spcPct val="103000"/>
              </a:lnSpc>
              <a:buNone/>
            </a:pPr>
            <a:r>
              <a:rPr lang="en-US" sz="870" dirty="0">
                <a:solidFill>
                  <a:srgbClr val="1A1F36"/>
                </a:solidFill>
                <a:latin typeface="Calibri" pitchFamily="34" charset="0"/>
                <a:ea typeface="Calibri" pitchFamily="34" charset="-122"/>
                <a:cs typeface="Calibri" pitchFamily="34" charset="-120"/>
              </a:rPr>
              <a:t>Explore using Large Language Models to generate and optimize personalized learning paths for individual students based on their performance and interests, integrating real-time feedback and adaptive content delivery systems.</a:t>
            </a:r>
            <a:endParaRPr lang="en-US" sz="850" dirty="0"/>
          </a:p>
        </p:txBody>
      </p:sp>
      <p:sp>
        <p:nvSpPr>
          <p:cNvPr id="12" name="Shape 9"/>
          <p:cNvSpPr/>
          <p:nvPr/>
        </p:nvSpPr>
        <p:spPr>
          <a:xfrm>
            <a:off x="3794760" y="3207921"/>
            <a:ext cx="2514600" cy="1574391"/>
          </a:xfrm>
          <a:prstGeom prst="roundRect">
            <a:avLst>
              <a:gd name="adj" fmla="val 3485"/>
            </a:avLst>
          </a:prstGeom>
          <a:solidFill>
            <a:srgbClr val="EEF2FF"/>
          </a:solidFill>
          <a:ln w="9525">
            <a:solidFill>
              <a:srgbClr val="1D4ED8"/>
            </a:solidFill>
            <a:prstDash val="solid"/>
          </a:ln>
        </p:spPr>
        <p:txBody>
          <a:bodyPr/>
          <a:lstStyle/>
          <a:p>
            <a:endParaRPr lang="en-IN"/>
          </a:p>
        </p:txBody>
      </p:sp>
      <p:sp>
        <p:nvSpPr>
          <p:cNvPr id="13" name="Text 10"/>
          <p:cNvSpPr txBox="1"/>
          <p:nvPr/>
        </p:nvSpPr>
        <p:spPr>
          <a:xfrm>
            <a:off x="3886200" y="3253641"/>
            <a:ext cx="2331720" cy="1482951"/>
          </a:xfrm>
          <a:prstGeom prst="rect">
            <a:avLst/>
          </a:prstGeom>
          <a:noFill/>
          <a:ln/>
        </p:spPr>
        <p:txBody>
          <a:bodyPr wrap="square" lIns="0" tIns="0" rIns="0" bIns="0" rtlCol="0" anchor="t"/>
          <a:lstStyle/>
          <a:p>
            <a:pPr marL="0" indent="0">
              <a:lnSpc>
                <a:spcPct val="103000"/>
              </a:lnSpc>
              <a:buNone/>
            </a:pPr>
            <a:r>
              <a:rPr lang="en-US" sz="850" b="1" dirty="0">
                <a:solidFill>
                  <a:srgbClr val="1D4ED8"/>
                </a:solidFill>
                <a:latin typeface="Calibri" pitchFamily="34" charset="0"/>
                <a:ea typeface="Calibri" pitchFamily="34" charset="-122"/>
                <a:cs typeface="Calibri" pitchFamily="34" charset="-120"/>
              </a:rPr>
              <a:t>Choice 3
</a:t>
            </a:r>
            <a:endParaRPr lang="en-US" sz="850" dirty="0"/>
          </a:p>
          <a:p>
            <a:pPr marL="0" indent="0">
              <a:lnSpc>
                <a:spcPct val="103000"/>
              </a:lnSpc>
              <a:buNone/>
            </a:pPr>
            <a:r>
              <a:rPr lang="en-US" sz="870" dirty="0">
                <a:solidFill>
                  <a:srgbClr val="1A1F36"/>
                </a:solidFill>
                <a:latin typeface="Calibri" pitchFamily="34" charset="0"/>
                <a:ea typeface="Calibri" pitchFamily="34" charset="-122"/>
                <a:cs typeface="Calibri" pitchFamily="34" charset="-120"/>
              </a:rPr>
              <a:t>Explore using Large Language Models to generate and optimize complex scientific simulations and models across various disciplines, potentially accelerating discovery processes and enhancing predictive capabilities in fields like climate science, biology, and physics.</a:t>
            </a:r>
            <a:endParaRPr lang="en-US" sz="850" dirty="0"/>
          </a:p>
        </p:txBody>
      </p:sp>
      <p:sp>
        <p:nvSpPr>
          <p:cNvPr id="14" name="Shape 11"/>
          <p:cNvSpPr/>
          <p:nvPr/>
        </p:nvSpPr>
        <p:spPr>
          <a:xfrm>
            <a:off x="6419088" y="1078992"/>
            <a:ext cx="2450592" cy="566928"/>
          </a:xfrm>
          <a:prstGeom prst="roundRect">
            <a:avLst>
              <a:gd name="adj" fmla="val 9677"/>
            </a:avLst>
          </a:prstGeom>
          <a:solidFill>
            <a:srgbClr val="EA580C"/>
          </a:solidFill>
          <a:ln/>
        </p:spPr>
        <p:txBody>
          <a:bodyPr/>
          <a:lstStyle/>
          <a:p>
            <a:endParaRPr lang="en-IN"/>
          </a:p>
        </p:txBody>
      </p:sp>
      <p:sp>
        <p:nvSpPr>
          <p:cNvPr id="15" name="Text 12"/>
          <p:cNvSpPr txBox="1"/>
          <p:nvPr/>
        </p:nvSpPr>
        <p:spPr>
          <a:xfrm>
            <a:off x="6419088" y="1124712"/>
            <a:ext cx="2450592" cy="27432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top_p = 1.0</a:t>
            </a:r>
            <a:endParaRPr lang="en-US" sz="1400" dirty="0"/>
          </a:p>
        </p:txBody>
      </p:sp>
      <p:sp>
        <p:nvSpPr>
          <p:cNvPr id="16" name="Text 13"/>
          <p:cNvSpPr txBox="1"/>
          <p:nvPr/>
        </p:nvSpPr>
        <p:spPr>
          <a:xfrm>
            <a:off x="6419088" y="1389888"/>
            <a:ext cx="2450592" cy="219456"/>
          </a:xfrm>
          <a:prstGeom prst="rect">
            <a:avLst/>
          </a:prstGeom>
          <a:noFill/>
          <a:ln/>
        </p:spPr>
        <p:txBody>
          <a:bodyPr wrap="square" lIns="0" tIns="0" rIns="0" bIns="0" rtlCol="0" anchor="ctr"/>
          <a:lstStyle/>
          <a:p>
            <a:pPr marL="0" indent="0" algn="ctr">
              <a:buNone/>
            </a:pPr>
            <a:r>
              <a:rPr lang="en-US" sz="850" dirty="0">
                <a:solidFill>
                  <a:srgbClr val="FFFFFF"/>
                </a:solidFill>
                <a:latin typeface="Calibri" pitchFamily="34" charset="0"/>
                <a:ea typeface="Calibri" pitchFamily="34" charset="-122"/>
                <a:cs typeface="Calibri" pitchFamily="34" charset="-120"/>
              </a:rPr>
              <a:t>Broadest candidate pool</a:t>
            </a:r>
            <a:endParaRPr lang="en-US" sz="850" dirty="0"/>
          </a:p>
        </p:txBody>
      </p:sp>
      <p:sp>
        <p:nvSpPr>
          <p:cNvPr id="17" name="Shape 14"/>
          <p:cNvSpPr/>
          <p:nvPr/>
        </p:nvSpPr>
        <p:spPr>
          <a:xfrm>
            <a:off x="6419088" y="1755648"/>
            <a:ext cx="2450592" cy="952181"/>
          </a:xfrm>
          <a:prstGeom prst="roundRect">
            <a:avLst>
              <a:gd name="adj" fmla="val 5762"/>
            </a:avLst>
          </a:prstGeom>
          <a:solidFill>
            <a:srgbClr val="FFF7ED"/>
          </a:solidFill>
          <a:ln w="9525">
            <a:solidFill>
              <a:srgbClr val="EA580C"/>
            </a:solidFill>
            <a:prstDash val="solid"/>
          </a:ln>
        </p:spPr>
        <p:txBody>
          <a:bodyPr/>
          <a:lstStyle/>
          <a:p>
            <a:endParaRPr lang="en-IN"/>
          </a:p>
        </p:txBody>
      </p:sp>
      <p:sp>
        <p:nvSpPr>
          <p:cNvPr id="18" name="Text 15"/>
          <p:cNvSpPr txBox="1"/>
          <p:nvPr/>
        </p:nvSpPr>
        <p:spPr>
          <a:xfrm>
            <a:off x="6510528" y="1801368"/>
            <a:ext cx="2267712" cy="860741"/>
          </a:xfrm>
          <a:prstGeom prst="rect">
            <a:avLst/>
          </a:prstGeom>
          <a:noFill/>
          <a:ln/>
        </p:spPr>
        <p:txBody>
          <a:bodyPr wrap="square" lIns="0" tIns="0" rIns="0" bIns="0" rtlCol="0" anchor="t"/>
          <a:lstStyle/>
          <a:p>
            <a:pPr marL="0" indent="0">
              <a:lnSpc>
                <a:spcPct val="103000"/>
              </a:lnSpc>
              <a:buNone/>
            </a:pPr>
            <a:r>
              <a:rPr lang="en-US" sz="850" b="1" dirty="0">
                <a:solidFill>
                  <a:srgbClr val="EA580C"/>
                </a:solidFill>
                <a:latin typeface="Calibri" pitchFamily="34" charset="0"/>
                <a:ea typeface="Calibri" pitchFamily="34" charset="-122"/>
                <a:cs typeface="Calibri" pitchFamily="34" charset="-120"/>
              </a:rPr>
              <a:t>Choice 1
</a:t>
            </a:r>
            <a:endParaRPr lang="en-US" sz="850" dirty="0"/>
          </a:p>
          <a:p>
            <a:pPr marL="0" indent="0">
              <a:lnSpc>
                <a:spcPct val="103000"/>
              </a:lnSpc>
              <a:buNone/>
            </a:pPr>
            <a:r>
              <a:rPr lang="en-US" sz="870" dirty="0">
                <a:solidFill>
                  <a:srgbClr val="1A1F36"/>
                </a:solidFill>
                <a:latin typeface="Calibri" pitchFamily="34" charset="0"/>
                <a:ea typeface="Calibri" pitchFamily="34" charset="-122"/>
                <a:cs typeface="Calibri" pitchFamily="34" charset="-120"/>
              </a:rPr>
              <a:t>Developing LLMs to generate and optimize scientific hypotheses in real-time, enabling collaborative exploration across disciplines and accelerating research innovation.</a:t>
            </a:r>
            <a:endParaRPr lang="en-US" sz="850" dirty="0"/>
          </a:p>
        </p:txBody>
      </p:sp>
      <p:sp>
        <p:nvSpPr>
          <p:cNvPr id="19" name="Shape 16"/>
          <p:cNvSpPr/>
          <p:nvPr/>
        </p:nvSpPr>
        <p:spPr>
          <a:xfrm>
            <a:off x="6419088" y="2817557"/>
            <a:ext cx="2450592" cy="991650"/>
          </a:xfrm>
          <a:prstGeom prst="roundRect">
            <a:avLst>
              <a:gd name="adj" fmla="val 5533"/>
            </a:avLst>
          </a:prstGeom>
          <a:solidFill>
            <a:srgbClr val="FFF7ED"/>
          </a:solidFill>
          <a:ln w="9525">
            <a:solidFill>
              <a:srgbClr val="EA580C"/>
            </a:solidFill>
            <a:prstDash val="solid"/>
          </a:ln>
        </p:spPr>
        <p:txBody>
          <a:bodyPr/>
          <a:lstStyle/>
          <a:p>
            <a:endParaRPr lang="en-IN"/>
          </a:p>
        </p:txBody>
      </p:sp>
      <p:sp>
        <p:nvSpPr>
          <p:cNvPr id="20" name="Text 17"/>
          <p:cNvSpPr txBox="1"/>
          <p:nvPr/>
        </p:nvSpPr>
        <p:spPr>
          <a:xfrm>
            <a:off x="6510528" y="2863277"/>
            <a:ext cx="2267712" cy="900210"/>
          </a:xfrm>
          <a:prstGeom prst="rect">
            <a:avLst/>
          </a:prstGeom>
          <a:noFill/>
          <a:ln/>
        </p:spPr>
        <p:txBody>
          <a:bodyPr wrap="square" lIns="0" tIns="0" rIns="0" bIns="0" rtlCol="0" anchor="t"/>
          <a:lstStyle/>
          <a:p>
            <a:pPr marL="0" indent="0">
              <a:lnSpc>
                <a:spcPct val="103000"/>
              </a:lnSpc>
              <a:buNone/>
            </a:pPr>
            <a:r>
              <a:rPr lang="en-US" sz="850" b="1" dirty="0">
                <a:solidFill>
                  <a:srgbClr val="EA580C"/>
                </a:solidFill>
                <a:latin typeface="Calibri" pitchFamily="34" charset="0"/>
                <a:ea typeface="Calibri" pitchFamily="34" charset="-122"/>
                <a:cs typeface="Calibri" pitchFamily="34" charset="-120"/>
              </a:rPr>
              <a:t>Choice 2
</a:t>
            </a:r>
            <a:endParaRPr lang="en-US" sz="850" dirty="0"/>
          </a:p>
          <a:p>
            <a:pPr marL="0" indent="0">
              <a:lnSpc>
                <a:spcPct val="103000"/>
              </a:lnSpc>
              <a:buNone/>
            </a:pPr>
            <a:r>
              <a:rPr lang="en-US" sz="870" dirty="0">
                <a:solidFill>
                  <a:srgbClr val="1A1F36"/>
                </a:solidFill>
                <a:latin typeface="Calibri" pitchFamily="34" charset="0"/>
                <a:ea typeface="Calibri" pitchFamily="34" charset="-122"/>
                <a:cs typeface="Calibri" pitchFamily="34" charset="-120"/>
              </a:rPr>
              <a:t>Exploring LLMs to generate and optimize personalized educational content, adapting to individual learning styles and progress, opening new avenues in adaptive learning systems.</a:t>
            </a:r>
            <a:endParaRPr lang="en-US" sz="850" dirty="0"/>
          </a:p>
        </p:txBody>
      </p:sp>
      <p:sp>
        <p:nvSpPr>
          <p:cNvPr id="21" name="Shape 18"/>
          <p:cNvSpPr/>
          <p:nvPr/>
        </p:nvSpPr>
        <p:spPr>
          <a:xfrm>
            <a:off x="6419088" y="3918935"/>
            <a:ext cx="2450592" cy="863377"/>
          </a:xfrm>
          <a:prstGeom prst="roundRect">
            <a:avLst>
              <a:gd name="adj" fmla="val 6355"/>
            </a:avLst>
          </a:prstGeom>
          <a:solidFill>
            <a:srgbClr val="FFF7ED"/>
          </a:solidFill>
          <a:ln w="9525">
            <a:solidFill>
              <a:srgbClr val="EA580C"/>
            </a:solidFill>
            <a:prstDash val="solid"/>
          </a:ln>
        </p:spPr>
        <p:txBody>
          <a:bodyPr/>
          <a:lstStyle/>
          <a:p>
            <a:endParaRPr lang="en-IN"/>
          </a:p>
        </p:txBody>
      </p:sp>
      <p:sp>
        <p:nvSpPr>
          <p:cNvPr id="22" name="Text 19"/>
          <p:cNvSpPr txBox="1"/>
          <p:nvPr/>
        </p:nvSpPr>
        <p:spPr>
          <a:xfrm>
            <a:off x="6510528" y="3964655"/>
            <a:ext cx="2267712" cy="771937"/>
          </a:xfrm>
          <a:prstGeom prst="rect">
            <a:avLst/>
          </a:prstGeom>
          <a:noFill/>
          <a:ln/>
        </p:spPr>
        <p:txBody>
          <a:bodyPr wrap="square" lIns="0" tIns="0" rIns="0" bIns="0" rtlCol="0" anchor="t"/>
          <a:lstStyle/>
          <a:p>
            <a:pPr marL="0" indent="0">
              <a:lnSpc>
                <a:spcPct val="103000"/>
              </a:lnSpc>
              <a:buNone/>
            </a:pPr>
            <a:r>
              <a:rPr lang="en-US" sz="850" b="1" dirty="0">
                <a:solidFill>
                  <a:srgbClr val="EA580C"/>
                </a:solidFill>
                <a:latin typeface="Calibri" pitchFamily="34" charset="0"/>
                <a:ea typeface="Calibri" pitchFamily="34" charset="-122"/>
                <a:cs typeface="Calibri" pitchFamily="34" charset="-120"/>
              </a:rPr>
              <a:t>Choice 3
</a:t>
            </a:r>
            <a:endParaRPr lang="en-US" sz="850" dirty="0"/>
          </a:p>
          <a:p>
            <a:pPr marL="0" indent="0">
              <a:lnSpc>
                <a:spcPct val="103000"/>
              </a:lnSpc>
              <a:buNone/>
            </a:pPr>
            <a:r>
              <a:rPr lang="en-US" sz="870" dirty="0">
                <a:solidFill>
                  <a:srgbClr val="1A1F36"/>
                </a:solidFill>
                <a:latin typeface="Calibri" pitchFamily="34" charset="0"/>
                <a:ea typeface="Calibri" pitchFamily="34" charset="-122"/>
                <a:cs typeface="Calibri" pitchFamily="34" charset="-120"/>
              </a:rPr>
              <a:t>Explore LLMs for generative art creation, where they describe, generate, and narrate visual art pieces, opening new avenues in AI-assisted creativity.</a:t>
            </a:r>
            <a:endParaRPr lang="en-US" sz="850" dirty="0"/>
          </a:p>
        </p:txBody>
      </p:sp>
      <p:sp>
        <p:nvSpPr>
          <p:cNvPr id="23" name="Text 20"/>
          <p:cNvSpPr txBox="1"/>
          <p:nvPr/>
        </p:nvSpPr>
        <p:spPr>
          <a:xfrm>
            <a:off x="365760" y="4828032"/>
            <a:ext cx="8503920" cy="274320"/>
          </a:xfrm>
          <a:prstGeom prst="rect">
            <a:avLst/>
          </a:prstGeom>
          <a:noFill/>
          <a:ln/>
        </p:spPr>
        <p:txBody>
          <a:bodyPr wrap="square" lIns="0" tIns="0" rIns="0" bIns="0" rtlCol="0" anchor="ctr"/>
          <a:lstStyle/>
          <a:p>
            <a:pPr marL="0" indent="0">
              <a:buNone/>
            </a:pPr>
            <a:endParaRPr lang="en-US" sz="95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2821"/>
        <p:cNvGrpSpPr/>
        <p:nvPr/>
      </p:nvGrpSpPr>
      <p:grpSpPr>
        <a:xfrm>
          <a:off x="0" y="0"/>
          <a:ext cx="0" cy="0"/>
          <a:chOff x="0" y="0"/>
          <a:chExt cx="0" cy="0"/>
        </a:xfrm>
      </p:grpSpPr>
      <p:sp>
        <p:nvSpPr>
          <p:cNvPr id="2822" name="Google Shape;2822;p120"/>
          <p:cNvSpPr/>
          <p:nvPr/>
        </p:nvSpPr>
        <p:spPr>
          <a:xfrm>
            <a:off x="365760" y="0"/>
            <a:ext cx="8412600" cy="6402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FFFFFF"/>
              </a:buClr>
              <a:buSzPts val="2200"/>
              <a:buFont typeface="Calibri"/>
              <a:buNone/>
            </a:pPr>
            <a:r>
              <a:rPr lang="en" sz="2200" b="1" i="0" u="none" strike="noStrike" cap="none">
                <a:solidFill>
                  <a:srgbClr val="1E2761"/>
                </a:solidFill>
                <a:sym typeface="Calibri"/>
              </a:rPr>
              <a:t>🔁  Repetition Penalty &amp; Frequency Penalty</a:t>
            </a:r>
            <a:endParaRPr sz="2200" b="0" i="0" u="none" strike="noStrike" cap="none">
              <a:solidFill>
                <a:schemeClr val="dk1"/>
              </a:solidFill>
              <a:latin typeface="Calibri"/>
              <a:ea typeface="Calibri"/>
              <a:cs typeface="Calibri"/>
              <a:sym typeface="Calibri"/>
            </a:endParaRPr>
          </a:p>
        </p:txBody>
      </p:sp>
      <p:sp>
        <p:nvSpPr>
          <p:cNvPr id="2823" name="Google Shape;2823;p120"/>
          <p:cNvSpPr/>
          <p:nvPr/>
        </p:nvSpPr>
        <p:spPr>
          <a:xfrm>
            <a:off x="274320" y="749808"/>
            <a:ext cx="4206300" cy="4206300"/>
          </a:xfrm>
          <a:prstGeom prst="rect">
            <a:avLst/>
          </a:prstGeom>
          <a:solidFill>
            <a:srgbClr val="F8F9FF"/>
          </a:solidFill>
          <a:ln>
            <a:noFill/>
          </a:ln>
          <a:effectLst>
            <a:outerShdw blurRad="101600" dist="25400" dir="8100000" algn="bl" rotWithShape="0">
              <a:srgbClr val="000000">
                <a:alpha val="784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4" name="Google Shape;2824;p120"/>
          <p:cNvSpPr/>
          <p:nvPr/>
        </p:nvSpPr>
        <p:spPr>
          <a:xfrm>
            <a:off x="274320" y="749808"/>
            <a:ext cx="4206300" cy="438900"/>
          </a:xfrm>
          <a:prstGeom prst="rect">
            <a:avLst/>
          </a:prstGeom>
          <a:solidFill>
            <a:srgbClr val="7C3A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5" name="Google Shape;2825;p120"/>
          <p:cNvSpPr/>
          <p:nvPr/>
        </p:nvSpPr>
        <p:spPr>
          <a:xfrm>
            <a:off x="384048" y="749808"/>
            <a:ext cx="3986700" cy="4389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FFFFFF"/>
              </a:buClr>
              <a:buSzPts val="1400"/>
              <a:buFont typeface="Calibri"/>
              <a:buNone/>
            </a:pPr>
            <a:r>
              <a:rPr lang="en" sz="1400" b="1" i="0" u="none" strike="noStrike" cap="none">
                <a:solidFill>
                  <a:srgbClr val="FFFFFF"/>
                </a:solidFill>
                <a:sym typeface="Calibri"/>
              </a:rPr>
              <a:t>Repetition Penalty</a:t>
            </a:r>
            <a:endParaRPr sz="1400" b="0" i="0" u="none" strike="noStrike" cap="none">
              <a:solidFill>
                <a:schemeClr val="dk1"/>
              </a:solidFill>
              <a:latin typeface="Calibri"/>
              <a:ea typeface="Calibri"/>
              <a:cs typeface="Calibri"/>
              <a:sym typeface="Calibri"/>
            </a:endParaRPr>
          </a:p>
        </p:txBody>
      </p:sp>
      <p:sp>
        <p:nvSpPr>
          <p:cNvPr id="2826" name="Google Shape;2826;p120"/>
          <p:cNvSpPr/>
          <p:nvPr/>
        </p:nvSpPr>
        <p:spPr>
          <a:xfrm>
            <a:off x="384048" y="1298448"/>
            <a:ext cx="3840600" cy="274200"/>
          </a:xfrm>
          <a:prstGeom prst="rect">
            <a:avLst/>
          </a:prstGeom>
          <a:solidFill>
            <a:srgbClr val="EEF2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7" name="Google Shape;2827;p120"/>
          <p:cNvSpPr/>
          <p:nvPr/>
        </p:nvSpPr>
        <p:spPr>
          <a:xfrm>
            <a:off x="438912" y="1298448"/>
            <a:ext cx="3749100" cy="2742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7C3AED"/>
              </a:buClr>
              <a:buSzPts val="1100"/>
              <a:buFont typeface="Consolas"/>
              <a:buNone/>
            </a:pPr>
            <a:r>
              <a:rPr lang="en" sz="1100" b="1" i="0" u="none" strike="noStrike" cap="none">
                <a:solidFill>
                  <a:srgbClr val="7C3AED"/>
                </a:solidFill>
                <a:sym typeface="Consolas"/>
              </a:rPr>
              <a:t>repetition_penalty = 1.3</a:t>
            </a:r>
            <a:endParaRPr sz="1100" b="0" i="0" u="none" strike="noStrike" cap="none">
              <a:solidFill>
                <a:schemeClr val="dk1"/>
              </a:solidFill>
              <a:latin typeface="Calibri"/>
              <a:ea typeface="Calibri"/>
              <a:cs typeface="Calibri"/>
              <a:sym typeface="Calibri"/>
            </a:endParaRPr>
          </a:p>
        </p:txBody>
      </p:sp>
      <p:sp>
        <p:nvSpPr>
          <p:cNvPr id="2828" name="Google Shape;2828;p120"/>
          <p:cNvSpPr/>
          <p:nvPr/>
        </p:nvSpPr>
        <p:spPr>
          <a:xfrm>
            <a:off x="384048" y="1664208"/>
            <a:ext cx="3840600" cy="5028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374151"/>
              </a:buClr>
              <a:buSzPts val="1100"/>
              <a:buFont typeface="Calibri"/>
              <a:buNone/>
            </a:pPr>
            <a:r>
              <a:rPr lang="en" sz="1100" b="0" i="0" u="none" strike="noStrike" cap="none" dirty="0">
                <a:solidFill>
                  <a:srgbClr val="1A1F36"/>
                </a:solidFill>
                <a:sym typeface="Calibri"/>
              </a:rPr>
              <a:t>Divides logit of any token that already appeared in the context by the penalty value.</a:t>
            </a:r>
            <a:endParaRPr sz="1100" b="0" i="0" u="none" strike="noStrike" cap="none" dirty="0">
              <a:solidFill>
                <a:schemeClr val="dk1"/>
              </a:solidFill>
              <a:latin typeface="Calibri"/>
              <a:ea typeface="Calibri"/>
              <a:cs typeface="Calibri"/>
              <a:sym typeface="Calibri"/>
            </a:endParaRPr>
          </a:p>
        </p:txBody>
      </p:sp>
      <p:sp>
        <p:nvSpPr>
          <p:cNvPr id="2829" name="Google Shape;2829;p120"/>
          <p:cNvSpPr/>
          <p:nvPr/>
        </p:nvSpPr>
        <p:spPr>
          <a:xfrm>
            <a:off x="384048" y="2267712"/>
            <a:ext cx="3840600" cy="292500"/>
          </a:xfrm>
          <a:prstGeom prst="rect">
            <a:avLst/>
          </a:prstGeom>
          <a:solidFill>
            <a:srgbClr val="1E1B4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0" name="Google Shape;2830;p120"/>
          <p:cNvSpPr/>
          <p:nvPr/>
        </p:nvSpPr>
        <p:spPr>
          <a:xfrm>
            <a:off x="438912" y="2267712"/>
            <a:ext cx="3749100" cy="2925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A5F3FC"/>
              </a:buClr>
              <a:buSzPts val="1000"/>
              <a:buFont typeface="Consolas"/>
              <a:buNone/>
            </a:pPr>
            <a:r>
              <a:rPr lang="en" sz="1000" b="0" i="0" u="none" strike="noStrike" cap="none">
                <a:solidFill>
                  <a:srgbClr val="A5F3FC"/>
                </a:solidFill>
                <a:sym typeface="Consolas"/>
              </a:rPr>
              <a:t>logit[t] /= penalty  (if token t seen before)</a:t>
            </a:r>
            <a:endParaRPr sz="1000" b="0" i="0" u="none" strike="noStrike" cap="none">
              <a:solidFill>
                <a:schemeClr val="dk1"/>
              </a:solidFill>
              <a:latin typeface="Calibri"/>
              <a:ea typeface="Calibri"/>
              <a:cs typeface="Calibri"/>
              <a:sym typeface="Calibri"/>
            </a:endParaRPr>
          </a:p>
        </p:txBody>
      </p:sp>
      <p:sp>
        <p:nvSpPr>
          <p:cNvPr id="2831" name="Google Shape;2831;p120"/>
          <p:cNvSpPr/>
          <p:nvPr/>
        </p:nvSpPr>
        <p:spPr>
          <a:xfrm>
            <a:off x="384048" y="2651760"/>
            <a:ext cx="1828800" cy="2286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DC2626"/>
              </a:buClr>
              <a:buSzPts val="1000"/>
              <a:buFont typeface="Calibri"/>
              <a:buNone/>
            </a:pPr>
            <a:r>
              <a:rPr lang="en" sz="1000" b="1" i="0" u="none" strike="noStrike" cap="none">
                <a:solidFill>
                  <a:srgbClr val="DC2626"/>
                </a:solidFill>
                <a:sym typeface="Calibri"/>
              </a:rPr>
              <a:t>❌ Without penalty:</a:t>
            </a:r>
            <a:endParaRPr sz="1000" b="0" i="0" u="none" strike="noStrike" cap="none">
              <a:solidFill>
                <a:schemeClr val="dk1"/>
              </a:solidFill>
              <a:latin typeface="Calibri"/>
              <a:ea typeface="Calibri"/>
              <a:cs typeface="Calibri"/>
              <a:sym typeface="Calibri"/>
            </a:endParaRPr>
          </a:p>
        </p:txBody>
      </p:sp>
      <p:sp>
        <p:nvSpPr>
          <p:cNvPr id="2832" name="Google Shape;2832;p120"/>
          <p:cNvSpPr/>
          <p:nvPr/>
        </p:nvSpPr>
        <p:spPr>
          <a:xfrm>
            <a:off x="384048" y="2889504"/>
            <a:ext cx="3840600" cy="438900"/>
          </a:xfrm>
          <a:prstGeom prst="rect">
            <a:avLst/>
          </a:prstGeom>
          <a:solidFill>
            <a:srgbClr val="FEF2F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3" name="Google Shape;2833;p120"/>
          <p:cNvSpPr/>
          <p:nvPr/>
        </p:nvSpPr>
        <p:spPr>
          <a:xfrm>
            <a:off x="438912" y="2889504"/>
            <a:ext cx="3749100" cy="4389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DC2626"/>
              </a:buClr>
              <a:buSzPts val="950"/>
              <a:buFont typeface="Consolas"/>
              <a:buNone/>
            </a:pPr>
            <a:r>
              <a:rPr lang="en" sz="950" b="0" i="0" u="none" strike="noStrike" cap="none">
                <a:solidFill>
                  <a:srgbClr val="DC2626"/>
                </a:solidFill>
                <a:sym typeface="Consolas"/>
              </a:rPr>
              <a:t>The cat sat. The cat sat. The cat sat. The cat...</a:t>
            </a:r>
            <a:endParaRPr sz="950" b="0" i="0" u="none" strike="noStrike" cap="none">
              <a:solidFill>
                <a:schemeClr val="dk1"/>
              </a:solidFill>
              <a:latin typeface="Calibri"/>
              <a:ea typeface="Calibri"/>
              <a:cs typeface="Calibri"/>
              <a:sym typeface="Calibri"/>
            </a:endParaRPr>
          </a:p>
        </p:txBody>
      </p:sp>
      <p:sp>
        <p:nvSpPr>
          <p:cNvPr id="2834" name="Google Shape;2834;p120"/>
          <p:cNvSpPr/>
          <p:nvPr/>
        </p:nvSpPr>
        <p:spPr>
          <a:xfrm>
            <a:off x="384048" y="3401568"/>
            <a:ext cx="1828800" cy="2286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059669"/>
              </a:buClr>
              <a:buSzPts val="1000"/>
              <a:buFont typeface="Calibri"/>
              <a:buNone/>
            </a:pPr>
            <a:r>
              <a:rPr lang="en" sz="1000" b="1" i="0" u="none" strike="noStrike" cap="none">
                <a:solidFill>
                  <a:srgbClr val="059669"/>
                </a:solidFill>
                <a:sym typeface="Calibri"/>
              </a:rPr>
              <a:t>✅ With penalty:</a:t>
            </a:r>
            <a:endParaRPr sz="1000" b="0" i="0" u="none" strike="noStrike" cap="none">
              <a:solidFill>
                <a:schemeClr val="dk1"/>
              </a:solidFill>
              <a:latin typeface="Calibri"/>
              <a:ea typeface="Calibri"/>
              <a:cs typeface="Calibri"/>
              <a:sym typeface="Calibri"/>
            </a:endParaRPr>
          </a:p>
        </p:txBody>
      </p:sp>
      <p:sp>
        <p:nvSpPr>
          <p:cNvPr id="2835" name="Google Shape;2835;p120"/>
          <p:cNvSpPr/>
          <p:nvPr/>
        </p:nvSpPr>
        <p:spPr>
          <a:xfrm>
            <a:off x="384048" y="3630168"/>
            <a:ext cx="3840600" cy="438900"/>
          </a:xfrm>
          <a:prstGeom prst="rect">
            <a:avLst/>
          </a:prstGeom>
          <a:solidFill>
            <a:srgbClr val="F0FD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6" name="Google Shape;2836;p120"/>
          <p:cNvSpPr/>
          <p:nvPr/>
        </p:nvSpPr>
        <p:spPr>
          <a:xfrm>
            <a:off x="438912" y="3630168"/>
            <a:ext cx="3749100" cy="4389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059669"/>
              </a:buClr>
              <a:buSzPts val="950"/>
              <a:buFont typeface="Consolas"/>
              <a:buNone/>
            </a:pPr>
            <a:r>
              <a:rPr lang="en" sz="950" b="0" i="0" u="none" strike="noStrike" cap="none">
                <a:solidFill>
                  <a:srgbClr val="059669"/>
                </a:solidFill>
                <a:sym typeface="Consolas"/>
              </a:rPr>
              <a:t>The cat sat on the mat and then yawned slowly.</a:t>
            </a:r>
            <a:endParaRPr sz="950" b="0" i="0" u="none" strike="noStrike" cap="none">
              <a:solidFill>
                <a:schemeClr val="dk1"/>
              </a:solidFill>
              <a:latin typeface="Calibri"/>
              <a:ea typeface="Calibri"/>
              <a:cs typeface="Calibri"/>
              <a:sym typeface="Calibri"/>
            </a:endParaRPr>
          </a:p>
        </p:txBody>
      </p:sp>
      <p:sp>
        <p:nvSpPr>
          <p:cNvPr id="2837" name="Google Shape;2837;p120"/>
          <p:cNvSpPr/>
          <p:nvPr/>
        </p:nvSpPr>
        <p:spPr>
          <a:xfrm>
            <a:off x="384048" y="4142232"/>
            <a:ext cx="3840600" cy="6585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6B7280"/>
              </a:buClr>
              <a:buSzPts val="950"/>
              <a:buFont typeface="Calibri"/>
              <a:buNone/>
            </a:pPr>
            <a:r>
              <a:rPr lang="en" sz="950" b="0" i="1" u="none" strike="noStrike" cap="none">
                <a:solidFill>
                  <a:srgbClr val="1A1F36"/>
                </a:solidFill>
                <a:sym typeface="Calibri"/>
              </a:rPr>
              <a:t>💡 Values 1.0 = no effect. 1.2–1.5 is typical. Too high → avoids even necessary repeats.</a:t>
            </a:r>
            <a:endParaRPr sz="950" b="0" i="0" u="none" strike="noStrike" cap="none">
              <a:solidFill>
                <a:schemeClr val="dk1"/>
              </a:solidFill>
              <a:latin typeface="Calibri"/>
              <a:ea typeface="Calibri"/>
              <a:cs typeface="Calibri"/>
              <a:sym typeface="Calibri"/>
            </a:endParaRPr>
          </a:p>
        </p:txBody>
      </p:sp>
      <p:sp>
        <p:nvSpPr>
          <p:cNvPr id="2838" name="Google Shape;2838;p120"/>
          <p:cNvSpPr/>
          <p:nvPr/>
        </p:nvSpPr>
        <p:spPr>
          <a:xfrm>
            <a:off x="4709160" y="749808"/>
            <a:ext cx="4206300" cy="4206300"/>
          </a:xfrm>
          <a:prstGeom prst="rect">
            <a:avLst/>
          </a:prstGeom>
          <a:solidFill>
            <a:srgbClr val="F8F9FF"/>
          </a:solidFill>
          <a:ln>
            <a:noFill/>
          </a:ln>
          <a:effectLst>
            <a:outerShdw blurRad="101600" dist="25400" dir="8100000" algn="bl" rotWithShape="0">
              <a:srgbClr val="000000">
                <a:alpha val="784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9" name="Google Shape;2839;p120"/>
          <p:cNvSpPr/>
          <p:nvPr/>
        </p:nvSpPr>
        <p:spPr>
          <a:xfrm>
            <a:off x="4709160" y="749808"/>
            <a:ext cx="4206300" cy="438900"/>
          </a:xfrm>
          <a:prstGeom prst="rect">
            <a:avLst/>
          </a:prstGeom>
          <a:solidFill>
            <a:srgbClr val="4F46E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0" name="Google Shape;2840;p120"/>
          <p:cNvSpPr/>
          <p:nvPr/>
        </p:nvSpPr>
        <p:spPr>
          <a:xfrm>
            <a:off x="4818888" y="749808"/>
            <a:ext cx="3986700" cy="4389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FFFFFF"/>
              </a:buClr>
              <a:buSzPts val="1400"/>
              <a:buFont typeface="Calibri"/>
              <a:buNone/>
            </a:pPr>
            <a:r>
              <a:rPr lang="en" sz="1400" b="1" i="0" u="none" strike="noStrike" cap="none">
                <a:solidFill>
                  <a:srgbClr val="FFFFFF"/>
                </a:solidFill>
                <a:sym typeface="Calibri"/>
              </a:rPr>
              <a:t>Frequency Penalty</a:t>
            </a:r>
            <a:endParaRPr sz="1400" b="0" i="0" u="none" strike="noStrike" cap="none">
              <a:solidFill>
                <a:schemeClr val="dk1"/>
              </a:solidFill>
              <a:latin typeface="Calibri"/>
              <a:ea typeface="Calibri"/>
              <a:cs typeface="Calibri"/>
              <a:sym typeface="Calibri"/>
            </a:endParaRPr>
          </a:p>
        </p:txBody>
      </p:sp>
      <p:sp>
        <p:nvSpPr>
          <p:cNvPr id="2841" name="Google Shape;2841;p120"/>
          <p:cNvSpPr/>
          <p:nvPr/>
        </p:nvSpPr>
        <p:spPr>
          <a:xfrm>
            <a:off x="4818888" y="1298448"/>
            <a:ext cx="3840600" cy="274200"/>
          </a:xfrm>
          <a:prstGeom prst="rect">
            <a:avLst/>
          </a:prstGeom>
          <a:solidFill>
            <a:srgbClr val="EEF2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2" name="Google Shape;2842;p120"/>
          <p:cNvSpPr/>
          <p:nvPr/>
        </p:nvSpPr>
        <p:spPr>
          <a:xfrm>
            <a:off x="4873752" y="1298448"/>
            <a:ext cx="3749100" cy="2742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4F46E5"/>
              </a:buClr>
              <a:buSzPts val="1100"/>
              <a:buFont typeface="Consolas"/>
              <a:buNone/>
            </a:pPr>
            <a:r>
              <a:rPr lang="en" sz="1100" b="1" i="0" u="none" strike="noStrike" cap="none">
                <a:solidFill>
                  <a:srgbClr val="4F46E5"/>
                </a:solidFill>
                <a:sym typeface="Consolas"/>
              </a:rPr>
              <a:t>frequency_penalty = 0.5</a:t>
            </a:r>
            <a:endParaRPr sz="1100" b="0" i="0" u="none" strike="noStrike" cap="none">
              <a:solidFill>
                <a:schemeClr val="dk1"/>
              </a:solidFill>
              <a:latin typeface="Calibri"/>
              <a:ea typeface="Calibri"/>
              <a:cs typeface="Calibri"/>
              <a:sym typeface="Calibri"/>
            </a:endParaRPr>
          </a:p>
        </p:txBody>
      </p:sp>
      <p:sp>
        <p:nvSpPr>
          <p:cNvPr id="2843" name="Google Shape;2843;p120"/>
          <p:cNvSpPr/>
          <p:nvPr/>
        </p:nvSpPr>
        <p:spPr>
          <a:xfrm>
            <a:off x="4818888" y="1664208"/>
            <a:ext cx="3840600" cy="5028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374151"/>
              </a:buClr>
              <a:buSzPts val="1100"/>
              <a:buFont typeface="Calibri"/>
              <a:buNone/>
            </a:pPr>
            <a:r>
              <a:rPr lang="en" sz="1100" b="0" i="0" u="none" strike="noStrike" cap="none">
                <a:solidFill>
                  <a:srgbClr val="1A1F36"/>
                </a:solidFill>
                <a:sym typeface="Calibri"/>
              </a:rPr>
              <a:t>Penalizes tokens proportional to how many times they have appeared so far (OpenAI style).</a:t>
            </a:r>
            <a:endParaRPr sz="1100" b="0" i="0" u="none" strike="noStrike" cap="none">
              <a:solidFill>
                <a:schemeClr val="dk1"/>
              </a:solidFill>
              <a:latin typeface="Calibri"/>
              <a:ea typeface="Calibri"/>
              <a:cs typeface="Calibri"/>
              <a:sym typeface="Calibri"/>
            </a:endParaRPr>
          </a:p>
        </p:txBody>
      </p:sp>
      <p:sp>
        <p:nvSpPr>
          <p:cNvPr id="2844" name="Google Shape;2844;p120"/>
          <p:cNvSpPr/>
          <p:nvPr/>
        </p:nvSpPr>
        <p:spPr>
          <a:xfrm>
            <a:off x="4818888" y="2267712"/>
            <a:ext cx="3840600" cy="292500"/>
          </a:xfrm>
          <a:prstGeom prst="rect">
            <a:avLst/>
          </a:prstGeom>
          <a:solidFill>
            <a:srgbClr val="1E1B4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5" name="Google Shape;2845;p120"/>
          <p:cNvSpPr/>
          <p:nvPr/>
        </p:nvSpPr>
        <p:spPr>
          <a:xfrm>
            <a:off x="4873752" y="2267712"/>
            <a:ext cx="3749100" cy="2925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A5F3FC"/>
              </a:buClr>
              <a:buSzPts val="1000"/>
              <a:buFont typeface="Consolas"/>
              <a:buNone/>
            </a:pPr>
            <a:r>
              <a:rPr lang="en" sz="1000" b="0" i="0" u="none" strike="noStrike" cap="none">
                <a:solidFill>
                  <a:srgbClr val="A5F3FC"/>
                </a:solidFill>
                <a:sym typeface="Consolas"/>
              </a:rPr>
              <a:t>logit[t] -= freq_penalty × count(t)</a:t>
            </a:r>
            <a:endParaRPr sz="1000" b="0" i="0" u="none" strike="noStrike" cap="none">
              <a:solidFill>
                <a:schemeClr val="dk1"/>
              </a:solidFill>
              <a:latin typeface="Calibri"/>
              <a:ea typeface="Calibri"/>
              <a:cs typeface="Calibri"/>
              <a:sym typeface="Calibri"/>
            </a:endParaRPr>
          </a:p>
        </p:txBody>
      </p:sp>
      <p:sp>
        <p:nvSpPr>
          <p:cNvPr id="2846" name="Google Shape;2846;p120"/>
          <p:cNvSpPr/>
          <p:nvPr/>
        </p:nvSpPr>
        <p:spPr>
          <a:xfrm>
            <a:off x="4818888" y="2651760"/>
            <a:ext cx="1828800" cy="2286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DC2626"/>
              </a:buClr>
              <a:buSzPts val="1000"/>
              <a:buFont typeface="Calibri"/>
              <a:buNone/>
            </a:pPr>
            <a:r>
              <a:rPr lang="en" sz="1000" b="1" i="0" u="none" strike="noStrike" cap="none">
                <a:solidFill>
                  <a:srgbClr val="DC2626"/>
                </a:solidFill>
                <a:sym typeface="Calibri"/>
              </a:rPr>
              <a:t>❌ Without penalty:</a:t>
            </a:r>
            <a:endParaRPr sz="1000" b="0" i="0" u="none" strike="noStrike" cap="none">
              <a:solidFill>
                <a:schemeClr val="dk1"/>
              </a:solidFill>
              <a:latin typeface="Calibri"/>
              <a:ea typeface="Calibri"/>
              <a:cs typeface="Calibri"/>
              <a:sym typeface="Calibri"/>
            </a:endParaRPr>
          </a:p>
        </p:txBody>
      </p:sp>
      <p:sp>
        <p:nvSpPr>
          <p:cNvPr id="2847" name="Google Shape;2847;p120"/>
          <p:cNvSpPr/>
          <p:nvPr/>
        </p:nvSpPr>
        <p:spPr>
          <a:xfrm>
            <a:off x="4818888" y="2889504"/>
            <a:ext cx="3840600" cy="438900"/>
          </a:xfrm>
          <a:prstGeom prst="rect">
            <a:avLst/>
          </a:prstGeom>
          <a:solidFill>
            <a:srgbClr val="FEF2F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8" name="Google Shape;2848;p120"/>
          <p:cNvSpPr/>
          <p:nvPr/>
        </p:nvSpPr>
        <p:spPr>
          <a:xfrm>
            <a:off x="4873752" y="2889504"/>
            <a:ext cx="3749100" cy="4389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DC2626"/>
              </a:buClr>
              <a:buSzPts val="950"/>
              <a:buFont typeface="Consolas"/>
              <a:buNone/>
            </a:pPr>
            <a:r>
              <a:rPr lang="en" sz="950" b="0" i="0" u="none" strike="noStrike" cap="none">
                <a:solidFill>
                  <a:srgbClr val="DC2626"/>
                </a:solidFill>
                <a:sym typeface="Consolas"/>
              </a:rPr>
              <a:t>Paris Paris Paris is Paris the capital Paris Paris</a:t>
            </a:r>
            <a:endParaRPr sz="950" b="0" i="0" u="none" strike="noStrike" cap="none">
              <a:solidFill>
                <a:schemeClr val="dk1"/>
              </a:solidFill>
              <a:latin typeface="Calibri"/>
              <a:ea typeface="Calibri"/>
              <a:cs typeface="Calibri"/>
              <a:sym typeface="Calibri"/>
            </a:endParaRPr>
          </a:p>
        </p:txBody>
      </p:sp>
      <p:sp>
        <p:nvSpPr>
          <p:cNvPr id="2849" name="Google Shape;2849;p120"/>
          <p:cNvSpPr/>
          <p:nvPr/>
        </p:nvSpPr>
        <p:spPr>
          <a:xfrm>
            <a:off x="4818888" y="3401568"/>
            <a:ext cx="1828800" cy="2286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059669"/>
              </a:buClr>
              <a:buSzPts val="1000"/>
              <a:buFont typeface="Calibri"/>
              <a:buNone/>
            </a:pPr>
            <a:r>
              <a:rPr lang="en" sz="1000" b="1" i="0" u="none" strike="noStrike" cap="none">
                <a:solidFill>
                  <a:srgbClr val="059669"/>
                </a:solidFill>
                <a:sym typeface="Calibri"/>
              </a:rPr>
              <a:t>✅ With penalty:</a:t>
            </a:r>
            <a:endParaRPr sz="1000" b="0" i="0" u="none" strike="noStrike" cap="none">
              <a:solidFill>
                <a:schemeClr val="dk1"/>
              </a:solidFill>
              <a:latin typeface="Calibri"/>
              <a:ea typeface="Calibri"/>
              <a:cs typeface="Calibri"/>
              <a:sym typeface="Calibri"/>
            </a:endParaRPr>
          </a:p>
        </p:txBody>
      </p:sp>
      <p:sp>
        <p:nvSpPr>
          <p:cNvPr id="2850" name="Google Shape;2850;p120"/>
          <p:cNvSpPr/>
          <p:nvPr/>
        </p:nvSpPr>
        <p:spPr>
          <a:xfrm>
            <a:off x="4818888" y="3630168"/>
            <a:ext cx="3840600" cy="438900"/>
          </a:xfrm>
          <a:prstGeom prst="rect">
            <a:avLst/>
          </a:prstGeom>
          <a:solidFill>
            <a:srgbClr val="F0FD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1" name="Google Shape;2851;p120"/>
          <p:cNvSpPr/>
          <p:nvPr/>
        </p:nvSpPr>
        <p:spPr>
          <a:xfrm>
            <a:off x="4873752" y="3630168"/>
            <a:ext cx="3749100" cy="4389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059669"/>
              </a:buClr>
              <a:buSzPts val="950"/>
              <a:buFont typeface="Consolas"/>
              <a:buNone/>
            </a:pPr>
            <a:r>
              <a:rPr lang="en" sz="950" b="0" i="0" u="none" strike="noStrike" cap="none">
                <a:solidFill>
                  <a:srgbClr val="059669"/>
                </a:solidFill>
                <a:sym typeface="Consolas"/>
              </a:rPr>
              <a:t>Paris is the capital of France and a major hub.</a:t>
            </a:r>
            <a:endParaRPr sz="950" b="0" i="0" u="none" strike="noStrike" cap="none">
              <a:solidFill>
                <a:schemeClr val="dk1"/>
              </a:solidFill>
              <a:latin typeface="Calibri"/>
              <a:ea typeface="Calibri"/>
              <a:cs typeface="Calibri"/>
              <a:sym typeface="Calibri"/>
            </a:endParaRPr>
          </a:p>
        </p:txBody>
      </p:sp>
      <p:sp>
        <p:nvSpPr>
          <p:cNvPr id="2852" name="Google Shape;2852;p120"/>
          <p:cNvSpPr/>
          <p:nvPr/>
        </p:nvSpPr>
        <p:spPr>
          <a:xfrm>
            <a:off x="4818888" y="4142232"/>
            <a:ext cx="3840600" cy="6585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6B7280"/>
              </a:buClr>
              <a:buSzPts val="950"/>
              <a:buFont typeface="Calibri"/>
              <a:buNone/>
            </a:pPr>
            <a:r>
              <a:rPr lang="en" sz="950" b="0" i="1" u="none" strike="noStrike" cap="none">
                <a:solidFill>
                  <a:srgbClr val="1A1F36"/>
                </a:solidFill>
                <a:sym typeface="Calibri"/>
              </a:rPr>
              <a:t>💡 Range: 0.0 to 2.0. Higher = more penalty. Presence penalty is a binary version (0 or 1).</a:t>
            </a:r>
            <a:endParaRPr sz="950" b="0" i="0" u="none" strike="noStrike" cap="none">
              <a:solidFill>
                <a:schemeClr val="dk1"/>
              </a:solidFill>
              <a:latin typeface="Calibri"/>
              <a:ea typeface="Calibri"/>
              <a:cs typeface="Calibri"/>
              <a:sym typeface="Calibri"/>
            </a:endParaRPr>
          </a:p>
        </p:txBody>
      </p:sp>
      <p:pic>
        <p:nvPicPr>
          <p:cNvPr id="2853" name="Google Shape;2853;p120"/>
          <p:cNvPicPr preferRelativeResize="0"/>
          <p:nvPr/>
        </p:nvPicPr>
        <p:blipFill>
          <a:blip r:embed="rId3">
            <a:alphaModFix/>
          </a:blip>
          <a:stretch>
            <a:fillRect/>
          </a:stretch>
        </p:blipFill>
        <p:spPr>
          <a:xfrm>
            <a:off x="8369125" y="0"/>
            <a:ext cx="774877" cy="867174"/>
          </a:xfrm>
          <a:prstGeom prst="rect">
            <a:avLst/>
          </a:prstGeom>
          <a:noFill/>
          <a:ln>
            <a:noFill/>
          </a:ln>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2858"/>
        <p:cNvGrpSpPr/>
        <p:nvPr/>
      </p:nvGrpSpPr>
      <p:grpSpPr>
        <a:xfrm>
          <a:off x="0" y="0"/>
          <a:ext cx="0" cy="0"/>
          <a:chOff x="0" y="0"/>
          <a:chExt cx="0" cy="0"/>
        </a:xfrm>
      </p:grpSpPr>
      <p:sp>
        <p:nvSpPr>
          <p:cNvPr id="2859" name="Google Shape;2859;p121"/>
          <p:cNvSpPr/>
          <p:nvPr/>
        </p:nvSpPr>
        <p:spPr>
          <a:xfrm>
            <a:off x="365760" y="0"/>
            <a:ext cx="8412600" cy="6402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FFFFFF"/>
              </a:buClr>
              <a:buSzPts val="2400"/>
              <a:buFont typeface="Calibri"/>
              <a:buNone/>
            </a:pPr>
            <a:r>
              <a:rPr lang="en" sz="2400" b="1" i="0" u="none" strike="noStrike" cap="none">
                <a:solidFill>
                  <a:srgbClr val="1E2761"/>
                </a:solidFill>
                <a:sym typeface="Calibri"/>
              </a:rPr>
              <a:t>📏  Max Tokens &amp; Stop Sequences</a:t>
            </a:r>
            <a:endParaRPr sz="2400" b="0" i="0" u="none" strike="noStrike" cap="none">
              <a:solidFill>
                <a:schemeClr val="dk1"/>
              </a:solidFill>
              <a:latin typeface="Calibri"/>
              <a:ea typeface="Calibri"/>
              <a:cs typeface="Calibri"/>
              <a:sym typeface="Calibri"/>
            </a:endParaRPr>
          </a:p>
        </p:txBody>
      </p:sp>
      <p:sp>
        <p:nvSpPr>
          <p:cNvPr id="2860" name="Google Shape;2860;p121"/>
          <p:cNvSpPr/>
          <p:nvPr/>
        </p:nvSpPr>
        <p:spPr>
          <a:xfrm>
            <a:off x="274320" y="749808"/>
            <a:ext cx="4160400" cy="4114800"/>
          </a:xfrm>
          <a:prstGeom prst="rect">
            <a:avLst/>
          </a:prstGeom>
          <a:solidFill>
            <a:srgbClr val="F8F9FF"/>
          </a:solidFill>
          <a:ln>
            <a:noFill/>
          </a:ln>
          <a:effectLst>
            <a:outerShdw blurRad="101600" dist="25400" dir="8100000" algn="bl" rotWithShape="0">
              <a:srgbClr val="000000">
                <a:alpha val="784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1" name="Google Shape;2861;p121"/>
          <p:cNvSpPr/>
          <p:nvPr/>
        </p:nvSpPr>
        <p:spPr>
          <a:xfrm>
            <a:off x="274320" y="749808"/>
            <a:ext cx="4160400" cy="420600"/>
          </a:xfrm>
          <a:prstGeom prst="rect">
            <a:avLst/>
          </a:prstGeom>
          <a:solidFill>
            <a:srgbClr val="4F46E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2" name="Google Shape;2862;p121"/>
          <p:cNvSpPr/>
          <p:nvPr/>
        </p:nvSpPr>
        <p:spPr>
          <a:xfrm>
            <a:off x="457200" y="749808"/>
            <a:ext cx="3794700" cy="4206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FFFFFF"/>
              </a:buClr>
              <a:buSzPts val="1500"/>
              <a:buFont typeface="Calibri"/>
              <a:buNone/>
            </a:pPr>
            <a:r>
              <a:rPr lang="en" sz="1500" b="1" i="0" u="none" strike="noStrike" cap="none">
                <a:solidFill>
                  <a:srgbClr val="FFFFFF"/>
                </a:solidFill>
                <a:sym typeface="Calibri"/>
              </a:rPr>
              <a:t>Max Tokens</a:t>
            </a:r>
            <a:endParaRPr sz="1500" b="0" i="0" u="none" strike="noStrike" cap="none">
              <a:solidFill>
                <a:schemeClr val="dk1"/>
              </a:solidFill>
              <a:latin typeface="Calibri"/>
              <a:ea typeface="Calibri"/>
              <a:cs typeface="Calibri"/>
              <a:sym typeface="Calibri"/>
            </a:endParaRPr>
          </a:p>
        </p:txBody>
      </p:sp>
      <p:sp>
        <p:nvSpPr>
          <p:cNvPr id="2863" name="Google Shape;2863;p121"/>
          <p:cNvSpPr/>
          <p:nvPr/>
        </p:nvSpPr>
        <p:spPr>
          <a:xfrm>
            <a:off x="457200" y="1261872"/>
            <a:ext cx="3794700" cy="5487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374151"/>
              </a:buClr>
              <a:buSzPts val="1100"/>
              <a:buFont typeface="Calibri"/>
              <a:buNone/>
            </a:pPr>
            <a:r>
              <a:rPr lang="en" sz="1100" b="0" i="0" u="none" strike="noStrike" cap="none" dirty="0">
                <a:solidFill>
                  <a:srgbClr val="1A1F36"/>
                </a:solidFill>
                <a:sym typeface="Calibri"/>
              </a:rPr>
              <a:t>Controls the maximum number of tokens the model will generate in one response.</a:t>
            </a:r>
            <a:endParaRPr sz="1100" b="0" i="0" u="none" strike="noStrike" cap="none" dirty="0">
              <a:solidFill>
                <a:schemeClr val="dk1"/>
              </a:solidFill>
              <a:latin typeface="Calibri"/>
              <a:ea typeface="Calibri"/>
              <a:cs typeface="Calibri"/>
              <a:sym typeface="Calibri"/>
            </a:endParaRPr>
          </a:p>
        </p:txBody>
      </p:sp>
      <p:sp>
        <p:nvSpPr>
          <p:cNvPr id="2864" name="Google Shape;2864;p121"/>
          <p:cNvSpPr/>
          <p:nvPr/>
        </p:nvSpPr>
        <p:spPr>
          <a:xfrm>
            <a:off x="457200" y="1920240"/>
            <a:ext cx="1417200" cy="274200"/>
          </a:xfrm>
          <a:prstGeom prst="rect">
            <a:avLst/>
          </a:prstGeom>
          <a:solidFill>
            <a:srgbClr val="E0E7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5" name="Google Shape;2865;p121"/>
          <p:cNvSpPr/>
          <p:nvPr/>
        </p:nvSpPr>
        <p:spPr>
          <a:xfrm>
            <a:off x="457200" y="1920240"/>
            <a:ext cx="1417200" cy="27420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4F46E5"/>
              </a:buClr>
              <a:buSzPts val="1000"/>
              <a:buFont typeface="Consolas"/>
              <a:buNone/>
            </a:pPr>
            <a:r>
              <a:rPr lang="en" sz="1000" b="1" i="0" u="none" strike="noStrike" cap="none">
                <a:solidFill>
                  <a:srgbClr val="4F46E5"/>
                </a:solidFill>
                <a:sym typeface="Consolas"/>
              </a:rPr>
              <a:t>max_tokens=20</a:t>
            </a:r>
            <a:endParaRPr sz="1000" b="0" i="0" u="none" strike="noStrike" cap="none">
              <a:solidFill>
                <a:schemeClr val="dk1"/>
              </a:solidFill>
              <a:latin typeface="Calibri"/>
              <a:ea typeface="Calibri"/>
              <a:cs typeface="Calibri"/>
              <a:sym typeface="Calibri"/>
            </a:endParaRPr>
          </a:p>
        </p:txBody>
      </p:sp>
      <p:sp>
        <p:nvSpPr>
          <p:cNvPr id="2866" name="Google Shape;2866;p121"/>
          <p:cNvSpPr/>
          <p:nvPr/>
        </p:nvSpPr>
        <p:spPr>
          <a:xfrm>
            <a:off x="457200" y="2212848"/>
            <a:ext cx="3749100" cy="594300"/>
          </a:xfrm>
          <a:prstGeom prst="rect">
            <a:avLst/>
          </a:prstGeom>
          <a:solidFill>
            <a:srgbClr val="1E1B4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7" name="Google Shape;2867;p121"/>
          <p:cNvSpPr/>
          <p:nvPr/>
        </p:nvSpPr>
        <p:spPr>
          <a:xfrm>
            <a:off x="530352" y="2212848"/>
            <a:ext cx="3621000" cy="5943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A5F3FC"/>
              </a:buClr>
              <a:buSzPts val="950"/>
              <a:buFont typeface="Consolas"/>
              <a:buNone/>
            </a:pPr>
            <a:r>
              <a:rPr lang="en" sz="950" b="0" i="0" u="none" strike="noStrike" cap="none">
                <a:solidFill>
                  <a:srgbClr val="A5F3FC"/>
                </a:solidFill>
                <a:sym typeface="Consolas"/>
              </a:rPr>
              <a:t>"The transformer architecture was introduced in 2017 by Google researchers in the..."</a:t>
            </a:r>
            <a:endParaRPr sz="950" b="0" i="0" u="none" strike="noStrike" cap="none">
              <a:solidFill>
                <a:schemeClr val="dk1"/>
              </a:solidFill>
              <a:latin typeface="Calibri"/>
              <a:ea typeface="Calibri"/>
              <a:cs typeface="Calibri"/>
              <a:sym typeface="Calibri"/>
            </a:endParaRPr>
          </a:p>
        </p:txBody>
      </p:sp>
      <p:sp>
        <p:nvSpPr>
          <p:cNvPr id="2868" name="Google Shape;2868;p121"/>
          <p:cNvSpPr/>
          <p:nvPr/>
        </p:nvSpPr>
        <p:spPr>
          <a:xfrm>
            <a:off x="457200" y="3017520"/>
            <a:ext cx="1417200" cy="274200"/>
          </a:xfrm>
          <a:prstGeom prst="rect">
            <a:avLst/>
          </a:prstGeom>
          <a:solidFill>
            <a:srgbClr val="E0E7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9" name="Google Shape;2869;p121"/>
          <p:cNvSpPr/>
          <p:nvPr/>
        </p:nvSpPr>
        <p:spPr>
          <a:xfrm>
            <a:off x="457200" y="3017520"/>
            <a:ext cx="1417200" cy="27420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4F46E5"/>
              </a:buClr>
              <a:buSzPts val="1000"/>
              <a:buFont typeface="Consolas"/>
              <a:buNone/>
            </a:pPr>
            <a:r>
              <a:rPr lang="en" sz="1000" b="1" i="0" u="none" strike="noStrike" cap="none">
                <a:solidFill>
                  <a:srgbClr val="4F46E5"/>
                </a:solidFill>
                <a:sym typeface="Consolas"/>
              </a:rPr>
              <a:t>max_tokens=50</a:t>
            </a:r>
            <a:endParaRPr sz="1000" b="0" i="0" u="none" strike="noStrike" cap="none">
              <a:solidFill>
                <a:schemeClr val="dk1"/>
              </a:solidFill>
              <a:latin typeface="Calibri"/>
              <a:ea typeface="Calibri"/>
              <a:cs typeface="Calibri"/>
              <a:sym typeface="Calibri"/>
            </a:endParaRPr>
          </a:p>
        </p:txBody>
      </p:sp>
      <p:sp>
        <p:nvSpPr>
          <p:cNvPr id="2870" name="Google Shape;2870;p121"/>
          <p:cNvSpPr/>
          <p:nvPr/>
        </p:nvSpPr>
        <p:spPr>
          <a:xfrm>
            <a:off x="457200" y="3310128"/>
            <a:ext cx="3749100" cy="594300"/>
          </a:xfrm>
          <a:prstGeom prst="rect">
            <a:avLst/>
          </a:prstGeom>
          <a:solidFill>
            <a:srgbClr val="1E1B4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1" name="Google Shape;2871;p121"/>
          <p:cNvSpPr/>
          <p:nvPr/>
        </p:nvSpPr>
        <p:spPr>
          <a:xfrm>
            <a:off x="530352" y="3310128"/>
            <a:ext cx="3621000" cy="5943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A5F3FC"/>
              </a:buClr>
              <a:buSzPts val="950"/>
              <a:buFont typeface="Consolas"/>
              <a:buNone/>
            </a:pPr>
            <a:r>
              <a:rPr lang="en" sz="950" b="0" i="0" u="none" strike="noStrike" cap="none">
                <a:solidFill>
                  <a:srgbClr val="A5F3FC"/>
                </a:solidFill>
                <a:sym typeface="Consolas"/>
              </a:rPr>
              <a:t>"...paper Attention Is All You Need. It replaced RNNs with self-attention mechanisms, enabling much faster training."</a:t>
            </a:r>
            <a:endParaRPr sz="950" b="0" i="0" u="none" strike="noStrike" cap="none">
              <a:solidFill>
                <a:schemeClr val="dk1"/>
              </a:solidFill>
              <a:latin typeface="Calibri"/>
              <a:ea typeface="Calibri"/>
              <a:cs typeface="Calibri"/>
              <a:sym typeface="Calibri"/>
            </a:endParaRPr>
          </a:p>
        </p:txBody>
      </p:sp>
      <p:sp>
        <p:nvSpPr>
          <p:cNvPr id="2872" name="Google Shape;2872;p121"/>
          <p:cNvSpPr/>
          <p:nvPr/>
        </p:nvSpPr>
        <p:spPr>
          <a:xfrm>
            <a:off x="457200" y="4251960"/>
            <a:ext cx="3749100" cy="4755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6B7280"/>
              </a:buClr>
              <a:buSzPts val="1000"/>
              <a:buFont typeface="Calibri"/>
              <a:buNone/>
            </a:pPr>
            <a:r>
              <a:rPr lang="en" sz="1000" b="0" i="1" u="none" strike="noStrike" cap="none">
                <a:solidFill>
                  <a:srgbClr val="1A1F36"/>
                </a:solidFill>
                <a:sym typeface="Calibri"/>
              </a:rPr>
              <a:t>⚠ Tokens ≠ Words. On average, 1 word ≈ 1.3 tokens. "ChatGPT" = 3 tokens.</a:t>
            </a:r>
            <a:endParaRPr sz="1000" b="0" i="0" u="none" strike="noStrike" cap="none">
              <a:solidFill>
                <a:schemeClr val="dk1"/>
              </a:solidFill>
              <a:latin typeface="Calibri"/>
              <a:ea typeface="Calibri"/>
              <a:cs typeface="Calibri"/>
              <a:sym typeface="Calibri"/>
            </a:endParaRPr>
          </a:p>
        </p:txBody>
      </p:sp>
      <p:sp>
        <p:nvSpPr>
          <p:cNvPr id="2873" name="Google Shape;2873;p121"/>
          <p:cNvSpPr/>
          <p:nvPr/>
        </p:nvSpPr>
        <p:spPr>
          <a:xfrm>
            <a:off x="4709160" y="749808"/>
            <a:ext cx="4160400" cy="4114800"/>
          </a:xfrm>
          <a:prstGeom prst="rect">
            <a:avLst/>
          </a:prstGeom>
          <a:solidFill>
            <a:srgbClr val="F8F9FF"/>
          </a:solidFill>
          <a:ln>
            <a:noFill/>
          </a:ln>
          <a:effectLst>
            <a:outerShdw blurRad="101600" dist="25400" dir="8100000" algn="bl" rotWithShape="0">
              <a:srgbClr val="000000">
                <a:alpha val="784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4" name="Google Shape;2874;p121"/>
          <p:cNvSpPr/>
          <p:nvPr/>
        </p:nvSpPr>
        <p:spPr>
          <a:xfrm>
            <a:off x="4709160" y="749808"/>
            <a:ext cx="4160400" cy="420600"/>
          </a:xfrm>
          <a:prstGeom prst="rect">
            <a:avLst/>
          </a:prstGeom>
          <a:solidFill>
            <a:srgbClr val="EA580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5" name="Google Shape;2875;p121"/>
          <p:cNvSpPr/>
          <p:nvPr/>
        </p:nvSpPr>
        <p:spPr>
          <a:xfrm>
            <a:off x="4892040" y="749808"/>
            <a:ext cx="3794700" cy="4206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FFFFFF"/>
              </a:buClr>
              <a:buSzPts val="1500"/>
              <a:buFont typeface="Calibri"/>
              <a:buNone/>
            </a:pPr>
            <a:r>
              <a:rPr lang="en" sz="1500" b="1" i="0" u="none" strike="noStrike" cap="none">
                <a:solidFill>
                  <a:srgbClr val="FFFFFF"/>
                </a:solidFill>
                <a:sym typeface="Calibri"/>
              </a:rPr>
              <a:t>Stop Sequences</a:t>
            </a:r>
            <a:endParaRPr sz="1500" b="0" i="0" u="none" strike="noStrike" cap="none">
              <a:solidFill>
                <a:schemeClr val="dk1"/>
              </a:solidFill>
              <a:latin typeface="Calibri"/>
              <a:ea typeface="Calibri"/>
              <a:cs typeface="Calibri"/>
              <a:sym typeface="Calibri"/>
            </a:endParaRPr>
          </a:p>
        </p:txBody>
      </p:sp>
      <p:sp>
        <p:nvSpPr>
          <p:cNvPr id="2876" name="Google Shape;2876;p121"/>
          <p:cNvSpPr/>
          <p:nvPr/>
        </p:nvSpPr>
        <p:spPr>
          <a:xfrm>
            <a:off x="4892040" y="1261872"/>
            <a:ext cx="3794700" cy="5943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374151"/>
              </a:buClr>
              <a:buSzPts val="1100"/>
              <a:buFont typeface="Calibri"/>
              <a:buNone/>
            </a:pPr>
            <a:r>
              <a:rPr lang="en" sz="1200" b="0" i="0" u="none" strike="noStrike" cap="none" dirty="0">
                <a:solidFill>
                  <a:srgbClr val="1A1F36"/>
                </a:solidFill>
                <a:sym typeface="Calibri"/>
              </a:rPr>
              <a:t>Custom strings that signal the model to stop generating immediately. Useful for structured output.</a:t>
            </a:r>
            <a:endParaRPr sz="1200" b="0" i="0" u="none" strike="noStrike" cap="none" dirty="0">
              <a:solidFill>
                <a:schemeClr val="dk1"/>
              </a:solidFill>
              <a:latin typeface="Calibri"/>
              <a:ea typeface="Calibri"/>
              <a:cs typeface="Calibri"/>
              <a:sym typeface="Calibri"/>
            </a:endParaRPr>
          </a:p>
        </p:txBody>
      </p:sp>
      <p:sp>
        <p:nvSpPr>
          <p:cNvPr id="2877" name="Google Shape;2877;p121"/>
          <p:cNvSpPr/>
          <p:nvPr/>
        </p:nvSpPr>
        <p:spPr>
          <a:xfrm>
            <a:off x="4892040" y="1965960"/>
            <a:ext cx="3749100" cy="822900"/>
          </a:xfrm>
          <a:prstGeom prst="rect">
            <a:avLst/>
          </a:prstGeom>
          <a:solidFill>
            <a:srgbClr val="FFF7ED"/>
          </a:solidFill>
          <a:ln>
            <a:noFill/>
          </a:ln>
          <a:effectLst>
            <a:outerShdw blurRad="101600" dist="25400" dir="8100000" algn="bl" rotWithShape="0">
              <a:srgbClr val="000000">
                <a:alpha val="784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8" name="Google Shape;2878;p121"/>
          <p:cNvSpPr/>
          <p:nvPr/>
        </p:nvSpPr>
        <p:spPr>
          <a:xfrm>
            <a:off x="5010912" y="2011680"/>
            <a:ext cx="3520500" cy="2742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EA580C"/>
              </a:buClr>
              <a:buSzPts val="1100"/>
              <a:buFont typeface="Calibri"/>
              <a:buNone/>
            </a:pPr>
            <a:r>
              <a:rPr lang="en" sz="1100" b="1" i="0" u="none" strike="noStrike" cap="none">
                <a:solidFill>
                  <a:srgbClr val="EA580C"/>
                </a:solidFill>
                <a:sym typeface="Calibri"/>
              </a:rPr>
              <a:t>Code generation</a:t>
            </a:r>
            <a:endParaRPr sz="1100" b="0" i="0" u="none" strike="noStrike" cap="none">
              <a:solidFill>
                <a:schemeClr val="dk1"/>
              </a:solidFill>
              <a:latin typeface="Calibri"/>
              <a:ea typeface="Calibri"/>
              <a:cs typeface="Calibri"/>
              <a:sym typeface="Calibri"/>
            </a:endParaRPr>
          </a:p>
        </p:txBody>
      </p:sp>
      <p:sp>
        <p:nvSpPr>
          <p:cNvPr id="2879" name="Google Shape;2879;p121"/>
          <p:cNvSpPr/>
          <p:nvPr/>
        </p:nvSpPr>
        <p:spPr>
          <a:xfrm>
            <a:off x="5010912" y="2267712"/>
            <a:ext cx="3520500" cy="2469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1E1B4B"/>
              </a:buClr>
              <a:buSzPts val="1000"/>
              <a:buFont typeface="Consolas"/>
              <a:buNone/>
            </a:pPr>
            <a:r>
              <a:rPr lang="en" sz="1000" b="0" i="0" u="none" strike="noStrike" cap="none" dirty="0">
                <a:solidFill>
                  <a:srgbClr val="1E1B4B"/>
                </a:solidFill>
                <a:sym typeface="Consolas"/>
              </a:rPr>
              <a:t>stop: ["```", "def "]</a:t>
            </a:r>
            <a:endParaRPr sz="1000" b="0" i="0" u="none" strike="noStrike" cap="none" dirty="0">
              <a:solidFill>
                <a:schemeClr val="dk1"/>
              </a:solidFill>
              <a:latin typeface="Calibri"/>
              <a:ea typeface="Calibri"/>
              <a:cs typeface="Calibri"/>
              <a:sym typeface="Calibri"/>
            </a:endParaRPr>
          </a:p>
        </p:txBody>
      </p:sp>
      <p:sp>
        <p:nvSpPr>
          <p:cNvPr id="2880" name="Google Shape;2880;p121"/>
          <p:cNvSpPr/>
          <p:nvPr/>
        </p:nvSpPr>
        <p:spPr>
          <a:xfrm>
            <a:off x="5010912" y="2514600"/>
            <a:ext cx="3520500" cy="2286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6B7280"/>
              </a:buClr>
              <a:buSzPts val="950"/>
              <a:buFont typeface="Calibri"/>
              <a:buNone/>
            </a:pPr>
            <a:r>
              <a:rPr lang="en" sz="950" b="0" i="1" u="none" strike="noStrike" cap="none">
                <a:solidFill>
                  <a:srgbClr val="1A1F36"/>
                </a:solidFill>
                <a:sym typeface="Calibri"/>
              </a:rPr>
              <a:t>Stop after code block ends</a:t>
            </a:r>
            <a:endParaRPr sz="950" b="0" i="0" u="none" strike="noStrike" cap="none">
              <a:solidFill>
                <a:schemeClr val="dk1"/>
              </a:solidFill>
              <a:latin typeface="Calibri"/>
              <a:ea typeface="Calibri"/>
              <a:cs typeface="Calibri"/>
              <a:sym typeface="Calibri"/>
            </a:endParaRPr>
          </a:p>
        </p:txBody>
      </p:sp>
      <p:sp>
        <p:nvSpPr>
          <p:cNvPr id="2881" name="Google Shape;2881;p121"/>
          <p:cNvSpPr/>
          <p:nvPr/>
        </p:nvSpPr>
        <p:spPr>
          <a:xfrm>
            <a:off x="4892040" y="2852928"/>
            <a:ext cx="3749100" cy="822900"/>
          </a:xfrm>
          <a:prstGeom prst="rect">
            <a:avLst/>
          </a:prstGeom>
          <a:solidFill>
            <a:srgbClr val="FFF7ED"/>
          </a:solidFill>
          <a:ln>
            <a:noFill/>
          </a:ln>
          <a:effectLst>
            <a:outerShdw blurRad="101600" dist="25400" dir="8100000" algn="bl" rotWithShape="0">
              <a:srgbClr val="000000">
                <a:alpha val="784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2" name="Google Shape;2882;p121"/>
          <p:cNvSpPr/>
          <p:nvPr/>
        </p:nvSpPr>
        <p:spPr>
          <a:xfrm>
            <a:off x="5010912" y="2898648"/>
            <a:ext cx="3520500" cy="2742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EA580C"/>
              </a:buClr>
              <a:buSzPts val="1100"/>
              <a:buFont typeface="Calibri"/>
              <a:buNone/>
            </a:pPr>
            <a:r>
              <a:rPr lang="en" sz="1100" b="1" i="0" u="none" strike="noStrike" cap="none">
                <a:solidFill>
                  <a:srgbClr val="EA580C"/>
                </a:solidFill>
                <a:sym typeface="Calibri"/>
              </a:rPr>
              <a:t>Q&amp;A system</a:t>
            </a:r>
            <a:endParaRPr sz="1100" b="0" i="0" u="none" strike="noStrike" cap="none">
              <a:solidFill>
                <a:schemeClr val="dk1"/>
              </a:solidFill>
              <a:latin typeface="Calibri"/>
              <a:ea typeface="Calibri"/>
              <a:cs typeface="Calibri"/>
              <a:sym typeface="Calibri"/>
            </a:endParaRPr>
          </a:p>
        </p:txBody>
      </p:sp>
      <p:sp>
        <p:nvSpPr>
          <p:cNvPr id="2883" name="Google Shape;2883;p121"/>
          <p:cNvSpPr/>
          <p:nvPr/>
        </p:nvSpPr>
        <p:spPr>
          <a:xfrm>
            <a:off x="5010912" y="3154680"/>
            <a:ext cx="3520500" cy="2469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1E1B4B"/>
              </a:buClr>
              <a:buSzPts val="1000"/>
              <a:buFont typeface="Consolas"/>
              <a:buNone/>
            </a:pPr>
            <a:r>
              <a:rPr lang="en" sz="1000" b="0" i="0" u="none" strike="noStrike" cap="none">
                <a:solidFill>
                  <a:srgbClr val="1E1B4B"/>
                </a:solidFill>
                <a:sym typeface="Consolas"/>
              </a:rPr>
              <a:t>stop: ["\nUser:"]</a:t>
            </a:r>
            <a:endParaRPr sz="1000" b="0" i="0" u="none" strike="noStrike" cap="none">
              <a:solidFill>
                <a:schemeClr val="dk1"/>
              </a:solidFill>
              <a:latin typeface="Calibri"/>
              <a:ea typeface="Calibri"/>
              <a:cs typeface="Calibri"/>
              <a:sym typeface="Calibri"/>
            </a:endParaRPr>
          </a:p>
        </p:txBody>
      </p:sp>
      <p:sp>
        <p:nvSpPr>
          <p:cNvPr id="2884" name="Google Shape;2884;p121"/>
          <p:cNvSpPr/>
          <p:nvPr/>
        </p:nvSpPr>
        <p:spPr>
          <a:xfrm>
            <a:off x="5010912" y="3401568"/>
            <a:ext cx="3520500" cy="2286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6B7280"/>
              </a:buClr>
              <a:buSzPts val="950"/>
              <a:buFont typeface="Calibri"/>
              <a:buNone/>
            </a:pPr>
            <a:r>
              <a:rPr lang="en" sz="950" b="0" i="1" u="none" strike="noStrike" cap="none">
                <a:solidFill>
                  <a:srgbClr val="1A1F36"/>
                </a:solidFill>
                <a:sym typeface="Calibri"/>
              </a:rPr>
              <a:t>Stop before next turn</a:t>
            </a:r>
            <a:endParaRPr sz="950" b="0" i="0" u="none" strike="noStrike" cap="none">
              <a:solidFill>
                <a:schemeClr val="dk1"/>
              </a:solidFill>
              <a:latin typeface="Calibri"/>
              <a:ea typeface="Calibri"/>
              <a:cs typeface="Calibri"/>
              <a:sym typeface="Calibri"/>
            </a:endParaRPr>
          </a:p>
        </p:txBody>
      </p:sp>
      <p:sp>
        <p:nvSpPr>
          <p:cNvPr id="2885" name="Google Shape;2885;p121"/>
          <p:cNvSpPr/>
          <p:nvPr/>
        </p:nvSpPr>
        <p:spPr>
          <a:xfrm>
            <a:off x="4892040" y="3739896"/>
            <a:ext cx="3749100" cy="822900"/>
          </a:xfrm>
          <a:prstGeom prst="rect">
            <a:avLst/>
          </a:prstGeom>
          <a:solidFill>
            <a:srgbClr val="FFF7ED"/>
          </a:solidFill>
          <a:ln>
            <a:noFill/>
          </a:ln>
          <a:effectLst>
            <a:outerShdw blurRad="101600" dist="25400" dir="8100000" algn="bl" rotWithShape="0">
              <a:srgbClr val="000000">
                <a:alpha val="784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6" name="Google Shape;2886;p121"/>
          <p:cNvSpPr/>
          <p:nvPr/>
        </p:nvSpPr>
        <p:spPr>
          <a:xfrm>
            <a:off x="5010912" y="3785616"/>
            <a:ext cx="3520500" cy="2742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EA580C"/>
              </a:buClr>
              <a:buSzPts val="1100"/>
              <a:buFont typeface="Calibri"/>
              <a:buNone/>
            </a:pPr>
            <a:r>
              <a:rPr lang="en" sz="1100" b="1" i="0" u="none" strike="noStrike" cap="none">
                <a:solidFill>
                  <a:srgbClr val="EA580C"/>
                </a:solidFill>
                <a:sym typeface="Calibri"/>
              </a:rPr>
              <a:t>JSON output</a:t>
            </a:r>
            <a:endParaRPr sz="1100" b="0" i="0" u="none" strike="noStrike" cap="none">
              <a:solidFill>
                <a:schemeClr val="dk1"/>
              </a:solidFill>
              <a:latin typeface="Calibri"/>
              <a:ea typeface="Calibri"/>
              <a:cs typeface="Calibri"/>
              <a:sym typeface="Calibri"/>
            </a:endParaRPr>
          </a:p>
        </p:txBody>
      </p:sp>
      <p:sp>
        <p:nvSpPr>
          <p:cNvPr id="2887" name="Google Shape;2887;p121"/>
          <p:cNvSpPr/>
          <p:nvPr/>
        </p:nvSpPr>
        <p:spPr>
          <a:xfrm>
            <a:off x="5010912" y="4041648"/>
            <a:ext cx="3520500" cy="2469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1E1B4B"/>
              </a:buClr>
              <a:buSzPts val="1000"/>
              <a:buFont typeface="Consolas"/>
              <a:buNone/>
            </a:pPr>
            <a:r>
              <a:rPr lang="en" sz="1000" b="0" i="0" u="none" strike="noStrike" cap="none">
                <a:solidFill>
                  <a:srgbClr val="1E1B4B"/>
                </a:solidFill>
                <a:sym typeface="Consolas"/>
              </a:rPr>
              <a:t>stop: ["}\n"]</a:t>
            </a:r>
            <a:endParaRPr sz="1000" b="0" i="0" u="none" strike="noStrike" cap="none">
              <a:solidFill>
                <a:schemeClr val="dk1"/>
              </a:solidFill>
              <a:latin typeface="Calibri"/>
              <a:ea typeface="Calibri"/>
              <a:cs typeface="Calibri"/>
              <a:sym typeface="Calibri"/>
            </a:endParaRPr>
          </a:p>
        </p:txBody>
      </p:sp>
      <p:sp>
        <p:nvSpPr>
          <p:cNvPr id="2888" name="Google Shape;2888;p121"/>
          <p:cNvSpPr/>
          <p:nvPr/>
        </p:nvSpPr>
        <p:spPr>
          <a:xfrm>
            <a:off x="5010912" y="4288536"/>
            <a:ext cx="3520500" cy="2286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6B7280"/>
              </a:buClr>
              <a:buSzPts val="950"/>
              <a:buFont typeface="Calibri"/>
              <a:buNone/>
            </a:pPr>
            <a:r>
              <a:rPr lang="en" sz="950" b="0" i="1" u="none" strike="noStrike" cap="none">
                <a:solidFill>
                  <a:srgbClr val="1A1F36"/>
                </a:solidFill>
                <a:sym typeface="Calibri"/>
              </a:rPr>
              <a:t>Stop after JSON closes</a:t>
            </a:r>
            <a:endParaRPr sz="950" b="0" i="0" u="none" strike="noStrike" cap="none">
              <a:solidFill>
                <a:schemeClr val="dk1"/>
              </a:solidFill>
              <a:latin typeface="Calibri"/>
              <a:ea typeface="Calibri"/>
              <a:cs typeface="Calibri"/>
              <a:sym typeface="Calibri"/>
            </a:endParaRPr>
          </a:p>
        </p:txBody>
      </p:sp>
      <p:sp>
        <p:nvSpPr>
          <p:cNvPr id="2889" name="Google Shape;2889;p121"/>
          <p:cNvSpPr/>
          <p:nvPr/>
        </p:nvSpPr>
        <p:spPr>
          <a:xfrm>
            <a:off x="4892040" y="4617720"/>
            <a:ext cx="3749100" cy="2013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EA580C"/>
              </a:buClr>
              <a:buSzPts val="1050"/>
              <a:buFont typeface="Calibri"/>
              <a:buNone/>
            </a:pPr>
            <a:r>
              <a:rPr lang="en" sz="1050" b="0" i="1" u="none" strike="noStrike" cap="none">
                <a:solidFill>
                  <a:srgbClr val="EA580C"/>
                </a:solidFill>
                <a:sym typeface="Calibri"/>
              </a:rPr>
              <a:t>💡 Combine with max_tokens for full output control.</a:t>
            </a:r>
            <a:endParaRPr sz="1050" b="0" i="0" u="none" strike="noStrike" cap="none">
              <a:solidFill>
                <a:schemeClr val="dk1"/>
              </a:solidFill>
              <a:latin typeface="Calibri"/>
              <a:ea typeface="Calibri"/>
              <a:cs typeface="Calibri"/>
              <a:sym typeface="Calibri"/>
            </a:endParaRPr>
          </a:p>
        </p:txBody>
      </p:sp>
      <p:pic>
        <p:nvPicPr>
          <p:cNvPr id="2890" name="Google Shape;2890;p121"/>
          <p:cNvPicPr preferRelativeResize="0"/>
          <p:nvPr/>
        </p:nvPicPr>
        <p:blipFill>
          <a:blip r:embed="rId3">
            <a:alphaModFix/>
          </a:blip>
          <a:stretch>
            <a:fillRect/>
          </a:stretch>
        </p:blipFill>
        <p:spPr>
          <a:xfrm>
            <a:off x="8369125" y="0"/>
            <a:ext cx="774877" cy="867174"/>
          </a:xfrm>
          <a:prstGeom prst="rect">
            <a:avLst/>
          </a:prstGeom>
          <a:noFill/>
          <a:ln>
            <a:noFill/>
          </a:ln>
        </p:spPr>
      </p:pic>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2895"/>
        <p:cNvGrpSpPr/>
        <p:nvPr/>
      </p:nvGrpSpPr>
      <p:grpSpPr>
        <a:xfrm>
          <a:off x="0" y="0"/>
          <a:ext cx="0" cy="0"/>
          <a:chOff x="0" y="0"/>
          <a:chExt cx="0" cy="0"/>
        </a:xfrm>
      </p:grpSpPr>
      <p:sp>
        <p:nvSpPr>
          <p:cNvPr id="2896" name="Google Shape;2896;p122"/>
          <p:cNvSpPr/>
          <p:nvPr/>
        </p:nvSpPr>
        <p:spPr>
          <a:xfrm>
            <a:off x="365760" y="0"/>
            <a:ext cx="8412600" cy="6402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FFFFFF"/>
              </a:buClr>
              <a:buSzPts val="2400"/>
              <a:buFont typeface="Calibri"/>
              <a:buNone/>
            </a:pPr>
            <a:r>
              <a:rPr lang="en" sz="2400" b="1" i="0" u="none" strike="noStrike" cap="none">
                <a:solidFill>
                  <a:srgbClr val="1E2761"/>
                </a:solidFill>
                <a:sym typeface="Calibri"/>
              </a:rPr>
              <a:t>⚡  Parameter Cheat Sheet</a:t>
            </a:r>
            <a:endParaRPr sz="2400" b="0" i="0" u="none" strike="noStrike" cap="none">
              <a:solidFill>
                <a:schemeClr val="dk1"/>
              </a:solidFill>
              <a:latin typeface="Calibri"/>
              <a:ea typeface="Calibri"/>
              <a:cs typeface="Calibri"/>
              <a:sym typeface="Calibri"/>
            </a:endParaRPr>
          </a:p>
        </p:txBody>
      </p:sp>
      <p:sp>
        <p:nvSpPr>
          <p:cNvPr id="2897" name="Google Shape;2897;p122"/>
          <p:cNvSpPr/>
          <p:nvPr/>
        </p:nvSpPr>
        <p:spPr>
          <a:xfrm>
            <a:off x="274320" y="749808"/>
            <a:ext cx="2011800" cy="329100"/>
          </a:xfrm>
          <a:prstGeom prst="rect">
            <a:avLst/>
          </a:prstGeom>
          <a:solidFill>
            <a:srgbClr val="1E1B4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8" name="Google Shape;2898;p122"/>
          <p:cNvSpPr/>
          <p:nvPr/>
        </p:nvSpPr>
        <p:spPr>
          <a:xfrm>
            <a:off x="274320" y="749808"/>
            <a:ext cx="2011800" cy="32910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FFFFFF"/>
              </a:buClr>
              <a:buSzPts val="1100"/>
              <a:buFont typeface="Calibri"/>
              <a:buNone/>
            </a:pPr>
            <a:r>
              <a:rPr lang="en" sz="1100" b="1" i="0" u="none" strike="noStrike" cap="none">
                <a:solidFill>
                  <a:srgbClr val="FFFFFF"/>
                </a:solidFill>
                <a:sym typeface="Calibri"/>
              </a:rPr>
              <a:t>Parameter</a:t>
            </a:r>
            <a:endParaRPr sz="1100" b="0" i="0" u="none" strike="noStrike" cap="none">
              <a:solidFill>
                <a:schemeClr val="dk1"/>
              </a:solidFill>
              <a:latin typeface="Calibri"/>
              <a:ea typeface="Calibri"/>
              <a:cs typeface="Calibri"/>
              <a:sym typeface="Calibri"/>
            </a:endParaRPr>
          </a:p>
        </p:txBody>
      </p:sp>
      <p:sp>
        <p:nvSpPr>
          <p:cNvPr id="2899" name="Google Shape;2899;p122"/>
          <p:cNvSpPr/>
          <p:nvPr/>
        </p:nvSpPr>
        <p:spPr>
          <a:xfrm>
            <a:off x="2331720" y="749808"/>
            <a:ext cx="1051500" cy="329100"/>
          </a:xfrm>
          <a:prstGeom prst="rect">
            <a:avLst/>
          </a:prstGeom>
          <a:solidFill>
            <a:srgbClr val="1E1B4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0" name="Google Shape;2900;p122"/>
          <p:cNvSpPr/>
          <p:nvPr/>
        </p:nvSpPr>
        <p:spPr>
          <a:xfrm>
            <a:off x="2331720" y="749808"/>
            <a:ext cx="1051500" cy="32910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FFFFFF"/>
              </a:buClr>
              <a:buSzPts val="1100"/>
              <a:buFont typeface="Calibri"/>
              <a:buNone/>
            </a:pPr>
            <a:r>
              <a:rPr lang="en" sz="1100" b="1" i="0" u="none" strike="noStrike" cap="none">
                <a:solidFill>
                  <a:srgbClr val="FFFFFF"/>
                </a:solidFill>
                <a:sym typeface="Calibri"/>
              </a:rPr>
              <a:t>Range</a:t>
            </a:r>
            <a:endParaRPr sz="1100" b="0" i="0" u="none" strike="noStrike" cap="none">
              <a:solidFill>
                <a:schemeClr val="dk1"/>
              </a:solidFill>
              <a:latin typeface="Calibri"/>
              <a:ea typeface="Calibri"/>
              <a:cs typeface="Calibri"/>
              <a:sym typeface="Calibri"/>
            </a:endParaRPr>
          </a:p>
        </p:txBody>
      </p:sp>
      <p:sp>
        <p:nvSpPr>
          <p:cNvPr id="2901" name="Google Shape;2901;p122"/>
          <p:cNvSpPr/>
          <p:nvPr/>
        </p:nvSpPr>
        <p:spPr>
          <a:xfrm>
            <a:off x="3429000" y="749808"/>
            <a:ext cx="822900" cy="329100"/>
          </a:xfrm>
          <a:prstGeom prst="rect">
            <a:avLst/>
          </a:prstGeom>
          <a:solidFill>
            <a:srgbClr val="1E1B4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2" name="Google Shape;2902;p122"/>
          <p:cNvSpPr/>
          <p:nvPr/>
        </p:nvSpPr>
        <p:spPr>
          <a:xfrm>
            <a:off x="3429000" y="749808"/>
            <a:ext cx="822900" cy="32910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FFFFFF"/>
              </a:buClr>
              <a:buSzPts val="1100"/>
              <a:buFont typeface="Calibri"/>
              <a:buNone/>
            </a:pPr>
            <a:r>
              <a:rPr lang="en" sz="1100" b="1" i="0" u="none" strike="noStrike" cap="none">
                <a:solidFill>
                  <a:srgbClr val="FFFFFF"/>
                </a:solidFill>
                <a:sym typeface="Calibri"/>
              </a:rPr>
              <a:t>Default</a:t>
            </a:r>
            <a:endParaRPr sz="1100" b="0" i="0" u="none" strike="noStrike" cap="none">
              <a:solidFill>
                <a:schemeClr val="dk1"/>
              </a:solidFill>
              <a:latin typeface="Calibri"/>
              <a:ea typeface="Calibri"/>
              <a:cs typeface="Calibri"/>
              <a:sym typeface="Calibri"/>
            </a:endParaRPr>
          </a:p>
        </p:txBody>
      </p:sp>
      <p:sp>
        <p:nvSpPr>
          <p:cNvPr id="2903" name="Google Shape;2903;p122"/>
          <p:cNvSpPr/>
          <p:nvPr/>
        </p:nvSpPr>
        <p:spPr>
          <a:xfrm>
            <a:off x="4297680" y="749808"/>
            <a:ext cx="868800" cy="329100"/>
          </a:xfrm>
          <a:prstGeom prst="rect">
            <a:avLst/>
          </a:prstGeom>
          <a:solidFill>
            <a:srgbClr val="1E1B4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4" name="Google Shape;2904;p122"/>
          <p:cNvSpPr/>
          <p:nvPr/>
        </p:nvSpPr>
        <p:spPr>
          <a:xfrm>
            <a:off x="4297680" y="749808"/>
            <a:ext cx="868800" cy="32910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FFFFFF"/>
              </a:buClr>
              <a:buSzPts val="1100"/>
              <a:buFont typeface="Calibri"/>
              <a:buNone/>
            </a:pPr>
            <a:r>
              <a:rPr lang="en" sz="1100" b="1" i="0" u="none" strike="noStrike" cap="none">
                <a:solidFill>
                  <a:srgbClr val="FFFFFF"/>
                </a:solidFill>
                <a:sym typeface="Calibri"/>
              </a:rPr>
              <a:t>Creative</a:t>
            </a:r>
            <a:endParaRPr sz="1100" b="0" i="0" u="none" strike="noStrike" cap="none">
              <a:solidFill>
                <a:schemeClr val="dk1"/>
              </a:solidFill>
              <a:latin typeface="Calibri"/>
              <a:ea typeface="Calibri"/>
              <a:cs typeface="Calibri"/>
              <a:sym typeface="Calibri"/>
            </a:endParaRPr>
          </a:p>
        </p:txBody>
      </p:sp>
      <p:sp>
        <p:nvSpPr>
          <p:cNvPr id="2905" name="Google Shape;2905;p122"/>
          <p:cNvSpPr/>
          <p:nvPr/>
        </p:nvSpPr>
        <p:spPr>
          <a:xfrm>
            <a:off x="5212080" y="749808"/>
            <a:ext cx="868800" cy="329100"/>
          </a:xfrm>
          <a:prstGeom prst="rect">
            <a:avLst/>
          </a:prstGeom>
          <a:solidFill>
            <a:srgbClr val="1E1B4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6" name="Google Shape;2906;p122"/>
          <p:cNvSpPr/>
          <p:nvPr/>
        </p:nvSpPr>
        <p:spPr>
          <a:xfrm>
            <a:off x="5212080" y="749808"/>
            <a:ext cx="868800" cy="32910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FFFFFF"/>
              </a:buClr>
              <a:buSzPts val="1100"/>
              <a:buFont typeface="Calibri"/>
              <a:buNone/>
            </a:pPr>
            <a:r>
              <a:rPr lang="en" sz="1100" b="1" i="0" u="none" strike="noStrike" cap="none">
                <a:solidFill>
                  <a:srgbClr val="FFFFFF"/>
                </a:solidFill>
                <a:sym typeface="Calibri"/>
              </a:rPr>
              <a:t>Factual</a:t>
            </a:r>
            <a:endParaRPr sz="1100" b="0" i="0" u="none" strike="noStrike" cap="none">
              <a:solidFill>
                <a:schemeClr val="dk1"/>
              </a:solidFill>
              <a:latin typeface="Calibri"/>
              <a:ea typeface="Calibri"/>
              <a:cs typeface="Calibri"/>
              <a:sym typeface="Calibri"/>
            </a:endParaRPr>
          </a:p>
        </p:txBody>
      </p:sp>
      <p:sp>
        <p:nvSpPr>
          <p:cNvPr id="2907" name="Google Shape;2907;p122"/>
          <p:cNvSpPr/>
          <p:nvPr/>
        </p:nvSpPr>
        <p:spPr>
          <a:xfrm>
            <a:off x="6144768" y="749808"/>
            <a:ext cx="2880300" cy="329100"/>
          </a:xfrm>
          <a:prstGeom prst="rect">
            <a:avLst/>
          </a:prstGeom>
          <a:solidFill>
            <a:srgbClr val="1E1B4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8" name="Google Shape;2908;p122"/>
          <p:cNvSpPr/>
          <p:nvPr/>
        </p:nvSpPr>
        <p:spPr>
          <a:xfrm>
            <a:off x="6144768" y="749808"/>
            <a:ext cx="2880300" cy="32910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FFFFFF"/>
              </a:buClr>
              <a:buSzPts val="1100"/>
              <a:buFont typeface="Calibri"/>
              <a:buNone/>
            </a:pPr>
            <a:r>
              <a:rPr lang="en" sz="1100" b="1" i="0" u="none" strike="noStrike" cap="none">
                <a:solidFill>
                  <a:srgbClr val="FFFFFF"/>
                </a:solidFill>
                <a:sym typeface="Calibri"/>
              </a:rPr>
              <a:t>Description</a:t>
            </a:r>
            <a:endParaRPr sz="1100" b="0" i="0" u="none" strike="noStrike" cap="none">
              <a:solidFill>
                <a:schemeClr val="dk1"/>
              </a:solidFill>
              <a:latin typeface="Calibri"/>
              <a:ea typeface="Calibri"/>
              <a:cs typeface="Calibri"/>
              <a:sym typeface="Calibri"/>
            </a:endParaRPr>
          </a:p>
        </p:txBody>
      </p:sp>
      <p:sp>
        <p:nvSpPr>
          <p:cNvPr id="2909" name="Google Shape;2909;p122"/>
          <p:cNvSpPr/>
          <p:nvPr/>
        </p:nvSpPr>
        <p:spPr>
          <a:xfrm>
            <a:off x="274320" y="1170432"/>
            <a:ext cx="8750700" cy="512100"/>
          </a:xfrm>
          <a:prstGeom prst="rect">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0" name="Google Shape;2910;p122"/>
          <p:cNvSpPr/>
          <p:nvPr/>
        </p:nvSpPr>
        <p:spPr>
          <a:xfrm>
            <a:off x="274320" y="1170432"/>
            <a:ext cx="91500" cy="512100"/>
          </a:xfrm>
          <a:prstGeom prst="rect">
            <a:avLst/>
          </a:prstGeom>
          <a:solidFill>
            <a:srgbClr val="EA580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1" name="Google Shape;2911;p122"/>
          <p:cNvSpPr/>
          <p:nvPr/>
        </p:nvSpPr>
        <p:spPr>
          <a:xfrm>
            <a:off x="411480" y="1170432"/>
            <a:ext cx="1874400" cy="5121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EA580C"/>
              </a:buClr>
              <a:buSzPts val="1100"/>
              <a:buFont typeface="Consolas"/>
              <a:buNone/>
            </a:pPr>
            <a:r>
              <a:rPr lang="en" sz="1100" b="1" i="0" u="none" strike="noStrike" cap="none">
                <a:solidFill>
                  <a:srgbClr val="EA580C"/>
                </a:solidFill>
                <a:sym typeface="Consolas"/>
              </a:rPr>
              <a:t>temperature</a:t>
            </a:r>
            <a:endParaRPr sz="1100" b="0" i="0" u="none" strike="noStrike" cap="none">
              <a:solidFill>
                <a:schemeClr val="dk1"/>
              </a:solidFill>
              <a:latin typeface="Calibri"/>
              <a:ea typeface="Calibri"/>
              <a:cs typeface="Calibri"/>
              <a:sym typeface="Calibri"/>
            </a:endParaRPr>
          </a:p>
        </p:txBody>
      </p:sp>
      <p:sp>
        <p:nvSpPr>
          <p:cNvPr id="2912" name="Google Shape;2912;p122"/>
          <p:cNvSpPr/>
          <p:nvPr/>
        </p:nvSpPr>
        <p:spPr>
          <a:xfrm>
            <a:off x="2331720" y="1170432"/>
            <a:ext cx="1051500" cy="51210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374151"/>
              </a:buClr>
              <a:buSzPts val="1050"/>
              <a:buFont typeface="Calibri"/>
              <a:buNone/>
            </a:pPr>
            <a:r>
              <a:rPr lang="en" sz="1050" b="0" i="0" u="none" strike="noStrike" cap="none">
                <a:solidFill>
                  <a:srgbClr val="1A1F36"/>
                </a:solidFill>
                <a:sym typeface="Calibri"/>
              </a:rPr>
              <a:t>0.0 – 2.0</a:t>
            </a:r>
            <a:endParaRPr sz="1050" b="0" i="0" u="none" strike="noStrike" cap="none">
              <a:solidFill>
                <a:schemeClr val="dk1"/>
              </a:solidFill>
              <a:latin typeface="Calibri"/>
              <a:ea typeface="Calibri"/>
              <a:cs typeface="Calibri"/>
              <a:sym typeface="Calibri"/>
            </a:endParaRPr>
          </a:p>
        </p:txBody>
      </p:sp>
      <p:sp>
        <p:nvSpPr>
          <p:cNvPr id="2913" name="Google Shape;2913;p122"/>
          <p:cNvSpPr/>
          <p:nvPr/>
        </p:nvSpPr>
        <p:spPr>
          <a:xfrm>
            <a:off x="3429000" y="1170432"/>
            <a:ext cx="822900" cy="51210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6B7280"/>
              </a:buClr>
              <a:buSzPts val="1050"/>
              <a:buFont typeface="Calibri"/>
              <a:buNone/>
            </a:pPr>
            <a:r>
              <a:rPr lang="en" sz="1050" b="0" i="0" u="none" strike="noStrike" cap="none">
                <a:solidFill>
                  <a:srgbClr val="1A1F36"/>
                </a:solidFill>
                <a:sym typeface="Calibri"/>
              </a:rPr>
              <a:t>1.0</a:t>
            </a:r>
            <a:endParaRPr sz="1050" b="0" i="0" u="none" strike="noStrike" cap="none">
              <a:solidFill>
                <a:schemeClr val="dk1"/>
              </a:solidFill>
              <a:latin typeface="Calibri"/>
              <a:ea typeface="Calibri"/>
              <a:cs typeface="Calibri"/>
              <a:sym typeface="Calibri"/>
            </a:endParaRPr>
          </a:p>
        </p:txBody>
      </p:sp>
      <p:sp>
        <p:nvSpPr>
          <p:cNvPr id="2914" name="Google Shape;2914;p122"/>
          <p:cNvSpPr/>
          <p:nvPr/>
        </p:nvSpPr>
        <p:spPr>
          <a:xfrm>
            <a:off x="4315968" y="1280160"/>
            <a:ext cx="804600" cy="292500"/>
          </a:xfrm>
          <a:prstGeom prst="rect">
            <a:avLst/>
          </a:prstGeom>
          <a:solidFill>
            <a:srgbClr val="DDD6F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5" name="Google Shape;2915;p122"/>
          <p:cNvSpPr/>
          <p:nvPr/>
        </p:nvSpPr>
        <p:spPr>
          <a:xfrm>
            <a:off x="4315968" y="1280160"/>
            <a:ext cx="804600" cy="29250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7C3AED"/>
              </a:buClr>
              <a:buSzPts val="1050"/>
              <a:buFont typeface="Consolas"/>
              <a:buNone/>
            </a:pPr>
            <a:r>
              <a:rPr lang="en" sz="1050" b="1" i="0" u="none" strike="noStrike" cap="none">
                <a:solidFill>
                  <a:srgbClr val="7C3AED"/>
                </a:solidFill>
                <a:sym typeface="Consolas"/>
              </a:rPr>
              <a:t>1.2</a:t>
            </a:r>
            <a:endParaRPr sz="1050" b="0" i="0" u="none" strike="noStrike" cap="none">
              <a:solidFill>
                <a:schemeClr val="dk1"/>
              </a:solidFill>
              <a:latin typeface="Calibri"/>
              <a:ea typeface="Calibri"/>
              <a:cs typeface="Calibri"/>
              <a:sym typeface="Calibri"/>
            </a:endParaRPr>
          </a:p>
        </p:txBody>
      </p:sp>
      <p:sp>
        <p:nvSpPr>
          <p:cNvPr id="2916" name="Google Shape;2916;p122"/>
          <p:cNvSpPr/>
          <p:nvPr/>
        </p:nvSpPr>
        <p:spPr>
          <a:xfrm>
            <a:off x="5230368" y="1280160"/>
            <a:ext cx="822900" cy="292500"/>
          </a:xfrm>
          <a:prstGeom prst="rect">
            <a:avLst/>
          </a:prstGeom>
          <a:solidFill>
            <a:srgbClr val="BBF7D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7" name="Google Shape;2917;p122"/>
          <p:cNvSpPr/>
          <p:nvPr/>
        </p:nvSpPr>
        <p:spPr>
          <a:xfrm>
            <a:off x="5230368" y="1280160"/>
            <a:ext cx="822900" cy="29250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059669"/>
              </a:buClr>
              <a:buSzPts val="1050"/>
              <a:buFont typeface="Consolas"/>
              <a:buNone/>
            </a:pPr>
            <a:r>
              <a:rPr lang="en" sz="1050" b="1" i="0" u="none" strike="noStrike" cap="none">
                <a:solidFill>
                  <a:srgbClr val="059669"/>
                </a:solidFill>
                <a:sym typeface="Consolas"/>
              </a:rPr>
              <a:t>0.3</a:t>
            </a:r>
            <a:endParaRPr sz="1050" b="0" i="0" u="none" strike="noStrike" cap="none">
              <a:solidFill>
                <a:schemeClr val="dk1"/>
              </a:solidFill>
              <a:latin typeface="Calibri"/>
              <a:ea typeface="Calibri"/>
              <a:cs typeface="Calibri"/>
              <a:sym typeface="Calibri"/>
            </a:endParaRPr>
          </a:p>
        </p:txBody>
      </p:sp>
      <p:sp>
        <p:nvSpPr>
          <p:cNvPr id="2918" name="Google Shape;2918;p122"/>
          <p:cNvSpPr/>
          <p:nvPr/>
        </p:nvSpPr>
        <p:spPr>
          <a:xfrm>
            <a:off x="6144768" y="1170432"/>
            <a:ext cx="2834700" cy="5121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374151"/>
              </a:buClr>
              <a:buSzPts val="1050"/>
              <a:buFont typeface="Calibri"/>
              <a:buNone/>
            </a:pPr>
            <a:r>
              <a:rPr lang="en" sz="1050" b="0" i="0" u="none" strike="noStrike" cap="none">
                <a:solidFill>
                  <a:srgbClr val="1A1F36"/>
                </a:solidFill>
                <a:sym typeface="Calibri"/>
              </a:rPr>
              <a:t>Scales randomness of output distribution</a:t>
            </a:r>
            <a:endParaRPr sz="1050" b="0" i="0" u="none" strike="noStrike" cap="none">
              <a:solidFill>
                <a:schemeClr val="dk1"/>
              </a:solidFill>
              <a:latin typeface="Calibri"/>
              <a:ea typeface="Calibri"/>
              <a:cs typeface="Calibri"/>
              <a:sym typeface="Calibri"/>
            </a:endParaRPr>
          </a:p>
        </p:txBody>
      </p:sp>
      <p:sp>
        <p:nvSpPr>
          <p:cNvPr id="2919" name="Google Shape;2919;p122"/>
          <p:cNvSpPr/>
          <p:nvPr/>
        </p:nvSpPr>
        <p:spPr>
          <a:xfrm>
            <a:off x="274320" y="1737360"/>
            <a:ext cx="8750700" cy="512100"/>
          </a:xfrm>
          <a:prstGeom prst="rect">
            <a:avLst/>
          </a:prstGeom>
          <a:solidFill>
            <a:srgbClr val="EEF2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0" name="Google Shape;2920;p122"/>
          <p:cNvSpPr/>
          <p:nvPr/>
        </p:nvSpPr>
        <p:spPr>
          <a:xfrm>
            <a:off x="274320" y="1737360"/>
            <a:ext cx="91500" cy="512100"/>
          </a:xfrm>
          <a:prstGeom prst="rect">
            <a:avLst/>
          </a:prstGeom>
          <a:solidFill>
            <a:srgbClr val="05966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1" name="Google Shape;2921;p122"/>
          <p:cNvSpPr/>
          <p:nvPr/>
        </p:nvSpPr>
        <p:spPr>
          <a:xfrm>
            <a:off x="411480" y="1737360"/>
            <a:ext cx="1874400" cy="5121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059669"/>
              </a:buClr>
              <a:buSzPts val="1100"/>
              <a:buFont typeface="Consolas"/>
              <a:buNone/>
            </a:pPr>
            <a:r>
              <a:rPr lang="en" sz="1100" b="1" i="0" u="none" strike="noStrike" cap="none">
                <a:solidFill>
                  <a:srgbClr val="059669"/>
                </a:solidFill>
                <a:sym typeface="Consolas"/>
              </a:rPr>
              <a:t>top_k</a:t>
            </a:r>
            <a:endParaRPr sz="1100" b="0" i="0" u="none" strike="noStrike" cap="none">
              <a:solidFill>
                <a:schemeClr val="dk1"/>
              </a:solidFill>
              <a:latin typeface="Calibri"/>
              <a:ea typeface="Calibri"/>
              <a:cs typeface="Calibri"/>
              <a:sym typeface="Calibri"/>
            </a:endParaRPr>
          </a:p>
        </p:txBody>
      </p:sp>
      <p:sp>
        <p:nvSpPr>
          <p:cNvPr id="2922" name="Google Shape;2922;p122"/>
          <p:cNvSpPr/>
          <p:nvPr/>
        </p:nvSpPr>
        <p:spPr>
          <a:xfrm>
            <a:off x="2331720" y="1737360"/>
            <a:ext cx="1051500" cy="51210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374151"/>
              </a:buClr>
              <a:buSzPts val="1050"/>
              <a:buFont typeface="Calibri"/>
              <a:buNone/>
            </a:pPr>
            <a:r>
              <a:rPr lang="en" sz="1050" b="0" i="0" u="none" strike="noStrike" cap="none">
                <a:solidFill>
                  <a:srgbClr val="1A1F36"/>
                </a:solidFill>
                <a:sym typeface="Calibri"/>
              </a:rPr>
              <a:t>1 – 1000+</a:t>
            </a:r>
            <a:endParaRPr sz="1050" b="0" i="0" u="none" strike="noStrike" cap="none">
              <a:solidFill>
                <a:schemeClr val="dk1"/>
              </a:solidFill>
              <a:latin typeface="Calibri"/>
              <a:ea typeface="Calibri"/>
              <a:cs typeface="Calibri"/>
              <a:sym typeface="Calibri"/>
            </a:endParaRPr>
          </a:p>
        </p:txBody>
      </p:sp>
      <p:sp>
        <p:nvSpPr>
          <p:cNvPr id="2923" name="Google Shape;2923;p122"/>
          <p:cNvSpPr/>
          <p:nvPr/>
        </p:nvSpPr>
        <p:spPr>
          <a:xfrm>
            <a:off x="3429000" y="1737360"/>
            <a:ext cx="822900" cy="51210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6B7280"/>
              </a:buClr>
              <a:buSzPts val="1050"/>
              <a:buFont typeface="Calibri"/>
              <a:buNone/>
            </a:pPr>
            <a:r>
              <a:rPr lang="en" sz="1050" b="0" i="0" u="none" strike="noStrike" cap="none">
                <a:solidFill>
                  <a:srgbClr val="1A1F36"/>
                </a:solidFill>
                <a:sym typeface="Calibri"/>
              </a:rPr>
              <a:t>50</a:t>
            </a:r>
            <a:endParaRPr sz="1050" b="0" i="0" u="none" strike="noStrike" cap="none">
              <a:solidFill>
                <a:schemeClr val="dk1"/>
              </a:solidFill>
              <a:latin typeface="Calibri"/>
              <a:ea typeface="Calibri"/>
              <a:cs typeface="Calibri"/>
              <a:sym typeface="Calibri"/>
            </a:endParaRPr>
          </a:p>
        </p:txBody>
      </p:sp>
      <p:sp>
        <p:nvSpPr>
          <p:cNvPr id="2924" name="Google Shape;2924;p122"/>
          <p:cNvSpPr/>
          <p:nvPr/>
        </p:nvSpPr>
        <p:spPr>
          <a:xfrm>
            <a:off x="4315968" y="1847088"/>
            <a:ext cx="804600" cy="292500"/>
          </a:xfrm>
          <a:prstGeom prst="rect">
            <a:avLst/>
          </a:prstGeom>
          <a:solidFill>
            <a:srgbClr val="DDD6F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5" name="Google Shape;2925;p122"/>
          <p:cNvSpPr/>
          <p:nvPr/>
        </p:nvSpPr>
        <p:spPr>
          <a:xfrm>
            <a:off x="4315968" y="1847088"/>
            <a:ext cx="804600" cy="29250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7C3AED"/>
              </a:buClr>
              <a:buSzPts val="1050"/>
              <a:buFont typeface="Consolas"/>
              <a:buNone/>
            </a:pPr>
            <a:r>
              <a:rPr lang="en" sz="1050" b="1" i="0" u="none" strike="noStrike" cap="none">
                <a:solidFill>
                  <a:srgbClr val="7C3AED"/>
                </a:solidFill>
                <a:sym typeface="Consolas"/>
              </a:rPr>
              <a:t>80</a:t>
            </a:r>
            <a:endParaRPr sz="1050" b="0" i="0" u="none" strike="noStrike" cap="none">
              <a:solidFill>
                <a:schemeClr val="dk1"/>
              </a:solidFill>
              <a:latin typeface="Calibri"/>
              <a:ea typeface="Calibri"/>
              <a:cs typeface="Calibri"/>
              <a:sym typeface="Calibri"/>
            </a:endParaRPr>
          </a:p>
        </p:txBody>
      </p:sp>
      <p:sp>
        <p:nvSpPr>
          <p:cNvPr id="2926" name="Google Shape;2926;p122"/>
          <p:cNvSpPr/>
          <p:nvPr/>
        </p:nvSpPr>
        <p:spPr>
          <a:xfrm>
            <a:off x="5230368" y="1847088"/>
            <a:ext cx="822900" cy="292500"/>
          </a:xfrm>
          <a:prstGeom prst="rect">
            <a:avLst/>
          </a:prstGeom>
          <a:solidFill>
            <a:srgbClr val="BBF7D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7" name="Google Shape;2927;p122"/>
          <p:cNvSpPr/>
          <p:nvPr/>
        </p:nvSpPr>
        <p:spPr>
          <a:xfrm>
            <a:off x="5230368" y="1847088"/>
            <a:ext cx="822900" cy="29250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059669"/>
              </a:buClr>
              <a:buSzPts val="1050"/>
              <a:buFont typeface="Consolas"/>
              <a:buNone/>
            </a:pPr>
            <a:r>
              <a:rPr lang="en" sz="1050" b="1" i="0" u="none" strike="noStrike" cap="none">
                <a:solidFill>
                  <a:srgbClr val="059669"/>
                </a:solidFill>
                <a:sym typeface="Consolas"/>
              </a:rPr>
              <a:t>10</a:t>
            </a:r>
            <a:endParaRPr sz="1050" b="0" i="0" u="none" strike="noStrike" cap="none">
              <a:solidFill>
                <a:schemeClr val="dk1"/>
              </a:solidFill>
              <a:latin typeface="Calibri"/>
              <a:ea typeface="Calibri"/>
              <a:cs typeface="Calibri"/>
              <a:sym typeface="Calibri"/>
            </a:endParaRPr>
          </a:p>
        </p:txBody>
      </p:sp>
      <p:sp>
        <p:nvSpPr>
          <p:cNvPr id="2928" name="Google Shape;2928;p122"/>
          <p:cNvSpPr/>
          <p:nvPr/>
        </p:nvSpPr>
        <p:spPr>
          <a:xfrm>
            <a:off x="6144768" y="1737360"/>
            <a:ext cx="2834700" cy="5121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374151"/>
              </a:buClr>
              <a:buSzPts val="1050"/>
              <a:buFont typeface="Calibri"/>
              <a:buNone/>
            </a:pPr>
            <a:r>
              <a:rPr lang="en" sz="1050" b="0" i="0" u="none" strike="noStrike" cap="none">
                <a:solidFill>
                  <a:srgbClr val="1A1F36"/>
                </a:solidFill>
                <a:sym typeface="Calibri"/>
              </a:rPr>
              <a:t>Keeps only k highest-probability tokens</a:t>
            </a:r>
            <a:endParaRPr sz="1050" b="0" i="0" u="none" strike="noStrike" cap="none">
              <a:solidFill>
                <a:schemeClr val="dk1"/>
              </a:solidFill>
              <a:latin typeface="Calibri"/>
              <a:ea typeface="Calibri"/>
              <a:cs typeface="Calibri"/>
              <a:sym typeface="Calibri"/>
            </a:endParaRPr>
          </a:p>
        </p:txBody>
      </p:sp>
      <p:sp>
        <p:nvSpPr>
          <p:cNvPr id="2929" name="Google Shape;2929;p122"/>
          <p:cNvSpPr/>
          <p:nvPr/>
        </p:nvSpPr>
        <p:spPr>
          <a:xfrm>
            <a:off x="274320" y="2304288"/>
            <a:ext cx="8750700" cy="512100"/>
          </a:xfrm>
          <a:prstGeom prst="rect">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0" name="Google Shape;2930;p122"/>
          <p:cNvSpPr/>
          <p:nvPr/>
        </p:nvSpPr>
        <p:spPr>
          <a:xfrm>
            <a:off x="274320" y="2304288"/>
            <a:ext cx="91500" cy="512100"/>
          </a:xfrm>
          <a:prstGeom prst="rect">
            <a:avLst/>
          </a:prstGeom>
          <a:solidFill>
            <a:srgbClr val="06B6D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1" name="Google Shape;2931;p122"/>
          <p:cNvSpPr/>
          <p:nvPr/>
        </p:nvSpPr>
        <p:spPr>
          <a:xfrm>
            <a:off x="411480" y="2304288"/>
            <a:ext cx="1874400" cy="5121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06B6D4"/>
              </a:buClr>
              <a:buSzPts val="1100"/>
              <a:buFont typeface="Consolas"/>
              <a:buNone/>
            </a:pPr>
            <a:r>
              <a:rPr lang="en" sz="1100" b="1" i="0" u="none" strike="noStrike" cap="none">
                <a:solidFill>
                  <a:srgbClr val="06B6D4"/>
                </a:solidFill>
                <a:sym typeface="Consolas"/>
              </a:rPr>
              <a:t>top_p</a:t>
            </a:r>
            <a:endParaRPr sz="1100" b="0" i="0" u="none" strike="noStrike" cap="none">
              <a:solidFill>
                <a:schemeClr val="dk1"/>
              </a:solidFill>
              <a:latin typeface="Calibri"/>
              <a:ea typeface="Calibri"/>
              <a:cs typeface="Calibri"/>
              <a:sym typeface="Calibri"/>
            </a:endParaRPr>
          </a:p>
        </p:txBody>
      </p:sp>
      <p:sp>
        <p:nvSpPr>
          <p:cNvPr id="2932" name="Google Shape;2932;p122"/>
          <p:cNvSpPr/>
          <p:nvPr/>
        </p:nvSpPr>
        <p:spPr>
          <a:xfrm>
            <a:off x="2331720" y="2304288"/>
            <a:ext cx="1051500" cy="51210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374151"/>
              </a:buClr>
              <a:buSzPts val="1050"/>
              <a:buFont typeface="Calibri"/>
              <a:buNone/>
            </a:pPr>
            <a:r>
              <a:rPr lang="en" sz="1050" b="0" i="0" u="none" strike="noStrike" cap="none">
                <a:solidFill>
                  <a:srgbClr val="1A1F36"/>
                </a:solidFill>
                <a:sym typeface="Calibri"/>
              </a:rPr>
              <a:t>0.0 – 1.0</a:t>
            </a:r>
            <a:endParaRPr sz="1050" b="0" i="0" u="none" strike="noStrike" cap="none">
              <a:solidFill>
                <a:schemeClr val="dk1"/>
              </a:solidFill>
              <a:latin typeface="Calibri"/>
              <a:ea typeface="Calibri"/>
              <a:cs typeface="Calibri"/>
              <a:sym typeface="Calibri"/>
            </a:endParaRPr>
          </a:p>
        </p:txBody>
      </p:sp>
      <p:sp>
        <p:nvSpPr>
          <p:cNvPr id="2933" name="Google Shape;2933;p122"/>
          <p:cNvSpPr/>
          <p:nvPr/>
        </p:nvSpPr>
        <p:spPr>
          <a:xfrm>
            <a:off x="3429000" y="2304288"/>
            <a:ext cx="822900" cy="51210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6B7280"/>
              </a:buClr>
              <a:buSzPts val="1050"/>
              <a:buFont typeface="Calibri"/>
              <a:buNone/>
            </a:pPr>
            <a:r>
              <a:rPr lang="en" sz="1050" b="0" i="0" u="none" strike="noStrike" cap="none">
                <a:solidFill>
                  <a:srgbClr val="1A1F36"/>
                </a:solidFill>
                <a:sym typeface="Calibri"/>
              </a:rPr>
              <a:t>1.0</a:t>
            </a:r>
            <a:endParaRPr sz="1050" b="0" i="0" u="none" strike="noStrike" cap="none">
              <a:solidFill>
                <a:schemeClr val="dk1"/>
              </a:solidFill>
              <a:latin typeface="Calibri"/>
              <a:ea typeface="Calibri"/>
              <a:cs typeface="Calibri"/>
              <a:sym typeface="Calibri"/>
            </a:endParaRPr>
          </a:p>
        </p:txBody>
      </p:sp>
      <p:sp>
        <p:nvSpPr>
          <p:cNvPr id="2934" name="Google Shape;2934;p122"/>
          <p:cNvSpPr/>
          <p:nvPr/>
        </p:nvSpPr>
        <p:spPr>
          <a:xfrm>
            <a:off x="4315968" y="2414016"/>
            <a:ext cx="804600" cy="292500"/>
          </a:xfrm>
          <a:prstGeom prst="rect">
            <a:avLst/>
          </a:prstGeom>
          <a:solidFill>
            <a:srgbClr val="DDD6F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5" name="Google Shape;2935;p122"/>
          <p:cNvSpPr/>
          <p:nvPr/>
        </p:nvSpPr>
        <p:spPr>
          <a:xfrm>
            <a:off x="4315968" y="2414016"/>
            <a:ext cx="804600" cy="29250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7C3AED"/>
              </a:buClr>
              <a:buSzPts val="1050"/>
              <a:buFont typeface="Consolas"/>
              <a:buNone/>
            </a:pPr>
            <a:r>
              <a:rPr lang="en" sz="1050" b="1" i="0" u="none" strike="noStrike" cap="none">
                <a:solidFill>
                  <a:srgbClr val="7C3AED"/>
                </a:solidFill>
                <a:sym typeface="Consolas"/>
              </a:rPr>
              <a:t>0.95</a:t>
            </a:r>
            <a:endParaRPr sz="1050" b="0" i="0" u="none" strike="noStrike" cap="none">
              <a:solidFill>
                <a:schemeClr val="dk1"/>
              </a:solidFill>
              <a:latin typeface="Calibri"/>
              <a:ea typeface="Calibri"/>
              <a:cs typeface="Calibri"/>
              <a:sym typeface="Calibri"/>
            </a:endParaRPr>
          </a:p>
        </p:txBody>
      </p:sp>
      <p:sp>
        <p:nvSpPr>
          <p:cNvPr id="2936" name="Google Shape;2936;p122"/>
          <p:cNvSpPr/>
          <p:nvPr/>
        </p:nvSpPr>
        <p:spPr>
          <a:xfrm>
            <a:off x="5230368" y="2414016"/>
            <a:ext cx="822900" cy="292500"/>
          </a:xfrm>
          <a:prstGeom prst="rect">
            <a:avLst/>
          </a:prstGeom>
          <a:solidFill>
            <a:srgbClr val="BBF7D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7" name="Google Shape;2937;p122"/>
          <p:cNvSpPr/>
          <p:nvPr/>
        </p:nvSpPr>
        <p:spPr>
          <a:xfrm>
            <a:off x="5230368" y="2414016"/>
            <a:ext cx="822900" cy="29250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059669"/>
              </a:buClr>
              <a:buSzPts val="1050"/>
              <a:buFont typeface="Consolas"/>
              <a:buNone/>
            </a:pPr>
            <a:r>
              <a:rPr lang="en" sz="1050" b="1" i="0" u="none" strike="noStrike" cap="none">
                <a:solidFill>
                  <a:srgbClr val="059669"/>
                </a:solidFill>
                <a:sym typeface="Consolas"/>
              </a:rPr>
              <a:t>0.7</a:t>
            </a:r>
            <a:endParaRPr sz="1050" b="0" i="0" u="none" strike="noStrike" cap="none">
              <a:solidFill>
                <a:schemeClr val="dk1"/>
              </a:solidFill>
              <a:latin typeface="Calibri"/>
              <a:ea typeface="Calibri"/>
              <a:cs typeface="Calibri"/>
              <a:sym typeface="Calibri"/>
            </a:endParaRPr>
          </a:p>
        </p:txBody>
      </p:sp>
      <p:sp>
        <p:nvSpPr>
          <p:cNvPr id="2938" name="Google Shape;2938;p122"/>
          <p:cNvSpPr/>
          <p:nvPr/>
        </p:nvSpPr>
        <p:spPr>
          <a:xfrm>
            <a:off x="6144768" y="2304288"/>
            <a:ext cx="2834700" cy="5121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374151"/>
              </a:buClr>
              <a:buSzPts val="1050"/>
              <a:buFont typeface="Calibri"/>
              <a:buNone/>
            </a:pPr>
            <a:r>
              <a:rPr lang="en" sz="1050" b="0" i="0" u="none" strike="noStrike" cap="none">
                <a:solidFill>
                  <a:srgbClr val="1A1F36"/>
                </a:solidFill>
                <a:sym typeface="Calibri"/>
              </a:rPr>
              <a:t>Nucleus sampling: cumulative prob cutoff</a:t>
            </a:r>
            <a:endParaRPr sz="1050" b="0" i="0" u="none" strike="noStrike" cap="none">
              <a:solidFill>
                <a:schemeClr val="dk1"/>
              </a:solidFill>
              <a:latin typeface="Calibri"/>
              <a:ea typeface="Calibri"/>
              <a:cs typeface="Calibri"/>
              <a:sym typeface="Calibri"/>
            </a:endParaRPr>
          </a:p>
        </p:txBody>
      </p:sp>
      <p:sp>
        <p:nvSpPr>
          <p:cNvPr id="2939" name="Google Shape;2939;p122"/>
          <p:cNvSpPr/>
          <p:nvPr/>
        </p:nvSpPr>
        <p:spPr>
          <a:xfrm>
            <a:off x="274320" y="2871216"/>
            <a:ext cx="8750700" cy="512100"/>
          </a:xfrm>
          <a:prstGeom prst="rect">
            <a:avLst/>
          </a:prstGeom>
          <a:solidFill>
            <a:srgbClr val="EEF2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0" name="Google Shape;2940;p122"/>
          <p:cNvSpPr/>
          <p:nvPr/>
        </p:nvSpPr>
        <p:spPr>
          <a:xfrm>
            <a:off x="274320" y="2871216"/>
            <a:ext cx="91500" cy="512100"/>
          </a:xfrm>
          <a:prstGeom prst="rect">
            <a:avLst/>
          </a:prstGeom>
          <a:solidFill>
            <a:srgbClr val="7C3A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1" name="Google Shape;2941;p122"/>
          <p:cNvSpPr/>
          <p:nvPr/>
        </p:nvSpPr>
        <p:spPr>
          <a:xfrm>
            <a:off x="411480" y="2871216"/>
            <a:ext cx="1874400" cy="5121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7C3AED"/>
              </a:buClr>
              <a:buSzPts val="1100"/>
              <a:buFont typeface="Consolas"/>
              <a:buNone/>
            </a:pPr>
            <a:r>
              <a:rPr lang="en" sz="1100" b="1" i="0" u="none" strike="noStrike" cap="none">
                <a:solidFill>
                  <a:srgbClr val="7C3AED"/>
                </a:solidFill>
                <a:sym typeface="Consolas"/>
              </a:rPr>
              <a:t>repetition_penalty</a:t>
            </a:r>
            <a:endParaRPr sz="1100" b="0" i="0" u="none" strike="noStrike" cap="none">
              <a:solidFill>
                <a:schemeClr val="dk1"/>
              </a:solidFill>
              <a:latin typeface="Calibri"/>
              <a:ea typeface="Calibri"/>
              <a:cs typeface="Calibri"/>
              <a:sym typeface="Calibri"/>
            </a:endParaRPr>
          </a:p>
        </p:txBody>
      </p:sp>
      <p:sp>
        <p:nvSpPr>
          <p:cNvPr id="2942" name="Google Shape;2942;p122"/>
          <p:cNvSpPr/>
          <p:nvPr/>
        </p:nvSpPr>
        <p:spPr>
          <a:xfrm>
            <a:off x="2331720" y="2871216"/>
            <a:ext cx="1051500" cy="51210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374151"/>
              </a:buClr>
              <a:buSzPts val="1050"/>
              <a:buFont typeface="Calibri"/>
              <a:buNone/>
            </a:pPr>
            <a:r>
              <a:rPr lang="en" sz="1050" b="0" i="0" u="none" strike="noStrike" cap="none">
                <a:solidFill>
                  <a:srgbClr val="1A1F36"/>
                </a:solidFill>
                <a:sym typeface="Calibri"/>
              </a:rPr>
              <a:t>1.0 – 2.0</a:t>
            </a:r>
            <a:endParaRPr sz="1050" b="0" i="0" u="none" strike="noStrike" cap="none">
              <a:solidFill>
                <a:schemeClr val="dk1"/>
              </a:solidFill>
              <a:latin typeface="Calibri"/>
              <a:ea typeface="Calibri"/>
              <a:cs typeface="Calibri"/>
              <a:sym typeface="Calibri"/>
            </a:endParaRPr>
          </a:p>
        </p:txBody>
      </p:sp>
      <p:sp>
        <p:nvSpPr>
          <p:cNvPr id="2943" name="Google Shape;2943;p122"/>
          <p:cNvSpPr/>
          <p:nvPr/>
        </p:nvSpPr>
        <p:spPr>
          <a:xfrm>
            <a:off x="3429000" y="2871216"/>
            <a:ext cx="822900" cy="51210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6B7280"/>
              </a:buClr>
              <a:buSzPts val="1050"/>
              <a:buFont typeface="Calibri"/>
              <a:buNone/>
            </a:pPr>
            <a:r>
              <a:rPr lang="en" sz="1050" b="0" i="0" u="none" strike="noStrike" cap="none">
                <a:solidFill>
                  <a:srgbClr val="1A1F36"/>
                </a:solidFill>
                <a:sym typeface="Calibri"/>
              </a:rPr>
              <a:t>1.0</a:t>
            </a:r>
            <a:endParaRPr sz="1050" b="0" i="0" u="none" strike="noStrike" cap="none">
              <a:solidFill>
                <a:schemeClr val="dk1"/>
              </a:solidFill>
              <a:latin typeface="Calibri"/>
              <a:ea typeface="Calibri"/>
              <a:cs typeface="Calibri"/>
              <a:sym typeface="Calibri"/>
            </a:endParaRPr>
          </a:p>
        </p:txBody>
      </p:sp>
      <p:sp>
        <p:nvSpPr>
          <p:cNvPr id="2944" name="Google Shape;2944;p122"/>
          <p:cNvSpPr/>
          <p:nvPr/>
        </p:nvSpPr>
        <p:spPr>
          <a:xfrm>
            <a:off x="4315968" y="2980944"/>
            <a:ext cx="804600" cy="292500"/>
          </a:xfrm>
          <a:prstGeom prst="rect">
            <a:avLst/>
          </a:prstGeom>
          <a:solidFill>
            <a:srgbClr val="DDD6F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5" name="Google Shape;2945;p122"/>
          <p:cNvSpPr/>
          <p:nvPr/>
        </p:nvSpPr>
        <p:spPr>
          <a:xfrm>
            <a:off x="4315968" y="2980944"/>
            <a:ext cx="804600" cy="29250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7C3AED"/>
              </a:buClr>
              <a:buSzPts val="1050"/>
              <a:buFont typeface="Consolas"/>
              <a:buNone/>
            </a:pPr>
            <a:r>
              <a:rPr lang="en" sz="1050" b="1" i="0" u="none" strike="noStrike" cap="none">
                <a:solidFill>
                  <a:srgbClr val="7C3AED"/>
                </a:solidFill>
                <a:sym typeface="Consolas"/>
              </a:rPr>
              <a:t>1.2</a:t>
            </a:r>
            <a:endParaRPr sz="1050" b="0" i="0" u="none" strike="noStrike" cap="none">
              <a:solidFill>
                <a:schemeClr val="dk1"/>
              </a:solidFill>
              <a:latin typeface="Calibri"/>
              <a:ea typeface="Calibri"/>
              <a:cs typeface="Calibri"/>
              <a:sym typeface="Calibri"/>
            </a:endParaRPr>
          </a:p>
        </p:txBody>
      </p:sp>
      <p:sp>
        <p:nvSpPr>
          <p:cNvPr id="2946" name="Google Shape;2946;p122"/>
          <p:cNvSpPr/>
          <p:nvPr/>
        </p:nvSpPr>
        <p:spPr>
          <a:xfrm>
            <a:off x="5230368" y="2980944"/>
            <a:ext cx="822900" cy="292500"/>
          </a:xfrm>
          <a:prstGeom prst="rect">
            <a:avLst/>
          </a:prstGeom>
          <a:solidFill>
            <a:srgbClr val="BBF7D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7" name="Google Shape;2947;p122"/>
          <p:cNvSpPr/>
          <p:nvPr/>
        </p:nvSpPr>
        <p:spPr>
          <a:xfrm>
            <a:off x="5230368" y="2980944"/>
            <a:ext cx="822900" cy="29250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059669"/>
              </a:buClr>
              <a:buSzPts val="1050"/>
              <a:buFont typeface="Consolas"/>
              <a:buNone/>
            </a:pPr>
            <a:r>
              <a:rPr lang="en" sz="1050" b="1" i="0" u="none" strike="noStrike" cap="none">
                <a:solidFill>
                  <a:srgbClr val="059669"/>
                </a:solidFill>
                <a:sym typeface="Consolas"/>
              </a:rPr>
              <a:t>1.1</a:t>
            </a:r>
            <a:endParaRPr sz="1050" b="0" i="0" u="none" strike="noStrike" cap="none">
              <a:solidFill>
                <a:schemeClr val="dk1"/>
              </a:solidFill>
              <a:latin typeface="Calibri"/>
              <a:ea typeface="Calibri"/>
              <a:cs typeface="Calibri"/>
              <a:sym typeface="Calibri"/>
            </a:endParaRPr>
          </a:p>
        </p:txBody>
      </p:sp>
      <p:sp>
        <p:nvSpPr>
          <p:cNvPr id="2948" name="Google Shape;2948;p122"/>
          <p:cNvSpPr/>
          <p:nvPr/>
        </p:nvSpPr>
        <p:spPr>
          <a:xfrm>
            <a:off x="6144768" y="2871216"/>
            <a:ext cx="2834700" cy="5121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374151"/>
              </a:buClr>
              <a:buSzPts val="1050"/>
              <a:buFont typeface="Calibri"/>
              <a:buNone/>
            </a:pPr>
            <a:r>
              <a:rPr lang="en" sz="1050" b="0" i="0" u="none" strike="noStrike" cap="none">
                <a:solidFill>
                  <a:srgbClr val="1A1F36"/>
                </a:solidFill>
                <a:sym typeface="Calibri"/>
              </a:rPr>
              <a:t>Reduces logits for already-seen tokens</a:t>
            </a:r>
            <a:endParaRPr sz="1050" b="0" i="0" u="none" strike="noStrike" cap="none">
              <a:solidFill>
                <a:schemeClr val="dk1"/>
              </a:solidFill>
              <a:latin typeface="Calibri"/>
              <a:ea typeface="Calibri"/>
              <a:cs typeface="Calibri"/>
              <a:sym typeface="Calibri"/>
            </a:endParaRPr>
          </a:p>
        </p:txBody>
      </p:sp>
      <p:sp>
        <p:nvSpPr>
          <p:cNvPr id="2949" name="Google Shape;2949;p122"/>
          <p:cNvSpPr/>
          <p:nvPr/>
        </p:nvSpPr>
        <p:spPr>
          <a:xfrm>
            <a:off x="274320" y="3438144"/>
            <a:ext cx="8750700" cy="512100"/>
          </a:xfrm>
          <a:prstGeom prst="rect">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0" name="Google Shape;2950;p122"/>
          <p:cNvSpPr/>
          <p:nvPr/>
        </p:nvSpPr>
        <p:spPr>
          <a:xfrm>
            <a:off x="274320" y="3438144"/>
            <a:ext cx="91500" cy="512100"/>
          </a:xfrm>
          <a:prstGeom prst="rect">
            <a:avLst/>
          </a:prstGeom>
          <a:solidFill>
            <a:srgbClr val="4F46E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1" name="Google Shape;2951;p122"/>
          <p:cNvSpPr/>
          <p:nvPr/>
        </p:nvSpPr>
        <p:spPr>
          <a:xfrm>
            <a:off x="411480" y="3438144"/>
            <a:ext cx="1874400" cy="5121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4F46E5"/>
              </a:buClr>
              <a:buSzPts val="1100"/>
              <a:buFont typeface="Consolas"/>
              <a:buNone/>
            </a:pPr>
            <a:r>
              <a:rPr lang="en" sz="1100" b="1" i="0" u="none" strike="noStrike" cap="none">
                <a:solidFill>
                  <a:srgbClr val="4F46E5"/>
                </a:solidFill>
                <a:sym typeface="Consolas"/>
              </a:rPr>
              <a:t>frequency_penalty</a:t>
            </a:r>
            <a:endParaRPr sz="1100" b="0" i="0" u="none" strike="noStrike" cap="none">
              <a:solidFill>
                <a:schemeClr val="dk1"/>
              </a:solidFill>
              <a:latin typeface="Calibri"/>
              <a:ea typeface="Calibri"/>
              <a:cs typeface="Calibri"/>
              <a:sym typeface="Calibri"/>
            </a:endParaRPr>
          </a:p>
        </p:txBody>
      </p:sp>
      <p:sp>
        <p:nvSpPr>
          <p:cNvPr id="2952" name="Google Shape;2952;p122"/>
          <p:cNvSpPr/>
          <p:nvPr/>
        </p:nvSpPr>
        <p:spPr>
          <a:xfrm>
            <a:off x="2331720" y="3438144"/>
            <a:ext cx="1051500" cy="51210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374151"/>
              </a:buClr>
              <a:buSzPts val="1050"/>
              <a:buFont typeface="Calibri"/>
              <a:buNone/>
            </a:pPr>
            <a:r>
              <a:rPr lang="en" sz="1050" b="0" i="0" u="none" strike="noStrike" cap="none">
                <a:solidFill>
                  <a:srgbClr val="1A1F36"/>
                </a:solidFill>
                <a:sym typeface="Calibri"/>
              </a:rPr>
              <a:t>0.0 – 2.0</a:t>
            </a:r>
            <a:endParaRPr sz="1050" b="0" i="0" u="none" strike="noStrike" cap="none">
              <a:solidFill>
                <a:schemeClr val="dk1"/>
              </a:solidFill>
              <a:latin typeface="Calibri"/>
              <a:ea typeface="Calibri"/>
              <a:cs typeface="Calibri"/>
              <a:sym typeface="Calibri"/>
            </a:endParaRPr>
          </a:p>
        </p:txBody>
      </p:sp>
      <p:sp>
        <p:nvSpPr>
          <p:cNvPr id="2953" name="Google Shape;2953;p122"/>
          <p:cNvSpPr/>
          <p:nvPr/>
        </p:nvSpPr>
        <p:spPr>
          <a:xfrm>
            <a:off x="3429000" y="3438144"/>
            <a:ext cx="822900" cy="51210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6B7280"/>
              </a:buClr>
              <a:buSzPts val="1050"/>
              <a:buFont typeface="Calibri"/>
              <a:buNone/>
            </a:pPr>
            <a:r>
              <a:rPr lang="en" sz="1050" b="0" i="0" u="none" strike="noStrike" cap="none">
                <a:solidFill>
                  <a:srgbClr val="1A1F36"/>
                </a:solidFill>
                <a:sym typeface="Calibri"/>
              </a:rPr>
              <a:t>0.0</a:t>
            </a:r>
            <a:endParaRPr sz="1050" b="0" i="0" u="none" strike="noStrike" cap="none">
              <a:solidFill>
                <a:schemeClr val="dk1"/>
              </a:solidFill>
              <a:latin typeface="Calibri"/>
              <a:ea typeface="Calibri"/>
              <a:cs typeface="Calibri"/>
              <a:sym typeface="Calibri"/>
            </a:endParaRPr>
          </a:p>
        </p:txBody>
      </p:sp>
      <p:sp>
        <p:nvSpPr>
          <p:cNvPr id="2954" name="Google Shape;2954;p122"/>
          <p:cNvSpPr/>
          <p:nvPr/>
        </p:nvSpPr>
        <p:spPr>
          <a:xfrm>
            <a:off x="4315968" y="3547872"/>
            <a:ext cx="804600" cy="292500"/>
          </a:xfrm>
          <a:prstGeom prst="rect">
            <a:avLst/>
          </a:prstGeom>
          <a:solidFill>
            <a:srgbClr val="DDD6F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5" name="Google Shape;2955;p122"/>
          <p:cNvSpPr/>
          <p:nvPr/>
        </p:nvSpPr>
        <p:spPr>
          <a:xfrm>
            <a:off x="4315968" y="3547872"/>
            <a:ext cx="804600" cy="29250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7C3AED"/>
              </a:buClr>
              <a:buSzPts val="1050"/>
              <a:buFont typeface="Consolas"/>
              <a:buNone/>
            </a:pPr>
            <a:r>
              <a:rPr lang="en" sz="1050" b="1" i="0" u="none" strike="noStrike" cap="none">
                <a:solidFill>
                  <a:srgbClr val="7C3AED"/>
                </a:solidFill>
                <a:sym typeface="Consolas"/>
              </a:rPr>
              <a:t>0.4</a:t>
            </a:r>
            <a:endParaRPr sz="1050" b="0" i="0" u="none" strike="noStrike" cap="none">
              <a:solidFill>
                <a:schemeClr val="dk1"/>
              </a:solidFill>
              <a:latin typeface="Calibri"/>
              <a:ea typeface="Calibri"/>
              <a:cs typeface="Calibri"/>
              <a:sym typeface="Calibri"/>
            </a:endParaRPr>
          </a:p>
        </p:txBody>
      </p:sp>
      <p:sp>
        <p:nvSpPr>
          <p:cNvPr id="2956" name="Google Shape;2956;p122"/>
          <p:cNvSpPr/>
          <p:nvPr/>
        </p:nvSpPr>
        <p:spPr>
          <a:xfrm>
            <a:off x="5230368" y="3547872"/>
            <a:ext cx="822900" cy="292500"/>
          </a:xfrm>
          <a:prstGeom prst="rect">
            <a:avLst/>
          </a:prstGeom>
          <a:solidFill>
            <a:srgbClr val="BBF7D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7" name="Google Shape;2957;p122"/>
          <p:cNvSpPr/>
          <p:nvPr/>
        </p:nvSpPr>
        <p:spPr>
          <a:xfrm>
            <a:off x="5230368" y="3547872"/>
            <a:ext cx="822900" cy="29250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059669"/>
              </a:buClr>
              <a:buSzPts val="1050"/>
              <a:buFont typeface="Consolas"/>
              <a:buNone/>
            </a:pPr>
            <a:r>
              <a:rPr lang="en" sz="1050" b="1" i="0" u="none" strike="noStrike" cap="none">
                <a:solidFill>
                  <a:srgbClr val="059669"/>
                </a:solidFill>
                <a:sym typeface="Consolas"/>
              </a:rPr>
              <a:t>0.1</a:t>
            </a:r>
            <a:endParaRPr sz="1050" b="0" i="0" u="none" strike="noStrike" cap="none">
              <a:solidFill>
                <a:schemeClr val="dk1"/>
              </a:solidFill>
              <a:latin typeface="Calibri"/>
              <a:ea typeface="Calibri"/>
              <a:cs typeface="Calibri"/>
              <a:sym typeface="Calibri"/>
            </a:endParaRPr>
          </a:p>
        </p:txBody>
      </p:sp>
      <p:sp>
        <p:nvSpPr>
          <p:cNvPr id="2958" name="Google Shape;2958;p122"/>
          <p:cNvSpPr/>
          <p:nvPr/>
        </p:nvSpPr>
        <p:spPr>
          <a:xfrm>
            <a:off x="6144768" y="3438144"/>
            <a:ext cx="2834700" cy="5121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374151"/>
              </a:buClr>
              <a:buSzPts val="1050"/>
              <a:buFont typeface="Calibri"/>
              <a:buNone/>
            </a:pPr>
            <a:r>
              <a:rPr lang="en" sz="1050" b="0" i="0" u="none" strike="noStrike" cap="none">
                <a:solidFill>
                  <a:srgbClr val="1A1F36"/>
                </a:solidFill>
                <a:sym typeface="Calibri"/>
              </a:rPr>
              <a:t>Proportional penalty based on token count</a:t>
            </a:r>
            <a:endParaRPr sz="1050" b="0" i="0" u="none" strike="noStrike" cap="none">
              <a:solidFill>
                <a:schemeClr val="dk1"/>
              </a:solidFill>
              <a:latin typeface="Calibri"/>
              <a:ea typeface="Calibri"/>
              <a:cs typeface="Calibri"/>
              <a:sym typeface="Calibri"/>
            </a:endParaRPr>
          </a:p>
        </p:txBody>
      </p:sp>
      <p:sp>
        <p:nvSpPr>
          <p:cNvPr id="2959" name="Google Shape;2959;p122"/>
          <p:cNvSpPr/>
          <p:nvPr/>
        </p:nvSpPr>
        <p:spPr>
          <a:xfrm>
            <a:off x="274320" y="4005072"/>
            <a:ext cx="8750700" cy="512100"/>
          </a:xfrm>
          <a:prstGeom prst="rect">
            <a:avLst/>
          </a:prstGeom>
          <a:solidFill>
            <a:srgbClr val="EEF2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0" name="Google Shape;2960;p122"/>
          <p:cNvSpPr/>
          <p:nvPr/>
        </p:nvSpPr>
        <p:spPr>
          <a:xfrm>
            <a:off x="274320" y="4005072"/>
            <a:ext cx="91500" cy="512100"/>
          </a:xfrm>
          <a:prstGeom prst="rect">
            <a:avLst/>
          </a:prstGeom>
          <a:solidFill>
            <a:srgbClr val="6B728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1" name="Google Shape;2961;p122"/>
          <p:cNvSpPr/>
          <p:nvPr/>
        </p:nvSpPr>
        <p:spPr>
          <a:xfrm>
            <a:off x="411480" y="4005072"/>
            <a:ext cx="1874400" cy="5121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6B7280"/>
              </a:buClr>
              <a:buSzPts val="1100"/>
              <a:buFont typeface="Consolas"/>
              <a:buNone/>
            </a:pPr>
            <a:r>
              <a:rPr lang="en" sz="1100" b="1" i="0" u="none" strike="noStrike" cap="none">
                <a:solidFill>
                  <a:srgbClr val="6B7280"/>
                </a:solidFill>
                <a:sym typeface="Consolas"/>
              </a:rPr>
              <a:t>max_tokens</a:t>
            </a:r>
            <a:endParaRPr sz="1100" b="0" i="0" u="none" strike="noStrike" cap="none">
              <a:solidFill>
                <a:schemeClr val="dk1"/>
              </a:solidFill>
              <a:latin typeface="Calibri"/>
              <a:ea typeface="Calibri"/>
              <a:cs typeface="Calibri"/>
              <a:sym typeface="Calibri"/>
            </a:endParaRPr>
          </a:p>
        </p:txBody>
      </p:sp>
      <p:sp>
        <p:nvSpPr>
          <p:cNvPr id="2962" name="Google Shape;2962;p122"/>
          <p:cNvSpPr/>
          <p:nvPr/>
        </p:nvSpPr>
        <p:spPr>
          <a:xfrm>
            <a:off x="2331720" y="4005072"/>
            <a:ext cx="1051500" cy="51210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374151"/>
              </a:buClr>
              <a:buSzPts val="1050"/>
              <a:buFont typeface="Calibri"/>
              <a:buNone/>
            </a:pPr>
            <a:r>
              <a:rPr lang="en" sz="1050" b="0" i="0" u="none" strike="noStrike" cap="none">
                <a:solidFill>
                  <a:srgbClr val="1A1F36"/>
                </a:solidFill>
                <a:sym typeface="Calibri"/>
              </a:rPr>
              <a:t>1 – 128k+</a:t>
            </a:r>
            <a:endParaRPr sz="1050" b="0" i="0" u="none" strike="noStrike" cap="none">
              <a:solidFill>
                <a:schemeClr val="dk1"/>
              </a:solidFill>
              <a:latin typeface="Calibri"/>
              <a:ea typeface="Calibri"/>
              <a:cs typeface="Calibri"/>
              <a:sym typeface="Calibri"/>
            </a:endParaRPr>
          </a:p>
        </p:txBody>
      </p:sp>
      <p:sp>
        <p:nvSpPr>
          <p:cNvPr id="2963" name="Google Shape;2963;p122"/>
          <p:cNvSpPr/>
          <p:nvPr/>
        </p:nvSpPr>
        <p:spPr>
          <a:xfrm>
            <a:off x="3429000" y="4005072"/>
            <a:ext cx="822900" cy="51210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6B7280"/>
              </a:buClr>
              <a:buSzPts val="1050"/>
              <a:buFont typeface="Calibri"/>
              <a:buNone/>
            </a:pPr>
            <a:r>
              <a:rPr lang="en" sz="1050" b="0" i="0" u="none" strike="noStrike" cap="none">
                <a:solidFill>
                  <a:srgbClr val="1A1F36"/>
                </a:solidFill>
                <a:sym typeface="Calibri"/>
              </a:rPr>
              <a:t>Model</a:t>
            </a:r>
            <a:endParaRPr sz="1050" b="0" i="0" u="none" strike="noStrike" cap="none">
              <a:solidFill>
                <a:schemeClr val="dk1"/>
              </a:solidFill>
              <a:latin typeface="Calibri"/>
              <a:ea typeface="Calibri"/>
              <a:cs typeface="Calibri"/>
              <a:sym typeface="Calibri"/>
            </a:endParaRPr>
          </a:p>
        </p:txBody>
      </p:sp>
      <p:sp>
        <p:nvSpPr>
          <p:cNvPr id="2964" name="Google Shape;2964;p122"/>
          <p:cNvSpPr/>
          <p:nvPr/>
        </p:nvSpPr>
        <p:spPr>
          <a:xfrm>
            <a:off x="4315968" y="4114800"/>
            <a:ext cx="804600" cy="292500"/>
          </a:xfrm>
          <a:prstGeom prst="rect">
            <a:avLst/>
          </a:prstGeom>
          <a:solidFill>
            <a:srgbClr val="DDD6F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5" name="Google Shape;2965;p122"/>
          <p:cNvSpPr/>
          <p:nvPr/>
        </p:nvSpPr>
        <p:spPr>
          <a:xfrm>
            <a:off x="4315968" y="4114800"/>
            <a:ext cx="804600" cy="29250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7C3AED"/>
              </a:buClr>
              <a:buSzPts val="1050"/>
              <a:buFont typeface="Consolas"/>
              <a:buNone/>
            </a:pPr>
            <a:r>
              <a:rPr lang="en" sz="1050" b="1" i="0" u="none" strike="noStrike" cap="none">
                <a:solidFill>
                  <a:srgbClr val="7C3AED"/>
                </a:solidFill>
                <a:sym typeface="Consolas"/>
              </a:rPr>
              <a:t>1024</a:t>
            </a:r>
            <a:endParaRPr sz="1050" b="0" i="0" u="none" strike="noStrike" cap="none">
              <a:solidFill>
                <a:schemeClr val="dk1"/>
              </a:solidFill>
              <a:latin typeface="Calibri"/>
              <a:ea typeface="Calibri"/>
              <a:cs typeface="Calibri"/>
              <a:sym typeface="Calibri"/>
            </a:endParaRPr>
          </a:p>
        </p:txBody>
      </p:sp>
      <p:sp>
        <p:nvSpPr>
          <p:cNvPr id="2966" name="Google Shape;2966;p122"/>
          <p:cNvSpPr/>
          <p:nvPr/>
        </p:nvSpPr>
        <p:spPr>
          <a:xfrm>
            <a:off x="5230368" y="4114800"/>
            <a:ext cx="822900" cy="292500"/>
          </a:xfrm>
          <a:prstGeom prst="rect">
            <a:avLst/>
          </a:prstGeom>
          <a:solidFill>
            <a:srgbClr val="BBF7D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7" name="Google Shape;2967;p122"/>
          <p:cNvSpPr/>
          <p:nvPr/>
        </p:nvSpPr>
        <p:spPr>
          <a:xfrm>
            <a:off x="5230368" y="4114800"/>
            <a:ext cx="822900" cy="29250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059669"/>
              </a:buClr>
              <a:buSzPts val="1050"/>
              <a:buFont typeface="Consolas"/>
              <a:buNone/>
            </a:pPr>
            <a:r>
              <a:rPr lang="en" sz="1050" b="1" i="0" u="none" strike="noStrike" cap="none">
                <a:solidFill>
                  <a:srgbClr val="059669"/>
                </a:solidFill>
                <a:sym typeface="Consolas"/>
              </a:rPr>
              <a:t>256</a:t>
            </a:r>
            <a:endParaRPr sz="1050" b="0" i="0" u="none" strike="noStrike" cap="none">
              <a:solidFill>
                <a:schemeClr val="dk1"/>
              </a:solidFill>
              <a:latin typeface="Calibri"/>
              <a:ea typeface="Calibri"/>
              <a:cs typeface="Calibri"/>
              <a:sym typeface="Calibri"/>
            </a:endParaRPr>
          </a:p>
        </p:txBody>
      </p:sp>
      <p:sp>
        <p:nvSpPr>
          <p:cNvPr id="2968" name="Google Shape;2968;p122"/>
          <p:cNvSpPr/>
          <p:nvPr/>
        </p:nvSpPr>
        <p:spPr>
          <a:xfrm>
            <a:off x="6144768" y="4005072"/>
            <a:ext cx="2834700" cy="5121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374151"/>
              </a:buClr>
              <a:buSzPts val="1050"/>
              <a:buFont typeface="Calibri"/>
              <a:buNone/>
            </a:pPr>
            <a:r>
              <a:rPr lang="en" sz="1050" b="0" i="0" u="none" strike="noStrike" cap="none">
                <a:solidFill>
                  <a:srgbClr val="1A1F36"/>
                </a:solidFill>
                <a:sym typeface="Calibri"/>
              </a:rPr>
              <a:t>Hard cap on generated token count</a:t>
            </a:r>
            <a:endParaRPr sz="1050" b="0" i="0" u="none" strike="noStrike" cap="none">
              <a:solidFill>
                <a:schemeClr val="dk1"/>
              </a:solidFill>
              <a:latin typeface="Calibri"/>
              <a:ea typeface="Calibri"/>
              <a:cs typeface="Calibri"/>
              <a:sym typeface="Calibri"/>
            </a:endParaRPr>
          </a:p>
        </p:txBody>
      </p:sp>
      <p:sp>
        <p:nvSpPr>
          <p:cNvPr id="2969" name="Google Shape;2969;p122"/>
          <p:cNvSpPr/>
          <p:nvPr/>
        </p:nvSpPr>
        <p:spPr>
          <a:xfrm>
            <a:off x="274320" y="4681728"/>
            <a:ext cx="8595300" cy="347400"/>
          </a:xfrm>
          <a:prstGeom prst="rect">
            <a:avLst/>
          </a:prstGeom>
          <a:solidFill>
            <a:srgbClr val="E0E7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0" name="Google Shape;2970;p122"/>
          <p:cNvSpPr/>
          <p:nvPr/>
        </p:nvSpPr>
        <p:spPr>
          <a:xfrm>
            <a:off x="457200" y="4681728"/>
            <a:ext cx="8229600" cy="3474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4F46E5"/>
              </a:buClr>
              <a:buSzPts val="1000"/>
              <a:buFont typeface="Calibri"/>
              <a:buNone/>
            </a:pPr>
            <a:r>
              <a:rPr lang="en" sz="1000" b="0" i="1" u="none" strike="noStrike" cap="none">
                <a:solidFill>
                  <a:srgbClr val="4F46E5"/>
                </a:solidFill>
                <a:sym typeface="Calibri"/>
              </a:rPr>
              <a:t>⚠ Never use top_k and top_p together at extreme values — they compound and may produce degenerate output. Use one or the other, then tune temperature.</a:t>
            </a:r>
            <a:endParaRPr sz="1000" b="0" i="0" u="none" strike="noStrike" cap="none">
              <a:solidFill>
                <a:schemeClr val="dk1"/>
              </a:solidFill>
              <a:latin typeface="Calibri"/>
              <a:ea typeface="Calibri"/>
              <a:cs typeface="Calibri"/>
              <a:sym typeface="Calibri"/>
            </a:endParaRPr>
          </a:p>
        </p:txBody>
      </p:sp>
      <p:pic>
        <p:nvPicPr>
          <p:cNvPr id="2971" name="Google Shape;2971;p122"/>
          <p:cNvPicPr preferRelativeResize="0"/>
          <p:nvPr/>
        </p:nvPicPr>
        <p:blipFill>
          <a:blip r:embed="rId3">
            <a:alphaModFix/>
          </a:blip>
          <a:stretch>
            <a:fillRect/>
          </a:stretch>
        </p:blipFill>
        <p:spPr>
          <a:xfrm>
            <a:off x="8369125" y="0"/>
            <a:ext cx="774877" cy="867174"/>
          </a:xfrm>
          <a:prstGeom prst="rect">
            <a:avLst/>
          </a:prstGeom>
          <a:noFill/>
          <a:ln>
            <a:noFill/>
          </a:ln>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305B0F-2F91-E001-F636-C10D7F04A3C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AB989BE-4300-6CED-7B69-0AA7FDDE2E7E}"/>
              </a:ext>
            </a:extLst>
          </p:cNvPr>
          <p:cNvSpPr>
            <a:spLocks noGrp="1"/>
          </p:cNvSpPr>
          <p:nvPr>
            <p:ph type="title"/>
          </p:nvPr>
        </p:nvSpPr>
        <p:spPr/>
        <p:txBody>
          <a:bodyPr>
            <a:normAutofit fontScale="90000"/>
          </a:bodyPr>
          <a:lstStyle/>
          <a:p>
            <a:r>
              <a:rPr lang="en-US" b="1" dirty="0">
                <a:solidFill>
                  <a:srgbClr val="1E2761"/>
                </a:solidFill>
                <a:latin typeface="Georgia"/>
              </a:rPr>
              <a:t>Question</a:t>
            </a:r>
          </a:p>
        </p:txBody>
      </p:sp>
      <p:sp>
        <p:nvSpPr>
          <p:cNvPr id="3" name="Text Placeholder 2">
            <a:extLst>
              <a:ext uri="{FF2B5EF4-FFF2-40B4-BE49-F238E27FC236}">
                <a16:creationId xmlns:a16="http://schemas.microsoft.com/office/drawing/2014/main" id="{E33D8978-E1B3-CB6A-FDAF-69CC66E3493F}"/>
              </a:ext>
            </a:extLst>
          </p:cNvPr>
          <p:cNvSpPr>
            <a:spLocks noGrp="1"/>
          </p:cNvSpPr>
          <p:nvPr>
            <p:ph type="body" idx="1"/>
          </p:nvPr>
        </p:nvSpPr>
        <p:spPr/>
        <p:txBody>
          <a:bodyPr/>
          <a:lstStyle/>
          <a:p>
            <a:r>
              <a:rPr lang="en-US" dirty="0">
                <a:solidFill>
                  <a:srgbClr val="1A1F36"/>
                </a:solidFill>
                <a:latin typeface="Calibri"/>
              </a:rPr>
              <a:t>Which of the following is most effective in reducing hallucinations?</a:t>
            </a:r>
          </a:p>
          <a:p>
            <a:pPr lvl="1"/>
            <a:r>
              <a:rPr lang="en-US" dirty="0">
                <a:solidFill>
                  <a:srgbClr val="1A1F36"/>
                </a:solidFill>
                <a:latin typeface="Calibri"/>
              </a:rPr>
              <a:t>Temperature</a:t>
            </a:r>
          </a:p>
          <a:p>
            <a:pPr lvl="1"/>
            <a:r>
              <a:rPr lang="en-US" dirty="0">
                <a:solidFill>
                  <a:srgbClr val="1A1F36"/>
                </a:solidFill>
                <a:latin typeface="Calibri"/>
              </a:rPr>
              <a:t>Top-k sampling</a:t>
            </a:r>
          </a:p>
          <a:p>
            <a:pPr lvl="1"/>
            <a:r>
              <a:rPr lang="en-US" dirty="0">
                <a:solidFill>
                  <a:srgbClr val="1A1F36"/>
                </a:solidFill>
                <a:latin typeface="Calibri"/>
              </a:rPr>
              <a:t>Top-p Sampling</a:t>
            </a:r>
          </a:p>
          <a:p>
            <a:pPr lvl="1"/>
            <a:r>
              <a:rPr lang="en-US" dirty="0">
                <a:solidFill>
                  <a:srgbClr val="1A1F36"/>
                </a:solidFill>
                <a:latin typeface="Calibri"/>
              </a:rPr>
              <a:t>Max-Tokens</a:t>
            </a:r>
          </a:p>
        </p:txBody>
      </p:sp>
      <p:pic>
        <p:nvPicPr>
          <p:cNvPr id="4" name="Google Shape;328;p29">
            <a:extLst>
              <a:ext uri="{FF2B5EF4-FFF2-40B4-BE49-F238E27FC236}">
                <a16:creationId xmlns:a16="http://schemas.microsoft.com/office/drawing/2014/main" id="{6A943C8A-6A78-626B-486D-52BCB04685B6}"/>
              </a:ext>
            </a:extLst>
          </p:cNvPr>
          <p:cNvPicPr preferRelativeResize="0"/>
          <p:nvPr/>
        </p:nvPicPr>
        <p:blipFill>
          <a:blip r:embed="rId2">
            <a:alphaModFix/>
          </a:blip>
          <a:stretch>
            <a:fillRect/>
          </a:stretch>
        </p:blipFill>
        <p:spPr>
          <a:xfrm>
            <a:off x="8369125" y="0"/>
            <a:ext cx="774877" cy="867174"/>
          </a:xfrm>
          <a:prstGeom prst="rect">
            <a:avLst/>
          </a:prstGeom>
          <a:noFill/>
          <a:ln>
            <a:noFill/>
          </a:ln>
        </p:spPr>
      </p:pic>
    </p:spTree>
    <p:extLst>
      <p:ext uri="{BB962C8B-B14F-4D97-AF65-F5344CB8AC3E}">
        <p14:creationId xmlns:p14="http://schemas.microsoft.com/office/powerpoint/2010/main" val="461872216"/>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8046720" y="45720"/>
            <a:ext cx="1005840" cy="1005840"/>
          </a:xfrm>
          <a:prstGeom prst="rect">
            <a:avLst/>
          </a:prstGeom>
        </p:spPr>
      </p:pic>
      <p:sp>
        <p:nvSpPr>
          <p:cNvPr id="3" name="Text 0"/>
          <p:cNvSpPr/>
          <p:nvPr/>
        </p:nvSpPr>
        <p:spPr>
          <a:xfrm>
            <a:off x="365760" y="137160"/>
            <a:ext cx="7315200" cy="594360"/>
          </a:xfrm>
          <a:prstGeom prst="rect">
            <a:avLst/>
          </a:prstGeom>
          <a:noFill/>
          <a:ln/>
        </p:spPr>
        <p:txBody>
          <a:bodyPr wrap="square" lIns="0" tIns="0" rIns="0" bIns="0" rtlCol="0" anchor="ctr"/>
          <a:lstStyle/>
          <a:p>
            <a:pPr marL="0" indent="0">
              <a:buNone/>
            </a:pPr>
            <a:r>
              <a:rPr lang="en-US" sz="3600" b="1" dirty="0">
                <a:solidFill>
                  <a:srgbClr val="1A237E"/>
                </a:solidFill>
                <a:latin typeface="Calibri" pitchFamily="34" charset="0"/>
                <a:ea typeface="Calibri" pitchFamily="34" charset="-122"/>
                <a:cs typeface="Calibri" pitchFamily="34" charset="-120"/>
              </a:rPr>
              <a:t>Answer</a:t>
            </a:r>
            <a:endParaRPr lang="en-US" sz="3600" dirty="0"/>
          </a:p>
        </p:txBody>
      </p:sp>
      <p:sp>
        <p:nvSpPr>
          <p:cNvPr id="4" name="Text 1"/>
          <p:cNvSpPr/>
          <p:nvPr/>
        </p:nvSpPr>
        <p:spPr>
          <a:xfrm>
            <a:off x="365760" y="960120"/>
            <a:ext cx="8412480" cy="457200"/>
          </a:xfrm>
          <a:prstGeom prst="rect">
            <a:avLst/>
          </a:prstGeom>
          <a:noFill/>
          <a:ln/>
        </p:spPr>
        <p:txBody>
          <a:bodyPr wrap="square" rtlCol="0" anchor="ctr"/>
          <a:lstStyle/>
          <a:p>
            <a:pPr marL="342900" indent="-342900">
              <a:buSzPct val="100000"/>
              <a:buChar char="•"/>
            </a:pPr>
            <a:r>
              <a:rPr lang="en-US" sz="1800" dirty="0">
                <a:solidFill>
                  <a:srgbClr val="1A1A1A"/>
                </a:solidFill>
                <a:latin typeface="Calibri" pitchFamily="34" charset="0"/>
                <a:ea typeface="Calibri" pitchFamily="34" charset="-122"/>
                <a:cs typeface="Calibri" pitchFamily="34" charset="-120"/>
              </a:rPr>
              <a:t>Which of the following is most effective in reducing hallucinations?</a:t>
            </a:r>
            <a:endParaRPr lang="en-US" sz="1800" dirty="0"/>
          </a:p>
        </p:txBody>
      </p:sp>
      <p:sp>
        <p:nvSpPr>
          <p:cNvPr id="5" name="Shape 2"/>
          <p:cNvSpPr/>
          <p:nvPr/>
        </p:nvSpPr>
        <p:spPr>
          <a:xfrm>
            <a:off x="365760" y="1600200"/>
            <a:ext cx="4023360" cy="1371600"/>
          </a:xfrm>
          <a:prstGeom prst="roundRect">
            <a:avLst>
              <a:gd name="adj" fmla="val 5333"/>
            </a:avLst>
          </a:prstGeom>
          <a:solidFill>
            <a:srgbClr val="F5F5F5"/>
          </a:solidFill>
          <a:ln w="12700">
            <a:solidFill>
              <a:srgbClr val="CCCCCC"/>
            </a:solidFill>
            <a:prstDash val="solid"/>
          </a:ln>
          <a:effectLst>
            <a:outerShdw blurRad="50800" dist="12700" dir="2700000" algn="bl" rotWithShape="0">
              <a:srgbClr val="000000">
                <a:alpha val="10000"/>
              </a:srgbClr>
            </a:outerShdw>
          </a:effectLst>
        </p:spPr>
      </p:sp>
      <p:sp>
        <p:nvSpPr>
          <p:cNvPr id="6" name="Text 3"/>
          <p:cNvSpPr/>
          <p:nvPr/>
        </p:nvSpPr>
        <p:spPr>
          <a:xfrm>
            <a:off x="502920" y="1691640"/>
            <a:ext cx="3749040" cy="320040"/>
          </a:xfrm>
          <a:prstGeom prst="rect">
            <a:avLst/>
          </a:prstGeom>
          <a:noFill/>
          <a:ln/>
        </p:spPr>
        <p:txBody>
          <a:bodyPr wrap="square" lIns="0" tIns="0" rIns="0" bIns="0" rtlCol="0" anchor="ctr"/>
          <a:lstStyle/>
          <a:p>
            <a:pPr marL="0" indent="0">
              <a:buNone/>
            </a:pPr>
            <a:r>
              <a:rPr lang="en-US" sz="1400" b="1" dirty="0">
                <a:solidFill>
                  <a:srgbClr val="1A1A1A"/>
                </a:solidFill>
                <a:latin typeface="Calibri" pitchFamily="34" charset="0"/>
                <a:ea typeface="Calibri" pitchFamily="34" charset="-122"/>
                <a:cs typeface="Calibri" pitchFamily="34" charset="-120"/>
              </a:rPr>
              <a:t>Temperature</a:t>
            </a:r>
            <a:endParaRPr lang="en-US" sz="1400" dirty="0"/>
          </a:p>
        </p:txBody>
      </p:sp>
      <p:sp>
        <p:nvSpPr>
          <p:cNvPr id="7" name="Text 4"/>
          <p:cNvSpPr/>
          <p:nvPr/>
        </p:nvSpPr>
        <p:spPr>
          <a:xfrm>
            <a:off x="502920" y="2039112"/>
            <a:ext cx="3749040" cy="822960"/>
          </a:xfrm>
          <a:prstGeom prst="rect">
            <a:avLst/>
          </a:prstGeom>
          <a:noFill/>
          <a:ln/>
        </p:spPr>
        <p:txBody>
          <a:bodyPr wrap="square" lIns="0" tIns="0" rIns="0" bIns="0" rtlCol="0" anchor="ctr"/>
          <a:lstStyle/>
          <a:p>
            <a:pPr marL="0" indent="0">
              <a:buNone/>
            </a:pPr>
            <a:r>
              <a:rPr lang="en-US" sz="1050" dirty="0">
                <a:solidFill>
                  <a:srgbClr val="444444"/>
                </a:solidFill>
                <a:latin typeface="Calibri" pitchFamily="34" charset="0"/>
                <a:ea typeface="Calibri" pitchFamily="34" charset="-122"/>
                <a:cs typeface="Calibri" pitchFamily="34" charset="-120"/>
              </a:rPr>
              <a:t>Temperature controls randomness in token selection. Lower temperature makes outputs more deterministic, but doesn't specifically target factual accuracy or reduce hallucinations — it only affects the spread of probability distribution.</a:t>
            </a:r>
            <a:endParaRPr lang="en-US" sz="1050" dirty="0"/>
          </a:p>
        </p:txBody>
      </p:sp>
      <p:sp>
        <p:nvSpPr>
          <p:cNvPr id="8" name="Shape 5"/>
          <p:cNvSpPr/>
          <p:nvPr/>
        </p:nvSpPr>
        <p:spPr>
          <a:xfrm>
            <a:off x="4754880" y="1600200"/>
            <a:ext cx="4023360" cy="1371600"/>
          </a:xfrm>
          <a:prstGeom prst="roundRect">
            <a:avLst>
              <a:gd name="adj" fmla="val 5333"/>
            </a:avLst>
          </a:prstGeom>
          <a:solidFill>
            <a:srgbClr val="F5F5F5"/>
          </a:solidFill>
          <a:ln w="12700">
            <a:solidFill>
              <a:srgbClr val="CCCCCC"/>
            </a:solidFill>
            <a:prstDash val="solid"/>
          </a:ln>
          <a:effectLst>
            <a:outerShdw blurRad="50800" dist="12700" dir="2700000" algn="bl" rotWithShape="0">
              <a:srgbClr val="000000">
                <a:alpha val="10000"/>
              </a:srgbClr>
            </a:outerShdw>
          </a:effectLst>
        </p:spPr>
      </p:sp>
      <p:sp>
        <p:nvSpPr>
          <p:cNvPr id="9" name="Text 6"/>
          <p:cNvSpPr/>
          <p:nvPr/>
        </p:nvSpPr>
        <p:spPr>
          <a:xfrm>
            <a:off x="4892040" y="1691640"/>
            <a:ext cx="3749040" cy="320040"/>
          </a:xfrm>
          <a:prstGeom prst="rect">
            <a:avLst/>
          </a:prstGeom>
          <a:noFill/>
          <a:ln/>
        </p:spPr>
        <p:txBody>
          <a:bodyPr wrap="square" lIns="0" tIns="0" rIns="0" bIns="0" rtlCol="0" anchor="ctr"/>
          <a:lstStyle/>
          <a:p>
            <a:pPr marL="0" indent="0">
              <a:buNone/>
            </a:pPr>
            <a:r>
              <a:rPr lang="en-US" sz="1400" b="1" dirty="0">
                <a:solidFill>
                  <a:srgbClr val="1A1A1A"/>
                </a:solidFill>
                <a:latin typeface="Calibri" pitchFamily="34" charset="0"/>
                <a:ea typeface="Calibri" pitchFamily="34" charset="-122"/>
                <a:cs typeface="Calibri" pitchFamily="34" charset="-120"/>
              </a:rPr>
              <a:t>Top-k sampling</a:t>
            </a:r>
            <a:endParaRPr lang="en-US" sz="1400" dirty="0"/>
          </a:p>
        </p:txBody>
      </p:sp>
      <p:sp>
        <p:nvSpPr>
          <p:cNvPr id="10" name="Text 7"/>
          <p:cNvSpPr/>
          <p:nvPr/>
        </p:nvSpPr>
        <p:spPr>
          <a:xfrm>
            <a:off x="4892040" y="2039112"/>
            <a:ext cx="3749040" cy="822960"/>
          </a:xfrm>
          <a:prstGeom prst="rect">
            <a:avLst/>
          </a:prstGeom>
          <a:noFill/>
          <a:ln/>
        </p:spPr>
        <p:txBody>
          <a:bodyPr wrap="square" lIns="0" tIns="0" rIns="0" bIns="0" rtlCol="0" anchor="ctr"/>
          <a:lstStyle/>
          <a:p>
            <a:pPr marL="0" indent="0">
              <a:buNone/>
            </a:pPr>
            <a:r>
              <a:rPr lang="en-US" sz="1050" dirty="0">
                <a:solidFill>
                  <a:srgbClr val="444444"/>
                </a:solidFill>
                <a:latin typeface="Calibri" pitchFamily="34" charset="0"/>
                <a:ea typeface="Calibri" pitchFamily="34" charset="-122"/>
                <a:cs typeface="Calibri" pitchFamily="34" charset="-120"/>
              </a:rPr>
              <a:t>Top-k restricts sampling to the k most likely tokens, reducing diversity. While it can improve coherence, it does not directly address factual grounding and is not the most effective strategy for reducing hallucinations.</a:t>
            </a:r>
            <a:endParaRPr lang="en-US" sz="1050" dirty="0"/>
          </a:p>
        </p:txBody>
      </p:sp>
      <p:sp>
        <p:nvSpPr>
          <p:cNvPr id="11" name="Shape 8"/>
          <p:cNvSpPr/>
          <p:nvPr/>
        </p:nvSpPr>
        <p:spPr>
          <a:xfrm>
            <a:off x="365760" y="3154680"/>
            <a:ext cx="4023360" cy="1371600"/>
          </a:xfrm>
          <a:prstGeom prst="roundRect">
            <a:avLst>
              <a:gd name="adj" fmla="val 5333"/>
            </a:avLst>
          </a:prstGeom>
          <a:solidFill>
            <a:srgbClr val="E8F5E9"/>
          </a:solidFill>
          <a:ln w="25400">
            <a:solidFill>
              <a:srgbClr val="2E7D32"/>
            </a:solidFill>
            <a:prstDash val="solid"/>
          </a:ln>
          <a:effectLst>
            <a:outerShdw blurRad="50800" dist="12700" dir="2700000" algn="bl" rotWithShape="0">
              <a:srgbClr val="000000">
                <a:alpha val="10000"/>
              </a:srgbClr>
            </a:outerShdw>
          </a:effectLst>
        </p:spPr>
      </p:sp>
      <p:sp>
        <p:nvSpPr>
          <p:cNvPr id="12" name="Text 9"/>
          <p:cNvSpPr/>
          <p:nvPr/>
        </p:nvSpPr>
        <p:spPr>
          <a:xfrm>
            <a:off x="502920" y="3246120"/>
            <a:ext cx="3749040" cy="320040"/>
          </a:xfrm>
          <a:prstGeom prst="rect">
            <a:avLst/>
          </a:prstGeom>
          <a:noFill/>
          <a:ln/>
        </p:spPr>
        <p:txBody>
          <a:bodyPr wrap="square" lIns="0" tIns="0" rIns="0" bIns="0" rtlCol="0" anchor="ctr"/>
          <a:lstStyle/>
          <a:p>
            <a:pPr marL="0" indent="0">
              <a:buNone/>
            </a:pPr>
            <a:r>
              <a:rPr lang="en-US" sz="1400" b="1" dirty="0">
                <a:solidFill>
                  <a:srgbClr val="1B5E20"/>
                </a:solidFill>
                <a:latin typeface="Calibri" pitchFamily="34" charset="0"/>
                <a:ea typeface="Calibri" pitchFamily="34" charset="-122"/>
                <a:cs typeface="Calibri" pitchFamily="34" charset="-120"/>
              </a:rPr>
              <a:t>✓ Top-p Sampling</a:t>
            </a:r>
            <a:endParaRPr lang="en-US" sz="1400" dirty="0"/>
          </a:p>
        </p:txBody>
      </p:sp>
      <p:sp>
        <p:nvSpPr>
          <p:cNvPr id="13" name="Text 10"/>
          <p:cNvSpPr/>
          <p:nvPr/>
        </p:nvSpPr>
        <p:spPr>
          <a:xfrm>
            <a:off x="502920" y="3593592"/>
            <a:ext cx="3749040" cy="822960"/>
          </a:xfrm>
          <a:prstGeom prst="rect">
            <a:avLst/>
          </a:prstGeom>
          <a:noFill/>
          <a:ln/>
        </p:spPr>
        <p:txBody>
          <a:bodyPr wrap="square" lIns="0" tIns="0" rIns="0" bIns="0" rtlCol="0" anchor="ctr"/>
          <a:lstStyle/>
          <a:p>
            <a:pPr marL="0" indent="0">
              <a:buNone/>
            </a:pPr>
            <a:r>
              <a:rPr lang="en-US" sz="1050" dirty="0">
                <a:solidFill>
                  <a:srgbClr val="444444"/>
                </a:solidFill>
                <a:latin typeface="Calibri" pitchFamily="34" charset="0"/>
                <a:ea typeface="Calibri" pitchFamily="34" charset="-122"/>
                <a:cs typeface="Calibri" pitchFamily="34" charset="-120"/>
              </a:rPr>
              <a:t>Top-p (nucleus) sampling dynamically adjusts the candidate pool based on cumulative probability, avoiding very low-probability (potentially fabricated) tokens. This makes it more effective at balancing coherence and factual fidelity, reducing hallucinations compared to fixed-k or temperature alone.</a:t>
            </a:r>
            <a:endParaRPr lang="en-US" sz="1050" dirty="0"/>
          </a:p>
        </p:txBody>
      </p:sp>
      <p:sp>
        <p:nvSpPr>
          <p:cNvPr id="14" name="Shape 11"/>
          <p:cNvSpPr/>
          <p:nvPr/>
        </p:nvSpPr>
        <p:spPr>
          <a:xfrm>
            <a:off x="4754880" y="3154680"/>
            <a:ext cx="4023360" cy="1371600"/>
          </a:xfrm>
          <a:prstGeom prst="roundRect">
            <a:avLst>
              <a:gd name="adj" fmla="val 5333"/>
            </a:avLst>
          </a:prstGeom>
          <a:solidFill>
            <a:srgbClr val="F5F5F5"/>
          </a:solidFill>
          <a:ln w="12700">
            <a:solidFill>
              <a:srgbClr val="CCCCCC"/>
            </a:solidFill>
            <a:prstDash val="solid"/>
          </a:ln>
          <a:effectLst>
            <a:outerShdw blurRad="50800" dist="12700" dir="2700000" algn="bl" rotWithShape="0">
              <a:srgbClr val="000000">
                <a:alpha val="10000"/>
              </a:srgbClr>
            </a:outerShdw>
          </a:effectLst>
        </p:spPr>
      </p:sp>
      <p:sp>
        <p:nvSpPr>
          <p:cNvPr id="15" name="Text 12"/>
          <p:cNvSpPr/>
          <p:nvPr/>
        </p:nvSpPr>
        <p:spPr>
          <a:xfrm>
            <a:off x="4892040" y="3246120"/>
            <a:ext cx="3749040" cy="320040"/>
          </a:xfrm>
          <a:prstGeom prst="rect">
            <a:avLst/>
          </a:prstGeom>
          <a:noFill/>
          <a:ln/>
        </p:spPr>
        <p:txBody>
          <a:bodyPr wrap="square" lIns="0" tIns="0" rIns="0" bIns="0" rtlCol="0" anchor="ctr"/>
          <a:lstStyle/>
          <a:p>
            <a:pPr marL="0" indent="0">
              <a:buNone/>
            </a:pPr>
            <a:r>
              <a:rPr lang="en-US" sz="1400" b="1" dirty="0">
                <a:solidFill>
                  <a:srgbClr val="1A1A1A"/>
                </a:solidFill>
                <a:latin typeface="Calibri" pitchFamily="34" charset="0"/>
                <a:ea typeface="Calibri" pitchFamily="34" charset="-122"/>
                <a:cs typeface="Calibri" pitchFamily="34" charset="-120"/>
              </a:rPr>
              <a:t>Max-Tokens</a:t>
            </a:r>
            <a:endParaRPr lang="en-US" sz="1400" dirty="0"/>
          </a:p>
        </p:txBody>
      </p:sp>
      <p:sp>
        <p:nvSpPr>
          <p:cNvPr id="16" name="Text 13"/>
          <p:cNvSpPr/>
          <p:nvPr/>
        </p:nvSpPr>
        <p:spPr>
          <a:xfrm>
            <a:off x="4892040" y="3593592"/>
            <a:ext cx="3749040" cy="822960"/>
          </a:xfrm>
          <a:prstGeom prst="rect">
            <a:avLst/>
          </a:prstGeom>
          <a:noFill/>
          <a:ln/>
        </p:spPr>
        <p:txBody>
          <a:bodyPr wrap="square" lIns="0" tIns="0" rIns="0" bIns="0" rtlCol="0" anchor="ctr"/>
          <a:lstStyle/>
          <a:p>
            <a:pPr marL="0" indent="0">
              <a:buNone/>
            </a:pPr>
            <a:r>
              <a:rPr lang="en-US" sz="1050" dirty="0">
                <a:solidFill>
                  <a:srgbClr val="444444"/>
                </a:solidFill>
                <a:latin typeface="Calibri" pitchFamily="34" charset="0"/>
                <a:ea typeface="Calibri" pitchFamily="34" charset="-122"/>
                <a:cs typeface="Calibri" pitchFamily="34" charset="-120"/>
              </a:rPr>
              <a:t>Max-Tokens simply caps the length of the generated output. It has no influence over the factual accuracy or reliability of what is generated within that length — it cannot reduce hallucinations.</a:t>
            </a:r>
            <a:endParaRPr lang="en-US" sz="1050" dirty="0"/>
          </a:p>
        </p:txBody>
      </p:sp>
      <p:sp>
        <p:nvSpPr>
          <p:cNvPr id="17" name="Text 14"/>
          <p:cNvSpPr/>
          <p:nvPr/>
        </p:nvSpPr>
        <p:spPr>
          <a:xfrm>
            <a:off x="365760" y="4663440"/>
            <a:ext cx="8412480" cy="320040"/>
          </a:xfrm>
          <a:prstGeom prst="rect">
            <a:avLst/>
          </a:prstGeom>
          <a:noFill/>
          <a:ln/>
        </p:spPr>
        <p:txBody>
          <a:bodyPr wrap="square" lIns="0" tIns="0" rIns="0" bIns="0" rtlCol="0" anchor="ctr"/>
          <a:lstStyle/>
          <a:p>
            <a:pPr marL="0" indent="0">
              <a:buNone/>
            </a:pPr>
            <a:r>
              <a:rPr lang="en-US" sz="1300" b="1" dirty="0">
                <a:solidFill>
                  <a:srgbClr val="2E7D32"/>
                </a:solidFill>
                <a:latin typeface="Calibri" pitchFamily="34" charset="0"/>
                <a:ea typeface="Calibri" pitchFamily="34" charset="-122"/>
                <a:cs typeface="Calibri" pitchFamily="34" charset="-120"/>
              </a:rPr>
              <a:t>✓ Correct Answer: Top-p Sampling</a:t>
            </a:r>
            <a:endParaRPr lang="en-US" sz="13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2976"/>
        <p:cNvGrpSpPr/>
        <p:nvPr/>
      </p:nvGrpSpPr>
      <p:grpSpPr>
        <a:xfrm>
          <a:off x="0" y="0"/>
          <a:ext cx="0" cy="0"/>
          <a:chOff x="0" y="0"/>
          <a:chExt cx="0" cy="0"/>
        </a:xfrm>
      </p:grpSpPr>
      <p:sp>
        <p:nvSpPr>
          <p:cNvPr id="2977" name="Google Shape;2977;p123"/>
          <p:cNvSpPr/>
          <p:nvPr/>
        </p:nvSpPr>
        <p:spPr>
          <a:xfrm>
            <a:off x="365760" y="0"/>
            <a:ext cx="8412600" cy="6402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FFFFFF"/>
              </a:buClr>
              <a:buSzPts val="2200"/>
              <a:buFont typeface="Calibri"/>
              <a:buNone/>
            </a:pPr>
            <a:r>
              <a:rPr lang="en" sz="2200" b="1" i="0" u="none" strike="noStrike" cap="none" dirty="0">
                <a:solidFill>
                  <a:srgbClr val="1E2761"/>
                </a:solidFill>
                <a:sym typeface="Calibri"/>
              </a:rPr>
              <a:t>🛠 </a:t>
            </a:r>
            <a:r>
              <a:rPr lang="en" sz="2200" b="1" i="0" u="none" strike="noStrike" cap="none" dirty="0">
                <a:solidFill>
                  <a:srgbClr val="FF0000"/>
                </a:solidFill>
                <a:sym typeface="Calibri"/>
              </a:rPr>
              <a:t> </a:t>
            </a:r>
            <a:r>
              <a:rPr lang="en" sz="2200" b="1" dirty="0">
                <a:solidFill>
                  <a:srgbClr val="FF0000"/>
                </a:solidFill>
                <a:sym typeface="Calibri"/>
              </a:rPr>
              <a:t>Practical Suggestion</a:t>
            </a:r>
            <a:r>
              <a:rPr lang="en" sz="2200" b="1" dirty="0">
                <a:solidFill>
                  <a:srgbClr val="1E2761"/>
                </a:solidFill>
                <a:sym typeface="Calibri"/>
              </a:rPr>
              <a:t>: </a:t>
            </a:r>
            <a:r>
              <a:rPr lang="en" sz="2200" b="1" i="0" u="none" strike="noStrike" cap="none" dirty="0">
                <a:solidFill>
                  <a:srgbClr val="1E2761"/>
                </a:solidFill>
                <a:sym typeface="Calibri"/>
              </a:rPr>
              <a:t>Putting It All Together</a:t>
            </a:r>
            <a:endParaRPr sz="2200" b="0" i="0" u="none" strike="noStrike" cap="none" dirty="0">
              <a:solidFill>
                <a:schemeClr val="dk1"/>
              </a:solidFill>
              <a:latin typeface="Calibri"/>
              <a:ea typeface="Calibri"/>
              <a:cs typeface="Calibri"/>
              <a:sym typeface="Calibri"/>
            </a:endParaRPr>
          </a:p>
        </p:txBody>
      </p:sp>
      <p:sp>
        <p:nvSpPr>
          <p:cNvPr id="2978" name="Google Shape;2978;p123"/>
          <p:cNvSpPr/>
          <p:nvPr/>
        </p:nvSpPr>
        <p:spPr>
          <a:xfrm>
            <a:off x="274320" y="749808"/>
            <a:ext cx="4388215" cy="4206300"/>
          </a:xfrm>
          <a:prstGeom prst="rect">
            <a:avLst/>
          </a:prstGeom>
          <a:solidFill>
            <a:srgbClr val="1E1B4B"/>
          </a:solidFill>
          <a:ln>
            <a:noFill/>
          </a:ln>
          <a:effectLst>
            <a:outerShdw blurRad="101600" dist="25400" dir="8100000" algn="bl" rotWithShape="0">
              <a:srgbClr val="000000">
                <a:alpha val="784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9" name="Google Shape;2979;p123"/>
          <p:cNvSpPr/>
          <p:nvPr/>
        </p:nvSpPr>
        <p:spPr>
          <a:xfrm>
            <a:off x="411480" y="868680"/>
            <a:ext cx="4755000" cy="2196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A5F3FC"/>
              </a:buClr>
              <a:buSzPts val="1000"/>
              <a:buFont typeface="Consolas"/>
              <a:buNone/>
            </a:pPr>
            <a:r>
              <a:rPr lang="en" sz="1000" b="0" i="0" u="none" strike="noStrike" cap="none">
                <a:solidFill>
                  <a:srgbClr val="A5F3FC"/>
                </a:solidFill>
                <a:sym typeface="Consolas"/>
              </a:rPr>
              <a:t>import anthropic</a:t>
            </a:r>
            <a:endParaRPr sz="1000" b="0" i="0" u="none" strike="noStrike" cap="none">
              <a:solidFill>
                <a:schemeClr val="dk1"/>
              </a:solidFill>
              <a:latin typeface="Calibri"/>
              <a:ea typeface="Calibri"/>
              <a:cs typeface="Calibri"/>
              <a:sym typeface="Calibri"/>
            </a:endParaRPr>
          </a:p>
        </p:txBody>
      </p:sp>
      <p:sp>
        <p:nvSpPr>
          <p:cNvPr id="2980" name="Google Shape;2980;p123"/>
          <p:cNvSpPr/>
          <p:nvPr/>
        </p:nvSpPr>
        <p:spPr>
          <a:xfrm>
            <a:off x="411480" y="1086307"/>
            <a:ext cx="4755000" cy="2196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dk1"/>
              </a:buClr>
              <a:buSzPts val="1000"/>
              <a:buFont typeface="Calibri"/>
              <a:buNone/>
            </a:pPr>
            <a:endParaRPr sz="1000" b="0" i="0" u="none" strike="noStrike" cap="none">
              <a:solidFill>
                <a:schemeClr val="dk1"/>
              </a:solidFill>
              <a:latin typeface="Calibri"/>
              <a:ea typeface="Calibri"/>
              <a:cs typeface="Calibri"/>
              <a:sym typeface="Calibri"/>
            </a:endParaRPr>
          </a:p>
        </p:txBody>
      </p:sp>
      <p:sp>
        <p:nvSpPr>
          <p:cNvPr id="2981" name="Google Shape;2981;p123"/>
          <p:cNvSpPr/>
          <p:nvPr/>
        </p:nvSpPr>
        <p:spPr>
          <a:xfrm>
            <a:off x="411480" y="1303934"/>
            <a:ext cx="4755000" cy="2196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A5F3FC"/>
              </a:buClr>
              <a:buSzPts val="1000"/>
              <a:buFont typeface="Consolas"/>
              <a:buNone/>
            </a:pPr>
            <a:r>
              <a:rPr lang="en" sz="1000" b="0" i="0" u="none" strike="noStrike" cap="none">
                <a:solidFill>
                  <a:srgbClr val="A5F3FC"/>
                </a:solidFill>
                <a:sym typeface="Consolas"/>
              </a:rPr>
              <a:t>client = anthropic.Anthropic()</a:t>
            </a:r>
            <a:endParaRPr sz="1000" b="0" i="0" u="none" strike="noStrike" cap="none">
              <a:solidFill>
                <a:schemeClr val="dk1"/>
              </a:solidFill>
              <a:latin typeface="Calibri"/>
              <a:ea typeface="Calibri"/>
              <a:cs typeface="Calibri"/>
              <a:sym typeface="Calibri"/>
            </a:endParaRPr>
          </a:p>
        </p:txBody>
      </p:sp>
      <p:sp>
        <p:nvSpPr>
          <p:cNvPr id="2982" name="Google Shape;2982;p123"/>
          <p:cNvSpPr/>
          <p:nvPr/>
        </p:nvSpPr>
        <p:spPr>
          <a:xfrm>
            <a:off x="411480" y="1521562"/>
            <a:ext cx="4755000" cy="2196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dk1"/>
              </a:buClr>
              <a:buSzPts val="1000"/>
              <a:buFont typeface="Calibri"/>
              <a:buNone/>
            </a:pPr>
            <a:endParaRPr sz="1000" b="0" i="0" u="none" strike="noStrike" cap="none">
              <a:solidFill>
                <a:schemeClr val="dk1"/>
              </a:solidFill>
              <a:latin typeface="Calibri"/>
              <a:ea typeface="Calibri"/>
              <a:cs typeface="Calibri"/>
              <a:sym typeface="Calibri"/>
            </a:endParaRPr>
          </a:p>
        </p:txBody>
      </p:sp>
      <p:sp>
        <p:nvSpPr>
          <p:cNvPr id="2983" name="Google Shape;2983;p123"/>
          <p:cNvSpPr/>
          <p:nvPr/>
        </p:nvSpPr>
        <p:spPr>
          <a:xfrm>
            <a:off x="411480" y="1739189"/>
            <a:ext cx="4755000" cy="2196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A5F3FC"/>
              </a:buClr>
              <a:buSzPts val="1000"/>
              <a:buFont typeface="Consolas"/>
              <a:buNone/>
            </a:pPr>
            <a:r>
              <a:rPr lang="en" sz="1000" b="0" i="0" u="none" strike="noStrike" cap="none">
                <a:solidFill>
                  <a:srgbClr val="A5F3FC"/>
                </a:solidFill>
                <a:sym typeface="Consolas"/>
              </a:rPr>
              <a:t>response = client.messages.create(</a:t>
            </a:r>
            <a:endParaRPr sz="1000" b="0" i="0" u="none" strike="noStrike" cap="none">
              <a:solidFill>
                <a:schemeClr val="dk1"/>
              </a:solidFill>
              <a:latin typeface="Calibri"/>
              <a:ea typeface="Calibri"/>
              <a:cs typeface="Calibri"/>
              <a:sym typeface="Calibri"/>
            </a:endParaRPr>
          </a:p>
        </p:txBody>
      </p:sp>
      <p:sp>
        <p:nvSpPr>
          <p:cNvPr id="2984" name="Google Shape;2984;p123"/>
          <p:cNvSpPr/>
          <p:nvPr/>
        </p:nvSpPr>
        <p:spPr>
          <a:xfrm>
            <a:off x="411480" y="1956816"/>
            <a:ext cx="4755000" cy="2196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A5B4FC"/>
              </a:buClr>
              <a:buSzPts val="1000"/>
              <a:buFont typeface="Consolas"/>
              <a:buNone/>
            </a:pPr>
            <a:r>
              <a:rPr lang="en" sz="1000" b="0" i="0" u="none" strike="noStrike" cap="none">
                <a:solidFill>
                  <a:srgbClr val="A5B4FC"/>
                </a:solidFill>
                <a:sym typeface="Consolas"/>
              </a:rPr>
              <a:t>  model="claude-sonnet-4-20250514",</a:t>
            </a:r>
            <a:endParaRPr sz="1000" b="0" i="0" u="none" strike="noStrike" cap="none">
              <a:solidFill>
                <a:schemeClr val="dk1"/>
              </a:solidFill>
              <a:latin typeface="Calibri"/>
              <a:ea typeface="Calibri"/>
              <a:cs typeface="Calibri"/>
              <a:sym typeface="Calibri"/>
            </a:endParaRPr>
          </a:p>
        </p:txBody>
      </p:sp>
      <p:sp>
        <p:nvSpPr>
          <p:cNvPr id="2985" name="Google Shape;2985;p123"/>
          <p:cNvSpPr/>
          <p:nvPr/>
        </p:nvSpPr>
        <p:spPr>
          <a:xfrm>
            <a:off x="411480" y="2174443"/>
            <a:ext cx="4755000" cy="2196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FDE68A"/>
              </a:buClr>
              <a:buSzPts val="1000"/>
              <a:buFont typeface="Consolas"/>
              <a:buNone/>
            </a:pPr>
            <a:r>
              <a:rPr lang="en" sz="1000" b="0" i="0" u="none" strike="noStrike" cap="none">
                <a:solidFill>
                  <a:srgbClr val="FDE68A"/>
                </a:solidFill>
                <a:sym typeface="Consolas"/>
              </a:rPr>
              <a:t>  max_tokens=512,        # ← output cap</a:t>
            </a:r>
            <a:endParaRPr sz="1000" b="0" i="0" u="none" strike="noStrike" cap="none">
              <a:solidFill>
                <a:schemeClr val="dk1"/>
              </a:solidFill>
              <a:latin typeface="Calibri"/>
              <a:ea typeface="Calibri"/>
              <a:cs typeface="Calibri"/>
              <a:sym typeface="Calibri"/>
            </a:endParaRPr>
          </a:p>
        </p:txBody>
      </p:sp>
      <p:sp>
        <p:nvSpPr>
          <p:cNvPr id="2986" name="Google Shape;2986;p123"/>
          <p:cNvSpPr/>
          <p:nvPr/>
        </p:nvSpPr>
        <p:spPr>
          <a:xfrm>
            <a:off x="411480" y="2392070"/>
            <a:ext cx="4755000" cy="2196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A5F3FC"/>
              </a:buClr>
              <a:buSzPts val="1000"/>
              <a:buFont typeface="Consolas"/>
              <a:buNone/>
            </a:pPr>
            <a:r>
              <a:rPr lang="en" sz="1000" b="0" i="0" u="none" strike="noStrike" cap="none">
                <a:solidFill>
                  <a:srgbClr val="A5F3FC"/>
                </a:solidFill>
                <a:sym typeface="Consolas"/>
              </a:rPr>
              <a:t>  messages=[{"role":"user",</a:t>
            </a:r>
            <a:endParaRPr sz="1000" b="0" i="0" u="none" strike="noStrike" cap="none">
              <a:solidFill>
                <a:schemeClr val="dk1"/>
              </a:solidFill>
              <a:latin typeface="Calibri"/>
              <a:ea typeface="Calibri"/>
              <a:cs typeface="Calibri"/>
              <a:sym typeface="Calibri"/>
            </a:endParaRPr>
          </a:p>
        </p:txBody>
      </p:sp>
      <p:sp>
        <p:nvSpPr>
          <p:cNvPr id="2987" name="Google Shape;2987;p123"/>
          <p:cNvSpPr/>
          <p:nvPr/>
        </p:nvSpPr>
        <p:spPr>
          <a:xfrm>
            <a:off x="411480" y="2609698"/>
            <a:ext cx="4755000" cy="2196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A5F3FC"/>
              </a:buClr>
              <a:buSzPts val="1000"/>
              <a:buFont typeface="Consolas"/>
              <a:buNone/>
            </a:pPr>
            <a:r>
              <a:rPr lang="en" sz="1000" b="0" i="0" u="none" strike="noStrike" cap="none">
                <a:solidFill>
                  <a:srgbClr val="A5F3FC"/>
                </a:solidFill>
                <a:sym typeface="Consolas"/>
              </a:rPr>
              <a:t>    "content":"Write a poem about AI"}],</a:t>
            </a:r>
            <a:endParaRPr sz="1000" b="0" i="0" u="none" strike="noStrike" cap="none">
              <a:solidFill>
                <a:schemeClr val="dk1"/>
              </a:solidFill>
              <a:latin typeface="Calibri"/>
              <a:ea typeface="Calibri"/>
              <a:cs typeface="Calibri"/>
              <a:sym typeface="Calibri"/>
            </a:endParaRPr>
          </a:p>
        </p:txBody>
      </p:sp>
      <p:sp>
        <p:nvSpPr>
          <p:cNvPr id="2988" name="Google Shape;2988;p123"/>
          <p:cNvSpPr/>
          <p:nvPr/>
        </p:nvSpPr>
        <p:spPr>
          <a:xfrm>
            <a:off x="411480" y="2827325"/>
            <a:ext cx="4755000" cy="2196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A5F3FC"/>
              </a:buClr>
              <a:buSzPts val="1000"/>
              <a:buFont typeface="Consolas"/>
              <a:buNone/>
            </a:pPr>
            <a:r>
              <a:rPr lang="en" sz="1000" b="0" i="0" u="none" strike="noStrike" cap="none">
                <a:solidFill>
                  <a:srgbClr val="A5F3FC"/>
                </a:solidFill>
                <a:sym typeface="Consolas"/>
              </a:rPr>
              <a:t>)</a:t>
            </a:r>
            <a:endParaRPr sz="1000" b="0" i="0" u="none" strike="noStrike" cap="none">
              <a:solidFill>
                <a:schemeClr val="dk1"/>
              </a:solidFill>
              <a:latin typeface="Calibri"/>
              <a:ea typeface="Calibri"/>
              <a:cs typeface="Calibri"/>
              <a:sym typeface="Calibri"/>
            </a:endParaRPr>
          </a:p>
        </p:txBody>
      </p:sp>
      <p:sp>
        <p:nvSpPr>
          <p:cNvPr id="2989" name="Google Shape;2989;p123"/>
          <p:cNvSpPr/>
          <p:nvPr/>
        </p:nvSpPr>
        <p:spPr>
          <a:xfrm>
            <a:off x="411480" y="3044952"/>
            <a:ext cx="4755000" cy="2196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dk1"/>
              </a:buClr>
              <a:buSzPts val="1000"/>
              <a:buFont typeface="Calibri"/>
              <a:buNone/>
            </a:pPr>
            <a:endParaRPr sz="1000" b="0" i="0" u="none" strike="noStrike" cap="none">
              <a:solidFill>
                <a:schemeClr val="dk1"/>
              </a:solidFill>
              <a:latin typeface="Calibri"/>
              <a:ea typeface="Calibri"/>
              <a:cs typeface="Calibri"/>
              <a:sym typeface="Calibri"/>
            </a:endParaRPr>
          </a:p>
        </p:txBody>
      </p:sp>
      <p:sp>
        <p:nvSpPr>
          <p:cNvPr id="2990" name="Google Shape;2990;p123"/>
          <p:cNvSpPr/>
          <p:nvPr/>
        </p:nvSpPr>
        <p:spPr>
          <a:xfrm>
            <a:off x="411480" y="3262579"/>
            <a:ext cx="4755000" cy="2196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6EE7B7"/>
              </a:buClr>
              <a:buSzPts val="1000"/>
              <a:buFont typeface="Consolas"/>
              <a:buNone/>
            </a:pPr>
            <a:r>
              <a:rPr lang="en" sz="1000" b="0" i="0" u="none" strike="noStrike" cap="none">
                <a:solidFill>
                  <a:srgbClr val="6EE7B7"/>
                </a:solidFill>
                <a:sym typeface="Consolas"/>
              </a:rPr>
              <a:t># OpenAI-style params (via API)</a:t>
            </a:r>
            <a:endParaRPr sz="1000" b="0" i="0" u="none" strike="noStrike" cap="none">
              <a:solidFill>
                <a:schemeClr val="dk1"/>
              </a:solidFill>
              <a:latin typeface="Calibri"/>
              <a:ea typeface="Calibri"/>
              <a:cs typeface="Calibri"/>
              <a:sym typeface="Calibri"/>
            </a:endParaRPr>
          </a:p>
        </p:txBody>
      </p:sp>
      <p:sp>
        <p:nvSpPr>
          <p:cNvPr id="2991" name="Google Shape;2991;p123"/>
          <p:cNvSpPr/>
          <p:nvPr/>
        </p:nvSpPr>
        <p:spPr>
          <a:xfrm>
            <a:off x="411480" y="3480206"/>
            <a:ext cx="4755000" cy="2196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6EE7B7"/>
              </a:buClr>
              <a:buSzPts val="1000"/>
              <a:buFont typeface="Consolas"/>
              <a:buNone/>
            </a:pPr>
            <a:r>
              <a:rPr lang="en" sz="1000" b="0" i="0" u="none" strike="noStrike" cap="none">
                <a:solidFill>
                  <a:srgbClr val="6EE7B7"/>
                </a:solidFill>
                <a:sym typeface="Consolas"/>
              </a:rPr>
              <a:t># temperature  = 1.1  # creative</a:t>
            </a:r>
            <a:endParaRPr sz="1000" b="0" i="0" u="none" strike="noStrike" cap="none">
              <a:solidFill>
                <a:schemeClr val="dk1"/>
              </a:solidFill>
              <a:latin typeface="Calibri"/>
              <a:ea typeface="Calibri"/>
              <a:cs typeface="Calibri"/>
              <a:sym typeface="Calibri"/>
            </a:endParaRPr>
          </a:p>
        </p:txBody>
      </p:sp>
      <p:sp>
        <p:nvSpPr>
          <p:cNvPr id="2992" name="Google Shape;2992;p123"/>
          <p:cNvSpPr/>
          <p:nvPr/>
        </p:nvSpPr>
        <p:spPr>
          <a:xfrm>
            <a:off x="411480" y="3697834"/>
            <a:ext cx="4755000" cy="2196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6EE7B7"/>
              </a:buClr>
              <a:buSzPts val="1000"/>
              <a:buFont typeface="Consolas"/>
              <a:buNone/>
            </a:pPr>
            <a:r>
              <a:rPr lang="en" sz="1000" b="0" i="0" u="none" strike="noStrike" cap="none">
                <a:solidFill>
                  <a:srgbClr val="6EE7B7"/>
                </a:solidFill>
                <a:sym typeface="Consolas"/>
              </a:rPr>
              <a:t># top_p        = 0.9  # nucleus</a:t>
            </a:r>
            <a:endParaRPr sz="1000" b="0" i="0" u="none" strike="noStrike" cap="none">
              <a:solidFill>
                <a:schemeClr val="dk1"/>
              </a:solidFill>
              <a:latin typeface="Calibri"/>
              <a:ea typeface="Calibri"/>
              <a:cs typeface="Calibri"/>
              <a:sym typeface="Calibri"/>
            </a:endParaRPr>
          </a:p>
        </p:txBody>
      </p:sp>
      <p:sp>
        <p:nvSpPr>
          <p:cNvPr id="2993" name="Google Shape;2993;p123"/>
          <p:cNvSpPr/>
          <p:nvPr/>
        </p:nvSpPr>
        <p:spPr>
          <a:xfrm>
            <a:off x="411480" y="3915461"/>
            <a:ext cx="4755000" cy="2196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6EE7B7"/>
              </a:buClr>
              <a:buSzPts val="1000"/>
              <a:buFont typeface="Consolas"/>
              <a:buNone/>
            </a:pPr>
            <a:r>
              <a:rPr lang="en" sz="1000" b="0" i="0" u="none" strike="noStrike" cap="none">
                <a:solidFill>
                  <a:srgbClr val="6EE7B7"/>
                </a:solidFill>
                <a:sym typeface="Consolas"/>
              </a:rPr>
              <a:t># top_k        = 50   # top-k</a:t>
            </a:r>
            <a:endParaRPr sz="1000" b="0" i="0" u="none" strike="noStrike" cap="none">
              <a:solidFill>
                <a:schemeClr val="dk1"/>
              </a:solidFill>
              <a:latin typeface="Calibri"/>
              <a:ea typeface="Calibri"/>
              <a:cs typeface="Calibri"/>
              <a:sym typeface="Calibri"/>
            </a:endParaRPr>
          </a:p>
        </p:txBody>
      </p:sp>
      <p:sp>
        <p:nvSpPr>
          <p:cNvPr id="2994" name="Google Shape;2994;p123"/>
          <p:cNvSpPr/>
          <p:nvPr/>
        </p:nvSpPr>
        <p:spPr>
          <a:xfrm>
            <a:off x="411480" y="4133088"/>
            <a:ext cx="4755000" cy="2196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6EE7B7"/>
              </a:buClr>
              <a:buSzPts val="1000"/>
              <a:buFont typeface="Consolas"/>
              <a:buNone/>
            </a:pPr>
            <a:r>
              <a:rPr lang="en" sz="1000" b="0" i="0" u="none" strike="noStrike" cap="none">
                <a:solidFill>
                  <a:srgbClr val="6EE7B7"/>
                </a:solidFill>
                <a:sym typeface="Consolas"/>
              </a:rPr>
              <a:t># stop         = ['\n\n']</a:t>
            </a:r>
            <a:endParaRPr sz="1000" b="0" i="0" u="none" strike="noStrike" cap="none">
              <a:solidFill>
                <a:schemeClr val="dk1"/>
              </a:solidFill>
              <a:latin typeface="Calibri"/>
              <a:ea typeface="Calibri"/>
              <a:cs typeface="Calibri"/>
              <a:sym typeface="Calibri"/>
            </a:endParaRPr>
          </a:p>
        </p:txBody>
      </p:sp>
      <p:sp>
        <p:nvSpPr>
          <p:cNvPr id="2995" name="Google Shape;2995;p123"/>
          <p:cNvSpPr/>
          <p:nvPr/>
        </p:nvSpPr>
        <p:spPr>
          <a:xfrm>
            <a:off x="411480" y="4350715"/>
            <a:ext cx="4755000" cy="2196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dk1"/>
              </a:buClr>
              <a:buSzPts val="1000"/>
              <a:buFont typeface="Calibri"/>
              <a:buNone/>
            </a:pPr>
            <a:endParaRPr sz="1000" b="0" i="0" u="none" strike="noStrike" cap="none">
              <a:solidFill>
                <a:schemeClr val="dk1"/>
              </a:solidFill>
              <a:latin typeface="Calibri"/>
              <a:ea typeface="Calibri"/>
              <a:cs typeface="Calibri"/>
              <a:sym typeface="Calibri"/>
            </a:endParaRPr>
          </a:p>
        </p:txBody>
      </p:sp>
      <p:sp>
        <p:nvSpPr>
          <p:cNvPr id="2996" name="Google Shape;2996;p123"/>
          <p:cNvSpPr/>
          <p:nvPr/>
        </p:nvSpPr>
        <p:spPr>
          <a:xfrm>
            <a:off x="411480" y="4568342"/>
            <a:ext cx="4755000" cy="2196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A5F3FC"/>
              </a:buClr>
              <a:buSzPts val="1000"/>
              <a:buFont typeface="Consolas"/>
              <a:buNone/>
            </a:pPr>
            <a:r>
              <a:rPr lang="en" sz="1000" b="0" i="0" u="none" strike="noStrike" cap="none">
                <a:solidFill>
                  <a:srgbClr val="A5F3FC"/>
                </a:solidFill>
                <a:sym typeface="Consolas"/>
              </a:rPr>
              <a:t>print(response.content[0].text)</a:t>
            </a:r>
            <a:endParaRPr sz="1000" b="0" i="0" u="none" strike="noStrike" cap="none">
              <a:solidFill>
                <a:schemeClr val="dk1"/>
              </a:solidFill>
              <a:latin typeface="Calibri"/>
              <a:ea typeface="Calibri"/>
              <a:cs typeface="Calibri"/>
              <a:sym typeface="Calibri"/>
            </a:endParaRPr>
          </a:p>
        </p:txBody>
      </p:sp>
      <p:sp>
        <p:nvSpPr>
          <p:cNvPr id="2997" name="Google Shape;2997;p123"/>
          <p:cNvSpPr/>
          <p:nvPr/>
        </p:nvSpPr>
        <p:spPr>
          <a:xfrm>
            <a:off x="4835009" y="731702"/>
            <a:ext cx="3429000" cy="4206300"/>
          </a:xfrm>
          <a:prstGeom prst="rect">
            <a:avLst/>
          </a:prstGeom>
          <a:solidFill>
            <a:srgbClr val="F8F9FF"/>
          </a:solidFill>
          <a:ln>
            <a:noFill/>
          </a:ln>
          <a:effectLst>
            <a:outerShdw blurRad="101600" dist="25400" dir="8100000" algn="bl" rotWithShape="0">
              <a:srgbClr val="000000">
                <a:alpha val="784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8" name="Google Shape;2998;p123"/>
          <p:cNvSpPr/>
          <p:nvPr/>
        </p:nvSpPr>
        <p:spPr>
          <a:xfrm>
            <a:off x="5017889" y="823142"/>
            <a:ext cx="3063300" cy="3291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4F46E5"/>
              </a:buClr>
              <a:buSzPts val="1300"/>
              <a:buFont typeface="Calibri"/>
              <a:buNone/>
            </a:pPr>
            <a:r>
              <a:rPr lang="en" sz="1300" b="1" i="0" u="none" strike="noStrike" cap="none">
                <a:solidFill>
                  <a:srgbClr val="4F46E5"/>
                </a:solidFill>
                <a:sym typeface="Calibri"/>
              </a:rPr>
              <a:t>Use-Case Presets</a:t>
            </a:r>
            <a:endParaRPr sz="1300" b="0" i="0" u="none" strike="noStrike" cap="none">
              <a:solidFill>
                <a:schemeClr val="dk1"/>
              </a:solidFill>
              <a:latin typeface="Calibri"/>
              <a:ea typeface="Calibri"/>
              <a:cs typeface="Calibri"/>
              <a:sym typeface="Calibri"/>
            </a:endParaRPr>
          </a:p>
        </p:txBody>
      </p:sp>
      <p:sp>
        <p:nvSpPr>
          <p:cNvPr id="2999" name="Google Shape;2999;p123"/>
          <p:cNvSpPr/>
          <p:nvPr/>
        </p:nvSpPr>
        <p:spPr>
          <a:xfrm>
            <a:off x="4990457" y="1262054"/>
            <a:ext cx="3063300" cy="749700"/>
          </a:xfrm>
          <a:prstGeom prst="rect">
            <a:avLst/>
          </a:prstGeom>
          <a:solidFill>
            <a:srgbClr val="EEF2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0" name="Google Shape;3000;p123"/>
          <p:cNvSpPr/>
          <p:nvPr/>
        </p:nvSpPr>
        <p:spPr>
          <a:xfrm>
            <a:off x="4990457" y="1262054"/>
            <a:ext cx="91500" cy="749700"/>
          </a:xfrm>
          <a:prstGeom prst="rect">
            <a:avLst/>
          </a:prstGeom>
          <a:solidFill>
            <a:srgbClr val="05966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1" name="Google Shape;3001;p123"/>
          <p:cNvSpPr/>
          <p:nvPr/>
        </p:nvSpPr>
        <p:spPr>
          <a:xfrm>
            <a:off x="5155049" y="1298630"/>
            <a:ext cx="2834700" cy="2742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059669"/>
              </a:buClr>
              <a:buSzPts val="1200"/>
              <a:buFont typeface="Calibri"/>
              <a:buNone/>
            </a:pPr>
            <a:r>
              <a:rPr lang="en" sz="1200" b="1" i="0" u="none" strike="noStrike" cap="none">
                <a:solidFill>
                  <a:srgbClr val="059669"/>
                </a:solidFill>
                <a:sym typeface="Calibri"/>
              </a:rPr>
              <a:t>📖 Factual Q&amp;A</a:t>
            </a:r>
            <a:endParaRPr sz="1200" b="0" i="0" u="none" strike="noStrike" cap="none">
              <a:solidFill>
                <a:schemeClr val="dk1"/>
              </a:solidFill>
              <a:latin typeface="Calibri"/>
              <a:ea typeface="Calibri"/>
              <a:cs typeface="Calibri"/>
              <a:sym typeface="Calibri"/>
            </a:endParaRPr>
          </a:p>
        </p:txBody>
      </p:sp>
      <p:sp>
        <p:nvSpPr>
          <p:cNvPr id="3002" name="Google Shape;3002;p123"/>
          <p:cNvSpPr/>
          <p:nvPr/>
        </p:nvSpPr>
        <p:spPr>
          <a:xfrm>
            <a:off x="5155049" y="1591238"/>
            <a:ext cx="2834700" cy="3840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374151"/>
              </a:buClr>
              <a:buSzPts val="1050"/>
              <a:buFont typeface="Consolas"/>
              <a:buNone/>
            </a:pPr>
            <a:r>
              <a:rPr lang="en" sz="1050" b="0" i="0" u="none" strike="noStrike" cap="none">
                <a:solidFill>
                  <a:srgbClr val="374151"/>
                </a:solidFill>
                <a:sym typeface="Consolas"/>
              </a:rPr>
              <a:t>temp=0.3, top_p=0.7</a:t>
            </a:r>
            <a:endParaRPr sz="1050" b="0" i="0" u="none" strike="noStrike" cap="none">
              <a:solidFill>
                <a:schemeClr val="dk1"/>
              </a:solidFill>
              <a:latin typeface="Calibri"/>
              <a:ea typeface="Calibri"/>
              <a:cs typeface="Calibri"/>
              <a:sym typeface="Calibri"/>
            </a:endParaRPr>
          </a:p>
          <a:p>
            <a:pPr marL="0" marR="0" lvl="0" indent="0" algn="l" rtl="0">
              <a:spcBef>
                <a:spcPts val="0"/>
              </a:spcBef>
              <a:spcAft>
                <a:spcPts val="0"/>
              </a:spcAft>
              <a:buClr>
                <a:srgbClr val="374151"/>
              </a:buClr>
              <a:buSzPts val="1050"/>
              <a:buFont typeface="Consolas"/>
              <a:buNone/>
            </a:pPr>
            <a:r>
              <a:rPr lang="en" sz="1050" b="0" i="0" u="none" strike="noStrike" cap="none">
                <a:solidFill>
                  <a:srgbClr val="374151"/>
                </a:solidFill>
                <a:sym typeface="Consolas"/>
              </a:rPr>
              <a:t>max_tokens=256</a:t>
            </a:r>
            <a:endParaRPr sz="1050" b="0" i="0" u="none" strike="noStrike" cap="none">
              <a:solidFill>
                <a:schemeClr val="dk1"/>
              </a:solidFill>
              <a:latin typeface="Calibri"/>
              <a:ea typeface="Calibri"/>
              <a:cs typeface="Calibri"/>
              <a:sym typeface="Calibri"/>
            </a:endParaRPr>
          </a:p>
        </p:txBody>
      </p:sp>
      <p:sp>
        <p:nvSpPr>
          <p:cNvPr id="3003" name="Google Shape;3003;p123"/>
          <p:cNvSpPr/>
          <p:nvPr/>
        </p:nvSpPr>
        <p:spPr>
          <a:xfrm>
            <a:off x="4990457" y="2121590"/>
            <a:ext cx="3063300" cy="749700"/>
          </a:xfrm>
          <a:prstGeom prst="rect">
            <a:avLst/>
          </a:prstGeom>
          <a:solidFill>
            <a:srgbClr val="EEF2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4" name="Google Shape;3004;p123"/>
          <p:cNvSpPr/>
          <p:nvPr/>
        </p:nvSpPr>
        <p:spPr>
          <a:xfrm>
            <a:off x="4990457" y="2121590"/>
            <a:ext cx="91500" cy="749700"/>
          </a:xfrm>
          <a:prstGeom prst="rect">
            <a:avLst/>
          </a:prstGeom>
          <a:solidFill>
            <a:srgbClr val="7C3A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5" name="Google Shape;3005;p123"/>
          <p:cNvSpPr/>
          <p:nvPr/>
        </p:nvSpPr>
        <p:spPr>
          <a:xfrm>
            <a:off x="5155049" y="2158166"/>
            <a:ext cx="2834700" cy="2742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7C3AED"/>
              </a:buClr>
              <a:buSzPts val="1200"/>
              <a:buFont typeface="Calibri"/>
              <a:buNone/>
            </a:pPr>
            <a:r>
              <a:rPr lang="en" sz="1200" b="1" i="0" u="none" strike="noStrike" cap="none">
                <a:solidFill>
                  <a:srgbClr val="7C3AED"/>
                </a:solidFill>
                <a:sym typeface="Calibri"/>
              </a:rPr>
              <a:t>✍️ Creative Writing</a:t>
            </a:r>
            <a:endParaRPr sz="1200" b="0" i="0" u="none" strike="noStrike" cap="none">
              <a:solidFill>
                <a:schemeClr val="dk1"/>
              </a:solidFill>
              <a:latin typeface="Calibri"/>
              <a:ea typeface="Calibri"/>
              <a:cs typeface="Calibri"/>
              <a:sym typeface="Calibri"/>
            </a:endParaRPr>
          </a:p>
        </p:txBody>
      </p:sp>
      <p:sp>
        <p:nvSpPr>
          <p:cNvPr id="3006" name="Google Shape;3006;p123"/>
          <p:cNvSpPr/>
          <p:nvPr/>
        </p:nvSpPr>
        <p:spPr>
          <a:xfrm>
            <a:off x="5155049" y="2450774"/>
            <a:ext cx="2834700" cy="3840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374151"/>
              </a:buClr>
              <a:buSzPts val="1050"/>
              <a:buFont typeface="Consolas"/>
              <a:buNone/>
            </a:pPr>
            <a:r>
              <a:rPr lang="en" sz="1050" b="0" i="0" u="none" strike="noStrike" cap="none">
                <a:solidFill>
                  <a:srgbClr val="374151"/>
                </a:solidFill>
                <a:sym typeface="Consolas"/>
              </a:rPr>
              <a:t>temp=1.2, top_p=0.95</a:t>
            </a:r>
            <a:endParaRPr sz="1050" b="0" i="0" u="none" strike="noStrike" cap="none">
              <a:solidFill>
                <a:schemeClr val="dk1"/>
              </a:solidFill>
              <a:latin typeface="Calibri"/>
              <a:ea typeface="Calibri"/>
              <a:cs typeface="Calibri"/>
              <a:sym typeface="Calibri"/>
            </a:endParaRPr>
          </a:p>
          <a:p>
            <a:pPr marL="0" marR="0" lvl="0" indent="0" algn="l" rtl="0">
              <a:spcBef>
                <a:spcPts val="0"/>
              </a:spcBef>
              <a:spcAft>
                <a:spcPts val="0"/>
              </a:spcAft>
              <a:buClr>
                <a:srgbClr val="374151"/>
              </a:buClr>
              <a:buSzPts val="1050"/>
              <a:buFont typeface="Consolas"/>
              <a:buNone/>
            </a:pPr>
            <a:r>
              <a:rPr lang="en" sz="1050" b="0" i="0" u="none" strike="noStrike" cap="none">
                <a:solidFill>
                  <a:srgbClr val="374151"/>
                </a:solidFill>
                <a:sym typeface="Consolas"/>
              </a:rPr>
              <a:t>rep_penalty=1.2</a:t>
            </a:r>
            <a:endParaRPr sz="1050" b="0" i="0" u="none" strike="noStrike" cap="none">
              <a:solidFill>
                <a:schemeClr val="dk1"/>
              </a:solidFill>
              <a:latin typeface="Calibri"/>
              <a:ea typeface="Calibri"/>
              <a:cs typeface="Calibri"/>
              <a:sym typeface="Calibri"/>
            </a:endParaRPr>
          </a:p>
        </p:txBody>
      </p:sp>
      <p:sp>
        <p:nvSpPr>
          <p:cNvPr id="3007" name="Google Shape;3007;p123"/>
          <p:cNvSpPr/>
          <p:nvPr/>
        </p:nvSpPr>
        <p:spPr>
          <a:xfrm>
            <a:off x="4990457" y="2981126"/>
            <a:ext cx="3063300" cy="749700"/>
          </a:xfrm>
          <a:prstGeom prst="rect">
            <a:avLst/>
          </a:prstGeom>
          <a:solidFill>
            <a:srgbClr val="EEF2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8" name="Google Shape;3008;p123"/>
          <p:cNvSpPr/>
          <p:nvPr/>
        </p:nvSpPr>
        <p:spPr>
          <a:xfrm>
            <a:off x="4990457" y="2981126"/>
            <a:ext cx="91500" cy="749700"/>
          </a:xfrm>
          <a:prstGeom prst="rect">
            <a:avLst/>
          </a:prstGeom>
          <a:solidFill>
            <a:srgbClr val="06B6D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9" name="Google Shape;3009;p123"/>
          <p:cNvSpPr/>
          <p:nvPr/>
        </p:nvSpPr>
        <p:spPr>
          <a:xfrm>
            <a:off x="5155049" y="3017702"/>
            <a:ext cx="2834700" cy="2742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06B6D4"/>
              </a:buClr>
              <a:buSzPts val="1200"/>
              <a:buFont typeface="Calibri"/>
              <a:buNone/>
            </a:pPr>
            <a:r>
              <a:rPr lang="en" sz="1200" b="1" i="0" u="none" strike="noStrike" cap="none">
                <a:solidFill>
                  <a:srgbClr val="06B6D4"/>
                </a:solidFill>
                <a:sym typeface="Calibri"/>
              </a:rPr>
              <a:t>💻 Code Generation</a:t>
            </a:r>
            <a:endParaRPr sz="1200" b="0" i="0" u="none" strike="noStrike" cap="none">
              <a:solidFill>
                <a:schemeClr val="dk1"/>
              </a:solidFill>
              <a:latin typeface="Calibri"/>
              <a:ea typeface="Calibri"/>
              <a:cs typeface="Calibri"/>
              <a:sym typeface="Calibri"/>
            </a:endParaRPr>
          </a:p>
        </p:txBody>
      </p:sp>
      <p:sp>
        <p:nvSpPr>
          <p:cNvPr id="3010" name="Google Shape;3010;p123"/>
          <p:cNvSpPr/>
          <p:nvPr/>
        </p:nvSpPr>
        <p:spPr>
          <a:xfrm>
            <a:off x="5155049" y="3310310"/>
            <a:ext cx="2834700" cy="3840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374151"/>
              </a:buClr>
              <a:buSzPts val="1050"/>
              <a:buFont typeface="Consolas"/>
              <a:buNone/>
            </a:pPr>
            <a:r>
              <a:rPr lang="en" sz="1050" b="0" i="0" u="none" strike="noStrike" cap="none">
                <a:solidFill>
                  <a:srgbClr val="374151"/>
                </a:solidFill>
                <a:sym typeface="Consolas"/>
              </a:rPr>
              <a:t>temp=0.2, top_k=20</a:t>
            </a:r>
            <a:endParaRPr sz="1050" b="0" i="0" u="none" strike="noStrike" cap="none">
              <a:solidFill>
                <a:schemeClr val="dk1"/>
              </a:solidFill>
              <a:latin typeface="Calibri"/>
              <a:ea typeface="Calibri"/>
              <a:cs typeface="Calibri"/>
              <a:sym typeface="Calibri"/>
            </a:endParaRPr>
          </a:p>
          <a:p>
            <a:pPr marL="0" marR="0" lvl="0" indent="0" algn="l" rtl="0">
              <a:spcBef>
                <a:spcPts val="0"/>
              </a:spcBef>
              <a:spcAft>
                <a:spcPts val="0"/>
              </a:spcAft>
              <a:buClr>
                <a:srgbClr val="374151"/>
              </a:buClr>
              <a:buSzPts val="1050"/>
              <a:buFont typeface="Consolas"/>
              <a:buNone/>
            </a:pPr>
            <a:r>
              <a:rPr lang="en" sz="1050" b="0" i="0" u="none" strike="noStrike" cap="none">
                <a:solidFill>
                  <a:srgbClr val="374151"/>
                </a:solidFill>
                <a:sym typeface="Consolas"/>
              </a:rPr>
              <a:t>stop=["\n```"]</a:t>
            </a:r>
            <a:endParaRPr sz="1050" b="0" i="0" u="none" strike="noStrike" cap="none">
              <a:solidFill>
                <a:schemeClr val="dk1"/>
              </a:solidFill>
              <a:latin typeface="Calibri"/>
              <a:ea typeface="Calibri"/>
              <a:cs typeface="Calibri"/>
              <a:sym typeface="Calibri"/>
            </a:endParaRPr>
          </a:p>
        </p:txBody>
      </p:sp>
      <p:sp>
        <p:nvSpPr>
          <p:cNvPr id="3011" name="Google Shape;3011;p123"/>
          <p:cNvSpPr/>
          <p:nvPr/>
        </p:nvSpPr>
        <p:spPr>
          <a:xfrm>
            <a:off x="4990457" y="3840662"/>
            <a:ext cx="3063300" cy="749700"/>
          </a:xfrm>
          <a:prstGeom prst="rect">
            <a:avLst/>
          </a:prstGeom>
          <a:solidFill>
            <a:srgbClr val="EEF2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2" name="Google Shape;3012;p123"/>
          <p:cNvSpPr/>
          <p:nvPr/>
        </p:nvSpPr>
        <p:spPr>
          <a:xfrm>
            <a:off x="4990457" y="3840662"/>
            <a:ext cx="91500" cy="749700"/>
          </a:xfrm>
          <a:prstGeom prst="rect">
            <a:avLst/>
          </a:prstGeom>
          <a:solidFill>
            <a:srgbClr val="EA580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3" name="Google Shape;3013;p123"/>
          <p:cNvSpPr/>
          <p:nvPr/>
        </p:nvSpPr>
        <p:spPr>
          <a:xfrm>
            <a:off x="5155049" y="3877238"/>
            <a:ext cx="2834700" cy="2742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EA580C"/>
              </a:buClr>
              <a:buSzPts val="1200"/>
              <a:buFont typeface="Calibri"/>
              <a:buNone/>
            </a:pPr>
            <a:r>
              <a:rPr lang="en" sz="1200" b="1" i="0" u="none" strike="noStrike" cap="none">
                <a:solidFill>
                  <a:srgbClr val="EA580C"/>
                </a:solidFill>
                <a:sym typeface="Calibri"/>
              </a:rPr>
              <a:t>🧠 Brainstorming</a:t>
            </a:r>
            <a:endParaRPr sz="1200" b="0" i="0" u="none" strike="noStrike" cap="none">
              <a:solidFill>
                <a:schemeClr val="dk1"/>
              </a:solidFill>
              <a:latin typeface="Calibri"/>
              <a:ea typeface="Calibri"/>
              <a:cs typeface="Calibri"/>
              <a:sym typeface="Calibri"/>
            </a:endParaRPr>
          </a:p>
        </p:txBody>
      </p:sp>
      <p:sp>
        <p:nvSpPr>
          <p:cNvPr id="3014" name="Google Shape;3014;p123"/>
          <p:cNvSpPr/>
          <p:nvPr/>
        </p:nvSpPr>
        <p:spPr>
          <a:xfrm>
            <a:off x="5155049" y="4169846"/>
            <a:ext cx="2834700" cy="3840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374151"/>
              </a:buClr>
              <a:buSzPts val="1050"/>
              <a:buFont typeface="Consolas"/>
              <a:buNone/>
            </a:pPr>
            <a:r>
              <a:rPr lang="en" sz="1050" b="0" i="0" u="none" strike="noStrike" cap="none">
                <a:solidFill>
                  <a:srgbClr val="374151"/>
                </a:solidFill>
                <a:sym typeface="Consolas"/>
              </a:rPr>
              <a:t>temp=1.5, top_k=80</a:t>
            </a:r>
            <a:endParaRPr sz="1050" b="0" i="0" u="none" strike="noStrike" cap="none">
              <a:solidFill>
                <a:schemeClr val="dk1"/>
              </a:solidFill>
              <a:latin typeface="Calibri"/>
              <a:ea typeface="Calibri"/>
              <a:cs typeface="Calibri"/>
              <a:sym typeface="Calibri"/>
            </a:endParaRPr>
          </a:p>
          <a:p>
            <a:pPr marL="0" marR="0" lvl="0" indent="0" algn="l" rtl="0">
              <a:spcBef>
                <a:spcPts val="0"/>
              </a:spcBef>
              <a:spcAft>
                <a:spcPts val="0"/>
              </a:spcAft>
              <a:buClr>
                <a:srgbClr val="374151"/>
              </a:buClr>
              <a:buSzPts val="1050"/>
              <a:buFont typeface="Consolas"/>
              <a:buNone/>
            </a:pPr>
            <a:r>
              <a:rPr lang="en" sz="1050" b="0" i="0" u="none" strike="noStrike" cap="none">
                <a:solidFill>
                  <a:srgbClr val="374151"/>
                </a:solidFill>
                <a:sym typeface="Consolas"/>
              </a:rPr>
              <a:t>max_tokens=1024</a:t>
            </a:r>
            <a:endParaRPr sz="1050" b="0" i="0" u="none" strike="noStrike" cap="none">
              <a:solidFill>
                <a:schemeClr val="dk1"/>
              </a:solidFill>
              <a:latin typeface="Calibri"/>
              <a:ea typeface="Calibri"/>
              <a:cs typeface="Calibri"/>
              <a:sym typeface="Calibri"/>
            </a:endParaRPr>
          </a:p>
        </p:txBody>
      </p:sp>
      <p:pic>
        <p:nvPicPr>
          <p:cNvPr id="3015" name="Google Shape;3015;p123"/>
          <p:cNvPicPr preferRelativeResize="0"/>
          <p:nvPr/>
        </p:nvPicPr>
        <p:blipFill>
          <a:blip r:embed="rId3">
            <a:alphaModFix/>
          </a:blip>
          <a:stretch>
            <a:fillRect/>
          </a:stretch>
        </p:blipFill>
        <p:spPr>
          <a:xfrm>
            <a:off x="8369125" y="0"/>
            <a:ext cx="774877" cy="867174"/>
          </a:xfrm>
          <a:prstGeom prst="rect">
            <a:avLst/>
          </a:prstGeom>
          <a:noFill/>
          <a:ln>
            <a:noFill/>
          </a:ln>
        </p:spPr>
      </p:pic>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108">
          <a:extLst>
            <a:ext uri="{FF2B5EF4-FFF2-40B4-BE49-F238E27FC236}">
              <a16:creationId xmlns:a16="http://schemas.microsoft.com/office/drawing/2014/main" id="{38BEABDE-9732-1D2B-4D55-C2B1EB46BAB4}"/>
            </a:ext>
          </a:extLst>
        </p:cNvPr>
        <p:cNvGrpSpPr/>
        <p:nvPr/>
      </p:nvGrpSpPr>
      <p:grpSpPr>
        <a:xfrm>
          <a:off x="0" y="0"/>
          <a:ext cx="0" cy="0"/>
          <a:chOff x="0" y="0"/>
          <a:chExt cx="0" cy="0"/>
        </a:xfrm>
      </p:grpSpPr>
      <p:pic>
        <p:nvPicPr>
          <p:cNvPr id="109" name="Google Shape;109;p20">
            <a:extLst>
              <a:ext uri="{FF2B5EF4-FFF2-40B4-BE49-F238E27FC236}">
                <a16:creationId xmlns:a16="http://schemas.microsoft.com/office/drawing/2014/main" id="{3B397692-68D6-5810-8862-A8DF1DE47683}"/>
              </a:ext>
            </a:extLst>
          </p:cNvPr>
          <p:cNvPicPr preferRelativeResize="0"/>
          <p:nvPr/>
        </p:nvPicPr>
        <p:blipFill>
          <a:blip r:embed="rId3">
            <a:alphaModFix/>
          </a:blip>
          <a:stretch>
            <a:fillRect/>
          </a:stretch>
        </p:blipFill>
        <p:spPr>
          <a:xfrm>
            <a:off x="8369125" y="0"/>
            <a:ext cx="774877" cy="867174"/>
          </a:xfrm>
          <a:prstGeom prst="rect">
            <a:avLst/>
          </a:prstGeom>
          <a:noFill/>
          <a:ln>
            <a:noFill/>
          </a:ln>
        </p:spPr>
      </p:pic>
      <p:sp>
        <p:nvSpPr>
          <p:cNvPr id="110" name="Google Shape;110;p20">
            <a:extLst>
              <a:ext uri="{FF2B5EF4-FFF2-40B4-BE49-F238E27FC236}">
                <a16:creationId xmlns:a16="http://schemas.microsoft.com/office/drawing/2014/main" id="{5427C66C-C160-B2D0-E716-49940DA12A56}"/>
              </a:ext>
            </a:extLst>
          </p:cNvPr>
          <p:cNvSpPr txBox="1">
            <a:spLocks noGrp="1"/>
          </p:cNvSpPr>
          <p:nvPr>
            <p:ph type="ctrTitle" idx="4294967295"/>
          </p:nvPr>
        </p:nvSpPr>
        <p:spPr>
          <a:xfrm>
            <a:off x="502602" y="1611648"/>
            <a:ext cx="7772400" cy="8673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rgbClr val="C00000"/>
              </a:buClr>
              <a:buSzPts val="4400"/>
              <a:buFont typeface="Calibri"/>
              <a:buNone/>
            </a:pPr>
            <a:r>
              <a:rPr lang="en" sz="4000" b="1" dirty="0">
                <a:sym typeface="Calibri"/>
              </a:rPr>
              <a:t>Prompting and APIs </a:t>
            </a:r>
            <a:endParaRPr sz="4000" dirty="0">
              <a:latin typeface="Calibri"/>
              <a:ea typeface="Calibri"/>
              <a:cs typeface="Calibri"/>
              <a:sym typeface="Calibri"/>
            </a:endParaRPr>
          </a:p>
        </p:txBody>
      </p:sp>
      <p:sp>
        <p:nvSpPr>
          <p:cNvPr id="2" name="TextBox 1">
            <a:extLst>
              <a:ext uri="{FF2B5EF4-FFF2-40B4-BE49-F238E27FC236}">
                <a16:creationId xmlns:a16="http://schemas.microsoft.com/office/drawing/2014/main" id="{59562CC2-8EA2-8693-D232-13F83B5E9E03}"/>
              </a:ext>
            </a:extLst>
          </p:cNvPr>
          <p:cNvSpPr txBox="1"/>
          <p:nvPr/>
        </p:nvSpPr>
        <p:spPr>
          <a:xfrm>
            <a:off x="2500746" y="2734306"/>
            <a:ext cx="4597540" cy="400110"/>
          </a:xfrm>
          <a:prstGeom prst="rect">
            <a:avLst/>
          </a:prstGeom>
          <a:noFill/>
        </p:spPr>
        <p:txBody>
          <a:bodyPr wrap="square" rtlCol="0">
            <a:spAutoFit/>
          </a:bodyPr>
          <a:lstStyle/>
          <a:p>
            <a:r>
              <a:rPr lang="en-US" sz="2000" dirty="0">
                <a:solidFill>
                  <a:srgbClr val="1A1F36"/>
                </a:solidFill>
                <a:latin typeface="Calibri"/>
              </a:rPr>
              <a:t>OpenAI API and Models</a:t>
            </a:r>
          </a:p>
        </p:txBody>
      </p:sp>
    </p:spTree>
    <p:extLst>
      <p:ext uri="{BB962C8B-B14F-4D97-AF65-F5344CB8AC3E}">
        <p14:creationId xmlns:p14="http://schemas.microsoft.com/office/powerpoint/2010/main" val="828507741"/>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Shape 184"/>
        <p:cNvGrpSpPr/>
        <p:nvPr/>
      </p:nvGrpSpPr>
      <p:grpSpPr>
        <a:xfrm>
          <a:off x="0" y="0"/>
          <a:ext cx="0" cy="0"/>
          <a:chOff x="0" y="0"/>
          <a:chExt cx="0" cy="0"/>
        </a:xfrm>
      </p:grpSpPr>
      <p:sp>
        <p:nvSpPr>
          <p:cNvPr id="185" name="Google Shape;185;p20"/>
          <p:cNvSpPr/>
          <p:nvPr/>
        </p:nvSpPr>
        <p:spPr>
          <a:xfrm>
            <a:off x="0" y="105025"/>
            <a:ext cx="9144000" cy="567600"/>
          </a:xfrm>
          <a:prstGeom prst="rect">
            <a:avLst/>
          </a:prstGeom>
          <a:noFill/>
          <a:ln w="12700" cap="flat" cmpd="sng">
            <a:noFill/>
            <a:prstDash val="solid"/>
            <a:round/>
            <a:headEnd type="none" w="sm" len="sm"/>
            <a:tailEnd type="none" w="sm" len="sm"/>
          </a:ln>
        </p:spPr>
        <p:txBody>
          <a:bodyPr spcFirstLastPara="1" wrap="square" lIns="91425" tIns="91425" rIns="91425" bIns="91425" anchor="ctr" anchorCtr="0">
            <a:noAutofit/>
          </a:bodyPr>
          <a:lstStyle/>
          <a:p>
            <a:pPr marL="457200" lvl="0" indent="457200" algn="l" rtl="0">
              <a:lnSpc>
                <a:spcPct val="115000"/>
              </a:lnSpc>
              <a:spcBef>
                <a:spcPts val="2400"/>
              </a:spcBef>
              <a:spcAft>
                <a:spcPts val="600"/>
              </a:spcAft>
              <a:buClr>
                <a:schemeClr val="dk1"/>
              </a:buClr>
              <a:buSzPts val="1100"/>
              <a:buFont typeface="Arial"/>
              <a:buNone/>
            </a:pPr>
            <a:r>
              <a:rPr lang="en" sz="2300" b="1" dirty="0">
                <a:solidFill>
                  <a:srgbClr val="1E2761"/>
                </a:solidFill>
                <a:latin typeface="Georgia"/>
              </a:rPr>
              <a:t>OpenAI API (Introduction)</a:t>
            </a:r>
            <a:endParaRPr b="1" dirty="0">
              <a:solidFill>
                <a:schemeClr val="tx1"/>
              </a:solidFill>
            </a:endParaRPr>
          </a:p>
        </p:txBody>
      </p:sp>
      <p:sp>
        <p:nvSpPr>
          <p:cNvPr id="186" name="Google Shape;186;p20"/>
          <p:cNvSpPr txBox="1"/>
          <p:nvPr/>
        </p:nvSpPr>
        <p:spPr>
          <a:xfrm>
            <a:off x="4727850" y="2868475"/>
            <a:ext cx="3766800" cy="1483453"/>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200"/>
              </a:spcBef>
              <a:spcAft>
                <a:spcPts val="0"/>
              </a:spcAft>
              <a:buNone/>
            </a:pPr>
            <a:r>
              <a:rPr lang="en" b="1" dirty="0">
                <a:solidFill>
                  <a:srgbClr val="1A1F36"/>
                </a:solidFill>
                <a:latin typeface="Calibri"/>
              </a:rPr>
              <a:t>Key Advantages:</a:t>
            </a:r>
            <a:endParaRPr b="1" dirty="0">
              <a:solidFill>
                <a:schemeClr val="dk1"/>
              </a:solidFill>
            </a:endParaRPr>
          </a:p>
          <a:p>
            <a:pPr marL="457200" lvl="0" indent="-304800" algn="l" rtl="0">
              <a:lnSpc>
                <a:spcPct val="115000"/>
              </a:lnSpc>
              <a:spcBef>
                <a:spcPts val="1200"/>
              </a:spcBef>
              <a:spcAft>
                <a:spcPts val="0"/>
              </a:spcAft>
              <a:buClr>
                <a:schemeClr val="dk1"/>
              </a:buClr>
              <a:buSzPts val="1200"/>
              <a:buChar char="●"/>
            </a:pPr>
            <a:r>
              <a:rPr lang="en" dirty="0">
                <a:solidFill>
                  <a:srgbClr val="1A1F36"/>
                </a:solidFill>
                <a:latin typeface="Calibri"/>
              </a:rPr>
              <a:t>High reliability · production-ready</a:t>
            </a:r>
            <a:endParaRPr dirty="0">
              <a:solidFill>
                <a:schemeClr val="dk1"/>
              </a:solidFill>
            </a:endParaRPr>
          </a:p>
          <a:p>
            <a:pPr marL="457200" lvl="0" indent="-304800" algn="l" rtl="0">
              <a:lnSpc>
                <a:spcPct val="115000"/>
              </a:lnSpc>
              <a:spcBef>
                <a:spcPts val="0"/>
              </a:spcBef>
              <a:spcAft>
                <a:spcPts val="0"/>
              </a:spcAft>
              <a:buClr>
                <a:schemeClr val="dk1"/>
              </a:buClr>
              <a:buSzPts val="1200"/>
              <a:buChar char="●"/>
            </a:pPr>
            <a:r>
              <a:rPr lang="en" dirty="0">
                <a:solidFill>
                  <a:srgbClr val="1A1F36"/>
                </a:solidFill>
                <a:latin typeface="Calibri"/>
              </a:rPr>
              <a:t>Scalable infrastructure</a:t>
            </a:r>
            <a:endParaRPr dirty="0">
              <a:solidFill>
                <a:schemeClr val="dk1"/>
              </a:solidFill>
            </a:endParaRPr>
          </a:p>
          <a:p>
            <a:pPr marL="457200" lvl="0" indent="-304800" algn="l" rtl="0">
              <a:lnSpc>
                <a:spcPct val="115000"/>
              </a:lnSpc>
              <a:spcBef>
                <a:spcPts val="0"/>
              </a:spcBef>
              <a:spcAft>
                <a:spcPts val="0"/>
              </a:spcAft>
              <a:buClr>
                <a:schemeClr val="dk1"/>
              </a:buClr>
              <a:buSzPts val="1200"/>
              <a:buChar char="●"/>
            </a:pPr>
            <a:r>
              <a:rPr lang="en" dirty="0">
                <a:solidFill>
                  <a:srgbClr val="1A1F36"/>
                </a:solidFill>
                <a:latin typeface="Calibri"/>
              </a:rPr>
              <a:t>Wide model ecosystem</a:t>
            </a:r>
            <a:endParaRPr dirty="0">
              <a:solidFill>
                <a:schemeClr val="dk1"/>
              </a:solidFill>
            </a:endParaRPr>
          </a:p>
        </p:txBody>
      </p:sp>
      <p:sp>
        <p:nvSpPr>
          <p:cNvPr id="187" name="Google Shape;187;p20"/>
          <p:cNvSpPr txBox="1"/>
          <p:nvPr/>
        </p:nvSpPr>
        <p:spPr>
          <a:xfrm>
            <a:off x="365761" y="844275"/>
            <a:ext cx="3338100" cy="1885101"/>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200"/>
              </a:spcBef>
              <a:spcAft>
                <a:spcPts val="0"/>
              </a:spcAft>
              <a:buNone/>
            </a:pPr>
            <a:r>
              <a:rPr lang="en" b="1" dirty="0">
                <a:solidFill>
                  <a:srgbClr val="1A1F36"/>
                </a:solidFill>
                <a:latin typeface="Calibri"/>
              </a:rPr>
              <a:t>Overview:</a:t>
            </a:r>
            <a:endParaRPr b="1" dirty="0">
              <a:solidFill>
                <a:schemeClr val="dk1"/>
              </a:solidFill>
            </a:endParaRPr>
          </a:p>
          <a:p>
            <a:pPr marL="457200" lvl="0" indent="-304800" algn="l" rtl="0">
              <a:lnSpc>
                <a:spcPct val="115000"/>
              </a:lnSpc>
              <a:spcBef>
                <a:spcPts val="1200"/>
              </a:spcBef>
              <a:spcAft>
                <a:spcPts val="0"/>
              </a:spcAft>
              <a:buClr>
                <a:schemeClr val="dk1"/>
              </a:buClr>
              <a:buSzPts val="1200"/>
              <a:buChar char="●"/>
            </a:pPr>
            <a:r>
              <a:rPr lang="en" dirty="0">
                <a:solidFill>
                  <a:srgbClr val="1A1F36"/>
                </a:solidFill>
                <a:latin typeface="Calibri"/>
              </a:rPr>
              <a:t>Proprietary API · pay-per-token</a:t>
            </a:r>
            <a:endParaRPr dirty="0">
              <a:solidFill>
                <a:schemeClr val="dk1"/>
              </a:solidFill>
            </a:endParaRPr>
          </a:p>
          <a:p>
            <a:pPr marL="457200" lvl="0" indent="-304800" algn="l" rtl="0">
              <a:lnSpc>
                <a:spcPct val="115000"/>
              </a:lnSpc>
              <a:spcBef>
                <a:spcPts val="0"/>
              </a:spcBef>
              <a:spcAft>
                <a:spcPts val="0"/>
              </a:spcAft>
              <a:buClr>
                <a:schemeClr val="dk1"/>
              </a:buClr>
              <a:buSzPts val="1200"/>
              <a:buChar char="●"/>
            </a:pPr>
            <a:r>
              <a:rPr lang="en" dirty="0">
                <a:solidFill>
                  <a:srgbClr val="1A1F36"/>
                </a:solidFill>
                <a:latin typeface="Calibri"/>
              </a:rPr>
              <a:t>Industry-standard LLM platform</a:t>
            </a:r>
            <a:endParaRPr dirty="0">
              <a:solidFill>
                <a:schemeClr val="dk1"/>
              </a:solidFill>
            </a:endParaRPr>
          </a:p>
          <a:p>
            <a:pPr marL="457200" lvl="0" indent="-304800" algn="l" rtl="0">
              <a:lnSpc>
                <a:spcPct val="115000"/>
              </a:lnSpc>
              <a:spcBef>
                <a:spcPts val="0"/>
              </a:spcBef>
              <a:spcAft>
                <a:spcPts val="0"/>
              </a:spcAft>
              <a:buClr>
                <a:schemeClr val="dk1"/>
              </a:buClr>
              <a:buSzPts val="1200"/>
              <a:buChar char="●"/>
            </a:pPr>
            <a:r>
              <a:rPr lang="en" dirty="0">
                <a:solidFill>
                  <a:srgbClr val="1A1F36"/>
                </a:solidFill>
                <a:latin typeface="Calibri"/>
              </a:rPr>
              <a:t>Supports text · code · image · audio</a:t>
            </a:r>
            <a:endParaRPr dirty="0">
              <a:solidFill>
                <a:schemeClr val="dk1"/>
              </a:solidFill>
            </a:endParaRPr>
          </a:p>
          <a:p>
            <a:pPr marL="0" lvl="0" indent="0" algn="l" rtl="0">
              <a:lnSpc>
                <a:spcPct val="115000"/>
              </a:lnSpc>
              <a:spcBef>
                <a:spcPts val="1200"/>
              </a:spcBef>
              <a:spcAft>
                <a:spcPts val="0"/>
              </a:spcAft>
              <a:buNone/>
            </a:pPr>
            <a:endParaRPr dirty="0">
              <a:solidFill>
                <a:schemeClr val="dk1"/>
              </a:solidFill>
            </a:endParaRPr>
          </a:p>
        </p:txBody>
      </p:sp>
      <p:sp>
        <p:nvSpPr>
          <p:cNvPr id="188" name="Google Shape;188;p20"/>
          <p:cNvSpPr txBox="1"/>
          <p:nvPr/>
        </p:nvSpPr>
        <p:spPr>
          <a:xfrm>
            <a:off x="4571999" y="921225"/>
            <a:ext cx="3503691" cy="1731213"/>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200"/>
              </a:spcBef>
              <a:spcAft>
                <a:spcPts val="0"/>
              </a:spcAft>
              <a:buNone/>
            </a:pPr>
            <a:r>
              <a:rPr lang="en" b="1" dirty="0">
                <a:solidFill>
                  <a:srgbClr val="1A1F36"/>
                </a:solidFill>
                <a:latin typeface="Calibri"/>
              </a:rPr>
              <a:t>Core Capabilities:</a:t>
            </a:r>
            <a:endParaRPr b="1" dirty="0">
              <a:solidFill>
                <a:schemeClr val="dk1"/>
              </a:solidFill>
            </a:endParaRPr>
          </a:p>
          <a:p>
            <a:pPr marL="457200" lvl="0" indent="-304800" algn="l" rtl="0">
              <a:lnSpc>
                <a:spcPct val="115000"/>
              </a:lnSpc>
              <a:spcBef>
                <a:spcPts val="1200"/>
              </a:spcBef>
              <a:spcAft>
                <a:spcPts val="0"/>
              </a:spcAft>
              <a:buClr>
                <a:schemeClr val="dk1"/>
              </a:buClr>
              <a:buSzPts val="1200"/>
              <a:buChar char="●"/>
            </a:pPr>
            <a:r>
              <a:rPr lang="en" dirty="0">
                <a:solidFill>
                  <a:srgbClr val="1A1F36"/>
                </a:solidFill>
                <a:latin typeface="Calibri"/>
              </a:rPr>
              <a:t>Chat completions (LLM interaction)</a:t>
            </a:r>
            <a:endParaRPr dirty="0">
              <a:solidFill>
                <a:schemeClr val="dk1"/>
              </a:solidFill>
            </a:endParaRPr>
          </a:p>
          <a:p>
            <a:pPr marL="457200" lvl="0" indent="-304800" algn="l" rtl="0">
              <a:lnSpc>
                <a:spcPct val="115000"/>
              </a:lnSpc>
              <a:spcBef>
                <a:spcPts val="0"/>
              </a:spcBef>
              <a:spcAft>
                <a:spcPts val="0"/>
              </a:spcAft>
              <a:buClr>
                <a:schemeClr val="dk1"/>
              </a:buClr>
              <a:buSzPts val="1200"/>
              <a:buChar char="●"/>
            </a:pPr>
            <a:r>
              <a:rPr lang="en" dirty="0">
                <a:solidFill>
                  <a:srgbClr val="1A1F36"/>
                </a:solidFill>
                <a:latin typeface="Calibri"/>
              </a:rPr>
              <a:t>Function / tool calling</a:t>
            </a:r>
            <a:endParaRPr dirty="0">
              <a:solidFill>
                <a:schemeClr val="dk1"/>
              </a:solidFill>
            </a:endParaRPr>
          </a:p>
          <a:p>
            <a:pPr marL="457200" lvl="0" indent="-304800" algn="l" rtl="0">
              <a:lnSpc>
                <a:spcPct val="115000"/>
              </a:lnSpc>
              <a:spcBef>
                <a:spcPts val="0"/>
              </a:spcBef>
              <a:spcAft>
                <a:spcPts val="0"/>
              </a:spcAft>
              <a:buClr>
                <a:schemeClr val="dk1"/>
              </a:buClr>
              <a:buSzPts val="1200"/>
              <a:buChar char="●"/>
            </a:pPr>
            <a:r>
              <a:rPr lang="en" dirty="0">
                <a:solidFill>
                  <a:srgbClr val="1A1F36"/>
                </a:solidFill>
                <a:latin typeface="Calibri"/>
              </a:rPr>
              <a:t>Structured outputs (JSON mode)</a:t>
            </a:r>
            <a:endParaRPr dirty="0">
              <a:solidFill>
                <a:schemeClr val="dk1"/>
              </a:solidFill>
            </a:endParaRPr>
          </a:p>
          <a:p>
            <a:pPr marL="457200" lvl="0" indent="-304800" algn="l" rtl="0">
              <a:lnSpc>
                <a:spcPct val="115000"/>
              </a:lnSpc>
              <a:spcBef>
                <a:spcPts val="0"/>
              </a:spcBef>
              <a:spcAft>
                <a:spcPts val="0"/>
              </a:spcAft>
              <a:buClr>
                <a:schemeClr val="dk1"/>
              </a:buClr>
              <a:buSzPts val="1200"/>
              <a:buChar char="●"/>
            </a:pPr>
            <a:r>
              <a:rPr lang="en" dirty="0">
                <a:solidFill>
                  <a:srgbClr val="1A1F36"/>
                </a:solidFill>
                <a:latin typeface="Calibri"/>
              </a:rPr>
              <a:t>Embeddings · retrieval</a:t>
            </a:r>
            <a:endParaRPr dirty="0">
              <a:solidFill>
                <a:schemeClr val="dk1"/>
              </a:solidFill>
            </a:endParaRPr>
          </a:p>
        </p:txBody>
      </p:sp>
      <p:sp>
        <p:nvSpPr>
          <p:cNvPr id="189" name="Google Shape;189;p20"/>
          <p:cNvSpPr txBox="1"/>
          <p:nvPr/>
        </p:nvSpPr>
        <p:spPr>
          <a:xfrm>
            <a:off x="457200" y="2540184"/>
            <a:ext cx="3503690" cy="2132861"/>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200"/>
              </a:spcBef>
              <a:spcAft>
                <a:spcPts val="0"/>
              </a:spcAft>
              <a:buNone/>
            </a:pPr>
            <a:r>
              <a:rPr lang="en" b="1" dirty="0">
                <a:solidFill>
                  <a:srgbClr val="1A1F36"/>
                </a:solidFill>
                <a:latin typeface="Calibri"/>
              </a:rPr>
              <a:t>Modalities Supported:</a:t>
            </a:r>
            <a:endParaRPr b="1" dirty="0">
              <a:solidFill>
                <a:schemeClr val="dk1"/>
              </a:solidFill>
            </a:endParaRPr>
          </a:p>
          <a:p>
            <a:pPr marL="457200" lvl="0" indent="-304800" algn="l" rtl="0">
              <a:lnSpc>
                <a:spcPct val="115000"/>
              </a:lnSpc>
              <a:spcBef>
                <a:spcPts val="1200"/>
              </a:spcBef>
              <a:spcAft>
                <a:spcPts val="0"/>
              </a:spcAft>
              <a:buClr>
                <a:schemeClr val="dk1"/>
              </a:buClr>
              <a:buSzPts val="1200"/>
              <a:buChar char="●"/>
            </a:pPr>
            <a:r>
              <a:rPr lang="en" dirty="0">
                <a:solidFill>
                  <a:srgbClr val="1A1F36"/>
                </a:solidFill>
                <a:latin typeface="Calibri"/>
              </a:rPr>
              <a:t>Text generation</a:t>
            </a:r>
            <a:endParaRPr dirty="0">
              <a:solidFill>
                <a:schemeClr val="dk1"/>
              </a:solidFill>
            </a:endParaRPr>
          </a:p>
          <a:p>
            <a:pPr marL="457200" lvl="0" indent="-304800" algn="l" rtl="0">
              <a:lnSpc>
                <a:spcPct val="115000"/>
              </a:lnSpc>
              <a:spcBef>
                <a:spcPts val="0"/>
              </a:spcBef>
              <a:spcAft>
                <a:spcPts val="0"/>
              </a:spcAft>
              <a:buClr>
                <a:schemeClr val="dk1"/>
              </a:buClr>
              <a:buSzPts val="1200"/>
              <a:buChar char="●"/>
            </a:pPr>
            <a:r>
              <a:rPr lang="en" dirty="0">
                <a:solidFill>
                  <a:srgbClr val="1A1F36"/>
                </a:solidFill>
                <a:latin typeface="Calibri"/>
              </a:rPr>
              <a:t>Code generation</a:t>
            </a:r>
            <a:endParaRPr dirty="0">
              <a:solidFill>
                <a:schemeClr val="dk1"/>
              </a:solidFill>
            </a:endParaRPr>
          </a:p>
          <a:p>
            <a:pPr marL="457200" lvl="0" indent="-304800" algn="l" rtl="0">
              <a:lnSpc>
                <a:spcPct val="115000"/>
              </a:lnSpc>
              <a:spcBef>
                <a:spcPts val="0"/>
              </a:spcBef>
              <a:spcAft>
                <a:spcPts val="0"/>
              </a:spcAft>
              <a:buClr>
                <a:schemeClr val="dk1"/>
              </a:buClr>
              <a:buSzPts val="1200"/>
              <a:buChar char="●"/>
            </a:pPr>
            <a:r>
              <a:rPr lang="en" dirty="0">
                <a:solidFill>
                  <a:srgbClr val="1A1F36"/>
                </a:solidFill>
                <a:latin typeface="Calibri"/>
              </a:rPr>
              <a:t>Image generation &amp; vision</a:t>
            </a:r>
            <a:endParaRPr dirty="0">
              <a:solidFill>
                <a:schemeClr val="dk1"/>
              </a:solidFill>
            </a:endParaRPr>
          </a:p>
          <a:p>
            <a:pPr marL="457200" lvl="0" indent="-304800" algn="l" rtl="0">
              <a:lnSpc>
                <a:spcPct val="115000"/>
              </a:lnSpc>
              <a:spcBef>
                <a:spcPts val="0"/>
              </a:spcBef>
              <a:spcAft>
                <a:spcPts val="0"/>
              </a:spcAft>
              <a:buClr>
                <a:schemeClr val="dk1"/>
              </a:buClr>
              <a:buSzPts val="1200"/>
              <a:buChar char="●"/>
            </a:pPr>
            <a:r>
              <a:rPr lang="en" dirty="0">
                <a:solidFill>
                  <a:srgbClr val="1A1F36"/>
                </a:solidFill>
                <a:latin typeface="Calibri"/>
              </a:rPr>
              <a:t>Audio (speech-to-text, text-to-speech)</a:t>
            </a:r>
            <a:endParaRPr dirty="0">
              <a:solidFill>
                <a:schemeClr val="dk1"/>
              </a:solidFill>
            </a:endParaRPr>
          </a:p>
          <a:p>
            <a:pPr marL="0" lvl="0" indent="0" algn="l" rtl="0">
              <a:lnSpc>
                <a:spcPct val="115000"/>
              </a:lnSpc>
              <a:spcBef>
                <a:spcPts val="1200"/>
              </a:spcBef>
              <a:spcAft>
                <a:spcPts val="0"/>
              </a:spcAft>
              <a:buNone/>
            </a:pPr>
            <a:endParaRPr dirty="0">
              <a:solidFill>
                <a:schemeClr val="dk1"/>
              </a:solidFill>
            </a:endParaRPr>
          </a:p>
        </p:txBody>
      </p:sp>
      <p:pic>
        <p:nvPicPr>
          <p:cNvPr id="190" name="Google Shape;190;p20" descr="preencoded.png"/>
          <p:cNvPicPr preferRelativeResize="0"/>
          <p:nvPr/>
        </p:nvPicPr>
        <p:blipFill rotWithShape="1">
          <a:blip r:embed="rId3">
            <a:alphaModFix/>
          </a:blip>
          <a:srcRect/>
          <a:stretch/>
        </p:blipFill>
        <p:spPr>
          <a:xfrm>
            <a:off x="274320" y="64008"/>
            <a:ext cx="365760" cy="365760"/>
          </a:xfrm>
          <a:prstGeom prst="rect">
            <a:avLst/>
          </a:prstGeom>
          <a:noFill/>
          <a:ln>
            <a:noFill/>
          </a:ln>
        </p:spPr>
      </p:pic>
      <p:pic>
        <p:nvPicPr>
          <p:cNvPr id="2" name="Google Shape;109;p20">
            <a:extLst>
              <a:ext uri="{FF2B5EF4-FFF2-40B4-BE49-F238E27FC236}">
                <a16:creationId xmlns:a16="http://schemas.microsoft.com/office/drawing/2014/main" id="{7F8E81AB-21DC-CDA4-8AA7-39F91F667055}"/>
              </a:ext>
            </a:extLst>
          </p:cNvPr>
          <p:cNvPicPr preferRelativeResize="0"/>
          <p:nvPr/>
        </p:nvPicPr>
        <p:blipFill>
          <a:blip r:embed="rId4">
            <a:alphaModFix/>
          </a:blip>
          <a:stretch>
            <a:fillRect/>
          </a:stretch>
        </p:blipFill>
        <p:spPr>
          <a:xfrm>
            <a:off x="8369125" y="0"/>
            <a:ext cx="774877" cy="867174"/>
          </a:xfrm>
          <a:prstGeom prst="rect">
            <a:avLst/>
          </a:prstGeom>
          <a:noFill/>
          <a:ln>
            <a:noFill/>
          </a:ln>
        </p:spPr>
      </p:pic>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Shape 194"/>
        <p:cNvGrpSpPr/>
        <p:nvPr/>
      </p:nvGrpSpPr>
      <p:grpSpPr>
        <a:xfrm>
          <a:off x="0" y="0"/>
          <a:ext cx="0" cy="0"/>
          <a:chOff x="0" y="0"/>
          <a:chExt cx="0" cy="0"/>
        </a:xfrm>
      </p:grpSpPr>
      <p:sp>
        <p:nvSpPr>
          <p:cNvPr id="195" name="Google Shape;195;p21"/>
          <p:cNvSpPr/>
          <p:nvPr/>
        </p:nvSpPr>
        <p:spPr>
          <a:xfrm>
            <a:off x="-365335" y="264866"/>
            <a:ext cx="9144000" cy="502800"/>
          </a:xfrm>
          <a:prstGeom prst="rect">
            <a:avLst/>
          </a:prstGeom>
          <a:noFill/>
          <a:ln w="12700" cap="flat" cmpd="sng">
            <a:no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2300" b="1" dirty="0">
                <a:solidFill>
                  <a:srgbClr val="1E2761"/>
                </a:solidFill>
                <a:latin typeface="Georgia"/>
              </a:rPr>
              <a:t>            Frontier Models</a:t>
            </a:r>
            <a:endParaRPr sz="2300" b="1" dirty="0">
              <a:solidFill>
                <a:schemeClr val="tx1"/>
              </a:solidFill>
            </a:endParaRPr>
          </a:p>
        </p:txBody>
      </p:sp>
      <p:sp>
        <p:nvSpPr>
          <p:cNvPr id="196" name="Google Shape;196;p21"/>
          <p:cNvSpPr txBox="1"/>
          <p:nvPr/>
        </p:nvSpPr>
        <p:spPr>
          <a:xfrm>
            <a:off x="55415" y="729564"/>
            <a:ext cx="8302500" cy="6156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dirty="0">
                <a:solidFill>
                  <a:srgbClr val="1A1F36"/>
                </a:solidFill>
                <a:latin typeface="Calibri"/>
              </a:rPr>
              <a:t>These are OpenAI’s most advanced general-purpose models, designed for high performance across reasoning, coding, and agentic workflows.</a:t>
            </a:r>
            <a:endParaRPr dirty="0"/>
          </a:p>
        </p:txBody>
      </p:sp>
      <p:sp>
        <p:nvSpPr>
          <p:cNvPr id="197" name="Google Shape;197;p21"/>
          <p:cNvSpPr txBox="1"/>
          <p:nvPr/>
        </p:nvSpPr>
        <p:spPr>
          <a:xfrm>
            <a:off x="364024" y="1357635"/>
            <a:ext cx="4052800" cy="2827154"/>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400"/>
              </a:spcBef>
              <a:spcAft>
                <a:spcPts val="0"/>
              </a:spcAft>
              <a:buNone/>
            </a:pPr>
            <a:r>
              <a:rPr lang="en" b="1" dirty="0">
                <a:solidFill>
                  <a:srgbClr val="1A1F36"/>
                </a:solidFill>
                <a:latin typeface="Calibri"/>
              </a:rPr>
              <a:t>GPT-5.4</a:t>
            </a:r>
            <a:endParaRPr b="1" dirty="0">
              <a:solidFill>
                <a:schemeClr val="dk1"/>
              </a:solidFill>
            </a:endParaRPr>
          </a:p>
          <a:p>
            <a:pPr marL="457200" lvl="0" indent="-298450" algn="l" rtl="0">
              <a:lnSpc>
                <a:spcPct val="115000"/>
              </a:lnSpc>
              <a:spcBef>
                <a:spcPts val="1200"/>
              </a:spcBef>
              <a:spcAft>
                <a:spcPts val="0"/>
              </a:spcAft>
              <a:buClr>
                <a:schemeClr val="dk1"/>
              </a:buClr>
              <a:buSzPts val="1100"/>
              <a:buChar char="●"/>
            </a:pPr>
            <a:r>
              <a:rPr lang="en" sz="1200" dirty="0">
                <a:solidFill>
                  <a:srgbClr val="1A1F36"/>
                </a:solidFill>
                <a:latin typeface="Calibri"/>
              </a:rPr>
              <a:t>Most advanced model for </a:t>
            </a:r>
            <a:r>
              <a:rPr lang="en" sz="1200" b="1" dirty="0">
                <a:solidFill>
                  <a:srgbClr val="1A1F36"/>
                </a:solidFill>
                <a:latin typeface="Calibri"/>
              </a:rPr>
              <a:t>intelligence at scale</a:t>
            </a:r>
            <a:endParaRPr sz="1200" b="1" dirty="0">
              <a:solidFill>
                <a:schemeClr val="dk1"/>
              </a:solidFill>
            </a:endParaRPr>
          </a:p>
          <a:p>
            <a:pPr marL="457200" lvl="0" indent="-298450" algn="l" rtl="0">
              <a:lnSpc>
                <a:spcPct val="115000"/>
              </a:lnSpc>
              <a:spcBef>
                <a:spcPts val="1200"/>
              </a:spcBef>
              <a:spcAft>
                <a:spcPts val="0"/>
              </a:spcAft>
              <a:buClr>
                <a:schemeClr val="dk1"/>
              </a:buClr>
              <a:buSzPts val="1100"/>
              <a:buChar char="●"/>
            </a:pPr>
            <a:r>
              <a:rPr lang="en" sz="1200" dirty="0">
                <a:solidFill>
                  <a:srgbClr val="1A1F36"/>
                </a:solidFill>
                <a:latin typeface="Calibri"/>
              </a:rPr>
              <a:t>Strong in </a:t>
            </a:r>
            <a:r>
              <a:rPr lang="en" sz="1200" b="1" dirty="0">
                <a:solidFill>
                  <a:srgbClr val="1A1F36"/>
                </a:solidFill>
                <a:latin typeface="Calibri"/>
              </a:rPr>
              <a:t>agentic workflows and complex reasoning</a:t>
            </a:r>
            <a:endParaRPr sz="1200" b="1" dirty="0">
              <a:solidFill>
                <a:schemeClr val="dk1"/>
              </a:solidFill>
            </a:endParaRPr>
          </a:p>
          <a:p>
            <a:pPr marL="457200" lvl="0" indent="-298450" algn="l" rtl="0">
              <a:lnSpc>
                <a:spcPct val="115000"/>
              </a:lnSpc>
              <a:spcBef>
                <a:spcPts val="1200"/>
              </a:spcBef>
              <a:spcAft>
                <a:spcPts val="0"/>
              </a:spcAft>
              <a:buClr>
                <a:schemeClr val="dk1"/>
              </a:buClr>
              <a:buSzPts val="1100"/>
              <a:buChar char="●"/>
            </a:pPr>
            <a:r>
              <a:rPr lang="en" sz="1200" dirty="0">
                <a:solidFill>
                  <a:srgbClr val="1A1F36"/>
                </a:solidFill>
                <a:latin typeface="Calibri"/>
              </a:rPr>
              <a:t>High accuracy for professional and enterprise use cases</a:t>
            </a:r>
            <a:endParaRPr sz="1200" dirty="0">
              <a:solidFill>
                <a:schemeClr val="dk1"/>
              </a:solidFill>
            </a:endParaRPr>
          </a:p>
          <a:p>
            <a:pPr marL="457200" lvl="0" indent="-298450" algn="l" rtl="0">
              <a:lnSpc>
                <a:spcPct val="115000"/>
              </a:lnSpc>
              <a:spcBef>
                <a:spcPts val="1200"/>
              </a:spcBef>
              <a:spcAft>
                <a:spcPts val="0"/>
              </a:spcAft>
              <a:buClr>
                <a:schemeClr val="dk1"/>
              </a:buClr>
              <a:buSzPts val="1100"/>
              <a:buChar char="●"/>
            </a:pPr>
            <a:r>
              <a:rPr lang="en" sz="1200" dirty="0">
                <a:solidFill>
                  <a:srgbClr val="1A1F36"/>
                </a:solidFill>
                <a:latin typeface="Calibri"/>
              </a:rPr>
              <a:t>Handles long, multi-step tasks efficiently</a:t>
            </a:r>
            <a:endParaRPr sz="1200" dirty="0">
              <a:solidFill>
                <a:schemeClr val="dk1"/>
              </a:solidFill>
            </a:endParaRPr>
          </a:p>
          <a:p>
            <a:pPr marL="457200" lvl="0" indent="0" algn="l" rtl="0">
              <a:lnSpc>
                <a:spcPct val="115000"/>
              </a:lnSpc>
              <a:spcBef>
                <a:spcPts val="1200"/>
              </a:spcBef>
              <a:spcAft>
                <a:spcPts val="1200"/>
              </a:spcAft>
              <a:buNone/>
            </a:pPr>
            <a:endParaRPr b="1" dirty="0">
              <a:solidFill>
                <a:schemeClr val="dk1"/>
              </a:solidFill>
            </a:endParaRPr>
          </a:p>
        </p:txBody>
      </p:sp>
      <p:sp>
        <p:nvSpPr>
          <p:cNvPr id="198" name="Google Shape;198;p21"/>
          <p:cNvSpPr txBox="1"/>
          <p:nvPr/>
        </p:nvSpPr>
        <p:spPr>
          <a:xfrm>
            <a:off x="4572000" y="1277045"/>
            <a:ext cx="3972435" cy="2614788"/>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400"/>
              </a:spcBef>
              <a:spcAft>
                <a:spcPts val="0"/>
              </a:spcAft>
              <a:buNone/>
            </a:pPr>
            <a:r>
              <a:rPr lang="en" b="1" dirty="0">
                <a:solidFill>
                  <a:srgbClr val="1A1F36"/>
                </a:solidFill>
                <a:latin typeface="Calibri"/>
              </a:rPr>
              <a:t>GPT-5.4 mini</a:t>
            </a:r>
            <a:endParaRPr b="1" dirty="0">
              <a:solidFill>
                <a:schemeClr val="dk1"/>
              </a:solidFill>
            </a:endParaRPr>
          </a:p>
          <a:p>
            <a:pPr marL="457200" lvl="0" indent="-298450" algn="l" rtl="0">
              <a:lnSpc>
                <a:spcPct val="115000"/>
              </a:lnSpc>
              <a:spcBef>
                <a:spcPts val="1200"/>
              </a:spcBef>
              <a:spcAft>
                <a:spcPts val="0"/>
              </a:spcAft>
              <a:buClr>
                <a:schemeClr val="dk1"/>
              </a:buClr>
              <a:buSzPts val="1100"/>
              <a:buChar char="●"/>
            </a:pPr>
            <a:r>
              <a:rPr lang="en" sz="1200" dirty="0">
                <a:solidFill>
                  <a:srgbClr val="1A1F36"/>
                </a:solidFill>
                <a:latin typeface="Calibri"/>
              </a:rPr>
              <a:t>Cost-efficient version of GPT-5.4</a:t>
            </a:r>
            <a:endParaRPr sz="1200" dirty="0">
              <a:solidFill>
                <a:schemeClr val="dk1"/>
              </a:solidFill>
            </a:endParaRPr>
          </a:p>
          <a:p>
            <a:pPr marL="457200" lvl="0" indent="-298450" algn="l" rtl="0">
              <a:lnSpc>
                <a:spcPct val="115000"/>
              </a:lnSpc>
              <a:spcBef>
                <a:spcPts val="1200"/>
              </a:spcBef>
              <a:spcAft>
                <a:spcPts val="0"/>
              </a:spcAft>
              <a:buClr>
                <a:schemeClr val="dk1"/>
              </a:buClr>
              <a:buSzPts val="1100"/>
              <a:buChar char="●"/>
            </a:pPr>
            <a:r>
              <a:rPr lang="en" sz="1200" dirty="0">
                <a:solidFill>
                  <a:srgbClr val="1A1F36"/>
                </a:solidFill>
                <a:latin typeface="Calibri"/>
              </a:rPr>
              <a:t>Optimized for </a:t>
            </a:r>
            <a:r>
              <a:rPr lang="en" sz="1200" b="1" dirty="0">
                <a:solidFill>
                  <a:srgbClr val="1A1F36"/>
                </a:solidFill>
                <a:latin typeface="Calibri"/>
              </a:rPr>
              <a:t>high-volume and low-latency tasks</a:t>
            </a:r>
            <a:endParaRPr sz="1200" b="1" dirty="0">
              <a:solidFill>
                <a:schemeClr val="dk1"/>
              </a:solidFill>
            </a:endParaRPr>
          </a:p>
          <a:p>
            <a:pPr marL="457200" lvl="0" indent="-298450" algn="l" rtl="0">
              <a:lnSpc>
                <a:spcPct val="115000"/>
              </a:lnSpc>
              <a:spcBef>
                <a:spcPts val="1200"/>
              </a:spcBef>
              <a:spcAft>
                <a:spcPts val="0"/>
              </a:spcAft>
              <a:buClr>
                <a:schemeClr val="dk1"/>
              </a:buClr>
              <a:buSzPts val="1100"/>
              <a:buChar char="●"/>
            </a:pPr>
            <a:r>
              <a:rPr lang="en" sz="1200" dirty="0">
                <a:solidFill>
                  <a:srgbClr val="1A1F36"/>
                </a:solidFill>
                <a:latin typeface="Calibri"/>
              </a:rPr>
              <a:t>Good balance between performance and cost</a:t>
            </a:r>
            <a:endParaRPr sz="1200" dirty="0">
              <a:solidFill>
                <a:schemeClr val="dk1"/>
              </a:solidFill>
            </a:endParaRPr>
          </a:p>
          <a:p>
            <a:pPr marL="457200" lvl="0" indent="-298450" algn="l" rtl="0">
              <a:lnSpc>
                <a:spcPct val="115000"/>
              </a:lnSpc>
              <a:spcBef>
                <a:spcPts val="1200"/>
              </a:spcBef>
              <a:spcAft>
                <a:spcPts val="0"/>
              </a:spcAft>
              <a:buClr>
                <a:schemeClr val="dk1"/>
              </a:buClr>
              <a:buSzPts val="1100"/>
              <a:buChar char="●"/>
            </a:pPr>
            <a:r>
              <a:rPr lang="en" sz="1200" dirty="0">
                <a:solidFill>
                  <a:srgbClr val="1A1F36"/>
                </a:solidFill>
                <a:latin typeface="Calibri"/>
              </a:rPr>
              <a:t>Suitable for scalable applications</a:t>
            </a:r>
            <a:endParaRPr sz="1200" dirty="0">
              <a:solidFill>
                <a:schemeClr val="dk1"/>
              </a:solidFill>
            </a:endParaRPr>
          </a:p>
          <a:p>
            <a:pPr marL="457200" lvl="0" indent="0" algn="l" rtl="0">
              <a:lnSpc>
                <a:spcPct val="115000"/>
              </a:lnSpc>
              <a:spcBef>
                <a:spcPts val="1200"/>
              </a:spcBef>
              <a:spcAft>
                <a:spcPts val="1200"/>
              </a:spcAft>
              <a:buNone/>
            </a:pPr>
            <a:endParaRPr b="1" dirty="0">
              <a:solidFill>
                <a:schemeClr val="dk1"/>
              </a:solidFill>
            </a:endParaRPr>
          </a:p>
        </p:txBody>
      </p:sp>
      <p:pic>
        <p:nvPicPr>
          <p:cNvPr id="199" name="Google Shape;199;p21" descr="preencoded.png"/>
          <p:cNvPicPr preferRelativeResize="0"/>
          <p:nvPr/>
        </p:nvPicPr>
        <p:blipFill rotWithShape="1">
          <a:blip r:embed="rId3">
            <a:alphaModFix/>
          </a:blip>
          <a:srcRect/>
          <a:stretch/>
        </p:blipFill>
        <p:spPr>
          <a:xfrm>
            <a:off x="274320" y="64008"/>
            <a:ext cx="365760" cy="365760"/>
          </a:xfrm>
          <a:prstGeom prst="rect">
            <a:avLst/>
          </a:prstGeom>
          <a:noFill/>
          <a:ln>
            <a:noFill/>
          </a:ln>
        </p:spPr>
      </p:pic>
      <p:pic>
        <p:nvPicPr>
          <p:cNvPr id="2" name="Google Shape;109;p20">
            <a:extLst>
              <a:ext uri="{FF2B5EF4-FFF2-40B4-BE49-F238E27FC236}">
                <a16:creationId xmlns:a16="http://schemas.microsoft.com/office/drawing/2014/main" id="{640C1B30-58CD-214B-D236-F4F551B75334}"/>
              </a:ext>
            </a:extLst>
          </p:cNvPr>
          <p:cNvPicPr preferRelativeResize="0"/>
          <p:nvPr/>
        </p:nvPicPr>
        <p:blipFill>
          <a:blip r:embed="rId4">
            <a:alphaModFix/>
          </a:blip>
          <a:stretch>
            <a:fillRect/>
          </a:stretch>
        </p:blipFill>
        <p:spPr>
          <a:xfrm>
            <a:off x="8369125" y="0"/>
            <a:ext cx="774877" cy="867174"/>
          </a:xfrm>
          <a:prstGeom prst="rect">
            <a:avLst/>
          </a:prstGeom>
          <a:noFill/>
          <a:ln>
            <a:noFill/>
          </a:ln>
        </p:spPr>
      </p:pic>
      <p:pic>
        <p:nvPicPr>
          <p:cNvPr id="4" name="Picture 3">
            <a:extLst>
              <a:ext uri="{FF2B5EF4-FFF2-40B4-BE49-F238E27FC236}">
                <a16:creationId xmlns:a16="http://schemas.microsoft.com/office/drawing/2014/main" id="{7AC4FAA2-7239-1608-488B-41BF1F0276E9}"/>
              </a:ext>
            </a:extLst>
          </p:cNvPr>
          <p:cNvPicPr>
            <a:picLocks noChangeAspect="1"/>
          </p:cNvPicPr>
          <p:nvPr/>
        </p:nvPicPr>
        <p:blipFill>
          <a:blip r:embed="rId5"/>
          <a:stretch>
            <a:fillRect/>
          </a:stretch>
        </p:blipFill>
        <p:spPr>
          <a:xfrm>
            <a:off x="3854217" y="3405916"/>
            <a:ext cx="3871234" cy="1614604"/>
          </a:xfrm>
          <a:prstGeom prst="rect">
            <a:avLst/>
          </a:prstGeom>
        </p:spPr>
      </p:pic>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Shape 231"/>
        <p:cNvGrpSpPr/>
        <p:nvPr/>
      </p:nvGrpSpPr>
      <p:grpSpPr>
        <a:xfrm>
          <a:off x="0" y="0"/>
          <a:ext cx="0" cy="0"/>
          <a:chOff x="0" y="0"/>
          <a:chExt cx="0" cy="0"/>
        </a:xfrm>
      </p:grpSpPr>
      <p:sp>
        <p:nvSpPr>
          <p:cNvPr id="233" name="Google Shape;233;p25"/>
          <p:cNvSpPr/>
          <p:nvPr/>
        </p:nvSpPr>
        <p:spPr>
          <a:xfrm>
            <a:off x="0" y="502920"/>
            <a:ext cx="9144000" cy="36600"/>
          </a:xfrm>
          <a:prstGeom prst="rect">
            <a:avLst/>
          </a:prstGeom>
          <a:solidFill>
            <a:srgbClr val="FFFFFF"/>
          </a:solidFill>
          <a:ln w="1270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234" name="Google Shape;234;p25" descr="preencoded.png"/>
          <p:cNvPicPr preferRelativeResize="0"/>
          <p:nvPr/>
        </p:nvPicPr>
        <p:blipFill rotWithShape="1">
          <a:blip r:embed="rId3">
            <a:alphaModFix/>
          </a:blip>
          <a:srcRect/>
          <a:stretch/>
        </p:blipFill>
        <p:spPr>
          <a:xfrm>
            <a:off x="274320" y="64008"/>
            <a:ext cx="365760" cy="365760"/>
          </a:xfrm>
          <a:prstGeom prst="rect">
            <a:avLst/>
          </a:prstGeom>
          <a:noFill/>
          <a:ln>
            <a:noFill/>
          </a:ln>
        </p:spPr>
      </p:pic>
      <p:sp>
        <p:nvSpPr>
          <p:cNvPr id="235" name="Google Shape;235;p25"/>
          <p:cNvSpPr/>
          <p:nvPr/>
        </p:nvSpPr>
        <p:spPr>
          <a:xfrm>
            <a:off x="777240" y="45720"/>
            <a:ext cx="7315200" cy="4389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2000"/>
              <a:buFont typeface="Calibri"/>
              <a:buNone/>
            </a:pPr>
            <a:r>
              <a:rPr lang="en" sz="2300" b="1" dirty="0">
                <a:solidFill>
                  <a:srgbClr val="1E2761"/>
                </a:solidFill>
                <a:sym typeface="Calibri"/>
              </a:rPr>
              <a:t>Basic Chat Completion (</a:t>
            </a:r>
            <a:r>
              <a:rPr lang="en" sz="2000" b="1" dirty="0">
                <a:solidFill>
                  <a:srgbClr val="1A1F36"/>
                </a:solidFill>
                <a:sym typeface="Calibri"/>
              </a:rPr>
              <a:t>OpenAI API)</a:t>
            </a:r>
            <a:endParaRPr sz="2000" dirty="0">
              <a:solidFill>
                <a:schemeClr val="tx1"/>
              </a:solidFill>
              <a:latin typeface="Calibri"/>
              <a:ea typeface="Calibri"/>
              <a:cs typeface="Calibri"/>
              <a:sym typeface="Calibri"/>
            </a:endParaRPr>
          </a:p>
        </p:txBody>
      </p:sp>
      <p:sp>
        <p:nvSpPr>
          <p:cNvPr id="236" name="Google Shape;236;p25"/>
          <p:cNvSpPr/>
          <p:nvPr/>
        </p:nvSpPr>
        <p:spPr>
          <a:xfrm>
            <a:off x="274315" y="1124693"/>
            <a:ext cx="3931800" cy="2013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4748B"/>
              </a:buClr>
              <a:buSzPts val="900"/>
              <a:buFont typeface="Calibri"/>
              <a:buNone/>
            </a:pPr>
            <a:r>
              <a:rPr lang="en" sz="1800" b="1">
                <a:solidFill>
                  <a:srgbClr val="1A1F36"/>
                </a:solidFill>
                <a:sym typeface="Calibri"/>
              </a:rPr>
              <a:t>Basic Chat Completion</a:t>
            </a:r>
            <a:endParaRPr sz="1800">
              <a:solidFill>
                <a:schemeClr val="dk1"/>
              </a:solidFill>
              <a:latin typeface="Calibri"/>
              <a:ea typeface="Calibri"/>
              <a:cs typeface="Calibri"/>
              <a:sym typeface="Calibri"/>
            </a:endParaRPr>
          </a:p>
        </p:txBody>
      </p:sp>
      <p:sp>
        <p:nvSpPr>
          <p:cNvPr id="237" name="Google Shape;237;p25"/>
          <p:cNvSpPr/>
          <p:nvPr/>
        </p:nvSpPr>
        <p:spPr>
          <a:xfrm>
            <a:off x="25070" y="1679973"/>
            <a:ext cx="5718900" cy="3214500"/>
          </a:xfrm>
          <a:prstGeom prst="rect">
            <a:avLst/>
          </a:prstGeom>
          <a:solidFill>
            <a:srgbClr val="0F172A"/>
          </a:solidFill>
          <a:ln w="12700" cap="flat" cmpd="sng">
            <a:solidFill>
              <a:srgbClr val="1E3A5F"/>
            </a:solidFill>
            <a:prstDash val="solid"/>
            <a:round/>
            <a:headEnd type="none" w="sm" len="sm"/>
            <a:tailEnd type="none" w="sm" len="sm"/>
          </a:ln>
          <a:effectLst>
            <a:outerShdw blurRad="76200" dist="25400" dir="8100000" algn="bl" rotWithShape="0">
              <a:srgbClr val="94A3B8">
                <a:alpha val="149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 name="Google Shape;240;p25"/>
          <p:cNvSpPr/>
          <p:nvPr/>
        </p:nvSpPr>
        <p:spPr>
          <a:xfrm>
            <a:off x="566550" y="1598226"/>
            <a:ext cx="5595600" cy="3143823"/>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7DD3FC"/>
              </a:buClr>
              <a:buSzPts val="850"/>
              <a:buFont typeface="Consolas"/>
              <a:buNone/>
            </a:pPr>
            <a:endParaRPr sz="1200" dirty="0">
              <a:solidFill>
                <a:srgbClr val="7DD3FC"/>
              </a:solidFill>
              <a:latin typeface="Andale Mono" panose="020B0509000000000004" pitchFamily="49" charset="0"/>
              <a:ea typeface="Consolas"/>
              <a:cs typeface="Consolas"/>
              <a:sym typeface="Consolas"/>
            </a:endParaRPr>
          </a:p>
          <a:p>
            <a:pPr marL="0" marR="0" lvl="0" indent="0" algn="l" rtl="0">
              <a:spcBef>
                <a:spcPts val="0"/>
              </a:spcBef>
              <a:spcAft>
                <a:spcPts val="0"/>
              </a:spcAft>
              <a:buClr>
                <a:srgbClr val="7DD3FC"/>
              </a:buClr>
              <a:buSzPts val="850"/>
              <a:buFont typeface="Consolas"/>
              <a:buNone/>
            </a:pPr>
            <a:endParaRPr sz="1200" dirty="0">
              <a:solidFill>
                <a:srgbClr val="7DD3FC"/>
              </a:solidFill>
              <a:latin typeface="Andale Mono" panose="020B0509000000000004" pitchFamily="49" charset="0"/>
              <a:ea typeface="Consolas"/>
              <a:cs typeface="Consolas"/>
              <a:sym typeface="Consolas"/>
            </a:endParaRPr>
          </a:p>
          <a:p>
            <a:pPr marL="0" marR="0" lvl="0" indent="0" algn="l" rtl="0">
              <a:spcBef>
                <a:spcPts val="0"/>
              </a:spcBef>
              <a:spcAft>
                <a:spcPts val="0"/>
              </a:spcAft>
              <a:buClr>
                <a:srgbClr val="7DD3FC"/>
              </a:buClr>
              <a:buSzPts val="850"/>
              <a:buFont typeface="Consolas"/>
              <a:buNone/>
            </a:pPr>
            <a:r>
              <a:rPr lang="en" sz="1200" dirty="0">
                <a:solidFill>
                  <a:srgbClr val="7DD3FC"/>
                </a:solidFill>
                <a:latin typeface="Andale Mono" panose="020B0509000000000004" pitchFamily="49" charset="0"/>
                <a:sym typeface="Consolas"/>
              </a:rPr>
              <a:t>from</a:t>
            </a:r>
            <a:r>
              <a:rPr lang="en" sz="1200" dirty="0">
                <a:solidFill>
                  <a:srgbClr val="E2E8F0"/>
                </a:solidFill>
                <a:latin typeface="Andale Mono" panose="020B0509000000000004" pitchFamily="49" charset="0"/>
                <a:sym typeface="Consolas"/>
              </a:rPr>
              <a:t> </a:t>
            </a:r>
            <a:r>
              <a:rPr lang="en" sz="1200" dirty="0" err="1">
                <a:solidFill>
                  <a:srgbClr val="E2E8F0"/>
                </a:solidFill>
                <a:latin typeface="Andale Mono" panose="020B0509000000000004" pitchFamily="49" charset="0"/>
                <a:sym typeface="Consolas"/>
              </a:rPr>
              <a:t>openai</a:t>
            </a:r>
            <a:r>
              <a:rPr lang="en" sz="1200" dirty="0">
                <a:solidFill>
                  <a:srgbClr val="E2E8F0"/>
                </a:solidFill>
                <a:latin typeface="Andale Mono" panose="020B0509000000000004" pitchFamily="49" charset="0"/>
                <a:sym typeface="Consolas"/>
              </a:rPr>
              <a:t> </a:t>
            </a:r>
            <a:r>
              <a:rPr lang="en" sz="1200" dirty="0">
                <a:solidFill>
                  <a:srgbClr val="7DD3FC"/>
                </a:solidFill>
                <a:latin typeface="Andale Mono" panose="020B0509000000000004" pitchFamily="49" charset="0"/>
                <a:sym typeface="Consolas"/>
              </a:rPr>
              <a:t>import</a:t>
            </a:r>
            <a:r>
              <a:rPr lang="en" sz="1200" dirty="0">
                <a:solidFill>
                  <a:srgbClr val="E2E8F0"/>
                </a:solidFill>
                <a:latin typeface="Andale Mono" panose="020B0509000000000004" pitchFamily="49" charset="0"/>
                <a:sym typeface="Consolas"/>
              </a:rPr>
              <a:t> OpenAI</a:t>
            </a:r>
            <a:endParaRPr sz="1200" dirty="0">
              <a:solidFill>
                <a:schemeClr val="dk1"/>
              </a:solidFill>
              <a:latin typeface="Andale Mono" panose="020B0509000000000004" pitchFamily="49" charset="0"/>
              <a:ea typeface="Calibri"/>
              <a:cs typeface="Calibri"/>
              <a:sym typeface="Calibri"/>
            </a:endParaRPr>
          </a:p>
          <a:p>
            <a:pPr marL="0" marR="0" lvl="0" indent="0" algn="l" rtl="0">
              <a:spcBef>
                <a:spcPts val="0"/>
              </a:spcBef>
              <a:spcAft>
                <a:spcPts val="0"/>
              </a:spcAft>
              <a:buClr>
                <a:srgbClr val="E2E8F0"/>
              </a:buClr>
              <a:buSzPts val="850"/>
              <a:buFont typeface="Consolas"/>
              <a:buNone/>
            </a:pPr>
            <a:r>
              <a:rPr lang="en" sz="1200" dirty="0">
                <a:solidFill>
                  <a:srgbClr val="E2E8F0"/>
                </a:solidFill>
                <a:latin typeface="Andale Mono" panose="020B0509000000000004" pitchFamily="49" charset="0"/>
                <a:sym typeface="Consolas"/>
              </a:rPr>
              <a:t>client = OpenAI()  # reads OPENAI_API_KEY</a:t>
            </a:r>
            <a:endParaRPr sz="1200" dirty="0">
              <a:solidFill>
                <a:schemeClr val="dk1"/>
              </a:solidFill>
              <a:latin typeface="Andale Mono" panose="020B0509000000000004" pitchFamily="49" charset="0"/>
              <a:ea typeface="Calibri"/>
              <a:cs typeface="Calibri"/>
              <a:sym typeface="Calibri"/>
            </a:endParaRPr>
          </a:p>
          <a:p>
            <a:pPr marL="0" marR="0" lvl="0" indent="0" algn="l" rtl="0">
              <a:spcBef>
                <a:spcPts val="0"/>
              </a:spcBef>
              <a:spcAft>
                <a:spcPts val="0"/>
              </a:spcAft>
              <a:buClr>
                <a:schemeClr val="dk1"/>
              </a:buClr>
              <a:buSzPts val="850"/>
              <a:buFont typeface="Calibri"/>
              <a:buNone/>
            </a:pPr>
            <a:endParaRPr sz="1200" dirty="0">
              <a:solidFill>
                <a:schemeClr val="dk1"/>
              </a:solidFill>
              <a:latin typeface="Andale Mono" panose="020B0509000000000004" pitchFamily="49" charset="0"/>
              <a:ea typeface="Calibri"/>
              <a:cs typeface="Calibri"/>
              <a:sym typeface="Calibri"/>
            </a:endParaRPr>
          </a:p>
          <a:p>
            <a:pPr marL="0" marR="0" lvl="0" indent="0" algn="l" rtl="0">
              <a:spcBef>
                <a:spcPts val="0"/>
              </a:spcBef>
              <a:spcAft>
                <a:spcPts val="0"/>
              </a:spcAft>
              <a:buClr>
                <a:srgbClr val="E2E8F0"/>
              </a:buClr>
              <a:buSzPts val="850"/>
              <a:buFont typeface="Consolas"/>
              <a:buNone/>
            </a:pPr>
            <a:r>
              <a:rPr lang="en" sz="1200" dirty="0">
                <a:solidFill>
                  <a:srgbClr val="E2E8F0"/>
                </a:solidFill>
                <a:latin typeface="Andale Mono" panose="020B0509000000000004" pitchFamily="49" charset="0"/>
                <a:sym typeface="Consolas"/>
              </a:rPr>
              <a:t>response = </a:t>
            </a:r>
            <a:r>
              <a:rPr lang="en" sz="1200" dirty="0" err="1">
                <a:solidFill>
                  <a:srgbClr val="E2E8F0"/>
                </a:solidFill>
                <a:latin typeface="Andale Mono" panose="020B0509000000000004" pitchFamily="49" charset="0"/>
                <a:sym typeface="Consolas"/>
              </a:rPr>
              <a:t>client.chat.completions.create</a:t>
            </a:r>
            <a:r>
              <a:rPr lang="en" sz="1200" dirty="0">
                <a:solidFill>
                  <a:srgbClr val="E2E8F0"/>
                </a:solidFill>
                <a:latin typeface="Andale Mono" panose="020B0509000000000004" pitchFamily="49" charset="0"/>
                <a:sym typeface="Consolas"/>
              </a:rPr>
              <a:t>(</a:t>
            </a:r>
            <a:endParaRPr sz="1200" dirty="0">
              <a:solidFill>
                <a:schemeClr val="dk1"/>
              </a:solidFill>
              <a:latin typeface="Andale Mono" panose="020B0509000000000004" pitchFamily="49" charset="0"/>
              <a:ea typeface="Calibri"/>
              <a:cs typeface="Calibri"/>
              <a:sym typeface="Calibri"/>
            </a:endParaRPr>
          </a:p>
          <a:p>
            <a:pPr marL="0" marR="0" lvl="0" indent="0" algn="l" rtl="0">
              <a:spcBef>
                <a:spcPts val="0"/>
              </a:spcBef>
              <a:spcAft>
                <a:spcPts val="0"/>
              </a:spcAft>
              <a:buClr>
                <a:srgbClr val="E2E8F0"/>
              </a:buClr>
              <a:buSzPts val="850"/>
              <a:buFont typeface="Consolas"/>
              <a:buNone/>
            </a:pPr>
            <a:r>
              <a:rPr lang="en" sz="1200" dirty="0">
                <a:solidFill>
                  <a:srgbClr val="E2E8F0"/>
                </a:solidFill>
                <a:latin typeface="Andale Mono" panose="020B0509000000000004" pitchFamily="49" charset="0"/>
                <a:sym typeface="Consolas"/>
              </a:rPr>
              <a:t>  </a:t>
            </a:r>
            <a:r>
              <a:rPr lang="en" sz="1200" dirty="0">
                <a:solidFill>
                  <a:srgbClr val="7DD3FC"/>
                </a:solidFill>
                <a:latin typeface="Andale Mono" panose="020B0509000000000004" pitchFamily="49" charset="0"/>
                <a:sym typeface="Consolas"/>
              </a:rPr>
              <a:t>model</a:t>
            </a:r>
            <a:r>
              <a:rPr lang="en" sz="1200" dirty="0">
                <a:solidFill>
                  <a:srgbClr val="E2E8F0"/>
                </a:solidFill>
                <a:latin typeface="Andale Mono" panose="020B0509000000000004" pitchFamily="49" charset="0"/>
                <a:sym typeface="Consolas"/>
              </a:rPr>
              <a:t>=</a:t>
            </a:r>
            <a:r>
              <a:rPr lang="en" sz="1200" dirty="0">
                <a:solidFill>
                  <a:srgbClr val="86EFAC"/>
                </a:solidFill>
                <a:latin typeface="Andale Mono" panose="020B0509000000000004" pitchFamily="49" charset="0"/>
                <a:sym typeface="Consolas"/>
              </a:rPr>
              <a:t>"gpt-4o-mini"</a:t>
            </a:r>
            <a:r>
              <a:rPr lang="en" sz="1200" dirty="0">
                <a:solidFill>
                  <a:srgbClr val="E2E8F0"/>
                </a:solidFill>
                <a:latin typeface="Andale Mono" panose="020B0509000000000004" pitchFamily="49" charset="0"/>
                <a:sym typeface="Consolas"/>
              </a:rPr>
              <a:t>,</a:t>
            </a:r>
            <a:endParaRPr sz="1200" dirty="0">
              <a:solidFill>
                <a:schemeClr val="dk1"/>
              </a:solidFill>
              <a:latin typeface="Andale Mono" panose="020B0509000000000004" pitchFamily="49" charset="0"/>
              <a:ea typeface="Calibri"/>
              <a:cs typeface="Calibri"/>
              <a:sym typeface="Calibri"/>
            </a:endParaRPr>
          </a:p>
          <a:p>
            <a:pPr marL="0" marR="0" lvl="0" indent="0" algn="l" rtl="0">
              <a:spcBef>
                <a:spcPts val="0"/>
              </a:spcBef>
              <a:spcAft>
                <a:spcPts val="0"/>
              </a:spcAft>
              <a:buClr>
                <a:srgbClr val="E2E8F0"/>
              </a:buClr>
              <a:buSzPts val="850"/>
              <a:buFont typeface="Consolas"/>
              <a:buNone/>
            </a:pPr>
            <a:r>
              <a:rPr lang="en" sz="1200" dirty="0">
                <a:solidFill>
                  <a:srgbClr val="E2E8F0"/>
                </a:solidFill>
                <a:latin typeface="Andale Mono" panose="020B0509000000000004" pitchFamily="49" charset="0"/>
                <a:sym typeface="Consolas"/>
              </a:rPr>
              <a:t>  </a:t>
            </a:r>
            <a:r>
              <a:rPr lang="en" sz="1200" dirty="0">
                <a:solidFill>
                  <a:srgbClr val="7DD3FC"/>
                </a:solidFill>
                <a:latin typeface="Andale Mono" panose="020B0509000000000004" pitchFamily="49" charset="0"/>
                <a:sym typeface="Consolas"/>
              </a:rPr>
              <a:t>messages</a:t>
            </a:r>
            <a:r>
              <a:rPr lang="en" sz="1200" dirty="0">
                <a:solidFill>
                  <a:srgbClr val="E2E8F0"/>
                </a:solidFill>
                <a:latin typeface="Andale Mono" panose="020B0509000000000004" pitchFamily="49" charset="0"/>
                <a:sym typeface="Consolas"/>
              </a:rPr>
              <a:t>=[</a:t>
            </a:r>
            <a:endParaRPr sz="1200" dirty="0">
              <a:solidFill>
                <a:schemeClr val="dk1"/>
              </a:solidFill>
              <a:latin typeface="Andale Mono" panose="020B0509000000000004" pitchFamily="49" charset="0"/>
              <a:ea typeface="Calibri"/>
              <a:cs typeface="Calibri"/>
              <a:sym typeface="Calibri"/>
            </a:endParaRPr>
          </a:p>
          <a:p>
            <a:pPr marL="0" marR="0" lvl="0" indent="0" algn="l" rtl="0">
              <a:spcBef>
                <a:spcPts val="0"/>
              </a:spcBef>
              <a:spcAft>
                <a:spcPts val="0"/>
              </a:spcAft>
              <a:buClr>
                <a:srgbClr val="E2E8F0"/>
              </a:buClr>
              <a:buSzPts val="850"/>
              <a:buFont typeface="Consolas"/>
              <a:buNone/>
            </a:pPr>
            <a:r>
              <a:rPr lang="en" sz="1200" dirty="0">
                <a:solidFill>
                  <a:srgbClr val="E2E8F0"/>
                </a:solidFill>
                <a:latin typeface="Andale Mono" panose="020B0509000000000004" pitchFamily="49" charset="0"/>
                <a:sym typeface="Consolas"/>
              </a:rPr>
              <a:t>    {</a:t>
            </a:r>
            <a:r>
              <a:rPr lang="en" sz="1200" dirty="0">
                <a:solidFill>
                  <a:srgbClr val="86EFAC"/>
                </a:solidFill>
                <a:latin typeface="Andale Mono" panose="020B0509000000000004" pitchFamily="49" charset="0"/>
                <a:sym typeface="Consolas"/>
              </a:rPr>
              <a:t>"role"</a:t>
            </a:r>
            <a:r>
              <a:rPr lang="en" sz="1200" dirty="0">
                <a:solidFill>
                  <a:srgbClr val="E2E8F0"/>
                </a:solidFill>
                <a:latin typeface="Andale Mono" panose="020B0509000000000004" pitchFamily="49" charset="0"/>
                <a:sym typeface="Consolas"/>
              </a:rPr>
              <a:t>: </a:t>
            </a:r>
            <a:r>
              <a:rPr lang="en" sz="1200" dirty="0">
                <a:solidFill>
                  <a:srgbClr val="86EFAC"/>
                </a:solidFill>
                <a:latin typeface="Andale Mono" panose="020B0509000000000004" pitchFamily="49" charset="0"/>
                <a:sym typeface="Consolas"/>
              </a:rPr>
              <a:t>"system"</a:t>
            </a:r>
            <a:r>
              <a:rPr lang="en" sz="1200" dirty="0">
                <a:solidFill>
                  <a:srgbClr val="E2E8F0"/>
                </a:solidFill>
                <a:latin typeface="Andale Mono" panose="020B0509000000000004" pitchFamily="49" charset="0"/>
                <a:sym typeface="Consolas"/>
              </a:rPr>
              <a:t>,</a:t>
            </a:r>
            <a:endParaRPr sz="1200" dirty="0">
              <a:solidFill>
                <a:schemeClr val="dk1"/>
              </a:solidFill>
              <a:latin typeface="Andale Mono" panose="020B0509000000000004" pitchFamily="49" charset="0"/>
              <a:ea typeface="Calibri"/>
              <a:cs typeface="Calibri"/>
              <a:sym typeface="Calibri"/>
            </a:endParaRPr>
          </a:p>
          <a:p>
            <a:pPr marL="0" marR="0" lvl="0" indent="0" algn="l" rtl="0">
              <a:spcBef>
                <a:spcPts val="0"/>
              </a:spcBef>
              <a:spcAft>
                <a:spcPts val="0"/>
              </a:spcAft>
              <a:buClr>
                <a:srgbClr val="E2E8F0"/>
              </a:buClr>
              <a:buSzPts val="850"/>
              <a:buFont typeface="Consolas"/>
              <a:buNone/>
            </a:pPr>
            <a:r>
              <a:rPr lang="en" sz="1200" dirty="0">
                <a:solidFill>
                  <a:srgbClr val="E2E8F0"/>
                </a:solidFill>
                <a:latin typeface="Andale Mono" panose="020B0509000000000004" pitchFamily="49" charset="0"/>
                <a:sym typeface="Consolas"/>
              </a:rPr>
              <a:t>     </a:t>
            </a:r>
            <a:r>
              <a:rPr lang="en" sz="1200" dirty="0">
                <a:solidFill>
                  <a:srgbClr val="86EFAC"/>
                </a:solidFill>
                <a:latin typeface="Andale Mono" panose="020B0509000000000004" pitchFamily="49" charset="0"/>
                <a:sym typeface="Consolas"/>
              </a:rPr>
              <a:t>"content"</a:t>
            </a:r>
            <a:r>
              <a:rPr lang="en" sz="1200" dirty="0">
                <a:solidFill>
                  <a:srgbClr val="E2E8F0"/>
                </a:solidFill>
                <a:latin typeface="Andale Mono" panose="020B0509000000000004" pitchFamily="49" charset="0"/>
                <a:sym typeface="Consolas"/>
              </a:rPr>
              <a:t>: </a:t>
            </a:r>
            <a:r>
              <a:rPr lang="en" sz="1200" dirty="0">
                <a:solidFill>
                  <a:srgbClr val="86EFAC"/>
                </a:solidFill>
                <a:latin typeface="Andale Mono" panose="020B0509000000000004" pitchFamily="49" charset="0"/>
                <a:sym typeface="Consolas"/>
              </a:rPr>
              <a:t>"You are a helpful assistant."</a:t>
            </a:r>
            <a:r>
              <a:rPr lang="en" sz="1200" dirty="0">
                <a:solidFill>
                  <a:srgbClr val="E2E8F0"/>
                </a:solidFill>
                <a:latin typeface="Andale Mono" panose="020B0509000000000004" pitchFamily="49" charset="0"/>
                <a:sym typeface="Consolas"/>
              </a:rPr>
              <a:t>},</a:t>
            </a:r>
            <a:endParaRPr sz="1200" dirty="0">
              <a:solidFill>
                <a:schemeClr val="dk1"/>
              </a:solidFill>
              <a:latin typeface="Andale Mono" panose="020B0509000000000004" pitchFamily="49" charset="0"/>
              <a:ea typeface="Calibri"/>
              <a:cs typeface="Calibri"/>
              <a:sym typeface="Calibri"/>
            </a:endParaRPr>
          </a:p>
          <a:p>
            <a:pPr marL="0" marR="0" lvl="0" indent="0" algn="l" rtl="0">
              <a:spcBef>
                <a:spcPts val="0"/>
              </a:spcBef>
              <a:spcAft>
                <a:spcPts val="0"/>
              </a:spcAft>
              <a:buClr>
                <a:srgbClr val="E2E8F0"/>
              </a:buClr>
              <a:buSzPts val="850"/>
              <a:buFont typeface="Consolas"/>
              <a:buNone/>
            </a:pPr>
            <a:r>
              <a:rPr lang="en" sz="1200" dirty="0">
                <a:solidFill>
                  <a:srgbClr val="E2E8F0"/>
                </a:solidFill>
                <a:latin typeface="Andale Mono" panose="020B0509000000000004" pitchFamily="49" charset="0"/>
                <a:sym typeface="Consolas"/>
              </a:rPr>
              <a:t>    {</a:t>
            </a:r>
            <a:r>
              <a:rPr lang="en" sz="1200" dirty="0">
                <a:solidFill>
                  <a:srgbClr val="86EFAC"/>
                </a:solidFill>
                <a:latin typeface="Andale Mono" panose="020B0509000000000004" pitchFamily="49" charset="0"/>
                <a:sym typeface="Consolas"/>
              </a:rPr>
              <a:t>"role"</a:t>
            </a:r>
            <a:r>
              <a:rPr lang="en" sz="1200" dirty="0">
                <a:solidFill>
                  <a:srgbClr val="E2E8F0"/>
                </a:solidFill>
                <a:latin typeface="Andale Mono" panose="020B0509000000000004" pitchFamily="49" charset="0"/>
                <a:sym typeface="Consolas"/>
              </a:rPr>
              <a:t>: </a:t>
            </a:r>
            <a:r>
              <a:rPr lang="en" sz="1200" dirty="0">
                <a:solidFill>
                  <a:srgbClr val="86EFAC"/>
                </a:solidFill>
                <a:latin typeface="Andale Mono" panose="020B0509000000000004" pitchFamily="49" charset="0"/>
                <a:sym typeface="Consolas"/>
              </a:rPr>
              <a:t>"user"</a:t>
            </a:r>
            <a:r>
              <a:rPr lang="en" sz="1200" dirty="0">
                <a:solidFill>
                  <a:srgbClr val="E2E8F0"/>
                </a:solidFill>
                <a:latin typeface="Andale Mono" panose="020B0509000000000004" pitchFamily="49" charset="0"/>
                <a:sym typeface="Consolas"/>
              </a:rPr>
              <a:t>,</a:t>
            </a:r>
            <a:endParaRPr sz="1200" dirty="0">
              <a:solidFill>
                <a:schemeClr val="dk1"/>
              </a:solidFill>
              <a:latin typeface="Andale Mono" panose="020B0509000000000004" pitchFamily="49" charset="0"/>
              <a:ea typeface="Calibri"/>
              <a:cs typeface="Calibri"/>
              <a:sym typeface="Calibri"/>
            </a:endParaRPr>
          </a:p>
          <a:p>
            <a:pPr marL="0" marR="0" lvl="0" indent="0" algn="l" rtl="0">
              <a:spcBef>
                <a:spcPts val="0"/>
              </a:spcBef>
              <a:spcAft>
                <a:spcPts val="0"/>
              </a:spcAft>
              <a:buClr>
                <a:srgbClr val="E2E8F0"/>
              </a:buClr>
              <a:buSzPts val="850"/>
              <a:buFont typeface="Consolas"/>
              <a:buNone/>
            </a:pPr>
            <a:r>
              <a:rPr lang="en" sz="1200" dirty="0">
                <a:solidFill>
                  <a:srgbClr val="E2E8F0"/>
                </a:solidFill>
                <a:latin typeface="Andale Mono" panose="020B0509000000000004" pitchFamily="49" charset="0"/>
                <a:sym typeface="Consolas"/>
              </a:rPr>
              <a:t>     </a:t>
            </a:r>
            <a:r>
              <a:rPr lang="en" sz="1200" dirty="0">
                <a:solidFill>
                  <a:srgbClr val="86EFAC"/>
                </a:solidFill>
                <a:latin typeface="Andale Mono" panose="020B0509000000000004" pitchFamily="49" charset="0"/>
                <a:sym typeface="Consolas"/>
              </a:rPr>
              <a:t>"content"</a:t>
            </a:r>
            <a:r>
              <a:rPr lang="en" sz="1200" dirty="0">
                <a:solidFill>
                  <a:srgbClr val="E2E8F0"/>
                </a:solidFill>
                <a:latin typeface="Andale Mono" panose="020B0509000000000004" pitchFamily="49" charset="0"/>
                <a:sym typeface="Consolas"/>
              </a:rPr>
              <a:t>: </a:t>
            </a:r>
            <a:r>
              <a:rPr lang="en" sz="1200" dirty="0">
                <a:solidFill>
                  <a:srgbClr val="86EFAC"/>
                </a:solidFill>
                <a:latin typeface="Andale Mono" panose="020B0509000000000004" pitchFamily="49" charset="0"/>
                <a:sym typeface="Consolas"/>
              </a:rPr>
              <a:t>"Explain RAG in one sentence."</a:t>
            </a:r>
            <a:r>
              <a:rPr lang="en" sz="1200" dirty="0">
                <a:solidFill>
                  <a:srgbClr val="E2E8F0"/>
                </a:solidFill>
                <a:latin typeface="Andale Mono" panose="020B0509000000000004" pitchFamily="49" charset="0"/>
                <a:sym typeface="Consolas"/>
              </a:rPr>
              <a:t>}</a:t>
            </a:r>
            <a:endParaRPr sz="1200" dirty="0">
              <a:solidFill>
                <a:schemeClr val="dk1"/>
              </a:solidFill>
              <a:latin typeface="Andale Mono" panose="020B0509000000000004" pitchFamily="49" charset="0"/>
              <a:ea typeface="Calibri"/>
              <a:cs typeface="Calibri"/>
              <a:sym typeface="Calibri"/>
            </a:endParaRPr>
          </a:p>
          <a:p>
            <a:pPr marL="0" marR="0" lvl="0" indent="0" algn="l" rtl="0">
              <a:spcBef>
                <a:spcPts val="0"/>
              </a:spcBef>
              <a:spcAft>
                <a:spcPts val="0"/>
              </a:spcAft>
              <a:buClr>
                <a:srgbClr val="E2E8F0"/>
              </a:buClr>
              <a:buSzPts val="850"/>
              <a:buFont typeface="Consolas"/>
              <a:buNone/>
            </a:pPr>
            <a:r>
              <a:rPr lang="en" sz="1200" dirty="0">
                <a:solidFill>
                  <a:srgbClr val="E2E8F0"/>
                </a:solidFill>
                <a:latin typeface="Andale Mono" panose="020B0509000000000004" pitchFamily="49" charset="0"/>
                <a:sym typeface="Consolas"/>
              </a:rPr>
              <a:t>  ],</a:t>
            </a:r>
            <a:endParaRPr sz="1200" dirty="0">
              <a:solidFill>
                <a:schemeClr val="dk1"/>
              </a:solidFill>
              <a:latin typeface="Andale Mono" panose="020B0509000000000004" pitchFamily="49" charset="0"/>
              <a:ea typeface="Calibri"/>
              <a:cs typeface="Calibri"/>
              <a:sym typeface="Calibri"/>
            </a:endParaRPr>
          </a:p>
          <a:p>
            <a:pPr marL="0" marR="0" lvl="0" indent="0" algn="l" rtl="0">
              <a:spcBef>
                <a:spcPts val="0"/>
              </a:spcBef>
              <a:spcAft>
                <a:spcPts val="0"/>
              </a:spcAft>
              <a:buClr>
                <a:srgbClr val="E2E8F0"/>
              </a:buClr>
              <a:buSzPts val="850"/>
              <a:buFont typeface="Consolas"/>
              <a:buNone/>
            </a:pPr>
            <a:r>
              <a:rPr lang="en" sz="1200" dirty="0">
                <a:solidFill>
                  <a:srgbClr val="E2E8F0"/>
                </a:solidFill>
                <a:latin typeface="Andale Mono" panose="020B0509000000000004" pitchFamily="49" charset="0"/>
                <a:sym typeface="Consolas"/>
              </a:rPr>
              <a:t>  temperature=0.7,</a:t>
            </a:r>
            <a:endParaRPr sz="1200" dirty="0">
              <a:solidFill>
                <a:schemeClr val="dk1"/>
              </a:solidFill>
              <a:latin typeface="Andale Mono" panose="020B0509000000000004" pitchFamily="49" charset="0"/>
              <a:ea typeface="Calibri"/>
              <a:cs typeface="Calibri"/>
              <a:sym typeface="Calibri"/>
            </a:endParaRPr>
          </a:p>
          <a:p>
            <a:pPr marL="0" marR="0" lvl="0" indent="0" algn="l" rtl="0">
              <a:spcBef>
                <a:spcPts val="0"/>
              </a:spcBef>
              <a:spcAft>
                <a:spcPts val="0"/>
              </a:spcAft>
              <a:buClr>
                <a:srgbClr val="E2E8F0"/>
              </a:buClr>
              <a:buSzPts val="850"/>
              <a:buFont typeface="Consolas"/>
              <a:buNone/>
            </a:pPr>
            <a:r>
              <a:rPr lang="en" sz="1200" dirty="0">
                <a:solidFill>
                  <a:srgbClr val="E2E8F0"/>
                </a:solidFill>
                <a:latin typeface="Andale Mono" panose="020B0509000000000004" pitchFamily="49" charset="0"/>
                <a:sym typeface="Consolas"/>
              </a:rPr>
              <a:t>  </a:t>
            </a:r>
            <a:r>
              <a:rPr lang="en" sz="1200" dirty="0" err="1">
                <a:solidFill>
                  <a:srgbClr val="E2E8F0"/>
                </a:solidFill>
                <a:latin typeface="Andale Mono" panose="020B0509000000000004" pitchFamily="49" charset="0"/>
                <a:sym typeface="Consolas"/>
              </a:rPr>
              <a:t>max_tokens</a:t>
            </a:r>
            <a:r>
              <a:rPr lang="en" sz="1200" dirty="0">
                <a:solidFill>
                  <a:srgbClr val="E2E8F0"/>
                </a:solidFill>
                <a:latin typeface="Andale Mono" panose="020B0509000000000004" pitchFamily="49" charset="0"/>
                <a:sym typeface="Consolas"/>
              </a:rPr>
              <a:t>=200</a:t>
            </a:r>
            <a:endParaRPr sz="1200" dirty="0">
              <a:solidFill>
                <a:schemeClr val="dk1"/>
              </a:solidFill>
              <a:latin typeface="Andale Mono" panose="020B0509000000000004" pitchFamily="49" charset="0"/>
              <a:ea typeface="Calibri"/>
              <a:cs typeface="Calibri"/>
              <a:sym typeface="Calibri"/>
            </a:endParaRPr>
          </a:p>
          <a:p>
            <a:pPr marL="0" marR="0" lvl="0" indent="0" algn="l" rtl="0">
              <a:spcBef>
                <a:spcPts val="0"/>
              </a:spcBef>
              <a:spcAft>
                <a:spcPts val="0"/>
              </a:spcAft>
              <a:buClr>
                <a:srgbClr val="E2E8F0"/>
              </a:buClr>
              <a:buSzPts val="850"/>
              <a:buFont typeface="Consolas"/>
              <a:buNone/>
            </a:pPr>
            <a:r>
              <a:rPr lang="en" sz="1200" dirty="0">
                <a:solidFill>
                  <a:srgbClr val="E2E8F0"/>
                </a:solidFill>
                <a:latin typeface="Andale Mono" panose="020B0509000000000004" pitchFamily="49" charset="0"/>
                <a:sym typeface="Consolas"/>
              </a:rPr>
              <a:t>)</a:t>
            </a:r>
            <a:endParaRPr sz="1200" dirty="0">
              <a:solidFill>
                <a:schemeClr val="dk1"/>
              </a:solidFill>
              <a:latin typeface="Andale Mono" panose="020B0509000000000004" pitchFamily="49" charset="0"/>
              <a:ea typeface="Calibri"/>
              <a:cs typeface="Calibri"/>
              <a:sym typeface="Calibri"/>
            </a:endParaRPr>
          </a:p>
          <a:p>
            <a:pPr marL="0" marR="0" lvl="0" indent="0" algn="l" rtl="0">
              <a:spcBef>
                <a:spcPts val="0"/>
              </a:spcBef>
              <a:spcAft>
                <a:spcPts val="0"/>
              </a:spcAft>
              <a:buClr>
                <a:srgbClr val="E2E8F0"/>
              </a:buClr>
              <a:buSzPts val="850"/>
              <a:buFont typeface="Consolas"/>
              <a:buNone/>
            </a:pPr>
            <a:r>
              <a:rPr lang="en" sz="1200" dirty="0">
                <a:solidFill>
                  <a:srgbClr val="E2E8F0"/>
                </a:solidFill>
                <a:latin typeface="Andale Mono" panose="020B0509000000000004" pitchFamily="49" charset="0"/>
                <a:sym typeface="Consolas"/>
              </a:rPr>
              <a:t>print(</a:t>
            </a:r>
            <a:r>
              <a:rPr lang="en" sz="1200" dirty="0" err="1">
                <a:solidFill>
                  <a:srgbClr val="E2E8F0"/>
                </a:solidFill>
                <a:latin typeface="Andale Mono" panose="020B0509000000000004" pitchFamily="49" charset="0"/>
                <a:sym typeface="Consolas"/>
              </a:rPr>
              <a:t>response.choices</a:t>
            </a:r>
            <a:r>
              <a:rPr lang="en" sz="1200" dirty="0">
                <a:solidFill>
                  <a:srgbClr val="E2E8F0"/>
                </a:solidFill>
                <a:latin typeface="Andale Mono" panose="020B0509000000000004" pitchFamily="49" charset="0"/>
                <a:sym typeface="Consolas"/>
              </a:rPr>
              <a:t>[0].</a:t>
            </a:r>
            <a:r>
              <a:rPr lang="en" sz="1200" dirty="0" err="1">
                <a:solidFill>
                  <a:srgbClr val="E2E8F0"/>
                </a:solidFill>
                <a:latin typeface="Andale Mono" panose="020B0509000000000004" pitchFamily="49" charset="0"/>
                <a:sym typeface="Consolas"/>
              </a:rPr>
              <a:t>message.</a:t>
            </a:r>
            <a:r>
              <a:rPr lang="en" sz="1200" dirty="0" err="1">
                <a:solidFill>
                  <a:srgbClr val="7DD3FC"/>
                </a:solidFill>
                <a:latin typeface="Andale Mono" panose="020B0509000000000004" pitchFamily="49" charset="0"/>
                <a:sym typeface="Consolas"/>
              </a:rPr>
              <a:t>content</a:t>
            </a:r>
            <a:r>
              <a:rPr lang="en" sz="1200" dirty="0">
                <a:solidFill>
                  <a:srgbClr val="E2E8F0"/>
                </a:solidFill>
                <a:latin typeface="Andale Mono" panose="020B0509000000000004" pitchFamily="49" charset="0"/>
                <a:sym typeface="Consolas"/>
              </a:rPr>
              <a:t>)</a:t>
            </a:r>
            <a:endParaRPr sz="1200" dirty="0">
              <a:solidFill>
                <a:schemeClr val="dk1"/>
              </a:solidFill>
              <a:latin typeface="Andale Mono" panose="020B0509000000000004" pitchFamily="49" charset="0"/>
              <a:ea typeface="Calibri"/>
              <a:cs typeface="Calibri"/>
              <a:sym typeface="Calibri"/>
            </a:endParaRPr>
          </a:p>
        </p:txBody>
      </p:sp>
      <p:sp>
        <p:nvSpPr>
          <p:cNvPr id="243" name="Google Shape;243;p25"/>
          <p:cNvSpPr txBox="1"/>
          <p:nvPr/>
        </p:nvSpPr>
        <p:spPr>
          <a:xfrm>
            <a:off x="6092982" y="1553225"/>
            <a:ext cx="2831718" cy="2123628"/>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b="1" dirty="0">
                <a:solidFill>
                  <a:srgbClr val="1A1F36"/>
                </a:solidFill>
                <a:latin typeface="Calibri"/>
              </a:rPr>
              <a:t>Step 1:</a:t>
            </a:r>
            <a:r>
              <a:rPr lang="en" dirty="0">
                <a:solidFill>
                  <a:srgbClr val="1A1F36"/>
                </a:solidFill>
                <a:latin typeface="Calibri"/>
              </a:rPr>
              <a:t> User sends messages to API</a:t>
            </a:r>
            <a:endParaRPr dirty="0">
              <a:solidFill>
                <a:schemeClr val="dk1"/>
              </a:solidFill>
            </a:endParaRPr>
          </a:p>
          <a:p>
            <a:pPr marL="0" lvl="0" indent="0" algn="l" rtl="0">
              <a:spcBef>
                <a:spcPts val="0"/>
              </a:spcBef>
              <a:spcAft>
                <a:spcPts val="0"/>
              </a:spcAft>
              <a:buNone/>
            </a:pPr>
            <a:endParaRPr dirty="0">
              <a:solidFill>
                <a:schemeClr val="dk1"/>
              </a:solidFill>
            </a:endParaRPr>
          </a:p>
          <a:p>
            <a:pPr marL="0" lvl="0" indent="0" algn="l" rtl="0">
              <a:spcBef>
                <a:spcPts val="0"/>
              </a:spcBef>
              <a:spcAft>
                <a:spcPts val="0"/>
              </a:spcAft>
              <a:buNone/>
            </a:pPr>
            <a:r>
              <a:rPr lang="en" b="1" dirty="0">
                <a:solidFill>
                  <a:srgbClr val="1A1F36"/>
                </a:solidFill>
                <a:latin typeface="Calibri"/>
              </a:rPr>
              <a:t>Step 2:</a:t>
            </a:r>
            <a:r>
              <a:rPr lang="en" dirty="0">
                <a:solidFill>
                  <a:srgbClr val="1A1F36"/>
                </a:solidFill>
                <a:latin typeface="Calibri"/>
              </a:rPr>
              <a:t> Model processes system + user input</a:t>
            </a:r>
            <a:endParaRPr dirty="0">
              <a:solidFill>
                <a:schemeClr val="dk1"/>
              </a:solidFill>
            </a:endParaRPr>
          </a:p>
          <a:p>
            <a:pPr marL="0" lvl="0" indent="0" algn="l" rtl="0">
              <a:spcBef>
                <a:spcPts val="0"/>
              </a:spcBef>
              <a:spcAft>
                <a:spcPts val="0"/>
              </a:spcAft>
              <a:buNone/>
            </a:pPr>
            <a:endParaRPr dirty="0">
              <a:solidFill>
                <a:schemeClr val="dk1"/>
              </a:solidFill>
            </a:endParaRPr>
          </a:p>
          <a:p>
            <a:pPr marL="0" lvl="0" indent="0" algn="l" rtl="0">
              <a:spcBef>
                <a:spcPts val="0"/>
              </a:spcBef>
              <a:spcAft>
                <a:spcPts val="0"/>
              </a:spcAft>
              <a:buNone/>
            </a:pPr>
            <a:r>
              <a:rPr lang="en" b="1" dirty="0">
                <a:solidFill>
                  <a:srgbClr val="1A1F36"/>
                </a:solidFill>
                <a:latin typeface="Calibri"/>
              </a:rPr>
              <a:t>Step 3:</a:t>
            </a:r>
            <a:r>
              <a:rPr lang="en" dirty="0">
                <a:solidFill>
                  <a:srgbClr val="1A1F36"/>
                </a:solidFill>
                <a:latin typeface="Calibri"/>
              </a:rPr>
              <a:t> Model generates response</a:t>
            </a:r>
            <a:endParaRPr dirty="0">
              <a:solidFill>
                <a:schemeClr val="dk1"/>
              </a:solidFill>
            </a:endParaRPr>
          </a:p>
          <a:p>
            <a:pPr marL="0" lvl="0" indent="0" algn="l" rtl="0">
              <a:spcBef>
                <a:spcPts val="0"/>
              </a:spcBef>
              <a:spcAft>
                <a:spcPts val="0"/>
              </a:spcAft>
              <a:buNone/>
            </a:pPr>
            <a:endParaRPr dirty="0">
              <a:solidFill>
                <a:schemeClr val="dk1"/>
              </a:solidFill>
            </a:endParaRPr>
          </a:p>
          <a:p>
            <a:pPr marL="0" lvl="0" indent="0" algn="l" rtl="0">
              <a:spcBef>
                <a:spcPts val="0"/>
              </a:spcBef>
              <a:spcAft>
                <a:spcPts val="0"/>
              </a:spcAft>
              <a:buNone/>
            </a:pPr>
            <a:r>
              <a:rPr lang="en" b="1" dirty="0">
                <a:solidFill>
                  <a:srgbClr val="1A1F36"/>
                </a:solidFill>
                <a:latin typeface="Calibri"/>
              </a:rPr>
              <a:t>Step 4:</a:t>
            </a:r>
            <a:r>
              <a:rPr lang="en" dirty="0">
                <a:solidFill>
                  <a:srgbClr val="1A1F36"/>
                </a:solidFill>
                <a:latin typeface="Calibri"/>
              </a:rPr>
              <a:t> API returns structured output</a:t>
            </a:r>
            <a:endParaRPr sz="1800" dirty="0">
              <a:solidFill>
                <a:schemeClr val="dk1"/>
              </a:solidFill>
            </a:endParaRPr>
          </a:p>
        </p:txBody>
      </p:sp>
      <p:pic>
        <p:nvPicPr>
          <p:cNvPr id="2" name="Google Shape;109;p20">
            <a:extLst>
              <a:ext uri="{FF2B5EF4-FFF2-40B4-BE49-F238E27FC236}">
                <a16:creationId xmlns:a16="http://schemas.microsoft.com/office/drawing/2014/main" id="{3A51CDE6-490A-3271-01A1-37F4ECDE9D79}"/>
              </a:ext>
            </a:extLst>
          </p:cNvPr>
          <p:cNvPicPr preferRelativeResize="0"/>
          <p:nvPr/>
        </p:nvPicPr>
        <p:blipFill>
          <a:blip r:embed="rId4">
            <a:alphaModFix/>
          </a:blip>
          <a:stretch>
            <a:fillRect/>
          </a:stretch>
        </p:blipFill>
        <p:spPr>
          <a:xfrm>
            <a:off x="8369125" y="0"/>
            <a:ext cx="774877" cy="867174"/>
          </a:xfrm>
          <a:prstGeom prst="rect">
            <a:avLst/>
          </a:prstGeom>
          <a:noFill/>
          <a:ln>
            <a:noFill/>
          </a:ln>
        </p:spPr>
      </p:pic>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Shape 231">
          <a:extLst>
            <a:ext uri="{FF2B5EF4-FFF2-40B4-BE49-F238E27FC236}">
              <a16:creationId xmlns:a16="http://schemas.microsoft.com/office/drawing/2014/main" id="{FCA93E2B-C7B3-6AA1-120E-6317B9DBA68A}"/>
            </a:ext>
          </a:extLst>
        </p:cNvPr>
        <p:cNvGrpSpPr/>
        <p:nvPr/>
      </p:nvGrpSpPr>
      <p:grpSpPr>
        <a:xfrm>
          <a:off x="0" y="0"/>
          <a:ext cx="0" cy="0"/>
          <a:chOff x="0" y="0"/>
          <a:chExt cx="0" cy="0"/>
        </a:xfrm>
      </p:grpSpPr>
      <p:sp>
        <p:nvSpPr>
          <p:cNvPr id="233" name="Google Shape;233;p25">
            <a:extLst>
              <a:ext uri="{FF2B5EF4-FFF2-40B4-BE49-F238E27FC236}">
                <a16:creationId xmlns:a16="http://schemas.microsoft.com/office/drawing/2014/main" id="{9E78118E-4CDC-C608-1E59-C70589223E71}"/>
              </a:ext>
            </a:extLst>
          </p:cNvPr>
          <p:cNvSpPr/>
          <p:nvPr/>
        </p:nvSpPr>
        <p:spPr>
          <a:xfrm>
            <a:off x="0" y="502920"/>
            <a:ext cx="9144000" cy="36600"/>
          </a:xfrm>
          <a:prstGeom prst="rect">
            <a:avLst/>
          </a:prstGeom>
          <a:solidFill>
            <a:srgbClr val="FFFFFF"/>
          </a:solidFill>
          <a:ln w="1270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234" name="Google Shape;234;p25" descr="preencoded.png">
            <a:extLst>
              <a:ext uri="{FF2B5EF4-FFF2-40B4-BE49-F238E27FC236}">
                <a16:creationId xmlns:a16="http://schemas.microsoft.com/office/drawing/2014/main" id="{DA6EEA96-D492-A7A8-FE56-F8F2EA633550}"/>
              </a:ext>
            </a:extLst>
          </p:cNvPr>
          <p:cNvPicPr preferRelativeResize="0"/>
          <p:nvPr/>
        </p:nvPicPr>
        <p:blipFill rotWithShape="1">
          <a:blip r:embed="rId3">
            <a:alphaModFix/>
          </a:blip>
          <a:srcRect/>
          <a:stretch/>
        </p:blipFill>
        <p:spPr>
          <a:xfrm>
            <a:off x="274320" y="64008"/>
            <a:ext cx="365760" cy="365760"/>
          </a:xfrm>
          <a:prstGeom prst="rect">
            <a:avLst/>
          </a:prstGeom>
          <a:noFill/>
          <a:ln>
            <a:noFill/>
          </a:ln>
        </p:spPr>
      </p:pic>
      <p:sp>
        <p:nvSpPr>
          <p:cNvPr id="235" name="Google Shape;235;p25">
            <a:extLst>
              <a:ext uri="{FF2B5EF4-FFF2-40B4-BE49-F238E27FC236}">
                <a16:creationId xmlns:a16="http://schemas.microsoft.com/office/drawing/2014/main" id="{96CE858C-9B72-77E6-2DEE-3C4BC9DB9BF8}"/>
              </a:ext>
            </a:extLst>
          </p:cNvPr>
          <p:cNvSpPr/>
          <p:nvPr/>
        </p:nvSpPr>
        <p:spPr>
          <a:xfrm>
            <a:off x="443283" y="157038"/>
            <a:ext cx="7315200" cy="4389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2000"/>
              <a:buFont typeface="Calibri"/>
              <a:buNone/>
            </a:pPr>
            <a:r>
              <a:rPr lang="en" sz="2300" b="1" dirty="0">
                <a:solidFill>
                  <a:srgbClr val="1E2761"/>
                </a:solidFill>
                <a:sym typeface="Calibri"/>
              </a:rPr>
              <a:t>Roles in Prompting (</a:t>
            </a:r>
            <a:r>
              <a:rPr lang="en" sz="2000" b="1" dirty="0">
                <a:solidFill>
                  <a:srgbClr val="1A1F36"/>
                </a:solidFill>
                <a:sym typeface="Calibri"/>
              </a:rPr>
              <a:t>OpenAI API)</a:t>
            </a:r>
            <a:endParaRPr sz="2000" dirty="0">
              <a:solidFill>
                <a:schemeClr val="tx1"/>
              </a:solidFill>
              <a:latin typeface="Calibri"/>
              <a:ea typeface="Calibri"/>
              <a:cs typeface="Calibri"/>
              <a:sym typeface="Calibri"/>
            </a:endParaRPr>
          </a:p>
        </p:txBody>
      </p:sp>
      <p:pic>
        <p:nvPicPr>
          <p:cNvPr id="2" name="Google Shape;109;p20">
            <a:extLst>
              <a:ext uri="{FF2B5EF4-FFF2-40B4-BE49-F238E27FC236}">
                <a16:creationId xmlns:a16="http://schemas.microsoft.com/office/drawing/2014/main" id="{7BEB7A0E-C1C2-E847-6845-91C3FB15C1FC}"/>
              </a:ext>
            </a:extLst>
          </p:cNvPr>
          <p:cNvPicPr preferRelativeResize="0"/>
          <p:nvPr/>
        </p:nvPicPr>
        <p:blipFill>
          <a:blip r:embed="rId4">
            <a:alphaModFix/>
          </a:blip>
          <a:stretch>
            <a:fillRect/>
          </a:stretch>
        </p:blipFill>
        <p:spPr>
          <a:xfrm>
            <a:off x="8369125" y="0"/>
            <a:ext cx="774877" cy="867174"/>
          </a:xfrm>
          <a:prstGeom prst="rect">
            <a:avLst/>
          </a:prstGeom>
          <a:noFill/>
          <a:ln>
            <a:noFill/>
          </a:ln>
        </p:spPr>
      </p:pic>
      <p:sp>
        <p:nvSpPr>
          <p:cNvPr id="3" name="TextBox 2">
            <a:extLst>
              <a:ext uri="{FF2B5EF4-FFF2-40B4-BE49-F238E27FC236}">
                <a16:creationId xmlns:a16="http://schemas.microsoft.com/office/drawing/2014/main" id="{53583C81-69E4-5B9C-685D-00956DFDBDDA}"/>
              </a:ext>
            </a:extLst>
          </p:cNvPr>
          <p:cNvSpPr txBox="1"/>
          <p:nvPr/>
        </p:nvSpPr>
        <p:spPr>
          <a:xfrm>
            <a:off x="443283" y="1232452"/>
            <a:ext cx="8167980" cy="2739211"/>
          </a:xfrm>
          <a:prstGeom prst="rect">
            <a:avLst/>
          </a:prstGeom>
          <a:noFill/>
        </p:spPr>
        <p:txBody>
          <a:bodyPr wrap="square" rtlCol="0">
            <a:spAutoFit/>
          </a:bodyPr>
          <a:lstStyle/>
          <a:p>
            <a:r>
              <a:rPr lang="en-US" sz="1600" dirty="0">
                <a:solidFill>
                  <a:srgbClr val="1A1F36"/>
                </a:solidFill>
                <a:latin typeface="Calibri"/>
              </a:rPr>
              <a:t>Core Message Roles for (Chat Completions):</a:t>
            </a:r>
            <a:br>
              <a:rPr lang="en-US" sz="1600" dirty="0"/>
            </a:br>
            <a:endParaRPr lang="en-US" sz="1600" dirty="0"/>
          </a:p>
          <a:p>
            <a:pPr marL="285750" indent="-285750">
              <a:buFont typeface="Arial" panose="020B0604020202020204" pitchFamily="34" charset="0"/>
              <a:buChar char="•"/>
            </a:pPr>
            <a:r>
              <a:rPr lang="en-US" dirty="0">
                <a:solidFill>
                  <a:srgbClr val="0070C0"/>
                </a:solidFill>
                <a:latin typeface="Calibri"/>
              </a:rPr>
              <a:t>system</a:t>
            </a:r>
            <a:r>
              <a:rPr lang="en-US" dirty="0">
                <a:solidFill>
                  <a:srgbClr val="1A1F36"/>
                </a:solidFill>
                <a:latin typeface="Calibri"/>
              </a:rPr>
              <a:t>: Sets the overall behavior, tone, and constraints for the assistant (e.g., "You are a helpful assistant").</a:t>
            </a:r>
            <a:br>
              <a:rPr lang="en-US" dirty="0"/>
            </a:br>
            <a:endParaRPr lang="en-US" dirty="0"/>
          </a:p>
          <a:p>
            <a:pPr marL="285750" indent="-285750">
              <a:buFont typeface="Arial" panose="020B0604020202020204" pitchFamily="34" charset="0"/>
              <a:buChar char="•"/>
            </a:pPr>
            <a:r>
              <a:rPr lang="en-US" dirty="0">
                <a:solidFill>
                  <a:srgbClr val="0070C0"/>
                </a:solidFill>
                <a:latin typeface="Calibri"/>
              </a:rPr>
              <a:t>developer</a:t>
            </a:r>
            <a:r>
              <a:rPr lang="en-US" dirty="0">
                <a:solidFill>
                  <a:srgbClr val="1A1F36"/>
                </a:solidFill>
                <a:latin typeface="Calibri"/>
              </a:rPr>
              <a:t> (New): Designed for developers to provide specialized instructions, giving more control over API interaction than the traditional system role.</a:t>
            </a:r>
            <a:br>
              <a:rPr lang="en-US" dirty="0"/>
            </a:br>
            <a:endParaRPr lang="en-US" dirty="0"/>
          </a:p>
          <a:p>
            <a:pPr marL="285750" indent="-285750">
              <a:buFont typeface="Arial" panose="020B0604020202020204" pitchFamily="34" charset="0"/>
              <a:buChar char="•"/>
            </a:pPr>
            <a:r>
              <a:rPr lang="en-US" dirty="0">
                <a:solidFill>
                  <a:srgbClr val="0070C0"/>
                </a:solidFill>
                <a:latin typeface="Calibri"/>
              </a:rPr>
              <a:t>user</a:t>
            </a:r>
            <a:r>
              <a:rPr lang="en-US" dirty="0">
                <a:solidFill>
                  <a:srgbClr val="1A1F36"/>
                </a:solidFill>
                <a:latin typeface="Calibri"/>
              </a:rPr>
              <a:t>: Represents the input from the human user, including questions or instructions.</a:t>
            </a:r>
            <a:br>
              <a:rPr lang="en-US" dirty="0"/>
            </a:br>
            <a:endParaRPr lang="en-US" dirty="0"/>
          </a:p>
          <a:p>
            <a:pPr marL="285750" indent="-285750">
              <a:buFont typeface="Arial" panose="020B0604020202020204" pitchFamily="34" charset="0"/>
              <a:buChar char="•"/>
            </a:pPr>
            <a:r>
              <a:rPr lang="en-US" dirty="0">
                <a:solidFill>
                  <a:srgbClr val="0070C0"/>
                </a:solidFill>
                <a:latin typeface="Calibri"/>
              </a:rPr>
              <a:t>assistant</a:t>
            </a:r>
            <a:r>
              <a:rPr lang="en-US" dirty="0">
                <a:solidFill>
                  <a:srgbClr val="1A1F36"/>
                </a:solidFill>
                <a:latin typeface="Calibri"/>
              </a:rPr>
              <a:t>: Represents the previous responses generated by the AI, helping the model maintain context in a conversation. </a:t>
            </a:r>
          </a:p>
        </p:txBody>
      </p:sp>
    </p:spTree>
    <p:extLst>
      <p:ext uri="{BB962C8B-B14F-4D97-AF65-F5344CB8AC3E}">
        <p14:creationId xmlns:p14="http://schemas.microsoft.com/office/powerpoint/2010/main" val="169341279"/>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Shape 231">
          <a:extLst>
            <a:ext uri="{FF2B5EF4-FFF2-40B4-BE49-F238E27FC236}">
              <a16:creationId xmlns:a16="http://schemas.microsoft.com/office/drawing/2014/main" id="{7D69AE3B-E184-B789-A22E-4A2AE4490CB6}"/>
            </a:ext>
          </a:extLst>
        </p:cNvPr>
        <p:cNvGrpSpPr/>
        <p:nvPr/>
      </p:nvGrpSpPr>
      <p:grpSpPr>
        <a:xfrm>
          <a:off x="0" y="0"/>
          <a:ext cx="0" cy="0"/>
          <a:chOff x="0" y="0"/>
          <a:chExt cx="0" cy="0"/>
        </a:xfrm>
      </p:grpSpPr>
      <p:sp>
        <p:nvSpPr>
          <p:cNvPr id="233" name="Google Shape;233;p25">
            <a:extLst>
              <a:ext uri="{FF2B5EF4-FFF2-40B4-BE49-F238E27FC236}">
                <a16:creationId xmlns:a16="http://schemas.microsoft.com/office/drawing/2014/main" id="{A4B8033A-9BF2-39F9-1A72-5B7299F2C795}"/>
              </a:ext>
            </a:extLst>
          </p:cNvPr>
          <p:cNvSpPr/>
          <p:nvPr/>
        </p:nvSpPr>
        <p:spPr>
          <a:xfrm>
            <a:off x="0" y="502920"/>
            <a:ext cx="9144000" cy="36600"/>
          </a:xfrm>
          <a:prstGeom prst="rect">
            <a:avLst/>
          </a:prstGeom>
          <a:solidFill>
            <a:srgbClr val="FFFFFF"/>
          </a:solidFill>
          <a:ln w="1270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234" name="Google Shape;234;p25" descr="preencoded.png">
            <a:extLst>
              <a:ext uri="{FF2B5EF4-FFF2-40B4-BE49-F238E27FC236}">
                <a16:creationId xmlns:a16="http://schemas.microsoft.com/office/drawing/2014/main" id="{1A78A711-E7C7-5F0D-9613-FC23F1E2D6A3}"/>
              </a:ext>
            </a:extLst>
          </p:cNvPr>
          <p:cNvPicPr preferRelativeResize="0"/>
          <p:nvPr/>
        </p:nvPicPr>
        <p:blipFill rotWithShape="1">
          <a:blip r:embed="rId3">
            <a:alphaModFix/>
          </a:blip>
          <a:srcRect/>
          <a:stretch/>
        </p:blipFill>
        <p:spPr>
          <a:xfrm>
            <a:off x="274320" y="64008"/>
            <a:ext cx="365760" cy="365760"/>
          </a:xfrm>
          <a:prstGeom prst="rect">
            <a:avLst/>
          </a:prstGeom>
          <a:noFill/>
          <a:ln>
            <a:noFill/>
          </a:ln>
        </p:spPr>
      </p:pic>
      <p:sp>
        <p:nvSpPr>
          <p:cNvPr id="235" name="Google Shape;235;p25">
            <a:extLst>
              <a:ext uri="{FF2B5EF4-FFF2-40B4-BE49-F238E27FC236}">
                <a16:creationId xmlns:a16="http://schemas.microsoft.com/office/drawing/2014/main" id="{5B834F46-D573-818B-D2EC-44B4F756CFCC}"/>
              </a:ext>
            </a:extLst>
          </p:cNvPr>
          <p:cNvSpPr/>
          <p:nvPr/>
        </p:nvSpPr>
        <p:spPr>
          <a:xfrm>
            <a:off x="443283" y="157038"/>
            <a:ext cx="7315200" cy="4389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2000"/>
              <a:buFont typeface="Calibri"/>
              <a:buNone/>
            </a:pPr>
            <a:r>
              <a:rPr lang="en" sz="2300" b="1" dirty="0">
                <a:solidFill>
                  <a:srgbClr val="1E2761"/>
                </a:solidFill>
                <a:sym typeface="Calibri"/>
              </a:rPr>
              <a:t>Roles in Prompting (</a:t>
            </a:r>
            <a:r>
              <a:rPr lang="en" sz="2000" b="1" dirty="0">
                <a:solidFill>
                  <a:srgbClr val="1A1F36"/>
                </a:solidFill>
                <a:sym typeface="Calibri"/>
              </a:rPr>
              <a:t>OpenAI API)</a:t>
            </a:r>
            <a:endParaRPr sz="2000" dirty="0">
              <a:solidFill>
                <a:schemeClr val="tx1"/>
              </a:solidFill>
              <a:latin typeface="Calibri"/>
              <a:ea typeface="Calibri"/>
              <a:cs typeface="Calibri"/>
              <a:sym typeface="Calibri"/>
            </a:endParaRPr>
          </a:p>
        </p:txBody>
      </p:sp>
      <p:pic>
        <p:nvPicPr>
          <p:cNvPr id="2" name="Google Shape;109;p20">
            <a:extLst>
              <a:ext uri="{FF2B5EF4-FFF2-40B4-BE49-F238E27FC236}">
                <a16:creationId xmlns:a16="http://schemas.microsoft.com/office/drawing/2014/main" id="{A4902F45-1F6E-4AF6-BA6A-152F8B2F977B}"/>
              </a:ext>
            </a:extLst>
          </p:cNvPr>
          <p:cNvPicPr preferRelativeResize="0"/>
          <p:nvPr/>
        </p:nvPicPr>
        <p:blipFill>
          <a:blip r:embed="rId4">
            <a:alphaModFix/>
          </a:blip>
          <a:stretch>
            <a:fillRect/>
          </a:stretch>
        </p:blipFill>
        <p:spPr>
          <a:xfrm>
            <a:off x="8369125" y="0"/>
            <a:ext cx="774877" cy="867174"/>
          </a:xfrm>
          <a:prstGeom prst="rect">
            <a:avLst/>
          </a:prstGeom>
          <a:noFill/>
          <a:ln>
            <a:noFill/>
          </a:ln>
        </p:spPr>
      </p:pic>
      <p:sp>
        <p:nvSpPr>
          <p:cNvPr id="3" name="TextBox 2">
            <a:extLst>
              <a:ext uri="{FF2B5EF4-FFF2-40B4-BE49-F238E27FC236}">
                <a16:creationId xmlns:a16="http://schemas.microsoft.com/office/drawing/2014/main" id="{A63220D4-0085-4C6B-A1CF-C5F3093A9E17}"/>
              </a:ext>
            </a:extLst>
          </p:cNvPr>
          <p:cNvSpPr txBox="1"/>
          <p:nvPr/>
        </p:nvSpPr>
        <p:spPr>
          <a:xfrm>
            <a:off x="180891" y="890546"/>
            <a:ext cx="8167980" cy="2246769"/>
          </a:xfrm>
          <a:prstGeom prst="rect">
            <a:avLst/>
          </a:prstGeom>
          <a:noFill/>
        </p:spPr>
        <p:txBody>
          <a:bodyPr wrap="square" rtlCol="0">
            <a:spAutoFit/>
          </a:bodyPr>
          <a:lstStyle/>
          <a:p>
            <a:r>
              <a:rPr lang="en-IN" dirty="0">
                <a:solidFill>
                  <a:srgbClr val="1A1F36"/>
                </a:solidFill>
                <a:latin typeface="Calibri"/>
              </a:rPr>
              <a:t>The assistant role is used in the messages array to represent the model's past or simulated responses. It can be use for:</a:t>
            </a:r>
          </a:p>
          <a:p>
            <a:endParaRPr lang="en-IN" dirty="0"/>
          </a:p>
          <a:p>
            <a:pPr marL="285750" indent="-285750">
              <a:buFont typeface="Arial" panose="020B0604020202020204" pitchFamily="34" charset="0"/>
              <a:buChar char="•"/>
            </a:pPr>
            <a:r>
              <a:rPr lang="en-IN" dirty="0">
                <a:solidFill>
                  <a:srgbClr val="1A1F36"/>
                </a:solidFill>
                <a:latin typeface="Calibri"/>
              </a:rPr>
              <a:t>Maintaining Conversation History</a:t>
            </a:r>
          </a:p>
          <a:p>
            <a:pPr marL="285750" indent="-285750">
              <a:buFont typeface="Arial" panose="020B0604020202020204" pitchFamily="34" charset="0"/>
              <a:buChar char="•"/>
            </a:pPr>
            <a:endParaRPr lang="en-IN" dirty="0"/>
          </a:p>
          <a:p>
            <a:endParaRPr lang="en-IN" dirty="0"/>
          </a:p>
          <a:p>
            <a:endParaRPr lang="en-IN" dirty="0"/>
          </a:p>
          <a:p>
            <a:pPr marL="285750" indent="-285750">
              <a:buFont typeface="Arial" panose="020B0604020202020204" pitchFamily="34" charset="0"/>
              <a:buChar char="•"/>
            </a:pPr>
            <a:endParaRPr lang="en-IN" dirty="0"/>
          </a:p>
          <a:p>
            <a:endParaRPr lang="en-US" dirty="0"/>
          </a:p>
          <a:p>
            <a:pPr marL="285750" indent="-285750">
              <a:buFont typeface="Arial" panose="020B0604020202020204" pitchFamily="34" charset="0"/>
              <a:buChar char="•"/>
            </a:pPr>
            <a:r>
              <a:rPr lang="en-US" dirty="0">
                <a:solidFill>
                  <a:srgbClr val="1A1F36"/>
                </a:solidFill>
                <a:latin typeface="Calibri"/>
              </a:rPr>
              <a:t>Few-shot prompting:</a:t>
            </a:r>
          </a:p>
        </p:txBody>
      </p:sp>
      <p:pic>
        <p:nvPicPr>
          <p:cNvPr id="6" name="Picture 5">
            <a:extLst>
              <a:ext uri="{FF2B5EF4-FFF2-40B4-BE49-F238E27FC236}">
                <a16:creationId xmlns:a16="http://schemas.microsoft.com/office/drawing/2014/main" id="{85C8373F-983F-C527-1E8F-93BC18CA8DD2}"/>
              </a:ext>
            </a:extLst>
          </p:cNvPr>
          <p:cNvPicPr>
            <a:picLocks noChangeAspect="1"/>
          </p:cNvPicPr>
          <p:nvPr/>
        </p:nvPicPr>
        <p:blipFill>
          <a:blip r:embed="rId5"/>
          <a:stretch>
            <a:fillRect/>
          </a:stretch>
        </p:blipFill>
        <p:spPr>
          <a:xfrm>
            <a:off x="3388627" y="1559864"/>
            <a:ext cx="4980498" cy="1122588"/>
          </a:xfrm>
          <a:prstGeom prst="rect">
            <a:avLst/>
          </a:prstGeom>
        </p:spPr>
      </p:pic>
      <p:pic>
        <p:nvPicPr>
          <p:cNvPr id="8" name="Picture 7">
            <a:extLst>
              <a:ext uri="{FF2B5EF4-FFF2-40B4-BE49-F238E27FC236}">
                <a16:creationId xmlns:a16="http://schemas.microsoft.com/office/drawing/2014/main" id="{B4685FBB-0FF0-BF01-7D95-DB10FC9640FB}"/>
              </a:ext>
            </a:extLst>
          </p:cNvPr>
          <p:cNvPicPr>
            <a:picLocks noChangeAspect="1"/>
          </p:cNvPicPr>
          <p:nvPr/>
        </p:nvPicPr>
        <p:blipFill>
          <a:blip r:embed="rId6"/>
          <a:stretch>
            <a:fillRect/>
          </a:stretch>
        </p:blipFill>
        <p:spPr>
          <a:xfrm>
            <a:off x="873483" y="3137315"/>
            <a:ext cx="5901027" cy="1736724"/>
          </a:xfrm>
          <a:prstGeom prst="rect">
            <a:avLst/>
          </a:prstGeom>
        </p:spPr>
      </p:pic>
    </p:spTree>
    <p:extLst>
      <p:ext uri="{BB962C8B-B14F-4D97-AF65-F5344CB8AC3E}">
        <p14:creationId xmlns:p14="http://schemas.microsoft.com/office/powerpoint/2010/main" val="3840104862"/>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Shape 231">
          <a:extLst>
            <a:ext uri="{FF2B5EF4-FFF2-40B4-BE49-F238E27FC236}">
              <a16:creationId xmlns:a16="http://schemas.microsoft.com/office/drawing/2014/main" id="{906CC722-803C-429A-36CE-B42E0E7EC418}"/>
            </a:ext>
          </a:extLst>
        </p:cNvPr>
        <p:cNvGrpSpPr/>
        <p:nvPr/>
      </p:nvGrpSpPr>
      <p:grpSpPr>
        <a:xfrm>
          <a:off x="0" y="0"/>
          <a:ext cx="0" cy="0"/>
          <a:chOff x="0" y="0"/>
          <a:chExt cx="0" cy="0"/>
        </a:xfrm>
      </p:grpSpPr>
      <p:sp>
        <p:nvSpPr>
          <p:cNvPr id="233" name="Google Shape;233;p25">
            <a:extLst>
              <a:ext uri="{FF2B5EF4-FFF2-40B4-BE49-F238E27FC236}">
                <a16:creationId xmlns:a16="http://schemas.microsoft.com/office/drawing/2014/main" id="{529D3B77-77B3-3B98-78EB-6AB0F4CCEE94}"/>
              </a:ext>
            </a:extLst>
          </p:cNvPr>
          <p:cNvSpPr/>
          <p:nvPr/>
        </p:nvSpPr>
        <p:spPr>
          <a:xfrm>
            <a:off x="0" y="502920"/>
            <a:ext cx="9144000" cy="36600"/>
          </a:xfrm>
          <a:prstGeom prst="rect">
            <a:avLst/>
          </a:prstGeom>
          <a:solidFill>
            <a:srgbClr val="FFFFFF"/>
          </a:solidFill>
          <a:ln w="1270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234" name="Google Shape;234;p25" descr="preencoded.png">
            <a:extLst>
              <a:ext uri="{FF2B5EF4-FFF2-40B4-BE49-F238E27FC236}">
                <a16:creationId xmlns:a16="http://schemas.microsoft.com/office/drawing/2014/main" id="{BB7B491B-5B47-BD03-11C7-911568A2F5C8}"/>
              </a:ext>
            </a:extLst>
          </p:cNvPr>
          <p:cNvPicPr preferRelativeResize="0"/>
          <p:nvPr/>
        </p:nvPicPr>
        <p:blipFill rotWithShape="1">
          <a:blip r:embed="rId3">
            <a:alphaModFix/>
          </a:blip>
          <a:srcRect/>
          <a:stretch/>
        </p:blipFill>
        <p:spPr>
          <a:xfrm>
            <a:off x="274320" y="64008"/>
            <a:ext cx="365760" cy="365760"/>
          </a:xfrm>
          <a:prstGeom prst="rect">
            <a:avLst/>
          </a:prstGeom>
          <a:noFill/>
          <a:ln>
            <a:noFill/>
          </a:ln>
        </p:spPr>
      </p:pic>
      <p:sp>
        <p:nvSpPr>
          <p:cNvPr id="235" name="Google Shape;235;p25">
            <a:extLst>
              <a:ext uri="{FF2B5EF4-FFF2-40B4-BE49-F238E27FC236}">
                <a16:creationId xmlns:a16="http://schemas.microsoft.com/office/drawing/2014/main" id="{C67E7041-5385-DF9B-4CC4-7A76917CD156}"/>
              </a:ext>
            </a:extLst>
          </p:cNvPr>
          <p:cNvSpPr/>
          <p:nvPr/>
        </p:nvSpPr>
        <p:spPr>
          <a:xfrm>
            <a:off x="443283" y="157038"/>
            <a:ext cx="7315200" cy="4389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2000"/>
              <a:buFont typeface="Calibri"/>
              <a:buNone/>
            </a:pPr>
            <a:r>
              <a:rPr lang="en" sz="2300" b="1" dirty="0">
                <a:solidFill>
                  <a:srgbClr val="1E2761"/>
                </a:solidFill>
                <a:sym typeface="Calibri"/>
              </a:rPr>
              <a:t>Roles in Prompting (</a:t>
            </a:r>
            <a:r>
              <a:rPr lang="en" sz="2000" b="1" dirty="0">
                <a:solidFill>
                  <a:srgbClr val="1A1F36"/>
                </a:solidFill>
                <a:sym typeface="Calibri"/>
              </a:rPr>
              <a:t>OpenAI API)</a:t>
            </a:r>
            <a:endParaRPr sz="2000" dirty="0">
              <a:solidFill>
                <a:schemeClr val="tx1"/>
              </a:solidFill>
              <a:latin typeface="Calibri"/>
              <a:ea typeface="Calibri"/>
              <a:cs typeface="Calibri"/>
              <a:sym typeface="Calibri"/>
            </a:endParaRPr>
          </a:p>
        </p:txBody>
      </p:sp>
      <p:pic>
        <p:nvPicPr>
          <p:cNvPr id="2" name="Google Shape;109;p20">
            <a:extLst>
              <a:ext uri="{FF2B5EF4-FFF2-40B4-BE49-F238E27FC236}">
                <a16:creationId xmlns:a16="http://schemas.microsoft.com/office/drawing/2014/main" id="{78EAD237-CC88-BAF1-AB18-DC823D198F46}"/>
              </a:ext>
            </a:extLst>
          </p:cNvPr>
          <p:cNvPicPr preferRelativeResize="0"/>
          <p:nvPr/>
        </p:nvPicPr>
        <p:blipFill>
          <a:blip r:embed="rId4">
            <a:alphaModFix/>
          </a:blip>
          <a:stretch>
            <a:fillRect/>
          </a:stretch>
        </p:blipFill>
        <p:spPr>
          <a:xfrm>
            <a:off x="8369125" y="0"/>
            <a:ext cx="774877" cy="867174"/>
          </a:xfrm>
          <a:prstGeom prst="rect">
            <a:avLst/>
          </a:prstGeom>
          <a:noFill/>
          <a:ln>
            <a:noFill/>
          </a:ln>
        </p:spPr>
      </p:pic>
      <p:sp>
        <p:nvSpPr>
          <p:cNvPr id="3" name="TextBox 2">
            <a:extLst>
              <a:ext uri="{FF2B5EF4-FFF2-40B4-BE49-F238E27FC236}">
                <a16:creationId xmlns:a16="http://schemas.microsoft.com/office/drawing/2014/main" id="{CC6CE263-4238-E1DC-4345-86E93A880D3E}"/>
              </a:ext>
            </a:extLst>
          </p:cNvPr>
          <p:cNvSpPr txBox="1"/>
          <p:nvPr/>
        </p:nvSpPr>
        <p:spPr>
          <a:xfrm>
            <a:off x="443283" y="1232452"/>
            <a:ext cx="8167980" cy="1600438"/>
          </a:xfrm>
          <a:prstGeom prst="rect">
            <a:avLst/>
          </a:prstGeom>
          <a:noFill/>
        </p:spPr>
        <p:txBody>
          <a:bodyPr wrap="square" rtlCol="0">
            <a:spAutoFit/>
          </a:bodyPr>
          <a:lstStyle/>
          <a:p>
            <a:r>
              <a:rPr lang="en-IN" b="1" dirty="0">
                <a:solidFill>
                  <a:srgbClr val="1A1F36"/>
                </a:solidFill>
                <a:latin typeface="Calibri"/>
              </a:rPr>
              <a:t>What actually happens under the hood</a:t>
            </a:r>
          </a:p>
          <a:p>
            <a:endParaRPr lang="en-IN" b="1" dirty="0"/>
          </a:p>
          <a:p>
            <a:r>
              <a:rPr lang="en-IN" dirty="0">
                <a:solidFill>
                  <a:srgbClr val="1A1F36"/>
                </a:solidFill>
                <a:latin typeface="Calibri"/>
              </a:rPr>
              <a:t>Before reaching the model, the structured input is converted into a </a:t>
            </a:r>
            <a:r>
              <a:rPr lang="en-IN" b="1" dirty="0">
                <a:solidFill>
                  <a:srgbClr val="1A1F36"/>
                </a:solidFill>
                <a:latin typeface="Calibri"/>
              </a:rPr>
              <a:t>single token sequence</a:t>
            </a:r>
            <a:r>
              <a:rPr lang="en-IN" dirty="0">
                <a:solidFill>
                  <a:srgbClr val="1A1F36"/>
                </a:solidFill>
                <a:latin typeface="Calibri"/>
              </a:rPr>
              <a:t>, something conceptually like:</a:t>
            </a:r>
          </a:p>
          <a:p>
            <a:endParaRPr lang="en-IN" dirty="0"/>
          </a:p>
          <a:p>
            <a:endParaRPr lang="en-IN" dirty="0"/>
          </a:p>
          <a:p>
            <a:endParaRPr lang="en-US" dirty="0"/>
          </a:p>
        </p:txBody>
      </p:sp>
      <p:pic>
        <p:nvPicPr>
          <p:cNvPr id="5" name="Picture 4">
            <a:extLst>
              <a:ext uri="{FF2B5EF4-FFF2-40B4-BE49-F238E27FC236}">
                <a16:creationId xmlns:a16="http://schemas.microsoft.com/office/drawing/2014/main" id="{9F5A887A-7743-B709-C6BD-CD1E0310990B}"/>
              </a:ext>
            </a:extLst>
          </p:cNvPr>
          <p:cNvPicPr>
            <a:picLocks noChangeAspect="1"/>
          </p:cNvPicPr>
          <p:nvPr/>
        </p:nvPicPr>
        <p:blipFill>
          <a:blip r:embed="rId5"/>
          <a:stretch>
            <a:fillRect/>
          </a:stretch>
        </p:blipFill>
        <p:spPr>
          <a:xfrm>
            <a:off x="901203" y="2328333"/>
            <a:ext cx="5380327" cy="1231520"/>
          </a:xfrm>
          <a:prstGeom prst="rect">
            <a:avLst/>
          </a:prstGeom>
        </p:spPr>
      </p:pic>
    </p:spTree>
    <p:extLst>
      <p:ext uri="{BB962C8B-B14F-4D97-AF65-F5344CB8AC3E}">
        <p14:creationId xmlns:p14="http://schemas.microsoft.com/office/powerpoint/2010/main" val="4146275796"/>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5D3757-17A9-DEFF-AAE1-DEF446C4FA8B}"/>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FA353763-2023-3241-03B8-06B4816349A5}"/>
              </a:ext>
            </a:extLst>
          </p:cNvPr>
          <p:cNvSpPr txBox="1">
            <a:spLocks noGrp="1"/>
          </p:cNvSpPr>
          <p:nvPr>
            <p:ph type="title"/>
          </p:nvPr>
        </p:nvSpPr>
        <p:spPr>
          <a:xfrm>
            <a:off x="1384102" y="108442"/>
            <a:ext cx="4339828" cy="452502"/>
          </a:xfrm>
          <a:prstGeom prst="rect">
            <a:avLst/>
          </a:prstGeom>
        </p:spPr>
        <p:txBody>
          <a:bodyPr spcFirstLastPara="1" vert="horz" wrap="square" lIns="0" tIns="8706" rIns="0" bIns="0" rtlCol="0" anchor="ctr" anchorCtr="0">
            <a:spAutoFit/>
          </a:bodyPr>
          <a:lstStyle/>
          <a:p>
            <a:pPr marL="6697">
              <a:spcBef>
                <a:spcPts val="69"/>
              </a:spcBef>
            </a:pPr>
            <a:r>
              <a:rPr b="1" spc="-42" dirty="0">
                <a:solidFill>
                  <a:srgbClr val="1E2761"/>
                </a:solidFill>
                <a:latin typeface="Georgia"/>
              </a:rPr>
              <a:t>Elements</a:t>
            </a:r>
            <a:r>
              <a:rPr b="1" spc="-203" dirty="0">
                <a:solidFill>
                  <a:srgbClr val="1E2761"/>
                </a:solidFill>
                <a:latin typeface="Georgia"/>
              </a:rPr>
              <a:t> </a:t>
            </a:r>
            <a:r>
              <a:rPr b="1" dirty="0">
                <a:solidFill>
                  <a:srgbClr val="1E2761"/>
                </a:solidFill>
                <a:latin typeface="Georgia"/>
              </a:rPr>
              <a:t>of</a:t>
            </a:r>
            <a:r>
              <a:rPr b="1" spc="-111" dirty="0">
                <a:solidFill>
                  <a:srgbClr val="1E2761"/>
                </a:solidFill>
                <a:latin typeface="Georgia"/>
              </a:rPr>
              <a:t> </a:t>
            </a:r>
            <a:r>
              <a:rPr b="1" dirty="0">
                <a:solidFill>
                  <a:srgbClr val="1E2761"/>
                </a:solidFill>
                <a:latin typeface="Georgia"/>
              </a:rPr>
              <a:t>a</a:t>
            </a:r>
            <a:r>
              <a:rPr b="1" spc="-113" dirty="0">
                <a:solidFill>
                  <a:srgbClr val="1E2761"/>
                </a:solidFill>
                <a:latin typeface="Georgia"/>
              </a:rPr>
              <a:t> </a:t>
            </a:r>
            <a:r>
              <a:rPr b="1" spc="-13" dirty="0">
                <a:solidFill>
                  <a:srgbClr val="1E2761"/>
                </a:solidFill>
                <a:latin typeface="Georgia"/>
              </a:rPr>
              <a:t>Prompt</a:t>
            </a:r>
          </a:p>
        </p:txBody>
      </p:sp>
      <p:sp>
        <p:nvSpPr>
          <p:cNvPr id="3" name="object 3">
            <a:extLst>
              <a:ext uri="{FF2B5EF4-FFF2-40B4-BE49-F238E27FC236}">
                <a16:creationId xmlns:a16="http://schemas.microsoft.com/office/drawing/2014/main" id="{45F1164E-139B-8F28-D41B-70BAD4572358}"/>
              </a:ext>
            </a:extLst>
          </p:cNvPr>
          <p:cNvSpPr txBox="1"/>
          <p:nvPr/>
        </p:nvSpPr>
        <p:spPr>
          <a:xfrm>
            <a:off x="1488411" y="702163"/>
            <a:ext cx="5661199" cy="1776241"/>
          </a:xfrm>
          <a:prstGeom prst="rect">
            <a:avLst/>
          </a:prstGeom>
        </p:spPr>
        <p:txBody>
          <a:bodyPr vert="horz" wrap="square" lIns="0" tIns="68312" rIns="0" bIns="0" rtlCol="0">
            <a:spAutoFit/>
          </a:bodyPr>
          <a:lstStyle/>
          <a:p>
            <a:pPr marL="237733" indent="-231036">
              <a:spcBef>
                <a:spcPts val="537"/>
              </a:spcBef>
              <a:buClr>
                <a:srgbClr val="7570FF"/>
              </a:buClr>
              <a:buChar char="•"/>
              <a:tabLst>
                <a:tab pos="237733" algn="l"/>
              </a:tabLst>
            </a:pPr>
            <a:r>
              <a:rPr sz="1766" dirty="0">
                <a:solidFill>
                  <a:srgbClr val="1A1F36"/>
                </a:solidFill>
                <a:latin typeface="Calibri"/>
              </a:rPr>
              <a:t>A</a:t>
            </a:r>
            <a:r>
              <a:rPr sz="1766" spc="-82" dirty="0">
                <a:solidFill>
                  <a:srgbClr val="1A1F36"/>
                </a:solidFill>
                <a:latin typeface="Calibri"/>
              </a:rPr>
              <a:t> </a:t>
            </a:r>
            <a:r>
              <a:rPr sz="1766" dirty="0">
                <a:solidFill>
                  <a:srgbClr val="1A1F36"/>
                </a:solidFill>
                <a:latin typeface="Calibri"/>
              </a:rPr>
              <a:t>prompt</a:t>
            </a:r>
            <a:r>
              <a:rPr sz="1766" spc="63" dirty="0">
                <a:solidFill>
                  <a:srgbClr val="1A1F36"/>
                </a:solidFill>
                <a:latin typeface="Calibri"/>
              </a:rPr>
              <a:t> </a:t>
            </a:r>
            <a:r>
              <a:rPr sz="1766" dirty="0">
                <a:solidFill>
                  <a:srgbClr val="1A1F36"/>
                </a:solidFill>
                <a:latin typeface="Calibri"/>
              </a:rPr>
              <a:t>is</a:t>
            </a:r>
            <a:r>
              <a:rPr sz="1766" spc="24" dirty="0">
                <a:solidFill>
                  <a:srgbClr val="1A1F36"/>
                </a:solidFill>
                <a:latin typeface="Calibri"/>
              </a:rPr>
              <a:t> </a:t>
            </a:r>
            <a:r>
              <a:rPr sz="1766" dirty="0">
                <a:solidFill>
                  <a:srgbClr val="1A1F36"/>
                </a:solidFill>
                <a:latin typeface="Calibri"/>
              </a:rPr>
              <a:t>composed</a:t>
            </a:r>
            <a:r>
              <a:rPr sz="1766" spc="40" dirty="0">
                <a:solidFill>
                  <a:srgbClr val="1A1F36"/>
                </a:solidFill>
                <a:latin typeface="Calibri"/>
              </a:rPr>
              <a:t> </a:t>
            </a:r>
            <a:r>
              <a:rPr sz="1766" dirty="0">
                <a:solidFill>
                  <a:srgbClr val="1A1F36"/>
                </a:solidFill>
                <a:latin typeface="Calibri"/>
              </a:rPr>
              <a:t>with</a:t>
            </a:r>
            <a:r>
              <a:rPr sz="1766" spc="5" dirty="0">
                <a:solidFill>
                  <a:srgbClr val="1A1F36"/>
                </a:solidFill>
                <a:latin typeface="Calibri"/>
              </a:rPr>
              <a:t> </a:t>
            </a:r>
            <a:r>
              <a:rPr sz="1766" dirty="0">
                <a:solidFill>
                  <a:srgbClr val="1A1F36"/>
                </a:solidFill>
                <a:latin typeface="Calibri"/>
              </a:rPr>
              <a:t>the</a:t>
            </a:r>
            <a:r>
              <a:rPr sz="1766" spc="40" dirty="0">
                <a:solidFill>
                  <a:srgbClr val="1A1F36"/>
                </a:solidFill>
                <a:latin typeface="Calibri"/>
              </a:rPr>
              <a:t> </a:t>
            </a:r>
            <a:r>
              <a:rPr sz="1766" dirty="0">
                <a:solidFill>
                  <a:srgbClr val="1A1F36"/>
                </a:solidFill>
                <a:latin typeface="Calibri"/>
              </a:rPr>
              <a:t>following</a:t>
            </a:r>
            <a:r>
              <a:rPr sz="1766" spc="3" dirty="0">
                <a:solidFill>
                  <a:srgbClr val="1A1F36"/>
                </a:solidFill>
                <a:latin typeface="Calibri"/>
              </a:rPr>
              <a:t> </a:t>
            </a:r>
            <a:r>
              <a:rPr sz="1766" spc="-5" dirty="0">
                <a:solidFill>
                  <a:srgbClr val="1A1F36"/>
                </a:solidFill>
                <a:latin typeface="Calibri"/>
              </a:rPr>
              <a:t>components:</a:t>
            </a:r>
            <a:endParaRPr sz="1766" dirty="0"/>
          </a:p>
          <a:p>
            <a:pPr marL="468770" lvl="1" indent="-220991">
              <a:spcBef>
                <a:spcPts val="875"/>
              </a:spcBef>
              <a:buClr>
                <a:srgbClr val="7570FF"/>
              </a:buClr>
              <a:buSzPct val="121666"/>
              <a:buChar char="•"/>
              <a:tabLst>
                <a:tab pos="468770" algn="l"/>
              </a:tabLst>
            </a:pPr>
            <a:r>
              <a:rPr sz="1582" spc="-5" dirty="0">
                <a:solidFill>
                  <a:srgbClr val="0C78F8"/>
                </a:solidFill>
                <a:latin typeface="Calibri"/>
              </a:rPr>
              <a:t>Instructions</a:t>
            </a:r>
            <a:endParaRPr sz="1582" dirty="0"/>
          </a:p>
          <a:p>
            <a:pPr marL="468770" lvl="1" indent="-220991">
              <a:spcBef>
                <a:spcPts val="875"/>
              </a:spcBef>
              <a:buClr>
                <a:srgbClr val="7570FF"/>
              </a:buClr>
              <a:buSzPct val="121666"/>
              <a:buChar char="•"/>
              <a:tabLst>
                <a:tab pos="468770" algn="l"/>
              </a:tabLst>
            </a:pPr>
            <a:r>
              <a:rPr sz="1582" spc="-5" dirty="0">
                <a:solidFill>
                  <a:srgbClr val="1A1F36"/>
                </a:solidFill>
                <a:latin typeface="Calibri"/>
              </a:rPr>
              <a:t>Context</a:t>
            </a:r>
            <a:endParaRPr sz="1582" dirty="0"/>
          </a:p>
          <a:p>
            <a:pPr marL="468770" lvl="1" indent="-220991">
              <a:spcBef>
                <a:spcPts val="912"/>
              </a:spcBef>
              <a:buClr>
                <a:srgbClr val="7570FF"/>
              </a:buClr>
              <a:buSzPct val="121666"/>
              <a:buChar char="•"/>
              <a:tabLst>
                <a:tab pos="468770" algn="l"/>
              </a:tabLst>
            </a:pPr>
            <a:r>
              <a:rPr sz="1582" dirty="0">
                <a:solidFill>
                  <a:srgbClr val="D69911"/>
                </a:solidFill>
                <a:latin typeface="Calibri"/>
              </a:rPr>
              <a:t>Input</a:t>
            </a:r>
            <a:r>
              <a:rPr sz="1582" spc="-18" dirty="0">
                <a:solidFill>
                  <a:srgbClr val="D69911"/>
                </a:solidFill>
                <a:latin typeface="Calibri"/>
              </a:rPr>
              <a:t> </a:t>
            </a:r>
            <a:r>
              <a:rPr sz="1582" spc="-11" dirty="0">
                <a:solidFill>
                  <a:srgbClr val="D69911"/>
                </a:solidFill>
                <a:latin typeface="Calibri"/>
              </a:rPr>
              <a:t>data</a:t>
            </a:r>
            <a:endParaRPr sz="1582" dirty="0"/>
          </a:p>
          <a:p>
            <a:pPr marL="468770" lvl="1" indent="-220991">
              <a:spcBef>
                <a:spcPts val="912"/>
              </a:spcBef>
              <a:buClr>
                <a:srgbClr val="7570FF"/>
              </a:buClr>
              <a:buSzPct val="121666"/>
              <a:buChar char="•"/>
              <a:tabLst>
                <a:tab pos="468770" algn="l"/>
              </a:tabLst>
            </a:pPr>
            <a:r>
              <a:rPr sz="1582" dirty="0">
                <a:solidFill>
                  <a:srgbClr val="D112B8"/>
                </a:solidFill>
                <a:latin typeface="Calibri"/>
              </a:rPr>
              <a:t>Output</a:t>
            </a:r>
            <a:r>
              <a:rPr sz="1582" spc="-26" dirty="0">
                <a:solidFill>
                  <a:srgbClr val="D112B8"/>
                </a:solidFill>
                <a:latin typeface="Calibri"/>
              </a:rPr>
              <a:t> </a:t>
            </a:r>
            <a:r>
              <a:rPr sz="1582" spc="-5" dirty="0">
                <a:solidFill>
                  <a:srgbClr val="D112B8"/>
                </a:solidFill>
                <a:latin typeface="Calibri"/>
              </a:rPr>
              <a:t>indicator</a:t>
            </a:r>
            <a:endParaRPr sz="1582" dirty="0"/>
          </a:p>
        </p:txBody>
      </p:sp>
      <p:grpSp>
        <p:nvGrpSpPr>
          <p:cNvPr id="4" name="object 4">
            <a:extLst>
              <a:ext uri="{FF2B5EF4-FFF2-40B4-BE49-F238E27FC236}">
                <a16:creationId xmlns:a16="http://schemas.microsoft.com/office/drawing/2014/main" id="{8EB88FA0-C0C2-D6A6-5E59-D3ABBC137583}"/>
              </a:ext>
            </a:extLst>
          </p:cNvPr>
          <p:cNvGrpSpPr/>
          <p:nvPr/>
        </p:nvGrpSpPr>
        <p:grpSpPr>
          <a:xfrm>
            <a:off x="1942453" y="2764162"/>
            <a:ext cx="5262376" cy="1776785"/>
            <a:chOff x="1515999" y="5241671"/>
            <a:chExt cx="9979025" cy="3369310"/>
          </a:xfrm>
        </p:grpSpPr>
        <p:sp>
          <p:nvSpPr>
            <p:cNvPr id="5" name="object 5">
              <a:extLst>
                <a:ext uri="{FF2B5EF4-FFF2-40B4-BE49-F238E27FC236}">
                  <a16:creationId xmlns:a16="http://schemas.microsoft.com/office/drawing/2014/main" id="{AB23C3BF-81F7-29E9-B7BC-F3BCCB740EAC}"/>
                </a:ext>
              </a:extLst>
            </p:cNvPr>
            <p:cNvSpPr/>
            <p:nvPr/>
          </p:nvSpPr>
          <p:spPr>
            <a:xfrm>
              <a:off x="1543050" y="5268595"/>
              <a:ext cx="9925050" cy="3305810"/>
            </a:xfrm>
            <a:custGeom>
              <a:avLst/>
              <a:gdLst/>
              <a:ahLst/>
              <a:cxnLst/>
              <a:rect l="l" t="t" r="r" b="b"/>
              <a:pathLst>
                <a:path w="9925050" h="3305809">
                  <a:moveTo>
                    <a:pt x="9818497" y="126"/>
                  </a:moveTo>
                  <a:lnTo>
                    <a:pt x="9792208" y="0"/>
                  </a:lnTo>
                  <a:lnTo>
                    <a:pt x="105918" y="126"/>
                  </a:lnTo>
                  <a:lnTo>
                    <a:pt x="67818" y="2793"/>
                  </a:lnTo>
                  <a:lnTo>
                    <a:pt x="25146" y="25272"/>
                  </a:lnTo>
                  <a:lnTo>
                    <a:pt x="2666" y="67944"/>
                  </a:lnTo>
                  <a:lnTo>
                    <a:pt x="0" y="105917"/>
                  </a:lnTo>
                  <a:lnTo>
                    <a:pt x="0" y="3199638"/>
                  </a:lnTo>
                  <a:lnTo>
                    <a:pt x="2666" y="3237699"/>
                  </a:lnTo>
                  <a:lnTo>
                    <a:pt x="25146" y="3280346"/>
                  </a:lnTo>
                  <a:lnTo>
                    <a:pt x="67818" y="3302838"/>
                  </a:lnTo>
                  <a:lnTo>
                    <a:pt x="105918" y="3305467"/>
                  </a:lnTo>
                  <a:lnTo>
                    <a:pt x="9792208" y="3305568"/>
                  </a:lnTo>
                  <a:lnTo>
                    <a:pt x="9839833" y="3304768"/>
                  </a:lnTo>
                  <a:lnTo>
                    <a:pt x="9885680" y="3291281"/>
                  </a:lnTo>
                  <a:lnTo>
                    <a:pt x="9918065" y="3250920"/>
                  </a:lnTo>
                  <a:lnTo>
                    <a:pt x="9924542" y="3199638"/>
                  </a:lnTo>
                  <a:lnTo>
                    <a:pt x="9924542" y="105917"/>
                  </a:lnTo>
                  <a:lnTo>
                    <a:pt x="9923780" y="84708"/>
                  </a:lnTo>
                  <a:lnTo>
                    <a:pt x="9910318" y="38862"/>
                  </a:lnTo>
                  <a:lnTo>
                    <a:pt x="9869932" y="6476"/>
                  </a:lnTo>
                  <a:lnTo>
                    <a:pt x="9818497" y="126"/>
                  </a:lnTo>
                  <a:close/>
                </a:path>
              </a:pathLst>
            </a:custGeom>
            <a:solidFill>
              <a:srgbClr val="F1F1F1"/>
            </a:solidFill>
          </p:spPr>
          <p:txBody>
            <a:bodyPr wrap="square" lIns="0" tIns="0" rIns="0" bIns="0" rtlCol="0"/>
            <a:lstStyle/>
            <a:p>
              <a:endParaRPr sz="738"/>
            </a:p>
          </p:txBody>
        </p:sp>
        <p:sp>
          <p:nvSpPr>
            <p:cNvPr id="6" name="object 6">
              <a:extLst>
                <a:ext uri="{FF2B5EF4-FFF2-40B4-BE49-F238E27FC236}">
                  <a16:creationId xmlns:a16="http://schemas.microsoft.com/office/drawing/2014/main" id="{E2280E70-CFEF-33FF-6BFC-A1A64EBF55C8}"/>
                </a:ext>
              </a:extLst>
            </p:cNvPr>
            <p:cNvSpPr/>
            <p:nvPr/>
          </p:nvSpPr>
          <p:spPr>
            <a:xfrm>
              <a:off x="1547749" y="5273421"/>
              <a:ext cx="9915525" cy="3305810"/>
            </a:xfrm>
            <a:custGeom>
              <a:avLst/>
              <a:gdLst/>
              <a:ahLst/>
              <a:cxnLst/>
              <a:rect l="l" t="t" r="r" b="b"/>
              <a:pathLst>
                <a:path w="9915525" h="3305809">
                  <a:moveTo>
                    <a:pt x="132333" y="0"/>
                  </a:moveTo>
                  <a:lnTo>
                    <a:pt x="9782937" y="0"/>
                  </a:lnTo>
                  <a:lnTo>
                    <a:pt x="9809226" y="0"/>
                  </a:lnTo>
                  <a:lnTo>
                    <a:pt x="9847326" y="2666"/>
                  </a:lnTo>
                  <a:lnTo>
                    <a:pt x="9889998" y="25145"/>
                  </a:lnTo>
                  <a:lnTo>
                    <a:pt x="9912477" y="67817"/>
                  </a:lnTo>
                  <a:lnTo>
                    <a:pt x="9915144" y="105917"/>
                  </a:lnTo>
                  <a:lnTo>
                    <a:pt x="9915271" y="132206"/>
                  </a:lnTo>
                  <a:lnTo>
                    <a:pt x="9915271" y="3173222"/>
                  </a:lnTo>
                  <a:lnTo>
                    <a:pt x="9914382" y="3220783"/>
                  </a:lnTo>
                  <a:lnTo>
                    <a:pt x="9900920" y="3266693"/>
                  </a:lnTo>
                  <a:lnTo>
                    <a:pt x="9860534" y="3299028"/>
                  </a:lnTo>
                  <a:lnTo>
                    <a:pt x="9809226" y="3305416"/>
                  </a:lnTo>
                  <a:lnTo>
                    <a:pt x="9782937" y="3305505"/>
                  </a:lnTo>
                  <a:lnTo>
                    <a:pt x="132333" y="3305505"/>
                  </a:lnTo>
                  <a:lnTo>
                    <a:pt x="84836" y="3304705"/>
                  </a:lnTo>
                  <a:lnTo>
                    <a:pt x="38862" y="3291217"/>
                  </a:lnTo>
                  <a:lnTo>
                    <a:pt x="6603" y="3250869"/>
                  </a:lnTo>
                  <a:lnTo>
                    <a:pt x="126" y="3199510"/>
                  </a:lnTo>
                  <a:lnTo>
                    <a:pt x="0" y="3173222"/>
                  </a:lnTo>
                  <a:lnTo>
                    <a:pt x="0" y="132206"/>
                  </a:lnTo>
                  <a:lnTo>
                    <a:pt x="888" y="84708"/>
                  </a:lnTo>
                  <a:lnTo>
                    <a:pt x="14350" y="38734"/>
                  </a:lnTo>
                  <a:lnTo>
                    <a:pt x="54737" y="6476"/>
                  </a:lnTo>
                  <a:lnTo>
                    <a:pt x="106044" y="0"/>
                  </a:lnTo>
                  <a:lnTo>
                    <a:pt x="132333" y="0"/>
                  </a:lnTo>
                  <a:close/>
                </a:path>
              </a:pathLst>
            </a:custGeom>
            <a:ln w="63500">
              <a:solidFill>
                <a:srgbClr val="6C6BE7"/>
              </a:solidFill>
            </a:ln>
          </p:spPr>
          <p:txBody>
            <a:bodyPr wrap="square" lIns="0" tIns="0" rIns="0" bIns="0" rtlCol="0"/>
            <a:lstStyle/>
            <a:p>
              <a:endParaRPr sz="738"/>
            </a:p>
          </p:txBody>
        </p:sp>
      </p:grpSp>
      <p:sp>
        <p:nvSpPr>
          <p:cNvPr id="7" name="object 7">
            <a:extLst>
              <a:ext uri="{FF2B5EF4-FFF2-40B4-BE49-F238E27FC236}">
                <a16:creationId xmlns:a16="http://schemas.microsoft.com/office/drawing/2014/main" id="{784847F0-19C8-FE3A-5A1A-FEBA0E18C913}"/>
              </a:ext>
            </a:extLst>
          </p:cNvPr>
          <p:cNvSpPr txBox="1"/>
          <p:nvPr/>
        </p:nvSpPr>
        <p:spPr>
          <a:xfrm>
            <a:off x="2151474" y="3231397"/>
            <a:ext cx="4525342" cy="761224"/>
          </a:xfrm>
          <a:prstGeom prst="rect">
            <a:avLst/>
          </a:prstGeom>
        </p:spPr>
        <p:txBody>
          <a:bodyPr vert="horz" wrap="square" lIns="0" tIns="8372" rIns="0" bIns="0" rtlCol="0">
            <a:spAutoFit/>
          </a:bodyPr>
          <a:lstStyle/>
          <a:p>
            <a:pPr marL="6697">
              <a:spcBef>
                <a:spcPts val="66"/>
              </a:spcBef>
            </a:pPr>
            <a:r>
              <a:rPr sz="1134" dirty="0">
                <a:solidFill>
                  <a:srgbClr val="0D5FF6"/>
                </a:solidFill>
                <a:latin typeface="Consolas"/>
              </a:rPr>
              <a:t>Classify</a:t>
            </a:r>
            <a:r>
              <a:rPr sz="1134" spc="-5" dirty="0">
                <a:solidFill>
                  <a:srgbClr val="0D5FF6"/>
                </a:solidFill>
                <a:latin typeface="Consolas"/>
              </a:rPr>
              <a:t> </a:t>
            </a:r>
            <a:r>
              <a:rPr sz="1134" dirty="0">
                <a:solidFill>
                  <a:srgbClr val="0D5FF6"/>
                </a:solidFill>
                <a:latin typeface="Consolas"/>
              </a:rPr>
              <a:t>the</a:t>
            </a:r>
            <a:r>
              <a:rPr sz="1134" spc="132" dirty="0">
                <a:solidFill>
                  <a:srgbClr val="0D5FF6"/>
                </a:solidFill>
                <a:latin typeface="Consolas"/>
              </a:rPr>
              <a:t> </a:t>
            </a:r>
            <a:r>
              <a:rPr sz="1134" dirty="0">
                <a:solidFill>
                  <a:srgbClr val="0D5FF6"/>
                </a:solidFill>
                <a:latin typeface="Consolas"/>
              </a:rPr>
              <a:t>text</a:t>
            </a:r>
            <a:r>
              <a:rPr sz="1134" spc="-8" dirty="0">
                <a:solidFill>
                  <a:srgbClr val="0D5FF6"/>
                </a:solidFill>
                <a:latin typeface="Consolas"/>
              </a:rPr>
              <a:t> </a:t>
            </a:r>
            <a:r>
              <a:rPr sz="1134" dirty="0">
                <a:solidFill>
                  <a:srgbClr val="0D5FF6"/>
                </a:solidFill>
                <a:latin typeface="Consolas"/>
              </a:rPr>
              <a:t>into</a:t>
            </a:r>
            <a:r>
              <a:rPr sz="1134" spc="-8" dirty="0">
                <a:solidFill>
                  <a:srgbClr val="0D5FF6"/>
                </a:solidFill>
                <a:latin typeface="Consolas"/>
              </a:rPr>
              <a:t> </a:t>
            </a:r>
            <a:r>
              <a:rPr sz="1134" dirty="0">
                <a:solidFill>
                  <a:srgbClr val="0D5FF6"/>
                </a:solidFill>
                <a:latin typeface="Consolas"/>
              </a:rPr>
              <a:t>neutral,</a:t>
            </a:r>
            <a:r>
              <a:rPr sz="1134" spc="-3" dirty="0">
                <a:solidFill>
                  <a:srgbClr val="0D5FF6"/>
                </a:solidFill>
                <a:latin typeface="Consolas"/>
              </a:rPr>
              <a:t> </a:t>
            </a:r>
            <a:r>
              <a:rPr sz="1134" dirty="0">
                <a:solidFill>
                  <a:srgbClr val="0D5FF6"/>
                </a:solidFill>
                <a:latin typeface="Consolas"/>
              </a:rPr>
              <a:t>negative</a:t>
            </a:r>
            <a:r>
              <a:rPr sz="1134" spc="-16" dirty="0">
                <a:solidFill>
                  <a:srgbClr val="0D5FF6"/>
                </a:solidFill>
                <a:latin typeface="Consolas"/>
              </a:rPr>
              <a:t> </a:t>
            </a:r>
            <a:r>
              <a:rPr sz="1134" dirty="0">
                <a:solidFill>
                  <a:srgbClr val="0D5FF6"/>
                </a:solidFill>
                <a:latin typeface="Consolas"/>
              </a:rPr>
              <a:t>or</a:t>
            </a:r>
            <a:r>
              <a:rPr sz="1134" spc="-5" dirty="0">
                <a:solidFill>
                  <a:srgbClr val="0D5FF6"/>
                </a:solidFill>
                <a:latin typeface="Consolas"/>
              </a:rPr>
              <a:t> positive</a:t>
            </a:r>
            <a:endParaRPr sz="1134">
              <a:latin typeface="Consolas"/>
              <a:cs typeface="Consolas"/>
            </a:endParaRPr>
          </a:p>
          <a:p>
            <a:pPr marL="6697" marR="1739136">
              <a:lnSpc>
                <a:spcPct val="174600"/>
              </a:lnSpc>
            </a:pPr>
            <a:r>
              <a:rPr sz="1134" dirty="0">
                <a:solidFill/>
                <a:latin typeface="Consolas"/>
              </a:rPr>
              <a:t>Text:</a:t>
            </a:r>
            <a:r>
              <a:rPr sz="1134" spc="8" dirty="0">
                <a:solidFill/>
                <a:latin typeface="Consolas"/>
              </a:rPr>
              <a:t> </a:t>
            </a:r>
            <a:r>
              <a:rPr sz="1134" dirty="0">
                <a:solidFill>
                  <a:srgbClr val="D99911"/>
                </a:solidFill>
                <a:latin typeface="Consolas"/>
              </a:rPr>
              <a:t>I</a:t>
            </a:r>
            <a:r>
              <a:rPr sz="1134" spc="5" dirty="0">
                <a:solidFill>
                  <a:srgbClr val="D99911"/>
                </a:solidFill>
                <a:latin typeface="Consolas"/>
              </a:rPr>
              <a:t> </a:t>
            </a:r>
            <a:r>
              <a:rPr sz="1134" dirty="0">
                <a:solidFill>
                  <a:srgbClr val="D99911"/>
                </a:solidFill>
                <a:latin typeface="Consolas"/>
              </a:rPr>
              <a:t>think</a:t>
            </a:r>
            <a:r>
              <a:rPr sz="1134" spc="8" dirty="0">
                <a:solidFill>
                  <a:srgbClr val="D99911"/>
                </a:solidFill>
                <a:latin typeface="Consolas"/>
              </a:rPr>
              <a:t> </a:t>
            </a:r>
            <a:r>
              <a:rPr sz="1134" dirty="0">
                <a:solidFill>
                  <a:srgbClr val="D99911"/>
                </a:solidFill>
                <a:latin typeface="Consolas"/>
              </a:rPr>
              <a:t>the</a:t>
            </a:r>
            <a:r>
              <a:rPr sz="1134" spc="5" dirty="0">
                <a:solidFill>
                  <a:srgbClr val="D99911"/>
                </a:solidFill>
                <a:latin typeface="Consolas"/>
              </a:rPr>
              <a:t> </a:t>
            </a:r>
            <a:r>
              <a:rPr sz="1134" dirty="0">
                <a:solidFill>
                  <a:srgbClr val="D99911"/>
                </a:solidFill>
                <a:latin typeface="Consolas"/>
              </a:rPr>
              <a:t>food</a:t>
            </a:r>
            <a:r>
              <a:rPr sz="1134" spc="5" dirty="0">
                <a:solidFill>
                  <a:srgbClr val="D99911"/>
                </a:solidFill>
                <a:latin typeface="Consolas"/>
              </a:rPr>
              <a:t> </a:t>
            </a:r>
            <a:r>
              <a:rPr sz="1134" dirty="0">
                <a:solidFill>
                  <a:srgbClr val="D99911"/>
                </a:solidFill>
                <a:latin typeface="Consolas"/>
              </a:rPr>
              <a:t>was</a:t>
            </a:r>
            <a:r>
              <a:rPr sz="1134" spc="8" dirty="0">
                <a:solidFill>
                  <a:srgbClr val="D99911"/>
                </a:solidFill>
                <a:latin typeface="Consolas"/>
              </a:rPr>
              <a:t> </a:t>
            </a:r>
            <a:r>
              <a:rPr sz="1134" spc="-5" dirty="0">
                <a:solidFill>
                  <a:srgbClr val="D99911"/>
                </a:solidFill>
                <a:latin typeface="Consolas"/>
              </a:rPr>
              <a:t>okay. </a:t>
            </a:r>
            <a:r>
              <a:rPr sz="1134" spc="-5" dirty="0">
                <a:solidFill>
                  <a:srgbClr val="CA13B7"/>
                </a:solidFill>
                <a:latin typeface="Consolas"/>
              </a:rPr>
              <a:t>Sentiment:</a:t>
            </a:r>
            <a:endParaRPr sz="1134">
              <a:latin typeface="Consolas"/>
              <a:cs typeface="Consolas"/>
            </a:endParaRPr>
          </a:p>
        </p:txBody>
      </p:sp>
      <p:grpSp>
        <p:nvGrpSpPr>
          <p:cNvPr id="8" name="object 8">
            <a:extLst>
              <a:ext uri="{FF2B5EF4-FFF2-40B4-BE49-F238E27FC236}">
                <a16:creationId xmlns:a16="http://schemas.microsoft.com/office/drawing/2014/main" id="{220E4785-D269-CFE9-0EE7-D82170A7D418}"/>
              </a:ext>
            </a:extLst>
          </p:cNvPr>
          <p:cNvGrpSpPr/>
          <p:nvPr/>
        </p:nvGrpSpPr>
        <p:grpSpPr>
          <a:xfrm>
            <a:off x="1862152" y="1281990"/>
            <a:ext cx="2771998" cy="2747553"/>
            <a:chOff x="1363725" y="2431033"/>
            <a:chExt cx="5256530" cy="5210175"/>
          </a:xfrm>
        </p:grpSpPr>
        <p:sp>
          <p:nvSpPr>
            <p:cNvPr id="9" name="object 9">
              <a:extLst>
                <a:ext uri="{FF2B5EF4-FFF2-40B4-BE49-F238E27FC236}">
                  <a16:creationId xmlns:a16="http://schemas.microsoft.com/office/drawing/2014/main" id="{A5C93B85-3BD0-4C9B-2925-0F68E315950C}"/>
                </a:ext>
              </a:extLst>
            </p:cNvPr>
            <p:cNvSpPr/>
            <p:nvPr/>
          </p:nvSpPr>
          <p:spPr>
            <a:xfrm>
              <a:off x="3700399" y="2443733"/>
              <a:ext cx="2857500" cy="3677285"/>
            </a:xfrm>
            <a:custGeom>
              <a:avLst/>
              <a:gdLst/>
              <a:ahLst/>
              <a:cxnLst/>
              <a:rect l="l" t="t" r="r" b="b"/>
              <a:pathLst>
                <a:path w="2857500" h="3677285">
                  <a:moveTo>
                    <a:pt x="0" y="0"/>
                  </a:moveTo>
                  <a:lnTo>
                    <a:pt x="2834385" y="6731"/>
                  </a:lnTo>
                  <a:lnTo>
                    <a:pt x="2857373" y="3664458"/>
                  </a:lnTo>
                  <a:lnTo>
                    <a:pt x="2857500" y="3677031"/>
                  </a:lnTo>
                </a:path>
              </a:pathLst>
            </a:custGeom>
            <a:ln w="25399">
              <a:solidFill>
                <a:srgbClr val="350E0D"/>
              </a:solidFill>
              <a:prstDash val="sysDash"/>
            </a:ln>
          </p:spPr>
          <p:txBody>
            <a:bodyPr wrap="square" lIns="0" tIns="0" rIns="0" bIns="0" rtlCol="0"/>
            <a:lstStyle/>
            <a:p>
              <a:endParaRPr sz="738"/>
            </a:p>
          </p:txBody>
        </p:sp>
        <p:sp>
          <p:nvSpPr>
            <p:cNvPr id="10" name="object 10">
              <a:extLst>
                <a:ext uri="{FF2B5EF4-FFF2-40B4-BE49-F238E27FC236}">
                  <a16:creationId xmlns:a16="http://schemas.microsoft.com/office/drawing/2014/main" id="{9F95A517-AFD9-549E-C993-B8A9D83395F5}"/>
                </a:ext>
              </a:extLst>
            </p:cNvPr>
            <p:cNvSpPr/>
            <p:nvPr/>
          </p:nvSpPr>
          <p:spPr>
            <a:xfrm>
              <a:off x="6496049" y="6107049"/>
              <a:ext cx="123825" cy="123825"/>
            </a:xfrm>
            <a:custGeom>
              <a:avLst/>
              <a:gdLst/>
              <a:ahLst/>
              <a:cxnLst/>
              <a:rect l="l" t="t" r="r" b="b"/>
              <a:pathLst>
                <a:path w="123825" h="123825">
                  <a:moveTo>
                    <a:pt x="123825" y="0"/>
                  </a:moveTo>
                  <a:lnTo>
                    <a:pt x="0" y="762"/>
                  </a:lnTo>
                  <a:lnTo>
                    <a:pt x="62738" y="123571"/>
                  </a:lnTo>
                  <a:lnTo>
                    <a:pt x="123825" y="0"/>
                  </a:lnTo>
                  <a:close/>
                </a:path>
              </a:pathLst>
            </a:custGeom>
            <a:solidFill>
              <a:srgbClr val="350E0D"/>
            </a:solidFill>
          </p:spPr>
          <p:txBody>
            <a:bodyPr wrap="square" lIns="0" tIns="0" rIns="0" bIns="0" rtlCol="0"/>
            <a:lstStyle/>
            <a:p>
              <a:endParaRPr sz="738"/>
            </a:p>
          </p:txBody>
        </p:sp>
        <p:sp>
          <p:nvSpPr>
            <p:cNvPr id="11" name="object 11">
              <a:extLst>
                <a:ext uri="{FF2B5EF4-FFF2-40B4-BE49-F238E27FC236}">
                  <a16:creationId xmlns:a16="http://schemas.microsoft.com/office/drawing/2014/main" id="{3DE4BBA0-FD43-6DBD-7C12-F59AFA24ED22}"/>
                </a:ext>
              </a:extLst>
            </p:cNvPr>
            <p:cNvSpPr/>
            <p:nvPr/>
          </p:nvSpPr>
          <p:spPr>
            <a:xfrm>
              <a:off x="3386074" y="3777614"/>
              <a:ext cx="2695575" cy="2924810"/>
            </a:xfrm>
            <a:custGeom>
              <a:avLst/>
              <a:gdLst/>
              <a:ahLst/>
              <a:cxnLst/>
              <a:rect l="l" t="t" r="r" b="b"/>
              <a:pathLst>
                <a:path w="2695575" h="2924809">
                  <a:moveTo>
                    <a:pt x="0" y="0"/>
                  </a:moveTo>
                  <a:lnTo>
                    <a:pt x="2673985" y="5334"/>
                  </a:lnTo>
                  <a:lnTo>
                    <a:pt x="2695448" y="2912110"/>
                  </a:lnTo>
                  <a:lnTo>
                    <a:pt x="2695575" y="2924810"/>
                  </a:lnTo>
                </a:path>
              </a:pathLst>
            </a:custGeom>
            <a:ln w="25400">
              <a:solidFill>
                <a:srgbClr val="350E0D"/>
              </a:solidFill>
              <a:prstDash val="sysDash"/>
            </a:ln>
          </p:spPr>
          <p:txBody>
            <a:bodyPr wrap="square" lIns="0" tIns="0" rIns="0" bIns="0" rtlCol="0"/>
            <a:lstStyle/>
            <a:p>
              <a:endParaRPr sz="738"/>
            </a:p>
          </p:txBody>
        </p:sp>
        <p:sp>
          <p:nvSpPr>
            <p:cNvPr id="12" name="object 12">
              <a:extLst>
                <a:ext uri="{FF2B5EF4-FFF2-40B4-BE49-F238E27FC236}">
                  <a16:creationId xmlns:a16="http://schemas.microsoft.com/office/drawing/2014/main" id="{DE68C7FB-5EB7-6C85-8AF4-5F9542147D9D}"/>
                </a:ext>
              </a:extLst>
            </p:cNvPr>
            <p:cNvSpPr/>
            <p:nvPr/>
          </p:nvSpPr>
          <p:spPr>
            <a:xfrm>
              <a:off x="6010274" y="6678675"/>
              <a:ext cx="123825" cy="123825"/>
            </a:xfrm>
            <a:custGeom>
              <a:avLst/>
              <a:gdLst/>
              <a:ahLst/>
              <a:cxnLst/>
              <a:rect l="l" t="t" r="r" b="b"/>
              <a:pathLst>
                <a:path w="123825" h="123825">
                  <a:moveTo>
                    <a:pt x="123825" y="0"/>
                  </a:moveTo>
                  <a:lnTo>
                    <a:pt x="0" y="888"/>
                  </a:lnTo>
                  <a:lnTo>
                    <a:pt x="62864" y="123698"/>
                  </a:lnTo>
                  <a:lnTo>
                    <a:pt x="123825" y="0"/>
                  </a:lnTo>
                  <a:close/>
                </a:path>
              </a:pathLst>
            </a:custGeom>
            <a:solidFill>
              <a:srgbClr val="350E0D"/>
            </a:solidFill>
          </p:spPr>
          <p:txBody>
            <a:bodyPr wrap="square" lIns="0" tIns="0" rIns="0" bIns="0" rtlCol="0"/>
            <a:lstStyle/>
            <a:p>
              <a:endParaRPr sz="738"/>
            </a:p>
          </p:txBody>
        </p:sp>
        <p:sp>
          <p:nvSpPr>
            <p:cNvPr id="13" name="object 13">
              <a:extLst>
                <a:ext uri="{FF2B5EF4-FFF2-40B4-BE49-F238E27FC236}">
                  <a16:creationId xmlns:a16="http://schemas.microsoft.com/office/drawing/2014/main" id="{77639121-BE3D-FBAA-DB6E-327B9E4433D7}"/>
                </a:ext>
              </a:extLst>
            </p:cNvPr>
            <p:cNvSpPr/>
            <p:nvPr/>
          </p:nvSpPr>
          <p:spPr>
            <a:xfrm>
              <a:off x="1376425" y="4549266"/>
              <a:ext cx="247650" cy="3039110"/>
            </a:xfrm>
            <a:custGeom>
              <a:avLst/>
              <a:gdLst/>
              <a:ahLst/>
              <a:cxnLst/>
              <a:rect l="l" t="t" r="r" b="b"/>
              <a:pathLst>
                <a:path w="247650" h="3039109">
                  <a:moveTo>
                    <a:pt x="247269" y="3038856"/>
                  </a:moveTo>
                  <a:lnTo>
                    <a:pt x="234315" y="3038729"/>
                  </a:lnTo>
                  <a:lnTo>
                    <a:pt x="2921" y="3035173"/>
                  </a:lnTo>
                  <a:lnTo>
                    <a:pt x="0" y="0"/>
                  </a:lnTo>
                </a:path>
              </a:pathLst>
            </a:custGeom>
            <a:ln w="25400">
              <a:solidFill>
                <a:srgbClr val="350E0D"/>
              </a:solidFill>
              <a:prstDash val="sysDash"/>
            </a:ln>
          </p:spPr>
          <p:txBody>
            <a:bodyPr wrap="square" lIns="0" tIns="0" rIns="0" bIns="0" rtlCol="0"/>
            <a:lstStyle/>
            <a:p>
              <a:endParaRPr sz="738"/>
            </a:p>
          </p:txBody>
        </p:sp>
        <p:sp>
          <p:nvSpPr>
            <p:cNvPr id="14" name="object 14">
              <a:extLst>
                <a:ext uri="{FF2B5EF4-FFF2-40B4-BE49-F238E27FC236}">
                  <a16:creationId xmlns:a16="http://schemas.microsoft.com/office/drawing/2014/main" id="{F80104B8-E217-BF92-DA45-5C1B746D477F}"/>
                </a:ext>
              </a:extLst>
            </p:cNvPr>
            <p:cNvSpPr/>
            <p:nvPr/>
          </p:nvSpPr>
          <p:spPr>
            <a:xfrm>
              <a:off x="1600199" y="7517002"/>
              <a:ext cx="123825" cy="124460"/>
            </a:xfrm>
            <a:custGeom>
              <a:avLst/>
              <a:gdLst/>
              <a:ahLst/>
              <a:cxnLst/>
              <a:rect l="l" t="t" r="r" b="b"/>
              <a:pathLst>
                <a:path w="123825" h="124459">
                  <a:moveTo>
                    <a:pt x="1905" y="0"/>
                  </a:moveTo>
                  <a:lnTo>
                    <a:pt x="0" y="123952"/>
                  </a:lnTo>
                  <a:lnTo>
                    <a:pt x="123443" y="63881"/>
                  </a:lnTo>
                  <a:lnTo>
                    <a:pt x="1905" y="0"/>
                  </a:lnTo>
                  <a:close/>
                </a:path>
              </a:pathLst>
            </a:custGeom>
            <a:solidFill>
              <a:srgbClr val="350E0D"/>
            </a:solidFill>
          </p:spPr>
          <p:txBody>
            <a:bodyPr wrap="square" lIns="0" tIns="0" rIns="0" bIns="0" rtlCol="0"/>
            <a:lstStyle/>
            <a:p>
              <a:endParaRPr sz="738"/>
            </a:p>
          </p:txBody>
        </p:sp>
      </p:grpSp>
      <p:pic>
        <p:nvPicPr>
          <p:cNvPr id="15" name="Google Shape;109;p20">
            <a:extLst>
              <a:ext uri="{FF2B5EF4-FFF2-40B4-BE49-F238E27FC236}">
                <a16:creationId xmlns:a16="http://schemas.microsoft.com/office/drawing/2014/main" id="{F63321EC-4711-0603-C9B3-702F51AD204B}"/>
              </a:ext>
            </a:extLst>
          </p:cNvPr>
          <p:cNvPicPr preferRelativeResize="0"/>
          <p:nvPr/>
        </p:nvPicPr>
        <p:blipFill>
          <a:blip r:embed="rId2">
            <a:alphaModFix/>
          </a:blip>
          <a:stretch>
            <a:fillRect/>
          </a:stretch>
        </p:blipFill>
        <p:spPr>
          <a:xfrm>
            <a:off x="8369125" y="0"/>
            <a:ext cx="774877" cy="867174"/>
          </a:xfrm>
          <a:prstGeom prst="rect">
            <a:avLst/>
          </a:prstGeom>
          <a:noFill/>
          <a:ln>
            <a:noFill/>
          </a:ln>
        </p:spPr>
      </p:pic>
    </p:spTree>
    <p:extLst>
      <p:ext uri="{BB962C8B-B14F-4D97-AF65-F5344CB8AC3E}">
        <p14:creationId xmlns:p14="http://schemas.microsoft.com/office/powerpoint/2010/main" val="1792461717"/>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Shape 295"/>
        <p:cNvGrpSpPr/>
        <p:nvPr/>
      </p:nvGrpSpPr>
      <p:grpSpPr>
        <a:xfrm>
          <a:off x="0" y="0"/>
          <a:ext cx="0" cy="0"/>
          <a:chOff x="0" y="0"/>
          <a:chExt cx="0" cy="0"/>
        </a:xfrm>
      </p:grpSpPr>
      <p:sp>
        <p:nvSpPr>
          <p:cNvPr id="297" name="Google Shape;297;p29"/>
          <p:cNvSpPr/>
          <p:nvPr/>
        </p:nvSpPr>
        <p:spPr>
          <a:xfrm>
            <a:off x="0" y="502920"/>
            <a:ext cx="9144000" cy="36600"/>
          </a:xfrm>
          <a:prstGeom prst="rect">
            <a:avLst/>
          </a:prstGeom>
          <a:solidFill>
            <a:srgbClr val="FFFFFF"/>
          </a:solidFill>
          <a:ln w="1270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298" name="Google Shape;298;p29" descr="preencoded.png"/>
          <p:cNvPicPr preferRelativeResize="0"/>
          <p:nvPr/>
        </p:nvPicPr>
        <p:blipFill rotWithShape="1">
          <a:blip r:embed="rId3">
            <a:alphaModFix/>
          </a:blip>
          <a:srcRect/>
          <a:stretch/>
        </p:blipFill>
        <p:spPr>
          <a:xfrm>
            <a:off x="274320" y="64008"/>
            <a:ext cx="365760" cy="365760"/>
          </a:xfrm>
          <a:prstGeom prst="rect">
            <a:avLst/>
          </a:prstGeom>
          <a:noFill/>
          <a:ln>
            <a:noFill/>
          </a:ln>
        </p:spPr>
      </p:pic>
      <p:sp>
        <p:nvSpPr>
          <p:cNvPr id="299" name="Google Shape;299;p29"/>
          <p:cNvSpPr/>
          <p:nvPr/>
        </p:nvSpPr>
        <p:spPr>
          <a:xfrm>
            <a:off x="571500" y="210318"/>
            <a:ext cx="7315200" cy="438900"/>
          </a:xfrm>
          <a:prstGeom prst="rect">
            <a:avLst/>
          </a:prstGeom>
          <a:noFill/>
          <a:ln>
            <a:noFill/>
          </a:ln>
        </p:spPr>
        <p:txBody>
          <a:bodyPr spcFirstLastPara="1" wrap="square" lIns="0" tIns="0" rIns="0" bIns="0" anchor="ctr" anchorCtr="0">
            <a:noAutofit/>
          </a:bodyPr>
          <a:lstStyle/>
          <a:p>
            <a:pPr marL="0" lvl="0" indent="0" algn="l" rtl="0">
              <a:lnSpc>
                <a:spcPct val="115000"/>
              </a:lnSpc>
              <a:spcBef>
                <a:spcPts val="1200"/>
              </a:spcBef>
              <a:spcAft>
                <a:spcPts val="1200"/>
              </a:spcAft>
              <a:buClr>
                <a:schemeClr val="dk1"/>
              </a:buClr>
              <a:buSzPts val="1100"/>
              <a:buFont typeface="Arial"/>
              <a:buNone/>
            </a:pPr>
            <a:r>
              <a:rPr lang="en" sz="2300" b="1" dirty="0">
                <a:solidFill>
                  <a:srgbClr val="1E2761"/>
                </a:solidFill>
                <a:latin typeface="Georgia"/>
              </a:rPr>
              <a:t>Tool Calling </a:t>
            </a:r>
            <a:endParaRPr sz="2300" b="1" dirty="0">
              <a:solidFill>
                <a:schemeClr val="tx1"/>
              </a:solidFill>
              <a:latin typeface="Calibri"/>
              <a:ea typeface="Calibri"/>
              <a:cs typeface="Calibri"/>
              <a:sym typeface="Calibri"/>
            </a:endParaRPr>
          </a:p>
        </p:txBody>
      </p:sp>
      <p:sp>
        <p:nvSpPr>
          <p:cNvPr id="300" name="Google Shape;300;p29"/>
          <p:cNvSpPr txBox="1"/>
          <p:nvPr/>
        </p:nvSpPr>
        <p:spPr>
          <a:xfrm>
            <a:off x="274320" y="867174"/>
            <a:ext cx="6264600" cy="923299"/>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dirty="0">
                <a:solidFill>
                  <a:srgbClr val="1A1F36"/>
                </a:solidFill>
                <a:latin typeface="Calibri"/>
              </a:rPr>
              <a:t>Model can call external functions via structured outputs</a:t>
            </a:r>
            <a:endParaRPr sz="1600" dirty="0"/>
          </a:p>
          <a:p>
            <a:pPr marL="0" lvl="0" indent="0" algn="l" rtl="0">
              <a:spcBef>
                <a:spcPts val="0"/>
              </a:spcBef>
              <a:spcAft>
                <a:spcPts val="0"/>
              </a:spcAft>
              <a:buNone/>
            </a:pPr>
            <a:endParaRPr lang="en" sz="1600" dirty="0"/>
          </a:p>
          <a:p>
            <a:pPr marL="0" lvl="0" indent="0" algn="l" rtl="0">
              <a:spcBef>
                <a:spcPts val="0"/>
              </a:spcBef>
              <a:spcAft>
                <a:spcPts val="0"/>
              </a:spcAft>
              <a:buNone/>
            </a:pPr>
            <a:r>
              <a:rPr lang="en" sz="1600" dirty="0">
                <a:solidFill>
                  <a:srgbClr val="1A1F36"/>
                </a:solidFill>
                <a:latin typeface="Calibri"/>
              </a:rPr>
              <a:t>Converts natural language → function arguments</a:t>
            </a:r>
            <a:endParaRPr sz="1600" dirty="0"/>
          </a:p>
        </p:txBody>
      </p:sp>
      <p:sp>
        <p:nvSpPr>
          <p:cNvPr id="301" name="Google Shape;301;p29"/>
          <p:cNvSpPr txBox="1"/>
          <p:nvPr/>
        </p:nvSpPr>
        <p:spPr>
          <a:xfrm>
            <a:off x="571500" y="1734877"/>
            <a:ext cx="6533400" cy="952538"/>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200"/>
              </a:spcBef>
              <a:spcAft>
                <a:spcPts val="0"/>
              </a:spcAft>
              <a:buNone/>
            </a:pPr>
            <a:r>
              <a:rPr lang="en" sz="1200" b="1" dirty="0">
                <a:solidFill>
                  <a:srgbClr val="1A1F36"/>
                </a:solidFill>
                <a:latin typeface="Calibri"/>
              </a:rPr>
              <a:t>Flow:</a:t>
            </a:r>
            <a:endParaRPr sz="1200" b="1" dirty="0">
              <a:solidFill>
                <a:schemeClr val="dk1"/>
              </a:solidFill>
            </a:endParaRPr>
          </a:p>
          <a:p>
            <a:pPr marL="457200" lvl="0" indent="-317500" algn="l" rtl="0">
              <a:lnSpc>
                <a:spcPct val="115000"/>
              </a:lnSpc>
              <a:spcBef>
                <a:spcPts val="1200"/>
              </a:spcBef>
              <a:spcAft>
                <a:spcPts val="0"/>
              </a:spcAft>
              <a:buClr>
                <a:schemeClr val="dk1"/>
              </a:buClr>
              <a:buSzPts val="1400"/>
              <a:buChar char="●"/>
            </a:pPr>
            <a:r>
              <a:rPr lang="en" dirty="0">
                <a:solidFill>
                  <a:srgbClr val="1A1F36"/>
                </a:solidFill>
                <a:latin typeface="Calibri"/>
              </a:rPr>
              <a:t>User query  →  Model  →  Tool selection  →  Function call  →  Response</a:t>
            </a:r>
            <a:endParaRPr dirty="0">
              <a:solidFill>
                <a:schemeClr val="dk1"/>
              </a:solidFill>
            </a:endParaRPr>
          </a:p>
        </p:txBody>
      </p:sp>
      <p:sp>
        <p:nvSpPr>
          <p:cNvPr id="302" name="Google Shape;302;p29"/>
          <p:cNvSpPr txBox="1"/>
          <p:nvPr/>
        </p:nvSpPr>
        <p:spPr>
          <a:xfrm>
            <a:off x="640080" y="2658176"/>
            <a:ext cx="5204700" cy="15453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200"/>
              </a:spcBef>
              <a:spcAft>
                <a:spcPts val="0"/>
              </a:spcAft>
              <a:buNone/>
            </a:pPr>
            <a:r>
              <a:rPr lang="en" b="1" dirty="0">
                <a:solidFill>
                  <a:srgbClr val="1A1F36"/>
                </a:solidFill>
                <a:latin typeface="Calibri"/>
              </a:rPr>
              <a:t>Key Features:</a:t>
            </a:r>
            <a:endParaRPr b="1" dirty="0">
              <a:solidFill>
                <a:schemeClr val="dk1"/>
              </a:solidFill>
            </a:endParaRPr>
          </a:p>
          <a:p>
            <a:pPr marL="457200" lvl="0" indent="-317500" algn="l" rtl="0">
              <a:lnSpc>
                <a:spcPct val="115000"/>
              </a:lnSpc>
              <a:spcBef>
                <a:spcPts val="1200"/>
              </a:spcBef>
              <a:spcAft>
                <a:spcPts val="0"/>
              </a:spcAft>
              <a:buClr>
                <a:schemeClr val="dk1"/>
              </a:buClr>
              <a:buSzPts val="1400"/>
              <a:buChar char="●"/>
            </a:pPr>
            <a:r>
              <a:rPr lang="en" dirty="0">
                <a:solidFill>
                  <a:srgbClr val="1A1F36"/>
                </a:solidFill>
                <a:latin typeface="Calibri"/>
              </a:rPr>
              <a:t>JSON schema-based inputs</a:t>
            </a:r>
            <a:endParaRPr dirty="0">
              <a:solidFill>
                <a:schemeClr val="dk1"/>
              </a:solidFill>
            </a:endParaRPr>
          </a:p>
          <a:p>
            <a:pPr marL="457200" lvl="0" indent="-317500" algn="l" rtl="0">
              <a:lnSpc>
                <a:spcPct val="115000"/>
              </a:lnSpc>
              <a:spcBef>
                <a:spcPts val="0"/>
              </a:spcBef>
              <a:spcAft>
                <a:spcPts val="0"/>
              </a:spcAft>
              <a:buClr>
                <a:schemeClr val="dk1"/>
              </a:buClr>
              <a:buSzPts val="1400"/>
              <a:buChar char="●"/>
            </a:pPr>
            <a:r>
              <a:rPr lang="en" dirty="0">
                <a:solidFill>
                  <a:srgbClr val="1A1F36"/>
                </a:solidFill>
                <a:latin typeface="Calibri"/>
              </a:rPr>
              <a:t>Automatic tool selection</a:t>
            </a:r>
            <a:endParaRPr dirty="0">
              <a:solidFill>
                <a:schemeClr val="dk1"/>
              </a:solidFill>
            </a:endParaRPr>
          </a:p>
          <a:p>
            <a:pPr marL="457200" lvl="0" indent="-317500" algn="l" rtl="0">
              <a:lnSpc>
                <a:spcPct val="115000"/>
              </a:lnSpc>
              <a:spcBef>
                <a:spcPts val="0"/>
              </a:spcBef>
              <a:spcAft>
                <a:spcPts val="0"/>
              </a:spcAft>
              <a:buClr>
                <a:schemeClr val="dk1"/>
              </a:buClr>
              <a:buSzPts val="1400"/>
              <a:buChar char="●"/>
            </a:pPr>
            <a:r>
              <a:rPr lang="en" dirty="0">
                <a:solidFill>
                  <a:srgbClr val="1A1F36"/>
                </a:solidFill>
                <a:latin typeface="Calibri"/>
              </a:rPr>
              <a:t>Reliable structured outputs</a:t>
            </a:r>
            <a:endParaRPr dirty="0">
              <a:solidFill>
                <a:schemeClr val="dk1"/>
              </a:solidFill>
            </a:endParaRPr>
          </a:p>
          <a:p>
            <a:pPr marL="457200" lvl="0" indent="-317500" algn="l" rtl="0">
              <a:lnSpc>
                <a:spcPct val="115000"/>
              </a:lnSpc>
              <a:spcBef>
                <a:spcPts val="0"/>
              </a:spcBef>
              <a:spcAft>
                <a:spcPts val="0"/>
              </a:spcAft>
              <a:buClr>
                <a:schemeClr val="dk1"/>
              </a:buClr>
              <a:buSzPts val="1400"/>
              <a:buChar char="●"/>
            </a:pPr>
            <a:r>
              <a:rPr lang="en" dirty="0">
                <a:solidFill>
                  <a:srgbClr val="1A1F36"/>
                </a:solidFill>
                <a:latin typeface="Calibri"/>
              </a:rPr>
              <a:t>Integrates APIs · databases · services </a:t>
            </a:r>
            <a:endParaRPr dirty="0">
              <a:solidFill>
                <a:schemeClr val="dk1"/>
              </a:solidFill>
            </a:endParaRPr>
          </a:p>
        </p:txBody>
      </p:sp>
      <p:pic>
        <p:nvPicPr>
          <p:cNvPr id="2" name="Google Shape;109;p20">
            <a:extLst>
              <a:ext uri="{FF2B5EF4-FFF2-40B4-BE49-F238E27FC236}">
                <a16:creationId xmlns:a16="http://schemas.microsoft.com/office/drawing/2014/main" id="{E599199B-AA73-436D-551D-F555F35018A0}"/>
              </a:ext>
            </a:extLst>
          </p:cNvPr>
          <p:cNvPicPr preferRelativeResize="0"/>
          <p:nvPr/>
        </p:nvPicPr>
        <p:blipFill>
          <a:blip r:embed="rId4">
            <a:alphaModFix/>
          </a:blip>
          <a:stretch>
            <a:fillRect/>
          </a:stretch>
        </p:blipFill>
        <p:spPr>
          <a:xfrm>
            <a:off x="8369125" y="0"/>
            <a:ext cx="774877" cy="867174"/>
          </a:xfrm>
          <a:prstGeom prst="rect">
            <a:avLst/>
          </a:prstGeom>
          <a:noFill/>
          <a:ln>
            <a:noFill/>
          </a:ln>
        </p:spPr>
      </p:pic>
    </p:spTree>
    <p:extLst>
      <p:ext uri="{BB962C8B-B14F-4D97-AF65-F5344CB8AC3E}">
        <p14:creationId xmlns:p14="http://schemas.microsoft.com/office/powerpoint/2010/main" val="135725624"/>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Shape 307">
          <a:extLst>
            <a:ext uri="{FF2B5EF4-FFF2-40B4-BE49-F238E27FC236}">
              <a16:creationId xmlns:a16="http://schemas.microsoft.com/office/drawing/2014/main" id="{9067788B-4778-0347-D5DE-628C1E14FACE}"/>
            </a:ext>
          </a:extLst>
        </p:cNvPr>
        <p:cNvGrpSpPr/>
        <p:nvPr/>
      </p:nvGrpSpPr>
      <p:grpSpPr>
        <a:xfrm>
          <a:off x="0" y="0"/>
          <a:ext cx="0" cy="0"/>
          <a:chOff x="0" y="0"/>
          <a:chExt cx="0" cy="0"/>
        </a:xfrm>
      </p:grpSpPr>
      <p:sp>
        <p:nvSpPr>
          <p:cNvPr id="309" name="Google Shape;309;p30">
            <a:extLst>
              <a:ext uri="{FF2B5EF4-FFF2-40B4-BE49-F238E27FC236}">
                <a16:creationId xmlns:a16="http://schemas.microsoft.com/office/drawing/2014/main" id="{7B9BFEF9-E308-43BF-403F-478E8011612C}"/>
              </a:ext>
            </a:extLst>
          </p:cNvPr>
          <p:cNvSpPr/>
          <p:nvPr/>
        </p:nvSpPr>
        <p:spPr>
          <a:xfrm>
            <a:off x="0" y="502920"/>
            <a:ext cx="9144000" cy="36600"/>
          </a:xfrm>
          <a:prstGeom prst="rect">
            <a:avLst/>
          </a:prstGeom>
          <a:solidFill>
            <a:srgbClr val="FFFFFF"/>
          </a:solidFill>
          <a:ln w="1270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310" name="Google Shape;310;p30" descr="preencoded.png">
            <a:extLst>
              <a:ext uri="{FF2B5EF4-FFF2-40B4-BE49-F238E27FC236}">
                <a16:creationId xmlns:a16="http://schemas.microsoft.com/office/drawing/2014/main" id="{F5DB1300-0CF6-FAE3-1DB8-E4BE3623F221}"/>
              </a:ext>
            </a:extLst>
          </p:cNvPr>
          <p:cNvPicPr preferRelativeResize="0"/>
          <p:nvPr/>
        </p:nvPicPr>
        <p:blipFill rotWithShape="1">
          <a:blip r:embed="rId3">
            <a:alphaModFix/>
          </a:blip>
          <a:srcRect/>
          <a:stretch/>
        </p:blipFill>
        <p:spPr>
          <a:xfrm>
            <a:off x="274320" y="64008"/>
            <a:ext cx="365760" cy="365760"/>
          </a:xfrm>
          <a:prstGeom prst="rect">
            <a:avLst/>
          </a:prstGeom>
          <a:noFill/>
          <a:ln>
            <a:noFill/>
          </a:ln>
        </p:spPr>
      </p:pic>
      <p:sp>
        <p:nvSpPr>
          <p:cNvPr id="311" name="Google Shape;311;p30">
            <a:extLst>
              <a:ext uri="{FF2B5EF4-FFF2-40B4-BE49-F238E27FC236}">
                <a16:creationId xmlns:a16="http://schemas.microsoft.com/office/drawing/2014/main" id="{1771CEF5-C7F8-ADA4-60D2-0B2BBD12CF08}"/>
              </a:ext>
            </a:extLst>
          </p:cNvPr>
          <p:cNvSpPr/>
          <p:nvPr/>
        </p:nvSpPr>
        <p:spPr>
          <a:xfrm>
            <a:off x="640080" y="118510"/>
            <a:ext cx="7315200" cy="438900"/>
          </a:xfrm>
          <a:prstGeom prst="rect">
            <a:avLst/>
          </a:prstGeom>
          <a:noFill/>
          <a:ln>
            <a:noFill/>
          </a:ln>
        </p:spPr>
        <p:txBody>
          <a:bodyPr spcFirstLastPara="1" wrap="square" lIns="0" tIns="0" rIns="0" bIns="0" anchor="ctr" anchorCtr="0">
            <a:noAutofit/>
          </a:bodyPr>
          <a:lstStyle/>
          <a:p>
            <a:pPr marL="0" lvl="0" indent="0" algn="l" rtl="0">
              <a:lnSpc>
                <a:spcPct val="115000"/>
              </a:lnSpc>
              <a:spcBef>
                <a:spcPts val="1200"/>
              </a:spcBef>
              <a:spcAft>
                <a:spcPts val="1200"/>
              </a:spcAft>
              <a:buClr>
                <a:schemeClr val="dk1"/>
              </a:buClr>
              <a:buSzPts val="1100"/>
              <a:buFont typeface="Arial"/>
              <a:buNone/>
            </a:pPr>
            <a:r>
              <a:rPr lang="en" sz="2300" b="1" dirty="0">
                <a:solidFill>
                  <a:srgbClr val="1E2761"/>
                </a:solidFill>
                <a:latin typeface="Georgia"/>
              </a:rPr>
              <a:t>Tool Calling Example – LCM calculation</a:t>
            </a:r>
            <a:endParaRPr sz="2300" b="1" dirty="0">
              <a:solidFill>
                <a:schemeClr val="tx1"/>
              </a:solidFill>
              <a:latin typeface="Calibri"/>
              <a:ea typeface="Calibri"/>
              <a:cs typeface="Calibri"/>
              <a:sym typeface="Calibri"/>
            </a:endParaRPr>
          </a:p>
        </p:txBody>
      </p:sp>
      <p:pic>
        <p:nvPicPr>
          <p:cNvPr id="2" name="Google Shape;109;p20">
            <a:extLst>
              <a:ext uri="{FF2B5EF4-FFF2-40B4-BE49-F238E27FC236}">
                <a16:creationId xmlns:a16="http://schemas.microsoft.com/office/drawing/2014/main" id="{C9E3C9B3-001B-A8B1-CC0B-B1A81AB8DF0C}"/>
              </a:ext>
            </a:extLst>
          </p:cNvPr>
          <p:cNvPicPr preferRelativeResize="0"/>
          <p:nvPr/>
        </p:nvPicPr>
        <p:blipFill>
          <a:blip r:embed="rId4">
            <a:alphaModFix/>
          </a:blip>
          <a:stretch>
            <a:fillRect/>
          </a:stretch>
        </p:blipFill>
        <p:spPr>
          <a:xfrm>
            <a:off x="8369125" y="0"/>
            <a:ext cx="774877" cy="867174"/>
          </a:xfrm>
          <a:prstGeom prst="rect">
            <a:avLst/>
          </a:prstGeom>
          <a:noFill/>
          <a:ln>
            <a:noFill/>
          </a:ln>
        </p:spPr>
      </p:pic>
      <p:sp>
        <p:nvSpPr>
          <p:cNvPr id="3" name="TextBox 2">
            <a:extLst>
              <a:ext uri="{FF2B5EF4-FFF2-40B4-BE49-F238E27FC236}">
                <a16:creationId xmlns:a16="http://schemas.microsoft.com/office/drawing/2014/main" id="{C47EA98E-9606-9A9B-6C88-514A417E3958}"/>
              </a:ext>
            </a:extLst>
          </p:cNvPr>
          <p:cNvSpPr txBox="1"/>
          <p:nvPr/>
        </p:nvSpPr>
        <p:spPr>
          <a:xfrm>
            <a:off x="640080" y="723567"/>
            <a:ext cx="5775940" cy="738664"/>
          </a:xfrm>
          <a:prstGeom prst="rect">
            <a:avLst/>
          </a:prstGeom>
          <a:noFill/>
        </p:spPr>
        <p:txBody>
          <a:bodyPr wrap="none" rtlCol="0">
            <a:spAutoFit/>
          </a:bodyPr>
          <a:lstStyle/>
          <a:p>
            <a:r>
              <a:rPr lang="en-US" dirty="0">
                <a:solidFill>
                  <a:srgbClr val="1A1F36"/>
                </a:solidFill>
                <a:latin typeface="Calibri"/>
              </a:rPr>
              <a:t>How to compute LCM (lowest common multiple) of two given integers?</a:t>
            </a:r>
          </a:p>
          <a:p>
            <a:endParaRPr lang="en-US" dirty="0"/>
          </a:p>
          <a:p>
            <a:r>
              <a:rPr lang="en-US" dirty="0">
                <a:solidFill>
                  <a:srgbClr val="1A1F36"/>
                </a:solidFill>
                <a:latin typeface="Calibri"/>
              </a:rPr>
              <a:t>Input: “</a:t>
            </a:r>
            <a:r>
              <a:rPr lang="en-US" dirty="0">
                <a:solidFill>
                  <a:srgbClr val="00B0F0"/>
                </a:solidFill>
                <a:latin typeface="Calibri"/>
              </a:rPr>
              <a:t>What is the LCM of 84 and 120?</a:t>
            </a:r>
            <a:r>
              <a:rPr lang="en-US" dirty="0">
                <a:solidFill>
                  <a:srgbClr val="1A1F36"/>
                </a:solidFill>
                <a:latin typeface="Calibri"/>
              </a:rPr>
              <a:t>”</a:t>
            </a:r>
          </a:p>
        </p:txBody>
      </p:sp>
      <p:sp>
        <p:nvSpPr>
          <p:cNvPr id="4" name="TextBox 3">
            <a:extLst>
              <a:ext uri="{FF2B5EF4-FFF2-40B4-BE49-F238E27FC236}">
                <a16:creationId xmlns:a16="http://schemas.microsoft.com/office/drawing/2014/main" id="{C174D47F-41AD-7494-B94D-70FEA6D080F2}"/>
              </a:ext>
            </a:extLst>
          </p:cNvPr>
          <p:cNvSpPr txBox="1"/>
          <p:nvPr/>
        </p:nvSpPr>
        <p:spPr>
          <a:xfrm>
            <a:off x="5640006" y="1154454"/>
            <a:ext cx="1552028" cy="307777"/>
          </a:xfrm>
          <a:prstGeom prst="rect">
            <a:avLst/>
          </a:prstGeom>
          <a:noFill/>
        </p:spPr>
        <p:txBody>
          <a:bodyPr wrap="none" rtlCol="0">
            <a:spAutoFit/>
          </a:bodyPr>
          <a:lstStyle/>
          <a:p>
            <a:r>
              <a:rPr lang="en-US" dirty="0" err="1">
                <a:solidFill>
                  <a:srgbClr val="FF0000"/>
                </a:solidFill>
                <a:latin typeface="Calibri"/>
              </a:rPr>
              <a:t>total_tokens</a:t>
            </a:r>
            <a:r>
              <a:rPr lang="en-US" dirty="0">
                <a:solidFill>
                  <a:srgbClr val="FF0000"/>
                </a:solidFill>
                <a:latin typeface="Calibri"/>
              </a:rPr>
              <a:t>=425</a:t>
            </a:r>
          </a:p>
        </p:txBody>
      </p:sp>
      <p:pic>
        <p:nvPicPr>
          <p:cNvPr id="6" name="Picture 5">
            <a:extLst>
              <a:ext uri="{FF2B5EF4-FFF2-40B4-BE49-F238E27FC236}">
                <a16:creationId xmlns:a16="http://schemas.microsoft.com/office/drawing/2014/main" id="{24AD5490-D976-D7BA-16EB-A95404DD9A49}"/>
              </a:ext>
            </a:extLst>
          </p:cNvPr>
          <p:cNvPicPr>
            <a:picLocks noChangeAspect="1"/>
          </p:cNvPicPr>
          <p:nvPr/>
        </p:nvPicPr>
        <p:blipFill>
          <a:blip r:embed="rId5"/>
          <a:stretch>
            <a:fillRect/>
          </a:stretch>
        </p:blipFill>
        <p:spPr>
          <a:xfrm>
            <a:off x="274320" y="1751294"/>
            <a:ext cx="3805141" cy="2787249"/>
          </a:xfrm>
          <a:prstGeom prst="rect">
            <a:avLst/>
          </a:prstGeom>
        </p:spPr>
      </p:pic>
      <p:pic>
        <p:nvPicPr>
          <p:cNvPr id="8" name="Picture 7">
            <a:extLst>
              <a:ext uri="{FF2B5EF4-FFF2-40B4-BE49-F238E27FC236}">
                <a16:creationId xmlns:a16="http://schemas.microsoft.com/office/drawing/2014/main" id="{D65DC122-81D8-1EAB-EA12-19E3B723FD23}"/>
              </a:ext>
            </a:extLst>
          </p:cNvPr>
          <p:cNvPicPr>
            <a:picLocks noChangeAspect="1"/>
          </p:cNvPicPr>
          <p:nvPr/>
        </p:nvPicPr>
        <p:blipFill>
          <a:blip r:embed="rId6"/>
          <a:stretch>
            <a:fillRect/>
          </a:stretch>
        </p:blipFill>
        <p:spPr>
          <a:xfrm>
            <a:off x="4572000" y="1628388"/>
            <a:ext cx="3897904" cy="3392206"/>
          </a:xfrm>
          <a:prstGeom prst="rect">
            <a:avLst/>
          </a:prstGeom>
        </p:spPr>
      </p:pic>
    </p:spTree>
    <p:extLst>
      <p:ext uri="{BB962C8B-B14F-4D97-AF65-F5344CB8AC3E}">
        <p14:creationId xmlns:p14="http://schemas.microsoft.com/office/powerpoint/2010/main" val="792123562"/>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Shape 307">
          <a:extLst>
            <a:ext uri="{FF2B5EF4-FFF2-40B4-BE49-F238E27FC236}">
              <a16:creationId xmlns:a16="http://schemas.microsoft.com/office/drawing/2014/main" id="{1C96855F-BA88-3CC7-BB81-4EDABA729716}"/>
            </a:ext>
          </a:extLst>
        </p:cNvPr>
        <p:cNvGrpSpPr/>
        <p:nvPr/>
      </p:nvGrpSpPr>
      <p:grpSpPr>
        <a:xfrm>
          <a:off x="0" y="0"/>
          <a:ext cx="0" cy="0"/>
          <a:chOff x="0" y="0"/>
          <a:chExt cx="0" cy="0"/>
        </a:xfrm>
      </p:grpSpPr>
      <p:sp>
        <p:nvSpPr>
          <p:cNvPr id="309" name="Google Shape;309;p30">
            <a:extLst>
              <a:ext uri="{FF2B5EF4-FFF2-40B4-BE49-F238E27FC236}">
                <a16:creationId xmlns:a16="http://schemas.microsoft.com/office/drawing/2014/main" id="{028FD599-A950-60E1-2883-10AD9135DF7A}"/>
              </a:ext>
            </a:extLst>
          </p:cNvPr>
          <p:cNvSpPr/>
          <p:nvPr/>
        </p:nvSpPr>
        <p:spPr>
          <a:xfrm>
            <a:off x="0" y="502920"/>
            <a:ext cx="9144000" cy="36600"/>
          </a:xfrm>
          <a:prstGeom prst="rect">
            <a:avLst/>
          </a:prstGeom>
          <a:solidFill>
            <a:srgbClr val="FFFFFF"/>
          </a:solidFill>
          <a:ln w="1270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310" name="Google Shape;310;p30" descr="preencoded.png">
            <a:extLst>
              <a:ext uri="{FF2B5EF4-FFF2-40B4-BE49-F238E27FC236}">
                <a16:creationId xmlns:a16="http://schemas.microsoft.com/office/drawing/2014/main" id="{8BC3760C-ACFE-7382-C13D-B1465F321DB2}"/>
              </a:ext>
            </a:extLst>
          </p:cNvPr>
          <p:cNvPicPr preferRelativeResize="0"/>
          <p:nvPr/>
        </p:nvPicPr>
        <p:blipFill rotWithShape="1">
          <a:blip r:embed="rId3">
            <a:alphaModFix/>
          </a:blip>
          <a:srcRect/>
          <a:stretch/>
        </p:blipFill>
        <p:spPr>
          <a:xfrm>
            <a:off x="274320" y="64008"/>
            <a:ext cx="365760" cy="365760"/>
          </a:xfrm>
          <a:prstGeom prst="rect">
            <a:avLst/>
          </a:prstGeom>
          <a:noFill/>
          <a:ln>
            <a:noFill/>
          </a:ln>
        </p:spPr>
      </p:pic>
      <p:sp>
        <p:nvSpPr>
          <p:cNvPr id="311" name="Google Shape;311;p30">
            <a:extLst>
              <a:ext uri="{FF2B5EF4-FFF2-40B4-BE49-F238E27FC236}">
                <a16:creationId xmlns:a16="http://schemas.microsoft.com/office/drawing/2014/main" id="{5D3730CD-7D8D-345A-7261-28E70DB4CBB8}"/>
              </a:ext>
            </a:extLst>
          </p:cNvPr>
          <p:cNvSpPr/>
          <p:nvPr/>
        </p:nvSpPr>
        <p:spPr>
          <a:xfrm>
            <a:off x="640080" y="118510"/>
            <a:ext cx="7315200" cy="438900"/>
          </a:xfrm>
          <a:prstGeom prst="rect">
            <a:avLst/>
          </a:prstGeom>
          <a:noFill/>
          <a:ln>
            <a:noFill/>
          </a:ln>
        </p:spPr>
        <p:txBody>
          <a:bodyPr spcFirstLastPara="1" wrap="square" lIns="0" tIns="0" rIns="0" bIns="0" anchor="ctr" anchorCtr="0">
            <a:noAutofit/>
          </a:bodyPr>
          <a:lstStyle/>
          <a:p>
            <a:pPr lvl="0">
              <a:lnSpc>
                <a:spcPct val="115000"/>
              </a:lnSpc>
              <a:spcBef>
                <a:spcPts val="1200"/>
              </a:spcBef>
              <a:spcAft>
                <a:spcPts val="1200"/>
              </a:spcAft>
              <a:buClr>
                <a:schemeClr val="dk1"/>
              </a:buClr>
              <a:buSzPts val="1100"/>
            </a:pPr>
            <a:r>
              <a:rPr lang="en-IN" sz="2300" b="1" dirty="0">
                <a:solidFill>
                  <a:srgbClr val="1E2761"/>
                </a:solidFill>
                <a:latin typeface="Georgia"/>
              </a:rPr>
              <a:t>Tool Calling Example – LCM calculation</a:t>
            </a:r>
            <a:endParaRPr lang="en-IN" sz="2300" b="1" dirty="0">
              <a:solidFill>
                <a:schemeClr val="tx1"/>
              </a:solidFill>
              <a:latin typeface="Calibri"/>
              <a:ea typeface="Calibri"/>
              <a:cs typeface="Calibri"/>
              <a:sym typeface="Calibri"/>
            </a:endParaRPr>
          </a:p>
        </p:txBody>
      </p:sp>
      <p:pic>
        <p:nvPicPr>
          <p:cNvPr id="2" name="Google Shape;109;p20">
            <a:extLst>
              <a:ext uri="{FF2B5EF4-FFF2-40B4-BE49-F238E27FC236}">
                <a16:creationId xmlns:a16="http://schemas.microsoft.com/office/drawing/2014/main" id="{A6862312-1B9E-ACC8-1F9B-DD332A0C0E0B}"/>
              </a:ext>
            </a:extLst>
          </p:cNvPr>
          <p:cNvPicPr preferRelativeResize="0"/>
          <p:nvPr/>
        </p:nvPicPr>
        <p:blipFill>
          <a:blip r:embed="rId4">
            <a:alphaModFix/>
          </a:blip>
          <a:stretch>
            <a:fillRect/>
          </a:stretch>
        </p:blipFill>
        <p:spPr>
          <a:xfrm>
            <a:off x="8369125" y="0"/>
            <a:ext cx="774877" cy="867174"/>
          </a:xfrm>
          <a:prstGeom prst="rect">
            <a:avLst/>
          </a:prstGeom>
          <a:noFill/>
          <a:ln>
            <a:noFill/>
          </a:ln>
        </p:spPr>
      </p:pic>
      <p:sp>
        <p:nvSpPr>
          <p:cNvPr id="3" name="TextBox 2">
            <a:extLst>
              <a:ext uri="{FF2B5EF4-FFF2-40B4-BE49-F238E27FC236}">
                <a16:creationId xmlns:a16="http://schemas.microsoft.com/office/drawing/2014/main" id="{C647EC61-E85D-F71D-F24C-50A89EAE2DA5}"/>
              </a:ext>
            </a:extLst>
          </p:cNvPr>
          <p:cNvSpPr txBox="1"/>
          <p:nvPr/>
        </p:nvSpPr>
        <p:spPr>
          <a:xfrm>
            <a:off x="640080" y="723567"/>
            <a:ext cx="3018775" cy="307777"/>
          </a:xfrm>
          <a:prstGeom prst="rect">
            <a:avLst/>
          </a:prstGeom>
          <a:noFill/>
        </p:spPr>
        <p:txBody>
          <a:bodyPr wrap="none" rtlCol="0">
            <a:spAutoFit/>
          </a:bodyPr>
          <a:lstStyle/>
          <a:p>
            <a:r>
              <a:rPr lang="en-US" dirty="0">
                <a:solidFill>
                  <a:srgbClr val="1A1F36"/>
                </a:solidFill>
                <a:latin typeface="Calibri"/>
              </a:rPr>
              <a:t>: “</a:t>
            </a:r>
            <a:r>
              <a:rPr lang="en-US" dirty="0">
                <a:solidFill>
                  <a:srgbClr val="00B0F0"/>
                </a:solidFill>
                <a:latin typeface="Calibri"/>
              </a:rPr>
              <a:t>What is the LCM of 84 and 120?</a:t>
            </a:r>
            <a:r>
              <a:rPr lang="en-US" dirty="0">
                <a:solidFill>
                  <a:srgbClr val="1A1F36"/>
                </a:solidFill>
                <a:latin typeface="Calibri"/>
              </a:rPr>
              <a:t>”</a:t>
            </a:r>
          </a:p>
        </p:txBody>
      </p:sp>
      <p:pic>
        <p:nvPicPr>
          <p:cNvPr id="7" name="Picture 6">
            <a:extLst>
              <a:ext uri="{FF2B5EF4-FFF2-40B4-BE49-F238E27FC236}">
                <a16:creationId xmlns:a16="http://schemas.microsoft.com/office/drawing/2014/main" id="{833699FA-5EC8-B607-32B8-C2E47F33E183}"/>
              </a:ext>
            </a:extLst>
          </p:cNvPr>
          <p:cNvPicPr>
            <a:picLocks noChangeAspect="1"/>
          </p:cNvPicPr>
          <p:nvPr/>
        </p:nvPicPr>
        <p:blipFill>
          <a:blip r:embed="rId5"/>
          <a:stretch>
            <a:fillRect/>
          </a:stretch>
        </p:blipFill>
        <p:spPr>
          <a:xfrm>
            <a:off x="481937" y="1197501"/>
            <a:ext cx="5258906" cy="3805079"/>
          </a:xfrm>
          <a:prstGeom prst="rect">
            <a:avLst/>
          </a:prstGeom>
        </p:spPr>
      </p:pic>
      <p:sp>
        <p:nvSpPr>
          <p:cNvPr id="9" name="TextBox 8">
            <a:extLst>
              <a:ext uri="{FF2B5EF4-FFF2-40B4-BE49-F238E27FC236}">
                <a16:creationId xmlns:a16="http://schemas.microsoft.com/office/drawing/2014/main" id="{718286F1-C678-7A22-3803-7E91B0A756E4}"/>
              </a:ext>
            </a:extLst>
          </p:cNvPr>
          <p:cNvSpPr txBox="1"/>
          <p:nvPr/>
        </p:nvSpPr>
        <p:spPr>
          <a:xfrm>
            <a:off x="6408069" y="1844702"/>
            <a:ext cx="2044149" cy="369332"/>
          </a:xfrm>
          <a:prstGeom prst="rect">
            <a:avLst/>
          </a:prstGeom>
          <a:noFill/>
        </p:spPr>
        <p:txBody>
          <a:bodyPr wrap="none" rtlCol="0">
            <a:spAutoFit/>
          </a:bodyPr>
          <a:lstStyle/>
          <a:p>
            <a:r>
              <a:rPr lang="en-US" sz="1800" dirty="0">
                <a:solidFill>
                  <a:srgbClr val="FF0000"/>
                </a:solidFill>
                <a:latin typeface="Calibri"/>
              </a:rPr>
              <a:t>Setup the function</a:t>
            </a:r>
          </a:p>
        </p:txBody>
      </p:sp>
    </p:spTree>
    <p:extLst>
      <p:ext uri="{BB962C8B-B14F-4D97-AF65-F5344CB8AC3E}">
        <p14:creationId xmlns:p14="http://schemas.microsoft.com/office/powerpoint/2010/main" val="2717368537"/>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Shape 307">
          <a:extLst>
            <a:ext uri="{FF2B5EF4-FFF2-40B4-BE49-F238E27FC236}">
              <a16:creationId xmlns:a16="http://schemas.microsoft.com/office/drawing/2014/main" id="{CD95A709-A925-5991-69E7-A7A6A7E021B3}"/>
            </a:ext>
          </a:extLst>
        </p:cNvPr>
        <p:cNvGrpSpPr/>
        <p:nvPr/>
      </p:nvGrpSpPr>
      <p:grpSpPr>
        <a:xfrm>
          <a:off x="0" y="0"/>
          <a:ext cx="0" cy="0"/>
          <a:chOff x="0" y="0"/>
          <a:chExt cx="0" cy="0"/>
        </a:xfrm>
      </p:grpSpPr>
      <p:sp>
        <p:nvSpPr>
          <p:cNvPr id="309" name="Google Shape;309;p30">
            <a:extLst>
              <a:ext uri="{FF2B5EF4-FFF2-40B4-BE49-F238E27FC236}">
                <a16:creationId xmlns:a16="http://schemas.microsoft.com/office/drawing/2014/main" id="{24A73B43-037F-7934-FC33-5A5E4CCE9086}"/>
              </a:ext>
            </a:extLst>
          </p:cNvPr>
          <p:cNvSpPr/>
          <p:nvPr/>
        </p:nvSpPr>
        <p:spPr>
          <a:xfrm>
            <a:off x="0" y="502920"/>
            <a:ext cx="9144000" cy="36600"/>
          </a:xfrm>
          <a:prstGeom prst="rect">
            <a:avLst/>
          </a:prstGeom>
          <a:solidFill>
            <a:srgbClr val="FFFFFF"/>
          </a:solidFill>
          <a:ln w="1270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310" name="Google Shape;310;p30" descr="preencoded.png">
            <a:extLst>
              <a:ext uri="{FF2B5EF4-FFF2-40B4-BE49-F238E27FC236}">
                <a16:creationId xmlns:a16="http://schemas.microsoft.com/office/drawing/2014/main" id="{ECF314B5-DC9F-8FE3-2A20-48F707166DCD}"/>
              </a:ext>
            </a:extLst>
          </p:cNvPr>
          <p:cNvPicPr preferRelativeResize="0"/>
          <p:nvPr/>
        </p:nvPicPr>
        <p:blipFill rotWithShape="1">
          <a:blip r:embed="rId3">
            <a:alphaModFix/>
          </a:blip>
          <a:srcRect/>
          <a:stretch/>
        </p:blipFill>
        <p:spPr>
          <a:xfrm>
            <a:off x="274320" y="64008"/>
            <a:ext cx="365760" cy="365760"/>
          </a:xfrm>
          <a:prstGeom prst="rect">
            <a:avLst/>
          </a:prstGeom>
          <a:noFill/>
          <a:ln>
            <a:noFill/>
          </a:ln>
        </p:spPr>
      </p:pic>
      <p:sp>
        <p:nvSpPr>
          <p:cNvPr id="311" name="Google Shape;311;p30">
            <a:extLst>
              <a:ext uri="{FF2B5EF4-FFF2-40B4-BE49-F238E27FC236}">
                <a16:creationId xmlns:a16="http://schemas.microsoft.com/office/drawing/2014/main" id="{5C85C900-96E3-FFC0-22BC-60DF640A444E}"/>
              </a:ext>
            </a:extLst>
          </p:cNvPr>
          <p:cNvSpPr/>
          <p:nvPr/>
        </p:nvSpPr>
        <p:spPr>
          <a:xfrm>
            <a:off x="640080" y="118510"/>
            <a:ext cx="7315200" cy="438900"/>
          </a:xfrm>
          <a:prstGeom prst="rect">
            <a:avLst/>
          </a:prstGeom>
          <a:noFill/>
          <a:ln>
            <a:noFill/>
          </a:ln>
        </p:spPr>
        <p:txBody>
          <a:bodyPr spcFirstLastPara="1" wrap="square" lIns="0" tIns="0" rIns="0" bIns="0" anchor="ctr" anchorCtr="0">
            <a:noAutofit/>
          </a:bodyPr>
          <a:lstStyle/>
          <a:p>
            <a:pPr lvl="0">
              <a:lnSpc>
                <a:spcPct val="115000"/>
              </a:lnSpc>
              <a:spcBef>
                <a:spcPts val="1200"/>
              </a:spcBef>
              <a:spcAft>
                <a:spcPts val="1200"/>
              </a:spcAft>
              <a:buClr>
                <a:schemeClr val="dk1"/>
              </a:buClr>
              <a:buSzPts val="1100"/>
            </a:pPr>
            <a:r>
              <a:rPr lang="en-IN" sz="2300" b="1" dirty="0">
                <a:solidFill>
                  <a:srgbClr val="1E2761"/>
                </a:solidFill>
                <a:latin typeface="Georgia"/>
              </a:rPr>
              <a:t>Tool Calling Example – LCM calculation</a:t>
            </a:r>
            <a:endParaRPr lang="en-IN" sz="2300" b="1" dirty="0">
              <a:solidFill>
                <a:schemeClr val="tx1"/>
              </a:solidFill>
              <a:latin typeface="Calibri"/>
              <a:ea typeface="Calibri"/>
              <a:cs typeface="Calibri"/>
              <a:sym typeface="Calibri"/>
            </a:endParaRPr>
          </a:p>
        </p:txBody>
      </p:sp>
      <p:pic>
        <p:nvPicPr>
          <p:cNvPr id="2" name="Google Shape;109;p20">
            <a:extLst>
              <a:ext uri="{FF2B5EF4-FFF2-40B4-BE49-F238E27FC236}">
                <a16:creationId xmlns:a16="http://schemas.microsoft.com/office/drawing/2014/main" id="{4F0763C7-477C-1A56-C0E9-79BFC6324BE6}"/>
              </a:ext>
            </a:extLst>
          </p:cNvPr>
          <p:cNvPicPr preferRelativeResize="0"/>
          <p:nvPr/>
        </p:nvPicPr>
        <p:blipFill>
          <a:blip r:embed="rId4">
            <a:alphaModFix/>
          </a:blip>
          <a:stretch>
            <a:fillRect/>
          </a:stretch>
        </p:blipFill>
        <p:spPr>
          <a:xfrm>
            <a:off x="8369125" y="0"/>
            <a:ext cx="774877" cy="867174"/>
          </a:xfrm>
          <a:prstGeom prst="rect">
            <a:avLst/>
          </a:prstGeom>
          <a:noFill/>
          <a:ln>
            <a:noFill/>
          </a:ln>
        </p:spPr>
      </p:pic>
      <p:sp>
        <p:nvSpPr>
          <p:cNvPr id="9" name="TextBox 8">
            <a:extLst>
              <a:ext uri="{FF2B5EF4-FFF2-40B4-BE49-F238E27FC236}">
                <a16:creationId xmlns:a16="http://schemas.microsoft.com/office/drawing/2014/main" id="{68867B93-9858-3A42-90A7-963B5030B6EB}"/>
              </a:ext>
            </a:extLst>
          </p:cNvPr>
          <p:cNvSpPr txBox="1"/>
          <p:nvPr/>
        </p:nvSpPr>
        <p:spPr>
          <a:xfrm>
            <a:off x="5745743" y="1251584"/>
            <a:ext cx="3038011" cy="1815882"/>
          </a:xfrm>
          <a:prstGeom prst="rect">
            <a:avLst/>
          </a:prstGeom>
          <a:noFill/>
        </p:spPr>
        <p:txBody>
          <a:bodyPr wrap="none" rtlCol="0">
            <a:spAutoFit/>
          </a:bodyPr>
          <a:lstStyle/>
          <a:p>
            <a:r>
              <a:rPr lang="en-US" dirty="0">
                <a:solidFill>
                  <a:srgbClr val="1A1F36"/>
                </a:solidFill>
                <a:latin typeface="Calibri"/>
              </a:rPr>
              <a:t>Create the first set of function calls</a:t>
            </a:r>
          </a:p>
          <a:p>
            <a:r>
              <a:rPr lang="en-US" dirty="0">
                <a:solidFill>
                  <a:srgbClr val="1A1F36"/>
                </a:solidFill>
                <a:latin typeface="Calibri"/>
              </a:rPr>
              <a:t>Using an LLM call</a:t>
            </a:r>
          </a:p>
          <a:p>
            <a:endParaRPr lang="en-US" dirty="0"/>
          </a:p>
          <a:p>
            <a:r>
              <a:rPr lang="en-US" dirty="0">
                <a:solidFill>
                  <a:srgbClr val="1A1F36"/>
                </a:solidFill>
                <a:latin typeface="Calibri"/>
              </a:rPr>
              <a:t>Execute the function</a:t>
            </a:r>
          </a:p>
          <a:p>
            <a:endParaRPr lang="en-US" dirty="0"/>
          </a:p>
          <a:p>
            <a:r>
              <a:rPr lang="en-US" dirty="0">
                <a:solidFill>
                  <a:srgbClr val="1A1F36"/>
                </a:solidFill>
                <a:latin typeface="Calibri"/>
              </a:rPr>
              <a:t>Create the input for the second LLM</a:t>
            </a:r>
          </a:p>
          <a:p>
            <a:r>
              <a:rPr lang="en-US" dirty="0">
                <a:solidFill>
                  <a:srgbClr val="1A1F36"/>
                </a:solidFill>
                <a:latin typeface="Calibri"/>
              </a:rPr>
              <a:t>Call using the output from the</a:t>
            </a:r>
          </a:p>
          <a:p>
            <a:r>
              <a:rPr lang="en-US" dirty="0">
                <a:solidFill>
                  <a:srgbClr val="1A1F36"/>
                </a:solidFill>
                <a:latin typeface="Calibri"/>
              </a:rPr>
              <a:t>Function call</a:t>
            </a:r>
          </a:p>
        </p:txBody>
      </p:sp>
      <p:pic>
        <p:nvPicPr>
          <p:cNvPr id="5" name="Picture 4">
            <a:extLst>
              <a:ext uri="{FF2B5EF4-FFF2-40B4-BE49-F238E27FC236}">
                <a16:creationId xmlns:a16="http://schemas.microsoft.com/office/drawing/2014/main" id="{7581077B-1291-FC57-F386-9B0EE681C85D}"/>
              </a:ext>
            </a:extLst>
          </p:cNvPr>
          <p:cNvPicPr>
            <a:picLocks noChangeAspect="1"/>
          </p:cNvPicPr>
          <p:nvPr/>
        </p:nvPicPr>
        <p:blipFill>
          <a:blip r:embed="rId5"/>
          <a:stretch>
            <a:fillRect/>
          </a:stretch>
        </p:blipFill>
        <p:spPr>
          <a:xfrm>
            <a:off x="640080" y="611912"/>
            <a:ext cx="4630953" cy="4461871"/>
          </a:xfrm>
          <a:prstGeom prst="rect">
            <a:avLst/>
          </a:prstGeom>
        </p:spPr>
      </p:pic>
    </p:spTree>
    <p:extLst>
      <p:ext uri="{BB962C8B-B14F-4D97-AF65-F5344CB8AC3E}">
        <p14:creationId xmlns:p14="http://schemas.microsoft.com/office/powerpoint/2010/main" val="2642952326"/>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Shape 307">
          <a:extLst>
            <a:ext uri="{FF2B5EF4-FFF2-40B4-BE49-F238E27FC236}">
              <a16:creationId xmlns:a16="http://schemas.microsoft.com/office/drawing/2014/main" id="{45FC9D31-650E-2D23-44DE-0A0C79A34320}"/>
            </a:ext>
          </a:extLst>
        </p:cNvPr>
        <p:cNvGrpSpPr/>
        <p:nvPr/>
      </p:nvGrpSpPr>
      <p:grpSpPr>
        <a:xfrm>
          <a:off x="0" y="0"/>
          <a:ext cx="0" cy="0"/>
          <a:chOff x="0" y="0"/>
          <a:chExt cx="0" cy="0"/>
        </a:xfrm>
      </p:grpSpPr>
      <p:sp>
        <p:nvSpPr>
          <p:cNvPr id="309" name="Google Shape;309;p30">
            <a:extLst>
              <a:ext uri="{FF2B5EF4-FFF2-40B4-BE49-F238E27FC236}">
                <a16:creationId xmlns:a16="http://schemas.microsoft.com/office/drawing/2014/main" id="{BABD5A04-7B18-6CF3-FBF3-BA04ECC51CB0}"/>
              </a:ext>
            </a:extLst>
          </p:cNvPr>
          <p:cNvSpPr/>
          <p:nvPr/>
        </p:nvSpPr>
        <p:spPr>
          <a:xfrm>
            <a:off x="0" y="502920"/>
            <a:ext cx="9144000" cy="36600"/>
          </a:xfrm>
          <a:prstGeom prst="rect">
            <a:avLst/>
          </a:prstGeom>
          <a:solidFill>
            <a:srgbClr val="FFFFFF"/>
          </a:solidFill>
          <a:ln w="1270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310" name="Google Shape;310;p30" descr="preencoded.png">
            <a:extLst>
              <a:ext uri="{FF2B5EF4-FFF2-40B4-BE49-F238E27FC236}">
                <a16:creationId xmlns:a16="http://schemas.microsoft.com/office/drawing/2014/main" id="{89435E12-197C-0D6F-2A5E-D94E943526FF}"/>
              </a:ext>
            </a:extLst>
          </p:cNvPr>
          <p:cNvPicPr preferRelativeResize="0"/>
          <p:nvPr/>
        </p:nvPicPr>
        <p:blipFill rotWithShape="1">
          <a:blip r:embed="rId3">
            <a:alphaModFix/>
          </a:blip>
          <a:srcRect/>
          <a:stretch/>
        </p:blipFill>
        <p:spPr>
          <a:xfrm>
            <a:off x="274320" y="64008"/>
            <a:ext cx="365760" cy="365760"/>
          </a:xfrm>
          <a:prstGeom prst="rect">
            <a:avLst/>
          </a:prstGeom>
          <a:noFill/>
          <a:ln>
            <a:noFill/>
          </a:ln>
        </p:spPr>
      </p:pic>
      <p:sp>
        <p:nvSpPr>
          <p:cNvPr id="311" name="Google Shape;311;p30">
            <a:extLst>
              <a:ext uri="{FF2B5EF4-FFF2-40B4-BE49-F238E27FC236}">
                <a16:creationId xmlns:a16="http://schemas.microsoft.com/office/drawing/2014/main" id="{E76521FA-2F5E-B771-53D6-1518918BE257}"/>
              </a:ext>
            </a:extLst>
          </p:cNvPr>
          <p:cNvSpPr/>
          <p:nvPr/>
        </p:nvSpPr>
        <p:spPr>
          <a:xfrm>
            <a:off x="640080" y="118510"/>
            <a:ext cx="7315200" cy="438900"/>
          </a:xfrm>
          <a:prstGeom prst="rect">
            <a:avLst/>
          </a:prstGeom>
          <a:noFill/>
          <a:ln>
            <a:noFill/>
          </a:ln>
        </p:spPr>
        <p:txBody>
          <a:bodyPr spcFirstLastPara="1" wrap="square" lIns="0" tIns="0" rIns="0" bIns="0" anchor="ctr" anchorCtr="0">
            <a:noAutofit/>
          </a:bodyPr>
          <a:lstStyle/>
          <a:p>
            <a:pPr lvl="0">
              <a:lnSpc>
                <a:spcPct val="115000"/>
              </a:lnSpc>
              <a:spcBef>
                <a:spcPts val="1200"/>
              </a:spcBef>
              <a:spcAft>
                <a:spcPts val="1200"/>
              </a:spcAft>
              <a:buClr>
                <a:schemeClr val="dk1"/>
              </a:buClr>
              <a:buSzPts val="1100"/>
            </a:pPr>
            <a:r>
              <a:rPr lang="en-IN" sz="2300" b="1" dirty="0">
                <a:solidFill>
                  <a:srgbClr val="1E2761"/>
                </a:solidFill>
                <a:latin typeface="Georgia"/>
              </a:rPr>
              <a:t>Tool Calling Example – LCM calculation</a:t>
            </a:r>
            <a:endParaRPr lang="en-IN" sz="2300" b="1" dirty="0">
              <a:solidFill>
                <a:schemeClr val="tx1"/>
              </a:solidFill>
              <a:latin typeface="Calibri"/>
              <a:ea typeface="Calibri"/>
              <a:cs typeface="Calibri"/>
              <a:sym typeface="Calibri"/>
            </a:endParaRPr>
          </a:p>
        </p:txBody>
      </p:sp>
      <p:pic>
        <p:nvPicPr>
          <p:cNvPr id="2" name="Google Shape;109;p20">
            <a:extLst>
              <a:ext uri="{FF2B5EF4-FFF2-40B4-BE49-F238E27FC236}">
                <a16:creationId xmlns:a16="http://schemas.microsoft.com/office/drawing/2014/main" id="{136CF9DC-D661-6949-3745-F95B8E9C4E05}"/>
              </a:ext>
            </a:extLst>
          </p:cNvPr>
          <p:cNvPicPr preferRelativeResize="0"/>
          <p:nvPr/>
        </p:nvPicPr>
        <p:blipFill>
          <a:blip r:embed="rId4">
            <a:alphaModFix/>
          </a:blip>
          <a:stretch>
            <a:fillRect/>
          </a:stretch>
        </p:blipFill>
        <p:spPr>
          <a:xfrm>
            <a:off x="8369125" y="0"/>
            <a:ext cx="774877" cy="867174"/>
          </a:xfrm>
          <a:prstGeom prst="rect">
            <a:avLst/>
          </a:prstGeom>
          <a:noFill/>
          <a:ln>
            <a:noFill/>
          </a:ln>
        </p:spPr>
      </p:pic>
      <p:sp>
        <p:nvSpPr>
          <p:cNvPr id="9" name="TextBox 8">
            <a:extLst>
              <a:ext uri="{FF2B5EF4-FFF2-40B4-BE49-F238E27FC236}">
                <a16:creationId xmlns:a16="http://schemas.microsoft.com/office/drawing/2014/main" id="{65F6D5DC-F5D4-FCFE-3D6B-22053F9ACB08}"/>
              </a:ext>
            </a:extLst>
          </p:cNvPr>
          <p:cNvSpPr txBox="1"/>
          <p:nvPr/>
        </p:nvSpPr>
        <p:spPr>
          <a:xfrm>
            <a:off x="7079990" y="1654834"/>
            <a:ext cx="1885453" cy="1384995"/>
          </a:xfrm>
          <a:prstGeom prst="rect">
            <a:avLst/>
          </a:prstGeom>
          <a:noFill/>
        </p:spPr>
        <p:txBody>
          <a:bodyPr wrap="none" rtlCol="0">
            <a:spAutoFit/>
          </a:bodyPr>
          <a:lstStyle/>
          <a:p>
            <a:r>
              <a:rPr lang="en-US" dirty="0">
                <a:solidFill>
                  <a:srgbClr val="1A1F36"/>
                </a:solidFill>
                <a:latin typeface="Calibri"/>
              </a:rPr>
              <a:t>Use the output from</a:t>
            </a:r>
          </a:p>
          <a:p>
            <a:r>
              <a:rPr lang="en-US" dirty="0">
                <a:solidFill>
                  <a:srgbClr val="1A1F36"/>
                </a:solidFill>
                <a:latin typeface="Calibri"/>
              </a:rPr>
              <a:t>Function execution to</a:t>
            </a:r>
          </a:p>
          <a:p>
            <a:r>
              <a:rPr lang="en-US" dirty="0">
                <a:solidFill>
                  <a:srgbClr val="1A1F36"/>
                </a:solidFill>
                <a:latin typeface="Calibri"/>
              </a:rPr>
              <a:t>Ask LLM for the final</a:t>
            </a:r>
            <a:br>
              <a:rPr lang="en-US" dirty="0"/>
            </a:br>
            <a:r>
              <a:rPr lang="en-US" dirty="0">
                <a:solidFill>
                  <a:srgbClr val="1A1F36"/>
                </a:solidFill>
                <a:latin typeface="Calibri"/>
              </a:rPr>
              <a:t>answer.</a:t>
            </a:r>
          </a:p>
          <a:p>
            <a:endParaRPr lang="en-US" dirty="0"/>
          </a:p>
          <a:p>
            <a:r>
              <a:rPr lang="en-US" dirty="0">
                <a:solidFill>
                  <a:srgbClr val="0070C0"/>
                </a:solidFill>
                <a:latin typeface="Calibri"/>
              </a:rPr>
              <a:t>Total tokens: 123</a:t>
            </a:r>
          </a:p>
        </p:txBody>
      </p:sp>
      <p:pic>
        <p:nvPicPr>
          <p:cNvPr id="4" name="Picture 3">
            <a:extLst>
              <a:ext uri="{FF2B5EF4-FFF2-40B4-BE49-F238E27FC236}">
                <a16:creationId xmlns:a16="http://schemas.microsoft.com/office/drawing/2014/main" id="{110B42A0-AB65-B1D1-4CAE-F95E4D59E135}"/>
              </a:ext>
            </a:extLst>
          </p:cNvPr>
          <p:cNvPicPr>
            <a:picLocks noChangeAspect="1"/>
          </p:cNvPicPr>
          <p:nvPr/>
        </p:nvPicPr>
        <p:blipFill>
          <a:blip r:embed="rId5"/>
          <a:stretch>
            <a:fillRect/>
          </a:stretch>
        </p:blipFill>
        <p:spPr>
          <a:xfrm>
            <a:off x="118872" y="1103435"/>
            <a:ext cx="6702552" cy="2687616"/>
          </a:xfrm>
          <a:prstGeom prst="rect">
            <a:avLst/>
          </a:prstGeom>
        </p:spPr>
      </p:pic>
    </p:spTree>
    <p:extLst>
      <p:ext uri="{BB962C8B-B14F-4D97-AF65-F5344CB8AC3E}">
        <p14:creationId xmlns:p14="http://schemas.microsoft.com/office/powerpoint/2010/main" val="394823417"/>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Shape 157"/>
        <p:cNvGrpSpPr/>
        <p:nvPr/>
      </p:nvGrpSpPr>
      <p:grpSpPr>
        <a:xfrm>
          <a:off x="0" y="0"/>
          <a:ext cx="0" cy="0"/>
          <a:chOff x="0" y="0"/>
          <a:chExt cx="0" cy="0"/>
        </a:xfrm>
      </p:grpSpPr>
      <p:sp>
        <p:nvSpPr>
          <p:cNvPr id="166" name="Google Shape;166;p19"/>
          <p:cNvSpPr/>
          <p:nvPr/>
        </p:nvSpPr>
        <p:spPr>
          <a:xfrm>
            <a:off x="320040" y="2697480"/>
            <a:ext cx="3931800" cy="2286000"/>
          </a:xfrm>
          <a:prstGeom prst="rect">
            <a:avLst/>
          </a:prstGeom>
          <a:solidFill>
            <a:srgbClr val="0F172A"/>
          </a:solidFill>
          <a:ln w="12700" cap="flat" cmpd="sng">
            <a:solidFill>
              <a:srgbClr val="1E3A5F"/>
            </a:solidFill>
            <a:prstDash val="solid"/>
            <a:round/>
            <a:headEnd type="none" w="sm" len="sm"/>
            <a:tailEnd type="none" w="sm" len="sm"/>
          </a:ln>
          <a:effectLst>
            <a:outerShdw blurRad="76200" dist="25400" dir="8100000" algn="bl" rotWithShape="0">
              <a:srgbClr val="94A3B8">
                <a:alpha val="149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 name="Google Shape;159;p19"/>
          <p:cNvSpPr/>
          <p:nvPr/>
        </p:nvSpPr>
        <p:spPr>
          <a:xfrm>
            <a:off x="0" y="502920"/>
            <a:ext cx="9144000" cy="36600"/>
          </a:xfrm>
          <a:prstGeom prst="rect">
            <a:avLst/>
          </a:prstGeom>
          <a:solidFill>
            <a:srgbClr val="FFFFFF"/>
          </a:solidFill>
          <a:ln w="1270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60" name="Google Shape;160;p19" descr="preencoded.png"/>
          <p:cNvPicPr preferRelativeResize="0"/>
          <p:nvPr/>
        </p:nvPicPr>
        <p:blipFill rotWithShape="1">
          <a:blip r:embed="rId3">
            <a:alphaModFix/>
          </a:blip>
          <a:srcRect/>
          <a:stretch/>
        </p:blipFill>
        <p:spPr>
          <a:xfrm>
            <a:off x="274320" y="64008"/>
            <a:ext cx="365760" cy="365760"/>
          </a:xfrm>
          <a:prstGeom prst="rect">
            <a:avLst/>
          </a:prstGeom>
          <a:noFill/>
          <a:ln>
            <a:noFill/>
          </a:ln>
        </p:spPr>
      </p:pic>
      <p:sp>
        <p:nvSpPr>
          <p:cNvPr id="161" name="Google Shape;161;p19"/>
          <p:cNvSpPr/>
          <p:nvPr/>
        </p:nvSpPr>
        <p:spPr>
          <a:xfrm>
            <a:off x="777240" y="45720"/>
            <a:ext cx="7315200" cy="4389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2000"/>
              <a:buFont typeface="Calibri"/>
              <a:buNone/>
            </a:pPr>
            <a:r>
              <a:rPr lang="en" sz="2400" b="1" dirty="0">
                <a:solidFill>
                  <a:srgbClr val="1E2761"/>
                </a:solidFill>
                <a:sym typeface="Calibri"/>
              </a:rPr>
              <a:t>OpenAI API</a:t>
            </a:r>
            <a:endParaRPr sz="2400" dirty="0">
              <a:solidFill>
                <a:schemeClr val="tx1"/>
              </a:solidFill>
              <a:latin typeface="Calibri"/>
              <a:ea typeface="Calibri"/>
              <a:cs typeface="Calibri"/>
              <a:sym typeface="Calibri"/>
            </a:endParaRPr>
          </a:p>
        </p:txBody>
      </p:sp>
      <p:sp>
        <p:nvSpPr>
          <p:cNvPr id="162" name="Google Shape;162;p19"/>
          <p:cNvSpPr/>
          <p:nvPr/>
        </p:nvSpPr>
        <p:spPr>
          <a:xfrm>
            <a:off x="274320" y="678248"/>
            <a:ext cx="4051190" cy="2742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64748B"/>
              </a:buClr>
              <a:buSzPts val="1000"/>
              <a:buFont typeface="Calibri"/>
              <a:buNone/>
            </a:pPr>
            <a:r>
              <a:rPr lang="en" dirty="0">
                <a:solidFill>
                  <a:srgbClr val="1A1F36"/>
                </a:solidFill>
                <a:sym typeface="Calibri"/>
              </a:rPr>
              <a:t>GPT- 4*, 5* — the industry-standard REST API</a:t>
            </a:r>
            <a:endParaRPr dirty="0">
              <a:solidFill>
                <a:schemeClr val="dk1"/>
              </a:solidFill>
              <a:latin typeface="Calibri"/>
              <a:ea typeface="Calibri"/>
              <a:cs typeface="Calibri"/>
              <a:sym typeface="Calibri"/>
            </a:endParaRPr>
          </a:p>
        </p:txBody>
      </p:sp>
      <p:grpSp>
        <p:nvGrpSpPr>
          <p:cNvPr id="3" name="Group 2">
            <a:extLst>
              <a:ext uri="{FF2B5EF4-FFF2-40B4-BE49-F238E27FC236}">
                <a16:creationId xmlns:a16="http://schemas.microsoft.com/office/drawing/2014/main" id="{706A6C05-6ABE-C125-1441-C74EFE38CF78}"/>
              </a:ext>
            </a:extLst>
          </p:cNvPr>
          <p:cNvGrpSpPr/>
          <p:nvPr/>
        </p:nvGrpSpPr>
        <p:grpSpPr>
          <a:xfrm>
            <a:off x="471114" y="999879"/>
            <a:ext cx="3200400" cy="1302893"/>
            <a:chOff x="320040" y="1111195"/>
            <a:chExt cx="3200400" cy="1302893"/>
          </a:xfrm>
        </p:grpSpPr>
        <p:sp>
          <p:nvSpPr>
            <p:cNvPr id="163" name="Google Shape;163;p19"/>
            <p:cNvSpPr/>
            <p:nvPr/>
          </p:nvSpPr>
          <p:spPr>
            <a:xfrm>
              <a:off x="320040" y="1111195"/>
              <a:ext cx="3200400" cy="2559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F172A"/>
                </a:buClr>
                <a:buSzPts val="1000"/>
                <a:buFont typeface="Calibri"/>
                <a:buNone/>
              </a:pPr>
              <a:r>
                <a:rPr lang="en" b="1" dirty="0">
                  <a:solidFill>
                    <a:srgbClr val="0F172A"/>
                  </a:solidFill>
                  <a:sym typeface="Calibri"/>
                </a:rPr>
                <a:t>Key Features</a:t>
              </a:r>
              <a:endParaRPr dirty="0">
                <a:solidFill>
                  <a:schemeClr val="dk1"/>
                </a:solidFill>
                <a:latin typeface="Calibri"/>
                <a:ea typeface="Calibri"/>
                <a:cs typeface="Calibri"/>
                <a:sym typeface="Calibri"/>
              </a:endParaRPr>
            </a:p>
          </p:txBody>
        </p:sp>
        <p:sp>
          <p:nvSpPr>
            <p:cNvPr id="164" name="Google Shape;164;p19"/>
            <p:cNvSpPr/>
            <p:nvPr/>
          </p:nvSpPr>
          <p:spPr>
            <a:xfrm>
              <a:off x="320040" y="1385515"/>
              <a:ext cx="3200400" cy="1028573"/>
            </a:xfrm>
            <a:prstGeom prst="rect">
              <a:avLst/>
            </a:prstGeom>
            <a:noFill/>
            <a:ln>
              <a:noFill/>
            </a:ln>
          </p:spPr>
          <p:txBody>
            <a:bodyPr spcFirstLastPara="1" wrap="square" lIns="0" tIns="0" rIns="0" bIns="0" anchor="t" anchorCtr="0">
              <a:noAutofit/>
            </a:bodyPr>
            <a:lstStyle/>
            <a:p>
              <a:pPr marL="342900" marR="0" lvl="0" indent="-342900" algn="l" rtl="0">
                <a:spcBef>
                  <a:spcPts val="0"/>
                </a:spcBef>
                <a:spcAft>
                  <a:spcPts val="0"/>
                </a:spcAft>
                <a:buClr>
                  <a:srgbClr val="1E293B"/>
                </a:buClr>
                <a:buSzPts val="950"/>
                <a:buFont typeface="Calibri"/>
                <a:buChar char="•"/>
              </a:pPr>
              <a:r>
                <a:rPr lang="en" sz="1200" dirty="0">
                  <a:solidFill>
                    <a:srgbClr val="1A1F36"/>
                  </a:solidFill>
                  <a:sym typeface="Calibri"/>
                </a:rPr>
                <a:t>Proprietary · Pay-per-token</a:t>
              </a:r>
              <a:endParaRPr sz="1200" dirty="0">
                <a:solidFill>
                  <a:schemeClr val="dk1"/>
                </a:solidFill>
                <a:latin typeface="Calibri"/>
                <a:ea typeface="Calibri"/>
                <a:cs typeface="Calibri"/>
                <a:sym typeface="Calibri"/>
              </a:endParaRPr>
            </a:p>
            <a:p>
              <a:pPr marL="342900" marR="0" lvl="0" indent="-342900" algn="l" rtl="0">
                <a:spcBef>
                  <a:spcPts val="0"/>
                </a:spcBef>
                <a:spcAft>
                  <a:spcPts val="0"/>
                </a:spcAft>
                <a:buClr>
                  <a:srgbClr val="1E293B"/>
                </a:buClr>
                <a:buSzPts val="950"/>
                <a:buFont typeface="Calibri"/>
                <a:buChar char="•"/>
              </a:pPr>
              <a:r>
                <a:rPr lang="en" sz="1200" dirty="0">
                  <a:solidFill>
                    <a:srgbClr val="1A1F36"/>
                  </a:solidFill>
                  <a:sym typeface="Calibri"/>
                </a:rPr>
                <a:t>JSON mode &amp; Structured Outputs</a:t>
              </a:r>
              <a:endParaRPr sz="1200" dirty="0">
                <a:solidFill>
                  <a:schemeClr val="dk1"/>
                </a:solidFill>
                <a:latin typeface="Calibri"/>
                <a:ea typeface="Calibri"/>
                <a:cs typeface="Calibri"/>
                <a:sym typeface="Calibri"/>
              </a:endParaRPr>
            </a:p>
            <a:p>
              <a:pPr marL="342900" marR="0" lvl="0" indent="-342900" algn="l" rtl="0">
                <a:spcBef>
                  <a:spcPts val="0"/>
                </a:spcBef>
                <a:spcAft>
                  <a:spcPts val="0"/>
                </a:spcAft>
                <a:buClr>
                  <a:srgbClr val="1E293B"/>
                </a:buClr>
                <a:buSzPts val="950"/>
                <a:buFont typeface="Calibri"/>
                <a:buChar char="•"/>
              </a:pPr>
              <a:r>
                <a:rPr lang="en" sz="1200" dirty="0">
                  <a:solidFill>
                    <a:srgbClr val="1A1F36"/>
                  </a:solidFill>
                  <a:sym typeface="Calibri"/>
                </a:rPr>
                <a:t>Function / tool calling</a:t>
              </a:r>
              <a:endParaRPr sz="1200" dirty="0">
                <a:solidFill>
                  <a:schemeClr val="dk1"/>
                </a:solidFill>
                <a:latin typeface="Calibri"/>
                <a:ea typeface="Calibri"/>
                <a:cs typeface="Calibri"/>
                <a:sym typeface="Calibri"/>
              </a:endParaRPr>
            </a:p>
            <a:p>
              <a:pPr marL="342900" marR="0" lvl="0" indent="-342900" algn="l" rtl="0">
                <a:spcBef>
                  <a:spcPts val="0"/>
                </a:spcBef>
                <a:spcAft>
                  <a:spcPts val="0"/>
                </a:spcAft>
                <a:buClr>
                  <a:srgbClr val="1E293B"/>
                </a:buClr>
                <a:buSzPts val="950"/>
                <a:buFont typeface="Calibri"/>
                <a:buChar char="•"/>
              </a:pPr>
              <a:r>
                <a:rPr lang="en" sz="1200" dirty="0">
                  <a:solidFill>
                    <a:srgbClr val="1A1F36"/>
                  </a:solidFill>
                  <a:sym typeface="Calibri"/>
                </a:rPr>
                <a:t>Vision, audio, embeddings</a:t>
              </a:r>
              <a:endParaRPr sz="1200" dirty="0">
                <a:solidFill>
                  <a:schemeClr val="dk1"/>
                </a:solidFill>
                <a:latin typeface="Calibri"/>
                <a:ea typeface="Calibri"/>
                <a:cs typeface="Calibri"/>
                <a:sym typeface="Calibri"/>
              </a:endParaRPr>
            </a:p>
            <a:p>
              <a:pPr marL="342900" marR="0" lvl="0" indent="-342900" algn="l" rtl="0">
                <a:spcBef>
                  <a:spcPts val="0"/>
                </a:spcBef>
                <a:spcAft>
                  <a:spcPts val="0"/>
                </a:spcAft>
                <a:buClr>
                  <a:srgbClr val="1E293B"/>
                </a:buClr>
                <a:buSzPts val="950"/>
                <a:buFont typeface="Calibri"/>
                <a:buChar char="•"/>
              </a:pPr>
              <a:r>
                <a:rPr lang="en" sz="1200" dirty="0">
                  <a:solidFill>
                    <a:srgbClr val="1A1F36"/>
                  </a:solidFill>
                  <a:sym typeface="Calibri"/>
                </a:rPr>
                <a:t>Fine-tuning support</a:t>
              </a:r>
              <a:endParaRPr sz="1200" dirty="0">
                <a:solidFill>
                  <a:schemeClr val="dk1"/>
                </a:solidFill>
                <a:latin typeface="Calibri"/>
                <a:ea typeface="Calibri"/>
                <a:cs typeface="Calibri"/>
                <a:sym typeface="Calibri"/>
              </a:endParaRPr>
            </a:p>
          </p:txBody>
        </p:sp>
      </p:grpSp>
      <p:sp>
        <p:nvSpPr>
          <p:cNvPr id="165" name="Google Shape;165;p19"/>
          <p:cNvSpPr/>
          <p:nvPr/>
        </p:nvSpPr>
        <p:spPr>
          <a:xfrm>
            <a:off x="320040" y="2487168"/>
            <a:ext cx="3931800" cy="2013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4748B"/>
              </a:buClr>
              <a:buSzPts val="900"/>
              <a:buFont typeface="Calibri"/>
              <a:buNone/>
            </a:pPr>
            <a:r>
              <a:rPr lang="en" sz="1200" b="1" dirty="0">
                <a:solidFill>
                  <a:srgbClr val="1A1F36"/>
                </a:solidFill>
                <a:sym typeface="Calibri"/>
              </a:rPr>
              <a:t>Basic Chat Completion</a:t>
            </a:r>
            <a:endParaRPr sz="1200" dirty="0">
              <a:solidFill>
                <a:schemeClr val="dk1"/>
              </a:solidFill>
              <a:latin typeface="Calibri"/>
              <a:ea typeface="Calibri"/>
              <a:cs typeface="Calibri"/>
              <a:sym typeface="Calibri"/>
            </a:endParaRPr>
          </a:p>
        </p:txBody>
      </p:sp>
      <p:sp>
        <p:nvSpPr>
          <p:cNvPr id="171" name="Google Shape;171;p19"/>
          <p:cNvSpPr/>
          <p:nvPr/>
        </p:nvSpPr>
        <p:spPr>
          <a:xfrm>
            <a:off x="393192" y="2872864"/>
            <a:ext cx="3785700" cy="2064968"/>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7DD3FC"/>
              </a:buClr>
              <a:buSzPts val="850"/>
              <a:buFont typeface="Consolas"/>
              <a:buNone/>
            </a:pPr>
            <a:r>
              <a:rPr lang="en" sz="1000" dirty="0">
                <a:solidFill>
                  <a:srgbClr val="7DD3FC"/>
                </a:solidFill>
                <a:sym typeface="Consolas"/>
              </a:rPr>
              <a:t>from</a:t>
            </a:r>
            <a:r>
              <a:rPr lang="en" sz="1000" dirty="0">
                <a:solidFill>
                  <a:srgbClr val="E2E8F0"/>
                </a:solidFill>
                <a:sym typeface="Consolas"/>
              </a:rPr>
              <a:t> </a:t>
            </a:r>
            <a:r>
              <a:rPr lang="en" sz="1000" dirty="0" err="1">
                <a:solidFill>
                  <a:srgbClr val="E2E8F0"/>
                </a:solidFill>
                <a:sym typeface="Consolas"/>
              </a:rPr>
              <a:t>openai</a:t>
            </a:r>
            <a:r>
              <a:rPr lang="en" sz="1000" dirty="0">
                <a:solidFill>
                  <a:srgbClr val="E2E8F0"/>
                </a:solidFill>
                <a:sym typeface="Consolas"/>
              </a:rPr>
              <a:t> </a:t>
            </a:r>
            <a:r>
              <a:rPr lang="en" sz="1000" dirty="0">
                <a:solidFill>
                  <a:srgbClr val="7DD3FC"/>
                </a:solidFill>
                <a:sym typeface="Consolas"/>
              </a:rPr>
              <a:t>import</a:t>
            </a:r>
            <a:r>
              <a:rPr lang="en" sz="1000" dirty="0">
                <a:solidFill>
                  <a:srgbClr val="E2E8F0"/>
                </a:solidFill>
                <a:sym typeface="Consolas"/>
              </a:rPr>
              <a:t> OpenAI</a:t>
            </a:r>
            <a:endParaRPr sz="1000" dirty="0">
              <a:solidFill>
                <a:schemeClr val="dk1"/>
              </a:solidFill>
              <a:latin typeface="Calibri"/>
              <a:ea typeface="Calibri"/>
              <a:cs typeface="Calibri"/>
              <a:sym typeface="Calibri"/>
            </a:endParaRPr>
          </a:p>
          <a:p>
            <a:pPr marL="0" marR="0" lvl="0" indent="0" algn="l" rtl="0">
              <a:spcBef>
                <a:spcPts val="0"/>
              </a:spcBef>
              <a:spcAft>
                <a:spcPts val="0"/>
              </a:spcAft>
              <a:buClr>
                <a:srgbClr val="E2E8F0"/>
              </a:buClr>
              <a:buSzPts val="850"/>
              <a:buFont typeface="Consolas"/>
              <a:buNone/>
            </a:pPr>
            <a:r>
              <a:rPr lang="en" sz="1000" dirty="0">
                <a:solidFill>
                  <a:srgbClr val="E2E8F0"/>
                </a:solidFill>
                <a:sym typeface="Consolas"/>
              </a:rPr>
              <a:t>client = OpenAI()  # reads OPENAI_API_KEY</a:t>
            </a:r>
            <a:endParaRPr sz="1000" dirty="0">
              <a:solidFill>
                <a:schemeClr val="dk1"/>
              </a:solidFill>
              <a:latin typeface="Calibri"/>
              <a:ea typeface="Calibri"/>
              <a:cs typeface="Calibri"/>
              <a:sym typeface="Calibri"/>
            </a:endParaRPr>
          </a:p>
          <a:p>
            <a:pPr marL="0" marR="0" lvl="0" indent="0" algn="l" rtl="0">
              <a:spcBef>
                <a:spcPts val="0"/>
              </a:spcBef>
              <a:spcAft>
                <a:spcPts val="0"/>
              </a:spcAft>
              <a:buClr>
                <a:schemeClr val="dk1"/>
              </a:buClr>
              <a:buSzPts val="850"/>
              <a:buFont typeface="Calibri"/>
              <a:buNone/>
            </a:pPr>
            <a:endParaRPr sz="1000" dirty="0">
              <a:solidFill>
                <a:schemeClr val="dk1"/>
              </a:solidFill>
              <a:latin typeface="Calibri"/>
              <a:ea typeface="Calibri"/>
              <a:cs typeface="Calibri"/>
              <a:sym typeface="Calibri"/>
            </a:endParaRPr>
          </a:p>
          <a:p>
            <a:pPr marL="0" marR="0" lvl="0" indent="0" algn="l" rtl="0">
              <a:spcBef>
                <a:spcPts val="0"/>
              </a:spcBef>
              <a:spcAft>
                <a:spcPts val="0"/>
              </a:spcAft>
              <a:buClr>
                <a:srgbClr val="E2E8F0"/>
              </a:buClr>
              <a:buSzPts val="850"/>
              <a:buFont typeface="Consolas"/>
              <a:buNone/>
            </a:pPr>
            <a:r>
              <a:rPr lang="en" sz="1000" dirty="0">
                <a:solidFill>
                  <a:srgbClr val="E2E8F0"/>
                </a:solidFill>
                <a:sym typeface="Consolas"/>
              </a:rPr>
              <a:t>response = </a:t>
            </a:r>
            <a:r>
              <a:rPr lang="en" sz="1000" dirty="0" err="1">
                <a:solidFill>
                  <a:srgbClr val="E2E8F0"/>
                </a:solidFill>
                <a:sym typeface="Consolas"/>
              </a:rPr>
              <a:t>client.chat.completions.create</a:t>
            </a:r>
            <a:r>
              <a:rPr lang="en" sz="1000" dirty="0">
                <a:solidFill>
                  <a:srgbClr val="E2E8F0"/>
                </a:solidFill>
                <a:sym typeface="Consolas"/>
              </a:rPr>
              <a:t>(</a:t>
            </a:r>
            <a:endParaRPr sz="1000" dirty="0">
              <a:solidFill>
                <a:schemeClr val="dk1"/>
              </a:solidFill>
              <a:latin typeface="Calibri"/>
              <a:ea typeface="Calibri"/>
              <a:cs typeface="Calibri"/>
              <a:sym typeface="Calibri"/>
            </a:endParaRPr>
          </a:p>
          <a:p>
            <a:pPr marL="0" marR="0" lvl="0" indent="0" algn="l" rtl="0">
              <a:spcBef>
                <a:spcPts val="0"/>
              </a:spcBef>
              <a:spcAft>
                <a:spcPts val="0"/>
              </a:spcAft>
              <a:buClr>
                <a:srgbClr val="E2E8F0"/>
              </a:buClr>
              <a:buSzPts val="850"/>
              <a:buFont typeface="Consolas"/>
              <a:buNone/>
            </a:pPr>
            <a:r>
              <a:rPr lang="en" sz="1000" dirty="0">
                <a:solidFill>
                  <a:srgbClr val="E2E8F0"/>
                </a:solidFill>
                <a:sym typeface="Consolas"/>
              </a:rPr>
              <a:t>  </a:t>
            </a:r>
            <a:r>
              <a:rPr lang="en" sz="1000" dirty="0">
                <a:solidFill>
                  <a:srgbClr val="7DD3FC"/>
                </a:solidFill>
                <a:sym typeface="Consolas"/>
              </a:rPr>
              <a:t>model</a:t>
            </a:r>
            <a:r>
              <a:rPr lang="en" sz="1000" dirty="0">
                <a:solidFill>
                  <a:srgbClr val="E2E8F0"/>
                </a:solidFill>
                <a:sym typeface="Consolas"/>
              </a:rPr>
              <a:t>=</a:t>
            </a:r>
            <a:r>
              <a:rPr lang="en" sz="1000" dirty="0">
                <a:solidFill>
                  <a:srgbClr val="86EFAC"/>
                </a:solidFill>
                <a:sym typeface="Consolas"/>
              </a:rPr>
              <a:t>"gpt-4o"</a:t>
            </a:r>
            <a:r>
              <a:rPr lang="en" sz="1000" dirty="0">
                <a:solidFill>
                  <a:srgbClr val="E2E8F0"/>
                </a:solidFill>
                <a:sym typeface="Consolas"/>
              </a:rPr>
              <a:t>,</a:t>
            </a:r>
            <a:endParaRPr sz="1000" dirty="0">
              <a:solidFill>
                <a:schemeClr val="dk1"/>
              </a:solidFill>
              <a:latin typeface="Calibri"/>
              <a:ea typeface="Calibri"/>
              <a:cs typeface="Calibri"/>
              <a:sym typeface="Calibri"/>
            </a:endParaRPr>
          </a:p>
          <a:p>
            <a:pPr marL="0" marR="0" lvl="0" indent="0" algn="l" rtl="0">
              <a:spcBef>
                <a:spcPts val="0"/>
              </a:spcBef>
              <a:spcAft>
                <a:spcPts val="0"/>
              </a:spcAft>
              <a:buClr>
                <a:srgbClr val="E2E8F0"/>
              </a:buClr>
              <a:buSzPts val="850"/>
              <a:buFont typeface="Consolas"/>
              <a:buNone/>
            </a:pPr>
            <a:r>
              <a:rPr lang="en" sz="1000" dirty="0">
                <a:solidFill>
                  <a:srgbClr val="E2E8F0"/>
                </a:solidFill>
                <a:sym typeface="Consolas"/>
              </a:rPr>
              <a:t>  </a:t>
            </a:r>
            <a:r>
              <a:rPr lang="en" sz="1000" dirty="0">
                <a:solidFill>
                  <a:srgbClr val="7DD3FC"/>
                </a:solidFill>
                <a:sym typeface="Consolas"/>
              </a:rPr>
              <a:t>messages</a:t>
            </a:r>
            <a:r>
              <a:rPr lang="en" sz="1000" dirty="0">
                <a:solidFill>
                  <a:srgbClr val="E2E8F0"/>
                </a:solidFill>
                <a:sym typeface="Consolas"/>
              </a:rPr>
              <a:t>=[</a:t>
            </a:r>
            <a:endParaRPr sz="1000" dirty="0">
              <a:solidFill>
                <a:schemeClr val="dk1"/>
              </a:solidFill>
              <a:latin typeface="Calibri"/>
              <a:ea typeface="Calibri"/>
              <a:cs typeface="Calibri"/>
              <a:sym typeface="Calibri"/>
            </a:endParaRPr>
          </a:p>
          <a:p>
            <a:pPr marL="0" marR="0" lvl="0" indent="0" algn="l" rtl="0">
              <a:spcBef>
                <a:spcPts val="0"/>
              </a:spcBef>
              <a:spcAft>
                <a:spcPts val="0"/>
              </a:spcAft>
              <a:buClr>
                <a:srgbClr val="E2E8F0"/>
              </a:buClr>
              <a:buSzPts val="850"/>
              <a:buFont typeface="Consolas"/>
              <a:buNone/>
            </a:pPr>
            <a:r>
              <a:rPr lang="en" sz="1000" dirty="0">
                <a:solidFill>
                  <a:srgbClr val="E2E8F0"/>
                </a:solidFill>
                <a:sym typeface="Consolas"/>
              </a:rPr>
              <a:t>    {</a:t>
            </a:r>
            <a:r>
              <a:rPr lang="en" sz="1000" dirty="0">
                <a:solidFill>
                  <a:srgbClr val="86EFAC"/>
                </a:solidFill>
                <a:sym typeface="Consolas"/>
              </a:rPr>
              <a:t>"role"</a:t>
            </a:r>
            <a:r>
              <a:rPr lang="en" sz="1000" dirty="0">
                <a:solidFill>
                  <a:srgbClr val="E2E8F0"/>
                </a:solidFill>
                <a:sym typeface="Consolas"/>
              </a:rPr>
              <a:t>: </a:t>
            </a:r>
            <a:r>
              <a:rPr lang="en" sz="1000" dirty="0">
                <a:solidFill>
                  <a:srgbClr val="86EFAC"/>
                </a:solidFill>
                <a:sym typeface="Consolas"/>
              </a:rPr>
              <a:t>"system"</a:t>
            </a:r>
            <a:r>
              <a:rPr lang="en" sz="1000" dirty="0">
                <a:solidFill>
                  <a:srgbClr val="E2E8F0"/>
                </a:solidFill>
                <a:sym typeface="Consolas"/>
              </a:rPr>
              <a:t>,</a:t>
            </a:r>
            <a:endParaRPr sz="1000" dirty="0">
              <a:solidFill>
                <a:schemeClr val="dk1"/>
              </a:solidFill>
              <a:latin typeface="Calibri"/>
              <a:ea typeface="Calibri"/>
              <a:cs typeface="Calibri"/>
              <a:sym typeface="Calibri"/>
            </a:endParaRPr>
          </a:p>
          <a:p>
            <a:pPr marL="0" marR="0" lvl="0" indent="0" algn="l" rtl="0">
              <a:spcBef>
                <a:spcPts val="0"/>
              </a:spcBef>
              <a:spcAft>
                <a:spcPts val="0"/>
              </a:spcAft>
              <a:buClr>
                <a:srgbClr val="E2E8F0"/>
              </a:buClr>
              <a:buSzPts val="850"/>
              <a:buFont typeface="Consolas"/>
              <a:buNone/>
            </a:pPr>
            <a:r>
              <a:rPr lang="en" sz="1000" dirty="0">
                <a:solidFill>
                  <a:srgbClr val="E2E8F0"/>
                </a:solidFill>
                <a:sym typeface="Consolas"/>
              </a:rPr>
              <a:t>     </a:t>
            </a:r>
            <a:r>
              <a:rPr lang="en" sz="1000" dirty="0">
                <a:solidFill>
                  <a:srgbClr val="86EFAC"/>
                </a:solidFill>
                <a:sym typeface="Consolas"/>
              </a:rPr>
              <a:t>"content"</a:t>
            </a:r>
            <a:r>
              <a:rPr lang="en" sz="1000" dirty="0">
                <a:solidFill>
                  <a:srgbClr val="E2E8F0"/>
                </a:solidFill>
                <a:sym typeface="Consolas"/>
              </a:rPr>
              <a:t>: </a:t>
            </a:r>
            <a:r>
              <a:rPr lang="en" sz="1000" dirty="0">
                <a:solidFill>
                  <a:srgbClr val="86EFAC"/>
                </a:solidFill>
                <a:sym typeface="Consolas"/>
              </a:rPr>
              <a:t>"You are a helpful assistant."</a:t>
            </a:r>
            <a:r>
              <a:rPr lang="en" sz="1000" dirty="0">
                <a:solidFill>
                  <a:srgbClr val="E2E8F0"/>
                </a:solidFill>
                <a:sym typeface="Consolas"/>
              </a:rPr>
              <a:t>},</a:t>
            </a:r>
            <a:endParaRPr sz="1000" dirty="0">
              <a:solidFill>
                <a:schemeClr val="dk1"/>
              </a:solidFill>
              <a:latin typeface="Calibri"/>
              <a:ea typeface="Calibri"/>
              <a:cs typeface="Calibri"/>
              <a:sym typeface="Calibri"/>
            </a:endParaRPr>
          </a:p>
          <a:p>
            <a:pPr marL="0" marR="0" lvl="0" indent="0" algn="l" rtl="0">
              <a:spcBef>
                <a:spcPts val="0"/>
              </a:spcBef>
              <a:spcAft>
                <a:spcPts val="0"/>
              </a:spcAft>
              <a:buClr>
                <a:srgbClr val="E2E8F0"/>
              </a:buClr>
              <a:buSzPts val="850"/>
              <a:buFont typeface="Consolas"/>
              <a:buNone/>
            </a:pPr>
            <a:r>
              <a:rPr lang="en" sz="1000" dirty="0">
                <a:solidFill>
                  <a:srgbClr val="E2E8F0"/>
                </a:solidFill>
                <a:sym typeface="Consolas"/>
              </a:rPr>
              <a:t>    {</a:t>
            </a:r>
            <a:r>
              <a:rPr lang="en" sz="1000" dirty="0">
                <a:solidFill>
                  <a:srgbClr val="86EFAC"/>
                </a:solidFill>
                <a:sym typeface="Consolas"/>
              </a:rPr>
              <a:t>"role"</a:t>
            </a:r>
            <a:r>
              <a:rPr lang="en" sz="1000" dirty="0">
                <a:solidFill>
                  <a:srgbClr val="E2E8F0"/>
                </a:solidFill>
                <a:sym typeface="Consolas"/>
              </a:rPr>
              <a:t>: </a:t>
            </a:r>
            <a:r>
              <a:rPr lang="en" sz="1000" dirty="0">
                <a:solidFill>
                  <a:srgbClr val="86EFAC"/>
                </a:solidFill>
                <a:sym typeface="Consolas"/>
              </a:rPr>
              <a:t>"user"</a:t>
            </a:r>
            <a:r>
              <a:rPr lang="en" sz="1000" dirty="0">
                <a:solidFill>
                  <a:srgbClr val="E2E8F0"/>
                </a:solidFill>
                <a:sym typeface="Consolas"/>
              </a:rPr>
              <a:t>,</a:t>
            </a:r>
            <a:endParaRPr sz="1000" dirty="0">
              <a:solidFill>
                <a:schemeClr val="dk1"/>
              </a:solidFill>
              <a:latin typeface="Calibri"/>
              <a:ea typeface="Calibri"/>
              <a:cs typeface="Calibri"/>
              <a:sym typeface="Calibri"/>
            </a:endParaRPr>
          </a:p>
          <a:p>
            <a:pPr marL="0" marR="0" lvl="0" indent="0" algn="l" rtl="0">
              <a:spcBef>
                <a:spcPts val="0"/>
              </a:spcBef>
              <a:spcAft>
                <a:spcPts val="0"/>
              </a:spcAft>
              <a:buClr>
                <a:srgbClr val="E2E8F0"/>
              </a:buClr>
              <a:buSzPts val="850"/>
              <a:buFont typeface="Consolas"/>
              <a:buNone/>
            </a:pPr>
            <a:r>
              <a:rPr lang="en" sz="1000" dirty="0">
                <a:solidFill>
                  <a:srgbClr val="E2E8F0"/>
                </a:solidFill>
                <a:sym typeface="Consolas"/>
              </a:rPr>
              <a:t>     </a:t>
            </a:r>
            <a:r>
              <a:rPr lang="en" sz="1000" dirty="0">
                <a:solidFill>
                  <a:srgbClr val="86EFAC"/>
                </a:solidFill>
                <a:sym typeface="Consolas"/>
              </a:rPr>
              <a:t>"content"</a:t>
            </a:r>
            <a:r>
              <a:rPr lang="en" sz="1000" dirty="0">
                <a:solidFill>
                  <a:srgbClr val="E2E8F0"/>
                </a:solidFill>
                <a:sym typeface="Consolas"/>
              </a:rPr>
              <a:t>: </a:t>
            </a:r>
            <a:r>
              <a:rPr lang="en" sz="1000" dirty="0">
                <a:solidFill>
                  <a:srgbClr val="86EFAC"/>
                </a:solidFill>
                <a:sym typeface="Consolas"/>
              </a:rPr>
              <a:t>"Explain RAG in one sentence."</a:t>
            </a:r>
            <a:r>
              <a:rPr lang="en" sz="1000" dirty="0">
                <a:solidFill>
                  <a:srgbClr val="E2E8F0"/>
                </a:solidFill>
                <a:sym typeface="Consolas"/>
              </a:rPr>
              <a:t>}</a:t>
            </a:r>
            <a:endParaRPr sz="1000" dirty="0">
              <a:solidFill>
                <a:schemeClr val="dk1"/>
              </a:solidFill>
              <a:latin typeface="Calibri"/>
              <a:ea typeface="Calibri"/>
              <a:cs typeface="Calibri"/>
              <a:sym typeface="Calibri"/>
            </a:endParaRPr>
          </a:p>
          <a:p>
            <a:pPr marL="0" marR="0" lvl="0" indent="0" algn="l" rtl="0">
              <a:spcBef>
                <a:spcPts val="0"/>
              </a:spcBef>
              <a:spcAft>
                <a:spcPts val="0"/>
              </a:spcAft>
              <a:buClr>
                <a:srgbClr val="E2E8F0"/>
              </a:buClr>
              <a:buSzPts val="850"/>
              <a:buFont typeface="Consolas"/>
              <a:buNone/>
            </a:pPr>
            <a:r>
              <a:rPr lang="en" sz="1000" dirty="0">
                <a:solidFill>
                  <a:srgbClr val="E2E8F0"/>
                </a:solidFill>
                <a:sym typeface="Consolas"/>
              </a:rPr>
              <a:t>  ],</a:t>
            </a:r>
            <a:endParaRPr sz="1000" dirty="0">
              <a:solidFill>
                <a:schemeClr val="dk1"/>
              </a:solidFill>
              <a:latin typeface="Calibri"/>
              <a:ea typeface="Calibri"/>
              <a:cs typeface="Calibri"/>
              <a:sym typeface="Calibri"/>
            </a:endParaRPr>
          </a:p>
          <a:p>
            <a:pPr marL="0" marR="0" lvl="0" indent="0" algn="l" rtl="0">
              <a:spcBef>
                <a:spcPts val="0"/>
              </a:spcBef>
              <a:spcAft>
                <a:spcPts val="0"/>
              </a:spcAft>
              <a:buClr>
                <a:srgbClr val="E2E8F0"/>
              </a:buClr>
              <a:buSzPts val="850"/>
              <a:buFont typeface="Consolas"/>
              <a:buNone/>
            </a:pPr>
            <a:r>
              <a:rPr lang="en" sz="1000" dirty="0">
                <a:solidFill>
                  <a:srgbClr val="E2E8F0"/>
                </a:solidFill>
                <a:sym typeface="Consolas"/>
              </a:rPr>
              <a:t>  temperature=0.7,</a:t>
            </a:r>
            <a:endParaRPr sz="1000" dirty="0">
              <a:solidFill>
                <a:schemeClr val="dk1"/>
              </a:solidFill>
              <a:latin typeface="Calibri"/>
              <a:ea typeface="Calibri"/>
              <a:cs typeface="Calibri"/>
              <a:sym typeface="Calibri"/>
            </a:endParaRPr>
          </a:p>
          <a:p>
            <a:pPr marL="0" marR="0" lvl="0" indent="0" algn="l" rtl="0">
              <a:spcBef>
                <a:spcPts val="0"/>
              </a:spcBef>
              <a:spcAft>
                <a:spcPts val="0"/>
              </a:spcAft>
              <a:buClr>
                <a:srgbClr val="E2E8F0"/>
              </a:buClr>
              <a:buSzPts val="850"/>
              <a:buFont typeface="Consolas"/>
              <a:buNone/>
            </a:pPr>
            <a:r>
              <a:rPr lang="en" sz="1000" dirty="0">
                <a:solidFill>
                  <a:srgbClr val="E2E8F0"/>
                </a:solidFill>
                <a:sym typeface="Consolas"/>
              </a:rPr>
              <a:t>  </a:t>
            </a:r>
            <a:r>
              <a:rPr lang="en" sz="1000" dirty="0" err="1">
                <a:solidFill>
                  <a:srgbClr val="E2E8F0"/>
                </a:solidFill>
                <a:sym typeface="Consolas"/>
              </a:rPr>
              <a:t>max_tokens</a:t>
            </a:r>
            <a:r>
              <a:rPr lang="en" sz="1000" dirty="0">
                <a:solidFill>
                  <a:srgbClr val="E2E8F0"/>
                </a:solidFill>
                <a:sym typeface="Consolas"/>
              </a:rPr>
              <a:t>=200</a:t>
            </a:r>
            <a:endParaRPr sz="1000" dirty="0">
              <a:solidFill>
                <a:schemeClr val="dk1"/>
              </a:solidFill>
              <a:latin typeface="Calibri"/>
              <a:ea typeface="Calibri"/>
              <a:cs typeface="Calibri"/>
              <a:sym typeface="Calibri"/>
            </a:endParaRPr>
          </a:p>
          <a:p>
            <a:pPr marL="0" marR="0" lvl="0" indent="0" algn="l" rtl="0">
              <a:spcBef>
                <a:spcPts val="0"/>
              </a:spcBef>
              <a:spcAft>
                <a:spcPts val="0"/>
              </a:spcAft>
              <a:buClr>
                <a:srgbClr val="E2E8F0"/>
              </a:buClr>
              <a:buSzPts val="850"/>
              <a:buFont typeface="Consolas"/>
              <a:buNone/>
            </a:pPr>
            <a:r>
              <a:rPr lang="en" sz="1000" dirty="0">
                <a:solidFill>
                  <a:srgbClr val="E2E8F0"/>
                </a:solidFill>
                <a:sym typeface="Consolas"/>
              </a:rPr>
              <a:t>)</a:t>
            </a:r>
            <a:endParaRPr sz="1000" dirty="0">
              <a:solidFill>
                <a:schemeClr val="dk1"/>
              </a:solidFill>
              <a:latin typeface="Calibri"/>
              <a:ea typeface="Calibri"/>
              <a:cs typeface="Calibri"/>
              <a:sym typeface="Calibri"/>
            </a:endParaRPr>
          </a:p>
          <a:p>
            <a:pPr marL="0" marR="0" lvl="0" indent="0" algn="l" rtl="0">
              <a:spcBef>
                <a:spcPts val="0"/>
              </a:spcBef>
              <a:spcAft>
                <a:spcPts val="0"/>
              </a:spcAft>
              <a:buClr>
                <a:srgbClr val="E2E8F0"/>
              </a:buClr>
              <a:buSzPts val="850"/>
              <a:buFont typeface="Consolas"/>
              <a:buNone/>
            </a:pPr>
            <a:r>
              <a:rPr lang="en" sz="1000" dirty="0">
                <a:solidFill>
                  <a:srgbClr val="E2E8F0"/>
                </a:solidFill>
                <a:sym typeface="Consolas"/>
              </a:rPr>
              <a:t>print(</a:t>
            </a:r>
            <a:r>
              <a:rPr lang="en" sz="1000" dirty="0" err="1">
                <a:solidFill>
                  <a:srgbClr val="E2E8F0"/>
                </a:solidFill>
                <a:sym typeface="Consolas"/>
              </a:rPr>
              <a:t>response.choices</a:t>
            </a:r>
            <a:r>
              <a:rPr lang="en" sz="1000" dirty="0">
                <a:solidFill>
                  <a:srgbClr val="E2E8F0"/>
                </a:solidFill>
                <a:sym typeface="Consolas"/>
              </a:rPr>
              <a:t>[0].</a:t>
            </a:r>
            <a:r>
              <a:rPr lang="en" sz="1000" dirty="0" err="1">
                <a:solidFill>
                  <a:srgbClr val="E2E8F0"/>
                </a:solidFill>
                <a:sym typeface="Consolas"/>
              </a:rPr>
              <a:t>message.</a:t>
            </a:r>
            <a:r>
              <a:rPr lang="en" sz="1000" dirty="0" err="1">
                <a:solidFill>
                  <a:srgbClr val="7DD3FC"/>
                </a:solidFill>
                <a:sym typeface="Consolas"/>
              </a:rPr>
              <a:t>content</a:t>
            </a:r>
            <a:r>
              <a:rPr lang="en" sz="1000" dirty="0">
                <a:solidFill>
                  <a:srgbClr val="E2E8F0"/>
                </a:solidFill>
                <a:sym typeface="Consolas"/>
              </a:rPr>
              <a:t>)</a:t>
            </a:r>
            <a:endParaRPr sz="1000" dirty="0">
              <a:solidFill>
                <a:schemeClr val="dk1"/>
              </a:solidFill>
              <a:latin typeface="Calibri"/>
              <a:ea typeface="Calibri"/>
              <a:cs typeface="Calibri"/>
              <a:sym typeface="Calibri"/>
            </a:endParaRPr>
          </a:p>
        </p:txBody>
      </p:sp>
      <p:sp>
        <p:nvSpPr>
          <p:cNvPr id="172" name="Google Shape;172;p19"/>
          <p:cNvSpPr/>
          <p:nvPr/>
        </p:nvSpPr>
        <p:spPr>
          <a:xfrm>
            <a:off x="4480560" y="658368"/>
            <a:ext cx="4297800" cy="2013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4748B"/>
              </a:buClr>
              <a:buSzPts val="900"/>
              <a:buFont typeface="Calibri"/>
              <a:buNone/>
            </a:pPr>
            <a:r>
              <a:rPr lang="en" sz="1200" b="1" dirty="0">
                <a:solidFill>
                  <a:srgbClr val="1A1F36"/>
                </a:solidFill>
                <a:sym typeface="Calibri"/>
              </a:rPr>
              <a:t>Function / Tool Calling</a:t>
            </a:r>
            <a:endParaRPr sz="1200" dirty="0">
              <a:solidFill>
                <a:schemeClr val="dk1"/>
              </a:solidFill>
              <a:latin typeface="Calibri"/>
              <a:ea typeface="Calibri"/>
              <a:cs typeface="Calibri"/>
              <a:sym typeface="Calibri"/>
            </a:endParaRPr>
          </a:p>
        </p:txBody>
      </p:sp>
      <p:sp>
        <p:nvSpPr>
          <p:cNvPr id="173" name="Google Shape;173;p19"/>
          <p:cNvSpPr/>
          <p:nvPr/>
        </p:nvSpPr>
        <p:spPr>
          <a:xfrm>
            <a:off x="4480560" y="868680"/>
            <a:ext cx="4297800" cy="2926200"/>
          </a:xfrm>
          <a:prstGeom prst="rect">
            <a:avLst/>
          </a:prstGeom>
          <a:solidFill>
            <a:srgbClr val="0F172A"/>
          </a:solidFill>
          <a:ln w="12700" cap="flat" cmpd="sng">
            <a:solidFill>
              <a:srgbClr val="1E3A5F"/>
            </a:solidFill>
            <a:prstDash val="solid"/>
            <a:round/>
            <a:headEnd type="none" w="sm" len="sm"/>
            <a:tailEnd type="none" w="sm" len="sm"/>
          </a:ln>
          <a:effectLst>
            <a:outerShdw blurRad="76200" dist="25400" dir="8100000" algn="bl" rotWithShape="0">
              <a:srgbClr val="94A3B8">
                <a:alpha val="149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 name="Google Shape;178;p19"/>
          <p:cNvSpPr/>
          <p:nvPr/>
        </p:nvSpPr>
        <p:spPr>
          <a:xfrm>
            <a:off x="4553712" y="915991"/>
            <a:ext cx="4151400" cy="25785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E2E8F0"/>
              </a:buClr>
              <a:buSzPts val="850"/>
              <a:buFont typeface="Consolas"/>
              <a:buNone/>
            </a:pPr>
            <a:r>
              <a:rPr lang="en" sz="1100" dirty="0">
                <a:solidFill>
                  <a:srgbClr val="E2E8F0"/>
                </a:solidFill>
                <a:sym typeface="Consolas"/>
              </a:rPr>
              <a:t>tools = [{</a:t>
            </a:r>
            <a:endParaRPr sz="1100" dirty="0">
              <a:solidFill>
                <a:schemeClr val="dk1"/>
              </a:solidFill>
              <a:latin typeface="Calibri"/>
              <a:ea typeface="Calibri"/>
              <a:cs typeface="Calibri"/>
              <a:sym typeface="Calibri"/>
            </a:endParaRPr>
          </a:p>
          <a:p>
            <a:pPr marL="0" marR="0" lvl="0" indent="0" algn="l" rtl="0">
              <a:spcBef>
                <a:spcPts val="0"/>
              </a:spcBef>
              <a:spcAft>
                <a:spcPts val="0"/>
              </a:spcAft>
              <a:buClr>
                <a:srgbClr val="E2E8F0"/>
              </a:buClr>
              <a:buSzPts val="850"/>
              <a:buFont typeface="Consolas"/>
              <a:buNone/>
            </a:pPr>
            <a:r>
              <a:rPr lang="en" sz="1100" dirty="0">
                <a:solidFill>
                  <a:srgbClr val="E2E8F0"/>
                </a:solidFill>
                <a:sym typeface="Consolas"/>
              </a:rPr>
              <a:t>  </a:t>
            </a:r>
            <a:r>
              <a:rPr lang="en" sz="1100" dirty="0">
                <a:solidFill>
                  <a:srgbClr val="86EFAC"/>
                </a:solidFill>
                <a:sym typeface="Consolas"/>
              </a:rPr>
              <a:t>"type"</a:t>
            </a:r>
            <a:r>
              <a:rPr lang="en" sz="1100" dirty="0">
                <a:solidFill>
                  <a:srgbClr val="E2E8F0"/>
                </a:solidFill>
                <a:sym typeface="Consolas"/>
              </a:rPr>
              <a:t>: </a:t>
            </a:r>
            <a:r>
              <a:rPr lang="en" sz="1100" dirty="0">
                <a:solidFill>
                  <a:srgbClr val="86EFAC"/>
                </a:solidFill>
                <a:sym typeface="Consolas"/>
              </a:rPr>
              <a:t>"function"</a:t>
            </a:r>
            <a:r>
              <a:rPr lang="en" sz="1100" dirty="0">
                <a:solidFill>
                  <a:srgbClr val="E2E8F0"/>
                </a:solidFill>
                <a:sym typeface="Consolas"/>
              </a:rPr>
              <a:t>,</a:t>
            </a:r>
            <a:endParaRPr sz="1100" dirty="0">
              <a:solidFill>
                <a:schemeClr val="dk1"/>
              </a:solidFill>
              <a:latin typeface="Calibri"/>
              <a:ea typeface="Calibri"/>
              <a:cs typeface="Calibri"/>
              <a:sym typeface="Calibri"/>
            </a:endParaRPr>
          </a:p>
          <a:p>
            <a:pPr marL="0" marR="0" lvl="0" indent="0" algn="l" rtl="0">
              <a:spcBef>
                <a:spcPts val="0"/>
              </a:spcBef>
              <a:spcAft>
                <a:spcPts val="0"/>
              </a:spcAft>
              <a:buClr>
                <a:srgbClr val="E2E8F0"/>
              </a:buClr>
              <a:buSzPts val="850"/>
              <a:buFont typeface="Consolas"/>
              <a:buNone/>
            </a:pPr>
            <a:r>
              <a:rPr lang="en" sz="1100" dirty="0">
                <a:solidFill>
                  <a:srgbClr val="E2E8F0"/>
                </a:solidFill>
                <a:sym typeface="Consolas"/>
              </a:rPr>
              <a:t>  </a:t>
            </a:r>
            <a:r>
              <a:rPr lang="en" sz="1100" dirty="0">
                <a:solidFill>
                  <a:srgbClr val="86EFAC"/>
                </a:solidFill>
                <a:sym typeface="Consolas"/>
              </a:rPr>
              <a:t>"function"</a:t>
            </a:r>
            <a:r>
              <a:rPr lang="en" sz="1100" dirty="0">
                <a:solidFill>
                  <a:srgbClr val="E2E8F0"/>
                </a:solidFill>
                <a:sym typeface="Consolas"/>
              </a:rPr>
              <a:t>: {</a:t>
            </a:r>
            <a:endParaRPr sz="1100" dirty="0">
              <a:solidFill>
                <a:schemeClr val="dk1"/>
              </a:solidFill>
              <a:latin typeface="Calibri"/>
              <a:ea typeface="Calibri"/>
              <a:cs typeface="Calibri"/>
              <a:sym typeface="Calibri"/>
            </a:endParaRPr>
          </a:p>
          <a:p>
            <a:pPr marL="0" marR="0" lvl="0" indent="0" algn="l" rtl="0">
              <a:spcBef>
                <a:spcPts val="0"/>
              </a:spcBef>
              <a:spcAft>
                <a:spcPts val="0"/>
              </a:spcAft>
              <a:buClr>
                <a:srgbClr val="E2E8F0"/>
              </a:buClr>
              <a:buSzPts val="850"/>
              <a:buFont typeface="Consolas"/>
              <a:buNone/>
            </a:pPr>
            <a:r>
              <a:rPr lang="en" sz="1100" dirty="0">
                <a:solidFill>
                  <a:srgbClr val="E2E8F0"/>
                </a:solidFill>
                <a:sym typeface="Consolas"/>
              </a:rPr>
              <a:t>    </a:t>
            </a:r>
            <a:r>
              <a:rPr lang="en" sz="1100" dirty="0">
                <a:solidFill>
                  <a:srgbClr val="86EFAC"/>
                </a:solidFill>
                <a:sym typeface="Consolas"/>
              </a:rPr>
              <a:t>"name"</a:t>
            </a:r>
            <a:r>
              <a:rPr lang="en" sz="1100" dirty="0">
                <a:solidFill>
                  <a:srgbClr val="E2E8F0"/>
                </a:solidFill>
                <a:sym typeface="Consolas"/>
              </a:rPr>
              <a:t>: </a:t>
            </a:r>
            <a:r>
              <a:rPr lang="en" sz="1100" dirty="0">
                <a:solidFill>
                  <a:srgbClr val="86EFAC"/>
                </a:solidFill>
                <a:sym typeface="Consolas"/>
              </a:rPr>
              <a:t>"</a:t>
            </a:r>
            <a:r>
              <a:rPr lang="en" sz="1100" dirty="0" err="1">
                <a:solidFill>
                  <a:srgbClr val="86EFAC"/>
                </a:solidFill>
                <a:sym typeface="Consolas"/>
              </a:rPr>
              <a:t>get_weather</a:t>
            </a:r>
            <a:r>
              <a:rPr lang="en" sz="1100" dirty="0">
                <a:solidFill>
                  <a:srgbClr val="86EFAC"/>
                </a:solidFill>
                <a:sym typeface="Consolas"/>
              </a:rPr>
              <a:t>"</a:t>
            </a:r>
            <a:r>
              <a:rPr lang="en" sz="1100" dirty="0">
                <a:solidFill>
                  <a:srgbClr val="E2E8F0"/>
                </a:solidFill>
                <a:sym typeface="Consolas"/>
              </a:rPr>
              <a:t>,</a:t>
            </a:r>
            <a:endParaRPr sz="1100" dirty="0">
              <a:solidFill>
                <a:schemeClr val="dk1"/>
              </a:solidFill>
              <a:latin typeface="Calibri"/>
              <a:ea typeface="Calibri"/>
              <a:cs typeface="Calibri"/>
              <a:sym typeface="Calibri"/>
            </a:endParaRPr>
          </a:p>
          <a:p>
            <a:pPr marL="0" marR="0" lvl="0" indent="0" algn="l" rtl="0">
              <a:spcBef>
                <a:spcPts val="0"/>
              </a:spcBef>
              <a:spcAft>
                <a:spcPts val="0"/>
              </a:spcAft>
              <a:buClr>
                <a:srgbClr val="E2E8F0"/>
              </a:buClr>
              <a:buSzPts val="850"/>
              <a:buFont typeface="Consolas"/>
              <a:buNone/>
            </a:pPr>
            <a:r>
              <a:rPr lang="en" sz="1100" dirty="0">
                <a:solidFill>
                  <a:srgbClr val="E2E8F0"/>
                </a:solidFill>
                <a:sym typeface="Consolas"/>
              </a:rPr>
              <a:t>    </a:t>
            </a:r>
            <a:r>
              <a:rPr lang="en" sz="1100" dirty="0">
                <a:solidFill>
                  <a:srgbClr val="86EFAC"/>
                </a:solidFill>
                <a:sym typeface="Consolas"/>
              </a:rPr>
              <a:t>"description"</a:t>
            </a:r>
            <a:r>
              <a:rPr lang="en" sz="1100" dirty="0">
                <a:solidFill>
                  <a:srgbClr val="E2E8F0"/>
                </a:solidFill>
                <a:sym typeface="Consolas"/>
              </a:rPr>
              <a:t>: </a:t>
            </a:r>
            <a:r>
              <a:rPr lang="en" sz="1100" dirty="0">
                <a:solidFill>
                  <a:srgbClr val="86EFAC"/>
                </a:solidFill>
                <a:sym typeface="Consolas"/>
              </a:rPr>
              <a:t>"Get current weather"</a:t>
            </a:r>
            <a:r>
              <a:rPr lang="en" sz="1100" dirty="0">
                <a:solidFill>
                  <a:srgbClr val="E2E8F0"/>
                </a:solidFill>
                <a:sym typeface="Consolas"/>
              </a:rPr>
              <a:t>,</a:t>
            </a:r>
            <a:endParaRPr sz="1100" dirty="0">
              <a:solidFill>
                <a:schemeClr val="dk1"/>
              </a:solidFill>
              <a:latin typeface="Calibri"/>
              <a:ea typeface="Calibri"/>
              <a:cs typeface="Calibri"/>
              <a:sym typeface="Calibri"/>
            </a:endParaRPr>
          </a:p>
          <a:p>
            <a:pPr marL="0" marR="0" lvl="0" indent="0" algn="l" rtl="0">
              <a:spcBef>
                <a:spcPts val="0"/>
              </a:spcBef>
              <a:spcAft>
                <a:spcPts val="0"/>
              </a:spcAft>
              <a:buClr>
                <a:srgbClr val="E2E8F0"/>
              </a:buClr>
              <a:buSzPts val="850"/>
              <a:buFont typeface="Consolas"/>
              <a:buNone/>
            </a:pPr>
            <a:r>
              <a:rPr lang="en" sz="1100" dirty="0">
                <a:solidFill>
                  <a:srgbClr val="E2E8F0"/>
                </a:solidFill>
                <a:sym typeface="Consolas"/>
              </a:rPr>
              <a:t>    </a:t>
            </a:r>
            <a:r>
              <a:rPr lang="en" sz="1100" dirty="0">
                <a:solidFill>
                  <a:srgbClr val="86EFAC"/>
                </a:solidFill>
                <a:sym typeface="Consolas"/>
              </a:rPr>
              <a:t>"parameters"</a:t>
            </a:r>
            <a:r>
              <a:rPr lang="en" sz="1100" dirty="0">
                <a:solidFill>
                  <a:srgbClr val="E2E8F0"/>
                </a:solidFill>
                <a:sym typeface="Consolas"/>
              </a:rPr>
              <a:t>: {</a:t>
            </a:r>
            <a:endParaRPr sz="1100" dirty="0">
              <a:solidFill>
                <a:schemeClr val="dk1"/>
              </a:solidFill>
              <a:latin typeface="Calibri"/>
              <a:ea typeface="Calibri"/>
              <a:cs typeface="Calibri"/>
              <a:sym typeface="Calibri"/>
            </a:endParaRPr>
          </a:p>
          <a:p>
            <a:pPr marL="0" marR="0" lvl="0" indent="0" algn="l" rtl="0">
              <a:spcBef>
                <a:spcPts val="0"/>
              </a:spcBef>
              <a:spcAft>
                <a:spcPts val="0"/>
              </a:spcAft>
              <a:buClr>
                <a:srgbClr val="E2E8F0"/>
              </a:buClr>
              <a:buSzPts val="850"/>
              <a:buFont typeface="Consolas"/>
              <a:buNone/>
            </a:pPr>
            <a:r>
              <a:rPr lang="en" sz="1100" dirty="0">
                <a:solidFill>
                  <a:srgbClr val="E2E8F0"/>
                </a:solidFill>
                <a:sym typeface="Consolas"/>
              </a:rPr>
              <a:t>      </a:t>
            </a:r>
            <a:r>
              <a:rPr lang="en" sz="1100" dirty="0">
                <a:solidFill>
                  <a:srgbClr val="86EFAC"/>
                </a:solidFill>
                <a:sym typeface="Consolas"/>
              </a:rPr>
              <a:t>"type"</a:t>
            </a:r>
            <a:r>
              <a:rPr lang="en" sz="1100" dirty="0">
                <a:solidFill>
                  <a:srgbClr val="E2E8F0"/>
                </a:solidFill>
                <a:sym typeface="Consolas"/>
              </a:rPr>
              <a:t>: </a:t>
            </a:r>
            <a:r>
              <a:rPr lang="en" sz="1100" dirty="0">
                <a:solidFill>
                  <a:srgbClr val="86EFAC"/>
                </a:solidFill>
                <a:sym typeface="Consolas"/>
              </a:rPr>
              <a:t>"object"</a:t>
            </a:r>
            <a:r>
              <a:rPr lang="en" sz="1100" dirty="0">
                <a:solidFill>
                  <a:srgbClr val="E2E8F0"/>
                </a:solidFill>
                <a:sym typeface="Consolas"/>
              </a:rPr>
              <a:t>,</a:t>
            </a:r>
            <a:endParaRPr sz="1100" dirty="0">
              <a:solidFill>
                <a:schemeClr val="dk1"/>
              </a:solidFill>
              <a:latin typeface="Calibri"/>
              <a:ea typeface="Calibri"/>
              <a:cs typeface="Calibri"/>
              <a:sym typeface="Calibri"/>
            </a:endParaRPr>
          </a:p>
          <a:p>
            <a:pPr marL="0" marR="0" lvl="0" indent="0" algn="l" rtl="0">
              <a:spcBef>
                <a:spcPts val="0"/>
              </a:spcBef>
              <a:spcAft>
                <a:spcPts val="0"/>
              </a:spcAft>
              <a:buClr>
                <a:srgbClr val="E2E8F0"/>
              </a:buClr>
              <a:buSzPts val="850"/>
              <a:buFont typeface="Consolas"/>
              <a:buNone/>
            </a:pPr>
            <a:r>
              <a:rPr lang="en" sz="1100" dirty="0">
                <a:solidFill>
                  <a:srgbClr val="E2E8F0"/>
                </a:solidFill>
                <a:sym typeface="Consolas"/>
              </a:rPr>
              <a:t>      </a:t>
            </a:r>
            <a:r>
              <a:rPr lang="en" sz="1100" dirty="0">
                <a:solidFill>
                  <a:srgbClr val="86EFAC"/>
                </a:solidFill>
                <a:sym typeface="Consolas"/>
              </a:rPr>
              <a:t>"properties"</a:t>
            </a:r>
            <a:r>
              <a:rPr lang="en" sz="1100" dirty="0">
                <a:solidFill>
                  <a:srgbClr val="E2E8F0"/>
                </a:solidFill>
                <a:sym typeface="Consolas"/>
              </a:rPr>
              <a:t>: {</a:t>
            </a:r>
            <a:endParaRPr sz="1100" dirty="0">
              <a:solidFill>
                <a:schemeClr val="dk1"/>
              </a:solidFill>
              <a:latin typeface="Calibri"/>
              <a:ea typeface="Calibri"/>
              <a:cs typeface="Calibri"/>
              <a:sym typeface="Calibri"/>
            </a:endParaRPr>
          </a:p>
          <a:p>
            <a:pPr marL="0" marR="0" lvl="0" indent="0" algn="l" rtl="0">
              <a:spcBef>
                <a:spcPts val="0"/>
              </a:spcBef>
              <a:spcAft>
                <a:spcPts val="0"/>
              </a:spcAft>
              <a:buClr>
                <a:srgbClr val="E2E8F0"/>
              </a:buClr>
              <a:buSzPts val="850"/>
              <a:buFont typeface="Consolas"/>
              <a:buNone/>
            </a:pPr>
            <a:r>
              <a:rPr lang="en" sz="1100" dirty="0">
                <a:solidFill>
                  <a:srgbClr val="E2E8F0"/>
                </a:solidFill>
                <a:sym typeface="Consolas"/>
              </a:rPr>
              <a:t>        </a:t>
            </a:r>
            <a:r>
              <a:rPr lang="en" sz="1100" dirty="0">
                <a:solidFill>
                  <a:srgbClr val="86EFAC"/>
                </a:solidFill>
                <a:sym typeface="Consolas"/>
              </a:rPr>
              <a:t>"location"</a:t>
            </a:r>
            <a:r>
              <a:rPr lang="en" sz="1100" dirty="0">
                <a:solidFill>
                  <a:srgbClr val="E2E8F0"/>
                </a:solidFill>
                <a:sym typeface="Consolas"/>
              </a:rPr>
              <a:t>: {</a:t>
            </a:r>
            <a:r>
              <a:rPr lang="en" sz="1100" dirty="0">
                <a:solidFill>
                  <a:srgbClr val="86EFAC"/>
                </a:solidFill>
                <a:sym typeface="Consolas"/>
              </a:rPr>
              <a:t>"type"</a:t>
            </a:r>
            <a:r>
              <a:rPr lang="en" sz="1100" dirty="0">
                <a:solidFill>
                  <a:srgbClr val="E2E8F0"/>
                </a:solidFill>
                <a:sym typeface="Consolas"/>
              </a:rPr>
              <a:t>: </a:t>
            </a:r>
            <a:r>
              <a:rPr lang="en" sz="1100" dirty="0">
                <a:solidFill>
                  <a:srgbClr val="86EFAC"/>
                </a:solidFill>
                <a:sym typeface="Consolas"/>
              </a:rPr>
              <a:t>"string"</a:t>
            </a:r>
            <a:r>
              <a:rPr lang="en" sz="1100" dirty="0">
                <a:solidFill>
                  <a:srgbClr val="E2E8F0"/>
                </a:solidFill>
                <a:sym typeface="Consolas"/>
              </a:rPr>
              <a:t>}</a:t>
            </a:r>
            <a:endParaRPr sz="1100" dirty="0">
              <a:solidFill>
                <a:schemeClr val="dk1"/>
              </a:solidFill>
              <a:latin typeface="Calibri"/>
              <a:ea typeface="Calibri"/>
              <a:cs typeface="Calibri"/>
              <a:sym typeface="Calibri"/>
            </a:endParaRPr>
          </a:p>
          <a:p>
            <a:pPr marL="0" marR="0" lvl="0" indent="0" algn="l" rtl="0">
              <a:spcBef>
                <a:spcPts val="0"/>
              </a:spcBef>
              <a:spcAft>
                <a:spcPts val="0"/>
              </a:spcAft>
              <a:buClr>
                <a:srgbClr val="E2E8F0"/>
              </a:buClr>
              <a:buSzPts val="850"/>
              <a:buFont typeface="Consolas"/>
              <a:buNone/>
            </a:pPr>
            <a:r>
              <a:rPr lang="en" sz="1100" dirty="0">
                <a:solidFill>
                  <a:srgbClr val="E2E8F0"/>
                </a:solidFill>
                <a:sym typeface="Consolas"/>
              </a:rPr>
              <a:t>      },</a:t>
            </a:r>
            <a:endParaRPr sz="1100" dirty="0">
              <a:solidFill>
                <a:schemeClr val="dk1"/>
              </a:solidFill>
              <a:latin typeface="Calibri"/>
              <a:ea typeface="Calibri"/>
              <a:cs typeface="Calibri"/>
              <a:sym typeface="Calibri"/>
            </a:endParaRPr>
          </a:p>
          <a:p>
            <a:pPr marL="0" marR="0" lvl="0" indent="0" algn="l" rtl="0">
              <a:spcBef>
                <a:spcPts val="0"/>
              </a:spcBef>
              <a:spcAft>
                <a:spcPts val="0"/>
              </a:spcAft>
              <a:buClr>
                <a:srgbClr val="E2E8F0"/>
              </a:buClr>
              <a:buSzPts val="850"/>
              <a:buFont typeface="Consolas"/>
              <a:buNone/>
            </a:pPr>
            <a:r>
              <a:rPr lang="en" sz="1100" dirty="0">
                <a:solidFill>
                  <a:srgbClr val="E2E8F0"/>
                </a:solidFill>
                <a:sym typeface="Consolas"/>
              </a:rPr>
              <a:t>      </a:t>
            </a:r>
            <a:r>
              <a:rPr lang="en" sz="1100" dirty="0">
                <a:solidFill>
                  <a:srgbClr val="86EFAC"/>
                </a:solidFill>
                <a:sym typeface="Consolas"/>
              </a:rPr>
              <a:t>"required"</a:t>
            </a:r>
            <a:r>
              <a:rPr lang="en" sz="1100" dirty="0">
                <a:solidFill>
                  <a:srgbClr val="E2E8F0"/>
                </a:solidFill>
                <a:sym typeface="Consolas"/>
              </a:rPr>
              <a:t>: [</a:t>
            </a:r>
            <a:r>
              <a:rPr lang="en" sz="1100" dirty="0">
                <a:solidFill>
                  <a:srgbClr val="86EFAC"/>
                </a:solidFill>
                <a:sym typeface="Consolas"/>
              </a:rPr>
              <a:t>"location"</a:t>
            </a:r>
            <a:r>
              <a:rPr lang="en" sz="1100" dirty="0">
                <a:solidFill>
                  <a:srgbClr val="E2E8F0"/>
                </a:solidFill>
                <a:sym typeface="Consolas"/>
              </a:rPr>
              <a:t>]</a:t>
            </a:r>
            <a:endParaRPr sz="1100" dirty="0">
              <a:solidFill>
                <a:schemeClr val="dk1"/>
              </a:solidFill>
              <a:latin typeface="Calibri"/>
              <a:ea typeface="Calibri"/>
              <a:cs typeface="Calibri"/>
              <a:sym typeface="Calibri"/>
            </a:endParaRPr>
          </a:p>
          <a:p>
            <a:pPr marL="0" marR="0" lvl="0" indent="0" algn="l" rtl="0">
              <a:spcBef>
                <a:spcPts val="0"/>
              </a:spcBef>
              <a:spcAft>
                <a:spcPts val="0"/>
              </a:spcAft>
              <a:buClr>
                <a:srgbClr val="E2E8F0"/>
              </a:buClr>
              <a:buSzPts val="850"/>
              <a:buFont typeface="Consolas"/>
              <a:buNone/>
            </a:pPr>
            <a:r>
              <a:rPr lang="en" sz="1100" dirty="0">
                <a:solidFill>
                  <a:srgbClr val="E2E8F0"/>
                </a:solidFill>
                <a:sym typeface="Consolas"/>
              </a:rPr>
              <a:t>    }</a:t>
            </a:r>
            <a:endParaRPr sz="1100" dirty="0">
              <a:solidFill>
                <a:schemeClr val="dk1"/>
              </a:solidFill>
              <a:latin typeface="Calibri"/>
              <a:ea typeface="Calibri"/>
              <a:cs typeface="Calibri"/>
              <a:sym typeface="Calibri"/>
            </a:endParaRPr>
          </a:p>
          <a:p>
            <a:pPr marL="0" marR="0" lvl="0" indent="0" algn="l" rtl="0">
              <a:spcBef>
                <a:spcPts val="0"/>
              </a:spcBef>
              <a:spcAft>
                <a:spcPts val="0"/>
              </a:spcAft>
              <a:buClr>
                <a:srgbClr val="E2E8F0"/>
              </a:buClr>
              <a:buSzPts val="850"/>
              <a:buFont typeface="Consolas"/>
              <a:buNone/>
            </a:pPr>
            <a:r>
              <a:rPr lang="en" sz="1100" dirty="0">
                <a:solidFill>
                  <a:srgbClr val="E2E8F0"/>
                </a:solidFill>
                <a:sym typeface="Consolas"/>
              </a:rPr>
              <a:t>  }</a:t>
            </a:r>
            <a:endParaRPr sz="1100" dirty="0">
              <a:solidFill>
                <a:schemeClr val="dk1"/>
              </a:solidFill>
              <a:latin typeface="Calibri"/>
              <a:ea typeface="Calibri"/>
              <a:cs typeface="Calibri"/>
              <a:sym typeface="Calibri"/>
            </a:endParaRPr>
          </a:p>
          <a:p>
            <a:pPr marL="0" marR="0" lvl="0" indent="0" algn="l" rtl="0">
              <a:spcBef>
                <a:spcPts val="0"/>
              </a:spcBef>
              <a:spcAft>
                <a:spcPts val="0"/>
              </a:spcAft>
              <a:buClr>
                <a:srgbClr val="E2E8F0"/>
              </a:buClr>
              <a:buSzPts val="850"/>
              <a:buFont typeface="Consolas"/>
              <a:buNone/>
            </a:pPr>
            <a:r>
              <a:rPr lang="en" sz="1100" dirty="0">
                <a:solidFill>
                  <a:srgbClr val="E2E8F0"/>
                </a:solidFill>
                <a:sym typeface="Consolas"/>
              </a:rPr>
              <a:t>}]</a:t>
            </a:r>
            <a:endParaRPr sz="1100" dirty="0">
              <a:solidFill>
                <a:schemeClr val="dk1"/>
              </a:solidFill>
              <a:latin typeface="Calibri"/>
              <a:ea typeface="Calibri"/>
              <a:cs typeface="Calibri"/>
              <a:sym typeface="Calibri"/>
            </a:endParaRPr>
          </a:p>
          <a:p>
            <a:pPr marL="0" marR="0" lvl="0" indent="0" algn="l" rtl="0">
              <a:spcBef>
                <a:spcPts val="0"/>
              </a:spcBef>
              <a:spcAft>
                <a:spcPts val="0"/>
              </a:spcAft>
              <a:buClr>
                <a:srgbClr val="E2E8F0"/>
              </a:buClr>
              <a:buSzPts val="850"/>
              <a:buFont typeface="Consolas"/>
              <a:buNone/>
            </a:pPr>
            <a:r>
              <a:rPr lang="en" sz="1100" dirty="0">
                <a:solidFill>
                  <a:srgbClr val="E2E8F0"/>
                </a:solidFill>
                <a:sym typeface="Consolas"/>
              </a:rPr>
              <a:t>resp = </a:t>
            </a:r>
            <a:r>
              <a:rPr lang="en" sz="1100" dirty="0" err="1">
                <a:solidFill>
                  <a:srgbClr val="E2E8F0"/>
                </a:solidFill>
                <a:sym typeface="Consolas"/>
              </a:rPr>
              <a:t>client.chat.completions.create</a:t>
            </a:r>
            <a:r>
              <a:rPr lang="en" sz="1100" dirty="0">
                <a:solidFill>
                  <a:srgbClr val="E2E8F0"/>
                </a:solidFill>
                <a:sym typeface="Consolas"/>
              </a:rPr>
              <a:t>(</a:t>
            </a:r>
            <a:endParaRPr sz="1100" dirty="0">
              <a:solidFill>
                <a:schemeClr val="dk1"/>
              </a:solidFill>
              <a:latin typeface="Calibri"/>
              <a:ea typeface="Calibri"/>
              <a:cs typeface="Calibri"/>
              <a:sym typeface="Calibri"/>
            </a:endParaRPr>
          </a:p>
          <a:p>
            <a:pPr marL="0" marR="0" lvl="0" indent="0" algn="l" rtl="0">
              <a:spcBef>
                <a:spcPts val="0"/>
              </a:spcBef>
              <a:spcAft>
                <a:spcPts val="0"/>
              </a:spcAft>
              <a:buClr>
                <a:srgbClr val="E2E8F0"/>
              </a:buClr>
              <a:buSzPts val="850"/>
              <a:buFont typeface="Consolas"/>
              <a:buNone/>
            </a:pPr>
            <a:r>
              <a:rPr lang="en" sz="1100" dirty="0">
                <a:solidFill>
                  <a:srgbClr val="E2E8F0"/>
                </a:solidFill>
                <a:sym typeface="Consolas"/>
              </a:rPr>
              <a:t>  </a:t>
            </a:r>
            <a:r>
              <a:rPr lang="en" sz="1100" dirty="0">
                <a:solidFill>
                  <a:srgbClr val="7DD3FC"/>
                </a:solidFill>
                <a:sym typeface="Consolas"/>
              </a:rPr>
              <a:t>model</a:t>
            </a:r>
            <a:r>
              <a:rPr lang="en" sz="1100" dirty="0">
                <a:solidFill>
                  <a:srgbClr val="E2E8F0"/>
                </a:solidFill>
                <a:sym typeface="Consolas"/>
              </a:rPr>
              <a:t>=</a:t>
            </a:r>
            <a:r>
              <a:rPr lang="en" sz="1100" dirty="0">
                <a:solidFill>
                  <a:srgbClr val="86EFAC"/>
                </a:solidFill>
                <a:sym typeface="Consolas"/>
              </a:rPr>
              <a:t>"gpt-4o"</a:t>
            </a:r>
            <a:r>
              <a:rPr lang="en" sz="1100" dirty="0">
                <a:solidFill>
                  <a:srgbClr val="E2E8F0"/>
                </a:solidFill>
                <a:sym typeface="Consolas"/>
              </a:rPr>
              <a:t>, </a:t>
            </a:r>
            <a:r>
              <a:rPr lang="en" sz="1100" dirty="0">
                <a:solidFill>
                  <a:srgbClr val="7DD3FC"/>
                </a:solidFill>
                <a:sym typeface="Consolas"/>
              </a:rPr>
              <a:t>messages</a:t>
            </a:r>
            <a:r>
              <a:rPr lang="en" sz="1100" dirty="0">
                <a:solidFill>
                  <a:srgbClr val="E2E8F0"/>
                </a:solidFill>
                <a:sym typeface="Consolas"/>
              </a:rPr>
              <a:t>=</a:t>
            </a:r>
            <a:r>
              <a:rPr lang="en" sz="1100" dirty="0" err="1">
                <a:solidFill>
                  <a:srgbClr val="E2E8F0"/>
                </a:solidFill>
                <a:sym typeface="Consolas"/>
              </a:rPr>
              <a:t>msgs</a:t>
            </a:r>
            <a:r>
              <a:rPr lang="en" sz="1100" dirty="0">
                <a:solidFill>
                  <a:srgbClr val="E2E8F0"/>
                </a:solidFill>
                <a:sym typeface="Consolas"/>
              </a:rPr>
              <a:t>,</a:t>
            </a:r>
            <a:endParaRPr sz="1100" dirty="0">
              <a:solidFill>
                <a:schemeClr val="dk1"/>
              </a:solidFill>
              <a:latin typeface="Calibri"/>
              <a:ea typeface="Calibri"/>
              <a:cs typeface="Calibri"/>
              <a:sym typeface="Calibri"/>
            </a:endParaRPr>
          </a:p>
          <a:p>
            <a:pPr marL="0" marR="0" lvl="0" indent="0" algn="l" rtl="0">
              <a:spcBef>
                <a:spcPts val="0"/>
              </a:spcBef>
              <a:spcAft>
                <a:spcPts val="0"/>
              </a:spcAft>
              <a:buClr>
                <a:srgbClr val="E2E8F0"/>
              </a:buClr>
              <a:buSzPts val="850"/>
              <a:buFont typeface="Consolas"/>
              <a:buNone/>
            </a:pPr>
            <a:r>
              <a:rPr lang="en" sz="1100" dirty="0">
                <a:solidFill>
                  <a:srgbClr val="E2E8F0"/>
                </a:solidFill>
                <a:sym typeface="Consolas"/>
              </a:rPr>
              <a:t>  tools=tools, </a:t>
            </a:r>
            <a:r>
              <a:rPr lang="en" sz="1100" dirty="0" err="1">
                <a:solidFill>
                  <a:srgbClr val="E2E8F0"/>
                </a:solidFill>
                <a:sym typeface="Consolas"/>
              </a:rPr>
              <a:t>tool_choice</a:t>
            </a:r>
            <a:r>
              <a:rPr lang="en" sz="1100" dirty="0">
                <a:solidFill>
                  <a:srgbClr val="E2E8F0"/>
                </a:solidFill>
                <a:sym typeface="Consolas"/>
              </a:rPr>
              <a:t>=</a:t>
            </a:r>
            <a:r>
              <a:rPr lang="en" sz="1100" dirty="0">
                <a:solidFill>
                  <a:srgbClr val="86EFAC"/>
                </a:solidFill>
                <a:sym typeface="Consolas"/>
              </a:rPr>
              <a:t>"auto"</a:t>
            </a:r>
            <a:endParaRPr sz="1100" dirty="0">
              <a:solidFill>
                <a:schemeClr val="dk1"/>
              </a:solidFill>
              <a:latin typeface="Calibri"/>
              <a:ea typeface="Calibri"/>
              <a:cs typeface="Calibri"/>
              <a:sym typeface="Calibri"/>
            </a:endParaRPr>
          </a:p>
          <a:p>
            <a:pPr marL="0" marR="0" lvl="0" indent="0" algn="l" rtl="0">
              <a:spcBef>
                <a:spcPts val="0"/>
              </a:spcBef>
              <a:spcAft>
                <a:spcPts val="0"/>
              </a:spcAft>
              <a:buClr>
                <a:srgbClr val="E2E8F0"/>
              </a:buClr>
              <a:buSzPts val="850"/>
              <a:buFont typeface="Consolas"/>
              <a:buNone/>
            </a:pPr>
            <a:r>
              <a:rPr lang="en" sz="1100" dirty="0">
                <a:solidFill>
                  <a:srgbClr val="E2E8F0"/>
                </a:solidFill>
                <a:sym typeface="Consolas"/>
              </a:rPr>
              <a:t>)</a:t>
            </a:r>
            <a:endParaRPr sz="1100" dirty="0">
              <a:solidFill>
                <a:schemeClr val="dk1"/>
              </a:solidFill>
              <a:latin typeface="Calibri"/>
              <a:ea typeface="Calibri"/>
              <a:cs typeface="Calibri"/>
              <a:sym typeface="Calibri"/>
            </a:endParaRPr>
          </a:p>
        </p:txBody>
      </p:sp>
      <p:sp>
        <p:nvSpPr>
          <p:cNvPr id="179" name="Google Shape;179;p19"/>
          <p:cNvSpPr/>
          <p:nvPr/>
        </p:nvSpPr>
        <p:spPr>
          <a:xfrm>
            <a:off x="4480560" y="3886200"/>
            <a:ext cx="4297800" cy="749700"/>
          </a:xfrm>
          <a:prstGeom prst="rect">
            <a:avLst/>
          </a:prstGeom>
          <a:solidFill>
            <a:srgbClr val="CCFBF1"/>
          </a:solidFill>
          <a:ln w="12700" cap="flat" cmpd="sng">
            <a:solidFill>
              <a:srgbClr val="0D948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600"/>
          </a:p>
        </p:txBody>
      </p:sp>
      <p:sp>
        <p:nvSpPr>
          <p:cNvPr id="180" name="Google Shape;180;p19"/>
          <p:cNvSpPr/>
          <p:nvPr/>
        </p:nvSpPr>
        <p:spPr>
          <a:xfrm>
            <a:off x="4617720" y="3931920"/>
            <a:ext cx="4023300" cy="6585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D9488"/>
              </a:buClr>
              <a:buSzPts val="850"/>
              <a:buFont typeface="Calibri"/>
              <a:buNone/>
            </a:pPr>
            <a:r>
              <a:rPr lang="en" sz="1000" b="1" dirty="0">
                <a:solidFill>
                  <a:srgbClr val="0D9488"/>
                </a:solidFill>
                <a:sym typeface="Calibri"/>
              </a:rPr>
              <a:t>JSON mode: </a:t>
            </a:r>
            <a:r>
              <a:rPr lang="en" sz="1000" dirty="0">
                <a:solidFill>
                  <a:srgbClr val="1A1F36"/>
                </a:solidFill>
                <a:sym typeface="Calibri"/>
              </a:rPr>
              <a:t>Set </a:t>
            </a:r>
            <a:r>
              <a:rPr lang="en" sz="1000" dirty="0" err="1">
                <a:solidFill>
                  <a:srgbClr val="1A1F36"/>
                </a:solidFill>
                <a:sym typeface="Calibri"/>
              </a:rPr>
              <a:t>response_format</a:t>
            </a:r>
            <a:r>
              <a:rPr lang="en" sz="1000" dirty="0">
                <a:solidFill>
                  <a:srgbClr val="1A1F36"/>
                </a:solidFill>
                <a:sym typeface="Calibri"/>
              </a:rPr>
              <a:t>={"type":"</a:t>
            </a:r>
            <a:r>
              <a:rPr lang="en" sz="1000" dirty="0" err="1">
                <a:solidFill>
                  <a:srgbClr val="1A1F36"/>
                </a:solidFill>
                <a:sym typeface="Calibri"/>
              </a:rPr>
              <a:t>json_object</a:t>
            </a:r>
            <a:r>
              <a:rPr lang="en" sz="1000" dirty="0">
                <a:solidFill>
                  <a:srgbClr val="1A1F36"/>
                </a:solidFill>
                <a:sym typeface="Calibri"/>
              </a:rPr>
              <a:t>"} — model always returns valid JSON. Structured Outputs (</a:t>
            </a:r>
            <a:r>
              <a:rPr lang="en" sz="1000" dirty="0" err="1">
                <a:solidFill>
                  <a:srgbClr val="1A1F36"/>
                </a:solidFill>
                <a:sym typeface="Calibri"/>
              </a:rPr>
              <a:t>strict:true</a:t>
            </a:r>
            <a:r>
              <a:rPr lang="en" sz="1000" dirty="0">
                <a:solidFill>
                  <a:srgbClr val="1A1F36"/>
                </a:solidFill>
                <a:sym typeface="Calibri"/>
              </a:rPr>
              <a:t>) guarantees schema compliance.</a:t>
            </a:r>
            <a:endParaRPr sz="1000" dirty="0">
              <a:solidFill>
                <a:schemeClr val="dk1"/>
              </a:solidFill>
              <a:latin typeface="Calibri"/>
              <a:ea typeface="Calibri"/>
              <a:cs typeface="Calibri"/>
              <a:sym typeface="Calibri"/>
            </a:endParaRPr>
          </a:p>
        </p:txBody>
      </p:sp>
      <p:pic>
        <p:nvPicPr>
          <p:cNvPr id="2" name="Google Shape;109;p20">
            <a:extLst>
              <a:ext uri="{FF2B5EF4-FFF2-40B4-BE49-F238E27FC236}">
                <a16:creationId xmlns:a16="http://schemas.microsoft.com/office/drawing/2014/main" id="{E22A0143-D119-5550-9CE0-4BBAB21BAFAA}"/>
              </a:ext>
            </a:extLst>
          </p:cNvPr>
          <p:cNvPicPr preferRelativeResize="0"/>
          <p:nvPr/>
        </p:nvPicPr>
        <p:blipFill>
          <a:blip r:embed="rId4">
            <a:alphaModFix/>
          </a:blip>
          <a:stretch>
            <a:fillRect/>
          </a:stretch>
        </p:blipFill>
        <p:spPr>
          <a:xfrm>
            <a:off x="8369125" y="0"/>
            <a:ext cx="774877" cy="867174"/>
          </a:xfrm>
          <a:prstGeom prst="rect">
            <a:avLst/>
          </a:prstGeom>
          <a:noFill/>
          <a:ln>
            <a:noFill/>
          </a:ln>
        </p:spPr>
      </p:pic>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Shape 203"/>
        <p:cNvGrpSpPr/>
        <p:nvPr/>
      </p:nvGrpSpPr>
      <p:grpSpPr>
        <a:xfrm>
          <a:off x="0" y="0"/>
          <a:ext cx="0" cy="0"/>
          <a:chOff x="0" y="0"/>
          <a:chExt cx="0" cy="0"/>
        </a:xfrm>
      </p:grpSpPr>
      <p:sp>
        <p:nvSpPr>
          <p:cNvPr id="204" name="Google Shape;204;p22"/>
          <p:cNvSpPr/>
          <p:nvPr/>
        </p:nvSpPr>
        <p:spPr>
          <a:xfrm>
            <a:off x="-150650" y="225297"/>
            <a:ext cx="9144000" cy="502800"/>
          </a:xfrm>
          <a:prstGeom prst="rect">
            <a:avLst/>
          </a:prstGeom>
          <a:noFill/>
          <a:ln w="12700" cap="flat" cmpd="sng">
            <a:no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2300" b="1" dirty="0">
                <a:solidFill>
                  <a:srgbClr val="1E2761"/>
                </a:solidFill>
                <a:latin typeface="Georgia"/>
              </a:rPr>
              <a:t> 	Coding &amp; Reasoning Models</a:t>
            </a:r>
            <a:endParaRPr sz="2300" b="1" dirty="0">
              <a:solidFill>
                <a:schemeClr val="tx1"/>
              </a:solidFill>
            </a:endParaRPr>
          </a:p>
        </p:txBody>
      </p:sp>
      <p:sp>
        <p:nvSpPr>
          <p:cNvPr id="205" name="Google Shape;205;p22"/>
          <p:cNvSpPr txBox="1"/>
          <p:nvPr/>
        </p:nvSpPr>
        <p:spPr>
          <a:xfrm>
            <a:off x="270100" y="634150"/>
            <a:ext cx="8302500" cy="6480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200"/>
              </a:spcBef>
              <a:spcAft>
                <a:spcPts val="1200"/>
              </a:spcAft>
              <a:buNone/>
            </a:pPr>
            <a:r>
              <a:rPr lang="en" dirty="0">
                <a:solidFill>
                  <a:srgbClr val="1A1F36"/>
                </a:solidFill>
                <a:latin typeface="Calibri"/>
              </a:rPr>
              <a:t>These models are specifically optimized for software engineering tasks, including code generation, debugging, and long-horizon development workflows.</a:t>
            </a:r>
            <a:endParaRPr dirty="0"/>
          </a:p>
        </p:txBody>
      </p:sp>
      <p:sp>
        <p:nvSpPr>
          <p:cNvPr id="206" name="Google Shape;206;p22"/>
          <p:cNvSpPr txBox="1"/>
          <p:nvPr/>
        </p:nvSpPr>
        <p:spPr>
          <a:xfrm>
            <a:off x="375774" y="1467875"/>
            <a:ext cx="3377241" cy="23778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400"/>
              </a:spcBef>
              <a:spcAft>
                <a:spcPts val="0"/>
              </a:spcAft>
              <a:buNone/>
            </a:pPr>
            <a:r>
              <a:rPr lang="en" sz="1300" b="1" dirty="0">
                <a:solidFill>
                  <a:srgbClr val="1A1F36"/>
                </a:solidFill>
                <a:latin typeface="Calibri"/>
              </a:rPr>
              <a:t>GPT-5.3-Codex</a:t>
            </a:r>
            <a:endParaRPr sz="1300" b="1" dirty="0">
              <a:solidFill>
                <a:schemeClr val="dk1"/>
              </a:solidFill>
            </a:endParaRPr>
          </a:p>
          <a:p>
            <a:pPr marL="457200" lvl="0" indent="-298450" algn="l" rtl="0">
              <a:lnSpc>
                <a:spcPct val="115000"/>
              </a:lnSpc>
              <a:spcBef>
                <a:spcPts val="1200"/>
              </a:spcBef>
              <a:spcAft>
                <a:spcPts val="0"/>
              </a:spcAft>
              <a:buClr>
                <a:schemeClr val="dk1"/>
              </a:buClr>
              <a:buSzPts val="1100"/>
              <a:buChar char="●"/>
            </a:pPr>
            <a:r>
              <a:rPr lang="en" sz="1100" dirty="0">
                <a:solidFill>
                  <a:srgbClr val="1A1F36"/>
                </a:solidFill>
                <a:latin typeface="Calibri"/>
              </a:rPr>
              <a:t>Highly capable </a:t>
            </a:r>
            <a:r>
              <a:rPr lang="en" sz="1100" b="1" dirty="0">
                <a:solidFill>
                  <a:srgbClr val="1A1F36"/>
                </a:solidFill>
                <a:latin typeface="Calibri"/>
              </a:rPr>
              <a:t>agentic coding model</a:t>
            </a:r>
            <a:endParaRPr sz="1100" b="1" dirty="0">
              <a:solidFill>
                <a:schemeClr val="dk1"/>
              </a:solidFill>
            </a:endParaRPr>
          </a:p>
          <a:p>
            <a:pPr marL="457200" lvl="0" indent="-298450" algn="l" rtl="0">
              <a:lnSpc>
                <a:spcPct val="115000"/>
              </a:lnSpc>
              <a:spcBef>
                <a:spcPts val="1200"/>
              </a:spcBef>
              <a:spcAft>
                <a:spcPts val="0"/>
              </a:spcAft>
              <a:buClr>
                <a:schemeClr val="dk1"/>
              </a:buClr>
              <a:buSzPts val="1100"/>
              <a:buChar char="●"/>
            </a:pPr>
            <a:r>
              <a:rPr lang="en" sz="1100" dirty="0">
                <a:solidFill>
                  <a:srgbClr val="1A1F36"/>
                </a:solidFill>
                <a:latin typeface="Calibri"/>
              </a:rPr>
              <a:t>Handles </a:t>
            </a:r>
            <a:r>
              <a:rPr lang="en" sz="1100" b="1" dirty="0">
                <a:solidFill>
                  <a:srgbClr val="1A1F36"/>
                </a:solidFill>
                <a:latin typeface="Calibri"/>
              </a:rPr>
              <a:t>large codebases and multi-step development tasks</a:t>
            </a:r>
            <a:endParaRPr sz="1100" b="1" dirty="0">
              <a:solidFill>
                <a:schemeClr val="dk1"/>
              </a:solidFill>
            </a:endParaRPr>
          </a:p>
          <a:p>
            <a:pPr marL="457200" lvl="0" indent="-298450" algn="l" rtl="0">
              <a:lnSpc>
                <a:spcPct val="115000"/>
              </a:lnSpc>
              <a:spcBef>
                <a:spcPts val="1200"/>
              </a:spcBef>
              <a:spcAft>
                <a:spcPts val="0"/>
              </a:spcAft>
              <a:buClr>
                <a:schemeClr val="dk1"/>
              </a:buClr>
              <a:buSzPts val="1100"/>
              <a:buChar char="●"/>
            </a:pPr>
            <a:r>
              <a:rPr lang="en" sz="1100" dirty="0">
                <a:solidFill>
                  <a:srgbClr val="1A1F36"/>
                </a:solidFill>
                <a:latin typeface="Calibri"/>
              </a:rPr>
              <a:t>Strong debugging and refactoring capabilities</a:t>
            </a:r>
            <a:endParaRPr sz="1100" dirty="0">
              <a:solidFill>
                <a:schemeClr val="dk1"/>
              </a:solidFill>
            </a:endParaRPr>
          </a:p>
          <a:p>
            <a:pPr marL="457200" lvl="0" indent="-298450" algn="l" rtl="0">
              <a:lnSpc>
                <a:spcPct val="115000"/>
              </a:lnSpc>
              <a:spcBef>
                <a:spcPts val="1200"/>
              </a:spcBef>
              <a:spcAft>
                <a:spcPts val="0"/>
              </a:spcAft>
              <a:buClr>
                <a:schemeClr val="dk1"/>
              </a:buClr>
              <a:buSzPts val="1100"/>
              <a:buChar char="●"/>
            </a:pPr>
            <a:r>
              <a:rPr lang="en" sz="1100" dirty="0">
                <a:solidFill>
                  <a:srgbClr val="1A1F36"/>
                </a:solidFill>
                <a:latin typeface="Calibri"/>
              </a:rPr>
              <a:t>Suitable for advanced developer tools </a:t>
            </a:r>
            <a:endParaRPr sz="1100" dirty="0">
              <a:solidFill>
                <a:schemeClr val="dk1"/>
              </a:solidFill>
            </a:endParaRPr>
          </a:p>
        </p:txBody>
      </p:sp>
      <p:sp>
        <p:nvSpPr>
          <p:cNvPr id="207" name="Google Shape;207;p22"/>
          <p:cNvSpPr txBox="1"/>
          <p:nvPr/>
        </p:nvSpPr>
        <p:spPr>
          <a:xfrm>
            <a:off x="4707172" y="1467875"/>
            <a:ext cx="3483303" cy="2572469"/>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400"/>
              </a:spcBef>
              <a:spcAft>
                <a:spcPts val="0"/>
              </a:spcAft>
              <a:buNone/>
            </a:pPr>
            <a:r>
              <a:rPr lang="en" sz="1300" b="1" dirty="0">
                <a:solidFill>
                  <a:srgbClr val="1A1F36"/>
                </a:solidFill>
                <a:latin typeface="Calibri"/>
              </a:rPr>
              <a:t>GPT-5.1-Codex</a:t>
            </a:r>
            <a:endParaRPr sz="1300" b="1" dirty="0">
              <a:solidFill>
                <a:schemeClr val="dk1"/>
              </a:solidFill>
            </a:endParaRPr>
          </a:p>
          <a:p>
            <a:pPr marL="457200" lvl="0" indent="-298450" algn="l" rtl="0">
              <a:lnSpc>
                <a:spcPct val="115000"/>
              </a:lnSpc>
              <a:spcBef>
                <a:spcPts val="1200"/>
              </a:spcBef>
              <a:spcAft>
                <a:spcPts val="0"/>
              </a:spcAft>
              <a:buClr>
                <a:schemeClr val="dk1"/>
              </a:buClr>
              <a:buSzPts val="1100"/>
              <a:buChar char="●"/>
            </a:pPr>
            <a:r>
              <a:rPr lang="en" sz="1100" dirty="0">
                <a:solidFill>
                  <a:srgbClr val="1A1F36"/>
                </a:solidFill>
                <a:latin typeface="Calibri"/>
              </a:rPr>
              <a:t>Optimized for </a:t>
            </a:r>
            <a:r>
              <a:rPr lang="en" sz="1100" b="1" dirty="0">
                <a:solidFill>
                  <a:srgbClr val="1A1F36"/>
                </a:solidFill>
                <a:latin typeface="Calibri"/>
              </a:rPr>
              <a:t>structured programming tasks</a:t>
            </a:r>
            <a:endParaRPr sz="1100" b="1" dirty="0">
              <a:solidFill>
                <a:schemeClr val="dk1"/>
              </a:solidFill>
            </a:endParaRPr>
          </a:p>
          <a:p>
            <a:pPr marL="457200" lvl="0" indent="-298450" algn="l" rtl="0">
              <a:lnSpc>
                <a:spcPct val="115000"/>
              </a:lnSpc>
              <a:spcBef>
                <a:spcPts val="1200"/>
              </a:spcBef>
              <a:spcAft>
                <a:spcPts val="0"/>
              </a:spcAft>
              <a:buClr>
                <a:schemeClr val="dk1"/>
              </a:buClr>
              <a:buSzPts val="1100"/>
              <a:buChar char="●"/>
            </a:pPr>
            <a:r>
              <a:rPr lang="en" sz="1100" dirty="0">
                <a:solidFill>
                  <a:srgbClr val="1A1F36"/>
                </a:solidFill>
                <a:latin typeface="Calibri"/>
              </a:rPr>
              <a:t>More efficient for </a:t>
            </a:r>
            <a:r>
              <a:rPr lang="en" sz="1100" b="1" dirty="0">
                <a:solidFill>
                  <a:srgbClr val="1A1F36"/>
                </a:solidFill>
                <a:latin typeface="Calibri"/>
              </a:rPr>
              <a:t>mid-level coding workflows</a:t>
            </a:r>
            <a:endParaRPr sz="1100" b="1" dirty="0">
              <a:solidFill>
                <a:schemeClr val="dk1"/>
              </a:solidFill>
            </a:endParaRPr>
          </a:p>
          <a:p>
            <a:pPr marL="457200" lvl="0" indent="-298450" algn="l" rtl="0">
              <a:lnSpc>
                <a:spcPct val="115000"/>
              </a:lnSpc>
              <a:spcBef>
                <a:spcPts val="1200"/>
              </a:spcBef>
              <a:spcAft>
                <a:spcPts val="0"/>
              </a:spcAft>
              <a:buClr>
                <a:schemeClr val="dk1"/>
              </a:buClr>
              <a:buSzPts val="1100"/>
              <a:buChar char="●"/>
            </a:pPr>
            <a:r>
              <a:rPr lang="en" sz="1100" dirty="0">
                <a:solidFill>
                  <a:srgbClr val="1A1F36"/>
                </a:solidFill>
                <a:latin typeface="Calibri"/>
              </a:rPr>
              <a:t>Good balance between speed and capability</a:t>
            </a:r>
            <a:endParaRPr sz="1100" dirty="0">
              <a:solidFill>
                <a:schemeClr val="dk1"/>
              </a:solidFill>
            </a:endParaRPr>
          </a:p>
          <a:p>
            <a:pPr marL="457200" lvl="0" indent="-298450" algn="l" rtl="0">
              <a:lnSpc>
                <a:spcPct val="115000"/>
              </a:lnSpc>
              <a:spcBef>
                <a:spcPts val="1200"/>
              </a:spcBef>
              <a:spcAft>
                <a:spcPts val="0"/>
              </a:spcAft>
              <a:buClr>
                <a:schemeClr val="dk1"/>
              </a:buClr>
              <a:buSzPts val="1100"/>
              <a:buChar char="●"/>
            </a:pPr>
            <a:r>
              <a:rPr lang="en" sz="1100" dirty="0">
                <a:solidFill>
                  <a:srgbClr val="1A1F36"/>
                </a:solidFill>
                <a:latin typeface="Calibri"/>
              </a:rPr>
              <a:t>Useful for automation and backend development</a:t>
            </a:r>
            <a:endParaRPr sz="1300" b="1" dirty="0">
              <a:solidFill>
                <a:schemeClr val="dk1"/>
              </a:solidFill>
            </a:endParaRPr>
          </a:p>
        </p:txBody>
      </p:sp>
      <p:pic>
        <p:nvPicPr>
          <p:cNvPr id="208" name="Google Shape;208;p22" descr="preencoded.png"/>
          <p:cNvPicPr preferRelativeResize="0"/>
          <p:nvPr/>
        </p:nvPicPr>
        <p:blipFill rotWithShape="1">
          <a:blip r:embed="rId3">
            <a:alphaModFix/>
          </a:blip>
          <a:srcRect/>
          <a:stretch/>
        </p:blipFill>
        <p:spPr>
          <a:xfrm>
            <a:off x="274320" y="64008"/>
            <a:ext cx="365760" cy="365760"/>
          </a:xfrm>
          <a:prstGeom prst="rect">
            <a:avLst/>
          </a:prstGeom>
          <a:noFill/>
          <a:ln>
            <a:noFill/>
          </a:ln>
        </p:spPr>
      </p:pic>
      <p:pic>
        <p:nvPicPr>
          <p:cNvPr id="2" name="Google Shape;109;p20">
            <a:extLst>
              <a:ext uri="{FF2B5EF4-FFF2-40B4-BE49-F238E27FC236}">
                <a16:creationId xmlns:a16="http://schemas.microsoft.com/office/drawing/2014/main" id="{E697B710-15F3-47AA-3D9F-A57AEA493E9F}"/>
              </a:ext>
            </a:extLst>
          </p:cNvPr>
          <p:cNvPicPr preferRelativeResize="0"/>
          <p:nvPr/>
        </p:nvPicPr>
        <p:blipFill>
          <a:blip r:embed="rId4">
            <a:alphaModFix/>
          </a:blip>
          <a:stretch>
            <a:fillRect/>
          </a:stretch>
        </p:blipFill>
        <p:spPr>
          <a:xfrm>
            <a:off x="8369125" y="0"/>
            <a:ext cx="774877" cy="867174"/>
          </a:xfrm>
          <a:prstGeom prst="rect">
            <a:avLst/>
          </a:prstGeom>
          <a:noFill/>
          <a:ln>
            <a:noFill/>
          </a:ln>
        </p:spPr>
      </p:pic>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Shape 248"/>
        <p:cNvGrpSpPr/>
        <p:nvPr/>
      </p:nvGrpSpPr>
      <p:grpSpPr>
        <a:xfrm>
          <a:off x="0" y="0"/>
          <a:ext cx="0" cy="0"/>
          <a:chOff x="0" y="0"/>
          <a:chExt cx="0" cy="0"/>
        </a:xfrm>
      </p:grpSpPr>
      <p:sp>
        <p:nvSpPr>
          <p:cNvPr id="250" name="Google Shape;250;p26"/>
          <p:cNvSpPr/>
          <p:nvPr/>
        </p:nvSpPr>
        <p:spPr>
          <a:xfrm>
            <a:off x="0" y="502920"/>
            <a:ext cx="9144000" cy="36600"/>
          </a:xfrm>
          <a:prstGeom prst="rect">
            <a:avLst/>
          </a:prstGeom>
          <a:solidFill>
            <a:srgbClr val="FFFFFF"/>
          </a:solidFill>
          <a:ln w="1270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251" name="Google Shape;251;p26" descr="preencoded.png"/>
          <p:cNvPicPr preferRelativeResize="0"/>
          <p:nvPr/>
        </p:nvPicPr>
        <p:blipFill rotWithShape="1">
          <a:blip r:embed="rId3">
            <a:alphaModFix/>
          </a:blip>
          <a:srcRect/>
          <a:stretch/>
        </p:blipFill>
        <p:spPr>
          <a:xfrm>
            <a:off x="274320" y="64008"/>
            <a:ext cx="365760" cy="365760"/>
          </a:xfrm>
          <a:prstGeom prst="rect">
            <a:avLst/>
          </a:prstGeom>
          <a:noFill/>
          <a:ln>
            <a:noFill/>
          </a:ln>
        </p:spPr>
      </p:pic>
      <p:sp>
        <p:nvSpPr>
          <p:cNvPr id="252" name="Google Shape;252;p26"/>
          <p:cNvSpPr/>
          <p:nvPr/>
        </p:nvSpPr>
        <p:spPr>
          <a:xfrm>
            <a:off x="777240" y="45720"/>
            <a:ext cx="7315200" cy="438900"/>
          </a:xfrm>
          <a:prstGeom prst="rect">
            <a:avLst/>
          </a:prstGeom>
          <a:noFill/>
          <a:ln>
            <a:noFill/>
          </a:ln>
        </p:spPr>
        <p:txBody>
          <a:bodyPr spcFirstLastPara="1" wrap="square" lIns="0" tIns="0" rIns="0" bIns="0" anchor="ctr" anchorCtr="0">
            <a:noAutofit/>
          </a:bodyPr>
          <a:lstStyle/>
          <a:p>
            <a:pPr marL="0" lvl="0" indent="0" algn="l" rtl="0">
              <a:lnSpc>
                <a:spcPct val="115000"/>
              </a:lnSpc>
              <a:spcBef>
                <a:spcPts val="1200"/>
              </a:spcBef>
              <a:spcAft>
                <a:spcPts val="1200"/>
              </a:spcAft>
              <a:buClr>
                <a:schemeClr val="dk1"/>
              </a:buClr>
              <a:buSzPts val="1100"/>
              <a:buFont typeface="Arial"/>
              <a:buNone/>
            </a:pPr>
            <a:r>
              <a:rPr lang="en" sz="2300" b="1" dirty="0">
                <a:solidFill>
                  <a:srgbClr val="1E2761"/>
                </a:solidFill>
                <a:latin typeface="Georgia"/>
              </a:rPr>
              <a:t>Example - Chatbot Application</a:t>
            </a:r>
            <a:endParaRPr sz="2300" b="1" dirty="0">
              <a:solidFill>
                <a:schemeClr val="tx1"/>
              </a:solidFill>
              <a:latin typeface="Calibri"/>
              <a:ea typeface="Calibri"/>
              <a:cs typeface="Calibri"/>
              <a:sym typeface="Calibri"/>
            </a:endParaRPr>
          </a:p>
        </p:txBody>
      </p:sp>
      <p:sp>
        <p:nvSpPr>
          <p:cNvPr id="254" name="Google Shape;254;p26"/>
          <p:cNvSpPr txBox="1"/>
          <p:nvPr/>
        </p:nvSpPr>
        <p:spPr>
          <a:xfrm>
            <a:off x="407040" y="641146"/>
            <a:ext cx="4027800" cy="1637341"/>
          </a:xfrm>
          <a:prstGeom prst="rect">
            <a:avLst/>
          </a:prstGeom>
          <a:noFill/>
          <a:ln>
            <a:noFill/>
          </a:ln>
        </p:spPr>
        <p:txBody>
          <a:bodyPr spcFirstLastPara="1" wrap="square" lIns="91425" tIns="91425" rIns="91425" bIns="91425" anchor="t" anchorCtr="0">
            <a:spAutoFit/>
          </a:bodyPr>
          <a:lstStyle/>
          <a:p>
            <a:pPr>
              <a:lnSpc>
                <a:spcPct val="115000"/>
              </a:lnSpc>
              <a:spcBef>
                <a:spcPts val="1200"/>
              </a:spcBef>
            </a:pPr>
            <a:r>
              <a:rPr lang="en-IN" b="1" dirty="0">
                <a:solidFill>
                  <a:srgbClr val="1A1F36"/>
                </a:solidFill>
                <a:latin typeface="Calibri"/>
              </a:rPr>
              <a:t>Model Used:</a:t>
            </a:r>
            <a:r>
              <a:rPr lang="en-IN" dirty="0">
                <a:solidFill>
                  <a:srgbClr val="1A1F36"/>
                </a:solidFill>
                <a:latin typeface="Calibri"/>
              </a:rPr>
              <a:t> </a:t>
            </a:r>
            <a:r>
              <a:rPr lang="en-IN" b="1" dirty="0">
                <a:solidFill>
                  <a:srgbClr val="1A1F36"/>
                </a:solidFill>
                <a:latin typeface="Calibri"/>
              </a:rPr>
              <a:t>GPT-4-o-mini</a:t>
            </a:r>
            <a:endParaRPr lang="en" b="1" dirty="0">
              <a:solidFill>
                <a:schemeClr val="dk1"/>
              </a:solidFill>
            </a:endParaRPr>
          </a:p>
          <a:p>
            <a:pPr marL="0" lvl="0" indent="0" algn="l" rtl="0">
              <a:lnSpc>
                <a:spcPct val="115000"/>
              </a:lnSpc>
              <a:spcBef>
                <a:spcPts val="1200"/>
              </a:spcBef>
              <a:spcAft>
                <a:spcPts val="0"/>
              </a:spcAft>
              <a:buNone/>
            </a:pPr>
            <a:r>
              <a:rPr lang="en" b="1" dirty="0">
                <a:solidFill>
                  <a:srgbClr val="1A1F36"/>
                </a:solidFill>
                <a:latin typeface="Calibri"/>
              </a:rPr>
              <a:t>Use Case:</a:t>
            </a:r>
            <a:endParaRPr b="1" dirty="0">
              <a:solidFill>
                <a:schemeClr val="dk1"/>
              </a:solidFill>
            </a:endParaRPr>
          </a:p>
          <a:p>
            <a:pPr marL="457200" lvl="0" indent="-298450" algn="l" rtl="0">
              <a:lnSpc>
                <a:spcPct val="115000"/>
              </a:lnSpc>
              <a:spcBef>
                <a:spcPts val="1200"/>
              </a:spcBef>
              <a:spcAft>
                <a:spcPts val="0"/>
              </a:spcAft>
              <a:buClr>
                <a:schemeClr val="dk1"/>
              </a:buClr>
              <a:buSzPts val="1100"/>
              <a:buChar char="●"/>
            </a:pPr>
            <a:r>
              <a:rPr lang="en" dirty="0">
                <a:solidFill>
                  <a:srgbClr val="1A1F36"/>
                </a:solidFill>
                <a:latin typeface="Calibri"/>
              </a:rPr>
              <a:t>Conversational assistant · customer support · FAQs</a:t>
            </a:r>
            <a:endParaRPr sz="1800" dirty="0"/>
          </a:p>
        </p:txBody>
      </p:sp>
      <p:sp>
        <p:nvSpPr>
          <p:cNvPr id="255" name="Google Shape;255;p26"/>
          <p:cNvSpPr txBox="1"/>
          <p:nvPr/>
        </p:nvSpPr>
        <p:spPr>
          <a:xfrm>
            <a:off x="5965332" y="1163708"/>
            <a:ext cx="3000000" cy="1235693"/>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200"/>
              </a:spcBef>
              <a:spcAft>
                <a:spcPts val="0"/>
              </a:spcAft>
              <a:buNone/>
            </a:pPr>
            <a:r>
              <a:rPr lang="en" b="1">
                <a:solidFill>
                  <a:srgbClr val="1A1F36"/>
                </a:solidFill>
                <a:latin typeface="Calibri"/>
              </a:rPr>
              <a:t>Output:</a:t>
            </a:r>
            <a:endParaRPr b="1">
              <a:solidFill>
                <a:schemeClr val="dk1"/>
              </a:solidFill>
            </a:endParaRPr>
          </a:p>
          <a:p>
            <a:pPr marL="457200" lvl="0" indent="-298450" algn="l" rtl="0">
              <a:lnSpc>
                <a:spcPct val="115000"/>
              </a:lnSpc>
              <a:spcBef>
                <a:spcPts val="1200"/>
              </a:spcBef>
              <a:spcAft>
                <a:spcPts val="0"/>
              </a:spcAft>
              <a:buClr>
                <a:schemeClr val="dk1"/>
              </a:buClr>
              <a:buSzPts val="1100"/>
              <a:buChar char="●"/>
            </a:pPr>
            <a:r>
              <a:rPr lang="en">
                <a:solidFill>
                  <a:srgbClr val="1A1F36"/>
                </a:solidFill>
                <a:latin typeface="Calibri"/>
              </a:rPr>
              <a:t>"AI is the simulation of human intelligence by machines."</a:t>
            </a:r>
            <a:endParaRPr>
              <a:solidFill>
                <a:schemeClr val="dk1"/>
              </a:solidFill>
            </a:endParaRPr>
          </a:p>
        </p:txBody>
      </p:sp>
      <p:sp>
        <p:nvSpPr>
          <p:cNvPr id="256" name="Google Shape;256;p26"/>
          <p:cNvSpPr txBox="1"/>
          <p:nvPr/>
        </p:nvSpPr>
        <p:spPr>
          <a:xfrm>
            <a:off x="5989025" y="2587750"/>
            <a:ext cx="3000000" cy="1483453"/>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200"/>
              </a:spcBef>
              <a:spcAft>
                <a:spcPts val="0"/>
              </a:spcAft>
              <a:buNone/>
            </a:pPr>
            <a:r>
              <a:rPr lang="en" b="1" dirty="0">
                <a:solidFill>
                  <a:srgbClr val="1A1F36"/>
                </a:solidFill>
                <a:latin typeface="Calibri"/>
              </a:rPr>
              <a:t>Key Points:</a:t>
            </a:r>
            <a:endParaRPr b="1" dirty="0">
              <a:solidFill>
                <a:schemeClr val="dk1"/>
              </a:solidFill>
            </a:endParaRPr>
          </a:p>
          <a:p>
            <a:pPr marL="457200" lvl="0" indent="-298450" algn="l" rtl="0">
              <a:lnSpc>
                <a:spcPct val="115000"/>
              </a:lnSpc>
              <a:spcBef>
                <a:spcPts val="1200"/>
              </a:spcBef>
              <a:spcAft>
                <a:spcPts val="0"/>
              </a:spcAft>
              <a:buClr>
                <a:schemeClr val="dk1"/>
              </a:buClr>
              <a:buSzPts val="1100"/>
              <a:buChar char="●"/>
            </a:pPr>
            <a:r>
              <a:rPr lang="en" dirty="0">
                <a:solidFill>
                  <a:srgbClr val="1A1F36"/>
                </a:solidFill>
                <a:latin typeface="Calibri"/>
              </a:rPr>
              <a:t>Multi-turn conversation</a:t>
            </a:r>
            <a:endParaRPr dirty="0">
              <a:solidFill>
                <a:schemeClr val="dk1"/>
              </a:solidFill>
            </a:endParaRPr>
          </a:p>
          <a:p>
            <a:pPr marL="457200" lvl="0" indent="-298450" algn="l" rtl="0">
              <a:lnSpc>
                <a:spcPct val="115000"/>
              </a:lnSpc>
              <a:spcBef>
                <a:spcPts val="0"/>
              </a:spcBef>
              <a:spcAft>
                <a:spcPts val="0"/>
              </a:spcAft>
              <a:buClr>
                <a:schemeClr val="dk1"/>
              </a:buClr>
              <a:buSzPts val="1100"/>
              <a:buChar char="●"/>
            </a:pPr>
            <a:r>
              <a:rPr lang="en" dirty="0">
                <a:solidFill>
                  <a:srgbClr val="1A1F36"/>
                </a:solidFill>
                <a:latin typeface="Calibri"/>
              </a:rPr>
              <a:t>Context-aware responses</a:t>
            </a:r>
            <a:endParaRPr dirty="0">
              <a:solidFill>
                <a:schemeClr val="dk1"/>
              </a:solidFill>
            </a:endParaRPr>
          </a:p>
          <a:p>
            <a:pPr marL="457200" lvl="0" indent="-298450" algn="l" rtl="0">
              <a:lnSpc>
                <a:spcPct val="115000"/>
              </a:lnSpc>
              <a:spcBef>
                <a:spcPts val="0"/>
              </a:spcBef>
              <a:spcAft>
                <a:spcPts val="0"/>
              </a:spcAft>
              <a:buClr>
                <a:schemeClr val="dk1"/>
              </a:buClr>
              <a:buSzPts val="1100"/>
              <a:buChar char="●"/>
            </a:pPr>
            <a:r>
              <a:rPr lang="en" dirty="0">
                <a:solidFill>
                  <a:srgbClr val="1A1F36"/>
                </a:solidFill>
                <a:latin typeface="Calibri"/>
              </a:rPr>
              <a:t>Real-time interaction</a:t>
            </a:r>
            <a:endParaRPr sz="1800" dirty="0"/>
          </a:p>
        </p:txBody>
      </p:sp>
      <p:sp>
        <p:nvSpPr>
          <p:cNvPr id="257" name="Google Shape;257;p26"/>
          <p:cNvSpPr/>
          <p:nvPr/>
        </p:nvSpPr>
        <p:spPr>
          <a:xfrm>
            <a:off x="203850" y="2295144"/>
            <a:ext cx="5401800" cy="1636856"/>
          </a:xfrm>
          <a:prstGeom prst="rect">
            <a:avLst/>
          </a:prstGeom>
          <a:solidFill>
            <a:srgbClr val="0F172A"/>
          </a:solidFill>
          <a:ln w="12700" cap="flat" cmpd="sng">
            <a:solidFill>
              <a:srgbClr val="1E3A5F"/>
            </a:solidFill>
            <a:prstDash val="solid"/>
            <a:round/>
            <a:headEnd type="none" w="sm" len="sm"/>
            <a:tailEnd type="none" w="sm" len="sm"/>
          </a:ln>
          <a:effectLst>
            <a:outerShdw blurRad="76200" dist="25400" dir="8100000" algn="bl" rotWithShape="0">
              <a:srgbClr val="94A3B8">
                <a:alpha val="14900"/>
              </a:srgbClr>
            </a:outerShdw>
          </a:effectLst>
        </p:spPr>
        <p:txBody>
          <a:bodyPr spcFirstLastPara="1" wrap="square" lIns="91425" tIns="91425" rIns="91425" bIns="91425" anchor="ctr" anchorCtr="0">
            <a:noAutofit/>
          </a:bodyPr>
          <a:lstStyle/>
          <a:p>
            <a:pPr marL="0" lvl="0" indent="0" algn="l" rtl="0">
              <a:spcBef>
                <a:spcPts val="0"/>
              </a:spcBef>
              <a:spcAft>
                <a:spcPts val="0"/>
              </a:spcAft>
              <a:buClr>
                <a:srgbClr val="E2E8F0"/>
              </a:buClr>
              <a:buSzPts val="850"/>
              <a:buFont typeface="Consolas"/>
              <a:buNone/>
            </a:pPr>
            <a:r>
              <a:rPr lang="en" sz="1050" dirty="0">
                <a:solidFill>
                  <a:srgbClr val="E2E8F0"/>
                </a:solidFill>
                <a:sym typeface="Consolas"/>
              </a:rPr>
              <a:t>response = </a:t>
            </a:r>
            <a:r>
              <a:rPr lang="en" sz="1050" dirty="0" err="1">
                <a:solidFill>
                  <a:srgbClr val="E2E8F0"/>
                </a:solidFill>
                <a:sym typeface="Consolas"/>
              </a:rPr>
              <a:t>client.chat.completions.create</a:t>
            </a:r>
            <a:r>
              <a:rPr lang="en" sz="1050" dirty="0">
                <a:solidFill>
                  <a:srgbClr val="E2E8F0"/>
                </a:solidFill>
                <a:sym typeface="Consolas"/>
              </a:rPr>
              <a:t>(</a:t>
            </a:r>
            <a:endParaRPr sz="1050" dirty="0">
              <a:solidFill>
                <a:schemeClr val="dk1"/>
              </a:solidFill>
              <a:latin typeface="Calibri"/>
              <a:ea typeface="Calibri"/>
              <a:cs typeface="Calibri"/>
              <a:sym typeface="Calibri"/>
            </a:endParaRPr>
          </a:p>
          <a:p>
            <a:pPr marL="0" lvl="0" indent="0" algn="l" rtl="0">
              <a:spcBef>
                <a:spcPts val="0"/>
              </a:spcBef>
              <a:spcAft>
                <a:spcPts val="0"/>
              </a:spcAft>
              <a:buClr>
                <a:srgbClr val="E2E8F0"/>
              </a:buClr>
              <a:buSzPts val="850"/>
              <a:buFont typeface="Consolas"/>
              <a:buNone/>
            </a:pPr>
            <a:r>
              <a:rPr lang="en" sz="1050" dirty="0">
                <a:solidFill>
                  <a:srgbClr val="E2E8F0"/>
                </a:solidFill>
                <a:sym typeface="Consolas"/>
              </a:rPr>
              <a:t>  </a:t>
            </a:r>
            <a:r>
              <a:rPr lang="en" sz="1050" dirty="0">
                <a:solidFill>
                  <a:srgbClr val="7DD3FC"/>
                </a:solidFill>
                <a:sym typeface="Consolas"/>
              </a:rPr>
              <a:t>model</a:t>
            </a:r>
            <a:r>
              <a:rPr lang="en" sz="1050" dirty="0">
                <a:solidFill>
                  <a:srgbClr val="E2E8F0"/>
                </a:solidFill>
                <a:sym typeface="Consolas"/>
              </a:rPr>
              <a:t>=</a:t>
            </a:r>
            <a:r>
              <a:rPr lang="en" sz="1050" dirty="0">
                <a:solidFill>
                  <a:srgbClr val="86EFAC"/>
                </a:solidFill>
                <a:sym typeface="Consolas"/>
              </a:rPr>
              <a:t>"</a:t>
            </a:r>
            <a:r>
              <a:rPr lang="en" sz="1100" dirty="0">
                <a:solidFill>
                  <a:srgbClr val="86EFAC"/>
                </a:solidFill>
                <a:sym typeface="Consolas"/>
              </a:rPr>
              <a:t>gpt-4o-mini</a:t>
            </a:r>
            <a:r>
              <a:rPr lang="en" sz="1050" dirty="0">
                <a:solidFill>
                  <a:srgbClr val="86EFAC"/>
                </a:solidFill>
                <a:sym typeface="Consolas"/>
              </a:rPr>
              <a:t>"</a:t>
            </a:r>
            <a:r>
              <a:rPr lang="en" sz="1050" dirty="0">
                <a:solidFill>
                  <a:srgbClr val="E2E8F0"/>
                </a:solidFill>
                <a:sym typeface="Consolas"/>
              </a:rPr>
              <a:t>,</a:t>
            </a:r>
            <a:endParaRPr sz="1050" dirty="0">
              <a:solidFill>
                <a:schemeClr val="dk1"/>
              </a:solidFill>
              <a:latin typeface="Calibri"/>
              <a:ea typeface="Calibri"/>
              <a:cs typeface="Calibri"/>
              <a:sym typeface="Calibri"/>
            </a:endParaRPr>
          </a:p>
          <a:p>
            <a:pPr marL="0" lvl="0" indent="0" algn="l" rtl="0">
              <a:spcBef>
                <a:spcPts val="0"/>
              </a:spcBef>
              <a:spcAft>
                <a:spcPts val="0"/>
              </a:spcAft>
              <a:buClr>
                <a:srgbClr val="E2E8F0"/>
              </a:buClr>
              <a:buSzPts val="850"/>
              <a:buFont typeface="Consolas"/>
              <a:buNone/>
            </a:pPr>
            <a:r>
              <a:rPr lang="en" sz="1050" dirty="0">
                <a:solidFill>
                  <a:srgbClr val="E2E8F0"/>
                </a:solidFill>
                <a:sym typeface="Consolas"/>
              </a:rPr>
              <a:t>  </a:t>
            </a:r>
            <a:r>
              <a:rPr lang="en" sz="1050" dirty="0">
                <a:solidFill>
                  <a:srgbClr val="7DD3FC"/>
                </a:solidFill>
                <a:sym typeface="Consolas"/>
              </a:rPr>
              <a:t>messages</a:t>
            </a:r>
            <a:r>
              <a:rPr lang="en" sz="1050" dirty="0">
                <a:solidFill>
                  <a:srgbClr val="E2E8F0"/>
                </a:solidFill>
                <a:sym typeface="Consolas"/>
              </a:rPr>
              <a:t>=[</a:t>
            </a:r>
            <a:endParaRPr sz="1050" dirty="0">
              <a:solidFill>
                <a:schemeClr val="dk1"/>
              </a:solidFill>
              <a:latin typeface="Calibri"/>
              <a:ea typeface="Calibri"/>
              <a:cs typeface="Calibri"/>
              <a:sym typeface="Calibri"/>
            </a:endParaRPr>
          </a:p>
          <a:p>
            <a:pPr marL="0" lvl="0" indent="0" algn="l" rtl="0">
              <a:spcBef>
                <a:spcPts val="0"/>
              </a:spcBef>
              <a:spcAft>
                <a:spcPts val="0"/>
              </a:spcAft>
              <a:buNone/>
            </a:pPr>
            <a:r>
              <a:rPr lang="en" sz="1050" dirty="0">
                <a:solidFill>
                  <a:srgbClr val="E2E8F0"/>
                </a:solidFill>
                <a:sym typeface="Consolas"/>
              </a:rPr>
              <a:t>         {</a:t>
            </a:r>
            <a:r>
              <a:rPr lang="en" sz="1050" dirty="0">
                <a:solidFill>
                  <a:srgbClr val="86EFAC"/>
                </a:solidFill>
                <a:sym typeface="Consolas"/>
              </a:rPr>
              <a:t>"role": "system",} "content": "You are a helpful chatbot."},</a:t>
            </a:r>
            <a:endParaRPr sz="1050" dirty="0">
              <a:solidFill>
                <a:srgbClr val="86EFAC"/>
              </a:solidFill>
              <a:latin typeface="Consolas"/>
              <a:ea typeface="Consolas"/>
              <a:cs typeface="Consolas"/>
              <a:sym typeface="Consolas"/>
            </a:endParaRPr>
          </a:p>
          <a:p>
            <a:pPr marL="0" lvl="0" indent="0" algn="l" rtl="0">
              <a:spcBef>
                <a:spcPts val="0"/>
              </a:spcBef>
              <a:spcAft>
                <a:spcPts val="0"/>
              </a:spcAft>
              <a:buClr>
                <a:srgbClr val="E2E8F0"/>
              </a:buClr>
              <a:buSzPts val="850"/>
              <a:buFont typeface="Consolas"/>
              <a:buNone/>
            </a:pPr>
            <a:r>
              <a:rPr lang="en" sz="1050" dirty="0">
                <a:solidFill>
                  <a:srgbClr val="86EFAC"/>
                </a:solidFill>
                <a:sym typeface="Consolas"/>
              </a:rPr>
              <a:t>         {"role": "user", "content": "What is AI?"}</a:t>
            </a:r>
            <a:endParaRPr sz="1050" dirty="0">
              <a:solidFill>
                <a:srgbClr val="86EFAC"/>
              </a:solidFill>
              <a:latin typeface="Consolas"/>
              <a:ea typeface="Consolas"/>
              <a:cs typeface="Consolas"/>
              <a:sym typeface="Consolas"/>
            </a:endParaRPr>
          </a:p>
          <a:p>
            <a:pPr marL="0" lvl="0" indent="0" algn="l" rtl="0">
              <a:spcBef>
                <a:spcPts val="0"/>
              </a:spcBef>
              <a:spcAft>
                <a:spcPts val="0"/>
              </a:spcAft>
              <a:buClr>
                <a:srgbClr val="E2E8F0"/>
              </a:buClr>
              <a:buSzPts val="850"/>
              <a:buFont typeface="Consolas"/>
              <a:buNone/>
            </a:pPr>
            <a:r>
              <a:rPr lang="en" sz="1050" dirty="0">
                <a:solidFill>
                  <a:srgbClr val="E2E8F0"/>
                </a:solidFill>
                <a:sym typeface="Consolas"/>
              </a:rPr>
              <a:t>  ]</a:t>
            </a:r>
            <a:endParaRPr dirty="0">
              <a:solidFill>
                <a:schemeClr val="lt1"/>
              </a:solidFill>
            </a:endParaRPr>
          </a:p>
        </p:txBody>
      </p:sp>
      <p:pic>
        <p:nvPicPr>
          <p:cNvPr id="2" name="Google Shape;109;p20">
            <a:extLst>
              <a:ext uri="{FF2B5EF4-FFF2-40B4-BE49-F238E27FC236}">
                <a16:creationId xmlns:a16="http://schemas.microsoft.com/office/drawing/2014/main" id="{4388D251-E83A-AF43-2685-60B2F5129996}"/>
              </a:ext>
            </a:extLst>
          </p:cNvPr>
          <p:cNvPicPr preferRelativeResize="0"/>
          <p:nvPr/>
        </p:nvPicPr>
        <p:blipFill>
          <a:blip r:embed="rId4">
            <a:alphaModFix/>
          </a:blip>
          <a:stretch>
            <a:fillRect/>
          </a:stretch>
        </p:blipFill>
        <p:spPr>
          <a:xfrm>
            <a:off x="8369125" y="0"/>
            <a:ext cx="774877" cy="867174"/>
          </a:xfrm>
          <a:prstGeom prst="rect">
            <a:avLst/>
          </a:prstGeom>
          <a:noFill/>
          <a:ln>
            <a:noFill/>
          </a:ln>
        </p:spPr>
      </p:pic>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Shape 212"/>
        <p:cNvGrpSpPr/>
        <p:nvPr/>
      </p:nvGrpSpPr>
      <p:grpSpPr>
        <a:xfrm>
          <a:off x="0" y="0"/>
          <a:ext cx="0" cy="0"/>
          <a:chOff x="0" y="0"/>
          <a:chExt cx="0" cy="0"/>
        </a:xfrm>
      </p:grpSpPr>
      <p:sp>
        <p:nvSpPr>
          <p:cNvPr id="213" name="Google Shape;213;p23"/>
          <p:cNvSpPr/>
          <p:nvPr/>
        </p:nvSpPr>
        <p:spPr>
          <a:xfrm>
            <a:off x="0" y="0"/>
            <a:ext cx="9144000" cy="502800"/>
          </a:xfrm>
          <a:prstGeom prst="rect">
            <a:avLst/>
          </a:prstGeom>
          <a:noFill/>
          <a:ln w="12700" cap="flat" cmpd="sng">
            <a:no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2300" b="1" dirty="0">
                <a:solidFill>
                  <a:srgbClr val="1E2761"/>
                </a:solidFill>
                <a:latin typeface="Georgia"/>
              </a:rPr>
              <a:t> 	Image Generation Models</a:t>
            </a:r>
            <a:endParaRPr sz="2300" b="1" dirty="0">
              <a:solidFill>
                <a:schemeClr val="tx1"/>
              </a:solidFill>
            </a:endParaRPr>
          </a:p>
        </p:txBody>
      </p:sp>
      <p:sp>
        <p:nvSpPr>
          <p:cNvPr id="214" name="Google Shape;214;p23"/>
          <p:cNvSpPr txBox="1"/>
          <p:nvPr/>
        </p:nvSpPr>
        <p:spPr>
          <a:xfrm>
            <a:off x="270100" y="634150"/>
            <a:ext cx="8302500" cy="6480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200"/>
              </a:spcBef>
              <a:spcAft>
                <a:spcPts val="1200"/>
              </a:spcAft>
              <a:buNone/>
            </a:pPr>
            <a:r>
              <a:rPr lang="en" dirty="0">
                <a:solidFill>
                  <a:srgbClr val="1A1F36"/>
                </a:solidFill>
                <a:latin typeface="Calibri"/>
              </a:rPr>
              <a:t>These models are designed for generating and editing images from text prompts, enabling creative and design-focused applications.</a:t>
            </a:r>
            <a:endParaRPr dirty="0"/>
          </a:p>
        </p:txBody>
      </p:sp>
      <p:sp>
        <p:nvSpPr>
          <p:cNvPr id="215" name="Google Shape;215;p23"/>
          <p:cNvSpPr txBox="1"/>
          <p:nvPr/>
        </p:nvSpPr>
        <p:spPr>
          <a:xfrm>
            <a:off x="375774" y="1467875"/>
            <a:ext cx="3577751" cy="1988463"/>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400"/>
              </a:spcBef>
              <a:spcAft>
                <a:spcPts val="0"/>
              </a:spcAft>
              <a:buNone/>
            </a:pPr>
            <a:r>
              <a:rPr lang="en" sz="1300" b="1" dirty="0">
                <a:solidFill>
                  <a:srgbClr val="1A1F36"/>
                </a:solidFill>
                <a:latin typeface="Calibri"/>
              </a:rPr>
              <a:t>GPT Image 1.5</a:t>
            </a:r>
            <a:endParaRPr sz="1300" b="1" dirty="0">
              <a:solidFill>
                <a:schemeClr val="dk1"/>
              </a:solidFill>
            </a:endParaRPr>
          </a:p>
          <a:p>
            <a:pPr marL="457200" lvl="0" indent="-298450" algn="l" rtl="0">
              <a:lnSpc>
                <a:spcPct val="115000"/>
              </a:lnSpc>
              <a:spcBef>
                <a:spcPts val="1200"/>
              </a:spcBef>
              <a:spcAft>
                <a:spcPts val="0"/>
              </a:spcAft>
              <a:buClr>
                <a:schemeClr val="dk1"/>
              </a:buClr>
              <a:buSzPts val="1100"/>
              <a:buChar char="●"/>
            </a:pPr>
            <a:r>
              <a:rPr lang="en" sz="1100" dirty="0">
                <a:solidFill>
                  <a:srgbClr val="1A1F36"/>
                </a:solidFill>
                <a:latin typeface="Calibri"/>
              </a:rPr>
              <a:t>State-of-the-art </a:t>
            </a:r>
            <a:r>
              <a:rPr lang="en" sz="1100" b="1" dirty="0">
                <a:solidFill>
                  <a:srgbClr val="1A1F36"/>
                </a:solidFill>
                <a:latin typeface="Calibri"/>
              </a:rPr>
              <a:t>image generation quality</a:t>
            </a:r>
            <a:endParaRPr sz="1100" b="1" dirty="0">
              <a:solidFill>
                <a:schemeClr val="dk1"/>
              </a:solidFill>
            </a:endParaRPr>
          </a:p>
          <a:p>
            <a:pPr marL="457200" lvl="0" indent="-298450" algn="l" rtl="0">
              <a:lnSpc>
                <a:spcPct val="115000"/>
              </a:lnSpc>
              <a:spcBef>
                <a:spcPts val="1200"/>
              </a:spcBef>
              <a:spcAft>
                <a:spcPts val="0"/>
              </a:spcAft>
              <a:buClr>
                <a:schemeClr val="dk1"/>
              </a:buClr>
              <a:buSzPts val="1100"/>
              <a:buChar char="●"/>
            </a:pPr>
            <a:r>
              <a:rPr lang="en" sz="1100" dirty="0">
                <a:solidFill>
                  <a:srgbClr val="1A1F36"/>
                </a:solidFill>
                <a:latin typeface="Calibri"/>
              </a:rPr>
              <a:t>Produces highly detailed and realistic visuals</a:t>
            </a:r>
            <a:endParaRPr sz="1100" dirty="0">
              <a:solidFill>
                <a:schemeClr val="dk1"/>
              </a:solidFill>
            </a:endParaRPr>
          </a:p>
          <a:p>
            <a:pPr marL="457200" lvl="0" indent="-298450" algn="l" rtl="0">
              <a:lnSpc>
                <a:spcPct val="115000"/>
              </a:lnSpc>
              <a:spcBef>
                <a:spcPts val="1200"/>
              </a:spcBef>
              <a:spcAft>
                <a:spcPts val="0"/>
              </a:spcAft>
              <a:buClr>
                <a:schemeClr val="dk1"/>
              </a:buClr>
              <a:buSzPts val="1100"/>
              <a:buChar char="●"/>
            </a:pPr>
            <a:r>
              <a:rPr lang="en" sz="1100" dirty="0">
                <a:solidFill>
                  <a:srgbClr val="1A1F36"/>
                </a:solidFill>
                <a:latin typeface="Calibri"/>
              </a:rPr>
              <a:t>Supports advanced prompt control</a:t>
            </a:r>
            <a:endParaRPr sz="1100" dirty="0">
              <a:solidFill>
                <a:schemeClr val="dk1"/>
              </a:solidFill>
            </a:endParaRPr>
          </a:p>
          <a:p>
            <a:pPr marL="457200" lvl="0" indent="-298450" algn="l" rtl="0">
              <a:lnSpc>
                <a:spcPct val="115000"/>
              </a:lnSpc>
              <a:spcBef>
                <a:spcPts val="1200"/>
              </a:spcBef>
              <a:spcAft>
                <a:spcPts val="0"/>
              </a:spcAft>
              <a:buClr>
                <a:schemeClr val="dk1"/>
              </a:buClr>
              <a:buSzPts val="1100"/>
              <a:buChar char="●"/>
            </a:pPr>
            <a:r>
              <a:rPr lang="en" sz="1100" dirty="0">
                <a:solidFill>
                  <a:srgbClr val="1A1F36"/>
                </a:solidFill>
                <a:latin typeface="Calibri"/>
              </a:rPr>
              <a:t>Suitable for professional design and media</a:t>
            </a:r>
            <a:endParaRPr sz="1300" b="1" dirty="0">
              <a:solidFill>
                <a:schemeClr val="dk1"/>
              </a:solidFill>
            </a:endParaRPr>
          </a:p>
        </p:txBody>
      </p:sp>
      <p:sp>
        <p:nvSpPr>
          <p:cNvPr id="216" name="Google Shape;216;p23"/>
          <p:cNvSpPr txBox="1"/>
          <p:nvPr/>
        </p:nvSpPr>
        <p:spPr>
          <a:xfrm>
            <a:off x="5190475" y="1467875"/>
            <a:ext cx="3000000" cy="2720971"/>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400"/>
              </a:spcBef>
              <a:spcAft>
                <a:spcPts val="0"/>
              </a:spcAft>
              <a:buNone/>
            </a:pPr>
            <a:r>
              <a:rPr lang="en" sz="1300" b="1" dirty="0">
                <a:solidFill>
                  <a:srgbClr val="1A1F36"/>
                </a:solidFill>
                <a:latin typeface="Calibri"/>
              </a:rPr>
              <a:t>GPT Image 1</a:t>
            </a:r>
            <a:endParaRPr sz="1300" b="1" dirty="0">
              <a:solidFill>
                <a:schemeClr val="dk1"/>
              </a:solidFill>
            </a:endParaRPr>
          </a:p>
          <a:p>
            <a:pPr marL="457200" lvl="0" indent="-298450" algn="l" rtl="0">
              <a:lnSpc>
                <a:spcPct val="115000"/>
              </a:lnSpc>
              <a:spcBef>
                <a:spcPts val="1200"/>
              </a:spcBef>
              <a:spcAft>
                <a:spcPts val="0"/>
              </a:spcAft>
              <a:buClr>
                <a:schemeClr val="dk1"/>
              </a:buClr>
              <a:buSzPts val="1100"/>
              <a:buChar char="●"/>
            </a:pPr>
            <a:r>
              <a:rPr lang="en" sz="1100" dirty="0">
                <a:solidFill>
                  <a:srgbClr val="1A1F36"/>
                </a:solidFill>
                <a:latin typeface="Calibri"/>
              </a:rPr>
              <a:t>Earlier generation image model</a:t>
            </a:r>
            <a:endParaRPr sz="1100" dirty="0">
              <a:solidFill>
                <a:schemeClr val="dk1"/>
              </a:solidFill>
            </a:endParaRPr>
          </a:p>
          <a:p>
            <a:pPr marL="457200" lvl="0" indent="-298450" algn="l" rtl="0">
              <a:lnSpc>
                <a:spcPct val="115000"/>
              </a:lnSpc>
              <a:spcBef>
                <a:spcPts val="1200"/>
              </a:spcBef>
              <a:spcAft>
                <a:spcPts val="0"/>
              </a:spcAft>
              <a:buClr>
                <a:schemeClr val="dk1"/>
              </a:buClr>
              <a:buSzPts val="1100"/>
              <a:buChar char="●"/>
            </a:pPr>
            <a:r>
              <a:rPr lang="en" sz="1100" dirty="0">
                <a:solidFill>
                  <a:srgbClr val="1A1F36"/>
                </a:solidFill>
                <a:latin typeface="Calibri"/>
              </a:rPr>
              <a:t>Faster and more cost-efficient</a:t>
            </a:r>
            <a:endParaRPr sz="1100" dirty="0">
              <a:solidFill>
                <a:schemeClr val="dk1"/>
              </a:solidFill>
            </a:endParaRPr>
          </a:p>
          <a:p>
            <a:pPr marL="457200" lvl="0" indent="-298450" algn="l" rtl="0">
              <a:lnSpc>
                <a:spcPct val="115000"/>
              </a:lnSpc>
              <a:spcBef>
                <a:spcPts val="1200"/>
              </a:spcBef>
              <a:spcAft>
                <a:spcPts val="0"/>
              </a:spcAft>
              <a:buClr>
                <a:schemeClr val="dk1"/>
              </a:buClr>
              <a:buSzPts val="1100"/>
              <a:buChar char="●"/>
            </a:pPr>
            <a:r>
              <a:rPr lang="en" sz="1100" dirty="0">
                <a:solidFill>
                  <a:srgbClr val="1A1F36"/>
                </a:solidFill>
                <a:latin typeface="Calibri"/>
              </a:rPr>
              <a:t>Good for basic image generation tasks</a:t>
            </a:r>
            <a:endParaRPr sz="1100" dirty="0">
              <a:solidFill>
                <a:schemeClr val="dk1"/>
              </a:solidFill>
            </a:endParaRPr>
          </a:p>
          <a:p>
            <a:pPr marL="457200" lvl="0" indent="-298450" algn="l" rtl="0">
              <a:lnSpc>
                <a:spcPct val="115000"/>
              </a:lnSpc>
              <a:spcBef>
                <a:spcPts val="1200"/>
              </a:spcBef>
              <a:spcAft>
                <a:spcPts val="0"/>
              </a:spcAft>
              <a:buClr>
                <a:schemeClr val="dk1"/>
              </a:buClr>
              <a:buSzPts val="1100"/>
              <a:buChar char="●"/>
            </a:pPr>
            <a:r>
              <a:rPr lang="en" sz="1100" dirty="0">
                <a:solidFill>
                  <a:srgbClr val="1A1F36"/>
                </a:solidFill>
                <a:latin typeface="Calibri"/>
              </a:rPr>
              <a:t>Suitable for lightweight applications </a:t>
            </a:r>
            <a:endParaRPr sz="1100" dirty="0">
              <a:solidFill>
                <a:schemeClr val="dk1"/>
              </a:solidFill>
            </a:endParaRPr>
          </a:p>
          <a:p>
            <a:pPr marL="457200" lvl="0" indent="0" algn="l" rtl="0">
              <a:lnSpc>
                <a:spcPct val="115000"/>
              </a:lnSpc>
              <a:spcBef>
                <a:spcPts val="1200"/>
              </a:spcBef>
              <a:spcAft>
                <a:spcPts val="1200"/>
              </a:spcAft>
              <a:buNone/>
            </a:pPr>
            <a:endParaRPr sz="1300" b="1" dirty="0">
              <a:solidFill>
                <a:schemeClr val="dk1"/>
              </a:solidFill>
            </a:endParaRPr>
          </a:p>
        </p:txBody>
      </p:sp>
      <p:pic>
        <p:nvPicPr>
          <p:cNvPr id="217" name="Google Shape;217;p23" descr="preencoded.png"/>
          <p:cNvPicPr preferRelativeResize="0"/>
          <p:nvPr/>
        </p:nvPicPr>
        <p:blipFill rotWithShape="1">
          <a:blip r:embed="rId3">
            <a:alphaModFix/>
          </a:blip>
          <a:srcRect/>
          <a:stretch/>
        </p:blipFill>
        <p:spPr>
          <a:xfrm>
            <a:off x="274320" y="64008"/>
            <a:ext cx="365760" cy="365760"/>
          </a:xfrm>
          <a:prstGeom prst="rect">
            <a:avLst/>
          </a:prstGeom>
          <a:noFill/>
          <a:ln>
            <a:noFill/>
          </a:ln>
        </p:spPr>
      </p:pic>
      <p:pic>
        <p:nvPicPr>
          <p:cNvPr id="2" name="Google Shape;109;p20">
            <a:extLst>
              <a:ext uri="{FF2B5EF4-FFF2-40B4-BE49-F238E27FC236}">
                <a16:creationId xmlns:a16="http://schemas.microsoft.com/office/drawing/2014/main" id="{DBD9D3B6-A9BA-23B2-93B8-DC4A65B2E02A}"/>
              </a:ext>
            </a:extLst>
          </p:cNvPr>
          <p:cNvPicPr preferRelativeResize="0"/>
          <p:nvPr/>
        </p:nvPicPr>
        <p:blipFill>
          <a:blip r:embed="rId4">
            <a:alphaModFix/>
          </a:blip>
          <a:stretch>
            <a:fillRect/>
          </a:stretch>
        </p:blipFill>
        <p:spPr>
          <a:xfrm>
            <a:off x="8369125" y="0"/>
            <a:ext cx="774877" cy="867174"/>
          </a:xfrm>
          <a:prstGeom prst="rect">
            <a:avLst/>
          </a:prstGeom>
          <a:noFill/>
          <a:ln>
            <a:noFill/>
          </a:ln>
        </p:spPr>
      </p:pic>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Shape 279"/>
        <p:cNvGrpSpPr/>
        <p:nvPr/>
      </p:nvGrpSpPr>
      <p:grpSpPr>
        <a:xfrm>
          <a:off x="0" y="0"/>
          <a:ext cx="0" cy="0"/>
          <a:chOff x="0" y="0"/>
          <a:chExt cx="0" cy="0"/>
        </a:xfrm>
      </p:grpSpPr>
      <p:sp>
        <p:nvSpPr>
          <p:cNvPr id="281" name="Google Shape;281;p28"/>
          <p:cNvSpPr/>
          <p:nvPr/>
        </p:nvSpPr>
        <p:spPr>
          <a:xfrm>
            <a:off x="0" y="502920"/>
            <a:ext cx="9144000" cy="36600"/>
          </a:xfrm>
          <a:prstGeom prst="rect">
            <a:avLst/>
          </a:prstGeom>
          <a:solidFill>
            <a:srgbClr val="FFFFFF"/>
          </a:solidFill>
          <a:ln w="1270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282" name="Google Shape;282;p28" descr="preencoded.png"/>
          <p:cNvPicPr preferRelativeResize="0"/>
          <p:nvPr/>
        </p:nvPicPr>
        <p:blipFill rotWithShape="1">
          <a:blip r:embed="rId3">
            <a:alphaModFix/>
          </a:blip>
          <a:srcRect/>
          <a:stretch/>
        </p:blipFill>
        <p:spPr>
          <a:xfrm>
            <a:off x="274320" y="64008"/>
            <a:ext cx="365760" cy="365760"/>
          </a:xfrm>
          <a:prstGeom prst="rect">
            <a:avLst/>
          </a:prstGeom>
          <a:noFill/>
          <a:ln>
            <a:noFill/>
          </a:ln>
        </p:spPr>
      </p:pic>
      <p:sp>
        <p:nvSpPr>
          <p:cNvPr id="283" name="Google Shape;283;p28"/>
          <p:cNvSpPr/>
          <p:nvPr/>
        </p:nvSpPr>
        <p:spPr>
          <a:xfrm>
            <a:off x="777240" y="45720"/>
            <a:ext cx="7315200" cy="438900"/>
          </a:xfrm>
          <a:prstGeom prst="rect">
            <a:avLst/>
          </a:prstGeom>
          <a:noFill/>
          <a:ln>
            <a:noFill/>
          </a:ln>
        </p:spPr>
        <p:txBody>
          <a:bodyPr spcFirstLastPara="1" wrap="square" lIns="0" tIns="0" rIns="0" bIns="0" anchor="ctr" anchorCtr="0">
            <a:noAutofit/>
          </a:bodyPr>
          <a:lstStyle/>
          <a:p>
            <a:pPr marL="0" lvl="0" indent="0" algn="l" rtl="0">
              <a:lnSpc>
                <a:spcPct val="115000"/>
              </a:lnSpc>
              <a:spcBef>
                <a:spcPts val="1200"/>
              </a:spcBef>
              <a:spcAft>
                <a:spcPts val="1200"/>
              </a:spcAft>
              <a:buClr>
                <a:schemeClr val="dk1"/>
              </a:buClr>
              <a:buSzPts val="1100"/>
              <a:buFont typeface="Arial"/>
              <a:buNone/>
            </a:pPr>
            <a:r>
              <a:rPr lang="en" sz="2300" b="1" dirty="0">
                <a:solidFill>
                  <a:srgbClr val="1E2761"/>
                </a:solidFill>
                <a:latin typeface="Georgia"/>
              </a:rPr>
              <a:t>Example - Image Generation</a:t>
            </a:r>
            <a:endParaRPr sz="2300" b="1" dirty="0">
              <a:solidFill>
                <a:schemeClr val="tx1"/>
              </a:solidFill>
              <a:latin typeface="Calibri"/>
              <a:ea typeface="Calibri"/>
              <a:cs typeface="Calibri"/>
              <a:sym typeface="Calibri"/>
            </a:endParaRPr>
          </a:p>
        </p:txBody>
      </p:sp>
      <p:sp>
        <p:nvSpPr>
          <p:cNvPr id="285" name="Google Shape;285;p28"/>
          <p:cNvSpPr txBox="1"/>
          <p:nvPr/>
        </p:nvSpPr>
        <p:spPr>
          <a:xfrm>
            <a:off x="467963" y="677287"/>
            <a:ext cx="4027800" cy="1495764"/>
          </a:xfrm>
          <a:prstGeom prst="rect">
            <a:avLst/>
          </a:prstGeom>
          <a:noFill/>
          <a:ln>
            <a:noFill/>
          </a:ln>
        </p:spPr>
        <p:txBody>
          <a:bodyPr spcFirstLastPara="1" wrap="square" lIns="91425" tIns="91425" rIns="91425" bIns="91425" anchor="t" anchorCtr="0">
            <a:spAutoFit/>
          </a:bodyPr>
          <a:lstStyle/>
          <a:p>
            <a:pPr>
              <a:lnSpc>
                <a:spcPct val="115000"/>
              </a:lnSpc>
              <a:spcBef>
                <a:spcPts val="1200"/>
              </a:spcBef>
            </a:pPr>
            <a:r>
              <a:rPr lang="en-IN" sz="1200" b="1" dirty="0">
                <a:solidFill>
                  <a:srgbClr val="1A1F36"/>
                </a:solidFill>
                <a:latin typeface="Calibri"/>
              </a:rPr>
              <a:t>Model Used:</a:t>
            </a:r>
            <a:r>
              <a:rPr lang="en-IN" sz="1200" dirty="0">
                <a:solidFill>
                  <a:srgbClr val="1A1F36"/>
                </a:solidFill>
                <a:latin typeface="Calibri"/>
              </a:rPr>
              <a:t> </a:t>
            </a:r>
            <a:r>
              <a:rPr lang="en-IN" sz="1200" b="1" dirty="0">
                <a:solidFill>
                  <a:srgbClr val="1A1F36"/>
                </a:solidFill>
                <a:latin typeface="Calibri"/>
              </a:rPr>
              <a:t>GPT Image 1.5</a:t>
            </a:r>
            <a:endParaRPr lang="en" sz="1200" b="1" dirty="0">
              <a:solidFill>
                <a:schemeClr val="dk1"/>
              </a:solidFill>
            </a:endParaRPr>
          </a:p>
          <a:p>
            <a:pPr marL="0" lvl="0" indent="0" algn="l" rtl="0">
              <a:lnSpc>
                <a:spcPct val="115000"/>
              </a:lnSpc>
              <a:spcBef>
                <a:spcPts val="1200"/>
              </a:spcBef>
              <a:spcAft>
                <a:spcPts val="0"/>
              </a:spcAft>
              <a:buNone/>
            </a:pPr>
            <a:r>
              <a:rPr lang="en" sz="1200" b="1" dirty="0">
                <a:solidFill>
                  <a:srgbClr val="1A1F36"/>
                </a:solidFill>
                <a:latin typeface="Calibri"/>
              </a:rPr>
              <a:t>Use Case:</a:t>
            </a:r>
            <a:endParaRPr sz="1200" b="1" dirty="0">
              <a:solidFill>
                <a:schemeClr val="dk1"/>
              </a:solidFill>
            </a:endParaRPr>
          </a:p>
          <a:p>
            <a:pPr marL="457200" lvl="0" indent="-298450" algn="l" rtl="0">
              <a:lnSpc>
                <a:spcPct val="115000"/>
              </a:lnSpc>
              <a:spcBef>
                <a:spcPts val="1200"/>
              </a:spcBef>
              <a:spcAft>
                <a:spcPts val="0"/>
              </a:spcAft>
              <a:buClr>
                <a:schemeClr val="dk1"/>
              </a:buClr>
              <a:buSzPts val="1100"/>
              <a:buChar char="●"/>
            </a:pPr>
            <a:r>
              <a:rPr lang="en" sz="1200" dirty="0">
                <a:solidFill>
                  <a:srgbClr val="1A1F36"/>
                </a:solidFill>
                <a:latin typeface="Calibri"/>
              </a:rPr>
              <a:t>Generate images from text prompts</a:t>
            </a:r>
            <a:endParaRPr sz="1200" dirty="0">
              <a:solidFill>
                <a:schemeClr val="dk1"/>
              </a:solidFill>
            </a:endParaRPr>
          </a:p>
          <a:p>
            <a:pPr marL="457200" lvl="0" indent="-298450" algn="l" rtl="0">
              <a:lnSpc>
                <a:spcPct val="115000"/>
              </a:lnSpc>
              <a:spcBef>
                <a:spcPts val="0"/>
              </a:spcBef>
              <a:spcAft>
                <a:spcPts val="0"/>
              </a:spcAft>
              <a:buClr>
                <a:schemeClr val="dk1"/>
              </a:buClr>
              <a:buSzPts val="1100"/>
              <a:buChar char="●"/>
            </a:pPr>
            <a:r>
              <a:rPr lang="en" sz="1200" dirty="0">
                <a:solidFill>
                  <a:srgbClr val="1A1F36"/>
                </a:solidFill>
                <a:latin typeface="Calibri"/>
              </a:rPr>
              <a:t>Design · creative content</a:t>
            </a:r>
            <a:endParaRPr sz="1200" dirty="0">
              <a:solidFill>
                <a:schemeClr val="dk1"/>
              </a:solidFill>
            </a:endParaRPr>
          </a:p>
        </p:txBody>
      </p:sp>
      <p:sp>
        <p:nvSpPr>
          <p:cNvPr id="286" name="Google Shape;286;p28"/>
          <p:cNvSpPr/>
          <p:nvPr/>
        </p:nvSpPr>
        <p:spPr>
          <a:xfrm>
            <a:off x="274320" y="2276724"/>
            <a:ext cx="4251300" cy="1130955"/>
          </a:xfrm>
          <a:prstGeom prst="rect">
            <a:avLst/>
          </a:prstGeom>
          <a:solidFill>
            <a:srgbClr val="0F172A"/>
          </a:solidFill>
          <a:ln w="12700" cap="flat" cmpd="sng">
            <a:solidFill>
              <a:srgbClr val="1E3A5F"/>
            </a:solidFill>
            <a:prstDash val="solid"/>
            <a:round/>
            <a:headEnd type="none" w="sm" len="sm"/>
            <a:tailEnd type="none" w="sm" len="sm"/>
          </a:ln>
          <a:effectLst>
            <a:outerShdw blurRad="76200" dist="25400" dir="8100000" algn="bl" rotWithShape="0">
              <a:srgbClr val="94A3B8">
                <a:alpha val="149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r>
              <a:rPr lang="en" sz="1050" dirty="0">
                <a:solidFill>
                  <a:srgbClr val="E2E8F0"/>
                </a:solidFill>
                <a:sym typeface="Consolas"/>
              </a:rPr>
              <a:t>response = </a:t>
            </a:r>
            <a:r>
              <a:rPr lang="en" sz="1050" dirty="0" err="1">
                <a:solidFill>
                  <a:srgbClr val="E2E8F0"/>
                </a:solidFill>
                <a:sym typeface="Consolas"/>
              </a:rPr>
              <a:t>client.chat.completions.create</a:t>
            </a:r>
            <a:r>
              <a:rPr lang="en" sz="1050" dirty="0">
                <a:solidFill>
                  <a:srgbClr val="E2E8F0"/>
                </a:solidFill>
                <a:sym typeface="Consolas"/>
              </a:rPr>
              <a:t>(</a:t>
            </a:r>
            <a:endParaRPr sz="1050" dirty="0">
              <a:solidFill>
                <a:schemeClr val="dk1"/>
              </a:solidFill>
              <a:latin typeface="Calibri"/>
              <a:ea typeface="Calibri"/>
              <a:cs typeface="Calibri"/>
              <a:sym typeface="Calibri"/>
            </a:endParaRPr>
          </a:p>
          <a:p>
            <a:pPr marL="0" lvl="0" indent="0" algn="l" rtl="0">
              <a:spcBef>
                <a:spcPts val="0"/>
              </a:spcBef>
              <a:spcAft>
                <a:spcPts val="0"/>
              </a:spcAft>
              <a:buNone/>
            </a:pPr>
            <a:r>
              <a:rPr lang="en" sz="1050" dirty="0">
                <a:solidFill>
                  <a:srgbClr val="E2E8F0"/>
                </a:solidFill>
                <a:sym typeface="Consolas"/>
              </a:rPr>
              <a:t>  </a:t>
            </a:r>
            <a:r>
              <a:rPr lang="en" sz="1050" dirty="0">
                <a:solidFill>
                  <a:srgbClr val="7DD3FC"/>
                </a:solidFill>
                <a:sym typeface="Consolas"/>
              </a:rPr>
              <a:t>model</a:t>
            </a:r>
            <a:r>
              <a:rPr lang="en" sz="1050" dirty="0">
                <a:solidFill>
                  <a:srgbClr val="E2E8F0"/>
                </a:solidFill>
                <a:sym typeface="Consolas"/>
              </a:rPr>
              <a:t>=</a:t>
            </a:r>
            <a:r>
              <a:rPr lang="en" sz="1050" dirty="0">
                <a:solidFill>
                  <a:srgbClr val="86EFAC"/>
                </a:solidFill>
                <a:sym typeface="Consolas"/>
              </a:rPr>
              <a:t>"gpt-image-1.5"</a:t>
            </a:r>
            <a:r>
              <a:rPr lang="en" sz="1050" dirty="0">
                <a:solidFill>
                  <a:srgbClr val="E2E8F0"/>
                </a:solidFill>
                <a:sym typeface="Consolas"/>
              </a:rPr>
              <a:t>,</a:t>
            </a:r>
            <a:endParaRPr sz="1050" dirty="0">
              <a:solidFill>
                <a:schemeClr val="dk1"/>
              </a:solidFill>
              <a:latin typeface="Calibri"/>
              <a:ea typeface="Calibri"/>
              <a:cs typeface="Calibri"/>
              <a:sym typeface="Calibri"/>
            </a:endParaRPr>
          </a:p>
          <a:p>
            <a:pPr marL="0" lvl="0" indent="0" algn="l" rtl="0">
              <a:spcBef>
                <a:spcPts val="0"/>
              </a:spcBef>
              <a:spcAft>
                <a:spcPts val="0"/>
              </a:spcAft>
              <a:buNone/>
            </a:pPr>
            <a:r>
              <a:rPr lang="en" sz="1050" dirty="0">
                <a:solidFill>
                  <a:srgbClr val="E2E8F0"/>
                </a:solidFill>
                <a:sym typeface="Consolas"/>
              </a:rPr>
              <a:t> prompt="A futuristic city at sunset"</a:t>
            </a:r>
            <a:endParaRPr dirty="0">
              <a:solidFill>
                <a:schemeClr val="lt1"/>
              </a:solidFill>
            </a:endParaRPr>
          </a:p>
        </p:txBody>
      </p:sp>
      <p:sp>
        <p:nvSpPr>
          <p:cNvPr id="288" name="Google Shape;288;p28"/>
          <p:cNvSpPr txBox="1"/>
          <p:nvPr/>
        </p:nvSpPr>
        <p:spPr>
          <a:xfrm>
            <a:off x="4779825" y="1389775"/>
            <a:ext cx="30000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a:solidFill>
                  <a:srgbClr val="1A1F36"/>
                </a:solidFill>
                <a:latin typeface="Calibri"/>
              </a:rPr>
              <a:t>Output:</a:t>
            </a:r>
            <a:endParaRPr/>
          </a:p>
        </p:txBody>
      </p:sp>
      <p:sp>
        <p:nvSpPr>
          <p:cNvPr id="289" name="Google Shape;289;p28"/>
          <p:cNvSpPr txBox="1"/>
          <p:nvPr/>
        </p:nvSpPr>
        <p:spPr>
          <a:xfrm>
            <a:off x="509851" y="3548580"/>
            <a:ext cx="3286200" cy="1341876"/>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200"/>
              </a:spcBef>
              <a:spcAft>
                <a:spcPts val="0"/>
              </a:spcAft>
              <a:buNone/>
            </a:pPr>
            <a:r>
              <a:rPr lang="en" sz="1200" b="1" dirty="0">
                <a:solidFill>
                  <a:srgbClr val="1A1F36"/>
                </a:solidFill>
                <a:latin typeface="Calibri"/>
              </a:rPr>
              <a:t>Key Points:</a:t>
            </a:r>
            <a:endParaRPr sz="1200" b="1" dirty="0">
              <a:solidFill>
                <a:schemeClr val="dk1"/>
              </a:solidFill>
            </a:endParaRPr>
          </a:p>
          <a:p>
            <a:pPr marL="457200" lvl="0" indent="-298450" algn="l" rtl="0">
              <a:lnSpc>
                <a:spcPct val="115000"/>
              </a:lnSpc>
              <a:spcBef>
                <a:spcPts val="1200"/>
              </a:spcBef>
              <a:spcAft>
                <a:spcPts val="0"/>
              </a:spcAft>
              <a:buClr>
                <a:schemeClr val="dk1"/>
              </a:buClr>
              <a:buSzPts val="1100"/>
              <a:buChar char="●"/>
            </a:pPr>
            <a:r>
              <a:rPr lang="en" sz="1200" dirty="0">
                <a:solidFill>
                  <a:srgbClr val="1A1F36"/>
                </a:solidFill>
                <a:latin typeface="Calibri"/>
              </a:rPr>
              <a:t>High-quality image generation</a:t>
            </a:r>
            <a:endParaRPr sz="1200" dirty="0">
              <a:solidFill>
                <a:schemeClr val="dk1"/>
              </a:solidFill>
            </a:endParaRPr>
          </a:p>
          <a:p>
            <a:pPr marL="457200" lvl="0" indent="-298450" algn="l" rtl="0">
              <a:lnSpc>
                <a:spcPct val="115000"/>
              </a:lnSpc>
              <a:spcBef>
                <a:spcPts val="0"/>
              </a:spcBef>
              <a:spcAft>
                <a:spcPts val="0"/>
              </a:spcAft>
              <a:buClr>
                <a:schemeClr val="dk1"/>
              </a:buClr>
              <a:buSzPts val="1100"/>
              <a:buChar char="●"/>
            </a:pPr>
            <a:r>
              <a:rPr lang="en" sz="1200" dirty="0">
                <a:solidFill>
                  <a:srgbClr val="1A1F36"/>
                </a:solidFill>
                <a:latin typeface="Calibri"/>
              </a:rPr>
              <a:t>Creative control via prompts</a:t>
            </a:r>
            <a:endParaRPr sz="1200" dirty="0">
              <a:solidFill>
                <a:schemeClr val="dk1"/>
              </a:solidFill>
            </a:endParaRPr>
          </a:p>
          <a:p>
            <a:pPr marL="457200" lvl="0" indent="-298450" algn="l" rtl="0">
              <a:lnSpc>
                <a:spcPct val="115000"/>
              </a:lnSpc>
              <a:spcBef>
                <a:spcPts val="0"/>
              </a:spcBef>
              <a:spcAft>
                <a:spcPts val="0"/>
              </a:spcAft>
              <a:buClr>
                <a:schemeClr val="dk1"/>
              </a:buClr>
              <a:buSzPts val="1100"/>
              <a:buChar char="●"/>
            </a:pPr>
            <a:r>
              <a:rPr lang="en" sz="1200" dirty="0">
                <a:solidFill>
                  <a:srgbClr val="1A1F36"/>
                </a:solidFill>
                <a:latin typeface="Calibri"/>
              </a:rPr>
              <a:t>Useful for design workflows</a:t>
            </a:r>
            <a:endParaRPr sz="1200" b="1" dirty="0">
              <a:solidFill>
                <a:schemeClr val="dk1"/>
              </a:solidFill>
            </a:endParaRPr>
          </a:p>
        </p:txBody>
      </p:sp>
      <p:pic>
        <p:nvPicPr>
          <p:cNvPr id="290" name="Google Shape;290;p28"/>
          <p:cNvPicPr preferRelativeResize="0"/>
          <p:nvPr/>
        </p:nvPicPr>
        <p:blipFill>
          <a:blip r:embed="rId4">
            <a:alphaModFix/>
          </a:blip>
          <a:stretch>
            <a:fillRect/>
          </a:stretch>
        </p:blipFill>
        <p:spPr>
          <a:xfrm>
            <a:off x="5347950" y="1789975"/>
            <a:ext cx="3120650" cy="3106748"/>
          </a:xfrm>
          <a:prstGeom prst="rect">
            <a:avLst/>
          </a:prstGeom>
          <a:noFill/>
          <a:ln>
            <a:noFill/>
          </a:ln>
        </p:spPr>
      </p:pic>
      <p:pic>
        <p:nvPicPr>
          <p:cNvPr id="2" name="Google Shape;109;p20">
            <a:extLst>
              <a:ext uri="{FF2B5EF4-FFF2-40B4-BE49-F238E27FC236}">
                <a16:creationId xmlns:a16="http://schemas.microsoft.com/office/drawing/2014/main" id="{7A018B1C-5099-3422-2D86-131A3ED4C7AF}"/>
              </a:ext>
            </a:extLst>
          </p:cNvPr>
          <p:cNvPicPr preferRelativeResize="0"/>
          <p:nvPr/>
        </p:nvPicPr>
        <p:blipFill>
          <a:blip r:embed="rId5">
            <a:alphaModFix/>
          </a:blip>
          <a:stretch>
            <a:fillRect/>
          </a:stretch>
        </p:blipFill>
        <p:spPr>
          <a:xfrm>
            <a:off x="8369125" y="0"/>
            <a:ext cx="774877" cy="867174"/>
          </a:xfrm>
          <a:prstGeom prst="rect">
            <a:avLst/>
          </a:prstGeom>
          <a:noFill/>
          <a:ln>
            <a:noFill/>
          </a:ln>
        </p:spPr>
      </p:pic>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DA00AE-53D6-B587-F996-301C48A3D904}"/>
              </a:ext>
            </a:extLst>
          </p:cNvPr>
          <p:cNvSpPr>
            <a:spLocks noGrp="1"/>
          </p:cNvSpPr>
          <p:nvPr>
            <p:ph type="title"/>
          </p:nvPr>
        </p:nvSpPr>
        <p:spPr/>
        <p:txBody>
          <a:bodyPr>
            <a:normAutofit fontScale="90000"/>
          </a:bodyPr>
          <a:lstStyle/>
          <a:p>
            <a:r>
              <a:rPr lang="en-US" b="1" dirty="0">
                <a:solidFill>
                  <a:srgbClr val="1E2761"/>
                </a:solidFill>
                <a:latin typeface="Georgia"/>
              </a:rPr>
              <a:t>Question</a:t>
            </a:r>
          </a:p>
        </p:txBody>
      </p:sp>
      <p:sp>
        <p:nvSpPr>
          <p:cNvPr id="3" name="Text Placeholder 2">
            <a:extLst>
              <a:ext uri="{FF2B5EF4-FFF2-40B4-BE49-F238E27FC236}">
                <a16:creationId xmlns:a16="http://schemas.microsoft.com/office/drawing/2014/main" id="{481E8D93-C3BE-5C5A-845F-97CCD4AEB9AA}"/>
              </a:ext>
            </a:extLst>
          </p:cNvPr>
          <p:cNvSpPr>
            <a:spLocks noGrp="1"/>
          </p:cNvSpPr>
          <p:nvPr>
            <p:ph type="body" idx="1"/>
          </p:nvPr>
        </p:nvSpPr>
        <p:spPr/>
        <p:txBody>
          <a:bodyPr/>
          <a:lstStyle/>
          <a:p>
            <a:r>
              <a:rPr lang="en-US" dirty="0">
                <a:solidFill>
                  <a:srgbClr val="1A1F36"/>
                </a:solidFill>
                <a:latin typeface="Calibri"/>
              </a:rPr>
              <a:t>What is the main purpose of roles in OpenAI API?</a:t>
            </a:r>
          </a:p>
          <a:p>
            <a:pPr lvl="1"/>
            <a:r>
              <a:rPr lang="en-US" dirty="0">
                <a:solidFill>
                  <a:srgbClr val="1A1F36"/>
                </a:solidFill>
                <a:latin typeface="Calibri"/>
              </a:rPr>
              <a:t>Provide structure to the prompt engineering process.</a:t>
            </a:r>
          </a:p>
          <a:p>
            <a:pPr lvl="1"/>
            <a:r>
              <a:rPr lang="en-US" dirty="0">
                <a:solidFill>
                  <a:srgbClr val="1A1F36"/>
                </a:solidFill>
                <a:latin typeface="Calibri"/>
              </a:rPr>
              <a:t>Allow system level instructions</a:t>
            </a:r>
          </a:p>
          <a:p>
            <a:pPr lvl="1"/>
            <a:r>
              <a:rPr lang="en-US" dirty="0">
                <a:solidFill>
                  <a:srgbClr val="1A1F36"/>
                </a:solidFill>
                <a:latin typeface="Calibri"/>
              </a:rPr>
              <a:t>Allow structured inputs to be fed into the model</a:t>
            </a:r>
          </a:p>
          <a:p>
            <a:pPr lvl="1"/>
            <a:r>
              <a:rPr lang="en-US" dirty="0">
                <a:solidFill>
                  <a:srgbClr val="1A1F36"/>
                </a:solidFill>
                <a:latin typeface="Calibri"/>
              </a:rPr>
              <a:t>Historical legacy</a:t>
            </a:r>
          </a:p>
        </p:txBody>
      </p:sp>
    </p:spTree>
    <p:extLst>
      <p:ext uri="{BB962C8B-B14F-4D97-AF65-F5344CB8AC3E}">
        <p14:creationId xmlns:p14="http://schemas.microsoft.com/office/powerpoint/2010/main" val="1857512300"/>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57200" y="133074"/>
            <a:ext cx="8229600" cy="731520"/>
          </a:xfrm>
          <a:prstGeom prst="rect">
            <a:avLst/>
          </a:prstGeom>
          <a:noFill/>
          <a:ln/>
        </p:spPr>
        <p:txBody>
          <a:bodyPr wrap="square" rtlCol="0" anchor="ctr"/>
          <a:lstStyle/>
          <a:p>
            <a:pPr marL="0" indent="0" algn="l">
              <a:buNone/>
            </a:pPr>
            <a:r>
              <a:rPr lang="en-US" sz="2400" b="1" dirty="0">
                <a:solidFill>
                  <a:srgbClr val="1B2A52"/>
                </a:solidFill>
                <a:latin typeface="Calibri" pitchFamily="34" charset="0"/>
                <a:ea typeface="Calibri" pitchFamily="34" charset="-122"/>
                <a:cs typeface="Calibri" pitchFamily="34" charset="-120"/>
              </a:rPr>
              <a:t>Answer</a:t>
            </a:r>
            <a:endParaRPr lang="en-US" sz="2400" dirty="0"/>
          </a:p>
        </p:txBody>
      </p:sp>
      <p:sp>
        <p:nvSpPr>
          <p:cNvPr id="3" name="Text 1"/>
          <p:cNvSpPr/>
          <p:nvPr/>
        </p:nvSpPr>
        <p:spPr>
          <a:xfrm>
            <a:off x="457200" y="1022940"/>
            <a:ext cx="8229600" cy="731520"/>
          </a:xfrm>
          <a:prstGeom prst="rect">
            <a:avLst/>
          </a:prstGeom>
          <a:noFill/>
          <a:ln/>
        </p:spPr>
        <p:txBody>
          <a:bodyPr wrap="square" rtlCol="0" anchor="ctr"/>
          <a:lstStyle/>
          <a:p>
            <a:pPr marL="342900" indent="-342900" algn="l">
              <a:buSzPct val="100000"/>
              <a:buChar char="•"/>
            </a:pPr>
            <a:r>
              <a:rPr lang="en-US" sz="1600" dirty="0">
                <a:solidFill>
                  <a:srgbClr val="1B2A52"/>
                </a:solidFill>
                <a:latin typeface="Calibri" pitchFamily="34" charset="0"/>
                <a:ea typeface="Calibri" pitchFamily="34" charset="-122"/>
                <a:cs typeface="Calibri" pitchFamily="34" charset="-120"/>
              </a:rPr>
              <a:t>What is the main purpose of roles in OpenAI API?</a:t>
            </a:r>
            <a:endParaRPr lang="en-US" sz="1600" dirty="0"/>
          </a:p>
          <a:p>
            <a:pPr marL="635000" lvl="1" indent="-317500" algn="l">
              <a:buSzPct val="100000"/>
              <a:buChar char="•"/>
            </a:pPr>
            <a:r>
              <a:rPr lang="en-US" sz="1200" dirty="0">
                <a:solidFill>
                  <a:srgbClr val="2E3A59"/>
                </a:solidFill>
                <a:latin typeface="Calibri" pitchFamily="34" charset="0"/>
                <a:ea typeface="Calibri" pitchFamily="34" charset="-122"/>
                <a:cs typeface="Calibri" pitchFamily="34" charset="-120"/>
              </a:rPr>
              <a:t>Provide structure to the prompt engineering process.</a:t>
            </a:r>
            <a:endParaRPr lang="en-US" sz="1600" dirty="0"/>
          </a:p>
          <a:p>
            <a:pPr marL="635000" lvl="1" indent="-317500" algn="l">
              <a:buSzPct val="100000"/>
              <a:buChar char="•"/>
            </a:pPr>
            <a:r>
              <a:rPr lang="en-US" sz="1200" dirty="0">
                <a:solidFill>
                  <a:srgbClr val="2E3A59"/>
                </a:solidFill>
                <a:latin typeface="Calibri" pitchFamily="34" charset="0"/>
                <a:ea typeface="Calibri" pitchFamily="34" charset="-122"/>
                <a:cs typeface="Calibri" pitchFamily="34" charset="-120"/>
              </a:rPr>
              <a:t>Allow system level instructions</a:t>
            </a:r>
            <a:endParaRPr lang="en-US" sz="1600" dirty="0"/>
          </a:p>
          <a:p>
            <a:pPr marL="635000" lvl="1" indent="-317500" algn="l">
              <a:buSzPct val="100000"/>
              <a:buChar char="•"/>
            </a:pPr>
            <a:r>
              <a:rPr lang="en-US" sz="1200" dirty="0">
                <a:solidFill>
                  <a:srgbClr val="2E3A59"/>
                </a:solidFill>
                <a:latin typeface="Calibri" pitchFamily="34" charset="0"/>
                <a:ea typeface="Calibri" pitchFamily="34" charset="-122"/>
                <a:cs typeface="Calibri" pitchFamily="34" charset="-120"/>
              </a:rPr>
              <a:t>Allow structured inputs to be fed into the model</a:t>
            </a:r>
            <a:endParaRPr lang="en-US" sz="1600" dirty="0"/>
          </a:p>
          <a:p>
            <a:pPr marL="635000" lvl="1" indent="-317500" algn="l">
              <a:buSzPct val="100000"/>
              <a:buChar char="•"/>
            </a:pPr>
            <a:r>
              <a:rPr lang="en-US" sz="1200" dirty="0">
                <a:solidFill>
                  <a:srgbClr val="2E3A59"/>
                </a:solidFill>
                <a:latin typeface="Calibri" pitchFamily="34" charset="0"/>
                <a:ea typeface="Calibri" pitchFamily="34" charset="-122"/>
                <a:cs typeface="Calibri" pitchFamily="34" charset="-120"/>
              </a:rPr>
              <a:t>Historical legacy</a:t>
            </a:r>
            <a:endParaRPr lang="en-US" sz="1600" dirty="0"/>
          </a:p>
        </p:txBody>
      </p:sp>
      <p:sp>
        <p:nvSpPr>
          <p:cNvPr id="4" name="Text 2"/>
          <p:cNvSpPr/>
          <p:nvPr/>
        </p:nvSpPr>
        <p:spPr>
          <a:xfrm>
            <a:off x="457200" y="1933253"/>
            <a:ext cx="8229600" cy="640080"/>
          </a:xfrm>
          <a:prstGeom prst="rect">
            <a:avLst/>
          </a:prstGeom>
          <a:noFill/>
          <a:ln/>
        </p:spPr>
        <p:txBody>
          <a:bodyPr wrap="square" rtlCol="0" anchor="ctr"/>
          <a:lstStyle/>
          <a:p>
            <a:pPr marL="0" indent="0" algn="l">
              <a:buNone/>
            </a:pPr>
            <a:r>
              <a:rPr lang="en-US" sz="1400" b="1" dirty="0">
                <a:solidFill>
                  <a:srgbClr val="1B2A52"/>
                </a:solidFill>
                <a:latin typeface="Calibri" pitchFamily="34" charset="0"/>
                <a:ea typeface="Calibri" pitchFamily="34" charset="-122"/>
                <a:cs typeface="Calibri" pitchFamily="34" charset="-120"/>
              </a:rPr>
              <a:t>Correct Answer:</a:t>
            </a:r>
            <a:endParaRPr lang="en-US" sz="1400" dirty="0"/>
          </a:p>
          <a:p>
            <a:pPr marL="342900" indent="-342900" algn="l">
              <a:buSzPct val="100000"/>
              <a:buChar char="•"/>
            </a:pPr>
            <a:r>
              <a:rPr lang="en-US" sz="1200" b="1" dirty="0">
                <a:solidFill>
                  <a:srgbClr val="1B7F4A"/>
                </a:solidFill>
                <a:latin typeface="Calibri" pitchFamily="34" charset="0"/>
                <a:ea typeface="Calibri" pitchFamily="34" charset="-122"/>
                <a:cs typeface="Calibri" pitchFamily="34" charset="-120"/>
              </a:rPr>
              <a:t>Allow system level instructions</a:t>
            </a:r>
            <a:endParaRPr lang="en-US" sz="1400" dirty="0"/>
          </a:p>
        </p:txBody>
      </p:sp>
      <p:sp>
        <p:nvSpPr>
          <p:cNvPr id="5" name="Text 3"/>
          <p:cNvSpPr/>
          <p:nvPr/>
        </p:nvSpPr>
        <p:spPr>
          <a:xfrm>
            <a:off x="457200" y="2708262"/>
            <a:ext cx="8229600" cy="2103120"/>
          </a:xfrm>
          <a:prstGeom prst="rect">
            <a:avLst/>
          </a:prstGeom>
          <a:noFill/>
          <a:ln/>
        </p:spPr>
        <p:txBody>
          <a:bodyPr wrap="square" rtlCol="0" anchor="ctr"/>
          <a:lstStyle/>
          <a:p>
            <a:pPr marL="0" indent="0" algn="l">
              <a:buNone/>
            </a:pPr>
            <a:r>
              <a:rPr lang="en-US" sz="1400" b="1" dirty="0">
                <a:solidFill>
                  <a:srgbClr val="1B2A52"/>
                </a:solidFill>
                <a:latin typeface="Calibri" pitchFamily="34" charset="0"/>
                <a:ea typeface="Calibri" pitchFamily="34" charset="-122"/>
                <a:cs typeface="Calibri" pitchFamily="34" charset="-120"/>
              </a:rPr>
              <a:t>Explanation:</a:t>
            </a:r>
            <a:endParaRPr lang="en-US" sz="1400" dirty="0"/>
          </a:p>
          <a:p>
            <a:pPr marL="342900" indent="-342900" algn="l">
              <a:buSzPct val="100000"/>
              <a:buChar char="•"/>
            </a:pPr>
            <a:r>
              <a:rPr lang="en-US" sz="1200" dirty="0">
                <a:solidFill>
                  <a:srgbClr val="00B050"/>
                </a:solidFill>
                <a:latin typeface="Calibri" pitchFamily="34" charset="0"/>
                <a:ea typeface="Calibri" pitchFamily="34" charset="-122"/>
                <a:cs typeface="Calibri" pitchFamily="34" charset="-120"/>
              </a:rPr>
              <a:t>A) Provide structure to the prompt engineering process</a:t>
            </a:r>
            <a:endParaRPr lang="en-US" sz="1400" dirty="0">
              <a:solidFill>
                <a:srgbClr val="00B050"/>
              </a:solidFill>
            </a:endParaRPr>
          </a:p>
          <a:p>
            <a:pPr marL="0" indent="0" algn="l">
              <a:buNone/>
            </a:pPr>
            <a:r>
              <a:rPr lang="en-US" sz="1200" i="1" dirty="0">
                <a:solidFill>
                  <a:srgbClr val="00B050"/>
                </a:solidFill>
                <a:latin typeface="Calibri" pitchFamily="34" charset="0"/>
                <a:ea typeface="Calibri" pitchFamily="34" charset="-122"/>
                <a:cs typeface="Calibri" pitchFamily="34" charset="-120"/>
              </a:rPr>
              <a:t>Correct. While roles do not primarily exist to structure the prompt engineering process — however, they can be used for better organization of codes for generating prompts.</a:t>
            </a:r>
            <a:endParaRPr lang="en-US" sz="1400" dirty="0">
              <a:solidFill>
                <a:srgbClr val="00B050"/>
              </a:solidFill>
            </a:endParaRPr>
          </a:p>
          <a:p>
            <a:pPr marL="342900" indent="-342900" algn="l">
              <a:buSzPct val="100000"/>
              <a:buChar char="•"/>
            </a:pPr>
            <a:r>
              <a:rPr lang="en-US" sz="1200" b="1" dirty="0">
                <a:solidFill>
                  <a:srgbClr val="1B7F4A"/>
                </a:solidFill>
                <a:latin typeface="Calibri" pitchFamily="34" charset="0"/>
                <a:ea typeface="Calibri" pitchFamily="34" charset="-122"/>
                <a:cs typeface="Calibri" pitchFamily="34" charset="-120"/>
              </a:rPr>
              <a:t>B) Allow system level instructions  ✓</a:t>
            </a:r>
            <a:endParaRPr lang="en-US" sz="1400" dirty="0"/>
          </a:p>
          <a:p>
            <a:pPr marL="0" indent="0" algn="l">
              <a:buNone/>
            </a:pPr>
            <a:r>
              <a:rPr lang="en-US" sz="1200" i="1" dirty="0">
                <a:solidFill>
                  <a:srgbClr val="1B7F4A"/>
                </a:solidFill>
                <a:latin typeface="Calibri" pitchFamily="34" charset="0"/>
                <a:ea typeface="Calibri" pitchFamily="34" charset="-122"/>
                <a:cs typeface="Calibri" pitchFamily="34" charset="-120"/>
              </a:rPr>
              <a:t>Correct. The main purpose of roles (especially the 'system' role) is to pass system-level instructions that set the model's behavior, tone, and constraints throughout the conversation.</a:t>
            </a:r>
            <a:endParaRPr lang="en-US" sz="1400" dirty="0"/>
          </a:p>
          <a:p>
            <a:pPr marL="342900" indent="-342900" algn="l">
              <a:buSzPct val="100000"/>
              <a:buChar char="•"/>
            </a:pPr>
            <a:r>
              <a:rPr lang="en-US" sz="1200" dirty="0">
                <a:solidFill>
                  <a:srgbClr val="1B2A52"/>
                </a:solidFill>
                <a:latin typeface="Calibri" pitchFamily="34" charset="0"/>
                <a:ea typeface="Calibri" pitchFamily="34" charset="-122"/>
                <a:cs typeface="Calibri" pitchFamily="34" charset="-120"/>
              </a:rPr>
              <a:t>C) Allow structured inputs to be fed into the model</a:t>
            </a:r>
            <a:endParaRPr lang="en-US" sz="1400" dirty="0"/>
          </a:p>
          <a:p>
            <a:pPr marL="0" indent="0" algn="l">
              <a:buNone/>
            </a:pPr>
            <a:r>
              <a:rPr lang="en-US" sz="1200" i="1" dirty="0">
                <a:solidFill>
                  <a:srgbClr val="5A5A5A"/>
                </a:solidFill>
                <a:latin typeface="Calibri" pitchFamily="34" charset="0"/>
                <a:ea typeface="Calibri" pitchFamily="34" charset="-122"/>
                <a:cs typeface="Calibri" pitchFamily="34" charset="-120"/>
              </a:rPr>
              <a:t>Incorrect. While roles do organize input into the conversation, the primary purpose is instruction-giving, not arbitrary structured inputs.</a:t>
            </a:r>
            <a:endParaRPr lang="en-US" sz="1400" dirty="0"/>
          </a:p>
          <a:p>
            <a:pPr marL="342900" indent="-342900" algn="l">
              <a:buSzPct val="100000"/>
              <a:buChar char="•"/>
            </a:pPr>
            <a:r>
              <a:rPr lang="en-US" sz="1200" dirty="0">
                <a:solidFill>
                  <a:srgbClr val="1B2A52"/>
                </a:solidFill>
                <a:latin typeface="Calibri" pitchFamily="34" charset="0"/>
                <a:ea typeface="Calibri" pitchFamily="34" charset="-122"/>
                <a:cs typeface="Calibri" pitchFamily="34" charset="-120"/>
              </a:rPr>
              <a:t>D) Historical legacy</a:t>
            </a:r>
            <a:endParaRPr lang="en-US" sz="1400" dirty="0"/>
          </a:p>
          <a:p>
            <a:pPr marL="0" indent="0" algn="l">
              <a:buNone/>
            </a:pPr>
            <a:r>
              <a:rPr lang="en-US" sz="1200" i="1" dirty="0">
                <a:solidFill>
                  <a:srgbClr val="5A5A5A"/>
                </a:solidFill>
                <a:latin typeface="Calibri" pitchFamily="34" charset="0"/>
                <a:ea typeface="Calibri" pitchFamily="34" charset="-122"/>
                <a:cs typeface="Calibri" pitchFamily="34" charset="-120"/>
              </a:rPr>
              <a:t>Incorrect. Roles are a deliberate design choice with a clear functional purpose, not merely a legacy feature.</a:t>
            </a:r>
            <a:endParaRPr lang="en-US" sz="1400" dirty="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62A98D-80C3-BAE3-E1FF-DDFA2CC25CF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8A7B6C4-9612-910B-819E-A9B103CDCCD8}"/>
              </a:ext>
            </a:extLst>
          </p:cNvPr>
          <p:cNvSpPr>
            <a:spLocks noGrp="1"/>
          </p:cNvSpPr>
          <p:nvPr>
            <p:ph type="title"/>
          </p:nvPr>
        </p:nvSpPr>
        <p:spPr/>
        <p:txBody>
          <a:bodyPr>
            <a:normAutofit fontScale="90000"/>
          </a:bodyPr>
          <a:lstStyle/>
          <a:p>
            <a:r>
              <a:rPr lang="en-US" b="1" dirty="0">
                <a:solidFill>
                  <a:srgbClr val="1E2761"/>
                </a:solidFill>
                <a:latin typeface="Georgia"/>
              </a:rPr>
              <a:t>Question</a:t>
            </a:r>
          </a:p>
        </p:txBody>
      </p:sp>
      <p:sp>
        <p:nvSpPr>
          <p:cNvPr id="3" name="Text Placeholder 2">
            <a:extLst>
              <a:ext uri="{FF2B5EF4-FFF2-40B4-BE49-F238E27FC236}">
                <a16:creationId xmlns:a16="http://schemas.microsoft.com/office/drawing/2014/main" id="{4D82FEA2-F101-ED3C-2074-712656640374}"/>
              </a:ext>
            </a:extLst>
          </p:cNvPr>
          <p:cNvSpPr>
            <a:spLocks noGrp="1"/>
          </p:cNvSpPr>
          <p:nvPr>
            <p:ph type="body" idx="1"/>
          </p:nvPr>
        </p:nvSpPr>
        <p:spPr/>
        <p:txBody>
          <a:bodyPr/>
          <a:lstStyle/>
          <a:p>
            <a:r>
              <a:rPr lang="en-US" dirty="0">
                <a:solidFill>
                  <a:srgbClr val="1A1F36"/>
                </a:solidFill>
                <a:latin typeface="Calibri"/>
              </a:rPr>
              <a:t>Which of the following tasks is not suitable to be performed by prompting LLMs?</a:t>
            </a:r>
          </a:p>
          <a:p>
            <a:pPr lvl="1"/>
            <a:r>
              <a:rPr lang="en-US" dirty="0">
                <a:solidFill>
                  <a:srgbClr val="1A1F36"/>
                </a:solidFill>
                <a:latin typeface="Calibri"/>
              </a:rPr>
              <a:t>Classifying resumes of individuals into different skillsets.</a:t>
            </a:r>
          </a:p>
          <a:p>
            <a:pPr lvl="1"/>
            <a:r>
              <a:rPr lang="en-US" dirty="0">
                <a:solidFill>
                  <a:srgbClr val="1A1F36"/>
                </a:solidFill>
                <a:latin typeface="Calibri"/>
              </a:rPr>
              <a:t>Forecasting stock prices</a:t>
            </a:r>
          </a:p>
          <a:p>
            <a:pPr lvl="1"/>
            <a:r>
              <a:rPr lang="en-US" dirty="0">
                <a:solidFill>
                  <a:srgbClr val="1A1F36"/>
                </a:solidFill>
                <a:latin typeface="Calibri"/>
              </a:rPr>
              <a:t>Generating a summary of US – Iran war updates.</a:t>
            </a:r>
          </a:p>
          <a:p>
            <a:pPr lvl="1"/>
            <a:r>
              <a:rPr lang="en-US" dirty="0">
                <a:solidFill>
                  <a:srgbClr val="1A1F36"/>
                </a:solidFill>
                <a:latin typeface="Calibri"/>
              </a:rPr>
              <a:t>Creating a resume for a </a:t>
            </a:r>
            <a:r>
              <a:rPr lang="en-US">
                <a:solidFill>
                  <a:srgbClr val="1A1F36"/>
                </a:solidFill>
                <a:latin typeface="Calibri"/>
              </a:rPr>
              <a:t>job application</a:t>
            </a:r>
            <a:endParaRPr lang="en-US" dirty="0"/>
          </a:p>
        </p:txBody>
      </p:sp>
      <p:pic>
        <p:nvPicPr>
          <p:cNvPr id="5" name="Google Shape;328;p29">
            <a:extLst>
              <a:ext uri="{FF2B5EF4-FFF2-40B4-BE49-F238E27FC236}">
                <a16:creationId xmlns:a16="http://schemas.microsoft.com/office/drawing/2014/main" id="{9C6F445A-CD5F-4C6F-C773-2703CB2520B9}"/>
              </a:ext>
            </a:extLst>
          </p:cNvPr>
          <p:cNvPicPr preferRelativeResize="0"/>
          <p:nvPr/>
        </p:nvPicPr>
        <p:blipFill>
          <a:blip r:embed="rId2">
            <a:alphaModFix/>
          </a:blip>
          <a:stretch>
            <a:fillRect/>
          </a:stretch>
        </p:blipFill>
        <p:spPr>
          <a:xfrm>
            <a:off x="8369125" y="0"/>
            <a:ext cx="774877" cy="867174"/>
          </a:xfrm>
          <a:prstGeom prst="rect">
            <a:avLst/>
          </a:prstGeom>
          <a:noFill/>
          <a:ln>
            <a:noFill/>
          </a:ln>
        </p:spPr>
      </p:pic>
    </p:spTree>
    <p:extLst>
      <p:ext uri="{BB962C8B-B14F-4D97-AF65-F5344CB8AC3E}">
        <p14:creationId xmlns:p14="http://schemas.microsoft.com/office/powerpoint/2010/main" val="3709445784"/>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Shape 2333"/>
        <p:cNvGrpSpPr/>
        <p:nvPr/>
      </p:nvGrpSpPr>
      <p:grpSpPr>
        <a:xfrm>
          <a:off x="0" y="0"/>
          <a:ext cx="0" cy="0"/>
          <a:chOff x="0" y="0"/>
          <a:chExt cx="0" cy="0"/>
        </a:xfrm>
      </p:grpSpPr>
      <p:pic>
        <p:nvPicPr>
          <p:cNvPr id="2334" name="Google Shape;2334;p102"/>
          <p:cNvPicPr preferRelativeResize="0"/>
          <p:nvPr/>
        </p:nvPicPr>
        <p:blipFill>
          <a:blip r:embed="rId3">
            <a:alphaModFix/>
          </a:blip>
          <a:stretch>
            <a:fillRect/>
          </a:stretch>
        </p:blipFill>
        <p:spPr>
          <a:xfrm>
            <a:off x="8369125" y="0"/>
            <a:ext cx="774877" cy="867174"/>
          </a:xfrm>
          <a:prstGeom prst="rect">
            <a:avLst/>
          </a:prstGeom>
          <a:noFill/>
          <a:ln>
            <a:noFill/>
          </a:ln>
        </p:spPr>
      </p:pic>
      <p:sp>
        <p:nvSpPr>
          <p:cNvPr id="2335" name="Google Shape;2335;p102"/>
          <p:cNvSpPr/>
          <p:nvPr/>
        </p:nvSpPr>
        <p:spPr>
          <a:xfrm>
            <a:off x="469650" y="683663"/>
            <a:ext cx="8204700" cy="7248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0D1B2A"/>
              </a:buClr>
              <a:buSzPts val="2400"/>
              <a:buFont typeface="Calibri"/>
              <a:buNone/>
            </a:pPr>
            <a:r>
              <a:rPr lang="en" sz="2800">
                <a:solidFill>
                  <a:srgbClr val="1E2761"/>
                </a:solidFill>
                <a:latin typeface="Georgia"/>
              </a:rPr>
              <a:t>Thank you</a:t>
            </a:r>
            <a:endParaRPr sz="2800">
              <a:solidFill>
                <a:schemeClr val="dk1"/>
              </a:solidFill>
            </a:endParaRPr>
          </a:p>
        </p:txBody>
      </p:sp>
      <p:sp>
        <p:nvSpPr>
          <p:cNvPr id="2336" name="Google Shape;2336;p102"/>
          <p:cNvSpPr/>
          <p:nvPr/>
        </p:nvSpPr>
        <p:spPr>
          <a:xfrm>
            <a:off x="1462325" y="1632000"/>
            <a:ext cx="1591500" cy="5157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0D1B2A"/>
              </a:buClr>
              <a:buSzPts val="2400"/>
              <a:buFont typeface="Calibri"/>
              <a:buNone/>
            </a:pPr>
            <a:r>
              <a:rPr lang="en" sz="2000">
                <a:solidFill>
                  <a:srgbClr val="1A1F36"/>
                </a:solidFill>
                <a:latin typeface="Calibri"/>
              </a:rPr>
              <a:t>Instructor</a:t>
            </a:r>
            <a:endParaRPr sz="2000">
              <a:solidFill>
                <a:schemeClr val="dk1"/>
              </a:solidFill>
            </a:endParaRPr>
          </a:p>
        </p:txBody>
      </p:sp>
      <p:sp>
        <p:nvSpPr>
          <p:cNvPr id="2337" name="Google Shape;2337;p102"/>
          <p:cNvSpPr/>
          <p:nvPr/>
        </p:nvSpPr>
        <p:spPr>
          <a:xfrm>
            <a:off x="3925975" y="1561275"/>
            <a:ext cx="3755700" cy="5157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0D1B2A"/>
              </a:buClr>
              <a:buSzPts val="2400"/>
              <a:buFont typeface="Calibri"/>
              <a:buNone/>
            </a:pPr>
            <a:r>
              <a:rPr lang="en" sz="2000">
                <a:solidFill>
                  <a:srgbClr val="1A1F36"/>
                </a:solidFill>
                <a:latin typeface="Calibri"/>
              </a:rPr>
              <a:t>Teaching Assistants (IITKGP)</a:t>
            </a:r>
            <a:endParaRPr sz="2000">
              <a:solidFill>
                <a:schemeClr val="dk1"/>
              </a:solidFill>
            </a:endParaRPr>
          </a:p>
        </p:txBody>
      </p:sp>
      <p:sp>
        <p:nvSpPr>
          <p:cNvPr id="2339" name="Google Shape;2339;p102"/>
          <p:cNvSpPr/>
          <p:nvPr/>
        </p:nvSpPr>
        <p:spPr>
          <a:xfrm>
            <a:off x="1417475" y="3569410"/>
            <a:ext cx="1774750" cy="956869"/>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0D1B2A"/>
              </a:buClr>
              <a:buSzPts val="2400"/>
              <a:buFont typeface="Calibri"/>
              <a:buNone/>
            </a:pPr>
            <a:r>
              <a:rPr lang="en" sz="1600" dirty="0">
                <a:solidFill>
                  <a:srgbClr val="1A1F36"/>
                </a:solidFill>
                <a:latin typeface="Calibri"/>
              </a:rPr>
              <a:t>Sourangshu Bhattacharya</a:t>
            </a:r>
            <a:endParaRPr sz="1600" dirty="0">
              <a:solidFill>
                <a:schemeClr val="dk1"/>
              </a:solidFill>
            </a:endParaRPr>
          </a:p>
          <a:p>
            <a:pPr marL="0" marR="0" lvl="0" indent="0" algn="ctr" rtl="0">
              <a:spcBef>
                <a:spcPts val="0"/>
              </a:spcBef>
              <a:spcAft>
                <a:spcPts val="0"/>
              </a:spcAft>
              <a:buClr>
                <a:srgbClr val="0D1B2A"/>
              </a:buClr>
              <a:buSzPts val="2400"/>
              <a:buFont typeface="Calibri"/>
              <a:buNone/>
            </a:pPr>
            <a:r>
              <a:rPr lang="en" sz="1050" dirty="0" err="1">
                <a:solidFill>
                  <a:srgbClr val="1A1F36"/>
                </a:solidFill>
                <a:highlight>
                  <a:srgbClr val="FFFFFF"/>
                </a:highlight>
                <a:sym typeface="Roboto"/>
              </a:rPr>
              <a:t>sourangshu@cse.iitkgp.ac.in</a:t>
            </a:r>
            <a:endParaRPr sz="1600" dirty="0">
              <a:solidFill>
                <a:schemeClr val="dk1"/>
              </a:solidFill>
            </a:endParaRPr>
          </a:p>
        </p:txBody>
      </p:sp>
      <p:sp>
        <p:nvSpPr>
          <p:cNvPr id="2340" name="Google Shape;2340;p102"/>
          <p:cNvSpPr/>
          <p:nvPr/>
        </p:nvSpPr>
        <p:spPr>
          <a:xfrm>
            <a:off x="3744000" y="3439325"/>
            <a:ext cx="1955400" cy="5157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0D1B2A"/>
              </a:buClr>
              <a:buSzPts val="2400"/>
              <a:buFont typeface="Calibri"/>
              <a:buNone/>
            </a:pPr>
            <a:r>
              <a:rPr lang="en" sz="1600" dirty="0">
                <a:solidFill>
                  <a:srgbClr val="1A1F36"/>
                </a:solidFill>
                <a:latin typeface="Calibri"/>
              </a:rPr>
              <a:t>Suman Bera</a:t>
            </a:r>
            <a:endParaRPr sz="1600" dirty="0">
              <a:solidFill>
                <a:schemeClr val="dk1"/>
              </a:solidFill>
            </a:endParaRPr>
          </a:p>
          <a:p>
            <a:pPr marL="0" marR="0" lvl="0" indent="0" algn="ctr" rtl="0">
              <a:spcBef>
                <a:spcPts val="0"/>
              </a:spcBef>
              <a:spcAft>
                <a:spcPts val="0"/>
              </a:spcAft>
              <a:buClr>
                <a:srgbClr val="0D1B2A"/>
              </a:buClr>
              <a:buSzPts val="2400"/>
              <a:buFont typeface="Calibri"/>
              <a:buNone/>
            </a:pPr>
            <a:endParaRPr sz="1600" dirty="0">
              <a:solidFill>
                <a:schemeClr val="dk1"/>
              </a:solidFill>
            </a:endParaRPr>
          </a:p>
        </p:txBody>
      </p:sp>
      <p:sp>
        <p:nvSpPr>
          <p:cNvPr id="2341" name="Google Shape;2341;p102"/>
          <p:cNvSpPr/>
          <p:nvPr/>
        </p:nvSpPr>
        <p:spPr>
          <a:xfrm>
            <a:off x="6251174" y="3439325"/>
            <a:ext cx="2286243" cy="5157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0D1B2A"/>
              </a:buClr>
              <a:buSzPts val="2400"/>
              <a:buFont typeface="Calibri"/>
              <a:buNone/>
            </a:pPr>
            <a:r>
              <a:rPr lang="en" sz="1600" dirty="0" err="1">
                <a:solidFill>
                  <a:srgbClr val="1A1F36"/>
                </a:solidFill>
                <a:latin typeface="Calibri"/>
              </a:rPr>
              <a:t>Debamalya</a:t>
            </a:r>
            <a:r>
              <a:rPr lang="en" sz="1600" dirty="0">
                <a:solidFill>
                  <a:srgbClr val="1A1F36"/>
                </a:solidFill>
                <a:latin typeface="Calibri"/>
              </a:rPr>
              <a:t> Chakrabarty</a:t>
            </a:r>
            <a:endParaRPr sz="1600" dirty="0">
              <a:solidFill>
                <a:schemeClr val="dk1"/>
              </a:solidFill>
            </a:endParaRPr>
          </a:p>
          <a:p>
            <a:pPr marL="0" marR="0" lvl="0" indent="0" algn="ctr" rtl="0">
              <a:spcBef>
                <a:spcPts val="0"/>
              </a:spcBef>
              <a:spcAft>
                <a:spcPts val="0"/>
              </a:spcAft>
              <a:buClr>
                <a:srgbClr val="0D1B2A"/>
              </a:buClr>
              <a:buSzPts val="2400"/>
              <a:buFont typeface="Calibri"/>
              <a:buNone/>
            </a:pPr>
            <a:endParaRPr sz="1600" dirty="0">
              <a:solidFill>
                <a:schemeClr val="dk1"/>
              </a:solidFill>
            </a:endParaRPr>
          </a:p>
        </p:txBody>
      </p:sp>
      <p:pic>
        <p:nvPicPr>
          <p:cNvPr id="5122" name="Picture 2" descr="My picture">
            <a:extLst>
              <a:ext uri="{FF2B5EF4-FFF2-40B4-BE49-F238E27FC236}">
                <a16:creationId xmlns:a16="http://schemas.microsoft.com/office/drawing/2014/main" id="{47C7F4D4-8C70-3DD1-264E-B78DF031BC5F}"/>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18999" t="13231" r="37730" b="14440"/>
          <a:stretch>
            <a:fillRect/>
          </a:stretch>
        </p:blipFill>
        <p:spPr bwMode="auto">
          <a:xfrm>
            <a:off x="1719072" y="2147700"/>
            <a:ext cx="1161288" cy="1291625"/>
          </a:xfrm>
          <a:prstGeom prst="rect">
            <a:avLst/>
          </a:prstGeom>
          <a:noFill/>
          <a:extLst>
            <a:ext uri="{909E8E84-426E-40DD-AFC4-6F175D3DCCD1}">
              <a14:hiddenFill xmlns:a14="http://schemas.microsoft.com/office/drawing/2010/main">
                <a:solidFill>
                  <a:srgbClr val="FFFFFF"/>
                </a:solidFill>
              </a14:hiddenFill>
            </a:ext>
          </a:extLst>
        </p:spPr>
      </p:pic>
      <p:pic>
        <p:nvPicPr>
          <p:cNvPr id="5124" name="Picture 4" descr="Suman BERA | Doctor of Philosophy ...">
            <a:extLst>
              <a:ext uri="{FF2B5EF4-FFF2-40B4-BE49-F238E27FC236}">
                <a16:creationId xmlns:a16="http://schemas.microsoft.com/office/drawing/2014/main" id="{CCBE91F8-AB1B-1DD4-3184-84B561897A0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014255" y="2076974"/>
            <a:ext cx="1334826" cy="1334826"/>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a:extLst>
              <a:ext uri="{FF2B5EF4-FFF2-40B4-BE49-F238E27FC236}">
                <a16:creationId xmlns:a16="http://schemas.microsoft.com/office/drawing/2014/main" id="{8568CC60-A0EC-AC08-5E94-3AE01AE88F82}"/>
              </a:ext>
            </a:extLst>
          </p:cNvPr>
          <p:cNvPicPr>
            <a:picLocks noChangeAspect="1"/>
          </p:cNvPicPr>
          <p:nvPr/>
        </p:nvPicPr>
        <p:blipFill>
          <a:blip r:embed="rId6"/>
          <a:srcRect l="15394" t="4521" r="16779" b="29303"/>
          <a:stretch>
            <a:fillRect/>
          </a:stretch>
        </p:blipFill>
        <p:spPr>
          <a:xfrm>
            <a:off x="6724914" y="2076974"/>
            <a:ext cx="1042960" cy="1309020"/>
          </a:xfrm>
          <a:prstGeom prst="rect">
            <a:avLst/>
          </a:prstGeom>
        </p:spPr>
      </p:pic>
    </p:spTree>
  </p:cSld>
  <p:clrMapOvr>
    <a:masterClrMapping/>
  </p:clrMapOvr>
</p:sld>
</file>

<file path=ppt/theme/theme1.xml><?xml version="1.0" encoding="utf-8"?>
<a:theme xmlns:a="http://schemas.openxmlformats.org/drawingml/2006/main" name="Simple Light">
  <a:themeElements>
    <a:clrScheme name="Academic Navy">
      <a:dk1>
        <a:srgbClr val="1A1F36"/>
      </a:dk1>
      <a:lt1>
        <a:srgbClr val="FFFFFF"/>
      </a:lt1>
      <a:dk2>
        <a:srgbClr val="1E2761"/>
      </a:dk2>
      <a:lt2>
        <a:srgbClr val="F7F3EA"/>
      </a:lt2>
      <a:accent1>
        <a:srgbClr val="1E2761"/>
      </a:accent1>
      <a:accent2>
        <a:srgbClr val="B8975B"/>
      </a:accent2>
      <a:accent3>
        <a:srgbClr val="CADCFC"/>
      </a:accent3>
      <a:accent4>
        <a:srgbClr val="3D5A80"/>
      </a:accent4>
      <a:accent5>
        <a:srgbClr val="98C1D9"/>
      </a:accent5>
      <a:accent6>
        <a:srgbClr val="6D2E46"/>
      </a:accent6>
      <a:hlink>
        <a:srgbClr val="1E2761"/>
      </a:hlink>
      <a:folHlink>
        <a:srgbClr val="6D2E46"/>
      </a:folHlink>
    </a:clrScheme>
    <a:fontScheme name="Office">
      <a:majorFont>
        <a:latin typeface="Georgia"/>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Academic Navy">
      <a:dk1>
        <a:srgbClr val="1A1F36"/>
      </a:dk1>
      <a:lt1>
        <a:srgbClr val="FFFFFF"/>
      </a:lt1>
      <a:dk2>
        <a:srgbClr val="1E2761"/>
      </a:dk2>
      <a:lt2>
        <a:srgbClr val="F7F3EA"/>
      </a:lt2>
      <a:accent1>
        <a:srgbClr val="1E2761"/>
      </a:accent1>
      <a:accent2>
        <a:srgbClr val="B8975B"/>
      </a:accent2>
      <a:accent3>
        <a:srgbClr val="CADCFC"/>
      </a:accent3>
      <a:accent4>
        <a:srgbClr val="3D5A80"/>
      </a:accent4>
      <a:accent5>
        <a:srgbClr val="98C1D9"/>
      </a:accent5>
      <a:accent6>
        <a:srgbClr val="6D2E46"/>
      </a:accent6>
      <a:hlink>
        <a:srgbClr val="1E2761"/>
      </a:hlink>
      <a:folHlink>
        <a:srgbClr val="6D2E46"/>
      </a:folHlink>
    </a:clrScheme>
    <a:fontScheme name="Office">
      <a:majorFont>
        <a:latin typeface="Georgia"/>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9768</TotalTime>
  <Words>9065</Words>
  <Application>Microsoft Macintosh PowerPoint</Application>
  <PresentationFormat>On-screen Show (16:9)</PresentationFormat>
  <Paragraphs>1449</Paragraphs>
  <Slides>75</Slides>
  <Notes>61</Notes>
  <HiddenSlides>2</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75</vt:i4>
      </vt:variant>
    </vt:vector>
  </HeadingPairs>
  <TitlesOfParts>
    <vt:vector size="84" baseType="lpstr">
      <vt:lpstr>Arial</vt:lpstr>
      <vt:lpstr>Cambria</vt:lpstr>
      <vt:lpstr>Calibri</vt:lpstr>
      <vt:lpstr>Consolas</vt:lpstr>
      <vt:lpstr>Georgia</vt:lpstr>
      <vt:lpstr>Courier New</vt:lpstr>
      <vt:lpstr>Roboto</vt:lpstr>
      <vt:lpstr>Andale Mono</vt:lpstr>
      <vt:lpstr>Simple Light</vt:lpstr>
      <vt:lpstr>PowerPoint Presentation</vt:lpstr>
      <vt:lpstr>What We'll Cover</vt:lpstr>
      <vt:lpstr>Large Language Models </vt:lpstr>
      <vt:lpstr>Begin with a question</vt:lpstr>
      <vt:lpstr>PowerPoint Presentation</vt:lpstr>
      <vt:lpstr>PowerPoint Presentation</vt:lpstr>
      <vt:lpstr>Large Language Models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Question</vt:lpstr>
      <vt:lpstr>PowerPoint Presentation</vt:lpstr>
      <vt:lpstr>Large Language Models </vt:lpstr>
      <vt:lpstr>What are prompts?</vt:lpstr>
      <vt:lpstr>First Basic Prompt</vt:lpstr>
      <vt:lpstr>A more advanced Prompt</vt:lpstr>
      <vt:lpstr>Elements of a Prompt</vt:lpstr>
      <vt:lpstr>Large Language Models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Question</vt:lpstr>
      <vt:lpstr>PowerPoint Presentation</vt:lpstr>
      <vt:lpstr>PowerPoint Presentation</vt:lpstr>
      <vt:lpstr>Prompting and APIs </vt:lpstr>
      <vt:lpstr>PowerPoint Presentation</vt:lpstr>
      <vt:lpstr>PowerPoint Presentation</vt:lpstr>
      <vt:lpstr>PowerPoint Presentation</vt:lpstr>
      <vt:lpstr>PowerPoint Presentation</vt:lpstr>
      <vt:lpstr>PowerPoint Presentation</vt:lpstr>
      <vt:lpstr>PowerPoint Presentation</vt:lpstr>
      <vt:lpstr>Elements of a Prompt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Question</vt:lpstr>
      <vt:lpstr>PowerPoint Presentation</vt:lpstr>
      <vt:lpstr>Question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sourangshu</cp:lastModifiedBy>
  <cp:revision>201</cp:revision>
  <dcterms:modified xsi:type="dcterms:W3CDTF">2026-08-30T03:11:58Z</dcterms:modified>
</cp:coreProperties>
</file>
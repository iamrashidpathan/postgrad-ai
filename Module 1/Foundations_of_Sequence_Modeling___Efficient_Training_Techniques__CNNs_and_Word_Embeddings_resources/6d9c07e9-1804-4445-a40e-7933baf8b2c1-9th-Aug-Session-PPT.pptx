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4" r:id="rId6"/>
    <p:sldMasterId id="2147483666"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 id="314" r:id="rId67"/>
    <p:sldId id="315" r:id="rId68"/>
    <p:sldId id="316" r:id="rId69"/>
    <p:sldId id="317" r:id="rId70"/>
    <p:sldId id="318" r:id="rId71"/>
    <p:sldId id="319" r:id="rId72"/>
    <p:sldId id="320" r:id="rId73"/>
    <p:sldId id="321" r:id="rId74"/>
    <p:sldId id="322" r:id="rId75"/>
    <p:sldId id="323" r:id="rId76"/>
    <p:sldId id="324" r:id="rId77"/>
    <p:sldId id="325" r:id="rId78"/>
    <p:sldId id="326" r:id="rId79"/>
    <p:sldId id="327" r:id="rId80"/>
    <p:sldId id="328" r:id="rId81"/>
    <p:sldId id="329" r:id="rId82"/>
    <p:sldId id="330" r:id="rId83"/>
    <p:sldId id="331" r:id="rId84"/>
    <p:sldId id="332" r:id="rId85"/>
    <p:sldId id="333" r:id="rId86"/>
    <p:sldId id="334" r:id="rId87"/>
    <p:sldId id="335" r:id="rId88"/>
    <p:sldId id="336" r:id="rId89"/>
    <p:sldId id="337" r:id="rId90"/>
    <p:sldId id="338" r:id="rId91"/>
  </p:sldIdLst>
  <p:sldSz cy="5143500" cx="9144000"/>
  <p:notesSz cx="6858000" cy="9144000"/>
  <p:embeddedFontLst>
    <p:embeddedFont>
      <p:font typeface="Roboto"/>
      <p:regular r:id="rId92"/>
      <p:bold r:id="rId93"/>
      <p:italic r:id="rId94"/>
      <p:boldItalic r:id="rId95"/>
    </p:embeddedFont>
    <p:embeddedFont>
      <p:font typeface="Roboto Mono"/>
      <p:regular r:id="rId96"/>
      <p:bold r:id="rId97"/>
      <p:italic r:id="rId98"/>
      <p:boldItalic r:id="rId9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100" roundtripDataSignature="AMtx7mgeViVn2vsCz34xqb6ltUeT9Pnfx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C46A4BD-0E27-47CB-9CBC-C59CCD79FF35}">
  <a:tblStyle styleId="{1C46A4BD-0E27-47CB-9CBC-C59CCD79FF35}"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100" Type="http://customschemas.google.com/relationships/presentationmetadata" Target="metadata"/><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95" Type="http://schemas.openxmlformats.org/officeDocument/2006/relationships/font" Target="fonts/Roboto-boldItalic.fntdata"/><Relationship Id="rId94" Type="http://schemas.openxmlformats.org/officeDocument/2006/relationships/font" Target="fonts/Roboto-italic.fntdata"/><Relationship Id="rId97" Type="http://schemas.openxmlformats.org/officeDocument/2006/relationships/font" Target="fonts/RobotoMono-bold.fntdata"/><Relationship Id="rId96" Type="http://schemas.openxmlformats.org/officeDocument/2006/relationships/font" Target="fonts/RobotoMono-regular.fntdata"/><Relationship Id="rId11" Type="http://schemas.openxmlformats.org/officeDocument/2006/relationships/slide" Target="slides/slide3.xml"/><Relationship Id="rId99" Type="http://schemas.openxmlformats.org/officeDocument/2006/relationships/font" Target="fonts/RobotoMono-boldItalic.fntdata"/><Relationship Id="rId10" Type="http://schemas.openxmlformats.org/officeDocument/2006/relationships/slide" Target="slides/slide2.xml"/><Relationship Id="rId98" Type="http://schemas.openxmlformats.org/officeDocument/2006/relationships/font" Target="fonts/RobotoMono-italic.fntdata"/><Relationship Id="rId13" Type="http://schemas.openxmlformats.org/officeDocument/2006/relationships/slide" Target="slides/slide5.xml"/><Relationship Id="rId12" Type="http://schemas.openxmlformats.org/officeDocument/2006/relationships/slide" Target="slides/slide4.xml"/><Relationship Id="rId91" Type="http://schemas.openxmlformats.org/officeDocument/2006/relationships/slide" Target="slides/slide83.xml"/><Relationship Id="rId90" Type="http://schemas.openxmlformats.org/officeDocument/2006/relationships/slide" Target="slides/slide82.xml"/><Relationship Id="rId93" Type="http://schemas.openxmlformats.org/officeDocument/2006/relationships/font" Target="fonts/Roboto-bold.fntdata"/><Relationship Id="rId92" Type="http://schemas.openxmlformats.org/officeDocument/2006/relationships/font" Target="fonts/Roboto-regular.fntdata"/><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 Id="rId84" Type="http://schemas.openxmlformats.org/officeDocument/2006/relationships/slide" Target="slides/slide76.xml"/><Relationship Id="rId83" Type="http://schemas.openxmlformats.org/officeDocument/2006/relationships/slide" Target="slides/slide75.xml"/><Relationship Id="rId86" Type="http://schemas.openxmlformats.org/officeDocument/2006/relationships/slide" Target="slides/slide78.xml"/><Relationship Id="rId85" Type="http://schemas.openxmlformats.org/officeDocument/2006/relationships/slide" Target="slides/slide77.xml"/><Relationship Id="rId88" Type="http://schemas.openxmlformats.org/officeDocument/2006/relationships/slide" Target="slides/slide80.xml"/><Relationship Id="rId87" Type="http://schemas.openxmlformats.org/officeDocument/2006/relationships/slide" Target="slides/slide79.xml"/><Relationship Id="rId89" Type="http://schemas.openxmlformats.org/officeDocument/2006/relationships/slide" Target="slides/slide81.xml"/><Relationship Id="rId80" Type="http://schemas.openxmlformats.org/officeDocument/2006/relationships/slide" Target="slides/slide72.xml"/><Relationship Id="rId82" Type="http://schemas.openxmlformats.org/officeDocument/2006/relationships/slide" Target="slides/slide74.xml"/><Relationship Id="rId81" Type="http://schemas.openxmlformats.org/officeDocument/2006/relationships/slide" Target="slides/slide73.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73" Type="http://schemas.openxmlformats.org/officeDocument/2006/relationships/slide" Target="slides/slide65.xml"/><Relationship Id="rId72" Type="http://schemas.openxmlformats.org/officeDocument/2006/relationships/slide" Target="slides/slide64.xml"/><Relationship Id="rId75" Type="http://schemas.openxmlformats.org/officeDocument/2006/relationships/slide" Target="slides/slide67.xml"/><Relationship Id="rId74" Type="http://schemas.openxmlformats.org/officeDocument/2006/relationships/slide" Target="slides/slide66.xml"/><Relationship Id="rId77" Type="http://schemas.openxmlformats.org/officeDocument/2006/relationships/slide" Target="slides/slide69.xml"/><Relationship Id="rId76" Type="http://schemas.openxmlformats.org/officeDocument/2006/relationships/slide" Target="slides/slide68.xml"/><Relationship Id="rId79" Type="http://schemas.openxmlformats.org/officeDocument/2006/relationships/slide" Target="slides/slide71.xml"/><Relationship Id="rId78" Type="http://schemas.openxmlformats.org/officeDocument/2006/relationships/slide" Target="slides/slide70.xml"/><Relationship Id="rId71" Type="http://schemas.openxmlformats.org/officeDocument/2006/relationships/slide" Target="slides/slide63.xml"/><Relationship Id="rId70" Type="http://schemas.openxmlformats.org/officeDocument/2006/relationships/slide" Target="slides/slide62.xml"/><Relationship Id="rId62" Type="http://schemas.openxmlformats.org/officeDocument/2006/relationships/slide" Target="slides/slide54.xml"/><Relationship Id="rId61" Type="http://schemas.openxmlformats.org/officeDocument/2006/relationships/slide" Target="slides/slide53.xml"/><Relationship Id="rId64" Type="http://schemas.openxmlformats.org/officeDocument/2006/relationships/slide" Target="slides/slide56.xml"/><Relationship Id="rId63" Type="http://schemas.openxmlformats.org/officeDocument/2006/relationships/slide" Target="slides/slide55.xml"/><Relationship Id="rId66" Type="http://schemas.openxmlformats.org/officeDocument/2006/relationships/slide" Target="slides/slide58.xml"/><Relationship Id="rId65" Type="http://schemas.openxmlformats.org/officeDocument/2006/relationships/slide" Target="slides/slide57.xml"/><Relationship Id="rId68" Type="http://schemas.openxmlformats.org/officeDocument/2006/relationships/slide" Target="slides/slide60.xml"/><Relationship Id="rId67" Type="http://schemas.openxmlformats.org/officeDocument/2006/relationships/slide" Target="slides/slide59.xml"/><Relationship Id="rId60" Type="http://schemas.openxmlformats.org/officeDocument/2006/relationships/slide" Target="slides/slide52.xml"/><Relationship Id="rId69" Type="http://schemas.openxmlformats.org/officeDocument/2006/relationships/slide" Target="slides/slide61.xml"/><Relationship Id="rId51" Type="http://schemas.openxmlformats.org/officeDocument/2006/relationships/slide" Target="slides/slide43.xml"/><Relationship Id="rId50" Type="http://schemas.openxmlformats.org/officeDocument/2006/relationships/slide" Target="slides/slide42.xml"/><Relationship Id="rId53" Type="http://schemas.openxmlformats.org/officeDocument/2006/relationships/slide" Target="slides/slide45.xml"/><Relationship Id="rId52" Type="http://schemas.openxmlformats.org/officeDocument/2006/relationships/slide" Target="slides/slide44.xml"/><Relationship Id="rId55" Type="http://schemas.openxmlformats.org/officeDocument/2006/relationships/slide" Target="slides/slide47.xml"/><Relationship Id="rId54" Type="http://schemas.openxmlformats.org/officeDocument/2006/relationships/slide" Target="slides/slide46.xml"/><Relationship Id="rId57" Type="http://schemas.openxmlformats.org/officeDocument/2006/relationships/slide" Target="slides/slide49.xml"/><Relationship Id="rId56" Type="http://schemas.openxmlformats.org/officeDocument/2006/relationships/slide" Target="slides/slide48.xml"/><Relationship Id="rId59" Type="http://schemas.openxmlformats.org/officeDocument/2006/relationships/slide" Target="slides/slide51.xml"/><Relationship Id="rId58"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 name="Google Shape;7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f6a040a5a3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 name="Google Shape;80;g3f6a040a5a3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f62c33a15b_2_0: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 name="Google Shape;88;g3f62c33a15b_2_0: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
        <p:nvSpPr>
          <p:cNvPr id="89" name="Google Shape;89;g3f62c33a15b_2_0: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f62c33a15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1" name="Google Shape;161;g3f62c33a15b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f62c33a15b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9" name="Google Shape;169;g3f62c33a15b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f62c33a15b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7" name="Google Shape;177;g3f62c33a15b_0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f62c33a15b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5" name="Google Shape;185;g3f62c33a15b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f62c33a15b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3" name="Google Shape;193;g3f62c33a15b_0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f62c33a15b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1" name="Google Shape;201;g3f62c33a15b_0_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f62c33a15b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9" name="Google Shape;209;g3f62c33a15b_0_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f62c33a15b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7" name="Google Shape;217;g3f62c33a15b_0_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f62c33a15b_0_5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9" name="Google Shape;229;g3f62c33a15b_0_5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f62c33a15b_0_6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9" name="Google Shape;259;g3f62c33a15b_0_6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f62c33a15b_0_6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6" name="Google Shape;296;g3f62c33a15b_0_6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f62c33a15b_0_6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7" name="Google Shape;327;g3f62c33a15b_0_6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f62c33a15b_0_7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5" name="Google Shape;365;g3f62c33a15b_0_7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f62c33a15b_0_7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0" name="Google Shape;430;g3f62c33a15b_0_7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f62c33a15b_0_8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8" name="Google Shape;438;g3f62c33a15b_0_80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6" name="Google Shape;446;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7" name="Google Shape;487;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1" name="Google Shape;531;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9" name="Google Shape;549;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7" name="Google Shape;56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0" name="Google Shape;580;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3" name="Google Shape;593;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2" name="Google Shape;61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2" name="Google Shape;632;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0" name="Google Shape;650;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Big Picture</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whole pipeline is solving this problem:</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i="1" lang="en">
                <a:solidFill>
                  <a:schemeClr val="dk1"/>
                </a:solidFill>
              </a:rPr>
              <a:t>Fit a noisy sine wave using a degree-9 polynomial, but prevent overfitting using Ridge regularization — and evaluate honestly using cross-validation.</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It's a textbook demonstration of the </a:t>
            </a:r>
            <a:r>
              <a:rPr b="1" lang="en">
                <a:solidFill>
                  <a:schemeClr val="dk1"/>
                </a:solidFill>
              </a:rPr>
              <a:t>bias-variance tradeoff</a:t>
            </a:r>
            <a:r>
              <a:rPr lang="en">
                <a:solidFill>
                  <a:schemeClr val="dk1"/>
                </a:solidFill>
              </a:rPr>
              <a:t> in practice — exactly connecting to what we discussed earlier about regularization and large weights!</a:t>
            </a:r>
            <a:endParaRPr>
              <a:solidFill>
                <a:schemeClr val="dk1"/>
              </a:solidFill>
            </a:endParaRPr>
          </a:p>
          <a:p>
            <a:pPr indent="0" lvl="0" marL="0" rtl="0" algn="l">
              <a:lnSpc>
                <a:spcPct val="100000"/>
              </a:lnSpc>
              <a:spcBef>
                <a:spcPts val="1200"/>
              </a:spcBef>
              <a:spcAft>
                <a:spcPts val="0"/>
              </a:spcAft>
              <a:buClr>
                <a:schemeClr val="dk1"/>
              </a:buClr>
              <a:buSzPts val="1100"/>
              <a:buFont typeface="Arial"/>
              <a:buNone/>
            </a:pPr>
            <a:r>
              <a:t/>
            </a:r>
            <a:endParaRPr>
              <a:solidFill>
                <a:srgbClr val="188038"/>
              </a:solidFill>
              <a:latin typeface="Roboto Mono"/>
              <a:ea typeface="Roboto Mono"/>
              <a:cs typeface="Roboto Mono"/>
              <a:sym typeface="Roboto Mono"/>
            </a:endParaRPr>
          </a:p>
          <a:p>
            <a:pPr indent="0" lvl="0" marL="0" rtl="0" algn="l">
              <a:lnSpc>
                <a:spcPct val="100000"/>
              </a:lnSpc>
              <a:spcBef>
                <a:spcPts val="0"/>
              </a:spcBef>
              <a:spcAft>
                <a:spcPts val="0"/>
              </a:spcAft>
              <a:buClr>
                <a:schemeClr val="dk1"/>
              </a:buClr>
              <a:buSzPts val="1100"/>
              <a:buFont typeface="Arial"/>
              <a:buNone/>
            </a:pPr>
            <a:r>
              <a:t/>
            </a:r>
            <a:endParaRPr>
              <a:solidFill>
                <a:srgbClr val="188038"/>
              </a:solidFill>
              <a:latin typeface="Roboto Mono"/>
              <a:ea typeface="Roboto Mono"/>
              <a:cs typeface="Roboto Mono"/>
              <a:sym typeface="Roboto Mono"/>
            </a:endParaRPr>
          </a:p>
          <a:p>
            <a:pPr indent="0" lvl="0" marL="0" rtl="0" algn="l">
              <a:lnSpc>
                <a:spcPct val="100000"/>
              </a:lnSpc>
              <a:spcBef>
                <a:spcPts val="0"/>
              </a:spcBef>
              <a:spcAft>
                <a:spcPts val="0"/>
              </a:spcAft>
              <a:buClr>
                <a:schemeClr val="dk1"/>
              </a:buClr>
              <a:buSzPts val="1100"/>
              <a:buFont typeface="Arial"/>
              <a:buNone/>
            </a:pPr>
            <a:r>
              <a:rPr lang="en">
                <a:solidFill>
                  <a:srgbClr val="188038"/>
                </a:solidFill>
                <a:latin typeface="Roboto Mono"/>
                <a:ea typeface="Roboto Mono"/>
                <a:cs typeface="Roboto Mono"/>
                <a:sym typeface="Roboto Mono"/>
              </a:rPr>
              <a:t>numpy</a:t>
            </a:r>
            <a:r>
              <a:rPr lang="en">
                <a:solidFill>
                  <a:schemeClr val="dk1"/>
                </a:solidFill>
              </a:rPr>
              <a:t> → data generation</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rgbClr val="188038"/>
                </a:solidFill>
                <a:latin typeface="Roboto Mono"/>
                <a:ea typeface="Roboto Mono"/>
                <a:cs typeface="Roboto Mono"/>
                <a:sym typeface="Roboto Mono"/>
              </a:rPr>
              <a:t>Pipeline</a:t>
            </a:r>
            <a:r>
              <a:rPr lang="en">
                <a:solidFill>
                  <a:schemeClr val="dk1"/>
                </a:solidFill>
              </a:rPr>
              <a:t> → chain preprocessing + model</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rgbClr val="188038"/>
                </a:solidFill>
                <a:latin typeface="Roboto Mono"/>
                <a:ea typeface="Roboto Mono"/>
                <a:cs typeface="Roboto Mono"/>
                <a:sym typeface="Roboto Mono"/>
              </a:rPr>
              <a:t>PolynomialFeatures</a:t>
            </a:r>
            <a:r>
              <a:rPr lang="en">
                <a:solidFill>
                  <a:schemeClr val="dk1"/>
                </a:solidFill>
              </a:rPr>
              <a:t> → create nonlinear features</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rgbClr val="188038"/>
                </a:solidFill>
                <a:latin typeface="Roboto Mono"/>
                <a:ea typeface="Roboto Mono"/>
                <a:cs typeface="Roboto Mono"/>
                <a:sym typeface="Roboto Mono"/>
              </a:rPr>
              <a:t>StandardScaler</a:t>
            </a:r>
            <a:r>
              <a:rPr lang="en">
                <a:solidFill>
                  <a:schemeClr val="dk1"/>
                </a:solidFill>
              </a:rPr>
              <a:t> → normalize features</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rgbClr val="188038"/>
                </a:solidFill>
                <a:latin typeface="Roboto Mono"/>
                <a:ea typeface="Roboto Mono"/>
                <a:cs typeface="Roboto Mono"/>
                <a:sym typeface="Roboto Mono"/>
              </a:rPr>
              <a:t>Ridge</a:t>
            </a:r>
            <a:r>
              <a:rPr lang="en">
                <a:solidFill>
                  <a:schemeClr val="dk1"/>
                </a:solidFill>
              </a:rPr>
              <a:t> → linear model with L2 regularization</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rgbClr val="188038"/>
                </a:solidFill>
                <a:latin typeface="Roboto Mono"/>
                <a:ea typeface="Roboto Mono"/>
                <a:cs typeface="Roboto Mono"/>
                <a:sym typeface="Roboto Mono"/>
              </a:rPr>
              <a:t>train_test_split</a:t>
            </a:r>
            <a:r>
              <a:rPr lang="en">
                <a:solidFill>
                  <a:schemeClr val="dk1"/>
                </a:solidFill>
              </a:rPr>
              <a:t> → split data</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rgbClr val="188038"/>
                </a:solidFill>
                <a:latin typeface="Roboto Mono"/>
                <a:ea typeface="Roboto Mono"/>
                <a:cs typeface="Roboto Mono"/>
                <a:sym typeface="Roboto Mono"/>
              </a:rPr>
              <a:t>cross_val_score</a:t>
            </a:r>
            <a:r>
              <a:rPr lang="en">
                <a:solidFill>
                  <a:schemeClr val="dk1"/>
                </a:solidFill>
              </a:rPr>
              <a:t> → evaluate model</a:t>
            </a:r>
            <a:endParaRPr>
              <a:solidFill>
                <a:schemeClr val="dk1"/>
              </a:solidFill>
            </a:endParaRPr>
          </a:p>
          <a:p>
            <a:pPr indent="0" lvl="0" marL="0" rtl="0" algn="l">
              <a:lnSpc>
                <a:spcPct val="115000"/>
              </a:lnSpc>
              <a:spcBef>
                <a:spcPts val="2400"/>
              </a:spcBef>
              <a:spcAft>
                <a:spcPts val="0"/>
              </a:spcAft>
              <a:buClr>
                <a:schemeClr val="dk1"/>
              </a:buClr>
              <a:buSzPts val="1100"/>
              <a:buFont typeface="Arial"/>
              <a:buNone/>
            </a:pPr>
            <a:r>
              <a:rPr b="1" lang="en" sz="2300">
                <a:solidFill>
                  <a:schemeClr val="dk1"/>
                </a:solidFill>
              </a:rPr>
              <a:t>🎲 2. Create Dataset</a:t>
            </a:r>
            <a:endParaRPr b="1" sz="2300">
              <a:solidFill>
                <a:schemeClr val="dk1"/>
              </a:solidFill>
            </a:endParaRPr>
          </a:p>
          <a:p>
            <a:pPr indent="0" lvl="0" marL="0" rtl="0" algn="l">
              <a:lnSpc>
                <a:spcPct val="115000"/>
              </a:lnSpc>
              <a:spcBef>
                <a:spcPts val="600"/>
              </a:spcBef>
              <a:spcAft>
                <a:spcPts val="0"/>
              </a:spcAft>
              <a:buClr>
                <a:schemeClr val="dk1"/>
              </a:buClr>
              <a:buSzPts val="1100"/>
              <a:buFont typeface="Arial"/>
              <a:buNone/>
            </a:pPr>
            <a:r>
              <a:rPr lang="en">
                <a:solidFill>
                  <a:schemeClr val="dk1"/>
                </a:solidFill>
              </a:rPr>
              <a:t>np.random.seed(42)</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X = np.sort(np.random.rand(80,1), axis=0)</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y = np.sin(2*np.pi*X).ravel() + np.random.normal(0, 0.15, 80)</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en" sz="1700">
                <a:solidFill>
                  <a:schemeClr val="dk1"/>
                </a:solidFill>
              </a:rPr>
              <a:t>🔍 What’s happening?</a:t>
            </a:r>
            <a:endParaRPr b="1" sz="17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(a) Input data</a:t>
            </a:r>
            <a:endParaRPr b="1" sz="1300">
              <a:solidFill>
                <a:schemeClr val="dk1"/>
              </a:solidFill>
            </a:endParaRPr>
          </a:p>
          <a:p>
            <a:pPr indent="0" lvl="0" marL="0" rtl="0" algn="l">
              <a:lnSpc>
                <a:spcPct val="115000"/>
              </a:lnSpc>
              <a:spcBef>
                <a:spcPts val="400"/>
              </a:spcBef>
              <a:spcAft>
                <a:spcPts val="0"/>
              </a:spcAft>
              <a:buClr>
                <a:schemeClr val="dk1"/>
              </a:buClr>
              <a:buSzPts val="1100"/>
              <a:buFont typeface="Arial"/>
              <a:buNone/>
            </a:pPr>
            <a:r>
              <a:rPr lang="en">
                <a:solidFill>
                  <a:schemeClr val="dk1"/>
                </a:solidFill>
              </a:rPr>
              <a:t>X = random numbers between 0 and 1</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80 samples: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X shape = (80, 1)</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(b) True function</a:t>
            </a:r>
            <a:endParaRPr b="1" sz="1300">
              <a:solidFill>
                <a:schemeClr val="dk1"/>
              </a:solidFill>
            </a:endParaRPr>
          </a:p>
          <a:p>
            <a:pPr indent="0" lvl="0" marL="0" rtl="0" algn="l">
              <a:lnSpc>
                <a:spcPct val="115000"/>
              </a:lnSpc>
              <a:spcBef>
                <a:spcPts val="400"/>
              </a:spcBef>
              <a:spcAft>
                <a:spcPts val="0"/>
              </a:spcAft>
              <a:buClr>
                <a:schemeClr val="dk1"/>
              </a:buClr>
              <a:buSzPts val="1100"/>
              <a:buFont typeface="Arial"/>
              <a:buNone/>
            </a:pPr>
            <a:r>
              <a:rPr lang="en">
                <a:solidFill>
                  <a:schemeClr val="dk1"/>
                </a:solidFill>
              </a:rPr>
              <a:t>y_true = sin(2πX)</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Nonlinear function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(c) Add noise</a:t>
            </a:r>
            <a:endParaRPr b="1" sz="1300">
              <a:solidFill>
                <a:schemeClr val="dk1"/>
              </a:solidFill>
            </a:endParaRPr>
          </a:p>
          <a:p>
            <a:pPr indent="0" lvl="0" marL="0" rtl="0" algn="l">
              <a:lnSpc>
                <a:spcPct val="115000"/>
              </a:lnSpc>
              <a:spcBef>
                <a:spcPts val="400"/>
              </a:spcBef>
              <a:spcAft>
                <a:spcPts val="0"/>
              </a:spcAft>
              <a:buClr>
                <a:schemeClr val="dk1"/>
              </a:buClr>
              <a:buSzPts val="1100"/>
              <a:buFont typeface="Arial"/>
              <a:buNone/>
            </a:pPr>
            <a:r>
              <a:rPr lang="en">
                <a:solidFill>
                  <a:schemeClr val="dk1"/>
                </a:solidFill>
              </a:rPr>
              <a:t>+ Gaussian noise (mean=0, std=0.15)</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Makes problem realistic</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2400"/>
              </a:spcBef>
              <a:spcAft>
                <a:spcPts val="0"/>
              </a:spcAft>
              <a:buClr>
                <a:schemeClr val="dk1"/>
              </a:buClr>
              <a:buSzPts val="1100"/>
              <a:buFont typeface="Arial"/>
              <a:buNone/>
            </a:pPr>
            <a:r>
              <a:rPr b="1" lang="en" sz="2300">
                <a:solidFill>
                  <a:schemeClr val="dk1"/>
                </a:solidFill>
              </a:rPr>
              <a:t>✂️ 3. Train-Test Split</a:t>
            </a:r>
            <a:endParaRPr b="1" sz="2300">
              <a:solidFill>
                <a:schemeClr val="dk1"/>
              </a:solidFill>
            </a:endParaRPr>
          </a:p>
          <a:p>
            <a:pPr indent="0" lvl="0" marL="0" rtl="0" algn="l">
              <a:lnSpc>
                <a:spcPct val="115000"/>
              </a:lnSpc>
              <a:spcBef>
                <a:spcPts val="600"/>
              </a:spcBef>
              <a:spcAft>
                <a:spcPts val="0"/>
              </a:spcAft>
              <a:buClr>
                <a:schemeClr val="dk1"/>
              </a:buClr>
              <a:buSzPts val="1100"/>
              <a:buFont typeface="Arial"/>
              <a:buNone/>
            </a:pPr>
            <a:r>
              <a:rPr lang="en">
                <a:solidFill>
                  <a:schemeClr val="dk1"/>
                </a:solidFill>
              </a:rPr>
              <a:t>X_train, X_test, y_train, y_test = train_test_split(X, y, test_size=0.2)</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Split:</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80% training</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20% testing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2400"/>
              </a:spcBef>
              <a:spcAft>
                <a:spcPts val="0"/>
              </a:spcAft>
              <a:buClr>
                <a:schemeClr val="dk1"/>
              </a:buClr>
              <a:buSzPts val="1100"/>
              <a:buFont typeface="Arial"/>
              <a:buNone/>
            </a:pPr>
            <a:r>
              <a:rPr b="1" lang="en" sz="2300">
                <a:solidFill>
                  <a:schemeClr val="dk1"/>
                </a:solidFill>
              </a:rPr>
              <a:t>🔧 4. Pipeline Construction (MOST IMPORTANT)</a:t>
            </a:r>
            <a:endParaRPr b="1" sz="2300">
              <a:solidFill>
                <a:schemeClr val="dk1"/>
              </a:solidFill>
            </a:endParaRPr>
          </a:p>
          <a:p>
            <a:pPr indent="0" lvl="0" marL="0" rtl="0" algn="l">
              <a:lnSpc>
                <a:spcPct val="115000"/>
              </a:lnSpc>
              <a:spcBef>
                <a:spcPts val="600"/>
              </a:spcBef>
              <a:spcAft>
                <a:spcPts val="0"/>
              </a:spcAft>
              <a:buClr>
                <a:schemeClr val="dk1"/>
              </a:buClr>
              <a:buSzPts val="1100"/>
              <a:buFont typeface="Arial"/>
              <a:buNone/>
            </a:pPr>
            <a:r>
              <a:rPr lang="en">
                <a:solidFill>
                  <a:schemeClr val="dk1"/>
                </a:solidFill>
              </a:rPr>
              <a:t>pipe = Pipeline([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   ('poly',   PolynomialFeatures(degree=9)),</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   ('scaler', StandardScaler()),</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   ('model',  Ridge(alpha=1.0))</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en" sz="1700">
                <a:solidFill>
                  <a:schemeClr val="dk1"/>
                </a:solidFill>
              </a:rPr>
              <a:t>🔁 What Pipeline means</a:t>
            </a:r>
            <a:endParaRPr b="1" sz="17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Data flows step-by-step through transformations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X → Polynomial → Scaling → Ridge model</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en" sz="1700">
                <a:solidFill>
                  <a:schemeClr val="dk1"/>
                </a:solidFill>
              </a:rPr>
              <a:t>🔹 Step 1: PolynomialFeatures(degree=9)</a:t>
            </a:r>
            <a:endParaRPr b="1"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Transforms: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x → [1, x, x², x³, ..., x⁹]</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Converts linear model → nonlinear model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en" sz="1700">
                <a:solidFill>
                  <a:schemeClr val="dk1"/>
                </a:solidFill>
              </a:rPr>
              <a:t>🔹 Step 2: StandardScaler()</a:t>
            </a:r>
            <a:endParaRPr b="1" sz="1700">
              <a:solidFill>
                <a:schemeClr val="dk1"/>
              </a:solidFill>
            </a:endParaRPr>
          </a:p>
          <a:p>
            <a:pPr indent="0" lvl="0" marL="0" rtl="0" algn="l">
              <a:lnSpc>
                <a:spcPct val="115000"/>
              </a:lnSpc>
              <a:spcBef>
                <a:spcPts val="400"/>
              </a:spcBef>
              <a:spcAft>
                <a:spcPts val="0"/>
              </a:spcAft>
              <a:buClr>
                <a:schemeClr val="dk1"/>
              </a:buClr>
              <a:buSzPts val="1100"/>
              <a:buFont typeface="Arial"/>
              <a:buNone/>
            </a:pPr>
            <a:r>
              <a:rPr lang="en">
                <a:solidFill>
                  <a:schemeClr val="dk1"/>
                </a:solidFill>
              </a:rPr>
              <a:t>(mean = 0, variance = 1)</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Why needed?</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Polynomial features explode in magnitude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Scaling stabilizes training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en" sz="1700">
                <a:solidFill>
                  <a:schemeClr val="dk1"/>
                </a:solidFill>
              </a:rPr>
              <a:t>🔹 Step 3: Ridge(alpha=1.0)</a:t>
            </a:r>
            <a:endParaRPr b="1"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Model: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min⁡∣∣y−Xw∣∣2+α∣∣w∣∣2\min ||y - Xw||^2 + \alpha ||w||^2min∣∣y−Xw∣∣2+α∣∣w∣∣2</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Prevents overfitting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2400"/>
              </a:spcBef>
              <a:spcAft>
                <a:spcPts val="0"/>
              </a:spcAft>
              <a:buClr>
                <a:schemeClr val="dk1"/>
              </a:buClr>
              <a:buSzPts val="1100"/>
              <a:buFont typeface="Arial"/>
              <a:buNone/>
            </a:pPr>
            <a:r>
              <a:rPr b="1" lang="en" sz="2300">
                <a:solidFill>
                  <a:schemeClr val="dk1"/>
                </a:solidFill>
              </a:rPr>
              <a:t>🎯 5. Train the Model</a:t>
            </a:r>
            <a:endParaRPr b="1" sz="2300">
              <a:solidFill>
                <a:schemeClr val="dk1"/>
              </a:solidFill>
            </a:endParaRPr>
          </a:p>
          <a:p>
            <a:pPr indent="0" lvl="0" marL="0" rtl="0" algn="l">
              <a:lnSpc>
                <a:spcPct val="115000"/>
              </a:lnSpc>
              <a:spcBef>
                <a:spcPts val="600"/>
              </a:spcBef>
              <a:spcAft>
                <a:spcPts val="0"/>
              </a:spcAft>
              <a:buClr>
                <a:schemeClr val="dk1"/>
              </a:buClr>
              <a:buSzPts val="1100"/>
              <a:buFont typeface="Arial"/>
              <a:buNone/>
            </a:pPr>
            <a:r>
              <a:rPr lang="en">
                <a:solidFill>
                  <a:schemeClr val="dk1"/>
                </a:solidFill>
              </a:rPr>
              <a:t>pipe.fit(X_train, y_train)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Internally: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X_train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 polynomial features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 scaling</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 fit ridge regression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2400"/>
              </a:spcBef>
              <a:spcAft>
                <a:spcPts val="0"/>
              </a:spcAft>
              <a:buClr>
                <a:schemeClr val="dk1"/>
              </a:buClr>
              <a:buSzPts val="1100"/>
              <a:buFont typeface="Arial"/>
              <a:buNone/>
            </a:pPr>
            <a:r>
              <a:rPr b="1" lang="en" sz="2300">
                <a:solidFill>
                  <a:schemeClr val="dk1"/>
                </a:solidFill>
              </a:rPr>
              <a:t>📊 6. Evaluate Performance</a:t>
            </a:r>
            <a:endParaRPr b="1" sz="2300">
              <a:solidFill>
                <a:schemeClr val="dk1"/>
              </a:solidFill>
            </a:endParaRPr>
          </a:p>
          <a:p>
            <a:pPr indent="0" lvl="0" marL="0" rtl="0" algn="l">
              <a:lnSpc>
                <a:spcPct val="115000"/>
              </a:lnSpc>
              <a:spcBef>
                <a:spcPts val="600"/>
              </a:spcBef>
              <a:spcAft>
                <a:spcPts val="0"/>
              </a:spcAft>
              <a:buClr>
                <a:schemeClr val="dk1"/>
              </a:buClr>
              <a:buSzPts val="1100"/>
              <a:buFont typeface="Arial"/>
              <a:buNone/>
            </a:pPr>
            <a:r>
              <a:rPr lang="en">
                <a:solidFill>
                  <a:schemeClr val="dk1"/>
                </a:solidFill>
              </a:rPr>
              <a:t>train_r2 = pipe.score(X_train, y_train)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test_r2  = pipe.score(X_test,  y_test)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en" sz="1700">
                <a:solidFill>
                  <a:schemeClr val="dk1"/>
                </a:solidFill>
              </a:rPr>
              <a:t>What is </a:t>
            </a:r>
            <a:r>
              <a:rPr b="1" lang="en" sz="1700">
                <a:solidFill>
                  <a:srgbClr val="188038"/>
                </a:solidFill>
                <a:latin typeface="Roboto Mono"/>
                <a:ea typeface="Roboto Mono"/>
                <a:cs typeface="Roboto Mono"/>
                <a:sym typeface="Roboto Mono"/>
              </a:rPr>
              <a:t>.score()</a:t>
            </a:r>
            <a:r>
              <a:rPr b="1" lang="en" sz="1700">
                <a:solidFill>
                  <a:schemeClr val="dk1"/>
                </a:solidFill>
              </a:rPr>
              <a:t>?</a:t>
            </a:r>
            <a:endParaRPr b="1"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Returns </a:t>
            </a:r>
            <a:r>
              <a:rPr b="1" lang="en">
                <a:solidFill>
                  <a:schemeClr val="dk1"/>
                </a:solidFill>
              </a:rPr>
              <a:t>R² score</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R2=1−errorvarianceR^2 = 1 - \frac{\text{error}}{\text{variance}}R2=1−varianceerror​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After fitting on </a:t>
            </a:r>
            <a:r>
              <a:rPr lang="en">
                <a:solidFill>
                  <a:srgbClr val="188038"/>
                </a:solidFill>
                <a:latin typeface="Roboto Mono"/>
                <a:ea typeface="Roboto Mono"/>
                <a:cs typeface="Roboto Mono"/>
                <a:sym typeface="Roboto Mono"/>
              </a:rPr>
              <a:t>X_train, y_train</a:t>
            </a:r>
            <a:r>
              <a:rPr lang="en">
                <a:solidFill>
                  <a:schemeClr val="dk1"/>
                </a:solidFill>
              </a:rPr>
              <a:t>, it computes R² (coefficient of determination) on both the training set and the held-out test set, printing them to three decimal places. Comparing train R² vs. test R² is a quick overfitting check — if train R² is much higher than test R², the model is overfitting despite the regularization.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Finally, it runs 5-fold cross-validation (</a:t>
            </a:r>
            <a:r>
              <a:rPr lang="en">
                <a:solidFill>
                  <a:srgbClr val="188038"/>
                </a:solidFill>
                <a:latin typeface="Roboto Mono"/>
                <a:ea typeface="Roboto Mono"/>
                <a:cs typeface="Roboto Mono"/>
                <a:sym typeface="Roboto Mono"/>
              </a:rPr>
              <a:t>cv=5</a:t>
            </a:r>
            <a:r>
              <a:rPr lang="en">
                <a:solidFill>
                  <a:schemeClr val="dk1"/>
                </a:solidFill>
              </a:rPr>
              <a:t>) over the whole pipeline and prints the mean R² across folds ± the standard deviation, giving a more robust estimate of how well this degree-9 Ridge model generalizes than a single train/test split would.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6" name="Google Shape;666;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4" name="Google Shape;674;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g3f6a040a5a3_1_60: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3" name="Google Shape;683;g3f6a040a5a3_1_60: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684" name="Google Shape;684;g3f6a040a5a3_1_60: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7" name="Google Shape;71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5" name="Google Shape;755;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2" name="Google Shape;762;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Hyperparameter - no of layers in the network or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7" name="Google Shape;777;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1" name="Google Shape;801;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08" name="Google Shape;808;p20:notes"/>
          <p:cNvSpPr txBox="1"/>
          <p:nvPr>
            <p:ph idx="1" type="body"/>
          </p:nvPr>
        </p:nvSpPr>
        <p:spPr>
          <a:xfrm>
            <a:off x="0" y="0"/>
            <a:ext cx="39999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
        <p:nvSpPr>
          <p:cNvPr id="809" name="Google Shape;809;p20:notes"/>
          <p:cNvSpPr txBox="1"/>
          <p:nvPr>
            <p:ph idx="12" type="sldNum"/>
          </p:nvPr>
        </p:nvSpPr>
        <p:spPr>
          <a:xfrm>
            <a:off x="0" y="0"/>
            <a:ext cx="39999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2" name="Shape 932"/>
        <p:cNvGrpSpPr/>
        <p:nvPr/>
      </p:nvGrpSpPr>
      <p:grpSpPr>
        <a:xfrm>
          <a:off x="0" y="0"/>
          <a:ext cx="0" cy="0"/>
          <a:chOff x="0" y="0"/>
          <a:chExt cx="0" cy="0"/>
        </a:xfrm>
      </p:grpSpPr>
      <p:sp>
        <p:nvSpPr>
          <p:cNvPr id="933" name="Google Shape;933;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4" name="Google Shape;934;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7" name="Shape 937"/>
        <p:cNvGrpSpPr/>
        <p:nvPr/>
      </p:nvGrpSpPr>
      <p:grpSpPr>
        <a:xfrm>
          <a:off x="0" y="0"/>
          <a:ext cx="0" cy="0"/>
          <a:chOff x="0" y="0"/>
          <a:chExt cx="0" cy="0"/>
        </a:xfrm>
      </p:grpSpPr>
      <p:sp>
        <p:nvSpPr>
          <p:cNvPr id="938" name="Google Shape;938;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9" name="Google Shape;939;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5" name="Google Shape;965;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1" name="Shape 971"/>
        <p:cNvGrpSpPr/>
        <p:nvPr/>
      </p:nvGrpSpPr>
      <p:grpSpPr>
        <a:xfrm>
          <a:off x="0" y="0"/>
          <a:ext cx="0" cy="0"/>
          <a:chOff x="0" y="0"/>
          <a:chExt cx="0" cy="0"/>
        </a:xfrm>
      </p:grpSpPr>
      <p:sp>
        <p:nvSpPr>
          <p:cNvPr id="972" name="Google Shape;972;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3" name="Google Shape;973;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0" name="Shape 1030"/>
        <p:cNvGrpSpPr/>
        <p:nvPr/>
      </p:nvGrpSpPr>
      <p:grpSpPr>
        <a:xfrm>
          <a:off x="0" y="0"/>
          <a:ext cx="0" cy="0"/>
          <a:chOff x="0" y="0"/>
          <a:chExt cx="0" cy="0"/>
        </a:xfrm>
      </p:grpSpPr>
      <p:sp>
        <p:nvSpPr>
          <p:cNvPr id="1031" name="Google Shape;1031;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2" name="Google Shape;1032;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2" name="Shape 1052"/>
        <p:cNvGrpSpPr/>
        <p:nvPr/>
      </p:nvGrpSpPr>
      <p:grpSpPr>
        <a:xfrm>
          <a:off x="0" y="0"/>
          <a:ext cx="0" cy="0"/>
          <a:chOff x="0" y="0"/>
          <a:chExt cx="0" cy="0"/>
        </a:xfrm>
      </p:grpSpPr>
      <p:sp>
        <p:nvSpPr>
          <p:cNvPr id="1053" name="Google Shape;1053;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4" name="Google Shape;1054;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8" name="Shape 1158"/>
        <p:cNvGrpSpPr/>
        <p:nvPr/>
      </p:nvGrpSpPr>
      <p:grpSpPr>
        <a:xfrm>
          <a:off x="0" y="0"/>
          <a:ext cx="0" cy="0"/>
          <a:chOff x="0" y="0"/>
          <a:chExt cx="0" cy="0"/>
        </a:xfrm>
      </p:grpSpPr>
      <p:sp>
        <p:nvSpPr>
          <p:cNvPr id="1159" name="Google Shape;1159;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60" name="Google Shape;1160;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2" name="Shape 1222"/>
        <p:cNvGrpSpPr/>
        <p:nvPr/>
      </p:nvGrpSpPr>
      <p:grpSpPr>
        <a:xfrm>
          <a:off x="0" y="0"/>
          <a:ext cx="0" cy="0"/>
          <a:chOff x="0" y="0"/>
          <a:chExt cx="0" cy="0"/>
        </a:xfrm>
      </p:grpSpPr>
      <p:sp>
        <p:nvSpPr>
          <p:cNvPr id="1223" name="Google Shape;1223;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24" name="Google Shape;1224;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9" name="Shape 1309"/>
        <p:cNvGrpSpPr/>
        <p:nvPr/>
      </p:nvGrpSpPr>
      <p:grpSpPr>
        <a:xfrm>
          <a:off x="0" y="0"/>
          <a:ext cx="0" cy="0"/>
          <a:chOff x="0" y="0"/>
          <a:chExt cx="0" cy="0"/>
        </a:xfrm>
      </p:grpSpPr>
      <p:sp>
        <p:nvSpPr>
          <p:cNvPr id="1310" name="Google Shape;1310;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1" name="Google Shape;1311;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4" name="Shape 1354"/>
        <p:cNvGrpSpPr/>
        <p:nvPr/>
      </p:nvGrpSpPr>
      <p:grpSpPr>
        <a:xfrm>
          <a:off x="0" y="0"/>
          <a:ext cx="0" cy="0"/>
          <a:chOff x="0" y="0"/>
          <a:chExt cx="0" cy="0"/>
        </a:xfrm>
      </p:grpSpPr>
      <p:sp>
        <p:nvSpPr>
          <p:cNvPr id="1355" name="Google Shape;1355;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56" name="Google Shape;1356;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rgbClr val="188038"/>
                </a:solidFill>
                <a:latin typeface="Roboto Mono"/>
                <a:ea typeface="Roboto Mono"/>
                <a:cs typeface="Roboto Mono"/>
                <a:sym typeface="Roboto Mono"/>
              </a:rPr>
              <a:t>torch.autograd</a:t>
            </a:r>
            <a:r>
              <a:rPr lang="en">
                <a:solidFill>
                  <a:schemeClr val="dk1"/>
                </a:solidFill>
              </a:rPr>
              <a:t> is PyTorch's automatic differentiation engine — the machinery that computes gradients for you, which is what makes training neural networks with backpropagation practical without hand-deriving derivatives for every operation.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Here's the core idea: when you create a tensor with </a:t>
            </a:r>
            <a:r>
              <a:rPr lang="en">
                <a:solidFill>
                  <a:srgbClr val="188038"/>
                </a:solidFill>
                <a:latin typeface="Roboto Mono"/>
                <a:ea typeface="Roboto Mono"/>
                <a:cs typeface="Roboto Mono"/>
                <a:sym typeface="Roboto Mono"/>
              </a:rPr>
              <a:t>requires_grad=True</a:t>
            </a:r>
            <a:r>
              <a:rPr lang="en">
                <a:solidFill>
                  <a:schemeClr val="dk1"/>
                </a:solidFill>
              </a:rPr>
              <a:t>, PyTorch starts tracking every operation performed on it. As you run your forward pass — matrix multiplies, activations, losses, whatever — PyTorch builds a computation graph behind the scenes, recording each operation and how it connects to the ones before it. This graph is dynamic, built on the fly each time you run the forward pass (this is PyTorch's "define-by-run" style, as opposed to older static-graph frameworks).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Once you have a scalar output (typically your loss), calling </a:t>
            </a:r>
            <a:r>
              <a:rPr lang="en">
                <a:solidFill>
                  <a:srgbClr val="188038"/>
                </a:solidFill>
                <a:latin typeface="Roboto Mono"/>
                <a:ea typeface="Roboto Mono"/>
                <a:cs typeface="Roboto Mono"/>
                <a:sym typeface="Roboto Mono"/>
              </a:rPr>
              <a:t>.backward()</a:t>
            </a:r>
            <a:r>
              <a:rPr lang="en">
                <a:solidFill>
                  <a:schemeClr val="dk1"/>
                </a:solidFill>
              </a:rPr>
              <a:t> on it triggers autograd to walk the graph backward from that output to every tensor that had </a:t>
            </a:r>
            <a:r>
              <a:rPr lang="en">
                <a:solidFill>
                  <a:srgbClr val="188038"/>
                </a:solidFill>
                <a:latin typeface="Roboto Mono"/>
                <a:ea typeface="Roboto Mono"/>
                <a:cs typeface="Roboto Mono"/>
                <a:sym typeface="Roboto Mono"/>
              </a:rPr>
              <a:t>requires_grad=True</a:t>
            </a:r>
            <a:r>
              <a:rPr lang="en">
                <a:solidFill>
                  <a:schemeClr val="dk1"/>
                </a:solidFill>
              </a:rPr>
              <a:t>. At each step it applies the chain rule, using each operation's known local derivative, and accumulates the result into that tensor's </a:t>
            </a:r>
            <a:r>
              <a:rPr lang="en">
                <a:solidFill>
                  <a:srgbClr val="188038"/>
                </a:solidFill>
                <a:latin typeface="Roboto Mono"/>
                <a:ea typeface="Roboto Mono"/>
                <a:cs typeface="Roboto Mono"/>
                <a:sym typeface="Roboto Mono"/>
              </a:rPr>
              <a:t>.grad</a:t>
            </a:r>
            <a:r>
              <a:rPr lang="en">
                <a:solidFill>
                  <a:schemeClr val="dk1"/>
                </a:solidFill>
              </a:rPr>
              <a:t> attribute. So if you write </a:t>
            </a:r>
            <a:r>
              <a:rPr lang="en">
                <a:solidFill>
                  <a:srgbClr val="188038"/>
                </a:solidFill>
                <a:latin typeface="Roboto Mono"/>
                <a:ea typeface="Roboto Mono"/>
                <a:cs typeface="Roboto Mono"/>
                <a:sym typeface="Roboto Mono"/>
              </a:rPr>
              <a:t>loss.backward()</a:t>
            </a:r>
            <a:r>
              <a:rPr lang="en">
                <a:solidFill>
                  <a:schemeClr val="dk1"/>
                </a:solidFill>
              </a:rPr>
              <a:t>, PyTorch automatically computes ∂loss/∂w for every parameter w in your model — this is exactly what feeds into the update rules we discussed earlier for Adam: it needs those gradients g_t to compute m_t and v_t.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 few practical details worth knowing: gradients accumulate by default, so you typically call </a:t>
            </a:r>
            <a:r>
              <a:rPr lang="en">
                <a:solidFill>
                  <a:srgbClr val="188038"/>
                </a:solidFill>
                <a:latin typeface="Roboto Mono"/>
                <a:ea typeface="Roboto Mono"/>
                <a:cs typeface="Roboto Mono"/>
                <a:sym typeface="Roboto Mono"/>
              </a:rPr>
              <a:t>optimizer.zero_grad()</a:t>
            </a:r>
            <a:r>
              <a:rPr lang="en">
                <a:solidFill>
                  <a:schemeClr val="dk1"/>
                </a:solidFill>
              </a:rPr>
              <a:t> before each </a:t>
            </a:r>
            <a:r>
              <a:rPr lang="en">
                <a:solidFill>
                  <a:srgbClr val="188038"/>
                </a:solidFill>
                <a:latin typeface="Roboto Mono"/>
                <a:ea typeface="Roboto Mono"/>
                <a:cs typeface="Roboto Mono"/>
                <a:sym typeface="Roboto Mono"/>
              </a:rPr>
              <a:t>backward()</a:t>
            </a:r>
            <a:r>
              <a:rPr lang="en">
                <a:solidFill>
                  <a:schemeClr val="dk1"/>
                </a:solidFill>
              </a:rPr>
              <a:t> call to avoid mixing gradients from different batches. Autograd tracks operations via a "tape" of </a:t>
            </a:r>
            <a:r>
              <a:rPr lang="en">
                <a:solidFill>
                  <a:srgbClr val="188038"/>
                </a:solidFill>
                <a:latin typeface="Roboto Mono"/>
                <a:ea typeface="Roboto Mono"/>
                <a:cs typeface="Roboto Mono"/>
                <a:sym typeface="Roboto Mono"/>
              </a:rPr>
              <a:t>Function</a:t>
            </a:r>
            <a:r>
              <a:rPr lang="en">
                <a:solidFill>
                  <a:schemeClr val="dk1"/>
                </a:solidFill>
              </a:rPr>
              <a:t> objects (each op knows how to compute both its forward result and its backward/gradient rule), and once </a:t>
            </a:r>
            <a:r>
              <a:rPr lang="en">
                <a:solidFill>
                  <a:srgbClr val="188038"/>
                </a:solidFill>
                <a:latin typeface="Roboto Mono"/>
                <a:ea typeface="Roboto Mono"/>
                <a:cs typeface="Roboto Mono"/>
                <a:sym typeface="Roboto Mono"/>
              </a:rPr>
              <a:t>.backward()</a:t>
            </a:r>
            <a:r>
              <a:rPr lang="en">
                <a:solidFill>
                  <a:schemeClr val="dk1"/>
                </a:solidFill>
              </a:rPr>
              <a:t> runs, that graph is freed by default unless you pass </a:t>
            </a:r>
            <a:r>
              <a:rPr lang="en">
                <a:solidFill>
                  <a:srgbClr val="188038"/>
                </a:solidFill>
                <a:latin typeface="Roboto Mono"/>
                <a:ea typeface="Roboto Mono"/>
                <a:cs typeface="Roboto Mono"/>
                <a:sym typeface="Roboto Mono"/>
              </a:rPr>
              <a:t>retain_graph=True</a:t>
            </a:r>
            <a:r>
              <a:rPr lang="en">
                <a:solidFill>
                  <a:schemeClr val="dk1"/>
                </a:solidFill>
              </a:rPr>
              <a:t>. You can also temporarily disable tracking with </a:t>
            </a:r>
            <a:r>
              <a:rPr lang="en">
                <a:solidFill>
                  <a:srgbClr val="188038"/>
                </a:solidFill>
                <a:latin typeface="Roboto Mono"/>
                <a:ea typeface="Roboto Mono"/>
                <a:cs typeface="Roboto Mono"/>
                <a:sym typeface="Roboto Mono"/>
              </a:rPr>
              <a:t>torch.no_grad()</a:t>
            </a:r>
            <a:r>
              <a:rPr lang="en">
                <a:solidFill>
                  <a:schemeClr val="dk1"/>
                </a:solidFill>
              </a:rPr>
              <a:t> when you don't need gradients, such as during evaluation or inference — this saves memory and computation.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In short: autograd is what turns "define a forward computation" into "get gradients for free," and it's the piece that connects your model architecture to the optimizers (SGD, Adam, AdamW, RMSProp) — those optimizers just consume the </a:t>
            </a:r>
            <a:r>
              <a:rPr lang="en">
                <a:solidFill>
                  <a:srgbClr val="188038"/>
                </a:solidFill>
                <a:latin typeface="Roboto Mono"/>
                <a:ea typeface="Roboto Mono"/>
                <a:cs typeface="Roboto Mono"/>
                <a:sym typeface="Roboto Mono"/>
              </a:rPr>
              <a:t>.grad</a:t>
            </a:r>
            <a:r>
              <a:rPr lang="en">
                <a:solidFill>
                  <a:schemeClr val="dk1"/>
                </a:solidFill>
              </a:rPr>
              <a:t> values that autograd computed and use them to update parameters, exactly as in the update rule θ_t = θ_{t-1} − η·m̂_t/(√v̂_t + ε) from the Adam slide.</a:t>
            </a:r>
            <a:endParaRPr>
              <a:solidFill>
                <a:schemeClr val="dk1"/>
              </a:solidFill>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9" name="Shape 1379"/>
        <p:cNvGrpSpPr/>
        <p:nvPr/>
      </p:nvGrpSpPr>
      <p:grpSpPr>
        <a:xfrm>
          <a:off x="0" y="0"/>
          <a:ext cx="0" cy="0"/>
          <a:chOff x="0" y="0"/>
          <a:chExt cx="0" cy="0"/>
        </a:xfrm>
      </p:grpSpPr>
      <p:sp>
        <p:nvSpPr>
          <p:cNvPr id="1380" name="Google Shape;1380;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1" name="Google Shape;1381;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First conv layer (</a:t>
            </a:r>
            <a:r>
              <a:rPr b="1" lang="en">
                <a:solidFill>
                  <a:srgbClr val="188038"/>
                </a:solidFill>
                <a:latin typeface="Roboto Mono"/>
                <a:ea typeface="Roboto Mono"/>
                <a:cs typeface="Roboto Mono"/>
                <a:sym typeface="Roboto Mono"/>
              </a:rPr>
              <a:t>self.conv1</a:t>
            </a:r>
            <a:r>
              <a:rPr b="1" lang="en">
                <a:solidFill>
                  <a:schemeClr val="dk1"/>
                </a:solidFill>
              </a:rPr>
              <a:t>):</a:t>
            </a:r>
            <a:r>
              <a:rPr lang="en">
                <a:solidFill>
                  <a:schemeClr val="dk1"/>
                </a:solidFill>
              </a:rPr>
              <a:t> </a:t>
            </a:r>
            <a:r>
              <a:rPr lang="en">
                <a:solidFill>
                  <a:srgbClr val="188038"/>
                </a:solidFill>
                <a:latin typeface="Roboto Mono"/>
                <a:ea typeface="Roboto Mono"/>
                <a:cs typeface="Roboto Mono"/>
                <a:sym typeface="Roboto Mono"/>
              </a:rPr>
              <a:t>nn.Conv2d(1, 16, kernel_size=3, padding=1)</a:t>
            </a:r>
            <a:r>
              <a:rPr lang="en">
                <a:solidFill>
                  <a:schemeClr val="dk1"/>
                </a:solidFill>
              </a:rPr>
              <a:t> uses 16 filters. Each filter is 3×3 in spatial size and spans 1 input channel (since the input is grayscale, matching what we discussed earlier — a filter's depth always equals the input's channel count). So this layer takes a 1-channel image and produces 16 separate feature maps, one per filter — exactly the "stacking feature maps along a new depth dimension" idea from before.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Second conv layer (</a:t>
            </a:r>
            <a:r>
              <a:rPr b="1" lang="en">
                <a:solidFill>
                  <a:srgbClr val="188038"/>
                </a:solidFill>
                <a:latin typeface="Roboto Mono"/>
                <a:ea typeface="Roboto Mono"/>
                <a:cs typeface="Roboto Mono"/>
                <a:sym typeface="Roboto Mono"/>
              </a:rPr>
              <a:t>self.conv2</a:t>
            </a:r>
            <a:r>
              <a:rPr b="1" lang="en">
                <a:solidFill>
                  <a:schemeClr val="dk1"/>
                </a:solidFill>
              </a:rPr>
              <a:t>):</a:t>
            </a:r>
            <a:r>
              <a:rPr lang="en">
                <a:solidFill>
                  <a:schemeClr val="dk1"/>
                </a:solidFill>
              </a:rPr>
              <a:t> </a:t>
            </a:r>
            <a:r>
              <a:rPr lang="en">
                <a:solidFill>
                  <a:srgbClr val="188038"/>
                </a:solidFill>
                <a:latin typeface="Roboto Mono"/>
                <a:ea typeface="Roboto Mono"/>
                <a:cs typeface="Roboto Mono"/>
                <a:sym typeface="Roboto Mono"/>
              </a:rPr>
              <a:t>nn.Conv2d(16, 32, kernel_size=3, padding=1)</a:t>
            </a:r>
            <a:r>
              <a:rPr lang="en">
                <a:solidFill>
                  <a:schemeClr val="dk1"/>
                </a:solidFill>
              </a:rPr>
              <a:t> uses 32 filters. This time each filter is 3×3×16 — it has to span all 16 channels coming in from the previous layer, not just a single channel, because (as we covered) once you have a multi-channel volume, each filter in the next layer extends across the full depth. The result is 32 output feature maps.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So the filter count doubles at each stage: 16 → 32. The other components in this network — </a:t>
            </a:r>
            <a:r>
              <a:rPr lang="en">
                <a:solidFill>
                  <a:srgbClr val="188038"/>
                </a:solidFill>
                <a:latin typeface="Roboto Mono"/>
                <a:ea typeface="Roboto Mono"/>
                <a:cs typeface="Roboto Mono"/>
                <a:sym typeface="Roboto Mono"/>
              </a:rPr>
              <a:t>MaxPool2d</a:t>
            </a:r>
            <a:r>
              <a:rPr lang="en">
                <a:solidFill>
                  <a:schemeClr val="dk1"/>
                </a:solidFill>
              </a:rPr>
              <a:t>, </a:t>
            </a:r>
            <a:r>
              <a:rPr lang="en">
                <a:solidFill>
                  <a:srgbClr val="188038"/>
                </a:solidFill>
                <a:latin typeface="Roboto Mono"/>
                <a:ea typeface="Roboto Mono"/>
                <a:cs typeface="Roboto Mono"/>
                <a:sym typeface="Roboto Mono"/>
              </a:rPr>
              <a:t>ReLU</a:t>
            </a:r>
            <a:r>
              <a:rPr lang="en">
                <a:solidFill>
                  <a:schemeClr val="dk1"/>
                </a:solidFill>
              </a:rPr>
              <a:t>, and the final </a:t>
            </a:r>
            <a:r>
              <a:rPr lang="en">
                <a:solidFill>
                  <a:srgbClr val="188038"/>
                </a:solidFill>
                <a:latin typeface="Roboto Mono"/>
                <a:ea typeface="Roboto Mono"/>
                <a:cs typeface="Roboto Mono"/>
                <a:sym typeface="Roboto Mono"/>
              </a:rPr>
              <a:t>Linear</a:t>
            </a:r>
            <a:r>
              <a:rPr lang="en">
                <a:solidFill>
                  <a:schemeClr val="dk1"/>
                </a:solidFill>
              </a:rPr>
              <a:t> layer — aren't convolutional filters at all, so they don't have a "number of filters" in the same sense: pooling just downsamples spatially (28×28 → 14×14 → 7×7 after two poolings), ReLU is a pointwise nonlinearity, and the fully connected layer at the end flattens the final 32×7×7 volume into a vector and maps it to 10 output class scores.</a:t>
            </a:r>
            <a:endParaRPr>
              <a:solidFill>
                <a:schemeClr val="dk1"/>
              </a:solidFill>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2" name="Shape 1442"/>
        <p:cNvGrpSpPr/>
        <p:nvPr/>
      </p:nvGrpSpPr>
      <p:grpSpPr>
        <a:xfrm>
          <a:off x="0" y="0"/>
          <a:ext cx="0" cy="0"/>
          <a:chOff x="0" y="0"/>
          <a:chExt cx="0" cy="0"/>
        </a:xfrm>
      </p:grpSpPr>
      <p:sp>
        <p:nvSpPr>
          <p:cNvPr id="1443" name="Google Shape;1443;p3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44" name="Google Shape;1444;p32:notes"/>
          <p:cNvSpPr txBox="1"/>
          <p:nvPr>
            <p:ph idx="1" type="body"/>
          </p:nvPr>
        </p:nvSpPr>
        <p:spPr>
          <a:xfrm>
            <a:off x="0" y="0"/>
            <a:ext cx="39999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
        <p:nvSpPr>
          <p:cNvPr id="1445" name="Google Shape;1445;p32:notes"/>
          <p:cNvSpPr txBox="1"/>
          <p:nvPr>
            <p:ph idx="12" type="sldNum"/>
          </p:nvPr>
        </p:nvSpPr>
        <p:spPr>
          <a:xfrm>
            <a:off x="0" y="0"/>
            <a:ext cx="39999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9" name="Shape 1539"/>
        <p:cNvGrpSpPr/>
        <p:nvPr/>
      </p:nvGrpSpPr>
      <p:grpSpPr>
        <a:xfrm>
          <a:off x="0" y="0"/>
          <a:ext cx="0" cy="0"/>
          <a:chOff x="0" y="0"/>
          <a:chExt cx="0" cy="0"/>
        </a:xfrm>
      </p:grpSpPr>
      <p:sp>
        <p:nvSpPr>
          <p:cNvPr id="1540" name="Google Shape;1540;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41" name="Google Shape;1541;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4" name="Shape 1574"/>
        <p:cNvGrpSpPr/>
        <p:nvPr/>
      </p:nvGrpSpPr>
      <p:grpSpPr>
        <a:xfrm>
          <a:off x="0" y="0"/>
          <a:ext cx="0" cy="0"/>
          <a:chOff x="0" y="0"/>
          <a:chExt cx="0" cy="0"/>
        </a:xfrm>
      </p:grpSpPr>
      <p:sp>
        <p:nvSpPr>
          <p:cNvPr id="1575" name="Google Shape;1575;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6" name="Google Shape;1576;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2" name="Shape 1582"/>
        <p:cNvGrpSpPr/>
        <p:nvPr/>
      </p:nvGrpSpPr>
      <p:grpSpPr>
        <a:xfrm>
          <a:off x="0" y="0"/>
          <a:ext cx="0" cy="0"/>
          <a:chOff x="0" y="0"/>
          <a:chExt cx="0" cy="0"/>
        </a:xfrm>
      </p:grpSpPr>
      <p:sp>
        <p:nvSpPr>
          <p:cNvPr id="1583" name="Google Shape;1583;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84" name="Google Shape;1584;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1" name="Shape 1591"/>
        <p:cNvGrpSpPr/>
        <p:nvPr/>
      </p:nvGrpSpPr>
      <p:grpSpPr>
        <a:xfrm>
          <a:off x="0" y="0"/>
          <a:ext cx="0" cy="0"/>
          <a:chOff x="0" y="0"/>
          <a:chExt cx="0" cy="0"/>
        </a:xfrm>
      </p:grpSpPr>
      <p:sp>
        <p:nvSpPr>
          <p:cNvPr id="1592" name="Google Shape;1592;g3f6a040a5a3_1_97: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3" name="Google Shape;1593;g3f6a040a5a3_1_97: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594" name="Google Shape;1594;g3f6a040a5a3_1_97: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5" name="Shape 1625"/>
        <p:cNvGrpSpPr/>
        <p:nvPr/>
      </p:nvGrpSpPr>
      <p:grpSpPr>
        <a:xfrm>
          <a:off x="0" y="0"/>
          <a:ext cx="0" cy="0"/>
          <a:chOff x="0" y="0"/>
          <a:chExt cx="0" cy="0"/>
        </a:xfrm>
      </p:grpSpPr>
      <p:sp>
        <p:nvSpPr>
          <p:cNvPr id="1626" name="Google Shape;1626;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27" name="Google Shape;1627;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2" name="Shape 1632"/>
        <p:cNvGrpSpPr/>
        <p:nvPr/>
      </p:nvGrpSpPr>
      <p:grpSpPr>
        <a:xfrm>
          <a:off x="0" y="0"/>
          <a:ext cx="0" cy="0"/>
          <a:chOff x="0" y="0"/>
          <a:chExt cx="0" cy="0"/>
        </a:xfrm>
      </p:grpSpPr>
      <p:sp>
        <p:nvSpPr>
          <p:cNvPr id="1633" name="Google Shape;1633;p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4" name="Google Shape;1634;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0" name="Shape 1640"/>
        <p:cNvGrpSpPr/>
        <p:nvPr/>
      </p:nvGrpSpPr>
      <p:grpSpPr>
        <a:xfrm>
          <a:off x="0" y="0"/>
          <a:ext cx="0" cy="0"/>
          <a:chOff x="0" y="0"/>
          <a:chExt cx="0" cy="0"/>
        </a:xfrm>
      </p:grpSpPr>
      <p:sp>
        <p:nvSpPr>
          <p:cNvPr id="1641" name="Google Shape;1641;p3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2" name="Google Shape;1642;p38: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643" name="Google Shape;1643;p38: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3" name="Shape 1673"/>
        <p:cNvGrpSpPr/>
        <p:nvPr/>
      </p:nvGrpSpPr>
      <p:grpSpPr>
        <a:xfrm>
          <a:off x="0" y="0"/>
          <a:ext cx="0" cy="0"/>
          <a:chOff x="0" y="0"/>
          <a:chExt cx="0" cy="0"/>
        </a:xfrm>
      </p:grpSpPr>
      <p:sp>
        <p:nvSpPr>
          <p:cNvPr id="1674" name="Google Shape;1674;p3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5" name="Google Shape;1675;p39: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676" name="Google Shape;1676;p39: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0" name="Shape 1770"/>
        <p:cNvGrpSpPr/>
        <p:nvPr/>
      </p:nvGrpSpPr>
      <p:grpSpPr>
        <a:xfrm>
          <a:off x="0" y="0"/>
          <a:ext cx="0" cy="0"/>
          <a:chOff x="0" y="0"/>
          <a:chExt cx="0" cy="0"/>
        </a:xfrm>
      </p:grpSpPr>
      <p:sp>
        <p:nvSpPr>
          <p:cNvPr id="1771" name="Google Shape;1771;p4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72" name="Google Shape;1772;p40: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773" name="Google Shape;1773;p40: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4" name="Shape 1804"/>
        <p:cNvGrpSpPr/>
        <p:nvPr/>
      </p:nvGrpSpPr>
      <p:grpSpPr>
        <a:xfrm>
          <a:off x="0" y="0"/>
          <a:ext cx="0" cy="0"/>
          <a:chOff x="0" y="0"/>
          <a:chExt cx="0" cy="0"/>
        </a:xfrm>
      </p:grpSpPr>
      <p:sp>
        <p:nvSpPr>
          <p:cNvPr id="1805" name="Google Shape;1805;p4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6" name="Google Shape;1806;p41: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807" name="Google Shape;1807;p41: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8" name="Shape 1818"/>
        <p:cNvGrpSpPr/>
        <p:nvPr/>
      </p:nvGrpSpPr>
      <p:grpSpPr>
        <a:xfrm>
          <a:off x="0" y="0"/>
          <a:ext cx="0" cy="0"/>
          <a:chOff x="0" y="0"/>
          <a:chExt cx="0" cy="0"/>
        </a:xfrm>
      </p:grpSpPr>
      <p:sp>
        <p:nvSpPr>
          <p:cNvPr id="1819" name="Google Shape;1819;p4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0" name="Google Shape;1820;p42: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Speaker Note:</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slide introduces one-hot encoding — the simplest way to represent words as numbers that a machine can process.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We start with a small vocabulary of five words: king, queen, man, woman, and cat. In practice, a real NLP vocabulary like GPT's contains around 50,000 such words.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Using sklearn's OneHotEncoder, each word gets converted into a vector that is all zeros except for a single 1 at the position corresponding to that word. So "king" becomes [1,0,0,0,0], "queen" becomes [0,1,0,0,0], and so on. The position of the 1 is the word's identity — nothing more.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shape of our output matrix is 5×5 here, but in production with 50,000 words, this explodes to a 50,000×50,000 matrix — that's 2.5 billion values, almost all of them zero. This is called a sparse, high-dimensional representation, and it's deeply inefficient.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Now here's the critical problem this slide is pointing to. When we compute cosine similarity between "king" and "queen" — two words that are semantically very close — we get 0.0. That's because their one-hot vectors are perfectly perpendicular; they share no common dimensions at all. One-hot encoding treats every word as equally distant from every other word. It captures absolutely no semantic relationship.</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is the fundamental limitation that motivates word embeddings — a dense, low-dimensional representation where "king" and "queen" actually end up geometrically close to each other.</a:t>
            </a:r>
            <a:endParaRPr>
              <a:solidFill>
                <a:schemeClr val="dk1"/>
              </a:solidFill>
            </a:endParaRPr>
          </a:p>
          <a:p>
            <a:pPr indent="0" lvl="0" marL="0" rtl="0" algn="l">
              <a:lnSpc>
                <a:spcPct val="100000"/>
              </a:lnSpc>
              <a:spcBef>
                <a:spcPts val="1200"/>
              </a:spcBef>
              <a:spcAft>
                <a:spcPts val="0"/>
              </a:spcAft>
              <a:buSzPts val="1100"/>
              <a:buNone/>
            </a:pPr>
            <a:r>
              <a:t/>
            </a:r>
            <a:endParaRPr/>
          </a:p>
        </p:txBody>
      </p:sp>
      <p:sp>
        <p:nvSpPr>
          <p:cNvPr id="1821" name="Google Shape;1821;p42: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2" name="Shape 1842"/>
        <p:cNvGrpSpPr/>
        <p:nvPr/>
      </p:nvGrpSpPr>
      <p:grpSpPr>
        <a:xfrm>
          <a:off x="0" y="0"/>
          <a:ext cx="0" cy="0"/>
          <a:chOff x="0" y="0"/>
          <a:chExt cx="0" cy="0"/>
        </a:xfrm>
      </p:grpSpPr>
      <p:sp>
        <p:nvSpPr>
          <p:cNvPr id="1843" name="Google Shape;1843;p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44" name="Google Shape;1844;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0" name="Shape 1850"/>
        <p:cNvGrpSpPr/>
        <p:nvPr/>
      </p:nvGrpSpPr>
      <p:grpSpPr>
        <a:xfrm>
          <a:off x="0" y="0"/>
          <a:ext cx="0" cy="0"/>
          <a:chOff x="0" y="0"/>
          <a:chExt cx="0" cy="0"/>
        </a:xfrm>
      </p:grpSpPr>
      <p:sp>
        <p:nvSpPr>
          <p:cNvPr id="1851" name="Google Shape;1851;p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52" name="Google Shape;1852;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8" name="Shape 1858"/>
        <p:cNvGrpSpPr/>
        <p:nvPr/>
      </p:nvGrpSpPr>
      <p:grpSpPr>
        <a:xfrm>
          <a:off x="0" y="0"/>
          <a:ext cx="0" cy="0"/>
          <a:chOff x="0" y="0"/>
          <a:chExt cx="0" cy="0"/>
        </a:xfrm>
      </p:grpSpPr>
      <p:sp>
        <p:nvSpPr>
          <p:cNvPr id="1859" name="Google Shape;1859;p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60" name="Google Shape;1860;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6" name="Shape 1866"/>
        <p:cNvGrpSpPr/>
        <p:nvPr/>
      </p:nvGrpSpPr>
      <p:grpSpPr>
        <a:xfrm>
          <a:off x="0" y="0"/>
          <a:ext cx="0" cy="0"/>
          <a:chOff x="0" y="0"/>
          <a:chExt cx="0" cy="0"/>
        </a:xfrm>
      </p:grpSpPr>
      <p:sp>
        <p:nvSpPr>
          <p:cNvPr id="1867" name="Google Shape;1867;p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68" name="Google Shape;1868;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4" name="Shape 1874"/>
        <p:cNvGrpSpPr/>
        <p:nvPr/>
      </p:nvGrpSpPr>
      <p:grpSpPr>
        <a:xfrm>
          <a:off x="0" y="0"/>
          <a:ext cx="0" cy="0"/>
          <a:chOff x="0" y="0"/>
          <a:chExt cx="0" cy="0"/>
        </a:xfrm>
      </p:grpSpPr>
      <p:sp>
        <p:nvSpPr>
          <p:cNvPr id="1875" name="Google Shape;1875;p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76" name="Google Shape;1876;p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1" name="Shape 1901"/>
        <p:cNvGrpSpPr/>
        <p:nvPr/>
      </p:nvGrpSpPr>
      <p:grpSpPr>
        <a:xfrm>
          <a:off x="0" y="0"/>
          <a:ext cx="0" cy="0"/>
          <a:chOff x="0" y="0"/>
          <a:chExt cx="0" cy="0"/>
        </a:xfrm>
      </p:grpSpPr>
      <p:sp>
        <p:nvSpPr>
          <p:cNvPr id="1902" name="Google Shape;1902;p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03" name="Google Shape;1903;p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1" name="Shape 1921"/>
        <p:cNvGrpSpPr/>
        <p:nvPr/>
      </p:nvGrpSpPr>
      <p:grpSpPr>
        <a:xfrm>
          <a:off x="0" y="0"/>
          <a:ext cx="0" cy="0"/>
          <a:chOff x="0" y="0"/>
          <a:chExt cx="0" cy="0"/>
        </a:xfrm>
      </p:grpSpPr>
      <p:sp>
        <p:nvSpPr>
          <p:cNvPr id="1922" name="Google Shape;1922;g3f6a040a5a3_1_132: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23" name="Google Shape;1923;g3f6a040a5a3_1_132: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924" name="Google Shape;1924;g3f6a040a5a3_1_132: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0" name="Shape 1980"/>
        <p:cNvGrpSpPr/>
        <p:nvPr/>
      </p:nvGrpSpPr>
      <p:grpSpPr>
        <a:xfrm>
          <a:off x="0" y="0"/>
          <a:ext cx="0" cy="0"/>
          <a:chOff x="0" y="0"/>
          <a:chExt cx="0" cy="0"/>
        </a:xfrm>
      </p:grpSpPr>
      <p:sp>
        <p:nvSpPr>
          <p:cNvPr id="1981" name="Google Shape;1981;p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82" name="Google Shape;1982;p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6" name="Shape 2006"/>
        <p:cNvGrpSpPr/>
        <p:nvPr/>
      </p:nvGrpSpPr>
      <p:grpSpPr>
        <a:xfrm>
          <a:off x="0" y="0"/>
          <a:ext cx="0" cy="0"/>
          <a:chOff x="0" y="0"/>
          <a:chExt cx="0" cy="0"/>
        </a:xfrm>
      </p:grpSpPr>
      <p:sp>
        <p:nvSpPr>
          <p:cNvPr id="2007" name="Google Shape;2007;p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08" name="Google Shape;2008;p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1" name="Shape 2031"/>
        <p:cNvGrpSpPr/>
        <p:nvPr/>
      </p:nvGrpSpPr>
      <p:grpSpPr>
        <a:xfrm>
          <a:off x="0" y="0"/>
          <a:ext cx="0" cy="0"/>
          <a:chOff x="0" y="0"/>
          <a:chExt cx="0" cy="0"/>
        </a:xfrm>
      </p:grpSpPr>
      <p:sp>
        <p:nvSpPr>
          <p:cNvPr id="2032" name="Google Shape;2032;p5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3" name="Google Shape;2033;p52: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2034" name="Google Shape;2034;p52: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7" name="Shape 2067"/>
        <p:cNvGrpSpPr/>
        <p:nvPr/>
      </p:nvGrpSpPr>
      <p:grpSpPr>
        <a:xfrm>
          <a:off x="0" y="0"/>
          <a:ext cx="0" cy="0"/>
          <a:chOff x="0" y="0"/>
          <a:chExt cx="0" cy="0"/>
        </a:xfrm>
      </p:grpSpPr>
      <p:sp>
        <p:nvSpPr>
          <p:cNvPr id="2068" name="Google Shape;2068;p5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9" name="Google Shape;2069;p53: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2070" name="Google Shape;2070;p53: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4" name="Shape 2204"/>
        <p:cNvGrpSpPr/>
        <p:nvPr/>
      </p:nvGrpSpPr>
      <p:grpSpPr>
        <a:xfrm>
          <a:off x="0" y="0"/>
          <a:ext cx="0" cy="0"/>
          <a:chOff x="0" y="0"/>
          <a:chExt cx="0" cy="0"/>
        </a:xfrm>
      </p:grpSpPr>
      <p:sp>
        <p:nvSpPr>
          <p:cNvPr id="2205" name="Google Shape;2205;p5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6" name="Google Shape;2206;p54: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2207" name="Google Shape;2207;p54: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1" name="Shape 2241"/>
        <p:cNvGrpSpPr/>
        <p:nvPr/>
      </p:nvGrpSpPr>
      <p:grpSpPr>
        <a:xfrm>
          <a:off x="0" y="0"/>
          <a:ext cx="0" cy="0"/>
          <a:chOff x="0" y="0"/>
          <a:chExt cx="0" cy="0"/>
        </a:xfrm>
      </p:grpSpPr>
      <p:sp>
        <p:nvSpPr>
          <p:cNvPr id="2242" name="Google Shape;2242;p5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3" name="Google Shape;2243;p55: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2244" name="Google Shape;2244;p55: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4" name="Shape 2314"/>
        <p:cNvGrpSpPr/>
        <p:nvPr/>
      </p:nvGrpSpPr>
      <p:grpSpPr>
        <a:xfrm>
          <a:off x="0" y="0"/>
          <a:ext cx="0" cy="0"/>
          <a:chOff x="0" y="0"/>
          <a:chExt cx="0" cy="0"/>
        </a:xfrm>
      </p:grpSpPr>
      <p:sp>
        <p:nvSpPr>
          <p:cNvPr id="2315" name="Google Shape;2315;p5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6" name="Google Shape;2316;p56: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2317" name="Google Shape;2317;p56: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9" name="Shape 2379"/>
        <p:cNvGrpSpPr/>
        <p:nvPr/>
      </p:nvGrpSpPr>
      <p:grpSpPr>
        <a:xfrm>
          <a:off x="0" y="0"/>
          <a:ext cx="0" cy="0"/>
          <a:chOff x="0" y="0"/>
          <a:chExt cx="0" cy="0"/>
        </a:xfrm>
      </p:grpSpPr>
      <p:sp>
        <p:nvSpPr>
          <p:cNvPr id="2380" name="Google Shape;2380;p5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1" name="Google Shape;2381;p57: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2382" name="Google Shape;2382;p57: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3" name="Shape 2393"/>
        <p:cNvGrpSpPr/>
        <p:nvPr/>
      </p:nvGrpSpPr>
      <p:grpSpPr>
        <a:xfrm>
          <a:off x="0" y="0"/>
          <a:ext cx="0" cy="0"/>
          <a:chOff x="0" y="0"/>
          <a:chExt cx="0" cy="0"/>
        </a:xfrm>
      </p:grpSpPr>
      <p:sp>
        <p:nvSpPr>
          <p:cNvPr id="2394" name="Google Shape;2394;p5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5" name="Google Shape;2395;p58: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2396" name="Google Shape;2396;p58: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2" name="Shape 2422"/>
        <p:cNvGrpSpPr/>
        <p:nvPr/>
      </p:nvGrpSpPr>
      <p:grpSpPr>
        <a:xfrm>
          <a:off x="0" y="0"/>
          <a:ext cx="0" cy="0"/>
          <a:chOff x="0" y="0"/>
          <a:chExt cx="0" cy="0"/>
        </a:xfrm>
      </p:grpSpPr>
      <p:sp>
        <p:nvSpPr>
          <p:cNvPr id="2423" name="Google Shape;2423;p5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4" name="Google Shape;2424;p59: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2425" name="Google Shape;2425;p59: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6" name="Shape 2436"/>
        <p:cNvGrpSpPr/>
        <p:nvPr/>
      </p:nvGrpSpPr>
      <p:grpSpPr>
        <a:xfrm>
          <a:off x="0" y="0"/>
          <a:ext cx="0" cy="0"/>
          <a:chOff x="0" y="0"/>
          <a:chExt cx="0" cy="0"/>
        </a:xfrm>
      </p:grpSpPr>
      <p:sp>
        <p:nvSpPr>
          <p:cNvPr id="2437" name="Google Shape;2437;p6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8" name="Google Shape;2438;p60: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rPr b="1" lang="en" sz="1700">
                <a:solidFill>
                  <a:schemeClr val="dk1"/>
                </a:solidFill>
              </a:rPr>
              <a:t>What is Gensim?</a:t>
            </a:r>
            <a:endParaRPr b="1"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Gensim is an open-source Python package developed by </a:t>
            </a:r>
            <a:r>
              <a:rPr b="1" lang="en">
                <a:solidFill>
                  <a:schemeClr val="dk1"/>
                </a:solidFill>
              </a:rPr>
              <a:t>Radim Řehůřek</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It is designed for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Word2Vec</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Doc2Vec</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FastText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Topic Modeling (LDA, LSI)</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Similarity Search</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Text preprocessing</a:t>
            </a:r>
            <a:endParaRPr>
              <a:solidFill>
                <a:schemeClr val="dk1"/>
              </a:solidFill>
            </a:endParaRPr>
          </a:p>
          <a:p>
            <a:pPr indent="0" lvl="0" marL="0" rtl="0" algn="l">
              <a:lnSpc>
                <a:spcPct val="100000"/>
              </a:lnSpc>
              <a:spcBef>
                <a:spcPts val="1200"/>
              </a:spcBef>
              <a:spcAft>
                <a:spcPts val="0"/>
              </a:spcAft>
              <a:buSzPts val="1100"/>
              <a:buNone/>
            </a:pPr>
            <a:r>
              <a:t/>
            </a:r>
            <a:endParaRPr/>
          </a:p>
        </p:txBody>
      </p:sp>
      <p:sp>
        <p:nvSpPr>
          <p:cNvPr id="2439" name="Google Shape;2439;p60: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7" name="Shape 2457"/>
        <p:cNvGrpSpPr/>
        <p:nvPr/>
      </p:nvGrpSpPr>
      <p:grpSpPr>
        <a:xfrm>
          <a:off x="0" y="0"/>
          <a:ext cx="0" cy="0"/>
          <a:chOff x="0" y="0"/>
          <a:chExt cx="0" cy="0"/>
        </a:xfrm>
      </p:grpSpPr>
      <p:sp>
        <p:nvSpPr>
          <p:cNvPr id="2458" name="Google Shape;2458;p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59" name="Google Shape;2459;p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5" name="Shape 2465"/>
        <p:cNvGrpSpPr/>
        <p:nvPr/>
      </p:nvGrpSpPr>
      <p:grpSpPr>
        <a:xfrm>
          <a:off x="0" y="0"/>
          <a:ext cx="0" cy="0"/>
          <a:chOff x="0" y="0"/>
          <a:chExt cx="0" cy="0"/>
        </a:xfrm>
      </p:grpSpPr>
      <p:sp>
        <p:nvSpPr>
          <p:cNvPr id="2466" name="Google Shape;2466;p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67" name="Google Shape;2467;p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4" name="Shape 2474"/>
        <p:cNvGrpSpPr/>
        <p:nvPr/>
      </p:nvGrpSpPr>
      <p:grpSpPr>
        <a:xfrm>
          <a:off x="0" y="0"/>
          <a:ext cx="0" cy="0"/>
          <a:chOff x="0" y="0"/>
          <a:chExt cx="0" cy="0"/>
        </a:xfrm>
      </p:grpSpPr>
      <p:sp>
        <p:nvSpPr>
          <p:cNvPr id="2475" name="Google Shape;2475;p6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76" name="Google Shape;2476;p63: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2477" name="Google Shape;2477;p63: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2" name="Shape 2492"/>
        <p:cNvGrpSpPr/>
        <p:nvPr/>
      </p:nvGrpSpPr>
      <p:grpSpPr>
        <a:xfrm>
          <a:off x="0" y="0"/>
          <a:ext cx="0" cy="0"/>
          <a:chOff x="0" y="0"/>
          <a:chExt cx="0" cy="0"/>
        </a:xfrm>
      </p:grpSpPr>
      <p:sp>
        <p:nvSpPr>
          <p:cNvPr id="2493" name="Google Shape;2493;p6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94" name="Google Shape;2494;p64:notes"/>
          <p:cNvSpPr txBox="1"/>
          <p:nvPr>
            <p:ph idx="1" type="body"/>
          </p:nvPr>
        </p:nvSpPr>
        <p:spPr>
          <a:xfrm>
            <a:off x="0" y="0"/>
            <a:ext cx="39999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
        <p:nvSpPr>
          <p:cNvPr id="2495" name="Google Shape;2495;p64:notes"/>
          <p:cNvSpPr txBox="1"/>
          <p:nvPr>
            <p:ph idx="12" type="sldNum"/>
          </p:nvPr>
        </p:nvSpPr>
        <p:spPr>
          <a:xfrm>
            <a:off x="0" y="0"/>
            <a:ext cx="39999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8" name="Shape 2618"/>
        <p:cNvGrpSpPr/>
        <p:nvPr/>
      </p:nvGrpSpPr>
      <p:grpSpPr>
        <a:xfrm>
          <a:off x="0" y="0"/>
          <a:ext cx="0" cy="0"/>
          <a:chOff x="0" y="0"/>
          <a:chExt cx="0" cy="0"/>
        </a:xfrm>
      </p:grpSpPr>
      <p:sp>
        <p:nvSpPr>
          <p:cNvPr id="2619" name="Google Shape;2619;p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20" name="Google Shape;2620;p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 name="Shape 9"/>
        <p:cNvGrpSpPr/>
        <p:nvPr/>
      </p:nvGrpSpPr>
      <p:grpSpPr>
        <a:xfrm>
          <a:off x="0" y="0"/>
          <a:ext cx="0" cy="0"/>
          <a:chOff x="0" y="0"/>
          <a:chExt cx="0" cy="0"/>
        </a:xfrm>
      </p:grpSpPr>
      <p:sp>
        <p:nvSpPr>
          <p:cNvPr id="10" name="Google Shape;10;p6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1" name="Shape 11"/>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 name="Shape 12"/>
        <p:cNvGrpSpPr/>
        <p:nvPr/>
      </p:nvGrpSpPr>
      <p:grpSpPr>
        <a:xfrm>
          <a:off x="0" y="0"/>
          <a:ext cx="0" cy="0"/>
          <a:chOff x="0" y="0"/>
          <a:chExt cx="0" cy="0"/>
        </a:xfrm>
      </p:grpSpPr>
      <p:sp>
        <p:nvSpPr>
          <p:cNvPr id="13" name="Google Shape;13;p73"/>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4" name="Google Shape;14;p73"/>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5" name="Google Shape;15;p7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sp>
        <p:nvSpPr>
          <p:cNvPr id="17" name="Google Shape;17;p7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8" name="Google Shape;18;p7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7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 name="Google Shape;21;p7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2" name="Google Shape;22;p7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7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5" name="Google Shape;25;p7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6" name="Google Shape;26;p7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7" name="Google Shape;27;p7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7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 name="Google Shape;30;p7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8"/>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3" name="Google Shape;33;p78"/>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4" name="Google Shape;34;p7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5" name="Shape 35"/>
        <p:cNvGrpSpPr/>
        <p:nvPr/>
      </p:nvGrpSpPr>
      <p:grpSpPr>
        <a:xfrm>
          <a:off x="0" y="0"/>
          <a:ext cx="0" cy="0"/>
          <a:chOff x="0" y="0"/>
          <a:chExt cx="0" cy="0"/>
        </a:xfrm>
      </p:grpSpPr>
      <p:sp>
        <p:nvSpPr>
          <p:cNvPr id="36" name="Google Shape;36;p7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7" name="Google Shape;37;p7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8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8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1" name="Google Shape;41;p8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2" name="Google Shape;42;p8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3" name="Google Shape;43;p8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4" name="Shape 44"/>
        <p:cNvGrpSpPr/>
        <p:nvPr/>
      </p:nvGrpSpPr>
      <p:grpSpPr>
        <a:xfrm>
          <a:off x="0" y="0"/>
          <a:ext cx="0" cy="0"/>
          <a:chOff x="0" y="0"/>
          <a:chExt cx="0" cy="0"/>
        </a:xfrm>
      </p:grpSpPr>
      <p:sp>
        <p:nvSpPr>
          <p:cNvPr id="45" name="Google Shape;45;p81"/>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6" name="Google Shape;46;p8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7" name="Shape 47"/>
        <p:cNvGrpSpPr/>
        <p:nvPr/>
      </p:nvGrpSpPr>
      <p:grpSpPr>
        <a:xfrm>
          <a:off x="0" y="0"/>
          <a:ext cx="0" cy="0"/>
          <a:chOff x="0" y="0"/>
          <a:chExt cx="0" cy="0"/>
        </a:xfrm>
      </p:grpSpPr>
      <p:sp>
        <p:nvSpPr>
          <p:cNvPr id="48" name="Google Shape;48;p82"/>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9" name="Google Shape;49;p82"/>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0" name="Google Shape;50;p8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1" name="Shape 51"/>
        <p:cNvGrpSpPr/>
        <p:nvPr/>
      </p:nvGrpSpPr>
      <p:grpSpPr>
        <a:xfrm>
          <a:off x="0" y="0"/>
          <a:ext cx="0" cy="0"/>
          <a:chOff x="0" y="0"/>
          <a:chExt cx="0" cy="0"/>
        </a:xfrm>
      </p:grpSpPr>
      <p:sp>
        <p:nvSpPr>
          <p:cNvPr id="52" name="Google Shape;52;p83"/>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3" name="Google Shape;53;p83"/>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rmAutofit/>
          </a:bodyPr>
          <a:lstStyle>
            <a:lvl1pPr indent="-342900" lvl="0" marL="457200" algn="l">
              <a:lnSpc>
                <a:spcPct val="115000"/>
              </a:lnSpc>
              <a:spcBef>
                <a:spcPts val="360"/>
              </a:spcBef>
              <a:spcAft>
                <a:spcPts val="0"/>
              </a:spcAft>
              <a:buClr>
                <a:schemeClr val="dk1"/>
              </a:buClr>
              <a:buSzPts val="1800"/>
              <a:buChar char="●"/>
              <a:defRPr/>
            </a:lvl1pPr>
            <a:lvl2pPr indent="-342900" lvl="1" marL="914400" algn="l">
              <a:lnSpc>
                <a:spcPct val="115000"/>
              </a:lnSpc>
              <a:spcBef>
                <a:spcPts val="1200"/>
              </a:spcBef>
              <a:spcAft>
                <a:spcPts val="0"/>
              </a:spcAft>
              <a:buClr>
                <a:schemeClr val="dk1"/>
              </a:buClr>
              <a:buSzPts val="1800"/>
              <a:buChar char="○"/>
              <a:defRPr/>
            </a:lvl2pPr>
            <a:lvl3pPr indent="-342900" lvl="2" marL="1371600" algn="l">
              <a:lnSpc>
                <a:spcPct val="115000"/>
              </a:lnSpc>
              <a:spcBef>
                <a:spcPts val="1200"/>
              </a:spcBef>
              <a:spcAft>
                <a:spcPts val="0"/>
              </a:spcAft>
              <a:buClr>
                <a:schemeClr val="dk1"/>
              </a:buClr>
              <a:buSzPts val="1800"/>
              <a:buChar char="■"/>
              <a:defRPr/>
            </a:lvl3pPr>
            <a:lvl4pPr indent="-342900" lvl="3" marL="1828800" algn="l">
              <a:lnSpc>
                <a:spcPct val="115000"/>
              </a:lnSpc>
              <a:spcBef>
                <a:spcPts val="1200"/>
              </a:spcBef>
              <a:spcAft>
                <a:spcPts val="0"/>
              </a:spcAft>
              <a:buClr>
                <a:schemeClr val="dk1"/>
              </a:buClr>
              <a:buSzPts val="1800"/>
              <a:buChar char="●"/>
              <a:defRPr/>
            </a:lvl4pPr>
            <a:lvl5pPr indent="-342900" lvl="4" marL="2286000" algn="l">
              <a:lnSpc>
                <a:spcPct val="115000"/>
              </a:lnSpc>
              <a:spcBef>
                <a:spcPts val="1200"/>
              </a:spcBef>
              <a:spcAft>
                <a:spcPts val="0"/>
              </a:spcAft>
              <a:buClr>
                <a:schemeClr val="dk1"/>
              </a:buClr>
              <a:buSzPts val="1800"/>
              <a:buChar char="○"/>
              <a:defRPr/>
            </a:lvl5pPr>
            <a:lvl6pPr indent="-342900" lvl="5" marL="2743200" algn="l">
              <a:lnSpc>
                <a:spcPct val="115000"/>
              </a:lnSpc>
              <a:spcBef>
                <a:spcPts val="1200"/>
              </a:spcBef>
              <a:spcAft>
                <a:spcPts val="0"/>
              </a:spcAft>
              <a:buClr>
                <a:schemeClr val="dk1"/>
              </a:buClr>
              <a:buSzPts val="1800"/>
              <a:buChar char="■"/>
              <a:defRPr/>
            </a:lvl6pPr>
            <a:lvl7pPr indent="-342900" lvl="6" marL="3200400" algn="l">
              <a:lnSpc>
                <a:spcPct val="115000"/>
              </a:lnSpc>
              <a:spcBef>
                <a:spcPts val="1200"/>
              </a:spcBef>
              <a:spcAft>
                <a:spcPts val="0"/>
              </a:spcAft>
              <a:buClr>
                <a:schemeClr val="dk1"/>
              </a:buClr>
              <a:buSzPts val="1800"/>
              <a:buChar char="●"/>
              <a:defRPr/>
            </a:lvl7pPr>
            <a:lvl8pPr indent="-342900" lvl="7" marL="3657600" algn="l">
              <a:lnSpc>
                <a:spcPct val="115000"/>
              </a:lnSpc>
              <a:spcBef>
                <a:spcPts val="1200"/>
              </a:spcBef>
              <a:spcAft>
                <a:spcPts val="0"/>
              </a:spcAft>
              <a:buClr>
                <a:schemeClr val="dk1"/>
              </a:buClr>
              <a:buSzPts val="1800"/>
              <a:buChar char="○"/>
              <a:defRPr/>
            </a:lvl8pPr>
            <a:lvl9pPr indent="-342900" lvl="8" marL="4114800" algn="l">
              <a:lnSpc>
                <a:spcPct val="115000"/>
              </a:lnSpc>
              <a:spcBef>
                <a:spcPts val="1200"/>
              </a:spcBef>
              <a:spcAft>
                <a:spcPts val="1200"/>
              </a:spcAft>
              <a:buClr>
                <a:schemeClr val="dk1"/>
              </a:buClr>
              <a:buSzPts val="1800"/>
              <a:buChar char="■"/>
              <a:defRPr/>
            </a:lvl9pPr>
          </a:lstStyle>
          <a:p/>
        </p:txBody>
      </p:sp>
      <p:sp>
        <p:nvSpPr>
          <p:cNvPr id="54" name="Google Shape;54;p83"/>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5" name="Google Shape;55;p83"/>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6" name="Google Shape;56;p83"/>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showMasterSp="0">
  <p:cSld name="Blank">
    <p:bg>
      <p:bgPr>
        <a:solidFill>
          <a:schemeClr val="lt1"/>
        </a:solidFill>
      </p:bgPr>
    </p:bg>
    <p:spTree>
      <p:nvGrpSpPr>
        <p:cNvPr id="57" name="Shape 57"/>
        <p:cNvGrpSpPr/>
        <p:nvPr/>
      </p:nvGrpSpPr>
      <p:grpSpPr>
        <a:xfrm>
          <a:off x="0" y="0"/>
          <a:ext cx="0" cy="0"/>
          <a:chOff x="0" y="0"/>
          <a:chExt cx="0" cy="0"/>
        </a:xfrm>
      </p:grpSpPr>
      <p:sp>
        <p:nvSpPr>
          <p:cNvPr id="58" name="Google Shape;58;p84"/>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9" name="Google Shape;59;p84"/>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0" name="Google Shape;60;p84"/>
          <p:cNvSpPr txBox="1"/>
          <p:nvPr>
            <p:ph idx="12" type="sldNum"/>
          </p:nvPr>
        </p:nvSpPr>
        <p:spPr>
          <a:xfrm>
            <a:off x="6583680" y="4783455"/>
            <a:ext cx="2103000" cy="153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solidFill>
                <a:schemeClr val="dk2"/>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61" name="Shape 61"/>
        <p:cNvGrpSpPr/>
        <p:nvPr/>
      </p:nvGrpSpPr>
      <p:grpSpPr>
        <a:xfrm>
          <a:off x="0" y="0"/>
          <a:ext cx="0" cy="0"/>
          <a:chOff x="0" y="0"/>
          <a:chExt cx="0" cy="0"/>
        </a:xfrm>
      </p:grpSpPr>
      <p:sp>
        <p:nvSpPr>
          <p:cNvPr id="62" name="Google Shape;62;p85"/>
          <p:cNvSpPr txBox="1"/>
          <p:nvPr>
            <p:ph type="title"/>
          </p:nvPr>
        </p:nvSpPr>
        <p:spPr>
          <a:xfrm>
            <a:off x="700118" y="443102"/>
            <a:ext cx="7318500" cy="5676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2800"/>
              <a:buNone/>
              <a:defRPr b="0" i="0" sz="3600">
                <a:solidFill>
                  <a:srgbClr val="002060"/>
                </a:solidFill>
                <a:latin typeface="Times New Roman"/>
                <a:ea typeface="Times New Roman"/>
                <a:cs typeface="Times New Roman"/>
                <a:sym typeface="Times New Roman"/>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3" name="Google Shape;63;p85"/>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4" name="Google Shape;64;p85"/>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5" name="Google Shape;65;p85"/>
          <p:cNvSpPr txBox="1"/>
          <p:nvPr>
            <p:ph idx="12" type="sldNum"/>
          </p:nvPr>
        </p:nvSpPr>
        <p:spPr>
          <a:xfrm>
            <a:off x="6583680" y="4783455"/>
            <a:ext cx="2103000" cy="153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solidFill>
                <a:schemeClr val="dk2"/>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7" name="Shape 67"/>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9" name="Shape 69"/>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6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6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6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6" name="Shape 66"/>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65"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67"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jpg"/><Relationship Id="rId4" Type="http://schemas.openxmlformats.org/officeDocument/2006/relationships/image" Target="../media/image13.png"/><Relationship Id="rId5"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jpg"/><Relationship Id="rId4" Type="http://schemas.openxmlformats.org/officeDocument/2006/relationships/image" Target="../media/image13.png"/><Relationship Id="rId5"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jpg"/><Relationship Id="rId4" Type="http://schemas.openxmlformats.org/officeDocument/2006/relationships/image" Target="../media/image13.png"/><Relationship Id="rId5"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jpg"/><Relationship Id="rId4" Type="http://schemas.openxmlformats.org/officeDocument/2006/relationships/image" Target="../media/image3.png"/><Relationship Id="rId5"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jpg"/><Relationship Id="rId4" Type="http://schemas.openxmlformats.org/officeDocument/2006/relationships/image" Target="../media/image7.png"/><Relationship Id="rId5"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jpg"/><Relationship Id="rId4" Type="http://schemas.openxmlformats.org/officeDocument/2006/relationships/image" Target="../media/image4.png"/><Relationship Id="rId5"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jpg"/><Relationship Id="rId4" Type="http://schemas.openxmlformats.org/officeDocument/2006/relationships/image" Target="../media/image6.png"/><Relationship Id="rId5"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8.jpg"/><Relationship Id="rId4" Type="http://schemas.openxmlformats.org/officeDocument/2006/relationships/image" Target="../media/image10.png"/><Relationship Id="rId5"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jpg"/><Relationship Id="rId4" Type="http://schemas.openxmlformats.org/officeDocument/2006/relationships/image" Target="../media/image9.png"/><Relationship Id="rId5"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jpg"/><Relationship Id="rId4" Type="http://schemas.openxmlformats.org/officeDocument/2006/relationships/image" Target="../media/image13.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jp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8.jp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8.jp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8.jp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8.jp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3.png"/><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3.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8.jpg"/><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8.jpg"/><Relationship Id="rId4" Type="http://schemas.openxmlformats.org/officeDocument/2006/relationships/image" Target="../media/image13.png"/><Relationship Id="rId5" Type="http://schemas.openxmlformats.org/officeDocument/2006/relationships/image" Target="../media/image20.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8.jpg"/><Relationship Id="rId4" Type="http://schemas.openxmlformats.org/officeDocument/2006/relationships/image" Target="../media/image13.png"/><Relationship Id="rId5" Type="http://schemas.openxmlformats.org/officeDocument/2006/relationships/image" Target="../media/image16.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8.jpg"/><Relationship Id="rId4" Type="http://schemas.openxmlformats.org/officeDocument/2006/relationships/image" Target="../media/image13.png"/><Relationship Id="rId5"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8.jpg"/><Relationship Id="rId4" Type="http://schemas.openxmlformats.org/officeDocument/2006/relationships/image" Target="../media/image13.png"/><Relationship Id="rId5" Type="http://schemas.openxmlformats.org/officeDocument/2006/relationships/image" Target="../media/image22.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8.jpg"/><Relationship Id="rId4" Type="http://schemas.openxmlformats.org/officeDocument/2006/relationships/image" Target="../media/image13.png"/><Relationship Id="rId5" Type="http://schemas.openxmlformats.org/officeDocument/2006/relationships/image" Target="../media/image18.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8.jpg"/><Relationship Id="rId4"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8.jpg"/><Relationship Id="rId4" Type="http://schemas.openxmlformats.org/officeDocument/2006/relationships/image" Target="../media/image1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8.jpg"/><Relationship Id="rId4" Type="http://schemas.openxmlformats.org/officeDocument/2006/relationships/image" Target="../media/image1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3.png"/><Relationship Id="rId4" Type="http://schemas.openxmlformats.org/officeDocument/2006/relationships/image" Target="../media/image1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3.png"/><Relationship Id="rId4" Type="http://schemas.openxmlformats.org/officeDocument/2006/relationships/image" Target="../media/image1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8.jpg"/><Relationship Id="rId4" Type="http://schemas.openxmlformats.org/officeDocument/2006/relationships/image" Target="../media/image1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8.jpg"/><Relationship Id="rId4" Type="http://schemas.openxmlformats.org/officeDocument/2006/relationships/image" Target="../media/image1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8.jpg"/><Relationship Id="rId4" Type="http://schemas.openxmlformats.org/officeDocument/2006/relationships/image" Target="../media/image1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8.jpg"/><Relationship Id="rId4" Type="http://schemas.openxmlformats.org/officeDocument/2006/relationships/image" Target="../media/image1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8.jpg"/><Relationship Id="rId4" Type="http://schemas.openxmlformats.org/officeDocument/2006/relationships/image" Target="../media/image1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8.jpg"/><Relationship Id="rId4" Type="http://schemas.openxmlformats.org/officeDocument/2006/relationships/image" Target="../media/image1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8.jpg"/><Relationship Id="rId4" Type="http://schemas.openxmlformats.org/officeDocument/2006/relationships/image" Target="../media/image13.png"/><Relationship Id="rId5" Type="http://schemas.openxmlformats.org/officeDocument/2006/relationships/image" Target="../media/image2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8.jpg"/><Relationship Id="rId4" Type="http://schemas.openxmlformats.org/officeDocument/2006/relationships/image" Target="../media/image1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8.jpg"/><Relationship Id="rId4" Type="http://schemas.openxmlformats.org/officeDocument/2006/relationships/image" Target="../media/image1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8.jpg"/><Relationship Id="rId4" Type="http://schemas.openxmlformats.org/officeDocument/2006/relationships/image" Target="../media/image1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8.jpg"/><Relationship Id="rId4" Type="http://schemas.openxmlformats.org/officeDocument/2006/relationships/image" Target="../media/image1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8.jpg"/><Relationship Id="rId4" Type="http://schemas.openxmlformats.org/officeDocument/2006/relationships/image" Target="../media/image1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8.jpg"/><Relationship Id="rId4" Type="http://schemas.openxmlformats.org/officeDocument/2006/relationships/image" Target="../media/image1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8.jpg"/><Relationship Id="rId4" Type="http://schemas.openxmlformats.org/officeDocument/2006/relationships/image" Target="../media/image1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8.jpg"/><Relationship Id="rId4" Type="http://schemas.openxmlformats.org/officeDocument/2006/relationships/image" Target="../media/image1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13.png"/><Relationship Id="rId4" Type="http://schemas.openxmlformats.org/officeDocument/2006/relationships/image" Target="../media/image1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13.png"/><Relationship Id="rId4" Type="http://schemas.openxmlformats.org/officeDocument/2006/relationships/image" Target="../media/image19.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8.jpg"/><Relationship Id="rId4" Type="http://schemas.openxmlformats.org/officeDocument/2006/relationships/image" Target="../media/image13.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8.jpg"/><Relationship Id="rId4" Type="http://schemas.openxmlformats.org/officeDocument/2006/relationships/image" Target="../media/image13.png"/><Relationship Id="rId5" Type="http://schemas.openxmlformats.org/officeDocument/2006/relationships/image" Target="../media/image2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8.jpg"/><Relationship Id="rId4" Type="http://schemas.openxmlformats.org/officeDocument/2006/relationships/image" Target="../media/image1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8.jpg"/><Relationship Id="rId4" Type="http://schemas.openxmlformats.org/officeDocument/2006/relationships/image" Target="../media/image1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1.xml"/><Relationship Id="rId3" Type="http://schemas.openxmlformats.org/officeDocument/2006/relationships/image" Target="../media/image13.png"/><Relationship Id="rId4" Type="http://schemas.openxmlformats.org/officeDocument/2006/relationships/image" Target="../media/image19.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2.xml"/><Relationship Id="rId3" Type="http://schemas.openxmlformats.org/officeDocument/2006/relationships/image" Target="../media/image13.png"/><Relationship Id="rId4" Type="http://schemas.openxmlformats.org/officeDocument/2006/relationships/image" Target="../media/image19.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3.xml"/><Relationship Id="rId3" Type="http://schemas.openxmlformats.org/officeDocument/2006/relationships/image" Target="../media/image13.png"/><Relationship Id="rId4" Type="http://schemas.openxmlformats.org/officeDocument/2006/relationships/image" Target="../media/image19.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4.xml"/><Relationship Id="rId3" Type="http://schemas.openxmlformats.org/officeDocument/2006/relationships/image" Target="../media/image13.png"/><Relationship Id="rId4" Type="http://schemas.openxmlformats.org/officeDocument/2006/relationships/image" Target="../media/image19.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 Id="rId3" Type="http://schemas.openxmlformats.org/officeDocument/2006/relationships/image" Target="../media/image8.jpg"/><Relationship Id="rId4" Type="http://schemas.openxmlformats.org/officeDocument/2006/relationships/image" Target="../media/image13.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 Id="rId3" Type="http://schemas.openxmlformats.org/officeDocument/2006/relationships/image" Target="../media/image8.jpg"/><Relationship Id="rId4" Type="http://schemas.openxmlformats.org/officeDocument/2006/relationships/image" Target="../media/image13.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 Id="rId3" Type="http://schemas.openxmlformats.org/officeDocument/2006/relationships/image" Target="../media/image8.jpg"/><Relationship Id="rId4" Type="http://schemas.openxmlformats.org/officeDocument/2006/relationships/image" Target="../media/image13.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 Id="rId3" Type="http://schemas.openxmlformats.org/officeDocument/2006/relationships/image" Target="../media/image8.jpg"/><Relationship Id="rId4" Type="http://schemas.openxmlformats.org/officeDocument/2006/relationships/image" Target="../media/image13.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 Id="rId3" Type="http://schemas.openxmlformats.org/officeDocument/2006/relationships/image" Target="../media/image13.png"/><Relationship Id="rId4" Type="http://schemas.openxmlformats.org/officeDocument/2006/relationships/image" Target="../media/image19.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 Id="rId3" Type="http://schemas.openxmlformats.org/officeDocument/2006/relationships/image" Target="../media/image13.png"/><Relationship Id="rId4" Type="http://schemas.openxmlformats.org/officeDocument/2006/relationships/image" Target="../media/image19.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 Id="rId3" Type="http://schemas.openxmlformats.org/officeDocument/2006/relationships/image" Target="../media/image8.jpg"/><Relationship Id="rId4" Type="http://schemas.openxmlformats.org/officeDocument/2006/relationships/image" Target="../media/image13.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 Id="rId3" Type="http://schemas.openxmlformats.org/officeDocument/2006/relationships/image" Target="../media/image8.jpg"/><Relationship Id="rId4" Type="http://schemas.openxmlformats.org/officeDocument/2006/relationships/image" Target="../media/image13.png"/><Relationship Id="rId9" Type="http://schemas.openxmlformats.org/officeDocument/2006/relationships/image" Target="../media/image26.png"/><Relationship Id="rId5" Type="http://schemas.openxmlformats.org/officeDocument/2006/relationships/image" Target="../media/image25.jpg"/><Relationship Id="rId6" Type="http://schemas.openxmlformats.org/officeDocument/2006/relationships/image" Target="../media/image23.png"/><Relationship Id="rId7" Type="http://schemas.openxmlformats.org/officeDocument/2006/relationships/image" Target="../media/image24.jpg"/><Relationship Id="rId8"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3" name="Shape 73"/>
        <p:cNvGrpSpPr/>
        <p:nvPr/>
      </p:nvGrpSpPr>
      <p:grpSpPr>
        <a:xfrm>
          <a:off x="0" y="0"/>
          <a:ext cx="0" cy="0"/>
          <a:chOff x="0" y="0"/>
          <a:chExt cx="0" cy="0"/>
        </a:xfrm>
      </p:grpSpPr>
      <p:sp>
        <p:nvSpPr>
          <p:cNvPr id="74" name="Google Shape;74;p1"/>
          <p:cNvSpPr txBox="1"/>
          <p:nvPr/>
        </p:nvSpPr>
        <p:spPr>
          <a:xfrm>
            <a:off x="685800" y="82600"/>
            <a:ext cx="7772400" cy="1470000"/>
          </a:xfrm>
          <a:prstGeom prst="rect">
            <a:avLst/>
          </a:prstGeom>
          <a:no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4400"/>
              <a:buFont typeface="Arial"/>
              <a:buNone/>
            </a:pPr>
            <a:r>
              <a:rPr b="1" i="0" lang="en" sz="4400" u="none" cap="none" strike="noStrike">
                <a:solidFill>
                  <a:srgbClr val="C00000"/>
                </a:solidFill>
                <a:latin typeface="Calibri"/>
                <a:ea typeface="Calibri"/>
                <a:cs typeface="Calibri"/>
                <a:sym typeface="Calibri"/>
              </a:rPr>
              <a:t>Fundamental Concepts, CNN and Embeddings</a:t>
            </a:r>
            <a:endParaRPr b="1" i="0" sz="3700" u="none" cap="none" strike="noStrike">
              <a:solidFill>
                <a:srgbClr val="C00000"/>
              </a:solidFill>
              <a:latin typeface="Calibri"/>
              <a:ea typeface="Calibri"/>
              <a:cs typeface="Calibri"/>
              <a:sym typeface="Calibri"/>
            </a:endParaRPr>
          </a:p>
        </p:txBody>
      </p:sp>
      <p:sp>
        <p:nvSpPr>
          <p:cNvPr id="75" name="Google Shape;75;p1"/>
          <p:cNvSpPr txBox="1"/>
          <p:nvPr/>
        </p:nvSpPr>
        <p:spPr>
          <a:xfrm>
            <a:off x="1371600" y="1552600"/>
            <a:ext cx="6400800" cy="1470000"/>
          </a:xfrm>
          <a:prstGeom prst="rect">
            <a:avLst/>
          </a:prstGeom>
          <a:noFill/>
          <a:ln>
            <a:noFill/>
          </a:ln>
        </p:spPr>
        <p:txBody>
          <a:bodyPr anchorCtr="0" anchor="t" bIns="45700" lIns="91425" spcFirstLastPara="1" rIns="91425" wrap="square" tIns="45700">
            <a:normAutofit lnSpcReduction="10000"/>
          </a:bodyPr>
          <a:lstStyle/>
          <a:p>
            <a:pPr indent="0" lvl="0" marL="0" marR="0" rtl="0" algn="ctr">
              <a:lnSpc>
                <a:spcPct val="100000"/>
              </a:lnSpc>
              <a:spcBef>
                <a:spcPts val="448"/>
              </a:spcBef>
              <a:spcAft>
                <a:spcPts val="0"/>
              </a:spcAft>
              <a:buClr>
                <a:srgbClr val="000000"/>
              </a:buClr>
              <a:buSzPts val="2900"/>
              <a:buFont typeface="Arial"/>
              <a:buNone/>
            </a:pPr>
            <a:r>
              <a:rPr b="1" i="0" lang="en" sz="2900" u="none" cap="none" strike="noStrike">
                <a:solidFill>
                  <a:srgbClr val="002060"/>
                </a:solidFill>
                <a:latin typeface="Calibri"/>
                <a:ea typeface="Calibri"/>
                <a:cs typeface="Calibri"/>
                <a:sym typeface="Calibri"/>
              </a:rPr>
              <a:t>Niloy Ganguly</a:t>
            </a:r>
            <a:endParaRPr b="1" i="0" sz="2900" u="none" cap="none" strike="noStrike">
              <a:solidFill>
                <a:schemeClr val="dk1"/>
              </a:solidFill>
              <a:latin typeface="Calibri"/>
              <a:ea typeface="Calibri"/>
              <a:cs typeface="Calibri"/>
              <a:sym typeface="Calibri"/>
            </a:endParaRPr>
          </a:p>
          <a:p>
            <a:pPr indent="0" lvl="0" marL="0" marR="0" rtl="0" algn="ctr">
              <a:lnSpc>
                <a:spcPct val="100000"/>
              </a:lnSpc>
              <a:spcBef>
                <a:spcPts val="448"/>
              </a:spcBef>
              <a:spcAft>
                <a:spcPts val="0"/>
              </a:spcAft>
              <a:buClr>
                <a:schemeClr val="dk1"/>
              </a:buClr>
              <a:buSzPts val="1100"/>
              <a:buFont typeface="Arial"/>
              <a:buNone/>
            </a:pPr>
            <a:r>
              <a:rPr b="1" i="0" lang="en" sz="2900" u="none" cap="none" strike="noStrike">
                <a:solidFill>
                  <a:srgbClr val="002060"/>
                </a:solidFill>
                <a:latin typeface="Calibri"/>
                <a:ea typeface="Calibri"/>
                <a:cs typeface="Calibri"/>
                <a:sym typeface="Calibri"/>
              </a:rPr>
              <a:t>Professor</a:t>
            </a:r>
            <a:endParaRPr b="1" i="0" sz="2900" u="none" cap="none" strike="noStrike">
              <a:solidFill>
                <a:schemeClr val="dk1"/>
              </a:solidFill>
              <a:latin typeface="Calibri"/>
              <a:ea typeface="Calibri"/>
              <a:cs typeface="Calibri"/>
              <a:sym typeface="Calibri"/>
            </a:endParaRPr>
          </a:p>
          <a:p>
            <a:pPr indent="0" lvl="0" marL="0" marR="0" rtl="0" algn="ctr">
              <a:lnSpc>
                <a:spcPct val="100000"/>
              </a:lnSpc>
              <a:spcBef>
                <a:spcPts val="448"/>
              </a:spcBef>
              <a:spcAft>
                <a:spcPts val="0"/>
              </a:spcAft>
              <a:buClr>
                <a:srgbClr val="000000"/>
              </a:buClr>
              <a:buSzPts val="2900"/>
              <a:buFont typeface="Arial"/>
              <a:buNone/>
            </a:pPr>
            <a:r>
              <a:rPr b="1" i="0" lang="en" sz="2900" u="none" cap="none" strike="noStrike">
                <a:solidFill>
                  <a:schemeClr val="dk1"/>
                </a:solidFill>
                <a:latin typeface="Calibri"/>
                <a:ea typeface="Calibri"/>
                <a:cs typeface="Calibri"/>
                <a:sym typeface="Calibri"/>
              </a:rPr>
              <a:t>IIT Kharagpur</a:t>
            </a:r>
            <a:endParaRPr b="1" i="0" sz="2900" u="none" cap="none" strike="noStrike">
              <a:solidFill>
                <a:schemeClr val="dk1"/>
              </a:solidFill>
              <a:latin typeface="Calibri"/>
              <a:ea typeface="Calibri"/>
              <a:cs typeface="Calibri"/>
              <a:sym typeface="Calibri"/>
            </a:endParaRPr>
          </a:p>
        </p:txBody>
      </p:sp>
      <p:pic>
        <p:nvPicPr>
          <p:cNvPr id="76" name="Google Shape;76;p1"/>
          <p:cNvPicPr preferRelativeResize="0"/>
          <p:nvPr/>
        </p:nvPicPr>
        <p:blipFill rotWithShape="1">
          <a:blip r:embed="rId4">
            <a:alphaModFix/>
          </a:blip>
          <a:srcRect b="0" l="0" r="0" t="0"/>
          <a:stretch/>
        </p:blipFill>
        <p:spPr>
          <a:xfrm>
            <a:off x="2846650" y="3022600"/>
            <a:ext cx="1106651" cy="1238477"/>
          </a:xfrm>
          <a:prstGeom prst="rect">
            <a:avLst/>
          </a:prstGeom>
          <a:noFill/>
          <a:ln>
            <a:noFill/>
          </a:ln>
        </p:spPr>
      </p:pic>
      <p:pic>
        <p:nvPicPr>
          <p:cNvPr id="77" name="Google Shape;77;p1"/>
          <p:cNvPicPr preferRelativeResize="0"/>
          <p:nvPr/>
        </p:nvPicPr>
        <p:blipFill rotWithShape="1">
          <a:blip r:embed="rId5">
            <a:alphaModFix/>
          </a:blip>
          <a:srcRect b="5553" l="22319" r="21419" t="0"/>
          <a:stretch/>
        </p:blipFill>
        <p:spPr>
          <a:xfrm>
            <a:off x="5266350" y="3065963"/>
            <a:ext cx="1031000" cy="11517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1" name="Shape 81"/>
        <p:cNvGrpSpPr/>
        <p:nvPr/>
      </p:nvGrpSpPr>
      <p:grpSpPr>
        <a:xfrm>
          <a:off x="0" y="0"/>
          <a:ext cx="0" cy="0"/>
          <a:chOff x="0" y="0"/>
          <a:chExt cx="0" cy="0"/>
        </a:xfrm>
      </p:grpSpPr>
      <p:pic>
        <p:nvPicPr>
          <p:cNvPr id="82" name="Google Shape;82;g3f6a040a5a3_1_0"/>
          <p:cNvPicPr preferRelativeResize="0"/>
          <p:nvPr/>
        </p:nvPicPr>
        <p:blipFill rotWithShape="1">
          <a:blip r:embed="rId4">
            <a:alphaModFix/>
          </a:blip>
          <a:srcRect b="0" l="0" r="0" t="0"/>
          <a:stretch/>
        </p:blipFill>
        <p:spPr>
          <a:xfrm>
            <a:off x="8369125" y="0"/>
            <a:ext cx="774877" cy="867174"/>
          </a:xfrm>
          <a:prstGeom prst="rect">
            <a:avLst/>
          </a:prstGeom>
          <a:noFill/>
          <a:ln>
            <a:noFill/>
          </a:ln>
        </p:spPr>
      </p:pic>
      <p:sp>
        <p:nvSpPr>
          <p:cNvPr id="83" name="Google Shape;83;g3f6a040a5a3_1_0"/>
          <p:cNvSpPr/>
          <p:nvPr/>
        </p:nvSpPr>
        <p:spPr>
          <a:xfrm>
            <a:off x="240625" y="1458550"/>
            <a:ext cx="5885400" cy="384060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1B2E45"/>
              </a:buClr>
              <a:buSzPts val="1500"/>
              <a:buFont typeface="Calibri"/>
              <a:buChar char="•"/>
            </a:pPr>
            <a:r>
              <a:rPr b="0" i="0" lang="en" sz="1500" u="none" cap="none" strike="noStrike">
                <a:solidFill>
                  <a:srgbClr val="1B2E45"/>
                </a:solidFill>
                <a:latin typeface="Calibri"/>
                <a:ea typeface="Calibri"/>
                <a:cs typeface="Calibri"/>
                <a:sym typeface="Calibri"/>
              </a:rPr>
              <a:t>Forward Pass: Input flows through network → produces prediction ŷ</a:t>
            </a:r>
            <a:endParaRPr b="0" i="0" sz="1500" u="none" cap="none" strike="noStrike">
              <a:solidFill>
                <a:srgbClr val="000000"/>
              </a:solidFill>
              <a:latin typeface="Calibri"/>
              <a:ea typeface="Calibri"/>
              <a:cs typeface="Calibri"/>
              <a:sym typeface="Calibri"/>
            </a:endParaRPr>
          </a:p>
          <a:p>
            <a:pPr indent="-342900" lvl="0" marL="342900" marR="0" rtl="0" algn="l">
              <a:lnSpc>
                <a:spcPct val="100000"/>
              </a:lnSpc>
              <a:spcBef>
                <a:spcPts val="600"/>
              </a:spcBef>
              <a:spcAft>
                <a:spcPts val="0"/>
              </a:spcAft>
              <a:buClr>
                <a:srgbClr val="1B2E45"/>
              </a:buClr>
              <a:buSzPts val="1500"/>
              <a:buFont typeface="Calibri"/>
              <a:buChar char="•"/>
            </a:pPr>
            <a:r>
              <a:rPr b="0" i="0" lang="en" sz="1500" u="none" cap="none" strike="noStrike">
                <a:solidFill>
                  <a:srgbClr val="1B2E45"/>
                </a:solidFill>
                <a:latin typeface="Calibri"/>
                <a:ea typeface="Calibri"/>
                <a:cs typeface="Calibri"/>
                <a:sym typeface="Calibri"/>
              </a:rPr>
              <a:t>Loss Function: Measure error between ŷ and true label y</a:t>
            </a:r>
            <a:endParaRPr b="0" i="0" sz="1500" u="none" cap="none" strike="noStrike">
              <a:solidFill>
                <a:srgbClr val="000000"/>
              </a:solidFill>
              <a:latin typeface="Calibri"/>
              <a:ea typeface="Calibri"/>
              <a:cs typeface="Calibri"/>
              <a:sym typeface="Calibri"/>
            </a:endParaRPr>
          </a:p>
          <a:p>
            <a:pPr indent="-317500" lvl="1" marL="635000" marR="0" rtl="0" algn="l">
              <a:lnSpc>
                <a:spcPct val="100000"/>
              </a:lnSpc>
              <a:spcBef>
                <a:spcPts val="600"/>
              </a:spcBef>
              <a:spcAft>
                <a:spcPts val="0"/>
              </a:spcAft>
              <a:buClr>
                <a:srgbClr val="8899A6"/>
              </a:buClr>
              <a:buSzPts val="1300"/>
              <a:buFont typeface="Calibri"/>
              <a:buChar char="•"/>
            </a:pPr>
            <a:r>
              <a:rPr b="0" i="0" lang="en" sz="1300" u="none" cap="none" strike="noStrike">
                <a:solidFill>
                  <a:srgbClr val="8899A6"/>
                </a:solidFill>
                <a:latin typeface="Calibri"/>
                <a:ea typeface="Calibri"/>
                <a:cs typeface="Calibri"/>
                <a:sym typeface="Calibri"/>
              </a:rPr>
              <a:t>MSE for regression: L = (1/n)Σ(yᵢ - ŷᵢ)²</a:t>
            </a:r>
            <a:endParaRPr b="0" i="0" sz="1500" u="none" cap="none" strike="noStrike">
              <a:solidFill>
                <a:srgbClr val="000000"/>
              </a:solidFill>
              <a:latin typeface="Calibri"/>
              <a:ea typeface="Calibri"/>
              <a:cs typeface="Calibri"/>
              <a:sym typeface="Calibri"/>
            </a:endParaRPr>
          </a:p>
          <a:p>
            <a:pPr indent="-317500" lvl="1" marL="635000" marR="0" rtl="0" algn="l">
              <a:lnSpc>
                <a:spcPct val="100000"/>
              </a:lnSpc>
              <a:spcBef>
                <a:spcPts val="600"/>
              </a:spcBef>
              <a:spcAft>
                <a:spcPts val="0"/>
              </a:spcAft>
              <a:buClr>
                <a:srgbClr val="8899A6"/>
              </a:buClr>
              <a:buSzPts val="1300"/>
              <a:buFont typeface="Calibri"/>
              <a:buChar char="•"/>
            </a:pPr>
            <a:r>
              <a:rPr b="0" i="0" lang="en" sz="1300" u="none" cap="none" strike="noStrike">
                <a:solidFill>
                  <a:srgbClr val="8899A6"/>
                </a:solidFill>
                <a:latin typeface="Calibri"/>
                <a:ea typeface="Calibri"/>
                <a:cs typeface="Calibri"/>
                <a:sym typeface="Calibri"/>
              </a:rPr>
              <a:t>Cross-entropy for classification: L = −Σ yᵢ log(ŷᵢ)</a:t>
            </a:r>
            <a:endParaRPr b="0" i="0" sz="1500" u="none" cap="none" strike="noStrike">
              <a:solidFill>
                <a:srgbClr val="000000"/>
              </a:solidFill>
              <a:latin typeface="Calibri"/>
              <a:ea typeface="Calibri"/>
              <a:cs typeface="Calibri"/>
              <a:sym typeface="Calibri"/>
            </a:endParaRPr>
          </a:p>
          <a:p>
            <a:pPr indent="-342900" lvl="0" marL="342900" marR="0" rtl="0" algn="l">
              <a:lnSpc>
                <a:spcPct val="100000"/>
              </a:lnSpc>
              <a:spcBef>
                <a:spcPts val="600"/>
              </a:spcBef>
              <a:spcAft>
                <a:spcPts val="0"/>
              </a:spcAft>
              <a:buClr>
                <a:srgbClr val="1B2E45"/>
              </a:buClr>
              <a:buSzPts val="1500"/>
              <a:buFont typeface="Calibri"/>
              <a:buChar char="•"/>
            </a:pPr>
            <a:r>
              <a:rPr b="0" i="0" lang="en" sz="1500" u="none" cap="none" strike="noStrike">
                <a:solidFill>
                  <a:srgbClr val="1B2E45"/>
                </a:solidFill>
                <a:latin typeface="Calibri"/>
                <a:ea typeface="Calibri"/>
                <a:cs typeface="Calibri"/>
                <a:sym typeface="Calibri"/>
              </a:rPr>
              <a:t>Backward Pass: Compute gradient of loss w.r.t. each weight using chain rule</a:t>
            </a:r>
            <a:endParaRPr b="0" i="0" sz="1500" u="none" cap="none" strike="noStrike">
              <a:solidFill>
                <a:srgbClr val="000000"/>
              </a:solidFill>
              <a:latin typeface="Calibri"/>
              <a:ea typeface="Calibri"/>
              <a:cs typeface="Calibri"/>
              <a:sym typeface="Calibri"/>
            </a:endParaRPr>
          </a:p>
          <a:p>
            <a:pPr indent="-317500" lvl="1" marL="635000" marR="0" rtl="0" algn="l">
              <a:lnSpc>
                <a:spcPct val="100000"/>
              </a:lnSpc>
              <a:spcBef>
                <a:spcPts val="600"/>
              </a:spcBef>
              <a:spcAft>
                <a:spcPts val="0"/>
              </a:spcAft>
              <a:buClr>
                <a:srgbClr val="8899A6"/>
              </a:buClr>
              <a:buSzPts val="1300"/>
              <a:buFont typeface="Calibri"/>
              <a:buChar char="•"/>
            </a:pPr>
            <a:r>
              <a:rPr b="0" i="0" lang="en" sz="1300" u="none" cap="none" strike="noStrike">
                <a:solidFill>
                  <a:srgbClr val="8899A6"/>
                </a:solidFill>
                <a:latin typeface="Calibri"/>
                <a:ea typeface="Calibri"/>
                <a:cs typeface="Calibri"/>
                <a:sym typeface="Calibri"/>
              </a:rPr>
              <a:t>∂L/∂w = ∂L/∂ŷ · ∂ŷ/∂z · ∂z/∂w  (chain rule, layer by layer)</a:t>
            </a:r>
            <a:endParaRPr b="0" i="0" sz="1500" u="none" cap="none" strike="noStrike">
              <a:solidFill>
                <a:srgbClr val="000000"/>
              </a:solidFill>
              <a:latin typeface="Calibri"/>
              <a:ea typeface="Calibri"/>
              <a:cs typeface="Calibri"/>
              <a:sym typeface="Calibri"/>
            </a:endParaRPr>
          </a:p>
          <a:p>
            <a:pPr indent="-342900" lvl="0" marL="342900" marR="0" rtl="0" algn="l">
              <a:lnSpc>
                <a:spcPct val="100000"/>
              </a:lnSpc>
              <a:spcBef>
                <a:spcPts val="600"/>
              </a:spcBef>
              <a:spcAft>
                <a:spcPts val="0"/>
              </a:spcAft>
              <a:buClr>
                <a:srgbClr val="1B2E45"/>
              </a:buClr>
              <a:buSzPts val="1500"/>
              <a:buFont typeface="Calibri"/>
              <a:buChar char="•"/>
            </a:pPr>
            <a:r>
              <a:rPr b="0" i="0" lang="en" sz="1500" u="none" cap="none" strike="noStrike">
                <a:solidFill>
                  <a:srgbClr val="1B2E45"/>
                </a:solidFill>
                <a:latin typeface="Calibri"/>
                <a:ea typeface="Calibri"/>
                <a:cs typeface="Calibri"/>
                <a:sym typeface="Calibri"/>
              </a:rPr>
              <a:t>Gradient Descent Update: w ← w − η · ∂L/∂w  (η = learning rate)</a:t>
            </a:r>
            <a:endParaRPr b="0" i="0" sz="1500" u="none" cap="none" strike="noStrike">
              <a:solidFill>
                <a:srgbClr val="000000"/>
              </a:solidFill>
              <a:latin typeface="Calibri"/>
              <a:ea typeface="Calibri"/>
              <a:cs typeface="Calibri"/>
              <a:sym typeface="Calibri"/>
            </a:endParaRPr>
          </a:p>
          <a:p>
            <a:pPr indent="-342900" lvl="0" marL="342900" marR="0" rtl="0" algn="l">
              <a:lnSpc>
                <a:spcPct val="100000"/>
              </a:lnSpc>
              <a:spcBef>
                <a:spcPts val="600"/>
              </a:spcBef>
              <a:spcAft>
                <a:spcPts val="0"/>
              </a:spcAft>
              <a:buClr>
                <a:srgbClr val="1B2E45"/>
              </a:buClr>
              <a:buSzPts val="1500"/>
              <a:buFont typeface="Calibri"/>
              <a:buChar char="•"/>
            </a:pPr>
            <a:r>
              <a:rPr b="0" i="0" lang="en" sz="1500" u="none" cap="none" strike="noStrike">
                <a:solidFill>
                  <a:srgbClr val="1B2E45"/>
                </a:solidFill>
                <a:latin typeface="Calibri"/>
                <a:ea typeface="Calibri"/>
                <a:cs typeface="Calibri"/>
                <a:sym typeface="Calibri"/>
              </a:rPr>
              <a:t>Key challenges: Vanishing gradients (deep nets), overfitting, local minima</a:t>
            </a:r>
            <a:endParaRPr b="0" i="0" sz="1500" u="none" cap="none" strike="noStrike">
              <a:solidFill>
                <a:srgbClr val="000000"/>
              </a:solidFill>
              <a:latin typeface="Calibri"/>
              <a:ea typeface="Calibri"/>
              <a:cs typeface="Calibri"/>
              <a:sym typeface="Calibri"/>
            </a:endParaRPr>
          </a:p>
        </p:txBody>
      </p:sp>
      <p:sp>
        <p:nvSpPr>
          <p:cNvPr id="84" name="Google Shape;84;g3f6a040a5a3_1_0"/>
          <p:cNvSpPr txBox="1"/>
          <p:nvPr/>
        </p:nvSpPr>
        <p:spPr>
          <a:xfrm>
            <a:off x="695100" y="166300"/>
            <a:ext cx="7435800" cy="785700"/>
          </a:xfrm>
          <a:prstGeom prst="rect">
            <a:avLst/>
          </a:prstGeom>
          <a:no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rgbClr val="0D1B2A"/>
              </a:buClr>
              <a:buSzPts val="2600"/>
              <a:buFont typeface="Calibri"/>
              <a:buNone/>
            </a:pPr>
            <a:r>
              <a:rPr b="1" i="0" lang="en" sz="2600" u="none" cap="none" strike="noStrike">
                <a:solidFill>
                  <a:srgbClr val="0D1B2A"/>
                </a:solidFill>
                <a:latin typeface="Calibri"/>
                <a:ea typeface="Calibri"/>
                <a:cs typeface="Calibri"/>
                <a:sym typeface="Calibri"/>
              </a:rPr>
              <a:t>Backpropagation — How Neural Networks Learn</a:t>
            </a:r>
            <a:endParaRPr b="1" i="0" sz="2800" u="none" cap="none" strike="noStrike">
              <a:solidFill>
                <a:srgbClr val="000000"/>
              </a:solidFill>
              <a:latin typeface="Calibri"/>
              <a:ea typeface="Calibri"/>
              <a:cs typeface="Calibri"/>
              <a:sym typeface="Calibri"/>
            </a:endParaRPr>
          </a:p>
        </p:txBody>
      </p:sp>
      <p:pic>
        <p:nvPicPr>
          <p:cNvPr id="85" name="Google Shape;85;g3f6a040a5a3_1_0"/>
          <p:cNvPicPr preferRelativeResize="0"/>
          <p:nvPr/>
        </p:nvPicPr>
        <p:blipFill rotWithShape="1">
          <a:blip r:embed="rId5">
            <a:alphaModFix/>
          </a:blip>
          <a:srcRect b="0" l="0" r="0" t="0"/>
          <a:stretch/>
        </p:blipFill>
        <p:spPr>
          <a:xfrm>
            <a:off x="6126025" y="1312750"/>
            <a:ext cx="3017976" cy="34898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0" name="Shape 90"/>
        <p:cNvGrpSpPr/>
        <p:nvPr/>
      </p:nvGrpSpPr>
      <p:grpSpPr>
        <a:xfrm>
          <a:off x="0" y="0"/>
          <a:ext cx="0" cy="0"/>
          <a:chOff x="0" y="0"/>
          <a:chExt cx="0" cy="0"/>
        </a:xfrm>
      </p:grpSpPr>
      <p:sp>
        <p:nvSpPr>
          <p:cNvPr id="91" name="Google Shape;91;g3f62c33a15b_2_0"/>
          <p:cNvSpPr/>
          <p:nvPr/>
        </p:nvSpPr>
        <p:spPr>
          <a:xfrm>
            <a:off x="342900" y="219456"/>
            <a:ext cx="8456100" cy="41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2300"/>
              <a:buFont typeface="Cambria"/>
              <a:buNone/>
            </a:pPr>
            <a:r>
              <a:rPr b="1" i="0" lang="en" sz="2300" u="none" cap="none" strike="noStrike">
                <a:solidFill>
                  <a:srgbClr val="1E2761"/>
                </a:solidFill>
                <a:latin typeface="Cambria"/>
                <a:ea typeface="Cambria"/>
                <a:cs typeface="Cambria"/>
                <a:sym typeface="Cambria"/>
              </a:rPr>
              <a:t>What We'll Cover</a:t>
            </a:r>
            <a:endParaRPr b="0" i="0" sz="2300" u="none" cap="none" strike="noStrike">
              <a:solidFill>
                <a:schemeClr val="dk1"/>
              </a:solidFill>
              <a:latin typeface="Calibri"/>
              <a:ea typeface="Calibri"/>
              <a:cs typeface="Calibri"/>
              <a:sym typeface="Calibri"/>
            </a:endParaRPr>
          </a:p>
        </p:txBody>
      </p:sp>
      <p:sp>
        <p:nvSpPr>
          <p:cNvPr id="92" name="Google Shape;92;g3f62c33a15b_2_0"/>
          <p:cNvSpPr/>
          <p:nvPr/>
        </p:nvSpPr>
        <p:spPr>
          <a:xfrm>
            <a:off x="342900" y="630936"/>
            <a:ext cx="84561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472"/>
              </a:buClr>
              <a:buSzPts val="1100"/>
              <a:buFont typeface="Calibri"/>
              <a:buNone/>
            </a:pPr>
            <a:r>
              <a:rPr b="0" i="1" lang="en" sz="1100" u="none" cap="none" strike="noStrike">
                <a:solidFill>
                  <a:srgbClr val="5A6472"/>
                </a:solidFill>
                <a:latin typeface="Calibri"/>
                <a:ea typeface="Calibri"/>
                <a:cs typeface="Calibri"/>
                <a:sym typeface="Calibri"/>
              </a:rPr>
              <a:t>Six core building blocks behind training a neural network</a:t>
            </a:r>
            <a:endParaRPr b="0" i="0" sz="1100" u="none" cap="none" strike="noStrike">
              <a:solidFill>
                <a:schemeClr val="dk1"/>
              </a:solidFill>
              <a:latin typeface="Calibri"/>
              <a:ea typeface="Calibri"/>
              <a:cs typeface="Calibri"/>
              <a:sym typeface="Calibri"/>
            </a:endParaRPr>
          </a:p>
        </p:txBody>
      </p:sp>
      <p:sp>
        <p:nvSpPr>
          <p:cNvPr id="93" name="Google Shape;93;g3f62c33a15b_2_0"/>
          <p:cNvSpPr/>
          <p:nvPr/>
        </p:nvSpPr>
        <p:spPr>
          <a:xfrm>
            <a:off x="342900" y="1028700"/>
            <a:ext cx="2704200" cy="1841400"/>
          </a:xfrm>
          <a:prstGeom prst="roundRect">
            <a:avLst>
              <a:gd fmla="val 2607" name="adj"/>
            </a:avLst>
          </a:prstGeom>
          <a:solidFill>
            <a:srgbClr val="FFFFFF"/>
          </a:solidFill>
          <a:ln cap="flat" cmpd="sng" w="9525">
            <a:solidFill>
              <a:srgbClr val="E3E6E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g3f62c33a15b_2_0"/>
          <p:cNvSpPr/>
          <p:nvPr/>
        </p:nvSpPr>
        <p:spPr>
          <a:xfrm>
            <a:off x="342900" y="1028700"/>
            <a:ext cx="2704200" cy="61800"/>
          </a:xfrm>
          <a:prstGeom prst="roundRect">
            <a:avLst>
              <a:gd fmla="val 77778" name="adj"/>
            </a:avLst>
          </a:prstGeom>
          <a:solidFill>
            <a:srgbClr val="D2694A"/>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g3f62c33a15b_2_0"/>
          <p:cNvSpPr/>
          <p:nvPr/>
        </p:nvSpPr>
        <p:spPr>
          <a:xfrm>
            <a:off x="342900" y="1059561"/>
            <a:ext cx="2704200" cy="34200"/>
          </a:xfrm>
          <a:prstGeom prst="rect">
            <a:avLst/>
          </a:prstGeom>
          <a:solidFill>
            <a:srgbClr val="D2694A"/>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g3f62c33a15b_2_0"/>
          <p:cNvSpPr/>
          <p:nvPr/>
        </p:nvSpPr>
        <p:spPr>
          <a:xfrm>
            <a:off x="534924" y="1179576"/>
            <a:ext cx="2320200" cy="288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2694A"/>
              </a:buClr>
              <a:buSzPts val="800"/>
              <a:buFont typeface="Calibri"/>
              <a:buNone/>
            </a:pPr>
            <a:r>
              <a:rPr b="1" i="0" lang="en" sz="800" u="none" cap="none" strike="noStrike">
                <a:solidFill>
                  <a:srgbClr val="D2694A"/>
                </a:solidFill>
                <a:latin typeface="Calibri"/>
                <a:ea typeface="Calibri"/>
                <a:cs typeface="Calibri"/>
                <a:sym typeface="Calibri"/>
              </a:rPr>
              <a:t>01  </a:t>
            </a:r>
            <a:r>
              <a:rPr b="1" i="0" lang="en" sz="1200" u="none" cap="none" strike="noStrike">
                <a:solidFill>
                  <a:srgbClr val="2B2F33"/>
                </a:solidFill>
                <a:latin typeface="Calibri"/>
                <a:ea typeface="Calibri"/>
                <a:cs typeface="Calibri"/>
                <a:sym typeface="Calibri"/>
              </a:rPr>
              <a:t>Backpropagation</a:t>
            </a:r>
            <a:endParaRPr b="0" i="0" sz="800" u="none" cap="none" strike="noStrike">
              <a:solidFill>
                <a:schemeClr val="dk1"/>
              </a:solidFill>
              <a:latin typeface="Calibri"/>
              <a:ea typeface="Calibri"/>
              <a:cs typeface="Calibri"/>
              <a:sym typeface="Calibri"/>
            </a:endParaRPr>
          </a:p>
        </p:txBody>
      </p:sp>
      <p:cxnSp>
        <p:nvCxnSpPr>
          <p:cNvPr id="97" name="Google Shape;97;g3f62c33a15b_2_0"/>
          <p:cNvCxnSpPr/>
          <p:nvPr/>
        </p:nvCxnSpPr>
        <p:spPr>
          <a:xfrm>
            <a:off x="534924" y="1495044"/>
            <a:ext cx="2320200" cy="0"/>
          </a:xfrm>
          <a:prstGeom prst="straightConnector1">
            <a:avLst/>
          </a:prstGeom>
          <a:noFill/>
          <a:ln cap="flat" cmpd="sng" w="9525">
            <a:solidFill>
              <a:srgbClr val="E0E0E0"/>
            </a:solidFill>
            <a:prstDash val="solid"/>
            <a:round/>
            <a:headEnd len="sm" w="sm" type="none"/>
            <a:tailEnd len="sm" w="sm" type="none"/>
          </a:ln>
        </p:spPr>
      </p:cxnSp>
      <p:sp>
        <p:nvSpPr>
          <p:cNvPr id="98" name="Google Shape;98;g3f62c33a15b_2_0"/>
          <p:cNvSpPr/>
          <p:nvPr/>
        </p:nvSpPr>
        <p:spPr>
          <a:xfrm>
            <a:off x="534924" y="1577340"/>
            <a:ext cx="2320200" cy="582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A3F44"/>
              </a:buClr>
              <a:buSzPts val="900"/>
              <a:buFont typeface="Calibri"/>
              <a:buNone/>
            </a:pPr>
            <a:r>
              <a:rPr b="0" i="0" lang="en" sz="900" u="none" cap="none" strike="noStrike">
                <a:solidFill>
                  <a:srgbClr val="3A3F44"/>
                </a:solidFill>
                <a:latin typeface="Calibri"/>
                <a:ea typeface="Calibri"/>
                <a:cs typeface="Calibri"/>
                <a:sym typeface="Calibri"/>
              </a:rPr>
              <a:t>Chain rule flows error backward through the network to update every weight.</a:t>
            </a:r>
            <a:endParaRPr b="0" i="0" sz="900" u="none" cap="none" strike="noStrike">
              <a:solidFill>
                <a:schemeClr val="dk1"/>
              </a:solidFill>
              <a:latin typeface="Calibri"/>
              <a:ea typeface="Calibri"/>
              <a:cs typeface="Calibri"/>
              <a:sym typeface="Calibri"/>
            </a:endParaRPr>
          </a:p>
        </p:txBody>
      </p:sp>
      <p:sp>
        <p:nvSpPr>
          <p:cNvPr id="99" name="Google Shape;99;g3f62c33a15b_2_0"/>
          <p:cNvSpPr/>
          <p:nvPr/>
        </p:nvSpPr>
        <p:spPr>
          <a:xfrm>
            <a:off x="534924" y="2239137"/>
            <a:ext cx="733800" cy="219300"/>
          </a:xfrm>
          <a:prstGeom prst="roundRect">
            <a:avLst>
              <a:gd fmla="val 50000" name="adj"/>
            </a:avLst>
          </a:prstGeom>
          <a:solidFill>
            <a:srgbClr val="F7E4DE"/>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g3f62c33a15b_2_0"/>
          <p:cNvSpPr/>
          <p:nvPr/>
        </p:nvSpPr>
        <p:spPr>
          <a:xfrm>
            <a:off x="534924" y="2239137"/>
            <a:ext cx="733800" cy="219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D2694A"/>
              </a:buClr>
              <a:buSzPts val="800"/>
              <a:buFont typeface="Calibri"/>
              <a:buNone/>
            </a:pPr>
            <a:r>
              <a:rPr b="1" i="0" lang="en" sz="800" u="none" cap="none" strike="noStrike">
                <a:solidFill>
                  <a:srgbClr val="D2694A"/>
                </a:solidFill>
                <a:latin typeface="Calibri"/>
                <a:ea typeface="Calibri"/>
                <a:cs typeface="Calibri"/>
                <a:sym typeface="Calibri"/>
              </a:rPr>
              <a:t>chain rule</a:t>
            </a:r>
            <a:endParaRPr b="0" i="0" sz="800" u="none" cap="none" strike="noStrike">
              <a:solidFill>
                <a:schemeClr val="dk1"/>
              </a:solidFill>
              <a:latin typeface="Calibri"/>
              <a:ea typeface="Calibri"/>
              <a:cs typeface="Calibri"/>
              <a:sym typeface="Calibri"/>
            </a:endParaRPr>
          </a:p>
        </p:txBody>
      </p:sp>
      <p:sp>
        <p:nvSpPr>
          <p:cNvPr id="101" name="Google Shape;101;g3f62c33a15b_2_0"/>
          <p:cNvSpPr/>
          <p:nvPr/>
        </p:nvSpPr>
        <p:spPr>
          <a:xfrm>
            <a:off x="1364742" y="2239137"/>
            <a:ext cx="1083600" cy="219300"/>
          </a:xfrm>
          <a:prstGeom prst="roundRect">
            <a:avLst>
              <a:gd fmla="val 50000" name="adj"/>
            </a:avLst>
          </a:prstGeom>
          <a:solidFill>
            <a:srgbClr val="F7E4DE"/>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g3f62c33a15b_2_0"/>
          <p:cNvSpPr/>
          <p:nvPr/>
        </p:nvSpPr>
        <p:spPr>
          <a:xfrm>
            <a:off x="1364742" y="2239137"/>
            <a:ext cx="1083600" cy="219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D2694A"/>
              </a:buClr>
              <a:buSzPts val="800"/>
              <a:buFont typeface="Calibri"/>
              <a:buNone/>
            </a:pPr>
            <a:r>
              <a:rPr b="1" i="0" lang="en" sz="800" u="none" cap="none" strike="noStrike">
                <a:solidFill>
                  <a:srgbClr val="D2694A"/>
                </a:solidFill>
                <a:latin typeface="Calibri"/>
                <a:ea typeface="Calibri"/>
                <a:cs typeface="Calibri"/>
                <a:sym typeface="Calibri"/>
              </a:rPr>
              <a:t>gradient descent</a:t>
            </a:r>
            <a:endParaRPr b="0" i="0" sz="800" u="none" cap="none" strike="noStrike">
              <a:solidFill>
                <a:schemeClr val="dk1"/>
              </a:solidFill>
              <a:latin typeface="Calibri"/>
              <a:ea typeface="Calibri"/>
              <a:cs typeface="Calibri"/>
              <a:sym typeface="Calibri"/>
            </a:endParaRPr>
          </a:p>
        </p:txBody>
      </p:sp>
      <p:sp>
        <p:nvSpPr>
          <p:cNvPr id="103" name="Google Shape;103;g3f62c33a15b_2_0"/>
          <p:cNvSpPr/>
          <p:nvPr/>
        </p:nvSpPr>
        <p:spPr>
          <a:xfrm>
            <a:off x="534924" y="2540889"/>
            <a:ext cx="2320200" cy="246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2694A"/>
              </a:buClr>
              <a:buSzPts val="900"/>
              <a:buFont typeface="Cambria"/>
              <a:buNone/>
            </a:pPr>
            <a:r>
              <a:rPr b="1" i="1" lang="en" sz="900" u="none" cap="none" strike="noStrike">
                <a:solidFill>
                  <a:srgbClr val="D2694A"/>
                </a:solidFill>
                <a:latin typeface="Cambria"/>
                <a:ea typeface="Cambria"/>
                <a:cs typeface="Cambria"/>
                <a:sym typeface="Cambria"/>
              </a:rPr>
              <a:t>∂L/∂w = ∂L/∂ŷ · ∂ŷ/∂w</a:t>
            </a:r>
            <a:endParaRPr b="0" i="0" sz="900" u="none" cap="none" strike="noStrike">
              <a:solidFill>
                <a:schemeClr val="dk1"/>
              </a:solidFill>
              <a:latin typeface="Calibri"/>
              <a:ea typeface="Calibri"/>
              <a:cs typeface="Calibri"/>
              <a:sym typeface="Calibri"/>
            </a:endParaRPr>
          </a:p>
        </p:txBody>
      </p:sp>
      <p:sp>
        <p:nvSpPr>
          <p:cNvPr id="104" name="Google Shape;104;g3f62c33a15b_2_0"/>
          <p:cNvSpPr/>
          <p:nvPr/>
        </p:nvSpPr>
        <p:spPr>
          <a:xfrm>
            <a:off x="3218688" y="1028700"/>
            <a:ext cx="2704200" cy="1841400"/>
          </a:xfrm>
          <a:prstGeom prst="roundRect">
            <a:avLst>
              <a:gd fmla="val 2607" name="adj"/>
            </a:avLst>
          </a:prstGeom>
          <a:solidFill>
            <a:srgbClr val="FFFFFF"/>
          </a:solidFill>
          <a:ln cap="flat" cmpd="sng" w="9525">
            <a:solidFill>
              <a:srgbClr val="E3E6E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g3f62c33a15b_2_0"/>
          <p:cNvSpPr/>
          <p:nvPr/>
        </p:nvSpPr>
        <p:spPr>
          <a:xfrm>
            <a:off x="3218688" y="1028700"/>
            <a:ext cx="2704200" cy="61800"/>
          </a:xfrm>
          <a:prstGeom prst="roundRect">
            <a:avLst>
              <a:gd fmla="val 77778" name="adj"/>
            </a:avLst>
          </a:prstGeom>
          <a:solidFill>
            <a:srgbClr val="27AE60"/>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g3f62c33a15b_2_0"/>
          <p:cNvSpPr/>
          <p:nvPr/>
        </p:nvSpPr>
        <p:spPr>
          <a:xfrm>
            <a:off x="3218688" y="1059561"/>
            <a:ext cx="2704200" cy="34200"/>
          </a:xfrm>
          <a:prstGeom prst="rect">
            <a:avLst/>
          </a:prstGeom>
          <a:solidFill>
            <a:srgbClr val="27AE60"/>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g3f62c33a15b_2_0"/>
          <p:cNvSpPr/>
          <p:nvPr/>
        </p:nvSpPr>
        <p:spPr>
          <a:xfrm>
            <a:off x="3410712" y="1179576"/>
            <a:ext cx="2320200" cy="288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7AE60"/>
              </a:buClr>
              <a:buSzPts val="800"/>
              <a:buFont typeface="Calibri"/>
              <a:buNone/>
            </a:pPr>
            <a:r>
              <a:rPr b="1" i="0" lang="en" sz="800" u="none" cap="none" strike="noStrike">
                <a:solidFill>
                  <a:srgbClr val="27AE60"/>
                </a:solidFill>
                <a:latin typeface="Calibri"/>
                <a:ea typeface="Calibri"/>
                <a:cs typeface="Calibri"/>
                <a:sym typeface="Calibri"/>
              </a:rPr>
              <a:t>02  </a:t>
            </a:r>
            <a:r>
              <a:rPr b="1" i="0" lang="en" sz="1200" u="none" cap="none" strike="noStrike">
                <a:solidFill>
                  <a:srgbClr val="2B2F33"/>
                </a:solidFill>
                <a:latin typeface="Calibri"/>
                <a:ea typeface="Calibri"/>
                <a:cs typeface="Calibri"/>
                <a:sym typeface="Calibri"/>
              </a:rPr>
              <a:t>Loss Function</a:t>
            </a:r>
            <a:endParaRPr b="0" i="0" sz="800" u="none" cap="none" strike="noStrike">
              <a:solidFill>
                <a:schemeClr val="dk1"/>
              </a:solidFill>
              <a:latin typeface="Calibri"/>
              <a:ea typeface="Calibri"/>
              <a:cs typeface="Calibri"/>
              <a:sym typeface="Calibri"/>
            </a:endParaRPr>
          </a:p>
        </p:txBody>
      </p:sp>
      <p:cxnSp>
        <p:nvCxnSpPr>
          <p:cNvPr id="108" name="Google Shape;108;g3f62c33a15b_2_0"/>
          <p:cNvCxnSpPr/>
          <p:nvPr/>
        </p:nvCxnSpPr>
        <p:spPr>
          <a:xfrm>
            <a:off x="3410712" y="1495044"/>
            <a:ext cx="2320200" cy="0"/>
          </a:xfrm>
          <a:prstGeom prst="straightConnector1">
            <a:avLst/>
          </a:prstGeom>
          <a:noFill/>
          <a:ln cap="flat" cmpd="sng" w="9525">
            <a:solidFill>
              <a:srgbClr val="E0E0E0"/>
            </a:solidFill>
            <a:prstDash val="solid"/>
            <a:round/>
            <a:headEnd len="sm" w="sm" type="none"/>
            <a:tailEnd len="sm" w="sm" type="none"/>
          </a:ln>
        </p:spPr>
      </p:cxnSp>
      <p:sp>
        <p:nvSpPr>
          <p:cNvPr id="109" name="Google Shape;109;g3f62c33a15b_2_0"/>
          <p:cNvSpPr/>
          <p:nvPr/>
        </p:nvSpPr>
        <p:spPr>
          <a:xfrm>
            <a:off x="3410712" y="1577340"/>
            <a:ext cx="2320200" cy="582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A3F44"/>
              </a:buClr>
              <a:buSzPts val="900"/>
              <a:buFont typeface="Calibri"/>
              <a:buNone/>
            </a:pPr>
            <a:r>
              <a:rPr b="0" i="0" lang="en" sz="900" u="none" cap="none" strike="noStrike">
                <a:solidFill>
                  <a:srgbClr val="3A3F44"/>
                </a:solidFill>
                <a:latin typeface="Calibri"/>
                <a:ea typeface="Calibri"/>
                <a:cs typeface="Calibri"/>
                <a:sym typeface="Calibri"/>
              </a:rPr>
              <a:t>Measures how wrong the model's predictions are — training minimises this.</a:t>
            </a:r>
            <a:endParaRPr b="0" i="0" sz="900" u="none" cap="none" strike="noStrike">
              <a:solidFill>
                <a:schemeClr val="dk1"/>
              </a:solidFill>
              <a:latin typeface="Calibri"/>
              <a:ea typeface="Calibri"/>
              <a:cs typeface="Calibri"/>
              <a:sym typeface="Calibri"/>
            </a:endParaRPr>
          </a:p>
        </p:txBody>
      </p:sp>
      <p:sp>
        <p:nvSpPr>
          <p:cNvPr id="110" name="Google Shape;110;g3f62c33a15b_2_0"/>
          <p:cNvSpPr/>
          <p:nvPr/>
        </p:nvSpPr>
        <p:spPr>
          <a:xfrm>
            <a:off x="3410712" y="2239137"/>
            <a:ext cx="325800" cy="219300"/>
          </a:xfrm>
          <a:prstGeom prst="roundRect">
            <a:avLst>
              <a:gd fmla="val 50000" name="adj"/>
            </a:avLst>
          </a:prstGeom>
          <a:solidFill>
            <a:srgbClr val="D8F0E2"/>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g3f62c33a15b_2_0"/>
          <p:cNvSpPr/>
          <p:nvPr/>
        </p:nvSpPr>
        <p:spPr>
          <a:xfrm>
            <a:off x="3410712" y="2239137"/>
            <a:ext cx="325800" cy="219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7AE60"/>
              </a:buClr>
              <a:buSzPts val="800"/>
              <a:buFont typeface="Calibri"/>
              <a:buNone/>
            </a:pPr>
            <a:r>
              <a:rPr b="1" i="0" lang="en" sz="800" u="none" cap="none" strike="noStrike">
                <a:solidFill>
                  <a:srgbClr val="27AE60"/>
                </a:solidFill>
                <a:latin typeface="Calibri"/>
                <a:ea typeface="Calibri"/>
                <a:cs typeface="Calibri"/>
                <a:sym typeface="Calibri"/>
              </a:rPr>
              <a:t>MSE</a:t>
            </a:r>
            <a:endParaRPr b="0" i="0" sz="800" u="none" cap="none" strike="noStrike">
              <a:solidFill>
                <a:schemeClr val="dk1"/>
              </a:solidFill>
              <a:latin typeface="Calibri"/>
              <a:ea typeface="Calibri"/>
              <a:cs typeface="Calibri"/>
              <a:sym typeface="Calibri"/>
            </a:endParaRPr>
          </a:p>
        </p:txBody>
      </p:sp>
      <p:sp>
        <p:nvSpPr>
          <p:cNvPr id="112" name="Google Shape;112;g3f62c33a15b_2_0"/>
          <p:cNvSpPr/>
          <p:nvPr/>
        </p:nvSpPr>
        <p:spPr>
          <a:xfrm>
            <a:off x="3832479" y="2239137"/>
            <a:ext cx="908700" cy="219300"/>
          </a:xfrm>
          <a:prstGeom prst="roundRect">
            <a:avLst>
              <a:gd fmla="val 50000" name="adj"/>
            </a:avLst>
          </a:prstGeom>
          <a:solidFill>
            <a:srgbClr val="D8F0E2"/>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g3f62c33a15b_2_0"/>
          <p:cNvSpPr/>
          <p:nvPr/>
        </p:nvSpPr>
        <p:spPr>
          <a:xfrm>
            <a:off x="3832479" y="2239137"/>
            <a:ext cx="908700" cy="219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7AE60"/>
              </a:buClr>
              <a:buSzPts val="800"/>
              <a:buFont typeface="Calibri"/>
              <a:buNone/>
            </a:pPr>
            <a:r>
              <a:rPr b="1" i="0" lang="en" sz="800" u="none" cap="none" strike="noStrike">
                <a:solidFill>
                  <a:srgbClr val="27AE60"/>
                </a:solidFill>
                <a:latin typeface="Calibri"/>
                <a:ea typeface="Calibri"/>
                <a:cs typeface="Calibri"/>
                <a:sym typeface="Calibri"/>
              </a:rPr>
              <a:t>Cross-entropy</a:t>
            </a:r>
            <a:endParaRPr b="0" i="0" sz="800" u="none" cap="none" strike="noStrike">
              <a:solidFill>
                <a:schemeClr val="dk1"/>
              </a:solidFill>
              <a:latin typeface="Calibri"/>
              <a:ea typeface="Calibri"/>
              <a:cs typeface="Calibri"/>
              <a:sym typeface="Calibri"/>
            </a:endParaRPr>
          </a:p>
        </p:txBody>
      </p:sp>
      <p:sp>
        <p:nvSpPr>
          <p:cNvPr id="114" name="Google Shape;114;g3f62c33a15b_2_0"/>
          <p:cNvSpPr/>
          <p:nvPr/>
        </p:nvSpPr>
        <p:spPr>
          <a:xfrm>
            <a:off x="3410712" y="2540889"/>
            <a:ext cx="2320200" cy="246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7AE60"/>
              </a:buClr>
              <a:buSzPts val="900"/>
              <a:buFont typeface="Cambria"/>
              <a:buNone/>
            </a:pPr>
            <a:r>
              <a:rPr b="1" i="1" lang="en" sz="900" u="none" cap="none" strike="noStrike">
                <a:solidFill>
                  <a:srgbClr val="27AE60"/>
                </a:solidFill>
                <a:latin typeface="Cambria"/>
                <a:ea typeface="Cambria"/>
                <a:cs typeface="Cambria"/>
                <a:sym typeface="Cambria"/>
              </a:rPr>
              <a:t>L = −Σ yᵢ log(ŷᵢ)</a:t>
            </a:r>
            <a:endParaRPr b="0" i="0" sz="900" u="none" cap="none" strike="noStrike">
              <a:solidFill>
                <a:schemeClr val="dk1"/>
              </a:solidFill>
              <a:latin typeface="Calibri"/>
              <a:ea typeface="Calibri"/>
              <a:cs typeface="Calibri"/>
              <a:sym typeface="Calibri"/>
            </a:endParaRPr>
          </a:p>
        </p:txBody>
      </p:sp>
      <p:sp>
        <p:nvSpPr>
          <p:cNvPr id="115" name="Google Shape;115;g3f62c33a15b_2_0"/>
          <p:cNvSpPr/>
          <p:nvPr/>
        </p:nvSpPr>
        <p:spPr>
          <a:xfrm>
            <a:off x="6094476" y="1028700"/>
            <a:ext cx="2704200" cy="1841400"/>
          </a:xfrm>
          <a:prstGeom prst="roundRect">
            <a:avLst>
              <a:gd fmla="val 2607" name="adj"/>
            </a:avLst>
          </a:prstGeom>
          <a:solidFill>
            <a:srgbClr val="FFFFFF"/>
          </a:solidFill>
          <a:ln cap="flat" cmpd="sng" w="9525">
            <a:solidFill>
              <a:srgbClr val="E3E6E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g3f62c33a15b_2_0"/>
          <p:cNvSpPr/>
          <p:nvPr/>
        </p:nvSpPr>
        <p:spPr>
          <a:xfrm>
            <a:off x="6094476" y="1028700"/>
            <a:ext cx="2704200" cy="61800"/>
          </a:xfrm>
          <a:prstGeom prst="roundRect">
            <a:avLst>
              <a:gd fmla="val 77778" name="adj"/>
            </a:avLst>
          </a:prstGeom>
          <a:solidFill>
            <a:srgbClr val="7D5BA6"/>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g3f62c33a15b_2_0"/>
          <p:cNvSpPr/>
          <p:nvPr/>
        </p:nvSpPr>
        <p:spPr>
          <a:xfrm>
            <a:off x="6094476" y="1059561"/>
            <a:ext cx="2704200" cy="34200"/>
          </a:xfrm>
          <a:prstGeom prst="rect">
            <a:avLst/>
          </a:prstGeom>
          <a:solidFill>
            <a:srgbClr val="7D5BA6"/>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g3f62c33a15b_2_0"/>
          <p:cNvSpPr/>
          <p:nvPr/>
        </p:nvSpPr>
        <p:spPr>
          <a:xfrm>
            <a:off x="6286500" y="1179576"/>
            <a:ext cx="2320200" cy="288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D5BA6"/>
              </a:buClr>
              <a:buSzPts val="800"/>
              <a:buFont typeface="Calibri"/>
              <a:buNone/>
            </a:pPr>
            <a:r>
              <a:rPr b="1" i="0" lang="en" sz="800" u="none" cap="none" strike="noStrike">
                <a:solidFill>
                  <a:srgbClr val="7D5BA6"/>
                </a:solidFill>
                <a:latin typeface="Calibri"/>
                <a:ea typeface="Calibri"/>
                <a:cs typeface="Calibri"/>
                <a:sym typeface="Calibri"/>
              </a:rPr>
              <a:t>03  </a:t>
            </a:r>
            <a:r>
              <a:rPr b="1" i="0" lang="en" sz="1200" u="none" cap="none" strike="noStrike">
                <a:solidFill>
                  <a:srgbClr val="2B2F33"/>
                </a:solidFill>
                <a:latin typeface="Calibri"/>
                <a:ea typeface="Calibri"/>
                <a:cs typeface="Calibri"/>
                <a:sym typeface="Calibri"/>
              </a:rPr>
              <a:t>Parameter vs Hyperparameter</a:t>
            </a:r>
            <a:endParaRPr b="0" i="0" sz="800" u="none" cap="none" strike="noStrike">
              <a:solidFill>
                <a:schemeClr val="dk1"/>
              </a:solidFill>
              <a:latin typeface="Calibri"/>
              <a:ea typeface="Calibri"/>
              <a:cs typeface="Calibri"/>
              <a:sym typeface="Calibri"/>
            </a:endParaRPr>
          </a:p>
        </p:txBody>
      </p:sp>
      <p:cxnSp>
        <p:nvCxnSpPr>
          <p:cNvPr id="119" name="Google Shape;119;g3f62c33a15b_2_0"/>
          <p:cNvCxnSpPr/>
          <p:nvPr/>
        </p:nvCxnSpPr>
        <p:spPr>
          <a:xfrm>
            <a:off x="6286500" y="1495044"/>
            <a:ext cx="2320200" cy="0"/>
          </a:xfrm>
          <a:prstGeom prst="straightConnector1">
            <a:avLst/>
          </a:prstGeom>
          <a:noFill/>
          <a:ln cap="flat" cmpd="sng" w="9525">
            <a:solidFill>
              <a:srgbClr val="E0E0E0"/>
            </a:solidFill>
            <a:prstDash val="solid"/>
            <a:round/>
            <a:headEnd len="sm" w="sm" type="none"/>
            <a:tailEnd len="sm" w="sm" type="none"/>
          </a:ln>
        </p:spPr>
      </p:cxnSp>
      <p:sp>
        <p:nvSpPr>
          <p:cNvPr id="120" name="Google Shape;120;g3f62c33a15b_2_0"/>
          <p:cNvSpPr/>
          <p:nvPr/>
        </p:nvSpPr>
        <p:spPr>
          <a:xfrm>
            <a:off x="6286500" y="1577340"/>
            <a:ext cx="2320200" cy="582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A3F44"/>
              </a:buClr>
              <a:buSzPts val="900"/>
              <a:buFont typeface="Calibri"/>
              <a:buNone/>
            </a:pPr>
            <a:r>
              <a:rPr b="0" i="0" lang="en" sz="900" u="none" cap="none" strike="noStrike">
                <a:solidFill>
                  <a:srgbClr val="3A3F44"/>
                </a:solidFill>
                <a:latin typeface="Calibri"/>
                <a:ea typeface="Calibri"/>
                <a:cs typeface="Calibri"/>
                <a:sym typeface="Calibri"/>
              </a:rPr>
              <a:t>Parameters are learned from data; hyperparameters are set before training begins.</a:t>
            </a:r>
            <a:endParaRPr b="0" i="0" sz="900" u="none" cap="none" strike="noStrike">
              <a:solidFill>
                <a:schemeClr val="dk1"/>
              </a:solidFill>
              <a:latin typeface="Calibri"/>
              <a:ea typeface="Calibri"/>
              <a:cs typeface="Calibri"/>
              <a:sym typeface="Calibri"/>
            </a:endParaRPr>
          </a:p>
        </p:txBody>
      </p:sp>
      <p:sp>
        <p:nvSpPr>
          <p:cNvPr id="121" name="Google Shape;121;g3f62c33a15b_2_0"/>
          <p:cNvSpPr/>
          <p:nvPr/>
        </p:nvSpPr>
        <p:spPr>
          <a:xfrm>
            <a:off x="6286500" y="2239137"/>
            <a:ext cx="908700" cy="219300"/>
          </a:xfrm>
          <a:prstGeom prst="roundRect">
            <a:avLst>
              <a:gd fmla="val 50000" name="adj"/>
            </a:avLst>
          </a:prstGeom>
          <a:solidFill>
            <a:srgbClr val="E8E1E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g3f62c33a15b_2_0"/>
          <p:cNvSpPr/>
          <p:nvPr/>
        </p:nvSpPr>
        <p:spPr>
          <a:xfrm>
            <a:off x="6286500" y="2239137"/>
            <a:ext cx="908700" cy="219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D5BA6"/>
              </a:buClr>
              <a:buSzPts val="800"/>
              <a:buFont typeface="Calibri"/>
              <a:buNone/>
            </a:pPr>
            <a:r>
              <a:rPr b="1" i="0" lang="en" sz="800" u="none" cap="none" strike="noStrike">
                <a:solidFill>
                  <a:srgbClr val="7D5BA6"/>
                </a:solidFill>
                <a:latin typeface="Calibri"/>
                <a:ea typeface="Calibri"/>
                <a:cs typeface="Calibri"/>
                <a:sym typeface="Calibri"/>
              </a:rPr>
              <a:t>weights, bias</a:t>
            </a:r>
            <a:endParaRPr b="0" i="0" sz="800" u="none" cap="none" strike="noStrike">
              <a:solidFill>
                <a:schemeClr val="dk1"/>
              </a:solidFill>
              <a:latin typeface="Calibri"/>
              <a:ea typeface="Calibri"/>
              <a:cs typeface="Calibri"/>
              <a:sym typeface="Calibri"/>
            </a:endParaRPr>
          </a:p>
        </p:txBody>
      </p:sp>
      <p:sp>
        <p:nvSpPr>
          <p:cNvPr id="123" name="Google Shape;123;g3f62c33a15b_2_0"/>
          <p:cNvSpPr/>
          <p:nvPr/>
        </p:nvSpPr>
        <p:spPr>
          <a:xfrm>
            <a:off x="7291197" y="2239137"/>
            <a:ext cx="733800" cy="219300"/>
          </a:xfrm>
          <a:prstGeom prst="roundRect">
            <a:avLst>
              <a:gd fmla="val 50000" name="adj"/>
            </a:avLst>
          </a:prstGeom>
          <a:solidFill>
            <a:srgbClr val="E8E1E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g3f62c33a15b_2_0"/>
          <p:cNvSpPr/>
          <p:nvPr/>
        </p:nvSpPr>
        <p:spPr>
          <a:xfrm>
            <a:off x="7291197" y="2239137"/>
            <a:ext cx="733800" cy="219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D5BA6"/>
              </a:buClr>
              <a:buSzPts val="800"/>
              <a:buFont typeface="Calibri"/>
              <a:buNone/>
            </a:pPr>
            <a:r>
              <a:rPr b="1" i="0" lang="en" sz="800" u="none" cap="none" strike="noStrike">
                <a:solidFill>
                  <a:srgbClr val="7D5BA6"/>
                </a:solidFill>
                <a:latin typeface="Calibri"/>
                <a:ea typeface="Calibri"/>
                <a:cs typeface="Calibri"/>
                <a:sym typeface="Calibri"/>
              </a:rPr>
              <a:t>lr, epochs</a:t>
            </a:r>
            <a:endParaRPr b="0" i="0" sz="800" u="none" cap="none" strike="noStrike">
              <a:solidFill>
                <a:schemeClr val="dk1"/>
              </a:solidFill>
              <a:latin typeface="Calibri"/>
              <a:ea typeface="Calibri"/>
              <a:cs typeface="Calibri"/>
              <a:sym typeface="Calibri"/>
            </a:endParaRPr>
          </a:p>
        </p:txBody>
      </p:sp>
      <p:sp>
        <p:nvSpPr>
          <p:cNvPr id="125" name="Google Shape;125;g3f62c33a15b_2_0"/>
          <p:cNvSpPr/>
          <p:nvPr/>
        </p:nvSpPr>
        <p:spPr>
          <a:xfrm>
            <a:off x="6286500" y="2540889"/>
            <a:ext cx="2320200" cy="246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D5BA6"/>
              </a:buClr>
              <a:buSzPts val="900"/>
              <a:buFont typeface="Cambria"/>
              <a:buNone/>
            </a:pPr>
            <a:r>
              <a:rPr b="1" i="1" lang="en" sz="900" u="none" cap="none" strike="noStrike">
                <a:solidFill>
                  <a:srgbClr val="7D5BA6"/>
                </a:solidFill>
                <a:latin typeface="Cambria"/>
                <a:ea typeface="Cambria"/>
                <a:cs typeface="Cambria"/>
                <a:sym typeface="Cambria"/>
              </a:rPr>
              <a:t>params: w, b   vs   lr, batch size</a:t>
            </a:r>
            <a:endParaRPr b="0" i="0" sz="900" u="none" cap="none" strike="noStrike">
              <a:solidFill>
                <a:schemeClr val="dk1"/>
              </a:solidFill>
              <a:latin typeface="Calibri"/>
              <a:ea typeface="Calibri"/>
              <a:cs typeface="Calibri"/>
              <a:sym typeface="Calibri"/>
            </a:endParaRPr>
          </a:p>
        </p:txBody>
      </p:sp>
      <p:sp>
        <p:nvSpPr>
          <p:cNvPr id="126" name="Google Shape;126;g3f62c33a15b_2_0"/>
          <p:cNvSpPr/>
          <p:nvPr/>
        </p:nvSpPr>
        <p:spPr>
          <a:xfrm>
            <a:off x="342900" y="3062097"/>
            <a:ext cx="2704200" cy="1841400"/>
          </a:xfrm>
          <a:prstGeom prst="roundRect">
            <a:avLst>
              <a:gd fmla="val 2607" name="adj"/>
            </a:avLst>
          </a:prstGeom>
          <a:solidFill>
            <a:srgbClr val="FFFFFF"/>
          </a:solidFill>
          <a:ln cap="flat" cmpd="sng" w="9525">
            <a:solidFill>
              <a:srgbClr val="E3E6E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g3f62c33a15b_2_0"/>
          <p:cNvSpPr/>
          <p:nvPr/>
        </p:nvSpPr>
        <p:spPr>
          <a:xfrm>
            <a:off x="342900" y="3062097"/>
            <a:ext cx="2704200" cy="61800"/>
          </a:xfrm>
          <a:prstGeom prst="roundRect">
            <a:avLst>
              <a:gd fmla="val 77778" name="adj"/>
            </a:avLst>
          </a:prstGeom>
          <a:solidFill>
            <a:srgbClr val="2E86C1"/>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g3f62c33a15b_2_0"/>
          <p:cNvSpPr/>
          <p:nvPr/>
        </p:nvSpPr>
        <p:spPr>
          <a:xfrm>
            <a:off x="342900" y="3092958"/>
            <a:ext cx="2704200" cy="34200"/>
          </a:xfrm>
          <a:prstGeom prst="rect">
            <a:avLst/>
          </a:prstGeom>
          <a:solidFill>
            <a:srgbClr val="2E86C1"/>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g3f62c33a15b_2_0"/>
          <p:cNvSpPr/>
          <p:nvPr/>
        </p:nvSpPr>
        <p:spPr>
          <a:xfrm>
            <a:off x="534924" y="3212973"/>
            <a:ext cx="2320200" cy="288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86C1"/>
              </a:buClr>
              <a:buSzPts val="800"/>
              <a:buFont typeface="Calibri"/>
              <a:buNone/>
            </a:pPr>
            <a:r>
              <a:rPr b="1" i="0" lang="en" sz="800" u="none" cap="none" strike="noStrike">
                <a:solidFill>
                  <a:srgbClr val="2E86C1"/>
                </a:solidFill>
                <a:latin typeface="Calibri"/>
                <a:ea typeface="Calibri"/>
                <a:cs typeface="Calibri"/>
                <a:sym typeface="Calibri"/>
              </a:rPr>
              <a:t>04  </a:t>
            </a:r>
            <a:r>
              <a:rPr b="1" i="0" lang="en" sz="1200" u="none" cap="none" strike="noStrike">
                <a:solidFill>
                  <a:srgbClr val="2B2F33"/>
                </a:solidFill>
                <a:latin typeface="Calibri"/>
                <a:ea typeface="Calibri"/>
                <a:cs typeface="Calibri"/>
                <a:sym typeface="Calibri"/>
              </a:rPr>
              <a:t>Train / Test / Validation</a:t>
            </a:r>
            <a:endParaRPr b="0" i="0" sz="800" u="none" cap="none" strike="noStrike">
              <a:solidFill>
                <a:schemeClr val="dk1"/>
              </a:solidFill>
              <a:latin typeface="Calibri"/>
              <a:ea typeface="Calibri"/>
              <a:cs typeface="Calibri"/>
              <a:sym typeface="Calibri"/>
            </a:endParaRPr>
          </a:p>
        </p:txBody>
      </p:sp>
      <p:cxnSp>
        <p:nvCxnSpPr>
          <p:cNvPr id="130" name="Google Shape;130;g3f62c33a15b_2_0"/>
          <p:cNvCxnSpPr/>
          <p:nvPr/>
        </p:nvCxnSpPr>
        <p:spPr>
          <a:xfrm>
            <a:off x="534924" y="3528441"/>
            <a:ext cx="2320200" cy="0"/>
          </a:xfrm>
          <a:prstGeom prst="straightConnector1">
            <a:avLst/>
          </a:prstGeom>
          <a:noFill/>
          <a:ln cap="flat" cmpd="sng" w="9525">
            <a:solidFill>
              <a:srgbClr val="E0E0E0"/>
            </a:solidFill>
            <a:prstDash val="solid"/>
            <a:round/>
            <a:headEnd len="sm" w="sm" type="none"/>
            <a:tailEnd len="sm" w="sm" type="none"/>
          </a:ln>
        </p:spPr>
      </p:cxnSp>
      <p:sp>
        <p:nvSpPr>
          <p:cNvPr id="131" name="Google Shape;131;g3f62c33a15b_2_0"/>
          <p:cNvSpPr/>
          <p:nvPr/>
        </p:nvSpPr>
        <p:spPr>
          <a:xfrm>
            <a:off x="534924" y="3610737"/>
            <a:ext cx="2320200" cy="582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A3F44"/>
              </a:buClr>
              <a:buSzPts val="900"/>
              <a:buFont typeface="Calibri"/>
              <a:buNone/>
            </a:pPr>
            <a:r>
              <a:rPr b="0" i="0" lang="en" sz="900" u="none" cap="none" strike="noStrike">
                <a:solidFill>
                  <a:srgbClr val="3A3F44"/>
                </a:solidFill>
                <a:latin typeface="Calibri"/>
                <a:ea typeface="Calibri"/>
                <a:cs typeface="Calibri"/>
                <a:sym typeface="Calibri"/>
              </a:rPr>
              <a:t>Data is split to fit the model, tune it, and fairly judge it on unseen examples.</a:t>
            </a:r>
            <a:endParaRPr b="0" i="0" sz="900" u="none" cap="none" strike="noStrike">
              <a:solidFill>
                <a:schemeClr val="dk1"/>
              </a:solidFill>
              <a:latin typeface="Calibri"/>
              <a:ea typeface="Calibri"/>
              <a:cs typeface="Calibri"/>
              <a:sym typeface="Calibri"/>
            </a:endParaRPr>
          </a:p>
        </p:txBody>
      </p:sp>
      <p:sp>
        <p:nvSpPr>
          <p:cNvPr id="132" name="Google Shape;132;g3f62c33a15b_2_0"/>
          <p:cNvSpPr/>
          <p:nvPr/>
        </p:nvSpPr>
        <p:spPr>
          <a:xfrm>
            <a:off x="534924" y="4272534"/>
            <a:ext cx="675600" cy="219300"/>
          </a:xfrm>
          <a:prstGeom prst="roundRect">
            <a:avLst>
              <a:gd fmla="val 50000" name="adj"/>
            </a:avLst>
          </a:prstGeom>
          <a:solidFill>
            <a:srgbClr val="D9E9F4"/>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g3f62c33a15b_2_0"/>
          <p:cNvSpPr/>
          <p:nvPr/>
        </p:nvSpPr>
        <p:spPr>
          <a:xfrm>
            <a:off x="534924" y="4272534"/>
            <a:ext cx="675600" cy="219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E86C1"/>
              </a:buClr>
              <a:buSzPts val="800"/>
              <a:buFont typeface="Calibri"/>
              <a:buNone/>
            </a:pPr>
            <a:r>
              <a:rPr b="1" i="0" lang="en" sz="800" u="none" cap="none" strike="noStrike">
                <a:solidFill>
                  <a:srgbClr val="2E86C1"/>
                </a:solidFill>
                <a:latin typeface="Calibri"/>
                <a:ea typeface="Calibri"/>
                <a:cs typeface="Calibri"/>
                <a:sym typeface="Calibri"/>
              </a:rPr>
              <a:t>train set</a:t>
            </a:r>
            <a:endParaRPr b="0" i="0" sz="800" u="none" cap="none" strike="noStrike">
              <a:solidFill>
                <a:schemeClr val="dk1"/>
              </a:solidFill>
              <a:latin typeface="Calibri"/>
              <a:ea typeface="Calibri"/>
              <a:cs typeface="Calibri"/>
              <a:sym typeface="Calibri"/>
            </a:endParaRPr>
          </a:p>
        </p:txBody>
      </p:sp>
      <p:sp>
        <p:nvSpPr>
          <p:cNvPr id="134" name="Google Shape;134;g3f62c33a15b_2_0"/>
          <p:cNvSpPr/>
          <p:nvPr/>
        </p:nvSpPr>
        <p:spPr>
          <a:xfrm>
            <a:off x="1306449" y="4272534"/>
            <a:ext cx="967200" cy="219300"/>
          </a:xfrm>
          <a:prstGeom prst="roundRect">
            <a:avLst>
              <a:gd fmla="val 50000" name="adj"/>
            </a:avLst>
          </a:prstGeom>
          <a:solidFill>
            <a:srgbClr val="D9E9F4"/>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g3f62c33a15b_2_0"/>
          <p:cNvSpPr/>
          <p:nvPr/>
        </p:nvSpPr>
        <p:spPr>
          <a:xfrm>
            <a:off x="1306449" y="4272534"/>
            <a:ext cx="967200" cy="219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E86C1"/>
              </a:buClr>
              <a:buSzPts val="800"/>
              <a:buFont typeface="Calibri"/>
              <a:buNone/>
            </a:pPr>
            <a:r>
              <a:rPr b="1" i="0" lang="en" sz="800" u="none" cap="none" strike="noStrike">
                <a:solidFill>
                  <a:srgbClr val="2E86C1"/>
                </a:solidFill>
                <a:latin typeface="Calibri"/>
                <a:ea typeface="Calibri"/>
                <a:cs typeface="Calibri"/>
                <a:sym typeface="Calibri"/>
              </a:rPr>
              <a:t>val / test set</a:t>
            </a:r>
            <a:endParaRPr b="0" i="0" sz="800" u="none" cap="none" strike="noStrike">
              <a:solidFill>
                <a:schemeClr val="dk1"/>
              </a:solidFill>
              <a:latin typeface="Calibri"/>
              <a:ea typeface="Calibri"/>
              <a:cs typeface="Calibri"/>
              <a:sym typeface="Calibri"/>
            </a:endParaRPr>
          </a:p>
        </p:txBody>
      </p:sp>
      <p:sp>
        <p:nvSpPr>
          <p:cNvPr id="136" name="Google Shape;136;g3f62c33a15b_2_0"/>
          <p:cNvSpPr/>
          <p:nvPr/>
        </p:nvSpPr>
        <p:spPr>
          <a:xfrm>
            <a:off x="534924" y="4574286"/>
            <a:ext cx="2320200" cy="246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86C1"/>
              </a:buClr>
              <a:buSzPts val="900"/>
              <a:buFont typeface="Cambria"/>
              <a:buNone/>
            </a:pPr>
            <a:r>
              <a:rPr b="1" i="1" lang="en" sz="900" u="none" cap="none" strike="noStrike">
                <a:solidFill>
                  <a:srgbClr val="2E86C1"/>
                </a:solidFill>
                <a:latin typeface="Cambria"/>
                <a:ea typeface="Cambria"/>
                <a:cs typeface="Cambria"/>
                <a:sym typeface="Cambria"/>
              </a:rPr>
              <a:t>typical split ≈ 70 / 15 / 15</a:t>
            </a:r>
            <a:endParaRPr b="0" i="0" sz="900" u="none" cap="none" strike="noStrike">
              <a:solidFill>
                <a:schemeClr val="dk1"/>
              </a:solidFill>
              <a:latin typeface="Calibri"/>
              <a:ea typeface="Calibri"/>
              <a:cs typeface="Calibri"/>
              <a:sym typeface="Calibri"/>
            </a:endParaRPr>
          </a:p>
        </p:txBody>
      </p:sp>
      <p:sp>
        <p:nvSpPr>
          <p:cNvPr id="137" name="Google Shape;137;g3f62c33a15b_2_0"/>
          <p:cNvSpPr/>
          <p:nvPr/>
        </p:nvSpPr>
        <p:spPr>
          <a:xfrm>
            <a:off x="3218688" y="3062097"/>
            <a:ext cx="2704200" cy="1841400"/>
          </a:xfrm>
          <a:prstGeom prst="roundRect">
            <a:avLst>
              <a:gd fmla="val 2607" name="adj"/>
            </a:avLst>
          </a:prstGeom>
          <a:solidFill>
            <a:srgbClr val="FFFFFF"/>
          </a:solidFill>
          <a:ln cap="flat" cmpd="sng" w="9525">
            <a:solidFill>
              <a:srgbClr val="E3E6E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g3f62c33a15b_2_0"/>
          <p:cNvSpPr/>
          <p:nvPr/>
        </p:nvSpPr>
        <p:spPr>
          <a:xfrm>
            <a:off x="3218688" y="3062097"/>
            <a:ext cx="2704200" cy="61800"/>
          </a:xfrm>
          <a:prstGeom prst="roundRect">
            <a:avLst>
              <a:gd fmla="val 77778" name="adj"/>
            </a:avLst>
          </a:prstGeom>
          <a:solidFill>
            <a:srgbClr val="D68910"/>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g3f62c33a15b_2_0"/>
          <p:cNvSpPr/>
          <p:nvPr/>
        </p:nvSpPr>
        <p:spPr>
          <a:xfrm>
            <a:off x="3218688" y="3092958"/>
            <a:ext cx="2704200" cy="34200"/>
          </a:xfrm>
          <a:prstGeom prst="rect">
            <a:avLst/>
          </a:prstGeom>
          <a:solidFill>
            <a:srgbClr val="D68910"/>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g3f62c33a15b_2_0"/>
          <p:cNvSpPr/>
          <p:nvPr/>
        </p:nvSpPr>
        <p:spPr>
          <a:xfrm>
            <a:off x="3410712" y="3212973"/>
            <a:ext cx="2320200" cy="288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68910"/>
              </a:buClr>
              <a:buSzPts val="800"/>
              <a:buFont typeface="Calibri"/>
              <a:buNone/>
            </a:pPr>
            <a:r>
              <a:rPr b="1" i="0" lang="en" sz="800" u="none" cap="none" strike="noStrike">
                <a:solidFill>
                  <a:srgbClr val="D68910"/>
                </a:solidFill>
                <a:latin typeface="Calibri"/>
                <a:ea typeface="Calibri"/>
                <a:cs typeface="Calibri"/>
                <a:sym typeface="Calibri"/>
              </a:rPr>
              <a:t>05  </a:t>
            </a:r>
            <a:r>
              <a:rPr b="1" i="0" lang="en" sz="1200" u="none" cap="none" strike="noStrike">
                <a:solidFill>
                  <a:srgbClr val="2B2F33"/>
                </a:solidFill>
                <a:latin typeface="Calibri"/>
                <a:ea typeface="Calibri"/>
                <a:cs typeface="Calibri"/>
                <a:sym typeface="Calibri"/>
              </a:rPr>
              <a:t>Overfitting / Underfitting</a:t>
            </a:r>
            <a:endParaRPr b="0" i="0" sz="800" u="none" cap="none" strike="noStrike">
              <a:solidFill>
                <a:schemeClr val="dk1"/>
              </a:solidFill>
              <a:latin typeface="Calibri"/>
              <a:ea typeface="Calibri"/>
              <a:cs typeface="Calibri"/>
              <a:sym typeface="Calibri"/>
            </a:endParaRPr>
          </a:p>
        </p:txBody>
      </p:sp>
      <p:cxnSp>
        <p:nvCxnSpPr>
          <p:cNvPr id="141" name="Google Shape;141;g3f62c33a15b_2_0"/>
          <p:cNvCxnSpPr/>
          <p:nvPr/>
        </p:nvCxnSpPr>
        <p:spPr>
          <a:xfrm>
            <a:off x="3410712" y="3528441"/>
            <a:ext cx="2320200" cy="0"/>
          </a:xfrm>
          <a:prstGeom prst="straightConnector1">
            <a:avLst/>
          </a:prstGeom>
          <a:noFill/>
          <a:ln cap="flat" cmpd="sng" w="9525">
            <a:solidFill>
              <a:srgbClr val="E0E0E0"/>
            </a:solidFill>
            <a:prstDash val="solid"/>
            <a:round/>
            <a:headEnd len="sm" w="sm" type="none"/>
            <a:tailEnd len="sm" w="sm" type="none"/>
          </a:ln>
        </p:spPr>
      </p:cxnSp>
      <p:sp>
        <p:nvSpPr>
          <p:cNvPr id="142" name="Google Shape;142;g3f62c33a15b_2_0"/>
          <p:cNvSpPr/>
          <p:nvPr/>
        </p:nvSpPr>
        <p:spPr>
          <a:xfrm>
            <a:off x="3410712" y="3610737"/>
            <a:ext cx="2320200" cy="582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A3F44"/>
              </a:buClr>
              <a:buSzPts val="900"/>
              <a:buFont typeface="Calibri"/>
              <a:buNone/>
            </a:pPr>
            <a:r>
              <a:rPr b="0" i="0" lang="en" sz="900" u="none" cap="none" strike="noStrike">
                <a:solidFill>
                  <a:srgbClr val="3A3F44"/>
                </a:solidFill>
                <a:latin typeface="Calibri"/>
                <a:ea typeface="Calibri"/>
                <a:cs typeface="Calibri"/>
                <a:sym typeface="Calibri"/>
              </a:rPr>
              <a:t>Overfitting memorises training data; underfitting fails to capture the pattern at all.</a:t>
            </a:r>
            <a:endParaRPr b="0" i="0" sz="900" u="none" cap="none" strike="noStrike">
              <a:solidFill>
                <a:schemeClr val="dk1"/>
              </a:solidFill>
              <a:latin typeface="Calibri"/>
              <a:ea typeface="Calibri"/>
              <a:cs typeface="Calibri"/>
              <a:sym typeface="Calibri"/>
            </a:endParaRPr>
          </a:p>
        </p:txBody>
      </p:sp>
      <p:sp>
        <p:nvSpPr>
          <p:cNvPr id="143" name="Google Shape;143;g3f62c33a15b_2_0"/>
          <p:cNvSpPr/>
          <p:nvPr/>
        </p:nvSpPr>
        <p:spPr>
          <a:xfrm>
            <a:off x="3410712" y="4272534"/>
            <a:ext cx="908700" cy="219300"/>
          </a:xfrm>
          <a:prstGeom prst="roundRect">
            <a:avLst>
              <a:gd fmla="val 50000" name="adj"/>
            </a:avLst>
          </a:prstGeom>
          <a:solidFill>
            <a:srgbClr val="F8EAD4"/>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g3f62c33a15b_2_0"/>
          <p:cNvSpPr/>
          <p:nvPr/>
        </p:nvSpPr>
        <p:spPr>
          <a:xfrm>
            <a:off x="3410712" y="4272534"/>
            <a:ext cx="908700" cy="219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D68910"/>
              </a:buClr>
              <a:buSzPts val="800"/>
              <a:buFont typeface="Calibri"/>
              <a:buNone/>
            </a:pPr>
            <a:r>
              <a:rPr b="1" i="0" lang="en" sz="800" u="none" cap="none" strike="noStrike">
                <a:solidFill>
                  <a:srgbClr val="D68910"/>
                </a:solidFill>
                <a:latin typeface="Calibri"/>
                <a:ea typeface="Calibri"/>
                <a:cs typeface="Calibri"/>
                <a:sym typeface="Calibri"/>
              </a:rPr>
              <a:t>high variance</a:t>
            </a:r>
            <a:endParaRPr b="0" i="0" sz="800" u="none" cap="none" strike="noStrike">
              <a:solidFill>
                <a:schemeClr val="dk1"/>
              </a:solidFill>
              <a:latin typeface="Calibri"/>
              <a:ea typeface="Calibri"/>
              <a:cs typeface="Calibri"/>
              <a:sym typeface="Calibri"/>
            </a:endParaRPr>
          </a:p>
        </p:txBody>
      </p:sp>
      <p:sp>
        <p:nvSpPr>
          <p:cNvPr id="145" name="Google Shape;145;g3f62c33a15b_2_0"/>
          <p:cNvSpPr/>
          <p:nvPr/>
        </p:nvSpPr>
        <p:spPr>
          <a:xfrm>
            <a:off x="4415409" y="4272534"/>
            <a:ext cx="675600" cy="219300"/>
          </a:xfrm>
          <a:prstGeom prst="roundRect">
            <a:avLst>
              <a:gd fmla="val 50000" name="adj"/>
            </a:avLst>
          </a:prstGeom>
          <a:solidFill>
            <a:srgbClr val="F8EAD4"/>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g3f62c33a15b_2_0"/>
          <p:cNvSpPr/>
          <p:nvPr/>
        </p:nvSpPr>
        <p:spPr>
          <a:xfrm>
            <a:off x="4415409" y="4272534"/>
            <a:ext cx="675600" cy="219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D68910"/>
              </a:buClr>
              <a:buSzPts val="800"/>
              <a:buFont typeface="Calibri"/>
              <a:buNone/>
            </a:pPr>
            <a:r>
              <a:rPr b="1" i="0" lang="en" sz="800" u="none" cap="none" strike="noStrike">
                <a:solidFill>
                  <a:srgbClr val="D68910"/>
                </a:solidFill>
                <a:latin typeface="Calibri"/>
                <a:ea typeface="Calibri"/>
                <a:cs typeface="Calibri"/>
                <a:sym typeface="Calibri"/>
              </a:rPr>
              <a:t>high bias</a:t>
            </a:r>
            <a:endParaRPr b="0" i="0" sz="800" u="none" cap="none" strike="noStrike">
              <a:solidFill>
                <a:schemeClr val="dk1"/>
              </a:solidFill>
              <a:latin typeface="Calibri"/>
              <a:ea typeface="Calibri"/>
              <a:cs typeface="Calibri"/>
              <a:sym typeface="Calibri"/>
            </a:endParaRPr>
          </a:p>
        </p:txBody>
      </p:sp>
      <p:sp>
        <p:nvSpPr>
          <p:cNvPr id="147" name="Google Shape;147;g3f62c33a15b_2_0"/>
          <p:cNvSpPr/>
          <p:nvPr/>
        </p:nvSpPr>
        <p:spPr>
          <a:xfrm>
            <a:off x="3410712" y="4574286"/>
            <a:ext cx="2320200" cy="246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68910"/>
              </a:buClr>
              <a:buSzPts val="900"/>
              <a:buFont typeface="Cambria"/>
              <a:buNone/>
            </a:pPr>
            <a:r>
              <a:rPr b="1" i="1" lang="en" sz="900" u="none" cap="none" strike="noStrike">
                <a:solidFill>
                  <a:srgbClr val="D68910"/>
                </a:solidFill>
                <a:latin typeface="Cambria"/>
                <a:ea typeface="Cambria"/>
                <a:cs typeface="Cambria"/>
                <a:sym typeface="Cambria"/>
              </a:rPr>
              <a:t>watch the train–validation loss gap</a:t>
            </a:r>
            <a:endParaRPr b="0" i="0" sz="900" u="none" cap="none" strike="noStrike">
              <a:solidFill>
                <a:schemeClr val="dk1"/>
              </a:solidFill>
              <a:latin typeface="Calibri"/>
              <a:ea typeface="Calibri"/>
              <a:cs typeface="Calibri"/>
              <a:sym typeface="Calibri"/>
            </a:endParaRPr>
          </a:p>
        </p:txBody>
      </p:sp>
      <p:sp>
        <p:nvSpPr>
          <p:cNvPr id="148" name="Google Shape;148;g3f62c33a15b_2_0"/>
          <p:cNvSpPr/>
          <p:nvPr/>
        </p:nvSpPr>
        <p:spPr>
          <a:xfrm>
            <a:off x="6094476" y="3062097"/>
            <a:ext cx="2704200" cy="1841400"/>
          </a:xfrm>
          <a:prstGeom prst="roundRect">
            <a:avLst>
              <a:gd fmla="val 2607" name="adj"/>
            </a:avLst>
          </a:prstGeom>
          <a:solidFill>
            <a:srgbClr val="FFFFFF"/>
          </a:solidFill>
          <a:ln cap="flat" cmpd="sng" w="9525">
            <a:solidFill>
              <a:srgbClr val="E3E6E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g3f62c33a15b_2_0"/>
          <p:cNvSpPr/>
          <p:nvPr/>
        </p:nvSpPr>
        <p:spPr>
          <a:xfrm>
            <a:off x="6094476" y="3062097"/>
            <a:ext cx="2704200" cy="61800"/>
          </a:xfrm>
          <a:prstGeom prst="roundRect">
            <a:avLst>
              <a:gd fmla="val 77778" name="adj"/>
            </a:avLst>
          </a:prstGeom>
          <a:solidFill>
            <a:srgbClr val="17A398"/>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g3f62c33a15b_2_0"/>
          <p:cNvSpPr/>
          <p:nvPr/>
        </p:nvSpPr>
        <p:spPr>
          <a:xfrm>
            <a:off x="6094476" y="3092958"/>
            <a:ext cx="2704200" cy="34200"/>
          </a:xfrm>
          <a:prstGeom prst="rect">
            <a:avLst/>
          </a:prstGeom>
          <a:solidFill>
            <a:srgbClr val="17A398"/>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g3f62c33a15b_2_0"/>
          <p:cNvSpPr/>
          <p:nvPr/>
        </p:nvSpPr>
        <p:spPr>
          <a:xfrm>
            <a:off x="6286500" y="3212973"/>
            <a:ext cx="2320200" cy="288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7A398"/>
              </a:buClr>
              <a:buSzPts val="800"/>
              <a:buFont typeface="Calibri"/>
              <a:buNone/>
            </a:pPr>
            <a:r>
              <a:rPr b="1" i="0" lang="en" sz="800" u="none" cap="none" strike="noStrike">
                <a:solidFill>
                  <a:srgbClr val="17A398"/>
                </a:solidFill>
                <a:latin typeface="Calibri"/>
                <a:ea typeface="Calibri"/>
                <a:cs typeface="Calibri"/>
                <a:sym typeface="Calibri"/>
              </a:rPr>
              <a:t>06  </a:t>
            </a:r>
            <a:r>
              <a:rPr b="1" i="0" lang="en" sz="1200" u="none" cap="none" strike="noStrike">
                <a:solidFill>
                  <a:srgbClr val="2B2F33"/>
                </a:solidFill>
                <a:latin typeface="Calibri"/>
                <a:ea typeface="Calibri"/>
                <a:cs typeface="Calibri"/>
                <a:sym typeface="Calibri"/>
              </a:rPr>
              <a:t>Regularization</a:t>
            </a:r>
            <a:endParaRPr b="0" i="0" sz="800" u="none" cap="none" strike="noStrike">
              <a:solidFill>
                <a:schemeClr val="dk1"/>
              </a:solidFill>
              <a:latin typeface="Calibri"/>
              <a:ea typeface="Calibri"/>
              <a:cs typeface="Calibri"/>
              <a:sym typeface="Calibri"/>
            </a:endParaRPr>
          </a:p>
        </p:txBody>
      </p:sp>
      <p:cxnSp>
        <p:nvCxnSpPr>
          <p:cNvPr id="152" name="Google Shape;152;g3f62c33a15b_2_0"/>
          <p:cNvCxnSpPr/>
          <p:nvPr/>
        </p:nvCxnSpPr>
        <p:spPr>
          <a:xfrm>
            <a:off x="6286500" y="3528441"/>
            <a:ext cx="2320200" cy="0"/>
          </a:xfrm>
          <a:prstGeom prst="straightConnector1">
            <a:avLst/>
          </a:prstGeom>
          <a:noFill/>
          <a:ln cap="flat" cmpd="sng" w="9525">
            <a:solidFill>
              <a:srgbClr val="E0E0E0"/>
            </a:solidFill>
            <a:prstDash val="solid"/>
            <a:round/>
            <a:headEnd len="sm" w="sm" type="none"/>
            <a:tailEnd len="sm" w="sm" type="none"/>
          </a:ln>
        </p:spPr>
      </p:cxnSp>
      <p:sp>
        <p:nvSpPr>
          <p:cNvPr id="153" name="Google Shape;153;g3f62c33a15b_2_0"/>
          <p:cNvSpPr/>
          <p:nvPr/>
        </p:nvSpPr>
        <p:spPr>
          <a:xfrm>
            <a:off x="6286500" y="3610737"/>
            <a:ext cx="2320200" cy="582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A3F44"/>
              </a:buClr>
              <a:buSzPts val="900"/>
              <a:buFont typeface="Calibri"/>
              <a:buNone/>
            </a:pPr>
            <a:r>
              <a:rPr b="0" i="0" lang="en" sz="900" u="none" cap="none" strike="noStrike">
                <a:solidFill>
                  <a:srgbClr val="3A3F44"/>
                </a:solidFill>
                <a:latin typeface="Calibri"/>
                <a:ea typeface="Calibri"/>
                <a:cs typeface="Calibri"/>
                <a:sym typeface="Calibri"/>
              </a:rPr>
              <a:t>Techniques that constrain the model to curb overfitting and improve generalisation.</a:t>
            </a:r>
            <a:endParaRPr b="0" i="0" sz="900" u="none" cap="none" strike="noStrike">
              <a:solidFill>
                <a:schemeClr val="dk1"/>
              </a:solidFill>
              <a:latin typeface="Calibri"/>
              <a:ea typeface="Calibri"/>
              <a:cs typeface="Calibri"/>
              <a:sym typeface="Calibri"/>
            </a:endParaRPr>
          </a:p>
        </p:txBody>
      </p:sp>
      <p:sp>
        <p:nvSpPr>
          <p:cNvPr id="154" name="Google Shape;154;g3f62c33a15b_2_0"/>
          <p:cNvSpPr/>
          <p:nvPr/>
        </p:nvSpPr>
        <p:spPr>
          <a:xfrm>
            <a:off x="6286500" y="4272534"/>
            <a:ext cx="558900" cy="219300"/>
          </a:xfrm>
          <a:prstGeom prst="roundRect">
            <a:avLst>
              <a:gd fmla="val 50000" name="adj"/>
            </a:avLst>
          </a:prstGeom>
          <a:solidFill>
            <a:srgbClr val="D5EEE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g3f62c33a15b_2_0"/>
          <p:cNvSpPr/>
          <p:nvPr/>
        </p:nvSpPr>
        <p:spPr>
          <a:xfrm>
            <a:off x="6286500" y="4272534"/>
            <a:ext cx="558900" cy="219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7A398"/>
              </a:buClr>
              <a:buSzPts val="800"/>
              <a:buFont typeface="Calibri"/>
              <a:buNone/>
            </a:pPr>
            <a:r>
              <a:rPr b="1" i="0" lang="en" sz="800" u="none" cap="none" strike="noStrike">
                <a:solidFill>
                  <a:srgbClr val="17A398"/>
                </a:solidFill>
                <a:latin typeface="Calibri"/>
                <a:ea typeface="Calibri"/>
                <a:cs typeface="Calibri"/>
                <a:sym typeface="Calibri"/>
              </a:rPr>
              <a:t>L1 / L2</a:t>
            </a:r>
            <a:endParaRPr b="0" i="0" sz="800" u="none" cap="none" strike="noStrike">
              <a:solidFill>
                <a:schemeClr val="dk1"/>
              </a:solidFill>
              <a:latin typeface="Calibri"/>
              <a:ea typeface="Calibri"/>
              <a:cs typeface="Calibri"/>
              <a:sym typeface="Calibri"/>
            </a:endParaRPr>
          </a:p>
        </p:txBody>
      </p:sp>
      <p:sp>
        <p:nvSpPr>
          <p:cNvPr id="156" name="Google Shape;156;g3f62c33a15b_2_0"/>
          <p:cNvSpPr/>
          <p:nvPr/>
        </p:nvSpPr>
        <p:spPr>
          <a:xfrm>
            <a:off x="6941439" y="4272534"/>
            <a:ext cx="558900" cy="219300"/>
          </a:xfrm>
          <a:prstGeom prst="roundRect">
            <a:avLst>
              <a:gd fmla="val 50000" name="adj"/>
            </a:avLst>
          </a:prstGeom>
          <a:solidFill>
            <a:srgbClr val="D5EEE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g3f62c33a15b_2_0"/>
          <p:cNvSpPr/>
          <p:nvPr/>
        </p:nvSpPr>
        <p:spPr>
          <a:xfrm>
            <a:off x="6941439" y="4272534"/>
            <a:ext cx="558900" cy="219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7A398"/>
              </a:buClr>
              <a:buSzPts val="800"/>
              <a:buFont typeface="Calibri"/>
              <a:buNone/>
            </a:pPr>
            <a:r>
              <a:rPr b="1" i="0" lang="en" sz="800" u="none" cap="none" strike="noStrike">
                <a:solidFill>
                  <a:srgbClr val="17A398"/>
                </a:solidFill>
                <a:latin typeface="Calibri"/>
                <a:ea typeface="Calibri"/>
                <a:cs typeface="Calibri"/>
                <a:sym typeface="Calibri"/>
              </a:rPr>
              <a:t>Dropout</a:t>
            </a:r>
            <a:endParaRPr b="0" i="0" sz="800" u="none" cap="none" strike="noStrike">
              <a:solidFill>
                <a:schemeClr val="dk1"/>
              </a:solidFill>
              <a:latin typeface="Calibri"/>
              <a:ea typeface="Calibri"/>
              <a:cs typeface="Calibri"/>
              <a:sym typeface="Calibri"/>
            </a:endParaRPr>
          </a:p>
        </p:txBody>
      </p:sp>
      <p:sp>
        <p:nvSpPr>
          <p:cNvPr id="158" name="Google Shape;158;g3f62c33a15b_2_0"/>
          <p:cNvSpPr/>
          <p:nvPr/>
        </p:nvSpPr>
        <p:spPr>
          <a:xfrm>
            <a:off x="6286500" y="4574286"/>
            <a:ext cx="2320200" cy="246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7A398"/>
              </a:buClr>
              <a:buSzPts val="900"/>
              <a:buFont typeface="Cambria"/>
              <a:buNone/>
            </a:pPr>
            <a:r>
              <a:rPr b="1" i="1" lang="en" sz="900" u="none" cap="none" strike="noStrike">
                <a:solidFill>
                  <a:srgbClr val="17A398"/>
                </a:solidFill>
                <a:latin typeface="Cambria"/>
                <a:ea typeface="Cambria"/>
                <a:cs typeface="Cambria"/>
                <a:sym typeface="Cambria"/>
              </a:rPr>
              <a:t>L_reg = L + λ Σ w²</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2" name="Shape 162"/>
        <p:cNvGrpSpPr/>
        <p:nvPr/>
      </p:nvGrpSpPr>
      <p:grpSpPr>
        <a:xfrm>
          <a:off x="0" y="0"/>
          <a:ext cx="0" cy="0"/>
          <a:chOff x="0" y="0"/>
          <a:chExt cx="0" cy="0"/>
        </a:xfrm>
      </p:grpSpPr>
      <p:pic>
        <p:nvPicPr>
          <p:cNvPr id="163" name="Google Shape;163;g3f62c33a15b_0_0"/>
          <p:cNvPicPr preferRelativeResize="0"/>
          <p:nvPr/>
        </p:nvPicPr>
        <p:blipFill rotWithShape="1">
          <a:blip r:embed="rId4">
            <a:alphaModFix/>
          </a:blip>
          <a:srcRect b="0" l="0" r="0" t="0"/>
          <a:stretch/>
        </p:blipFill>
        <p:spPr>
          <a:xfrm>
            <a:off x="8369125" y="0"/>
            <a:ext cx="774877" cy="867174"/>
          </a:xfrm>
          <a:prstGeom prst="rect">
            <a:avLst/>
          </a:prstGeom>
          <a:noFill/>
          <a:ln>
            <a:noFill/>
          </a:ln>
        </p:spPr>
      </p:pic>
      <p:sp>
        <p:nvSpPr>
          <p:cNvPr id="164" name="Google Shape;164;g3f62c33a15b_0_0"/>
          <p:cNvSpPr txBox="1"/>
          <p:nvPr/>
        </p:nvSpPr>
        <p:spPr>
          <a:xfrm>
            <a:off x="695100" y="166300"/>
            <a:ext cx="7435800" cy="785700"/>
          </a:xfrm>
          <a:prstGeom prst="rect">
            <a:avLst/>
          </a:prstGeom>
          <a:no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rgbClr val="0D1B2A"/>
              </a:buClr>
              <a:buSzPts val="2600"/>
              <a:buFont typeface="Calibri"/>
              <a:buNone/>
            </a:pPr>
            <a:r>
              <a:rPr b="1" i="0" lang="en" sz="2600" u="none" cap="none" strike="noStrike">
                <a:solidFill>
                  <a:srgbClr val="0D1B2A"/>
                </a:solidFill>
                <a:latin typeface="Calibri"/>
                <a:ea typeface="Calibri"/>
                <a:cs typeface="Calibri"/>
                <a:sym typeface="Calibri"/>
              </a:rPr>
              <a:t>Backpropagation — How Neural Networks Learn</a:t>
            </a:r>
            <a:endParaRPr b="1" i="0" sz="2800" u="none" cap="none" strike="noStrike">
              <a:solidFill>
                <a:srgbClr val="000000"/>
              </a:solidFill>
              <a:latin typeface="Calibri"/>
              <a:ea typeface="Calibri"/>
              <a:cs typeface="Calibri"/>
              <a:sym typeface="Calibri"/>
            </a:endParaRPr>
          </a:p>
        </p:txBody>
      </p:sp>
      <p:pic>
        <p:nvPicPr>
          <p:cNvPr id="165" name="Google Shape;165;g3f62c33a15b_0_0"/>
          <p:cNvPicPr preferRelativeResize="0"/>
          <p:nvPr/>
        </p:nvPicPr>
        <p:blipFill rotWithShape="1">
          <a:blip r:embed="rId5">
            <a:alphaModFix/>
          </a:blip>
          <a:srcRect b="16660" l="0" r="0" t="0"/>
          <a:stretch/>
        </p:blipFill>
        <p:spPr>
          <a:xfrm>
            <a:off x="808142" y="1030375"/>
            <a:ext cx="7054782" cy="1778325"/>
          </a:xfrm>
          <a:prstGeom prst="rect">
            <a:avLst/>
          </a:prstGeom>
          <a:noFill/>
          <a:ln>
            <a:noFill/>
          </a:ln>
        </p:spPr>
      </p:pic>
      <p:sp>
        <p:nvSpPr>
          <p:cNvPr id="166" name="Google Shape;166;g3f62c33a15b_0_0"/>
          <p:cNvSpPr txBox="1"/>
          <p:nvPr/>
        </p:nvSpPr>
        <p:spPr>
          <a:xfrm>
            <a:off x="106925" y="4608250"/>
            <a:ext cx="66426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2"/>
                </a:solidFill>
                <a:latin typeface="Arial"/>
                <a:ea typeface="Arial"/>
                <a:cs typeface="Arial"/>
                <a:sym typeface="Arial"/>
              </a:rPr>
              <a:t>Slides taken from “CS231n: Deep Learning for Computer Vision Stanford”</a:t>
            </a:r>
            <a:endParaRPr b="0" i="0" sz="1100" u="none" cap="none" strike="noStrike">
              <a:solidFill>
                <a:schemeClr val="dk2"/>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0" name="Shape 170"/>
        <p:cNvGrpSpPr/>
        <p:nvPr/>
      </p:nvGrpSpPr>
      <p:grpSpPr>
        <a:xfrm>
          <a:off x="0" y="0"/>
          <a:ext cx="0" cy="0"/>
          <a:chOff x="0" y="0"/>
          <a:chExt cx="0" cy="0"/>
        </a:xfrm>
      </p:grpSpPr>
      <p:pic>
        <p:nvPicPr>
          <p:cNvPr id="171" name="Google Shape;171;g3f62c33a15b_0_7"/>
          <p:cNvPicPr preferRelativeResize="0"/>
          <p:nvPr/>
        </p:nvPicPr>
        <p:blipFill rotWithShape="1">
          <a:blip r:embed="rId4">
            <a:alphaModFix/>
          </a:blip>
          <a:srcRect b="0" l="0" r="0" t="0"/>
          <a:stretch/>
        </p:blipFill>
        <p:spPr>
          <a:xfrm>
            <a:off x="695101" y="952001"/>
            <a:ext cx="7265324" cy="3367450"/>
          </a:xfrm>
          <a:prstGeom prst="rect">
            <a:avLst/>
          </a:prstGeom>
          <a:noFill/>
          <a:ln>
            <a:noFill/>
          </a:ln>
        </p:spPr>
      </p:pic>
      <p:pic>
        <p:nvPicPr>
          <p:cNvPr id="172" name="Google Shape;172;g3f62c33a15b_0_7"/>
          <p:cNvPicPr preferRelativeResize="0"/>
          <p:nvPr/>
        </p:nvPicPr>
        <p:blipFill rotWithShape="1">
          <a:blip r:embed="rId5">
            <a:alphaModFix/>
          </a:blip>
          <a:srcRect b="0" l="0" r="0" t="0"/>
          <a:stretch/>
        </p:blipFill>
        <p:spPr>
          <a:xfrm>
            <a:off x="8369125" y="0"/>
            <a:ext cx="774877" cy="867174"/>
          </a:xfrm>
          <a:prstGeom prst="rect">
            <a:avLst/>
          </a:prstGeom>
          <a:noFill/>
          <a:ln>
            <a:noFill/>
          </a:ln>
        </p:spPr>
      </p:pic>
      <p:sp>
        <p:nvSpPr>
          <p:cNvPr id="173" name="Google Shape;173;g3f62c33a15b_0_7"/>
          <p:cNvSpPr txBox="1"/>
          <p:nvPr/>
        </p:nvSpPr>
        <p:spPr>
          <a:xfrm>
            <a:off x="695100" y="166300"/>
            <a:ext cx="7435800" cy="785700"/>
          </a:xfrm>
          <a:prstGeom prst="rect">
            <a:avLst/>
          </a:prstGeom>
          <a:no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rgbClr val="0D1B2A"/>
              </a:buClr>
              <a:buSzPts val="2600"/>
              <a:buFont typeface="Calibri"/>
              <a:buNone/>
            </a:pPr>
            <a:r>
              <a:rPr b="1" i="0" lang="en" sz="2600" u="none" cap="none" strike="noStrike">
                <a:solidFill>
                  <a:srgbClr val="0D1B2A"/>
                </a:solidFill>
                <a:latin typeface="Calibri"/>
                <a:ea typeface="Calibri"/>
                <a:cs typeface="Calibri"/>
                <a:sym typeface="Calibri"/>
              </a:rPr>
              <a:t>Backpropagation — How Neural Networks Learn</a:t>
            </a:r>
            <a:endParaRPr b="1" i="0" sz="2800" u="none" cap="none" strike="noStrike">
              <a:solidFill>
                <a:srgbClr val="000000"/>
              </a:solidFill>
              <a:latin typeface="Calibri"/>
              <a:ea typeface="Calibri"/>
              <a:cs typeface="Calibri"/>
              <a:sym typeface="Calibri"/>
            </a:endParaRPr>
          </a:p>
        </p:txBody>
      </p:sp>
      <p:sp>
        <p:nvSpPr>
          <p:cNvPr id="174" name="Google Shape;174;g3f62c33a15b_0_7"/>
          <p:cNvSpPr txBox="1"/>
          <p:nvPr/>
        </p:nvSpPr>
        <p:spPr>
          <a:xfrm>
            <a:off x="106925" y="4608250"/>
            <a:ext cx="66426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2"/>
                </a:solidFill>
                <a:latin typeface="Arial"/>
                <a:ea typeface="Arial"/>
                <a:cs typeface="Arial"/>
                <a:sym typeface="Arial"/>
              </a:rPr>
              <a:t>Slides taken from “CS231n: Deep Learning for Computer Vision Stanford”</a:t>
            </a:r>
            <a:endParaRPr b="0" i="0" sz="1100" u="none" cap="none" strike="noStrike">
              <a:solidFill>
                <a:schemeClr val="dk2"/>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8" name="Shape 178"/>
        <p:cNvGrpSpPr/>
        <p:nvPr/>
      </p:nvGrpSpPr>
      <p:grpSpPr>
        <a:xfrm>
          <a:off x="0" y="0"/>
          <a:ext cx="0" cy="0"/>
          <a:chOff x="0" y="0"/>
          <a:chExt cx="0" cy="0"/>
        </a:xfrm>
      </p:grpSpPr>
      <p:pic>
        <p:nvPicPr>
          <p:cNvPr id="179" name="Google Shape;179;g3f62c33a15b_0_14"/>
          <p:cNvPicPr preferRelativeResize="0"/>
          <p:nvPr/>
        </p:nvPicPr>
        <p:blipFill rotWithShape="1">
          <a:blip r:embed="rId4">
            <a:alphaModFix/>
          </a:blip>
          <a:srcRect b="0" l="0" r="0" t="0"/>
          <a:stretch/>
        </p:blipFill>
        <p:spPr>
          <a:xfrm>
            <a:off x="695100" y="952000"/>
            <a:ext cx="7311601" cy="3427700"/>
          </a:xfrm>
          <a:prstGeom prst="rect">
            <a:avLst/>
          </a:prstGeom>
          <a:noFill/>
          <a:ln>
            <a:noFill/>
          </a:ln>
        </p:spPr>
      </p:pic>
      <p:pic>
        <p:nvPicPr>
          <p:cNvPr id="180" name="Google Shape;180;g3f62c33a15b_0_14"/>
          <p:cNvPicPr preferRelativeResize="0"/>
          <p:nvPr/>
        </p:nvPicPr>
        <p:blipFill rotWithShape="1">
          <a:blip r:embed="rId5">
            <a:alphaModFix/>
          </a:blip>
          <a:srcRect b="0" l="0" r="0" t="0"/>
          <a:stretch/>
        </p:blipFill>
        <p:spPr>
          <a:xfrm>
            <a:off x="8369125" y="0"/>
            <a:ext cx="774877" cy="867174"/>
          </a:xfrm>
          <a:prstGeom prst="rect">
            <a:avLst/>
          </a:prstGeom>
          <a:noFill/>
          <a:ln>
            <a:noFill/>
          </a:ln>
        </p:spPr>
      </p:pic>
      <p:sp>
        <p:nvSpPr>
          <p:cNvPr id="181" name="Google Shape;181;g3f62c33a15b_0_14"/>
          <p:cNvSpPr txBox="1"/>
          <p:nvPr/>
        </p:nvSpPr>
        <p:spPr>
          <a:xfrm>
            <a:off x="695100" y="166300"/>
            <a:ext cx="7435800" cy="785700"/>
          </a:xfrm>
          <a:prstGeom prst="rect">
            <a:avLst/>
          </a:prstGeom>
          <a:no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rgbClr val="0D1B2A"/>
              </a:buClr>
              <a:buSzPts val="2600"/>
              <a:buFont typeface="Calibri"/>
              <a:buNone/>
            </a:pPr>
            <a:r>
              <a:rPr b="1" i="0" lang="en" sz="2600" u="none" cap="none" strike="noStrike">
                <a:solidFill>
                  <a:srgbClr val="0D1B2A"/>
                </a:solidFill>
                <a:latin typeface="Calibri"/>
                <a:ea typeface="Calibri"/>
                <a:cs typeface="Calibri"/>
                <a:sym typeface="Calibri"/>
              </a:rPr>
              <a:t>Backpropagation — How Neural Networks Learn</a:t>
            </a:r>
            <a:endParaRPr b="1" i="0" sz="2800" u="none" cap="none" strike="noStrike">
              <a:solidFill>
                <a:srgbClr val="000000"/>
              </a:solidFill>
              <a:latin typeface="Calibri"/>
              <a:ea typeface="Calibri"/>
              <a:cs typeface="Calibri"/>
              <a:sym typeface="Calibri"/>
            </a:endParaRPr>
          </a:p>
        </p:txBody>
      </p:sp>
      <p:sp>
        <p:nvSpPr>
          <p:cNvPr id="182" name="Google Shape;182;g3f62c33a15b_0_14"/>
          <p:cNvSpPr txBox="1"/>
          <p:nvPr/>
        </p:nvSpPr>
        <p:spPr>
          <a:xfrm>
            <a:off x="106925" y="4608250"/>
            <a:ext cx="66426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2"/>
                </a:solidFill>
                <a:latin typeface="Arial"/>
                <a:ea typeface="Arial"/>
                <a:cs typeface="Arial"/>
                <a:sym typeface="Arial"/>
              </a:rPr>
              <a:t>Slides taken from “CS231n: Deep Learning for Computer Vision Stanford”</a:t>
            </a:r>
            <a:endParaRPr b="0" i="0" sz="1100" u="none" cap="none" strike="noStrike">
              <a:solidFill>
                <a:schemeClr val="dk2"/>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6" name="Shape 186"/>
        <p:cNvGrpSpPr/>
        <p:nvPr/>
      </p:nvGrpSpPr>
      <p:grpSpPr>
        <a:xfrm>
          <a:off x="0" y="0"/>
          <a:ext cx="0" cy="0"/>
          <a:chOff x="0" y="0"/>
          <a:chExt cx="0" cy="0"/>
        </a:xfrm>
      </p:grpSpPr>
      <p:pic>
        <p:nvPicPr>
          <p:cNvPr id="187" name="Google Shape;187;g3f62c33a15b_0_21"/>
          <p:cNvPicPr preferRelativeResize="0"/>
          <p:nvPr/>
        </p:nvPicPr>
        <p:blipFill rotWithShape="1">
          <a:blip r:embed="rId4">
            <a:alphaModFix/>
          </a:blip>
          <a:srcRect b="0" l="0" r="0" t="0"/>
          <a:stretch/>
        </p:blipFill>
        <p:spPr>
          <a:xfrm>
            <a:off x="695100" y="867175"/>
            <a:ext cx="7435799" cy="3504012"/>
          </a:xfrm>
          <a:prstGeom prst="rect">
            <a:avLst/>
          </a:prstGeom>
          <a:noFill/>
          <a:ln>
            <a:noFill/>
          </a:ln>
        </p:spPr>
      </p:pic>
      <p:pic>
        <p:nvPicPr>
          <p:cNvPr id="188" name="Google Shape;188;g3f62c33a15b_0_21"/>
          <p:cNvPicPr preferRelativeResize="0"/>
          <p:nvPr/>
        </p:nvPicPr>
        <p:blipFill rotWithShape="1">
          <a:blip r:embed="rId5">
            <a:alphaModFix/>
          </a:blip>
          <a:srcRect b="0" l="0" r="0" t="0"/>
          <a:stretch/>
        </p:blipFill>
        <p:spPr>
          <a:xfrm>
            <a:off x="8369125" y="0"/>
            <a:ext cx="774877" cy="867174"/>
          </a:xfrm>
          <a:prstGeom prst="rect">
            <a:avLst/>
          </a:prstGeom>
          <a:noFill/>
          <a:ln>
            <a:noFill/>
          </a:ln>
        </p:spPr>
      </p:pic>
      <p:sp>
        <p:nvSpPr>
          <p:cNvPr id="189" name="Google Shape;189;g3f62c33a15b_0_21"/>
          <p:cNvSpPr txBox="1"/>
          <p:nvPr/>
        </p:nvSpPr>
        <p:spPr>
          <a:xfrm>
            <a:off x="695100" y="166300"/>
            <a:ext cx="7435800" cy="785700"/>
          </a:xfrm>
          <a:prstGeom prst="rect">
            <a:avLst/>
          </a:prstGeom>
          <a:no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rgbClr val="0D1B2A"/>
              </a:buClr>
              <a:buSzPts val="2600"/>
              <a:buFont typeface="Calibri"/>
              <a:buNone/>
            </a:pPr>
            <a:r>
              <a:rPr b="1" i="0" lang="en" sz="2600" u="none" cap="none" strike="noStrike">
                <a:solidFill>
                  <a:srgbClr val="0D1B2A"/>
                </a:solidFill>
                <a:latin typeface="Calibri"/>
                <a:ea typeface="Calibri"/>
                <a:cs typeface="Calibri"/>
                <a:sym typeface="Calibri"/>
              </a:rPr>
              <a:t>Backpropagation — How Neural Networks Learn</a:t>
            </a:r>
            <a:endParaRPr b="1" i="0" sz="2800" u="none" cap="none" strike="noStrike">
              <a:solidFill>
                <a:srgbClr val="000000"/>
              </a:solidFill>
              <a:latin typeface="Calibri"/>
              <a:ea typeface="Calibri"/>
              <a:cs typeface="Calibri"/>
              <a:sym typeface="Calibri"/>
            </a:endParaRPr>
          </a:p>
        </p:txBody>
      </p:sp>
      <p:sp>
        <p:nvSpPr>
          <p:cNvPr id="190" name="Google Shape;190;g3f62c33a15b_0_21"/>
          <p:cNvSpPr txBox="1"/>
          <p:nvPr/>
        </p:nvSpPr>
        <p:spPr>
          <a:xfrm>
            <a:off x="106925" y="4608250"/>
            <a:ext cx="66426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2"/>
                </a:solidFill>
                <a:latin typeface="Arial"/>
                <a:ea typeface="Arial"/>
                <a:cs typeface="Arial"/>
                <a:sym typeface="Arial"/>
              </a:rPr>
              <a:t>Slides taken from “CS231n: Deep Learning for Computer Vision Stanford”</a:t>
            </a:r>
            <a:endParaRPr b="0" i="0" sz="1100" u="none" cap="none" strike="noStrike">
              <a:solidFill>
                <a:schemeClr val="dk2"/>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4" name="Shape 194"/>
        <p:cNvGrpSpPr/>
        <p:nvPr/>
      </p:nvGrpSpPr>
      <p:grpSpPr>
        <a:xfrm>
          <a:off x="0" y="0"/>
          <a:ext cx="0" cy="0"/>
          <a:chOff x="0" y="0"/>
          <a:chExt cx="0" cy="0"/>
        </a:xfrm>
      </p:grpSpPr>
      <p:pic>
        <p:nvPicPr>
          <p:cNvPr id="195" name="Google Shape;195;g3f62c33a15b_0_28"/>
          <p:cNvPicPr preferRelativeResize="0"/>
          <p:nvPr/>
        </p:nvPicPr>
        <p:blipFill rotWithShape="1">
          <a:blip r:embed="rId4">
            <a:alphaModFix/>
          </a:blip>
          <a:srcRect b="0" l="0" r="0" t="0"/>
          <a:stretch/>
        </p:blipFill>
        <p:spPr>
          <a:xfrm>
            <a:off x="695100" y="778850"/>
            <a:ext cx="7435800" cy="3532174"/>
          </a:xfrm>
          <a:prstGeom prst="rect">
            <a:avLst/>
          </a:prstGeom>
          <a:noFill/>
          <a:ln>
            <a:noFill/>
          </a:ln>
        </p:spPr>
      </p:pic>
      <p:pic>
        <p:nvPicPr>
          <p:cNvPr id="196" name="Google Shape;196;g3f62c33a15b_0_28"/>
          <p:cNvPicPr preferRelativeResize="0"/>
          <p:nvPr/>
        </p:nvPicPr>
        <p:blipFill rotWithShape="1">
          <a:blip r:embed="rId5">
            <a:alphaModFix/>
          </a:blip>
          <a:srcRect b="0" l="0" r="0" t="0"/>
          <a:stretch/>
        </p:blipFill>
        <p:spPr>
          <a:xfrm>
            <a:off x="8369125" y="0"/>
            <a:ext cx="774877" cy="867174"/>
          </a:xfrm>
          <a:prstGeom prst="rect">
            <a:avLst/>
          </a:prstGeom>
          <a:noFill/>
          <a:ln>
            <a:noFill/>
          </a:ln>
        </p:spPr>
      </p:pic>
      <p:sp>
        <p:nvSpPr>
          <p:cNvPr id="197" name="Google Shape;197;g3f62c33a15b_0_28"/>
          <p:cNvSpPr txBox="1"/>
          <p:nvPr/>
        </p:nvSpPr>
        <p:spPr>
          <a:xfrm>
            <a:off x="695100" y="166300"/>
            <a:ext cx="7435800" cy="785700"/>
          </a:xfrm>
          <a:prstGeom prst="rect">
            <a:avLst/>
          </a:prstGeom>
          <a:no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rgbClr val="0D1B2A"/>
              </a:buClr>
              <a:buSzPts val="2600"/>
              <a:buFont typeface="Calibri"/>
              <a:buNone/>
            </a:pPr>
            <a:r>
              <a:rPr b="1" i="0" lang="en" sz="2600" u="none" cap="none" strike="noStrike">
                <a:solidFill>
                  <a:srgbClr val="0D1B2A"/>
                </a:solidFill>
                <a:latin typeface="Calibri"/>
                <a:ea typeface="Calibri"/>
                <a:cs typeface="Calibri"/>
                <a:sym typeface="Calibri"/>
              </a:rPr>
              <a:t>Backpropagation — How Neural Networks Learn</a:t>
            </a:r>
            <a:endParaRPr b="1" i="0" sz="2800" u="none" cap="none" strike="noStrike">
              <a:solidFill>
                <a:srgbClr val="000000"/>
              </a:solidFill>
              <a:latin typeface="Calibri"/>
              <a:ea typeface="Calibri"/>
              <a:cs typeface="Calibri"/>
              <a:sym typeface="Calibri"/>
            </a:endParaRPr>
          </a:p>
        </p:txBody>
      </p:sp>
      <p:sp>
        <p:nvSpPr>
          <p:cNvPr id="198" name="Google Shape;198;g3f62c33a15b_0_28"/>
          <p:cNvSpPr txBox="1"/>
          <p:nvPr/>
        </p:nvSpPr>
        <p:spPr>
          <a:xfrm>
            <a:off x="106925" y="4608250"/>
            <a:ext cx="66426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2"/>
                </a:solidFill>
                <a:latin typeface="Arial"/>
                <a:ea typeface="Arial"/>
                <a:cs typeface="Arial"/>
                <a:sym typeface="Arial"/>
              </a:rPr>
              <a:t>Slides taken from “CS231n: Deep Learning for Computer Vision Stanford”</a:t>
            </a:r>
            <a:endParaRPr b="0" i="0" sz="1100" u="none" cap="none" strike="noStrike">
              <a:solidFill>
                <a:schemeClr val="dk2"/>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2" name="Shape 202"/>
        <p:cNvGrpSpPr/>
        <p:nvPr/>
      </p:nvGrpSpPr>
      <p:grpSpPr>
        <a:xfrm>
          <a:off x="0" y="0"/>
          <a:ext cx="0" cy="0"/>
          <a:chOff x="0" y="0"/>
          <a:chExt cx="0" cy="0"/>
        </a:xfrm>
      </p:grpSpPr>
      <p:pic>
        <p:nvPicPr>
          <p:cNvPr id="203" name="Google Shape;203;g3f62c33a15b_0_35"/>
          <p:cNvPicPr preferRelativeResize="0"/>
          <p:nvPr/>
        </p:nvPicPr>
        <p:blipFill rotWithShape="1">
          <a:blip r:embed="rId4">
            <a:alphaModFix/>
          </a:blip>
          <a:srcRect b="0" l="0" r="0" t="0"/>
          <a:stretch/>
        </p:blipFill>
        <p:spPr>
          <a:xfrm>
            <a:off x="695100" y="885034"/>
            <a:ext cx="7435800" cy="3575760"/>
          </a:xfrm>
          <a:prstGeom prst="rect">
            <a:avLst/>
          </a:prstGeom>
          <a:noFill/>
          <a:ln>
            <a:noFill/>
          </a:ln>
        </p:spPr>
      </p:pic>
      <p:pic>
        <p:nvPicPr>
          <p:cNvPr id="204" name="Google Shape;204;g3f62c33a15b_0_35"/>
          <p:cNvPicPr preferRelativeResize="0"/>
          <p:nvPr/>
        </p:nvPicPr>
        <p:blipFill rotWithShape="1">
          <a:blip r:embed="rId5">
            <a:alphaModFix/>
          </a:blip>
          <a:srcRect b="0" l="0" r="0" t="0"/>
          <a:stretch/>
        </p:blipFill>
        <p:spPr>
          <a:xfrm>
            <a:off x="8369125" y="0"/>
            <a:ext cx="774877" cy="867174"/>
          </a:xfrm>
          <a:prstGeom prst="rect">
            <a:avLst/>
          </a:prstGeom>
          <a:noFill/>
          <a:ln>
            <a:noFill/>
          </a:ln>
        </p:spPr>
      </p:pic>
      <p:sp>
        <p:nvSpPr>
          <p:cNvPr id="205" name="Google Shape;205;g3f62c33a15b_0_35"/>
          <p:cNvSpPr txBox="1"/>
          <p:nvPr/>
        </p:nvSpPr>
        <p:spPr>
          <a:xfrm>
            <a:off x="695100" y="166300"/>
            <a:ext cx="7435800" cy="785700"/>
          </a:xfrm>
          <a:prstGeom prst="rect">
            <a:avLst/>
          </a:prstGeom>
          <a:no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rgbClr val="0D1B2A"/>
              </a:buClr>
              <a:buSzPts val="2600"/>
              <a:buFont typeface="Calibri"/>
              <a:buNone/>
            </a:pPr>
            <a:r>
              <a:rPr b="1" i="0" lang="en" sz="2600" u="none" cap="none" strike="noStrike">
                <a:solidFill>
                  <a:srgbClr val="0D1B2A"/>
                </a:solidFill>
                <a:latin typeface="Calibri"/>
                <a:ea typeface="Calibri"/>
                <a:cs typeface="Calibri"/>
                <a:sym typeface="Calibri"/>
              </a:rPr>
              <a:t>Backpropagation — How Neural Networks Learn</a:t>
            </a:r>
            <a:endParaRPr b="1" i="0" sz="2800" u="none" cap="none" strike="noStrike">
              <a:solidFill>
                <a:srgbClr val="000000"/>
              </a:solidFill>
              <a:latin typeface="Calibri"/>
              <a:ea typeface="Calibri"/>
              <a:cs typeface="Calibri"/>
              <a:sym typeface="Calibri"/>
            </a:endParaRPr>
          </a:p>
        </p:txBody>
      </p:sp>
      <p:sp>
        <p:nvSpPr>
          <p:cNvPr id="206" name="Google Shape;206;g3f62c33a15b_0_35"/>
          <p:cNvSpPr txBox="1"/>
          <p:nvPr/>
        </p:nvSpPr>
        <p:spPr>
          <a:xfrm>
            <a:off x="106925" y="4608250"/>
            <a:ext cx="66426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2"/>
                </a:solidFill>
                <a:latin typeface="Arial"/>
                <a:ea typeface="Arial"/>
                <a:cs typeface="Arial"/>
                <a:sym typeface="Arial"/>
              </a:rPr>
              <a:t>Slides taken from “CS231n: Deep Learning for Computer Vision Stanford”</a:t>
            </a:r>
            <a:endParaRPr b="0" i="0" sz="1100" u="none" cap="none" strike="noStrike">
              <a:solidFill>
                <a:schemeClr val="dk2"/>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0" name="Shape 210"/>
        <p:cNvGrpSpPr/>
        <p:nvPr/>
      </p:nvGrpSpPr>
      <p:grpSpPr>
        <a:xfrm>
          <a:off x="0" y="0"/>
          <a:ext cx="0" cy="0"/>
          <a:chOff x="0" y="0"/>
          <a:chExt cx="0" cy="0"/>
        </a:xfrm>
      </p:grpSpPr>
      <p:pic>
        <p:nvPicPr>
          <p:cNvPr id="211" name="Google Shape;211;g3f62c33a15b_0_42"/>
          <p:cNvPicPr preferRelativeResize="0"/>
          <p:nvPr/>
        </p:nvPicPr>
        <p:blipFill rotWithShape="1">
          <a:blip r:embed="rId4">
            <a:alphaModFix/>
          </a:blip>
          <a:srcRect b="0" l="0" r="0" t="0"/>
          <a:stretch/>
        </p:blipFill>
        <p:spPr>
          <a:xfrm>
            <a:off x="695100" y="952000"/>
            <a:ext cx="7520726" cy="3505850"/>
          </a:xfrm>
          <a:prstGeom prst="rect">
            <a:avLst/>
          </a:prstGeom>
          <a:noFill/>
          <a:ln>
            <a:noFill/>
          </a:ln>
        </p:spPr>
      </p:pic>
      <p:pic>
        <p:nvPicPr>
          <p:cNvPr id="212" name="Google Shape;212;g3f62c33a15b_0_42"/>
          <p:cNvPicPr preferRelativeResize="0"/>
          <p:nvPr/>
        </p:nvPicPr>
        <p:blipFill rotWithShape="1">
          <a:blip r:embed="rId5">
            <a:alphaModFix/>
          </a:blip>
          <a:srcRect b="0" l="0" r="0" t="0"/>
          <a:stretch/>
        </p:blipFill>
        <p:spPr>
          <a:xfrm>
            <a:off x="8369125" y="0"/>
            <a:ext cx="774877" cy="867174"/>
          </a:xfrm>
          <a:prstGeom prst="rect">
            <a:avLst/>
          </a:prstGeom>
          <a:noFill/>
          <a:ln>
            <a:noFill/>
          </a:ln>
        </p:spPr>
      </p:pic>
      <p:sp>
        <p:nvSpPr>
          <p:cNvPr id="213" name="Google Shape;213;g3f62c33a15b_0_42"/>
          <p:cNvSpPr txBox="1"/>
          <p:nvPr/>
        </p:nvSpPr>
        <p:spPr>
          <a:xfrm>
            <a:off x="695100" y="166300"/>
            <a:ext cx="7435800" cy="785700"/>
          </a:xfrm>
          <a:prstGeom prst="rect">
            <a:avLst/>
          </a:prstGeom>
          <a:no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rgbClr val="0D1B2A"/>
              </a:buClr>
              <a:buSzPts val="2600"/>
              <a:buFont typeface="Calibri"/>
              <a:buNone/>
            </a:pPr>
            <a:r>
              <a:rPr b="1" i="0" lang="en" sz="2600" u="none" cap="none" strike="noStrike">
                <a:solidFill>
                  <a:srgbClr val="0D1B2A"/>
                </a:solidFill>
                <a:latin typeface="Calibri"/>
                <a:ea typeface="Calibri"/>
                <a:cs typeface="Calibri"/>
                <a:sym typeface="Calibri"/>
              </a:rPr>
              <a:t>Backpropagation — How Neural Networks Learn</a:t>
            </a:r>
            <a:endParaRPr b="1" i="0" sz="2800" u="none" cap="none" strike="noStrike">
              <a:solidFill>
                <a:srgbClr val="000000"/>
              </a:solidFill>
              <a:latin typeface="Calibri"/>
              <a:ea typeface="Calibri"/>
              <a:cs typeface="Calibri"/>
              <a:sym typeface="Calibri"/>
            </a:endParaRPr>
          </a:p>
        </p:txBody>
      </p:sp>
      <p:sp>
        <p:nvSpPr>
          <p:cNvPr id="214" name="Google Shape;214;g3f62c33a15b_0_42"/>
          <p:cNvSpPr txBox="1"/>
          <p:nvPr/>
        </p:nvSpPr>
        <p:spPr>
          <a:xfrm>
            <a:off x="106925" y="4608250"/>
            <a:ext cx="66426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2"/>
                </a:solidFill>
                <a:latin typeface="Arial"/>
                <a:ea typeface="Arial"/>
                <a:cs typeface="Arial"/>
                <a:sym typeface="Arial"/>
              </a:rPr>
              <a:t>Slides taken from “CS231n: Deep Learning for Computer Vision Stanford”</a:t>
            </a:r>
            <a:endParaRPr b="0" i="0" sz="1100" u="none" cap="none" strike="noStrike">
              <a:solidFill>
                <a:schemeClr val="dk2"/>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8" name="Shape 218"/>
        <p:cNvGrpSpPr/>
        <p:nvPr/>
      </p:nvGrpSpPr>
      <p:grpSpPr>
        <a:xfrm>
          <a:off x="0" y="0"/>
          <a:ext cx="0" cy="0"/>
          <a:chOff x="0" y="0"/>
          <a:chExt cx="0" cy="0"/>
        </a:xfrm>
      </p:grpSpPr>
      <p:pic>
        <p:nvPicPr>
          <p:cNvPr id="219" name="Google Shape;219;g3f62c33a15b_0_49"/>
          <p:cNvPicPr preferRelativeResize="0"/>
          <p:nvPr/>
        </p:nvPicPr>
        <p:blipFill rotWithShape="1">
          <a:blip r:embed="rId4">
            <a:alphaModFix/>
          </a:blip>
          <a:srcRect b="0" l="0" r="0" t="0"/>
          <a:stretch/>
        </p:blipFill>
        <p:spPr>
          <a:xfrm>
            <a:off x="8369125" y="0"/>
            <a:ext cx="774877" cy="867174"/>
          </a:xfrm>
          <a:prstGeom prst="rect">
            <a:avLst/>
          </a:prstGeom>
          <a:noFill/>
          <a:ln>
            <a:noFill/>
          </a:ln>
        </p:spPr>
      </p:pic>
      <p:sp>
        <p:nvSpPr>
          <p:cNvPr id="220" name="Google Shape;220;g3f62c33a15b_0_49"/>
          <p:cNvSpPr txBox="1"/>
          <p:nvPr/>
        </p:nvSpPr>
        <p:spPr>
          <a:xfrm>
            <a:off x="695100" y="166300"/>
            <a:ext cx="7435800" cy="785700"/>
          </a:xfrm>
          <a:prstGeom prst="rect">
            <a:avLst/>
          </a:prstGeom>
          <a:no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rgbClr val="0D1B2A"/>
              </a:buClr>
              <a:buSzPts val="2600"/>
              <a:buFont typeface="Calibri"/>
              <a:buNone/>
            </a:pPr>
            <a:r>
              <a:rPr b="1" i="0" lang="en" sz="2600" u="none" cap="none" strike="noStrike">
                <a:solidFill>
                  <a:srgbClr val="0D1B2A"/>
                </a:solidFill>
                <a:latin typeface="Calibri"/>
                <a:ea typeface="Calibri"/>
                <a:cs typeface="Calibri"/>
                <a:sym typeface="Calibri"/>
              </a:rPr>
              <a:t>Backpropagation — How Neural Networks Learn</a:t>
            </a:r>
            <a:endParaRPr b="1" i="0" sz="2800" u="none" cap="none" strike="noStrike">
              <a:solidFill>
                <a:srgbClr val="000000"/>
              </a:solidFill>
              <a:latin typeface="Calibri"/>
              <a:ea typeface="Calibri"/>
              <a:cs typeface="Calibri"/>
              <a:sym typeface="Calibri"/>
            </a:endParaRPr>
          </a:p>
        </p:txBody>
      </p:sp>
      <p:sp>
        <p:nvSpPr>
          <p:cNvPr id="221" name="Google Shape;221;g3f62c33a15b_0_49"/>
          <p:cNvSpPr txBox="1"/>
          <p:nvPr/>
        </p:nvSpPr>
        <p:spPr>
          <a:xfrm>
            <a:off x="106925" y="4608250"/>
            <a:ext cx="66426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2"/>
                </a:solidFill>
                <a:latin typeface="Arial"/>
                <a:ea typeface="Arial"/>
                <a:cs typeface="Arial"/>
                <a:sym typeface="Arial"/>
              </a:rPr>
              <a:t>Slides taken from “CS231n: Deep Learning for Computer Vision Stanford”</a:t>
            </a:r>
            <a:endParaRPr b="0" i="0" sz="1100" u="none" cap="none" strike="noStrike">
              <a:solidFill>
                <a:schemeClr val="dk2"/>
              </a:solidFill>
              <a:latin typeface="Arial"/>
              <a:ea typeface="Arial"/>
              <a:cs typeface="Arial"/>
              <a:sym typeface="Arial"/>
            </a:endParaRPr>
          </a:p>
        </p:txBody>
      </p:sp>
      <p:sp>
        <p:nvSpPr>
          <p:cNvPr id="222" name="Google Shape;222;g3f62c33a15b_0_49"/>
          <p:cNvSpPr txBox="1"/>
          <p:nvPr/>
        </p:nvSpPr>
        <p:spPr>
          <a:xfrm>
            <a:off x="695100" y="1178750"/>
            <a:ext cx="46380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Arial"/>
                <a:ea typeface="Arial"/>
                <a:cs typeface="Arial"/>
                <a:sym typeface="Arial"/>
              </a:rPr>
              <a:t>If we consider the weight </a:t>
            </a:r>
            <a:r>
              <a:rPr b="0" i="1" lang="en" sz="1800" u="none" cap="none" strike="noStrike">
                <a:solidFill>
                  <a:schemeClr val="dk2"/>
                </a:solidFill>
                <a:latin typeface="Arial"/>
                <a:ea typeface="Arial"/>
                <a:cs typeface="Arial"/>
                <a:sym typeface="Arial"/>
              </a:rPr>
              <a:t>z</a:t>
            </a:r>
            <a:r>
              <a:rPr b="0" i="0" lang="en" sz="1800" u="none" cap="none" strike="noStrike">
                <a:solidFill>
                  <a:schemeClr val="dk2"/>
                </a:solidFill>
                <a:latin typeface="Arial"/>
                <a:ea typeface="Arial"/>
                <a:cs typeface="Arial"/>
                <a:sym typeface="Arial"/>
              </a:rPr>
              <a:t> and learning rate as 0.1, then the updated value of z, </a:t>
            </a:r>
            <a:endParaRPr b="0" i="0" sz="1800" u="none" cap="none" strike="noStrike">
              <a:solidFill>
                <a:schemeClr val="dk2"/>
              </a:solidFill>
              <a:latin typeface="Arial"/>
              <a:ea typeface="Arial"/>
              <a:cs typeface="Arial"/>
              <a:sym typeface="Arial"/>
            </a:endParaRPr>
          </a:p>
        </p:txBody>
      </p:sp>
      <p:pic>
        <p:nvPicPr>
          <p:cNvPr id="223" name="Google Shape;223;g3f62c33a15b_0_49"/>
          <p:cNvPicPr preferRelativeResize="0"/>
          <p:nvPr/>
        </p:nvPicPr>
        <p:blipFill rotWithShape="1">
          <a:blip r:embed="rId5">
            <a:alphaModFix/>
          </a:blip>
          <a:srcRect b="0" l="0" r="0" t="0"/>
          <a:stretch/>
        </p:blipFill>
        <p:spPr>
          <a:xfrm>
            <a:off x="1001425" y="2144400"/>
            <a:ext cx="1543050" cy="647700"/>
          </a:xfrm>
          <a:prstGeom prst="rect">
            <a:avLst/>
          </a:prstGeom>
          <a:noFill/>
          <a:ln>
            <a:noFill/>
          </a:ln>
        </p:spPr>
      </p:pic>
      <p:pic>
        <p:nvPicPr>
          <p:cNvPr id="224" name="Google Shape;224;g3f62c33a15b_0_49"/>
          <p:cNvPicPr preferRelativeResize="0"/>
          <p:nvPr/>
        </p:nvPicPr>
        <p:blipFill rotWithShape="1">
          <a:blip r:embed="rId6">
            <a:alphaModFix/>
          </a:blip>
          <a:srcRect b="0" l="0" r="0" t="0"/>
          <a:stretch/>
        </p:blipFill>
        <p:spPr>
          <a:xfrm>
            <a:off x="1001425" y="2857525"/>
            <a:ext cx="3314700" cy="381000"/>
          </a:xfrm>
          <a:prstGeom prst="rect">
            <a:avLst/>
          </a:prstGeom>
          <a:noFill/>
          <a:ln>
            <a:noFill/>
          </a:ln>
        </p:spPr>
      </p:pic>
      <p:pic>
        <p:nvPicPr>
          <p:cNvPr id="225" name="Google Shape;225;g3f62c33a15b_0_49"/>
          <p:cNvPicPr preferRelativeResize="0"/>
          <p:nvPr/>
        </p:nvPicPr>
        <p:blipFill rotWithShape="1">
          <a:blip r:embed="rId7">
            <a:alphaModFix/>
          </a:blip>
          <a:srcRect b="0" l="0" r="0" t="0"/>
          <a:stretch/>
        </p:blipFill>
        <p:spPr>
          <a:xfrm>
            <a:off x="5169450" y="1675150"/>
            <a:ext cx="3563789" cy="2385800"/>
          </a:xfrm>
          <a:prstGeom prst="rect">
            <a:avLst/>
          </a:prstGeom>
          <a:noFill/>
          <a:ln>
            <a:noFill/>
          </a:ln>
        </p:spPr>
      </p:pic>
      <p:sp>
        <p:nvSpPr>
          <p:cNvPr id="226" name="Google Shape;226;g3f62c33a15b_0_49"/>
          <p:cNvSpPr/>
          <p:nvPr/>
        </p:nvSpPr>
        <p:spPr>
          <a:xfrm>
            <a:off x="619325" y="3447138"/>
            <a:ext cx="4343400" cy="952500"/>
          </a:xfrm>
          <a:prstGeom prst="rect">
            <a:avLst/>
          </a:prstGeom>
          <a:solidFill>
            <a:schemeClr val="lt1"/>
          </a:solidFill>
          <a:ln cap="flat" cmpd="sng" w="19050">
            <a:solidFill>
              <a:srgbClr val="1E2761"/>
            </a:solidFill>
            <a:prstDash val="solid"/>
            <a:round/>
            <a:headEnd len="sm" w="sm" type="none"/>
            <a:tailEnd len="sm" w="sm" type="none"/>
          </a:ln>
        </p:spPr>
        <p:txBody>
          <a:bodyPr anchorCtr="0" anchor="ctr" bIns="91425" lIns="182875" spcFirstLastPara="1" rIns="18287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1E2761"/>
                </a:solidFill>
                <a:latin typeface="Calibri"/>
                <a:ea typeface="Calibri"/>
                <a:cs typeface="Calibri"/>
                <a:sym typeface="Calibri"/>
              </a:rPr>
              <a:t>💡 Key Insight: </a:t>
            </a:r>
            <a:r>
              <a:rPr b="0" i="0" lang="en" sz="1400" u="none" cap="none" strike="noStrike">
                <a:solidFill>
                  <a:srgbClr val="2C3E50"/>
                </a:solidFill>
                <a:latin typeface="Calibri"/>
                <a:ea typeface="Calibri"/>
                <a:cs typeface="Calibri"/>
                <a:sym typeface="Calibri"/>
              </a:rPr>
              <a:t>The weight z is nudged slightly opposite to the gradient, reducing the loss with each step.</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0" name="Shape 230"/>
        <p:cNvGrpSpPr/>
        <p:nvPr/>
      </p:nvGrpSpPr>
      <p:grpSpPr>
        <a:xfrm>
          <a:off x="0" y="0"/>
          <a:ext cx="0" cy="0"/>
          <a:chOff x="0" y="0"/>
          <a:chExt cx="0" cy="0"/>
        </a:xfrm>
      </p:grpSpPr>
      <p:pic>
        <p:nvPicPr>
          <p:cNvPr id="231" name="Google Shape;231;g3f62c33a15b_0_597"/>
          <p:cNvPicPr preferRelativeResize="0"/>
          <p:nvPr/>
        </p:nvPicPr>
        <p:blipFill rotWithShape="1">
          <a:blip r:embed="rId4">
            <a:alphaModFix/>
          </a:blip>
          <a:srcRect b="0" l="0" r="0" t="0"/>
          <a:stretch/>
        </p:blipFill>
        <p:spPr>
          <a:xfrm>
            <a:off x="8369125" y="0"/>
            <a:ext cx="774877" cy="867174"/>
          </a:xfrm>
          <a:prstGeom prst="rect">
            <a:avLst/>
          </a:prstGeom>
          <a:noFill/>
          <a:ln>
            <a:noFill/>
          </a:ln>
        </p:spPr>
      </p:pic>
      <p:sp>
        <p:nvSpPr>
          <p:cNvPr id="232" name="Google Shape;232;g3f62c33a15b_0_597"/>
          <p:cNvSpPr/>
          <p:nvPr/>
        </p:nvSpPr>
        <p:spPr>
          <a:xfrm>
            <a:off x="365760" y="91440"/>
            <a:ext cx="7863900" cy="658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A237E"/>
              </a:buClr>
              <a:buSzPts val="3000"/>
              <a:buFont typeface="Calibri"/>
              <a:buNone/>
            </a:pPr>
            <a:r>
              <a:rPr b="1" i="0" lang="en" sz="3000" u="none" cap="none" strike="noStrike">
                <a:solidFill>
                  <a:srgbClr val="1A237E"/>
                </a:solidFill>
                <a:latin typeface="Calibri"/>
                <a:ea typeface="Calibri"/>
                <a:cs typeface="Calibri"/>
                <a:sym typeface="Calibri"/>
              </a:rPr>
              <a:t>What is a Loss Function?</a:t>
            </a:r>
            <a:endParaRPr b="0" i="0" sz="3000" u="none" cap="none" strike="noStrike">
              <a:solidFill>
                <a:srgbClr val="000000"/>
              </a:solidFill>
              <a:latin typeface="Calibri"/>
              <a:ea typeface="Calibri"/>
              <a:cs typeface="Calibri"/>
              <a:sym typeface="Calibri"/>
            </a:endParaRPr>
          </a:p>
        </p:txBody>
      </p:sp>
      <p:sp>
        <p:nvSpPr>
          <p:cNvPr id="233" name="Google Shape;233;g3f62c33a15b_0_597"/>
          <p:cNvSpPr/>
          <p:nvPr/>
        </p:nvSpPr>
        <p:spPr>
          <a:xfrm>
            <a:off x="365760" y="91440"/>
            <a:ext cx="7863900" cy="658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A237E"/>
              </a:buClr>
              <a:buSzPts val="3000"/>
              <a:buFont typeface="Calibri"/>
              <a:buNone/>
            </a:pPr>
            <a:r>
              <a:rPr b="1" i="0" lang="en" sz="3000" u="none" cap="none" strike="noStrike">
                <a:solidFill>
                  <a:srgbClr val="1A237E"/>
                </a:solidFill>
                <a:latin typeface="Calibri"/>
                <a:ea typeface="Calibri"/>
                <a:cs typeface="Calibri"/>
                <a:sym typeface="Calibri"/>
              </a:rPr>
              <a:t>What is a Loss Function?</a:t>
            </a:r>
            <a:endParaRPr b="0" i="0" sz="3000" u="none" cap="none" strike="noStrike">
              <a:solidFill>
                <a:srgbClr val="000000"/>
              </a:solidFill>
              <a:latin typeface="Calibri"/>
              <a:ea typeface="Calibri"/>
              <a:cs typeface="Calibri"/>
              <a:sym typeface="Calibri"/>
            </a:endParaRPr>
          </a:p>
        </p:txBody>
      </p:sp>
      <p:sp>
        <p:nvSpPr>
          <p:cNvPr id="234" name="Google Shape;234;g3f62c33a15b_0_597"/>
          <p:cNvSpPr/>
          <p:nvPr/>
        </p:nvSpPr>
        <p:spPr>
          <a:xfrm>
            <a:off x="274320" y="914400"/>
            <a:ext cx="5120700" cy="2286000"/>
          </a:xfrm>
          <a:prstGeom prst="rect">
            <a:avLst/>
          </a:prstGeom>
          <a:solidFill>
            <a:srgbClr val="E8EAF6"/>
          </a:solidFill>
          <a:ln cap="flat" cmpd="sng" w="12700">
            <a:solidFill>
              <a:srgbClr val="9FA8DA"/>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g3f62c33a15b_0_597"/>
          <p:cNvSpPr/>
          <p:nvPr/>
        </p:nvSpPr>
        <p:spPr>
          <a:xfrm>
            <a:off x="274320" y="914400"/>
            <a:ext cx="5120700" cy="438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Calibri"/>
              <a:buNone/>
            </a:pPr>
            <a:r>
              <a:rPr b="1" i="0" lang="en" sz="1600" u="none" cap="none" strike="noStrike">
                <a:solidFill>
                  <a:schemeClr val="dk1"/>
                </a:solidFill>
                <a:latin typeface="Calibri"/>
                <a:ea typeface="Calibri"/>
                <a:cs typeface="Calibri"/>
                <a:sym typeface="Calibri"/>
              </a:rPr>
              <a:t>Definition</a:t>
            </a:r>
            <a:endParaRPr b="0" i="0" sz="1600" u="none" cap="none" strike="noStrike">
              <a:solidFill>
                <a:schemeClr val="dk1"/>
              </a:solidFill>
              <a:latin typeface="Calibri"/>
              <a:ea typeface="Calibri"/>
              <a:cs typeface="Calibri"/>
              <a:sym typeface="Calibri"/>
            </a:endParaRPr>
          </a:p>
        </p:txBody>
      </p:sp>
      <p:sp>
        <p:nvSpPr>
          <p:cNvPr id="236" name="Google Shape;236;g3f62c33a15b_0_597"/>
          <p:cNvSpPr/>
          <p:nvPr/>
        </p:nvSpPr>
        <p:spPr>
          <a:xfrm>
            <a:off x="457200" y="1417320"/>
            <a:ext cx="4755000" cy="1691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300"/>
              <a:buFont typeface="Calibri"/>
              <a:buNone/>
            </a:pPr>
            <a:r>
              <a:rPr b="0" i="0" lang="en" sz="1300" u="none" cap="none" strike="noStrike">
                <a:solidFill>
                  <a:srgbClr val="37474F"/>
                </a:solidFill>
                <a:latin typeface="Calibri"/>
                <a:ea typeface="Calibri"/>
                <a:cs typeface="Calibri"/>
                <a:sym typeface="Calibri"/>
              </a:rPr>
              <a:t>A loss function (cost function) measures how far the model's predictions are from the true labels.</a:t>
            </a:r>
            <a:endParaRPr b="0" i="0" sz="13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300"/>
              <a:buFont typeface="Calibri"/>
              <a:buNone/>
            </a:pPr>
            <a:r>
              <a:t/>
            </a:r>
            <a:endParaRPr b="0" i="0" sz="13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7474F"/>
              </a:buClr>
              <a:buSzPts val="1300"/>
              <a:buFont typeface="Calibri"/>
              <a:buNone/>
            </a:pPr>
            <a:r>
              <a:rPr b="0" i="0" lang="en" sz="1300" u="none" cap="none" strike="noStrike">
                <a:solidFill>
                  <a:srgbClr val="37474F"/>
                </a:solidFill>
                <a:latin typeface="Calibri"/>
                <a:ea typeface="Calibri"/>
                <a:cs typeface="Calibri"/>
                <a:sym typeface="Calibri"/>
              </a:rPr>
              <a:t>The optimizer uses the loss to update model parameters via backpropagation — lower loss means better predictions.</a:t>
            </a:r>
            <a:endParaRPr b="0" i="0" sz="1300" u="none" cap="none" strike="noStrike">
              <a:solidFill>
                <a:srgbClr val="000000"/>
              </a:solidFill>
              <a:latin typeface="Calibri"/>
              <a:ea typeface="Calibri"/>
              <a:cs typeface="Calibri"/>
              <a:sym typeface="Calibri"/>
            </a:endParaRPr>
          </a:p>
        </p:txBody>
      </p:sp>
      <p:sp>
        <p:nvSpPr>
          <p:cNvPr id="237" name="Google Shape;237;g3f62c33a15b_0_597"/>
          <p:cNvSpPr/>
          <p:nvPr/>
        </p:nvSpPr>
        <p:spPr>
          <a:xfrm>
            <a:off x="5623560" y="914400"/>
            <a:ext cx="3246000" cy="2286000"/>
          </a:xfrm>
          <a:prstGeom prst="rect">
            <a:avLst/>
          </a:prstGeom>
          <a:solidFill>
            <a:srgbClr val="F5F5F5"/>
          </a:solidFill>
          <a:ln cap="flat" cmpd="sng" w="12700">
            <a:solidFill>
              <a:srgbClr val="BDBDBD"/>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g3f62c33a15b_0_597"/>
          <p:cNvSpPr/>
          <p:nvPr/>
        </p:nvSpPr>
        <p:spPr>
          <a:xfrm>
            <a:off x="5623560" y="914400"/>
            <a:ext cx="3246000" cy="438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Calibri"/>
              <a:buNone/>
            </a:pPr>
            <a:r>
              <a:rPr b="1" i="0" lang="en" sz="1600" u="none" cap="none" strike="noStrike">
                <a:solidFill>
                  <a:schemeClr val="dk1"/>
                </a:solidFill>
                <a:latin typeface="Calibri"/>
                <a:ea typeface="Calibri"/>
                <a:cs typeface="Calibri"/>
                <a:sym typeface="Calibri"/>
              </a:rPr>
              <a:t>Training Loop</a:t>
            </a:r>
            <a:endParaRPr b="0" i="0" sz="1600" u="none" cap="none" strike="noStrike">
              <a:solidFill>
                <a:schemeClr val="dk1"/>
              </a:solidFill>
              <a:latin typeface="Calibri"/>
              <a:ea typeface="Calibri"/>
              <a:cs typeface="Calibri"/>
              <a:sym typeface="Calibri"/>
            </a:endParaRPr>
          </a:p>
        </p:txBody>
      </p:sp>
      <p:sp>
        <p:nvSpPr>
          <p:cNvPr id="239" name="Google Shape;239;g3f62c33a15b_0_597"/>
          <p:cNvSpPr/>
          <p:nvPr/>
        </p:nvSpPr>
        <p:spPr>
          <a:xfrm>
            <a:off x="5760720" y="1426464"/>
            <a:ext cx="2926200" cy="320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200"/>
              <a:buFont typeface="Calibri"/>
              <a:buNone/>
            </a:pPr>
            <a:r>
              <a:rPr b="0" i="0" lang="en" sz="1200" u="none" cap="none" strike="noStrike">
                <a:solidFill>
                  <a:srgbClr val="37474F"/>
                </a:solidFill>
                <a:latin typeface="Calibri"/>
                <a:ea typeface="Calibri"/>
                <a:cs typeface="Calibri"/>
                <a:sym typeface="Calibri"/>
              </a:rPr>
              <a:t>1.  Forward pass → get ŷ</a:t>
            </a:r>
            <a:endParaRPr b="0" i="0" sz="1200" u="none" cap="none" strike="noStrike">
              <a:solidFill>
                <a:srgbClr val="000000"/>
              </a:solidFill>
              <a:latin typeface="Calibri"/>
              <a:ea typeface="Calibri"/>
              <a:cs typeface="Calibri"/>
              <a:sym typeface="Calibri"/>
            </a:endParaRPr>
          </a:p>
        </p:txBody>
      </p:sp>
      <p:sp>
        <p:nvSpPr>
          <p:cNvPr id="240" name="Google Shape;240;g3f62c33a15b_0_597"/>
          <p:cNvSpPr/>
          <p:nvPr/>
        </p:nvSpPr>
        <p:spPr>
          <a:xfrm>
            <a:off x="5760720" y="1764792"/>
            <a:ext cx="2926200" cy="320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62828"/>
              </a:buClr>
              <a:buSzPts val="1200"/>
              <a:buFont typeface="Calibri"/>
              <a:buNone/>
            </a:pPr>
            <a:r>
              <a:rPr b="1" i="0" lang="en" sz="1200" u="none" cap="none" strike="noStrike">
                <a:solidFill>
                  <a:srgbClr val="C62828"/>
                </a:solidFill>
                <a:latin typeface="Calibri"/>
                <a:ea typeface="Calibri"/>
                <a:cs typeface="Calibri"/>
                <a:sym typeface="Calibri"/>
              </a:rPr>
              <a:t>2.  Compute loss: L(y, ŷ)</a:t>
            </a:r>
            <a:endParaRPr b="0" i="0" sz="1200" u="none" cap="none" strike="noStrike">
              <a:solidFill>
                <a:srgbClr val="000000"/>
              </a:solidFill>
              <a:latin typeface="Calibri"/>
              <a:ea typeface="Calibri"/>
              <a:cs typeface="Calibri"/>
              <a:sym typeface="Calibri"/>
            </a:endParaRPr>
          </a:p>
        </p:txBody>
      </p:sp>
      <p:sp>
        <p:nvSpPr>
          <p:cNvPr id="241" name="Google Shape;241;g3f62c33a15b_0_597"/>
          <p:cNvSpPr/>
          <p:nvPr/>
        </p:nvSpPr>
        <p:spPr>
          <a:xfrm>
            <a:off x="5760720" y="2103120"/>
            <a:ext cx="2926200" cy="320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200"/>
              <a:buFont typeface="Calibri"/>
              <a:buNone/>
            </a:pPr>
            <a:r>
              <a:rPr b="0" i="0" lang="en" sz="1200" u="none" cap="none" strike="noStrike">
                <a:solidFill>
                  <a:srgbClr val="37474F"/>
                </a:solidFill>
                <a:latin typeface="Calibri"/>
                <a:ea typeface="Calibri"/>
                <a:cs typeface="Calibri"/>
                <a:sym typeface="Calibri"/>
              </a:rPr>
              <a:t>3.  Backprop gradients</a:t>
            </a:r>
            <a:endParaRPr b="0" i="0" sz="1200" u="none" cap="none" strike="noStrike">
              <a:solidFill>
                <a:srgbClr val="000000"/>
              </a:solidFill>
              <a:latin typeface="Calibri"/>
              <a:ea typeface="Calibri"/>
              <a:cs typeface="Calibri"/>
              <a:sym typeface="Calibri"/>
            </a:endParaRPr>
          </a:p>
        </p:txBody>
      </p:sp>
      <p:sp>
        <p:nvSpPr>
          <p:cNvPr id="242" name="Google Shape;242;g3f62c33a15b_0_597"/>
          <p:cNvSpPr/>
          <p:nvPr/>
        </p:nvSpPr>
        <p:spPr>
          <a:xfrm>
            <a:off x="5760720" y="2441448"/>
            <a:ext cx="2926200" cy="320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200"/>
              <a:buFont typeface="Calibri"/>
              <a:buNone/>
            </a:pPr>
            <a:r>
              <a:rPr b="0" i="0" lang="en" sz="1200" u="none" cap="none" strike="noStrike">
                <a:solidFill>
                  <a:srgbClr val="37474F"/>
                </a:solidFill>
                <a:latin typeface="Calibri"/>
                <a:ea typeface="Calibri"/>
                <a:cs typeface="Calibri"/>
                <a:sym typeface="Calibri"/>
              </a:rPr>
              <a:t>4.  Update weights (optimizer)</a:t>
            </a:r>
            <a:endParaRPr b="0" i="0" sz="1200" u="none" cap="none" strike="noStrike">
              <a:solidFill>
                <a:srgbClr val="000000"/>
              </a:solidFill>
              <a:latin typeface="Calibri"/>
              <a:ea typeface="Calibri"/>
              <a:cs typeface="Calibri"/>
              <a:sym typeface="Calibri"/>
            </a:endParaRPr>
          </a:p>
        </p:txBody>
      </p:sp>
      <p:sp>
        <p:nvSpPr>
          <p:cNvPr id="243" name="Google Shape;243;g3f62c33a15b_0_597"/>
          <p:cNvSpPr/>
          <p:nvPr/>
        </p:nvSpPr>
        <p:spPr>
          <a:xfrm>
            <a:off x="5760720" y="2779776"/>
            <a:ext cx="2926200" cy="320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200"/>
              <a:buFont typeface="Calibri"/>
              <a:buNone/>
            </a:pPr>
            <a:r>
              <a:rPr b="0" i="0" lang="en" sz="1200" u="none" cap="none" strike="noStrike">
                <a:solidFill>
                  <a:srgbClr val="37474F"/>
                </a:solidFill>
                <a:latin typeface="Calibri"/>
                <a:ea typeface="Calibri"/>
                <a:cs typeface="Calibri"/>
                <a:sym typeface="Calibri"/>
              </a:rPr>
              <a:t>5.  Repeat until loss ↓</a:t>
            </a:r>
            <a:endParaRPr b="0" i="0" sz="1200" u="none" cap="none" strike="noStrike">
              <a:solidFill>
                <a:srgbClr val="000000"/>
              </a:solidFill>
              <a:latin typeface="Calibri"/>
              <a:ea typeface="Calibri"/>
              <a:cs typeface="Calibri"/>
              <a:sym typeface="Calibri"/>
            </a:endParaRPr>
          </a:p>
        </p:txBody>
      </p:sp>
      <p:sp>
        <p:nvSpPr>
          <p:cNvPr id="244" name="Google Shape;244;g3f62c33a15b_0_597"/>
          <p:cNvSpPr/>
          <p:nvPr/>
        </p:nvSpPr>
        <p:spPr>
          <a:xfrm>
            <a:off x="365760" y="3310128"/>
            <a:ext cx="84126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37E"/>
              </a:buClr>
              <a:buSzPts val="1200"/>
              <a:buFont typeface="Calibri"/>
              <a:buNone/>
            </a:pPr>
            <a:r>
              <a:rPr b="1" i="0" lang="en" sz="1200" u="none" cap="none" strike="noStrike">
                <a:solidFill>
                  <a:srgbClr val="1A237E"/>
                </a:solidFill>
                <a:latin typeface="Calibri"/>
                <a:ea typeface="Calibri"/>
                <a:cs typeface="Calibri"/>
                <a:sym typeface="Calibri"/>
              </a:rPr>
              <a:t>Choose your loss function based on the task:</a:t>
            </a:r>
            <a:endParaRPr b="0" i="0" sz="1200" u="none" cap="none" strike="noStrike">
              <a:solidFill>
                <a:srgbClr val="000000"/>
              </a:solidFill>
              <a:latin typeface="Calibri"/>
              <a:ea typeface="Calibri"/>
              <a:cs typeface="Calibri"/>
              <a:sym typeface="Calibri"/>
            </a:endParaRPr>
          </a:p>
        </p:txBody>
      </p:sp>
      <p:sp>
        <p:nvSpPr>
          <p:cNvPr id="245" name="Google Shape;245;g3f62c33a15b_0_597"/>
          <p:cNvSpPr/>
          <p:nvPr/>
        </p:nvSpPr>
        <p:spPr>
          <a:xfrm>
            <a:off x="274320" y="3657600"/>
            <a:ext cx="2788800" cy="1206900"/>
          </a:xfrm>
          <a:prstGeom prst="rect">
            <a:avLst/>
          </a:prstGeom>
          <a:solidFill>
            <a:srgbClr val="E3F2FD"/>
          </a:solidFill>
          <a:ln cap="flat" cmpd="sng" w="12700">
            <a:solidFill>
              <a:srgbClr val="1565C0"/>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g3f62c33a15b_0_597"/>
          <p:cNvSpPr/>
          <p:nvPr/>
        </p:nvSpPr>
        <p:spPr>
          <a:xfrm>
            <a:off x="384048" y="3712464"/>
            <a:ext cx="25785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565C0"/>
              </a:buClr>
              <a:buSzPts val="1300"/>
              <a:buFont typeface="Calibri"/>
              <a:buNone/>
            </a:pPr>
            <a:r>
              <a:rPr b="1" i="0" lang="en" sz="1300" u="none" cap="none" strike="noStrike">
                <a:solidFill>
                  <a:srgbClr val="1565C0"/>
                </a:solidFill>
                <a:latin typeface="Calibri"/>
                <a:ea typeface="Calibri"/>
                <a:cs typeface="Calibri"/>
                <a:sym typeface="Calibri"/>
              </a:rPr>
              <a:t>Regression</a:t>
            </a:r>
            <a:endParaRPr b="0" i="0" sz="1300" u="none" cap="none" strike="noStrike">
              <a:solidFill>
                <a:srgbClr val="000000"/>
              </a:solidFill>
              <a:latin typeface="Calibri"/>
              <a:ea typeface="Calibri"/>
              <a:cs typeface="Calibri"/>
              <a:sym typeface="Calibri"/>
            </a:endParaRPr>
          </a:p>
        </p:txBody>
      </p:sp>
      <p:sp>
        <p:nvSpPr>
          <p:cNvPr id="247" name="Google Shape;247;g3f62c33a15b_0_597"/>
          <p:cNvSpPr/>
          <p:nvPr/>
        </p:nvSpPr>
        <p:spPr>
          <a:xfrm>
            <a:off x="384048" y="4005072"/>
            <a:ext cx="25785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565C0"/>
              </a:buClr>
              <a:buSzPts val="1150"/>
              <a:buFont typeface="Calibri"/>
              <a:buNone/>
            </a:pPr>
            <a:r>
              <a:rPr b="1" i="0" lang="en" sz="1150" u="none" cap="none" strike="noStrike">
                <a:solidFill>
                  <a:srgbClr val="1565C0"/>
                </a:solidFill>
                <a:latin typeface="Calibri"/>
                <a:ea typeface="Calibri"/>
                <a:cs typeface="Calibri"/>
                <a:sym typeface="Calibri"/>
              </a:rPr>
              <a:t>→  MSE</a:t>
            </a:r>
            <a:endParaRPr b="0" i="0" sz="1150" u="none" cap="none" strike="noStrike">
              <a:solidFill>
                <a:srgbClr val="000000"/>
              </a:solidFill>
              <a:latin typeface="Calibri"/>
              <a:ea typeface="Calibri"/>
              <a:cs typeface="Calibri"/>
              <a:sym typeface="Calibri"/>
            </a:endParaRPr>
          </a:p>
        </p:txBody>
      </p:sp>
      <p:sp>
        <p:nvSpPr>
          <p:cNvPr id="248" name="Google Shape;248;g3f62c33a15b_0_597"/>
          <p:cNvSpPr/>
          <p:nvPr/>
        </p:nvSpPr>
        <p:spPr>
          <a:xfrm>
            <a:off x="384048" y="4297680"/>
            <a:ext cx="2578500" cy="4938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100"/>
              <a:buFont typeface="Calibri"/>
              <a:buNone/>
            </a:pPr>
            <a:r>
              <a:rPr b="0" i="1" lang="en" sz="1100" u="none" cap="none" strike="noStrike">
                <a:solidFill>
                  <a:srgbClr val="37474F"/>
                </a:solidFill>
                <a:latin typeface="Calibri"/>
                <a:ea typeface="Calibri"/>
                <a:cs typeface="Calibri"/>
                <a:sym typeface="Calibri"/>
              </a:rPr>
              <a:t>Continuous output</a:t>
            </a:r>
            <a:endParaRPr b="0" i="0" sz="11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7474F"/>
              </a:buClr>
              <a:buSzPts val="1100"/>
              <a:buFont typeface="Calibri"/>
              <a:buNone/>
            </a:pPr>
            <a:r>
              <a:rPr b="0" i="1" lang="en" sz="1100" u="none" cap="none" strike="noStrike">
                <a:solidFill>
                  <a:srgbClr val="37474F"/>
                </a:solidFill>
                <a:latin typeface="Calibri"/>
                <a:ea typeface="Calibri"/>
                <a:cs typeface="Calibri"/>
                <a:sym typeface="Calibri"/>
              </a:rPr>
              <a:t>e.g. house price</a:t>
            </a:r>
            <a:endParaRPr b="0" i="0" sz="1100" u="none" cap="none" strike="noStrike">
              <a:solidFill>
                <a:srgbClr val="000000"/>
              </a:solidFill>
              <a:latin typeface="Calibri"/>
              <a:ea typeface="Calibri"/>
              <a:cs typeface="Calibri"/>
              <a:sym typeface="Calibri"/>
            </a:endParaRPr>
          </a:p>
        </p:txBody>
      </p:sp>
      <p:sp>
        <p:nvSpPr>
          <p:cNvPr id="249" name="Google Shape;249;g3f62c33a15b_0_597"/>
          <p:cNvSpPr/>
          <p:nvPr/>
        </p:nvSpPr>
        <p:spPr>
          <a:xfrm>
            <a:off x="3246120" y="3657600"/>
            <a:ext cx="2788800" cy="1206900"/>
          </a:xfrm>
          <a:prstGeom prst="rect">
            <a:avLst/>
          </a:prstGeom>
          <a:solidFill>
            <a:srgbClr val="E8F5E9"/>
          </a:solidFill>
          <a:ln cap="flat" cmpd="sng" w="12700">
            <a:solidFill>
              <a:srgbClr val="2E7D32"/>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g3f62c33a15b_0_597"/>
          <p:cNvSpPr/>
          <p:nvPr/>
        </p:nvSpPr>
        <p:spPr>
          <a:xfrm>
            <a:off x="3355848" y="3712464"/>
            <a:ext cx="25785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E7D32"/>
              </a:buClr>
              <a:buSzPts val="1300"/>
              <a:buFont typeface="Calibri"/>
              <a:buNone/>
            </a:pPr>
            <a:r>
              <a:rPr b="1" i="0" lang="en" sz="1300" u="none" cap="none" strike="noStrike">
                <a:solidFill>
                  <a:srgbClr val="2E7D32"/>
                </a:solidFill>
                <a:latin typeface="Calibri"/>
                <a:ea typeface="Calibri"/>
                <a:cs typeface="Calibri"/>
                <a:sym typeface="Calibri"/>
              </a:rPr>
              <a:t>Binary Classification</a:t>
            </a:r>
            <a:endParaRPr b="0" i="0" sz="1300" u="none" cap="none" strike="noStrike">
              <a:solidFill>
                <a:srgbClr val="000000"/>
              </a:solidFill>
              <a:latin typeface="Calibri"/>
              <a:ea typeface="Calibri"/>
              <a:cs typeface="Calibri"/>
              <a:sym typeface="Calibri"/>
            </a:endParaRPr>
          </a:p>
        </p:txBody>
      </p:sp>
      <p:sp>
        <p:nvSpPr>
          <p:cNvPr id="251" name="Google Shape;251;g3f62c33a15b_0_597"/>
          <p:cNvSpPr/>
          <p:nvPr/>
        </p:nvSpPr>
        <p:spPr>
          <a:xfrm>
            <a:off x="3355848" y="4005072"/>
            <a:ext cx="25785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E7D32"/>
              </a:buClr>
              <a:buSzPts val="1150"/>
              <a:buFont typeface="Calibri"/>
              <a:buNone/>
            </a:pPr>
            <a:r>
              <a:rPr b="1" i="0" lang="en" sz="1150" u="none" cap="none" strike="noStrike">
                <a:solidFill>
                  <a:srgbClr val="2E7D32"/>
                </a:solidFill>
                <a:latin typeface="Calibri"/>
                <a:ea typeface="Calibri"/>
                <a:cs typeface="Calibri"/>
                <a:sym typeface="Calibri"/>
              </a:rPr>
              <a:t>→  Binary Cross-Entropy</a:t>
            </a:r>
            <a:endParaRPr b="0" i="0" sz="1150" u="none" cap="none" strike="noStrike">
              <a:solidFill>
                <a:srgbClr val="000000"/>
              </a:solidFill>
              <a:latin typeface="Calibri"/>
              <a:ea typeface="Calibri"/>
              <a:cs typeface="Calibri"/>
              <a:sym typeface="Calibri"/>
            </a:endParaRPr>
          </a:p>
        </p:txBody>
      </p:sp>
      <p:sp>
        <p:nvSpPr>
          <p:cNvPr id="252" name="Google Shape;252;g3f62c33a15b_0_597"/>
          <p:cNvSpPr/>
          <p:nvPr/>
        </p:nvSpPr>
        <p:spPr>
          <a:xfrm>
            <a:off x="3355848" y="4297680"/>
            <a:ext cx="2578500" cy="4938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100"/>
              <a:buFont typeface="Calibri"/>
              <a:buNone/>
            </a:pPr>
            <a:r>
              <a:rPr b="0" i="1" lang="en" sz="1100" u="none" cap="none" strike="noStrike">
                <a:solidFill>
                  <a:srgbClr val="37474F"/>
                </a:solidFill>
                <a:latin typeface="Calibri"/>
                <a:ea typeface="Calibri"/>
                <a:cs typeface="Calibri"/>
                <a:sym typeface="Calibri"/>
              </a:rPr>
              <a:t>2-class output</a:t>
            </a:r>
            <a:endParaRPr b="0" i="0" sz="11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7474F"/>
              </a:buClr>
              <a:buSzPts val="1100"/>
              <a:buFont typeface="Calibri"/>
              <a:buNone/>
            </a:pPr>
            <a:r>
              <a:rPr b="0" i="1" lang="en" sz="1100" u="none" cap="none" strike="noStrike">
                <a:solidFill>
                  <a:srgbClr val="37474F"/>
                </a:solidFill>
                <a:latin typeface="Calibri"/>
                <a:ea typeface="Calibri"/>
                <a:cs typeface="Calibri"/>
                <a:sym typeface="Calibri"/>
              </a:rPr>
              <a:t>e.g. spam / not spam</a:t>
            </a:r>
            <a:endParaRPr b="0" i="0" sz="1100" u="none" cap="none" strike="noStrike">
              <a:solidFill>
                <a:srgbClr val="000000"/>
              </a:solidFill>
              <a:latin typeface="Calibri"/>
              <a:ea typeface="Calibri"/>
              <a:cs typeface="Calibri"/>
              <a:sym typeface="Calibri"/>
            </a:endParaRPr>
          </a:p>
        </p:txBody>
      </p:sp>
      <p:sp>
        <p:nvSpPr>
          <p:cNvPr id="253" name="Google Shape;253;g3f62c33a15b_0_597"/>
          <p:cNvSpPr/>
          <p:nvPr/>
        </p:nvSpPr>
        <p:spPr>
          <a:xfrm>
            <a:off x="6217920" y="3657600"/>
            <a:ext cx="2788800" cy="1206900"/>
          </a:xfrm>
          <a:prstGeom prst="rect">
            <a:avLst/>
          </a:prstGeom>
          <a:solidFill>
            <a:srgbClr val="F3E5F5"/>
          </a:solidFill>
          <a:ln cap="flat" cmpd="sng" w="12700">
            <a:solidFill>
              <a:srgbClr val="6A1B9A"/>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g3f62c33a15b_0_597"/>
          <p:cNvSpPr/>
          <p:nvPr/>
        </p:nvSpPr>
        <p:spPr>
          <a:xfrm>
            <a:off x="6327648" y="3712464"/>
            <a:ext cx="25785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A1B9A"/>
              </a:buClr>
              <a:buSzPts val="1300"/>
              <a:buFont typeface="Calibri"/>
              <a:buNone/>
            </a:pPr>
            <a:r>
              <a:rPr b="1" i="0" lang="en" sz="1300" u="none" cap="none" strike="noStrike">
                <a:solidFill>
                  <a:srgbClr val="6A1B9A"/>
                </a:solidFill>
                <a:latin typeface="Calibri"/>
                <a:ea typeface="Calibri"/>
                <a:cs typeface="Calibri"/>
                <a:sym typeface="Calibri"/>
              </a:rPr>
              <a:t>Multi-class</a:t>
            </a:r>
            <a:endParaRPr b="0" i="0" sz="1300" u="none" cap="none" strike="noStrike">
              <a:solidFill>
                <a:srgbClr val="000000"/>
              </a:solidFill>
              <a:latin typeface="Calibri"/>
              <a:ea typeface="Calibri"/>
              <a:cs typeface="Calibri"/>
              <a:sym typeface="Calibri"/>
            </a:endParaRPr>
          </a:p>
        </p:txBody>
      </p:sp>
      <p:sp>
        <p:nvSpPr>
          <p:cNvPr id="255" name="Google Shape;255;g3f62c33a15b_0_597"/>
          <p:cNvSpPr/>
          <p:nvPr/>
        </p:nvSpPr>
        <p:spPr>
          <a:xfrm>
            <a:off x="6327648" y="4005072"/>
            <a:ext cx="25785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A1B9A"/>
              </a:buClr>
              <a:buSzPts val="1150"/>
              <a:buFont typeface="Calibri"/>
              <a:buNone/>
            </a:pPr>
            <a:r>
              <a:rPr b="1" i="0" lang="en" sz="1150" u="none" cap="none" strike="noStrike">
                <a:solidFill>
                  <a:srgbClr val="6A1B9A"/>
                </a:solidFill>
                <a:latin typeface="Calibri"/>
                <a:ea typeface="Calibri"/>
                <a:cs typeface="Calibri"/>
                <a:sym typeface="Calibri"/>
              </a:rPr>
              <a:t>→  Categorical Cross-Entropy</a:t>
            </a:r>
            <a:endParaRPr b="0" i="0" sz="1150" u="none" cap="none" strike="noStrike">
              <a:solidFill>
                <a:srgbClr val="000000"/>
              </a:solidFill>
              <a:latin typeface="Calibri"/>
              <a:ea typeface="Calibri"/>
              <a:cs typeface="Calibri"/>
              <a:sym typeface="Calibri"/>
            </a:endParaRPr>
          </a:p>
        </p:txBody>
      </p:sp>
      <p:sp>
        <p:nvSpPr>
          <p:cNvPr id="256" name="Google Shape;256;g3f62c33a15b_0_597"/>
          <p:cNvSpPr/>
          <p:nvPr/>
        </p:nvSpPr>
        <p:spPr>
          <a:xfrm>
            <a:off x="6327648" y="4297680"/>
            <a:ext cx="2578500" cy="4938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100"/>
              <a:buFont typeface="Calibri"/>
              <a:buNone/>
            </a:pPr>
            <a:r>
              <a:rPr b="0" i="1" lang="en" sz="1100" u="none" cap="none" strike="noStrike">
                <a:solidFill>
                  <a:srgbClr val="37474F"/>
                </a:solidFill>
                <a:latin typeface="Calibri"/>
                <a:ea typeface="Calibri"/>
                <a:cs typeface="Calibri"/>
                <a:sym typeface="Calibri"/>
              </a:rPr>
              <a:t>3+ classes</a:t>
            </a:r>
            <a:endParaRPr b="0" i="0" sz="11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7474F"/>
              </a:buClr>
              <a:buSzPts val="1100"/>
              <a:buFont typeface="Calibri"/>
              <a:buNone/>
            </a:pPr>
            <a:r>
              <a:rPr b="0" i="1" lang="en" sz="1100" u="none" cap="none" strike="noStrike">
                <a:solidFill>
                  <a:srgbClr val="37474F"/>
                </a:solidFill>
                <a:latin typeface="Calibri"/>
                <a:ea typeface="Calibri"/>
                <a:cs typeface="Calibri"/>
                <a:sym typeface="Calibri"/>
              </a:rPr>
              <a:t>e.g. cat / dog / bird</a:t>
            </a:r>
            <a:endParaRPr b="0" i="0" sz="1100" u="none" cap="none" strike="noStrike">
              <a:solidFill>
                <a:srgbClr val="000000"/>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60" name="Shape 260"/>
        <p:cNvGrpSpPr/>
        <p:nvPr/>
      </p:nvGrpSpPr>
      <p:grpSpPr>
        <a:xfrm>
          <a:off x="0" y="0"/>
          <a:ext cx="0" cy="0"/>
          <a:chOff x="0" y="0"/>
          <a:chExt cx="0" cy="0"/>
        </a:xfrm>
      </p:grpSpPr>
      <p:pic>
        <p:nvPicPr>
          <p:cNvPr id="261" name="Google Shape;261;g3f62c33a15b_0_626"/>
          <p:cNvPicPr preferRelativeResize="0"/>
          <p:nvPr/>
        </p:nvPicPr>
        <p:blipFill rotWithShape="1">
          <a:blip r:embed="rId4">
            <a:alphaModFix/>
          </a:blip>
          <a:srcRect b="0" l="0" r="0" t="0"/>
          <a:stretch/>
        </p:blipFill>
        <p:spPr>
          <a:xfrm>
            <a:off x="8369125" y="0"/>
            <a:ext cx="774877" cy="867174"/>
          </a:xfrm>
          <a:prstGeom prst="rect">
            <a:avLst/>
          </a:prstGeom>
          <a:noFill/>
          <a:ln>
            <a:noFill/>
          </a:ln>
        </p:spPr>
      </p:pic>
      <p:sp>
        <p:nvSpPr>
          <p:cNvPr id="262" name="Google Shape;262;g3f62c33a15b_0_626"/>
          <p:cNvSpPr/>
          <p:nvPr/>
        </p:nvSpPr>
        <p:spPr>
          <a:xfrm>
            <a:off x="365760" y="91440"/>
            <a:ext cx="7863900" cy="658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A237E"/>
              </a:buClr>
              <a:buSzPts val="3000"/>
              <a:buFont typeface="Calibri"/>
              <a:buNone/>
            </a:pPr>
            <a:r>
              <a:rPr b="1" i="0" lang="en" sz="3000" u="none" cap="none" strike="noStrike">
                <a:solidFill>
                  <a:srgbClr val="1A237E"/>
                </a:solidFill>
                <a:latin typeface="Calibri"/>
                <a:ea typeface="Calibri"/>
                <a:cs typeface="Calibri"/>
                <a:sym typeface="Calibri"/>
              </a:rPr>
              <a:t>Loss Function 1 — Mean Squared Error (MSE)</a:t>
            </a:r>
            <a:endParaRPr b="0" i="0" sz="3000" u="none" cap="none" strike="noStrike">
              <a:solidFill>
                <a:srgbClr val="000000"/>
              </a:solidFill>
              <a:latin typeface="Calibri"/>
              <a:ea typeface="Calibri"/>
              <a:cs typeface="Calibri"/>
              <a:sym typeface="Calibri"/>
            </a:endParaRPr>
          </a:p>
        </p:txBody>
      </p:sp>
      <p:sp>
        <p:nvSpPr>
          <p:cNvPr id="263" name="Google Shape;263;g3f62c33a15b_0_626"/>
          <p:cNvSpPr/>
          <p:nvPr/>
        </p:nvSpPr>
        <p:spPr>
          <a:xfrm>
            <a:off x="274320" y="914400"/>
            <a:ext cx="5074800" cy="3977700"/>
          </a:xfrm>
          <a:prstGeom prst="rect">
            <a:avLst/>
          </a:prstGeom>
          <a:solidFill>
            <a:srgbClr val="E3F2FD"/>
          </a:solidFill>
          <a:ln cap="flat" cmpd="sng" w="12700">
            <a:solidFill>
              <a:srgbClr val="90CAF9"/>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g3f62c33a15b_0_626"/>
          <p:cNvSpPr/>
          <p:nvPr/>
        </p:nvSpPr>
        <p:spPr>
          <a:xfrm>
            <a:off x="274320" y="914400"/>
            <a:ext cx="5074800" cy="438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Calibri"/>
              <a:buNone/>
            </a:pPr>
            <a:r>
              <a:rPr b="1" i="0" lang="en" sz="1600" u="none" cap="none" strike="noStrike">
                <a:solidFill>
                  <a:schemeClr val="dk1"/>
                </a:solidFill>
                <a:latin typeface="Calibri"/>
                <a:ea typeface="Calibri"/>
                <a:cs typeface="Calibri"/>
                <a:sym typeface="Calibri"/>
              </a:rPr>
              <a:t>Mean Squared Error  —  Regression Tasks</a:t>
            </a:r>
            <a:endParaRPr b="0" i="0" sz="1600" u="none" cap="none" strike="noStrike">
              <a:solidFill>
                <a:schemeClr val="dk1"/>
              </a:solidFill>
              <a:latin typeface="Calibri"/>
              <a:ea typeface="Calibri"/>
              <a:cs typeface="Calibri"/>
              <a:sym typeface="Calibri"/>
            </a:endParaRPr>
          </a:p>
        </p:txBody>
      </p:sp>
      <p:sp>
        <p:nvSpPr>
          <p:cNvPr id="265" name="Google Shape;265;g3f62c33a15b_0_626"/>
          <p:cNvSpPr/>
          <p:nvPr/>
        </p:nvSpPr>
        <p:spPr>
          <a:xfrm>
            <a:off x="411480" y="1444752"/>
            <a:ext cx="4800600" cy="530400"/>
          </a:xfrm>
          <a:prstGeom prst="rect">
            <a:avLst/>
          </a:prstGeom>
          <a:solidFill>
            <a:srgbClr val="FFFFFF"/>
          </a:solidFill>
          <a:ln cap="flat" cmpd="sng" w="15225">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g3f62c33a15b_0_626"/>
          <p:cNvSpPr/>
          <p:nvPr/>
        </p:nvSpPr>
        <p:spPr>
          <a:xfrm>
            <a:off x="521208" y="1444752"/>
            <a:ext cx="4581000" cy="530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565C0"/>
              </a:buClr>
              <a:buSzPts val="1300"/>
              <a:buFont typeface="Consolas"/>
              <a:buNone/>
            </a:pPr>
            <a:r>
              <a:rPr b="1" i="0" lang="en" sz="1300" u="none" cap="none" strike="noStrike">
                <a:solidFill>
                  <a:srgbClr val="1565C0"/>
                </a:solidFill>
                <a:latin typeface="Consolas"/>
                <a:ea typeface="Consolas"/>
                <a:cs typeface="Consolas"/>
                <a:sym typeface="Consolas"/>
              </a:rPr>
              <a:t>MSE  =  (1/n) × Σ (yᵢ − ŷᵢ)²</a:t>
            </a:r>
            <a:endParaRPr b="0" i="0" sz="1300" u="none" cap="none" strike="noStrike">
              <a:solidFill>
                <a:srgbClr val="000000"/>
              </a:solidFill>
              <a:latin typeface="Calibri"/>
              <a:ea typeface="Calibri"/>
              <a:cs typeface="Calibri"/>
              <a:sym typeface="Calibri"/>
            </a:endParaRPr>
          </a:p>
        </p:txBody>
      </p:sp>
      <p:sp>
        <p:nvSpPr>
          <p:cNvPr id="267" name="Google Shape;267;g3f62c33a15b_0_626"/>
          <p:cNvSpPr/>
          <p:nvPr/>
        </p:nvSpPr>
        <p:spPr>
          <a:xfrm>
            <a:off x="457200" y="2066544"/>
            <a:ext cx="46635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565C0"/>
              </a:buClr>
              <a:buSzPts val="1150"/>
              <a:buFont typeface="Calibri"/>
              <a:buNone/>
            </a:pPr>
            <a:r>
              <a:rPr b="1" i="0" lang="en" sz="1150" u="none" cap="none" strike="noStrike">
                <a:solidFill>
                  <a:srgbClr val="1565C0"/>
                </a:solidFill>
                <a:latin typeface="Calibri"/>
                <a:ea typeface="Calibri"/>
                <a:cs typeface="Calibri"/>
                <a:sym typeface="Calibri"/>
              </a:rPr>
              <a:t>Where:</a:t>
            </a:r>
            <a:endParaRPr b="0" i="0" sz="1150" u="none" cap="none" strike="noStrike">
              <a:solidFill>
                <a:srgbClr val="000000"/>
              </a:solidFill>
              <a:latin typeface="Calibri"/>
              <a:ea typeface="Calibri"/>
              <a:cs typeface="Calibri"/>
              <a:sym typeface="Calibri"/>
            </a:endParaRPr>
          </a:p>
        </p:txBody>
      </p:sp>
      <p:sp>
        <p:nvSpPr>
          <p:cNvPr id="268" name="Google Shape;268;g3f62c33a15b_0_626"/>
          <p:cNvSpPr/>
          <p:nvPr/>
        </p:nvSpPr>
        <p:spPr>
          <a:xfrm>
            <a:off x="548640" y="2304288"/>
            <a:ext cx="4572000" cy="25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200"/>
              <a:buFont typeface="Consolas"/>
              <a:buNone/>
            </a:pPr>
            <a:r>
              <a:rPr b="0" i="0" lang="en" sz="1200" u="none" cap="none" strike="noStrike">
                <a:solidFill>
                  <a:srgbClr val="37474F"/>
                </a:solidFill>
                <a:latin typeface="Consolas"/>
                <a:ea typeface="Consolas"/>
                <a:cs typeface="Consolas"/>
                <a:sym typeface="Consolas"/>
              </a:rPr>
              <a:t>yᵢ  =  actual (true) value</a:t>
            </a:r>
            <a:endParaRPr b="0" i="0" sz="1200" u="none" cap="none" strike="noStrike">
              <a:solidFill>
                <a:srgbClr val="000000"/>
              </a:solidFill>
              <a:latin typeface="Calibri"/>
              <a:ea typeface="Calibri"/>
              <a:cs typeface="Calibri"/>
              <a:sym typeface="Calibri"/>
            </a:endParaRPr>
          </a:p>
        </p:txBody>
      </p:sp>
      <p:sp>
        <p:nvSpPr>
          <p:cNvPr id="269" name="Google Shape;269;g3f62c33a15b_0_626"/>
          <p:cNvSpPr/>
          <p:nvPr/>
        </p:nvSpPr>
        <p:spPr>
          <a:xfrm>
            <a:off x="548640" y="2578608"/>
            <a:ext cx="4572000" cy="25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200"/>
              <a:buFont typeface="Consolas"/>
              <a:buNone/>
            </a:pPr>
            <a:r>
              <a:rPr b="0" i="0" lang="en" sz="1200" u="none" cap="none" strike="noStrike">
                <a:solidFill>
                  <a:srgbClr val="37474F"/>
                </a:solidFill>
                <a:latin typeface="Consolas"/>
                <a:ea typeface="Consolas"/>
                <a:cs typeface="Consolas"/>
                <a:sym typeface="Consolas"/>
              </a:rPr>
              <a:t>ŷᵢ  =  predicted value</a:t>
            </a:r>
            <a:endParaRPr b="0" i="0" sz="1200" u="none" cap="none" strike="noStrike">
              <a:solidFill>
                <a:srgbClr val="000000"/>
              </a:solidFill>
              <a:latin typeface="Calibri"/>
              <a:ea typeface="Calibri"/>
              <a:cs typeface="Calibri"/>
              <a:sym typeface="Calibri"/>
            </a:endParaRPr>
          </a:p>
        </p:txBody>
      </p:sp>
      <p:sp>
        <p:nvSpPr>
          <p:cNvPr id="270" name="Google Shape;270;g3f62c33a15b_0_626"/>
          <p:cNvSpPr/>
          <p:nvPr/>
        </p:nvSpPr>
        <p:spPr>
          <a:xfrm>
            <a:off x="548640" y="2852928"/>
            <a:ext cx="4572000" cy="25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200"/>
              <a:buFont typeface="Consolas"/>
              <a:buNone/>
            </a:pPr>
            <a:r>
              <a:rPr b="0" i="0" lang="en" sz="1200" u="none" cap="none" strike="noStrike">
                <a:solidFill>
                  <a:srgbClr val="37474F"/>
                </a:solidFill>
                <a:latin typeface="Consolas"/>
                <a:ea typeface="Consolas"/>
                <a:cs typeface="Consolas"/>
                <a:sym typeface="Consolas"/>
              </a:rPr>
              <a:t>n   =  number of samples</a:t>
            </a:r>
            <a:endParaRPr b="0" i="0" sz="1200" u="none" cap="none" strike="noStrike">
              <a:solidFill>
                <a:srgbClr val="000000"/>
              </a:solidFill>
              <a:latin typeface="Calibri"/>
              <a:ea typeface="Calibri"/>
              <a:cs typeface="Calibri"/>
              <a:sym typeface="Calibri"/>
            </a:endParaRPr>
          </a:p>
        </p:txBody>
      </p:sp>
      <p:sp>
        <p:nvSpPr>
          <p:cNvPr id="271" name="Google Shape;271;g3f62c33a15b_0_626"/>
          <p:cNvSpPr/>
          <p:nvPr/>
        </p:nvSpPr>
        <p:spPr>
          <a:xfrm>
            <a:off x="548640" y="3127248"/>
            <a:ext cx="4572000" cy="25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200"/>
              <a:buFont typeface="Consolas"/>
              <a:buNone/>
            </a:pPr>
            <a:r>
              <a:rPr b="0" i="0" lang="en" sz="1200" u="none" cap="none" strike="noStrike">
                <a:solidFill>
                  <a:srgbClr val="37474F"/>
                </a:solidFill>
                <a:latin typeface="Consolas"/>
                <a:ea typeface="Consolas"/>
                <a:cs typeface="Consolas"/>
                <a:sym typeface="Consolas"/>
              </a:rPr>
              <a:t>Σ   =  sum over all samples</a:t>
            </a:r>
            <a:endParaRPr b="0" i="0" sz="1200" u="none" cap="none" strike="noStrike">
              <a:solidFill>
                <a:srgbClr val="000000"/>
              </a:solidFill>
              <a:latin typeface="Calibri"/>
              <a:ea typeface="Calibri"/>
              <a:cs typeface="Calibri"/>
              <a:sym typeface="Calibri"/>
            </a:endParaRPr>
          </a:p>
        </p:txBody>
      </p:sp>
      <p:sp>
        <p:nvSpPr>
          <p:cNvPr id="272" name="Google Shape;272;g3f62c33a15b_0_626"/>
          <p:cNvSpPr/>
          <p:nvPr/>
        </p:nvSpPr>
        <p:spPr>
          <a:xfrm>
            <a:off x="457200" y="3456432"/>
            <a:ext cx="4663500" cy="25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565C0"/>
              </a:buClr>
              <a:buSzPts val="1200"/>
              <a:buFont typeface="Calibri"/>
              <a:buNone/>
            </a:pPr>
            <a:r>
              <a:rPr b="1" i="0" lang="en" sz="1200" u="none" cap="none" strike="noStrike">
                <a:solidFill>
                  <a:srgbClr val="1565C0"/>
                </a:solidFill>
                <a:latin typeface="Calibri"/>
                <a:ea typeface="Calibri"/>
                <a:cs typeface="Calibri"/>
                <a:sym typeface="Calibri"/>
              </a:rPr>
              <a:t>Key Properties</a:t>
            </a:r>
            <a:endParaRPr b="0" i="0" sz="1200" u="none" cap="none" strike="noStrike">
              <a:solidFill>
                <a:srgbClr val="000000"/>
              </a:solidFill>
              <a:latin typeface="Calibri"/>
              <a:ea typeface="Calibri"/>
              <a:cs typeface="Calibri"/>
              <a:sym typeface="Calibri"/>
            </a:endParaRPr>
          </a:p>
        </p:txBody>
      </p:sp>
      <p:sp>
        <p:nvSpPr>
          <p:cNvPr id="273" name="Google Shape;273;g3f62c33a15b_0_626"/>
          <p:cNvSpPr/>
          <p:nvPr/>
        </p:nvSpPr>
        <p:spPr>
          <a:xfrm>
            <a:off x="548640" y="3749040"/>
            <a:ext cx="4663500" cy="25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200"/>
              <a:buFont typeface="Calibri"/>
              <a:buNone/>
            </a:pPr>
            <a:r>
              <a:rPr b="0" i="0" lang="en" sz="1200" u="none" cap="none" strike="noStrike">
                <a:solidFill>
                  <a:srgbClr val="37474F"/>
                </a:solidFill>
                <a:latin typeface="Calibri"/>
                <a:ea typeface="Calibri"/>
                <a:cs typeface="Calibri"/>
                <a:sym typeface="Calibri"/>
              </a:rPr>
              <a:t>• Penalises large errors more heavily (squared)</a:t>
            </a:r>
            <a:endParaRPr b="0" i="0" sz="1200" u="none" cap="none" strike="noStrike">
              <a:solidFill>
                <a:srgbClr val="000000"/>
              </a:solidFill>
              <a:latin typeface="Calibri"/>
              <a:ea typeface="Calibri"/>
              <a:cs typeface="Calibri"/>
              <a:sym typeface="Calibri"/>
            </a:endParaRPr>
          </a:p>
        </p:txBody>
      </p:sp>
      <p:sp>
        <p:nvSpPr>
          <p:cNvPr id="274" name="Google Shape;274;g3f62c33a15b_0_626"/>
          <p:cNvSpPr/>
          <p:nvPr/>
        </p:nvSpPr>
        <p:spPr>
          <a:xfrm>
            <a:off x="548640" y="4023360"/>
            <a:ext cx="4663500" cy="25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200"/>
              <a:buFont typeface="Calibri"/>
              <a:buNone/>
            </a:pPr>
            <a:r>
              <a:rPr b="0" i="0" lang="en" sz="1200" u="none" cap="none" strike="noStrike">
                <a:solidFill>
                  <a:srgbClr val="37474F"/>
                </a:solidFill>
                <a:latin typeface="Calibri"/>
                <a:ea typeface="Calibri"/>
                <a:cs typeface="Calibri"/>
                <a:sym typeface="Calibri"/>
              </a:rPr>
              <a:t>• Always non-negative; perfect fit → MSE = 0</a:t>
            </a:r>
            <a:endParaRPr b="0" i="0" sz="1200" u="none" cap="none" strike="noStrike">
              <a:solidFill>
                <a:srgbClr val="000000"/>
              </a:solidFill>
              <a:latin typeface="Calibri"/>
              <a:ea typeface="Calibri"/>
              <a:cs typeface="Calibri"/>
              <a:sym typeface="Calibri"/>
            </a:endParaRPr>
          </a:p>
        </p:txBody>
      </p:sp>
      <p:sp>
        <p:nvSpPr>
          <p:cNvPr id="275" name="Google Shape;275;g3f62c33a15b_0_626"/>
          <p:cNvSpPr/>
          <p:nvPr/>
        </p:nvSpPr>
        <p:spPr>
          <a:xfrm>
            <a:off x="548640" y="4297680"/>
            <a:ext cx="4663500" cy="25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200"/>
              <a:buFont typeface="Calibri"/>
              <a:buNone/>
            </a:pPr>
            <a:r>
              <a:rPr b="0" i="0" lang="en" sz="1200" u="none" cap="none" strike="noStrike">
                <a:solidFill>
                  <a:srgbClr val="37474F"/>
                </a:solidFill>
                <a:latin typeface="Calibri"/>
                <a:ea typeface="Calibri"/>
                <a:cs typeface="Calibri"/>
                <a:sym typeface="Calibri"/>
              </a:rPr>
              <a:t>• Differentiable → works well with gradient descent</a:t>
            </a:r>
            <a:endParaRPr b="0" i="0" sz="1200" u="none" cap="none" strike="noStrike">
              <a:solidFill>
                <a:srgbClr val="000000"/>
              </a:solidFill>
              <a:latin typeface="Calibri"/>
              <a:ea typeface="Calibri"/>
              <a:cs typeface="Calibri"/>
              <a:sym typeface="Calibri"/>
            </a:endParaRPr>
          </a:p>
        </p:txBody>
      </p:sp>
      <p:sp>
        <p:nvSpPr>
          <p:cNvPr id="276" name="Google Shape;276;g3f62c33a15b_0_626"/>
          <p:cNvSpPr/>
          <p:nvPr/>
        </p:nvSpPr>
        <p:spPr>
          <a:xfrm>
            <a:off x="5532120" y="914400"/>
            <a:ext cx="3337500" cy="3977700"/>
          </a:xfrm>
          <a:prstGeom prst="rect">
            <a:avLst/>
          </a:prstGeom>
          <a:solidFill>
            <a:srgbClr val="F5F5F5"/>
          </a:solidFill>
          <a:ln cap="flat" cmpd="sng" w="12700">
            <a:solidFill>
              <a:srgbClr val="BDBDBD"/>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g3f62c33a15b_0_626"/>
          <p:cNvSpPr/>
          <p:nvPr/>
        </p:nvSpPr>
        <p:spPr>
          <a:xfrm>
            <a:off x="5532120" y="914400"/>
            <a:ext cx="3337500" cy="438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Calibri"/>
              <a:buNone/>
            </a:pPr>
            <a:r>
              <a:rPr b="1" i="0" lang="en" sz="1600" u="none" cap="none" strike="noStrike">
                <a:solidFill>
                  <a:schemeClr val="dk1"/>
                </a:solidFill>
                <a:latin typeface="Calibri"/>
                <a:ea typeface="Calibri"/>
                <a:cs typeface="Calibri"/>
                <a:sym typeface="Calibri"/>
              </a:rPr>
              <a:t>Intuition</a:t>
            </a:r>
            <a:endParaRPr b="0" i="0" sz="1600" u="none" cap="none" strike="noStrike">
              <a:solidFill>
                <a:schemeClr val="dk1"/>
              </a:solidFill>
              <a:latin typeface="Calibri"/>
              <a:ea typeface="Calibri"/>
              <a:cs typeface="Calibri"/>
              <a:sym typeface="Calibri"/>
            </a:endParaRPr>
          </a:p>
        </p:txBody>
      </p:sp>
      <p:sp>
        <p:nvSpPr>
          <p:cNvPr id="278" name="Google Shape;278;g3f62c33a15b_0_626"/>
          <p:cNvSpPr/>
          <p:nvPr/>
        </p:nvSpPr>
        <p:spPr>
          <a:xfrm>
            <a:off x="5669280" y="1435608"/>
            <a:ext cx="3063300" cy="347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200"/>
              <a:buFont typeface="Calibri"/>
              <a:buNone/>
            </a:pPr>
            <a:r>
              <a:rPr b="0" i="1" lang="en" sz="1200" u="none" cap="none" strike="noStrike">
                <a:solidFill>
                  <a:srgbClr val="37474F"/>
                </a:solidFill>
                <a:latin typeface="Calibri"/>
                <a:ea typeface="Calibri"/>
                <a:cs typeface="Calibri"/>
                <a:sym typeface="Calibri"/>
              </a:rPr>
              <a:t>Imagine you're predicting house prices:</a:t>
            </a:r>
            <a:endParaRPr b="0" i="0" sz="1200" u="none" cap="none" strike="noStrike">
              <a:solidFill>
                <a:srgbClr val="000000"/>
              </a:solidFill>
              <a:latin typeface="Calibri"/>
              <a:ea typeface="Calibri"/>
              <a:cs typeface="Calibri"/>
              <a:sym typeface="Calibri"/>
            </a:endParaRPr>
          </a:p>
        </p:txBody>
      </p:sp>
      <p:sp>
        <p:nvSpPr>
          <p:cNvPr id="279" name="Google Shape;279;g3f62c33a15b_0_626"/>
          <p:cNvSpPr/>
          <p:nvPr/>
        </p:nvSpPr>
        <p:spPr>
          <a:xfrm>
            <a:off x="5669280" y="1865376"/>
            <a:ext cx="960000" cy="347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050"/>
              <a:buFont typeface="Calibri"/>
              <a:buNone/>
            </a:pPr>
            <a:r>
              <a:rPr b="1" i="0" lang="en" sz="1050" u="none" cap="none" strike="noStrike">
                <a:solidFill>
                  <a:schemeClr val="dk1"/>
                </a:solidFill>
                <a:latin typeface="Calibri"/>
                <a:ea typeface="Calibri"/>
                <a:cs typeface="Calibri"/>
                <a:sym typeface="Calibri"/>
              </a:rPr>
              <a:t>Actual (y)</a:t>
            </a:r>
            <a:endParaRPr b="0" i="0" sz="1050" u="none" cap="none" strike="noStrike">
              <a:solidFill>
                <a:schemeClr val="dk1"/>
              </a:solidFill>
              <a:latin typeface="Calibri"/>
              <a:ea typeface="Calibri"/>
              <a:cs typeface="Calibri"/>
              <a:sym typeface="Calibri"/>
            </a:endParaRPr>
          </a:p>
        </p:txBody>
      </p:sp>
      <p:sp>
        <p:nvSpPr>
          <p:cNvPr id="280" name="Google Shape;280;g3f62c33a15b_0_626"/>
          <p:cNvSpPr/>
          <p:nvPr/>
        </p:nvSpPr>
        <p:spPr>
          <a:xfrm>
            <a:off x="6629400" y="1865376"/>
            <a:ext cx="1097400" cy="347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050"/>
              <a:buFont typeface="Calibri"/>
              <a:buNone/>
            </a:pPr>
            <a:r>
              <a:rPr b="1" i="0" lang="en" sz="1050" u="none" cap="none" strike="noStrike">
                <a:solidFill>
                  <a:schemeClr val="dk1"/>
                </a:solidFill>
                <a:latin typeface="Calibri"/>
                <a:ea typeface="Calibri"/>
                <a:cs typeface="Calibri"/>
                <a:sym typeface="Calibri"/>
              </a:rPr>
              <a:t>Predicted (ŷ)</a:t>
            </a:r>
            <a:endParaRPr b="0" i="0" sz="1050" u="none" cap="none" strike="noStrike">
              <a:solidFill>
                <a:schemeClr val="dk1"/>
              </a:solidFill>
              <a:latin typeface="Calibri"/>
              <a:ea typeface="Calibri"/>
              <a:cs typeface="Calibri"/>
              <a:sym typeface="Calibri"/>
            </a:endParaRPr>
          </a:p>
        </p:txBody>
      </p:sp>
      <p:sp>
        <p:nvSpPr>
          <p:cNvPr id="281" name="Google Shape;281;g3f62c33a15b_0_626"/>
          <p:cNvSpPr/>
          <p:nvPr/>
        </p:nvSpPr>
        <p:spPr>
          <a:xfrm>
            <a:off x="7726680" y="1865376"/>
            <a:ext cx="914400" cy="347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050"/>
              <a:buFont typeface="Calibri"/>
              <a:buNone/>
            </a:pPr>
            <a:r>
              <a:rPr b="1" i="0" lang="en" sz="1050" u="none" cap="none" strike="noStrike">
                <a:solidFill>
                  <a:schemeClr val="dk1"/>
                </a:solidFill>
                <a:latin typeface="Calibri"/>
                <a:ea typeface="Calibri"/>
                <a:cs typeface="Calibri"/>
                <a:sym typeface="Calibri"/>
              </a:rPr>
              <a:t>Error²</a:t>
            </a:r>
            <a:endParaRPr b="0" i="0" sz="1050" u="none" cap="none" strike="noStrike">
              <a:solidFill>
                <a:schemeClr val="dk1"/>
              </a:solidFill>
              <a:latin typeface="Calibri"/>
              <a:ea typeface="Calibri"/>
              <a:cs typeface="Calibri"/>
              <a:sym typeface="Calibri"/>
            </a:endParaRPr>
          </a:p>
        </p:txBody>
      </p:sp>
      <p:sp>
        <p:nvSpPr>
          <p:cNvPr id="282" name="Google Shape;282;g3f62c33a15b_0_626"/>
          <p:cNvSpPr/>
          <p:nvPr/>
        </p:nvSpPr>
        <p:spPr>
          <a:xfrm>
            <a:off x="5669280" y="2212848"/>
            <a:ext cx="960000" cy="347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12121"/>
              </a:buClr>
              <a:buSzPts val="1050"/>
              <a:buFont typeface="Calibri"/>
              <a:buNone/>
            </a:pPr>
            <a:r>
              <a:rPr b="0" i="0" lang="en" sz="1050" u="none" cap="none" strike="noStrike">
                <a:solidFill>
                  <a:srgbClr val="212121"/>
                </a:solidFill>
                <a:latin typeface="Calibri"/>
                <a:ea typeface="Calibri"/>
                <a:cs typeface="Calibri"/>
                <a:sym typeface="Calibri"/>
              </a:rPr>
              <a:t>300K</a:t>
            </a:r>
            <a:endParaRPr b="0" i="0" sz="1050" u="none" cap="none" strike="noStrike">
              <a:solidFill>
                <a:srgbClr val="000000"/>
              </a:solidFill>
              <a:latin typeface="Calibri"/>
              <a:ea typeface="Calibri"/>
              <a:cs typeface="Calibri"/>
              <a:sym typeface="Calibri"/>
            </a:endParaRPr>
          </a:p>
        </p:txBody>
      </p:sp>
      <p:sp>
        <p:nvSpPr>
          <p:cNvPr id="283" name="Google Shape;283;g3f62c33a15b_0_626"/>
          <p:cNvSpPr/>
          <p:nvPr/>
        </p:nvSpPr>
        <p:spPr>
          <a:xfrm>
            <a:off x="6629400" y="2212848"/>
            <a:ext cx="1097400" cy="347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12121"/>
              </a:buClr>
              <a:buSzPts val="1050"/>
              <a:buFont typeface="Calibri"/>
              <a:buNone/>
            </a:pPr>
            <a:r>
              <a:rPr b="0" i="0" lang="en" sz="1050" u="none" cap="none" strike="noStrike">
                <a:solidFill>
                  <a:srgbClr val="212121"/>
                </a:solidFill>
                <a:latin typeface="Calibri"/>
                <a:ea typeface="Calibri"/>
                <a:cs typeface="Calibri"/>
                <a:sym typeface="Calibri"/>
              </a:rPr>
              <a:t>280K</a:t>
            </a:r>
            <a:endParaRPr b="0" i="0" sz="1050" u="none" cap="none" strike="noStrike">
              <a:solidFill>
                <a:srgbClr val="000000"/>
              </a:solidFill>
              <a:latin typeface="Calibri"/>
              <a:ea typeface="Calibri"/>
              <a:cs typeface="Calibri"/>
              <a:sym typeface="Calibri"/>
            </a:endParaRPr>
          </a:p>
        </p:txBody>
      </p:sp>
      <p:sp>
        <p:nvSpPr>
          <p:cNvPr id="284" name="Google Shape;284;g3f62c33a15b_0_626"/>
          <p:cNvSpPr/>
          <p:nvPr/>
        </p:nvSpPr>
        <p:spPr>
          <a:xfrm>
            <a:off x="7726680" y="2212848"/>
            <a:ext cx="914400" cy="347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12121"/>
              </a:buClr>
              <a:buSzPts val="1050"/>
              <a:buFont typeface="Calibri"/>
              <a:buNone/>
            </a:pPr>
            <a:r>
              <a:rPr b="0" i="0" lang="en" sz="1050" u="none" cap="none" strike="noStrike">
                <a:solidFill>
                  <a:srgbClr val="212121"/>
                </a:solidFill>
                <a:latin typeface="Calibri"/>
                <a:ea typeface="Calibri"/>
                <a:cs typeface="Calibri"/>
                <a:sym typeface="Calibri"/>
              </a:rPr>
              <a:t>400M</a:t>
            </a:r>
            <a:endParaRPr b="0" i="0" sz="1050" u="none" cap="none" strike="noStrike">
              <a:solidFill>
                <a:srgbClr val="000000"/>
              </a:solidFill>
              <a:latin typeface="Calibri"/>
              <a:ea typeface="Calibri"/>
              <a:cs typeface="Calibri"/>
              <a:sym typeface="Calibri"/>
            </a:endParaRPr>
          </a:p>
        </p:txBody>
      </p:sp>
      <p:sp>
        <p:nvSpPr>
          <p:cNvPr id="285" name="Google Shape;285;g3f62c33a15b_0_626"/>
          <p:cNvSpPr/>
          <p:nvPr/>
        </p:nvSpPr>
        <p:spPr>
          <a:xfrm>
            <a:off x="5669280" y="2560320"/>
            <a:ext cx="960000" cy="347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12121"/>
              </a:buClr>
              <a:buSzPts val="1050"/>
              <a:buFont typeface="Calibri"/>
              <a:buNone/>
            </a:pPr>
            <a:r>
              <a:rPr b="0" i="0" lang="en" sz="1050" u="none" cap="none" strike="noStrike">
                <a:solidFill>
                  <a:srgbClr val="212121"/>
                </a:solidFill>
                <a:latin typeface="Calibri"/>
                <a:ea typeface="Calibri"/>
                <a:cs typeface="Calibri"/>
                <a:sym typeface="Calibri"/>
              </a:rPr>
              <a:t>450K</a:t>
            </a:r>
            <a:endParaRPr b="0" i="0" sz="1050" u="none" cap="none" strike="noStrike">
              <a:solidFill>
                <a:srgbClr val="000000"/>
              </a:solidFill>
              <a:latin typeface="Calibri"/>
              <a:ea typeface="Calibri"/>
              <a:cs typeface="Calibri"/>
              <a:sym typeface="Calibri"/>
            </a:endParaRPr>
          </a:p>
        </p:txBody>
      </p:sp>
      <p:sp>
        <p:nvSpPr>
          <p:cNvPr id="286" name="Google Shape;286;g3f62c33a15b_0_626"/>
          <p:cNvSpPr/>
          <p:nvPr/>
        </p:nvSpPr>
        <p:spPr>
          <a:xfrm>
            <a:off x="6629400" y="2560320"/>
            <a:ext cx="1097400" cy="347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12121"/>
              </a:buClr>
              <a:buSzPts val="1050"/>
              <a:buFont typeface="Calibri"/>
              <a:buNone/>
            </a:pPr>
            <a:r>
              <a:rPr b="0" i="0" lang="en" sz="1050" u="none" cap="none" strike="noStrike">
                <a:solidFill>
                  <a:srgbClr val="212121"/>
                </a:solidFill>
                <a:latin typeface="Calibri"/>
                <a:ea typeface="Calibri"/>
                <a:cs typeface="Calibri"/>
                <a:sym typeface="Calibri"/>
              </a:rPr>
              <a:t>460K</a:t>
            </a:r>
            <a:endParaRPr b="0" i="0" sz="1050" u="none" cap="none" strike="noStrike">
              <a:solidFill>
                <a:srgbClr val="000000"/>
              </a:solidFill>
              <a:latin typeface="Calibri"/>
              <a:ea typeface="Calibri"/>
              <a:cs typeface="Calibri"/>
              <a:sym typeface="Calibri"/>
            </a:endParaRPr>
          </a:p>
        </p:txBody>
      </p:sp>
      <p:sp>
        <p:nvSpPr>
          <p:cNvPr id="287" name="Google Shape;287;g3f62c33a15b_0_626"/>
          <p:cNvSpPr/>
          <p:nvPr/>
        </p:nvSpPr>
        <p:spPr>
          <a:xfrm>
            <a:off x="7726680" y="2560320"/>
            <a:ext cx="914400" cy="347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12121"/>
              </a:buClr>
              <a:buSzPts val="1050"/>
              <a:buFont typeface="Calibri"/>
              <a:buNone/>
            </a:pPr>
            <a:r>
              <a:rPr b="0" i="0" lang="en" sz="1050" u="none" cap="none" strike="noStrike">
                <a:solidFill>
                  <a:srgbClr val="212121"/>
                </a:solidFill>
                <a:latin typeface="Calibri"/>
                <a:ea typeface="Calibri"/>
                <a:cs typeface="Calibri"/>
                <a:sym typeface="Calibri"/>
              </a:rPr>
              <a:t>100M</a:t>
            </a:r>
            <a:endParaRPr b="0" i="0" sz="1050" u="none" cap="none" strike="noStrike">
              <a:solidFill>
                <a:srgbClr val="000000"/>
              </a:solidFill>
              <a:latin typeface="Calibri"/>
              <a:ea typeface="Calibri"/>
              <a:cs typeface="Calibri"/>
              <a:sym typeface="Calibri"/>
            </a:endParaRPr>
          </a:p>
        </p:txBody>
      </p:sp>
      <p:sp>
        <p:nvSpPr>
          <p:cNvPr id="288" name="Google Shape;288;g3f62c33a15b_0_626"/>
          <p:cNvSpPr/>
          <p:nvPr/>
        </p:nvSpPr>
        <p:spPr>
          <a:xfrm>
            <a:off x="5669280" y="2907792"/>
            <a:ext cx="960000" cy="347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12121"/>
              </a:buClr>
              <a:buSzPts val="1050"/>
              <a:buFont typeface="Calibri"/>
              <a:buNone/>
            </a:pPr>
            <a:r>
              <a:rPr b="0" i="0" lang="en" sz="1050" u="none" cap="none" strike="noStrike">
                <a:solidFill>
                  <a:srgbClr val="212121"/>
                </a:solidFill>
                <a:latin typeface="Calibri"/>
                <a:ea typeface="Calibri"/>
                <a:cs typeface="Calibri"/>
                <a:sym typeface="Calibri"/>
              </a:rPr>
              <a:t>200K</a:t>
            </a:r>
            <a:endParaRPr b="0" i="0" sz="1050" u="none" cap="none" strike="noStrike">
              <a:solidFill>
                <a:srgbClr val="000000"/>
              </a:solidFill>
              <a:latin typeface="Calibri"/>
              <a:ea typeface="Calibri"/>
              <a:cs typeface="Calibri"/>
              <a:sym typeface="Calibri"/>
            </a:endParaRPr>
          </a:p>
        </p:txBody>
      </p:sp>
      <p:sp>
        <p:nvSpPr>
          <p:cNvPr id="289" name="Google Shape;289;g3f62c33a15b_0_626"/>
          <p:cNvSpPr/>
          <p:nvPr/>
        </p:nvSpPr>
        <p:spPr>
          <a:xfrm>
            <a:off x="6629400" y="2907792"/>
            <a:ext cx="1097400" cy="347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12121"/>
              </a:buClr>
              <a:buSzPts val="1050"/>
              <a:buFont typeface="Calibri"/>
              <a:buNone/>
            </a:pPr>
            <a:r>
              <a:rPr b="0" i="0" lang="en" sz="1050" u="none" cap="none" strike="noStrike">
                <a:solidFill>
                  <a:srgbClr val="212121"/>
                </a:solidFill>
                <a:latin typeface="Calibri"/>
                <a:ea typeface="Calibri"/>
                <a:cs typeface="Calibri"/>
                <a:sym typeface="Calibri"/>
              </a:rPr>
              <a:t>250K</a:t>
            </a:r>
            <a:endParaRPr b="0" i="0" sz="1050" u="none" cap="none" strike="noStrike">
              <a:solidFill>
                <a:srgbClr val="000000"/>
              </a:solidFill>
              <a:latin typeface="Calibri"/>
              <a:ea typeface="Calibri"/>
              <a:cs typeface="Calibri"/>
              <a:sym typeface="Calibri"/>
            </a:endParaRPr>
          </a:p>
        </p:txBody>
      </p:sp>
      <p:sp>
        <p:nvSpPr>
          <p:cNvPr id="290" name="Google Shape;290;g3f62c33a15b_0_626"/>
          <p:cNvSpPr/>
          <p:nvPr/>
        </p:nvSpPr>
        <p:spPr>
          <a:xfrm>
            <a:off x="7726680" y="2907792"/>
            <a:ext cx="914400" cy="347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12121"/>
              </a:buClr>
              <a:buSzPts val="1050"/>
              <a:buFont typeface="Calibri"/>
              <a:buNone/>
            </a:pPr>
            <a:r>
              <a:rPr b="0" i="0" lang="en" sz="1050" u="none" cap="none" strike="noStrike">
                <a:solidFill>
                  <a:srgbClr val="212121"/>
                </a:solidFill>
                <a:latin typeface="Calibri"/>
                <a:ea typeface="Calibri"/>
                <a:cs typeface="Calibri"/>
                <a:sym typeface="Calibri"/>
              </a:rPr>
              <a:t>2500M</a:t>
            </a:r>
            <a:endParaRPr b="0" i="0" sz="1050" u="none" cap="none" strike="noStrike">
              <a:solidFill>
                <a:srgbClr val="000000"/>
              </a:solidFill>
              <a:latin typeface="Calibri"/>
              <a:ea typeface="Calibri"/>
              <a:cs typeface="Calibri"/>
              <a:sym typeface="Calibri"/>
            </a:endParaRPr>
          </a:p>
        </p:txBody>
      </p:sp>
      <p:sp>
        <p:nvSpPr>
          <p:cNvPr id="291" name="Google Shape;291;g3f62c33a15b_0_626"/>
          <p:cNvSpPr/>
          <p:nvPr/>
        </p:nvSpPr>
        <p:spPr>
          <a:xfrm>
            <a:off x="5669280" y="3319272"/>
            <a:ext cx="3063300" cy="658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100"/>
              <a:buFont typeface="Calibri"/>
              <a:buNone/>
            </a:pPr>
            <a:r>
              <a:rPr b="0" i="0" lang="en" sz="1100" u="none" cap="none" strike="noStrike">
                <a:solidFill>
                  <a:srgbClr val="37474F"/>
                </a:solidFill>
                <a:latin typeface="Calibri"/>
                <a:ea typeface="Calibri"/>
                <a:cs typeface="Calibri"/>
                <a:sym typeface="Calibri"/>
              </a:rPr>
              <a:t>MSE  =  (400M + 100M + 2500M) / 3</a:t>
            </a:r>
            <a:endParaRPr b="0" i="0" sz="11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7474F"/>
              </a:buClr>
              <a:buSzPts val="1100"/>
              <a:buFont typeface="Calibri"/>
              <a:buNone/>
            </a:pPr>
            <a:r>
              <a:rPr b="0" i="0" lang="en" sz="1100" u="none" cap="none" strike="noStrike">
                <a:solidFill>
                  <a:srgbClr val="37474F"/>
                </a:solidFill>
                <a:latin typeface="Calibri"/>
                <a:ea typeface="Calibri"/>
                <a:cs typeface="Calibri"/>
                <a:sym typeface="Calibri"/>
              </a:rPr>
              <a:t>        ≈  1,000M  (penalises the 50K miss most!)</a:t>
            </a:r>
            <a:endParaRPr b="0" i="0" sz="1100" u="none" cap="none" strike="noStrike">
              <a:solidFill>
                <a:srgbClr val="000000"/>
              </a:solidFill>
              <a:latin typeface="Calibri"/>
              <a:ea typeface="Calibri"/>
              <a:cs typeface="Calibri"/>
              <a:sym typeface="Calibri"/>
            </a:endParaRPr>
          </a:p>
        </p:txBody>
      </p:sp>
      <p:sp>
        <p:nvSpPr>
          <p:cNvPr id="292" name="Google Shape;292;g3f62c33a15b_0_626"/>
          <p:cNvSpPr/>
          <p:nvPr/>
        </p:nvSpPr>
        <p:spPr>
          <a:xfrm>
            <a:off x="5669280" y="4069080"/>
            <a:ext cx="3063300" cy="658500"/>
          </a:xfrm>
          <a:prstGeom prst="roundRect">
            <a:avLst>
              <a:gd fmla="val 11111" name="adj"/>
            </a:avLst>
          </a:prstGeom>
          <a:solidFill>
            <a:srgbClr val="E3F2FD"/>
          </a:solidFill>
          <a:ln cap="flat" cmpd="sng" w="15225">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g3f62c33a15b_0_626"/>
          <p:cNvSpPr/>
          <p:nvPr/>
        </p:nvSpPr>
        <p:spPr>
          <a:xfrm>
            <a:off x="5760720" y="4105656"/>
            <a:ext cx="2880300" cy="585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565C0"/>
              </a:buClr>
              <a:buSzPts val="1150"/>
              <a:buFont typeface="Calibri"/>
              <a:buNone/>
            </a:pPr>
            <a:r>
              <a:rPr b="1" i="0" lang="en" sz="1150" u="none" cap="none" strike="noStrike">
                <a:solidFill>
                  <a:srgbClr val="1565C0"/>
                </a:solidFill>
                <a:latin typeface="Calibri"/>
                <a:ea typeface="Calibri"/>
                <a:cs typeface="Calibri"/>
                <a:sym typeface="Calibri"/>
              </a:rPr>
              <a:t>✔  Use when: output is a continuous</a:t>
            </a:r>
            <a:endParaRPr b="0" i="0" sz="115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1565C0"/>
              </a:buClr>
              <a:buSzPts val="1150"/>
              <a:buFont typeface="Calibri"/>
              <a:buNone/>
            </a:pPr>
            <a:r>
              <a:rPr b="1" i="0" lang="en" sz="1150" u="none" cap="none" strike="noStrike">
                <a:solidFill>
                  <a:srgbClr val="1565C0"/>
                </a:solidFill>
                <a:latin typeface="Calibri"/>
                <a:ea typeface="Calibri"/>
                <a:cs typeface="Calibri"/>
                <a:sym typeface="Calibri"/>
              </a:rPr>
              <a:t>    number (regression problems)</a:t>
            </a:r>
            <a:endParaRPr b="0" i="0" sz="1150" u="none" cap="none" strike="noStrike">
              <a:solidFill>
                <a:srgbClr val="000000"/>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97" name="Shape 297"/>
        <p:cNvGrpSpPr/>
        <p:nvPr/>
      </p:nvGrpSpPr>
      <p:grpSpPr>
        <a:xfrm>
          <a:off x="0" y="0"/>
          <a:ext cx="0" cy="0"/>
          <a:chOff x="0" y="0"/>
          <a:chExt cx="0" cy="0"/>
        </a:xfrm>
      </p:grpSpPr>
      <p:pic>
        <p:nvPicPr>
          <p:cNvPr id="298" name="Google Shape;298;g3f62c33a15b_0_662"/>
          <p:cNvPicPr preferRelativeResize="0"/>
          <p:nvPr/>
        </p:nvPicPr>
        <p:blipFill rotWithShape="1">
          <a:blip r:embed="rId4">
            <a:alphaModFix/>
          </a:blip>
          <a:srcRect b="0" l="0" r="0" t="0"/>
          <a:stretch/>
        </p:blipFill>
        <p:spPr>
          <a:xfrm>
            <a:off x="8369125" y="0"/>
            <a:ext cx="774877" cy="867174"/>
          </a:xfrm>
          <a:prstGeom prst="rect">
            <a:avLst/>
          </a:prstGeom>
          <a:noFill/>
          <a:ln>
            <a:noFill/>
          </a:ln>
        </p:spPr>
      </p:pic>
      <p:sp>
        <p:nvSpPr>
          <p:cNvPr id="299" name="Google Shape;299;g3f62c33a15b_0_662"/>
          <p:cNvSpPr/>
          <p:nvPr/>
        </p:nvSpPr>
        <p:spPr>
          <a:xfrm>
            <a:off x="365760" y="91440"/>
            <a:ext cx="7863900" cy="658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A237E"/>
              </a:buClr>
              <a:buSzPts val="3000"/>
              <a:buFont typeface="Calibri"/>
              <a:buNone/>
            </a:pPr>
            <a:r>
              <a:rPr b="1" i="0" lang="en" sz="3000" u="none" cap="none" strike="noStrike">
                <a:solidFill>
                  <a:srgbClr val="1A237E"/>
                </a:solidFill>
                <a:latin typeface="Calibri"/>
                <a:ea typeface="Calibri"/>
                <a:cs typeface="Calibri"/>
                <a:sym typeface="Calibri"/>
              </a:rPr>
              <a:t>Loss Function 2 — Binary Cross-Entropy (BCE)</a:t>
            </a:r>
            <a:endParaRPr b="0" i="0" sz="3000" u="none" cap="none" strike="noStrike">
              <a:solidFill>
                <a:srgbClr val="000000"/>
              </a:solidFill>
              <a:latin typeface="Calibri"/>
              <a:ea typeface="Calibri"/>
              <a:cs typeface="Calibri"/>
              <a:sym typeface="Calibri"/>
            </a:endParaRPr>
          </a:p>
        </p:txBody>
      </p:sp>
      <p:sp>
        <p:nvSpPr>
          <p:cNvPr id="300" name="Google Shape;300;g3f62c33a15b_0_662"/>
          <p:cNvSpPr/>
          <p:nvPr/>
        </p:nvSpPr>
        <p:spPr>
          <a:xfrm>
            <a:off x="274320" y="914400"/>
            <a:ext cx="5074800" cy="3977700"/>
          </a:xfrm>
          <a:prstGeom prst="rect">
            <a:avLst/>
          </a:prstGeom>
          <a:solidFill>
            <a:srgbClr val="E8F5E9"/>
          </a:solidFill>
          <a:ln cap="flat" cmpd="sng" w="12700">
            <a:solidFill>
              <a:srgbClr val="A5D6A7"/>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g3f62c33a15b_0_662"/>
          <p:cNvSpPr/>
          <p:nvPr/>
        </p:nvSpPr>
        <p:spPr>
          <a:xfrm>
            <a:off x="274320" y="914400"/>
            <a:ext cx="5074800" cy="438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Calibri"/>
              <a:buNone/>
            </a:pPr>
            <a:r>
              <a:rPr b="1" i="0" lang="en" sz="1600" u="none" cap="none" strike="noStrike">
                <a:solidFill>
                  <a:schemeClr val="dk1"/>
                </a:solidFill>
                <a:latin typeface="Calibri"/>
                <a:ea typeface="Calibri"/>
                <a:cs typeface="Calibri"/>
                <a:sym typeface="Calibri"/>
              </a:rPr>
              <a:t>Binary Cross-Entropy  —  2-Class Classification</a:t>
            </a:r>
            <a:endParaRPr b="0" i="0" sz="1600" u="none" cap="none" strike="noStrike">
              <a:solidFill>
                <a:schemeClr val="dk1"/>
              </a:solidFill>
              <a:latin typeface="Calibri"/>
              <a:ea typeface="Calibri"/>
              <a:cs typeface="Calibri"/>
              <a:sym typeface="Calibri"/>
            </a:endParaRPr>
          </a:p>
        </p:txBody>
      </p:sp>
      <p:sp>
        <p:nvSpPr>
          <p:cNvPr id="302" name="Google Shape;302;g3f62c33a15b_0_662"/>
          <p:cNvSpPr/>
          <p:nvPr/>
        </p:nvSpPr>
        <p:spPr>
          <a:xfrm>
            <a:off x="411480" y="1444752"/>
            <a:ext cx="4800600" cy="530400"/>
          </a:xfrm>
          <a:prstGeom prst="rect">
            <a:avLst/>
          </a:prstGeom>
          <a:solidFill>
            <a:srgbClr val="FFFFFF"/>
          </a:solidFill>
          <a:ln cap="flat" cmpd="sng" w="15225">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g3f62c33a15b_0_662"/>
          <p:cNvSpPr/>
          <p:nvPr/>
        </p:nvSpPr>
        <p:spPr>
          <a:xfrm>
            <a:off x="521208" y="1444752"/>
            <a:ext cx="4581000" cy="530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E7D32"/>
              </a:buClr>
              <a:buSzPts val="1300"/>
              <a:buFont typeface="Consolas"/>
              <a:buNone/>
            </a:pPr>
            <a:r>
              <a:rPr b="1" i="0" lang="en" sz="1300" u="none" cap="none" strike="noStrike">
                <a:solidFill>
                  <a:srgbClr val="2E7D32"/>
                </a:solidFill>
                <a:latin typeface="Consolas"/>
                <a:ea typeface="Consolas"/>
                <a:cs typeface="Consolas"/>
                <a:sym typeface="Consolas"/>
              </a:rPr>
              <a:t>BCE = −(1/n) × Σ [yᵢ log(ŷᵢ) + (1−yᵢ) log(1−ŷᵢ)]</a:t>
            </a:r>
            <a:endParaRPr b="0" i="0" sz="1300" u="none" cap="none" strike="noStrike">
              <a:solidFill>
                <a:srgbClr val="000000"/>
              </a:solidFill>
              <a:latin typeface="Calibri"/>
              <a:ea typeface="Calibri"/>
              <a:cs typeface="Calibri"/>
              <a:sym typeface="Calibri"/>
            </a:endParaRPr>
          </a:p>
        </p:txBody>
      </p:sp>
      <p:sp>
        <p:nvSpPr>
          <p:cNvPr id="304" name="Google Shape;304;g3f62c33a15b_0_662"/>
          <p:cNvSpPr/>
          <p:nvPr/>
        </p:nvSpPr>
        <p:spPr>
          <a:xfrm>
            <a:off x="457200" y="2066544"/>
            <a:ext cx="46635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E7D32"/>
              </a:buClr>
              <a:buSzPts val="1150"/>
              <a:buFont typeface="Calibri"/>
              <a:buNone/>
            </a:pPr>
            <a:r>
              <a:rPr b="1" i="0" lang="en" sz="1150" u="none" cap="none" strike="noStrike">
                <a:solidFill>
                  <a:srgbClr val="2E7D32"/>
                </a:solidFill>
                <a:latin typeface="Calibri"/>
                <a:ea typeface="Calibri"/>
                <a:cs typeface="Calibri"/>
                <a:sym typeface="Calibri"/>
              </a:rPr>
              <a:t>Where:</a:t>
            </a:r>
            <a:endParaRPr b="0" i="0" sz="1150" u="none" cap="none" strike="noStrike">
              <a:solidFill>
                <a:srgbClr val="000000"/>
              </a:solidFill>
              <a:latin typeface="Calibri"/>
              <a:ea typeface="Calibri"/>
              <a:cs typeface="Calibri"/>
              <a:sym typeface="Calibri"/>
            </a:endParaRPr>
          </a:p>
        </p:txBody>
      </p:sp>
      <p:sp>
        <p:nvSpPr>
          <p:cNvPr id="305" name="Google Shape;305;g3f62c33a15b_0_662"/>
          <p:cNvSpPr/>
          <p:nvPr/>
        </p:nvSpPr>
        <p:spPr>
          <a:xfrm>
            <a:off x="548640" y="2304288"/>
            <a:ext cx="4572000" cy="25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200"/>
              <a:buFont typeface="Consolas"/>
              <a:buNone/>
            </a:pPr>
            <a:r>
              <a:rPr b="0" i="0" lang="en" sz="1200" u="none" cap="none" strike="noStrike">
                <a:solidFill>
                  <a:srgbClr val="37474F"/>
                </a:solidFill>
                <a:latin typeface="Consolas"/>
                <a:ea typeface="Consolas"/>
                <a:cs typeface="Consolas"/>
                <a:sym typeface="Consolas"/>
              </a:rPr>
              <a:t>yᵢ  =  true label  (0 or 1)</a:t>
            </a:r>
            <a:endParaRPr b="0" i="0" sz="1200" u="none" cap="none" strike="noStrike">
              <a:solidFill>
                <a:srgbClr val="000000"/>
              </a:solidFill>
              <a:latin typeface="Calibri"/>
              <a:ea typeface="Calibri"/>
              <a:cs typeface="Calibri"/>
              <a:sym typeface="Calibri"/>
            </a:endParaRPr>
          </a:p>
        </p:txBody>
      </p:sp>
      <p:sp>
        <p:nvSpPr>
          <p:cNvPr id="306" name="Google Shape;306;g3f62c33a15b_0_662"/>
          <p:cNvSpPr/>
          <p:nvPr/>
        </p:nvSpPr>
        <p:spPr>
          <a:xfrm>
            <a:off x="548640" y="2578608"/>
            <a:ext cx="4572000" cy="25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200"/>
              <a:buFont typeface="Consolas"/>
              <a:buNone/>
            </a:pPr>
            <a:r>
              <a:rPr b="0" i="0" lang="en" sz="1200" u="none" cap="none" strike="noStrike">
                <a:solidFill>
                  <a:srgbClr val="37474F"/>
                </a:solidFill>
                <a:latin typeface="Consolas"/>
                <a:ea typeface="Consolas"/>
                <a:cs typeface="Consolas"/>
                <a:sym typeface="Consolas"/>
              </a:rPr>
              <a:t>ŷᵢ  =  predicted probability  (0 to 1)</a:t>
            </a:r>
            <a:endParaRPr b="0" i="0" sz="1200" u="none" cap="none" strike="noStrike">
              <a:solidFill>
                <a:srgbClr val="000000"/>
              </a:solidFill>
              <a:latin typeface="Calibri"/>
              <a:ea typeface="Calibri"/>
              <a:cs typeface="Calibri"/>
              <a:sym typeface="Calibri"/>
            </a:endParaRPr>
          </a:p>
        </p:txBody>
      </p:sp>
      <p:sp>
        <p:nvSpPr>
          <p:cNvPr id="307" name="Google Shape;307;g3f62c33a15b_0_662"/>
          <p:cNvSpPr/>
          <p:nvPr/>
        </p:nvSpPr>
        <p:spPr>
          <a:xfrm>
            <a:off x="548640" y="2852928"/>
            <a:ext cx="4572000" cy="25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200"/>
              <a:buFont typeface="Consolas"/>
              <a:buNone/>
            </a:pPr>
            <a:r>
              <a:rPr b="0" i="0" lang="en" sz="1200" u="none" cap="none" strike="noStrike">
                <a:solidFill>
                  <a:srgbClr val="37474F"/>
                </a:solidFill>
                <a:latin typeface="Consolas"/>
                <a:ea typeface="Consolas"/>
                <a:cs typeface="Consolas"/>
                <a:sym typeface="Consolas"/>
              </a:rPr>
              <a:t>log =  natural logarithm</a:t>
            </a:r>
            <a:endParaRPr b="0" i="0" sz="1200" u="none" cap="none" strike="noStrike">
              <a:solidFill>
                <a:srgbClr val="000000"/>
              </a:solidFill>
              <a:latin typeface="Calibri"/>
              <a:ea typeface="Calibri"/>
              <a:cs typeface="Calibri"/>
              <a:sym typeface="Calibri"/>
            </a:endParaRPr>
          </a:p>
        </p:txBody>
      </p:sp>
      <p:sp>
        <p:nvSpPr>
          <p:cNvPr id="308" name="Google Shape;308;g3f62c33a15b_0_662"/>
          <p:cNvSpPr/>
          <p:nvPr/>
        </p:nvSpPr>
        <p:spPr>
          <a:xfrm>
            <a:off x="457200" y="3218688"/>
            <a:ext cx="4663500" cy="25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E7D32"/>
              </a:buClr>
              <a:buSzPts val="1200"/>
              <a:buFont typeface="Calibri"/>
              <a:buNone/>
            </a:pPr>
            <a:r>
              <a:rPr b="1" i="0" lang="en" sz="1200" u="none" cap="none" strike="noStrike">
                <a:solidFill>
                  <a:srgbClr val="2E7D32"/>
                </a:solidFill>
                <a:latin typeface="Calibri"/>
                <a:ea typeface="Calibri"/>
                <a:cs typeface="Calibri"/>
                <a:sym typeface="Calibri"/>
              </a:rPr>
              <a:t>Key Properties</a:t>
            </a:r>
            <a:endParaRPr b="0" i="0" sz="1200" u="none" cap="none" strike="noStrike">
              <a:solidFill>
                <a:srgbClr val="000000"/>
              </a:solidFill>
              <a:latin typeface="Calibri"/>
              <a:ea typeface="Calibri"/>
              <a:cs typeface="Calibri"/>
              <a:sym typeface="Calibri"/>
            </a:endParaRPr>
          </a:p>
        </p:txBody>
      </p:sp>
      <p:sp>
        <p:nvSpPr>
          <p:cNvPr id="309" name="Google Shape;309;g3f62c33a15b_0_662"/>
          <p:cNvSpPr/>
          <p:nvPr/>
        </p:nvSpPr>
        <p:spPr>
          <a:xfrm>
            <a:off x="548640" y="3493008"/>
            <a:ext cx="4663500" cy="25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200"/>
              <a:buFont typeface="Calibri"/>
              <a:buNone/>
            </a:pPr>
            <a:r>
              <a:rPr b="0" i="0" lang="en" sz="1200" u="none" cap="none" strike="noStrike">
                <a:solidFill>
                  <a:srgbClr val="37474F"/>
                </a:solidFill>
                <a:latin typeface="Calibri"/>
                <a:ea typeface="Calibri"/>
                <a:cs typeface="Calibri"/>
                <a:sym typeface="Calibri"/>
              </a:rPr>
              <a:t>• Uses log to heavily penalise confident wrong predictions</a:t>
            </a:r>
            <a:endParaRPr b="0" i="0" sz="1200" u="none" cap="none" strike="noStrike">
              <a:solidFill>
                <a:srgbClr val="000000"/>
              </a:solidFill>
              <a:latin typeface="Calibri"/>
              <a:ea typeface="Calibri"/>
              <a:cs typeface="Calibri"/>
              <a:sym typeface="Calibri"/>
            </a:endParaRPr>
          </a:p>
        </p:txBody>
      </p:sp>
      <p:sp>
        <p:nvSpPr>
          <p:cNvPr id="310" name="Google Shape;310;g3f62c33a15b_0_662"/>
          <p:cNvSpPr/>
          <p:nvPr/>
        </p:nvSpPr>
        <p:spPr>
          <a:xfrm>
            <a:off x="548640" y="3767328"/>
            <a:ext cx="4663500" cy="25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200"/>
              <a:buFont typeface="Calibri"/>
              <a:buNone/>
            </a:pPr>
            <a:r>
              <a:rPr b="0" i="0" lang="en" sz="1200" u="none" cap="none" strike="noStrike">
                <a:solidFill>
                  <a:srgbClr val="37474F"/>
                </a:solidFill>
                <a:latin typeface="Calibri"/>
                <a:ea typeface="Calibri"/>
                <a:cs typeface="Calibri"/>
                <a:sym typeface="Calibri"/>
              </a:rPr>
              <a:t>• Output layer uses Sigmoid (squashes output to 0–1)</a:t>
            </a:r>
            <a:endParaRPr b="0" i="0" sz="1200" u="none" cap="none" strike="noStrike">
              <a:solidFill>
                <a:srgbClr val="000000"/>
              </a:solidFill>
              <a:latin typeface="Calibri"/>
              <a:ea typeface="Calibri"/>
              <a:cs typeface="Calibri"/>
              <a:sym typeface="Calibri"/>
            </a:endParaRPr>
          </a:p>
        </p:txBody>
      </p:sp>
      <p:sp>
        <p:nvSpPr>
          <p:cNvPr id="311" name="Google Shape;311;g3f62c33a15b_0_662"/>
          <p:cNvSpPr/>
          <p:nvPr/>
        </p:nvSpPr>
        <p:spPr>
          <a:xfrm>
            <a:off x="548640" y="4041648"/>
            <a:ext cx="4663500" cy="25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200"/>
              <a:buFont typeface="Calibri"/>
              <a:buNone/>
            </a:pPr>
            <a:r>
              <a:rPr b="0" i="0" lang="en" sz="1200" u="none" cap="none" strike="noStrike">
                <a:solidFill>
                  <a:srgbClr val="37474F"/>
                </a:solidFill>
                <a:latin typeface="Calibri"/>
                <a:ea typeface="Calibri"/>
                <a:cs typeface="Calibri"/>
                <a:sym typeface="Calibri"/>
              </a:rPr>
              <a:t>• Perfect predictions → BCE = 0</a:t>
            </a:r>
            <a:endParaRPr b="0" i="0" sz="1200" u="none" cap="none" strike="noStrike">
              <a:solidFill>
                <a:srgbClr val="000000"/>
              </a:solidFill>
              <a:latin typeface="Calibri"/>
              <a:ea typeface="Calibri"/>
              <a:cs typeface="Calibri"/>
              <a:sym typeface="Calibri"/>
            </a:endParaRPr>
          </a:p>
        </p:txBody>
      </p:sp>
      <p:sp>
        <p:nvSpPr>
          <p:cNvPr id="312" name="Google Shape;312;g3f62c33a15b_0_662"/>
          <p:cNvSpPr/>
          <p:nvPr/>
        </p:nvSpPr>
        <p:spPr>
          <a:xfrm>
            <a:off x="548640" y="4315968"/>
            <a:ext cx="4663500" cy="25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200"/>
              <a:buFont typeface="Calibri"/>
              <a:buNone/>
            </a:pPr>
            <a:r>
              <a:rPr b="0" i="0" lang="en" sz="1200" u="none" cap="none" strike="noStrike">
                <a:solidFill>
                  <a:srgbClr val="37474F"/>
                </a:solidFill>
                <a:latin typeface="Calibri"/>
                <a:ea typeface="Calibri"/>
                <a:cs typeface="Calibri"/>
                <a:sym typeface="Calibri"/>
              </a:rPr>
              <a:t>• Sensitive to class imbalance</a:t>
            </a:r>
            <a:endParaRPr b="0" i="0" sz="1200" u="none" cap="none" strike="noStrike">
              <a:solidFill>
                <a:srgbClr val="000000"/>
              </a:solidFill>
              <a:latin typeface="Calibri"/>
              <a:ea typeface="Calibri"/>
              <a:cs typeface="Calibri"/>
              <a:sym typeface="Calibri"/>
            </a:endParaRPr>
          </a:p>
        </p:txBody>
      </p:sp>
      <p:sp>
        <p:nvSpPr>
          <p:cNvPr id="313" name="Google Shape;313;g3f62c33a15b_0_662"/>
          <p:cNvSpPr/>
          <p:nvPr/>
        </p:nvSpPr>
        <p:spPr>
          <a:xfrm>
            <a:off x="5532120" y="914400"/>
            <a:ext cx="3337500" cy="3977700"/>
          </a:xfrm>
          <a:prstGeom prst="rect">
            <a:avLst/>
          </a:prstGeom>
          <a:solidFill>
            <a:srgbClr val="F5F5F5"/>
          </a:solidFill>
          <a:ln cap="flat" cmpd="sng" w="12700">
            <a:solidFill>
              <a:srgbClr val="BDBDBD"/>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g3f62c33a15b_0_662"/>
          <p:cNvSpPr/>
          <p:nvPr/>
        </p:nvSpPr>
        <p:spPr>
          <a:xfrm>
            <a:off x="5532120" y="914400"/>
            <a:ext cx="3337500" cy="438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Calibri"/>
              <a:buNone/>
            </a:pPr>
            <a:r>
              <a:rPr b="1" i="0" lang="en" sz="1600" u="none" cap="none" strike="noStrike">
                <a:solidFill>
                  <a:schemeClr val="dk1"/>
                </a:solidFill>
                <a:latin typeface="Calibri"/>
                <a:ea typeface="Calibri"/>
                <a:cs typeface="Calibri"/>
                <a:sym typeface="Calibri"/>
              </a:rPr>
              <a:t>Intuition</a:t>
            </a:r>
            <a:endParaRPr b="0" i="0" sz="1600" u="none" cap="none" strike="noStrike">
              <a:solidFill>
                <a:schemeClr val="dk1"/>
              </a:solidFill>
              <a:latin typeface="Calibri"/>
              <a:ea typeface="Calibri"/>
              <a:cs typeface="Calibri"/>
              <a:sym typeface="Calibri"/>
            </a:endParaRPr>
          </a:p>
        </p:txBody>
      </p:sp>
      <p:sp>
        <p:nvSpPr>
          <p:cNvPr id="315" name="Google Shape;315;g3f62c33a15b_0_662"/>
          <p:cNvSpPr/>
          <p:nvPr/>
        </p:nvSpPr>
        <p:spPr>
          <a:xfrm>
            <a:off x="5669280" y="1435608"/>
            <a:ext cx="30633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200"/>
              <a:buFont typeface="Calibri"/>
              <a:buNone/>
            </a:pPr>
            <a:r>
              <a:rPr b="0" i="1" lang="en" sz="1200" u="none" cap="none" strike="noStrike">
                <a:solidFill>
                  <a:srgbClr val="37474F"/>
                </a:solidFill>
                <a:latin typeface="Calibri"/>
                <a:ea typeface="Calibri"/>
                <a:cs typeface="Calibri"/>
                <a:sym typeface="Calibri"/>
              </a:rPr>
              <a:t>Spam classifier example:</a:t>
            </a:r>
            <a:endParaRPr b="0" i="0" sz="1200" u="none" cap="none" strike="noStrike">
              <a:solidFill>
                <a:srgbClr val="000000"/>
              </a:solidFill>
              <a:latin typeface="Calibri"/>
              <a:ea typeface="Calibri"/>
              <a:cs typeface="Calibri"/>
              <a:sym typeface="Calibri"/>
            </a:endParaRPr>
          </a:p>
        </p:txBody>
      </p:sp>
      <p:sp>
        <p:nvSpPr>
          <p:cNvPr id="316" name="Google Shape;316;g3f62c33a15b_0_662"/>
          <p:cNvSpPr/>
          <p:nvPr/>
        </p:nvSpPr>
        <p:spPr>
          <a:xfrm>
            <a:off x="5669280" y="1801368"/>
            <a:ext cx="3063300" cy="960000"/>
          </a:xfrm>
          <a:prstGeom prst="rect">
            <a:avLst/>
          </a:prstGeom>
          <a:solidFill>
            <a:srgbClr val="F1F8E9"/>
          </a:solidFill>
          <a:ln cap="flat" cmpd="sng" w="10150">
            <a:solidFill>
              <a:srgbClr val="A5D6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g3f62c33a15b_0_662"/>
          <p:cNvSpPr/>
          <p:nvPr/>
        </p:nvSpPr>
        <p:spPr>
          <a:xfrm>
            <a:off x="5760720" y="1856232"/>
            <a:ext cx="2834700" cy="237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E7D32"/>
              </a:buClr>
              <a:buSzPts val="1100"/>
              <a:buFont typeface="Calibri"/>
              <a:buNone/>
            </a:pPr>
            <a:r>
              <a:rPr b="1" i="0" lang="en" sz="1100" u="none" cap="none" strike="noStrike">
                <a:solidFill>
                  <a:srgbClr val="2E7D32"/>
                </a:solidFill>
                <a:latin typeface="Calibri"/>
                <a:ea typeface="Calibri"/>
                <a:cs typeface="Calibri"/>
                <a:sym typeface="Calibri"/>
              </a:rPr>
              <a:t>Correct &amp; Confident</a:t>
            </a:r>
            <a:endParaRPr b="0" i="0" sz="1100" u="none" cap="none" strike="noStrike">
              <a:solidFill>
                <a:srgbClr val="000000"/>
              </a:solidFill>
              <a:latin typeface="Calibri"/>
              <a:ea typeface="Calibri"/>
              <a:cs typeface="Calibri"/>
              <a:sym typeface="Calibri"/>
            </a:endParaRPr>
          </a:p>
        </p:txBody>
      </p:sp>
      <p:sp>
        <p:nvSpPr>
          <p:cNvPr id="318" name="Google Shape;318;g3f62c33a15b_0_662"/>
          <p:cNvSpPr/>
          <p:nvPr/>
        </p:nvSpPr>
        <p:spPr>
          <a:xfrm>
            <a:off x="5760720" y="2093976"/>
            <a:ext cx="2834700" cy="640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100"/>
              <a:buFont typeface="Consolas"/>
              <a:buNone/>
            </a:pPr>
            <a:r>
              <a:rPr b="0" i="0" lang="en" sz="1100" u="none" cap="none" strike="noStrike">
                <a:solidFill>
                  <a:srgbClr val="37474F"/>
                </a:solidFill>
                <a:latin typeface="Consolas"/>
                <a:ea typeface="Consolas"/>
                <a:cs typeface="Consolas"/>
                <a:sym typeface="Consolas"/>
              </a:rPr>
              <a:t>True label: Spam (y=1)</a:t>
            </a:r>
            <a:endParaRPr b="0" i="0" sz="11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7474F"/>
              </a:buClr>
              <a:buSzPts val="1100"/>
              <a:buFont typeface="Consolas"/>
              <a:buNone/>
            </a:pPr>
            <a:r>
              <a:rPr b="0" i="0" lang="en" sz="1100" u="none" cap="none" strike="noStrike">
                <a:solidFill>
                  <a:srgbClr val="37474F"/>
                </a:solidFill>
                <a:latin typeface="Consolas"/>
                <a:ea typeface="Consolas"/>
                <a:cs typeface="Consolas"/>
                <a:sym typeface="Consolas"/>
              </a:rPr>
              <a:t>Predicted:  0.95</a:t>
            </a:r>
            <a:endParaRPr b="0" i="0" sz="11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7474F"/>
              </a:buClr>
              <a:buSzPts val="1100"/>
              <a:buFont typeface="Consolas"/>
              <a:buNone/>
            </a:pPr>
            <a:r>
              <a:rPr b="0" i="0" lang="en" sz="1100" u="none" cap="none" strike="noStrike">
                <a:solidFill>
                  <a:srgbClr val="37474F"/>
                </a:solidFill>
                <a:latin typeface="Consolas"/>
                <a:ea typeface="Consolas"/>
                <a:cs typeface="Consolas"/>
                <a:sym typeface="Consolas"/>
              </a:rPr>
              <a:t>Loss:       Very low ≈ 0.05</a:t>
            </a:r>
            <a:endParaRPr b="0" i="0" sz="1100" u="none" cap="none" strike="noStrike">
              <a:solidFill>
                <a:srgbClr val="000000"/>
              </a:solidFill>
              <a:latin typeface="Calibri"/>
              <a:ea typeface="Calibri"/>
              <a:cs typeface="Calibri"/>
              <a:sym typeface="Calibri"/>
            </a:endParaRPr>
          </a:p>
        </p:txBody>
      </p:sp>
      <p:sp>
        <p:nvSpPr>
          <p:cNvPr id="319" name="Google Shape;319;g3f62c33a15b_0_662"/>
          <p:cNvSpPr/>
          <p:nvPr/>
        </p:nvSpPr>
        <p:spPr>
          <a:xfrm>
            <a:off x="5669280" y="2834640"/>
            <a:ext cx="3063300" cy="960000"/>
          </a:xfrm>
          <a:prstGeom prst="rect">
            <a:avLst/>
          </a:prstGeom>
          <a:solidFill>
            <a:srgbClr val="FFEBEE"/>
          </a:solidFill>
          <a:ln cap="flat" cmpd="sng" w="10150">
            <a:solidFill>
              <a:srgbClr val="EF9A9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 name="Google Shape;320;g3f62c33a15b_0_662"/>
          <p:cNvSpPr/>
          <p:nvPr/>
        </p:nvSpPr>
        <p:spPr>
          <a:xfrm>
            <a:off x="5760720" y="2889504"/>
            <a:ext cx="2834700" cy="237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62828"/>
              </a:buClr>
              <a:buSzPts val="1100"/>
              <a:buFont typeface="Calibri"/>
              <a:buNone/>
            </a:pPr>
            <a:r>
              <a:rPr b="1" i="0" lang="en" sz="1100" u="none" cap="none" strike="noStrike">
                <a:solidFill>
                  <a:srgbClr val="C62828"/>
                </a:solidFill>
                <a:latin typeface="Calibri"/>
                <a:ea typeface="Calibri"/>
                <a:cs typeface="Calibri"/>
                <a:sym typeface="Calibri"/>
              </a:rPr>
              <a:t>Wrong &amp; Confident</a:t>
            </a:r>
            <a:endParaRPr b="0" i="0" sz="1100" u="none" cap="none" strike="noStrike">
              <a:solidFill>
                <a:srgbClr val="000000"/>
              </a:solidFill>
              <a:latin typeface="Calibri"/>
              <a:ea typeface="Calibri"/>
              <a:cs typeface="Calibri"/>
              <a:sym typeface="Calibri"/>
            </a:endParaRPr>
          </a:p>
        </p:txBody>
      </p:sp>
      <p:sp>
        <p:nvSpPr>
          <p:cNvPr id="321" name="Google Shape;321;g3f62c33a15b_0_662"/>
          <p:cNvSpPr/>
          <p:nvPr/>
        </p:nvSpPr>
        <p:spPr>
          <a:xfrm>
            <a:off x="5760720" y="3127248"/>
            <a:ext cx="2834700" cy="640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100"/>
              <a:buFont typeface="Consolas"/>
              <a:buNone/>
            </a:pPr>
            <a:r>
              <a:rPr b="0" i="0" lang="en" sz="1100" u="none" cap="none" strike="noStrike">
                <a:solidFill>
                  <a:srgbClr val="37474F"/>
                </a:solidFill>
                <a:latin typeface="Consolas"/>
                <a:ea typeface="Consolas"/>
                <a:cs typeface="Consolas"/>
                <a:sym typeface="Consolas"/>
              </a:rPr>
              <a:t>True label: Spam (y=1)</a:t>
            </a:r>
            <a:endParaRPr b="0" i="0" sz="11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7474F"/>
              </a:buClr>
              <a:buSzPts val="1100"/>
              <a:buFont typeface="Consolas"/>
              <a:buNone/>
            </a:pPr>
            <a:r>
              <a:rPr b="0" i="0" lang="en" sz="1100" u="none" cap="none" strike="noStrike">
                <a:solidFill>
                  <a:srgbClr val="37474F"/>
                </a:solidFill>
                <a:latin typeface="Consolas"/>
                <a:ea typeface="Consolas"/>
                <a:cs typeface="Consolas"/>
                <a:sym typeface="Consolas"/>
              </a:rPr>
              <a:t>Predicted:  0.05</a:t>
            </a:r>
            <a:endParaRPr b="0" i="0" sz="11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7474F"/>
              </a:buClr>
              <a:buSzPts val="1100"/>
              <a:buFont typeface="Consolas"/>
              <a:buNone/>
            </a:pPr>
            <a:r>
              <a:rPr b="0" i="0" lang="en" sz="1100" u="none" cap="none" strike="noStrike">
                <a:solidFill>
                  <a:srgbClr val="37474F"/>
                </a:solidFill>
                <a:latin typeface="Consolas"/>
                <a:ea typeface="Consolas"/>
                <a:cs typeface="Consolas"/>
                <a:sym typeface="Consolas"/>
              </a:rPr>
              <a:t>Loss:       Very HIGH ≈ 3.0</a:t>
            </a:r>
            <a:endParaRPr b="0" i="0" sz="1100" u="none" cap="none" strike="noStrike">
              <a:solidFill>
                <a:srgbClr val="000000"/>
              </a:solidFill>
              <a:latin typeface="Calibri"/>
              <a:ea typeface="Calibri"/>
              <a:cs typeface="Calibri"/>
              <a:sym typeface="Calibri"/>
            </a:endParaRPr>
          </a:p>
        </p:txBody>
      </p:sp>
      <p:sp>
        <p:nvSpPr>
          <p:cNvPr id="322" name="Google Shape;322;g3f62c33a15b_0_662"/>
          <p:cNvSpPr/>
          <p:nvPr/>
        </p:nvSpPr>
        <p:spPr>
          <a:xfrm>
            <a:off x="5669280" y="3813048"/>
            <a:ext cx="3063300" cy="621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100"/>
              <a:buFont typeface="Calibri"/>
              <a:buNone/>
            </a:pPr>
            <a:r>
              <a:rPr b="0" i="1" lang="en" sz="1100" u="none" cap="none" strike="noStrike">
                <a:solidFill>
                  <a:srgbClr val="37474F"/>
                </a:solidFill>
                <a:latin typeface="Calibri"/>
                <a:ea typeface="Calibri"/>
                <a:cs typeface="Calibri"/>
                <a:sym typeface="Calibri"/>
              </a:rPr>
              <a:t>BCE punishes confident mistakes far more than timid ones — this drives the model to be both accurate AND calibrated.</a:t>
            </a:r>
            <a:endParaRPr b="0" i="0" sz="1100" u="none" cap="none" strike="noStrike">
              <a:solidFill>
                <a:srgbClr val="000000"/>
              </a:solidFill>
              <a:latin typeface="Calibri"/>
              <a:ea typeface="Calibri"/>
              <a:cs typeface="Calibri"/>
              <a:sym typeface="Calibri"/>
            </a:endParaRPr>
          </a:p>
        </p:txBody>
      </p:sp>
      <p:sp>
        <p:nvSpPr>
          <p:cNvPr id="323" name="Google Shape;323;g3f62c33a15b_0_662"/>
          <p:cNvSpPr/>
          <p:nvPr/>
        </p:nvSpPr>
        <p:spPr>
          <a:xfrm>
            <a:off x="411480" y="4617720"/>
            <a:ext cx="8321100" cy="329100"/>
          </a:xfrm>
          <a:prstGeom prst="roundRect">
            <a:avLst>
              <a:gd fmla="val 22222" name="adj"/>
            </a:avLst>
          </a:prstGeom>
          <a:solidFill>
            <a:srgbClr val="E8F5E9"/>
          </a:solidFill>
          <a:ln cap="flat" cmpd="sng" w="12700">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g3f62c33a15b_0_662"/>
          <p:cNvSpPr/>
          <p:nvPr/>
        </p:nvSpPr>
        <p:spPr>
          <a:xfrm>
            <a:off x="548640" y="4636008"/>
            <a:ext cx="80466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E7D32"/>
              </a:buClr>
              <a:buSzPts val="1200"/>
              <a:buFont typeface="Calibri"/>
              <a:buNone/>
            </a:pPr>
            <a:r>
              <a:rPr b="1" i="0" lang="en" sz="1200" u="none" cap="none" strike="noStrike">
                <a:solidFill>
                  <a:srgbClr val="2E7D32"/>
                </a:solidFill>
                <a:latin typeface="Calibri"/>
                <a:ea typeface="Calibri"/>
                <a:cs typeface="Calibri"/>
                <a:sym typeface="Calibri"/>
              </a:rPr>
              <a:t>✔  Use when: binary outcome — spam/not spam, fraud/not fraud, malignant/benign</a:t>
            </a:r>
            <a:endParaRPr b="0" i="0" sz="1200" u="none" cap="none" strike="noStrike">
              <a:solidFill>
                <a:srgbClr val="000000"/>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28" name="Shape 328"/>
        <p:cNvGrpSpPr/>
        <p:nvPr/>
      </p:nvGrpSpPr>
      <p:grpSpPr>
        <a:xfrm>
          <a:off x="0" y="0"/>
          <a:ext cx="0" cy="0"/>
          <a:chOff x="0" y="0"/>
          <a:chExt cx="0" cy="0"/>
        </a:xfrm>
      </p:grpSpPr>
      <p:sp>
        <p:nvSpPr>
          <p:cNvPr id="329" name="Google Shape;329;g3f62c33a15b_0_692"/>
          <p:cNvSpPr/>
          <p:nvPr/>
        </p:nvSpPr>
        <p:spPr>
          <a:xfrm>
            <a:off x="274320" y="914400"/>
            <a:ext cx="5074800" cy="3977700"/>
          </a:xfrm>
          <a:prstGeom prst="rect">
            <a:avLst/>
          </a:prstGeom>
          <a:solidFill>
            <a:srgbClr val="F3E5F5"/>
          </a:solidFill>
          <a:ln cap="flat" cmpd="sng" w="12700">
            <a:solidFill>
              <a:srgbClr val="CE93D8"/>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30" name="Google Shape;330;g3f62c33a15b_0_692"/>
          <p:cNvPicPr preferRelativeResize="0"/>
          <p:nvPr/>
        </p:nvPicPr>
        <p:blipFill rotWithShape="1">
          <a:blip r:embed="rId4">
            <a:alphaModFix/>
          </a:blip>
          <a:srcRect b="0" l="0" r="0" t="0"/>
          <a:stretch/>
        </p:blipFill>
        <p:spPr>
          <a:xfrm>
            <a:off x="8369125" y="0"/>
            <a:ext cx="774877" cy="867174"/>
          </a:xfrm>
          <a:prstGeom prst="rect">
            <a:avLst/>
          </a:prstGeom>
          <a:noFill/>
          <a:ln>
            <a:noFill/>
          </a:ln>
        </p:spPr>
      </p:pic>
      <p:sp>
        <p:nvSpPr>
          <p:cNvPr id="331" name="Google Shape;331;g3f62c33a15b_0_692"/>
          <p:cNvSpPr/>
          <p:nvPr/>
        </p:nvSpPr>
        <p:spPr>
          <a:xfrm>
            <a:off x="274325" y="91450"/>
            <a:ext cx="8229600" cy="658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A237E"/>
              </a:buClr>
              <a:buSzPts val="3000"/>
              <a:buFont typeface="Calibri"/>
              <a:buNone/>
            </a:pPr>
            <a:r>
              <a:rPr b="1" i="0" lang="en" sz="3000" u="none" cap="none" strike="noStrike">
                <a:solidFill>
                  <a:srgbClr val="1A237E"/>
                </a:solidFill>
                <a:latin typeface="Calibri"/>
                <a:ea typeface="Calibri"/>
                <a:cs typeface="Calibri"/>
                <a:sym typeface="Calibri"/>
              </a:rPr>
              <a:t>Loss Function 3 — Categorical Cross-Entropy (CCE)</a:t>
            </a:r>
            <a:endParaRPr b="0" i="0" sz="3000" u="none" cap="none" strike="noStrike">
              <a:solidFill>
                <a:srgbClr val="000000"/>
              </a:solidFill>
              <a:latin typeface="Calibri"/>
              <a:ea typeface="Calibri"/>
              <a:cs typeface="Calibri"/>
              <a:sym typeface="Calibri"/>
            </a:endParaRPr>
          </a:p>
        </p:txBody>
      </p:sp>
      <p:sp>
        <p:nvSpPr>
          <p:cNvPr id="332" name="Google Shape;332;g3f62c33a15b_0_692"/>
          <p:cNvSpPr/>
          <p:nvPr/>
        </p:nvSpPr>
        <p:spPr>
          <a:xfrm>
            <a:off x="274320" y="914400"/>
            <a:ext cx="5074800" cy="438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Calibri"/>
              <a:buNone/>
            </a:pPr>
            <a:r>
              <a:rPr b="1" i="0" lang="en" sz="1600" u="none" cap="none" strike="noStrike">
                <a:solidFill>
                  <a:schemeClr val="dk1"/>
                </a:solidFill>
                <a:latin typeface="Calibri"/>
                <a:ea typeface="Calibri"/>
                <a:cs typeface="Calibri"/>
                <a:sym typeface="Calibri"/>
              </a:rPr>
              <a:t>Categorical Cross-Entropy  —  Multi-Class Tasks</a:t>
            </a:r>
            <a:endParaRPr b="0" i="0" sz="1600" u="none" cap="none" strike="noStrike">
              <a:solidFill>
                <a:schemeClr val="dk1"/>
              </a:solidFill>
              <a:latin typeface="Calibri"/>
              <a:ea typeface="Calibri"/>
              <a:cs typeface="Calibri"/>
              <a:sym typeface="Calibri"/>
            </a:endParaRPr>
          </a:p>
        </p:txBody>
      </p:sp>
      <p:sp>
        <p:nvSpPr>
          <p:cNvPr id="333" name="Google Shape;333;g3f62c33a15b_0_692"/>
          <p:cNvSpPr/>
          <p:nvPr/>
        </p:nvSpPr>
        <p:spPr>
          <a:xfrm>
            <a:off x="411480" y="1444752"/>
            <a:ext cx="4800600" cy="530400"/>
          </a:xfrm>
          <a:prstGeom prst="rect">
            <a:avLst/>
          </a:prstGeom>
          <a:solidFill>
            <a:srgbClr val="FFFFFF"/>
          </a:solidFill>
          <a:ln cap="flat" cmpd="sng" w="15225">
            <a:solidFill>
              <a:srgbClr val="6A1B9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g3f62c33a15b_0_692"/>
          <p:cNvSpPr/>
          <p:nvPr/>
        </p:nvSpPr>
        <p:spPr>
          <a:xfrm>
            <a:off x="521208" y="1444752"/>
            <a:ext cx="4581000" cy="530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A1B9A"/>
              </a:buClr>
              <a:buSzPts val="1300"/>
              <a:buFont typeface="Consolas"/>
              <a:buNone/>
            </a:pPr>
            <a:r>
              <a:rPr b="1" i="0" lang="en" sz="1300" u="none" cap="none" strike="noStrike">
                <a:solidFill>
                  <a:srgbClr val="6A1B9A"/>
                </a:solidFill>
                <a:latin typeface="Consolas"/>
                <a:ea typeface="Consolas"/>
                <a:cs typeface="Consolas"/>
                <a:sym typeface="Consolas"/>
              </a:rPr>
              <a:t>CCE = −(1/n) × Σᵢ Σc  yᵢ</a:t>
            </a:r>
            <a:r>
              <a:rPr b="1" i="0" lang="en" sz="900" u="none" cap="none" strike="noStrike">
                <a:solidFill>
                  <a:srgbClr val="6A1B9A"/>
                </a:solidFill>
                <a:latin typeface="Consolas"/>
                <a:ea typeface="Consolas"/>
                <a:cs typeface="Consolas"/>
                <a:sym typeface="Consolas"/>
              </a:rPr>
              <a:t>c</a:t>
            </a:r>
            <a:r>
              <a:rPr b="1" i="0" lang="en" sz="1300" u="none" cap="none" strike="noStrike">
                <a:solidFill>
                  <a:srgbClr val="6A1B9A"/>
                </a:solidFill>
                <a:latin typeface="Consolas"/>
                <a:ea typeface="Consolas"/>
                <a:cs typeface="Consolas"/>
                <a:sym typeface="Consolas"/>
              </a:rPr>
              <a:t> · log(ŷᵢ</a:t>
            </a:r>
            <a:r>
              <a:rPr b="1" i="0" lang="en" sz="900" u="none" cap="none" strike="noStrike">
                <a:solidFill>
                  <a:srgbClr val="6A1B9A"/>
                </a:solidFill>
                <a:latin typeface="Consolas"/>
                <a:ea typeface="Consolas"/>
                <a:cs typeface="Consolas"/>
                <a:sym typeface="Consolas"/>
              </a:rPr>
              <a:t>c</a:t>
            </a:r>
            <a:r>
              <a:rPr b="1" i="0" lang="en" sz="1300" u="none" cap="none" strike="noStrike">
                <a:solidFill>
                  <a:srgbClr val="6A1B9A"/>
                </a:solidFill>
                <a:latin typeface="Consolas"/>
                <a:ea typeface="Consolas"/>
                <a:cs typeface="Consolas"/>
                <a:sym typeface="Consolas"/>
              </a:rPr>
              <a:t>)</a:t>
            </a:r>
            <a:endParaRPr b="0" i="0" sz="1300" u="none" cap="none" strike="noStrike">
              <a:solidFill>
                <a:srgbClr val="000000"/>
              </a:solidFill>
              <a:latin typeface="Calibri"/>
              <a:ea typeface="Calibri"/>
              <a:cs typeface="Calibri"/>
              <a:sym typeface="Calibri"/>
            </a:endParaRPr>
          </a:p>
        </p:txBody>
      </p:sp>
      <p:sp>
        <p:nvSpPr>
          <p:cNvPr id="335" name="Google Shape;335;g3f62c33a15b_0_692"/>
          <p:cNvSpPr/>
          <p:nvPr/>
        </p:nvSpPr>
        <p:spPr>
          <a:xfrm>
            <a:off x="457200" y="2066544"/>
            <a:ext cx="46635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A1B9A"/>
              </a:buClr>
              <a:buSzPts val="1150"/>
              <a:buFont typeface="Calibri"/>
              <a:buNone/>
            </a:pPr>
            <a:r>
              <a:rPr b="1" i="0" lang="en" sz="1150" u="none" cap="none" strike="noStrike">
                <a:solidFill>
                  <a:srgbClr val="6A1B9A"/>
                </a:solidFill>
                <a:latin typeface="Calibri"/>
                <a:ea typeface="Calibri"/>
                <a:cs typeface="Calibri"/>
                <a:sym typeface="Calibri"/>
              </a:rPr>
              <a:t>Where:</a:t>
            </a:r>
            <a:endParaRPr b="0" i="0" sz="1150" u="none" cap="none" strike="noStrike">
              <a:solidFill>
                <a:srgbClr val="000000"/>
              </a:solidFill>
              <a:latin typeface="Calibri"/>
              <a:ea typeface="Calibri"/>
              <a:cs typeface="Calibri"/>
              <a:sym typeface="Calibri"/>
            </a:endParaRPr>
          </a:p>
        </p:txBody>
      </p:sp>
      <p:sp>
        <p:nvSpPr>
          <p:cNvPr id="336" name="Google Shape;336;g3f62c33a15b_0_692"/>
          <p:cNvSpPr/>
          <p:nvPr/>
        </p:nvSpPr>
        <p:spPr>
          <a:xfrm>
            <a:off x="548640" y="2304288"/>
            <a:ext cx="4663500" cy="25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150"/>
              <a:buFont typeface="Consolas"/>
              <a:buNone/>
            </a:pPr>
            <a:r>
              <a:rPr b="0" i="0" lang="en" sz="1150" u="none" cap="none" strike="noStrike">
                <a:solidFill>
                  <a:srgbClr val="37474F"/>
                </a:solidFill>
                <a:latin typeface="Consolas"/>
                <a:ea typeface="Consolas"/>
                <a:cs typeface="Consolas"/>
                <a:sym typeface="Consolas"/>
              </a:rPr>
              <a:t>yᵢc =  1 if sample i belongs to class c, else 0</a:t>
            </a:r>
            <a:endParaRPr b="0" i="0" sz="1150" u="none" cap="none" strike="noStrike">
              <a:solidFill>
                <a:srgbClr val="000000"/>
              </a:solidFill>
              <a:latin typeface="Calibri"/>
              <a:ea typeface="Calibri"/>
              <a:cs typeface="Calibri"/>
              <a:sym typeface="Calibri"/>
            </a:endParaRPr>
          </a:p>
        </p:txBody>
      </p:sp>
      <p:sp>
        <p:nvSpPr>
          <p:cNvPr id="337" name="Google Shape;337;g3f62c33a15b_0_692"/>
          <p:cNvSpPr/>
          <p:nvPr/>
        </p:nvSpPr>
        <p:spPr>
          <a:xfrm>
            <a:off x="548640" y="2578608"/>
            <a:ext cx="4663500" cy="25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150"/>
              <a:buFont typeface="Consolas"/>
              <a:buNone/>
            </a:pPr>
            <a:r>
              <a:rPr b="0" i="0" lang="en" sz="1150" u="none" cap="none" strike="noStrike">
                <a:solidFill>
                  <a:srgbClr val="37474F"/>
                </a:solidFill>
                <a:latin typeface="Consolas"/>
                <a:ea typeface="Consolas"/>
                <a:cs typeface="Consolas"/>
                <a:sym typeface="Consolas"/>
              </a:rPr>
              <a:t>ŷᵢc =  predicted probability for class c</a:t>
            </a:r>
            <a:endParaRPr b="0" i="0" sz="1150" u="none" cap="none" strike="noStrike">
              <a:solidFill>
                <a:srgbClr val="000000"/>
              </a:solidFill>
              <a:latin typeface="Calibri"/>
              <a:ea typeface="Calibri"/>
              <a:cs typeface="Calibri"/>
              <a:sym typeface="Calibri"/>
            </a:endParaRPr>
          </a:p>
        </p:txBody>
      </p:sp>
      <p:sp>
        <p:nvSpPr>
          <p:cNvPr id="338" name="Google Shape;338;g3f62c33a15b_0_692"/>
          <p:cNvSpPr/>
          <p:nvPr/>
        </p:nvSpPr>
        <p:spPr>
          <a:xfrm>
            <a:off x="548640" y="2852928"/>
            <a:ext cx="4663500" cy="25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150"/>
              <a:buFont typeface="Consolas"/>
              <a:buNone/>
            </a:pPr>
            <a:r>
              <a:rPr b="0" i="0" lang="en" sz="1150" u="none" cap="none" strike="noStrike">
                <a:solidFill>
                  <a:srgbClr val="37474F"/>
                </a:solidFill>
                <a:latin typeface="Consolas"/>
                <a:ea typeface="Consolas"/>
                <a:cs typeface="Consolas"/>
                <a:sym typeface="Consolas"/>
              </a:rPr>
              <a:t>C   =  total number of classes</a:t>
            </a:r>
            <a:endParaRPr b="0" i="0" sz="1150" u="none" cap="none" strike="noStrike">
              <a:solidFill>
                <a:srgbClr val="000000"/>
              </a:solidFill>
              <a:latin typeface="Calibri"/>
              <a:ea typeface="Calibri"/>
              <a:cs typeface="Calibri"/>
              <a:sym typeface="Calibri"/>
            </a:endParaRPr>
          </a:p>
        </p:txBody>
      </p:sp>
      <p:sp>
        <p:nvSpPr>
          <p:cNvPr id="339" name="Google Shape;339;g3f62c33a15b_0_692"/>
          <p:cNvSpPr/>
          <p:nvPr/>
        </p:nvSpPr>
        <p:spPr>
          <a:xfrm>
            <a:off x="548640" y="3127248"/>
            <a:ext cx="4663500" cy="25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150"/>
              <a:buFont typeface="Consolas"/>
              <a:buNone/>
            </a:pPr>
            <a:r>
              <a:rPr b="0" i="0" lang="en" sz="1150" u="none" cap="none" strike="noStrike">
                <a:solidFill>
                  <a:srgbClr val="37474F"/>
                </a:solidFill>
                <a:latin typeface="Consolas"/>
                <a:ea typeface="Consolas"/>
                <a:cs typeface="Consolas"/>
                <a:sym typeface="Consolas"/>
              </a:rPr>
              <a:t>Σc  =  sum over all classes</a:t>
            </a:r>
            <a:endParaRPr b="0" i="0" sz="1150" u="none" cap="none" strike="noStrike">
              <a:solidFill>
                <a:srgbClr val="000000"/>
              </a:solidFill>
              <a:latin typeface="Calibri"/>
              <a:ea typeface="Calibri"/>
              <a:cs typeface="Calibri"/>
              <a:sym typeface="Calibri"/>
            </a:endParaRPr>
          </a:p>
        </p:txBody>
      </p:sp>
      <p:sp>
        <p:nvSpPr>
          <p:cNvPr id="340" name="Google Shape;340;g3f62c33a15b_0_692"/>
          <p:cNvSpPr/>
          <p:nvPr/>
        </p:nvSpPr>
        <p:spPr>
          <a:xfrm>
            <a:off x="457200" y="3456432"/>
            <a:ext cx="4663500" cy="25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A1B9A"/>
              </a:buClr>
              <a:buSzPts val="1200"/>
              <a:buFont typeface="Calibri"/>
              <a:buNone/>
            </a:pPr>
            <a:r>
              <a:rPr b="1" i="0" lang="en" sz="1200" u="none" cap="none" strike="noStrike">
                <a:solidFill>
                  <a:srgbClr val="6A1B9A"/>
                </a:solidFill>
                <a:latin typeface="Calibri"/>
                <a:ea typeface="Calibri"/>
                <a:cs typeface="Calibri"/>
                <a:sym typeface="Calibri"/>
              </a:rPr>
              <a:t>Key Properties</a:t>
            </a:r>
            <a:endParaRPr b="0" i="0" sz="1200" u="none" cap="none" strike="noStrike">
              <a:solidFill>
                <a:srgbClr val="000000"/>
              </a:solidFill>
              <a:latin typeface="Calibri"/>
              <a:ea typeface="Calibri"/>
              <a:cs typeface="Calibri"/>
              <a:sym typeface="Calibri"/>
            </a:endParaRPr>
          </a:p>
        </p:txBody>
      </p:sp>
      <p:sp>
        <p:nvSpPr>
          <p:cNvPr id="341" name="Google Shape;341;g3f62c33a15b_0_692"/>
          <p:cNvSpPr/>
          <p:nvPr/>
        </p:nvSpPr>
        <p:spPr>
          <a:xfrm>
            <a:off x="548640" y="3749040"/>
            <a:ext cx="4663500" cy="25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200"/>
              <a:buFont typeface="Calibri"/>
              <a:buNone/>
            </a:pPr>
            <a:r>
              <a:rPr b="0" i="0" lang="en" sz="1200" u="none" cap="none" strike="noStrike">
                <a:solidFill>
                  <a:srgbClr val="37474F"/>
                </a:solidFill>
                <a:latin typeface="Calibri"/>
                <a:ea typeface="Calibri"/>
                <a:cs typeface="Calibri"/>
                <a:sym typeface="Calibri"/>
              </a:rPr>
              <a:t>• Generalisation of BCE to K &gt; 2 classes</a:t>
            </a:r>
            <a:endParaRPr b="0" i="0" sz="1200" u="none" cap="none" strike="noStrike">
              <a:solidFill>
                <a:srgbClr val="000000"/>
              </a:solidFill>
              <a:latin typeface="Calibri"/>
              <a:ea typeface="Calibri"/>
              <a:cs typeface="Calibri"/>
              <a:sym typeface="Calibri"/>
            </a:endParaRPr>
          </a:p>
        </p:txBody>
      </p:sp>
      <p:sp>
        <p:nvSpPr>
          <p:cNvPr id="342" name="Google Shape;342;g3f62c33a15b_0_692"/>
          <p:cNvSpPr/>
          <p:nvPr/>
        </p:nvSpPr>
        <p:spPr>
          <a:xfrm>
            <a:off x="548640" y="4023360"/>
            <a:ext cx="4663500" cy="25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200"/>
              <a:buFont typeface="Calibri"/>
              <a:buNone/>
            </a:pPr>
            <a:r>
              <a:rPr b="0" i="0" lang="en" sz="1200" u="none" cap="none" strike="noStrike">
                <a:solidFill>
                  <a:srgbClr val="37474F"/>
                </a:solidFill>
                <a:latin typeface="Calibri"/>
                <a:ea typeface="Calibri"/>
                <a:cs typeface="Calibri"/>
                <a:sym typeface="Calibri"/>
              </a:rPr>
              <a:t>• Output layer uses Softmax (all probs sum to 1)</a:t>
            </a:r>
            <a:endParaRPr b="0" i="0" sz="1200" u="none" cap="none" strike="noStrike">
              <a:solidFill>
                <a:srgbClr val="000000"/>
              </a:solidFill>
              <a:latin typeface="Calibri"/>
              <a:ea typeface="Calibri"/>
              <a:cs typeface="Calibri"/>
              <a:sym typeface="Calibri"/>
            </a:endParaRPr>
          </a:p>
        </p:txBody>
      </p:sp>
      <p:sp>
        <p:nvSpPr>
          <p:cNvPr id="343" name="Google Shape;343;g3f62c33a15b_0_692"/>
          <p:cNvSpPr/>
          <p:nvPr/>
        </p:nvSpPr>
        <p:spPr>
          <a:xfrm>
            <a:off x="548640" y="4297680"/>
            <a:ext cx="4663500" cy="25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200"/>
              <a:buFont typeface="Calibri"/>
              <a:buNone/>
            </a:pPr>
            <a:r>
              <a:rPr b="0" i="0" lang="en" sz="1200" u="none" cap="none" strike="noStrike">
                <a:solidFill>
                  <a:srgbClr val="37474F"/>
                </a:solidFill>
                <a:latin typeface="Calibri"/>
                <a:ea typeface="Calibri"/>
                <a:cs typeface="Calibri"/>
                <a:sym typeface="Calibri"/>
              </a:rPr>
              <a:t>• Only the log of the true class probability contributes</a:t>
            </a:r>
            <a:endParaRPr b="0" i="0" sz="1200" u="none" cap="none" strike="noStrike">
              <a:solidFill>
                <a:srgbClr val="000000"/>
              </a:solidFill>
              <a:latin typeface="Calibri"/>
              <a:ea typeface="Calibri"/>
              <a:cs typeface="Calibri"/>
              <a:sym typeface="Calibri"/>
            </a:endParaRPr>
          </a:p>
        </p:txBody>
      </p:sp>
      <p:sp>
        <p:nvSpPr>
          <p:cNvPr id="344" name="Google Shape;344;g3f62c33a15b_0_692"/>
          <p:cNvSpPr/>
          <p:nvPr/>
        </p:nvSpPr>
        <p:spPr>
          <a:xfrm>
            <a:off x="5532120" y="914400"/>
            <a:ext cx="3337500" cy="3977700"/>
          </a:xfrm>
          <a:prstGeom prst="rect">
            <a:avLst/>
          </a:prstGeom>
          <a:solidFill>
            <a:srgbClr val="F5F5F5"/>
          </a:solidFill>
          <a:ln cap="flat" cmpd="sng" w="12700">
            <a:solidFill>
              <a:srgbClr val="BDBDBD"/>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g3f62c33a15b_0_692"/>
          <p:cNvSpPr/>
          <p:nvPr/>
        </p:nvSpPr>
        <p:spPr>
          <a:xfrm>
            <a:off x="5532120" y="914400"/>
            <a:ext cx="3337500" cy="438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Calibri"/>
              <a:buNone/>
            </a:pPr>
            <a:r>
              <a:rPr b="1" i="0" lang="en" sz="1600" u="none" cap="none" strike="noStrike">
                <a:solidFill>
                  <a:schemeClr val="dk1"/>
                </a:solidFill>
                <a:latin typeface="Calibri"/>
                <a:ea typeface="Calibri"/>
                <a:cs typeface="Calibri"/>
                <a:sym typeface="Calibri"/>
              </a:rPr>
              <a:t>Intuition</a:t>
            </a:r>
            <a:endParaRPr b="0" i="0" sz="1600" u="none" cap="none" strike="noStrike">
              <a:solidFill>
                <a:schemeClr val="dk1"/>
              </a:solidFill>
              <a:latin typeface="Calibri"/>
              <a:ea typeface="Calibri"/>
              <a:cs typeface="Calibri"/>
              <a:sym typeface="Calibri"/>
            </a:endParaRPr>
          </a:p>
        </p:txBody>
      </p:sp>
      <p:sp>
        <p:nvSpPr>
          <p:cNvPr id="346" name="Google Shape;346;g3f62c33a15b_0_692"/>
          <p:cNvSpPr/>
          <p:nvPr/>
        </p:nvSpPr>
        <p:spPr>
          <a:xfrm>
            <a:off x="5669280" y="1435608"/>
            <a:ext cx="30633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200"/>
              <a:buFont typeface="Calibri"/>
              <a:buNone/>
            </a:pPr>
            <a:r>
              <a:rPr b="0" i="1" lang="en" sz="1200" u="none" cap="none" strike="noStrike">
                <a:solidFill>
                  <a:srgbClr val="37474F"/>
                </a:solidFill>
                <a:latin typeface="Calibri"/>
                <a:ea typeface="Calibri"/>
                <a:cs typeface="Calibri"/>
                <a:sym typeface="Calibri"/>
              </a:rPr>
              <a:t>Image classifier: Cat / Dog / Bird</a:t>
            </a:r>
            <a:endParaRPr b="0" i="0" sz="1200" u="none" cap="none" strike="noStrike">
              <a:solidFill>
                <a:srgbClr val="000000"/>
              </a:solidFill>
              <a:latin typeface="Calibri"/>
              <a:ea typeface="Calibri"/>
              <a:cs typeface="Calibri"/>
              <a:sym typeface="Calibri"/>
            </a:endParaRPr>
          </a:p>
        </p:txBody>
      </p:sp>
      <p:sp>
        <p:nvSpPr>
          <p:cNvPr id="347" name="Google Shape;347;g3f62c33a15b_0_692"/>
          <p:cNvSpPr/>
          <p:nvPr/>
        </p:nvSpPr>
        <p:spPr>
          <a:xfrm>
            <a:off x="5669280" y="1783080"/>
            <a:ext cx="1005900" cy="329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050"/>
              <a:buFont typeface="Calibri"/>
              <a:buNone/>
            </a:pPr>
            <a:r>
              <a:rPr b="1" i="0" lang="en" sz="1050" u="none" cap="none" strike="noStrike">
                <a:solidFill>
                  <a:schemeClr val="dk1"/>
                </a:solidFill>
                <a:latin typeface="Calibri"/>
                <a:ea typeface="Calibri"/>
                <a:cs typeface="Calibri"/>
                <a:sym typeface="Calibri"/>
              </a:rPr>
              <a:t>Class</a:t>
            </a:r>
            <a:endParaRPr b="0" i="0" sz="1050" u="none" cap="none" strike="noStrike">
              <a:solidFill>
                <a:schemeClr val="dk1"/>
              </a:solidFill>
              <a:latin typeface="Calibri"/>
              <a:ea typeface="Calibri"/>
              <a:cs typeface="Calibri"/>
              <a:sym typeface="Calibri"/>
            </a:endParaRPr>
          </a:p>
        </p:txBody>
      </p:sp>
      <p:sp>
        <p:nvSpPr>
          <p:cNvPr id="348" name="Google Shape;348;g3f62c33a15b_0_692"/>
          <p:cNvSpPr/>
          <p:nvPr/>
        </p:nvSpPr>
        <p:spPr>
          <a:xfrm>
            <a:off x="6675120" y="1783080"/>
            <a:ext cx="1097400" cy="329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050"/>
              <a:buFont typeface="Calibri"/>
              <a:buNone/>
            </a:pPr>
            <a:r>
              <a:rPr b="1" i="0" lang="en" sz="1050" u="none" cap="none" strike="noStrike">
                <a:solidFill>
                  <a:schemeClr val="dk1"/>
                </a:solidFill>
                <a:latin typeface="Calibri"/>
                <a:ea typeface="Calibri"/>
                <a:cs typeface="Calibri"/>
                <a:sym typeface="Calibri"/>
              </a:rPr>
              <a:t>Softmax ŷ</a:t>
            </a:r>
            <a:endParaRPr b="0" i="0" sz="1050" u="none" cap="none" strike="noStrike">
              <a:solidFill>
                <a:schemeClr val="dk1"/>
              </a:solidFill>
              <a:latin typeface="Calibri"/>
              <a:ea typeface="Calibri"/>
              <a:cs typeface="Calibri"/>
              <a:sym typeface="Calibri"/>
            </a:endParaRPr>
          </a:p>
        </p:txBody>
      </p:sp>
      <p:sp>
        <p:nvSpPr>
          <p:cNvPr id="349" name="Google Shape;349;g3f62c33a15b_0_692"/>
          <p:cNvSpPr/>
          <p:nvPr/>
        </p:nvSpPr>
        <p:spPr>
          <a:xfrm>
            <a:off x="7772400" y="1783080"/>
            <a:ext cx="731400" cy="329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050"/>
              <a:buFont typeface="Calibri"/>
              <a:buNone/>
            </a:pPr>
            <a:r>
              <a:rPr b="1" i="0" lang="en" sz="1050" u="none" cap="none" strike="noStrike">
                <a:solidFill>
                  <a:schemeClr val="dk1"/>
                </a:solidFill>
                <a:latin typeface="Calibri"/>
                <a:ea typeface="Calibri"/>
                <a:cs typeface="Calibri"/>
                <a:sym typeface="Calibri"/>
              </a:rPr>
              <a:t>True y</a:t>
            </a:r>
            <a:endParaRPr b="0" i="0" sz="1050" u="none" cap="none" strike="noStrike">
              <a:solidFill>
                <a:schemeClr val="dk1"/>
              </a:solidFill>
              <a:latin typeface="Calibri"/>
              <a:ea typeface="Calibri"/>
              <a:cs typeface="Calibri"/>
              <a:sym typeface="Calibri"/>
            </a:endParaRPr>
          </a:p>
        </p:txBody>
      </p:sp>
      <p:sp>
        <p:nvSpPr>
          <p:cNvPr id="350" name="Google Shape;350;g3f62c33a15b_0_692"/>
          <p:cNvSpPr/>
          <p:nvPr/>
        </p:nvSpPr>
        <p:spPr>
          <a:xfrm>
            <a:off x="5669280" y="2112264"/>
            <a:ext cx="1005900" cy="329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12121"/>
              </a:buClr>
              <a:buSzPts val="1050"/>
              <a:buFont typeface="Calibri"/>
              <a:buNone/>
            </a:pPr>
            <a:r>
              <a:rPr b="0" i="0" lang="en" sz="1050" u="none" cap="none" strike="noStrike">
                <a:solidFill>
                  <a:srgbClr val="212121"/>
                </a:solidFill>
                <a:latin typeface="Calibri"/>
                <a:ea typeface="Calibri"/>
                <a:cs typeface="Calibri"/>
                <a:sym typeface="Calibri"/>
              </a:rPr>
              <a:t>Cat 🐱</a:t>
            </a:r>
            <a:endParaRPr b="0" i="0" sz="1050" u="none" cap="none" strike="noStrike">
              <a:solidFill>
                <a:srgbClr val="000000"/>
              </a:solidFill>
              <a:latin typeface="Calibri"/>
              <a:ea typeface="Calibri"/>
              <a:cs typeface="Calibri"/>
              <a:sym typeface="Calibri"/>
            </a:endParaRPr>
          </a:p>
        </p:txBody>
      </p:sp>
      <p:sp>
        <p:nvSpPr>
          <p:cNvPr id="351" name="Google Shape;351;g3f62c33a15b_0_692"/>
          <p:cNvSpPr/>
          <p:nvPr/>
        </p:nvSpPr>
        <p:spPr>
          <a:xfrm>
            <a:off x="6675120" y="2112264"/>
            <a:ext cx="1097400" cy="329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12121"/>
              </a:buClr>
              <a:buSzPts val="1050"/>
              <a:buFont typeface="Calibri"/>
              <a:buNone/>
            </a:pPr>
            <a:r>
              <a:rPr b="0" i="0" lang="en" sz="1050" u="none" cap="none" strike="noStrike">
                <a:solidFill>
                  <a:srgbClr val="212121"/>
                </a:solidFill>
                <a:latin typeface="Calibri"/>
                <a:ea typeface="Calibri"/>
                <a:cs typeface="Calibri"/>
                <a:sym typeface="Calibri"/>
              </a:rPr>
              <a:t>0.70</a:t>
            </a:r>
            <a:endParaRPr b="0" i="0" sz="1050" u="none" cap="none" strike="noStrike">
              <a:solidFill>
                <a:srgbClr val="000000"/>
              </a:solidFill>
              <a:latin typeface="Calibri"/>
              <a:ea typeface="Calibri"/>
              <a:cs typeface="Calibri"/>
              <a:sym typeface="Calibri"/>
            </a:endParaRPr>
          </a:p>
        </p:txBody>
      </p:sp>
      <p:sp>
        <p:nvSpPr>
          <p:cNvPr id="352" name="Google Shape;352;g3f62c33a15b_0_692"/>
          <p:cNvSpPr/>
          <p:nvPr/>
        </p:nvSpPr>
        <p:spPr>
          <a:xfrm>
            <a:off x="7772400" y="2112264"/>
            <a:ext cx="731400" cy="329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A1B9A"/>
              </a:buClr>
              <a:buSzPts val="1050"/>
              <a:buFont typeface="Calibri"/>
              <a:buNone/>
            </a:pPr>
            <a:r>
              <a:rPr b="1" i="0" lang="en" sz="1050" u="none" cap="none" strike="noStrike">
                <a:solidFill>
                  <a:srgbClr val="6A1B9A"/>
                </a:solidFill>
                <a:latin typeface="Calibri"/>
                <a:ea typeface="Calibri"/>
                <a:cs typeface="Calibri"/>
                <a:sym typeface="Calibri"/>
              </a:rPr>
              <a:t>1</a:t>
            </a:r>
            <a:endParaRPr b="0" i="0" sz="1050" u="none" cap="none" strike="noStrike">
              <a:solidFill>
                <a:srgbClr val="000000"/>
              </a:solidFill>
              <a:latin typeface="Calibri"/>
              <a:ea typeface="Calibri"/>
              <a:cs typeface="Calibri"/>
              <a:sym typeface="Calibri"/>
            </a:endParaRPr>
          </a:p>
        </p:txBody>
      </p:sp>
      <p:sp>
        <p:nvSpPr>
          <p:cNvPr id="353" name="Google Shape;353;g3f62c33a15b_0_692"/>
          <p:cNvSpPr/>
          <p:nvPr/>
        </p:nvSpPr>
        <p:spPr>
          <a:xfrm>
            <a:off x="5669280" y="2441448"/>
            <a:ext cx="1005900" cy="329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12121"/>
              </a:buClr>
              <a:buSzPts val="1050"/>
              <a:buFont typeface="Calibri"/>
              <a:buNone/>
            </a:pPr>
            <a:r>
              <a:rPr b="0" i="0" lang="en" sz="1050" u="none" cap="none" strike="noStrike">
                <a:solidFill>
                  <a:srgbClr val="212121"/>
                </a:solidFill>
                <a:latin typeface="Calibri"/>
                <a:ea typeface="Calibri"/>
                <a:cs typeface="Calibri"/>
                <a:sym typeface="Calibri"/>
              </a:rPr>
              <a:t>Dog 🐶</a:t>
            </a:r>
            <a:endParaRPr b="0" i="0" sz="1050" u="none" cap="none" strike="noStrike">
              <a:solidFill>
                <a:srgbClr val="000000"/>
              </a:solidFill>
              <a:latin typeface="Calibri"/>
              <a:ea typeface="Calibri"/>
              <a:cs typeface="Calibri"/>
              <a:sym typeface="Calibri"/>
            </a:endParaRPr>
          </a:p>
        </p:txBody>
      </p:sp>
      <p:sp>
        <p:nvSpPr>
          <p:cNvPr id="354" name="Google Shape;354;g3f62c33a15b_0_692"/>
          <p:cNvSpPr/>
          <p:nvPr/>
        </p:nvSpPr>
        <p:spPr>
          <a:xfrm>
            <a:off x="6675120" y="2441448"/>
            <a:ext cx="1097400" cy="329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12121"/>
              </a:buClr>
              <a:buSzPts val="1050"/>
              <a:buFont typeface="Calibri"/>
              <a:buNone/>
            </a:pPr>
            <a:r>
              <a:rPr b="0" i="0" lang="en" sz="1050" u="none" cap="none" strike="noStrike">
                <a:solidFill>
                  <a:srgbClr val="212121"/>
                </a:solidFill>
                <a:latin typeface="Calibri"/>
                <a:ea typeface="Calibri"/>
                <a:cs typeface="Calibri"/>
                <a:sym typeface="Calibri"/>
              </a:rPr>
              <a:t>0.20</a:t>
            </a:r>
            <a:endParaRPr b="0" i="0" sz="1050" u="none" cap="none" strike="noStrike">
              <a:solidFill>
                <a:srgbClr val="000000"/>
              </a:solidFill>
              <a:latin typeface="Calibri"/>
              <a:ea typeface="Calibri"/>
              <a:cs typeface="Calibri"/>
              <a:sym typeface="Calibri"/>
            </a:endParaRPr>
          </a:p>
        </p:txBody>
      </p:sp>
      <p:sp>
        <p:nvSpPr>
          <p:cNvPr id="355" name="Google Shape;355;g3f62c33a15b_0_692"/>
          <p:cNvSpPr/>
          <p:nvPr/>
        </p:nvSpPr>
        <p:spPr>
          <a:xfrm>
            <a:off x="7772400" y="2441448"/>
            <a:ext cx="731400" cy="329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12121"/>
              </a:buClr>
              <a:buSzPts val="1050"/>
              <a:buFont typeface="Calibri"/>
              <a:buNone/>
            </a:pPr>
            <a:r>
              <a:rPr b="0" i="0" lang="en" sz="1050" u="none" cap="none" strike="noStrike">
                <a:solidFill>
                  <a:srgbClr val="212121"/>
                </a:solidFill>
                <a:latin typeface="Calibri"/>
                <a:ea typeface="Calibri"/>
                <a:cs typeface="Calibri"/>
                <a:sym typeface="Calibri"/>
              </a:rPr>
              <a:t>0</a:t>
            </a:r>
            <a:endParaRPr b="0" i="0" sz="1050" u="none" cap="none" strike="noStrike">
              <a:solidFill>
                <a:srgbClr val="000000"/>
              </a:solidFill>
              <a:latin typeface="Calibri"/>
              <a:ea typeface="Calibri"/>
              <a:cs typeface="Calibri"/>
              <a:sym typeface="Calibri"/>
            </a:endParaRPr>
          </a:p>
        </p:txBody>
      </p:sp>
      <p:sp>
        <p:nvSpPr>
          <p:cNvPr id="356" name="Google Shape;356;g3f62c33a15b_0_692"/>
          <p:cNvSpPr/>
          <p:nvPr/>
        </p:nvSpPr>
        <p:spPr>
          <a:xfrm>
            <a:off x="5669280" y="2770632"/>
            <a:ext cx="1005900" cy="329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12121"/>
              </a:buClr>
              <a:buSzPts val="1050"/>
              <a:buFont typeface="Calibri"/>
              <a:buNone/>
            </a:pPr>
            <a:r>
              <a:rPr b="0" i="0" lang="en" sz="1050" u="none" cap="none" strike="noStrike">
                <a:solidFill>
                  <a:srgbClr val="212121"/>
                </a:solidFill>
                <a:latin typeface="Calibri"/>
                <a:ea typeface="Calibri"/>
                <a:cs typeface="Calibri"/>
                <a:sym typeface="Calibri"/>
              </a:rPr>
              <a:t>Bird 🐦</a:t>
            </a:r>
            <a:endParaRPr b="0" i="0" sz="1050" u="none" cap="none" strike="noStrike">
              <a:solidFill>
                <a:srgbClr val="000000"/>
              </a:solidFill>
              <a:latin typeface="Calibri"/>
              <a:ea typeface="Calibri"/>
              <a:cs typeface="Calibri"/>
              <a:sym typeface="Calibri"/>
            </a:endParaRPr>
          </a:p>
        </p:txBody>
      </p:sp>
      <p:sp>
        <p:nvSpPr>
          <p:cNvPr id="357" name="Google Shape;357;g3f62c33a15b_0_692"/>
          <p:cNvSpPr/>
          <p:nvPr/>
        </p:nvSpPr>
        <p:spPr>
          <a:xfrm>
            <a:off x="6675120" y="2770632"/>
            <a:ext cx="1097400" cy="329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12121"/>
              </a:buClr>
              <a:buSzPts val="1050"/>
              <a:buFont typeface="Calibri"/>
              <a:buNone/>
            </a:pPr>
            <a:r>
              <a:rPr b="0" i="0" lang="en" sz="1050" u="none" cap="none" strike="noStrike">
                <a:solidFill>
                  <a:srgbClr val="212121"/>
                </a:solidFill>
                <a:latin typeface="Calibri"/>
                <a:ea typeface="Calibri"/>
                <a:cs typeface="Calibri"/>
                <a:sym typeface="Calibri"/>
              </a:rPr>
              <a:t>0.10</a:t>
            </a:r>
            <a:endParaRPr b="0" i="0" sz="1050" u="none" cap="none" strike="noStrike">
              <a:solidFill>
                <a:srgbClr val="000000"/>
              </a:solidFill>
              <a:latin typeface="Calibri"/>
              <a:ea typeface="Calibri"/>
              <a:cs typeface="Calibri"/>
              <a:sym typeface="Calibri"/>
            </a:endParaRPr>
          </a:p>
        </p:txBody>
      </p:sp>
      <p:sp>
        <p:nvSpPr>
          <p:cNvPr id="358" name="Google Shape;358;g3f62c33a15b_0_692"/>
          <p:cNvSpPr/>
          <p:nvPr/>
        </p:nvSpPr>
        <p:spPr>
          <a:xfrm>
            <a:off x="7772400" y="2770632"/>
            <a:ext cx="731400" cy="329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12121"/>
              </a:buClr>
              <a:buSzPts val="1050"/>
              <a:buFont typeface="Calibri"/>
              <a:buNone/>
            </a:pPr>
            <a:r>
              <a:rPr b="0" i="0" lang="en" sz="1050" u="none" cap="none" strike="noStrike">
                <a:solidFill>
                  <a:srgbClr val="212121"/>
                </a:solidFill>
                <a:latin typeface="Calibri"/>
                <a:ea typeface="Calibri"/>
                <a:cs typeface="Calibri"/>
                <a:sym typeface="Calibri"/>
              </a:rPr>
              <a:t>0</a:t>
            </a:r>
            <a:endParaRPr b="0" i="0" sz="1050" u="none" cap="none" strike="noStrike">
              <a:solidFill>
                <a:srgbClr val="000000"/>
              </a:solidFill>
              <a:latin typeface="Calibri"/>
              <a:ea typeface="Calibri"/>
              <a:cs typeface="Calibri"/>
              <a:sym typeface="Calibri"/>
            </a:endParaRPr>
          </a:p>
        </p:txBody>
      </p:sp>
      <p:sp>
        <p:nvSpPr>
          <p:cNvPr id="359" name="Google Shape;359;g3f62c33a15b_0_692"/>
          <p:cNvSpPr/>
          <p:nvPr/>
        </p:nvSpPr>
        <p:spPr>
          <a:xfrm>
            <a:off x="5669280" y="3090672"/>
            <a:ext cx="30633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A1B9A"/>
              </a:buClr>
              <a:buSzPts val="1200"/>
              <a:buFont typeface="Consolas"/>
              <a:buNone/>
            </a:pPr>
            <a:r>
              <a:rPr b="1" i="0" lang="en" sz="1200" u="none" cap="none" strike="noStrike">
                <a:solidFill>
                  <a:srgbClr val="6A1B9A"/>
                </a:solidFill>
                <a:latin typeface="Consolas"/>
                <a:ea typeface="Consolas"/>
                <a:cs typeface="Consolas"/>
                <a:sym typeface="Consolas"/>
              </a:rPr>
              <a:t>Loss  = −log(0.70)  ≈  0.36</a:t>
            </a:r>
            <a:endParaRPr b="0" i="0" sz="1200" u="none" cap="none" strike="noStrike">
              <a:solidFill>
                <a:srgbClr val="000000"/>
              </a:solidFill>
              <a:latin typeface="Calibri"/>
              <a:ea typeface="Calibri"/>
              <a:cs typeface="Calibri"/>
              <a:sym typeface="Calibri"/>
            </a:endParaRPr>
          </a:p>
        </p:txBody>
      </p:sp>
      <p:sp>
        <p:nvSpPr>
          <p:cNvPr id="360" name="Google Shape;360;g3f62c33a15b_0_692"/>
          <p:cNvSpPr/>
          <p:nvPr/>
        </p:nvSpPr>
        <p:spPr>
          <a:xfrm>
            <a:off x="5669280" y="3429000"/>
            <a:ext cx="3063300" cy="6858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150"/>
              <a:buFont typeface="Calibri"/>
              <a:buNone/>
            </a:pPr>
            <a:r>
              <a:rPr b="0" i="1" lang="en" sz="1150" u="none" cap="none" strike="noStrike">
                <a:solidFill>
                  <a:srgbClr val="37474F"/>
                </a:solidFill>
                <a:latin typeface="Calibri"/>
                <a:ea typeface="Calibri"/>
                <a:cs typeface="Calibri"/>
                <a:sym typeface="Calibri"/>
              </a:rPr>
              <a:t>Only the probability of the TRUE class (Cat) matters. Higher confidence in the correct class → lower loss.</a:t>
            </a:r>
            <a:endParaRPr b="0" i="0" sz="1150" u="none" cap="none" strike="noStrike">
              <a:solidFill>
                <a:srgbClr val="000000"/>
              </a:solidFill>
              <a:latin typeface="Calibri"/>
              <a:ea typeface="Calibri"/>
              <a:cs typeface="Calibri"/>
              <a:sym typeface="Calibri"/>
            </a:endParaRPr>
          </a:p>
        </p:txBody>
      </p:sp>
      <p:sp>
        <p:nvSpPr>
          <p:cNvPr id="361" name="Google Shape;361;g3f62c33a15b_0_692"/>
          <p:cNvSpPr/>
          <p:nvPr/>
        </p:nvSpPr>
        <p:spPr>
          <a:xfrm>
            <a:off x="5669280" y="4206240"/>
            <a:ext cx="3063300" cy="567000"/>
          </a:xfrm>
          <a:prstGeom prst="roundRect">
            <a:avLst>
              <a:gd fmla="val 12903" name="adj"/>
            </a:avLst>
          </a:prstGeom>
          <a:solidFill>
            <a:srgbClr val="F3E5F5"/>
          </a:solidFill>
          <a:ln cap="flat" cmpd="sng" w="15225">
            <a:solidFill>
              <a:srgbClr val="6A1B9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g3f62c33a15b_0_692"/>
          <p:cNvSpPr/>
          <p:nvPr/>
        </p:nvSpPr>
        <p:spPr>
          <a:xfrm>
            <a:off x="5760720" y="4233672"/>
            <a:ext cx="2880300" cy="512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A1B9A"/>
              </a:buClr>
              <a:buSzPts val="1150"/>
              <a:buFont typeface="Calibri"/>
              <a:buNone/>
            </a:pPr>
            <a:r>
              <a:rPr b="1" i="0" lang="en" sz="1150" u="none" cap="none" strike="noStrike">
                <a:solidFill>
                  <a:srgbClr val="6A1B9A"/>
                </a:solidFill>
                <a:latin typeface="Calibri"/>
                <a:ea typeface="Calibri"/>
                <a:cs typeface="Calibri"/>
                <a:sym typeface="Calibri"/>
              </a:rPr>
              <a:t>✔  Use when: 3+ mutually exclusive</a:t>
            </a:r>
            <a:endParaRPr b="0" i="0" sz="115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6A1B9A"/>
              </a:buClr>
              <a:buSzPts val="1150"/>
              <a:buFont typeface="Calibri"/>
              <a:buNone/>
            </a:pPr>
            <a:r>
              <a:rPr b="1" i="0" lang="en" sz="1150" u="none" cap="none" strike="noStrike">
                <a:solidFill>
                  <a:srgbClr val="6A1B9A"/>
                </a:solidFill>
                <a:latin typeface="Calibri"/>
                <a:ea typeface="Calibri"/>
                <a:cs typeface="Calibri"/>
                <a:sym typeface="Calibri"/>
              </a:rPr>
              <a:t>    classes (one label per sample)</a:t>
            </a:r>
            <a:endParaRPr b="0" i="0" sz="1150" u="none" cap="none" strike="noStrike">
              <a:solidFill>
                <a:srgbClr val="000000"/>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66" name="Shape 366"/>
        <p:cNvGrpSpPr/>
        <p:nvPr/>
      </p:nvGrpSpPr>
      <p:grpSpPr>
        <a:xfrm>
          <a:off x="0" y="0"/>
          <a:ext cx="0" cy="0"/>
          <a:chOff x="0" y="0"/>
          <a:chExt cx="0" cy="0"/>
        </a:xfrm>
      </p:grpSpPr>
      <p:pic>
        <p:nvPicPr>
          <p:cNvPr id="367" name="Google Shape;367;g3f62c33a15b_0_729"/>
          <p:cNvPicPr preferRelativeResize="0"/>
          <p:nvPr/>
        </p:nvPicPr>
        <p:blipFill rotWithShape="1">
          <a:blip r:embed="rId4">
            <a:alphaModFix/>
          </a:blip>
          <a:srcRect b="0" l="0" r="0" t="0"/>
          <a:stretch/>
        </p:blipFill>
        <p:spPr>
          <a:xfrm>
            <a:off x="8369125" y="0"/>
            <a:ext cx="774877" cy="867174"/>
          </a:xfrm>
          <a:prstGeom prst="rect">
            <a:avLst/>
          </a:prstGeom>
          <a:noFill/>
          <a:ln>
            <a:noFill/>
          </a:ln>
        </p:spPr>
      </p:pic>
      <p:cxnSp>
        <p:nvCxnSpPr>
          <p:cNvPr id="368" name="Google Shape;368;g3f62c33a15b_0_729"/>
          <p:cNvCxnSpPr/>
          <p:nvPr/>
        </p:nvCxnSpPr>
        <p:spPr>
          <a:xfrm flipH="1" rot="10800000">
            <a:off x="274320" y="2743200"/>
            <a:ext cx="1371600" cy="1371600"/>
          </a:xfrm>
          <a:prstGeom prst="straightConnector1">
            <a:avLst/>
          </a:prstGeom>
          <a:noFill/>
          <a:ln cap="flat" cmpd="sng" w="9525">
            <a:solidFill>
              <a:srgbClr val="BDBDBD">
                <a:alpha val="30196"/>
              </a:srgbClr>
            </a:solidFill>
            <a:prstDash val="solid"/>
            <a:round/>
            <a:headEnd len="sm" w="sm" type="none"/>
            <a:tailEnd len="sm" w="sm" type="none"/>
          </a:ln>
        </p:spPr>
      </p:cxnSp>
      <p:cxnSp>
        <p:nvCxnSpPr>
          <p:cNvPr id="369" name="Google Shape;369;g3f62c33a15b_0_729"/>
          <p:cNvCxnSpPr/>
          <p:nvPr/>
        </p:nvCxnSpPr>
        <p:spPr>
          <a:xfrm flipH="1" rot="10800000">
            <a:off x="3200400" y="3840600"/>
            <a:ext cx="2286000" cy="731400"/>
          </a:xfrm>
          <a:prstGeom prst="straightConnector1">
            <a:avLst/>
          </a:prstGeom>
          <a:noFill/>
          <a:ln cap="flat" cmpd="sng" w="9525">
            <a:solidFill>
              <a:srgbClr val="BDBDBD">
                <a:alpha val="30196"/>
              </a:srgbClr>
            </a:solidFill>
            <a:prstDash val="solid"/>
            <a:round/>
            <a:headEnd len="sm" w="sm" type="none"/>
            <a:tailEnd len="sm" w="sm" type="none"/>
          </a:ln>
        </p:spPr>
      </p:cxnSp>
      <p:cxnSp>
        <p:nvCxnSpPr>
          <p:cNvPr id="370" name="Google Shape;370;g3f62c33a15b_0_729"/>
          <p:cNvCxnSpPr/>
          <p:nvPr/>
        </p:nvCxnSpPr>
        <p:spPr>
          <a:xfrm flipH="1" rot="10800000">
            <a:off x="7772400" y="2743320"/>
            <a:ext cx="1280100" cy="2103000"/>
          </a:xfrm>
          <a:prstGeom prst="straightConnector1">
            <a:avLst/>
          </a:prstGeom>
          <a:noFill/>
          <a:ln cap="flat" cmpd="sng" w="9525">
            <a:solidFill>
              <a:srgbClr val="BDBDBD">
                <a:alpha val="30196"/>
              </a:srgbClr>
            </a:solidFill>
            <a:prstDash val="solid"/>
            <a:round/>
            <a:headEnd len="sm" w="sm" type="none"/>
            <a:tailEnd len="sm" w="sm" type="none"/>
          </a:ln>
        </p:spPr>
      </p:cxnSp>
      <p:cxnSp>
        <p:nvCxnSpPr>
          <p:cNvPr id="371" name="Google Shape;371;g3f62c33a15b_0_729"/>
          <p:cNvCxnSpPr/>
          <p:nvPr/>
        </p:nvCxnSpPr>
        <p:spPr>
          <a:xfrm flipH="1">
            <a:off x="1645800" y="1097280"/>
            <a:ext cx="640200" cy="1645800"/>
          </a:xfrm>
          <a:prstGeom prst="straightConnector1">
            <a:avLst/>
          </a:prstGeom>
          <a:noFill/>
          <a:ln cap="flat" cmpd="sng" w="9525">
            <a:solidFill>
              <a:srgbClr val="BDBDBD">
                <a:alpha val="30196"/>
              </a:srgbClr>
            </a:solidFill>
            <a:prstDash val="solid"/>
            <a:round/>
            <a:headEnd len="sm" w="sm" type="none"/>
            <a:tailEnd len="sm" w="sm" type="none"/>
          </a:ln>
        </p:spPr>
      </p:cxnSp>
      <p:cxnSp>
        <p:nvCxnSpPr>
          <p:cNvPr id="372" name="Google Shape;372;g3f62c33a15b_0_729"/>
          <p:cNvCxnSpPr/>
          <p:nvPr/>
        </p:nvCxnSpPr>
        <p:spPr>
          <a:xfrm flipH="1">
            <a:off x="7772520" y="182880"/>
            <a:ext cx="1188600" cy="4663500"/>
          </a:xfrm>
          <a:prstGeom prst="straightConnector1">
            <a:avLst/>
          </a:prstGeom>
          <a:noFill/>
          <a:ln cap="flat" cmpd="sng" w="9525">
            <a:solidFill>
              <a:srgbClr val="BDBDBD">
                <a:alpha val="30196"/>
              </a:srgbClr>
            </a:solidFill>
            <a:prstDash val="solid"/>
            <a:round/>
            <a:headEnd len="sm" w="sm" type="none"/>
            <a:tailEnd len="sm" w="sm" type="none"/>
          </a:ln>
        </p:spPr>
      </p:cxnSp>
      <p:sp>
        <p:nvSpPr>
          <p:cNvPr id="373" name="Google Shape;373;g3f62c33a15b_0_729"/>
          <p:cNvSpPr/>
          <p:nvPr/>
        </p:nvSpPr>
        <p:spPr>
          <a:xfrm>
            <a:off x="2249424" y="1060704"/>
            <a:ext cx="73200" cy="73200"/>
          </a:xfrm>
          <a:prstGeom prst="ellipse">
            <a:avLst/>
          </a:prstGeom>
          <a:solidFill>
            <a:srgbClr val="9E9E9E">
              <a:alpha val="40000"/>
            </a:srgbClr>
          </a:solidFill>
          <a:ln cap="flat" cmpd="sng" w="12700">
            <a:solidFill>
              <a:srgbClr val="9E9E9E">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g3f62c33a15b_0_729"/>
          <p:cNvSpPr/>
          <p:nvPr/>
        </p:nvSpPr>
        <p:spPr>
          <a:xfrm>
            <a:off x="4535424" y="329184"/>
            <a:ext cx="73200" cy="73200"/>
          </a:xfrm>
          <a:prstGeom prst="ellipse">
            <a:avLst/>
          </a:prstGeom>
          <a:solidFill>
            <a:srgbClr val="9E9E9E">
              <a:alpha val="40000"/>
            </a:srgbClr>
          </a:solidFill>
          <a:ln cap="flat" cmpd="sng" w="12700">
            <a:solidFill>
              <a:srgbClr val="9E9E9E">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 name="Google Shape;375;g3f62c33a15b_0_729"/>
          <p:cNvSpPr/>
          <p:nvPr/>
        </p:nvSpPr>
        <p:spPr>
          <a:xfrm>
            <a:off x="6821424" y="1609344"/>
            <a:ext cx="73200" cy="73200"/>
          </a:xfrm>
          <a:prstGeom prst="ellipse">
            <a:avLst/>
          </a:prstGeom>
          <a:solidFill>
            <a:srgbClr val="9E9E9E">
              <a:alpha val="40000"/>
            </a:srgbClr>
          </a:solidFill>
          <a:ln cap="flat" cmpd="sng" w="12700">
            <a:solidFill>
              <a:srgbClr val="9E9E9E">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g3f62c33a15b_0_729"/>
          <p:cNvSpPr/>
          <p:nvPr/>
        </p:nvSpPr>
        <p:spPr>
          <a:xfrm>
            <a:off x="237744" y="4078224"/>
            <a:ext cx="73200" cy="73200"/>
          </a:xfrm>
          <a:prstGeom prst="ellipse">
            <a:avLst/>
          </a:prstGeom>
          <a:solidFill>
            <a:srgbClr val="9E9E9E">
              <a:alpha val="40000"/>
            </a:srgbClr>
          </a:solidFill>
          <a:ln cap="flat" cmpd="sng" w="12700">
            <a:solidFill>
              <a:srgbClr val="9E9E9E">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g3f62c33a15b_0_729"/>
          <p:cNvSpPr/>
          <p:nvPr/>
        </p:nvSpPr>
        <p:spPr>
          <a:xfrm>
            <a:off x="1609344" y="2706624"/>
            <a:ext cx="73200" cy="73200"/>
          </a:xfrm>
          <a:prstGeom prst="ellipse">
            <a:avLst/>
          </a:prstGeom>
          <a:solidFill>
            <a:srgbClr val="9E9E9E">
              <a:alpha val="40000"/>
            </a:srgbClr>
          </a:solidFill>
          <a:ln cap="flat" cmpd="sng" w="12700">
            <a:solidFill>
              <a:srgbClr val="9E9E9E">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 name="Google Shape;378;g3f62c33a15b_0_729"/>
          <p:cNvSpPr/>
          <p:nvPr/>
        </p:nvSpPr>
        <p:spPr>
          <a:xfrm>
            <a:off x="3163824" y="4535424"/>
            <a:ext cx="73200" cy="73200"/>
          </a:xfrm>
          <a:prstGeom prst="ellipse">
            <a:avLst/>
          </a:prstGeom>
          <a:solidFill>
            <a:srgbClr val="9E9E9E">
              <a:alpha val="40000"/>
            </a:srgbClr>
          </a:solidFill>
          <a:ln cap="flat" cmpd="sng" w="12700">
            <a:solidFill>
              <a:srgbClr val="9E9E9E">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g3f62c33a15b_0_729"/>
          <p:cNvSpPr/>
          <p:nvPr/>
        </p:nvSpPr>
        <p:spPr>
          <a:xfrm>
            <a:off x="5449824" y="3803904"/>
            <a:ext cx="73200" cy="73200"/>
          </a:xfrm>
          <a:prstGeom prst="ellipse">
            <a:avLst/>
          </a:prstGeom>
          <a:solidFill>
            <a:srgbClr val="9E9E9E">
              <a:alpha val="40000"/>
            </a:srgbClr>
          </a:solidFill>
          <a:ln cap="flat" cmpd="sng" w="12700">
            <a:solidFill>
              <a:srgbClr val="9E9E9E">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 name="Google Shape;380;g3f62c33a15b_0_729"/>
          <p:cNvSpPr/>
          <p:nvPr/>
        </p:nvSpPr>
        <p:spPr>
          <a:xfrm>
            <a:off x="7735824" y="4809744"/>
            <a:ext cx="73200" cy="73200"/>
          </a:xfrm>
          <a:prstGeom prst="ellipse">
            <a:avLst/>
          </a:prstGeom>
          <a:solidFill>
            <a:srgbClr val="9E9E9E">
              <a:alpha val="40000"/>
            </a:srgbClr>
          </a:solidFill>
          <a:ln cap="flat" cmpd="sng" w="12700">
            <a:solidFill>
              <a:srgbClr val="9E9E9E">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 name="Google Shape;381;g3f62c33a15b_0_729"/>
          <p:cNvSpPr/>
          <p:nvPr/>
        </p:nvSpPr>
        <p:spPr>
          <a:xfrm>
            <a:off x="365760" y="91440"/>
            <a:ext cx="7863900" cy="658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A237E"/>
              </a:buClr>
              <a:buSzPts val="3000"/>
              <a:buFont typeface="Calibri"/>
              <a:buNone/>
            </a:pPr>
            <a:r>
              <a:rPr b="1" i="0" lang="en" sz="3000" u="none" cap="none" strike="noStrike">
                <a:solidFill>
                  <a:srgbClr val="1A237E"/>
                </a:solidFill>
                <a:latin typeface="Calibri"/>
                <a:ea typeface="Calibri"/>
                <a:cs typeface="Calibri"/>
                <a:sym typeface="Calibri"/>
              </a:rPr>
              <a:t>Comparing the Three Loss Functions</a:t>
            </a:r>
            <a:endParaRPr b="0" i="0" sz="3000" u="none" cap="none" strike="noStrike">
              <a:solidFill>
                <a:srgbClr val="000000"/>
              </a:solidFill>
              <a:latin typeface="Calibri"/>
              <a:ea typeface="Calibri"/>
              <a:cs typeface="Calibri"/>
              <a:sym typeface="Calibri"/>
            </a:endParaRPr>
          </a:p>
        </p:txBody>
      </p:sp>
      <p:cxnSp>
        <p:nvCxnSpPr>
          <p:cNvPr id="382" name="Google Shape;382;g3f62c33a15b_0_729"/>
          <p:cNvCxnSpPr/>
          <p:nvPr/>
        </p:nvCxnSpPr>
        <p:spPr>
          <a:xfrm>
            <a:off x="365760" y="786384"/>
            <a:ext cx="7772400" cy="0"/>
          </a:xfrm>
          <a:prstGeom prst="straightConnector1">
            <a:avLst/>
          </a:prstGeom>
          <a:noFill/>
          <a:ln cap="flat" cmpd="sng" w="12700">
            <a:solidFill>
              <a:srgbClr val="00838F"/>
            </a:solidFill>
            <a:prstDash val="solid"/>
            <a:round/>
            <a:headEnd len="sm" w="sm" type="none"/>
            <a:tailEnd len="sm" w="sm" type="none"/>
          </a:ln>
        </p:spPr>
      </p:cxnSp>
      <p:sp>
        <p:nvSpPr>
          <p:cNvPr id="383" name="Google Shape;383;g3f62c33a15b_0_729"/>
          <p:cNvSpPr/>
          <p:nvPr/>
        </p:nvSpPr>
        <p:spPr>
          <a:xfrm>
            <a:off x="228600" y="914400"/>
            <a:ext cx="2834700" cy="4160400"/>
          </a:xfrm>
          <a:prstGeom prst="rect">
            <a:avLst/>
          </a:prstGeom>
          <a:solidFill>
            <a:srgbClr val="E3F2FD"/>
          </a:solidFill>
          <a:ln cap="flat" cmpd="sng" w="12700">
            <a:solidFill>
              <a:srgbClr val="90CAF9"/>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g3f62c33a15b_0_729"/>
          <p:cNvSpPr/>
          <p:nvPr/>
        </p:nvSpPr>
        <p:spPr>
          <a:xfrm>
            <a:off x="228600" y="914400"/>
            <a:ext cx="2834700" cy="438900"/>
          </a:xfrm>
          <a:prstGeom prst="rect">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g3f62c33a15b_0_729"/>
          <p:cNvSpPr/>
          <p:nvPr/>
        </p:nvSpPr>
        <p:spPr>
          <a:xfrm>
            <a:off x="228600" y="914400"/>
            <a:ext cx="2834700" cy="438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400"/>
              <a:buFont typeface="Calibri"/>
              <a:buNone/>
            </a:pPr>
            <a:r>
              <a:rPr b="1" i="0" lang="en" sz="1400" u="none" cap="none" strike="noStrike">
                <a:solidFill>
                  <a:srgbClr val="FFFFFF"/>
                </a:solidFill>
                <a:latin typeface="Calibri"/>
                <a:ea typeface="Calibri"/>
                <a:cs typeface="Calibri"/>
                <a:sym typeface="Calibri"/>
              </a:rPr>
              <a:t>MSE</a:t>
            </a:r>
            <a:endParaRPr b="0" i="0" sz="1400" u="none" cap="none" strike="noStrike">
              <a:solidFill>
                <a:srgbClr val="000000"/>
              </a:solidFill>
              <a:latin typeface="Calibri"/>
              <a:ea typeface="Calibri"/>
              <a:cs typeface="Calibri"/>
              <a:sym typeface="Calibri"/>
            </a:endParaRPr>
          </a:p>
        </p:txBody>
      </p:sp>
      <p:sp>
        <p:nvSpPr>
          <p:cNvPr id="386" name="Google Shape;386;g3f62c33a15b_0_729"/>
          <p:cNvSpPr/>
          <p:nvPr/>
        </p:nvSpPr>
        <p:spPr>
          <a:xfrm>
            <a:off x="338328" y="1426464"/>
            <a:ext cx="2615100" cy="384000"/>
          </a:xfrm>
          <a:prstGeom prst="rect">
            <a:avLst/>
          </a:prstGeom>
          <a:solidFill>
            <a:srgbClr val="FFFFFF"/>
          </a:solidFill>
          <a:ln cap="flat" cmpd="sng" w="1015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g3f62c33a15b_0_729"/>
          <p:cNvSpPr/>
          <p:nvPr/>
        </p:nvSpPr>
        <p:spPr>
          <a:xfrm>
            <a:off x="356616" y="1444752"/>
            <a:ext cx="2578500" cy="347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565C0"/>
              </a:buClr>
              <a:buSzPts val="1000"/>
              <a:buFont typeface="Consolas"/>
              <a:buNone/>
            </a:pPr>
            <a:r>
              <a:rPr b="1" i="0" lang="en" sz="1000" u="none" cap="none" strike="noStrike">
                <a:solidFill>
                  <a:srgbClr val="1565C0"/>
                </a:solidFill>
                <a:latin typeface="Consolas"/>
                <a:ea typeface="Consolas"/>
                <a:cs typeface="Consolas"/>
                <a:sym typeface="Consolas"/>
              </a:rPr>
              <a:t>(1/n)Σ(y−ŷ)²</a:t>
            </a:r>
            <a:endParaRPr b="0" i="0" sz="1000" u="none" cap="none" strike="noStrike">
              <a:solidFill>
                <a:srgbClr val="000000"/>
              </a:solidFill>
              <a:latin typeface="Calibri"/>
              <a:ea typeface="Calibri"/>
              <a:cs typeface="Calibri"/>
              <a:sym typeface="Calibri"/>
            </a:endParaRPr>
          </a:p>
        </p:txBody>
      </p:sp>
      <p:sp>
        <p:nvSpPr>
          <p:cNvPr id="388" name="Google Shape;388;g3f62c33a15b_0_729"/>
          <p:cNvSpPr/>
          <p:nvPr/>
        </p:nvSpPr>
        <p:spPr>
          <a:xfrm>
            <a:off x="356616" y="1901952"/>
            <a:ext cx="822900" cy="25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565C0"/>
              </a:buClr>
              <a:buSzPts val="1100"/>
              <a:buFont typeface="Calibri"/>
              <a:buNone/>
            </a:pPr>
            <a:r>
              <a:rPr b="1" i="0" lang="en" sz="1100" u="none" cap="none" strike="noStrike">
                <a:solidFill>
                  <a:srgbClr val="1565C0"/>
                </a:solidFill>
                <a:latin typeface="Calibri"/>
                <a:ea typeface="Calibri"/>
                <a:cs typeface="Calibri"/>
                <a:sym typeface="Calibri"/>
              </a:rPr>
              <a:t>Task:</a:t>
            </a:r>
            <a:endParaRPr b="0" i="0" sz="1100" u="none" cap="none" strike="noStrike">
              <a:solidFill>
                <a:srgbClr val="000000"/>
              </a:solidFill>
              <a:latin typeface="Calibri"/>
              <a:ea typeface="Calibri"/>
              <a:cs typeface="Calibri"/>
              <a:sym typeface="Calibri"/>
            </a:endParaRPr>
          </a:p>
        </p:txBody>
      </p:sp>
      <p:sp>
        <p:nvSpPr>
          <p:cNvPr id="389" name="Google Shape;389;g3f62c33a15b_0_729"/>
          <p:cNvSpPr/>
          <p:nvPr/>
        </p:nvSpPr>
        <p:spPr>
          <a:xfrm>
            <a:off x="356616" y="2139696"/>
            <a:ext cx="2578500" cy="237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100"/>
              <a:buFont typeface="Calibri"/>
              <a:buNone/>
            </a:pPr>
            <a:r>
              <a:rPr b="0" i="0" lang="en" sz="1100" u="none" cap="none" strike="noStrike">
                <a:solidFill>
                  <a:srgbClr val="37474F"/>
                </a:solidFill>
                <a:latin typeface="Calibri"/>
                <a:ea typeface="Calibri"/>
                <a:cs typeface="Calibri"/>
                <a:sym typeface="Calibri"/>
              </a:rPr>
              <a:t>Regression</a:t>
            </a:r>
            <a:endParaRPr b="0" i="0" sz="1100" u="none" cap="none" strike="noStrike">
              <a:solidFill>
                <a:srgbClr val="000000"/>
              </a:solidFill>
              <a:latin typeface="Calibri"/>
              <a:ea typeface="Calibri"/>
              <a:cs typeface="Calibri"/>
              <a:sym typeface="Calibri"/>
            </a:endParaRPr>
          </a:p>
        </p:txBody>
      </p:sp>
      <p:sp>
        <p:nvSpPr>
          <p:cNvPr id="390" name="Google Shape;390;g3f62c33a15b_0_729"/>
          <p:cNvSpPr/>
          <p:nvPr/>
        </p:nvSpPr>
        <p:spPr>
          <a:xfrm>
            <a:off x="356616" y="2432304"/>
            <a:ext cx="822900" cy="25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565C0"/>
              </a:buClr>
              <a:buSzPts val="1100"/>
              <a:buFont typeface="Calibri"/>
              <a:buNone/>
            </a:pPr>
            <a:r>
              <a:rPr b="1" i="0" lang="en" sz="1100" u="none" cap="none" strike="noStrike">
                <a:solidFill>
                  <a:srgbClr val="1565C0"/>
                </a:solidFill>
                <a:latin typeface="Calibri"/>
                <a:ea typeface="Calibri"/>
                <a:cs typeface="Calibri"/>
                <a:sym typeface="Calibri"/>
              </a:rPr>
              <a:t>Output:</a:t>
            </a:r>
            <a:endParaRPr b="0" i="0" sz="1100" u="none" cap="none" strike="noStrike">
              <a:solidFill>
                <a:srgbClr val="000000"/>
              </a:solidFill>
              <a:latin typeface="Calibri"/>
              <a:ea typeface="Calibri"/>
              <a:cs typeface="Calibri"/>
              <a:sym typeface="Calibri"/>
            </a:endParaRPr>
          </a:p>
        </p:txBody>
      </p:sp>
      <p:sp>
        <p:nvSpPr>
          <p:cNvPr id="391" name="Google Shape;391;g3f62c33a15b_0_729"/>
          <p:cNvSpPr/>
          <p:nvPr/>
        </p:nvSpPr>
        <p:spPr>
          <a:xfrm>
            <a:off x="356616" y="2670048"/>
            <a:ext cx="2578500" cy="237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100"/>
              <a:buFont typeface="Calibri"/>
              <a:buNone/>
            </a:pPr>
            <a:r>
              <a:rPr b="0" i="0" lang="en" sz="1100" u="none" cap="none" strike="noStrike">
                <a:solidFill>
                  <a:srgbClr val="37474F"/>
                </a:solidFill>
                <a:latin typeface="Calibri"/>
                <a:ea typeface="Calibri"/>
                <a:cs typeface="Calibri"/>
                <a:sym typeface="Calibri"/>
              </a:rPr>
              <a:t>Continuous number</a:t>
            </a:r>
            <a:endParaRPr b="0" i="0" sz="1100" u="none" cap="none" strike="noStrike">
              <a:solidFill>
                <a:srgbClr val="000000"/>
              </a:solidFill>
              <a:latin typeface="Calibri"/>
              <a:ea typeface="Calibri"/>
              <a:cs typeface="Calibri"/>
              <a:sym typeface="Calibri"/>
            </a:endParaRPr>
          </a:p>
        </p:txBody>
      </p:sp>
      <p:sp>
        <p:nvSpPr>
          <p:cNvPr id="392" name="Google Shape;392;g3f62c33a15b_0_729"/>
          <p:cNvSpPr/>
          <p:nvPr/>
        </p:nvSpPr>
        <p:spPr>
          <a:xfrm>
            <a:off x="356616" y="2962656"/>
            <a:ext cx="822900" cy="25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565C0"/>
              </a:buClr>
              <a:buSzPts val="1100"/>
              <a:buFont typeface="Calibri"/>
              <a:buNone/>
            </a:pPr>
            <a:r>
              <a:rPr b="1" i="0" lang="en" sz="1100" u="none" cap="none" strike="noStrike">
                <a:solidFill>
                  <a:srgbClr val="1565C0"/>
                </a:solidFill>
                <a:latin typeface="Calibri"/>
                <a:ea typeface="Calibri"/>
                <a:cs typeface="Calibri"/>
                <a:sym typeface="Calibri"/>
              </a:rPr>
              <a:t>Activation:</a:t>
            </a:r>
            <a:endParaRPr b="0" i="0" sz="1100" u="none" cap="none" strike="noStrike">
              <a:solidFill>
                <a:srgbClr val="000000"/>
              </a:solidFill>
              <a:latin typeface="Calibri"/>
              <a:ea typeface="Calibri"/>
              <a:cs typeface="Calibri"/>
              <a:sym typeface="Calibri"/>
            </a:endParaRPr>
          </a:p>
        </p:txBody>
      </p:sp>
      <p:sp>
        <p:nvSpPr>
          <p:cNvPr id="393" name="Google Shape;393;g3f62c33a15b_0_729"/>
          <p:cNvSpPr/>
          <p:nvPr/>
        </p:nvSpPr>
        <p:spPr>
          <a:xfrm>
            <a:off x="356616" y="3200400"/>
            <a:ext cx="2578500" cy="237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100"/>
              <a:buFont typeface="Calibri"/>
              <a:buNone/>
            </a:pPr>
            <a:r>
              <a:rPr b="0" i="0" lang="en" sz="1100" u="none" cap="none" strike="noStrike">
                <a:solidFill>
                  <a:srgbClr val="37474F"/>
                </a:solidFill>
                <a:latin typeface="Calibri"/>
                <a:ea typeface="Calibri"/>
                <a:cs typeface="Calibri"/>
                <a:sym typeface="Calibri"/>
              </a:rPr>
              <a:t>None / Linear</a:t>
            </a:r>
            <a:endParaRPr b="0" i="0" sz="1100" u="none" cap="none" strike="noStrike">
              <a:solidFill>
                <a:srgbClr val="000000"/>
              </a:solidFill>
              <a:latin typeface="Calibri"/>
              <a:ea typeface="Calibri"/>
              <a:cs typeface="Calibri"/>
              <a:sym typeface="Calibri"/>
            </a:endParaRPr>
          </a:p>
        </p:txBody>
      </p:sp>
      <p:sp>
        <p:nvSpPr>
          <p:cNvPr id="394" name="Google Shape;394;g3f62c33a15b_0_729"/>
          <p:cNvSpPr/>
          <p:nvPr/>
        </p:nvSpPr>
        <p:spPr>
          <a:xfrm>
            <a:off x="356616" y="3493008"/>
            <a:ext cx="822900" cy="25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565C0"/>
              </a:buClr>
              <a:buSzPts val="1100"/>
              <a:buFont typeface="Calibri"/>
              <a:buNone/>
            </a:pPr>
            <a:r>
              <a:rPr b="1" i="0" lang="en" sz="1100" u="none" cap="none" strike="noStrike">
                <a:solidFill>
                  <a:srgbClr val="1565C0"/>
                </a:solidFill>
                <a:latin typeface="Calibri"/>
                <a:ea typeface="Calibri"/>
                <a:cs typeface="Calibri"/>
                <a:sym typeface="Calibri"/>
              </a:rPr>
              <a:t>Example:</a:t>
            </a:r>
            <a:endParaRPr b="0" i="0" sz="1100" u="none" cap="none" strike="noStrike">
              <a:solidFill>
                <a:srgbClr val="000000"/>
              </a:solidFill>
              <a:latin typeface="Calibri"/>
              <a:ea typeface="Calibri"/>
              <a:cs typeface="Calibri"/>
              <a:sym typeface="Calibri"/>
            </a:endParaRPr>
          </a:p>
        </p:txBody>
      </p:sp>
      <p:sp>
        <p:nvSpPr>
          <p:cNvPr id="395" name="Google Shape;395;g3f62c33a15b_0_729"/>
          <p:cNvSpPr/>
          <p:nvPr/>
        </p:nvSpPr>
        <p:spPr>
          <a:xfrm>
            <a:off x="356616" y="3730752"/>
            <a:ext cx="2578500" cy="237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100"/>
              <a:buFont typeface="Calibri"/>
              <a:buNone/>
            </a:pPr>
            <a:r>
              <a:rPr b="0" i="0" lang="en" sz="1100" u="none" cap="none" strike="noStrike">
                <a:solidFill>
                  <a:srgbClr val="37474F"/>
                </a:solidFill>
                <a:latin typeface="Calibri"/>
                <a:ea typeface="Calibri"/>
                <a:cs typeface="Calibri"/>
                <a:sym typeface="Calibri"/>
              </a:rPr>
              <a:t>House price, temperature, stock value</a:t>
            </a:r>
            <a:endParaRPr b="0" i="0" sz="1100" u="none" cap="none" strike="noStrike">
              <a:solidFill>
                <a:srgbClr val="000000"/>
              </a:solidFill>
              <a:latin typeface="Calibri"/>
              <a:ea typeface="Calibri"/>
              <a:cs typeface="Calibri"/>
              <a:sym typeface="Calibri"/>
            </a:endParaRPr>
          </a:p>
        </p:txBody>
      </p:sp>
      <p:sp>
        <p:nvSpPr>
          <p:cNvPr id="396" name="Google Shape;396;g3f62c33a15b_0_729"/>
          <p:cNvSpPr/>
          <p:nvPr/>
        </p:nvSpPr>
        <p:spPr>
          <a:xfrm>
            <a:off x="356616" y="4023360"/>
            <a:ext cx="822900" cy="25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565C0"/>
              </a:buClr>
              <a:buSzPts val="1100"/>
              <a:buFont typeface="Calibri"/>
              <a:buNone/>
            </a:pPr>
            <a:r>
              <a:rPr b="1" i="0" lang="en" sz="1100" u="none" cap="none" strike="noStrike">
                <a:solidFill>
                  <a:srgbClr val="1565C0"/>
                </a:solidFill>
                <a:latin typeface="Calibri"/>
                <a:ea typeface="Calibri"/>
                <a:cs typeface="Calibri"/>
                <a:sym typeface="Calibri"/>
              </a:rPr>
              <a:t>Penalty:</a:t>
            </a:r>
            <a:endParaRPr b="0" i="0" sz="1100" u="none" cap="none" strike="noStrike">
              <a:solidFill>
                <a:srgbClr val="000000"/>
              </a:solidFill>
              <a:latin typeface="Calibri"/>
              <a:ea typeface="Calibri"/>
              <a:cs typeface="Calibri"/>
              <a:sym typeface="Calibri"/>
            </a:endParaRPr>
          </a:p>
        </p:txBody>
      </p:sp>
      <p:sp>
        <p:nvSpPr>
          <p:cNvPr id="397" name="Google Shape;397;g3f62c33a15b_0_729"/>
          <p:cNvSpPr/>
          <p:nvPr/>
        </p:nvSpPr>
        <p:spPr>
          <a:xfrm>
            <a:off x="356616" y="4261104"/>
            <a:ext cx="2578500" cy="237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100"/>
              <a:buFont typeface="Calibri"/>
              <a:buNone/>
            </a:pPr>
            <a:r>
              <a:rPr b="0" i="0" lang="en" sz="1100" u="none" cap="none" strike="noStrike">
                <a:solidFill>
                  <a:srgbClr val="37474F"/>
                </a:solidFill>
                <a:latin typeface="Calibri"/>
                <a:ea typeface="Calibri"/>
                <a:cs typeface="Calibri"/>
                <a:sym typeface="Calibri"/>
              </a:rPr>
              <a:t>Squares the error — large errors hurt more</a:t>
            </a:r>
            <a:endParaRPr b="0" i="0" sz="1100" u="none" cap="none" strike="noStrike">
              <a:solidFill>
                <a:srgbClr val="000000"/>
              </a:solidFill>
              <a:latin typeface="Calibri"/>
              <a:ea typeface="Calibri"/>
              <a:cs typeface="Calibri"/>
              <a:sym typeface="Calibri"/>
            </a:endParaRPr>
          </a:p>
        </p:txBody>
      </p:sp>
      <p:sp>
        <p:nvSpPr>
          <p:cNvPr id="398" name="Google Shape;398;g3f62c33a15b_0_729"/>
          <p:cNvSpPr/>
          <p:nvPr/>
        </p:nvSpPr>
        <p:spPr>
          <a:xfrm>
            <a:off x="3182112" y="914400"/>
            <a:ext cx="2834700" cy="4160400"/>
          </a:xfrm>
          <a:prstGeom prst="rect">
            <a:avLst/>
          </a:prstGeom>
          <a:solidFill>
            <a:srgbClr val="E8F5E9"/>
          </a:solidFill>
          <a:ln cap="flat" cmpd="sng" w="12700">
            <a:solidFill>
              <a:srgbClr val="A5D6A7"/>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g3f62c33a15b_0_729"/>
          <p:cNvSpPr/>
          <p:nvPr/>
        </p:nvSpPr>
        <p:spPr>
          <a:xfrm>
            <a:off x="3182112" y="914400"/>
            <a:ext cx="2834700" cy="438900"/>
          </a:xfrm>
          <a:prstGeom prst="rect">
            <a:avLst/>
          </a:prstGeom>
          <a:solidFill>
            <a:srgbClr val="2E7D32"/>
          </a:solidFill>
          <a:ln cap="flat" cmpd="sng" w="12700">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 name="Google Shape;400;g3f62c33a15b_0_729"/>
          <p:cNvSpPr/>
          <p:nvPr/>
        </p:nvSpPr>
        <p:spPr>
          <a:xfrm>
            <a:off x="3182112" y="914400"/>
            <a:ext cx="2834700" cy="438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400"/>
              <a:buFont typeface="Calibri"/>
              <a:buNone/>
            </a:pPr>
            <a:r>
              <a:rPr b="1" i="0" lang="en" sz="1400" u="none" cap="none" strike="noStrike">
                <a:solidFill>
                  <a:srgbClr val="FFFFFF"/>
                </a:solidFill>
                <a:latin typeface="Calibri"/>
                <a:ea typeface="Calibri"/>
                <a:cs typeface="Calibri"/>
                <a:sym typeface="Calibri"/>
              </a:rPr>
              <a:t>Binary Cross-Entropy</a:t>
            </a:r>
            <a:endParaRPr b="0" i="0" sz="1400" u="none" cap="none" strike="noStrike">
              <a:solidFill>
                <a:srgbClr val="000000"/>
              </a:solidFill>
              <a:latin typeface="Calibri"/>
              <a:ea typeface="Calibri"/>
              <a:cs typeface="Calibri"/>
              <a:sym typeface="Calibri"/>
            </a:endParaRPr>
          </a:p>
        </p:txBody>
      </p:sp>
      <p:sp>
        <p:nvSpPr>
          <p:cNvPr id="401" name="Google Shape;401;g3f62c33a15b_0_729"/>
          <p:cNvSpPr/>
          <p:nvPr/>
        </p:nvSpPr>
        <p:spPr>
          <a:xfrm>
            <a:off x="3291840" y="1426464"/>
            <a:ext cx="2615100" cy="384000"/>
          </a:xfrm>
          <a:prstGeom prst="rect">
            <a:avLst/>
          </a:prstGeom>
          <a:solidFill>
            <a:srgbClr val="FFFFFF"/>
          </a:solidFill>
          <a:ln cap="flat" cmpd="sng" w="10150">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 name="Google Shape;402;g3f62c33a15b_0_729"/>
          <p:cNvSpPr/>
          <p:nvPr/>
        </p:nvSpPr>
        <p:spPr>
          <a:xfrm>
            <a:off x="3310128" y="1444752"/>
            <a:ext cx="2578500" cy="347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E7D32"/>
              </a:buClr>
              <a:buSzPts val="1000"/>
              <a:buFont typeface="Consolas"/>
              <a:buNone/>
            </a:pPr>
            <a:r>
              <a:rPr b="1" i="0" lang="en" sz="1000" u="none" cap="none" strike="noStrike">
                <a:solidFill>
                  <a:srgbClr val="2E7D32"/>
                </a:solidFill>
                <a:latin typeface="Consolas"/>
                <a:ea typeface="Consolas"/>
                <a:cs typeface="Consolas"/>
                <a:sym typeface="Consolas"/>
              </a:rPr>
              <a:t>−[y log(ŷ)+(1−y)log(1−ŷ)]</a:t>
            </a:r>
            <a:endParaRPr b="0" i="0" sz="1000" u="none" cap="none" strike="noStrike">
              <a:solidFill>
                <a:srgbClr val="000000"/>
              </a:solidFill>
              <a:latin typeface="Calibri"/>
              <a:ea typeface="Calibri"/>
              <a:cs typeface="Calibri"/>
              <a:sym typeface="Calibri"/>
            </a:endParaRPr>
          </a:p>
        </p:txBody>
      </p:sp>
      <p:sp>
        <p:nvSpPr>
          <p:cNvPr id="403" name="Google Shape;403;g3f62c33a15b_0_729"/>
          <p:cNvSpPr/>
          <p:nvPr/>
        </p:nvSpPr>
        <p:spPr>
          <a:xfrm>
            <a:off x="3310128" y="1901952"/>
            <a:ext cx="822900" cy="25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E7D32"/>
              </a:buClr>
              <a:buSzPts val="1100"/>
              <a:buFont typeface="Calibri"/>
              <a:buNone/>
            </a:pPr>
            <a:r>
              <a:rPr b="1" i="0" lang="en" sz="1100" u="none" cap="none" strike="noStrike">
                <a:solidFill>
                  <a:srgbClr val="2E7D32"/>
                </a:solidFill>
                <a:latin typeface="Calibri"/>
                <a:ea typeface="Calibri"/>
                <a:cs typeface="Calibri"/>
                <a:sym typeface="Calibri"/>
              </a:rPr>
              <a:t>Task:</a:t>
            </a:r>
            <a:endParaRPr b="0" i="0" sz="1100" u="none" cap="none" strike="noStrike">
              <a:solidFill>
                <a:srgbClr val="000000"/>
              </a:solidFill>
              <a:latin typeface="Calibri"/>
              <a:ea typeface="Calibri"/>
              <a:cs typeface="Calibri"/>
              <a:sym typeface="Calibri"/>
            </a:endParaRPr>
          </a:p>
        </p:txBody>
      </p:sp>
      <p:sp>
        <p:nvSpPr>
          <p:cNvPr id="404" name="Google Shape;404;g3f62c33a15b_0_729"/>
          <p:cNvSpPr/>
          <p:nvPr/>
        </p:nvSpPr>
        <p:spPr>
          <a:xfrm>
            <a:off x="3310128" y="2139696"/>
            <a:ext cx="2578500" cy="237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100"/>
              <a:buFont typeface="Calibri"/>
              <a:buNone/>
            </a:pPr>
            <a:r>
              <a:rPr b="0" i="0" lang="en" sz="1100" u="none" cap="none" strike="noStrike">
                <a:solidFill>
                  <a:srgbClr val="37474F"/>
                </a:solidFill>
                <a:latin typeface="Calibri"/>
                <a:ea typeface="Calibri"/>
                <a:cs typeface="Calibri"/>
                <a:sym typeface="Calibri"/>
              </a:rPr>
              <a:t>Binary Classification</a:t>
            </a:r>
            <a:endParaRPr b="0" i="0" sz="1100" u="none" cap="none" strike="noStrike">
              <a:solidFill>
                <a:srgbClr val="000000"/>
              </a:solidFill>
              <a:latin typeface="Calibri"/>
              <a:ea typeface="Calibri"/>
              <a:cs typeface="Calibri"/>
              <a:sym typeface="Calibri"/>
            </a:endParaRPr>
          </a:p>
        </p:txBody>
      </p:sp>
      <p:sp>
        <p:nvSpPr>
          <p:cNvPr id="405" name="Google Shape;405;g3f62c33a15b_0_729"/>
          <p:cNvSpPr/>
          <p:nvPr/>
        </p:nvSpPr>
        <p:spPr>
          <a:xfrm>
            <a:off x="3310128" y="2432304"/>
            <a:ext cx="822900" cy="25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E7D32"/>
              </a:buClr>
              <a:buSzPts val="1100"/>
              <a:buFont typeface="Calibri"/>
              <a:buNone/>
            </a:pPr>
            <a:r>
              <a:rPr b="1" i="0" lang="en" sz="1100" u="none" cap="none" strike="noStrike">
                <a:solidFill>
                  <a:srgbClr val="2E7D32"/>
                </a:solidFill>
                <a:latin typeface="Calibri"/>
                <a:ea typeface="Calibri"/>
                <a:cs typeface="Calibri"/>
                <a:sym typeface="Calibri"/>
              </a:rPr>
              <a:t>Output:</a:t>
            </a:r>
            <a:endParaRPr b="0" i="0" sz="1100" u="none" cap="none" strike="noStrike">
              <a:solidFill>
                <a:srgbClr val="000000"/>
              </a:solidFill>
              <a:latin typeface="Calibri"/>
              <a:ea typeface="Calibri"/>
              <a:cs typeface="Calibri"/>
              <a:sym typeface="Calibri"/>
            </a:endParaRPr>
          </a:p>
        </p:txBody>
      </p:sp>
      <p:sp>
        <p:nvSpPr>
          <p:cNvPr id="406" name="Google Shape;406;g3f62c33a15b_0_729"/>
          <p:cNvSpPr/>
          <p:nvPr/>
        </p:nvSpPr>
        <p:spPr>
          <a:xfrm>
            <a:off x="3310128" y="2670048"/>
            <a:ext cx="2578500" cy="237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100"/>
              <a:buFont typeface="Calibri"/>
              <a:buNone/>
            </a:pPr>
            <a:r>
              <a:rPr b="0" i="0" lang="en" sz="1100" u="none" cap="none" strike="noStrike">
                <a:solidFill>
                  <a:srgbClr val="37474F"/>
                </a:solidFill>
                <a:latin typeface="Calibri"/>
                <a:ea typeface="Calibri"/>
                <a:cs typeface="Calibri"/>
                <a:sym typeface="Calibri"/>
              </a:rPr>
              <a:t>Probability (0–1)</a:t>
            </a:r>
            <a:endParaRPr b="0" i="0" sz="1100" u="none" cap="none" strike="noStrike">
              <a:solidFill>
                <a:srgbClr val="000000"/>
              </a:solidFill>
              <a:latin typeface="Calibri"/>
              <a:ea typeface="Calibri"/>
              <a:cs typeface="Calibri"/>
              <a:sym typeface="Calibri"/>
            </a:endParaRPr>
          </a:p>
        </p:txBody>
      </p:sp>
      <p:sp>
        <p:nvSpPr>
          <p:cNvPr id="407" name="Google Shape;407;g3f62c33a15b_0_729"/>
          <p:cNvSpPr/>
          <p:nvPr/>
        </p:nvSpPr>
        <p:spPr>
          <a:xfrm>
            <a:off x="3310128" y="2962656"/>
            <a:ext cx="822900" cy="25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E7D32"/>
              </a:buClr>
              <a:buSzPts val="1100"/>
              <a:buFont typeface="Calibri"/>
              <a:buNone/>
            </a:pPr>
            <a:r>
              <a:rPr b="1" i="0" lang="en" sz="1100" u="none" cap="none" strike="noStrike">
                <a:solidFill>
                  <a:srgbClr val="2E7D32"/>
                </a:solidFill>
                <a:latin typeface="Calibri"/>
                <a:ea typeface="Calibri"/>
                <a:cs typeface="Calibri"/>
                <a:sym typeface="Calibri"/>
              </a:rPr>
              <a:t>Activation:</a:t>
            </a:r>
            <a:endParaRPr b="0" i="0" sz="1100" u="none" cap="none" strike="noStrike">
              <a:solidFill>
                <a:srgbClr val="000000"/>
              </a:solidFill>
              <a:latin typeface="Calibri"/>
              <a:ea typeface="Calibri"/>
              <a:cs typeface="Calibri"/>
              <a:sym typeface="Calibri"/>
            </a:endParaRPr>
          </a:p>
        </p:txBody>
      </p:sp>
      <p:sp>
        <p:nvSpPr>
          <p:cNvPr id="408" name="Google Shape;408;g3f62c33a15b_0_729"/>
          <p:cNvSpPr/>
          <p:nvPr/>
        </p:nvSpPr>
        <p:spPr>
          <a:xfrm>
            <a:off x="3310128" y="3200400"/>
            <a:ext cx="2578500" cy="237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100"/>
              <a:buFont typeface="Calibri"/>
              <a:buNone/>
            </a:pPr>
            <a:r>
              <a:rPr b="0" i="0" lang="en" sz="1100" u="none" cap="none" strike="noStrike">
                <a:solidFill>
                  <a:srgbClr val="37474F"/>
                </a:solidFill>
                <a:latin typeface="Calibri"/>
                <a:ea typeface="Calibri"/>
                <a:cs typeface="Calibri"/>
                <a:sym typeface="Calibri"/>
              </a:rPr>
              <a:t>Sigmoid</a:t>
            </a:r>
            <a:endParaRPr b="0" i="0" sz="1100" u="none" cap="none" strike="noStrike">
              <a:solidFill>
                <a:srgbClr val="000000"/>
              </a:solidFill>
              <a:latin typeface="Calibri"/>
              <a:ea typeface="Calibri"/>
              <a:cs typeface="Calibri"/>
              <a:sym typeface="Calibri"/>
            </a:endParaRPr>
          </a:p>
        </p:txBody>
      </p:sp>
      <p:sp>
        <p:nvSpPr>
          <p:cNvPr id="409" name="Google Shape;409;g3f62c33a15b_0_729"/>
          <p:cNvSpPr/>
          <p:nvPr/>
        </p:nvSpPr>
        <p:spPr>
          <a:xfrm>
            <a:off x="3310128" y="3493008"/>
            <a:ext cx="822900" cy="25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E7D32"/>
              </a:buClr>
              <a:buSzPts val="1100"/>
              <a:buFont typeface="Calibri"/>
              <a:buNone/>
            </a:pPr>
            <a:r>
              <a:rPr b="1" i="0" lang="en" sz="1100" u="none" cap="none" strike="noStrike">
                <a:solidFill>
                  <a:srgbClr val="2E7D32"/>
                </a:solidFill>
                <a:latin typeface="Calibri"/>
                <a:ea typeface="Calibri"/>
                <a:cs typeface="Calibri"/>
                <a:sym typeface="Calibri"/>
              </a:rPr>
              <a:t>Example:</a:t>
            </a:r>
            <a:endParaRPr b="0" i="0" sz="1100" u="none" cap="none" strike="noStrike">
              <a:solidFill>
                <a:srgbClr val="000000"/>
              </a:solidFill>
              <a:latin typeface="Calibri"/>
              <a:ea typeface="Calibri"/>
              <a:cs typeface="Calibri"/>
              <a:sym typeface="Calibri"/>
            </a:endParaRPr>
          </a:p>
        </p:txBody>
      </p:sp>
      <p:sp>
        <p:nvSpPr>
          <p:cNvPr id="410" name="Google Shape;410;g3f62c33a15b_0_729"/>
          <p:cNvSpPr/>
          <p:nvPr/>
        </p:nvSpPr>
        <p:spPr>
          <a:xfrm>
            <a:off x="3310128" y="3730752"/>
            <a:ext cx="2578500" cy="237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100"/>
              <a:buFont typeface="Calibri"/>
              <a:buNone/>
            </a:pPr>
            <a:r>
              <a:rPr b="0" i="0" lang="en" sz="1100" u="none" cap="none" strike="noStrike">
                <a:solidFill>
                  <a:srgbClr val="37474F"/>
                </a:solidFill>
                <a:latin typeface="Calibri"/>
                <a:ea typeface="Calibri"/>
                <a:cs typeface="Calibri"/>
                <a:sym typeface="Calibri"/>
              </a:rPr>
              <a:t>Spam detection, fraud, disease</a:t>
            </a:r>
            <a:endParaRPr b="0" i="0" sz="1100" u="none" cap="none" strike="noStrike">
              <a:solidFill>
                <a:srgbClr val="000000"/>
              </a:solidFill>
              <a:latin typeface="Calibri"/>
              <a:ea typeface="Calibri"/>
              <a:cs typeface="Calibri"/>
              <a:sym typeface="Calibri"/>
            </a:endParaRPr>
          </a:p>
        </p:txBody>
      </p:sp>
      <p:sp>
        <p:nvSpPr>
          <p:cNvPr id="411" name="Google Shape;411;g3f62c33a15b_0_729"/>
          <p:cNvSpPr/>
          <p:nvPr/>
        </p:nvSpPr>
        <p:spPr>
          <a:xfrm>
            <a:off x="3310128" y="4023360"/>
            <a:ext cx="822900" cy="25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E7D32"/>
              </a:buClr>
              <a:buSzPts val="1100"/>
              <a:buFont typeface="Calibri"/>
              <a:buNone/>
            </a:pPr>
            <a:r>
              <a:rPr b="1" i="0" lang="en" sz="1100" u="none" cap="none" strike="noStrike">
                <a:solidFill>
                  <a:srgbClr val="2E7D32"/>
                </a:solidFill>
                <a:latin typeface="Calibri"/>
                <a:ea typeface="Calibri"/>
                <a:cs typeface="Calibri"/>
                <a:sym typeface="Calibri"/>
              </a:rPr>
              <a:t>Penalty:</a:t>
            </a:r>
            <a:endParaRPr b="0" i="0" sz="1100" u="none" cap="none" strike="noStrike">
              <a:solidFill>
                <a:srgbClr val="000000"/>
              </a:solidFill>
              <a:latin typeface="Calibri"/>
              <a:ea typeface="Calibri"/>
              <a:cs typeface="Calibri"/>
              <a:sym typeface="Calibri"/>
            </a:endParaRPr>
          </a:p>
        </p:txBody>
      </p:sp>
      <p:sp>
        <p:nvSpPr>
          <p:cNvPr id="412" name="Google Shape;412;g3f62c33a15b_0_729"/>
          <p:cNvSpPr/>
          <p:nvPr/>
        </p:nvSpPr>
        <p:spPr>
          <a:xfrm>
            <a:off x="3310128" y="4261104"/>
            <a:ext cx="2578500" cy="237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100"/>
              <a:buFont typeface="Calibri"/>
              <a:buNone/>
            </a:pPr>
            <a:r>
              <a:rPr b="0" i="0" lang="en" sz="1100" u="none" cap="none" strike="noStrike">
                <a:solidFill>
                  <a:srgbClr val="37474F"/>
                </a:solidFill>
                <a:latin typeface="Calibri"/>
                <a:ea typeface="Calibri"/>
                <a:cs typeface="Calibri"/>
                <a:sym typeface="Calibri"/>
              </a:rPr>
              <a:t>log penalises confident mistakes heavily</a:t>
            </a:r>
            <a:endParaRPr b="0" i="0" sz="1100" u="none" cap="none" strike="noStrike">
              <a:solidFill>
                <a:srgbClr val="000000"/>
              </a:solidFill>
              <a:latin typeface="Calibri"/>
              <a:ea typeface="Calibri"/>
              <a:cs typeface="Calibri"/>
              <a:sym typeface="Calibri"/>
            </a:endParaRPr>
          </a:p>
        </p:txBody>
      </p:sp>
      <p:sp>
        <p:nvSpPr>
          <p:cNvPr id="413" name="Google Shape;413;g3f62c33a15b_0_729"/>
          <p:cNvSpPr/>
          <p:nvPr/>
        </p:nvSpPr>
        <p:spPr>
          <a:xfrm>
            <a:off x="6135624" y="914400"/>
            <a:ext cx="2834700" cy="4160400"/>
          </a:xfrm>
          <a:prstGeom prst="rect">
            <a:avLst/>
          </a:prstGeom>
          <a:solidFill>
            <a:srgbClr val="F3E5F5"/>
          </a:solidFill>
          <a:ln cap="flat" cmpd="sng" w="12700">
            <a:solidFill>
              <a:srgbClr val="CE93D8"/>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g3f62c33a15b_0_729"/>
          <p:cNvSpPr/>
          <p:nvPr/>
        </p:nvSpPr>
        <p:spPr>
          <a:xfrm>
            <a:off x="6135624" y="914400"/>
            <a:ext cx="2834700" cy="438900"/>
          </a:xfrm>
          <a:prstGeom prst="rect">
            <a:avLst/>
          </a:prstGeom>
          <a:solidFill>
            <a:srgbClr val="6A1B9A"/>
          </a:solidFill>
          <a:ln cap="flat" cmpd="sng" w="12700">
            <a:solidFill>
              <a:srgbClr val="6A1B9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g3f62c33a15b_0_729"/>
          <p:cNvSpPr/>
          <p:nvPr/>
        </p:nvSpPr>
        <p:spPr>
          <a:xfrm>
            <a:off x="6135624" y="914400"/>
            <a:ext cx="2834700" cy="438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400"/>
              <a:buFont typeface="Calibri"/>
              <a:buNone/>
            </a:pPr>
            <a:r>
              <a:rPr b="1" i="0" lang="en" sz="1400" u="none" cap="none" strike="noStrike">
                <a:solidFill>
                  <a:srgbClr val="FFFFFF"/>
                </a:solidFill>
                <a:latin typeface="Calibri"/>
                <a:ea typeface="Calibri"/>
                <a:cs typeface="Calibri"/>
                <a:sym typeface="Calibri"/>
              </a:rPr>
              <a:t>Categorical Cross-Entropy</a:t>
            </a:r>
            <a:endParaRPr b="0" i="0" sz="1400" u="none" cap="none" strike="noStrike">
              <a:solidFill>
                <a:srgbClr val="000000"/>
              </a:solidFill>
              <a:latin typeface="Calibri"/>
              <a:ea typeface="Calibri"/>
              <a:cs typeface="Calibri"/>
              <a:sym typeface="Calibri"/>
            </a:endParaRPr>
          </a:p>
        </p:txBody>
      </p:sp>
      <p:sp>
        <p:nvSpPr>
          <p:cNvPr id="416" name="Google Shape;416;g3f62c33a15b_0_729"/>
          <p:cNvSpPr/>
          <p:nvPr/>
        </p:nvSpPr>
        <p:spPr>
          <a:xfrm>
            <a:off x="6245352" y="1426464"/>
            <a:ext cx="2615100" cy="384000"/>
          </a:xfrm>
          <a:prstGeom prst="rect">
            <a:avLst/>
          </a:prstGeom>
          <a:solidFill>
            <a:srgbClr val="FFFFFF"/>
          </a:solidFill>
          <a:ln cap="flat" cmpd="sng" w="10150">
            <a:solidFill>
              <a:srgbClr val="6A1B9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 name="Google Shape;417;g3f62c33a15b_0_729"/>
          <p:cNvSpPr/>
          <p:nvPr/>
        </p:nvSpPr>
        <p:spPr>
          <a:xfrm>
            <a:off x="6263640" y="1444752"/>
            <a:ext cx="2578500" cy="347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A1B9A"/>
              </a:buClr>
              <a:buSzPts val="1000"/>
              <a:buFont typeface="Consolas"/>
              <a:buNone/>
            </a:pPr>
            <a:r>
              <a:rPr b="1" i="0" lang="en" sz="1000" u="none" cap="none" strike="noStrike">
                <a:solidFill>
                  <a:srgbClr val="6A1B9A"/>
                </a:solidFill>
                <a:latin typeface="Consolas"/>
                <a:ea typeface="Consolas"/>
                <a:cs typeface="Consolas"/>
                <a:sym typeface="Consolas"/>
              </a:rPr>
              <a:t>−Σc  y_c · log(ŷ_c)</a:t>
            </a:r>
            <a:endParaRPr b="0" i="0" sz="1000" u="none" cap="none" strike="noStrike">
              <a:solidFill>
                <a:srgbClr val="000000"/>
              </a:solidFill>
              <a:latin typeface="Calibri"/>
              <a:ea typeface="Calibri"/>
              <a:cs typeface="Calibri"/>
              <a:sym typeface="Calibri"/>
            </a:endParaRPr>
          </a:p>
        </p:txBody>
      </p:sp>
      <p:sp>
        <p:nvSpPr>
          <p:cNvPr id="418" name="Google Shape;418;g3f62c33a15b_0_729"/>
          <p:cNvSpPr/>
          <p:nvPr/>
        </p:nvSpPr>
        <p:spPr>
          <a:xfrm>
            <a:off x="6263640" y="1901952"/>
            <a:ext cx="822900" cy="25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A1B9A"/>
              </a:buClr>
              <a:buSzPts val="1100"/>
              <a:buFont typeface="Calibri"/>
              <a:buNone/>
            </a:pPr>
            <a:r>
              <a:rPr b="1" i="0" lang="en" sz="1100" u="none" cap="none" strike="noStrike">
                <a:solidFill>
                  <a:srgbClr val="6A1B9A"/>
                </a:solidFill>
                <a:latin typeface="Calibri"/>
                <a:ea typeface="Calibri"/>
                <a:cs typeface="Calibri"/>
                <a:sym typeface="Calibri"/>
              </a:rPr>
              <a:t>Task:</a:t>
            </a:r>
            <a:endParaRPr b="0" i="0" sz="1100" u="none" cap="none" strike="noStrike">
              <a:solidFill>
                <a:srgbClr val="000000"/>
              </a:solidFill>
              <a:latin typeface="Calibri"/>
              <a:ea typeface="Calibri"/>
              <a:cs typeface="Calibri"/>
              <a:sym typeface="Calibri"/>
            </a:endParaRPr>
          </a:p>
        </p:txBody>
      </p:sp>
      <p:sp>
        <p:nvSpPr>
          <p:cNvPr id="419" name="Google Shape;419;g3f62c33a15b_0_729"/>
          <p:cNvSpPr/>
          <p:nvPr/>
        </p:nvSpPr>
        <p:spPr>
          <a:xfrm>
            <a:off x="6263640" y="2139696"/>
            <a:ext cx="2578500" cy="237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100"/>
              <a:buFont typeface="Calibri"/>
              <a:buNone/>
            </a:pPr>
            <a:r>
              <a:rPr b="0" i="0" lang="en" sz="1100" u="none" cap="none" strike="noStrike">
                <a:solidFill>
                  <a:srgbClr val="37474F"/>
                </a:solidFill>
                <a:latin typeface="Calibri"/>
                <a:ea typeface="Calibri"/>
                <a:cs typeface="Calibri"/>
                <a:sym typeface="Calibri"/>
              </a:rPr>
              <a:t>Multi-Class Classification</a:t>
            </a:r>
            <a:endParaRPr b="0" i="0" sz="1100" u="none" cap="none" strike="noStrike">
              <a:solidFill>
                <a:srgbClr val="000000"/>
              </a:solidFill>
              <a:latin typeface="Calibri"/>
              <a:ea typeface="Calibri"/>
              <a:cs typeface="Calibri"/>
              <a:sym typeface="Calibri"/>
            </a:endParaRPr>
          </a:p>
        </p:txBody>
      </p:sp>
      <p:sp>
        <p:nvSpPr>
          <p:cNvPr id="420" name="Google Shape;420;g3f62c33a15b_0_729"/>
          <p:cNvSpPr/>
          <p:nvPr/>
        </p:nvSpPr>
        <p:spPr>
          <a:xfrm>
            <a:off x="6263640" y="2432304"/>
            <a:ext cx="822900" cy="25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A1B9A"/>
              </a:buClr>
              <a:buSzPts val="1100"/>
              <a:buFont typeface="Calibri"/>
              <a:buNone/>
            </a:pPr>
            <a:r>
              <a:rPr b="1" i="0" lang="en" sz="1100" u="none" cap="none" strike="noStrike">
                <a:solidFill>
                  <a:srgbClr val="6A1B9A"/>
                </a:solidFill>
                <a:latin typeface="Calibri"/>
                <a:ea typeface="Calibri"/>
                <a:cs typeface="Calibri"/>
                <a:sym typeface="Calibri"/>
              </a:rPr>
              <a:t>Output:</a:t>
            </a:r>
            <a:endParaRPr b="0" i="0" sz="1100" u="none" cap="none" strike="noStrike">
              <a:solidFill>
                <a:srgbClr val="000000"/>
              </a:solidFill>
              <a:latin typeface="Calibri"/>
              <a:ea typeface="Calibri"/>
              <a:cs typeface="Calibri"/>
              <a:sym typeface="Calibri"/>
            </a:endParaRPr>
          </a:p>
        </p:txBody>
      </p:sp>
      <p:sp>
        <p:nvSpPr>
          <p:cNvPr id="421" name="Google Shape;421;g3f62c33a15b_0_729"/>
          <p:cNvSpPr/>
          <p:nvPr/>
        </p:nvSpPr>
        <p:spPr>
          <a:xfrm>
            <a:off x="6263640" y="2670048"/>
            <a:ext cx="2578500" cy="237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100"/>
              <a:buFont typeface="Calibri"/>
              <a:buNone/>
            </a:pPr>
            <a:r>
              <a:rPr b="0" i="0" lang="en" sz="1100" u="none" cap="none" strike="noStrike">
                <a:solidFill>
                  <a:srgbClr val="37474F"/>
                </a:solidFill>
                <a:latin typeface="Calibri"/>
                <a:ea typeface="Calibri"/>
                <a:cs typeface="Calibri"/>
                <a:sym typeface="Calibri"/>
              </a:rPr>
              <a:t>Prob. per class (sums to 1)</a:t>
            </a:r>
            <a:endParaRPr b="0" i="0" sz="1100" u="none" cap="none" strike="noStrike">
              <a:solidFill>
                <a:srgbClr val="000000"/>
              </a:solidFill>
              <a:latin typeface="Calibri"/>
              <a:ea typeface="Calibri"/>
              <a:cs typeface="Calibri"/>
              <a:sym typeface="Calibri"/>
            </a:endParaRPr>
          </a:p>
        </p:txBody>
      </p:sp>
      <p:sp>
        <p:nvSpPr>
          <p:cNvPr id="422" name="Google Shape;422;g3f62c33a15b_0_729"/>
          <p:cNvSpPr/>
          <p:nvPr/>
        </p:nvSpPr>
        <p:spPr>
          <a:xfrm>
            <a:off x="6263640" y="2962656"/>
            <a:ext cx="822900" cy="25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A1B9A"/>
              </a:buClr>
              <a:buSzPts val="1100"/>
              <a:buFont typeface="Calibri"/>
              <a:buNone/>
            </a:pPr>
            <a:r>
              <a:rPr b="1" i="0" lang="en" sz="1100" u="none" cap="none" strike="noStrike">
                <a:solidFill>
                  <a:srgbClr val="6A1B9A"/>
                </a:solidFill>
                <a:latin typeface="Calibri"/>
                <a:ea typeface="Calibri"/>
                <a:cs typeface="Calibri"/>
                <a:sym typeface="Calibri"/>
              </a:rPr>
              <a:t>Activation:</a:t>
            </a:r>
            <a:endParaRPr b="0" i="0" sz="1100" u="none" cap="none" strike="noStrike">
              <a:solidFill>
                <a:srgbClr val="000000"/>
              </a:solidFill>
              <a:latin typeface="Calibri"/>
              <a:ea typeface="Calibri"/>
              <a:cs typeface="Calibri"/>
              <a:sym typeface="Calibri"/>
            </a:endParaRPr>
          </a:p>
        </p:txBody>
      </p:sp>
      <p:sp>
        <p:nvSpPr>
          <p:cNvPr id="423" name="Google Shape;423;g3f62c33a15b_0_729"/>
          <p:cNvSpPr/>
          <p:nvPr/>
        </p:nvSpPr>
        <p:spPr>
          <a:xfrm>
            <a:off x="6263640" y="3200400"/>
            <a:ext cx="2578500" cy="237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100"/>
              <a:buFont typeface="Calibri"/>
              <a:buNone/>
            </a:pPr>
            <a:r>
              <a:rPr b="0" i="0" lang="en" sz="1100" u="none" cap="none" strike="noStrike">
                <a:solidFill>
                  <a:srgbClr val="37474F"/>
                </a:solidFill>
                <a:latin typeface="Calibri"/>
                <a:ea typeface="Calibri"/>
                <a:cs typeface="Calibri"/>
                <a:sym typeface="Calibri"/>
              </a:rPr>
              <a:t>Softmax</a:t>
            </a:r>
            <a:endParaRPr b="0" i="0" sz="1100" u="none" cap="none" strike="noStrike">
              <a:solidFill>
                <a:srgbClr val="000000"/>
              </a:solidFill>
              <a:latin typeface="Calibri"/>
              <a:ea typeface="Calibri"/>
              <a:cs typeface="Calibri"/>
              <a:sym typeface="Calibri"/>
            </a:endParaRPr>
          </a:p>
        </p:txBody>
      </p:sp>
      <p:sp>
        <p:nvSpPr>
          <p:cNvPr id="424" name="Google Shape;424;g3f62c33a15b_0_729"/>
          <p:cNvSpPr/>
          <p:nvPr/>
        </p:nvSpPr>
        <p:spPr>
          <a:xfrm>
            <a:off x="6263640" y="3493008"/>
            <a:ext cx="822900" cy="25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A1B9A"/>
              </a:buClr>
              <a:buSzPts val="1100"/>
              <a:buFont typeface="Calibri"/>
              <a:buNone/>
            </a:pPr>
            <a:r>
              <a:rPr b="1" i="0" lang="en" sz="1100" u="none" cap="none" strike="noStrike">
                <a:solidFill>
                  <a:srgbClr val="6A1B9A"/>
                </a:solidFill>
                <a:latin typeface="Calibri"/>
                <a:ea typeface="Calibri"/>
                <a:cs typeface="Calibri"/>
                <a:sym typeface="Calibri"/>
              </a:rPr>
              <a:t>Example:</a:t>
            </a:r>
            <a:endParaRPr b="0" i="0" sz="1100" u="none" cap="none" strike="noStrike">
              <a:solidFill>
                <a:srgbClr val="000000"/>
              </a:solidFill>
              <a:latin typeface="Calibri"/>
              <a:ea typeface="Calibri"/>
              <a:cs typeface="Calibri"/>
              <a:sym typeface="Calibri"/>
            </a:endParaRPr>
          </a:p>
        </p:txBody>
      </p:sp>
      <p:sp>
        <p:nvSpPr>
          <p:cNvPr id="425" name="Google Shape;425;g3f62c33a15b_0_729"/>
          <p:cNvSpPr/>
          <p:nvPr/>
        </p:nvSpPr>
        <p:spPr>
          <a:xfrm>
            <a:off x="6263640" y="3730752"/>
            <a:ext cx="2578500" cy="237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100"/>
              <a:buFont typeface="Calibri"/>
              <a:buNone/>
            </a:pPr>
            <a:r>
              <a:rPr b="0" i="0" lang="en" sz="1100" u="none" cap="none" strike="noStrike">
                <a:solidFill>
                  <a:srgbClr val="37474F"/>
                </a:solidFill>
                <a:latin typeface="Calibri"/>
                <a:ea typeface="Calibri"/>
                <a:cs typeface="Calibri"/>
                <a:sym typeface="Calibri"/>
              </a:rPr>
              <a:t>MNIST digits, image classification</a:t>
            </a:r>
            <a:endParaRPr b="0" i="0" sz="1100" u="none" cap="none" strike="noStrike">
              <a:solidFill>
                <a:srgbClr val="000000"/>
              </a:solidFill>
              <a:latin typeface="Calibri"/>
              <a:ea typeface="Calibri"/>
              <a:cs typeface="Calibri"/>
              <a:sym typeface="Calibri"/>
            </a:endParaRPr>
          </a:p>
        </p:txBody>
      </p:sp>
      <p:sp>
        <p:nvSpPr>
          <p:cNvPr id="426" name="Google Shape;426;g3f62c33a15b_0_729"/>
          <p:cNvSpPr/>
          <p:nvPr/>
        </p:nvSpPr>
        <p:spPr>
          <a:xfrm>
            <a:off x="6263640" y="4023360"/>
            <a:ext cx="822900" cy="25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A1B9A"/>
              </a:buClr>
              <a:buSzPts val="1100"/>
              <a:buFont typeface="Calibri"/>
              <a:buNone/>
            </a:pPr>
            <a:r>
              <a:rPr b="1" i="0" lang="en" sz="1100" u="none" cap="none" strike="noStrike">
                <a:solidFill>
                  <a:srgbClr val="6A1B9A"/>
                </a:solidFill>
                <a:latin typeface="Calibri"/>
                <a:ea typeface="Calibri"/>
                <a:cs typeface="Calibri"/>
                <a:sym typeface="Calibri"/>
              </a:rPr>
              <a:t>Penalty:</a:t>
            </a:r>
            <a:endParaRPr b="0" i="0" sz="1100" u="none" cap="none" strike="noStrike">
              <a:solidFill>
                <a:srgbClr val="000000"/>
              </a:solidFill>
              <a:latin typeface="Calibri"/>
              <a:ea typeface="Calibri"/>
              <a:cs typeface="Calibri"/>
              <a:sym typeface="Calibri"/>
            </a:endParaRPr>
          </a:p>
        </p:txBody>
      </p:sp>
      <p:sp>
        <p:nvSpPr>
          <p:cNvPr id="427" name="Google Shape;427;g3f62c33a15b_0_729"/>
          <p:cNvSpPr/>
          <p:nvPr/>
        </p:nvSpPr>
        <p:spPr>
          <a:xfrm>
            <a:off x="6263640" y="4261104"/>
            <a:ext cx="2578500" cy="237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100"/>
              <a:buFont typeface="Calibri"/>
              <a:buNone/>
            </a:pPr>
            <a:r>
              <a:rPr b="0" i="0" lang="en" sz="1100" u="none" cap="none" strike="noStrike">
                <a:solidFill>
                  <a:srgbClr val="37474F"/>
                </a:solidFill>
                <a:latin typeface="Calibri"/>
                <a:ea typeface="Calibri"/>
                <a:cs typeface="Calibri"/>
                <a:sym typeface="Calibri"/>
              </a:rPr>
              <a:t>Only true-class probability matters</a:t>
            </a:r>
            <a:endParaRPr b="0" i="0" sz="1100" u="none" cap="none" strike="noStrike">
              <a:solidFill>
                <a:srgbClr val="000000"/>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g3f62c33a15b_0_793"/>
          <p:cNvSpPr/>
          <p:nvPr/>
        </p:nvSpPr>
        <p:spPr>
          <a:xfrm>
            <a:off x="132375" y="181485"/>
            <a:ext cx="822960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D1B2A"/>
              </a:buClr>
              <a:buSzPts val="2600"/>
              <a:buFont typeface="Calibri"/>
              <a:buNone/>
            </a:pPr>
            <a:r>
              <a:rPr b="1" i="0" lang="en" sz="2600" u="none" cap="none" strike="noStrike">
                <a:solidFill>
                  <a:srgbClr val="0D1B2A"/>
                </a:solidFill>
                <a:latin typeface="Calibri"/>
                <a:ea typeface="Calibri"/>
                <a:cs typeface="Calibri"/>
                <a:sym typeface="Calibri"/>
              </a:rPr>
              <a:t>Quiz 1</a:t>
            </a:r>
            <a:endParaRPr b="0" i="0" sz="2600" u="none" cap="none" strike="noStrike">
              <a:solidFill>
                <a:srgbClr val="000000"/>
              </a:solidFill>
              <a:latin typeface="Calibri"/>
              <a:ea typeface="Calibri"/>
              <a:cs typeface="Calibri"/>
              <a:sym typeface="Calibri"/>
            </a:endParaRPr>
          </a:p>
        </p:txBody>
      </p:sp>
      <p:pic>
        <p:nvPicPr>
          <p:cNvPr id="433" name="Google Shape;433;g3f62c33a15b_0_793"/>
          <p:cNvPicPr preferRelativeResize="0"/>
          <p:nvPr/>
        </p:nvPicPr>
        <p:blipFill rotWithShape="1">
          <a:blip r:embed="rId3">
            <a:alphaModFix/>
          </a:blip>
          <a:srcRect b="0" l="0" r="0" t="0"/>
          <a:stretch/>
        </p:blipFill>
        <p:spPr>
          <a:xfrm>
            <a:off x="8369125" y="0"/>
            <a:ext cx="774877" cy="867174"/>
          </a:xfrm>
          <a:prstGeom prst="rect">
            <a:avLst/>
          </a:prstGeom>
          <a:noFill/>
          <a:ln>
            <a:noFill/>
          </a:ln>
        </p:spPr>
      </p:pic>
      <p:sp>
        <p:nvSpPr>
          <p:cNvPr id="434" name="Google Shape;434;g3f62c33a15b_0_793"/>
          <p:cNvSpPr txBox="1"/>
          <p:nvPr/>
        </p:nvSpPr>
        <p:spPr>
          <a:xfrm>
            <a:off x="354350" y="1187800"/>
            <a:ext cx="5809800" cy="2559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100"/>
              <a:buFont typeface="Arial"/>
              <a:buNone/>
            </a:pPr>
            <a:r>
              <a:rPr b="0" i="0" lang="en" sz="1700" u="none" cap="none" strike="noStrike">
                <a:solidFill>
                  <a:srgbClr val="000000"/>
                </a:solidFill>
                <a:latin typeface="Calibri"/>
                <a:ea typeface="Calibri"/>
                <a:cs typeface="Calibri"/>
                <a:sym typeface="Calibri"/>
              </a:rPr>
              <a:t>You are building a model to classify images into 5 categories (cat, dog, bird, horse, fish). Which loss function should you use? </a:t>
            </a:r>
            <a:endParaRPr b="0" i="0" sz="1700" u="none" cap="none" strike="noStrike">
              <a:solidFill>
                <a:srgbClr val="000000"/>
              </a:solidFill>
              <a:latin typeface="Calibri"/>
              <a:ea typeface="Calibri"/>
              <a:cs typeface="Calibri"/>
              <a:sym typeface="Calibri"/>
            </a:endParaRPr>
          </a:p>
          <a:p>
            <a:pPr indent="-336550" lvl="0" marL="457200" marR="0" rtl="0" algn="l">
              <a:lnSpc>
                <a:spcPct val="115000"/>
              </a:lnSpc>
              <a:spcBef>
                <a:spcPts val="1200"/>
              </a:spcBef>
              <a:spcAft>
                <a:spcPts val="0"/>
              </a:spcAft>
              <a:buClr>
                <a:srgbClr val="000000"/>
              </a:buClr>
              <a:buSzPts val="1700"/>
              <a:buFont typeface="Calibri"/>
              <a:buChar char="●"/>
            </a:pPr>
            <a:r>
              <a:rPr b="1" i="0" lang="en" sz="1700" u="none" cap="none" strike="noStrike">
                <a:solidFill>
                  <a:srgbClr val="000000"/>
                </a:solidFill>
                <a:latin typeface="Calibri"/>
                <a:ea typeface="Calibri"/>
                <a:cs typeface="Calibri"/>
                <a:sym typeface="Calibri"/>
              </a:rPr>
              <a:t>A)</a:t>
            </a:r>
            <a:r>
              <a:rPr b="0" i="0" lang="en" sz="1700" u="none" cap="none" strike="noStrike">
                <a:solidFill>
                  <a:srgbClr val="000000"/>
                </a:solidFill>
                <a:latin typeface="Calibri"/>
                <a:ea typeface="Calibri"/>
                <a:cs typeface="Calibri"/>
                <a:sym typeface="Calibri"/>
              </a:rPr>
              <a:t> Mean Squared Error (MSE)</a:t>
            </a:r>
            <a:endParaRPr b="0" i="0" sz="1700" u="none" cap="none" strike="noStrike">
              <a:solidFill>
                <a:srgbClr val="000000"/>
              </a:solidFill>
              <a:latin typeface="Calibri"/>
              <a:ea typeface="Calibri"/>
              <a:cs typeface="Calibri"/>
              <a:sym typeface="Calibri"/>
            </a:endParaRPr>
          </a:p>
          <a:p>
            <a:pPr indent="-336550" lvl="0" marL="457200" marR="0" rtl="0" algn="l">
              <a:lnSpc>
                <a:spcPct val="115000"/>
              </a:lnSpc>
              <a:spcBef>
                <a:spcPts val="0"/>
              </a:spcBef>
              <a:spcAft>
                <a:spcPts val="0"/>
              </a:spcAft>
              <a:buClr>
                <a:srgbClr val="000000"/>
              </a:buClr>
              <a:buSzPts val="1700"/>
              <a:buFont typeface="Calibri"/>
              <a:buChar char="●"/>
            </a:pPr>
            <a:r>
              <a:rPr b="1" i="0" lang="en" sz="1700" u="none" cap="none" strike="noStrike">
                <a:solidFill>
                  <a:srgbClr val="000000"/>
                </a:solidFill>
                <a:latin typeface="Calibri"/>
                <a:ea typeface="Calibri"/>
                <a:cs typeface="Calibri"/>
                <a:sym typeface="Calibri"/>
              </a:rPr>
              <a:t>B)</a:t>
            </a:r>
            <a:r>
              <a:rPr b="0" i="0" lang="en" sz="1700" u="none" cap="none" strike="noStrike">
                <a:solidFill>
                  <a:srgbClr val="000000"/>
                </a:solidFill>
                <a:latin typeface="Calibri"/>
                <a:ea typeface="Calibri"/>
                <a:cs typeface="Calibri"/>
                <a:sym typeface="Calibri"/>
              </a:rPr>
              <a:t> Binary Cross-Entropy</a:t>
            </a:r>
            <a:endParaRPr b="0" i="0" sz="1700" u="none" cap="none" strike="noStrike">
              <a:solidFill>
                <a:srgbClr val="000000"/>
              </a:solidFill>
              <a:latin typeface="Calibri"/>
              <a:ea typeface="Calibri"/>
              <a:cs typeface="Calibri"/>
              <a:sym typeface="Calibri"/>
            </a:endParaRPr>
          </a:p>
          <a:p>
            <a:pPr indent="-336550" lvl="0" marL="457200" marR="0" rtl="0" algn="l">
              <a:lnSpc>
                <a:spcPct val="115000"/>
              </a:lnSpc>
              <a:spcBef>
                <a:spcPts val="0"/>
              </a:spcBef>
              <a:spcAft>
                <a:spcPts val="0"/>
              </a:spcAft>
              <a:buClr>
                <a:srgbClr val="000000"/>
              </a:buClr>
              <a:buSzPts val="1700"/>
              <a:buFont typeface="Calibri"/>
              <a:buChar char="●"/>
            </a:pPr>
            <a:r>
              <a:rPr b="1" i="0" lang="en" sz="1700" u="none" cap="none" strike="noStrike">
                <a:solidFill>
                  <a:srgbClr val="000000"/>
                </a:solidFill>
                <a:latin typeface="Calibri"/>
                <a:ea typeface="Calibri"/>
                <a:cs typeface="Calibri"/>
                <a:sym typeface="Calibri"/>
              </a:rPr>
              <a:t>C)</a:t>
            </a:r>
            <a:r>
              <a:rPr b="0" i="0" lang="en" sz="1700" u="none" cap="none" strike="noStrike">
                <a:solidFill>
                  <a:srgbClr val="000000"/>
                </a:solidFill>
                <a:latin typeface="Calibri"/>
                <a:ea typeface="Calibri"/>
                <a:cs typeface="Calibri"/>
                <a:sym typeface="Calibri"/>
              </a:rPr>
              <a:t> Categorical Cross-Entropy</a:t>
            </a:r>
            <a:endParaRPr b="0" i="0" sz="1700" u="none" cap="none" strike="noStrike">
              <a:solidFill>
                <a:srgbClr val="000000"/>
              </a:solidFill>
              <a:latin typeface="Calibri"/>
              <a:ea typeface="Calibri"/>
              <a:cs typeface="Calibri"/>
              <a:sym typeface="Calibri"/>
            </a:endParaRPr>
          </a:p>
          <a:p>
            <a:pPr indent="-336550" lvl="0" marL="457200" marR="0" rtl="0" algn="l">
              <a:lnSpc>
                <a:spcPct val="115000"/>
              </a:lnSpc>
              <a:spcBef>
                <a:spcPts val="0"/>
              </a:spcBef>
              <a:spcAft>
                <a:spcPts val="0"/>
              </a:spcAft>
              <a:buClr>
                <a:srgbClr val="000000"/>
              </a:buClr>
              <a:buSzPts val="1700"/>
              <a:buFont typeface="Calibri"/>
              <a:buChar char="●"/>
            </a:pPr>
            <a:r>
              <a:rPr b="1" i="0" lang="en" sz="1700" u="none" cap="none" strike="noStrike">
                <a:solidFill>
                  <a:srgbClr val="000000"/>
                </a:solidFill>
                <a:latin typeface="Calibri"/>
                <a:ea typeface="Calibri"/>
                <a:cs typeface="Calibri"/>
                <a:sym typeface="Calibri"/>
              </a:rPr>
              <a:t>D)</a:t>
            </a:r>
            <a:r>
              <a:rPr b="0" i="0" lang="en" sz="1700" u="none" cap="none" strike="noStrike">
                <a:solidFill>
                  <a:srgbClr val="000000"/>
                </a:solidFill>
                <a:latin typeface="Calibri"/>
                <a:ea typeface="Calibri"/>
                <a:cs typeface="Calibri"/>
                <a:sym typeface="Calibri"/>
              </a:rPr>
              <a:t> Mean Absolute Error (MAE)</a:t>
            </a:r>
            <a:endParaRPr b="0" i="0" sz="1700" u="none" cap="none" strike="noStrike">
              <a:solidFill>
                <a:srgbClr val="000000"/>
              </a:solidFill>
              <a:latin typeface="Calibri"/>
              <a:ea typeface="Calibri"/>
              <a:cs typeface="Calibri"/>
              <a:sym typeface="Calibri"/>
            </a:endParaRPr>
          </a:p>
          <a:p>
            <a:pPr indent="0" lvl="0" marL="0" marR="0" rtl="0" algn="l">
              <a:lnSpc>
                <a:spcPct val="100000"/>
              </a:lnSpc>
              <a:spcBef>
                <a:spcPts val="1200"/>
              </a:spcBef>
              <a:spcAft>
                <a:spcPts val="0"/>
              </a:spcAft>
              <a:buClr>
                <a:srgbClr val="000000"/>
              </a:buClr>
              <a:buSzPts val="1700"/>
              <a:buFont typeface="Arial"/>
              <a:buNone/>
            </a:pPr>
            <a:r>
              <a:t/>
            </a:r>
            <a:endParaRPr b="0" i="0" sz="1700" u="none" cap="none" strike="noStrike">
              <a:solidFill>
                <a:srgbClr val="000000"/>
              </a:solidFill>
              <a:latin typeface="Calibri"/>
              <a:ea typeface="Calibri"/>
              <a:cs typeface="Calibri"/>
              <a:sym typeface="Calibri"/>
            </a:endParaRPr>
          </a:p>
        </p:txBody>
      </p:sp>
      <p:pic>
        <p:nvPicPr>
          <p:cNvPr id="435" name="Google Shape;435;g3f62c33a15b_0_793"/>
          <p:cNvPicPr preferRelativeResize="0"/>
          <p:nvPr/>
        </p:nvPicPr>
        <p:blipFill rotWithShape="1">
          <a:blip r:embed="rId4">
            <a:alphaModFix/>
          </a:blip>
          <a:srcRect b="0" l="0" r="0" t="0"/>
          <a:stretch/>
        </p:blipFill>
        <p:spPr>
          <a:xfrm>
            <a:off x="6316550" y="1019685"/>
            <a:ext cx="2675050" cy="369629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g3f62c33a15b_0_800"/>
          <p:cNvSpPr/>
          <p:nvPr/>
        </p:nvSpPr>
        <p:spPr>
          <a:xfrm>
            <a:off x="132375" y="181485"/>
            <a:ext cx="822960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D1B2A"/>
              </a:buClr>
              <a:buSzPts val="2600"/>
              <a:buFont typeface="Calibri"/>
              <a:buNone/>
            </a:pPr>
            <a:r>
              <a:rPr b="1" i="0" lang="en" sz="2600" u="none" cap="none" strike="noStrike">
                <a:solidFill>
                  <a:srgbClr val="0D1B2A"/>
                </a:solidFill>
                <a:latin typeface="Calibri"/>
                <a:ea typeface="Calibri"/>
                <a:cs typeface="Calibri"/>
                <a:sym typeface="Calibri"/>
              </a:rPr>
              <a:t>Quiz 1</a:t>
            </a:r>
            <a:endParaRPr b="0" i="0" sz="2600" u="none" cap="none" strike="noStrike">
              <a:solidFill>
                <a:srgbClr val="000000"/>
              </a:solidFill>
              <a:latin typeface="Calibri"/>
              <a:ea typeface="Calibri"/>
              <a:cs typeface="Calibri"/>
              <a:sym typeface="Calibri"/>
            </a:endParaRPr>
          </a:p>
        </p:txBody>
      </p:sp>
      <p:pic>
        <p:nvPicPr>
          <p:cNvPr id="441" name="Google Shape;441;g3f62c33a15b_0_800"/>
          <p:cNvPicPr preferRelativeResize="0"/>
          <p:nvPr/>
        </p:nvPicPr>
        <p:blipFill rotWithShape="1">
          <a:blip r:embed="rId3">
            <a:alphaModFix/>
          </a:blip>
          <a:srcRect b="0" l="0" r="0" t="0"/>
          <a:stretch/>
        </p:blipFill>
        <p:spPr>
          <a:xfrm>
            <a:off x="8369125" y="0"/>
            <a:ext cx="774877" cy="867174"/>
          </a:xfrm>
          <a:prstGeom prst="rect">
            <a:avLst/>
          </a:prstGeom>
          <a:noFill/>
          <a:ln>
            <a:noFill/>
          </a:ln>
        </p:spPr>
      </p:pic>
      <p:sp>
        <p:nvSpPr>
          <p:cNvPr id="442" name="Google Shape;442;g3f62c33a15b_0_800"/>
          <p:cNvSpPr txBox="1"/>
          <p:nvPr/>
        </p:nvSpPr>
        <p:spPr>
          <a:xfrm>
            <a:off x="354350" y="1187800"/>
            <a:ext cx="5809800" cy="2559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100"/>
              <a:buFont typeface="Arial"/>
              <a:buNone/>
            </a:pPr>
            <a:r>
              <a:rPr b="0" i="0" lang="en" sz="1700" u="none" cap="none" strike="noStrike">
                <a:solidFill>
                  <a:srgbClr val="000000"/>
                </a:solidFill>
                <a:latin typeface="Calibri"/>
                <a:ea typeface="Calibri"/>
                <a:cs typeface="Calibri"/>
                <a:sym typeface="Calibri"/>
              </a:rPr>
              <a:t>You are building a model to classify images into 5 categories (cat, dog, bird, horse, fish). Which loss function should you use? </a:t>
            </a:r>
            <a:endParaRPr b="0" i="0" sz="1700" u="none" cap="none" strike="noStrike">
              <a:solidFill>
                <a:srgbClr val="000000"/>
              </a:solidFill>
              <a:latin typeface="Calibri"/>
              <a:ea typeface="Calibri"/>
              <a:cs typeface="Calibri"/>
              <a:sym typeface="Calibri"/>
            </a:endParaRPr>
          </a:p>
          <a:p>
            <a:pPr indent="-336550" lvl="0" marL="457200" marR="0" rtl="0" algn="l">
              <a:lnSpc>
                <a:spcPct val="115000"/>
              </a:lnSpc>
              <a:spcBef>
                <a:spcPts val="1200"/>
              </a:spcBef>
              <a:spcAft>
                <a:spcPts val="0"/>
              </a:spcAft>
              <a:buClr>
                <a:srgbClr val="000000"/>
              </a:buClr>
              <a:buSzPts val="1700"/>
              <a:buFont typeface="Calibri"/>
              <a:buChar char="●"/>
            </a:pPr>
            <a:r>
              <a:rPr b="1" i="0" lang="en" sz="1700" u="none" cap="none" strike="noStrike">
                <a:solidFill>
                  <a:srgbClr val="000000"/>
                </a:solidFill>
                <a:latin typeface="Calibri"/>
                <a:ea typeface="Calibri"/>
                <a:cs typeface="Calibri"/>
                <a:sym typeface="Calibri"/>
              </a:rPr>
              <a:t>A)</a:t>
            </a:r>
            <a:r>
              <a:rPr b="0" i="0" lang="en" sz="1700" u="none" cap="none" strike="noStrike">
                <a:solidFill>
                  <a:srgbClr val="000000"/>
                </a:solidFill>
                <a:latin typeface="Calibri"/>
                <a:ea typeface="Calibri"/>
                <a:cs typeface="Calibri"/>
                <a:sym typeface="Calibri"/>
              </a:rPr>
              <a:t> Mean Squared Error (MSE)</a:t>
            </a:r>
            <a:endParaRPr b="0" i="0" sz="1700" u="none" cap="none" strike="noStrike">
              <a:solidFill>
                <a:srgbClr val="000000"/>
              </a:solidFill>
              <a:latin typeface="Calibri"/>
              <a:ea typeface="Calibri"/>
              <a:cs typeface="Calibri"/>
              <a:sym typeface="Calibri"/>
            </a:endParaRPr>
          </a:p>
          <a:p>
            <a:pPr indent="-336550" lvl="0" marL="457200" marR="0" rtl="0" algn="l">
              <a:lnSpc>
                <a:spcPct val="115000"/>
              </a:lnSpc>
              <a:spcBef>
                <a:spcPts val="0"/>
              </a:spcBef>
              <a:spcAft>
                <a:spcPts val="0"/>
              </a:spcAft>
              <a:buClr>
                <a:srgbClr val="000000"/>
              </a:buClr>
              <a:buSzPts val="1700"/>
              <a:buFont typeface="Calibri"/>
              <a:buChar char="●"/>
            </a:pPr>
            <a:r>
              <a:rPr b="1" i="0" lang="en" sz="1700" u="none" cap="none" strike="noStrike">
                <a:solidFill>
                  <a:srgbClr val="000000"/>
                </a:solidFill>
                <a:latin typeface="Calibri"/>
                <a:ea typeface="Calibri"/>
                <a:cs typeface="Calibri"/>
                <a:sym typeface="Calibri"/>
              </a:rPr>
              <a:t>B)</a:t>
            </a:r>
            <a:r>
              <a:rPr b="0" i="0" lang="en" sz="1700" u="none" cap="none" strike="noStrike">
                <a:solidFill>
                  <a:srgbClr val="000000"/>
                </a:solidFill>
                <a:latin typeface="Calibri"/>
                <a:ea typeface="Calibri"/>
                <a:cs typeface="Calibri"/>
                <a:sym typeface="Calibri"/>
              </a:rPr>
              <a:t> Binary Cross-Entropy</a:t>
            </a:r>
            <a:endParaRPr b="0" i="0" sz="1700" u="none" cap="none" strike="noStrike">
              <a:solidFill>
                <a:srgbClr val="000000"/>
              </a:solidFill>
              <a:latin typeface="Calibri"/>
              <a:ea typeface="Calibri"/>
              <a:cs typeface="Calibri"/>
              <a:sym typeface="Calibri"/>
            </a:endParaRPr>
          </a:p>
          <a:p>
            <a:pPr indent="-336550" lvl="0" marL="457200" marR="0" rtl="0" algn="l">
              <a:lnSpc>
                <a:spcPct val="115000"/>
              </a:lnSpc>
              <a:spcBef>
                <a:spcPts val="0"/>
              </a:spcBef>
              <a:spcAft>
                <a:spcPts val="0"/>
              </a:spcAft>
              <a:buClr>
                <a:srgbClr val="000000"/>
              </a:buClr>
              <a:buSzPts val="1700"/>
              <a:buFont typeface="Calibri"/>
              <a:buChar char="●"/>
            </a:pPr>
            <a:r>
              <a:rPr b="1" i="0" lang="en" sz="1700" u="none" cap="none" strike="noStrike">
                <a:solidFill>
                  <a:srgbClr val="000000"/>
                </a:solidFill>
                <a:latin typeface="Calibri"/>
                <a:ea typeface="Calibri"/>
                <a:cs typeface="Calibri"/>
                <a:sym typeface="Calibri"/>
              </a:rPr>
              <a:t>C)</a:t>
            </a:r>
            <a:r>
              <a:rPr b="0" i="0" lang="en" sz="1700" u="none" cap="none" strike="noStrike">
                <a:solidFill>
                  <a:srgbClr val="000000"/>
                </a:solidFill>
                <a:latin typeface="Calibri"/>
                <a:ea typeface="Calibri"/>
                <a:cs typeface="Calibri"/>
                <a:sym typeface="Calibri"/>
              </a:rPr>
              <a:t> Categorical Cross-Entropy ✅</a:t>
            </a:r>
            <a:endParaRPr b="0" i="0" sz="1700" u="none" cap="none" strike="noStrike">
              <a:solidFill>
                <a:srgbClr val="000000"/>
              </a:solidFill>
              <a:latin typeface="Calibri"/>
              <a:ea typeface="Calibri"/>
              <a:cs typeface="Calibri"/>
              <a:sym typeface="Calibri"/>
            </a:endParaRPr>
          </a:p>
          <a:p>
            <a:pPr indent="-336550" lvl="0" marL="457200" marR="0" rtl="0" algn="l">
              <a:lnSpc>
                <a:spcPct val="115000"/>
              </a:lnSpc>
              <a:spcBef>
                <a:spcPts val="0"/>
              </a:spcBef>
              <a:spcAft>
                <a:spcPts val="0"/>
              </a:spcAft>
              <a:buClr>
                <a:srgbClr val="000000"/>
              </a:buClr>
              <a:buSzPts val="1700"/>
              <a:buFont typeface="Calibri"/>
              <a:buChar char="●"/>
            </a:pPr>
            <a:r>
              <a:rPr b="1" i="0" lang="en" sz="1700" u="none" cap="none" strike="noStrike">
                <a:solidFill>
                  <a:srgbClr val="000000"/>
                </a:solidFill>
                <a:latin typeface="Calibri"/>
                <a:ea typeface="Calibri"/>
                <a:cs typeface="Calibri"/>
                <a:sym typeface="Calibri"/>
              </a:rPr>
              <a:t>D)</a:t>
            </a:r>
            <a:r>
              <a:rPr b="0" i="0" lang="en" sz="1700" u="none" cap="none" strike="noStrike">
                <a:solidFill>
                  <a:srgbClr val="000000"/>
                </a:solidFill>
                <a:latin typeface="Calibri"/>
                <a:ea typeface="Calibri"/>
                <a:cs typeface="Calibri"/>
                <a:sym typeface="Calibri"/>
              </a:rPr>
              <a:t> Mean Absolute Error (MAE)</a:t>
            </a:r>
            <a:endParaRPr b="0" i="0" sz="1700" u="none" cap="none" strike="noStrike">
              <a:solidFill>
                <a:srgbClr val="000000"/>
              </a:solidFill>
              <a:latin typeface="Calibri"/>
              <a:ea typeface="Calibri"/>
              <a:cs typeface="Calibri"/>
              <a:sym typeface="Calibri"/>
            </a:endParaRPr>
          </a:p>
          <a:p>
            <a:pPr indent="0" lvl="0" marL="0" marR="0" rtl="0" algn="l">
              <a:lnSpc>
                <a:spcPct val="100000"/>
              </a:lnSpc>
              <a:spcBef>
                <a:spcPts val="1200"/>
              </a:spcBef>
              <a:spcAft>
                <a:spcPts val="0"/>
              </a:spcAft>
              <a:buClr>
                <a:srgbClr val="000000"/>
              </a:buClr>
              <a:buSzPts val="1700"/>
              <a:buFont typeface="Arial"/>
              <a:buNone/>
            </a:pPr>
            <a:r>
              <a:t/>
            </a:r>
            <a:endParaRPr b="0" i="0" sz="1700" u="none" cap="none" strike="noStrike">
              <a:solidFill>
                <a:srgbClr val="000000"/>
              </a:solidFill>
              <a:latin typeface="Calibri"/>
              <a:ea typeface="Calibri"/>
              <a:cs typeface="Calibri"/>
              <a:sym typeface="Calibri"/>
            </a:endParaRPr>
          </a:p>
        </p:txBody>
      </p:sp>
      <p:pic>
        <p:nvPicPr>
          <p:cNvPr id="443" name="Google Shape;443;g3f62c33a15b_0_800"/>
          <p:cNvPicPr preferRelativeResize="0"/>
          <p:nvPr/>
        </p:nvPicPr>
        <p:blipFill rotWithShape="1">
          <a:blip r:embed="rId4">
            <a:alphaModFix/>
          </a:blip>
          <a:srcRect b="0" l="0" r="0" t="0"/>
          <a:stretch/>
        </p:blipFill>
        <p:spPr>
          <a:xfrm>
            <a:off x="6316550" y="1019685"/>
            <a:ext cx="2675050" cy="369629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4"/>
          <p:cNvSpPr/>
          <p:nvPr/>
        </p:nvSpPr>
        <p:spPr>
          <a:xfrm>
            <a:off x="457200" y="228600"/>
            <a:ext cx="8229600" cy="5943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E293B"/>
              </a:buClr>
              <a:buSzPts val="3000"/>
              <a:buFont typeface="Calibri"/>
              <a:buNone/>
            </a:pPr>
            <a:r>
              <a:rPr b="1" i="0" lang="en" sz="3000" u="none" cap="none" strike="noStrike">
                <a:solidFill>
                  <a:srgbClr val="1E293B"/>
                </a:solidFill>
                <a:latin typeface="Calibri"/>
                <a:ea typeface="Calibri"/>
                <a:cs typeface="Calibri"/>
                <a:sym typeface="Calibri"/>
              </a:rPr>
              <a:t>Train / Validation / Test Sets</a:t>
            </a:r>
            <a:endParaRPr b="0" i="0" sz="3000" u="none" cap="none" strike="noStrike">
              <a:solidFill>
                <a:srgbClr val="000000"/>
              </a:solidFill>
              <a:latin typeface="Calibri"/>
              <a:ea typeface="Calibri"/>
              <a:cs typeface="Calibri"/>
              <a:sym typeface="Calibri"/>
            </a:endParaRPr>
          </a:p>
        </p:txBody>
      </p:sp>
      <p:sp>
        <p:nvSpPr>
          <p:cNvPr id="449" name="Google Shape;449;p4"/>
          <p:cNvSpPr/>
          <p:nvPr/>
        </p:nvSpPr>
        <p:spPr>
          <a:xfrm>
            <a:off x="457200" y="777240"/>
            <a:ext cx="8229600" cy="320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4748B"/>
              </a:buClr>
              <a:buSzPts val="1400"/>
              <a:buFont typeface="Calibri"/>
              <a:buNone/>
            </a:pPr>
            <a:r>
              <a:rPr b="0" i="1" lang="en" sz="1400" u="none" cap="none" strike="noStrike">
                <a:solidFill>
                  <a:srgbClr val="64748B"/>
                </a:solidFill>
                <a:latin typeface="Calibri"/>
                <a:ea typeface="Calibri"/>
                <a:cs typeface="Calibri"/>
                <a:sym typeface="Calibri"/>
              </a:rPr>
              <a:t>Why splitting your data correctly matters</a:t>
            </a:r>
            <a:endParaRPr b="0" i="0" sz="1400" u="none" cap="none" strike="noStrike">
              <a:solidFill>
                <a:srgbClr val="000000"/>
              </a:solidFill>
              <a:latin typeface="Calibri"/>
              <a:ea typeface="Calibri"/>
              <a:cs typeface="Calibri"/>
              <a:sym typeface="Calibri"/>
            </a:endParaRPr>
          </a:p>
        </p:txBody>
      </p:sp>
      <p:sp>
        <p:nvSpPr>
          <p:cNvPr id="450" name="Google Shape;450;p4"/>
          <p:cNvSpPr/>
          <p:nvPr/>
        </p:nvSpPr>
        <p:spPr>
          <a:xfrm>
            <a:off x="457200" y="1280160"/>
            <a:ext cx="5760600" cy="502800"/>
          </a:xfrm>
          <a:prstGeom prst="rect">
            <a:avLst/>
          </a:prstGeom>
          <a:solidFill>
            <a:srgbClr val="2563EB"/>
          </a:solidFill>
          <a:ln cap="flat" cmpd="sng" w="12700">
            <a:solidFill>
              <a:srgbClr val="2563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 name="Google Shape;451;p4"/>
          <p:cNvSpPr/>
          <p:nvPr/>
        </p:nvSpPr>
        <p:spPr>
          <a:xfrm>
            <a:off x="457200" y="1280160"/>
            <a:ext cx="5760600" cy="502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Calibri"/>
              <a:buNone/>
            </a:pPr>
            <a:r>
              <a:rPr b="1" i="0" lang="en" sz="1300" u="none" cap="none" strike="noStrike">
                <a:solidFill>
                  <a:srgbClr val="FFFFFF"/>
                </a:solidFill>
                <a:latin typeface="Calibri"/>
                <a:ea typeface="Calibri"/>
                <a:cs typeface="Calibri"/>
                <a:sym typeface="Calibri"/>
              </a:rPr>
              <a:t>Training Set  80%</a:t>
            </a:r>
            <a:endParaRPr b="0" i="0" sz="1300" u="none" cap="none" strike="noStrike">
              <a:solidFill>
                <a:srgbClr val="000000"/>
              </a:solidFill>
              <a:latin typeface="Calibri"/>
              <a:ea typeface="Calibri"/>
              <a:cs typeface="Calibri"/>
              <a:sym typeface="Calibri"/>
            </a:endParaRPr>
          </a:p>
        </p:txBody>
      </p:sp>
      <p:sp>
        <p:nvSpPr>
          <p:cNvPr id="452" name="Google Shape;452;p4"/>
          <p:cNvSpPr/>
          <p:nvPr/>
        </p:nvSpPr>
        <p:spPr>
          <a:xfrm>
            <a:off x="6217920" y="1280160"/>
            <a:ext cx="1234500" cy="502800"/>
          </a:xfrm>
          <a:prstGeom prst="rect">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 name="Google Shape;453;p4"/>
          <p:cNvSpPr/>
          <p:nvPr/>
        </p:nvSpPr>
        <p:spPr>
          <a:xfrm>
            <a:off x="6217920" y="1280160"/>
            <a:ext cx="1234500" cy="502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Val  10%</a:t>
            </a:r>
            <a:endParaRPr b="0" i="0" sz="1100" u="none" cap="none" strike="noStrike">
              <a:solidFill>
                <a:srgbClr val="000000"/>
              </a:solidFill>
              <a:latin typeface="Calibri"/>
              <a:ea typeface="Calibri"/>
              <a:cs typeface="Calibri"/>
              <a:sym typeface="Calibri"/>
            </a:endParaRPr>
          </a:p>
        </p:txBody>
      </p:sp>
      <p:sp>
        <p:nvSpPr>
          <p:cNvPr id="454" name="Google Shape;454;p4"/>
          <p:cNvSpPr/>
          <p:nvPr/>
        </p:nvSpPr>
        <p:spPr>
          <a:xfrm>
            <a:off x="7452360" y="1280160"/>
            <a:ext cx="1234500" cy="502800"/>
          </a:xfrm>
          <a:prstGeom prst="rect">
            <a:avLst/>
          </a:prstGeom>
          <a:solidFill>
            <a:srgbClr val="059669"/>
          </a:solidFill>
          <a:ln cap="flat" cmpd="sng" w="12700">
            <a:solidFill>
              <a:srgbClr val="05966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 name="Google Shape;455;p4"/>
          <p:cNvSpPr/>
          <p:nvPr/>
        </p:nvSpPr>
        <p:spPr>
          <a:xfrm>
            <a:off x="7452360" y="1280160"/>
            <a:ext cx="1234500" cy="502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Test  10%</a:t>
            </a:r>
            <a:endParaRPr b="0" i="0" sz="1100" u="none" cap="none" strike="noStrike">
              <a:solidFill>
                <a:srgbClr val="000000"/>
              </a:solidFill>
              <a:latin typeface="Calibri"/>
              <a:ea typeface="Calibri"/>
              <a:cs typeface="Calibri"/>
              <a:sym typeface="Calibri"/>
            </a:endParaRPr>
          </a:p>
        </p:txBody>
      </p:sp>
      <p:sp>
        <p:nvSpPr>
          <p:cNvPr id="456" name="Google Shape;456;p4"/>
          <p:cNvSpPr/>
          <p:nvPr/>
        </p:nvSpPr>
        <p:spPr>
          <a:xfrm>
            <a:off x="502920" y="2103120"/>
            <a:ext cx="2606100" cy="2469000"/>
          </a:xfrm>
          <a:prstGeom prst="rect">
            <a:avLst/>
          </a:prstGeom>
          <a:solidFill>
            <a:srgbClr val="E2E8F0"/>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 name="Google Shape;457;p4"/>
          <p:cNvSpPr/>
          <p:nvPr/>
        </p:nvSpPr>
        <p:spPr>
          <a:xfrm>
            <a:off x="457200" y="2057400"/>
            <a:ext cx="2606100" cy="2469000"/>
          </a:xfrm>
          <a:prstGeom prst="rect">
            <a:avLst/>
          </a:prstGeom>
          <a:solidFill>
            <a:srgbClr val="EFF6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 name="Google Shape;458;p4"/>
          <p:cNvSpPr/>
          <p:nvPr/>
        </p:nvSpPr>
        <p:spPr>
          <a:xfrm>
            <a:off x="457200" y="2057400"/>
            <a:ext cx="2606100" cy="63900"/>
          </a:xfrm>
          <a:prstGeom prst="rect">
            <a:avLst/>
          </a:prstGeom>
          <a:solidFill>
            <a:srgbClr val="2563EB"/>
          </a:solidFill>
          <a:ln cap="flat" cmpd="sng" w="12700">
            <a:solidFill>
              <a:srgbClr val="2563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 name="Google Shape;459;p4"/>
          <p:cNvSpPr/>
          <p:nvPr/>
        </p:nvSpPr>
        <p:spPr>
          <a:xfrm>
            <a:off x="1485900" y="2167128"/>
            <a:ext cx="548700" cy="548700"/>
          </a:xfrm>
          <a:prstGeom prst="ellipse">
            <a:avLst/>
          </a:prstGeom>
          <a:solidFill>
            <a:srgbClr val="DBEAFE"/>
          </a:solidFill>
          <a:ln cap="flat" cmpd="sng" w="19050">
            <a:solidFill>
              <a:srgbClr val="2563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 name="Google Shape;460;p4"/>
          <p:cNvSpPr/>
          <p:nvPr/>
        </p:nvSpPr>
        <p:spPr>
          <a:xfrm>
            <a:off x="1485900" y="2167128"/>
            <a:ext cx="548700" cy="548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Calibri"/>
              <a:buNone/>
            </a:pPr>
            <a:r>
              <a:rPr b="0" i="0" lang="en" sz="1600" u="none" cap="none" strike="noStrike">
                <a:solidFill>
                  <a:srgbClr val="000000"/>
                </a:solidFill>
                <a:latin typeface="Calibri"/>
                <a:ea typeface="Calibri"/>
                <a:cs typeface="Calibri"/>
                <a:sym typeface="Calibri"/>
              </a:rPr>
              <a:t>🏋️</a:t>
            </a:r>
            <a:endParaRPr b="0" i="0" sz="1600" u="none" cap="none" strike="noStrike">
              <a:solidFill>
                <a:srgbClr val="000000"/>
              </a:solidFill>
              <a:latin typeface="Calibri"/>
              <a:ea typeface="Calibri"/>
              <a:cs typeface="Calibri"/>
              <a:sym typeface="Calibri"/>
            </a:endParaRPr>
          </a:p>
        </p:txBody>
      </p:sp>
      <p:sp>
        <p:nvSpPr>
          <p:cNvPr id="461" name="Google Shape;461;p4"/>
          <p:cNvSpPr/>
          <p:nvPr/>
        </p:nvSpPr>
        <p:spPr>
          <a:xfrm>
            <a:off x="548640" y="2807208"/>
            <a:ext cx="2423100" cy="384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563EB"/>
              </a:buClr>
              <a:buSzPts val="1400"/>
              <a:buFont typeface="Calibri"/>
              <a:buNone/>
            </a:pPr>
            <a:r>
              <a:rPr b="1" i="0" lang="en" sz="1400" u="none" cap="none" strike="noStrike">
                <a:solidFill>
                  <a:srgbClr val="2563EB"/>
                </a:solidFill>
                <a:latin typeface="Calibri"/>
                <a:ea typeface="Calibri"/>
                <a:cs typeface="Calibri"/>
                <a:sym typeface="Calibri"/>
              </a:rPr>
              <a:t>Training Set</a:t>
            </a:r>
            <a:endParaRPr b="0" i="0" sz="1400" u="none" cap="none" strike="noStrike">
              <a:solidFill>
                <a:srgbClr val="000000"/>
              </a:solidFill>
              <a:latin typeface="Calibri"/>
              <a:ea typeface="Calibri"/>
              <a:cs typeface="Calibri"/>
              <a:sym typeface="Calibri"/>
            </a:endParaRPr>
          </a:p>
        </p:txBody>
      </p:sp>
      <p:sp>
        <p:nvSpPr>
          <p:cNvPr id="462" name="Google Shape;462;p4"/>
          <p:cNvSpPr/>
          <p:nvPr/>
        </p:nvSpPr>
        <p:spPr>
          <a:xfrm>
            <a:off x="594360" y="3246120"/>
            <a:ext cx="2377500" cy="1097400"/>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00000"/>
              </a:lnSpc>
              <a:spcBef>
                <a:spcPts val="0"/>
              </a:spcBef>
              <a:spcAft>
                <a:spcPts val="0"/>
              </a:spcAft>
              <a:buClr>
                <a:srgbClr val="334155"/>
              </a:buClr>
              <a:buSzPts val="1000"/>
              <a:buFont typeface="Calibri"/>
              <a:buChar char="•"/>
            </a:pPr>
            <a:r>
              <a:rPr b="0" i="0" lang="en" sz="1000" u="none" cap="none" strike="noStrike">
                <a:solidFill>
                  <a:srgbClr val="334155"/>
                </a:solidFill>
                <a:latin typeface="Calibri"/>
                <a:ea typeface="Calibri"/>
                <a:cs typeface="Calibri"/>
                <a:sym typeface="Calibri"/>
              </a:rPr>
              <a:t>Model learns weights &amp; patterns</a:t>
            </a:r>
            <a:endParaRPr b="0" i="0" sz="1000" u="none" cap="none" strike="noStrike">
              <a:solidFill>
                <a:srgbClr val="000000"/>
              </a:solidFill>
              <a:latin typeface="Calibri"/>
              <a:ea typeface="Calibri"/>
              <a:cs typeface="Calibri"/>
              <a:sym typeface="Calibri"/>
            </a:endParaRPr>
          </a:p>
          <a:p>
            <a:pPr indent="-342900" lvl="0" marL="342900" marR="0" rtl="0" algn="l">
              <a:lnSpc>
                <a:spcPct val="100000"/>
              </a:lnSpc>
              <a:spcBef>
                <a:spcPts val="200"/>
              </a:spcBef>
              <a:spcAft>
                <a:spcPts val="0"/>
              </a:spcAft>
              <a:buClr>
                <a:srgbClr val="334155"/>
              </a:buClr>
              <a:buSzPts val="1000"/>
              <a:buFont typeface="Calibri"/>
              <a:buChar char="•"/>
            </a:pPr>
            <a:r>
              <a:rPr b="0" i="0" lang="en" sz="1000" u="none" cap="none" strike="noStrike">
                <a:solidFill>
                  <a:srgbClr val="334155"/>
                </a:solidFill>
                <a:latin typeface="Calibri"/>
                <a:ea typeface="Calibri"/>
                <a:cs typeface="Calibri"/>
                <a:sym typeface="Calibri"/>
              </a:rPr>
              <a:t>Largest split (~60–80%)</a:t>
            </a:r>
            <a:endParaRPr b="0" i="0" sz="1000" u="none" cap="none" strike="noStrike">
              <a:solidFill>
                <a:srgbClr val="000000"/>
              </a:solidFill>
              <a:latin typeface="Calibri"/>
              <a:ea typeface="Calibri"/>
              <a:cs typeface="Calibri"/>
              <a:sym typeface="Calibri"/>
            </a:endParaRPr>
          </a:p>
          <a:p>
            <a:pPr indent="-342900" lvl="0" marL="342900" marR="0" rtl="0" algn="l">
              <a:lnSpc>
                <a:spcPct val="100000"/>
              </a:lnSpc>
              <a:spcBef>
                <a:spcPts val="200"/>
              </a:spcBef>
              <a:spcAft>
                <a:spcPts val="0"/>
              </a:spcAft>
              <a:buClr>
                <a:srgbClr val="334155"/>
              </a:buClr>
              <a:buSzPts val="1000"/>
              <a:buFont typeface="Calibri"/>
              <a:buChar char="•"/>
            </a:pPr>
            <a:r>
              <a:rPr b="0" i="0" lang="en" sz="1000" u="none" cap="none" strike="noStrike">
                <a:solidFill>
                  <a:srgbClr val="334155"/>
                </a:solidFill>
                <a:latin typeface="Calibri"/>
                <a:ea typeface="Calibri"/>
                <a:cs typeface="Calibri"/>
                <a:sym typeface="Calibri"/>
              </a:rPr>
              <a:t>Directly used in backpropagation</a:t>
            </a:r>
            <a:endParaRPr b="0" i="0" sz="1000" u="none" cap="none" strike="noStrike">
              <a:solidFill>
                <a:srgbClr val="000000"/>
              </a:solidFill>
              <a:latin typeface="Calibri"/>
              <a:ea typeface="Calibri"/>
              <a:cs typeface="Calibri"/>
              <a:sym typeface="Calibri"/>
            </a:endParaRPr>
          </a:p>
          <a:p>
            <a:pPr indent="-342900" lvl="0" marL="342900" marR="0" rtl="0" algn="l">
              <a:lnSpc>
                <a:spcPct val="100000"/>
              </a:lnSpc>
              <a:spcBef>
                <a:spcPts val="200"/>
              </a:spcBef>
              <a:spcAft>
                <a:spcPts val="0"/>
              </a:spcAft>
              <a:buClr>
                <a:srgbClr val="334155"/>
              </a:buClr>
              <a:buSzPts val="1000"/>
              <a:buFont typeface="Calibri"/>
              <a:buChar char="•"/>
            </a:pPr>
            <a:r>
              <a:rPr b="0" i="0" lang="en" sz="1000" u="none" cap="none" strike="noStrike">
                <a:solidFill>
                  <a:srgbClr val="334155"/>
                </a:solidFill>
                <a:latin typeface="Calibri"/>
                <a:ea typeface="Calibri"/>
                <a:cs typeface="Calibri"/>
                <a:sym typeface="Calibri"/>
              </a:rPr>
              <a:t>More data → better generalization</a:t>
            </a:r>
            <a:endParaRPr b="0" i="0" sz="1000" u="none" cap="none" strike="noStrike">
              <a:solidFill>
                <a:srgbClr val="000000"/>
              </a:solidFill>
              <a:latin typeface="Calibri"/>
              <a:ea typeface="Calibri"/>
              <a:cs typeface="Calibri"/>
              <a:sym typeface="Calibri"/>
            </a:endParaRPr>
          </a:p>
        </p:txBody>
      </p:sp>
      <p:sp>
        <p:nvSpPr>
          <p:cNvPr id="463" name="Google Shape;463;p4"/>
          <p:cNvSpPr/>
          <p:nvPr/>
        </p:nvSpPr>
        <p:spPr>
          <a:xfrm>
            <a:off x="548640" y="4270248"/>
            <a:ext cx="2423100" cy="274200"/>
          </a:xfrm>
          <a:prstGeom prst="rect">
            <a:avLst/>
          </a:prstGeom>
          <a:solidFill>
            <a:srgbClr val="DBEAFE"/>
          </a:solidFill>
          <a:ln cap="flat" cmpd="sng" w="9525">
            <a:solidFill>
              <a:srgbClr val="2563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 name="Google Shape;464;p4"/>
          <p:cNvSpPr/>
          <p:nvPr/>
        </p:nvSpPr>
        <p:spPr>
          <a:xfrm>
            <a:off x="566928" y="4270248"/>
            <a:ext cx="23865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563EB"/>
              </a:buClr>
              <a:buSzPts val="850"/>
              <a:buFont typeface="Calibri"/>
              <a:buNone/>
            </a:pPr>
            <a:r>
              <a:rPr b="0" i="1" lang="en" sz="850" u="none" cap="none" strike="noStrike">
                <a:solidFill>
                  <a:srgbClr val="2563EB"/>
                </a:solidFill>
                <a:latin typeface="Calibri"/>
                <a:ea typeface="Calibri"/>
                <a:cs typeface="Calibri"/>
                <a:sym typeface="Calibri"/>
              </a:rPr>
              <a:t>⚠  Memorizing train data = overfitting</a:t>
            </a:r>
            <a:endParaRPr b="0" i="0" sz="850" u="none" cap="none" strike="noStrike">
              <a:solidFill>
                <a:srgbClr val="000000"/>
              </a:solidFill>
              <a:latin typeface="Calibri"/>
              <a:ea typeface="Calibri"/>
              <a:cs typeface="Calibri"/>
              <a:sym typeface="Calibri"/>
            </a:endParaRPr>
          </a:p>
        </p:txBody>
      </p:sp>
      <p:sp>
        <p:nvSpPr>
          <p:cNvPr id="465" name="Google Shape;465;p4"/>
          <p:cNvSpPr/>
          <p:nvPr/>
        </p:nvSpPr>
        <p:spPr>
          <a:xfrm>
            <a:off x="3310128" y="2103120"/>
            <a:ext cx="2606100" cy="2469000"/>
          </a:xfrm>
          <a:prstGeom prst="rect">
            <a:avLst/>
          </a:prstGeom>
          <a:solidFill>
            <a:srgbClr val="E2E8F0"/>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 name="Google Shape;466;p4"/>
          <p:cNvSpPr/>
          <p:nvPr/>
        </p:nvSpPr>
        <p:spPr>
          <a:xfrm>
            <a:off x="3264408" y="2057400"/>
            <a:ext cx="2606100" cy="2469000"/>
          </a:xfrm>
          <a:prstGeom prst="rect">
            <a:avLst/>
          </a:prstGeom>
          <a:solidFill>
            <a:srgbClr val="F5F3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 name="Google Shape;467;p4"/>
          <p:cNvSpPr/>
          <p:nvPr/>
        </p:nvSpPr>
        <p:spPr>
          <a:xfrm>
            <a:off x="3264408" y="2057400"/>
            <a:ext cx="2606100" cy="63900"/>
          </a:xfrm>
          <a:prstGeom prst="rect">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 name="Google Shape;468;p4"/>
          <p:cNvSpPr/>
          <p:nvPr/>
        </p:nvSpPr>
        <p:spPr>
          <a:xfrm>
            <a:off x="4293108" y="2167128"/>
            <a:ext cx="548700" cy="548700"/>
          </a:xfrm>
          <a:prstGeom prst="ellipse">
            <a:avLst/>
          </a:prstGeom>
          <a:solidFill>
            <a:srgbClr val="EDE9FE"/>
          </a:solidFill>
          <a:ln cap="flat" cmpd="sng" w="1905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 name="Google Shape;469;p4"/>
          <p:cNvSpPr/>
          <p:nvPr/>
        </p:nvSpPr>
        <p:spPr>
          <a:xfrm>
            <a:off x="4293108" y="2167128"/>
            <a:ext cx="548700" cy="548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Calibri"/>
              <a:buNone/>
            </a:pPr>
            <a:r>
              <a:rPr b="0" i="0" lang="en" sz="1600" u="none" cap="none" strike="noStrike">
                <a:solidFill>
                  <a:srgbClr val="000000"/>
                </a:solidFill>
                <a:latin typeface="Calibri"/>
                <a:ea typeface="Calibri"/>
                <a:cs typeface="Calibri"/>
                <a:sym typeface="Calibri"/>
              </a:rPr>
              <a:t>🔧</a:t>
            </a:r>
            <a:endParaRPr b="0" i="0" sz="1600" u="none" cap="none" strike="noStrike">
              <a:solidFill>
                <a:srgbClr val="000000"/>
              </a:solidFill>
              <a:latin typeface="Calibri"/>
              <a:ea typeface="Calibri"/>
              <a:cs typeface="Calibri"/>
              <a:sym typeface="Calibri"/>
            </a:endParaRPr>
          </a:p>
        </p:txBody>
      </p:sp>
      <p:sp>
        <p:nvSpPr>
          <p:cNvPr id="470" name="Google Shape;470;p4"/>
          <p:cNvSpPr/>
          <p:nvPr/>
        </p:nvSpPr>
        <p:spPr>
          <a:xfrm>
            <a:off x="3355848" y="2807208"/>
            <a:ext cx="2423100" cy="384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C3AED"/>
              </a:buClr>
              <a:buSzPts val="1400"/>
              <a:buFont typeface="Calibri"/>
              <a:buNone/>
            </a:pPr>
            <a:r>
              <a:rPr b="1" i="0" lang="en" sz="1400" u="none" cap="none" strike="noStrike">
                <a:solidFill>
                  <a:srgbClr val="7C3AED"/>
                </a:solidFill>
                <a:latin typeface="Calibri"/>
                <a:ea typeface="Calibri"/>
                <a:cs typeface="Calibri"/>
                <a:sym typeface="Calibri"/>
              </a:rPr>
              <a:t>Validation Set</a:t>
            </a:r>
            <a:endParaRPr b="0" i="0" sz="1400" u="none" cap="none" strike="noStrike">
              <a:solidFill>
                <a:srgbClr val="000000"/>
              </a:solidFill>
              <a:latin typeface="Calibri"/>
              <a:ea typeface="Calibri"/>
              <a:cs typeface="Calibri"/>
              <a:sym typeface="Calibri"/>
            </a:endParaRPr>
          </a:p>
        </p:txBody>
      </p:sp>
      <p:sp>
        <p:nvSpPr>
          <p:cNvPr id="471" name="Google Shape;471;p4"/>
          <p:cNvSpPr/>
          <p:nvPr/>
        </p:nvSpPr>
        <p:spPr>
          <a:xfrm>
            <a:off x="3401568" y="3246120"/>
            <a:ext cx="2377500" cy="1097400"/>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00000"/>
              </a:lnSpc>
              <a:spcBef>
                <a:spcPts val="0"/>
              </a:spcBef>
              <a:spcAft>
                <a:spcPts val="0"/>
              </a:spcAft>
              <a:buClr>
                <a:srgbClr val="334155"/>
              </a:buClr>
              <a:buSzPts val="1000"/>
              <a:buFont typeface="Calibri"/>
              <a:buChar char="•"/>
            </a:pPr>
            <a:r>
              <a:rPr b="0" i="0" lang="en" sz="1000" u="none" cap="none" strike="noStrike">
                <a:solidFill>
                  <a:srgbClr val="334155"/>
                </a:solidFill>
                <a:latin typeface="Calibri"/>
                <a:ea typeface="Calibri"/>
                <a:cs typeface="Calibri"/>
                <a:sym typeface="Calibri"/>
              </a:rPr>
              <a:t>Tune hyperparameters &amp; architecture</a:t>
            </a:r>
            <a:endParaRPr b="0" i="0" sz="1000" u="none" cap="none" strike="noStrike">
              <a:solidFill>
                <a:srgbClr val="000000"/>
              </a:solidFill>
              <a:latin typeface="Calibri"/>
              <a:ea typeface="Calibri"/>
              <a:cs typeface="Calibri"/>
              <a:sym typeface="Calibri"/>
            </a:endParaRPr>
          </a:p>
          <a:p>
            <a:pPr indent="-342900" lvl="0" marL="342900" marR="0" rtl="0" algn="l">
              <a:lnSpc>
                <a:spcPct val="100000"/>
              </a:lnSpc>
              <a:spcBef>
                <a:spcPts val="200"/>
              </a:spcBef>
              <a:spcAft>
                <a:spcPts val="0"/>
              </a:spcAft>
              <a:buClr>
                <a:srgbClr val="334155"/>
              </a:buClr>
              <a:buSzPts val="1000"/>
              <a:buFont typeface="Calibri"/>
              <a:buChar char="•"/>
            </a:pPr>
            <a:r>
              <a:rPr b="0" i="0" lang="en" sz="1000" u="none" cap="none" strike="noStrike">
                <a:solidFill>
                  <a:srgbClr val="334155"/>
                </a:solidFill>
                <a:latin typeface="Calibri"/>
                <a:ea typeface="Calibri"/>
                <a:cs typeface="Calibri"/>
                <a:sym typeface="Calibri"/>
              </a:rPr>
              <a:t>Monitor val loss to stop early</a:t>
            </a:r>
            <a:endParaRPr b="0" i="0" sz="1000" u="none" cap="none" strike="noStrike">
              <a:solidFill>
                <a:srgbClr val="000000"/>
              </a:solidFill>
              <a:latin typeface="Calibri"/>
              <a:ea typeface="Calibri"/>
              <a:cs typeface="Calibri"/>
              <a:sym typeface="Calibri"/>
            </a:endParaRPr>
          </a:p>
          <a:p>
            <a:pPr indent="-342900" lvl="0" marL="342900" marR="0" rtl="0" algn="l">
              <a:lnSpc>
                <a:spcPct val="100000"/>
              </a:lnSpc>
              <a:spcBef>
                <a:spcPts val="200"/>
              </a:spcBef>
              <a:spcAft>
                <a:spcPts val="0"/>
              </a:spcAft>
              <a:buClr>
                <a:srgbClr val="334155"/>
              </a:buClr>
              <a:buSzPts val="1000"/>
              <a:buFont typeface="Calibri"/>
              <a:buChar char="•"/>
            </a:pPr>
            <a:r>
              <a:rPr b="0" i="0" lang="en" sz="1000" u="none" cap="none" strike="noStrike">
                <a:solidFill>
                  <a:srgbClr val="334155"/>
                </a:solidFill>
                <a:latin typeface="Calibri"/>
                <a:ea typeface="Calibri"/>
                <a:cs typeface="Calibri"/>
                <a:sym typeface="Calibri"/>
              </a:rPr>
              <a:t>Guides model selection decisions</a:t>
            </a:r>
            <a:endParaRPr b="0" i="0" sz="1000" u="none" cap="none" strike="noStrike">
              <a:solidFill>
                <a:srgbClr val="000000"/>
              </a:solidFill>
              <a:latin typeface="Calibri"/>
              <a:ea typeface="Calibri"/>
              <a:cs typeface="Calibri"/>
              <a:sym typeface="Calibri"/>
            </a:endParaRPr>
          </a:p>
          <a:p>
            <a:pPr indent="-342900" lvl="0" marL="342900" marR="0" rtl="0" algn="l">
              <a:lnSpc>
                <a:spcPct val="100000"/>
              </a:lnSpc>
              <a:spcBef>
                <a:spcPts val="200"/>
              </a:spcBef>
              <a:spcAft>
                <a:spcPts val="0"/>
              </a:spcAft>
              <a:buClr>
                <a:srgbClr val="334155"/>
              </a:buClr>
              <a:buSzPts val="1000"/>
              <a:buFont typeface="Calibri"/>
              <a:buChar char="•"/>
            </a:pPr>
            <a:r>
              <a:rPr b="0" i="0" lang="en" sz="1000" u="none" cap="none" strike="noStrike">
                <a:solidFill>
                  <a:srgbClr val="334155"/>
                </a:solidFill>
                <a:latin typeface="Calibri"/>
                <a:ea typeface="Calibri"/>
                <a:cs typeface="Calibri"/>
                <a:sym typeface="Calibri"/>
              </a:rPr>
              <a:t>Not used in gradient updates</a:t>
            </a:r>
            <a:endParaRPr b="0" i="0" sz="1000" u="none" cap="none" strike="noStrike">
              <a:solidFill>
                <a:srgbClr val="000000"/>
              </a:solidFill>
              <a:latin typeface="Calibri"/>
              <a:ea typeface="Calibri"/>
              <a:cs typeface="Calibri"/>
              <a:sym typeface="Calibri"/>
            </a:endParaRPr>
          </a:p>
        </p:txBody>
      </p:sp>
      <p:sp>
        <p:nvSpPr>
          <p:cNvPr id="472" name="Google Shape;472;p4"/>
          <p:cNvSpPr/>
          <p:nvPr/>
        </p:nvSpPr>
        <p:spPr>
          <a:xfrm>
            <a:off x="3355848" y="4270248"/>
            <a:ext cx="2423100" cy="274200"/>
          </a:xfrm>
          <a:prstGeom prst="rect">
            <a:avLst/>
          </a:prstGeom>
          <a:solidFill>
            <a:srgbClr val="EDE9FE"/>
          </a:solidFill>
          <a:ln cap="flat" cmpd="sng" w="9525">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 name="Google Shape;473;p4"/>
          <p:cNvSpPr/>
          <p:nvPr/>
        </p:nvSpPr>
        <p:spPr>
          <a:xfrm>
            <a:off x="3374136" y="4270248"/>
            <a:ext cx="23865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C3AED"/>
              </a:buClr>
              <a:buSzPts val="850"/>
              <a:buFont typeface="Calibri"/>
              <a:buNone/>
            </a:pPr>
            <a:r>
              <a:rPr b="0" i="1" lang="en" sz="850" u="none" cap="none" strike="noStrike">
                <a:solidFill>
                  <a:srgbClr val="7C3AED"/>
                </a:solidFill>
                <a:latin typeface="Calibri"/>
                <a:ea typeface="Calibri"/>
                <a:cs typeface="Calibri"/>
                <a:sym typeface="Calibri"/>
              </a:rPr>
              <a:t>⚠  Leaking val labels biases selection</a:t>
            </a:r>
            <a:endParaRPr b="0" i="0" sz="850" u="none" cap="none" strike="noStrike">
              <a:solidFill>
                <a:srgbClr val="000000"/>
              </a:solidFill>
              <a:latin typeface="Calibri"/>
              <a:ea typeface="Calibri"/>
              <a:cs typeface="Calibri"/>
              <a:sym typeface="Calibri"/>
            </a:endParaRPr>
          </a:p>
        </p:txBody>
      </p:sp>
      <p:sp>
        <p:nvSpPr>
          <p:cNvPr id="474" name="Google Shape;474;p4"/>
          <p:cNvSpPr/>
          <p:nvPr/>
        </p:nvSpPr>
        <p:spPr>
          <a:xfrm>
            <a:off x="6117336" y="2103120"/>
            <a:ext cx="2606100" cy="2469000"/>
          </a:xfrm>
          <a:prstGeom prst="rect">
            <a:avLst/>
          </a:prstGeom>
          <a:solidFill>
            <a:srgbClr val="E2E8F0"/>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 name="Google Shape;475;p4"/>
          <p:cNvSpPr/>
          <p:nvPr/>
        </p:nvSpPr>
        <p:spPr>
          <a:xfrm>
            <a:off x="6071616" y="2057400"/>
            <a:ext cx="2606100" cy="2469000"/>
          </a:xfrm>
          <a:prstGeom prst="rect">
            <a:avLst/>
          </a:prstGeom>
          <a:solidFill>
            <a:srgbClr val="ECFDF5"/>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6" name="Google Shape;476;p4"/>
          <p:cNvSpPr/>
          <p:nvPr/>
        </p:nvSpPr>
        <p:spPr>
          <a:xfrm>
            <a:off x="6071616" y="2057400"/>
            <a:ext cx="2606100" cy="63900"/>
          </a:xfrm>
          <a:prstGeom prst="rect">
            <a:avLst/>
          </a:prstGeom>
          <a:solidFill>
            <a:srgbClr val="059669"/>
          </a:solidFill>
          <a:ln cap="flat" cmpd="sng" w="12700">
            <a:solidFill>
              <a:srgbClr val="05966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7" name="Google Shape;477;p4"/>
          <p:cNvSpPr/>
          <p:nvPr/>
        </p:nvSpPr>
        <p:spPr>
          <a:xfrm>
            <a:off x="7100316" y="2167128"/>
            <a:ext cx="548700" cy="548700"/>
          </a:xfrm>
          <a:prstGeom prst="ellipse">
            <a:avLst/>
          </a:prstGeom>
          <a:solidFill>
            <a:srgbClr val="D1FAE5"/>
          </a:solidFill>
          <a:ln cap="flat" cmpd="sng" w="19050">
            <a:solidFill>
              <a:srgbClr val="05966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 name="Google Shape;478;p4"/>
          <p:cNvSpPr/>
          <p:nvPr/>
        </p:nvSpPr>
        <p:spPr>
          <a:xfrm>
            <a:off x="7100316" y="2167128"/>
            <a:ext cx="548700" cy="548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Calibri"/>
              <a:buNone/>
            </a:pPr>
            <a:r>
              <a:rPr b="0" i="0" lang="en" sz="1600" u="none" cap="none" strike="noStrike">
                <a:solidFill>
                  <a:srgbClr val="000000"/>
                </a:solidFill>
                <a:latin typeface="Calibri"/>
                <a:ea typeface="Calibri"/>
                <a:cs typeface="Calibri"/>
                <a:sym typeface="Calibri"/>
              </a:rPr>
              <a:t>📊</a:t>
            </a:r>
            <a:endParaRPr b="0" i="0" sz="1600" u="none" cap="none" strike="noStrike">
              <a:solidFill>
                <a:srgbClr val="000000"/>
              </a:solidFill>
              <a:latin typeface="Calibri"/>
              <a:ea typeface="Calibri"/>
              <a:cs typeface="Calibri"/>
              <a:sym typeface="Calibri"/>
            </a:endParaRPr>
          </a:p>
        </p:txBody>
      </p:sp>
      <p:sp>
        <p:nvSpPr>
          <p:cNvPr id="479" name="Google Shape;479;p4"/>
          <p:cNvSpPr/>
          <p:nvPr/>
        </p:nvSpPr>
        <p:spPr>
          <a:xfrm>
            <a:off x="6163056" y="2807208"/>
            <a:ext cx="2423100" cy="384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59669"/>
              </a:buClr>
              <a:buSzPts val="1400"/>
              <a:buFont typeface="Calibri"/>
              <a:buNone/>
            </a:pPr>
            <a:r>
              <a:rPr b="1" i="0" lang="en" sz="1400" u="none" cap="none" strike="noStrike">
                <a:solidFill>
                  <a:srgbClr val="059669"/>
                </a:solidFill>
                <a:latin typeface="Calibri"/>
                <a:ea typeface="Calibri"/>
                <a:cs typeface="Calibri"/>
                <a:sym typeface="Calibri"/>
              </a:rPr>
              <a:t>Test Set</a:t>
            </a:r>
            <a:endParaRPr b="0" i="0" sz="1400" u="none" cap="none" strike="noStrike">
              <a:solidFill>
                <a:srgbClr val="000000"/>
              </a:solidFill>
              <a:latin typeface="Calibri"/>
              <a:ea typeface="Calibri"/>
              <a:cs typeface="Calibri"/>
              <a:sym typeface="Calibri"/>
            </a:endParaRPr>
          </a:p>
        </p:txBody>
      </p:sp>
      <p:sp>
        <p:nvSpPr>
          <p:cNvPr id="480" name="Google Shape;480;p4"/>
          <p:cNvSpPr/>
          <p:nvPr/>
        </p:nvSpPr>
        <p:spPr>
          <a:xfrm>
            <a:off x="6208776" y="3246120"/>
            <a:ext cx="2377500" cy="1097400"/>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00000"/>
              </a:lnSpc>
              <a:spcBef>
                <a:spcPts val="0"/>
              </a:spcBef>
              <a:spcAft>
                <a:spcPts val="0"/>
              </a:spcAft>
              <a:buClr>
                <a:srgbClr val="334155"/>
              </a:buClr>
              <a:buSzPts val="1000"/>
              <a:buFont typeface="Calibri"/>
              <a:buChar char="•"/>
            </a:pPr>
            <a:r>
              <a:rPr b="0" i="0" lang="en" sz="1000" u="none" cap="none" strike="noStrike">
                <a:solidFill>
                  <a:srgbClr val="334155"/>
                </a:solidFill>
                <a:latin typeface="Calibri"/>
                <a:ea typeface="Calibri"/>
                <a:cs typeface="Calibri"/>
                <a:sym typeface="Calibri"/>
              </a:rPr>
              <a:t>Final unbiased performance estimate</a:t>
            </a:r>
            <a:endParaRPr b="0" i="0" sz="1000" u="none" cap="none" strike="noStrike">
              <a:solidFill>
                <a:srgbClr val="000000"/>
              </a:solidFill>
              <a:latin typeface="Calibri"/>
              <a:ea typeface="Calibri"/>
              <a:cs typeface="Calibri"/>
              <a:sym typeface="Calibri"/>
            </a:endParaRPr>
          </a:p>
          <a:p>
            <a:pPr indent="-342900" lvl="0" marL="342900" marR="0" rtl="0" algn="l">
              <a:lnSpc>
                <a:spcPct val="100000"/>
              </a:lnSpc>
              <a:spcBef>
                <a:spcPts val="200"/>
              </a:spcBef>
              <a:spcAft>
                <a:spcPts val="0"/>
              </a:spcAft>
              <a:buClr>
                <a:srgbClr val="334155"/>
              </a:buClr>
              <a:buSzPts val="1000"/>
              <a:buFont typeface="Calibri"/>
              <a:buChar char="•"/>
            </a:pPr>
            <a:r>
              <a:rPr b="0" i="0" lang="en" sz="1000" u="none" cap="none" strike="noStrike">
                <a:solidFill>
                  <a:srgbClr val="334155"/>
                </a:solidFill>
                <a:latin typeface="Calibri"/>
                <a:ea typeface="Calibri"/>
                <a:cs typeface="Calibri"/>
                <a:sym typeface="Calibri"/>
              </a:rPr>
              <a:t>Used ONLY once — at the very end</a:t>
            </a:r>
            <a:endParaRPr b="0" i="0" sz="1000" u="none" cap="none" strike="noStrike">
              <a:solidFill>
                <a:srgbClr val="000000"/>
              </a:solidFill>
              <a:latin typeface="Calibri"/>
              <a:ea typeface="Calibri"/>
              <a:cs typeface="Calibri"/>
              <a:sym typeface="Calibri"/>
            </a:endParaRPr>
          </a:p>
          <a:p>
            <a:pPr indent="-342900" lvl="0" marL="342900" marR="0" rtl="0" algn="l">
              <a:lnSpc>
                <a:spcPct val="100000"/>
              </a:lnSpc>
              <a:spcBef>
                <a:spcPts val="200"/>
              </a:spcBef>
              <a:spcAft>
                <a:spcPts val="0"/>
              </a:spcAft>
              <a:buClr>
                <a:srgbClr val="334155"/>
              </a:buClr>
              <a:buSzPts val="1000"/>
              <a:buFont typeface="Calibri"/>
              <a:buChar char="•"/>
            </a:pPr>
            <a:r>
              <a:rPr b="0" i="0" lang="en" sz="1000" u="none" cap="none" strike="noStrike">
                <a:solidFill>
                  <a:srgbClr val="334155"/>
                </a:solidFill>
                <a:latin typeface="Calibri"/>
                <a:ea typeface="Calibri"/>
                <a:cs typeface="Calibri"/>
                <a:sym typeface="Calibri"/>
              </a:rPr>
              <a:t>Never drives any design choice</a:t>
            </a:r>
            <a:endParaRPr b="0" i="0" sz="1000" u="none" cap="none" strike="noStrike">
              <a:solidFill>
                <a:srgbClr val="000000"/>
              </a:solidFill>
              <a:latin typeface="Calibri"/>
              <a:ea typeface="Calibri"/>
              <a:cs typeface="Calibri"/>
              <a:sym typeface="Calibri"/>
            </a:endParaRPr>
          </a:p>
          <a:p>
            <a:pPr indent="-342900" lvl="0" marL="342900" marR="0" rtl="0" algn="l">
              <a:lnSpc>
                <a:spcPct val="100000"/>
              </a:lnSpc>
              <a:spcBef>
                <a:spcPts val="200"/>
              </a:spcBef>
              <a:spcAft>
                <a:spcPts val="0"/>
              </a:spcAft>
              <a:buClr>
                <a:srgbClr val="334155"/>
              </a:buClr>
              <a:buSzPts val="1000"/>
              <a:buFont typeface="Calibri"/>
              <a:buChar char="•"/>
            </a:pPr>
            <a:r>
              <a:rPr b="0" i="0" lang="en" sz="1000" u="none" cap="none" strike="noStrike">
                <a:solidFill>
                  <a:srgbClr val="334155"/>
                </a:solidFill>
                <a:latin typeface="Calibri"/>
                <a:ea typeface="Calibri"/>
                <a:cs typeface="Calibri"/>
                <a:sym typeface="Calibri"/>
              </a:rPr>
              <a:t>Reports real-world generalisation</a:t>
            </a:r>
            <a:endParaRPr b="0" i="0" sz="1000" u="none" cap="none" strike="noStrike">
              <a:solidFill>
                <a:srgbClr val="000000"/>
              </a:solidFill>
              <a:latin typeface="Calibri"/>
              <a:ea typeface="Calibri"/>
              <a:cs typeface="Calibri"/>
              <a:sym typeface="Calibri"/>
            </a:endParaRPr>
          </a:p>
        </p:txBody>
      </p:sp>
      <p:sp>
        <p:nvSpPr>
          <p:cNvPr id="481" name="Google Shape;481;p4"/>
          <p:cNvSpPr/>
          <p:nvPr/>
        </p:nvSpPr>
        <p:spPr>
          <a:xfrm>
            <a:off x="6163056" y="4270248"/>
            <a:ext cx="2423100" cy="274200"/>
          </a:xfrm>
          <a:prstGeom prst="rect">
            <a:avLst/>
          </a:prstGeom>
          <a:solidFill>
            <a:srgbClr val="D1FAE5"/>
          </a:solidFill>
          <a:ln cap="flat" cmpd="sng" w="9525">
            <a:solidFill>
              <a:srgbClr val="05966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 name="Google Shape;482;p4"/>
          <p:cNvSpPr/>
          <p:nvPr/>
        </p:nvSpPr>
        <p:spPr>
          <a:xfrm>
            <a:off x="6181344" y="4270248"/>
            <a:ext cx="23865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59669"/>
              </a:buClr>
              <a:buSzPts val="850"/>
              <a:buFont typeface="Calibri"/>
              <a:buNone/>
            </a:pPr>
            <a:r>
              <a:rPr b="0" i="1" lang="en" sz="850" u="none" cap="none" strike="noStrike">
                <a:solidFill>
                  <a:srgbClr val="059669"/>
                </a:solidFill>
                <a:latin typeface="Calibri"/>
                <a:ea typeface="Calibri"/>
                <a:cs typeface="Calibri"/>
                <a:sym typeface="Calibri"/>
              </a:rPr>
              <a:t>⚠  Peeking at test = data leakage!</a:t>
            </a:r>
            <a:endParaRPr b="0" i="0" sz="850" u="none" cap="none" strike="noStrike">
              <a:solidFill>
                <a:srgbClr val="000000"/>
              </a:solidFill>
              <a:latin typeface="Calibri"/>
              <a:ea typeface="Calibri"/>
              <a:cs typeface="Calibri"/>
              <a:sym typeface="Calibri"/>
            </a:endParaRPr>
          </a:p>
        </p:txBody>
      </p:sp>
      <p:sp>
        <p:nvSpPr>
          <p:cNvPr id="483" name="Google Shape;483;p4"/>
          <p:cNvSpPr/>
          <p:nvPr/>
        </p:nvSpPr>
        <p:spPr>
          <a:xfrm>
            <a:off x="457200" y="4709160"/>
            <a:ext cx="8229600" cy="320100"/>
          </a:xfrm>
          <a:prstGeom prst="rect">
            <a:avLst/>
          </a:prstGeom>
          <a:solidFill>
            <a:srgbClr val="F1F5F9"/>
          </a:solidFill>
          <a:ln cap="flat" cmpd="sng" w="9525">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 name="Google Shape;484;p4"/>
          <p:cNvSpPr/>
          <p:nvPr/>
        </p:nvSpPr>
        <p:spPr>
          <a:xfrm>
            <a:off x="457200" y="4709160"/>
            <a:ext cx="82296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293B"/>
              </a:buClr>
              <a:buSzPts val="1000"/>
              <a:buFont typeface="Calibri"/>
              <a:buNone/>
            </a:pPr>
            <a:r>
              <a:rPr b="1" i="0" lang="en" sz="1000" u="none" cap="none" strike="noStrike">
                <a:solidFill>
                  <a:srgbClr val="1E293B"/>
                </a:solidFill>
                <a:latin typeface="Calibri"/>
                <a:ea typeface="Calibri"/>
                <a:cs typeface="Calibri"/>
                <a:sym typeface="Calibri"/>
              </a:rPr>
              <a:t>Key Rule: </a:t>
            </a:r>
            <a:r>
              <a:rPr b="0" i="0" lang="en" sz="1000" u="none" cap="none" strike="noStrike">
                <a:solidFill>
                  <a:srgbClr val="475569"/>
                </a:solidFill>
                <a:latin typeface="Calibri"/>
                <a:ea typeface="Calibri"/>
                <a:cs typeface="Calibri"/>
                <a:sym typeface="Calibri"/>
              </a:rPr>
              <a:t>Each split must remain independent. Never let information from validation or test sets influence training decisions.</a:t>
            </a:r>
            <a:endParaRPr b="0" i="0" sz="1000" u="none" cap="none" strike="noStrike">
              <a:solidFill>
                <a:srgbClr val="000000"/>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88" name="Shape 488"/>
        <p:cNvGrpSpPr/>
        <p:nvPr/>
      </p:nvGrpSpPr>
      <p:grpSpPr>
        <a:xfrm>
          <a:off x="0" y="0"/>
          <a:ext cx="0" cy="0"/>
          <a:chOff x="0" y="0"/>
          <a:chExt cx="0" cy="0"/>
        </a:xfrm>
      </p:grpSpPr>
      <p:pic>
        <p:nvPicPr>
          <p:cNvPr id="489" name="Google Shape;489;p5"/>
          <p:cNvPicPr preferRelativeResize="0"/>
          <p:nvPr/>
        </p:nvPicPr>
        <p:blipFill rotWithShape="1">
          <a:blip r:embed="rId4">
            <a:alphaModFix/>
          </a:blip>
          <a:srcRect b="0" l="0" r="0" t="0"/>
          <a:stretch/>
        </p:blipFill>
        <p:spPr>
          <a:xfrm>
            <a:off x="8369125" y="0"/>
            <a:ext cx="774877" cy="867174"/>
          </a:xfrm>
          <a:prstGeom prst="rect">
            <a:avLst/>
          </a:prstGeom>
          <a:noFill/>
          <a:ln>
            <a:noFill/>
          </a:ln>
        </p:spPr>
      </p:pic>
      <p:sp>
        <p:nvSpPr>
          <p:cNvPr id="490" name="Google Shape;490;p5"/>
          <p:cNvSpPr/>
          <p:nvPr/>
        </p:nvSpPr>
        <p:spPr>
          <a:xfrm>
            <a:off x="365760" y="164592"/>
            <a:ext cx="7863900" cy="5943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A237E"/>
              </a:buClr>
              <a:buSzPts val="3000"/>
              <a:buFont typeface="Calibri"/>
              <a:buNone/>
            </a:pPr>
            <a:r>
              <a:rPr b="1" i="0" lang="en" sz="3000" u="none" cap="none" strike="noStrike">
                <a:solidFill>
                  <a:srgbClr val="1A237E"/>
                </a:solidFill>
                <a:latin typeface="Calibri"/>
                <a:ea typeface="Calibri"/>
                <a:cs typeface="Calibri"/>
                <a:sym typeface="Calibri"/>
              </a:rPr>
              <a:t>Underfitting, Good Fit &amp; Overfitting</a:t>
            </a:r>
            <a:endParaRPr b="0" i="0" sz="3000" u="none" cap="none" strike="noStrike">
              <a:solidFill>
                <a:srgbClr val="000000"/>
              </a:solidFill>
              <a:latin typeface="Calibri"/>
              <a:ea typeface="Calibri"/>
              <a:cs typeface="Calibri"/>
              <a:sym typeface="Calibri"/>
            </a:endParaRPr>
          </a:p>
        </p:txBody>
      </p:sp>
      <p:cxnSp>
        <p:nvCxnSpPr>
          <p:cNvPr id="491" name="Google Shape;491;p5"/>
          <p:cNvCxnSpPr/>
          <p:nvPr/>
        </p:nvCxnSpPr>
        <p:spPr>
          <a:xfrm flipH="1" rot="10800000">
            <a:off x="274320" y="2743200"/>
            <a:ext cx="1371600" cy="1371600"/>
          </a:xfrm>
          <a:prstGeom prst="straightConnector1">
            <a:avLst/>
          </a:prstGeom>
          <a:noFill/>
          <a:ln cap="flat" cmpd="sng" w="9525">
            <a:solidFill>
              <a:srgbClr val="BDBDBD">
                <a:alpha val="30196"/>
              </a:srgbClr>
            </a:solidFill>
            <a:prstDash val="solid"/>
            <a:round/>
            <a:headEnd len="sm" w="sm" type="none"/>
            <a:tailEnd len="sm" w="sm" type="none"/>
          </a:ln>
        </p:spPr>
      </p:cxnSp>
      <p:cxnSp>
        <p:nvCxnSpPr>
          <p:cNvPr id="492" name="Google Shape;492;p5"/>
          <p:cNvCxnSpPr/>
          <p:nvPr/>
        </p:nvCxnSpPr>
        <p:spPr>
          <a:xfrm>
            <a:off x="1645920" y="2743200"/>
            <a:ext cx="1554600" cy="1828800"/>
          </a:xfrm>
          <a:prstGeom prst="straightConnector1">
            <a:avLst/>
          </a:prstGeom>
          <a:noFill/>
          <a:ln cap="flat" cmpd="sng" w="9525">
            <a:solidFill>
              <a:srgbClr val="BDBDBD">
                <a:alpha val="30196"/>
              </a:srgbClr>
            </a:solidFill>
            <a:prstDash val="solid"/>
            <a:round/>
            <a:headEnd len="sm" w="sm" type="none"/>
            <a:tailEnd len="sm" w="sm" type="none"/>
          </a:ln>
        </p:spPr>
      </p:cxnSp>
      <p:cxnSp>
        <p:nvCxnSpPr>
          <p:cNvPr id="493" name="Google Shape;493;p5"/>
          <p:cNvCxnSpPr/>
          <p:nvPr/>
        </p:nvCxnSpPr>
        <p:spPr>
          <a:xfrm flipH="1" rot="10800000">
            <a:off x="3200400" y="3840600"/>
            <a:ext cx="2286000" cy="731400"/>
          </a:xfrm>
          <a:prstGeom prst="straightConnector1">
            <a:avLst/>
          </a:prstGeom>
          <a:noFill/>
          <a:ln cap="flat" cmpd="sng" w="9525">
            <a:solidFill>
              <a:srgbClr val="BDBDBD">
                <a:alpha val="30196"/>
              </a:srgbClr>
            </a:solidFill>
            <a:prstDash val="solid"/>
            <a:round/>
            <a:headEnd len="sm" w="sm" type="none"/>
            <a:tailEnd len="sm" w="sm" type="none"/>
          </a:ln>
        </p:spPr>
      </p:cxnSp>
      <p:cxnSp>
        <p:nvCxnSpPr>
          <p:cNvPr id="494" name="Google Shape;494;p5"/>
          <p:cNvCxnSpPr/>
          <p:nvPr/>
        </p:nvCxnSpPr>
        <p:spPr>
          <a:xfrm flipH="1" rot="10800000">
            <a:off x="7772400" y="2743320"/>
            <a:ext cx="1280100" cy="2103000"/>
          </a:xfrm>
          <a:prstGeom prst="straightConnector1">
            <a:avLst/>
          </a:prstGeom>
          <a:noFill/>
          <a:ln cap="flat" cmpd="sng" w="9525">
            <a:solidFill>
              <a:srgbClr val="BDBDBD">
                <a:alpha val="30196"/>
              </a:srgbClr>
            </a:solidFill>
            <a:prstDash val="solid"/>
            <a:round/>
            <a:headEnd len="sm" w="sm" type="none"/>
            <a:tailEnd len="sm" w="sm" type="none"/>
          </a:ln>
        </p:spPr>
      </p:cxnSp>
      <p:cxnSp>
        <p:nvCxnSpPr>
          <p:cNvPr id="495" name="Google Shape;495;p5"/>
          <p:cNvCxnSpPr/>
          <p:nvPr/>
        </p:nvCxnSpPr>
        <p:spPr>
          <a:xfrm flipH="1">
            <a:off x="1645800" y="1097280"/>
            <a:ext cx="640200" cy="1645800"/>
          </a:xfrm>
          <a:prstGeom prst="straightConnector1">
            <a:avLst/>
          </a:prstGeom>
          <a:noFill/>
          <a:ln cap="flat" cmpd="sng" w="9525">
            <a:solidFill>
              <a:srgbClr val="BDBDBD">
                <a:alpha val="30196"/>
              </a:srgbClr>
            </a:solidFill>
            <a:prstDash val="solid"/>
            <a:round/>
            <a:headEnd len="sm" w="sm" type="none"/>
            <a:tailEnd len="sm" w="sm" type="none"/>
          </a:ln>
        </p:spPr>
      </p:cxnSp>
      <p:cxnSp>
        <p:nvCxnSpPr>
          <p:cNvPr id="496" name="Google Shape;496;p5"/>
          <p:cNvCxnSpPr/>
          <p:nvPr/>
        </p:nvCxnSpPr>
        <p:spPr>
          <a:xfrm flipH="1">
            <a:off x="7772520" y="182880"/>
            <a:ext cx="1188600" cy="4663500"/>
          </a:xfrm>
          <a:prstGeom prst="straightConnector1">
            <a:avLst/>
          </a:prstGeom>
          <a:noFill/>
          <a:ln cap="flat" cmpd="sng" w="9525">
            <a:solidFill>
              <a:srgbClr val="BDBDBD">
                <a:alpha val="30196"/>
              </a:srgbClr>
            </a:solidFill>
            <a:prstDash val="solid"/>
            <a:round/>
            <a:headEnd len="sm" w="sm" type="none"/>
            <a:tailEnd len="sm" w="sm" type="none"/>
          </a:ln>
        </p:spPr>
      </p:cxnSp>
      <p:sp>
        <p:nvSpPr>
          <p:cNvPr id="497" name="Google Shape;497;p5"/>
          <p:cNvSpPr/>
          <p:nvPr/>
        </p:nvSpPr>
        <p:spPr>
          <a:xfrm>
            <a:off x="2249424" y="1060704"/>
            <a:ext cx="73200" cy="73200"/>
          </a:xfrm>
          <a:prstGeom prst="ellipse">
            <a:avLst/>
          </a:prstGeom>
          <a:solidFill>
            <a:srgbClr val="9E9E9E">
              <a:alpha val="40000"/>
            </a:srgbClr>
          </a:solidFill>
          <a:ln cap="flat" cmpd="sng" w="12700">
            <a:solidFill>
              <a:srgbClr val="9E9E9E">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8" name="Google Shape;498;p5"/>
          <p:cNvSpPr/>
          <p:nvPr/>
        </p:nvSpPr>
        <p:spPr>
          <a:xfrm>
            <a:off x="6821424" y="1609344"/>
            <a:ext cx="73200" cy="73200"/>
          </a:xfrm>
          <a:prstGeom prst="ellipse">
            <a:avLst/>
          </a:prstGeom>
          <a:solidFill>
            <a:srgbClr val="9E9E9E">
              <a:alpha val="40000"/>
            </a:srgbClr>
          </a:solidFill>
          <a:ln cap="flat" cmpd="sng" w="12700">
            <a:solidFill>
              <a:srgbClr val="9E9E9E">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9" name="Google Shape;499;p5"/>
          <p:cNvSpPr/>
          <p:nvPr/>
        </p:nvSpPr>
        <p:spPr>
          <a:xfrm>
            <a:off x="237744" y="4078224"/>
            <a:ext cx="73200" cy="73200"/>
          </a:xfrm>
          <a:prstGeom prst="ellipse">
            <a:avLst/>
          </a:prstGeom>
          <a:solidFill>
            <a:srgbClr val="9E9E9E">
              <a:alpha val="40000"/>
            </a:srgbClr>
          </a:solidFill>
          <a:ln cap="flat" cmpd="sng" w="12700">
            <a:solidFill>
              <a:srgbClr val="9E9E9E">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 name="Google Shape;500;p5"/>
          <p:cNvSpPr/>
          <p:nvPr/>
        </p:nvSpPr>
        <p:spPr>
          <a:xfrm>
            <a:off x="1609344" y="2706624"/>
            <a:ext cx="73200" cy="73200"/>
          </a:xfrm>
          <a:prstGeom prst="ellipse">
            <a:avLst/>
          </a:prstGeom>
          <a:solidFill>
            <a:srgbClr val="9E9E9E">
              <a:alpha val="40000"/>
            </a:srgbClr>
          </a:solidFill>
          <a:ln cap="flat" cmpd="sng" w="12700">
            <a:solidFill>
              <a:srgbClr val="9E9E9E">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1" name="Google Shape;501;p5"/>
          <p:cNvSpPr/>
          <p:nvPr/>
        </p:nvSpPr>
        <p:spPr>
          <a:xfrm>
            <a:off x="5449824" y="3803904"/>
            <a:ext cx="73200" cy="73200"/>
          </a:xfrm>
          <a:prstGeom prst="ellipse">
            <a:avLst/>
          </a:prstGeom>
          <a:solidFill>
            <a:srgbClr val="9E9E9E">
              <a:alpha val="40000"/>
            </a:srgbClr>
          </a:solidFill>
          <a:ln cap="flat" cmpd="sng" w="12700">
            <a:solidFill>
              <a:srgbClr val="9E9E9E">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 name="Google Shape;502;p5"/>
          <p:cNvSpPr/>
          <p:nvPr/>
        </p:nvSpPr>
        <p:spPr>
          <a:xfrm>
            <a:off x="182880" y="896112"/>
            <a:ext cx="2926200" cy="4160400"/>
          </a:xfrm>
          <a:prstGeom prst="rect">
            <a:avLst/>
          </a:prstGeom>
          <a:solidFill>
            <a:srgbClr val="FFF3E0"/>
          </a:solidFill>
          <a:ln cap="flat" cmpd="sng" w="12700">
            <a:solidFill>
              <a:srgbClr val="FFCC80"/>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3" name="Google Shape;503;p5"/>
          <p:cNvSpPr/>
          <p:nvPr/>
        </p:nvSpPr>
        <p:spPr>
          <a:xfrm>
            <a:off x="182880" y="896112"/>
            <a:ext cx="2926200" cy="457200"/>
          </a:xfrm>
          <a:prstGeom prst="rect">
            <a:avLst/>
          </a:prstGeom>
          <a:solidFill>
            <a:srgbClr val="E65100"/>
          </a:solidFill>
          <a:ln cap="flat" cmpd="sng" w="12700">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4" name="Google Shape;504;p5"/>
          <p:cNvSpPr/>
          <p:nvPr/>
        </p:nvSpPr>
        <p:spPr>
          <a:xfrm>
            <a:off x="182880" y="896112"/>
            <a:ext cx="2926200"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Calibri"/>
              <a:buNone/>
            </a:pPr>
            <a:r>
              <a:rPr b="1" i="0" lang="en" sz="1600" u="none" cap="none" strike="noStrike">
                <a:solidFill>
                  <a:srgbClr val="FFFFFF"/>
                </a:solidFill>
                <a:latin typeface="Calibri"/>
                <a:ea typeface="Calibri"/>
                <a:cs typeface="Calibri"/>
                <a:sym typeface="Calibri"/>
              </a:rPr>
              <a:t>Underfitting</a:t>
            </a:r>
            <a:endParaRPr b="0" i="0" sz="1600" u="none" cap="none" strike="noStrike">
              <a:solidFill>
                <a:srgbClr val="000000"/>
              </a:solidFill>
              <a:latin typeface="Calibri"/>
              <a:ea typeface="Calibri"/>
              <a:cs typeface="Calibri"/>
              <a:sym typeface="Calibri"/>
            </a:endParaRPr>
          </a:p>
        </p:txBody>
      </p:sp>
      <p:sp>
        <p:nvSpPr>
          <p:cNvPr id="505" name="Google Shape;505;p5"/>
          <p:cNvSpPr/>
          <p:nvPr/>
        </p:nvSpPr>
        <p:spPr>
          <a:xfrm>
            <a:off x="320040" y="1408176"/>
            <a:ext cx="2651700" cy="530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150"/>
              <a:buFont typeface="Calibri"/>
              <a:buNone/>
            </a:pPr>
            <a:r>
              <a:rPr b="0" i="1" lang="en" sz="1150" u="none" cap="none" strike="noStrike">
                <a:solidFill>
                  <a:srgbClr val="37474F"/>
                </a:solidFill>
                <a:latin typeface="Calibri"/>
                <a:ea typeface="Calibri"/>
                <a:cs typeface="Calibri"/>
                <a:sym typeface="Calibri"/>
              </a:rPr>
              <a:t>Model is too simple — fails to capture data patterns.</a:t>
            </a:r>
            <a:endParaRPr b="0" i="0" sz="1150" u="none" cap="none" strike="noStrike">
              <a:solidFill>
                <a:srgbClr val="000000"/>
              </a:solidFill>
              <a:latin typeface="Calibri"/>
              <a:ea typeface="Calibri"/>
              <a:cs typeface="Calibri"/>
              <a:sym typeface="Calibri"/>
            </a:endParaRPr>
          </a:p>
        </p:txBody>
      </p:sp>
      <p:sp>
        <p:nvSpPr>
          <p:cNvPr id="506" name="Google Shape;506;p5"/>
          <p:cNvSpPr/>
          <p:nvPr/>
        </p:nvSpPr>
        <p:spPr>
          <a:xfrm>
            <a:off x="320040" y="1993392"/>
            <a:ext cx="2651700" cy="822900"/>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00000"/>
              </a:lnSpc>
              <a:spcBef>
                <a:spcPts val="0"/>
              </a:spcBef>
              <a:spcAft>
                <a:spcPts val="0"/>
              </a:spcAft>
              <a:buClr>
                <a:srgbClr val="37474F"/>
              </a:buClr>
              <a:buSzPts val="1200"/>
              <a:buFont typeface="Calibri"/>
              <a:buChar char="•"/>
            </a:pPr>
            <a:r>
              <a:rPr b="0" i="0" lang="en" sz="1200" u="none" cap="none" strike="noStrike">
                <a:solidFill>
                  <a:srgbClr val="37474F"/>
                </a:solidFill>
                <a:latin typeface="Calibri"/>
                <a:ea typeface="Calibri"/>
                <a:cs typeface="Calibri"/>
                <a:sym typeface="Calibri"/>
              </a:rPr>
              <a:t>High training error</a:t>
            </a:r>
            <a:endParaRPr b="0" i="0" sz="1200" u="none" cap="none" strike="noStrike">
              <a:solidFill>
                <a:srgbClr val="000000"/>
              </a:solidFill>
              <a:latin typeface="Calibri"/>
              <a:ea typeface="Calibri"/>
              <a:cs typeface="Calibri"/>
              <a:sym typeface="Calibri"/>
            </a:endParaRPr>
          </a:p>
          <a:p>
            <a:pPr indent="-342900" lvl="0" marL="342900" marR="0" rtl="0" algn="l">
              <a:lnSpc>
                <a:spcPct val="100000"/>
              </a:lnSpc>
              <a:spcBef>
                <a:spcPts val="400"/>
              </a:spcBef>
              <a:spcAft>
                <a:spcPts val="0"/>
              </a:spcAft>
              <a:buClr>
                <a:srgbClr val="37474F"/>
              </a:buClr>
              <a:buSzPts val="1200"/>
              <a:buFont typeface="Calibri"/>
              <a:buChar char="•"/>
            </a:pPr>
            <a:r>
              <a:rPr b="0" i="0" lang="en" sz="1200" u="none" cap="none" strike="noStrike">
                <a:solidFill>
                  <a:srgbClr val="37474F"/>
                </a:solidFill>
                <a:latin typeface="Calibri"/>
                <a:ea typeface="Calibri"/>
                <a:cs typeface="Calibri"/>
                <a:sym typeface="Calibri"/>
              </a:rPr>
              <a:t>High test/validation error</a:t>
            </a:r>
            <a:endParaRPr b="0" i="0" sz="1200" u="none" cap="none" strike="noStrike">
              <a:solidFill>
                <a:srgbClr val="000000"/>
              </a:solidFill>
              <a:latin typeface="Calibri"/>
              <a:ea typeface="Calibri"/>
              <a:cs typeface="Calibri"/>
              <a:sym typeface="Calibri"/>
            </a:endParaRPr>
          </a:p>
          <a:p>
            <a:pPr indent="-342900" lvl="0" marL="342900" marR="0" rtl="0" algn="l">
              <a:lnSpc>
                <a:spcPct val="100000"/>
              </a:lnSpc>
              <a:spcBef>
                <a:spcPts val="400"/>
              </a:spcBef>
              <a:spcAft>
                <a:spcPts val="0"/>
              </a:spcAft>
              <a:buClr>
                <a:srgbClr val="37474F"/>
              </a:buClr>
              <a:buSzPts val="1200"/>
              <a:buFont typeface="Calibri"/>
              <a:buChar char="•"/>
            </a:pPr>
            <a:r>
              <a:rPr b="0" i="0" lang="en" sz="1200" u="none" cap="none" strike="noStrike">
                <a:solidFill>
                  <a:srgbClr val="37474F"/>
                </a:solidFill>
                <a:latin typeface="Calibri"/>
                <a:ea typeface="Calibri"/>
                <a:cs typeface="Calibri"/>
                <a:sym typeface="Calibri"/>
              </a:rPr>
              <a:t>Model ignores key trends</a:t>
            </a:r>
            <a:endParaRPr b="0" i="0" sz="1200" u="none" cap="none" strike="noStrike">
              <a:solidFill>
                <a:srgbClr val="000000"/>
              </a:solidFill>
              <a:latin typeface="Calibri"/>
              <a:ea typeface="Calibri"/>
              <a:cs typeface="Calibri"/>
              <a:sym typeface="Calibri"/>
            </a:endParaRPr>
          </a:p>
        </p:txBody>
      </p:sp>
      <p:sp>
        <p:nvSpPr>
          <p:cNvPr id="507" name="Google Shape;507;p5"/>
          <p:cNvSpPr/>
          <p:nvPr/>
        </p:nvSpPr>
        <p:spPr>
          <a:xfrm>
            <a:off x="320040" y="2889504"/>
            <a:ext cx="2651700" cy="475500"/>
          </a:xfrm>
          <a:prstGeom prst="rect">
            <a:avLst/>
          </a:prstGeom>
          <a:solidFill>
            <a:srgbClr val="FFFFFF"/>
          </a:solidFill>
          <a:ln cap="flat" cmpd="sng" w="12700">
            <a:solidFill>
              <a:srgbClr val="FFCC80"/>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8" name="Google Shape;508;p5"/>
          <p:cNvSpPr/>
          <p:nvPr/>
        </p:nvSpPr>
        <p:spPr>
          <a:xfrm>
            <a:off x="384048" y="2916936"/>
            <a:ext cx="2523600" cy="420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050"/>
              <a:buFont typeface="Calibri"/>
              <a:buNone/>
            </a:pPr>
            <a:r>
              <a:rPr b="0" i="0" lang="en" sz="1050" u="none" cap="none" strike="noStrike">
                <a:solidFill>
                  <a:srgbClr val="37474F"/>
                </a:solidFill>
                <a:latin typeface="Calibri"/>
                <a:ea typeface="Calibri"/>
                <a:cs typeface="Calibri"/>
                <a:sym typeface="Calibri"/>
              </a:rPr>
              <a:t>Cause: Too simple model / too little training</a:t>
            </a:r>
            <a:endParaRPr b="0" i="0" sz="1050" u="none" cap="none" strike="noStrike">
              <a:solidFill>
                <a:srgbClr val="000000"/>
              </a:solidFill>
              <a:latin typeface="Calibri"/>
              <a:ea typeface="Calibri"/>
              <a:cs typeface="Calibri"/>
              <a:sym typeface="Calibri"/>
            </a:endParaRPr>
          </a:p>
        </p:txBody>
      </p:sp>
      <p:sp>
        <p:nvSpPr>
          <p:cNvPr id="509" name="Google Shape;509;p5"/>
          <p:cNvSpPr/>
          <p:nvPr/>
        </p:nvSpPr>
        <p:spPr>
          <a:xfrm>
            <a:off x="320040" y="3447288"/>
            <a:ext cx="2651700" cy="475500"/>
          </a:xfrm>
          <a:prstGeom prst="rect">
            <a:avLst/>
          </a:prstGeom>
          <a:solidFill>
            <a:srgbClr val="E65100">
              <a:alpha val="18039"/>
            </a:srgbClr>
          </a:solidFill>
          <a:ln cap="flat" cmpd="sng" w="10150">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 name="Google Shape;510;p5"/>
          <p:cNvSpPr/>
          <p:nvPr/>
        </p:nvSpPr>
        <p:spPr>
          <a:xfrm>
            <a:off x="384048" y="3474720"/>
            <a:ext cx="2523600" cy="420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050"/>
              <a:buFont typeface="Calibri"/>
              <a:buNone/>
            </a:pPr>
            <a:r>
              <a:rPr b="0" i="0" lang="en" sz="1050" u="none" cap="none" strike="noStrike">
                <a:solidFill>
                  <a:srgbClr val="37474F"/>
                </a:solidFill>
                <a:latin typeface="Calibri"/>
                <a:ea typeface="Calibri"/>
                <a:cs typeface="Calibri"/>
                <a:sym typeface="Calibri"/>
              </a:rPr>
              <a:t>Fix: More layers, more features, train longer</a:t>
            </a:r>
            <a:endParaRPr b="0" i="0" sz="1050" u="none" cap="none" strike="noStrike">
              <a:solidFill>
                <a:srgbClr val="000000"/>
              </a:solidFill>
              <a:latin typeface="Calibri"/>
              <a:ea typeface="Calibri"/>
              <a:cs typeface="Calibri"/>
              <a:sym typeface="Calibri"/>
            </a:endParaRPr>
          </a:p>
        </p:txBody>
      </p:sp>
      <p:sp>
        <p:nvSpPr>
          <p:cNvPr id="511" name="Google Shape;511;p5"/>
          <p:cNvSpPr/>
          <p:nvPr/>
        </p:nvSpPr>
        <p:spPr>
          <a:xfrm>
            <a:off x="3246120" y="896112"/>
            <a:ext cx="2926200" cy="4160400"/>
          </a:xfrm>
          <a:prstGeom prst="rect">
            <a:avLst/>
          </a:prstGeom>
          <a:solidFill>
            <a:srgbClr val="E8F5E9"/>
          </a:solidFill>
          <a:ln cap="flat" cmpd="sng" w="12700">
            <a:solidFill>
              <a:srgbClr val="A5D6A7"/>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 name="Google Shape;512;p5"/>
          <p:cNvSpPr/>
          <p:nvPr/>
        </p:nvSpPr>
        <p:spPr>
          <a:xfrm>
            <a:off x="3246120" y="896112"/>
            <a:ext cx="2926200" cy="457200"/>
          </a:xfrm>
          <a:prstGeom prst="rect">
            <a:avLst/>
          </a:prstGeom>
          <a:solidFill>
            <a:srgbClr val="2E7D32"/>
          </a:solidFill>
          <a:ln cap="flat" cmpd="sng" w="12700">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3" name="Google Shape;513;p5"/>
          <p:cNvSpPr/>
          <p:nvPr/>
        </p:nvSpPr>
        <p:spPr>
          <a:xfrm>
            <a:off x="3246120" y="896112"/>
            <a:ext cx="2926200"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Calibri"/>
              <a:buNone/>
            </a:pPr>
            <a:r>
              <a:rPr b="1" i="0" lang="en" sz="1600" u="none" cap="none" strike="noStrike">
                <a:solidFill>
                  <a:srgbClr val="FFFFFF"/>
                </a:solidFill>
                <a:latin typeface="Calibri"/>
                <a:ea typeface="Calibri"/>
                <a:cs typeface="Calibri"/>
                <a:sym typeface="Calibri"/>
              </a:rPr>
              <a:t>Good Fit</a:t>
            </a:r>
            <a:endParaRPr b="0" i="0" sz="1600" u="none" cap="none" strike="noStrike">
              <a:solidFill>
                <a:srgbClr val="000000"/>
              </a:solidFill>
              <a:latin typeface="Calibri"/>
              <a:ea typeface="Calibri"/>
              <a:cs typeface="Calibri"/>
              <a:sym typeface="Calibri"/>
            </a:endParaRPr>
          </a:p>
        </p:txBody>
      </p:sp>
      <p:sp>
        <p:nvSpPr>
          <p:cNvPr id="514" name="Google Shape;514;p5"/>
          <p:cNvSpPr/>
          <p:nvPr/>
        </p:nvSpPr>
        <p:spPr>
          <a:xfrm>
            <a:off x="3383280" y="1408176"/>
            <a:ext cx="2651700" cy="530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150"/>
              <a:buFont typeface="Calibri"/>
              <a:buNone/>
            </a:pPr>
            <a:r>
              <a:rPr b="0" i="1" lang="en" sz="1150" u="none" cap="none" strike="noStrike">
                <a:solidFill>
                  <a:srgbClr val="37474F"/>
                </a:solidFill>
                <a:latin typeface="Calibri"/>
                <a:ea typeface="Calibri"/>
                <a:cs typeface="Calibri"/>
                <a:sym typeface="Calibri"/>
              </a:rPr>
              <a:t>Model learns patterns well and generalizes to new data.</a:t>
            </a:r>
            <a:endParaRPr b="0" i="0" sz="1150" u="none" cap="none" strike="noStrike">
              <a:solidFill>
                <a:srgbClr val="000000"/>
              </a:solidFill>
              <a:latin typeface="Calibri"/>
              <a:ea typeface="Calibri"/>
              <a:cs typeface="Calibri"/>
              <a:sym typeface="Calibri"/>
            </a:endParaRPr>
          </a:p>
        </p:txBody>
      </p:sp>
      <p:sp>
        <p:nvSpPr>
          <p:cNvPr id="515" name="Google Shape;515;p5"/>
          <p:cNvSpPr/>
          <p:nvPr/>
        </p:nvSpPr>
        <p:spPr>
          <a:xfrm>
            <a:off x="3383280" y="1993392"/>
            <a:ext cx="2651700" cy="822900"/>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00000"/>
              </a:lnSpc>
              <a:spcBef>
                <a:spcPts val="0"/>
              </a:spcBef>
              <a:spcAft>
                <a:spcPts val="0"/>
              </a:spcAft>
              <a:buClr>
                <a:srgbClr val="37474F"/>
              </a:buClr>
              <a:buSzPts val="1200"/>
              <a:buFont typeface="Calibri"/>
              <a:buChar char="•"/>
            </a:pPr>
            <a:r>
              <a:rPr b="0" i="0" lang="en" sz="1200" u="none" cap="none" strike="noStrike">
                <a:solidFill>
                  <a:srgbClr val="37474F"/>
                </a:solidFill>
                <a:latin typeface="Calibri"/>
                <a:ea typeface="Calibri"/>
                <a:cs typeface="Calibri"/>
                <a:sym typeface="Calibri"/>
              </a:rPr>
              <a:t>Low training error</a:t>
            </a:r>
            <a:endParaRPr b="0" i="0" sz="1200" u="none" cap="none" strike="noStrike">
              <a:solidFill>
                <a:srgbClr val="000000"/>
              </a:solidFill>
              <a:latin typeface="Calibri"/>
              <a:ea typeface="Calibri"/>
              <a:cs typeface="Calibri"/>
              <a:sym typeface="Calibri"/>
            </a:endParaRPr>
          </a:p>
          <a:p>
            <a:pPr indent="-342900" lvl="0" marL="342900" marR="0" rtl="0" algn="l">
              <a:lnSpc>
                <a:spcPct val="100000"/>
              </a:lnSpc>
              <a:spcBef>
                <a:spcPts val="400"/>
              </a:spcBef>
              <a:spcAft>
                <a:spcPts val="0"/>
              </a:spcAft>
              <a:buClr>
                <a:srgbClr val="37474F"/>
              </a:buClr>
              <a:buSzPts val="1200"/>
              <a:buFont typeface="Calibri"/>
              <a:buChar char="•"/>
            </a:pPr>
            <a:r>
              <a:rPr b="0" i="0" lang="en" sz="1200" u="none" cap="none" strike="noStrike">
                <a:solidFill>
                  <a:srgbClr val="37474F"/>
                </a:solidFill>
                <a:latin typeface="Calibri"/>
                <a:ea typeface="Calibri"/>
                <a:cs typeface="Calibri"/>
                <a:sym typeface="Calibri"/>
              </a:rPr>
              <a:t>Low test/validation error</a:t>
            </a:r>
            <a:endParaRPr b="0" i="0" sz="1200" u="none" cap="none" strike="noStrike">
              <a:solidFill>
                <a:srgbClr val="000000"/>
              </a:solidFill>
              <a:latin typeface="Calibri"/>
              <a:ea typeface="Calibri"/>
              <a:cs typeface="Calibri"/>
              <a:sym typeface="Calibri"/>
            </a:endParaRPr>
          </a:p>
          <a:p>
            <a:pPr indent="-342900" lvl="0" marL="342900" marR="0" rtl="0" algn="l">
              <a:lnSpc>
                <a:spcPct val="100000"/>
              </a:lnSpc>
              <a:spcBef>
                <a:spcPts val="400"/>
              </a:spcBef>
              <a:spcAft>
                <a:spcPts val="0"/>
              </a:spcAft>
              <a:buClr>
                <a:srgbClr val="37474F"/>
              </a:buClr>
              <a:buSzPts val="1200"/>
              <a:buFont typeface="Calibri"/>
              <a:buChar char="•"/>
            </a:pPr>
            <a:r>
              <a:rPr b="0" i="0" lang="en" sz="1200" u="none" cap="none" strike="noStrike">
                <a:solidFill>
                  <a:srgbClr val="37474F"/>
                </a:solidFill>
                <a:latin typeface="Calibri"/>
                <a:ea typeface="Calibri"/>
                <a:cs typeface="Calibri"/>
                <a:sym typeface="Calibri"/>
              </a:rPr>
              <a:t>Balanced complexity</a:t>
            </a:r>
            <a:endParaRPr b="0" i="0" sz="1200" u="none" cap="none" strike="noStrike">
              <a:solidFill>
                <a:srgbClr val="000000"/>
              </a:solidFill>
              <a:latin typeface="Calibri"/>
              <a:ea typeface="Calibri"/>
              <a:cs typeface="Calibri"/>
              <a:sym typeface="Calibri"/>
            </a:endParaRPr>
          </a:p>
        </p:txBody>
      </p:sp>
      <p:sp>
        <p:nvSpPr>
          <p:cNvPr id="516" name="Google Shape;516;p5"/>
          <p:cNvSpPr/>
          <p:nvPr/>
        </p:nvSpPr>
        <p:spPr>
          <a:xfrm>
            <a:off x="3383280" y="2889504"/>
            <a:ext cx="2651700" cy="475500"/>
          </a:xfrm>
          <a:prstGeom prst="rect">
            <a:avLst/>
          </a:prstGeom>
          <a:solidFill>
            <a:srgbClr val="FFFFFF"/>
          </a:solidFill>
          <a:ln cap="flat" cmpd="sng" w="12700">
            <a:solidFill>
              <a:srgbClr val="A5D6A7"/>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7" name="Google Shape;517;p5"/>
          <p:cNvSpPr/>
          <p:nvPr/>
        </p:nvSpPr>
        <p:spPr>
          <a:xfrm>
            <a:off x="3447288" y="2916936"/>
            <a:ext cx="2523600" cy="420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050"/>
              <a:buFont typeface="Calibri"/>
              <a:buNone/>
            </a:pPr>
            <a:r>
              <a:rPr b="0" i="0" lang="en" sz="1050" u="none" cap="none" strike="noStrike">
                <a:solidFill>
                  <a:srgbClr val="37474F"/>
                </a:solidFill>
                <a:latin typeface="Calibri"/>
                <a:ea typeface="Calibri"/>
                <a:cs typeface="Calibri"/>
                <a:sym typeface="Calibri"/>
              </a:rPr>
              <a:t>Cause: Right model + right training data</a:t>
            </a:r>
            <a:endParaRPr b="0" i="0" sz="1050" u="none" cap="none" strike="noStrike">
              <a:solidFill>
                <a:srgbClr val="000000"/>
              </a:solidFill>
              <a:latin typeface="Calibri"/>
              <a:ea typeface="Calibri"/>
              <a:cs typeface="Calibri"/>
              <a:sym typeface="Calibri"/>
            </a:endParaRPr>
          </a:p>
        </p:txBody>
      </p:sp>
      <p:sp>
        <p:nvSpPr>
          <p:cNvPr id="518" name="Google Shape;518;p5"/>
          <p:cNvSpPr/>
          <p:nvPr/>
        </p:nvSpPr>
        <p:spPr>
          <a:xfrm>
            <a:off x="3383280" y="3447288"/>
            <a:ext cx="2651700" cy="475500"/>
          </a:xfrm>
          <a:prstGeom prst="rect">
            <a:avLst/>
          </a:prstGeom>
          <a:solidFill>
            <a:srgbClr val="2E7D32">
              <a:alpha val="18039"/>
            </a:srgbClr>
          </a:solidFill>
          <a:ln cap="flat" cmpd="sng" w="10150">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9" name="Google Shape;519;p5"/>
          <p:cNvSpPr/>
          <p:nvPr/>
        </p:nvSpPr>
        <p:spPr>
          <a:xfrm>
            <a:off x="3447288" y="3474720"/>
            <a:ext cx="2523600" cy="420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050"/>
              <a:buFont typeface="Calibri"/>
              <a:buNone/>
            </a:pPr>
            <a:r>
              <a:rPr b="0" i="0" lang="en" sz="1050" u="none" cap="none" strike="noStrike">
                <a:solidFill>
                  <a:srgbClr val="37474F"/>
                </a:solidFill>
                <a:latin typeface="Calibri"/>
                <a:ea typeface="Calibri"/>
                <a:cs typeface="Calibri"/>
                <a:sym typeface="Calibri"/>
              </a:rPr>
              <a:t>Fix: This is the goal!</a:t>
            </a:r>
            <a:endParaRPr b="0" i="0" sz="1050" u="none" cap="none" strike="noStrike">
              <a:solidFill>
                <a:srgbClr val="000000"/>
              </a:solidFill>
              <a:latin typeface="Calibri"/>
              <a:ea typeface="Calibri"/>
              <a:cs typeface="Calibri"/>
              <a:sym typeface="Calibri"/>
            </a:endParaRPr>
          </a:p>
        </p:txBody>
      </p:sp>
      <p:sp>
        <p:nvSpPr>
          <p:cNvPr id="520" name="Google Shape;520;p5"/>
          <p:cNvSpPr/>
          <p:nvPr/>
        </p:nvSpPr>
        <p:spPr>
          <a:xfrm>
            <a:off x="6309360" y="896112"/>
            <a:ext cx="2926200" cy="4160400"/>
          </a:xfrm>
          <a:prstGeom prst="rect">
            <a:avLst/>
          </a:prstGeom>
          <a:solidFill>
            <a:srgbClr val="FFEBEE"/>
          </a:solidFill>
          <a:ln cap="flat" cmpd="sng" w="12700">
            <a:solidFill>
              <a:srgbClr val="EF9A9A"/>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1" name="Google Shape;521;p5"/>
          <p:cNvSpPr/>
          <p:nvPr/>
        </p:nvSpPr>
        <p:spPr>
          <a:xfrm>
            <a:off x="6309360" y="896112"/>
            <a:ext cx="2926200" cy="457200"/>
          </a:xfrm>
          <a:prstGeom prst="rect">
            <a:avLst/>
          </a:prstGeom>
          <a:solidFill>
            <a:srgbClr val="C62828"/>
          </a:solidFill>
          <a:ln cap="flat" cmpd="sng" w="12700">
            <a:solidFill>
              <a:srgbClr val="C6282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2" name="Google Shape;522;p5"/>
          <p:cNvSpPr/>
          <p:nvPr/>
        </p:nvSpPr>
        <p:spPr>
          <a:xfrm>
            <a:off x="6309360" y="896112"/>
            <a:ext cx="2926200"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Calibri"/>
              <a:buNone/>
            </a:pPr>
            <a:r>
              <a:rPr b="1" i="0" lang="en" sz="1600" u="none" cap="none" strike="noStrike">
                <a:solidFill>
                  <a:srgbClr val="FFFFFF"/>
                </a:solidFill>
                <a:latin typeface="Calibri"/>
                <a:ea typeface="Calibri"/>
                <a:cs typeface="Calibri"/>
                <a:sym typeface="Calibri"/>
              </a:rPr>
              <a:t>Overfitting</a:t>
            </a:r>
            <a:endParaRPr b="0" i="0" sz="1600" u="none" cap="none" strike="noStrike">
              <a:solidFill>
                <a:srgbClr val="000000"/>
              </a:solidFill>
              <a:latin typeface="Calibri"/>
              <a:ea typeface="Calibri"/>
              <a:cs typeface="Calibri"/>
              <a:sym typeface="Calibri"/>
            </a:endParaRPr>
          </a:p>
        </p:txBody>
      </p:sp>
      <p:sp>
        <p:nvSpPr>
          <p:cNvPr id="523" name="Google Shape;523;p5"/>
          <p:cNvSpPr/>
          <p:nvPr/>
        </p:nvSpPr>
        <p:spPr>
          <a:xfrm>
            <a:off x="6446520" y="1408176"/>
            <a:ext cx="2651700" cy="530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150"/>
              <a:buFont typeface="Calibri"/>
              <a:buNone/>
            </a:pPr>
            <a:r>
              <a:rPr b="0" i="1" lang="en" sz="1150" u="none" cap="none" strike="noStrike">
                <a:solidFill>
                  <a:srgbClr val="37474F"/>
                </a:solidFill>
                <a:latin typeface="Calibri"/>
                <a:ea typeface="Calibri"/>
                <a:cs typeface="Calibri"/>
                <a:sym typeface="Calibri"/>
              </a:rPr>
              <a:t>Model memorizes training data — fails on unseen data.</a:t>
            </a:r>
            <a:endParaRPr b="0" i="0" sz="1150" u="none" cap="none" strike="noStrike">
              <a:solidFill>
                <a:srgbClr val="000000"/>
              </a:solidFill>
              <a:latin typeface="Calibri"/>
              <a:ea typeface="Calibri"/>
              <a:cs typeface="Calibri"/>
              <a:sym typeface="Calibri"/>
            </a:endParaRPr>
          </a:p>
        </p:txBody>
      </p:sp>
      <p:sp>
        <p:nvSpPr>
          <p:cNvPr id="524" name="Google Shape;524;p5"/>
          <p:cNvSpPr/>
          <p:nvPr/>
        </p:nvSpPr>
        <p:spPr>
          <a:xfrm>
            <a:off x="6446520" y="1993392"/>
            <a:ext cx="2651700" cy="822900"/>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00000"/>
              </a:lnSpc>
              <a:spcBef>
                <a:spcPts val="0"/>
              </a:spcBef>
              <a:spcAft>
                <a:spcPts val="0"/>
              </a:spcAft>
              <a:buClr>
                <a:srgbClr val="37474F"/>
              </a:buClr>
              <a:buSzPts val="1200"/>
              <a:buFont typeface="Calibri"/>
              <a:buChar char="•"/>
            </a:pPr>
            <a:r>
              <a:rPr b="0" i="0" lang="en" sz="1200" u="none" cap="none" strike="noStrike">
                <a:solidFill>
                  <a:srgbClr val="37474F"/>
                </a:solidFill>
                <a:latin typeface="Calibri"/>
                <a:ea typeface="Calibri"/>
                <a:cs typeface="Calibri"/>
                <a:sym typeface="Calibri"/>
              </a:rPr>
              <a:t>Very low training error</a:t>
            </a:r>
            <a:endParaRPr b="0" i="0" sz="1200" u="none" cap="none" strike="noStrike">
              <a:solidFill>
                <a:srgbClr val="000000"/>
              </a:solidFill>
              <a:latin typeface="Calibri"/>
              <a:ea typeface="Calibri"/>
              <a:cs typeface="Calibri"/>
              <a:sym typeface="Calibri"/>
            </a:endParaRPr>
          </a:p>
          <a:p>
            <a:pPr indent="-342900" lvl="0" marL="342900" marR="0" rtl="0" algn="l">
              <a:lnSpc>
                <a:spcPct val="100000"/>
              </a:lnSpc>
              <a:spcBef>
                <a:spcPts val="400"/>
              </a:spcBef>
              <a:spcAft>
                <a:spcPts val="0"/>
              </a:spcAft>
              <a:buClr>
                <a:srgbClr val="37474F"/>
              </a:buClr>
              <a:buSzPts val="1200"/>
              <a:buFont typeface="Calibri"/>
              <a:buChar char="•"/>
            </a:pPr>
            <a:r>
              <a:rPr b="0" i="0" lang="en" sz="1200" u="none" cap="none" strike="noStrike">
                <a:solidFill>
                  <a:srgbClr val="37474F"/>
                </a:solidFill>
                <a:latin typeface="Calibri"/>
                <a:ea typeface="Calibri"/>
                <a:cs typeface="Calibri"/>
                <a:sym typeface="Calibri"/>
              </a:rPr>
              <a:t>High test/validation error</a:t>
            </a:r>
            <a:endParaRPr b="0" i="0" sz="1200" u="none" cap="none" strike="noStrike">
              <a:solidFill>
                <a:srgbClr val="000000"/>
              </a:solidFill>
              <a:latin typeface="Calibri"/>
              <a:ea typeface="Calibri"/>
              <a:cs typeface="Calibri"/>
              <a:sym typeface="Calibri"/>
            </a:endParaRPr>
          </a:p>
          <a:p>
            <a:pPr indent="-342900" lvl="0" marL="342900" marR="0" rtl="0" algn="l">
              <a:lnSpc>
                <a:spcPct val="100000"/>
              </a:lnSpc>
              <a:spcBef>
                <a:spcPts val="400"/>
              </a:spcBef>
              <a:spcAft>
                <a:spcPts val="0"/>
              </a:spcAft>
              <a:buClr>
                <a:srgbClr val="37474F"/>
              </a:buClr>
              <a:buSzPts val="1200"/>
              <a:buFont typeface="Calibri"/>
              <a:buChar char="•"/>
            </a:pPr>
            <a:r>
              <a:rPr b="0" i="0" lang="en" sz="1200" u="none" cap="none" strike="noStrike">
                <a:solidFill>
                  <a:srgbClr val="37474F"/>
                </a:solidFill>
                <a:latin typeface="Calibri"/>
                <a:ea typeface="Calibri"/>
                <a:cs typeface="Calibri"/>
                <a:sym typeface="Calibri"/>
              </a:rPr>
              <a:t>Fits noise, not signal</a:t>
            </a:r>
            <a:endParaRPr b="0" i="0" sz="1200" u="none" cap="none" strike="noStrike">
              <a:solidFill>
                <a:srgbClr val="000000"/>
              </a:solidFill>
              <a:latin typeface="Calibri"/>
              <a:ea typeface="Calibri"/>
              <a:cs typeface="Calibri"/>
              <a:sym typeface="Calibri"/>
            </a:endParaRPr>
          </a:p>
        </p:txBody>
      </p:sp>
      <p:sp>
        <p:nvSpPr>
          <p:cNvPr id="525" name="Google Shape;525;p5"/>
          <p:cNvSpPr/>
          <p:nvPr/>
        </p:nvSpPr>
        <p:spPr>
          <a:xfrm>
            <a:off x="6446520" y="2889504"/>
            <a:ext cx="2651700" cy="475500"/>
          </a:xfrm>
          <a:prstGeom prst="rect">
            <a:avLst/>
          </a:prstGeom>
          <a:solidFill>
            <a:srgbClr val="FFFFFF"/>
          </a:solidFill>
          <a:ln cap="flat" cmpd="sng" w="12700">
            <a:solidFill>
              <a:srgbClr val="EF9A9A"/>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 name="Google Shape;526;p5"/>
          <p:cNvSpPr/>
          <p:nvPr/>
        </p:nvSpPr>
        <p:spPr>
          <a:xfrm>
            <a:off x="6510528" y="2916936"/>
            <a:ext cx="2523600" cy="420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050"/>
              <a:buFont typeface="Calibri"/>
              <a:buNone/>
            </a:pPr>
            <a:r>
              <a:rPr b="0" i="0" lang="en" sz="1050" u="none" cap="none" strike="noStrike">
                <a:solidFill>
                  <a:srgbClr val="37474F"/>
                </a:solidFill>
                <a:latin typeface="Calibri"/>
                <a:ea typeface="Calibri"/>
                <a:cs typeface="Calibri"/>
                <a:sym typeface="Calibri"/>
              </a:rPr>
              <a:t>Cause: Too complex model / too little data</a:t>
            </a:r>
            <a:endParaRPr b="0" i="0" sz="1050" u="none" cap="none" strike="noStrike">
              <a:solidFill>
                <a:srgbClr val="000000"/>
              </a:solidFill>
              <a:latin typeface="Calibri"/>
              <a:ea typeface="Calibri"/>
              <a:cs typeface="Calibri"/>
              <a:sym typeface="Calibri"/>
            </a:endParaRPr>
          </a:p>
        </p:txBody>
      </p:sp>
      <p:sp>
        <p:nvSpPr>
          <p:cNvPr id="527" name="Google Shape;527;p5"/>
          <p:cNvSpPr/>
          <p:nvPr/>
        </p:nvSpPr>
        <p:spPr>
          <a:xfrm>
            <a:off x="6446520" y="3447288"/>
            <a:ext cx="2651700" cy="475500"/>
          </a:xfrm>
          <a:prstGeom prst="rect">
            <a:avLst/>
          </a:prstGeom>
          <a:solidFill>
            <a:srgbClr val="C62828">
              <a:alpha val="18039"/>
            </a:srgbClr>
          </a:solidFill>
          <a:ln cap="flat" cmpd="sng" w="10150">
            <a:solidFill>
              <a:srgbClr val="C6282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8" name="Google Shape;528;p5"/>
          <p:cNvSpPr/>
          <p:nvPr/>
        </p:nvSpPr>
        <p:spPr>
          <a:xfrm>
            <a:off x="6510528" y="3474720"/>
            <a:ext cx="2523600" cy="420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050"/>
              <a:buFont typeface="Calibri"/>
              <a:buNone/>
            </a:pPr>
            <a:r>
              <a:rPr b="0" i="0" lang="en" sz="1050" u="none" cap="none" strike="noStrike">
                <a:solidFill>
                  <a:srgbClr val="37474F"/>
                </a:solidFill>
                <a:latin typeface="Calibri"/>
                <a:ea typeface="Calibri"/>
                <a:cs typeface="Calibri"/>
                <a:sym typeface="Calibri"/>
              </a:rPr>
              <a:t>Fix: Regularization, dropout, more data</a:t>
            </a:r>
            <a:endParaRPr b="0" i="0" sz="1050" u="none" cap="none" strike="noStrike">
              <a:solidFill>
                <a:srgbClr val="000000"/>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2" name="Shape 532"/>
        <p:cNvGrpSpPr/>
        <p:nvPr/>
      </p:nvGrpSpPr>
      <p:grpSpPr>
        <a:xfrm>
          <a:off x="0" y="0"/>
          <a:ext cx="0" cy="0"/>
          <a:chOff x="0" y="0"/>
          <a:chExt cx="0" cy="0"/>
        </a:xfrm>
      </p:grpSpPr>
      <p:pic>
        <p:nvPicPr>
          <p:cNvPr id="533" name="Google Shape;533;p7"/>
          <p:cNvPicPr preferRelativeResize="0"/>
          <p:nvPr/>
        </p:nvPicPr>
        <p:blipFill rotWithShape="1">
          <a:blip r:embed="rId4">
            <a:alphaModFix/>
          </a:blip>
          <a:srcRect b="0" l="0" r="0" t="0"/>
          <a:stretch/>
        </p:blipFill>
        <p:spPr>
          <a:xfrm>
            <a:off x="8369125" y="0"/>
            <a:ext cx="774877" cy="867174"/>
          </a:xfrm>
          <a:prstGeom prst="rect">
            <a:avLst/>
          </a:prstGeom>
          <a:noFill/>
          <a:ln>
            <a:noFill/>
          </a:ln>
        </p:spPr>
      </p:pic>
      <p:sp>
        <p:nvSpPr>
          <p:cNvPr id="534" name="Google Shape;534;p7"/>
          <p:cNvSpPr/>
          <p:nvPr/>
        </p:nvSpPr>
        <p:spPr>
          <a:xfrm>
            <a:off x="228593" y="100750"/>
            <a:ext cx="8686800" cy="658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E0E8F0"/>
              </a:buClr>
              <a:buSzPts val="2400"/>
              <a:buFont typeface="Calibri"/>
              <a:buNone/>
            </a:pPr>
            <a:r>
              <a:rPr b="1" i="0" lang="en" sz="2400" u="none" cap="none" strike="noStrike">
                <a:solidFill>
                  <a:schemeClr val="dk1"/>
                </a:solidFill>
                <a:latin typeface="Calibri"/>
                <a:ea typeface="Calibri"/>
                <a:cs typeface="Calibri"/>
                <a:sym typeface="Calibri"/>
              </a:rPr>
              <a:t>What Are Overfitting &amp; Underfitting?</a:t>
            </a:r>
            <a:endParaRPr b="0" i="0" sz="2400" u="none" cap="none" strike="noStrike">
              <a:solidFill>
                <a:schemeClr val="dk1"/>
              </a:solidFill>
              <a:latin typeface="Calibri"/>
              <a:ea typeface="Calibri"/>
              <a:cs typeface="Calibri"/>
              <a:sym typeface="Calibri"/>
            </a:endParaRPr>
          </a:p>
        </p:txBody>
      </p:sp>
      <p:sp>
        <p:nvSpPr>
          <p:cNvPr id="535" name="Google Shape;535;p7"/>
          <p:cNvSpPr/>
          <p:nvPr/>
        </p:nvSpPr>
        <p:spPr>
          <a:xfrm>
            <a:off x="274325" y="3429000"/>
            <a:ext cx="2762100" cy="1508700"/>
          </a:xfrm>
          <a:prstGeom prst="rect">
            <a:avLst/>
          </a:prstGeom>
          <a:solidFill>
            <a:schemeClr val="lt1"/>
          </a:solidFill>
          <a:ln cap="flat" cmpd="sng" w="19050">
            <a:solidFill>
              <a:srgbClr val="FF4B6E"/>
            </a:solidFill>
            <a:prstDash val="solid"/>
            <a:round/>
            <a:headEnd len="sm" w="sm" type="none"/>
            <a:tailEnd len="sm" w="sm" type="none"/>
          </a:ln>
          <a:effectLst>
            <a:outerShdw blurRad="101600" rotWithShape="0" algn="bl" dir="8100000" dist="38100">
              <a:srgbClr val="000000">
                <a:alpha val="3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6" name="Google Shape;536;p7"/>
          <p:cNvSpPr/>
          <p:nvPr/>
        </p:nvSpPr>
        <p:spPr>
          <a:xfrm>
            <a:off x="434695" y="3456432"/>
            <a:ext cx="24945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4B6E"/>
              </a:buClr>
              <a:buSzPts val="1300"/>
              <a:buFont typeface="Calibri"/>
              <a:buNone/>
            </a:pPr>
            <a:r>
              <a:rPr b="1" i="0" lang="en" sz="1300" u="none" cap="none" strike="noStrike">
                <a:solidFill>
                  <a:srgbClr val="FF4B6E"/>
                </a:solidFill>
                <a:latin typeface="Calibri"/>
                <a:ea typeface="Calibri"/>
                <a:cs typeface="Calibri"/>
                <a:sym typeface="Calibri"/>
              </a:rPr>
              <a:t>Underfitting</a:t>
            </a:r>
            <a:endParaRPr b="0" i="0" sz="1300" u="none" cap="none" strike="noStrike">
              <a:solidFill>
                <a:schemeClr val="dk1"/>
              </a:solidFill>
              <a:latin typeface="Calibri"/>
              <a:ea typeface="Calibri"/>
              <a:cs typeface="Calibri"/>
              <a:sym typeface="Calibri"/>
            </a:endParaRPr>
          </a:p>
        </p:txBody>
      </p:sp>
      <p:sp>
        <p:nvSpPr>
          <p:cNvPr id="537" name="Google Shape;537;p7"/>
          <p:cNvSpPr/>
          <p:nvPr/>
        </p:nvSpPr>
        <p:spPr>
          <a:xfrm>
            <a:off x="434695" y="3785616"/>
            <a:ext cx="2539200" cy="109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0E8F0"/>
              </a:buClr>
              <a:buSzPts val="1050"/>
              <a:buFont typeface="Calibri"/>
              <a:buNone/>
            </a:pPr>
            <a:r>
              <a:rPr b="0" i="0" lang="en" sz="1050" u="none" cap="none" strike="noStrike">
                <a:solidFill>
                  <a:schemeClr val="dk1"/>
                </a:solidFill>
                <a:latin typeface="Calibri"/>
                <a:ea typeface="Calibri"/>
                <a:cs typeface="Calibri"/>
                <a:sym typeface="Calibri"/>
              </a:rPr>
              <a:t>Model too simple — misses patterns in training data. High bias, low variance. Degree-1 poly on curved data.</a:t>
            </a:r>
            <a:endParaRPr b="0" i="0" sz="1050" u="none" cap="none" strike="noStrike">
              <a:solidFill>
                <a:schemeClr val="dk1"/>
              </a:solidFill>
              <a:latin typeface="Calibri"/>
              <a:ea typeface="Calibri"/>
              <a:cs typeface="Calibri"/>
              <a:sym typeface="Calibri"/>
            </a:endParaRPr>
          </a:p>
        </p:txBody>
      </p:sp>
      <p:sp>
        <p:nvSpPr>
          <p:cNvPr id="538" name="Google Shape;538;p7"/>
          <p:cNvSpPr/>
          <p:nvPr/>
        </p:nvSpPr>
        <p:spPr>
          <a:xfrm>
            <a:off x="3259000" y="3429000"/>
            <a:ext cx="2762100" cy="1508700"/>
          </a:xfrm>
          <a:prstGeom prst="rect">
            <a:avLst/>
          </a:prstGeom>
          <a:solidFill>
            <a:schemeClr val="lt1"/>
          </a:solidFill>
          <a:ln cap="flat" cmpd="sng" w="19050">
            <a:solidFill>
              <a:srgbClr val="00C9B1"/>
            </a:solidFill>
            <a:prstDash val="solid"/>
            <a:round/>
            <a:headEnd len="sm" w="sm" type="none"/>
            <a:tailEnd len="sm" w="sm" type="none"/>
          </a:ln>
          <a:effectLst>
            <a:outerShdw blurRad="101600" rotWithShape="0" algn="bl" dir="8100000" dist="38100">
              <a:srgbClr val="000000">
                <a:alpha val="3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 name="Google Shape;539;p7"/>
          <p:cNvSpPr/>
          <p:nvPr/>
        </p:nvSpPr>
        <p:spPr>
          <a:xfrm>
            <a:off x="3259000" y="3429000"/>
            <a:ext cx="53400" cy="1508700"/>
          </a:xfrm>
          <a:prstGeom prst="rect">
            <a:avLst/>
          </a:prstGeom>
          <a:solidFill>
            <a:srgbClr val="00C9B1"/>
          </a:solidFill>
          <a:ln cap="flat" cmpd="sng" w="12700">
            <a:solidFill>
              <a:srgbClr val="00C9B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0" name="Google Shape;540;p7"/>
          <p:cNvSpPr/>
          <p:nvPr/>
        </p:nvSpPr>
        <p:spPr>
          <a:xfrm>
            <a:off x="3419371" y="3456432"/>
            <a:ext cx="24945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C9B1"/>
              </a:buClr>
              <a:buSzPts val="1300"/>
              <a:buFont typeface="Calibri"/>
              <a:buNone/>
            </a:pPr>
            <a:r>
              <a:rPr b="1" i="0" lang="en" sz="1300" u="none" cap="none" strike="noStrike">
                <a:solidFill>
                  <a:srgbClr val="00C9B1"/>
                </a:solidFill>
                <a:latin typeface="Calibri"/>
                <a:ea typeface="Calibri"/>
                <a:cs typeface="Calibri"/>
                <a:sym typeface="Calibri"/>
              </a:rPr>
              <a:t>Good Fit</a:t>
            </a:r>
            <a:endParaRPr b="0" i="0" sz="1300" u="none" cap="none" strike="noStrike">
              <a:solidFill>
                <a:schemeClr val="dk1"/>
              </a:solidFill>
              <a:latin typeface="Calibri"/>
              <a:ea typeface="Calibri"/>
              <a:cs typeface="Calibri"/>
              <a:sym typeface="Calibri"/>
            </a:endParaRPr>
          </a:p>
        </p:txBody>
      </p:sp>
      <p:sp>
        <p:nvSpPr>
          <p:cNvPr id="541" name="Google Shape;541;p7"/>
          <p:cNvSpPr/>
          <p:nvPr/>
        </p:nvSpPr>
        <p:spPr>
          <a:xfrm>
            <a:off x="3419371" y="3785616"/>
            <a:ext cx="2539200" cy="109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0E8F0"/>
              </a:buClr>
              <a:buSzPts val="1050"/>
              <a:buFont typeface="Calibri"/>
              <a:buNone/>
            </a:pPr>
            <a:r>
              <a:rPr b="0" i="0" lang="en" sz="1050" u="none" cap="none" strike="noStrike">
                <a:solidFill>
                  <a:schemeClr val="dk1"/>
                </a:solidFill>
                <a:latin typeface="Calibri"/>
                <a:ea typeface="Calibri"/>
                <a:cs typeface="Calibri"/>
                <a:sym typeface="Calibri"/>
              </a:rPr>
              <a:t>Captures the true pattern without memorising noise. Low bias + low variance. The goal of every model.</a:t>
            </a:r>
            <a:endParaRPr b="0" i="0" sz="1050" u="none" cap="none" strike="noStrike">
              <a:solidFill>
                <a:schemeClr val="dk1"/>
              </a:solidFill>
              <a:latin typeface="Calibri"/>
              <a:ea typeface="Calibri"/>
              <a:cs typeface="Calibri"/>
              <a:sym typeface="Calibri"/>
            </a:endParaRPr>
          </a:p>
        </p:txBody>
      </p:sp>
      <p:sp>
        <p:nvSpPr>
          <p:cNvPr id="542" name="Google Shape;542;p7"/>
          <p:cNvSpPr/>
          <p:nvPr/>
        </p:nvSpPr>
        <p:spPr>
          <a:xfrm>
            <a:off x="6199128" y="3429000"/>
            <a:ext cx="2762100" cy="1508700"/>
          </a:xfrm>
          <a:prstGeom prst="rect">
            <a:avLst/>
          </a:prstGeom>
          <a:solidFill>
            <a:schemeClr val="lt1"/>
          </a:solidFill>
          <a:ln cap="flat" cmpd="sng" w="19050">
            <a:solidFill>
              <a:srgbClr val="FFB830"/>
            </a:solidFill>
            <a:prstDash val="solid"/>
            <a:round/>
            <a:headEnd len="sm" w="sm" type="none"/>
            <a:tailEnd len="sm" w="sm" type="none"/>
          </a:ln>
          <a:effectLst>
            <a:outerShdw blurRad="101600" rotWithShape="0" algn="bl" dir="8100000" dist="38100">
              <a:srgbClr val="000000">
                <a:alpha val="3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 name="Google Shape;543;p7"/>
          <p:cNvSpPr/>
          <p:nvPr/>
        </p:nvSpPr>
        <p:spPr>
          <a:xfrm>
            <a:off x="6199128" y="3429000"/>
            <a:ext cx="53400" cy="1508700"/>
          </a:xfrm>
          <a:prstGeom prst="rect">
            <a:avLst/>
          </a:prstGeom>
          <a:solidFill>
            <a:srgbClr val="FFB830"/>
          </a:solidFill>
          <a:ln cap="flat" cmpd="sng" w="12700">
            <a:solidFill>
              <a:srgbClr val="FFB83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 name="Google Shape;544;p7"/>
          <p:cNvSpPr/>
          <p:nvPr/>
        </p:nvSpPr>
        <p:spPr>
          <a:xfrm>
            <a:off x="6359499" y="3456432"/>
            <a:ext cx="24945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B830"/>
              </a:buClr>
              <a:buSzPts val="1300"/>
              <a:buFont typeface="Calibri"/>
              <a:buNone/>
            </a:pPr>
            <a:r>
              <a:rPr b="1" i="0" lang="en" sz="1300" u="none" cap="none" strike="noStrike">
                <a:solidFill>
                  <a:srgbClr val="FFB830"/>
                </a:solidFill>
                <a:latin typeface="Calibri"/>
                <a:ea typeface="Calibri"/>
                <a:cs typeface="Calibri"/>
                <a:sym typeface="Calibri"/>
              </a:rPr>
              <a:t>Overfitting</a:t>
            </a:r>
            <a:endParaRPr b="0" i="0" sz="1300" u="none" cap="none" strike="noStrike">
              <a:solidFill>
                <a:schemeClr val="dk1"/>
              </a:solidFill>
              <a:latin typeface="Calibri"/>
              <a:ea typeface="Calibri"/>
              <a:cs typeface="Calibri"/>
              <a:sym typeface="Calibri"/>
            </a:endParaRPr>
          </a:p>
        </p:txBody>
      </p:sp>
      <p:sp>
        <p:nvSpPr>
          <p:cNvPr id="545" name="Google Shape;545;p7"/>
          <p:cNvSpPr/>
          <p:nvPr/>
        </p:nvSpPr>
        <p:spPr>
          <a:xfrm>
            <a:off x="6359499" y="3785616"/>
            <a:ext cx="2539200" cy="109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0E8F0"/>
              </a:buClr>
              <a:buSzPts val="1050"/>
              <a:buFont typeface="Calibri"/>
              <a:buNone/>
            </a:pPr>
            <a:r>
              <a:rPr b="0" i="0" lang="en" sz="1050" u="none" cap="none" strike="noStrike">
                <a:solidFill>
                  <a:schemeClr val="dk1"/>
                </a:solidFill>
                <a:latin typeface="Calibri"/>
                <a:ea typeface="Calibri"/>
                <a:cs typeface="Calibri"/>
                <a:sym typeface="Calibri"/>
              </a:rPr>
              <a:t>Model too complex — memorises noise. Low train error, high val error. High variance, low bias.</a:t>
            </a:r>
            <a:endParaRPr b="0" i="0" sz="1050" u="none" cap="none" strike="noStrike">
              <a:solidFill>
                <a:schemeClr val="dk1"/>
              </a:solidFill>
              <a:latin typeface="Calibri"/>
              <a:ea typeface="Calibri"/>
              <a:cs typeface="Calibri"/>
              <a:sym typeface="Calibri"/>
            </a:endParaRPr>
          </a:p>
        </p:txBody>
      </p:sp>
      <p:pic>
        <p:nvPicPr>
          <p:cNvPr descr="can you make it in white?" id="546" name="Google Shape;546;p7"/>
          <p:cNvPicPr preferRelativeResize="0"/>
          <p:nvPr/>
        </p:nvPicPr>
        <p:blipFill rotWithShape="1">
          <a:blip r:embed="rId5">
            <a:alphaModFix/>
          </a:blip>
          <a:srcRect b="0" l="0" r="0" t="0"/>
          <a:stretch/>
        </p:blipFill>
        <p:spPr>
          <a:xfrm>
            <a:off x="254100" y="896525"/>
            <a:ext cx="8635800" cy="2395200"/>
          </a:xfrm>
          <a:prstGeom prst="rect">
            <a:avLst/>
          </a:prstGeom>
          <a:solidFill>
            <a:schemeClr val="lt1"/>
          </a:solidFill>
          <a:ln cap="flat" cmpd="sng" w="19050">
            <a:solidFill>
              <a:schemeClr val="lt1"/>
            </a:solidFill>
            <a:prstDash val="solid"/>
            <a:round/>
            <a:headEnd len="sm" w="sm" type="none"/>
            <a:tailEnd len="sm" w="sm" type="none"/>
          </a:ln>
          <a:effectLst>
            <a:outerShdw blurRad="101600" rotWithShape="0" algn="bl" dir="8100000" dist="38100">
              <a:srgbClr val="000000">
                <a:alpha val="30196"/>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50" name="Shape 550"/>
        <p:cNvGrpSpPr/>
        <p:nvPr/>
      </p:nvGrpSpPr>
      <p:grpSpPr>
        <a:xfrm>
          <a:off x="0" y="0"/>
          <a:ext cx="0" cy="0"/>
          <a:chOff x="0" y="0"/>
          <a:chExt cx="0" cy="0"/>
        </a:xfrm>
      </p:grpSpPr>
      <p:pic>
        <p:nvPicPr>
          <p:cNvPr id="551" name="Google Shape;551;p8"/>
          <p:cNvPicPr preferRelativeResize="0"/>
          <p:nvPr/>
        </p:nvPicPr>
        <p:blipFill rotWithShape="1">
          <a:blip r:embed="rId4">
            <a:alphaModFix/>
          </a:blip>
          <a:srcRect b="0" l="0" r="0" t="0"/>
          <a:stretch/>
        </p:blipFill>
        <p:spPr>
          <a:xfrm>
            <a:off x="8369125" y="0"/>
            <a:ext cx="774877" cy="867174"/>
          </a:xfrm>
          <a:prstGeom prst="rect">
            <a:avLst/>
          </a:prstGeom>
          <a:noFill/>
          <a:ln>
            <a:noFill/>
          </a:ln>
        </p:spPr>
      </p:pic>
      <p:sp>
        <p:nvSpPr>
          <p:cNvPr id="552" name="Google Shape;552;p8"/>
          <p:cNvSpPr/>
          <p:nvPr/>
        </p:nvSpPr>
        <p:spPr>
          <a:xfrm>
            <a:off x="228593" y="100750"/>
            <a:ext cx="8686800" cy="658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E0E8F0"/>
              </a:buClr>
              <a:buSzPts val="2400"/>
              <a:buFont typeface="Calibri"/>
              <a:buNone/>
            </a:pPr>
            <a:r>
              <a:rPr b="1" i="0" lang="en" sz="2400" u="none" cap="none" strike="noStrike">
                <a:solidFill>
                  <a:schemeClr val="dk1"/>
                </a:solidFill>
                <a:latin typeface="Calibri"/>
                <a:ea typeface="Calibri"/>
                <a:cs typeface="Calibri"/>
                <a:sym typeface="Calibri"/>
              </a:rPr>
              <a:t>The Bias–Variance Tradeoff</a:t>
            </a:r>
            <a:endParaRPr b="1" i="0" sz="2400" u="none" cap="none" strike="noStrike">
              <a:solidFill>
                <a:schemeClr val="dk1"/>
              </a:solidFill>
              <a:latin typeface="Calibri"/>
              <a:ea typeface="Calibri"/>
              <a:cs typeface="Calibri"/>
              <a:sym typeface="Calibri"/>
            </a:endParaRPr>
          </a:p>
        </p:txBody>
      </p:sp>
      <p:pic>
        <p:nvPicPr>
          <p:cNvPr id="553" name="Google Shape;553;p8"/>
          <p:cNvPicPr preferRelativeResize="0"/>
          <p:nvPr/>
        </p:nvPicPr>
        <p:blipFill rotWithShape="1">
          <a:blip r:embed="rId5">
            <a:alphaModFix/>
          </a:blip>
          <a:srcRect b="70" l="0" r="0" t="70"/>
          <a:stretch/>
        </p:blipFill>
        <p:spPr>
          <a:xfrm>
            <a:off x="274320" y="777240"/>
            <a:ext cx="4754881" cy="3013966"/>
          </a:xfrm>
          <a:prstGeom prst="rect">
            <a:avLst/>
          </a:prstGeom>
          <a:noFill/>
          <a:ln>
            <a:noFill/>
          </a:ln>
        </p:spPr>
      </p:pic>
      <p:sp>
        <p:nvSpPr>
          <p:cNvPr id="554" name="Google Shape;554;p8"/>
          <p:cNvSpPr/>
          <p:nvPr/>
        </p:nvSpPr>
        <p:spPr>
          <a:xfrm>
            <a:off x="5159075" y="987155"/>
            <a:ext cx="3566100" cy="896100"/>
          </a:xfrm>
          <a:prstGeom prst="rect">
            <a:avLst/>
          </a:prstGeom>
          <a:solidFill>
            <a:schemeClr val="lt1"/>
          </a:solidFill>
          <a:ln cap="flat" cmpd="sng" w="19050">
            <a:solidFill>
              <a:srgbClr val="FF4B6E"/>
            </a:solidFill>
            <a:prstDash val="solid"/>
            <a:round/>
            <a:headEnd len="sm" w="sm" type="none"/>
            <a:tailEnd len="sm" w="sm" type="none"/>
          </a:ln>
          <a:effectLst>
            <a:outerShdw blurRad="101600" rotWithShape="0" algn="bl" dir="8100000" dist="38100">
              <a:srgbClr val="000000">
                <a:alpha val="3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5" name="Google Shape;555;p8"/>
          <p:cNvSpPr/>
          <p:nvPr/>
        </p:nvSpPr>
        <p:spPr>
          <a:xfrm>
            <a:off x="5341955" y="1023731"/>
            <a:ext cx="32919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4B6E"/>
              </a:buClr>
              <a:buSzPts val="1300"/>
              <a:buFont typeface="Calibri"/>
              <a:buNone/>
            </a:pPr>
            <a:r>
              <a:rPr b="1" i="0" lang="en" sz="1300" u="none" cap="none" strike="noStrike">
                <a:solidFill>
                  <a:srgbClr val="FF4B6E"/>
                </a:solidFill>
                <a:latin typeface="Calibri"/>
                <a:ea typeface="Calibri"/>
                <a:cs typeface="Calibri"/>
                <a:sym typeface="Calibri"/>
              </a:rPr>
              <a:t>High Bias</a:t>
            </a:r>
            <a:endParaRPr b="0" i="0" sz="1300" u="none" cap="none" strike="noStrike">
              <a:solidFill>
                <a:schemeClr val="dk1"/>
              </a:solidFill>
              <a:latin typeface="Calibri"/>
              <a:ea typeface="Calibri"/>
              <a:cs typeface="Calibri"/>
              <a:sym typeface="Calibri"/>
            </a:endParaRPr>
          </a:p>
        </p:txBody>
      </p:sp>
      <p:sp>
        <p:nvSpPr>
          <p:cNvPr id="556" name="Google Shape;556;p8"/>
          <p:cNvSpPr/>
          <p:nvPr/>
        </p:nvSpPr>
        <p:spPr>
          <a:xfrm>
            <a:off x="5341955" y="1334627"/>
            <a:ext cx="3291900" cy="512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0E8F0"/>
              </a:buClr>
              <a:buSzPts val="1050"/>
              <a:buFont typeface="Calibri"/>
              <a:buNone/>
            </a:pPr>
            <a:r>
              <a:rPr b="0" i="0" lang="en" sz="1050" u="none" cap="none" strike="noStrike">
                <a:solidFill>
                  <a:schemeClr val="dk1"/>
                </a:solidFill>
                <a:latin typeface="Calibri"/>
                <a:ea typeface="Calibri"/>
                <a:cs typeface="Calibri"/>
                <a:sym typeface="Calibri"/>
              </a:rPr>
              <a:t>Underfitting. Model assumptions too rigid. Increases training error.</a:t>
            </a:r>
            <a:endParaRPr b="0" i="0" sz="1050" u="none" cap="none" strike="noStrike">
              <a:solidFill>
                <a:schemeClr val="dk1"/>
              </a:solidFill>
              <a:latin typeface="Calibri"/>
              <a:ea typeface="Calibri"/>
              <a:cs typeface="Calibri"/>
              <a:sym typeface="Calibri"/>
            </a:endParaRPr>
          </a:p>
        </p:txBody>
      </p:sp>
      <p:sp>
        <p:nvSpPr>
          <p:cNvPr id="557" name="Google Shape;557;p8"/>
          <p:cNvSpPr/>
          <p:nvPr/>
        </p:nvSpPr>
        <p:spPr>
          <a:xfrm>
            <a:off x="5159075" y="2011283"/>
            <a:ext cx="3566100" cy="896100"/>
          </a:xfrm>
          <a:prstGeom prst="rect">
            <a:avLst/>
          </a:prstGeom>
          <a:solidFill>
            <a:schemeClr val="lt1"/>
          </a:solidFill>
          <a:ln cap="flat" cmpd="sng" w="19050">
            <a:solidFill>
              <a:srgbClr val="FFB830"/>
            </a:solidFill>
            <a:prstDash val="solid"/>
            <a:round/>
            <a:headEnd len="sm" w="sm" type="none"/>
            <a:tailEnd len="sm" w="sm" type="none"/>
          </a:ln>
          <a:effectLst>
            <a:outerShdw blurRad="101600" rotWithShape="0" algn="bl" dir="8100000" dist="38100">
              <a:srgbClr val="000000">
                <a:alpha val="3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8" name="Google Shape;558;p8"/>
          <p:cNvSpPr/>
          <p:nvPr/>
        </p:nvSpPr>
        <p:spPr>
          <a:xfrm>
            <a:off x="5341955" y="2047859"/>
            <a:ext cx="32919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B830"/>
              </a:buClr>
              <a:buSzPts val="1300"/>
              <a:buFont typeface="Calibri"/>
              <a:buNone/>
            </a:pPr>
            <a:r>
              <a:rPr b="1" i="0" lang="en" sz="1300" u="none" cap="none" strike="noStrike">
                <a:solidFill>
                  <a:srgbClr val="FFB830"/>
                </a:solidFill>
                <a:latin typeface="Calibri"/>
                <a:ea typeface="Calibri"/>
                <a:cs typeface="Calibri"/>
                <a:sym typeface="Calibri"/>
              </a:rPr>
              <a:t>High Variance</a:t>
            </a:r>
            <a:endParaRPr b="0" i="0" sz="1300" u="none" cap="none" strike="noStrike">
              <a:solidFill>
                <a:schemeClr val="dk1"/>
              </a:solidFill>
              <a:latin typeface="Calibri"/>
              <a:ea typeface="Calibri"/>
              <a:cs typeface="Calibri"/>
              <a:sym typeface="Calibri"/>
            </a:endParaRPr>
          </a:p>
        </p:txBody>
      </p:sp>
      <p:sp>
        <p:nvSpPr>
          <p:cNvPr id="559" name="Google Shape;559;p8"/>
          <p:cNvSpPr/>
          <p:nvPr/>
        </p:nvSpPr>
        <p:spPr>
          <a:xfrm>
            <a:off x="5341955" y="2358755"/>
            <a:ext cx="3291900" cy="512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0E8F0"/>
              </a:buClr>
              <a:buSzPts val="1050"/>
              <a:buFont typeface="Calibri"/>
              <a:buNone/>
            </a:pPr>
            <a:r>
              <a:rPr b="0" i="0" lang="en" sz="1050" u="none" cap="none" strike="noStrike">
                <a:solidFill>
                  <a:schemeClr val="dk1"/>
                </a:solidFill>
                <a:latin typeface="Calibri"/>
                <a:ea typeface="Calibri"/>
                <a:cs typeface="Calibri"/>
                <a:sym typeface="Calibri"/>
              </a:rPr>
              <a:t>Overfitting. Model too sensitive to training data. Val error diverges.</a:t>
            </a:r>
            <a:endParaRPr b="0" i="0" sz="1050" u="none" cap="none" strike="noStrike">
              <a:solidFill>
                <a:schemeClr val="dk1"/>
              </a:solidFill>
              <a:latin typeface="Calibri"/>
              <a:ea typeface="Calibri"/>
              <a:cs typeface="Calibri"/>
              <a:sym typeface="Calibri"/>
            </a:endParaRPr>
          </a:p>
        </p:txBody>
      </p:sp>
      <p:sp>
        <p:nvSpPr>
          <p:cNvPr id="560" name="Google Shape;560;p8"/>
          <p:cNvSpPr/>
          <p:nvPr/>
        </p:nvSpPr>
        <p:spPr>
          <a:xfrm>
            <a:off x="5159075" y="3035411"/>
            <a:ext cx="3566100" cy="896100"/>
          </a:xfrm>
          <a:prstGeom prst="rect">
            <a:avLst/>
          </a:prstGeom>
          <a:solidFill>
            <a:schemeClr val="lt1"/>
          </a:solidFill>
          <a:ln cap="flat" cmpd="sng" w="19050">
            <a:solidFill>
              <a:srgbClr val="00C9B1"/>
            </a:solidFill>
            <a:prstDash val="solid"/>
            <a:round/>
            <a:headEnd len="sm" w="sm" type="none"/>
            <a:tailEnd len="sm" w="sm" type="none"/>
          </a:ln>
          <a:effectLst>
            <a:outerShdw blurRad="101600" rotWithShape="0" algn="bl" dir="8100000" dist="38100">
              <a:srgbClr val="000000">
                <a:alpha val="3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1" name="Google Shape;561;p8"/>
          <p:cNvSpPr/>
          <p:nvPr/>
        </p:nvSpPr>
        <p:spPr>
          <a:xfrm>
            <a:off x="5341955" y="3071987"/>
            <a:ext cx="32919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C9B1"/>
              </a:buClr>
              <a:buSzPts val="1300"/>
              <a:buFont typeface="Calibri"/>
              <a:buNone/>
            </a:pPr>
            <a:r>
              <a:rPr b="1" i="0" lang="en" sz="1300" u="none" cap="none" strike="noStrike">
                <a:solidFill>
                  <a:srgbClr val="00C9B1"/>
                </a:solidFill>
                <a:latin typeface="Calibri"/>
                <a:ea typeface="Calibri"/>
                <a:cs typeface="Calibri"/>
                <a:sym typeface="Calibri"/>
              </a:rPr>
              <a:t>Sweet Spot</a:t>
            </a:r>
            <a:endParaRPr b="0" i="0" sz="1300" u="none" cap="none" strike="noStrike">
              <a:solidFill>
                <a:schemeClr val="dk1"/>
              </a:solidFill>
              <a:latin typeface="Calibri"/>
              <a:ea typeface="Calibri"/>
              <a:cs typeface="Calibri"/>
              <a:sym typeface="Calibri"/>
            </a:endParaRPr>
          </a:p>
        </p:txBody>
      </p:sp>
      <p:sp>
        <p:nvSpPr>
          <p:cNvPr id="562" name="Google Shape;562;p8"/>
          <p:cNvSpPr/>
          <p:nvPr/>
        </p:nvSpPr>
        <p:spPr>
          <a:xfrm>
            <a:off x="5341955" y="3382883"/>
            <a:ext cx="3291900" cy="512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0E8F0"/>
              </a:buClr>
              <a:buSzPts val="1050"/>
              <a:buFont typeface="Calibri"/>
              <a:buNone/>
            </a:pPr>
            <a:r>
              <a:rPr b="0" i="0" lang="en" sz="1050" u="none" cap="none" strike="noStrike">
                <a:solidFill>
                  <a:schemeClr val="dk1"/>
                </a:solidFill>
                <a:latin typeface="Calibri"/>
                <a:ea typeface="Calibri"/>
                <a:cs typeface="Calibri"/>
                <a:sym typeface="Calibri"/>
              </a:rPr>
              <a:t>Minimise total error = Bias² + Variance + irreducible noise.</a:t>
            </a:r>
            <a:endParaRPr b="0" i="0" sz="1050" u="none" cap="none" strike="noStrike">
              <a:solidFill>
                <a:schemeClr val="dk1"/>
              </a:solidFill>
              <a:latin typeface="Calibri"/>
              <a:ea typeface="Calibri"/>
              <a:cs typeface="Calibri"/>
              <a:sym typeface="Calibri"/>
            </a:endParaRPr>
          </a:p>
        </p:txBody>
      </p:sp>
      <p:sp>
        <p:nvSpPr>
          <p:cNvPr id="563" name="Google Shape;563;p8"/>
          <p:cNvSpPr/>
          <p:nvPr/>
        </p:nvSpPr>
        <p:spPr>
          <a:xfrm>
            <a:off x="5159075" y="4032107"/>
            <a:ext cx="3566100" cy="896100"/>
          </a:xfrm>
          <a:prstGeom prst="rect">
            <a:avLst/>
          </a:prstGeom>
          <a:solidFill>
            <a:schemeClr val="lt1"/>
          </a:solidFill>
          <a:ln cap="flat" cmpd="sng" w="19050">
            <a:solidFill>
              <a:srgbClr val="00C9B1"/>
            </a:solidFill>
            <a:prstDash val="solid"/>
            <a:round/>
            <a:headEnd len="sm" w="sm" type="none"/>
            <a:tailEnd len="sm" w="sm" type="none"/>
          </a:ln>
          <a:effectLst>
            <a:outerShdw blurRad="101600" rotWithShape="0" algn="bl" dir="8100000" dist="38100">
              <a:srgbClr val="000000">
                <a:alpha val="3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4" name="Google Shape;564;p8"/>
          <p:cNvSpPr/>
          <p:nvPr/>
        </p:nvSpPr>
        <p:spPr>
          <a:xfrm>
            <a:off x="5296235" y="4068683"/>
            <a:ext cx="3383400" cy="841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C9B1"/>
              </a:buClr>
              <a:buSzPts val="1200"/>
              <a:buFont typeface="Courier New"/>
              <a:buNone/>
            </a:pPr>
            <a:r>
              <a:rPr b="1" i="0" lang="en" sz="1200" u="none" cap="none" strike="noStrike">
                <a:solidFill>
                  <a:srgbClr val="00C9B1"/>
                </a:solidFill>
                <a:latin typeface="Courier New"/>
                <a:ea typeface="Courier New"/>
                <a:cs typeface="Courier New"/>
                <a:sym typeface="Courier New"/>
              </a:rPr>
              <a:t>Total Error  =  Bias²  +  Variance  +  ε</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68" name="Shape 568"/>
        <p:cNvGrpSpPr/>
        <p:nvPr/>
      </p:nvGrpSpPr>
      <p:grpSpPr>
        <a:xfrm>
          <a:off x="0" y="0"/>
          <a:ext cx="0" cy="0"/>
          <a:chOff x="0" y="0"/>
          <a:chExt cx="0" cy="0"/>
        </a:xfrm>
      </p:grpSpPr>
      <p:pic>
        <p:nvPicPr>
          <p:cNvPr id="569" name="Google Shape;569;p6"/>
          <p:cNvPicPr preferRelativeResize="0"/>
          <p:nvPr/>
        </p:nvPicPr>
        <p:blipFill rotWithShape="1">
          <a:blip r:embed="rId4">
            <a:alphaModFix/>
          </a:blip>
          <a:srcRect b="0" l="0" r="0" t="0"/>
          <a:stretch/>
        </p:blipFill>
        <p:spPr>
          <a:xfrm>
            <a:off x="8369125" y="0"/>
            <a:ext cx="774877" cy="867174"/>
          </a:xfrm>
          <a:prstGeom prst="rect">
            <a:avLst/>
          </a:prstGeom>
          <a:noFill/>
          <a:ln>
            <a:noFill/>
          </a:ln>
        </p:spPr>
      </p:pic>
      <p:sp>
        <p:nvSpPr>
          <p:cNvPr id="570" name="Google Shape;570;p6"/>
          <p:cNvSpPr txBox="1"/>
          <p:nvPr/>
        </p:nvSpPr>
        <p:spPr>
          <a:xfrm>
            <a:off x="1502551" y="89250"/>
            <a:ext cx="6618600" cy="1143000"/>
          </a:xfrm>
          <a:prstGeom prst="rect">
            <a:avLst/>
          </a:prstGeom>
          <a:no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rgbClr val="0D1B2A"/>
              </a:buClr>
              <a:buSzPts val="2600"/>
              <a:buFont typeface="Calibri"/>
              <a:buNone/>
            </a:pPr>
            <a:r>
              <a:rPr b="1" i="0" lang="en" sz="2600" u="none" cap="none" strike="noStrike">
                <a:solidFill>
                  <a:srgbClr val="0D1B2A"/>
                </a:solidFill>
                <a:latin typeface="Calibri"/>
                <a:ea typeface="Calibri"/>
                <a:cs typeface="Calibri"/>
                <a:sym typeface="Calibri"/>
              </a:rPr>
              <a:t>Overfitting, Underfitting &amp; Regularization</a:t>
            </a:r>
            <a:endParaRPr b="1" i="0" sz="2800" u="none" cap="none" strike="noStrike">
              <a:solidFill>
                <a:srgbClr val="000000"/>
              </a:solidFill>
              <a:latin typeface="Calibri"/>
              <a:ea typeface="Calibri"/>
              <a:cs typeface="Calibri"/>
              <a:sym typeface="Calibri"/>
            </a:endParaRPr>
          </a:p>
        </p:txBody>
      </p:sp>
      <p:sp>
        <p:nvSpPr>
          <p:cNvPr id="571" name="Google Shape;571;p6"/>
          <p:cNvSpPr/>
          <p:nvPr/>
        </p:nvSpPr>
        <p:spPr>
          <a:xfrm>
            <a:off x="55900" y="1108650"/>
            <a:ext cx="3885300" cy="3795300"/>
          </a:xfrm>
          <a:prstGeom prst="rect">
            <a:avLst/>
          </a:prstGeom>
          <a:solidFill>
            <a:srgbClr val="FFFFFF"/>
          </a:solidFill>
          <a:ln cap="flat" cmpd="sng" w="12550">
            <a:solidFill>
              <a:srgbClr val="94D2BD"/>
            </a:solidFill>
            <a:prstDash val="solid"/>
            <a:round/>
            <a:headEnd len="sm" w="sm" type="none"/>
            <a:tailEnd len="sm" w="sm" type="none"/>
          </a:ln>
          <a:effectLst>
            <a:outerShdw blurRad="50202" rotWithShape="0" algn="bl" dir="8100000" dist="25101">
              <a:srgbClr val="000000">
                <a:alpha val="10196"/>
              </a:srgbClr>
            </a:outerShdw>
          </a:effectLst>
        </p:spPr>
        <p:txBody>
          <a:bodyPr anchorCtr="0" anchor="ctr" bIns="90350" lIns="90350" spcFirstLastPara="1" rIns="90350" wrap="square" tIns="903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2" name="Google Shape;572;p6"/>
          <p:cNvSpPr/>
          <p:nvPr/>
        </p:nvSpPr>
        <p:spPr>
          <a:xfrm>
            <a:off x="236628" y="1199014"/>
            <a:ext cx="3524400" cy="451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A9396"/>
              </a:buClr>
              <a:buSzPts val="1482"/>
              <a:buFont typeface="Calibri"/>
              <a:buNone/>
            </a:pPr>
            <a:r>
              <a:rPr b="1" i="0" lang="en" sz="1482" u="none" cap="none" strike="noStrike">
                <a:solidFill>
                  <a:srgbClr val="0A9396"/>
                </a:solidFill>
                <a:latin typeface="Calibri"/>
                <a:ea typeface="Calibri"/>
                <a:cs typeface="Calibri"/>
                <a:sym typeface="Calibri"/>
              </a:rPr>
              <a:t>Bias-Variance Tradeoff</a:t>
            </a:r>
            <a:endParaRPr b="0" i="0" sz="1482" u="none" cap="none" strike="noStrike">
              <a:solidFill>
                <a:srgbClr val="000000"/>
              </a:solidFill>
              <a:latin typeface="Calibri"/>
              <a:ea typeface="Calibri"/>
              <a:cs typeface="Calibri"/>
              <a:sym typeface="Calibri"/>
            </a:endParaRPr>
          </a:p>
        </p:txBody>
      </p:sp>
      <p:sp>
        <p:nvSpPr>
          <p:cNvPr id="573" name="Google Shape;573;p6"/>
          <p:cNvSpPr/>
          <p:nvPr/>
        </p:nvSpPr>
        <p:spPr>
          <a:xfrm>
            <a:off x="236628" y="1696017"/>
            <a:ext cx="3524400" cy="2982000"/>
          </a:xfrm>
          <a:prstGeom prst="rect">
            <a:avLst/>
          </a:prstGeom>
          <a:noFill/>
          <a:ln>
            <a:noFill/>
          </a:ln>
        </p:spPr>
        <p:txBody>
          <a:bodyPr anchorCtr="0" anchor="t" bIns="0" lIns="0" spcFirstLastPara="1" rIns="0" wrap="square" tIns="0">
            <a:noAutofit/>
          </a:bodyPr>
          <a:lstStyle/>
          <a:p>
            <a:pPr indent="-338864" lvl="0" marL="338864" marR="0" rtl="0" algn="l">
              <a:lnSpc>
                <a:spcPct val="100000"/>
              </a:lnSpc>
              <a:spcBef>
                <a:spcPts val="0"/>
              </a:spcBef>
              <a:spcAft>
                <a:spcPts val="0"/>
              </a:spcAft>
              <a:buClr>
                <a:srgbClr val="1B2E45"/>
              </a:buClr>
              <a:buSzPts val="1285"/>
              <a:buFont typeface="Calibri"/>
              <a:buChar char="•"/>
            </a:pPr>
            <a:r>
              <a:rPr b="0" i="0" lang="en" sz="1285" u="none" cap="none" strike="noStrike">
                <a:solidFill>
                  <a:srgbClr val="1B2E45"/>
                </a:solidFill>
                <a:latin typeface="Calibri"/>
                <a:ea typeface="Calibri"/>
                <a:cs typeface="Calibri"/>
                <a:sym typeface="Calibri"/>
              </a:rPr>
              <a:t>Underfitting (High Bias): Model too simple, cannot capture patterns</a:t>
            </a:r>
            <a:endParaRPr b="0" i="0" sz="1285" u="none" cap="none" strike="noStrike">
              <a:solidFill>
                <a:srgbClr val="000000"/>
              </a:solidFill>
              <a:latin typeface="Calibri"/>
              <a:ea typeface="Calibri"/>
              <a:cs typeface="Calibri"/>
              <a:sym typeface="Calibri"/>
            </a:endParaRPr>
          </a:p>
          <a:p>
            <a:pPr indent="-338864" lvl="0" marL="338864" marR="0" rtl="0" algn="l">
              <a:lnSpc>
                <a:spcPct val="100000"/>
              </a:lnSpc>
              <a:spcBef>
                <a:spcPts val="593"/>
              </a:spcBef>
              <a:spcAft>
                <a:spcPts val="0"/>
              </a:spcAft>
              <a:buClr>
                <a:srgbClr val="1B2E45"/>
              </a:buClr>
              <a:buSzPts val="1285"/>
              <a:buFont typeface="Calibri"/>
              <a:buChar char="•"/>
            </a:pPr>
            <a:r>
              <a:rPr b="0" i="0" lang="en" sz="1285" u="none" cap="none" strike="noStrike">
                <a:solidFill>
                  <a:srgbClr val="1B2E45"/>
                </a:solidFill>
                <a:latin typeface="Calibri"/>
                <a:ea typeface="Calibri"/>
                <a:cs typeface="Calibri"/>
                <a:sym typeface="Calibri"/>
              </a:rPr>
              <a:t>Overfitting (High Variance): Model memorizes training data, fails on new data</a:t>
            </a:r>
            <a:endParaRPr b="0" i="0" sz="1285" u="none" cap="none" strike="noStrike">
              <a:solidFill>
                <a:srgbClr val="000000"/>
              </a:solidFill>
              <a:latin typeface="Calibri"/>
              <a:ea typeface="Calibri"/>
              <a:cs typeface="Calibri"/>
              <a:sym typeface="Calibri"/>
            </a:endParaRPr>
          </a:p>
          <a:p>
            <a:pPr indent="-338864" lvl="0" marL="338864" marR="0" rtl="0" algn="l">
              <a:lnSpc>
                <a:spcPct val="100000"/>
              </a:lnSpc>
              <a:spcBef>
                <a:spcPts val="593"/>
              </a:spcBef>
              <a:spcAft>
                <a:spcPts val="0"/>
              </a:spcAft>
              <a:buClr>
                <a:srgbClr val="1B2E45"/>
              </a:buClr>
              <a:buSzPts val="1285"/>
              <a:buFont typeface="Calibri"/>
              <a:buChar char="•"/>
            </a:pPr>
            <a:r>
              <a:rPr b="0" i="0" lang="en" sz="1285" u="none" cap="none" strike="noStrike">
                <a:solidFill>
                  <a:srgbClr val="1B2E45"/>
                </a:solidFill>
                <a:latin typeface="Calibri"/>
                <a:ea typeface="Calibri"/>
                <a:cs typeface="Calibri"/>
                <a:sym typeface="Calibri"/>
              </a:rPr>
              <a:t>The sweet spot: Generalizes well to unseen data</a:t>
            </a:r>
            <a:endParaRPr b="0" i="0" sz="1285" u="none" cap="none" strike="noStrike">
              <a:solidFill>
                <a:srgbClr val="000000"/>
              </a:solidFill>
              <a:latin typeface="Calibri"/>
              <a:ea typeface="Calibri"/>
              <a:cs typeface="Calibri"/>
              <a:sym typeface="Calibri"/>
            </a:endParaRPr>
          </a:p>
          <a:p>
            <a:pPr indent="-338864" lvl="0" marL="338864" marR="0" rtl="0" algn="l">
              <a:lnSpc>
                <a:spcPct val="100000"/>
              </a:lnSpc>
              <a:spcBef>
                <a:spcPts val="593"/>
              </a:spcBef>
              <a:spcAft>
                <a:spcPts val="0"/>
              </a:spcAft>
              <a:buClr>
                <a:srgbClr val="1B2E45"/>
              </a:buClr>
              <a:buSzPts val="1285"/>
              <a:buFont typeface="Calibri"/>
              <a:buChar char="•"/>
            </a:pPr>
            <a:r>
              <a:rPr b="0" i="0" lang="en" sz="1285" u="none" cap="none" strike="noStrike">
                <a:solidFill>
                  <a:srgbClr val="1B2E45"/>
                </a:solidFill>
                <a:latin typeface="Calibri"/>
                <a:ea typeface="Calibri"/>
                <a:cs typeface="Calibri"/>
                <a:sym typeface="Calibri"/>
              </a:rPr>
              <a:t>Monitored via Train/Validation/Test split</a:t>
            </a:r>
            <a:endParaRPr b="0" i="0" sz="1285" u="none" cap="none" strike="noStrike">
              <a:solidFill>
                <a:srgbClr val="000000"/>
              </a:solidFill>
              <a:latin typeface="Calibri"/>
              <a:ea typeface="Calibri"/>
              <a:cs typeface="Calibri"/>
              <a:sym typeface="Calibri"/>
            </a:endParaRPr>
          </a:p>
          <a:p>
            <a:pPr indent="-338864" lvl="0" marL="338864" marR="0" rtl="0" algn="l">
              <a:lnSpc>
                <a:spcPct val="100000"/>
              </a:lnSpc>
              <a:spcBef>
                <a:spcPts val="593"/>
              </a:spcBef>
              <a:spcAft>
                <a:spcPts val="0"/>
              </a:spcAft>
              <a:buClr>
                <a:srgbClr val="1B2E45"/>
              </a:buClr>
              <a:buSzPts val="1285"/>
              <a:buFont typeface="Calibri"/>
              <a:buChar char="•"/>
            </a:pPr>
            <a:r>
              <a:rPr b="0" i="0" lang="en" sz="1285" u="none" cap="none" strike="noStrike">
                <a:solidFill>
                  <a:srgbClr val="1B2E45"/>
                </a:solidFill>
                <a:latin typeface="Calibri"/>
                <a:ea typeface="Calibri"/>
                <a:cs typeface="Calibri"/>
                <a:sym typeface="Calibri"/>
              </a:rPr>
              <a:t>Training accuracy vs Validation accuracy gap = overfitting signal</a:t>
            </a:r>
            <a:endParaRPr b="0" i="0" sz="1285" u="none" cap="none" strike="noStrike">
              <a:solidFill>
                <a:srgbClr val="000000"/>
              </a:solidFill>
              <a:latin typeface="Calibri"/>
              <a:ea typeface="Calibri"/>
              <a:cs typeface="Calibri"/>
              <a:sym typeface="Calibri"/>
            </a:endParaRPr>
          </a:p>
        </p:txBody>
      </p:sp>
      <p:sp>
        <p:nvSpPr>
          <p:cNvPr id="574" name="Google Shape;574;p6"/>
          <p:cNvSpPr/>
          <p:nvPr/>
        </p:nvSpPr>
        <p:spPr>
          <a:xfrm>
            <a:off x="4483736" y="1108650"/>
            <a:ext cx="3885300" cy="3795300"/>
          </a:xfrm>
          <a:prstGeom prst="rect">
            <a:avLst/>
          </a:prstGeom>
          <a:solidFill>
            <a:srgbClr val="FFFFFF"/>
          </a:solidFill>
          <a:ln cap="flat" cmpd="sng" w="12550">
            <a:solidFill>
              <a:srgbClr val="94D2BD"/>
            </a:solidFill>
            <a:prstDash val="solid"/>
            <a:round/>
            <a:headEnd len="sm" w="sm" type="none"/>
            <a:tailEnd len="sm" w="sm" type="none"/>
          </a:ln>
          <a:effectLst>
            <a:outerShdw blurRad="50202" rotWithShape="0" algn="bl" dir="8100000" dist="25101">
              <a:srgbClr val="000000">
                <a:alpha val="10196"/>
              </a:srgbClr>
            </a:outerShdw>
          </a:effectLst>
        </p:spPr>
        <p:txBody>
          <a:bodyPr anchorCtr="0" anchor="ctr" bIns="90350" lIns="90350" spcFirstLastPara="1" rIns="90350" wrap="square" tIns="903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5" name="Google Shape;575;p6"/>
          <p:cNvSpPr/>
          <p:nvPr/>
        </p:nvSpPr>
        <p:spPr>
          <a:xfrm>
            <a:off x="4664464" y="1199014"/>
            <a:ext cx="3524400" cy="451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E9B00"/>
              </a:buClr>
              <a:buSzPts val="1482"/>
              <a:buFont typeface="Calibri"/>
              <a:buNone/>
            </a:pPr>
            <a:r>
              <a:rPr b="1" i="0" lang="en" sz="1482" u="none" cap="none" strike="noStrike">
                <a:solidFill>
                  <a:srgbClr val="EE9B00"/>
                </a:solidFill>
                <a:latin typeface="Calibri"/>
                <a:ea typeface="Calibri"/>
                <a:cs typeface="Calibri"/>
                <a:sym typeface="Calibri"/>
              </a:rPr>
              <a:t>Regularization Techniques</a:t>
            </a:r>
            <a:endParaRPr b="0" i="0" sz="1482" u="none" cap="none" strike="noStrike">
              <a:solidFill>
                <a:srgbClr val="000000"/>
              </a:solidFill>
              <a:latin typeface="Calibri"/>
              <a:ea typeface="Calibri"/>
              <a:cs typeface="Calibri"/>
              <a:sym typeface="Calibri"/>
            </a:endParaRPr>
          </a:p>
        </p:txBody>
      </p:sp>
      <p:sp>
        <p:nvSpPr>
          <p:cNvPr id="576" name="Google Shape;576;p6"/>
          <p:cNvSpPr/>
          <p:nvPr/>
        </p:nvSpPr>
        <p:spPr>
          <a:xfrm>
            <a:off x="4664464" y="1696017"/>
            <a:ext cx="3524400" cy="2982000"/>
          </a:xfrm>
          <a:prstGeom prst="rect">
            <a:avLst/>
          </a:prstGeom>
          <a:noFill/>
          <a:ln>
            <a:noFill/>
          </a:ln>
        </p:spPr>
        <p:txBody>
          <a:bodyPr anchorCtr="0" anchor="t" bIns="0" lIns="0" spcFirstLastPara="1" rIns="0" wrap="square" tIns="0">
            <a:noAutofit/>
          </a:bodyPr>
          <a:lstStyle/>
          <a:p>
            <a:pPr indent="-338864" lvl="0" marL="338864" marR="0" rtl="0" algn="l">
              <a:lnSpc>
                <a:spcPct val="100000"/>
              </a:lnSpc>
              <a:spcBef>
                <a:spcPts val="0"/>
              </a:spcBef>
              <a:spcAft>
                <a:spcPts val="0"/>
              </a:spcAft>
              <a:buClr>
                <a:srgbClr val="1B2E45"/>
              </a:buClr>
              <a:buSzPts val="1285"/>
              <a:buFont typeface="Calibri"/>
              <a:buChar char="•"/>
            </a:pPr>
            <a:r>
              <a:rPr b="0" i="0" lang="en" sz="1285" u="none" cap="none" strike="noStrike">
                <a:solidFill>
                  <a:srgbClr val="1B2E45"/>
                </a:solidFill>
                <a:latin typeface="Calibri"/>
                <a:ea typeface="Calibri"/>
                <a:cs typeface="Calibri"/>
                <a:sym typeface="Calibri"/>
              </a:rPr>
              <a:t>L2 Regularization (Weight Decay): Penalize large weights in loss function</a:t>
            </a:r>
            <a:endParaRPr b="0" i="0" sz="1285" u="none" cap="none" strike="noStrike">
              <a:solidFill>
                <a:srgbClr val="000000"/>
              </a:solidFill>
              <a:latin typeface="Calibri"/>
              <a:ea typeface="Calibri"/>
              <a:cs typeface="Calibri"/>
              <a:sym typeface="Calibri"/>
            </a:endParaRPr>
          </a:p>
          <a:p>
            <a:pPr indent="-338864" lvl="0" marL="338864" marR="0" rtl="0" algn="l">
              <a:lnSpc>
                <a:spcPct val="100000"/>
              </a:lnSpc>
              <a:spcBef>
                <a:spcPts val="593"/>
              </a:spcBef>
              <a:spcAft>
                <a:spcPts val="0"/>
              </a:spcAft>
              <a:buClr>
                <a:srgbClr val="1B2E45"/>
              </a:buClr>
              <a:buSzPts val="1285"/>
              <a:buFont typeface="Calibri"/>
              <a:buChar char="•"/>
            </a:pPr>
            <a:r>
              <a:rPr b="0" i="0" lang="en" sz="1285" u="none" cap="none" strike="noStrike">
                <a:solidFill>
                  <a:srgbClr val="1B2E45"/>
                </a:solidFill>
                <a:latin typeface="Calibri"/>
                <a:ea typeface="Calibri"/>
                <a:cs typeface="Calibri"/>
                <a:sym typeface="Calibri"/>
              </a:rPr>
              <a:t>L1 Regularization: Induces sparsity (feature selection)</a:t>
            </a:r>
            <a:endParaRPr b="0" i="0" sz="1285" u="none" cap="none" strike="noStrike">
              <a:solidFill>
                <a:srgbClr val="000000"/>
              </a:solidFill>
              <a:latin typeface="Calibri"/>
              <a:ea typeface="Calibri"/>
              <a:cs typeface="Calibri"/>
              <a:sym typeface="Calibri"/>
            </a:endParaRPr>
          </a:p>
          <a:p>
            <a:pPr indent="-338864" lvl="0" marL="338864" marR="0" rtl="0" algn="l">
              <a:lnSpc>
                <a:spcPct val="100000"/>
              </a:lnSpc>
              <a:spcBef>
                <a:spcPts val="593"/>
              </a:spcBef>
              <a:spcAft>
                <a:spcPts val="0"/>
              </a:spcAft>
              <a:buClr>
                <a:srgbClr val="1B2E45"/>
              </a:buClr>
              <a:buSzPts val="1285"/>
              <a:buFont typeface="Calibri"/>
              <a:buChar char="•"/>
            </a:pPr>
            <a:r>
              <a:rPr b="0" i="0" lang="en" sz="1285" u="none" cap="none" strike="noStrike">
                <a:solidFill>
                  <a:srgbClr val="1B2E45"/>
                </a:solidFill>
                <a:latin typeface="Calibri"/>
                <a:ea typeface="Calibri"/>
                <a:cs typeface="Calibri"/>
                <a:sym typeface="Calibri"/>
              </a:rPr>
              <a:t>Dropout: Randomly zero out neurons during training (prevents co-adaptation)</a:t>
            </a:r>
            <a:endParaRPr b="0" i="0" sz="1285" u="none" cap="none" strike="noStrike">
              <a:solidFill>
                <a:srgbClr val="000000"/>
              </a:solidFill>
              <a:latin typeface="Calibri"/>
              <a:ea typeface="Calibri"/>
              <a:cs typeface="Calibri"/>
              <a:sym typeface="Calibri"/>
            </a:endParaRPr>
          </a:p>
          <a:p>
            <a:pPr indent="-338864" lvl="0" marL="338864" marR="0" rtl="0" algn="l">
              <a:lnSpc>
                <a:spcPct val="100000"/>
              </a:lnSpc>
              <a:spcBef>
                <a:spcPts val="593"/>
              </a:spcBef>
              <a:spcAft>
                <a:spcPts val="0"/>
              </a:spcAft>
              <a:buClr>
                <a:srgbClr val="1B2E45"/>
              </a:buClr>
              <a:buSzPts val="1285"/>
              <a:buFont typeface="Calibri"/>
              <a:buChar char="•"/>
            </a:pPr>
            <a:r>
              <a:rPr b="0" i="0" lang="en" sz="1285" u="none" cap="none" strike="noStrike">
                <a:solidFill>
                  <a:srgbClr val="1B2E45"/>
                </a:solidFill>
                <a:latin typeface="Calibri"/>
                <a:ea typeface="Calibri"/>
                <a:cs typeface="Calibri"/>
                <a:sym typeface="Calibri"/>
              </a:rPr>
              <a:t>Batch Normalization: Normalize layer activations for stable training</a:t>
            </a:r>
            <a:endParaRPr b="0" i="0" sz="1285" u="none" cap="none" strike="noStrike">
              <a:solidFill>
                <a:srgbClr val="000000"/>
              </a:solidFill>
              <a:latin typeface="Calibri"/>
              <a:ea typeface="Calibri"/>
              <a:cs typeface="Calibri"/>
              <a:sym typeface="Calibri"/>
            </a:endParaRPr>
          </a:p>
          <a:p>
            <a:pPr indent="-338864" lvl="0" marL="338864" marR="0" rtl="0" algn="l">
              <a:lnSpc>
                <a:spcPct val="100000"/>
              </a:lnSpc>
              <a:spcBef>
                <a:spcPts val="593"/>
              </a:spcBef>
              <a:spcAft>
                <a:spcPts val="0"/>
              </a:spcAft>
              <a:buClr>
                <a:srgbClr val="1B2E45"/>
              </a:buClr>
              <a:buSzPts val="1285"/>
              <a:buFont typeface="Calibri"/>
              <a:buChar char="•"/>
            </a:pPr>
            <a:r>
              <a:rPr b="0" i="0" lang="en" sz="1285" u="none" cap="none" strike="noStrike">
                <a:solidFill>
                  <a:srgbClr val="1B2E45"/>
                </a:solidFill>
                <a:latin typeface="Calibri"/>
                <a:ea typeface="Calibri"/>
                <a:cs typeface="Calibri"/>
                <a:sym typeface="Calibri"/>
              </a:rPr>
              <a:t>Data Augmentation: Expand training set with transforms (flip, crop, noise)</a:t>
            </a:r>
            <a:endParaRPr b="0" i="0" sz="1285" u="none" cap="none" strike="noStrike">
              <a:solidFill>
                <a:srgbClr val="000000"/>
              </a:solidFill>
              <a:latin typeface="Calibri"/>
              <a:ea typeface="Calibri"/>
              <a:cs typeface="Calibri"/>
              <a:sym typeface="Calibri"/>
            </a:endParaRPr>
          </a:p>
          <a:p>
            <a:pPr indent="-338864" lvl="0" marL="338864" marR="0" rtl="0" algn="l">
              <a:lnSpc>
                <a:spcPct val="100000"/>
              </a:lnSpc>
              <a:spcBef>
                <a:spcPts val="593"/>
              </a:spcBef>
              <a:spcAft>
                <a:spcPts val="0"/>
              </a:spcAft>
              <a:buClr>
                <a:srgbClr val="1B2E45"/>
              </a:buClr>
              <a:buSzPts val="1285"/>
              <a:buFont typeface="Calibri"/>
              <a:buChar char="•"/>
            </a:pPr>
            <a:r>
              <a:rPr b="0" i="0" lang="en" sz="1285" u="none" cap="none" strike="noStrike">
                <a:solidFill>
                  <a:srgbClr val="1B2E45"/>
                </a:solidFill>
                <a:latin typeface="Calibri"/>
                <a:ea typeface="Calibri"/>
                <a:cs typeface="Calibri"/>
                <a:sym typeface="Calibri"/>
              </a:rPr>
              <a:t>Early Stopping: Stop training when validation loss starts increasing</a:t>
            </a:r>
            <a:endParaRPr b="0" i="0" sz="1285" u="none" cap="none" strike="noStrike">
              <a:solidFill>
                <a:srgbClr val="000000"/>
              </a:solidFill>
              <a:latin typeface="Calibri"/>
              <a:ea typeface="Calibri"/>
              <a:cs typeface="Calibri"/>
              <a:sym typeface="Calibri"/>
            </a:endParaRPr>
          </a:p>
        </p:txBody>
      </p:sp>
      <p:pic>
        <p:nvPicPr>
          <p:cNvPr id="577" name="Google Shape;577;p6"/>
          <p:cNvPicPr preferRelativeResize="0"/>
          <p:nvPr/>
        </p:nvPicPr>
        <p:blipFill rotWithShape="1">
          <a:blip r:embed="rId5">
            <a:alphaModFix/>
          </a:blip>
          <a:srcRect b="0" l="0" r="0" t="0"/>
          <a:stretch/>
        </p:blipFill>
        <p:spPr>
          <a:xfrm>
            <a:off x="1961770" y="3625580"/>
            <a:ext cx="1640213" cy="118713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81" name="Shape 581"/>
        <p:cNvGrpSpPr/>
        <p:nvPr/>
      </p:nvGrpSpPr>
      <p:grpSpPr>
        <a:xfrm>
          <a:off x="0" y="0"/>
          <a:ext cx="0" cy="0"/>
          <a:chOff x="0" y="0"/>
          <a:chExt cx="0" cy="0"/>
        </a:xfrm>
      </p:grpSpPr>
      <p:pic>
        <p:nvPicPr>
          <p:cNvPr id="582" name="Google Shape;582;p9"/>
          <p:cNvPicPr preferRelativeResize="0"/>
          <p:nvPr/>
        </p:nvPicPr>
        <p:blipFill rotWithShape="1">
          <a:blip r:embed="rId4">
            <a:alphaModFix/>
          </a:blip>
          <a:srcRect b="0" l="0" r="0" t="0"/>
          <a:stretch/>
        </p:blipFill>
        <p:spPr>
          <a:xfrm>
            <a:off x="8369125" y="0"/>
            <a:ext cx="774877" cy="867174"/>
          </a:xfrm>
          <a:prstGeom prst="rect">
            <a:avLst/>
          </a:prstGeom>
          <a:noFill/>
          <a:ln>
            <a:noFill/>
          </a:ln>
        </p:spPr>
      </p:pic>
      <p:sp>
        <p:nvSpPr>
          <p:cNvPr id="583" name="Google Shape;583;p9"/>
          <p:cNvSpPr/>
          <p:nvPr/>
        </p:nvSpPr>
        <p:spPr>
          <a:xfrm>
            <a:off x="228593" y="100750"/>
            <a:ext cx="8686800" cy="658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E0E8F0"/>
              </a:buClr>
              <a:buSzPts val="2400"/>
              <a:buFont typeface="Calibri"/>
              <a:buNone/>
            </a:pPr>
            <a:r>
              <a:rPr b="1" i="0" lang="en" sz="2400" u="none" cap="none" strike="noStrike">
                <a:solidFill>
                  <a:schemeClr val="dk1"/>
                </a:solidFill>
                <a:latin typeface="Calibri"/>
                <a:ea typeface="Calibri"/>
                <a:cs typeface="Calibri"/>
                <a:sym typeface="Calibri"/>
              </a:rPr>
              <a:t>Detecting Overfitting — Training vs Validation Loss</a:t>
            </a:r>
            <a:endParaRPr b="1" i="0" sz="2400" u="none" cap="none" strike="noStrike">
              <a:solidFill>
                <a:schemeClr val="dk1"/>
              </a:solidFill>
              <a:latin typeface="Calibri"/>
              <a:ea typeface="Calibri"/>
              <a:cs typeface="Calibri"/>
              <a:sym typeface="Calibri"/>
            </a:endParaRPr>
          </a:p>
        </p:txBody>
      </p:sp>
      <p:sp>
        <p:nvSpPr>
          <p:cNvPr id="584" name="Google Shape;584;p9"/>
          <p:cNvSpPr/>
          <p:nvPr/>
        </p:nvSpPr>
        <p:spPr>
          <a:xfrm>
            <a:off x="214857" y="4322038"/>
            <a:ext cx="201300" cy="201300"/>
          </a:xfrm>
          <a:prstGeom prst="ellipse">
            <a:avLst/>
          </a:prstGeom>
          <a:solidFill>
            <a:srgbClr val="FF4B6E"/>
          </a:solidFill>
          <a:ln cap="flat" cmpd="sng" w="12700">
            <a:solidFill>
              <a:srgbClr val="FF4B6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5" name="Google Shape;585;p9"/>
          <p:cNvSpPr/>
          <p:nvPr/>
        </p:nvSpPr>
        <p:spPr>
          <a:xfrm>
            <a:off x="470890" y="4276318"/>
            <a:ext cx="26061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0E8F0"/>
              </a:buClr>
              <a:buSzPts val="1000"/>
              <a:buFont typeface="Calibri"/>
              <a:buNone/>
            </a:pPr>
            <a:r>
              <a:rPr b="0" i="0" lang="en" sz="1000" u="none" cap="none" strike="noStrike">
                <a:solidFill>
                  <a:schemeClr val="dk1"/>
                </a:solidFill>
                <a:latin typeface="Calibri"/>
                <a:ea typeface="Calibri"/>
                <a:cs typeface="Calibri"/>
                <a:sym typeface="Calibri"/>
              </a:rPr>
              <a:t>Train loss ↓ but val loss ↑ → overfitting. Stop training early or add regularization.</a:t>
            </a:r>
            <a:endParaRPr b="0" i="0" sz="1000" u="none" cap="none" strike="noStrike">
              <a:solidFill>
                <a:schemeClr val="dk1"/>
              </a:solidFill>
              <a:latin typeface="Calibri"/>
              <a:ea typeface="Calibri"/>
              <a:cs typeface="Calibri"/>
              <a:sym typeface="Calibri"/>
            </a:endParaRPr>
          </a:p>
        </p:txBody>
      </p:sp>
      <p:sp>
        <p:nvSpPr>
          <p:cNvPr id="586" name="Google Shape;586;p9"/>
          <p:cNvSpPr/>
          <p:nvPr/>
        </p:nvSpPr>
        <p:spPr>
          <a:xfrm>
            <a:off x="3140938" y="4322038"/>
            <a:ext cx="201300" cy="201300"/>
          </a:xfrm>
          <a:prstGeom prst="ellipse">
            <a:avLst/>
          </a:prstGeom>
          <a:solidFill>
            <a:srgbClr val="00C9B1"/>
          </a:solidFill>
          <a:ln cap="flat" cmpd="sng" w="12700">
            <a:solidFill>
              <a:srgbClr val="00C9B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7" name="Google Shape;587;p9"/>
          <p:cNvSpPr/>
          <p:nvPr/>
        </p:nvSpPr>
        <p:spPr>
          <a:xfrm>
            <a:off x="3396970" y="4276318"/>
            <a:ext cx="26061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0E8F0"/>
              </a:buClr>
              <a:buSzPts val="1000"/>
              <a:buFont typeface="Calibri"/>
              <a:buNone/>
            </a:pPr>
            <a:r>
              <a:rPr b="0" i="0" lang="en" sz="1000" u="none" cap="none" strike="noStrike">
                <a:solidFill>
                  <a:schemeClr val="dk1"/>
                </a:solidFill>
                <a:latin typeface="Calibri"/>
                <a:ea typeface="Calibri"/>
                <a:cs typeface="Calibri"/>
                <a:sym typeface="Calibri"/>
              </a:rPr>
              <a:t>With regularization, val loss tracks train loss — the gap shrinks significantly.</a:t>
            </a:r>
            <a:endParaRPr b="0" i="0" sz="1000" u="none" cap="none" strike="noStrike">
              <a:solidFill>
                <a:schemeClr val="dk1"/>
              </a:solidFill>
              <a:latin typeface="Calibri"/>
              <a:ea typeface="Calibri"/>
              <a:cs typeface="Calibri"/>
              <a:sym typeface="Calibri"/>
            </a:endParaRPr>
          </a:p>
        </p:txBody>
      </p:sp>
      <p:sp>
        <p:nvSpPr>
          <p:cNvPr id="588" name="Google Shape;588;p9"/>
          <p:cNvSpPr/>
          <p:nvPr/>
        </p:nvSpPr>
        <p:spPr>
          <a:xfrm>
            <a:off x="6067018" y="4322038"/>
            <a:ext cx="201300" cy="201300"/>
          </a:xfrm>
          <a:prstGeom prst="ellipse">
            <a:avLst/>
          </a:prstGeom>
          <a:solidFill>
            <a:schemeClr val="dk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9" name="Google Shape;589;p9"/>
          <p:cNvSpPr/>
          <p:nvPr/>
        </p:nvSpPr>
        <p:spPr>
          <a:xfrm>
            <a:off x="6323049" y="4276318"/>
            <a:ext cx="26061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0E8F0"/>
              </a:buClr>
              <a:buSzPts val="1000"/>
              <a:buFont typeface="Calibri"/>
              <a:buNone/>
            </a:pPr>
            <a:r>
              <a:rPr b="0" i="0" lang="en" sz="1000" u="none" cap="none" strike="noStrike">
                <a:solidFill>
                  <a:schemeClr val="dk1"/>
                </a:solidFill>
                <a:latin typeface="Calibri"/>
                <a:ea typeface="Calibri"/>
                <a:cs typeface="Calibri"/>
                <a:sym typeface="Calibri"/>
              </a:rPr>
              <a:t>Both losses staying high → underfitting. Increase model capacity or train longer.</a:t>
            </a:r>
            <a:endParaRPr b="0" i="0" sz="1000" u="none" cap="none" strike="noStrike">
              <a:solidFill>
                <a:schemeClr val="dk1"/>
              </a:solidFill>
              <a:latin typeface="Calibri"/>
              <a:ea typeface="Calibri"/>
              <a:cs typeface="Calibri"/>
              <a:sym typeface="Calibri"/>
            </a:endParaRPr>
          </a:p>
        </p:txBody>
      </p:sp>
      <p:pic>
        <p:nvPicPr>
          <p:cNvPr descr="can you make it in white?" id="590" name="Google Shape;590;p9"/>
          <p:cNvPicPr preferRelativeResize="0"/>
          <p:nvPr/>
        </p:nvPicPr>
        <p:blipFill rotWithShape="1">
          <a:blip r:embed="rId5">
            <a:alphaModFix/>
          </a:blip>
          <a:srcRect b="0" l="0" r="0" t="0"/>
          <a:stretch/>
        </p:blipFill>
        <p:spPr>
          <a:xfrm>
            <a:off x="622888" y="1106523"/>
            <a:ext cx="8154275" cy="2930442"/>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94" name="Shape 594"/>
        <p:cNvGrpSpPr/>
        <p:nvPr/>
      </p:nvGrpSpPr>
      <p:grpSpPr>
        <a:xfrm>
          <a:off x="0" y="0"/>
          <a:ext cx="0" cy="0"/>
          <a:chOff x="0" y="0"/>
          <a:chExt cx="0" cy="0"/>
        </a:xfrm>
      </p:grpSpPr>
      <p:pic>
        <p:nvPicPr>
          <p:cNvPr id="595" name="Google Shape;595;p10"/>
          <p:cNvPicPr preferRelativeResize="0"/>
          <p:nvPr/>
        </p:nvPicPr>
        <p:blipFill rotWithShape="1">
          <a:blip r:embed="rId4">
            <a:alphaModFix/>
          </a:blip>
          <a:srcRect b="0" l="0" r="0" t="0"/>
          <a:stretch/>
        </p:blipFill>
        <p:spPr>
          <a:xfrm>
            <a:off x="8369125" y="0"/>
            <a:ext cx="774877" cy="867174"/>
          </a:xfrm>
          <a:prstGeom prst="rect">
            <a:avLst/>
          </a:prstGeom>
          <a:noFill/>
          <a:ln>
            <a:noFill/>
          </a:ln>
        </p:spPr>
      </p:pic>
      <p:sp>
        <p:nvSpPr>
          <p:cNvPr id="596" name="Google Shape;596;p10"/>
          <p:cNvSpPr/>
          <p:nvPr/>
        </p:nvSpPr>
        <p:spPr>
          <a:xfrm>
            <a:off x="228593" y="100750"/>
            <a:ext cx="8686800" cy="658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E0E8F0"/>
              </a:buClr>
              <a:buSzPts val="2400"/>
              <a:buFont typeface="Calibri"/>
              <a:buNone/>
            </a:pPr>
            <a:r>
              <a:rPr b="1" i="0" lang="en" sz="2400" u="none" cap="none" strike="noStrike">
                <a:solidFill>
                  <a:schemeClr val="dk1"/>
                </a:solidFill>
                <a:latin typeface="Calibri"/>
                <a:ea typeface="Calibri"/>
                <a:cs typeface="Calibri"/>
                <a:sym typeface="Calibri"/>
              </a:rPr>
              <a:t>Regularization — Penalise Complexity</a:t>
            </a:r>
            <a:endParaRPr b="1" i="0" sz="2400" u="none" cap="none" strike="noStrike">
              <a:solidFill>
                <a:schemeClr val="dk1"/>
              </a:solidFill>
              <a:latin typeface="Calibri"/>
              <a:ea typeface="Calibri"/>
              <a:cs typeface="Calibri"/>
              <a:sym typeface="Calibri"/>
            </a:endParaRPr>
          </a:p>
        </p:txBody>
      </p:sp>
      <p:pic>
        <p:nvPicPr>
          <p:cNvPr id="597" name="Google Shape;597;p10"/>
          <p:cNvPicPr preferRelativeResize="0"/>
          <p:nvPr/>
        </p:nvPicPr>
        <p:blipFill rotWithShape="1">
          <a:blip r:embed="rId5">
            <a:alphaModFix/>
          </a:blip>
          <a:srcRect b="0" l="1390" r="1390" t="0"/>
          <a:stretch/>
        </p:blipFill>
        <p:spPr>
          <a:xfrm>
            <a:off x="4937710" y="891696"/>
            <a:ext cx="3931919" cy="2559363"/>
          </a:xfrm>
          <a:prstGeom prst="rect">
            <a:avLst/>
          </a:prstGeom>
          <a:noFill/>
          <a:ln>
            <a:noFill/>
          </a:ln>
        </p:spPr>
      </p:pic>
      <p:sp>
        <p:nvSpPr>
          <p:cNvPr id="598" name="Google Shape;598;p10"/>
          <p:cNvSpPr/>
          <p:nvPr/>
        </p:nvSpPr>
        <p:spPr>
          <a:xfrm>
            <a:off x="274320" y="777240"/>
            <a:ext cx="44805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C9B1"/>
              </a:buClr>
              <a:buSzPts val="1500"/>
              <a:buFont typeface="Calibri"/>
              <a:buNone/>
            </a:pPr>
            <a:r>
              <a:rPr b="1" i="0" lang="en" sz="1500" u="none" cap="none" strike="noStrike">
                <a:solidFill>
                  <a:srgbClr val="00C9B1"/>
                </a:solidFill>
                <a:latin typeface="Calibri"/>
                <a:ea typeface="Calibri"/>
                <a:cs typeface="Calibri"/>
                <a:sym typeface="Calibri"/>
              </a:rPr>
              <a:t>What is Regularization?</a:t>
            </a:r>
            <a:endParaRPr b="0" i="0" sz="1500" u="none" cap="none" strike="noStrike">
              <a:solidFill>
                <a:schemeClr val="dk1"/>
              </a:solidFill>
              <a:latin typeface="Calibri"/>
              <a:ea typeface="Calibri"/>
              <a:cs typeface="Calibri"/>
              <a:sym typeface="Calibri"/>
            </a:endParaRPr>
          </a:p>
        </p:txBody>
      </p:sp>
      <p:sp>
        <p:nvSpPr>
          <p:cNvPr id="599" name="Google Shape;599;p10"/>
          <p:cNvSpPr/>
          <p:nvPr/>
        </p:nvSpPr>
        <p:spPr>
          <a:xfrm>
            <a:off x="274320" y="1170432"/>
            <a:ext cx="4480500"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0E8F0"/>
              </a:buClr>
              <a:buSzPts val="1150"/>
              <a:buFont typeface="Calibri"/>
              <a:buNone/>
            </a:pPr>
            <a:r>
              <a:rPr b="0" i="0" lang="en" sz="1150" u="none" cap="none" strike="noStrike">
                <a:solidFill>
                  <a:schemeClr val="dk1"/>
                </a:solidFill>
                <a:latin typeface="Calibri"/>
                <a:ea typeface="Calibri"/>
                <a:cs typeface="Calibri"/>
                <a:sym typeface="Calibri"/>
              </a:rPr>
              <a:t>Adds a penalty term to the loss function to discourage large weights. Forces the model to stay simple and generalize better.</a:t>
            </a:r>
            <a:endParaRPr b="0" i="0" sz="1150" u="none" cap="none" strike="noStrike">
              <a:solidFill>
                <a:schemeClr val="dk1"/>
              </a:solidFill>
              <a:latin typeface="Calibri"/>
              <a:ea typeface="Calibri"/>
              <a:cs typeface="Calibri"/>
              <a:sym typeface="Calibri"/>
            </a:endParaRPr>
          </a:p>
        </p:txBody>
      </p:sp>
      <p:sp>
        <p:nvSpPr>
          <p:cNvPr id="600" name="Google Shape;600;p10"/>
          <p:cNvSpPr/>
          <p:nvPr/>
        </p:nvSpPr>
        <p:spPr>
          <a:xfrm>
            <a:off x="274320" y="1920240"/>
            <a:ext cx="4480500" cy="713100"/>
          </a:xfrm>
          <a:prstGeom prst="rect">
            <a:avLst/>
          </a:prstGeom>
          <a:solidFill>
            <a:schemeClr val="lt1"/>
          </a:solidFill>
          <a:ln cap="flat" cmpd="sng" w="19050">
            <a:solidFill>
              <a:srgbClr val="00C9B1"/>
            </a:solidFill>
            <a:prstDash val="solid"/>
            <a:round/>
            <a:headEnd len="sm" w="sm" type="none"/>
            <a:tailEnd len="sm" w="sm" type="none"/>
          </a:ln>
          <a:effectLst>
            <a:outerShdw blurRad="101600" rotWithShape="0" algn="bl" dir="8100000" dist="38100">
              <a:srgbClr val="000000">
                <a:alpha val="3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1" name="Google Shape;601;p10"/>
          <p:cNvSpPr/>
          <p:nvPr/>
        </p:nvSpPr>
        <p:spPr>
          <a:xfrm>
            <a:off x="274320" y="1920240"/>
            <a:ext cx="54900" cy="713100"/>
          </a:xfrm>
          <a:prstGeom prst="rect">
            <a:avLst/>
          </a:prstGeom>
          <a:solidFill>
            <a:srgbClr val="00C9B1"/>
          </a:solidFill>
          <a:ln cap="flat" cmpd="sng" w="12700">
            <a:solidFill>
              <a:srgbClr val="00C9B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2" name="Google Shape;602;p10"/>
          <p:cNvSpPr/>
          <p:nvPr/>
        </p:nvSpPr>
        <p:spPr>
          <a:xfrm>
            <a:off x="457200" y="1956816"/>
            <a:ext cx="42063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C9B1"/>
              </a:buClr>
              <a:buSzPts val="1200"/>
              <a:buFont typeface="Calibri"/>
              <a:buNone/>
            </a:pPr>
            <a:r>
              <a:rPr b="1" i="0" lang="en" sz="1200" u="none" cap="none" strike="noStrike">
                <a:solidFill>
                  <a:srgbClr val="00C9B1"/>
                </a:solidFill>
                <a:latin typeface="Calibri"/>
                <a:ea typeface="Calibri"/>
                <a:cs typeface="Calibri"/>
                <a:sym typeface="Calibri"/>
              </a:rPr>
              <a:t>L2 (Ridge)</a:t>
            </a:r>
            <a:endParaRPr b="0" i="0" sz="1200" u="none" cap="none" strike="noStrike">
              <a:solidFill>
                <a:schemeClr val="dk1"/>
              </a:solidFill>
              <a:latin typeface="Calibri"/>
              <a:ea typeface="Calibri"/>
              <a:cs typeface="Calibri"/>
              <a:sym typeface="Calibri"/>
            </a:endParaRPr>
          </a:p>
        </p:txBody>
      </p:sp>
      <p:sp>
        <p:nvSpPr>
          <p:cNvPr id="603" name="Google Shape;603;p10"/>
          <p:cNvSpPr/>
          <p:nvPr/>
        </p:nvSpPr>
        <p:spPr>
          <a:xfrm>
            <a:off x="457200" y="2212848"/>
            <a:ext cx="42063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0E8F0"/>
              </a:buClr>
              <a:buSzPts val="1050"/>
              <a:buFont typeface="Courier New"/>
              <a:buNone/>
            </a:pPr>
            <a:r>
              <a:rPr b="0" i="0" lang="en" sz="1050" u="none" cap="none" strike="noStrike">
                <a:solidFill>
                  <a:schemeClr val="dk1"/>
                </a:solidFill>
                <a:latin typeface="Calibri"/>
                <a:ea typeface="Calibri"/>
                <a:cs typeface="Calibri"/>
                <a:sym typeface="Calibri"/>
              </a:rPr>
              <a:t>Loss + λ·Σw²   Shrinks all weights smoothly toward zero.</a:t>
            </a:r>
            <a:endParaRPr b="0" i="0" sz="1050" u="none" cap="none" strike="noStrike">
              <a:solidFill>
                <a:schemeClr val="dk1"/>
              </a:solidFill>
              <a:latin typeface="Calibri"/>
              <a:ea typeface="Calibri"/>
              <a:cs typeface="Calibri"/>
              <a:sym typeface="Calibri"/>
            </a:endParaRPr>
          </a:p>
        </p:txBody>
      </p:sp>
      <p:sp>
        <p:nvSpPr>
          <p:cNvPr id="604" name="Google Shape;604;p10"/>
          <p:cNvSpPr/>
          <p:nvPr/>
        </p:nvSpPr>
        <p:spPr>
          <a:xfrm>
            <a:off x="274320" y="2724912"/>
            <a:ext cx="4480500" cy="713100"/>
          </a:xfrm>
          <a:prstGeom prst="rect">
            <a:avLst/>
          </a:prstGeom>
          <a:solidFill>
            <a:schemeClr val="lt1"/>
          </a:solidFill>
          <a:ln cap="flat" cmpd="sng" w="19050">
            <a:solidFill>
              <a:srgbClr val="FF4B6E"/>
            </a:solidFill>
            <a:prstDash val="solid"/>
            <a:round/>
            <a:headEnd len="sm" w="sm" type="none"/>
            <a:tailEnd len="sm" w="sm" type="none"/>
          </a:ln>
          <a:effectLst>
            <a:outerShdw blurRad="101600" rotWithShape="0" algn="bl" dir="8100000" dist="38100">
              <a:srgbClr val="000000">
                <a:alpha val="3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5" name="Google Shape;605;p10"/>
          <p:cNvSpPr/>
          <p:nvPr/>
        </p:nvSpPr>
        <p:spPr>
          <a:xfrm>
            <a:off x="274320" y="2724912"/>
            <a:ext cx="54900" cy="713100"/>
          </a:xfrm>
          <a:prstGeom prst="rect">
            <a:avLst/>
          </a:prstGeom>
          <a:solidFill>
            <a:srgbClr val="FF4B6E"/>
          </a:solidFill>
          <a:ln cap="flat" cmpd="sng" w="12700">
            <a:solidFill>
              <a:srgbClr val="FF4B6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6" name="Google Shape;606;p10"/>
          <p:cNvSpPr/>
          <p:nvPr/>
        </p:nvSpPr>
        <p:spPr>
          <a:xfrm>
            <a:off x="457200" y="2761488"/>
            <a:ext cx="42063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4B6E"/>
              </a:buClr>
              <a:buSzPts val="1200"/>
              <a:buFont typeface="Calibri"/>
              <a:buNone/>
            </a:pPr>
            <a:r>
              <a:rPr b="1" i="0" lang="en" sz="1200" u="none" cap="none" strike="noStrike">
                <a:solidFill>
                  <a:srgbClr val="FF4B6E"/>
                </a:solidFill>
                <a:latin typeface="Calibri"/>
                <a:ea typeface="Calibri"/>
                <a:cs typeface="Calibri"/>
                <a:sym typeface="Calibri"/>
              </a:rPr>
              <a:t>L1 (Lasso)</a:t>
            </a:r>
            <a:endParaRPr b="0" i="0" sz="1200" u="none" cap="none" strike="noStrike">
              <a:solidFill>
                <a:schemeClr val="dk1"/>
              </a:solidFill>
              <a:latin typeface="Calibri"/>
              <a:ea typeface="Calibri"/>
              <a:cs typeface="Calibri"/>
              <a:sym typeface="Calibri"/>
            </a:endParaRPr>
          </a:p>
        </p:txBody>
      </p:sp>
      <p:sp>
        <p:nvSpPr>
          <p:cNvPr id="607" name="Google Shape;607;p10"/>
          <p:cNvSpPr/>
          <p:nvPr/>
        </p:nvSpPr>
        <p:spPr>
          <a:xfrm>
            <a:off x="457200" y="3017520"/>
            <a:ext cx="42063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0E8F0"/>
              </a:buClr>
              <a:buSzPts val="1050"/>
              <a:buFont typeface="Courier New"/>
              <a:buNone/>
            </a:pPr>
            <a:r>
              <a:rPr b="0" i="0" lang="en" sz="1050" u="none" cap="none" strike="noStrike">
                <a:solidFill>
                  <a:schemeClr val="dk1"/>
                </a:solidFill>
                <a:latin typeface="Calibri"/>
                <a:ea typeface="Calibri"/>
                <a:cs typeface="Calibri"/>
                <a:sym typeface="Calibri"/>
              </a:rPr>
              <a:t>Loss + λ·Σ|w|  Drives some weights exactly to zero (feature selection).</a:t>
            </a:r>
            <a:endParaRPr b="0" i="0" sz="1050" u="none" cap="none" strike="noStrike">
              <a:solidFill>
                <a:schemeClr val="dk1"/>
              </a:solidFill>
              <a:latin typeface="Calibri"/>
              <a:ea typeface="Calibri"/>
              <a:cs typeface="Calibri"/>
              <a:sym typeface="Calibri"/>
            </a:endParaRPr>
          </a:p>
        </p:txBody>
      </p:sp>
      <p:sp>
        <p:nvSpPr>
          <p:cNvPr id="608" name="Google Shape;608;p10"/>
          <p:cNvSpPr/>
          <p:nvPr/>
        </p:nvSpPr>
        <p:spPr>
          <a:xfrm>
            <a:off x="274320" y="3584448"/>
            <a:ext cx="8595300" cy="1371600"/>
          </a:xfrm>
          <a:prstGeom prst="rect">
            <a:avLst/>
          </a:prstGeom>
          <a:solidFill>
            <a:schemeClr val="lt1"/>
          </a:solidFill>
          <a:ln cap="flat" cmpd="sng" w="12700">
            <a:solidFill>
              <a:srgbClr val="00C9B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9" name="Google Shape;609;p10"/>
          <p:cNvSpPr/>
          <p:nvPr/>
        </p:nvSpPr>
        <p:spPr>
          <a:xfrm>
            <a:off x="384048" y="3657600"/>
            <a:ext cx="8376000" cy="1225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CDCFE"/>
              </a:buClr>
              <a:buSzPts val="1050"/>
              <a:buFont typeface="Courier New"/>
              <a:buNone/>
            </a:pPr>
            <a:r>
              <a:rPr b="0" i="0" lang="en" sz="1050" u="none" cap="none" strike="noStrike">
                <a:solidFill>
                  <a:schemeClr val="dk1"/>
                </a:solidFill>
                <a:latin typeface="Calibri"/>
                <a:ea typeface="Calibri"/>
                <a:cs typeface="Calibri"/>
                <a:sym typeface="Calibri"/>
              </a:rPr>
              <a:t># Sklearn: Ridge (L2) &amp; Lasso (L1)</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CDCFE"/>
              </a:buClr>
              <a:buSzPts val="1050"/>
              <a:buFont typeface="Courier New"/>
              <a:buNone/>
            </a:pPr>
            <a:r>
              <a:rPr b="0" i="0" lang="en" sz="1050" u="none" cap="none" strike="noStrike">
                <a:solidFill>
                  <a:schemeClr val="dk1"/>
                </a:solidFill>
                <a:latin typeface="Calibri"/>
                <a:ea typeface="Calibri"/>
                <a:cs typeface="Calibri"/>
                <a:sym typeface="Calibri"/>
              </a:rPr>
              <a:t>from sklearn.linear_model import Ridge, Lasso</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CDCFE"/>
              </a:buClr>
              <a:buSzPts val="1050"/>
              <a:buFont typeface="Courier New"/>
              <a:buNone/>
            </a:pPr>
            <a:r>
              <a:rPr b="0" i="0" lang="en" sz="1050" u="none" cap="none" strike="noStrike">
                <a:solidFill>
                  <a:schemeClr val="dk1"/>
                </a:solidFill>
                <a:latin typeface="Calibri"/>
                <a:ea typeface="Calibri"/>
                <a:cs typeface="Calibri"/>
                <a:sym typeface="Calibri"/>
              </a:rPr>
              <a:t>ridge = Ridge(alpha=1.0)    # alpha = λ</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CDCFE"/>
              </a:buClr>
              <a:buSzPts val="1050"/>
              <a:buFont typeface="Courier New"/>
              <a:buNone/>
            </a:pPr>
            <a:r>
              <a:rPr b="0" i="0" lang="en" sz="1050" u="none" cap="none" strike="noStrike">
                <a:solidFill>
                  <a:schemeClr val="dk1"/>
                </a:solidFill>
                <a:latin typeface="Calibri"/>
                <a:ea typeface="Calibri"/>
                <a:cs typeface="Calibri"/>
                <a:sym typeface="Calibri"/>
              </a:rPr>
              <a:t>ridge.fit(X_train, y_train)</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CDCFE"/>
              </a:buClr>
              <a:buSzPts val="1050"/>
              <a:buFont typeface="Courier New"/>
              <a:buNone/>
            </a:pPr>
            <a:r>
              <a:rPr b="0" i="0" lang="en" sz="1050" u="none" cap="none" strike="noStrike">
                <a:solidFill>
                  <a:schemeClr val="dk1"/>
                </a:solidFill>
                <a:latin typeface="Calibri"/>
                <a:ea typeface="Calibri"/>
                <a:cs typeface="Calibri"/>
                <a:sym typeface="Calibri"/>
              </a:rPr>
              <a:t>lasso = Lasso(alpha=0.1)</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CDCFE"/>
              </a:buClr>
              <a:buSzPts val="1050"/>
              <a:buFont typeface="Courier New"/>
              <a:buNone/>
            </a:pPr>
            <a:r>
              <a:rPr b="0" i="0" lang="en" sz="1050" u="none" cap="none" strike="noStrike">
                <a:solidFill>
                  <a:schemeClr val="dk1"/>
                </a:solidFill>
                <a:latin typeface="Calibri"/>
                <a:ea typeface="Calibri"/>
                <a:cs typeface="Calibri"/>
                <a:sym typeface="Calibri"/>
              </a:rPr>
              <a:t>lasso.fit(X_train, y_train)</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13" name="Shape 613"/>
        <p:cNvGrpSpPr/>
        <p:nvPr/>
      </p:nvGrpSpPr>
      <p:grpSpPr>
        <a:xfrm>
          <a:off x="0" y="0"/>
          <a:ext cx="0" cy="0"/>
          <a:chOff x="0" y="0"/>
          <a:chExt cx="0" cy="0"/>
        </a:xfrm>
      </p:grpSpPr>
      <p:pic>
        <p:nvPicPr>
          <p:cNvPr id="614" name="Google Shape;614;p11"/>
          <p:cNvPicPr preferRelativeResize="0"/>
          <p:nvPr/>
        </p:nvPicPr>
        <p:blipFill rotWithShape="1">
          <a:blip r:embed="rId4">
            <a:alphaModFix/>
          </a:blip>
          <a:srcRect b="0" l="0" r="0" t="0"/>
          <a:stretch/>
        </p:blipFill>
        <p:spPr>
          <a:xfrm>
            <a:off x="8369125" y="0"/>
            <a:ext cx="774877" cy="867174"/>
          </a:xfrm>
          <a:prstGeom prst="rect">
            <a:avLst/>
          </a:prstGeom>
          <a:noFill/>
          <a:ln>
            <a:noFill/>
          </a:ln>
        </p:spPr>
      </p:pic>
      <p:sp>
        <p:nvSpPr>
          <p:cNvPr id="615" name="Google Shape;615;p11"/>
          <p:cNvSpPr/>
          <p:nvPr/>
        </p:nvSpPr>
        <p:spPr>
          <a:xfrm>
            <a:off x="228593" y="100750"/>
            <a:ext cx="8686800" cy="658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E0E8F0"/>
              </a:buClr>
              <a:buSzPts val="2400"/>
              <a:buFont typeface="Calibri"/>
              <a:buNone/>
            </a:pPr>
            <a:r>
              <a:rPr b="1" i="0" lang="en" sz="2400" u="none" cap="none" strike="noStrike">
                <a:solidFill>
                  <a:schemeClr val="dk1"/>
                </a:solidFill>
                <a:latin typeface="Calibri"/>
                <a:ea typeface="Calibri"/>
                <a:cs typeface="Calibri"/>
                <a:sym typeface="Calibri"/>
              </a:rPr>
              <a:t>L1 vs L2 — Geometry &amp; Sparsity</a:t>
            </a:r>
            <a:endParaRPr b="1" i="0" sz="2400" u="none" cap="none" strike="noStrike">
              <a:solidFill>
                <a:schemeClr val="dk1"/>
              </a:solidFill>
              <a:latin typeface="Calibri"/>
              <a:ea typeface="Calibri"/>
              <a:cs typeface="Calibri"/>
              <a:sym typeface="Calibri"/>
            </a:endParaRPr>
          </a:p>
        </p:txBody>
      </p:sp>
      <p:sp>
        <p:nvSpPr>
          <p:cNvPr id="616" name="Google Shape;616;p11"/>
          <p:cNvSpPr/>
          <p:nvPr/>
        </p:nvSpPr>
        <p:spPr>
          <a:xfrm>
            <a:off x="274325" y="981324"/>
            <a:ext cx="4206300" cy="2763000"/>
          </a:xfrm>
          <a:prstGeom prst="rect">
            <a:avLst/>
          </a:prstGeom>
          <a:solidFill>
            <a:schemeClr val="lt1"/>
          </a:solidFill>
          <a:ln cap="flat" cmpd="sng" w="19050">
            <a:solidFill>
              <a:srgbClr val="FF4B6E"/>
            </a:solidFill>
            <a:prstDash val="solid"/>
            <a:round/>
            <a:headEnd len="sm" w="sm" type="none"/>
            <a:tailEnd len="sm" w="sm" type="none"/>
          </a:ln>
          <a:effectLst>
            <a:outerShdw blurRad="101600" rotWithShape="0" algn="bl" dir="8100000" dist="38100">
              <a:srgbClr val="000000">
                <a:alpha val="3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7" name="Google Shape;617;p11"/>
          <p:cNvSpPr/>
          <p:nvPr/>
        </p:nvSpPr>
        <p:spPr>
          <a:xfrm>
            <a:off x="274325" y="981324"/>
            <a:ext cx="54900" cy="2763000"/>
          </a:xfrm>
          <a:prstGeom prst="rect">
            <a:avLst/>
          </a:prstGeom>
          <a:solidFill>
            <a:srgbClr val="FF4B6E"/>
          </a:solidFill>
          <a:ln cap="flat" cmpd="sng" w="12700">
            <a:solidFill>
              <a:srgbClr val="FF4B6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8" name="Google Shape;618;p11"/>
          <p:cNvSpPr/>
          <p:nvPr/>
        </p:nvSpPr>
        <p:spPr>
          <a:xfrm>
            <a:off x="457205" y="1024495"/>
            <a:ext cx="3931800" cy="345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4B6E"/>
              </a:buClr>
              <a:buSzPts val="1600"/>
              <a:buFont typeface="Calibri"/>
              <a:buNone/>
            </a:pPr>
            <a:r>
              <a:rPr b="1" i="0" lang="en" sz="1600" u="none" cap="none" strike="noStrike">
                <a:solidFill>
                  <a:srgbClr val="FF4B6E"/>
                </a:solidFill>
                <a:latin typeface="Calibri"/>
                <a:ea typeface="Calibri"/>
                <a:cs typeface="Calibri"/>
                <a:sym typeface="Calibri"/>
              </a:rPr>
              <a:t>L1 — Lasso</a:t>
            </a:r>
            <a:endParaRPr b="0" i="0" sz="1600" u="none" cap="none" strike="noStrike">
              <a:solidFill>
                <a:schemeClr val="dk1"/>
              </a:solidFill>
              <a:latin typeface="Calibri"/>
              <a:ea typeface="Calibri"/>
              <a:cs typeface="Calibri"/>
              <a:sym typeface="Calibri"/>
            </a:endParaRPr>
          </a:p>
        </p:txBody>
      </p:sp>
      <p:sp>
        <p:nvSpPr>
          <p:cNvPr id="619" name="Google Shape;619;p11"/>
          <p:cNvSpPr/>
          <p:nvPr/>
        </p:nvSpPr>
        <p:spPr>
          <a:xfrm>
            <a:off x="457205" y="1343955"/>
            <a:ext cx="3931800" cy="258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899AA"/>
              </a:buClr>
              <a:buSzPts val="1100"/>
              <a:buFont typeface="Calibri"/>
              <a:buNone/>
            </a:pPr>
            <a:r>
              <a:rPr b="0" i="1" lang="en" sz="1100" u="none" cap="none" strike="noStrike">
                <a:solidFill>
                  <a:srgbClr val="8899AA"/>
                </a:solidFill>
                <a:latin typeface="Calibri"/>
                <a:ea typeface="Calibri"/>
                <a:cs typeface="Calibri"/>
                <a:sym typeface="Calibri"/>
              </a:rPr>
              <a:t>Constraint: diamond shape</a:t>
            </a:r>
            <a:endParaRPr b="0" i="0" sz="1100" u="none" cap="none" strike="noStrike">
              <a:solidFill>
                <a:schemeClr val="dk1"/>
              </a:solidFill>
              <a:latin typeface="Calibri"/>
              <a:ea typeface="Calibri"/>
              <a:cs typeface="Calibri"/>
              <a:sym typeface="Calibri"/>
            </a:endParaRPr>
          </a:p>
        </p:txBody>
      </p:sp>
      <p:sp>
        <p:nvSpPr>
          <p:cNvPr id="620" name="Google Shape;620;p11"/>
          <p:cNvSpPr/>
          <p:nvPr/>
        </p:nvSpPr>
        <p:spPr>
          <a:xfrm>
            <a:off x="457205" y="1611611"/>
            <a:ext cx="3931800" cy="20292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chemeClr val="dk1"/>
              </a:buClr>
              <a:buSzPts val="1400"/>
              <a:buFont typeface="Calibri"/>
              <a:buChar char="•"/>
            </a:pPr>
            <a:r>
              <a:rPr b="0" i="0" lang="en" sz="1400" u="none" cap="none" strike="noStrike">
                <a:solidFill>
                  <a:schemeClr val="dk1"/>
                </a:solidFill>
                <a:latin typeface="Calibri"/>
                <a:ea typeface="Calibri"/>
                <a:cs typeface="Calibri"/>
                <a:sym typeface="Calibri"/>
              </a:rPr>
              <a:t>Penalty: λ · Σ|wᵢ|</a:t>
            </a:r>
            <a:endParaRPr b="0" i="0" sz="14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chemeClr val="dk1"/>
              </a:buClr>
              <a:buSzPts val="1400"/>
              <a:buFont typeface="Calibri"/>
              <a:buChar char="•"/>
            </a:pPr>
            <a:r>
              <a:rPr b="0" i="0" lang="en" sz="1400" u="none" cap="none" strike="noStrike">
                <a:solidFill>
                  <a:schemeClr val="dk1"/>
                </a:solidFill>
                <a:latin typeface="Calibri"/>
                <a:ea typeface="Calibri"/>
                <a:cs typeface="Calibri"/>
                <a:sym typeface="Calibri"/>
              </a:rPr>
              <a:t>Creates sparse models (weights → 0)</a:t>
            </a:r>
            <a:endParaRPr b="0" i="0" sz="14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chemeClr val="dk1"/>
              </a:buClr>
              <a:buSzPts val="1400"/>
              <a:buFont typeface="Calibri"/>
              <a:buChar char="•"/>
            </a:pPr>
            <a:r>
              <a:rPr b="0" i="0" lang="en" sz="1400" u="none" cap="none" strike="noStrike">
                <a:solidFill>
                  <a:schemeClr val="dk1"/>
                </a:solidFill>
                <a:latin typeface="Calibri"/>
                <a:ea typeface="Calibri"/>
                <a:cs typeface="Calibri"/>
                <a:sym typeface="Calibri"/>
              </a:rPr>
              <a:t>Good for feature selection</a:t>
            </a:r>
            <a:endParaRPr b="0" i="0" sz="14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chemeClr val="dk1"/>
              </a:buClr>
              <a:buSzPts val="1400"/>
              <a:buFont typeface="Calibri"/>
              <a:buChar char="•"/>
            </a:pPr>
            <a:r>
              <a:rPr b="0" i="0" lang="en" sz="1400" u="none" cap="none" strike="noStrike">
                <a:solidFill>
                  <a:schemeClr val="dk1"/>
                </a:solidFill>
                <a:latin typeface="Calibri"/>
                <a:ea typeface="Calibri"/>
                <a:cs typeface="Calibri"/>
                <a:sym typeface="Calibri"/>
              </a:rPr>
              <a:t>Non-differentiable at 0</a:t>
            </a:r>
            <a:endParaRPr b="0" i="0" sz="14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chemeClr val="dk1"/>
              </a:buClr>
              <a:buSzPts val="1400"/>
              <a:buFont typeface="Calibri"/>
              <a:buChar char="•"/>
            </a:pPr>
            <a:r>
              <a:rPr b="0" i="0" lang="en" sz="1400" u="none" cap="none" strike="noStrike">
                <a:solidFill>
                  <a:schemeClr val="dk1"/>
                </a:solidFill>
                <a:latin typeface="Calibri"/>
                <a:ea typeface="Calibri"/>
                <a:cs typeface="Calibri"/>
                <a:sym typeface="Calibri"/>
              </a:rPr>
              <a:t>Solver: coordinate descent</a:t>
            </a:r>
            <a:endParaRPr b="0" i="0" sz="1400" u="none" cap="none" strike="noStrike">
              <a:solidFill>
                <a:schemeClr val="dk1"/>
              </a:solidFill>
              <a:latin typeface="Calibri"/>
              <a:ea typeface="Calibri"/>
              <a:cs typeface="Calibri"/>
              <a:sym typeface="Calibri"/>
            </a:endParaRPr>
          </a:p>
        </p:txBody>
      </p:sp>
      <p:sp>
        <p:nvSpPr>
          <p:cNvPr id="621" name="Google Shape;621;p11"/>
          <p:cNvSpPr/>
          <p:nvPr/>
        </p:nvSpPr>
        <p:spPr>
          <a:xfrm>
            <a:off x="274325" y="3778760"/>
            <a:ext cx="4206300" cy="1122300"/>
          </a:xfrm>
          <a:prstGeom prst="rect">
            <a:avLst/>
          </a:prstGeom>
          <a:solidFill>
            <a:schemeClr val="lt1"/>
          </a:solidFill>
          <a:ln cap="flat" cmpd="sng" w="12700">
            <a:solidFill>
              <a:srgbClr val="00C9B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2" name="Google Shape;622;p11"/>
          <p:cNvSpPr/>
          <p:nvPr/>
        </p:nvSpPr>
        <p:spPr>
          <a:xfrm>
            <a:off x="384053" y="3847832"/>
            <a:ext cx="3986700" cy="984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CDCFE"/>
              </a:buClr>
              <a:buSzPts val="1000"/>
              <a:buFont typeface="Courier New"/>
              <a:buNone/>
            </a:pPr>
            <a:r>
              <a:rPr b="0" i="0" lang="en" sz="1400" u="none" cap="none" strike="noStrike">
                <a:solidFill>
                  <a:schemeClr val="dk1"/>
                </a:solidFill>
                <a:latin typeface="Calibri"/>
                <a:ea typeface="Calibri"/>
                <a:cs typeface="Calibri"/>
                <a:sym typeface="Calibri"/>
              </a:rPr>
              <a:t># L1 pushes weights to zero</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CDCFE"/>
              </a:buClr>
              <a:buSzPts val="1000"/>
              <a:buFont typeface="Courier New"/>
              <a:buNone/>
            </a:pPr>
            <a:r>
              <a:rPr b="0" i="0" lang="en" sz="1400" u="none" cap="none" strike="noStrike">
                <a:solidFill>
                  <a:schemeClr val="dk1"/>
                </a:solidFill>
                <a:latin typeface="Calibri"/>
                <a:ea typeface="Calibri"/>
                <a:cs typeface="Calibri"/>
                <a:sym typeface="Calibri"/>
              </a:rPr>
              <a:t>lasso = Lasso(alpha=0.5)</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CDCFE"/>
              </a:buClr>
              <a:buSzPts val="1000"/>
              <a:buFont typeface="Courier New"/>
              <a:buNone/>
            </a:pPr>
            <a:r>
              <a:rPr b="0" i="0" lang="en" sz="1400" u="none" cap="none" strike="noStrike">
                <a:solidFill>
                  <a:schemeClr val="dk1"/>
                </a:solidFill>
                <a:latin typeface="Calibri"/>
                <a:ea typeface="Calibri"/>
                <a:cs typeface="Calibri"/>
                <a:sym typeface="Calibri"/>
              </a:rPr>
              <a:t>print(lasso.coef_)</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CDCFE"/>
              </a:buClr>
              <a:buSzPts val="1000"/>
              <a:buFont typeface="Courier New"/>
              <a:buNone/>
            </a:pPr>
            <a:r>
              <a:rPr b="0" i="0" lang="en" sz="1400" u="none" cap="none" strike="noStrike">
                <a:solidFill>
                  <a:schemeClr val="dk1"/>
                </a:solidFill>
                <a:latin typeface="Calibri"/>
                <a:ea typeface="Calibri"/>
                <a:cs typeface="Calibri"/>
                <a:sym typeface="Calibri"/>
              </a:rPr>
              <a:t># → [0. 1.23 0. 0. 0.87]</a:t>
            </a:r>
            <a:endParaRPr b="0" i="0" sz="1400" u="none" cap="none" strike="noStrike">
              <a:solidFill>
                <a:schemeClr val="dk1"/>
              </a:solidFill>
              <a:latin typeface="Calibri"/>
              <a:ea typeface="Calibri"/>
              <a:cs typeface="Calibri"/>
              <a:sym typeface="Calibri"/>
            </a:endParaRPr>
          </a:p>
        </p:txBody>
      </p:sp>
      <p:sp>
        <p:nvSpPr>
          <p:cNvPr id="623" name="Google Shape;623;p11"/>
          <p:cNvSpPr/>
          <p:nvPr/>
        </p:nvSpPr>
        <p:spPr>
          <a:xfrm>
            <a:off x="4709157" y="981324"/>
            <a:ext cx="4206300" cy="2763000"/>
          </a:xfrm>
          <a:prstGeom prst="rect">
            <a:avLst/>
          </a:prstGeom>
          <a:solidFill>
            <a:schemeClr val="lt1"/>
          </a:solidFill>
          <a:ln cap="flat" cmpd="sng" w="19050">
            <a:solidFill>
              <a:srgbClr val="00C9B1"/>
            </a:solidFill>
            <a:prstDash val="solid"/>
            <a:round/>
            <a:headEnd len="sm" w="sm" type="none"/>
            <a:tailEnd len="sm" w="sm" type="none"/>
          </a:ln>
          <a:effectLst>
            <a:outerShdw blurRad="101600" rotWithShape="0" algn="bl" dir="8100000" dist="38100">
              <a:srgbClr val="000000">
                <a:alpha val="3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4" name="Google Shape;624;p11"/>
          <p:cNvSpPr/>
          <p:nvPr/>
        </p:nvSpPr>
        <p:spPr>
          <a:xfrm>
            <a:off x="4709157" y="981324"/>
            <a:ext cx="54900" cy="2763000"/>
          </a:xfrm>
          <a:prstGeom prst="rect">
            <a:avLst/>
          </a:prstGeom>
          <a:solidFill>
            <a:srgbClr val="00C9B1"/>
          </a:solidFill>
          <a:ln cap="flat" cmpd="sng" w="12700">
            <a:solidFill>
              <a:srgbClr val="00C9B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5" name="Google Shape;625;p11"/>
          <p:cNvSpPr/>
          <p:nvPr/>
        </p:nvSpPr>
        <p:spPr>
          <a:xfrm>
            <a:off x="4892037" y="1024495"/>
            <a:ext cx="3931800" cy="345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C9B1"/>
              </a:buClr>
              <a:buSzPts val="1600"/>
              <a:buFont typeface="Calibri"/>
              <a:buNone/>
            </a:pPr>
            <a:r>
              <a:rPr b="1" i="0" lang="en" sz="1600" u="none" cap="none" strike="noStrike">
                <a:solidFill>
                  <a:srgbClr val="00C9B1"/>
                </a:solidFill>
                <a:latin typeface="Calibri"/>
                <a:ea typeface="Calibri"/>
                <a:cs typeface="Calibri"/>
                <a:sym typeface="Calibri"/>
              </a:rPr>
              <a:t>L2 — Ridge</a:t>
            </a:r>
            <a:endParaRPr b="0" i="0" sz="1600" u="none" cap="none" strike="noStrike">
              <a:solidFill>
                <a:schemeClr val="dk1"/>
              </a:solidFill>
              <a:latin typeface="Calibri"/>
              <a:ea typeface="Calibri"/>
              <a:cs typeface="Calibri"/>
              <a:sym typeface="Calibri"/>
            </a:endParaRPr>
          </a:p>
        </p:txBody>
      </p:sp>
      <p:sp>
        <p:nvSpPr>
          <p:cNvPr id="626" name="Google Shape;626;p11"/>
          <p:cNvSpPr/>
          <p:nvPr/>
        </p:nvSpPr>
        <p:spPr>
          <a:xfrm>
            <a:off x="4892037" y="1343955"/>
            <a:ext cx="3931800" cy="258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899AA"/>
              </a:buClr>
              <a:buSzPts val="1100"/>
              <a:buFont typeface="Calibri"/>
              <a:buNone/>
            </a:pPr>
            <a:r>
              <a:rPr b="0" i="1" lang="en" sz="1100" u="none" cap="none" strike="noStrike">
                <a:solidFill>
                  <a:srgbClr val="8899AA"/>
                </a:solidFill>
                <a:latin typeface="Calibri"/>
                <a:ea typeface="Calibri"/>
                <a:cs typeface="Calibri"/>
                <a:sym typeface="Calibri"/>
              </a:rPr>
              <a:t>Constraint: circle shape</a:t>
            </a:r>
            <a:endParaRPr b="0" i="0" sz="1100" u="none" cap="none" strike="noStrike">
              <a:solidFill>
                <a:schemeClr val="dk1"/>
              </a:solidFill>
              <a:latin typeface="Calibri"/>
              <a:ea typeface="Calibri"/>
              <a:cs typeface="Calibri"/>
              <a:sym typeface="Calibri"/>
            </a:endParaRPr>
          </a:p>
        </p:txBody>
      </p:sp>
      <p:sp>
        <p:nvSpPr>
          <p:cNvPr id="627" name="Google Shape;627;p11"/>
          <p:cNvSpPr/>
          <p:nvPr/>
        </p:nvSpPr>
        <p:spPr>
          <a:xfrm>
            <a:off x="4892037" y="1611611"/>
            <a:ext cx="3931800" cy="20292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chemeClr val="dk1"/>
              </a:buClr>
              <a:buSzPts val="1400"/>
              <a:buFont typeface="Calibri"/>
              <a:buChar char="•"/>
            </a:pPr>
            <a:r>
              <a:rPr b="0" i="0" lang="en" sz="1400" u="none" cap="none" strike="noStrike">
                <a:solidFill>
                  <a:schemeClr val="dk1"/>
                </a:solidFill>
                <a:latin typeface="Calibri"/>
                <a:ea typeface="Calibri"/>
                <a:cs typeface="Calibri"/>
                <a:sym typeface="Calibri"/>
              </a:rPr>
              <a:t>Penalty: λ · Σwᵢ²</a:t>
            </a:r>
            <a:endParaRPr b="0" i="0" sz="14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chemeClr val="dk1"/>
              </a:buClr>
              <a:buSzPts val="1400"/>
              <a:buFont typeface="Calibri"/>
              <a:buChar char="•"/>
            </a:pPr>
            <a:r>
              <a:rPr b="0" i="0" lang="en" sz="1400" u="none" cap="none" strike="noStrike">
                <a:solidFill>
                  <a:schemeClr val="dk1"/>
                </a:solidFill>
                <a:latin typeface="Calibri"/>
                <a:ea typeface="Calibri"/>
                <a:cs typeface="Calibri"/>
                <a:sym typeface="Calibri"/>
              </a:rPr>
              <a:t>Shrinks all weights uniformly</a:t>
            </a:r>
            <a:endParaRPr b="0" i="0" sz="14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chemeClr val="dk1"/>
              </a:buClr>
              <a:buSzPts val="1400"/>
              <a:buFont typeface="Calibri"/>
              <a:buChar char="•"/>
            </a:pPr>
            <a:r>
              <a:rPr b="0" i="0" lang="en" sz="1400" u="none" cap="none" strike="noStrike">
                <a:solidFill>
                  <a:schemeClr val="dk1"/>
                </a:solidFill>
                <a:latin typeface="Calibri"/>
                <a:ea typeface="Calibri"/>
                <a:cs typeface="Calibri"/>
                <a:sym typeface="Calibri"/>
              </a:rPr>
              <a:t>No exact zeros — keeps all features</a:t>
            </a:r>
            <a:endParaRPr b="0" i="0" sz="14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chemeClr val="dk1"/>
              </a:buClr>
              <a:buSzPts val="1400"/>
              <a:buFont typeface="Calibri"/>
              <a:buChar char="•"/>
            </a:pPr>
            <a:r>
              <a:rPr b="0" i="0" lang="en" sz="1400" u="none" cap="none" strike="noStrike">
                <a:solidFill>
                  <a:schemeClr val="dk1"/>
                </a:solidFill>
                <a:latin typeface="Calibri"/>
                <a:ea typeface="Calibri"/>
                <a:cs typeface="Calibri"/>
                <a:sym typeface="Calibri"/>
              </a:rPr>
              <a:t>Differentiable everywhere</a:t>
            </a:r>
            <a:endParaRPr b="0" i="0" sz="14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chemeClr val="dk1"/>
              </a:buClr>
              <a:buSzPts val="1400"/>
              <a:buFont typeface="Calibri"/>
              <a:buChar char="•"/>
            </a:pPr>
            <a:r>
              <a:rPr b="0" i="0" lang="en" sz="1400" u="none" cap="none" strike="noStrike">
                <a:solidFill>
                  <a:schemeClr val="dk1"/>
                </a:solidFill>
                <a:latin typeface="Calibri"/>
                <a:ea typeface="Calibri"/>
                <a:cs typeface="Calibri"/>
                <a:sym typeface="Calibri"/>
              </a:rPr>
              <a:t>Has analytical closed-form solution</a:t>
            </a:r>
            <a:endParaRPr b="0" i="0" sz="1400" u="none" cap="none" strike="noStrike">
              <a:solidFill>
                <a:schemeClr val="dk1"/>
              </a:solidFill>
              <a:latin typeface="Calibri"/>
              <a:ea typeface="Calibri"/>
              <a:cs typeface="Calibri"/>
              <a:sym typeface="Calibri"/>
            </a:endParaRPr>
          </a:p>
        </p:txBody>
      </p:sp>
      <p:sp>
        <p:nvSpPr>
          <p:cNvPr id="628" name="Google Shape;628;p11"/>
          <p:cNvSpPr/>
          <p:nvPr/>
        </p:nvSpPr>
        <p:spPr>
          <a:xfrm>
            <a:off x="4709157" y="3778760"/>
            <a:ext cx="4206300" cy="1122300"/>
          </a:xfrm>
          <a:prstGeom prst="rect">
            <a:avLst/>
          </a:prstGeom>
          <a:solidFill>
            <a:schemeClr val="lt1"/>
          </a:solidFill>
          <a:ln cap="flat" cmpd="sng" w="12700">
            <a:solidFill>
              <a:srgbClr val="00C9B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9" name="Google Shape;629;p11"/>
          <p:cNvSpPr/>
          <p:nvPr/>
        </p:nvSpPr>
        <p:spPr>
          <a:xfrm>
            <a:off x="4818885" y="3847832"/>
            <a:ext cx="3986700" cy="984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CDCFE"/>
              </a:buClr>
              <a:buSzPts val="1000"/>
              <a:buFont typeface="Courier New"/>
              <a:buNone/>
            </a:pPr>
            <a:r>
              <a:rPr b="0" i="0" lang="en" sz="1400" u="none" cap="none" strike="noStrike">
                <a:solidFill>
                  <a:schemeClr val="dk1"/>
                </a:solidFill>
                <a:latin typeface="Calibri"/>
                <a:ea typeface="Calibri"/>
                <a:cs typeface="Calibri"/>
                <a:sym typeface="Calibri"/>
              </a:rPr>
              <a:t># L2 shrinks weights evenly</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CDCFE"/>
              </a:buClr>
              <a:buSzPts val="1000"/>
              <a:buFont typeface="Courier New"/>
              <a:buNone/>
            </a:pPr>
            <a:r>
              <a:rPr b="0" i="0" lang="en" sz="1400" u="none" cap="none" strike="noStrike">
                <a:solidFill>
                  <a:schemeClr val="dk1"/>
                </a:solidFill>
                <a:latin typeface="Calibri"/>
                <a:ea typeface="Calibri"/>
                <a:cs typeface="Calibri"/>
                <a:sym typeface="Calibri"/>
              </a:rPr>
              <a:t>ridge = Ridge(alpha=1.0)</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CDCFE"/>
              </a:buClr>
              <a:buSzPts val="1000"/>
              <a:buFont typeface="Courier New"/>
              <a:buNone/>
            </a:pPr>
            <a:r>
              <a:rPr b="0" i="0" lang="en" sz="1400" u="none" cap="none" strike="noStrike">
                <a:solidFill>
                  <a:schemeClr val="dk1"/>
                </a:solidFill>
                <a:latin typeface="Calibri"/>
                <a:ea typeface="Calibri"/>
                <a:cs typeface="Calibri"/>
                <a:sym typeface="Calibri"/>
              </a:rPr>
              <a:t>print(ridge.coef_)</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CDCFE"/>
              </a:buClr>
              <a:buSzPts val="1000"/>
              <a:buFont typeface="Courier New"/>
              <a:buNone/>
            </a:pPr>
            <a:r>
              <a:rPr b="0" i="0" lang="en" sz="1400" u="none" cap="none" strike="noStrike">
                <a:solidFill>
                  <a:schemeClr val="dk1"/>
                </a:solidFill>
                <a:latin typeface="Calibri"/>
                <a:ea typeface="Calibri"/>
                <a:cs typeface="Calibri"/>
                <a:sym typeface="Calibri"/>
              </a:rPr>
              <a:t># → [0.12 0.88 0.03 0.21 0.75]</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33" name="Shape 633"/>
        <p:cNvGrpSpPr/>
        <p:nvPr/>
      </p:nvGrpSpPr>
      <p:grpSpPr>
        <a:xfrm>
          <a:off x="0" y="0"/>
          <a:ext cx="0" cy="0"/>
          <a:chOff x="0" y="0"/>
          <a:chExt cx="0" cy="0"/>
        </a:xfrm>
      </p:grpSpPr>
      <p:pic>
        <p:nvPicPr>
          <p:cNvPr id="634" name="Google Shape;634;p12"/>
          <p:cNvPicPr preferRelativeResize="0"/>
          <p:nvPr/>
        </p:nvPicPr>
        <p:blipFill rotWithShape="1">
          <a:blip r:embed="rId4">
            <a:alphaModFix/>
          </a:blip>
          <a:srcRect b="0" l="0" r="0" t="0"/>
          <a:stretch/>
        </p:blipFill>
        <p:spPr>
          <a:xfrm>
            <a:off x="8369125" y="0"/>
            <a:ext cx="774877" cy="867174"/>
          </a:xfrm>
          <a:prstGeom prst="rect">
            <a:avLst/>
          </a:prstGeom>
          <a:noFill/>
          <a:ln>
            <a:noFill/>
          </a:ln>
        </p:spPr>
      </p:pic>
      <p:sp>
        <p:nvSpPr>
          <p:cNvPr id="635" name="Google Shape;635;p12"/>
          <p:cNvSpPr/>
          <p:nvPr/>
        </p:nvSpPr>
        <p:spPr>
          <a:xfrm>
            <a:off x="228600" y="100750"/>
            <a:ext cx="8332800" cy="658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E0E8F0"/>
              </a:buClr>
              <a:buSzPts val="2400"/>
              <a:buFont typeface="Calibri"/>
              <a:buNone/>
            </a:pPr>
            <a:r>
              <a:rPr b="1" i="0" lang="en" sz="2400" u="none" cap="none" strike="noStrike">
                <a:solidFill>
                  <a:schemeClr val="dk1"/>
                </a:solidFill>
                <a:latin typeface="Calibri"/>
                <a:ea typeface="Calibri"/>
                <a:cs typeface="Calibri"/>
                <a:sym typeface="Calibri"/>
              </a:rPr>
              <a:t>More Regularization Techniques — Dropout &amp; Early Stopping</a:t>
            </a:r>
            <a:endParaRPr b="1" i="0" sz="2400" u="none" cap="none" strike="noStrike">
              <a:solidFill>
                <a:schemeClr val="dk1"/>
              </a:solidFill>
              <a:latin typeface="Calibri"/>
              <a:ea typeface="Calibri"/>
              <a:cs typeface="Calibri"/>
              <a:sym typeface="Calibri"/>
            </a:endParaRPr>
          </a:p>
        </p:txBody>
      </p:sp>
      <p:sp>
        <p:nvSpPr>
          <p:cNvPr id="636" name="Google Shape;636;p12"/>
          <p:cNvSpPr/>
          <p:nvPr/>
        </p:nvSpPr>
        <p:spPr>
          <a:xfrm>
            <a:off x="274325" y="976875"/>
            <a:ext cx="4114800" cy="2044500"/>
          </a:xfrm>
          <a:prstGeom prst="rect">
            <a:avLst/>
          </a:prstGeom>
          <a:solidFill>
            <a:schemeClr val="lt1"/>
          </a:solidFill>
          <a:ln cap="flat" cmpd="sng" w="19050">
            <a:solidFill>
              <a:srgbClr val="00C9B1"/>
            </a:solidFill>
            <a:prstDash val="solid"/>
            <a:round/>
            <a:headEnd len="sm" w="sm" type="none"/>
            <a:tailEnd len="sm" w="sm" type="none"/>
          </a:ln>
          <a:effectLst>
            <a:outerShdw blurRad="101600" rotWithShape="0" algn="bl" dir="8100000" dist="38100">
              <a:srgbClr val="000000">
                <a:alpha val="3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7" name="Google Shape;637;p12"/>
          <p:cNvSpPr/>
          <p:nvPr/>
        </p:nvSpPr>
        <p:spPr>
          <a:xfrm>
            <a:off x="274325" y="976875"/>
            <a:ext cx="54900" cy="2044500"/>
          </a:xfrm>
          <a:prstGeom prst="rect">
            <a:avLst/>
          </a:prstGeom>
          <a:solidFill>
            <a:srgbClr val="00C9B1"/>
          </a:solidFill>
          <a:ln cap="flat" cmpd="sng" w="12700">
            <a:solidFill>
              <a:srgbClr val="00C9B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8" name="Google Shape;638;p12"/>
          <p:cNvSpPr/>
          <p:nvPr/>
        </p:nvSpPr>
        <p:spPr>
          <a:xfrm>
            <a:off x="457205" y="1020372"/>
            <a:ext cx="3840600" cy="33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C9B1"/>
              </a:buClr>
              <a:buSzPts val="1500"/>
              <a:buFont typeface="Calibri"/>
              <a:buNone/>
            </a:pPr>
            <a:r>
              <a:rPr b="1" i="0" lang="en" sz="1500" u="none" cap="none" strike="noStrike">
                <a:solidFill>
                  <a:srgbClr val="00C9B1"/>
                </a:solidFill>
                <a:latin typeface="Calibri"/>
                <a:ea typeface="Calibri"/>
                <a:cs typeface="Calibri"/>
                <a:sym typeface="Calibri"/>
              </a:rPr>
              <a:t>Dropout</a:t>
            </a:r>
            <a:endParaRPr b="0" i="0" sz="1500" u="none" cap="none" strike="noStrike">
              <a:solidFill>
                <a:schemeClr val="dk1"/>
              </a:solidFill>
              <a:latin typeface="Calibri"/>
              <a:ea typeface="Calibri"/>
              <a:cs typeface="Calibri"/>
              <a:sym typeface="Calibri"/>
            </a:endParaRPr>
          </a:p>
        </p:txBody>
      </p:sp>
      <p:sp>
        <p:nvSpPr>
          <p:cNvPr id="639" name="Google Shape;639;p12"/>
          <p:cNvSpPr/>
          <p:nvPr/>
        </p:nvSpPr>
        <p:spPr>
          <a:xfrm>
            <a:off x="457205" y="1350948"/>
            <a:ext cx="3840600" cy="739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0E8F0"/>
              </a:buClr>
              <a:buSzPts val="1100"/>
              <a:buFont typeface="Calibri"/>
              <a:buNone/>
            </a:pPr>
            <a:r>
              <a:rPr b="0" i="0" lang="en" sz="1100" u="none" cap="none" strike="noStrike">
                <a:solidFill>
                  <a:schemeClr val="dk1"/>
                </a:solidFill>
                <a:latin typeface="Calibri"/>
                <a:ea typeface="Calibri"/>
                <a:cs typeface="Calibri"/>
                <a:sym typeface="Calibri"/>
              </a:rPr>
              <a:t>Randomly zero-out neurons during training (rate p). Forces network to learn redundant representations and prevents co-adaptation.</a:t>
            </a:r>
            <a:endParaRPr b="0" i="0" sz="1100" u="none" cap="none" strike="noStrike">
              <a:solidFill>
                <a:schemeClr val="dk1"/>
              </a:solidFill>
              <a:latin typeface="Calibri"/>
              <a:ea typeface="Calibri"/>
              <a:cs typeface="Calibri"/>
              <a:sym typeface="Calibri"/>
            </a:endParaRPr>
          </a:p>
        </p:txBody>
      </p:sp>
      <p:sp>
        <p:nvSpPr>
          <p:cNvPr id="640" name="Google Shape;640;p12"/>
          <p:cNvSpPr/>
          <p:nvPr/>
        </p:nvSpPr>
        <p:spPr>
          <a:xfrm>
            <a:off x="274325" y="3056025"/>
            <a:ext cx="4114800" cy="1827000"/>
          </a:xfrm>
          <a:prstGeom prst="rect">
            <a:avLst/>
          </a:prstGeom>
          <a:solidFill>
            <a:schemeClr val="lt1"/>
          </a:solidFill>
          <a:ln cap="flat" cmpd="sng" w="12700">
            <a:solidFill>
              <a:srgbClr val="00C9B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1" name="Google Shape;641;p12"/>
          <p:cNvSpPr/>
          <p:nvPr/>
        </p:nvSpPr>
        <p:spPr>
          <a:xfrm>
            <a:off x="384053" y="3125620"/>
            <a:ext cx="3895200" cy="168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CDCFE"/>
              </a:buClr>
              <a:buSzPts val="1000"/>
              <a:buFont typeface="Courier New"/>
              <a:buNone/>
            </a:pPr>
            <a:r>
              <a:rPr b="0" i="0" lang="en" sz="1200" u="none" cap="none" strike="noStrike">
                <a:solidFill>
                  <a:schemeClr val="dk1"/>
                </a:solidFill>
                <a:latin typeface="Calibri"/>
                <a:ea typeface="Calibri"/>
                <a:cs typeface="Calibri"/>
                <a:sym typeface="Calibri"/>
              </a:rPr>
              <a:t>import torch.nn as nn</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0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CDCFE"/>
              </a:buClr>
              <a:buSzPts val="1000"/>
              <a:buFont typeface="Courier New"/>
              <a:buNone/>
            </a:pPr>
            <a:r>
              <a:rPr b="0" i="0" lang="en" sz="1200" u="none" cap="none" strike="noStrike">
                <a:solidFill>
                  <a:schemeClr val="dk1"/>
                </a:solidFill>
                <a:latin typeface="Calibri"/>
                <a:ea typeface="Calibri"/>
                <a:cs typeface="Calibri"/>
                <a:sym typeface="Calibri"/>
              </a:rPr>
              <a:t>model = nn.Sequential(</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CDCFE"/>
              </a:buClr>
              <a:buSzPts val="1000"/>
              <a:buFont typeface="Courier New"/>
              <a:buNone/>
            </a:pPr>
            <a:r>
              <a:rPr b="0" i="0" lang="en" sz="1200" u="none" cap="none" strike="noStrike">
                <a:solidFill>
                  <a:schemeClr val="dk1"/>
                </a:solidFill>
                <a:latin typeface="Calibri"/>
                <a:ea typeface="Calibri"/>
                <a:cs typeface="Calibri"/>
                <a:sym typeface="Calibri"/>
              </a:rPr>
              <a:t>    nn.Linear(128, 64),</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CDCFE"/>
              </a:buClr>
              <a:buSzPts val="1000"/>
              <a:buFont typeface="Courier New"/>
              <a:buNone/>
            </a:pPr>
            <a:r>
              <a:rPr b="0" i="0" lang="en" sz="1200" u="none" cap="none" strike="noStrike">
                <a:solidFill>
                  <a:schemeClr val="dk1"/>
                </a:solidFill>
                <a:latin typeface="Calibri"/>
                <a:ea typeface="Calibri"/>
                <a:cs typeface="Calibri"/>
                <a:sym typeface="Calibri"/>
              </a:rPr>
              <a:t>    nn.ReLU(),</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CDCFE"/>
              </a:buClr>
              <a:buSzPts val="1000"/>
              <a:buFont typeface="Courier New"/>
              <a:buNone/>
            </a:pPr>
            <a:r>
              <a:rPr b="0" i="0" lang="en" sz="1200" u="none" cap="none" strike="noStrike">
                <a:solidFill>
                  <a:schemeClr val="dk1"/>
                </a:solidFill>
                <a:latin typeface="Calibri"/>
                <a:ea typeface="Calibri"/>
                <a:cs typeface="Calibri"/>
                <a:sym typeface="Calibri"/>
              </a:rPr>
              <a:t>    nn.Dropout(p=0.5),   # 50% dropout</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CDCFE"/>
              </a:buClr>
              <a:buSzPts val="1000"/>
              <a:buFont typeface="Courier New"/>
              <a:buNone/>
            </a:pPr>
            <a:r>
              <a:rPr b="0" i="0" lang="en" sz="1200" u="none" cap="none" strike="noStrike">
                <a:solidFill>
                  <a:schemeClr val="dk1"/>
                </a:solidFill>
                <a:latin typeface="Calibri"/>
                <a:ea typeface="Calibri"/>
                <a:cs typeface="Calibri"/>
                <a:sym typeface="Calibri"/>
              </a:rPr>
              <a:t>    nn.Linear(64, 10)</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CDCFE"/>
              </a:buClr>
              <a:buSzPts val="1000"/>
              <a:buFont typeface="Courier New"/>
              <a:buNone/>
            </a:pPr>
            <a:r>
              <a:rPr b="0" i="0" lang="en" sz="1200" u="none" cap="none" strike="noStrike">
                <a:solidFill>
                  <a:schemeClr val="dk1"/>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642" name="Google Shape;642;p12"/>
          <p:cNvSpPr/>
          <p:nvPr/>
        </p:nvSpPr>
        <p:spPr>
          <a:xfrm>
            <a:off x="4754880" y="976875"/>
            <a:ext cx="4114800" cy="2044500"/>
          </a:xfrm>
          <a:prstGeom prst="rect">
            <a:avLst/>
          </a:prstGeom>
          <a:solidFill>
            <a:schemeClr val="lt1"/>
          </a:solidFill>
          <a:ln cap="flat" cmpd="sng" w="19050">
            <a:solidFill>
              <a:srgbClr val="FFB830"/>
            </a:solidFill>
            <a:prstDash val="solid"/>
            <a:round/>
            <a:headEnd len="sm" w="sm" type="none"/>
            <a:tailEnd len="sm" w="sm" type="none"/>
          </a:ln>
          <a:effectLst>
            <a:outerShdw blurRad="101600" rotWithShape="0" algn="bl" dir="8100000" dist="38100">
              <a:srgbClr val="000000">
                <a:alpha val="3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3" name="Google Shape;643;p12"/>
          <p:cNvSpPr/>
          <p:nvPr/>
        </p:nvSpPr>
        <p:spPr>
          <a:xfrm>
            <a:off x="4754880" y="976875"/>
            <a:ext cx="54900" cy="2044500"/>
          </a:xfrm>
          <a:prstGeom prst="rect">
            <a:avLst/>
          </a:prstGeom>
          <a:solidFill>
            <a:srgbClr val="FFB830"/>
          </a:solidFill>
          <a:ln cap="flat" cmpd="sng" w="12700">
            <a:solidFill>
              <a:srgbClr val="FFB83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4" name="Google Shape;644;p12"/>
          <p:cNvSpPr/>
          <p:nvPr/>
        </p:nvSpPr>
        <p:spPr>
          <a:xfrm>
            <a:off x="4937760" y="1020372"/>
            <a:ext cx="3840600" cy="33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B830"/>
              </a:buClr>
              <a:buSzPts val="1500"/>
              <a:buFont typeface="Calibri"/>
              <a:buNone/>
            </a:pPr>
            <a:r>
              <a:rPr b="1" i="0" lang="en" sz="1500" u="none" cap="none" strike="noStrike">
                <a:solidFill>
                  <a:srgbClr val="FFB830"/>
                </a:solidFill>
                <a:latin typeface="Calibri"/>
                <a:ea typeface="Calibri"/>
                <a:cs typeface="Calibri"/>
                <a:sym typeface="Calibri"/>
              </a:rPr>
              <a:t>Early Stopping</a:t>
            </a:r>
            <a:endParaRPr b="0" i="0" sz="1500" u="none" cap="none" strike="noStrike">
              <a:solidFill>
                <a:schemeClr val="dk1"/>
              </a:solidFill>
              <a:latin typeface="Calibri"/>
              <a:ea typeface="Calibri"/>
              <a:cs typeface="Calibri"/>
              <a:sym typeface="Calibri"/>
            </a:endParaRPr>
          </a:p>
        </p:txBody>
      </p:sp>
      <p:sp>
        <p:nvSpPr>
          <p:cNvPr id="645" name="Google Shape;645;p12"/>
          <p:cNvSpPr/>
          <p:nvPr/>
        </p:nvSpPr>
        <p:spPr>
          <a:xfrm>
            <a:off x="4937760" y="1350948"/>
            <a:ext cx="3840600" cy="739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0E8F0"/>
              </a:buClr>
              <a:buSzPts val="1100"/>
              <a:buFont typeface="Calibri"/>
              <a:buNone/>
            </a:pPr>
            <a:r>
              <a:rPr b="0" i="0" lang="en" sz="1100" u="none" cap="none" strike="noStrike">
                <a:solidFill>
                  <a:schemeClr val="dk1"/>
                </a:solidFill>
                <a:latin typeface="Calibri"/>
                <a:ea typeface="Calibri"/>
                <a:cs typeface="Calibri"/>
                <a:sym typeface="Calibri"/>
              </a:rPr>
              <a:t>Monitor validation loss. Stop training when it stops improving (patience window). Keeps the best checkpoint automatically.</a:t>
            </a:r>
            <a:endParaRPr b="0" i="0" sz="1100" u="none" cap="none" strike="noStrike">
              <a:solidFill>
                <a:schemeClr val="dk1"/>
              </a:solidFill>
              <a:latin typeface="Calibri"/>
              <a:ea typeface="Calibri"/>
              <a:cs typeface="Calibri"/>
              <a:sym typeface="Calibri"/>
            </a:endParaRPr>
          </a:p>
        </p:txBody>
      </p:sp>
      <p:sp>
        <p:nvSpPr>
          <p:cNvPr id="646" name="Google Shape;646;p12"/>
          <p:cNvSpPr/>
          <p:nvPr/>
        </p:nvSpPr>
        <p:spPr>
          <a:xfrm>
            <a:off x="4754880" y="3056025"/>
            <a:ext cx="4114800" cy="1827000"/>
          </a:xfrm>
          <a:prstGeom prst="rect">
            <a:avLst/>
          </a:prstGeom>
          <a:solidFill>
            <a:schemeClr val="lt1"/>
          </a:solidFill>
          <a:ln cap="flat" cmpd="sng" w="12700">
            <a:solidFill>
              <a:srgbClr val="00C9B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7" name="Google Shape;647;p12"/>
          <p:cNvSpPr/>
          <p:nvPr/>
        </p:nvSpPr>
        <p:spPr>
          <a:xfrm>
            <a:off x="4864608" y="3125620"/>
            <a:ext cx="3895200" cy="168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CDCFE"/>
              </a:buClr>
              <a:buSzPts val="1000"/>
              <a:buFont typeface="Courier New"/>
              <a:buNone/>
            </a:pPr>
            <a:r>
              <a:rPr b="0" i="0" lang="en" sz="1200" u="none" cap="none" strike="noStrike">
                <a:solidFill>
                  <a:schemeClr val="dk1"/>
                </a:solidFill>
                <a:latin typeface="Calibri"/>
                <a:ea typeface="Calibri"/>
                <a:cs typeface="Calibri"/>
                <a:sym typeface="Calibri"/>
              </a:rPr>
              <a:t>from tensorflow.keras.callbacks import EarlyStopping</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0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CDCFE"/>
              </a:buClr>
              <a:buSzPts val="1000"/>
              <a:buFont typeface="Courier New"/>
              <a:buNone/>
            </a:pPr>
            <a:r>
              <a:rPr b="0" i="0" lang="en" sz="1200" u="none" cap="none" strike="noStrike">
                <a:solidFill>
                  <a:schemeClr val="dk1"/>
                </a:solidFill>
                <a:latin typeface="Calibri"/>
                <a:ea typeface="Calibri"/>
                <a:cs typeface="Calibri"/>
                <a:sym typeface="Calibri"/>
              </a:rPr>
              <a:t>cb = EarlyStopping(</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CDCFE"/>
              </a:buClr>
              <a:buSzPts val="1000"/>
              <a:buFont typeface="Courier New"/>
              <a:buNone/>
            </a:pPr>
            <a:r>
              <a:rPr b="0" i="0" lang="en" sz="1200" u="none" cap="none" strike="noStrike">
                <a:solidFill>
                  <a:schemeClr val="dk1"/>
                </a:solidFill>
                <a:latin typeface="Calibri"/>
                <a:ea typeface="Calibri"/>
                <a:cs typeface="Calibri"/>
                <a:sym typeface="Calibri"/>
              </a:rPr>
              <a:t>    monitor='val_loss',</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CDCFE"/>
              </a:buClr>
              <a:buSzPts val="1000"/>
              <a:buFont typeface="Courier New"/>
              <a:buNone/>
            </a:pPr>
            <a:r>
              <a:rPr b="0" i="0" lang="en" sz="1200" u="none" cap="none" strike="noStrike">
                <a:solidFill>
                  <a:schemeClr val="dk1"/>
                </a:solidFill>
                <a:latin typeface="Calibri"/>
                <a:ea typeface="Calibri"/>
                <a:cs typeface="Calibri"/>
                <a:sym typeface="Calibri"/>
              </a:rPr>
              <a:t>    patience=5,          # wait 5 epochs</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CDCFE"/>
              </a:buClr>
              <a:buSzPts val="1000"/>
              <a:buFont typeface="Courier New"/>
              <a:buNone/>
            </a:pPr>
            <a:r>
              <a:rPr b="0" i="0" lang="en" sz="1200" u="none" cap="none" strike="noStrike">
                <a:solidFill>
                  <a:schemeClr val="dk1"/>
                </a:solidFill>
                <a:latin typeface="Calibri"/>
                <a:ea typeface="Calibri"/>
                <a:cs typeface="Calibri"/>
                <a:sym typeface="Calibri"/>
              </a:rPr>
              <a:t>    restore_best_weights=True</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CDCFE"/>
              </a:buClr>
              <a:buSzPts val="1000"/>
              <a:buFont typeface="Courier New"/>
              <a:buNone/>
            </a:pPr>
            <a:r>
              <a:rPr b="0" i="0" lang="en" sz="1200" u="none" cap="none" strike="noStrike">
                <a:solidFill>
                  <a:schemeClr val="dk1"/>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0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CDCFE"/>
              </a:buClr>
              <a:buSzPts val="1000"/>
              <a:buFont typeface="Courier New"/>
              <a:buNone/>
            </a:pPr>
            <a:r>
              <a:rPr b="0" i="0" lang="en" sz="1200" u="none" cap="none" strike="noStrike">
                <a:solidFill>
                  <a:schemeClr val="dk1"/>
                </a:solidFill>
                <a:latin typeface="Calibri"/>
                <a:ea typeface="Calibri"/>
                <a:cs typeface="Calibri"/>
                <a:sym typeface="Calibri"/>
              </a:rPr>
              <a:t>model.fit(X, y, callbacks=[cb])</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51" name="Shape 651"/>
        <p:cNvGrpSpPr/>
        <p:nvPr/>
      </p:nvGrpSpPr>
      <p:grpSpPr>
        <a:xfrm>
          <a:off x="0" y="0"/>
          <a:ext cx="0" cy="0"/>
          <a:chOff x="0" y="0"/>
          <a:chExt cx="0" cy="0"/>
        </a:xfrm>
      </p:grpSpPr>
      <p:pic>
        <p:nvPicPr>
          <p:cNvPr id="652" name="Google Shape;652;p13"/>
          <p:cNvPicPr preferRelativeResize="0"/>
          <p:nvPr/>
        </p:nvPicPr>
        <p:blipFill rotWithShape="1">
          <a:blip r:embed="rId4">
            <a:alphaModFix/>
          </a:blip>
          <a:srcRect b="0" l="0" r="0" t="0"/>
          <a:stretch/>
        </p:blipFill>
        <p:spPr>
          <a:xfrm>
            <a:off x="8369125" y="0"/>
            <a:ext cx="774877" cy="867174"/>
          </a:xfrm>
          <a:prstGeom prst="rect">
            <a:avLst/>
          </a:prstGeom>
          <a:noFill/>
          <a:ln>
            <a:noFill/>
          </a:ln>
        </p:spPr>
      </p:pic>
      <p:sp>
        <p:nvSpPr>
          <p:cNvPr id="653" name="Google Shape;653;p13"/>
          <p:cNvSpPr/>
          <p:nvPr/>
        </p:nvSpPr>
        <p:spPr>
          <a:xfrm>
            <a:off x="228600" y="100750"/>
            <a:ext cx="8332800" cy="658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E0E8F0"/>
              </a:buClr>
              <a:buSzPts val="2400"/>
              <a:buFont typeface="Calibri"/>
              <a:buNone/>
            </a:pPr>
            <a:r>
              <a:rPr b="1" i="0" lang="en" sz="2400" u="none" cap="none" strike="noStrike">
                <a:solidFill>
                  <a:schemeClr val="dk1"/>
                </a:solidFill>
                <a:latin typeface="Calibri"/>
                <a:ea typeface="Calibri"/>
                <a:cs typeface="Calibri"/>
                <a:sym typeface="Calibri"/>
              </a:rPr>
              <a:t>Putting It Together — Sklearn Pipeline</a:t>
            </a:r>
            <a:endParaRPr b="1" i="0" sz="2400" u="none" cap="none" strike="noStrike">
              <a:solidFill>
                <a:schemeClr val="dk1"/>
              </a:solidFill>
              <a:latin typeface="Calibri"/>
              <a:ea typeface="Calibri"/>
              <a:cs typeface="Calibri"/>
              <a:sym typeface="Calibri"/>
            </a:endParaRPr>
          </a:p>
        </p:txBody>
      </p:sp>
      <p:sp>
        <p:nvSpPr>
          <p:cNvPr id="654" name="Google Shape;654;p13"/>
          <p:cNvSpPr/>
          <p:nvPr/>
        </p:nvSpPr>
        <p:spPr>
          <a:xfrm>
            <a:off x="274283" y="1148533"/>
            <a:ext cx="4206300" cy="2651700"/>
          </a:xfrm>
          <a:prstGeom prst="rect">
            <a:avLst/>
          </a:prstGeom>
          <a:solidFill>
            <a:schemeClr val="lt1"/>
          </a:solidFill>
          <a:ln cap="flat" cmpd="sng" w="12700">
            <a:solidFill>
              <a:srgbClr val="00C9B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5" name="Google Shape;655;p13"/>
          <p:cNvSpPr/>
          <p:nvPr/>
        </p:nvSpPr>
        <p:spPr>
          <a:xfrm>
            <a:off x="384010" y="1221685"/>
            <a:ext cx="3986700" cy="2505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CDCFE"/>
              </a:buClr>
              <a:buSzPts val="1050"/>
              <a:buFont typeface="Courier New"/>
              <a:buNone/>
            </a:pPr>
            <a:r>
              <a:rPr b="0" i="0" lang="en" sz="1150" u="none" cap="none" strike="noStrike">
                <a:solidFill>
                  <a:schemeClr val="dk1"/>
                </a:solidFill>
                <a:latin typeface="Calibri"/>
                <a:ea typeface="Calibri"/>
                <a:cs typeface="Calibri"/>
                <a:sym typeface="Calibri"/>
              </a:rPr>
              <a:t>#import packages</a:t>
            </a:r>
            <a:endParaRPr b="0" i="0" sz="11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CDCFE"/>
              </a:buClr>
              <a:buSzPts val="1050"/>
              <a:buFont typeface="Courier New"/>
              <a:buNone/>
            </a:pPr>
            <a:r>
              <a:rPr b="0" i="0" lang="en" sz="1150" u="none" cap="none" strike="noStrike">
                <a:solidFill>
                  <a:schemeClr val="dk1"/>
                </a:solidFill>
                <a:latin typeface="Calibri"/>
                <a:ea typeface="Calibri"/>
                <a:cs typeface="Calibri"/>
                <a:sym typeface="Calibri"/>
              </a:rPr>
              <a:t>import numpy as np</a:t>
            </a:r>
            <a:endParaRPr b="0" i="0" sz="11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CDCFE"/>
              </a:buClr>
              <a:buSzPts val="1050"/>
              <a:buFont typeface="Courier New"/>
              <a:buNone/>
            </a:pPr>
            <a:r>
              <a:rPr b="0" i="0" lang="en" sz="1150" u="none" cap="none" strike="noStrike">
                <a:solidFill>
                  <a:schemeClr val="dk1"/>
                </a:solidFill>
                <a:latin typeface="Calibri"/>
                <a:ea typeface="Calibri"/>
                <a:cs typeface="Calibri"/>
                <a:sym typeface="Calibri"/>
              </a:rPr>
              <a:t>from sklearn.pipeline import Pipeline</a:t>
            </a:r>
            <a:endParaRPr b="0" i="0" sz="11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CDCFE"/>
              </a:buClr>
              <a:buSzPts val="1050"/>
              <a:buFont typeface="Courier New"/>
              <a:buNone/>
            </a:pPr>
            <a:r>
              <a:rPr b="0" i="0" lang="en" sz="1150" u="none" cap="none" strike="noStrike">
                <a:solidFill>
                  <a:schemeClr val="dk1"/>
                </a:solidFill>
                <a:latin typeface="Calibri"/>
                <a:ea typeface="Calibri"/>
                <a:cs typeface="Calibri"/>
                <a:sym typeface="Calibri"/>
              </a:rPr>
              <a:t>from sklearn.preprocessing import (</a:t>
            </a:r>
            <a:endParaRPr b="0" i="0" sz="11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CDCFE"/>
              </a:buClr>
              <a:buSzPts val="1050"/>
              <a:buFont typeface="Courier New"/>
              <a:buNone/>
            </a:pPr>
            <a:r>
              <a:rPr b="0" i="0" lang="en" sz="1150" u="none" cap="none" strike="noStrike">
                <a:solidFill>
                  <a:schemeClr val="dk1"/>
                </a:solidFill>
                <a:latin typeface="Calibri"/>
                <a:ea typeface="Calibri"/>
                <a:cs typeface="Calibri"/>
                <a:sym typeface="Calibri"/>
              </a:rPr>
              <a:t>    PolynomialFeatures, StandardScaler)</a:t>
            </a:r>
            <a:endParaRPr b="0" i="0" sz="11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CDCFE"/>
              </a:buClr>
              <a:buSzPts val="1050"/>
              <a:buFont typeface="Courier New"/>
              <a:buNone/>
            </a:pPr>
            <a:r>
              <a:rPr b="0" i="0" lang="en" sz="1150" u="none" cap="none" strike="noStrike">
                <a:solidFill>
                  <a:schemeClr val="dk1"/>
                </a:solidFill>
                <a:latin typeface="Calibri"/>
                <a:ea typeface="Calibri"/>
                <a:cs typeface="Calibri"/>
                <a:sym typeface="Calibri"/>
              </a:rPr>
              <a:t>from sklearn.linear_model import Ridge</a:t>
            </a:r>
            <a:endParaRPr b="0" i="0" sz="11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CDCFE"/>
              </a:buClr>
              <a:buSzPts val="1050"/>
              <a:buFont typeface="Courier New"/>
              <a:buNone/>
            </a:pPr>
            <a:r>
              <a:rPr b="0" i="0" lang="en" sz="1150" u="none" cap="none" strike="noStrike">
                <a:solidFill>
                  <a:schemeClr val="dk1"/>
                </a:solidFill>
                <a:latin typeface="Calibri"/>
                <a:ea typeface="Calibri"/>
                <a:cs typeface="Calibri"/>
                <a:sym typeface="Calibri"/>
              </a:rPr>
              <a:t>from sklearn.model_selection import (</a:t>
            </a:r>
            <a:endParaRPr b="0" i="0" sz="11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CDCFE"/>
              </a:buClr>
              <a:buSzPts val="1050"/>
              <a:buFont typeface="Courier New"/>
              <a:buNone/>
            </a:pPr>
            <a:r>
              <a:rPr b="0" i="0" lang="en" sz="1150" u="none" cap="none" strike="noStrike">
                <a:solidFill>
                  <a:schemeClr val="dk1"/>
                </a:solidFill>
                <a:latin typeface="Calibri"/>
                <a:ea typeface="Calibri"/>
                <a:cs typeface="Calibri"/>
                <a:sym typeface="Calibri"/>
              </a:rPr>
              <a:t>    train_test_split, cross_val_score)</a:t>
            </a:r>
            <a:endParaRPr b="0" i="0" sz="11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CDCFE"/>
              </a:buClr>
              <a:buSzPts val="1050"/>
              <a:buFont typeface="Courier New"/>
              <a:buNone/>
            </a:pPr>
            <a:r>
              <a:t/>
            </a:r>
            <a:endParaRPr b="0" i="0" sz="11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CDCFE"/>
              </a:buClr>
              <a:buSzPts val="1050"/>
              <a:buFont typeface="Courier New"/>
              <a:buNone/>
            </a:pPr>
            <a:r>
              <a:rPr b="0" i="0" lang="en" sz="1150" u="none" cap="none" strike="noStrike">
                <a:solidFill>
                  <a:schemeClr val="dk1"/>
                </a:solidFill>
                <a:latin typeface="Calibri"/>
                <a:ea typeface="Calibri"/>
                <a:cs typeface="Calibri"/>
                <a:sym typeface="Calibri"/>
              </a:rPr>
              <a:t>np.random.seed(42)</a:t>
            </a:r>
            <a:endParaRPr b="0" i="0" sz="11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CDCFE"/>
              </a:buClr>
              <a:buSzPts val="1050"/>
              <a:buFont typeface="Courier New"/>
              <a:buNone/>
            </a:pPr>
            <a:r>
              <a:rPr b="0" i="0" lang="en" sz="1150" u="none" cap="none" strike="noStrike">
                <a:solidFill>
                  <a:schemeClr val="dk1"/>
                </a:solidFill>
                <a:latin typeface="Calibri"/>
                <a:ea typeface="Calibri"/>
                <a:cs typeface="Calibri"/>
                <a:sym typeface="Calibri"/>
              </a:rPr>
              <a:t>X = np.sort(np.random.rand(80,1), axis=0)</a:t>
            </a:r>
            <a:endParaRPr b="0" i="0" sz="11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CDCFE"/>
              </a:buClr>
              <a:buSzPts val="1050"/>
              <a:buFont typeface="Courier New"/>
              <a:buNone/>
            </a:pPr>
            <a:r>
              <a:rPr b="0" i="0" lang="en" sz="1150" u="none" cap="none" strike="noStrike">
                <a:solidFill>
                  <a:schemeClr val="dk1"/>
                </a:solidFill>
                <a:latin typeface="Calibri"/>
                <a:ea typeface="Calibri"/>
                <a:cs typeface="Calibri"/>
                <a:sym typeface="Calibri"/>
              </a:rPr>
              <a:t>y = np.sin(2*np.pi*X).ravel() +     np.random.normal(0, 0.15, 80)</a:t>
            </a:r>
            <a:endParaRPr b="0" i="0" sz="11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CDCFE"/>
              </a:buClr>
              <a:buSzPts val="1050"/>
              <a:buFont typeface="Courier New"/>
              <a:buNone/>
            </a:pPr>
            <a:r>
              <a:rPr b="0" i="0" lang="en" sz="1150" u="none" cap="none" strike="noStrike">
                <a:solidFill>
                  <a:schemeClr val="dk1"/>
                </a:solidFill>
                <a:latin typeface="Calibri"/>
                <a:ea typeface="Calibri"/>
                <a:cs typeface="Calibri"/>
                <a:sym typeface="Calibri"/>
              </a:rPr>
              <a:t>X_train, X_test, y_train, y_test =     train_test_split(X, y, test_size=0.2)</a:t>
            </a:r>
            <a:endParaRPr b="0" i="0" sz="1150" u="none" cap="none" strike="noStrike">
              <a:solidFill>
                <a:schemeClr val="dk1"/>
              </a:solidFill>
              <a:latin typeface="Calibri"/>
              <a:ea typeface="Calibri"/>
              <a:cs typeface="Calibri"/>
              <a:sym typeface="Calibri"/>
            </a:endParaRPr>
          </a:p>
        </p:txBody>
      </p:sp>
      <p:sp>
        <p:nvSpPr>
          <p:cNvPr id="656" name="Google Shape;656;p13"/>
          <p:cNvSpPr/>
          <p:nvPr/>
        </p:nvSpPr>
        <p:spPr>
          <a:xfrm>
            <a:off x="4663402" y="1148533"/>
            <a:ext cx="4206300" cy="2651700"/>
          </a:xfrm>
          <a:prstGeom prst="rect">
            <a:avLst/>
          </a:prstGeom>
          <a:solidFill>
            <a:schemeClr val="lt1"/>
          </a:solidFill>
          <a:ln cap="flat" cmpd="sng" w="12700">
            <a:solidFill>
              <a:srgbClr val="00C9B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7" name="Google Shape;657;p13"/>
          <p:cNvSpPr/>
          <p:nvPr/>
        </p:nvSpPr>
        <p:spPr>
          <a:xfrm>
            <a:off x="4773130" y="1221685"/>
            <a:ext cx="3986700" cy="2505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CDCFE"/>
              </a:buClr>
              <a:buSzPts val="1050"/>
              <a:buFont typeface="Courier New"/>
              <a:buNone/>
            </a:pPr>
            <a:r>
              <a:rPr b="0" i="0" lang="en" sz="1050" u="none" cap="none" strike="noStrike">
                <a:solidFill>
                  <a:schemeClr val="dk1"/>
                </a:solidFill>
                <a:latin typeface="Calibri"/>
                <a:ea typeface="Calibri"/>
                <a:cs typeface="Calibri"/>
                <a:sym typeface="Calibri"/>
              </a:rPr>
              <a:t># Regularized polynomial pipeline</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CDCFE"/>
              </a:buClr>
              <a:buSzPts val="1050"/>
              <a:buFont typeface="Courier New"/>
              <a:buNone/>
            </a:pPr>
            <a:r>
              <a:rPr b="0" i="0" lang="en" sz="1050" u="none" cap="none" strike="noStrike">
                <a:solidFill>
                  <a:schemeClr val="dk1"/>
                </a:solidFill>
                <a:latin typeface="Calibri"/>
                <a:ea typeface="Calibri"/>
                <a:cs typeface="Calibri"/>
                <a:sym typeface="Calibri"/>
              </a:rPr>
              <a:t>pipe = Pipeline([</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CDCFE"/>
              </a:buClr>
              <a:buSzPts val="1050"/>
              <a:buFont typeface="Courier New"/>
              <a:buNone/>
            </a:pPr>
            <a:r>
              <a:rPr b="0" i="0" lang="en" sz="1050" u="none" cap="none" strike="noStrike">
                <a:solidFill>
                  <a:schemeClr val="dk1"/>
                </a:solidFill>
                <a:latin typeface="Calibri"/>
                <a:ea typeface="Calibri"/>
                <a:cs typeface="Calibri"/>
                <a:sym typeface="Calibri"/>
              </a:rPr>
              <a:t>    ('poly',   PolynomialFeatures(degree=9)),</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CDCFE"/>
              </a:buClr>
              <a:buSzPts val="1050"/>
              <a:buFont typeface="Courier New"/>
              <a:buNone/>
            </a:pPr>
            <a:r>
              <a:rPr b="0" i="0" lang="en" sz="1050" u="none" cap="none" strike="noStrike">
                <a:solidFill>
                  <a:schemeClr val="dk1"/>
                </a:solidFill>
                <a:latin typeface="Calibri"/>
                <a:ea typeface="Calibri"/>
                <a:cs typeface="Calibri"/>
                <a:sym typeface="Calibri"/>
              </a:rPr>
              <a:t>    ('scaler', StandardScaler()),</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CDCFE"/>
              </a:buClr>
              <a:buSzPts val="1050"/>
              <a:buFont typeface="Courier New"/>
              <a:buNone/>
            </a:pPr>
            <a:r>
              <a:rPr b="0" i="0" lang="en" sz="1050" u="none" cap="none" strike="noStrike">
                <a:solidFill>
                  <a:schemeClr val="dk1"/>
                </a:solidFill>
                <a:latin typeface="Calibri"/>
                <a:ea typeface="Calibri"/>
                <a:cs typeface="Calibri"/>
                <a:sym typeface="Calibri"/>
              </a:rPr>
              <a:t>    ('model',  Ridge(alpha=1.0))   # L2</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CDCFE"/>
              </a:buClr>
              <a:buSzPts val="1050"/>
              <a:buFont typeface="Courier New"/>
              <a:buNone/>
            </a:pPr>
            <a:r>
              <a:rPr b="0" i="0" lang="en" sz="1050" u="none" cap="none" strike="noStrike">
                <a:solidFill>
                  <a:schemeClr val="dk1"/>
                </a:solidFill>
                <a:latin typeface="Calibri"/>
                <a:ea typeface="Calibri"/>
                <a:cs typeface="Calibri"/>
                <a:sym typeface="Calibri"/>
              </a:rPr>
              <a:t>])</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CDCFE"/>
              </a:buClr>
              <a:buSzPts val="1050"/>
              <a:buFont typeface="Courier New"/>
              <a:buNone/>
            </a:pPr>
            <a:r>
              <a:rPr b="0" i="0" lang="en" sz="1050" u="none" cap="none" strike="noStrike">
                <a:solidFill>
                  <a:schemeClr val="dk1"/>
                </a:solidFill>
                <a:latin typeface="Calibri"/>
                <a:ea typeface="Calibri"/>
                <a:cs typeface="Calibri"/>
                <a:sym typeface="Calibri"/>
              </a:rPr>
              <a:t>pipe.fit(X_train, y_train)</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CDCFE"/>
              </a:buClr>
              <a:buSzPts val="1050"/>
              <a:buFont typeface="Courier New"/>
              <a:buNone/>
            </a:pPr>
            <a:r>
              <a:rPr b="0" i="0" lang="en" sz="1050" u="none" cap="none" strike="noStrike">
                <a:solidFill>
                  <a:schemeClr val="dk1"/>
                </a:solidFill>
                <a:latin typeface="Calibri"/>
                <a:ea typeface="Calibri"/>
                <a:cs typeface="Calibri"/>
                <a:sym typeface="Calibri"/>
              </a:rPr>
              <a:t>train_r2 = pipe.score(X_train, y_train)</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CDCFE"/>
              </a:buClr>
              <a:buSzPts val="1050"/>
              <a:buFont typeface="Courier New"/>
              <a:buNone/>
            </a:pPr>
            <a:r>
              <a:rPr b="0" i="0" lang="en" sz="1050" u="none" cap="none" strike="noStrike">
                <a:solidFill>
                  <a:schemeClr val="dk1"/>
                </a:solidFill>
                <a:latin typeface="Calibri"/>
                <a:ea typeface="Calibri"/>
                <a:cs typeface="Calibri"/>
                <a:sym typeface="Calibri"/>
              </a:rPr>
              <a:t>test_r2  = pipe.score(X_test,  y_test)</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CDCFE"/>
              </a:buClr>
              <a:buSzPts val="1050"/>
              <a:buFont typeface="Courier New"/>
              <a:buNone/>
            </a:pPr>
            <a:r>
              <a:rPr b="0" i="0" lang="en" sz="1050" u="none" cap="none" strike="noStrike">
                <a:solidFill>
                  <a:schemeClr val="dk1"/>
                </a:solidFill>
                <a:latin typeface="Calibri"/>
                <a:ea typeface="Calibri"/>
                <a:cs typeface="Calibri"/>
                <a:sym typeface="Calibri"/>
              </a:rPr>
              <a:t>print(f"Train R²: {train_r2:.3f}")</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CDCFE"/>
              </a:buClr>
              <a:buSzPts val="1050"/>
              <a:buFont typeface="Courier New"/>
              <a:buNone/>
            </a:pPr>
            <a:r>
              <a:rPr b="0" i="0" lang="en" sz="1050" u="none" cap="none" strike="noStrike">
                <a:solidFill>
                  <a:schemeClr val="dk1"/>
                </a:solidFill>
                <a:latin typeface="Calibri"/>
                <a:ea typeface="Calibri"/>
                <a:cs typeface="Calibri"/>
                <a:sym typeface="Calibri"/>
              </a:rPr>
              <a:t>print(f"Test  R²: {test_r2:.3f}")</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CDCFE"/>
              </a:buClr>
              <a:buSzPts val="1050"/>
              <a:buFont typeface="Courier New"/>
              <a:buNone/>
            </a:pPr>
            <a:r>
              <a:rPr b="0" i="0" lang="en" sz="1050" u="none" cap="none" strike="noStrike">
                <a:solidFill>
                  <a:schemeClr val="dk1"/>
                </a:solidFill>
                <a:latin typeface="Calibri"/>
                <a:ea typeface="Calibri"/>
                <a:cs typeface="Calibri"/>
                <a:sym typeface="Calibri"/>
              </a:rPr>
              <a:t># Cross-validation</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CDCFE"/>
              </a:buClr>
              <a:buSzPts val="1050"/>
              <a:buFont typeface="Courier New"/>
              <a:buNone/>
            </a:pPr>
            <a:r>
              <a:rPr b="0" i="0" lang="en" sz="1050" u="none" cap="none" strike="noStrike">
                <a:solidFill>
                  <a:schemeClr val="dk1"/>
                </a:solidFill>
                <a:latin typeface="Calibri"/>
                <a:ea typeface="Calibri"/>
                <a:cs typeface="Calibri"/>
                <a:sym typeface="Calibri"/>
              </a:rPr>
              <a:t>cv = cross_val_score(pipe, X, y, cv=5)</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CDCFE"/>
              </a:buClr>
              <a:buSzPts val="1050"/>
              <a:buFont typeface="Courier New"/>
              <a:buNone/>
            </a:pPr>
            <a:r>
              <a:rPr b="0" i="0" lang="en" sz="1050" u="none" cap="none" strike="noStrike">
                <a:solidFill>
                  <a:schemeClr val="dk1"/>
                </a:solidFill>
                <a:latin typeface="Calibri"/>
                <a:ea typeface="Calibri"/>
                <a:cs typeface="Calibri"/>
                <a:sym typeface="Calibri"/>
              </a:rPr>
              <a:t>print(f"CV: {cv.mean():.3f} ± {cv.std():.3f}")</a:t>
            </a:r>
            <a:endParaRPr b="0" i="0" sz="1050" u="none" cap="none" strike="noStrike">
              <a:solidFill>
                <a:schemeClr val="dk1"/>
              </a:solidFill>
              <a:latin typeface="Calibri"/>
              <a:ea typeface="Calibri"/>
              <a:cs typeface="Calibri"/>
              <a:sym typeface="Calibri"/>
            </a:endParaRPr>
          </a:p>
        </p:txBody>
      </p:sp>
      <p:sp>
        <p:nvSpPr>
          <p:cNvPr id="658" name="Google Shape;658;p13"/>
          <p:cNvSpPr/>
          <p:nvPr/>
        </p:nvSpPr>
        <p:spPr>
          <a:xfrm>
            <a:off x="274283" y="3919165"/>
            <a:ext cx="2743200" cy="621900"/>
          </a:xfrm>
          <a:prstGeom prst="rect">
            <a:avLst/>
          </a:prstGeom>
          <a:solidFill>
            <a:schemeClr val="lt1"/>
          </a:solidFill>
          <a:ln cap="flat" cmpd="sng" w="19050">
            <a:solidFill>
              <a:srgbClr val="00C9B1"/>
            </a:solidFill>
            <a:prstDash val="solid"/>
            <a:round/>
            <a:headEnd len="sm" w="sm" type="none"/>
            <a:tailEnd len="sm" w="sm" type="none"/>
          </a:ln>
          <a:effectLst>
            <a:outerShdw blurRad="101600" rotWithShape="0" algn="bl" dir="8100000" dist="38100">
              <a:srgbClr val="000000">
                <a:alpha val="3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9" name="Google Shape;659;p13"/>
          <p:cNvSpPr/>
          <p:nvPr/>
        </p:nvSpPr>
        <p:spPr>
          <a:xfrm>
            <a:off x="438874" y="3955741"/>
            <a:ext cx="25146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0E8F0"/>
              </a:buClr>
              <a:buSzPts val="1050"/>
              <a:buFont typeface="Calibri"/>
              <a:buNone/>
            </a:pPr>
            <a:r>
              <a:rPr b="0" i="0" lang="en" sz="1050" u="none" cap="none" strike="noStrike">
                <a:solidFill>
                  <a:schemeClr val="dk1"/>
                </a:solidFill>
                <a:latin typeface="Calibri"/>
                <a:ea typeface="Calibri"/>
                <a:cs typeface="Calibri"/>
                <a:sym typeface="Calibri"/>
              </a:rPr>
              <a:t>✔  Always hold out a test set — never tune on it.</a:t>
            </a:r>
            <a:endParaRPr b="0" i="0" sz="1050" u="none" cap="none" strike="noStrike">
              <a:solidFill>
                <a:schemeClr val="dk1"/>
              </a:solidFill>
              <a:latin typeface="Calibri"/>
              <a:ea typeface="Calibri"/>
              <a:cs typeface="Calibri"/>
              <a:sym typeface="Calibri"/>
            </a:endParaRPr>
          </a:p>
        </p:txBody>
      </p:sp>
      <p:sp>
        <p:nvSpPr>
          <p:cNvPr id="660" name="Google Shape;660;p13"/>
          <p:cNvSpPr/>
          <p:nvPr/>
        </p:nvSpPr>
        <p:spPr>
          <a:xfrm>
            <a:off x="3200363" y="3919165"/>
            <a:ext cx="2743200" cy="621900"/>
          </a:xfrm>
          <a:prstGeom prst="rect">
            <a:avLst/>
          </a:prstGeom>
          <a:solidFill>
            <a:schemeClr val="lt1"/>
          </a:solidFill>
          <a:ln cap="flat" cmpd="sng" w="19050">
            <a:solidFill>
              <a:srgbClr val="FFB830"/>
            </a:solidFill>
            <a:prstDash val="solid"/>
            <a:round/>
            <a:headEnd len="sm" w="sm" type="none"/>
            <a:tailEnd len="sm" w="sm" type="none"/>
          </a:ln>
          <a:effectLst>
            <a:outerShdw blurRad="101600" rotWithShape="0" algn="bl" dir="8100000" dist="38100">
              <a:srgbClr val="000000">
                <a:alpha val="3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1" name="Google Shape;661;p13"/>
          <p:cNvSpPr/>
          <p:nvPr/>
        </p:nvSpPr>
        <p:spPr>
          <a:xfrm>
            <a:off x="3364955" y="3955741"/>
            <a:ext cx="25146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0E8F0"/>
              </a:buClr>
              <a:buSzPts val="1050"/>
              <a:buFont typeface="Calibri"/>
              <a:buNone/>
            </a:pPr>
            <a:r>
              <a:rPr b="0" i="0" lang="en" sz="1050" u="none" cap="none" strike="noStrike">
                <a:solidFill>
                  <a:schemeClr val="dk1"/>
                </a:solidFill>
                <a:latin typeface="Calibri"/>
                <a:ea typeface="Calibri"/>
                <a:cs typeface="Calibri"/>
                <a:sym typeface="Calibri"/>
              </a:rPr>
              <a:t>✔  Use cross-validation to get stable performance estimates.</a:t>
            </a:r>
            <a:endParaRPr b="0" i="0" sz="1050" u="none" cap="none" strike="noStrike">
              <a:solidFill>
                <a:schemeClr val="dk1"/>
              </a:solidFill>
              <a:latin typeface="Calibri"/>
              <a:ea typeface="Calibri"/>
              <a:cs typeface="Calibri"/>
              <a:sym typeface="Calibri"/>
            </a:endParaRPr>
          </a:p>
        </p:txBody>
      </p:sp>
      <p:sp>
        <p:nvSpPr>
          <p:cNvPr id="662" name="Google Shape;662;p13"/>
          <p:cNvSpPr/>
          <p:nvPr/>
        </p:nvSpPr>
        <p:spPr>
          <a:xfrm>
            <a:off x="6126443" y="3919165"/>
            <a:ext cx="2743200" cy="621900"/>
          </a:xfrm>
          <a:prstGeom prst="rect">
            <a:avLst/>
          </a:prstGeom>
          <a:solidFill>
            <a:schemeClr val="lt1"/>
          </a:solidFill>
          <a:ln cap="flat" cmpd="sng" w="19050">
            <a:solidFill>
              <a:srgbClr val="FF4B6E"/>
            </a:solidFill>
            <a:prstDash val="solid"/>
            <a:round/>
            <a:headEnd len="sm" w="sm" type="none"/>
            <a:tailEnd len="sm" w="sm" type="none"/>
          </a:ln>
          <a:effectLst>
            <a:outerShdw blurRad="101600" rotWithShape="0" algn="bl" dir="8100000" dist="38100">
              <a:srgbClr val="000000">
                <a:alpha val="3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3" name="Google Shape;663;p13"/>
          <p:cNvSpPr/>
          <p:nvPr/>
        </p:nvSpPr>
        <p:spPr>
          <a:xfrm>
            <a:off x="6291035" y="3955741"/>
            <a:ext cx="25146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0E8F0"/>
              </a:buClr>
              <a:buSzPts val="1050"/>
              <a:buFont typeface="Calibri"/>
              <a:buNone/>
            </a:pPr>
            <a:r>
              <a:rPr b="0" i="0" lang="en" sz="1050" u="none" cap="none" strike="noStrike">
                <a:solidFill>
                  <a:schemeClr val="dk1"/>
                </a:solidFill>
                <a:latin typeface="Calibri"/>
                <a:ea typeface="Calibri"/>
                <a:cs typeface="Calibri"/>
                <a:sym typeface="Calibri"/>
              </a:rPr>
              <a:t>✔  Tune α (lambda) with GridSearchCV or validation curve.</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p14"/>
          <p:cNvSpPr/>
          <p:nvPr/>
        </p:nvSpPr>
        <p:spPr>
          <a:xfrm>
            <a:off x="132375" y="181485"/>
            <a:ext cx="822960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D1B2A"/>
              </a:buClr>
              <a:buSzPts val="2600"/>
              <a:buFont typeface="Calibri"/>
              <a:buNone/>
            </a:pPr>
            <a:r>
              <a:rPr b="1" i="0" lang="en" sz="2600" u="none" cap="none" strike="noStrike">
                <a:solidFill>
                  <a:srgbClr val="0D1B2A"/>
                </a:solidFill>
                <a:latin typeface="Calibri"/>
                <a:ea typeface="Calibri"/>
                <a:cs typeface="Calibri"/>
                <a:sym typeface="Calibri"/>
              </a:rPr>
              <a:t>Quiz 2</a:t>
            </a:r>
            <a:endParaRPr b="0" i="0" sz="2600" u="none" cap="none" strike="noStrike">
              <a:solidFill>
                <a:srgbClr val="000000"/>
              </a:solidFill>
              <a:latin typeface="Calibri"/>
              <a:ea typeface="Calibri"/>
              <a:cs typeface="Calibri"/>
              <a:sym typeface="Calibri"/>
            </a:endParaRPr>
          </a:p>
        </p:txBody>
      </p:sp>
      <p:pic>
        <p:nvPicPr>
          <p:cNvPr id="669" name="Google Shape;669;p14"/>
          <p:cNvPicPr preferRelativeResize="0"/>
          <p:nvPr/>
        </p:nvPicPr>
        <p:blipFill rotWithShape="1">
          <a:blip r:embed="rId3">
            <a:alphaModFix/>
          </a:blip>
          <a:srcRect b="0" l="0" r="0" t="0"/>
          <a:stretch/>
        </p:blipFill>
        <p:spPr>
          <a:xfrm>
            <a:off x="8369125" y="0"/>
            <a:ext cx="774877" cy="867174"/>
          </a:xfrm>
          <a:prstGeom prst="rect">
            <a:avLst/>
          </a:prstGeom>
          <a:noFill/>
          <a:ln>
            <a:noFill/>
          </a:ln>
        </p:spPr>
      </p:pic>
      <p:sp>
        <p:nvSpPr>
          <p:cNvPr id="670" name="Google Shape;670;p14"/>
          <p:cNvSpPr txBox="1"/>
          <p:nvPr/>
        </p:nvSpPr>
        <p:spPr>
          <a:xfrm>
            <a:off x="354350" y="1187800"/>
            <a:ext cx="5809800" cy="2867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700"/>
              <a:buFont typeface="Arial"/>
              <a:buNone/>
            </a:pPr>
            <a:r>
              <a:rPr b="0" i="0" lang="en" sz="1700" u="none" cap="none" strike="noStrike">
                <a:solidFill>
                  <a:srgbClr val="000000"/>
                </a:solidFill>
                <a:latin typeface="Calibri"/>
                <a:ea typeface="Calibri"/>
                <a:cs typeface="Calibri"/>
                <a:sym typeface="Calibri"/>
              </a:rPr>
              <a:t>A model achieves 98% training accuracy but only 61% validation accuracy. Which action is MOST likely to help WITHOUT adding more training data?</a:t>
            </a:r>
            <a:endParaRPr b="0" i="0" sz="1700" u="none" cap="none" strike="noStrike">
              <a:solidFill>
                <a:srgbClr val="000000"/>
              </a:solidFill>
              <a:latin typeface="Calibri"/>
              <a:ea typeface="Calibri"/>
              <a:cs typeface="Calibri"/>
              <a:sym typeface="Calibri"/>
            </a:endParaRPr>
          </a:p>
          <a:p>
            <a:pPr indent="0" lvl="0" marL="457200" marR="0" rtl="0" algn="l">
              <a:lnSpc>
                <a:spcPct val="115000"/>
              </a:lnSpc>
              <a:spcBef>
                <a:spcPts val="1200"/>
              </a:spcBef>
              <a:spcAft>
                <a:spcPts val="0"/>
              </a:spcAft>
              <a:buClr>
                <a:srgbClr val="000000"/>
              </a:buClr>
              <a:buSzPts val="1700"/>
              <a:buFont typeface="Arial"/>
              <a:buNone/>
            </a:pPr>
            <a:r>
              <a:rPr b="1" i="0" lang="en" sz="1700" u="none" cap="none" strike="noStrike">
                <a:solidFill>
                  <a:srgbClr val="000000"/>
                </a:solidFill>
                <a:latin typeface="Calibri"/>
                <a:ea typeface="Calibri"/>
                <a:cs typeface="Calibri"/>
                <a:sym typeface="Calibri"/>
              </a:rPr>
              <a:t>A)</a:t>
            </a:r>
            <a:r>
              <a:rPr b="0" i="0" lang="en" sz="1700" u="none" cap="none" strike="noStrike">
                <a:solidFill>
                  <a:srgbClr val="000000"/>
                </a:solidFill>
                <a:latin typeface="Calibri"/>
                <a:ea typeface="Calibri"/>
                <a:cs typeface="Calibri"/>
                <a:sym typeface="Calibri"/>
              </a:rPr>
              <a:t> Increase the number of layers and neurons</a:t>
            </a:r>
            <a:endParaRPr b="0" i="0" sz="1700" u="none" cap="none" strike="noStrike">
              <a:solidFill>
                <a:srgbClr val="000000"/>
              </a:solidFill>
              <a:latin typeface="Calibri"/>
              <a:ea typeface="Calibri"/>
              <a:cs typeface="Calibri"/>
              <a:sym typeface="Calibri"/>
            </a:endParaRPr>
          </a:p>
          <a:p>
            <a:pPr indent="0" lvl="0" marL="457200" marR="0" rtl="0" algn="l">
              <a:lnSpc>
                <a:spcPct val="115000"/>
              </a:lnSpc>
              <a:spcBef>
                <a:spcPts val="1200"/>
              </a:spcBef>
              <a:spcAft>
                <a:spcPts val="0"/>
              </a:spcAft>
              <a:buClr>
                <a:srgbClr val="000000"/>
              </a:buClr>
              <a:buSzPts val="1700"/>
              <a:buFont typeface="Arial"/>
              <a:buNone/>
            </a:pPr>
            <a:r>
              <a:rPr b="1" i="0" lang="en" sz="1700" u="none" cap="none" strike="noStrike">
                <a:solidFill>
                  <a:srgbClr val="000000"/>
                </a:solidFill>
                <a:latin typeface="Calibri"/>
                <a:ea typeface="Calibri"/>
                <a:cs typeface="Calibri"/>
                <a:sym typeface="Calibri"/>
              </a:rPr>
              <a:t>B)</a:t>
            </a:r>
            <a:r>
              <a:rPr b="0" i="0" lang="en" sz="1700" u="none" cap="none" strike="noStrike">
                <a:solidFill>
                  <a:srgbClr val="000000"/>
                </a:solidFill>
                <a:latin typeface="Calibri"/>
                <a:ea typeface="Calibri"/>
                <a:cs typeface="Calibri"/>
                <a:sym typeface="Calibri"/>
              </a:rPr>
              <a:t> Apply L2 regularization (weight decay) </a:t>
            </a:r>
            <a:endParaRPr b="0" i="0" sz="1700" u="none" cap="none" strike="noStrike">
              <a:solidFill>
                <a:srgbClr val="000000"/>
              </a:solidFill>
              <a:latin typeface="Calibri"/>
              <a:ea typeface="Calibri"/>
              <a:cs typeface="Calibri"/>
              <a:sym typeface="Calibri"/>
            </a:endParaRPr>
          </a:p>
          <a:p>
            <a:pPr indent="0" lvl="0" marL="457200" marR="0" rtl="0" algn="l">
              <a:lnSpc>
                <a:spcPct val="115000"/>
              </a:lnSpc>
              <a:spcBef>
                <a:spcPts val="1200"/>
              </a:spcBef>
              <a:spcAft>
                <a:spcPts val="0"/>
              </a:spcAft>
              <a:buClr>
                <a:srgbClr val="000000"/>
              </a:buClr>
              <a:buSzPts val="1700"/>
              <a:buFont typeface="Arial"/>
              <a:buNone/>
            </a:pPr>
            <a:r>
              <a:rPr b="1" i="0" lang="en" sz="1700" u="none" cap="none" strike="noStrike">
                <a:solidFill>
                  <a:srgbClr val="000000"/>
                </a:solidFill>
                <a:latin typeface="Calibri"/>
                <a:ea typeface="Calibri"/>
                <a:cs typeface="Calibri"/>
                <a:sym typeface="Calibri"/>
              </a:rPr>
              <a:t>C)</a:t>
            </a:r>
            <a:r>
              <a:rPr b="0" i="0" lang="en" sz="1700" u="none" cap="none" strike="noStrike">
                <a:solidFill>
                  <a:srgbClr val="000000"/>
                </a:solidFill>
                <a:latin typeface="Calibri"/>
                <a:ea typeface="Calibri"/>
                <a:cs typeface="Calibri"/>
                <a:sym typeface="Calibri"/>
              </a:rPr>
              <a:t> Train for more epochs to reach convergence</a:t>
            </a:r>
            <a:endParaRPr b="0" i="0" sz="1700" u="none" cap="none" strike="noStrike">
              <a:solidFill>
                <a:srgbClr val="000000"/>
              </a:solidFill>
              <a:latin typeface="Calibri"/>
              <a:ea typeface="Calibri"/>
              <a:cs typeface="Calibri"/>
              <a:sym typeface="Calibri"/>
            </a:endParaRPr>
          </a:p>
          <a:p>
            <a:pPr indent="0" lvl="0" marL="457200" marR="0" rtl="0" algn="l">
              <a:lnSpc>
                <a:spcPct val="115000"/>
              </a:lnSpc>
              <a:spcBef>
                <a:spcPts val="1200"/>
              </a:spcBef>
              <a:spcAft>
                <a:spcPts val="1200"/>
              </a:spcAft>
              <a:buClr>
                <a:srgbClr val="000000"/>
              </a:buClr>
              <a:buSzPts val="1700"/>
              <a:buFont typeface="Arial"/>
              <a:buNone/>
            </a:pPr>
            <a:r>
              <a:rPr b="1" i="0" lang="en" sz="1700" u="none" cap="none" strike="noStrike">
                <a:solidFill>
                  <a:srgbClr val="000000"/>
                </a:solidFill>
                <a:latin typeface="Calibri"/>
                <a:ea typeface="Calibri"/>
                <a:cs typeface="Calibri"/>
                <a:sym typeface="Calibri"/>
              </a:rPr>
              <a:t>D)</a:t>
            </a:r>
            <a:r>
              <a:rPr b="0" i="0" lang="en" sz="1700" u="none" cap="none" strike="noStrike">
                <a:solidFill>
                  <a:srgbClr val="000000"/>
                </a:solidFill>
                <a:latin typeface="Calibri"/>
                <a:ea typeface="Calibri"/>
                <a:cs typeface="Calibri"/>
                <a:sym typeface="Calibri"/>
              </a:rPr>
              <a:t> Remove the validation set and retrain on all data</a:t>
            </a:r>
            <a:endParaRPr b="0" i="0" sz="1700" u="none" cap="none" strike="noStrike">
              <a:solidFill>
                <a:srgbClr val="000000"/>
              </a:solidFill>
              <a:latin typeface="Calibri"/>
              <a:ea typeface="Calibri"/>
              <a:cs typeface="Calibri"/>
              <a:sym typeface="Calibri"/>
            </a:endParaRPr>
          </a:p>
        </p:txBody>
      </p:sp>
      <p:pic>
        <p:nvPicPr>
          <p:cNvPr id="671" name="Google Shape;671;p14"/>
          <p:cNvPicPr preferRelativeResize="0"/>
          <p:nvPr/>
        </p:nvPicPr>
        <p:blipFill rotWithShape="1">
          <a:blip r:embed="rId4">
            <a:alphaModFix/>
          </a:blip>
          <a:srcRect b="0" l="0" r="0" t="0"/>
          <a:stretch/>
        </p:blipFill>
        <p:spPr>
          <a:xfrm>
            <a:off x="6316550" y="1019685"/>
            <a:ext cx="2675050" cy="369629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p15"/>
          <p:cNvSpPr/>
          <p:nvPr/>
        </p:nvSpPr>
        <p:spPr>
          <a:xfrm>
            <a:off x="132375" y="181485"/>
            <a:ext cx="822960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D1B2A"/>
              </a:buClr>
              <a:buSzPts val="2600"/>
              <a:buFont typeface="Calibri"/>
              <a:buNone/>
            </a:pPr>
            <a:r>
              <a:rPr b="1" i="0" lang="en" sz="2600" u="none" cap="none" strike="noStrike">
                <a:solidFill>
                  <a:srgbClr val="0D1B2A"/>
                </a:solidFill>
                <a:latin typeface="Calibri"/>
                <a:ea typeface="Calibri"/>
                <a:cs typeface="Calibri"/>
                <a:sym typeface="Calibri"/>
              </a:rPr>
              <a:t>Quiz 2</a:t>
            </a:r>
            <a:endParaRPr b="0" i="0" sz="2600" u="none" cap="none" strike="noStrike">
              <a:solidFill>
                <a:srgbClr val="000000"/>
              </a:solidFill>
              <a:latin typeface="Calibri"/>
              <a:ea typeface="Calibri"/>
              <a:cs typeface="Calibri"/>
              <a:sym typeface="Calibri"/>
            </a:endParaRPr>
          </a:p>
        </p:txBody>
      </p:sp>
      <p:pic>
        <p:nvPicPr>
          <p:cNvPr id="677" name="Google Shape;677;p15"/>
          <p:cNvPicPr preferRelativeResize="0"/>
          <p:nvPr/>
        </p:nvPicPr>
        <p:blipFill rotWithShape="1">
          <a:blip r:embed="rId3">
            <a:alphaModFix/>
          </a:blip>
          <a:srcRect b="0" l="0" r="0" t="0"/>
          <a:stretch/>
        </p:blipFill>
        <p:spPr>
          <a:xfrm>
            <a:off x="8369125" y="0"/>
            <a:ext cx="774877" cy="867174"/>
          </a:xfrm>
          <a:prstGeom prst="rect">
            <a:avLst/>
          </a:prstGeom>
          <a:noFill/>
          <a:ln>
            <a:noFill/>
          </a:ln>
        </p:spPr>
      </p:pic>
      <p:sp>
        <p:nvSpPr>
          <p:cNvPr id="678" name="Google Shape;678;p15"/>
          <p:cNvSpPr txBox="1"/>
          <p:nvPr/>
        </p:nvSpPr>
        <p:spPr>
          <a:xfrm>
            <a:off x="354350" y="1187800"/>
            <a:ext cx="5809800" cy="2867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700"/>
              <a:buFont typeface="Arial"/>
              <a:buNone/>
            </a:pPr>
            <a:r>
              <a:rPr b="0" i="0" lang="en" sz="1700" u="none" cap="none" strike="noStrike">
                <a:solidFill>
                  <a:srgbClr val="000000"/>
                </a:solidFill>
                <a:latin typeface="Calibri"/>
                <a:ea typeface="Calibri"/>
                <a:cs typeface="Calibri"/>
                <a:sym typeface="Calibri"/>
              </a:rPr>
              <a:t>A model achieves 98% training accuracy but only 61% validation accuracy. Which action is MOST likely to help WITHOUT adding more training data?</a:t>
            </a:r>
            <a:endParaRPr b="0" i="0" sz="1700" u="none" cap="none" strike="noStrike">
              <a:solidFill>
                <a:srgbClr val="000000"/>
              </a:solidFill>
              <a:latin typeface="Calibri"/>
              <a:ea typeface="Calibri"/>
              <a:cs typeface="Calibri"/>
              <a:sym typeface="Calibri"/>
            </a:endParaRPr>
          </a:p>
          <a:p>
            <a:pPr indent="0" lvl="0" marL="457200" marR="0" rtl="0" algn="l">
              <a:lnSpc>
                <a:spcPct val="115000"/>
              </a:lnSpc>
              <a:spcBef>
                <a:spcPts val="1200"/>
              </a:spcBef>
              <a:spcAft>
                <a:spcPts val="0"/>
              </a:spcAft>
              <a:buClr>
                <a:srgbClr val="000000"/>
              </a:buClr>
              <a:buSzPts val="1700"/>
              <a:buFont typeface="Arial"/>
              <a:buNone/>
            </a:pPr>
            <a:r>
              <a:rPr b="1" i="0" lang="en" sz="1700" u="none" cap="none" strike="noStrike">
                <a:solidFill>
                  <a:srgbClr val="000000"/>
                </a:solidFill>
                <a:latin typeface="Calibri"/>
                <a:ea typeface="Calibri"/>
                <a:cs typeface="Calibri"/>
                <a:sym typeface="Calibri"/>
              </a:rPr>
              <a:t>A)</a:t>
            </a:r>
            <a:r>
              <a:rPr b="0" i="0" lang="en" sz="1700" u="none" cap="none" strike="noStrike">
                <a:solidFill>
                  <a:srgbClr val="000000"/>
                </a:solidFill>
                <a:latin typeface="Calibri"/>
                <a:ea typeface="Calibri"/>
                <a:cs typeface="Calibri"/>
                <a:sym typeface="Calibri"/>
              </a:rPr>
              <a:t> Increase the number of layers and neurons</a:t>
            </a:r>
            <a:endParaRPr b="0" i="0" sz="1700" u="none" cap="none" strike="noStrike">
              <a:solidFill>
                <a:srgbClr val="000000"/>
              </a:solidFill>
              <a:latin typeface="Calibri"/>
              <a:ea typeface="Calibri"/>
              <a:cs typeface="Calibri"/>
              <a:sym typeface="Calibri"/>
            </a:endParaRPr>
          </a:p>
          <a:p>
            <a:pPr indent="0" lvl="0" marL="457200" marR="0" rtl="0" algn="l">
              <a:lnSpc>
                <a:spcPct val="115000"/>
              </a:lnSpc>
              <a:spcBef>
                <a:spcPts val="1200"/>
              </a:spcBef>
              <a:spcAft>
                <a:spcPts val="0"/>
              </a:spcAft>
              <a:buClr>
                <a:srgbClr val="000000"/>
              </a:buClr>
              <a:buSzPts val="1700"/>
              <a:buFont typeface="Arial"/>
              <a:buNone/>
            </a:pPr>
            <a:r>
              <a:rPr b="1" i="0" lang="en" sz="1700" u="none" cap="none" strike="noStrike">
                <a:solidFill>
                  <a:srgbClr val="000000"/>
                </a:solidFill>
                <a:latin typeface="Calibri"/>
                <a:ea typeface="Calibri"/>
                <a:cs typeface="Calibri"/>
                <a:sym typeface="Calibri"/>
              </a:rPr>
              <a:t>B)</a:t>
            </a:r>
            <a:r>
              <a:rPr b="0" i="0" lang="en" sz="1700" u="none" cap="none" strike="noStrike">
                <a:solidFill>
                  <a:srgbClr val="000000"/>
                </a:solidFill>
                <a:latin typeface="Calibri"/>
                <a:ea typeface="Calibri"/>
                <a:cs typeface="Calibri"/>
                <a:sym typeface="Calibri"/>
              </a:rPr>
              <a:t> Apply L2 regularization (weight decay) </a:t>
            </a:r>
            <a:endParaRPr b="0" i="0" sz="1700" u="none" cap="none" strike="noStrike">
              <a:solidFill>
                <a:srgbClr val="000000"/>
              </a:solidFill>
              <a:latin typeface="Calibri"/>
              <a:ea typeface="Calibri"/>
              <a:cs typeface="Calibri"/>
              <a:sym typeface="Calibri"/>
            </a:endParaRPr>
          </a:p>
          <a:p>
            <a:pPr indent="0" lvl="0" marL="457200" marR="0" rtl="0" algn="l">
              <a:lnSpc>
                <a:spcPct val="115000"/>
              </a:lnSpc>
              <a:spcBef>
                <a:spcPts val="1200"/>
              </a:spcBef>
              <a:spcAft>
                <a:spcPts val="0"/>
              </a:spcAft>
              <a:buClr>
                <a:srgbClr val="000000"/>
              </a:buClr>
              <a:buSzPts val="1700"/>
              <a:buFont typeface="Arial"/>
              <a:buNone/>
            </a:pPr>
            <a:r>
              <a:rPr b="1" i="0" lang="en" sz="1700" u="none" cap="none" strike="noStrike">
                <a:solidFill>
                  <a:srgbClr val="000000"/>
                </a:solidFill>
                <a:latin typeface="Calibri"/>
                <a:ea typeface="Calibri"/>
                <a:cs typeface="Calibri"/>
                <a:sym typeface="Calibri"/>
              </a:rPr>
              <a:t>C)</a:t>
            </a:r>
            <a:r>
              <a:rPr b="0" i="0" lang="en" sz="1700" u="none" cap="none" strike="noStrike">
                <a:solidFill>
                  <a:srgbClr val="000000"/>
                </a:solidFill>
                <a:latin typeface="Calibri"/>
                <a:ea typeface="Calibri"/>
                <a:cs typeface="Calibri"/>
                <a:sym typeface="Calibri"/>
              </a:rPr>
              <a:t> Train for more epochs to reach convergence</a:t>
            </a:r>
            <a:endParaRPr b="0" i="0" sz="1700" u="none" cap="none" strike="noStrike">
              <a:solidFill>
                <a:srgbClr val="000000"/>
              </a:solidFill>
              <a:latin typeface="Calibri"/>
              <a:ea typeface="Calibri"/>
              <a:cs typeface="Calibri"/>
              <a:sym typeface="Calibri"/>
            </a:endParaRPr>
          </a:p>
          <a:p>
            <a:pPr indent="0" lvl="0" marL="457200" marR="0" rtl="0" algn="l">
              <a:lnSpc>
                <a:spcPct val="115000"/>
              </a:lnSpc>
              <a:spcBef>
                <a:spcPts val="1200"/>
              </a:spcBef>
              <a:spcAft>
                <a:spcPts val="1200"/>
              </a:spcAft>
              <a:buClr>
                <a:srgbClr val="000000"/>
              </a:buClr>
              <a:buSzPts val="1700"/>
              <a:buFont typeface="Arial"/>
              <a:buNone/>
            </a:pPr>
            <a:r>
              <a:rPr b="1" i="0" lang="en" sz="1700" u="none" cap="none" strike="noStrike">
                <a:solidFill>
                  <a:srgbClr val="000000"/>
                </a:solidFill>
                <a:latin typeface="Calibri"/>
                <a:ea typeface="Calibri"/>
                <a:cs typeface="Calibri"/>
                <a:sym typeface="Calibri"/>
              </a:rPr>
              <a:t>D)</a:t>
            </a:r>
            <a:r>
              <a:rPr b="0" i="0" lang="en" sz="1700" u="none" cap="none" strike="noStrike">
                <a:solidFill>
                  <a:srgbClr val="000000"/>
                </a:solidFill>
                <a:latin typeface="Calibri"/>
                <a:ea typeface="Calibri"/>
                <a:cs typeface="Calibri"/>
                <a:sym typeface="Calibri"/>
              </a:rPr>
              <a:t> Remove the validation set and retrain on all data</a:t>
            </a:r>
            <a:endParaRPr b="0" i="0" sz="1700" u="none" cap="none" strike="noStrike">
              <a:solidFill>
                <a:srgbClr val="000000"/>
              </a:solidFill>
              <a:latin typeface="Calibri"/>
              <a:ea typeface="Calibri"/>
              <a:cs typeface="Calibri"/>
              <a:sym typeface="Calibri"/>
            </a:endParaRPr>
          </a:p>
        </p:txBody>
      </p:sp>
      <p:sp>
        <p:nvSpPr>
          <p:cNvPr id="679" name="Google Shape;679;p15"/>
          <p:cNvSpPr txBox="1"/>
          <p:nvPr/>
        </p:nvSpPr>
        <p:spPr>
          <a:xfrm>
            <a:off x="4531806" y="2722854"/>
            <a:ext cx="5097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1200"/>
              </a:spcAft>
              <a:buClr>
                <a:srgbClr val="000000"/>
              </a:buClr>
              <a:buSzPts val="1700"/>
              <a:buFont typeface="Arial"/>
              <a:buNone/>
            </a:pPr>
            <a:r>
              <a:rPr b="0" i="0" lang="en" sz="1700" u="none" cap="none" strike="noStrike">
                <a:solidFill>
                  <a:schemeClr val="dk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pic>
        <p:nvPicPr>
          <p:cNvPr id="680" name="Google Shape;680;p15"/>
          <p:cNvPicPr preferRelativeResize="0"/>
          <p:nvPr/>
        </p:nvPicPr>
        <p:blipFill rotWithShape="1">
          <a:blip r:embed="rId4">
            <a:alphaModFix/>
          </a:blip>
          <a:srcRect b="0" l="0" r="0" t="0"/>
          <a:stretch/>
        </p:blipFill>
        <p:spPr>
          <a:xfrm>
            <a:off x="6316550" y="1019685"/>
            <a:ext cx="2675050" cy="3696294"/>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85" name="Shape 685"/>
        <p:cNvGrpSpPr/>
        <p:nvPr/>
      </p:nvGrpSpPr>
      <p:grpSpPr>
        <a:xfrm>
          <a:off x="0" y="0"/>
          <a:ext cx="0" cy="0"/>
          <a:chOff x="0" y="0"/>
          <a:chExt cx="0" cy="0"/>
        </a:xfrm>
      </p:grpSpPr>
      <p:sp>
        <p:nvSpPr>
          <p:cNvPr id="686" name="Google Shape;686;g3f6a040a5a3_1_60"/>
          <p:cNvSpPr/>
          <p:nvPr/>
        </p:nvSpPr>
        <p:spPr>
          <a:xfrm>
            <a:off x="411480" y="308610"/>
            <a:ext cx="5898000" cy="514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1295C"/>
              </a:buClr>
              <a:buSzPts val="2600"/>
              <a:buFont typeface="Cambria"/>
              <a:buNone/>
            </a:pPr>
            <a:r>
              <a:rPr b="1" i="0" lang="en" sz="2600" u="none" cap="none" strike="noStrike">
                <a:solidFill>
                  <a:srgbClr val="21295C"/>
                </a:solidFill>
                <a:latin typeface="Cambria"/>
                <a:ea typeface="Cambria"/>
                <a:cs typeface="Cambria"/>
                <a:sym typeface="Cambria"/>
              </a:rPr>
              <a:t>Diagnosing the Overfitting Gap</a:t>
            </a:r>
            <a:endParaRPr b="0" i="0" sz="2600" u="none" cap="none" strike="noStrike">
              <a:solidFill>
                <a:schemeClr val="dk1"/>
              </a:solidFill>
              <a:latin typeface="Calibri"/>
              <a:ea typeface="Calibri"/>
              <a:cs typeface="Calibri"/>
              <a:sym typeface="Calibri"/>
            </a:endParaRPr>
          </a:p>
        </p:txBody>
      </p:sp>
      <p:sp>
        <p:nvSpPr>
          <p:cNvPr id="687" name="Google Shape;687;g3f6a040a5a3_1_60"/>
          <p:cNvSpPr/>
          <p:nvPr/>
        </p:nvSpPr>
        <p:spPr>
          <a:xfrm>
            <a:off x="411480" y="788670"/>
            <a:ext cx="58980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472"/>
              </a:buClr>
              <a:buSzPts val="1200"/>
              <a:buFont typeface="Calibri"/>
              <a:buNone/>
            </a:pPr>
            <a:r>
              <a:rPr b="0" i="1" lang="en" sz="1200" u="none" cap="none" strike="noStrike">
                <a:solidFill>
                  <a:srgbClr val="5B6472"/>
                </a:solidFill>
                <a:latin typeface="Calibri"/>
                <a:ea typeface="Calibri"/>
                <a:cs typeface="Calibri"/>
                <a:sym typeface="Calibri"/>
              </a:rPr>
              <a:t>Which fix helps most — without adding more training data?</a:t>
            </a:r>
            <a:endParaRPr b="0" i="0" sz="1200" u="none" cap="none" strike="noStrike">
              <a:solidFill>
                <a:schemeClr val="dk1"/>
              </a:solidFill>
              <a:latin typeface="Calibri"/>
              <a:ea typeface="Calibri"/>
              <a:cs typeface="Calibri"/>
              <a:sym typeface="Calibri"/>
            </a:endParaRPr>
          </a:p>
        </p:txBody>
      </p:sp>
      <p:sp>
        <p:nvSpPr>
          <p:cNvPr id="688" name="Google Shape;688;g3f6a040a5a3_1_60"/>
          <p:cNvSpPr/>
          <p:nvPr/>
        </p:nvSpPr>
        <p:spPr>
          <a:xfrm>
            <a:off x="6583680" y="274320"/>
            <a:ext cx="2160300" cy="857400"/>
          </a:xfrm>
          <a:prstGeom prst="roundRect">
            <a:avLst>
              <a:gd fmla="val 8000" name="adj"/>
            </a:avLst>
          </a:prstGeom>
          <a:solidFill>
            <a:srgbClr val="21295C"/>
          </a:solidFill>
          <a:ln>
            <a:noFill/>
          </a:ln>
          <a:effectLst>
            <a:outerShdw blurRad="76200" rotWithShape="0" algn="bl" dir="5400000" dist="28575">
              <a:srgbClr val="BFC9D6">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9" name="Google Shape;689;g3f6a040a5a3_1_60"/>
          <p:cNvSpPr/>
          <p:nvPr/>
        </p:nvSpPr>
        <p:spPr>
          <a:xfrm>
            <a:off x="6583680" y="342900"/>
            <a:ext cx="2160300" cy="411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900"/>
              <a:buFont typeface="Cambria"/>
              <a:buNone/>
            </a:pPr>
            <a:r>
              <a:rPr b="1" i="0" lang="en" sz="1900" u="none" cap="none" strike="noStrike">
                <a:solidFill>
                  <a:srgbClr val="FFFFFF"/>
                </a:solidFill>
                <a:latin typeface="Cambria"/>
                <a:ea typeface="Cambria"/>
                <a:cs typeface="Cambria"/>
                <a:sym typeface="Cambria"/>
              </a:rPr>
              <a:t>98%</a:t>
            </a:r>
            <a:r>
              <a:rPr b="0" i="0" lang="en" sz="1900" u="none" cap="none" strike="noStrike">
                <a:solidFill>
                  <a:srgbClr val="9FB0D9"/>
                </a:solidFill>
                <a:latin typeface="Cambria"/>
                <a:ea typeface="Cambria"/>
                <a:cs typeface="Cambria"/>
                <a:sym typeface="Cambria"/>
              </a:rPr>
              <a:t>  →  </a:t>
            </a:r>
            <a:r>
              <a:rPr b="1" i="0" lang="en" sz="1900" u="none" cap="none" strike="noStrike">
                <a:solidFill>
                  <a:srgbClr val="FFB627"/>
                </a:solidFill>
                <a:latin typeface="Cambria"/>
                <a:ea typeface="Cambria"/>
                <a:cs typeface="Cambria"/>
                <a:sym typeface="Cambria"/>
              </a:rPr>
              <a:t>61%</a:t>
            </a:r>
            <a:endParaRPr b="0" i="0" sz="1900" u="none" cap="none" strike="noStrike">
              <a:solidFill>
                <a:schemeClr val="dk1"/>
              </a:solidFill>
              <a:latin typeface="Calibri"/>
              <a:ea typeface="Calibri"/>
              <a:cs typeface="Calibri"/>
              <a:sym typeface="Calibri"/>
            </a:endParaRPr>
          </a:p>
        </p:txBody>
      </p:sp>
      <p:sp>
        <p:nvSpPr>
          <p:cNvPr id="690" name="Google Shape;690;g3f6a040a5a3_1_60"/>
          <p:cNvSpPr/>
          <p:nvPr/>
        </p:nvSpPr>
        <p:spPr>
          <a:xfrm>
            <a:off x="6686550" y="788670"/>
            <a:ext cx="1954500" cy="308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ADCFC"/>
              </a:buClr>
              <a:buSzPts val="900"/>
              <a:buFont typeface="Calibri"/>
              <a:buNone/>
            </a:pPr>
            <a:r>
              <a:rPr b="0" i="0" lang="en" sz="900" u="none" cap="none" strike="noStrike">
                <a:solidFill>
                  <a:srgbClr val="CADCFC"/>
                </a:solidFill>
                <a:latin typeface="Calibri"/>
                <a:ea typeface="Calibri"/>
                <a:cs typeface="Calibri"/>
                <a:sym typeface="Calibri"/>
              </a:rPr>
              <a:t>train vs. validation accuracy — a 37-pt gap</a:t>
            </a:r>
            <a:endParaRPr b="0" i="0" sz="900" u="none" cap="none" strike="noStrike">
              <a:solidFill>
                <a:schemeClr val="dk1"/>
              </a:solidFill>
              <a:latin typeface="Calibri"/>
              <a:ea typeface="Calibri"/>
              <a:cs typeface="Calibri"/>
              <a:sym typeface="Calibri"/>
            </a:endParaRPr>
          </a:p>
        </p:txBody>
      </p:sp>
      <p:sp>
        <p:nvSpPr>
          <p:cNvPr id="691" name="Google Shape;691;g3f6a040a5a3_1_60"/>
          <p:cNvSpPr/>
          <p:nvPr/>
        </p:nvSpPr>
        <p:spPr>
          <a:xfrm>
            <a:off x="411480" y="1268730"/>
            <a:ext cx="4114800" cy="1748700"/>
          </a:xfrm>
          <a:prstGeom prst="roundRect">
            <a:avLst>
              <a:gd fmla="val 3922" name="adj"/>
            </a:avLst>
          </a:prstGeom>
          <a:solidFill>
            <a:srgbClr val="F4F7FA"/>
          </a:solidFill>
          <a:ln>
            <a:noFill/>
          </a:ln>
          <a:effectLst>
            <a:outerShdw blurRad="76200" rotWithShape="0" algn="bl" dir="5400000" dist="28575">
              <a:srgbClr val="BFC9D6">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2" name="Google Shape;692;g3f6a040a5a3_1_60"/>
          <p:cNvSpPr/>
          <p:nvPr/>
        </p:nvSpPr>
        <p:spPr>
          <a:xfrm>
            <a:off x="651510" y="1508760"/>
            <a:ext cx="411600" cy="411600"/>
          </a:xfrm>
          <a:prstGeom prst="ellipse">
            <a:avLst/>
          </a:prstGeom>
          <a:solidFill>
            <a:srgbClr val="AEB8C4"/>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3" name="Google Shape;693;g3f6a040a5a3_1_60"/>
          <p:cNvSpPr/>
          <p:nvPr/>
        </p:nvSpPr>
        <p:spPr>
          <a:xfrm>
            <a:off x="651510" y="1508760"/>
            <a:ext cx="411600" cy="411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700"/>
              <a:buFont typeface="Calibri"/>
              <a:buNone/>
            </a:pPr>
            <a:r>
              <a:rPr b="1" i="0" lang="en" sz="1700" u="none" cap="none" strike="noStrike">
                <a:solidFill>
                  <a:srgbClr val="FFFFFF"/>
                </a:solidFill>
                <a:latin typeface="Calibri"/>
                <a:ea typeface="Calibri"/>
                <a:cs typeface="Calibri"/>
                <a:sym typeface="Calibri"/>
              </a:rPr>
              <a:t>A</a:t>
            </a:r>
            <a:endParaRPr b="0" i="0" sz="1700" u="none" cap="none" strike="noStrike">
              <a:solidFill>
                <a:schemeClr val="dk1"/>
              </a:solidFill>
              <a:latin typeface="Calibri"/>
              <a:ea typeface="Calibri"/>
              <a:cs typeface="Calibri"/>
              <a:sym typeface="Calibri"/>
            </a:endParaRPr>
          </a:p>
        </p:txBody>
      </p:sp>
      <p:sp>
        <p:nvSpPr>
          <p:cNvPr id="694" name="Google Shape;694;g3f6a040a5a3_1_60"/>
          <p:cNvSpPr/>
          <p:nvPr/>
        </p:nvSpPr>
        <p:spPr>
          <a:xfrm>
            <a:off x="3977640" y="1460754"/>
            <a:ext cx="342900" cy="342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B85042"/>
              </a:buClr>
              <a:buSzPts val="1800"/>
              <a:buFont typeface="Calibri"/>
              <a:buNone/>
            </a:pPr>
            <a:r>
              <a:rPr b="1" i="0" lang="en" sz="1800" u="none" cap="none" strike="noStrike">
                <a:solidFill>
                  <a:srgbClr val="B85042"/>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695" name="Google Shape;695;g3f6a040a5a3_1_60"/>
          <p:cNvSpPr/>
          <p:nvPr/>
        </p:nvSpPr>
        <p:spPr>
          <a:xfrm>
            <a:off x="1200150" y="1460754"/>
            <a:ext cx="2674500" cy="44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1295C"/>
              </a:buClr>
              <a:buSzPts val="1400"/>
              <a:buFont typeface="Calibri"/>
              <a:buNone/>
            </a:pPr>
            <a:r>
              <a:rPr b="1" i="0" lang="en" sz="1400" u="none" cap="none" strike="noStrike">
                <a:solidFill>
                  <a:srgbClr val="21295C"/>
                </a:solidFill>
                <a:latin typeface="Calibri"/>
                <a:ea typeface="Calibri"/>
                <a:cs typeface="Calibri"/>
                <a:sym typeface="Calibri"/>
              </a:rPr>
              <a:t>Add layers / neurons</a:t>
            </a:r>
            <a:endParaRPr b="0" i="0" sz="1400" u="none" cap="none" strike="noStrike">
              <a:solidFill>
                <a:schemeClr val="dk1"/>
              </a:solidFill>
              <a:latin typeface="Calibri"/>
              <a:ea typeface="Calibri"/>
              <a:cs typeface="Calibri"/>
              <a:sym typeface="Calibri"/>
            </a:endParaRPr>
          </a:p>
        </p:txBody>
      </p:sp>
      <p:sp>
        <p:nvSpPr>
          <p:cNvPr id="696" name="Google Shape;696;g3f6a040a5a3_1_60"/>
          <p:cNvSpPr/>
          <p:nvPr/>
        </p:nvSpPr>
        <p:spPr>
          <a:xfrm>
            <a:off x="651510" y="2091690"/>
            <a:ext cx="3634500" cy="7545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5B6472"/>
              </a:buClr>
              <a:buSzPts val="1100"/>
              <a:buFont typeface="Calibri"/>
              <a:buNone/>
            </a:pPr>
            <a:r>
              <a:rPr b="0" i="0" lang="en" sz="1100" u="none" cap="none" strike="noStrike">
                <a:solidFill>
                  <a:srgbClr val="5B6472"/>
                </a:solidFill>
                <a:latin typeface="Calibri"/>
                <a:ea typeface="Calibri"/>
                <a:cs typeface="Calibri"/>
                <a:sym typeface="Calibri"/>
              </a:rPr>
              <a:t>Increases capacity — the model already has too much; this widens the gap.</a:t>
            </a:r>
            <a:endParaRPr b="0" i="0" sz="1100" u="none" cap="none" strike="noStrike">
              <a:solidFill>
                <a:schemeClr val="dk1"/>
              </a:solidFill>
              <a:latin typeface="Calibri"/>
              <a:ea typeface="Calibri"/>
              <a:cs typeface="Calibri"/>
              <a:sym typeface="Calibri"/>
            </a:endParaRPr>
          </a:p>
        </p:txBody>
      </p:sp>
      <p:sp>
        <p:nvSpPr>
          <p:cNvPr id="697" name="Google Shape;697;g3f6a040a5a3_1_60"/>
          <p:cNvSpPr/>
          <p:nvPr/>
        </p:nvSpPr>
        <p:spPr>
          <a:xfrm>
            <a:off x="4766310" y="1268730"/>
            <a:ext cx="4114800" cy="1748700"/>
          </a:xfrm>
          <a:prstGeom prst="roundRect">
            <a:avLst>
              <a:gd fmla="val 3922" name="adj"/>
            </a:avLst>
          </a:prstGeom>
          <a:solidFill>
            <a:srgbClr val="EAF3F4"/>
          </a:solidFill>
          <a:ln cap="flat" cmpd="sng" w="14300">
            <a:solidFill>
              <a:srgbClr val="1C7293"/>
            </a:solidFill>
            <a:prstDash val="solid"/>
            <a:round/>
            <a:headEnd len="sm" w="sm" type="none"/>
            <a:tailEnd len="sm" w="sm" type="none"/>
          </a:ln>
          <a:effectLst>
            <a:outerShdw blurRad="76200" rotWithShape="0" algn="bl" dir="5400000" dist="28575">
              <a:srgbClr val="BFC9D6">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8" name="Google Shape;698;g3f6a040a5a3_1_60"/>
          <p:cNvSpPr/>
          <p:nvPr/>
        </p:nvSpPr>
        <p:spPr>
          <a:xfrm>
            <a:off x="5006340" y="1508760"/>
            <a:ext cx="411600" cy="411600"/>
          </a:xfrm>
          <a:prstGeom prst="ellipse">
            <a:avLst/>
          </a:prstGeom>
          <a:solidFill>
            <a:srgbClr val="1C7293"/>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9" name="Google Shape;699;g3f6a040a5a3_1_60"/>
          <p:cNvSpPr/>
          <p:nvPr/>
        </p:nvSpPr>
        <p:spPr>
          <a:xfrm>
            <a:off x="5006340" y="1508760"/>
            <a:ext cx="411600" cy="411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700"/>
              <a:buFont typeface="Calibri"/>
              <a:buNone/>
            </a:pPr>
            <a:r>
              <a:rPr b="1" i="0" lang="en" sz="1700" u="none" cap="none" strike="noStrike">
                <a:solidFill>
                  <a:srgbClr val="FFFFFF"/>
                </a:solidFill>
                <a:latin typeface="Calibri"/>
                <a:ea typeface="Calibri"/>
                <a:cs typeface="Calibri"/>
                <a:sym typeface="Calibri"/>
              </a:rPr>
              <a:t>B</a:t>
            </a:r>
            <a:endParaRPr b="0" i="0" sz="1700" u="none" cap="none" strike="noStrike">
              <a:solidFill>
                <a:schemeClr val="dk1"/>
              </a:solidFill>
              <a:latin typeface="Calibri"/>
              <a:ea typeface="Calibri"/>
              <a:cs typeface="Calibri"/>
              <a:sym typeface="Calibri"/>
            </a:endParaRPr>
          </a:p>
        </p:txBody>
      </p:sp>
      <p:sp>
        <p:nvSpPr>
          <p:cNvPr id="700" name="Google Shape;700;g3f6a040a5a3_1_60"/>
          <p:cNvSpPr/>
          <p:nvPr/>
        </p:nvSpPr>
        <p:spPr>
          <a:xfrm>
            <a:off x="8332470" y="1460754"/>
            <a:ext cx="342900" cy="342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C7293"/>
              </a:buClr>
              <a:buSzPts val="1800"/>
              <a:buFont typeface="Calibri"/>
              <a:buNone/>
            </a:pPr>
            <a:r>
              <a:rPr b="1" i="0" lang="en" sz="1800" u="none" cap="none" strike="noStrike">
                <a:solidFill>
                  <a:srgbClr val="1C7293"/>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701" name="Google Shape;701;g3f6a040a5a3_1_60"/>
          <p:cNvSpPr/>
          <p:nvPr/>
        </p:nvSpPr>
        <p:spPr>
          <a:xfrm>
            <a:off x="5554980" y="1460754"/>
            <a:ext cx="2674500" cy="44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1295C"/>
              </a:buClr>
              <a:buSzPts val="1400"/>
              <a:buFont typeface="Calibri"/>
              <a:buNone/>
            </a:pPr>
            <a:r>
              <a:rPr b="1" i="0" lang="en" sz="1400" u="none" cap="none" strike="noStrike">
                <a:solidFill>
                  <a:srgbClr val="21295C"/>
                </a:solidFill>
                <a:latin typeface="Calibri"/>
                <a:ea typeface="Calibri"/>
                <a:cs typeface="Calibri"/>
                <a:sym typeface="Calibri"/>
              </a:rPr>
              <a:t>Apply L2 regularization</a:t>
            </a:r>
            <a:endParaRPr b="0" i="0" sz="1400" u="none" cap="none" strike="noStrike">
              <a:solidFill>
                <a:schemeClr val="dk1"/>
              </a:solidFill>
              <a:latin typeface="Calibri"/>
              <a:ea typeface="Calibri"/>
              <a:cs typeface="Calibri"/>
              <a:sym typeface="Calibri"/>
            </a:endParaRPr>
          </a:p>
        </p:txBody>
      </p:sp>
      <p:sp>
        <p:nvSpPr>
          <p:cNvPr id="702" name="Google Shape;702;g3f6a040a5a3_1_60"/>
          <p:cNvSpPr/>
          <p:nvPr/>
        </p:nvSpPr>
        <p:spPr>
          <a:xfrm>
            <a:off x="5006340" y="2091690"/>
            <a:ext cx="3634500" cy="7545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5B6472"/>
              </a:buClr>
              <a:buSzPts val="1100"/>
              <a:buFont typeface="Calibri"/>
              <a:buNone/>
            </a:pPr>
            <a:r>
              <a:rPr b="0" i="0" lang="en" sz="1100" u="none" cap="none" strike="noStrike">
                <a:solidFill>
                  <a:srgbClr val="5B6472"/>
                </a:solidFill>
                <a:latin typeface="Calibri"/>
                <a:ea typeface="Calibri"/>
                <a:cs typeface="Calibri"/>
                <a:sym typeface="Calibri"/>
              </a:rPr>
              <a:t>Shrinks weights, discourages memorizing noise — directly targets overfitting.</a:t>
            </a:r>
            <a:endParaRPr b="0" i="0" sz="1100" u="none" cap="none" strike="noStrike">
              <a:solidFill>
                <a:schemeClr val="dk1"/>
              </a:solidFill>
              <a:latin typeface="Calibri"/>
              <a:ea typeface="Calibri"/>
              <a:cs typeface="Calibri"/>
              <a:sym typeface="Calibri"/>
            </a:endParaRPr>
          </a:p>
        </p:txBody>
      </p:sp>
      <p:sp>
        <p:nvSpPr>
          <p:cNvPr id="703" name="Google Shape;703;g3f6a040a5a3_1_60"/>
          <p:cNvSpPr/>
          <p:nvPr/>
        </p:nvSpPr>
        <p:spPr>
          <a:xfrm>
            <a:off x="411480" y="3257550"/>
            <a:ext cx="4114800" cy="1748700"/>
          </a:xfrm>
          <a:prstGeom prst="roundRect">
            <a:avLst>
              <a:gd fmla="val 3922" name="adj"/>
            </a:avLst>
          </a:prstGeom>
          <a:solidFill>
            <a:srgbClr val="F4F7FA"/>
          </a:solidFill>
          <a:ln>
            <a:noFill/>
          </a:ln>
          <a:effectLst>
            <a:outerShdw blurRad="76200" rotWithShape="0" algn="bl" dir="5400000" dist="28575">
              <a:srgbClr val="BFC9D6">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4" name="Google Shape;704;g3f6a040a5a3_1_60"/>
          <p:cNvSpPr/>
          <p:nvPr/>
        </p:nvSpPr>
        <p:spPr>
          <a:xfrm>
            <a:off x="651510" y="3497580"/>
            <a:ext cx="411600" cy="411600"/>
          </a:xfrm>
          <a:prstGeom prst="ellipse">
            <a:avLst/>
          </a:prstGeom>
          <a:solidFill>
            <a:srgbClr val="AEB8C4"/>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5" name="Google Shape;705;g3f6a040a5a3_1_60"/>
          <p:cNvSpPr/>
          <p:nvPr/>
        </p:nvSpPr>
        <p:spPr>
          <a:xfrm>
            <a:off x="651510" y="3497580"/>
            <a:ext cx="411600" cy="411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700"/>
              <a:buFont typeface="Calibri"/>
              <a:buNone/>
            </a:pPr>
            <a:r>
              <a:rPr b="1" i="0" lang="en" sz="1700" u="none" cap="none" strike="noStrike">
                <a:solidFill>
                  <a:srgbClr val="FFFFFF"/>
                </a:solidFill>
                <a:latin typeface="Calibri"/>
                <a:ea typeface="Calibri"/>
                <a:cs typeface="Calibri"/>
                <a:sym typeface="Calibri"/>
              </a:rPr>
              <a:t>C</a:t>
            </a:r>
            <a:endParaRPr b="0" i="0" sz="1700" u="none" cap="none" strike="noStrike">
              <a:solidFill>
                <a:schemeClr val="dk1"/>
              </a:solidFill>
              <a:latin typeface="Calibri"/>
              <a:ea typeface="Calibri"/>
              <a:cs typeface="Calibri"/>
              <a:sym typeface="Calibri"/>
            </a:endParaRPr>
          </a:p>
        </p:txBody>
      </p:sp>
      <p:sp>
        <p:nvSpPr>
          <p:cNvPr id="706" name="Google Shape;706;g3f6a040a5a3_1_60"/>
          <p:cNvSpPr/>
          <p:nvPr/>
        </p:nvSpPr>
        <p:spPr>
          <a:xfrm>
            <a:off x="3977640" y="3449574"/>
            <a:ext cx="342900" cy="342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B85042"/>
              </a:buClr>
              <a:buSzPts val="1800"/>
              <a:buFont typeface="Calibri"/>
              <a:buNone/>
            </a:pPr>
            <a:r>
              <a:rPr b="1" i="0" lang="en" sz="1800" u="none" cap="none" strike="noStrike">
                <a:solidFill>
                  <a:srgbClr val="B85042"/>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707" name="Google Shape;707;g3f6a040a5a3_1_60"/>
          <p:cNvSpPr/>
          <p:nvPr/>
        </p:nvSpPr>
        <p:spPr>
          <a:xfrm>
            <a:off x="1200150" y="3449574"/>
            <a:ext cx="2674500" cy="44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1295C"/>
              </a:buClr>
              <a:buSzPts val="1400"/>
              <a:buFont typeface="Calibri"/>
              <a:buNone/>
            </a:pPr>
            <a:r>
              <a:rPr b="1" i="0" lang="en" sz="1400" u="none" cap="none" strike="noStrike">
                <a:solidFill>
                  <a:srgbClr val="21295C"/>
                </a:solidFill>
                <a:latin typeface="Calibri"/>
                <a:ea typeface="Calibri"/>
                <a:cs typeface="Calibri"/>
                <a:sym typeface="Calibri"/>
              </a:rPr>
              <a:t>Train more epochs</a:t>
            </a:r>
            <a:endParaRPr b="0" i="0" sz="1400" u="none" cap="none" strike="noStrike">
              <a:solidFill>
                <a:schemeClr val="dk1"/>
              </a:solidFill>
              <a:latin typeface="Calibri"/>
              <a:ea typeface="Calibri"/>
              <a:cs typeface="Calibri"/>
              <a:sym typeface="Calibri"/>
            </a:endParaRPr>
          </a:p>
        </p:txBody>
      </p:sp>
      <p:sp>
        <p:nvSpPr>
          <p:cNvPr id="708" name="Google Shape;708;g3f6a040a5a3_1_60"/>
          <p:cNvSpPr/>
          <p:nvPr/>
        </p:nvSpPr>
        <p:spPr>
          <a:xfrm>
            <a:off x="651510" y="4080510"/>
            <a:ext cx="3634500" cy="7545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5B6472"/>
              </a:buClr>
              <a:buSzPts val="1100"/>
              <a:buFont typeface="Calibri"/>
              <a:buNone/>
            </a:pPr>
            <a:r>
              <a:rPr b="0" i="0" lang="en" sz="1100" u="none" cap="none" strike="noStrike">
                <a:solidFill>
                  <a:srgbClr val="5B6472"/>
                </a:solidFill>
                <a:latin typeface="Calibri"/>
                <a:ea typeface="Calibri"/>
                <a:cs typeface="Calibri"/>
                <a:sym typeface="Calibri"/>
              </a:rPr>
              <a:t>Model has likely converged; more epochs just deepens the overfit.</a:t>
            </a:r>
            <a:endParaRPr b="0" i="0" sz="1100" u="none" cap="none" strike="noStrike">
              <a:solidFill>
                <a:schemeClr val="dk1"/>
              </a:solidFill>
              <a:latin typeface="Calibri"/>
              <a:ea typeface="Calibri"/>
              <a:cs typeface="Calibri"/>
              <a:sym typeface="Calibri"/>
            </a:endParaRPr>
          </a:p>
        </p:txBody>
      </p:sp>
      <p:sp>
        <p:nvSpPr>
          <p:cNvPr id="709" name="Google Shape;709;g3f6a040a5a3_1_60"/>
          <p:cNvSpPr/>
          <p:nvPr/>
        </p:nvSpPr>
        <p:spPr>
          <a:xfrm>
            <a:off x="4766310" y="3257550"/>
            <a:ext cx="4114800" cy="1748700"/>
          </a:xfrm>
          <a:prstGeom prst="roundRect">
            <a:avLst>
              <a:gd fmla="val 3922" name="adj"/>
            </a:avLst>
          </a:prstGeom>
          <a:solidFill>
            <a:srgbClr val="F4F7FA"/>
          </a:solidFill>
          <a:ln>
            <a:noFill/>
          </a:ln>
          <a:effectLst>
            <a:outerShdw blurRad="76200" rotWithShape="0" algn="bl" dir="5400000" dist="28575">
              <a:srgbClr val="BFC9D6">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0" name="Google Shape;710;g3f6a040a5a3_1_60"/>
          <p:cNvSpPr/>
          <p:nvPr/>
        </p:nvSpPr>
        <p:spPr>
          <a:xfrm>
            <a:off x="5006340" y="3497580"/>
            <a:ext cx="411600" cy="411600"/>
          </a:xfrm>
          <a:prstGeom prst="ellipse">
            <a:avLst/>
          </a:prstGeom>
          <a:solidFill>
            <a:srgbClr val="AEB8C4"/>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1" name="Google Shape;711;g3f6a040a5a3_1_60"/>
          <p:cNvSpPr/>
          <p:nvPr/>
        </p:nvSpPr>
        <p:spPr>
          <a:xfrm>
            <a:off x="5006340" y="3497580"/>
            <a:ext cx="411600" cy="411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700"/>
              <a:buFont typeface="Calibri"/>
              <a:buNone/>
            </a:pPr>
            <a:r>
              <a:rPr b="1" i="0" lang="en" sz="1700" u="none" cap="none" strike="noStrike">
                <a:solidFill>
                  <a:srgbClr val="FFFFFF"/>
                </a:solidFill>
                <a:latin typeface="Calibri"/>
                <a:ea typeface="Calibri"/>
                <a:cs typeface="Calibri"/>
                <a:sym typeface="Calibri"/>
              </a:rPr>
              <a:t>D</a:t>
            </a:r>
            <a:endParaRPr b="0" i="0" sz="1700" u="none" cap="none" strike="noStrike">
              <a:solidFill>
                <a:schemeClr val="dk1"/>
              </a:solidFill>
              <a:latin typeface="Calibri"/>
              <a:ea typeface="Calibri"/>
              <a:cs typeface="Calibri"/>
              <a:sym typeface="Calibri"/>
            </a:endParaRPr>
          </a:p>
        </p:txBody>
      </p:sp>
      <p:sp>
        <p:nvSpPr>
          <p:cNvPr id="712" name="Google Shape;712;g3f6a040a5a3_1_60"/>
          <p:cNvSpPr/>
          <p:nvPr/>
        </p:nvSpPr>
        <p:spPr>
          <a:xfrm>
            <a:off x="8332470" y="3449574"/>
            <a:ext cx="342900" cy="342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B85042"/>
              </a:buClr>
              <a:buSzPts val="1800"/>
              <a:buFont typeface="Calibri"/>
              <a:buNone/>
            </a:pPr>
            <a:r>
              <a:rPr b="1" i="0" lang="en" sz="1800" u="none" cap="none" strike="noStrike">
                <a:solidFill>
                  <a:srgbClr val="B85042"/>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713" name="Google Shape;713;g3f6a040a5a3_1_60"/>
          <p:cNvSpPr/>
          <p:nvPr/>
        </p:nvSpPr>
        <p:spPr>
          <a:xfrm>
            <a:off x="5554980" y="3449574"/>
            <a:ext cx="2674500" cy="44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1295C"/>
              </a:buClr>
              <a:buSzPts val="1400"/>
              <a:buFont typeface="Calibri"/>
              <a:buNone/>
            </a:pPr>
            <a:r>
              <a:rPr b="1" i="0" lang="en" sz="1400" u="none" cap="none" strike="noStrike">
                <a:solidFill>
                  <a:srgbClr val="21295C"/>
                </a:solidFill>
                <a:latin typeface="Calibri"/>
                <a:ea typeface="Calibri"/>
                <a:cs typeface="Calibri"/>
                <a:sym typeface="Calibri"/>
              </a:rPr>
              <a:t>Drop the validation set</a:t>
            </a:r>
            <a:endParaRPr b="0" i="0" sz="1400" u="none" cap="none" strike="noStrike">
              <a:solidFill>
                <a:schemeClr val="dk1"/>
              </a:solidFill>
              <a:latin typeface="Calibri"/>
              <a:ea typeface="Calibri"/>
              <a:cs typeface="Calibri"/>
              <a:sym typeface="Calibri"/>
            </a:endParaRPr>
          </a:p>
        </p:txBody>
      </p:sp>
      <p:sp>
        <p:nvSpPr>
          <p:cNvPr id="714" name="Google Shape;714;g3f6a040a5a3_1_60"/>
          <p:cNvSpPr/>
          <p:nvPr/>
        </p:nvSpPr>
        <p:spPr>
          <a:xfrm>
            <a:off x="5006340" y="4080510"/>
            <a:ext cx="3634500" cy="7545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5B6472"/>
              </a:buClr>
              <a:buSzPts val="1100"/>
              <a:buFont typeface="Calibri"/>
              <a:buNone/>
            </a:pPr>
            <a:r>
              <a:rPr b="0" i="0" lang="en" sz="1100" u="none" cap="none" strike="noStrike">
                <a:solidFill>
                  <a:srgbClr val="5B6472"/>
                </a:solidFill>
                <a:latin typeface="Calibri"/>
                <a:ea typeface="Calibri"/>
                <a:cs typeface="Calibri"/>
                <a:sym typeface="Calibri"/>
              </a:rPr>
              <a:t>Hides the problem instead of fixing it — no way to detect overfitting anymore.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18" name="Shape 718"/>
        <p:cNvGrpSpPr/>
        <p:nvPr/>
      </p:nvGrpSpPr>
      <p:grpSpPr>
        <a:xfrm>
          <a:off x="0" y="0"/>
          <a:ext cx="0" cy="0"/>
          <a:chOff x="0" y="0"/>
          <a:chExt cx="0" cy="0"/>
        </a:xfrm>
      </p:grpSpPr>
      <p:pic>
        <p:nvPicPr>
          <p:cNvPr id="719" name="Google Shape;719;p3"/>
          <p:cNvPicPr preferRelativeResize="0"/>
          <p:nvPr/>
        </p:nvPicPr>
        <p:blipFill rotWithShape="1">
          <a:blip r:embed="rId4">
            <a:alphaModFix/>
          </a:blip>
          <a:srcRect b="0" l="0" r="0" t="0"/>
          <a:stretch/>
        </p:blipFill>
        <p:spPr>
          <a:xfrm>
            <a:off x="8369125" y="0"/>
            <a:ext cx="774877" cy="867174"/>
          </a:xfrm>
          <a:prstGeom prst="rect">
            <a:avLst/>
          </a:prstGeom>
          <a:noFill/>
          <a:ln>
            <a:noFill/>
          </a:ln>
        </p:spPr>
      </p:pic>
      <p:cxnSp>
        <p:nvCxnSpPr>
          <p:cNvPr id="720" name="Google Shape;720;p3"/>
          <p:cNvCxnSpPr/>
          <p:nvPr/>
        </p:nvCxnSpPr>
        <p:spPr>
          <a:xfrm flipH="1" rot="10800000">
            <a:off x="274320" y="2743200"/>
            <a:ext cx="1371600" cy="1371600"/>
          </a:xfrm>
          <a:prstGeom prst="straightConnector1">
            <a:avLst/>
          </a:prstGeom>
          <a:noFill/>
          <a:ln cap="flat" cmpd="sng" w="9525">
            <a:solidFill>
              <a:srgbClr val="BDBDBD">
                <a:alpha val="30196"/>
              </a:srgbClr>
            </a:solidFill>
            <a:prstDash val="solid"/>
            <a:round/>
            <a:headEnd len="sm" w="sm" type="none"/>
            <a:tailEnd len="sm" w="sm" type="none"/>
          </a:ln>
        </p:spPr>
      </p:cxnSp>
      <p:cxnSp>
        <p:nvCxnSpPr>
          <p:cNvPr id="721" name="Google Shape;721;p3"/>
          <p:cNvCxnSpPr/>
          <p:nvPr/>
        </p:nvCxnSpPr>
        <p:spPr>
          <a:xfrm>
            <a:off x="1645920" y="2743200"/>
            <a:ext cx="1554600" cy="1828800"/>
          </a:xfrm>
          <a:prstGeom prst="straightConnector1">
            <a:avLst/>
          </a:prstGeom>
          <a:noFill/>
          <a:ln cap="flat" cmpd="sng" w="9525">
            <a:solidFill>
              <a:srgbClr val="BDBDBD">
                <a:alpha val="30196"/>
              </a:srgbClr>
            </a:solidFill>
            <a:prstDash val="solid"/>
            <a:round/>
            <a:headEnd len="sm" w="sm" type="none"/>
            <a:tailEnd len="sm" w="sm" type="none"/>
          </a:ln>
        </p:spPr>
      </p:cxnSp>
      <p:cxnSp>
        <p:nvCxnSpPr>
          <p:cNvPr id="722" name="Google Shape;722;p3"/>
          <p:cNvCxnSpPr/>
          <p:nvPr/>
        </p:nvCxnSpPr>
        <p:spPr>
          <a:xfrm>
            <a:off x="5486400" y="3840480"/>
            <a:ext cx="2286000" cy="1005900"/>
          </a:xfrm>
          <a:prstGeom prst="straightConnector1">
            <a:avLst/>
          </a:prstGeom>
          <a:noFill/>
          <a:ln cap="flat" cmpd="sng" w="9525">
            <a:solidFill>
              <a:srgbClr val="BDBDBD">
                <a:alpha val="30196"/>
              </a:srgbClr>
            </a:solidFill>
            <a:prstDash val="solid"/>
            <a:round/>
            <a:headEnd len="sm" w="sm" type="none"/>
            <a:tailEnd len="sm" w="sm" type="none"/>
          </a:ln>
        </p:spPr>
      </p:cxnSp>
      <p:cxnSp>
        <p:nvCxnSpPr>
          <p:cNvPr id="723" name="Google Shape;723;p3"/>
          <p:cNvCxnSpPr/>
          <p:nvPr/>
        </p:nvCxnSpPr>
        <p:spPr>
          <a:xfrm flipH="1" rot="10800000">
            <a:off x="7772400" y="2743320"/>
            <a:ext cx="1280100" cy="2103000"/>
          </a:xfrm>
          <a:prstGeom prst="straightConnector1">
            <a:avLst/>
          </a:prstGeom>
          <a:noFill/>
          <a:ln cap="flat" cmpd="sng" w="9525">
            <a:solidFill>
              <a:srgbClr val="BDBDBD">
                <a:alpha val="30196"/>
              </a:srgbClr>
            </a:solidFill>
            <a:prstDash val="solid"/>
            <a:round/>
            <a:headEnd len="sm" w="sm" type="none"/>
            <a:tailEnd len="sm" w="sm" type="none"/>
          </a:ln>
        </p:spPr>
      </p:cxnSp>
      <p:cxnSp>
        <p:nvCxnSpPr>
          <p:cNvPr id="724" name="Google Shape;724;p3"/>
          <p:cNvCxnSpPr/>
          <p:nvPr/>
        </p:nvCxnSpPr>
        <p:spPr>
          <a:xfrm flipH="1">
            <a:off x="1645800" y="1097280"/>
            <a:ext cx="640200" cy="1645800"/>
          </a:xfrm>
          <a:prstGeom prst="straightConnector1">
            <a:avLst/>
          </a:prstGeom>
          <a:noFill/>
          <a:ln cap="flat" cmpd="sng" w="9525">
            <a:solidFill>
              <a:srgbClr val="BDBDBD">
                <a:alpha val="30196"/>
              </a:srgbClr>
            </a:solidFill>
            <a:prstDash val="solid"/>
            <a:round/>
            <a:headEnd len="sm" w="sm" type="none"/>
            <a:tailEnd len="sm" w="sm" type="none"/>
          </a:ln>
        </p:spPr>
      </p:cxnSp>
      <p:cxnSp>
        <p:nvCxnSpPr>
          <p:cNvPr id="725" name="Google Shape;725;p3"/>
          <p:cNvCxnSpPr/>
          <p:nvPr/>
        </p:nvCxnSpPr>
        <p:spPr>
          <a:xfrm flipH="1">
            <a:off x="5486400" y="1645920"/>
            <a:ext cx="1371600" cy="2194500"/>
          </a:xfrm>
          <a:prstGeom prst="straightConnector1">
            <a:avLst/>
          </a:prstGeom>
          <a:noFill/>
          <a:ln cap="flat" cmpd="sng" w="9525">
            <a:solidFill>
              <a:srgbClr val="BDBDBD">
                <a:alpha val="30196"/>
              </a:srgbClr>
            </a:solidFill>
            <a:prstDash val="solid"/>
            <a:round/>
            <a:headEnd len="sm" w="sm" type="none"/>
            <a:tailEnd len="sm" w="sm" type="none"/>
          </a:ln>
        </p:spPr>
      </p:cxnSp>
      <p:cxnSp>
        <p:nvCxnSpPr>
          <p:cNvPr id="726" name="Google Shape;726;p3"/>
          <p:cNvCxnSpPr/>
          <p:nvPr/>
        </p:nvCxnSpPr>
        <p:spPr>
          <a:xfrm flipH="1">
            <a:off x="7772520" y="182880"/>
            <a:ext cx="1188600" cy="4663500"/>
          </a:xfrm>
          <a:prstGeom prst="straightConnector1">
            <a:avLst/>
          </a:prstGeom>
          <a:noFill/>
          <a:ln cap="flat" cmpd="sng" w="9525">
            <a:solidFill>
              <a:srgbClr val="BDBDBD">
                <a:alpha val="30196"/>
              </a:srgbClr>
            </a:solidFill>
            <a:prstDash val="solid"/>
            <a:round/>
            <a:headEnd len="sm" w="sm" type="none"/>
            <a:tailEnd len="sm" w="sm" type="none"/>
          </a:ln>
        </p:spPr>
      </p:cxnSp>
      <p:sp>
        <p:nvSpPr>
          <p:cNvPr id="727" name="Google Shape;727;p3"/>
          <p:cNvSpPr/>
          <p:nvPr/>
        </p:nvSpPr>
        <p:spPr>
          <a:xfrm>
            <a:off x="2249424" y="1060704"/>
            <a:ext cx="73200" cy="73200"/>
          </a:xfrm>
          <a:prstGeom prst="ellipse">
            <a:avLst/>
          </a:prstGeom>
          <a:solidFill>
            <a:srgbClr val="9E9E9E">
              <a:alpha val="40000"/>
            </a:srgbClr>
          </a:solidFill>
          <a:ln cap="flat" cmpd="sng" w="12700">
            <a:solidFill>
              <a:srgbClr val="9E9E9E">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8" name="Google Shape;728;p3"/>
          <p:cNvSpPr/>
          <p:nvPr/>
        </p:nvSpPr>
        <p:spPr>
          <a:xfrm>
            <a:off x="6821424" y="1609344"/>
            <a:ext cx="73200" cy="73200"/>
          </a:xfrm>
          <a:prstGeom prst="ellipse">
            <a:avLst/>
          </a:prstGeom>
          <a:solidFill>
            <a:srgbClr val="9E9E9E">
              <a:alpha val="40000"/>
            </a:srgbClr>
          </a:solidFill>
          <a:ln cap="flat" cmpd="sng" w="12700">
            <a:solidFill>
              <a:srgbClr val="9E9E9E">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9" name="Google Shape;729;p3"/>
          <p:cNvSpPr/>
          <p:nvPr/>
        </p:nvSpPr>
        <p:spPr>
          <a:xfrm>
            <a:off x="237744" y="4078224"/>
            <a:ext cx="73200" cy="73200"/>
          </a:xfrm>
          <a:prstGeom prst="ellipse">
            <a:avLst/>
          </a:prstGeom>
          <a:solidFill>
            <a:srgbClr val="9E9E9E">
              <a:alpha val="40000"/>
            </a:srgbClr>
          </a:solidFill>
          <a:ln cap="flat" cmpd="sng" w="12700">
            <a:solidFill>
              <a:srgbClr val="9E9E9E">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0" name="Google Shape;730;p3"/>
          <p:cNvSpPr/>
          <p:nvPr/>
        </p:nvSpPr>
        <p:spPr>
          <a:xfrm>
            <a:off x="1609344" y="2706624"/>
            <a:ext cx="73200" cy="73200"/>
          </a:xfrm>
          <a:prstGeom prst="ellipse">
            <a:avLst/>
          </a:prstGeom>
          <a:solidFill>
            <a:srgbClr val="9E9E9E">
              <a:alpha val="40000"/>
            </a:srgbClr>
          </a:solidFill>
          <a:ln cap="flat" cmpd="sng" w="12700">
            <a:solidFill>
              <a:srgbClr val="9E9E9E">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1" name="Google Shape;731;p3"/>
          <p:cNvSpPr/>
          <p:nvPr/>
        </p:nvSpPr>
        <p:spPr>
          <a:xfrm>
            <a:off x="5449824" y="3803904"/>
            <a:ext cx="73200" cy="73200"/>
          </a:xfrm>
          <a:prstGeom prst="ellipse">
            <a:avLst/>
          </a:prstGeom>
          <a:solidFill>
            <a:srgbClr val="9E9E9E">
              <a:alpha val="40000"/>
            </a:srgbClr>
          </a:solidFill>
          <a:ln cap="flat" cmpd="sng" w="12700">
            <a:solidFill>
              <a:srgbClr val="9E9E9E">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2" name="Google Shape;732;p3"/>
          <p:cNvSpPr/>
          <p:nvPr/>
        </p:nvSpPr>
        <p:spPr>
          <a:xfrm>
            <a:off x="365760" y="210380"/>
            <a:ext cx="7863900" cy="5943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A237E"/>
              </a:buClr>
              <a:buSzPts val="3000"/>
              <a:buFont typeface="Calibri"/>
              <a:buNone/>
            </a:pPr>
            <a:r>
              <a:rPr b="1" i="0" lang="en" sz="3000" u="none" cap="none" strike="noStrike">
                <a:solidFill>
                  <a:srgbClr val="1A237E"/>
                </a:solidFill>
                <a:latin typeface="Calibri"/>
                <a:ea typeface="Calibri"/>
                <a:cs typeface="Calibri"/>
                <a:sym typeface="Calibri"/>
              </a:rPr>
              <a:t>Parameters vs Hyperparameters</a:t>
            </a:r>
            <a:endParaRPr b="0" i="0" sz="3000" u="none" cap="none" strike="noStrike">
              <a:solidFill>
                <a:srgbClr val="000000"/>
              </a:solidFill>
              <a:latin typeface="Calibri"/>
              <a:ea typeface="Calibri"/>
              <a:cs typeface="Calibri"/>
              <a:sym typeface="Calibri"/>
            </a:endParaRPr>
          </a:p>
        </p:txBody>
      </p:sp>
      <p:sp>
        <p:nvSpPr>
          <p:cNvPr id="733" name="Google Shape;733;p3"/>
          <p:cNvSpPr/>
          <p:nvPr/>
        </p:nvSpPr>
        <p:spPr>
          <a:xfrm>
            <a:off x="274320" y="914400"/>
            <a:ext cx="3931800" cy="4023300"/>
          </a:xfrm>
          <a:prstGeom prst="rect">
            <a:avLst/>
          </a:prstGeom>
          <a:solidFill>
            <a:srgbClr val="E3F2FD"/>
          </a:solidFill>
          <a:ln cap="flat" cmpd="sng" w="12700">
            <a:solidFill>
              <a:srgbClr val="90CAF9"/>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4" name="Google Shape;734;p3"/>
          <p:cNvSpPr/>
          <p:nvPr/>
        </p:nvSpPr>
        <p:spPr>
          <a:xfrm>
            <a:off x="274320" y="914400"/>
            <a:ext cx="3931800" cy="457200"/>
          </a:xfrm>
          <a:prstGeom prst="rect">
            <a:avLst/>
          </a:prstGeom>
          <a:solidFill>
            <a:srgbClr val="00838F"/>
          </a:solidFill>
          <a:ln cap="flat" cmpd="sng" w="12700">
            <a:solidFill>
              <a:srgbClr val="00838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5" name="Google Shape;735;p3"/>
          <p:cNvSpPr/>
          <p:nvPr/>
        </p:nvSpPr>
        <p:spPr>
          <a:xfrm>
            <a:off x="274320" y="914400"/>
            <a:ext cx="3931800"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1" i="0" lang="en" sz="1800" u="none" cap="none" strike="noStrike">
                <a:solidFill>
                  <a:srgbClr val="FFFFFF"/>
                </a:solidFill>
                <a:latin typeface="Calibri"/>
                <a:ea typeface="Calibri"/>
                <a:cs typeface="Calibri"/>
                <a:sym typeface="Calibri"/>
              </a:rPr>
              <a:t>Parameters</a:t>
            </a:r>
            <a:endParaRPr b="0" i="0" sz="1800" u="none" cap="none" strike="noStrike">
              <a:solidFill>
                <a:srgbClr val="000000"/>
              </a:solidFill>
              <a:latin typeface="Calibri"/>
              <a:ea typeface="Calibri"/>
              <a:cs typeface="Calibri"/>
              <a:sym typeface="Calibri"/>
            </a:endParaRPr>
          </a:p>
        </p:txBody>
      </p:sp>
      <p:sp>
        <p:nvSpPr>
          <p:cNvPr id="736" name="Google Shape;736;p3"/>
          <p:cNvSpPr/>
          <p:nvPr/>
        </p:nvSpPr>
        <p:spPr>
          <a:xfrm>
            <a:off x="502920" y="1481328"/>
            <a:ext cx="3520500" cy="1005900"/>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00000"/>
              </a:lnSpc>
              <a:spcBef>
                <a:spcPts val="0"/>
              </a:spcBef>
              <a:spcAft>
                <a:spcPts val="0"/>
              </a:spcAft>
              <a:buClr>
                <a:srgbClr val="37474F"/>
              </a:buClr>
              <a:buSzPts val="1300"/>
              <a:buFont typeface="Calibri"/>
              <a:buChar char="•"/>
            </a:pPr>
            <a:r>
              <a:rPr b="0" i="0" lang="en" sz="1300" u="none" cap="none" strike="noStrike">
                <a:solidFill>
                  <a:srgbClr val="37474F"/>
                </a:solidFill>
                <a:latin typeface="Calibri"/>
                <a:ea typeface="Calibri"/>
                <a:cs typeface="Calibri"/>
                <a:sym typeface="Calibri"/>
              </a:rPr>
              <a:t>Learned automatically during training</a:t>
            </a:r>
            <a:endParaRPr b="0" i="0" sz="1300" u="none" cap="none" strike="noStrike">
              <a:solidFill>
                <a:srgbClr val="000000"/>
              </a:solidFill>
              <a:latin typeface="Calibri"/>
              <a:ea typeface="Calibri"/>
              <a:cs typeface="Calibri"/>
              <a:sym typeface="Calibri"/>
            </a:endParaRPr>
          </a:p>
          <a:p>
            <a:pPr indent="-342900" lvl="0" marL="342900" marR="0" rtl="0" algn="l">
              <a:lnSpc>
                <a:spcPct val="100000"/>
              </a:lnSpc>
              <a:spcBef>
                <a:spcPts val="400"/>
              </a:spcBef>
              <a:spcAft>
                <a:spcPts val="0"/>
              </a:spcAft>
              <a:buClr>
                <a:srgbClr val="37474F"/>
              </a:buClr>
              <a:buSzPts val="1300"/>
              <a:buFont typeface="Calibri"/>
              <a:buChar char="•"/>
            </a:pPr>
            <a:r>
              <a:rPr b="0" i="0" lang="en" sz="1300" u="none" cap="none" strike="noStrike">
                <a:solidFill>
                  <a:srgbClr val="37474F"/>
                </a:solidFill>
                <a:latin typeface="Calibri"/>
                <a:ea typeface="Calibri"/>
                <a:cs typeface="Calibri"/>
                <a:sym typeface="Calibri"/>
              </a:rPr>
              <a:t>Internal to the model</a:t>
            </a:r>
            <a:endParaRPr b="0" i="0" sz="1300" u="none" cap="none" strike="noStrike">
              <a:solidFill>
                <a:srgbClr val="000000"/>
              </a:solidFill>
              <a:latin typeface="Calibri"/>
              <a:ea typeface="Calibri"/>
              <a:cs typeface="Calibri"/>
              <a:sym typeface="Calibri"/>
            </a:endParaRPr>
          </a:p>
          <a:p>
            <a:pPr indent="-342900" lvl="0" marL="342900" marR="0" rtl="0" algn="l">
              <a:lnSpc>
                <a:spcPct val="100000"/>
              </a:lnSpc>
              <a:spcBef>
                <a:spcPts val="400"/>
              </a:spcBef>
              <a:spcAft>
                <a:spcPts val="0"/>
              </a:spcAft>
              <a:buClr>
                <a:srgbClr val="37474F"/>
              </a:buClr>
              <a:buSzPts val="1300"/>
              <a:buFont typeface="Calibri"/>
              <a:buChar char="•"/>
            </a:pPr>
            <a:r>
              <a:rPr b="0" i="0" lang="en" sz="1300" u="none" cap="none" strike="noStrike">
                <a:solidFill>
                  <a:srgbClr val="37474F"/>
                </a:solidFill>
                <a:latin typeface="Calibri"/>
                <a:ea typeface="Calibri"/>
                <a:cs typeface="Calibri"/>
                <a:sym typeface="Calibri"/>
              </a:rPr>
              <a:t>Updated by the optimizer (e.g. gradient descent)</a:t>
            </a:r>
            <a:endParaRPr b="0" i="0" sz="1300" u="none" cap="none" strike="noStrike">
              <a:solidFill>
                <a:srgbClr val="000000"/>
              </a:solidFill>
              <a:latin typeface="Calibri"/>
              <a:ea typeface="Calibri"/>
              <a:cs typeface="Calibri"/>
              <a:sym typeface="Calibri"/>
            </a:endParaRPr>
          </a:p>
        </p:txBody>
      </p:sp>
      <p:sp>
        <p:nvSpPr>
          <p:cNvPr id="737" name="Google Shape;737;p3"/>
          <p:cNvSpPr/>
          <p:nvPr/>
        </p:nvSpPr>
        <p:spPr>
          <a:xfrm>
            <a:off x="457200" y="2578608"/>
            <a:ext cx="3520500" cy="914400"/>
          </a:xfrm>
          <a:prstGeom prst="rect">
            <a:avLst/>
          </a:prstGeom>
          <a:solidFill>
            <a:srgbClr val="FFFFFF"/>
          </a:solidFill>
          <a:ln cap="flat" cmpd="sng" w="12700">
            <a:solidFill>
              <a:srgbClr val="90CAF9"/>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8" name="Google Shape;738;p3"/>
          <p:cNvSpPr/>
          <p:nvPr/>
        </p:nvSpPr>
        <p:spPr>
          <a:xfrm>
            <a:off x="548640" y="2615184"/>
            <a:ext cx="3200400" cy="25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838F"/>
              </a:buClr>
              <a:buSzPts val="1200"/>
              <a:buFont typeface="Calibri"/>
              <a:buNone/>
            </a:pPr>
            <a:r>
              <a:rPr b="1" i="0" lang="en" sz="1200" u="none" cap="none" strike="noStrike">
                <a:solidFill>
                  <a:srgbClr val="00838F"/>
                </a:solidFill>
                <a:latin typeface="Calibri"/>
                <a:ea typeface="Calibri"/>
                <a:cs typeface="Calibri"/>
                <a:sym typeface="Calibri"/>
              </a:rPr>
              <a:t>Examples</a:t>
            </a:r>
            <a:endParaRPr b="0" i="0" sz="1200" u="none" cap="none" strike="noStrike">
              <a:solidFill>
                <a:srgbClr val="000000"/>
              </a:solidFill>
              <a:latin typeface="Calibri"/>
              <a:ea typeface="Calibri"/>
              <a:cs typeface="Calibri"/>
              <a:sym typeface="Calibri"/>
            </a:endParaRPr>
          </a:p>
        </p:txBody>
      </p:sp>
      <p:sp>
        <p:nvSpPr>
          <p:cNvPr id="739" name="Google Shape;739;p3"/>
          <p:cNvSpPr/>
          <p:nvPr/>
        </p:nvSpPr>
        <p:spPr>
          <a:xfrm>
            <a:off x="548640" y="2871216"/>
            <a:ext cx="3200400" cy="548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200"/>
              <a:buFont typeface="Calibri"/>
              <a:buNone/>
            </a:pPr>
            <a:r>
              <a:rPr b="0" i="0" lang="en" sz="1200" u="none" cap="none" strike="noStrike">
                <a:solidFill>
                  <a:srgbClr val="37474F"/>
                </a:solidFill>
                <a:latin typeface="Calibri"/>
                <a:ea typeface="Calibri"/>
                <a:cs typeface="Calibri"/>
                <a:sym typeface="Calibri"/>
              </a:rPr>
              <a:t>• Weights &amp; biases in a neural network</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7474F"/>
              </a:buClr>
              <a:buSzPts val="1200"/>
              <a:buFont typeface="Calibri"/>
              <a:buNone/>
            </a:pPr>
            <a:r>
              <a:rPr b="0" i="0" lang="en" sz="1200" u="none" cap="none" strike="noStrike">
                <a:solidFill>
                  <a:srgbClr val="37474F"/>
                </a:solidFill>
                <a:latin typeface="Calibri"/>
                <a:ea typeface="Calibri"/>
                <a:cs typeface="Calibri"/>
                <a:sym typeface="Calibri"/>
              </a:rPr>
              <a:t>• Coefficients in linear regression</a:t>
            </a:r>
            <a:endParaRPr b="0" i="0" sz="1200" u="none" cap="none" strike="noStrike">
              <a:solidFill>
                <a:srgbClr val="000000"/>
              </a:solidFill>
              <a:latin typeface="Calibri"/>
              <a:ea typeface="Calibri"/>
              <a:cs typeface="Calibri"/>
              <a:sym typeface="Calibri"/>
            </a:endParaRPr>
          </a:p>
        </p:txBody>
      </p:sp>
      <p:sp>
        <p:nvSpPr>
          <p:cNvPr id="740" name="Google Shape;740;p3"/>
          <p:cNvSpPr/>
          <p:nvPr/>
        </p:nvSpPr>
        <p:spPr>
          <a:xfrm>
            <a:off x="457200" y="3657600"/>
            <a:ext cx="3520500" cy="320100"/>
          </a:xfrm>
          <a:prstGeom prst="roundRect">
            <a:avLst>
              <a:gd fmla="val 22857" name="adj"/>
            </a:avLst>
          </a:prstGeom>
          <a:solidFill>
            <a:srgbClr val="00838F">
              <a:alpha val="20000"/>
            </a:srgbClr>
          </a:solidFill>
          <a:ln cap="flat" cmpd="sng" w="10150">
            <a:solidFill>
              <a:srgbClr val="00838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1" name="Google Shape;741;p3"/>
          <p:cNvSpPr/>
          <p:nvPr/>
        </p:nvSpPr>
        <p:spPr>
          <a:xfrm>
            <a:off x="457200" y="3657600"/>
            <a:ext cx="3520500" cy="320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838F"/>
              </a:buClr>
              <a:buSzPts val="1100"/>
              <a:buFont typeface="Calibri"/>
              <a:buNone/>
            </a:pPr>
            <a:r>
              <a:rPr b="1" i="0" lang="en" sz="1100" u="none" cap="none" strike="noStrike">
                <a:solidFill>
                  <a:srgbClr val="00838F"/>
                </a:solidFill>
                <a:latin typeface="Calibri"/>
                <a:ea typeface="Calibri"/>
                <a:cs typeface="Calibri"/>
                <a:sym typeface="Calibri"/>
              </a:rPr>
              <a:t>Set by: Optimizer  •  Not chosen by you</a:t>
            </a:r>
            <a:endParaRPr b="0" i="0" sz="1100" u="none" cap="none" strike="noStrike">
              <a:solidFill>
                <a:srgbClr val="000000"/>
              </a:solidFill>
              <a:latin typeface="Calibri"/>
              <a:ea typeface="Calibri"/>
              <a:cs typeface="Calibri"/>
              <a:sym typeface="Calibri"/>
            </a:endParaRPr>
          </a:p>
        </p:txBody>
      </p:sp>
      <p:sp>
        <p:nvSpPr>
          <p:cNvPr id="742" name="Google Shape;742;p3"/>
          <p:cNvSpPr/>
          <p:nvPr/>
        </p:nvSpPr>
        <p:spPr>
          <a:xfrm>
            <a:off x="4937760" y="914400"/>
            <a:ext cx="3931800" cy="4023300"/>
          </a:xfrm>
          <a:prstGeom prst="rect">
            <a:avLst/>
          </a:prstGeom>
          <a:solidFill>
            <a:srgbClr val="E0F7FA"/>
          </a:solidFill>
          <a:ln cap="flat" cmpd="sng" w="12700">
            <a:solidFill>
              <a:srgbClr val="80DEEA"/>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3" name="Google Shape;743;p3"/>
          <p:cNvSpPr/>
          <p:nvPr/>
        </p:nvSpPr>
        <p:spPr>
          <a:xfrm>
            <a:off x="4937760" y="914400"/>
            <a:ext cx="3931800" cy="457200"/>
          </a:xfrm>
          <a:prstGeom prst="rect">
            <a:avLst/>
          </a:prstGeom>
          <a:solidFill>
            <a:srgbClr val="00ACC1"/>
          </a:solidFill>
          <a:ln cap="flat" cmpd="sng" w="12700">
            <a:solidFill>
              <a:srgbClr val="00AC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4" name="Google Shape;744;p3"/>
          <p:cNvSpPr/>
          <p:nvPr/>
        </p:nvSpPr>
        <p:spPr>
          <a:xfrm>
            <a:off x="4937760" y="914400"/>
            <a:ext cx="3931800"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1" i="0" lang="en" sz="1800" u="none" cap="none" strike="noStrike">
                <a:solidFill>
                  <a:srgbClr val="FFFFFF"/>
                </a:solidFill>
                <a:latin typeface="Calibri"/>
                <a:ea typeface="Calibri"/>
                <a:cs typeface="Calibri"/>
                <a:sym typeface="Calibri"/>
              </a:rPr>
              <a:t>Hyperparameters</a:t>
            </a:r>
            <a:endParaRPr b="0" i="0" sz="1800" u="none" cap="none" strike="noStrike">
              <a:solidFill>
                <a:srgbClr val="000000"/>
              </a:solidFill>
              <a:latin typeface="Calibri"/>
              <a:ea typeface="Calibri"/>
              <a:cs typeface="Calibri"/>
              <a:sym typeface="Calibri"/>
            </a:endParaRPr>
          </a:p>
        </p:txBody>
      </p:sp>
      <p:sp>
        <p:nvSpPr>
          <p:cNvPr id="745" name="Google Shape;745;p3"/>
          <p:cNvSpPr/>
          <p:nvPr/>
        </p:nvSpPr>
        <p:spPr>
          <a:xfrm>
            <a:off x="5166360" y="1481328"/>
            <a:ext cx="3520500" cy="1005900"/>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00000"/>
              </a:lnSpc>
              <a:spcBef>
                <a:spcPts val="0"/>
              </a:spcBef>
              <a:spcAft>
                <a:spcPts val="0"/>
              </a:spcAft>
              <a:buClr>
                <a:srgbClr val="37474F"/>
              </a:buClr>
              <a:buSzPts val="1300"/>
              <a:buFont typeface="Calibri"/>
              <a:buChar char="•"/>
            </a:pPr>
            <a:r>
              <a:rPr b="0" i="0" lang="en" sz="1300" u="none" cap="none" strike="noStrike">
                <a:solidFill>
                  <a:srgbClr val="37474F"/>
                </a:solidFill>
                <a:latin typeface="Calibri"/>
                <a:ea typeface="Calibri"/>
                <a:cs typeface="Calibri"/>
                <a:sym typeface="Calibri"/>
              </a:rPr>
              <a:t>Set before training begins</a:t>
            </a:r>
            <a:endParaRPr b="0" i="0" sz="1300" u="none" cap="none" strike="noStrike">
              <a:solidFill>
                <a:srgbClr val="000000"/>
              </a:solidFill>
              <a:latin typeface="Calibri"/>
              <a:ea typeface="Calibri"/>
              <a:cs typeface="Calibri"/>
              <a:sym typeface="Calibri"/>
            </a:endParaRPr>
          </a:p>
          <a:p>
            <a:pPr indent="-342900" lvl="0" marL="342900" marR="0" rtl="0" algn="l">
              <a:lnSpc>
                <a:spcPct val="100000"/>
              </a:lnSpc>
              <a:spcBef>
                <a:spcPts val="400"/>
              </a:spcBef>
              <a:spcAft>
                <a:spcPts val="0"/>
              </a:spcAft>
              <a:buClr>
                <a:srgbClr val="37474F"/>
              </a:buClr>
              <a:buSzPts val="1300"/>
              <a:buFont typeface="Calibri"/>
              <a:buChar char="•"/>
            </a:pPr>
            <a:r>
              <a:rPr b="0" i="0" lang="en" sz="1300" u="none" cap="none" strike="noStrike">
                <a:solidFill>
                  <a:srgbClr val="37474F"/>
                </a:solidFill>
                <a:latin typeface="Calibri"/>
                <a:ea typeface="Calibri"/>
                <a:cs typeface="Calibri"/>
                <a:sym typeface="Calibri"/>
              </a:rPr>
              <a:t>External configuration of the model</a:t>
            </a:r>
            <a:endParaRPr b="0" i="0" sz="1300" u="none" cap="none" strike="noStrike">
              <a:solidFill>
                <a:srgbClr val="000000"/>
              </a:solidFill>
              <a:latin typeface="Calibri"/>
              <a:ea typeface="Calibri"/>
              <a:cs typeface="Calibri"/>
              <a:sym typeface="Calibri"/>
            </a:endParaRPr>
          </a:p>
          <a:p>
            <a:pPr indent="-342900" lvl="0" marL="342900" marR="0" rtl="0" algn="l">
              <a:lnSpc>
                <a:spcPct val="100000"/>
              </a:lnSpc>
              <a:spcBef>
                <a:spcPts val="400"/>
              </a:spcBef>
              <a:spcAft>
                <a:spcPts val="0"/>
              </a:spcAft>
              <a:buClr>
                <a:srgbClr val="37474F"/>
              </a:buClr>
              <a:buSzPts val="1300"/>
              <a:buFont typeface="Calibri"/>
              <a:buChar char="•"/>
            </a:pPr>
            <a:r>
              <a:rPr b="0" i="0" lang="en" sz="1300" u="none" cap="none" strike="noStrike">
                <a:solidFill>
                  <a:srgbClr val="37474F"/>
                </a:solidFill>
                <a:latin typeface="Calibri"/>
                <a:ea typeface="Calibri"/>
                <a:cs typeface="Calibri"/>
                <a:sym typeface="Calibri"/>
              </a:rPr>
              <a:t>Chosen &amp; tuned by the data scientist</a:t>
            </a:r>
            <a:endParaRPr b="0" i="0" sz="1300" u="none" cap="none" strike="noStrike">
              <a:solidFill>
                <a:srgbClr val="000000"/>
              </a:solidFill>
              <a:latin typeface="Calibri"/>
              <a:ea typeface="Calibri"/>
              <a:cs typeface="Calibri"/>
              <a:sym typeface="Calibri"/>
            </a:endParaRPr>
          </a:p>
        </p:txBody>
      </p:sp>
      <p:sp>
        <p:nvSpPr>
          <p:cNvPr id="746" name="Google Shape;746;p3"/>
          <p:cNvSpPr/>
          <p:nvPr/>
        </p:nvSpPr>
        <p:spPr>
          <a:xfrm>
            <a:off x="5120640" y="2578608"/>
            <a:ext cx="3520500" cy="914400"/>
          </a:xfrm>
          <a:prstGeom prst="rect">
            <a:avLst/>
          </a:prstGeom>
          <a:solidFill>
            <a:srgbClr val="FFFFFF"/>
          </a:solidFill>
          <a:ln cap="flat" cmpd="sng" w="12700">
            <a:solidFill>
              <a:srgbClr val="80DEEA"/>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7" name="Google Shape;747;p3"/>
          <p:cNvSpPr/>
          <p:nvPr/>
        </p:nvSpPr>
        <p:spPr>
          <a:xfrm>
            <a:off x="5212080" y="2615184"/>
            <a:ext cx="3200400" cy="25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838F"/>
              </a:buClr>
              <a:buSzPts val="1200"/>
              <a:buFont typeface="Calibri"/>
              <a:buNone/>
            </a:pPr>
            <a:r>
              <a:rPr b="1" i="0" lang="en" sz="1200" u="none" cap="none" strike="noStrike">
                <a:solidFill>
                  <a:srgbClr val="00838F"/>
                </a:solidFill>
                <a:latin typeface="Calibri"/>
                <a:ea typeface="Calibri"/>
                <a:cs typeface="Calibri"/>
                <a:sym typeface="Calibri"/>
              </a:rPr>
              <a:t>Examples</a:t>
            </a:r>
            <a:endParaRPr b="0" i="0" sz="1200" u="none" cap="none" strike="noStrike">
              <a:solidFill>
                <a:srgbClr val="000000"/>
              </a:solidFill>
              <a:latin typeface="Calibri"/>
              <a:ea typeface="Calibri"/>
              <a:cs typeface="Calibri"/>
              <a:sym typeface="Calibri"/>
            </a:endParaRPr>
          </a:p>
        </p:txBody>
      </p:sp>
      <p:sp>
        <p:nvSpPr>
          <p:cNvPr id="748" name="Google Shape;748;p3"/>
          <p:cNvSpPr/>
          <p:nvPr/>
        </p:nvSpPr>
        <p:spPr>
          <a:xfrm>
            <a:off x="5212080" y="2871216"/>
            <a:ext cx="3200400" cy="548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200"/>
              <a:buFont typeface="Calibri"/>
              <a:buNone/>
            </a:pPr>
            <a:r>
              <a:rPr b="0" i="0" lang="en" sz="1200" u="none" cap="none" strike="noStrike">
                <a:solidFill>
                  <a:srgbClr val="37474F"/>
                </a:solidFill>
                <a:latin typeface="Calibri"/>
                <a:ea typeface="Calibri"/>
                <a:cs typeface="Calibri"/>
                <a:sym typeface="Calibri"/>
              </a:rPr>
              <a:t>• Learning rate, batch size, epochs</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7474F"/>
              </a:buClr>
              <a:buSzPts val="1200"/>
              <a:buFont typeface="Calibri"/>
              <a:buNone/>
            </a:pPr>
            <a:r>
              <a:rPr b="0" i="0" lang="en" sz="1200" u="none" cap="none" strike="noStrike">
                <a:solidFill>
                  <a:srgbClr val="37474F"/>
                </a:solidFill>
                <a:latin typeface="Calibri"/>
                <a:ea typeface="Calibri"/>
                <a:cs typeface="Calibri"/>
                <a:sym typeface="Calibri"/>
              </a:rPr>
              <a:t>• Number of layers, dropout rate</a:t>
            </a:r>
            <a:endParaRPr b="0" i="0" sz="1200" u="none" cap="none" strike="noStrike">
              <a:solidFill>
                <a:srgbClr val="000000"/>
              </a:solidFill>
              <a:latin typeface="Calibri"/>
              <a:ea typeface="Calibri"/>
              <a:cs typeface="Calibri"/>
              <a:sym typeface="Calibri"/>
            </a:endParaRPr>
          </a:p>
        </p:txBody>
      </p:sp>
      <p:sp>
        <p:nvSpPr>
          <p:cNvPr id="749" name="Google Shape;749;p3"/>
          <p:cNvSpPr/>
          <p:nvPr/>
        </p:nvSpPr>
        <p:spPr>
          <a:xfrm>
            <a:off x="5120640" y="3657600"/>
            <a:ext cx="3520500" cy="320100"/>
          </a:xfrm>
          <a:prstGeom prst="roundRect">
            <a:avLst>
              <a:gd fmla="val 22857" name="adj"/>
            </a:avLst>
          </a:prstGeom>
          <a:solidFill>
            <a:srgbClr val="00ACC1">
              <a:alpha val="20000"/>
            </a:srgbClr>
          </a:solidFill>
          <a:ln cap="flat" cmpd="sng" w="10150">
            <a:solidFill>
              <a:srgbClr val="00AC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0" name="Google Shape;750;p3"/>
          <p:cNvSpPr/>
          <p:nvPr/>
        </p:nvSpPr>
        <p:spPr>
          <a:xfrm>
            <a:off x="5120640" y="3657600"/>
            <a:ext cx="3520500" cy="320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838F"/>
              </a:buClr>
              <a:buSzPts val="1100"/>
              <a:buFont typeface="Calibri"/>
              <a:buNone/>
            </a:pPr>
            <a:r>
              <a:rPr b="1" i="0" lang="en" sz="1100" u="none" cap="none" strike="noStrike">
                <a:solidFill>
                  <a:srgbClr val="00838F"/>
                </a:solidFill>
                <a:latin typeface="Calibri"/>
                <a:ea typeface="Calibri"/>
                <a:cs typeface="Calibri"/>
                <a:sym typeface="Calibri"/>
              </a:rPr>
              <a:t>Set by: You  •  Chosen before training</a:t>
            </a:r>
            <a:endParaRPr b="0" i="0" sz="1100" u="none" cap="none" strike="noStrike">
              <a:solidFill>
                <a:srgbClr val="000000"/>
              </a:solidFill>
              <a:latin typeface="Calibri"/>
              <a:ea typeface="Calibri"/>
              <a:cs typeface="Calibri"/>
              <a:sym typeface="Calibri"/>
            </a:endParaRPr>
          </a:p>
        </p:txBody>
      </p:sp>
      <p:sp>
        <p:nvSpPr>
          <p:cNvPr id="751" name="Google Shape;751;p3"/>
          <p:cNvSpPr/>
          <p:nvPr/>
        </p:nvSpPr>
        <p:spPr>
          <a:xfrm>
            <a:off x="4169664" y="2468880"/>
            <a:ext cx="804600" cy="493800"/>
          </a:xfrm>
          <a:prstGeom prst="ellipse">
            <a:avLst/>
          </a:prstGeom>
          <a:solidFill>
            <a:srgbClr val="1A237E"/>
          </a:solidFill>
          <a:ln cap="flat" cmpd="sng" w="12700">
            <a:solidFill>
              <a:srgbClr val="1A237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2" name="Google Shape;752;p3"/>
          <p:cNvSpPr/>
          <p:nvPr/>
        </p:nvSpPr>
        <p:spPr>
          <a:xfrm>
            <a:off x="4169664" y="2468880"/>
            <a:ext cx="804600" cy="493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400"/>
              <a:buFont typeface="Calibri"/>
              <a:buNone/>
            </a:pPr>
            <a:r>
              <a:rPr b="1" i="0" lang="en" sz="1400" u="none" cap="none" strike="noStrike">
                <a:solidFill>
                  <a:srgbClr val="FFFFFF"/>
                </a:solidFill>
                <a:latin typeface="Calibri"/>
                <a:ea typeface="Calibri"/>
                <a:cs typeface="Calibri"/>
                <a:sym typeface="Calibri"/>
              </a:rPr>
              <a:t>VS</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56" name="Shape 756"/>
        <p:cNvGrpSpPr/>
        <p:nvPr/>
      </p:nvGrpSpPr>
      <p:grpSpPr>
        <a:xfrm>
          <a:off x="0" y="0"/>
          <a:ext cx="0" cy="0"/>
          <a:chOff x="0" y="0"/>
          <a:chExt cx="0" cy="0"/>
        </a:xfrm>
      </p:grpSpPr>
      <p:pic>
        <p:nvPicPr>
          <p:cNvPr id="757" name="Google Shape;757;p16"/>
          <p:cNvPicPr preferRelativeResize="0"/>
          <p:nvPr/>
        </p:nvPicPr>
        <p:blipFill rotWithShape="1">
          <a:blip r:embed="rId4">
            <a:alphaModFix/>
          </a:blip>
          <a:srcRect b="0" l="0" r="0" t="0"/>
          <a:stretch/>
        </p:blipFill>
        <p:spPr>
          <a:xfrm>
            <a:off x="8369125" y="0"/>
            <a:ext cx="774877" cy="867174"/>
          </a:xfrm>
          <a:prstGeom prst="rect">
            <a:avLst/>
          </a:prstGeom>
          <a:noFill/>
          <a:ln>
            <a:noFill/>
          </a:ln>
        </p:spPr>
      </p:pic>
      <p:sp>
        <p:nvSpPr>
          <p:cNvPr id="758" name="Google Shape;758;p16"/>
          <p:cNvSpPr/>
          <p:nvPr/>
        </p:nvSpPr>
        <p:spPr>
          <a:xfrm>
            <a:off x="228600" y="100750"/>
            <a:ext cx="8332800" cy="658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E0E8F0"/>
              </a:buClr>
              <a:buSzPts val="2400"/>
              <a:buFont typeface="Calibri"/>
              <a:buNone/>
            </a:pPr>
            <a:r>
              <a:rPr b="1" i="0" lang="en" sz="2400" u="none" cap="none" strike="noStrike">
                <a:solidFill>
                  <a:schemeClr val="dk1"/>
                </a:solidFill>
                <a:latin typeface="Calibri"/>
                <a:ea typeface="Calibri"/>
                <a:cs typeface="Calibri"/>
                <a:sym typeface="Calibri"/>
              </a:rPr>
              <a:t>Summary — Quick Reference</a:t>
            </a:r>
            <a:endParaRPr b="1" i="0" sz="2400" u="none" cap="none" strike="noStrike">
              <a:solidFill>
                <a:schemeClr val="dk1"/>
              </a:solidFill>
              <a:latin typeface="Calibri"/>
              <a:ea typeface="Calibri"/>
              <a:cs typeface="Calibri"/>
              <a:sym typeface="Calibri"/>
            </a:endParaRPr>
          </a:p>
        </p:txBody>
      </p:sp>
      <p:graphicFrame>
        <p:nvGraphicFramePr>
          <p:cNvPr id="759" name="Google Shape;759;p16"/>
          <p:cNvGraphicFramePr/>
          <p:nvPr/>
        </p:nvGraphicFramePr>
        <p:xfrm>
          <a:off x="274308" y="1275640"/>
          <a:ext cx="3000000" cy="3000000"/>
        </p:xfrm>
        <a:graphic>
          <a:graphicData uri="http://schemas.openxmlformats.org/drawingml/2006/table">
            <a:tbl>
              <a:tblPr>
                <a:noFill/>
                <a:tableStyleId>{1C46A4BD-0E27-47CB-9CBC-C59CCD79FF35}</a:tableStyleId>
              </a:tblPr>
              <a:tblGrid>
                <a:gridCol w="1371600"/>
                <a:gridCol w="1920250"/>
                <a:gridCol w="2560325"/>
                <a:gridCol w="2743200"/>
              </a:tblGrid>
              <a:tr h="566925">
                <a:tc>
                  <a:txBody>
                    <a:bodyPr/>
                    <a:lstStyle/>
                    <a:p>
                      <a:pPr indent="0" lvl="0" marL="0" marR="0" rtl="0" algn="ctr">
                        <a:lnSpc>
                          <a:spcPct val="100000"/>
                        </a:lnSpc>
                        <a:spcBef>
                          <a:spcPts val="0"/>
                        </a:spcBef>
                        <a:spcAft>
                          <a:spcPts val="0"/>
                        </a:spcAft>
                        <a:buClr>
                          <a:srgbClr val="E0E8F0"/>
                        </a:buClr>
                        <a:buSzPts val="1100"/>
                        <a:buFont typeface="Calibri"/>
                        <a:buNone/>
                      </a:pPr>
                      <a:r>
                        <a:rPr b="1" lang="en" sz="1500" u="none" cap="none" strike="noStrike">
                          <a:solidFill>
                            <a:schemeClr val="dk1"/>
                          </a:solidFill>
                          <a:latin typeface="Calibri"/>
                          <a:ea typeface="Calibri"/>
                          <a:cs typeface="Calibri"/>
                          <a:sym typeface="Calibri"/>
                        </a:rPr>
                        <a:t>Problem</a:t>
                      </a:r>
                      <a:endParaRPr sz="1500" u="none" cap="none" strike="noStrike">
                        <a:solidFill>
                          <a:schemeClr val="dk1"/>
                        </a:solidFill>
                        <a:latin typeface="Calibri"/>
                        <a:ea typeface="Calibri"/>
                        <a:cs typeface="Calibri"/>
                        <a:sym typeface="Calibri"/>
                      </a:endParaRPr>
                    </a:p>
                  </a:txBody>
                  <a:tcPr marT="45725" marB="45725" marR="91450" marL="91450">
                    <a:lnL cap="flat" cmpd="sng" w="12700">
                      <a:solidFill>
                        <a:srgbClr val="1E3A52"/>
                      </a:solidFill>
                      <a:prstDash val="solid"/>
                      <a:round/>
                      <a:headEnd len="sm" w="sm" type="none"/>
                      <a:tailEnd len="sm" w="sm" type="none"/>
                    </a:lnL>
                    <a:lnR cap="flat" cmpd="sng" w="12700">
                      <a:solidFill>
                        <a:srgbClr val="1E3A52"/>
                      </a:solidFill>
                      <a:prstDash val="solid"/>
                      <a:round/>
                      <a:headEnd len="sm" w="sm" type="none"/>
                      <a:tailEnd len="sm" w="sm" type="none"/>
                    </a:lnR>
                    <a:lnT cap="flat" cmpd="sng" w="12700">
                      <a:solidFill>
                        <a:srgbClr val="1E3A52"/>
                      </a:solidFill>
                      <a:prstDash val="solid"/>
                      <a:round/>
                      <a:headEnd len="sm" w="sm" type="none"/>
                      <a:tailEnd len="sm" w="sm" type="none"/>
                    </a:lnT>
                    <a:lnB cap="flat" cmpd="sng" w="12700">
                      <a:solidFill>
                        <a:srgbClr val="1E3A5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E0E8F0"/>
                        </a:buClr>
                        <a:buSzPts val="1100"/>
                        <a:buFont typeface="Calibri"/>
                        <a:buNone/>
                      </a:pPr>
                      <a:r>
                        <a:rPr b="1" lang="en" sz="1500" u="none" cap="none" strike="noStrike">
                          <a:solidFill>
                            <a:schemeClr val="dk1"/>
                          </a:solidFill>
                          <a:latin typeface="Calibri"/>
                          <a:ea typeface="Calibri"/>
                          <a:cs typeface="Calibri"/>
                          <a:sym typeface="Calibri"/>
                        </a:rPr>
                        <a:t>Symptom</a:t>
                      </a:r>
                      <a:endParaRPr sz="1500" u="none" cap="none" strike="noStrike">
                        <a:solidFill>
                          <a:schemeClr val="dk1"/>
                        </a:solidFill>
                        <a:latin typeface="Calibri"/>
                        <a:ea typeface="Calibri"/>
                        <a:cs typeface="Calibri"/>
                        <a:sym typeface="Calibri"/>
                      </a:endParaRPr>
                    </a:p>
                  </a:txBody>
                  <a:tcPr marT="45725" marB="45725" marR="91450" marL="91450">
                    <a:lnL cap="flat" cmpd="sng" w="12700">
                      <a:solidFill>
                        <a:srgbClr val="1E3A52"/>
                      </a:solidFill>
                      <a:prstDash val="solid"/>
                      <a:round/>
                      <a:headEnd len="sm" w="sm" type="none"/>
                      <a:tailEnd len="sm" w="sm" type="none"/>
                    </a:lnL>
                    <a:lnR cap="flat" cmpd="sng" w="12700">
                      <a:solidFill>
                        <a:srgbClr val="1E3A52"/>
                      </a:solidFill>
                      <a:prstDash val="solid"/>
                      <a:round/>
                      <a:headEnd len="sm" w="sm" type="none"/>
                      <a:tailEnd len="sm" w="sm" type="none"/>
                    </a:lnR>
                    <a:lnT cap="flat" cmpd="sng" w="12700">
                      <a:solidFill>
                        <a:srgbClr val="1E3A52"/>
                      </a:solidFill>
                      <a:prstDash val="solid"/>
                      <a:round/>
                      <a:headEnd len="sm" w="sm" type="none"/>
                      <a:tailEnd len="sm" w="sm" type="none"/>
                    </a:lnT>
                    <a:lnB cap="flat" cmpd="sng" w="12700">
                      <a:solidFill>
                        <a:srgbClr val="1E3A5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E0E8F0"/>
                        </a:buClr>
                        <a:buSzPts val="1100"/>
                        <a:buFont typeface="Calibri"/>
                        <a:buNone/>
                      </a:pPr>
                      <a:r>
                        <a:rPr b="1" lang="en" sz="1500" u="none" cap="none" strike="noStrike">
                          <a:solidFill>
                            <a:schemeClr val="dk1"/>
                          </a:solidFill>
                          <a:latin typeface="Calibri"/>
                          <a:ea typeface="Calibri"/>
                          <a:cs typeface="Calibri"/>
                          <a:sym typeface="Calibri"/>
                        </a:rPr>
                        <a:t>Fix</a:t>
                      </a:r>
                      <a:endParaRPr sz="1500" u="none" cap="none" strike="noStrike">
                        <a:solidFill>
                          <a:schemeClr val="dk1"/>
                        </a:solidFill>
                        <a:latin typeface="Calibri"/>
                        <a:ea typeface="Calibri"/>
                        <a:cs typeface="Calibri"/>
                        <a:sym typeface="Calibri"/>
                      </a:endParaRPr>
                    </a:p>
                  </a:txBody>
                  <a:tcPr marT="45725" marB="45725" marR="91450" marL="91450">
                    <a:lnL cap="flat" cmpd="sng" w="12700">
                      <a:solidFill>
                        <a:srgbClr val="1E3A52"/>
                      </a:solidFill>
                      <a:prstDash val="solid"/>
                      <a:round/>
                      <a:headEnd len="sm" w="sm" type="none"/>
                      <a:tailEnd len="sm" w="sm" type="none"/>
                    </a:lnL>
                    <a:lnR cap="flat" cmpd="sng" w="12700">
                      <a:solidFill>
                        <a:srgbClr val="1E3A52"/>
                      </a:solidFill>
                      <a:prstDash val="solid"/>
                      <a:round/>
                      <a:headEnd len="sm" w="sm" type="none"/>
                      <a:tailEnd len="sm" w="sm" type="none"/>
                    </a:lnR>
                    <a:lnT cap="flat" cmpd="sng" w="12700">
                      <a:solidFill>
                        <a:srgbClr val="1E3A52"/>
                      </a:solidFill>
                      <a:prstDash val="solid"/>
                      <a:round/>
                      <a:headEnd len="sm" w="sm" type="none"/>
                      <a:tailEnd len="sm" w="sm" type="none"/>
                    </a:lnT>
                    <a:lnB cap="flat" cmpd="sng" w="12700">
                      <a:solidFill>
                        <a:srgbClr val="1E3A5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E0E8F0"/>
                        </a:buClr>
                        <a:buSzPts val="1100"/>
                        <a:buFont typeface="Calibri"/>
                        <a:buNone/>
                      </a:pPr>
                      <a:r>
                        <a:rPr b="1" lang="en" sz="1500" u="none" cap="none" strike="noStrike">
                          <a:solidFill>
                            <a:schemeClr val="dk1"/>
                          </a:solidFill>
                          <a:latin typeface="Calibri"/>
                          <a:ea typeface="Calibri"/>
                          <a:cs typeface="Calibri"/>
                          <a:sym typeface="Calibri"/>
                        </a:rPr>
                        <a:t>Code Lever</a:t>
                      </a:r>
                      <a:endParaRPr sz="1500" u="none" cap="none" strike="noStrike">
                        <a:solidFill>
                          <a:schemeClr val="dk1"/>
                        </a:solidFill>
                        <a:latin typeface="Calibri"/>
                        <a:ea typeface="Calibri"/>
                        <a:cs typeface="Calibri"/>
                        <a:sym typeface="Calibri"/>
                      </a:endParaRPr>
                    </a:p>
                  </a:txBody>
                  <a:tcPr marT="45725" marB="45725" marR="91450" marL="91450">
                    <a:lnL cap="flat" cmpd="sng" w="12700">
                      <a:solidFill>
                        <a:srgbClr val="1E3A52"/>
                      </a:solidFill>
                      <a:prstDash val="solid"/>
                      <a:round/>
                      <a:headEnd len="sm" w="sm" type="none"/>
                      <a:tailEnd len="sm" w="sm" type="none"/>
                    </a:lnL>
                    <a:lnR cap="flat" cmpd="sng" w="12700">
                      <a:solidFill>
                        <a:srgbClr val="1E3A52"/>
                      </a:solidFill>
                      <a:prstDash val="solid"/>
                      <a:round/>
                      <a:headEnd len="sm" w="sm" type="none"/>
                      <a:tailEnd len="sm" w="sm" type="none"/>
                    </a:lnR>
                    <a:lnT cap="flat" cmpd="sng" w="12700">
                      <a:solidFill>
                        <a:srgbClr val="1E3A52"/>
                      </a:solidFill>
                      <a:prstDash val="solid"/>
                      <a:round/>
                      <a:headEnd len="sm" w="sm" type="none"/>
                      <a:tailEnd len="sm" w="sm" type="none"/>
                    </a:lnT>
                    <a:lnB cap="flat" cmpd="sng" w="12700">
                      <a:solidFill>
                        <a:srgbClr val="1E3A52"/>
                      </a:solidFill>
                      <a:prstDash val="solid"/>
                      <a:round/>
                      <a:headEnd len="sm" w="sm" type="none"/>
                      <a:tailEnd len="sm" w="sm" type="none"/>
                    </a:lnB>
                    <a:solidFill>
                      <a:schemeClr val="lt1"/>
                    </a:solidFill>
                  </a:tcPr>
                </a:tc>
              </a:tr>
              <a:tr h="566925">
                <a:tc>
                  <a:txBody>
                    <a:bodyPr/>
                    <a:lstStyle/>
                    <a:p>
                      <a:pPr indent="0" lvl="0" marL="0" marR="0" rtl="0" algn="ctr">
                        <a:lnSpc>
                          <a:spcPct val="100000"/>
                        </a:lnSpc>
                        <a:spcBef>
                          <a:spcPts val="0"/>
                        </a:spcBef>
                        <a:spcAft>
                          <a:spcPts val="0"/>
                        </a:spcAft>
                        <a:buClr>
                          <a:srgbClr val="FF4B6E"/>
                        </a:buClr>
                        <a:buSzPts val="1100"/>
                        <a:buFont typeface="Calibri"/>
                        <a:buNone/>
                      </a:pPr>
                      <a:r>
                        <a:rPr b="1" lang="en" sz="1500" u="none" cap="none" strike="noStrike">
                          <a:solidFill>
                            <a:srgbClr val="FF4B6E"/>
                          </a:solidFill>
                          <a:latin typeface="Calibri"/>
                          <a:ea typeface="Calibri"/>
                          <a:cs typeface="Calibri"/>
                          <a:sym typeface="Calibri"/>
                        </a:rPr>
                        <a:t>Underfitting</a:t>
                      </a:r>
                      <a:endParaRPr sz="1500" u="none" cap="none" strike="noStrike">
                        <a:latin typeface="Calibri"/>
                        <a:ea typeface="Calibri"/>
                        <a:cs typeface="Calibri"/>
                        <a:sym typeface="Calibri"/>
                      </a:endParaRPr>
                    </a:p>
                  </a:txBody>
                  <a:tcPr marT="45725" marB="45725" marR="91450" marL="91450">
                    <a:lnL cap="flat" cmpd="sng" w="12700">
                      <a:solidFill>
                        <a:srgbClr val="1E3A52"/>
                      </a:solidFill>
                      <a:prstDash val="solid"/>
                      <a:round/>
                      <a:headEnd len="sm" w="sm" type="none"/>
                      <a:tailEnd len="sm" w="sm" type="none"/>
                    </a:lnL>
                    <a:lnR cap="flat" cmpd="sng" w="12700">
                      <a:solidFill>
                        <a:srgbClr val="1E3A52"/>
                      </a:solidFill>
                      <a:prstDash val="solid"/>
                      <a:round/>
                      <a:headEnd len="sm" w="sm" type="none"/>
                      <a:tailEnd len="sm" w="sm" type="none"/>
                    </a:lnR>
                    <a:lnT cap="flat" cmpd="sng" w="12700">
                      <a:solidFill>
                        <a:srgbClr val="1E3A52"/>
                      </a:solidFill>
                      <a:prstDash val="solid"/>
                      <a:round/>
                      <a:headEnd len="sm" w="sm" type="none"/>
                      <a:tailEnd len="sm" w="sm" type="none"/>
                    </a:lnT>
                    <a:lnB cap="flat" cmpd="sng" w="12700">
                      <a:solidFill>
                        <a:srgbClr val="1E3A5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E0E8F0"/>
                        </a:buClr>
                        <a:buSzPts val="1100"/>
                        <a:buFont typeface="Calibri"/>
                        <a:buNone/>
                      </a:pPr>
                      <a:r>
                        <a:rPr lang="en" sz="1500" u="none" cap="none" strike="noStrike">
                          <a:solidFill>
                            <a:schemeClr val="dk1"/>
                          </a:solidFill>
                          <a:latin typeface="Calibri"/>
                          <a:ea typeface="Calibri"/>
                          <a:cs typeface="Calibri"/>
                          <a:sym typeface="Calibri"/>
                        </a:rPr>
                        <a:t>High train + val error</a:t>
                      </a:r>
                      <a:endParaRPr sz="1500" u="none" cap="none" strike="noStrike">
                        <a:solidFill>
                          <a:schemeClr val="dk1"/>
                        </a:solidFill>
                        <a:latin typeface="Calibri"/>
                        <a:ea typeface="Calibri"/>
                        <a:cs typeface="Calibri"/>
                        <a:sym typeface="Calibri"/>
                      </a:endParaRPr>
                    </a:p>
                  </a:txBody>
                  <a:tcPr marT="45725" marB="45725" marR="91450" marL="91450">
                    <a:lnL cap="flat" cmpd="sng" w="12700">
                      <a:solidFill>
                        <a:srgbClr val="1E3A52"/>
                      </a:solidFill>
                      <a:prstDash val="solid"/>
                      <a:round/>
                      <a:headEnd len="sm" w="sm" type="none"/>
                      <a:tailEnd len="sm" w="sm" type="none"/>
                    </a:lnL>
                    <a:lnR cap="flat" cmpd="sng" w="12700">
                      <a:solidFill>
                        <a:srgbClr val="1E3A52"/>
                      </a:solidFill>
                      <a:prstDash val="solid"/>
                      <a:round/>
                      <a:headEnd len="sm" w="sm" type="none"/>
                      <a:tailEnd len="sm" w="sm" type="none"/>
                    </a:lnR>
                    <a:lnT cap="flat" cmpd="sng" w="12700">
                      <a:solidFill>
                        <a:srgbClr val="1E3A52"/>
                      </a:solidFill>
                      <a:prstDash val="solid"/>
                      <a:round/>
                      <a:headEnd len="sm" w="sm" type="none"/>
                      <a:tailEnd len="sm" w="sm" type="none"/>
                    </a:lnT>
                    <a:lnB cap="flat" cmpd="sng" w="12700">
                      <a:solidFill>
                        <a:srgbClr val="1E3A5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E0E8F0"/>
                        </a:buClr>
                        <a:buSzPts val="1100"/>
                        <a:buFont typeface="Calibri"/>
                        <a:buNone/>
                      </a:pPr>
                      <a:r>
                        <a:rPr lang="en" sz="1500" u="none" cap="none" strike="noStrike">
                          <a:solidFill>
                            <a:schemeClr val="dk1"/>
                          </a:solidFill>
                          <a:latin typeface="Calibri"/>
                          <a:ea typeface="Calibri"/>
                          <a:cs typeface="Calibri"/>
                          <a:sym typeface="Calibri"/>
                        </a:rPr>
                        <a:t>Bigger model, more features, more epochs</a:t>
                      </a:r>
                      <a:endParaRPr sz="1500" u="none" cap="none" strike="noStrike">
                        <a:solidFill>
                          <a:schemeClr val="dk1"/>
                        </a:solidFill>
                        <a:latin typeface="Calibri"/>
                        <a:ea typeface="Calibri"/>
                        <a:cs typeface="Calibri"/>
                        <a:sym typeface="Calibri"/>
                      </a:endParaRPr>
                    </a:p>
                  </a:txBody>
                  <a:tcPr marT="45725" marB="45725" marR="91450" marL="91450">
                    <a:lnL cap="flat" cmpd="sng" w="12700">
                      <a:solidFill>
                        <a:srgbClr val="1E3A52"/>
                      </a:solidFill>
                      <a:prstDash val="solid"/>
                      <a:round/>
                      <a:headEnd len="sm" w="sm" type="none"/>
                      <a:tailEnd len="sm" w="sm" type="none"/>
                    </a:lnL>
                    <a:lnR cap="flat" cmpd="sng" w="12700">
                      <a:solidFill>
                        <a:srgbClr val="1E3A52"/>
                      </a:solidFill>
                      <a:prstDash val="solid"/>
                      <a:round/>
                      <a:headEnd len="sm" w="sm" type="none"/>
                      <a:tailEnd len="sm" w="sm" type="none"/>
                    </a:lnR>
                    <a:lnT cap="flat" cmpd="sng" w="12700">
                      <a:solidFill>
                        <a:srgbClr val="1E3A52"/>
                      </a:solidFill>
                      <a:prstDash val="solid"/>
                      <a:round/>
                      <a:headEnd len="sm" w="sm" type="none"/>
                      <a:tailEnd len="sm" w="sm" type="none"/>
                    </a:lnT>
                    <a:lnB cap="flat" cmpd="sng" w="12700">
                      <a:solidFill>
                        <a:srgbClr val="1E3A5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9CDCFE"/>
                        </a:buClr>
                        <a:buSzPts val="1100"/>
                        <a:buFont typeface="Courier New"/>
                        <a:buNone/>
                      </a:pPr>
                      <a:r>
                        <a:rPr lang="en" sz="1500" u="none" cap="none" strike="noStrike">
                          <a:solidFill>
                            <a:srgbClr val="3D85C6"/>
                          </a:solidFill>
                          <a:latin typeface="Calibri"/>
                          <a:ea typeface="Calibri"/>
                          <a:cs typeface="Calibri"/>
                          <a:sym typeface="Calibri"/>
                        </a:rPr>
                        <a:t>degree=↑, layers=↑, epochs=↑</a:t>
                      </a:r>
                      <a:endParaRPr sz="1500" u="none" cap="none" strike="noStrike">
                        <a:solidFill>
                          <a:srgbClr val="3D85C6"/>
                        </a:solidFill>
                        <a:latin typeface="Calibri"/>
                        <a:ea typeface="Calibri"/>
                        <a:cs typeface="Calibri"/>
                        <a:sym typeface="Calibri"/>
                      </a:endParaRPr>
                    </a:p>
                  </a:txBody>
                  <a:tcPr marT="45725" marB="45725" marR="91450" marL="91450">
                    <a:lnL cap="flat" cmpd="sng" w="12700">
                      <a:solidFill>
                        <a:srgbClr val="1E3A52"/>
                      </a:solidFill>
                      <a:prstDash val="solid"/>
                      <a:round/>
                      <a:headEnd len="sm" w="sm" type="none"/>
                      <a:tailEnd len="sm" w="sm" type="none"/>
                    </a:lnL>
                    <a:lnR cap="flat" cmpd="sng" w="12700">
                      <a:solidFill>
                        <a:srgbClr val="1E3A52"/>
                      </a:solidFill>
                      <a:prstDash val="solid"/>
                      <a:round/>
                      <a:headEnd len="sm" w="sm" type="none"/>
                      <a:tailEnd len="sm" w="sm" type="none"/>
                    </a:lnR>
                    <a:lnT cap="flat" cmpd="sng" w="12700">
                      <a:solidFill>
                        <a:srgbClr val="1E3A52"/>
                      </a:solidFill>
                      <a:prstDash val="solid"/>
                      <a:round/>
                      <a:headEnd len="sm" w="sm" type="none"/>
                      <a:tailEnd len="sm" w="sm" type="none"/>
                    </a:lnT>
                    <a:lnB cap="flat" cmpd="sng" w="12700">
                      <a:solidFill>
                        <a:srgbClr val="1E3A52"/>
                      </a:solidFill>
                      <a:prstDash val="solid"/>
                      <a:round/>
                      <a:headEnd len="sm" w="sm" type="none"/>
                      <a:tailEnd len="sm" w="sm" type="none"/>
                    </a:lnB>
                    <a:solidFill>
                      <a:schemeClr val="lt1"/>
                    </a:solidFill>
                  </a:tcPr>
                </a:tc>
              </a:tr>
              <a:tr h="566925">
                <a:tc>
                  <a:txBody>
                    <a:bodyPr/>
                    <a:lstStyle/>
                    <a:p>
                      <a:pPr indent="0" lvl="0" marL="0" marR="0" rtl="0" algn="ctr">
                        <a:lnSpc>
                          <a:spcPct val="100000"/>
                        </a:lnSpc>
                        <a:spcBef>
                          <a:spcPts val="0"/>
                        </a:spcBef>
                        <a:spcAft>
                          <a:spcPts val="0"/>
                        </a:spcAft>
                        <a:buClr>
                          <a:srgbClr val="FFB830"/>
                        </a:buClr>
                        <a:buSzPts val="1100"/>
                        <a:buFont typeface="Calibri"/>
                        <a:buNone/>
                      </a:pPr>
                      <a:r>
                        <a:rPr b="1" lang="en" sz="1500" u="none" cap="none" strike="noStrike">
                          <a:solidFill>
                            <a:srgbClr val="FFB830"/>
                          </a:solidFill>
                          <a:latin typeface="Calibri"/>
                          <a:ea typeface="Calibri"/>
                          <a:cs typeface="Calibri"/>
                          <a:sym typeface="Calibri"/>
                        </a:rPr>
                        <a:t>Overfitting</a:t>
                      </a:r>
                      <a:endParaRPr sz="1500" u="none" cap="none" strike="noStrike">
                        <a:latin typeface="Calibri"/>
                        <a:ea typeface="Calibri"/>
                        <a:cs typeface="Calibri"/>
                        <a:sym typeface="Calibri"/>
                      </a:endParaRPr>
                    </a:p>
                  </a:txBody>
                  <a:tcPr marT="45725" marB="45725" marR="91450" marL="91450">
                    <a:lnL cap="flat" cmpd="sng" w="12700">
                      <a:solidFill>
                        <a:srgbClr val="1E3A52"/>
                      </a:solidFill>
                      <a:prstDash val="solid"/>
                      <a:round/>
                      <a:headEnd len="sm" w="sm" type="none"/>
                      <a:tailEnd len="sm" w="sm" type="none"/>
                    </a:lnL>
                    <a:lnR cap="flat" cmpd="sng" w="12700">
                      <a:solidFill>
                        <a:srgbClr val="1E3A52"/>
                      </a:solidFill>
                      <a:prstDash val="solid"/>
                      <a:round/>
                      <a:headEnd len="sm" w="sm" type="none"/>
                      <a:tailEnd len="sm" w="sm" type="none"/>
                    </a:lnR>
                    <a:lnT cap="flat" cmpd="sng" w="12700">
                      <a:solidFill>
                        <a:srgbClr val="1E3A52"/>
                      </a:solidFill>
                      <a:prstDash val="solid"/>
                      <a:round/>
                      <a:headEnd len="sm" w="sm" type="none"/>
                      <a:tailEnd len="sm" w="sm" type="none"/>
                    </a:lnT>
                    <a:lnB cap="flat" cmpd="sng" w="12700">
                      <a:solidFill>
                        <a:srgbClr val="1E3A5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E0E8F0"/>
                        </a:buClr>
                        <a:buSzPts val="1100"/>
                        <a:buFont typeface="Calibri"/>
                        <a:buNone/>
                      </a:pPr>
                      <a:r>
                        <a:rPr lang="en" sz="1500" u="none" cap="none" strike="noStrike">
                          <a:solidFill>
                            <a:schemeClr val="dk1"/>
                          </a:solidFill>
                          <a:latin typeface="Calibri"/>
                          <a:ea typeface="Calibri"/>
                          <a:cs typeface="Calibri"/>
                          <a:sym typeface="Calibri"/>
                        </a:rPr>
                        <a:t>Low train, high val error</a:t>
                      </a:r>
                      <a:endParaRPr sz="1500" u="none" cap="none" strike="noStrike">
                        <a:solidFill>
                          <a:schemeClr val="dk1"/>
                        </a:solidFill>
                        <a:latin typeface="Calibri"/>
                        <a:ea typeface="Calibri"/>
                        <a:cs typeface="Calibri"/>
                        <a:sym typeface="Calibri"/>
                      </a:endParaRPr>
                    </a:p>
                  </a:txBody>
                  <a:tcPr marT="45725" marB="45725" marR="91450" marL="91450">
                    <a:lnL cap="flat" cmpd="sng" w="12700">
                      <a:solidFill>
                        <a:srgbClr val="1E3A52"/>
                      </a:solidFill>
                      <a:prstDash val="solid"/>
                      <a:round/>
                      <a:headEnd len="sm" w="sm" type="none"/>
                      <a:tailEnd len="sm" w="sm" type="none"/>
                    </a:lnL>
                    <a:lnR cap="flat" cmpd="sng" w="12700">
                      <a:solidFill>
                        <a:srgbClr val="1E3A52"/>
                      </a:solidFill>
                      <a:prstDash val="solid"/>
                      <a:round/>
                      <a:headEnd len="sm" w="sm" type="none"/>
                      <a:tailEnd len="sm" w="sm" type="none"/>
                    </a:lnR>
                    <a:lnT cap="flat" cmpd="sng" w="12700">
                      <a:solidFill>
                        <a:srgbClr val="1E3A52"/>
                      </a:solidFill>
                      <a:prstDash val="solid"/>
                      <a:round/>
                      <a:headEnd len="sm" w="sm" type="none"/>
                      <a:tailEnd len="sm" w="sm" type="none"/>
                    </a:lnT>
                    <a:lnB cap="flat" cmpd="sng" w="12700">
                      <a:solidFill>
                        <a:srgbClr val="1E3A5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E0E8F0"/>
                        </a:buClr>
                        <a:buSzPts val="1100"/>
                        <a:buFont typeface="Calibri"/>
                        <a:buNone/>
                      </a:pPr>
                      <a:r>
                        <a:rPr lang="en" sz="1500" u="none" cap="none" strike="noStrike">
                          <a:solidFill>
                            <a:schemeClr val="dk1"/>
                          </a:solidFill>
                          <a:latin typeface="Calibri"/>
                          <a:ea typeface="Calibri"/>
                          <a:cs typeface="Calibri"/>
                          <a:sym typeface="Calibri"/>
                        </a:rPr>
                        <a:t>Regularize, dropout, more data</a:t>
                      </a:r>
                      <a:endParaRPr sz="1500" u="none" cap="none" strike="noStrike">
                        <a:solidFill>
                          <a:schemeClr val="dk1"/>
                        </a:solidFill>
                        <a:latin typeface="Calibri"/>
                        <a:ea typeface="Calibri"/>
                        <a:cs typeface="Calibri"/>
                        <a:sym typeface="Calibri"/>
                      </a:endParaRPr>
                    </a:p>
                  </a:txBody>
                  <a:tcPr marT="45725" marB="45725" marR="91450" marL="91450">
                    <a:lnL cap="flat" cmpd="sng" w="12700">
                      <a:solidFill>
                        <a:srgbClr val="1E3A52"/>
                      </a:solidFill>
                      <a:prstDash val="solid"/>
                      <a:round/>
                      <a:headEnd len="sm" w="sm" type="none"/>
                      <a:tailEnd len="sm" w="sm" type="none"/>
                    </a:lnL>
                    <a:lnR cap="flat" cmpd="sng" w="12700">
                      <a:solidFill>
                        <a:srgbClr val="1E3A52"/>
                      </a:solidFill>
                      <a:prstDash val="solid"/>
                      <a:round/>
                      <a:headEnd len="sm" w="sm" type="none"/>
                      <a:tailEnd len="sm" w="sm" type="none"/>
                    </a:lnR>
                    <a:lnT cap="flat" cmpd="sng" w="12700">
                      <a:solidFill>
                        <a:srgbClr val="1E3A52"/>
                      </a:solidFill>
                      <a:prstDash val="solid"/>
                      <a:round/>
                      <a:headEnd len="sm" w="sm" type="none"/>
                      <a:tailEnd len="sm" w="sm" type="none"/>
                    </a:lnT>
                    <a:lnB cap="flat" cmpd="sng" w="12700">
                      <a:solidFill>
                        <a:srgbClr val="1E3A5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9CDCFE"/>
                        </a:buClr>
                        <a:buSzPts val="1100"/>
                        <a:buFont typeface="Courier New"/>
                        <a:buNone/>
                      </a:pPr>
                      <a:r>
                        <a:rPr lang="en" sz="1500" u="none" cap="none" strike="noStrike">
                          <a:solidFill>
                            <a:srgbClr val="3D85C6"/>
                          </a:solidFill>
                          <a:latin typeface="Calibri"/>
                          <a:ea typeface="Calibri"/>
                          <a:cs typeface="Calibri"/>
                          <a:sym typeface="Calibri"/>
                        </a:rPr>
                        <a:t>Ridge/Lasso alpha=↑, Dropout(p)</a:t>
                      </a:r>
                      <a:endParaRPr sz="1500" u="none" cap="none" strike="noStrike">
                        <a:solidFill>
                          <a:srgbClr val="3D85C6"/>
                        </a:solidFill>
                        <a:latin typeface="Calibri"/>
                        <a:ea typeface="Calibri"/>
                        <a:cs typeface="Calibri"/>
                        <a:sym typeface="Calibri"/>
                      </a:endParaRPr>
                    </a:p>
                  </a:txBody>
                  <a:tcPr marT="45725" marB="45725" marR="91450" marL="91450">
                    <a:lnL cap="flat" cmpd="sng" w="12700">
                      <a:solidFill>
                        <a:srgbClr val="1E3A52"/>
                      </a:solidFill>
                      <a:prstDash val="solid"/>
                      <a:round/>
                      <a:headEnd len="sm" w="sm" type="none"/>
                      <a:tailEnd len="sm" w="sm" type="none"/>
                    </a:lnL>
                    <a:lnR cap="flat" cmpd="sng" w="12700">
                      <a:solidFill>
                        <a:srgbClr val="1E3A52"/>
                      </a:solidFill>
                      <a:prstDash val="solid"/>
                      <a:round/>
                      <a:headEnd len="sm" w="sm" type="none"/>
                      <a:tailEnd len="sm" w="sm" type="none"/>
                    </a:lnR>
                    <a:lnT cap="flat" cmpd="sng" w="12700">
                      <a:solidFill>
                        <a:srgbClr val="1E3A52"/>
                      </a:solidFill>
                      <a:prstDash val="solid"/>
                      <a:round/>
                      <a:headEnd len="sm" w="sm" type="none"/>
                      <a:tailEnd len="sm" w="sm" type="none"/>
                    </a:lnT>
                    <a:lnB cap="flat" cmpd="sng" w="12700">
                      <a:solidFill>
                        <a:srgbClr val="1E3A52"/>
                      </a:solidFill>
                      <a:prstDash val="solid"/>
                      <a:round/>
                      <a:headEnd len="sm" w="sm" type="none"/>
                      <a:tailEnd len="sm" w="sm" type="none"/>
                    </a:lnB>
                    <a:solidFill>
                      <a:schemeClr val="lt1"/>
                    </a:solidFill>
                  </a:tcPr>
                </a:tc>
              </a:tr>
              <a:tr h="566925">
                <a:tc>
                  <a:txBody>
                    <a:bodyPr/>
                    <a:lstStyle/>
                    <a:p>
                      <a:pPr indent="0" lvl="0" marL="0" marR="0" rtl="0" algn="ctr">
                        <a:lnSpc>
                          <a:spcPct val="100000"/>
                        </a:lnSpc>
                        <a:spcBef>
                          <a:spcPts val="0"/>
                        </a:spcBef>
                        <a:spcAft>
                          <a:spcPts val="0"/>
                        </a:spcAft>
                        <a:buClr>
                          <a:srgbClr val="8899AA"/>
                        </a:buClr>
                        <a:buSzPts val="1100"/>
                        <a:buFont typeface="Calibri"/>
                        <a:buNone/>
                      </a:pPr>
                      <a:r>
                        <a:rPr b="1" lang="en" sz="1500" u="none" cap="none" strike="noStrike">
                          <a:latin typeface="Calibri"/>
                          <a:ea typeface="Calibri"/>
                          <a:cs typeface="Calibri"/>
                          <a:sym typeface="Calibri"/>
                        </a:rPr>
                        <a:t>High Variance</a:t>
                      </a:r>
                      <a:endParaRPr sz="1500" u="none" cap="none" strike="noStrike">
                        <a:latin typeface="Calibri"/>
                        <a:ea typeface="Calibri"/>
                        <a:cs typeface="Calibri"/>
                        <a:sym typeface="Calibri"/>
                      </a:endParaRPr>
                    </a:p>
                  </a:txBody>
                  <a:tcPr marT="45725" marB="45725" marR="91450" marL="91450">
                    <a:lnL cap="flat" cmpd="sng" w="12700">
                      <a:solidFill>
                        <a:srgbClr val="1E3A52"/>
                      </a:solidFill>
                      <a:prstDash val="solid"/>
                      <a:round/>
                      <a:headEnd len="sm" w="sm" type="none"/>
                      <a:tailEnd len="sm" w="sm" type="none"/>
                    </a:lnL>
                    <a:lnR cap="flat" cmpd="sng" w="12700">
                      <a:solidFill>
                        <a:srgbClr val="1E3A52"/>
                      </a:solidFill>
                      <a:prstDash val="solid"/>
                      <a:round/>
                      <a:headEnd len="sm" w="sm" type="none"/>
                      <a:tailEnd len="sm" w="sm" type="none"/>
                    </a:lnR>
                    <a:lnT cap="flat" cmpd="sng" w="12700">
                      <a:solidFill>
                        <a:srgbClr val="1E3A52"/>
                      </a:solidFill>
                      <a:prstDash val="solid"/>
                      <a:round/>
                      <a:headEnd len="sm" w="sm" type="none"/>
                      <a:tailEnd len="sm" w="sm" type="none"/>
                    </a:lnT>
                    <a:lnB cap="flat" cmpd="sng" w="12700">
                      <a:solidFill>
                        <a:srgbClr val="1E3A5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E0E8F0"/>
                        </a:buClr>
                        <a:buSzPts val="1100"/>
                        <a:buFont typeface="Calibri"/>
                        <a:buNone/>
                      </a:pPr>
                      <a:r>
                        <a:rPr lang="en" sz="1500" u="none" cap="none" strike="noStrike">
                          <a:solidFill>
                            <a:schemeClr val="dk1"/>
                          </a:solidFill>
                          <a:latin typeface="Calibri"/>
                          <a:ea typeface="Calibri"/>
                          <a:cs typeface="Calibri"/>
                          <a:sym typeface="Calibri"/>
                        </a:rPr>
                        <a:t>Train &gt;&gt; Val score</a:t>
                      </a:r>
                      <a:endParaRPr sz="1500" u="none" cap="none" strike="noStrike">
                        <a:solidFill>
                          <a:schemeClr val="dk1"/>
                        </a:solidFill>
                        <a:latin typeface="Calibri"/>
                        <a:ea typeface="Calibri"/>
                        <a:cs typeface="Calibri"/>
                        <a:sym typeface="Calibri"/>
                      </a:endParaRPr>
                    </a:p>
                  </a:txBody>
                  <a:tcPr marT="45725" marB="45725" marR="91450" marL="91450">
                    <a:lnL cap="flat" cmpd="sng" w="12700">
                      <a:solidFill>
                        <a:srgbClr val="1E3A52"/>
                      </a:solidFill>
                      <a:prstDash val="solid"/>
                      <a:round/>
                      <a:headEnd len="sm" w="sm" type="none"/>
                      <a:tailEnd len="sm" w="sm" type="none"/>
                    </a:lnL>
                    <a:lnR cap="flat" cmpd="sng" w="12700">
                      <a:solidFill>
                        <a:srgbClr val="1E3A52"/>
                      </a:solidFill>
                      <a:prstDash val="solid"/>
                      <a:round/>
                      <a:headEnd len="sm" w="sm" type="none"/>
                      <a:tailEnd len="sm" w="sm" type="none"/>
                    </a:lnR>
                    <a:lnT cap="flat" cmpd="sng" w="12700">
                      <a:solidFill>
                        <a:srgbClr val="1E3A52"/>
                      </a:solidFill>
                      <a:prstDash val="solid"/>
                      <a:round/>
                      <a:headEnd len="sm" w="sm" type="none"/>
                      <a:tailEnd len="sm" w="sm" type="none"/>
                    </a:lnT>
                    <a:lnB cap="flat" cmpd="sng" w="12700">
                      <a:solidFill>
                        <a:srgbClr val="1E3A5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E0E8F0"/>
                        </a:buClr>
                        <a:buSzPts val="1100"/>
                        <a:buFont typeface="Calibri"/>
                        <a:buNone/>
                      </a:pPr>
                      <a:r>
                        <a:rPr lang="en" sz="1500" u="none" cap="none" strike="noStrike">
                          <a:solidFill>
                            <a:schemeClr val="dk1"/>
                          </a:solidFill>
                          <a:latin typeface="Calibri"/>
                          <a:ea typeface="Calibri"/>
                          <a:cs typeface="Calibri"/>
                          <a:sym typeface="Calibri"/>
                        </a:rPr>
                        <a:t>L2 penalty, cross-validate</a:t>
                      </a:r>
                      <a:endParaRPr sz="1500" u="none" cap="none" strike="noStrike">
                        <a:solidFill>
                          <a:schemeClr val="dk1"/>
                        </a:solidFill>
                        <a:latin typeface="Calibri"/>
                        <a:ea typeface="Calibri"/>
                        <a:cs typeface="Calibri"/>
                        <a:sym typeface="Calibri"/>
                      </a:endParaRPr>
                    </a:p>
                  </a:txBody>
                  <a:tcPr marT="45725" marB="45725" marR="91450" marL="91450">
                    <a:lnL cap="flat" cmpd="sng" w="12700">
                      <a:solidFill>
                        <a:srgbClr val="1E3A52"/>
                      </a:solidFill>
                      <a:prstDash val="solid"/>
                      <a:round/>
                      <a:headEnd len="sm" w="sm" type="none"/>
                      <a:tailEnd len="sm" w="sm" type="none"/>
                    </a:lnL>
                    <a:lnR cap="flat" cmpd="sng" w="12700">
                      <a:solidFill>
                        <a:srgbClr val="1E3A52"/>
                      </a:solidFill>
                      <a:prstDash val="solid"/>
                      <a:round/>
                      <a:headEnd len="sm" w="sm" type="none"/>
                      <a:tailEnd len="sm" w="sm" type="none"/>
                    </a:lnR>
                    <a:lnT cap="flat" cmpd="sng" w="12700">
                      <a:solidFill>
                        <a:srgbClr val="1E3A52"/>
                      </a:solidFill>
                      <a:prstDash val="solid"/>
                      <a:round/>
                      <a:headEnd len="sm" w="sm" type="none"/>
                      <a:tailEnd len="sm" w="sm" type="none"/>
                    </a:lnT>
                    <a:lnB cap="flat" cmpd="sng" w="12700">
                      <a:solidFill>
                        <a:srgbClr val="1E3A5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9CDCFE"/>
                        </a:buClr>
                        <a:buSzPts val="1100"/>
                        <a:buFont typeface="Courier New"/>
                        <a:buNone/>
                      </a:pPr>
                      <a:r>
                        <a:rPr lang="en" sz="1500" u="none" cap="none" strike="noStrike">
                          <a:solidFill>
                            <a:srgbClr val="3D85C6"/>
                          </a:solidFill>
                          <a:latin typeface="Calibri"/>
                          <a:ea typeface="Calibri"/>
                          <a:cs typeface="Calibri"/>
                          <a:sym typeface="Calibri"/>
                        </a:rPr>
                        <a:t>Ridge(alpha), cross_val_score</a:t>
                      </a:r>
                      <a:endParaRPr sz="1500" u="none" cap="none" strike="noStrike">
                        <a:solidFill>
                          <a:srgbClr val="3D85C6"/>
                        </a:solidFill>
                        <a:latin typeface="Calibri"/>
                        <a:ea typeface="Calibri"/>
                        <a:cs typeface="Calibri"/>
                        <a:sym typeface="Calibri"/>
                      </a:endParaRPr>
                    </a:p>
                  </a:txBody>
                  <a:tcPr marT="45725" marB="45725" marR="91450" marL="91450">
                    <a:lnL cap="flat" cmpd="sng" w="12700">
                      <a:solidFill>
                        <a:srgbClr val="1E3A52"/>
                      </a:solidFill>
                      <a:prstDash val="solid"/>
                      <a:round/>
                      <a:headEnd len="sm" w="sm" type="none"/>
                      <a:tailEnd len="sm" w="sm" type="none"/>
                    </a:lnL>
                    <a:lnR cap="flat" cmpd="sng" w="12700">
                      <a:solidFill>
                        <a:srgbClr val="1E3A52"/>
                      </a:solidFill>
                      <a:prstDash val="solid"/>
                      <a:round/>
                      <a:headEnd len="sm" w="sm" type="none"/>
                      <a:tailEnd len="sm" w="sm" type="none"/>
                    </a:lnR>
                    <a:lnT cap="flat" cmpd="sng" w="12700">
                      <a:solidFill>
                        <a:srgbClr val="1E3A52"/>
                      </a:solidFill>
                      <a:prstDash val="solid"/>
                      <a:round/>
                      <a:headEnd len="sm" w="sm" type="none"/>
                      <a:tailEnd len="sm" w="sm" type="none"/>
                    </a:lnT>
                    <a:lnB cap="flat" cmpd="sng" w="12700">
                      <a:solidFill>
                        <a:srgbClr val="1E3A52"/>
                      </a:solidFill>
                      <a:prstDash val="solid"/>
                      <a:round/>
                      <a:headEnd len="sm" w="sm" type="none"/>
                      <a:tailEnd len="sm" w="sm" type="none"/>
                    </a:lnB>
                    <a:solidFill>
                      <a:schemeClr val="lt1"/>
                    </a:solidFill>
                  </a:tcPr>
                </a:tc>
              </a:tr>
              <a:tr h="566925">
                <a:tc>
                  <a:txBody>
                    <a:bodyPr/>
                    <a:lstStyle/>
                    <a:p>
                      <a:pPr indent="0" lvl="0" marL="0" marR="0" rtl="0" algn="ctr">
                        <a:lnSpc>
                          <a:spcPct val="100000"/>
                        </a:lnSpc>
                        <a:spcBef>
                          <a:spcPts val="0"/>
                        </a:spcBef>
                        <a:spcAft>
                          <a:spcPts val="0"/>
                        </a:spcAft>
                        <a:buClr>
                          <a:srgbClr val="8899AA"/>
                        </a:buClr>
                        <a:buSzPts val="1100"/>
                        <a:buFont typeface="Calibri"/>
                        <a:buNone/>
                      </a:pPr>
                      <a:r>
                        <a:rPr b="1" lang="en" sz="1500" u="none" cap="none" strike="noStrike">
                          <a:latin typeface="Calibri"/>
                          <a:ea typeface="Calibri"/>
                          <a:cs typeface="Calibri"/>
                          <a:sym typeface="Calibri"/>
                        </a:rPr>
                        <a:t>High Bias</a:t>
                      </a:r>
                      <a:endParaRPr sz="1500" u="none" cap="none" strike="noStrike">
                        <a:latin typeface="Calibri"/>
                        <a:ea typeface="Calibri"/>
                        <a:cs typeface="Calibri"/>
                        <a:sym typeface="Calibri"/>
                      </a:endParaRPr>
                    </a:p>
                  </a:txBody>
                  <a:tcPr marT="45725" marB="45725" marR="91450" marL="91450">
                    <a:lnL cap="flat" cmpd="sng" w="12700">
                      <a:solidFill>
                        <a:srgbClr val="1E3A52"/>
                      </a:solidFill>
                      <a:prstDash val="solid"/>
                      <a:round/>
                      <a:headEnd len="sm" w="sm" type="none"/>
                      <a:tailEnd len="sm" w="sm" type="none"/>
                    </a:lnL>
                    <a:lnR cap="flat" cmpd="sng" w="12700">
                      <a:solidFill>
                        <a:srgbClr val="1E3A52"/>
                      </a:solidFill>
                      <a:prstDash val="solid"/>
                      <a:round/>
                      <a:headEnd len="sm" w="sm" type="none"/>
                      <a:tailEnd len="sm" w="sm" type="none"/>
                    </a:lnR>
                    <a:lnT cap="flat" cmpd="sng" w="12700">
                      <a:solidFill>
                        <a:srgbClr val="1E3A52"/>
                      </a:solidFill>
                      <a:prstDash val="solid"/>
                      <a:round/>
                      <a:headEnd len="sm" w="sm" type="none"/>
                      <a:tailEnd len="sm" w="sm" type="none"/>
                    </a:lnT>
                    <a:lnB cap="flat" cmpd="sng" w="12700">
                      <a:solidFill>
                        <a:srgbClr val="1E3A5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E0E8F0"/>
                        </a:buClr>
                        <a:buSzPts val="1100"/>
                        <a:buFont typeface="Calibri"/>
                        <a:buNone/>
                      </a:pPr>
                      <a:r>
                        <a:rPr lang="en" sz="1500" u="none" cap="none" strike="noStrike">
                          <a:solidFill>
                            <a:schemeClr val="dk1"/>
                          </a:solidFill>
                          <a:latin typeface="Calibri"/>
                          <a:ea typeface="Calibri"/>
                          <a:cs typeface="Calibri"/>
                          <a:sym typeface="Calibri"/>
                        </a:rPr>
                        <a:t>Both scores low</a:t>
                      </a:r>
                      <a:endParaRPr sz="1500" u="none" cap="none" strike="noStrike">
                        <a:solidFill>
                          <a:schemeClr val="dk1"/>
                        </a:solidFill>
                        <a:latin typeface="Calibri"/>
                        <a:ea typeface="Calibri"/>
                        <a:cs typeface="Calibri"/>
                        <a:sym typeface="Calibri"/>
                      </a:endParaRPr>
                    </a:p>
                  </a:txBody>
                  <a:tcPr marT="45725" marB="45725" marR="91450" marL="91450">
                    <a:lnL cap="flat" cmpd="sng" w="12700">
                      <a:solidFill>
                        <a:srgbClr val="1E3A52"/>
                      </a:solidFill>
                      <a:prstDash val="solid"/>
                      <a:round/>
                      <a:headEnd len="sm" w="sm" type="none"/>
                      <a:tailEnd len="sm" w="sm" type="none"/>
                    </a:lnL>
                    <a:lnR cap="flat" cmpd="sng" w="12700">
                      <a:solidFill>
                        <a:srgbClr val="1E3A52"/>
                      </a:solidFill>
                      <a:prstDash val="solid"/>
                      <a:round/>
                      <a:headEnd len="sm" w="sm" type="none"/>
                      <a:tailEnd len="sm" w="sm" type="none"/>
                    </a:lnR>
                    <a:lnT cap="flat" cmpd="sng" w="12700">
                      <a:solidFill>
                        <a:srgbClr val="1E3A52"/>
                      </a:solidFill>
                      <a:prstDash val="solid"/>
                      <a:round/>
                      <a:headEnd len="sm" w="sm" type="none"/>
                      <a:tailEnd len="sm" w="sm" type="none"/>
                    </a:lnT>
                    <a:lnB cap="flat" cmpd="sng" w="12700">
                      <a:solidFill>
                        <a:srgbClr val="1E3A5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E0E8F0"/>
                        </a:buClr>
                        <a:buSzPts val="1100"/>
                        <a:buFont typeface="Calibri"/>
                        <a:buNone/>
                      </a:pPr>
                      <a:r>
                        <a:rPr lang="en" sz="1500" u="none" cap="none" strike="noStrike">
                          <a:solidFill>
                            <a:schemeClr val="dk1"/>
                          </a:solidFill>
                          <a:latin typeface="Calibri"/>
                          <a:ea typeface="Calibri"/>
                          <a:cs typeface="Calibri"/>
                          <a:sym typeface="Calibri"/>
                        </a:rPr>
                        <a:t>Add polynomial features, tune model class</a:t>
                      </a:r>
                      <a:endParaRPr sz="1500" u="none" cap="none" strike="noStrike">
                        <a:solidFill>
                          <a:schemeClr val="dk1"/>
                        </a:solidFill>
                        <a:latin typeface="Calibri"/>
                        <a:ea typeface="Calibri"/>
                        <a:cs typeface="Calibri"/>
                        <a:sym typeface="Calibri"/>
                      </a:endParaRPr>
                    </a:p>
                  </a:txBody>
                  <a:tcPr marT="45725" marB="45725" marR="91450" marL="91450">
                    <a:lnL cap="flat" cmpd="sng" w="12700">
                      <a:solidFill>
                        <a:srgbClr val="1E3A52"/>
                      </a:solidFill>
                      <a:prstDash val="solid"/>
                      <a:round/>
                      <a:headEnd len="sm" w="sm" type="none"/>
                      <a:tailEnd len="sm" w="sm" type="none"/>
                    </a:lnL>
                    <a:lnR cap="flat" cmpd="sng" w="12700">
                      <a:solidFill>
                        <a:srgbClr val="1E3A52"/>
                      </a:solidFill>
                      <a:prstDash val="solid"/>
                      <a:round/>
                      <a:headEnd len="sm" w="sm" type="none"/>
                      <a:tailEnd len="sm" w="sm" type="none"/>
                    </a:lnR>
                    <a:lnT cap="flat" cmpd="sng" w="12700">
                      <a:solidFill>
                        <a:srgbClr val="1E3A52"/>
                      </a:solidFill>
                      <a:prstDash val="solid"/>
                      <a:round/>
                      <a:headEnd len="sm" w="sm" type="none"/>
                      <a:tailEnd len="sm" w="sm" type="none"/>
                    </a:lnT>
                    <a:lnB cap="flat" cmpd="sng" w="12700">
                      <a:solidFill>
                        <a:srgbClr val="1E3A5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9CDCFE"/>
                        </a:buClr>
                        <a:buSzPts val="1100"/>
                        <a:buFont typeface="Courier New"/>
                        <a:buNone/>
                      </a:pPr>
                      <a:r>
                        <a:rPr lang="en" sz="1500" u="none" cap="none" strike="noStrike">
                          <a:solidFill>
                            <a:srgbClr val="3D85C6"/>
                          </a:solidFill>
                          <a:latin typeface="Calibri"/>
                          <a:ea typeface="Calibri"/>
                          <a:cs typeface="Calibri"/>
                          <a:sym typeface="Calibri"/>
                        </a:rPr>
                        <a:t>PolynomialFeatures(degree=↑)</a:t>
                      </a:r>
                      <a:endParaRPr sz="1500" u="none" cap="none" strike="noStrike">
                        <a:solidFill>
                          <a:srgbClr val="3D85C6"/>
                        </a:solidFill>
                        <a:latin typeface="Calibri"/>
                        <a:ea typeface="Calibri"/>
                        <a:cs typeface="Calibri"/>
                        <a:sym typeface="Calibri"/>
                      </a:endParaRPr>
                    </a:p>
                  </a:txBody>
                  <a:tcPr marT="45725" marB="45725" marR="91450" marL="91450">
                    <a:lnL cap="flat" cmpd="sng" w="12700">
                      <a:solidFill>
                        <a:srgbClr val="1E3A52"/>
                      </a:solidFill>
                      <a:prstDash val="solid"/>
                      <a:round/>
                      <a:headEnd len="sm" w="sm" type="none"/>
                      <a:tailEnd len="sm" w="sm" type="none"/>
                    </a:lnL>
                    <a:lnR cap="flat" cmpd="sng" w="12700">
                      <a:solidFill>
                        <a:srgbClr val="1E3A52"/>
                      </a:solidFill>
                      <a:prstDash val="solid"/>
                      <a:round/>
                      <a:headEnd len="sm" w="sm" type="none"/>
                      <a:tailEnd len="sm" w="sm" type="none"/>
                    </a:lnR>
                    <a:lnT cap="flat" cmpd="sng" w="12700">
                      <a:solidFill>
                        <a:srgbClr val="1E3A52"/>
                      </a:solidFill>
                      <a:prstDash val="solid"/>
                      <a:round/>
                      <a:headEnd len="sm" w="sm" type="none"/>
                      <a:tailEnd len="sm" w="sm" type="none"/>
                    </a:lnT>
                    <a:lnB cap="flat" cmpd="sng" w="12700">
                      <a:solidFill>
                        <a:srgbClr val="1E3A52"/>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63" name="Shape 763"/>
        <p:cNvGrpSpPr/>
        <p:nvPr/>
      </p:nvGrpSpPr>
      <p:grpSpPr>
        <a:xfrm>
          <a:off x="0" y="0"/>
          <a:ext cx="0" cy="0"/>
          <a:chOff x="0" y="0"/>
          <a:chExt cx="0" cy="0"/>
        </a:xfrm>
      </p:grpSpPr>
      <p:pic>
        <p:nvPicPr>
          <p:cNvPr id="764" name="Google Shape;764;p17"/>
          <p:cNvPicPr preferRelativeResize="0"/>
          <p:nvPr/>
        </p:nvPicPr>
        <p:blipFill rotWithShape="1">
          <a:blip r:embed="rId4">
            <a:alphaModFix/>
          </a:blip>
          <a:srcRect b="0" l="0" r="0" t="0"/>
          <a:stretch/>
        </p:blipFill>
        <p:spPr>
          <a:xfrm>
            <a:off x="8369125" y="0"/>
            <a:ext cx="774877" cy="867174"/>
          </a:xfrm>
          <a:prstGeom prst="rect">
            <a:avLst/>
          </a:prstGeom>
          <a:noFill/>
          <a:ln>
            <a:noFill/>
          </a:ln>
        </p:spPr>
      </p:pic>
      <p:sp>
        <p:nvSpPr>
          <p:cNvPr id="765" name="Google Shape;765;p17"/>
          <p:cNvSpPr/>
          <p:nvPr/>
        </p:nvSpPr>
        <p:spPr>
          <a:xfrm>
            <a:off x="365760" y="164592"/>
            <a:ext cx="7863900" cy="5943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A237E"/>
              </a:buClr>
              <a:buSzPts val="3000"/>
              <a:buFont typeface="Calibri"/>
              <a:buNone/>
            </a:pPr>
            <a:r>
              <a:rPr b="1" i="0" lang="en" sz="3000" u="none" cap="none" strike="noStrike">
                <a:solidFill>
                  <a:srgbClr val="1A237E"/>
                </a:solidFill>
                <a:latin typeface="Calibri"/>
                <a:ea typeface="Calibri"/>
                <a:cs typeface="Calibri"/>
                <a:sym typeface="Calibri"/>
              </a:rPr>
              <a:t>The Bias-Variance Tradeoff</a:t>
            </a:r>
            <a:endParaRPr b="0" i="0" sz="3000" u="none" cap="none" strike="noStrike">
              <a:solidFill>
                <a:srgbClr val="000000"/>
              </a:solidFill>
              <a:latin typeface="Calibri"/>
              <a:ea typeface="Calibri"/>
              <a:cs typeface="Calibri"/>
              <a:sym typeface="Calibri"/>
            </a:endParaRPr>
          </a:p>
        </p:txBody>
      </p:sp>
      <p:sp>
        <p:nvSpPr>
          <p:cNvPr id="766" name="Google Shape;766;p17"/>
          <p:cNvSpPr/>
          <p:nvPr/>
        </p:nvSpPr>
        <p:spPr>
          <a:xfrm>
            <a:off x="274383" y="1011663"/>
            <a:ext cx="3931800" cy="2103000"/>
          </a:xfrm>
          <a:prstGeom prst="rect">
            <a:avLst/>
          </a:prstGeom>
          <a:solidFill>
            <a:srgbClr val="FFF3E0"/>
          </a:solidFill>
          <a:ln cap="flat" cmpd="sng" w="12700">
            <a:solidFill>
              <a:srgbClr val="FFCC80"/>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767" name="Google Shape;767;p17"/>
          <p:cNvSpPr/>
          <p:nvPr/>
        </p:nvSpPr>
        <p:spPr>
          <a:xfrm>
            <a:off x="274383" y="1011663"/>
            <a:ext cx="3931800" cy="438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500"/>
              <a:buFont typeface="Calibri"/>
              <a:buNone/>
            </a:pPr>
            <a:r>
              <a:rPr b="1" i="0" lang="en" sz="1500" u="none" cap="none" strike="noStrike">
                <a:solidFill>
                  <a:schemeClr val="dk1"/>
                </a:solidFill>
                <a:latin typeface="Calibri"/>
                <a:ea typeface="Calibri"/>
                <a:cs typeface="Calibri"/>
                <a:sym typeface="Calibri"/>
              </a:rPr>
              <a:t>High Bias  =  Underfitting</a:t>
            </a:r>
            <a:endParaRPr b="0" i="0" sz="1500" u="none" cap="none" strike="noStrike">
              <a:solidFill>
                <a:schemeClr val="dk1"/>
              </a:solidFill>
              <a:latin typeface="Calibri"/>
              <a:ea typeface="Calibri"/>
              <a:cs typeface="Calibri"/>
              <a:sym typeface="Calibri"/>
            </a:endParaRPr>
          </a:p>
        </p:txBody>
      </p:sp>
      <p:sp>
        <p:nvSpPr>
          <p:cNvPr id="768" name="Google Shape;768;p17"/>
          <p:cNvSpPr/>
          <p:nvPr/>
        </p:nvSpPr>
        <p:spPr>
          <a:xfrm>
            <a:off x="457263" y="1523727"/>
            <a:ext cx="3566100" cy="1463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250"/>
              <a:buFont typeface="Calibri"/>
              <a:buNone/>
            </a:pPr>
            <a:r>
              <a:rPr b="0" i="0" lang="en" sz="1250" u="none" cap="none" strike="noStrike">
                <a:solidFill>
                  <a:schemeClr val="dk1"/>
                </a:solidFill>
                <a:latin typeface="Calibri"/>
                <a:ea typeface="Calibri"/>
                <a:cs typeface="Calibri"/>
                <a:sym typeface="Calibri"/>
              </a:rPr>
              <a:t>Model assumptions are too rigid.</a:t>
            </a:r>
            <a:endParaRPr b="0" i="0" sz="12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37474F"/>
              </a:buClr>
              <a:buSzPts val="1250"/>
              <a:buFont typeface="Calibri"/>
              <a:buNone/>
            </a:pPr>
            <a:r>
              <a:rPr b="0" i="0" lang="en" sz="1250" u="none" cap="none" strike="noStrike">
                <a:solidFill>
                  <a:schemeClr val="dk1"/>
                </a:solidFill>
                <a:latin typeface="Calibri"/>
                <a:ea typeface="Calibri"/>
                <a:cs typeface="Calibri"/>
                <a:sym typeface="Calibri"/>
              </a:rPr>
              <a:t>Cannot capture patterns → high error on both train and test.</a:t>
            </a:r>
            <a:endParaRPr b="0" i="0" sz="12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37474F"/>
              </a:buClr>
              <a:buSzPts val="1250"/>
              <a:buFont typeface="Calibri"/>
              <a:buNone/>
            </a:pPr>
            <a:r>
              <a:rPr b="0" i="0" lang="en" sz="1250" u="none" cap="none" strike="noStrike">
                <a:solidFill>
                  <a:schemeClr val="dk1"/>
                </a:solidFill>
                <a:latin typeface="Calibri"/>
                <a:ea typeface="Calibri"/>
                <a:cs typeface="Calibri"/>
                <a:sym typeface="Calibri"/>
              </a:rPr>
              <a:t>Like fitting a straight line through a curved dataset.</a:t>
            </a:r>
            <a:endParaRPr b="0" i="0" sz="1250" u="none" cap="none" strike="noStrike">
              <a:solidFill>
                <a:schemeClr val="dk1"/>
              </a:solidFill>
              <a:latin typeface="Calibri"/>
              <a:ea typeface="Calibri"/>
              <a:cs typeface="Calibri"/>
              <a:sym typeface="Calibri"/>
            </a:endParaRPr>
          </a:p>
        </p:txBody>
      </p:sp>
      <p:sp>
        <p:nvSpPr>
          <p:cNvPr id="769" name="Google Shape;769;p17"/>
          <p:cNvSpPr/>
          <p:nvPr/>
        </p:nvSpPr>
        <p:spPr>
          <a:xfrm>
            <a:off x="4937823" y="1011663"/>
            <a:ext cx="3931800" cy="2103000"/>
          </a:xfrm>
          <a:prstGeom prst="rect">
            <a:avLst/>
          </a:prstGeom>
          <a:solidFill>
            <a:srgbClr val="FFEBEE"/>
          </a:solidFill>
          <a:ln cap="flat" cmpd="sng" w="12700">
            <a:solidFill>
              <a:srgbClr val="EF9A9A"/>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770" name="Google Shape;770;p17"/>
          <p:cNvSpPr/>
          <p:nvPr/>
        </p:nvSpPr>
        <p:spPr>
          <a:xfrm>
            <a:off x="4937823" y="1011663"/>
            <a:ext cx="3931800" cy="438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500"/>
              <a:buFont typeface="Calibri"/>
              <a:buNone/>
            </a:pPr>
            <a:r>
              <a:rPr b="1" i="0" lang="en" sz="1500" u="none" cap="none" strike="noStrike">
                <a:solidFill>
                  <a:schemeClr val="dk1"/>
                </a:solidFill>
                <a:latin typeface="Calibri"/>
                <a:ea typeface="Calibri"/>
                <a:cs typeface="Calibri"/>
                <a:sym typeface="Calibri"/>
              </a:rPr>
              <a:t>High Variance  =  Overfitting</a:t>
            </a:r>
            <a:endParaRPr b="0" i="0" sz="1500" u="none" cap="none" strike="noStrike">
              <a:solidFill>
                <a:schemeClr val="dk1"/>
              </a:solidFill>
              <a:latin typeface="Calibri"/>
              <a:ea typeface="Calibri"/>
              <a:cs typeface="Calibri"/>
              <a:sym typeface="Calibri"/>
            </a:endParaRPr>
          </a:p>
        </p:txBody>
      </p:sp>
      <p:sp>
        <p:nvSpPr>
          <p:cNvPr id="771" name="Google Shape;771;p17"/>
          <p:cNvSpPr/>
          <p:nvPr/>
        </p:nvSpPr>
        <p:spPr>
          <a:xfrm>
            <a:off x="5120702" y="1523727"/>
            <a:ext cx="3566100" cy="1463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250"/>
              <a:buFont typeface="Calibri"/>
              <a:buNone/>
            </a:pPr>
            <a:r>
              <a:rPr b="0" i="0" lang="en" sz="1250" u="none" cap="none" strike="noStrike">
                <a:solidFill>
                  <a:schemeClr val="dk1"/>
                </a:solidFill>
                <a:latin typeface="Calibri"/>
                <a:ea typeface="Calibri"/>
                <a:cs typeface="Calibri"/>
                <a:sym typeface="Calibri"/>
              </a:rPr>
              <a:t>Model is too sensitive to training data.</a:t>
            </a:r>
            <a:endParaRPr b="0" i="0" sz="12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37474F"/>
              </a:buClr>
              <a:buSzPts val="1250"/>
              <a:buFont typeface="Calibri"/>
              <a:buNone/>
            </a:pPr>
            <a:r>
              <a:rPr b="0" i="0" lang="en" sz="1250" u="none" cap="none" strike="noStrike">
                <a:solidFill>
                  <a:schemeClr val="dk1"/>
                </a:solidFill>
                <a:latin typeface="Calibri"/>
                <a:ea typeface="Calibri"/>
                <a:cs typeface="Calibri"/>
                <a:sym typeface="Calibri"/>
              </a:rPr>
              <a:t>Captures noise as if it were signal → low train error, high test error.</a:t>
            </a:r>
            <a:endParaRPr b="0" i="0" sz="12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37474F"/>
              </a:buClr>
              <a:buSzPts val="1250"/>
              <a:buFont typeface="Calibri"/>
              <a:buNone/>
            </a:pPr>
            <a:r>
              <a:rPr b="0" i="0" lang="en" sz="1250" u="none" cap="none" strike="noStrike">
                <a:solidFill>
                  <a:schemeClr val="dk1"/>
                </a:solidFill>
                <a:latin typeface="Calibri"/>
                <a:ea typeface="Calibri"/>
                <a:cs typeface="Calibri"/>
                <a:sym typeface="Calibri"/>
              </a:rPr>
              <a:t>Like a complex curve that passes through every point.</a:t>
            </a:r>
            <a:endParaRPr b="0" i="0" sz="1250" u="none" cap="none" strike="noStrike">
              <a:solidFill>
                <a:schemeClr val="dk1"/>
              </a:solidFill>
              <a:latin typeface="Calibri"/>
              <a:ea typeface="Calibri"/>
              <a:cs typeface="Calibri"/>
              <a:sym typeface="Calibri"/>
            </a:endParaRPr>
          </a:p>
        </p:txBody>
      </p:sp>
      <p:sp>
        <p:nvSpPr>
          <p:cNvPr id="772" name="Google Shape;772;p17"/>
          <p:cNvSpPr/>
          <p:nvPr/>
        </p:nvSpPr>
        <p:spPr>
          <a:xfrm>
            <a:off x="1371663" y="3297663"/>
            <a:ext cx="6400800" cy="1645800"/>
          </a:xfrm>
          <a:prstGeom prst="rect">
            <a:avLst/>
          </a:prstGeom>
          <a:solidFill>
            <a:srgbClr val="E8F5E9"/>
          </a:solidFill>
          <a:ln cap="flat" cmpd="sng" w="12700">
            <a:solidFill>
              <a:srgbClr val="A5D6A7"/>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773" name="Google Shape;773;p17"/>
          <p:cNvSpPr/>
          <p:nvPr/>
        </p:nvSpPr>
        <p:spPr>
          <a:xfrm>
            <a:off x="1371663" y="3297663"/>
            <a:ext cx="6400800" cy="438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Calibri"/>
              <a:buNone/>
            </a:pPr>
            <a:r>
              <a:rPr b="1" i="0" lang="en" sz="1600" u="none" cap="none" strike="noStrike">
                <a:solidFill>
                  <a:schemeClr val="dk1"/>
                </a:solidFill>
                <a:latin typeface="Calibri"/>
                <a:ea typeface="Calibri"/>
                <a:cs typeface="Calibri"/>
                <a:sym typeface="Calibri"/>
              </a:rPr>
              <a:t>The Sweet Spot — Good Fit</a:t>
            </a:r>
            <a:endParaRPr b="0" i="0" sz="1600" u="none" cap="none" strike="noStrike">
              <a:solidFill>
                <a:schemeClr val="dk1"/>
              </a:solidFill>
              <a:latin typeface="Calibri"/>
              <a:ea typeface="Calibri"/>
              <a:cs typeface="Calibri"/>
              <a:sym typeface="Calibri"/>
            </a:endParaRPr>
          </a:p>
        </p:txBody>
      </p:sp>
      <p:sp>
        <p:nvSpPr>
          <p:cNvPr id="774" name="Google Shape;774;p17"/>
          <p:cNvSpPr/>
          <p:nvPr/>
        </p:nvSpPr>
        <p:spPr>
          <a:xfrm>
            <a:off x="1554543" y="3809727"/>
            <a:ext cx="6035100" cy="1005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37474F"/>
              </a:buClr>
              <a:buSzPts val="1300"/>
              <a:buFont typeface="Calibri"/>
              <a:buNone/>
            </a:pPr>
            <a:r>
              <a:rPr b="0" i="0" lang="en" sz="1300" u="none" cap="none" strike="noStrike">
                <a:solidFill>
                  <a:schemeClr val="dk1"/>
                </a:solidFill>
                <a:latin typeface="Calibri"/>
                <a:ea typeface="Calibri"/>
                <a:cs typeface="Calibri"/>
                <a:sym typeface="Calibri"/>
              </a:rPr>
              <a:t>Balance bias and variance by tuning hyperparameters, regularizing the model, and validating carefully on held-out data. Monitored via the gap between Training Loss and Validation Loss.</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78" name="Shape 778"/>
        <p:cNvGrpSpPr/>
        <p:nvPr/>
      </p:nvGrpSpPr>
      <p:grpSpPr>
        <a:xfrm>
          <a:off x="0" y="0"/>
          <a:ext cx="0" cy="0"/>
          <a:chOff x="0" y="0"/>
          <a:chExt cx="0" cy="0"/>
        </a:xfrm>
      </p:grpSpPr>
      <p:pic>
        <p:nvPicPr>
          <p:cNvPr id="779" name="Google Shape;779;p18"/>
          <p:cNvPicPr preferRelativeResize="0"/>
          <p:nvPr/>
        </p:nvPicPr>
        <p:blipFill rotWithShape="1">
          <a:blip r:embed="rId4">
            <a:alphaModFix/>
          </a:blip>
          <a:srcRect b="0" l="0" r="0" t="0"/>
          <a:stretch/>
        </p:blipFill>
        <p:spPr>
          <a:xfrm>
            <a:off x="8369125" y="0"/>
            <a:ext cx="774877" cy="867174"/>
          </a:xfrm>
          <a:prstGeom prst="rect">
            <a:avLst/>
          </a:prstGeom>
          <a:noFill/>
          <a:ln>
            <a:noFill/>
          </a:ln>
        </p:spPr>
      </p:pic>
      <p:sp>
        <p:nvSpPr>
          <p:cNvPr id="780" name="Google Shape;780;p18"/>
          <p:cNvSpPr/>
          <p:nvPr/>
        </p:nvSpPr>
        <p:spPr>
          <a:xfrm>
            <a:off x="365760" y="164592"/>
            <a:ext cx="7863900" cy="5943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A237E"/>
              </a:buClr>
              <a:buSzPts val="3000"/>
              <a:buFont typeface="Calibri"/>
              <a:buNone/>
            </a:pPr>
            <a:r>
              <a:rPr b="1" i="0" lang="en" sz="3000" u="none" cap="none" strike="noStrike">
                <a:solidFill>
                  <a:srgbClr val="1A237E"/>
                </a:solidFill>
                <a:latin typeface="Calibri"/>
                <a:ea typeface="Calibri"/>
                <a:cs typeface="Calibri"/>
                <a:sym typeface="Calibri"/>
              </a:rPr>
              <a:t>Detecting Overfitting — Train vs Validation Loss</a:t>
            </a:r>
            <a:endParaRPr b="0" i="0" sz="3000" u="none" cap="none" strike="noStrike">
              <a:solidFill>
                <a:srgbClr val="000000"/>
              </a:solidFill>
              <a:latin typeface="Calibri"/>
              <a:ea typeface="Calibri"/>
              <a:cs typeface="Calibri"/>
              <a:sym typeface="Calibri"/>
            </a:endParaRPr>
          </a:p>
        </p:txBody>
      </p:sp>
      <p:sp>
        <p:nvSpPr>
          <p:cNvPr id="781" name="Google Shape;781;p18"/>
          <p:cNvSpPr/>
          <p:nvPr/>
        </p:nvSpPr>
        <p:spPr>
          <a:xfrm>
            <a:off x="274320" y="960120"/>
            <a:ext cx="5029200" cy="1645800"/>
          </a:xfrm>
          <a:prstGeom prst="rect">
            <a:avLst/>
          </a:prstGeom>
          <a:solidFill>
            <a:srgbClr val="FFEBEE"/>
          </a:solidFill>
          <a:ln cap="flat" cmpd="sng" w="12700">
            <a:solidFill>
              <a:srgbClr val="EF9A9A"/>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782" name="Google Shape;782;p18"/>
          <p:cNvSpPr/>
          <p:nvPr/>
        </p:nvSpPr>
        <p:spPr>
          <a:xfrm>
            <a:off x="274320" y="960120"/>
            <a:ext cx="5029200" cy="420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400"/>
              <a:buFont typeface="Calibri"/>
              <a:buNone/>
            </a:pPr>
            <a:r>
              <a:rPr b="1" i="0" lang="en" sz="1400" u="none" cap="none" strike="noStrike">
                <a:solidFill>
                  <a:schemeClr val="dk1"/>
                </a:solidFill>
                <a:latin typeface="Calibri"/>
                <a:ea typeface="Calibri"/>
                <a:cs typeface="Calibri"/>
                <a:sym typeface="Calibri"/>
              </a:rPr>
              <a:t>Train loss ↓  but  Val loss ↑</a:t>
            </a:r>
            <a:endParaRPr b="0" i="0" sz="1400" u="none" cap="none" strike="noStrike">
              <a:solidFill>
                <a:schemeClr val="dk1"/>
              </a:solidFill>
              <a:latin typeface="Calibri"/>
              <a:ea typeface="Calibri"/>
              <a:cs typeface="Calibri"/>
              <a:sym typeface="Calibri"/>
            </a:endParaRPr>
          </a:p>
        </p:txBody>
      </p:sp>
      <p:sp>
        <p:nvSpPr>
          <p:cNvPr id="783" name="Google Shape;783;p18"/>
          <p:cNvSpPr/>
          <p:nvPr/>
        </p:nvSpPr>
        <p:spPr>
          <a:xfrm>
            <a:off x="457200" y="1435608"/>
            <a:ext cx="4663500" cy="1097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250"/>
              <a:buFont typeface="Calibri"/>
              <a:buNone/>
            </a:pPr>
            <a:r>
              <a:rPr b="0" i="0" lang="en" sz="1250" u="none" cap="none" strike="noStrike">
                <a:solidFill>
                  <a:schemeClr val="dk1"/>
                </a:solidFill>
                <a:latin typeface="Calibri"/>
                <a:ea typeface="Calibri"/>
                <a:cs typeface="Calibri"/>
                <a:sym typeface="Calibri"/>
              </a:rPr>
              <a:t>Classic overfitting signal. Model memorizes training data and fails to generalize. → Stop early or add regularization.</a:t>
            </a:r>
            <a:endParaRPr b="0" i="0" sz="1250" u="none" cap="none" strike="noStrike">
              <a:solidFill>
                <a:schemeClr val="dk1"/>
              </a:solidFill>
              <a:latin typeface="Calibri"/>
              <a:ea typeface="Calibri"/>
              <a:cs typeface="Calibri"/>
              <a:sym typeface="Calibri"/>
            </a:endParaRPr>
          </a:p>
        </p:txBody>
      </p:sp>
      <p:sp>
        <p:nvSpPr>
          <p:cNvPr id="784" name="Google Shape;784;p18"/>
          <p:cNvSpPr/>
          <p:nvPr/>
        </p:nvSpPr>
        <p:spPr>
          <a:xfrm>
            <a:off x="274320" y="2788920"/>
            <a:ext cx="5029200" cy="1645800"/>
          </a:xfrm>
          <a:prstGeom prst="rect">
            <a:avLst/>
          </a:prstGeom>
          <a:solidFill>
            <a:srgbClr val="FFF3E0"/>
          </a:solidFill>
          <a:ln cap="flat" cmpd="sng" w="12700">
            <a:solidFill>
              <a:srgbClr val="FFCC80"/>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785" name="Google Shape;785;p18"/>
          <p:cNvSpPr/>
          <p:nvPr/>
        </p:nvSpPr>
        <p:spPr>
          <a:xfrm>
            <a:off x="274320" y="2788920"/>
            <a:ext cx="5029200" cy="420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400"/>
              <a:buFont typeface="Calibri"/>
              <a:buNone/>
            </a:pPr>
            <a:r>
              <a:rPr b="1" i="0" lang="en" sz="1400" u="none" cap="none" strike="noStrike">
                <a:solidFill>
                  <a:schemeClr val="dk1"/>
                </a:solidFill>
                <a:latin typeface="Calibri"/>
                <a:ea typeface="Calibri"/>
                <a:cs typeface="Calibri"/>
                <a:sym typeface="Calibri"/>
              </a:rPr>
              <a:t>Both losses staying high</a:t>
            </a:r>
            <a:endParaRPr b="0" i="0" sz="1400" u="none" cap="none" strike="noStrike">
              <a:solidFill>
                <a:schemeClr val="dk1"/>
              </a:solidFill>
              <a:latin typeface="Calibri"/>
              <a:ea typeface="Calibri"/>
              <a:cs typeface="Calibri"/>
              <a:sym typeface="Calibri"/>
            </a:endParaRPr>
          </a:p>
        </p:txBody>
      </p:sp>
      <p:sp>
        <p:nvSpPr>
          <p:cNvPr id="786" name="Google Shape;786;p18"/>
          <p:cNvSpPr/>
          <p:nvPr/>
        </p:nvSpPr>
        <p:spPr>
          <a:xfrm>
            <a:off x="457200" y="3264408"/>
            <a:ext cx="4663500" cy="1097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250"/>
              <a:buFont typeface="Calibri"/>
              <a:buNone/>
            </a:pPr>
            <a:r>
              <a:rPr b="0" i="0" lang="en" sz="1250" u="none" cap="none" strike="noStrike">
                <a:solidFill>
                  <a:schemeClr val="dk1"/>
                </a:solidFill>
                <a:latin typeface="Calibri"/>
                <a:ea typeface="Calibri"/>
                <a:cs typeface="Calibri"/>
                <a:sym typeface="Calibri"/>
              </a:rPr>
              <a:t>Classic underfitting signal. Model lacks capacity to learn the task. → Increase model complexity or train longer.</a:t>
            </a:r>
            <a:endParaRPr b="0" i="0" sz="1250" u="none" cap="none" strike="noStrike">
              <a:solidFill>
                <a:schemeClr val="dk1"/>
              </a:solidFill>
              <a:latin typeface="Calibri"/>
              <a:ea typeface="Calibri"/>
              <a:cs typeface="Calibri"/>
              <a:sym typeface="Calibri"/>
            </a:endParaRPr>
          </a:p>
        </p:txBody>
      </p:sp>
      <p:sp>
        <p:nvSpPr>
          <p:cNvPr id="787" name="Google Shape;787;p18"/>
          <p:cNvSpPr/>
          <p:nvPr/>
        </p:nvSpPr>
        <p:spPr>
          <a:xfrm>
            <a:off x="5486400" y="960120"/>
            <a:ext cx="3383400" cy="3474600"/>
          </a:xfrm>
          <a:prstGeom prst="rect">
            <a:avLst/>
          </a:prstGeom>
          <a:solidFill>
            <a:srgbClr val="E0F7FA"/>
          </a:solidFill>
          <a:ln cap="flat" cmpd="sng" w="12700">
            <a:solidFill>
              <a:srgbClr val="80DEEA"/>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788" name="Google Shape;788;p18"/>
          <p:cNvSpPr/>
          <p:nvPr/>
        </p:nvSpPr>
        <p:spPr>
          <a:xfrm>
            <a:off x="5486400" y="960120"/>
            <a:ext cx="3383400" cy="420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500"/>
              <a:buFont typeface="Calibri"/>
              <a:buNone/>
            </a:pPr>
            <a:r>
              <a:rPr b="1" i="0" lang="en" sz="1500" u="none" cap="none" strike="noStrike">
                <a:solidFill>
                  <a:schemeClr val="dk1"/>
                </a:solidFill>
                <a:latin typeface="Calibri"/>
                <a:ea typeface="Calibri"/>
                <a:cs typeface="Calibri"/>
                <a:sym typeface="Calibri"/>
              </a:rPr>
              <a:t>Key Remedies</a:t>
            </a:r>
            <a:endParaRPr b="0" i="0" sz="1500" u="none" cap="none" strike="noStrike">
              <a:solidFill>
                <a:schemeClr val="dk1"/>
              </a:solidFill>
              <a:latin typeface="Calibri"/>
              <a:ea typeface="Calibri"/>
              <a:cs typeface="Calibri"/>
              <a:sym typeface="Calibri"/>
            </a:endParaRPr>
          </a:p>
        </p:txBody>
      </p:sp>
      <p:sp>
        <p:nvSpPr>
          <p:cNvPr id="789" name="Google Shape;789;p18"/>
          <p:cNvSpPr/>
          <p:nvPr/>
        </p:nvSpPr>
        <p:spPr>
          <a:xfrm>
            <a:off x="5623560" y="1481328"/>
            <a:ext cx="3063300" cy="237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838F"/>
              </a:buClr>
              <a:buSzPts val="1200"/>
              <a:buFont typeface="Calibri"/>
              <a:buNone/>
            </a:pPr>
            <a:r>
              <a:rPr b="1" i="0" lang="en" sz="1200" u="none" cap="none" strike="noStrike">
                <a:solidFill>
                  <a:schemeClr val="dk1"/>
                </a:solidFill>
                <a:latin typeface="Calibri"/>
                <a:ea typeface="Calibri"/>
                <a:cs typeface="Calibri"/>
                <a:sym typeface="Calibri"/>
              </a:rPr>
              <a:t>Regularization</a:t>
            </a:r>
            <a:endParaRPr b="0" i="0" sz="1200" u="none" cap="none" strike="noStrike">
              <a:solidFill>
                <a:schemeClr val="dk1"/>
              </a:solidFill>
              <a:latin typeface="Calibri"/>
              <a:ea typeface="Calibri"/>
              <a:cs typeface="Calibri"/>
              <a:sym typeface="Calibri"/>
            </a:endParaRPr>
          </a:p>
        </p:txBody>
      </p:sp>
      <p:sp>
        <p:nvSpPr>
          <p:cNvPr id="790" name="Google Shape;790;p18"/>
          <p:cNvSpPr/>
          <p:nvPr/>
        </p:nvSpPr>
        <p:spPr>
          <a:xfrm>
            <a:off x="5623560" y="1719072"/>
            <a:ext cx="3063300" cy="25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100"/>
              <a:buFont typeface="Calibri"/>
              <a:buNone/>
            </a:pPr>
            <a:r>
              <a:rPr b="0" i="0" lang="en" sz="1100" u="none" cap="none" strike="noStrike">
                <a:solidFill>
                  <a:schemeClr val="dk1"/>
                </a:solidFill>
                <a:latin typeface="Calibri"/>
                <a:ea typeface="Calibri"/>
                <a:cs typeface="Calibri"/>
                <a:sym typeface="Calibri"/>
              </a:rPr>
              <a:t>L1 / L2 penalize large weights</a:t>
            </a:r>
            <a:endParaRPr b="0" i="0" sz="1100" u="none" cap="none" strike="noStrike">
              <a:solidFill>
                <a:schemeClr val="dk1"/>
              </a:solidFill>
              <a:latin typeface="Calibri"/>
              <a:ea typeface="Calibri"/>
              <a:cs typeface="Calibri"/>
              <a:sym typeface="Calibri"/>
            </a:endParaRPr>
          </a:p>
        </p:txBody>
      </p:sp>
      <p:sp>
        <p:nvSpPr>
          <p:cNvPr id="791" name="Google Shape;791;p18"/>
          <p:cNvSpPr/>
          <p:nvPr/>
        </p:nvSpPr>
        <p:spPr>
          <a:xfrm>
            <a:off x="5623560" y="2103120"/>
            <a:ext cx="3063300" cy="237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838F"/>
              </a:buClr>
              <a:buSzPts val="1200"/>
              <a:buFont typeface="Calibri"/>
              <a:buNone/>
            </a:pPr>
            <a:r>
              <a:rPr b="1" i="0" lang="en" sz="1200" u="none" cap="none" strike="noStrike">
                <a:solidFill>
                  <a:schemeClr val="dk1"/>
                </a:solidFill>
                <a:latin typeface="Calibri"/>
                <a:ea typeface="Calibri"/>
                <a:cs typeface="Calibri"/>
                <a:sym typeface="Calibri"/>
              </a:rPr>
              <a:t>Dropout</a:t>
            </a:r>
            <a:endParaRPr b="0" i="0" sz="1200" u="none" cap="none" strike="noStrike">
              <a:solidFill>
                <a:schemeClr val="dk1"/>
              </a:solidFill>
              <a:latin typeface="Calibri"/>
              <a:ea typeface="Calibri"/>
              <a:cs typeface="Calibri"/>
              <a:sym typeface="Calibri"/>
            </a:endParaRPr>
          </a:p>
        </p:txBody>
      </p:sp>
      <p:sp>
        <p:nvSpPr>
          <p:cNvPr id="792" name="Google Shape;792;p18"/>
          <p:cNvSpPr/>
          <p:nvPr/>
        </p:nvSpPr>
        <p:spPr>
          <a:xfrm>
            <a:off x="5623560" y="2340864"/>
            <a:ext cx="3063300" cy="25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100"/>
              <a:buFont typeface="Calibri"/>
              <a:buNone/>
            </a:pPr>
            <a:r>
              <a:rPr b="0" i="0" lang="en" sz="1100" u="none" cap="none" strike="noStrike">
                <a:solidFill>
                  <a:schemeClr val="dk1"/>
                </a:solidFill>
                <a:latin typeface="Calibri"/>
                <a:ea typeface="Calibri"/>
                <a:cs typeface="Calibri"/>
                <a:sym typeface="Calibri"/>
              </a:rPr>
              <a:t>Randomly zero neurons during training</a:t>
            </a:r>
            <a:endParaRPr b="0" i="0" sz="1100" u="none" cap="none" strike="noStrike">
              <a:solidFill>
                <a:schemeClr val="dk1"/>
              </a:solidFill>
              <a:latin typeface="Calibri"/>
              <a:ea typeface="Calibri"/>
              <a:cs typeface="Calibri"/>
              <a:sym typeface="Calibri"/>
            </a:endParaRPr>
          </a:p>
        </p:txBody>
      </p:sp>
      <p:sp>
        <p:nvSpPr>
          <p:cNvPr id="793" name="Google Shape;793;p18"/>
          <p:cNvSpPr/>
          <p:nvPr/>
        </p:nvSpPr>
        <p:spPr>
          <a:xfrm>
            <a:off x="5623560" y="2724912"/>
            <a:ext cx="3063300" cy="237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838F"/>
              </a:buClr>
              <a:buSzPts val="1200"/>
              <a:buFont typeface="Calibri"/>
              <a:buNone/>
            </a:pPr>
            <a:r>
              <a:rPr b="1" i="0" lang="en" sz="1200" u="none" cap="none" strike="noStrike">
                <a:solidFill>
                  <a:schemeClr val="dk1"/>
                </a:solidFill>
                <a:latin typeface="Calibri"/>
                <a:ea typeface="Calibri"/>
                <a:cs typeface="Calibri"/>
                <a:sym typeface="Calibri"/>
              </a:rPr>
              <a:t>Early Stopping</a:t>
            </a:r>
            <a:endParaRPr b="0" i="0" sz="1200" u="none" cap="none" strike="noStrike">
              <a:solidFill>
                <a:schemeClr val="dk1"/>
              </a:solidFill>
              <a:latin typeface="Calibri"/>
              <a:ea typeface="Calibri"/>
              <a:cs typeface="Calibri"/>
              <a:sym typeface="Calibri"/>
            </a:endParaRPr>
          </a:p>
        </p:txBody>
      </p:sp>
      <p:sp>
        <p:nvSpPr>
          <p:cNvPr id="794" name="Google Shape;794;p18"/>
          <p:cNvSpPr/>
          <p:nvPr/>
        </p:nvSpPr>
        <p:spPr>
          <a:xfrm>
            <a:off x="5623560" y="2962656"/>
            <a:ext cx="3063300" cy="25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100"/>
              <a:buFont typeface="Calibri"/>
              <a:buNone/>
            </a:pPr>
            <a:r>
              <a:rPr b="0" i="0" lang="en" sz="1100" u="none" cap="none" strike="noStrike">
                <a:solidFill>
                  <a:schemeClr val="dk1"/>
                </a:solidFill>
                <a:latin typeface="Calibri"/>
                <a:ea typeface="Calibri"/>
                <a:cs typeface="Calibri"/>
                <a:sym typeface="Calibri"/>
              </a:rPr>
              <a:t>Stop when val loss starts rising</a:t>
            </a:r>
            <a:endParaRPr b="0" i="0" sz="1100" u="none" cap="none" strike="noStrike">
              <a:solidFill>
                <a:schemeClr val="dk1"/>
              </a:solidFill>
              <a:latin typeface="Calibri"/>
              <a:ea typeface="Calibri"/>
              <a:cs typeface="Calibri"/>
              <a:sym typeface="Calibri"/>
            </a:endParaRPr>
          </a:p>
        </p:txBody>
      </p:sp>
      <p:sp>
        <p:nvSpPr>
          <p:cNvPr id="795" name="Google Shape;795;p18"/>
          <p:cNvSpPr/>
          <p:nvPr/>
        </p:nvSpPr>
        <p:spPr>
          <a:xfrm>
            <a:off x="5623560" y="3346704"/>
            <a:ext cx="3063300" cy="237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838F"/>
              </a:buClr>
              <a:buSzPts val="1200"/>
              <a:buFont typeface="Calibri"/>
              <a:buNone/>
            </a:pPr>
            <a:r>
              <a:rPr b="1" i="0" lang="en" sz="1200" u="none" cap="none" strike="noStrike">
                <a:solidFill>
                  <a:schemeClr val="dk1"/>
                </a:solidFill>
                <a:latin typeface="Calibri"/>
                <a:ea typeface="Calibri"/>
                <a:cs typeface="Calibri"/>
                <a:sym typeface="Calibri"/>
              </a:rPr>
              <a:t>More Data</a:t>
            </a:r>
            <a:endParaRPr b="0" i="0" sz="1200" u="none" cap="none" strike="noStrike">
              <a:solidFill>
                <a:schemeClr val="dk1"/>
              </a:solidFill>
              <a:latin typeface="Calibri"/>
              <a:ea typeface="Calibri"/>
              <a:cs typeface="Calibri"/>
              <a:sym typeface="Calibri"/>
            </a:endParaRPr>
          </a:p>
        </p:txBody>
      </p:sp>
      <p:sp>
        <p:nvSpPr>
          <p:cNvPr id="796" name="Google Shape;796;p18"/>
          <p:cNvSpPr/>
          <p:nvPr/>
        </p:nvSpPr>
        <p:spPr>
          <a:xfrm>
            <a:off x="5623560" y="3584448"/>
            <a:ext cx="3063300" cy="25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100"/>
              <a:buFont typeface="Calibri"/>
              <a:buNone/>
            </a:pPr>
            <a:r>
              <a:rPr b="0" i="0" lang="en" sz="1100" u="none" cap="none" strike="noStrike">
                <a:solidFill>
                  <a:schemeClr val="dk1"/>
                </a:solidFill>
                <a:latin typeface="Calibri"/>
                <a:ea typeface="Calibri"/>
                <a:cs typeface="Calibri"/>
                <a:sym typeface="Calibri"/>
              </a:rPr>
              <a:t>Reduces variance significantly</a:t>
            </a:r>
            <a:endParaRPr b="0" i="0" sz="1100" u="none" cap="none" strike="noStrike">
              <a:solidFill>
                <a:schemeClr val="dk1"/>
              </a:solidFill>
              <a:latin typeface="Calibri"/>
              <a:ea typeface="Calibri"/>
              <a:cs typeface="Calibri"/>
              <a:sym typeface="Calibri"/>
            </a:endParaRPr>
          </a:p>
        </p:txBody>
      </p:sp>
      <p:sp>
        <p:nvSpPr>
          <p:cNvPr id="797" name="Google Shape;797;p18"/>
          <p:cNvSpPr/>
          <p:nvPr/>
        </p:nvSpPr>
        <p:spPr>
          <a:xfrm>
            <a:off x="5623560" y="3968496"/>
            <a:ext cx="3063300" cy="237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838F"/>
              </a:buClr>
              <a:buSzPts val="1200"/>
              <a:buFont typeface="Calibri"/>
              <a:buNone/>
            </a:pPr>
            <a:r>
              <a:rPr b="1" i="0" lang="en" sz="1200" u="none" cap="none" strike="noStrike">
                <a:solidFill>
                  <a:schemeClr val="dk1"/>
                </a:solidFill>
                <a:latin typeface="Calibri"/>
                <a:ea typeface="Calibri"/>
                <a:cs typeface="Calibri"/>
                <a:sym typeface="Calibri"/>
              </a:rPr>
              <a:t>Cross-Validation</a:t>
            </a:r>
            <a:endParaRPr b="0" i="0" sz="1200" u="none" cap="none" strike="noStrike">
              <a:solidFill>
                <a:schemeClr val="dk1"/>
              </a:solidFill>
              <a:latin typeface="Calibri"/>
              <a:ea typeface="Calibri"/>
              <a:cs typeface="Calibri"/>
              <a:sym typeface="Calibri"/>
            </a:endParaRPr>
          </a:p>
        </p:txBody>
      </p:sp>
      <p:sp>
        <p:nvSpPr>
          <p:cNvPr id="798" name="Google Shape;798;p18"/>
          <p:cNvSpPr/>
          <p:nvPr/>
        </p:nvSpPr>
        <p:spPr>
          <a:xfrm>
            <a:off x="5623560" y="4206240"/>
            <a:ext cx="3063300" cy="25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7474F"/>
              </a:buClr>
              <a:buSzPts val="1100"/>
              <a:buFont typeface="Calibri"/>
              <a:buNone/>
            </a:pPr>
            <a:r>
              <a:rPr b="0" i="0" lang="en" sz="1100" u="none" cap="none" strike="noStrike">
                <a:solidFill>
                  <a:schemeClr val="dk1"/>
                </a:solidFill>
                <a:latin typeface="Calibri"/>
                <a:ea typeface="Calibri"/>
                <a:cs typeface="Calibri"/>
                <a:sym typeface="Calibri"/>
              </a:rPr>
              <a:t>Robust estimate of true performance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02" name="Shape 802"/>
        <p:cNvGrpSpPr/>
        <p:nvPr/>
      </p:nvGrpSpPr>
      <p:grpSpPr>
        <a:xfrm>
          <a:off x="0" y="0"/>
          <a:ext cx="0" cy="0"/>
          <a:chOff x="0" y="0"/>
          <a:chExt cx="0" cy="0"/>
        </a:xfrm>
      </p:grpSpPr>
      <p:pic>
        <p:nvPicPr>
          <p:cNvPr id="803" name="Google Shape;803;p19"/>
          <p:cNvPicPr preferRelativeResize="0"/>
          <p:nvPr/>
        </p:nvPicPr>
        <p:blipFill rotWithShape="1">
          <a:blip r:embed="rId4">
            <a:alphaModFix/>
          </a:blip>
          <a:srcRect b="0" l="0" r="0" t="0"/>
          <a:stretch/>
        </p:blipFill>
        <p:spPr>
          <a:xfrm>
            <a:off x="8369125" y="0"/>
            <a:ext cx="774877" cy="867174"/>
          </a:xfrm>
          <a:prstGeom prst="rect">
            <a:avLst/>
          </a:prstGeom>
          <a:noFill/>
          <a:ln>
            <a:noFill/>
          </a:ln>
        </p:spPr>
      </p:pic>
      <p:sp>
        <p:nvSpPr>
          <p:cNvPr id="804" name="Google Shape;804;p19"/>
          <p:cNvSpPr/>
          <p:nvPr/>
        </p:nvSpPr>
        <p:spPr>
          <a:xfrm>
            <a:off x="365760" y="164592"/>
            <a:ext cx="7863900" cy="5943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A237E"/>
              </a:buClr>
              <a:buSzPts val="3000"/>
              <a:buFont typeface="Calibri"/>
              <a:buNone/>
            </a:pPr>
            <a:r>
              <a:rPr b="1" i="0" lang="en" sz="3000" u="none" cap="none" strike="noStrike">
                <a:solidFill>
                  <a:srgbClr val="1A237E"/>
                </a:solidFill>
                <a:latin typeface="Calibri"/>
                <a:ea typeface="Calibri"/>
                <a:cs typeface="Calibri"/>
                <a:sym typeface="Calibri"/>
              </a:rPr>
              <a:t>Quick Reference Summary</a:t>
            </a:r>
            <a:endParaRPr b="0" i="0" sz="3000" u="none" cap="none" strike="noStrike">
              <a:solidFill>
                <a:srgbClr val="000000"/>
              </a:solidFill>
              <a:latin typeface="Calibri"/>
              <a:ea typeface="Calibri"/>
              <a:cs typeface="Calibri"/>
              <a:sym typeface="Calibri"/>
            </a:endParaRPr>
          </a:p>
        </p:txBody>
      </p:sp>
      <p:graphicFrame>
        <p:nvGraphicFramePr>
          <p:cNvPr id="805" name="Google Shape;805;p19"/>
          <p:cNvGraphicFramePr/>
          <p:nvPr/>
        </p:nvGraphicFramePr>
        <p:xfrm>
          <a:off x="274320" y="960120"/>
          <a:ext cx="3000000" cy="3000000"/>
        </p:xfrm>
        <a:graphic>
          <a:graphicData uri="http://schemas.openxmlformats.org/drawingml/2006/table">
            <a:tbl>
              <a:tblPr>
                <a:noFill/>
                <a:tableStyleId>{1C46A4BD-0E27-47CB-9CBC-C59CCD79FF35}</a:tableStyleId>
              </a:tblPr>
              <a:tblGrid>
                <a:gridCol w="1691650"/>
                <a:gridCol w="3291850"/>
                <a:gridCol w="1691650"/>
                <a:gridCol w="1920250"/>
              </a:tblGrid>
              <a:tr h="640075">
                <a:tc>
                  <a:txBody>
                    <a:bodyPr/>
                    <a:lstStyle/>
                    <a:p>
                      <a:pPr indent="0" lvl="0" marL="0" marR="0" rtl="0" algn="ctr">
                        <a:lnSpc>
                          <a:spcPct val="100000"/>
                        </a:lnSpc>
                        <a:spcBef>
                          <a:spcPts val="0"/>
                        </a:spcBef>
                        <a:spcAft>
                          <a:spcPts val="0"/>
                        </a:spcAft>
                        <a:buClr>
                          <a:srgbClr val="FFFFFF"/>
                        </a:buClr>
                        <a:buSzPts val="1300"/>
                        <a:buFont typeface="Calibri"/>
                        <a:buNone/>
                      </a:pPr>
                      <a:r>
                        <a:rPr b="1" lang="en" sz="1300" u="none" cap="none" strike="noStrike">
                          <a:solidFill>
                            <a:srgbClr val="FFFFFF"/>
                          </a:solidFill>
                          <a:latin typeface="Calibri"/>
                          <a:ea typeface="Calibri"/>
                          <a:cs typeface="Calibri"/>
                          <a:sym typeface="Calibri"/>
                        </a:rPr>
                        <a:t>Concept</a:t>
                      </a:r>
                      <a:endParaRPr sz="1300" u="none" cap="none" strike="noStrike">
                        <a:latin typeface="Calibri"/>
                        <a:ea typeface="Calibri"/>
                        <a:cs typeface="Calibri"/>
                        <a:sym typeface="Calibri"/>
                      </a:endParaRPr>
                    </a:p>
                  </a:txBody>
                  <a:tcPr marT="45725" marB="45725" marR="91450" marL="91450">
                    <a:lnL cap="flat" cmpd="sng" w="9525">
                      <a:solidFill>
                        <a:srgbClr val="CFD8DC"/>
                      </a:solidFill>
                      <a:prstDash val="solid"/>
                      <a:round/>
                      <a:headEnd len="sm" w="sm" type="none"/>
                      <a:tailEnd len="sm" w="sm" type="none"/>
                    </a:lnL>
                    <a:lnR cap="flat" cmpd="sng" w="9525">
                      <a:solidFill>
                        <a:srgbClr val="CFD8DC"/>
                      </a:solidFill>
                      <a:prstDash val="solid"/>
                      <a:round/>
                      <a:headEnd len="sm" w="sm" type="none"/>
                      <a:tailEnd len="sm" w="sm" type="none"/>
                    </a:lnR>
                    <a:lnT cap="flat" cmpd="sng" w="9525">
                      <a:solidFill>
                        <a:srgbClr val="CFD8DC"/>
                      </a:solidFill>
                      <a:prstDash val="solid"/>
                      <a:round/>
                      <a:headEnd len="sm" w="sm" type="none"/>
                      <a:tailEnd len="sm" w="sm" type="none"/>
                    </a:lnT>
                    <a:lnB cap="flat" cmpd="sng" w="9525">
                      <a:solidFill>
                        <a:srgbClr val="CFD8DC"/>
                      </a:solidFill>
                      <a:prstDash val="solid"/>
                      <a:round/>
                      <a:headEnd len="sm" w="sm" type="none"/>
                      <a:tailEnd len="sm" w="sm" type="none"/>
                    </a:lnB>
                    <a:solidFill>
                      <a:srgbClr val="1A237E"/>
                    </a:solidFill>
                  </a:tcPr>
                </a:tc>
                <a:tc>
                  <a:txBody>
                    <a:bodyPr/>
                    <a:lstStyle/>
                    <a:p>
                      <a:pPr indent="0" lvl="0" marL="0" marR="0" rtl="0" algn="ctr">
                        <a:lnSpc>
                          <a:spcPct val="100000"/>
                        </a:lnSpc>
                        <a:spcBef>
                          <a:spcPts val="0"/>
                        </a:spcBef>
                        <a:spcAft>
                          <a:spcPts val="0"/>
                        </a:spcAft>
                        <a:buClr>
                          <a:srgbClr val="FFFFFF"/>
                        </a:buClr>
                        <a:buSzPts val="1300"/>
                        <a:buFont typeface="Calibri"/>
                        <a:buNone/>
                      </a:pPr>
                      <a:r>
                        <a:rPr b="1" lang="en" sz="1300" u="none" cap="none" strike="noStrike">
                          <a:solidFill>
                            <a:srgbClr val="FFFFFF"/>
                          </a:solidFill>
                          <a:latin typeface="Calibri"/>
                          <a:ea typeface="Calibri"/>
                          <a:cs typeface="Calibri"/>
                          <a:sym typeface="Calibri"/>
                        </a:rPr>
                        <a:t>What it is</a:t>
                      </a:r>
                      <a:endParaRPr sz="1300" u="none" cap="none" strike="noStrike">
                        <a:latin typeface="Calibri"/>
                        <a:ea typeface="Calibri"/>
                        <a:cs typeface="Calibri"/>
                        <a:sym typeface="Calibri"/>
                      </a:endParaRPr>
                    </a:p>
                  </a:txBody>
                  <a:tcPr marT="45725" marB="45725" marR="91450" marL="91450">
                    <a:lnL cap="flat" cmpd="sng" w="9525">
                      <a:solidFill>
                        <a:srgbClr val="CFD8DC"/>
                      </a:solidFill>
                      <a:prstDash val="solid"/>
                      <a:round/>
                      <a:headEnd len="sm" w="sm" type="none"/>
                      <a:tailEnd len="sm" w="sm" type="none"/>
                    </a:lnL>
                    <a:lnR cap="flat" cmpd="sng" w="9525">
                      <a:solidFill>
                        <a:srgbClr val="CFD8DC"/>
                      </a:solidFill>
                      <a:prstDash val="solid"/>
                      <a:round/>
                      <a:headEnd len="sm" w="sm" type="none"/>
                      <a:tailEnd len="sm" w="sm" type="none"/>
                    </a:lnR>
                    <a:lnT cap="flat" cmpd="sng" w="9525">
                      <a:solidFill>
                        <a:srgbClr val="CFD8DC"/>
                      </a:solidFill>
                      <a:prstDash val="solid"/>
                      <a:round/>
                      <a:headEnd len="sm" w="sm" type="none"/>
                      <a:tailEnd len="sm" w="sm" type="none"/>
                    </a:lnT>
                    <a:lnB cap="flat" cmpd="sng" w="9525">
                      <a:solidFill>
                        <a:srgbClr val="CFD8DC"/>
                      </a:solidFill>
                      <a:prstDash val="solid"/>
                      <a:round/>
                      <a:headEnd len="sm" w="sm" type="none"/>
                      <a:tailEnd len="sm" w="sm" type="none"/>
                    </a:lnB>
                    <a:solidFill>
                      <a:srgbClr val="1A237E"/>
                    </a:solidFill>
                  </a:tcPr>
                </a:tc>
                <a:tc>
                  <a:txBody>
                    <a:bodyPr/>
                    <a:lstStyle/>
                    <a:p>
                      <a:pPr indent="0" lvl="0" marL="0" marR="0" rtl="0" algn="ctr">
                        <a:lnSpc>
                          <a:spcPct val="100000"/>
                        </a:lnSpc>
                        <a:spcBef>
                          <a:spcPts val="0"/>
                        </a:spcBef>
                        <a:spcAft>
                          <a:spcPts val="0"/>
                        </a:spcAft>
                        <a:buClr>
                          <a:srgbClr val="FFFFFF"/>
                        </a:buClr>
                        <a:buSzPts val="1300"/>
                        <a:buFont typeface="Calibri"/>
                        <a:buNone/>
                      </a:pPr>
                      <a:r>
                        <a:rPr b="1" lang="en" sz="1300" u="none" cap="none" strike="noStrike">
                          <a:solidFill>
                            <a:srgbClr val="FFFFFF"/>
                          </a:solidFill>
                          <a:latin typeface="Calibri"/>
                          <a:ea typeface="Calibri"/>
                          <a:cs typeface="Calibri"/>
                          <a:sym typeface="Calibri"/>
                        </a:rPr>
                        <a:t>Who sets it</a:t>
                      </a:r>
                      <a:endParaRPr sz="1300" u="none" cap="none" strike="noStrike">
                        <a:latin typeface="Calibri"/>
                        <a:ea typeface="Calibri"/>
                        <a:cs typeface="Calibri"/>
                        <a:sym typeface="Calibri"/>
                      </a:endParaRPr>
                    </a:p>
                  </a:txBody>
                  <a:tcPr marT="45725" marB="45725" marR="91450" marL="91450">
                    <a:lnL cap="flat" cmpd="sng" w="9525">
                      <a:solidFill>
                        <a:srgbClr val="CFD8DC"/>
                      </a:solidFill>
                      <a:prstDash val="solid"/>
                      <a:round/>
                      <a:headEnd len="sm" w="sm" type="none"/>
                      <a:tailEnd len="sm" w="sm" type="none"/>
                    </a:lnL>
                    <a:lnR cap="flat" cmpd="sng" w="9525">
                      <a:solidFill>
                        <a:srgbClr val="CFD8DC"/>
                      </a:solidFill>
                      <a:prstDash val="solid"/>
                      <a:round/>
                      <a:headEnd len="sm" w="sm" type="none"/>
                      <a:tailEnd len="sm" w="sm" type="none"/>
                    </a:lnR>
                    <a:lnT cap="flat" cmpd="sng" w="9525">
                      <a:solidFill>
                        <a:srgbClr val="CFD8DC"/>
                      </a:solidFill>
                      <a:prstDash val="solid"/>
                      <a:round/>
                      <a:headEnd len="sm" w="sm" type="none"/>
                      <a:tailEnd len="sm" w="sm" type="none"/>
                    </a:lnT>
                    <a:lnB cap="flat" cmpd="sng" w="9525">
                      <a:solidFill>
                        <a:srgbClr val="CFD8DC"/>
                      </a:solidFill>
                      <a:prstDash val="solid"/>
                      <a:round/>
                      <a:headEnd len="sm" w="sm" type="none"/>
                      <a:tailEnd len="sm" w="sm" type="none"/>
                    </a:lnB>
                    <a:solidFill>
                      <a:srgbClr val="1A237E"/>
                    </a:solidFill>
                  </a:tcPr>
                </a:tc>
                <a:tc>
                  <a:txBody>
                    <a:bodyPr/>
                    <a:lstStyle/>
                    <a:p>
                      <a:pPr indent="0" lvl="0" marL="0" marR="0" rtl="0" algn="ctr">
                        <a:lnSpc>
                          <a:spcPct val="100000"/>
                        </a:lnSpc>
                        <a:spcBef>
                          <a:spcPts val="0"/>
                        </a:spcBef>
                        <a:spcAft>
                          <a:spcPts val="0"/>
                        </a:spcAft>
                        <a:buClr>
                          <a:srgbClr val="FFFFFF"/>
                        </a:buClr>
                        <a:buSzPts val="1300"/>
                        <a:buFont typeface="Calibri"/>
                        <a:buNone/>
                      </a:pPr>
                      <a:r>
                        <a:rPr b="1" lang="en" sz="1300" u="none" cap="none" strike="noStrike">
                          <a:solidFill>
                            <a:srgbClr val="FFFFFF"/>
                          </a:solidFill>
                          <a:latin typeface="Calibri"/>
                          <a:ea typeface="Calibri"/>
                          <a:cs typeface="Calibri"/>
                          <a:sym typeface="Calibri"/>
                        </a:rPr>
                        <a:t>Goal</a:t>
                      </a:r>
                      <a:endParaRPr sz="1300" u="none" cap="none" strike="noStrike">
                        <a:latin typeface="Calibri"/>
                        <a:ea typeface="Calibri"/>
                        <a:cs typeface="Calibri"/>
                        <a:sym typeface="Calibri"/>
                      </a:endParaRPr>
                    </a:p>
                  </a:txBody>
                  <a:tcPr marT="45725" marB="45725" marR="91450" marL="91450">
                    <a:lnL cap="flat" cmpd="sng" w="9525">
                      <a:solidFill>
                        <a:srgbClr val="CFD8DC"/>
                      </a:solidFill>
                      <a:prstDash val="solid"/>
                      <a:round/>
                      <a:headEnd len="sm" w="sm" type="none"/>
                      <a:tailEnd len="sm" w="sm" type="none"/>
                    </a:lnL>
                    <a:lnR cap="flat" cmpd="sng" w="9525">
                      <a:solidFill>
                        <a:srgbClr val="CFD8DC"/>
                      </a:solidFill>
                      <a:prstDash val="solid"/>
                      <a:round/>
                      <a:headEnd len="sm" w="sm" type="none"/>
                      <a:tailEnd len="sm" w="sm" type="none"/>
                    </a:lnR>
                    <a:lnT cap="flat" cmpd="sng" w="9525">
                      <a:solidFill>
                        <a:srgbClr val="CFD8DC"/>
                      </a:solidFill>
                      <a:prstDash val="solid"/>
                      <a:round/>
                      <a:headEnd len="sm" w="sm" type="none"/>
                      <a:tailEnd len="sm" w="sm" type="none"/>
                    </a:lnT>
                    <a:lnB cap="flat" cmpd="sng" w="9525">
                      <a:solidFill>
                        <a:srgbClr val="CFD8DC"/>
                      </a:solidFill>
                      <a:prstDash val="solid"/>
                      <a:round/>
                      <a:headEnd len="sm" w="sm" type="none"/>
                      <a:tailEnd len="sm" w="sm" type="none"/>
                    </a:lnB>
                    <a:solidFill>
                      <a:srgbClr val="1A237E"/>
                    </a:solidFill>
                  </a:tcPr>
                </a:tc>
              </a:tr>
              <a:tr h="640075">
                <a:tc>
                  <a:txBody>
                    <a:bodyPr/>
                    <a:lstStyle/>
                    <a:p>
                      <a:pPr indent="0" lvl="0" marL="0" marR="0" rtl="0" algn="ctr">
                        <a:lnSpc>
                          <a:spcPct val="100000"/>
                        </a:lnSpc>
                        <a:spcBef>
                          <a:spcPts val="0"/>
                        </a:spcBef>
                        <a:spcAft>
                          <a:spcPts val="0"/>
                        </a:spcAft>
                        <a:buClr>
                          <a:srgbClr val="00838F"/>
                        </a:buClr>
                        <a:buSzPts val="1200"/>
                        <a:buFont typeface="Calibri"/>
                        <a:buNone/>
                      </a:pPr>
                      <a:r>
                        <a:rPr b="1" lang="en" sz="1200" u="none" cap="none" strike="noStrike">
                          <a:solidFill>
                            <a:srgbClr val="00838F"/>
                          </a:solidFill>
                          <a:latin typeface="Calibri"/>
                          <a:ea typeface="Calibri"/>
                          <a:cs typeface="Calibri"/>
                          <a:sym typeface="Calibri"/>
                        </a:rPr>
                        <a:t>Parameters</a:t>
                      </a:r>
                      <a:endParaRPr sz="1200" u="none" cap="none" strike="noStrike">
                        <a:latin typeface="Calibri"/>
                        <a:ea typeface="Calibri"/>
                        <a:cs typeface="Calibri"/>
                        <a:sym typeface="Calibri"/>
                      </a:endParaRPr>
                    </a:p>
                  </a:txBody>
                  <a:tcPr marT="45725" marB="45725" marR="91450" marL="91450">
                    <a:lnL cap="flat" cmpd="sng" w="9525">
                      <a:solidFill>
                        <a:srgbClr val="CFD8DC"/>
                      </a:solidFill>
                      <a:prstDash val="solid"/>
                      <a:round/>
                      <a:headEnd len="sm" w="sm" type="none"/>
                      <a:tailEnd len="sm" w="sm" type="none"/>
                    </a:lnL>
                    <a:lnR cap="flat" cmpd="sng" w="9525">
                      <a:solidFill>
                        <a:srgbClr val="CFD8DC"/>
                      </a:solidFill>
                      <a:prstDash val="solid"/>
                      <a:round/>
                      <a:headEnd len="sm" w="sm" type="none"/>
                      <a:tailEnd len="sm" w="sm" type="none"/>
                    </a:lnR>
                    <a:lnT cap="flat" cmpd="sng" w="9525">
                      <a:solidFill>
                        <a:srgbClr val="CFD8DC"/>
                      </a:solidFill>
                      <a:prstDash val="solid"/>
                      <a:round/>
                      <a:headEnd len="sm" w="sm" type="none"/>
                      <a:tailEnd len="sm" w="sm" type="none"/>
                    </a:lnT>
                    <a:lnB cap="flat" cmpd="sng" w="9525">
                      <a:solidFill>
                        <a:srgbClr val="CFD8DC"/>
                      </a:solidFill>
                      <a:prstDash val="solid"/>
                      <a:round/>
                      <a:headEnd len="sm" w="sm" type="none"/>
                      <a:tailEnd len="sm" w="sm" type="none"/>
                    </a:lnB>
                    <a:solidFill>
                      <a:srgbClr val="E3F2FD"/>
                    </a:solidFill>
                  </a:tcPr>
                </a:tc>
                <a:tc>
                  <a:txBody>
                    <a:bodyPr/>
                    <a:lstStyle/>
                    <a:p>
                      <a:pPr indent="0" lvl="0" marL="0" marR="0" rtl="0" algn="l">
                        <a:lnSpc>
                          <a:spcPct val="100000"/>
                        </a:lnSpc>
                        <a:spcBef>
                          <a:spcPts val="0"/>
                        </a:spcBef>
                        <a:spcAft>
                          <a:spcPts val="0"/>
                        </a:spcAft>
                        <a:buClr>
                          <a:srgbClr val="37474F"/>
                        </a:buClr>
                        <a:buSzPts val="1200"/>
                        <a:buFont typeface="Calibri"/>
                        <a:buNone/>
                      </a:pPr>
                      <a:r>
                        <a:rPr lang="en" sz="1200" u="none" cap="none" strike="noStrike">
                          <a:solidFill>
                            <a:srgbClr val="37474F"/>
                          </a:solidFill>
                          <a:latin typeface="Calibri"/>
                          <a:ea typeface="Calibri"/>
                          <a:cs typeface="Calibri"/>
                          <a:sym typeface="Calibri"/>
                        </a:rPr>
                        <a:t>Weights &amp; biases — learned during training</a:t>
                      </a:r>
                      <a:endParaRPr sz="1200" u="none" cap="none" strike="noStrike">
                        <a:latin typeface="Calibri"/>
                        <a:ea typeface="Calibri"/>
                        <a:cs typeface="Calibri"/>
                        <a:sym typeface="Calibri"/>
                      </a:endParaRPr>
                    </a:p>
                  </a:txBody>
                  <a:tcPr marT="45725" marB="45725" marR="91450" marL="91450">
                    <a:lnL cap="flat" cmpd="sng" w="9525">
                      <a:solidFill>
                        <a:srgbClr val="CFD8DC"/>
                      </a:solidFill>
                      <a:prstDash val="solid"/>
                      <a:round/>
                      <a:headEnd len="sm" w="sm" type="none"/>
                      <a:tailEnd len="sm" w="sm" type="none"/>
                    </a:lnL>
                    <a:lnR cap="flat" cmpd="sng" w="9525">
                      <a:solidFill>
                        <a:srgbClr val="CFD8DC"/>
                      </a:solidFill>
                      <a:prstDash val="solid"/>
                      <a:round/>
                      <a:headEnd len="sm" w="sm" type="none"/>
                      <a:tailEnd len="sm" w="sm" type="none"/>
                    </a:lnR>
                    <a:lnT cap="flat" cmpd="sng" w="9525">
                      <a:solidFill>
                        <a:srgbClr val="CFD8DC"/>
                      </a:solidFill>
                      <a:prstDash val="solid"/>
                      <a:round/>
                      <a:headEnd len="sm" w="sm" type="none"/>
                      <a:tailEnd len="sm" w="sm" type="none"/>
                    </a:lnT>
                    <a:lnB cap="flat" cmpd="sng" w="9525">
                      <a:solidFill>
                        <a:srgbClr val="CFD8D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37474F"/>
                        </a:buClr>
                        <a:buSzPts val="1200"/>
                        <a:buFont typeface="Calibri"/>
                        <a:buNone/>
                      </a:pPr>
                      <a:r>
                        <a:rPr lang="en" sz="1200" u="none" cap="none" strike="noStrike">
                          <a:solidFill>
                            <a:srgbClr val="37474F"/>
                          </a:solidFill>
                          <a:latin typeface="Calibri"/>
                          <a:ea typeface="Calibri"/>
                          <a:cs typeface="Calibri"/>
                          <a:sym typeface="Calibri"/>
                        </a:rPr>
                        <a:t>Optimizer (auto)</a:t>
                      </a:r>
                      <a:endParaRPr sz="1200" u="none" cap="none" strike="noStrike">
                        <a:latin typeface="Calibri"/>
                        <a:ea typeface="Calibri"/>
                        <a:cs typeface="Calibri"/>
                        <a:sym typeface="Calibri"/>
                      </a:endParaRPr>
                    </a:p>
                  </a:txBody>
                  <a:tcPr marT="45725" marB="45725" marR="91450" marL="91450">
                    <a:lnL cap="flat" cmpd="sng" w="9525">
                      <a:solidFill>
                        <a:srgbClr val="CFD8DC"/>
                      </a:solidFill>
                      <a:prstDash val="solid"/>
                      <a:round/>
                      <a:headEnd len="sm" w="sm" type="none"/>
                      <a:tailEnd len="sm" w="sm" type="none"/>
                    </a:lnL>
                    <a:lnR cap="flat" cmpd="sng" w="9525">
                      <a:solidFill>
                        <a:srgbClr val="CFD8DC"/>
                      </a:solidFill>
                      <a:prstDash val="solid"/>
                      <a:round/>
                      <a:headEnd len="sm" w="sm" type="none"/>
                      <a:tailEnd len="sm" w="sm" type="none"/>
                    </a:lnR>
                    <a:lnT cap="flat" cmpd="sng" w="9525">
                      <a:solidFill>
                        <a:srgbClr val="CFD8DC"/>
                      </a:solidFill>
                      <a:prstDash val="solid"/>
                      <a:round/>
                      <a:headEnd len="sm" w="sm" type="none"/>
                      <a:tailEnd len="sm" w="sm" type="none"/>
                    </a:lnT>
                    <a:lnB cap="flat" cmpd="sng" w="9525">
                      <a:solidFill>
                        <a:srgbClr val="CFD8D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37474F"/>
                        </a:buClr>
                        <a:buSzPts val="1200"/>
                        <a:buFont typeface="Calibri"/>
                        <a:buNone/>
                      </a:pPr>
                      <a:r>
                        <a:rPr lang="en" sz="1200" u="none" cap="none" strike="noStrike">
                          <a:solidFill>
                            <a:srgbClr val="37474F"/>
                          </a:solidFill>
                          <a:latin typeface="Calibri"/>
                          <a:ea typeface="Calibri"/>
                          <a:cs typeface="Calibri"/>
                          <a:sym typeface="Calibri"/>
                        </a:rPr>
                        <a:t>Minimize loss function</a:t>
                      </a:r>
                      <a:endParaRPr sz="1200" u="none" cap="none" strike="noStrike">
                        <a:latin typeface="Calibri"/>
                        <a:ea typeface="Calibri"/>
                        <a:cs typeface="Calibri"/>
                        <a:sym typeface="Calibri"/>
                      </a:endParaRPr>
                    </a:p>
                  </a:txBody>
                  <a:tcPr marT="45725" marB="45725" marR="91450" marL="91450">
                    <a:lnL cap="flat" cmpd="sng" w="9525">
                      <a:solidFill>
                        <a:srgbClr val="CFD8DC"/>
                      </a:solidFill>
                      <a:prstDash val="solid"/>
                      <a:round/>
                      <a:headEnd len="sm" w="sm" type="none"/>
                      <a:tailEnd len="sm" w="sm" type="none"/>
                    </a:lnL>
                    <a:lnR cap="flat" cmpd="sng" w="9525">
                      <a:solidFill>
                        <a:srgbClr val="CFD8DC"/>
                      </a:solidFill>
                      <a:prstDash val="solid"/>
                      <a:round/>
                      <a:headEnd len="sm" w="sm" type="none"/>
                      <a:tailEnd len="sm" w="sm" type="none"/>
                    </a:lnR>
                    <a:lnT cap="flat" cmpd="sng" w="9525">
                      <a:solidFill>
                        <a:srgbClr val="CFD8DC"/>
                      </a:solidFill>
                      <a:prstDash val="solid"/>
                      <a:round/>
                      <a:headEnd len="sm" w="sm" type="none"/>
                      <a:tailEnd len="sm" w="sm" type="none"/>
                    </a:lnT>
                    <a:lnB cap="flat" cmpd="sng" w="9525">
                      <a:solidFill>
                        <a:srgbClr val="CFD8DC"/>
                      </a:solidFill>
                      <a:prstDash val="solid"/>
                      <a:round/>
                      <a:headEnd len="sm" w="sm" type="none"/>
                      <a:tailEnd len="sm" w="sm" type="none"/>
                    </a:lnB>
                    <a:solidFill>
                      <a:srgbClr val="FFFFFF"/>
                    </a:solidFill>
                  </a:tcPr>
                </a:tc>
              </a:tr>
              <a:tr h="640075">
                <a:tc>
                  <a:txBody>
                    <a:bodyPr/>
                    <a:lstStyle/>
                    <a:p>
                      <a:pPr indent="0" lvl="0" marL="0" marR="0" rtl="0" algn="ctr">
                        <a:lnSpc>
                          <a:spcPct val="100000"/>
                        </a:lnSpc>
                        <a:spcBef>
                          <a:spcPts val="0"/>
                        </a:spcBef>
                        <a:spcAft>
                          <a:spcPts val="0"/>
                        </a:spcAft>
                        <a:buClr>
                          <a:srgbClr val="00838F"/>
                        </a:buClr>
                        <a:buSzPts val="1200"/>
                        <a:buFont typeface="Calibri"/>
                        <a:buNone/>
                      </a:pPr>
                      <a:r>
                        <a:rPr b="1" lang="en" sz="1200" u="none" cap="none" strike="noStrike">
                          <a:solidFill>
                            <a:srgbClr val="00838F"/>
                          </a:solidFill>
                          <a:latin typeface="Calibri"/>
                          <a:ea typeface="Calibri"/>
                          <a:cs typeface="Calibri"/>
                          <a:sym typeface="Calibri"/>
                        </a:rPr>
                        <a:t>Hyperparameters</a:t>
                      </a:r>
                      <a:endParaRPr sz="1200" u="none" cap="none" strike="noStrike">
                        <a:latin typeface="Calibri"/>
                        <a:ea typeface="Calibri"/>
                        <a:cs typeface="Calibri"/>
                        <a:sym typeface="Calibri"/>
                      </a:endParaRPr>
                    </a:p>
                  </a:txBody>
                  <a:tcPr marT="45725" marB="45725" marR="91450" marL="91450">
                    <a:lnL cap="flat" cmpd="sng" w="9525">
                      <a:solidFill>
                        <a:srgbClr val="CFD8DC"/>
                      </a:solidFill>
                      <a:prstDash val="solid"/>
                      <a:round/>
                      <a:headEnd len="sm" w="sm" type="none"/>
                      <a:tailEnd len="sm" w="sm" type="none"/>
                    </a:lnL>
                    <a:lnR cap="flat" cmpd="sng" w="9525">
                      <a:solidFill>
                        <a:srgbClr val="CFD8DC"/>
                      </a:solidFill>
                      <a:prstDash val="solid"/>
                      <a:round/>
                      <a:headEnd len="sm" w="sm" type="none"/>
                      <a:tailEnd len="sm" w="sm" type="none"/>
                    </a:lnR>
                    <a:lnT cap="flat" cmpd="sng" w="9525">
                      <a:solidFill>
                        <a:srgbClr val="CFD8DC"/>
                      </a:solidFill>
                      <a:prstDash val="solid"/>
                      <a:round/>
                      <a:headEnd len="sm" w="sm" type="none"/>
                      <a:tailEnd len="sm" w="sm" type="none"/>
                    </a:lnT>
                    <a:lnB cap="flat" cmpd="sng" w="9525">
                      <a:solidFill>
                        <a:srgbClr val="CFD8DC"/>
                      </a:solidFill>
                      <a:prstDash val="solid"/>
                      <a:round/>
                      <a:headEnd len="sm" w="sm" type="none"/>
                      <a:tailEnd len="sm" w="sm" type="none"/>
                    </a:lnB>
                    <a:solidFill>
                      <a:srgbClr val="E0F7FA"/>
                    </a:solidFill>
                  </a:tcPr>
                </a:tc>
                <a:tc>
                  <a:txBody>
                    <a:bodyPr/>
                    <a:lstStyle/>
                    <a:p>
                      <a:pPr indent="0" lvl="0" marL="0" marR="0" rtl="0" algn="l">
                        <a:lnSpc>
                          <a:spcPct val="100000"/>
                        </a:lnSpc>
                        <a:spcBef>
                          <a:spcPts val="0"/>
                        </a:spcBef>
                        <a:spcAft>
                          <a:spcPts val="0"/>
                        </a:spcAft>
                        <a:buClr>
                          <a:srgbClr val="37474F"/>
                        </a:buClr>
                        <a:buSzPts val="1200"/>
                        <a:buFont typeface="Calibri"/>
                        <a:buNone/>
                      </a:pPr>
                      <a:r>
                        <a:rPr lang="en" sz="1200" u="none" cap="none" strike="noStrike">
                          <a:solidFill>
                            <a:srgbClr val="37474F"/>
                          </a:solidFill>
                          <a:latin typeface="Calibri"/>
                          <a:ea typeface="Calibri"/>
                          <a:cs typeface="Calibri"/>
                          <a:sym typeface="Calibri"/>
                        </a:rPr>
                        <a:t>Learning rate, layers, epochs, batch size, etc.</a:t>
                      </a:r>
                      <a:endParaRPr sz="1200" u="none" cap="none" strike="noStrike">
                        <a:latin typeface="Calibri"/>
                        <a:ea typeface="Calibri"/>
                        <a:cs typeface="Calibri"/>
                        <a:sym typeface="Calibri"/>
                      </a:endParaRPr>
                    </a:p>
                  </a:txBody>
                  <a:tcPr marT="45725" marB="45725" marR="91450" marL="91450">
                    <a:lnL cap="flat" cmpd="sng" w="9525">
                      <a:solidFill>
                        <a:srgbClr val="CFD8DC"/>
                      </a:solidFill>
                      <a:prstDash val="solid"/>
                      <a:round/>
                      <a:headEnd len="sm" w="sm" type="none"/>
                      <a:tailEnd len="sm" w="sm" type="none"/>
                    </a:lnL>
                    <a:lnR cap="flat" cmpd="sng" w="9525">
                      <a:solidFill>
                        <a:srgbClr val="CFD8DC"/>
                      </a:solidFill>
                      <a:prstDash val="solid"/>
                      <a:round/>
                      <a:headEnd len="sm" w="sm" type="none"/>
                      <a:tailEnd len="sm" w="sm" type="none"/>
                    </a:lnR>
                    <a:lnT cap="flat" cmpd="sng" w="9525">
                      <a:solidFill>
                        <a:srgbClr val="CFD8DC"/>
                      </a:solidFill>
                      <a:prstDash val="solid"/>
                      <a:round/>
                      <a:headEnd len="sm" w="sm" type="none"/>
                      <a:tailEnd len="sm" w="sm" type="none"/>
                    </a:lnT>
                    <a:lnB cap="flat" cmpd="sng" w="9525">
                      <a:solidFill>
                        <a:srgbClr val="CFD8D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37474F"/>
                        </a:buClr>
                        <a:buSzPts val="1200"/>
                        <a:buFont typeface="Calibri"/>
                        <a:buNone/>
                      </a:pPr>
                      <a:r>
                        <a:rPr lang="en" sz="1200" u="none" cap="none" strike="noStrike">
                          <a:solidFill>
                            <a:srgbClr val="37474F"/>
                          </a:solidFill>
                          <a:latin typeface="Calibri"/>
                          <a:ea typeface="Calibri"/>
                          <a:cs typeface="Calibri"/>
                          <a:sym typeface="Calibri"/>
                        </a:rPr>
                        <a:t>User</a:t>
                      </a:r>
                      <a:endParaRPr sz="1200" u="none" cap="none" strike="noStrike">
                        <a:latin typeface="Calibri"/>
                        <a:ea typeface="Calibri"/>
                        <a:cs typeface="Calibri"/>
                        <a:sym typeface="Calibri"/>
                      </a:endParaRPr>
                    </a:p>
                  </a:txBody>
                  <a:tcPr marT="45725" marB="45725" marR="91450" marL="91450">
                    <a:lnL cap="flat" cmpd="sng" w="9525">
                      <a:solidFill>
                        <a:srgbClr val="CFD8DC"/>
                      </a:solidFill>
                      <a:prstDash val="solid"/>
                      <a:round/>
                      <a:headEnd len="sm" w="sm" type="none"/>
                      <a:tailEnd len="sm" w="sm" type="none"/>
                    </a:lnL>
                    <a:lnR cap="flat" cmpd="sng" w="9525">
                      <a:solidFill>
                        <a:srgbClr val="CFD8DC"/>
                      </a:solidFill>
                      <a:prstDash val="solid"/>
                      <a:round/>
                      <a:headEnd len="sm" w="sm" type="none"/>
                      <a:tailEnd len="sm" w="sm" type="none"/>
                    </a:lnR>
                    <a:lnT cap="flat" cmpd="sng" w="9525">
                      <a:solidFill>
                        <a:srgbClr val="CFD8DC"/>
                      </a:solidFill>
                      <a:prstDash val="solid"/>
                      <a:round/>
                      <a:headEnd len="sm" w="sm" type="none"/>
                      <a:tailEnd len="sm" w="sm" type="none"/>
                    </a:lnT>
                    <a:lnB cap="flat" cmpd="sng" w="9525">
                      <a:solidFill>
                        <a:srgbClr val="CFD8D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37474F"/>
                        </a:buClr>
                        <a:buSzPts val="1200"/>
                        <a:buFont typeface="Calibri"/>
                        <a:buNone/>
                      </a:pPr>
                      <a:r>
                        <a:rPr lang="en" sz="1200" u="none" cap="none" strike="noStrike">
                          <a:solidFill>
                            <a:srgbClr val="37474F"/>
                          </a:solidFill>
                          <a:latin typeface="Calibri"/>
                          <a:ea typeface="Calibri"/>
                          <a:cs typeface="Calibri"/>
                          <a:sym typeface="Calibri"/>
                        </a:rPr>
                        <a:t>Best model architecture</a:t>
                      </a:r>
                      <a:endParaRPr sz="1200" u="none" cap="none" strike="noStrike">
                        <a:latin typeface="Calibri"/>
                        <a:ea typeface="Calibri"/>
                        <a:cs typeface="Calibri"/>
                        <a:sym typeface="Calibri"/>
                      </a:endParaRPr>
                    </a:p>
                  </a:txBody>
                  <a:tcPr marT="45725" marB="45725" marR="91450" marL="91450">
                    <a:lnL cap="flat" cmpd="sng" w="9525">
                      <a:solidFill>
                        <a:srgbClr val="CFD8DC"/>
                      </a:solidFill>
                      <a:prstDash val="solid"/>
                      <a:round/>
                      <a:headEnd len="sm" w="sm" type="none"/>
                      <a:tailEnd len="sm" w="sm" type="none"/>
                    </a:lnL>
                    <a:lnR cap="flat" cmpd="sng" w="9525">
                      <a:solidFill>
                        <a:srgbClr val="CFD8DC"/>
                      </a:solidFill>
                      <a:prstDash val="solid"/>
                      <a:round/>
                      <a:headEnd len="sm" w="sm" type="none"/>
                      <a:tailEnd len="sm" w="sm" type="none"/>
                    </a:lnR>
                    <a:lnT cap="flat" cmpd="sng" w="9525">
                      <a:solidFill>
                        <a:srgbClr val="CFD8DC"/>
                      </a:solidFill>
                      <a:prstDash val="solid"/>
                      <a:round/>
                      <a:headEnd len="sm" w="sm" type="none"/>
                      <a:tailEnd len="sm" w="sm" type="none"/>
                    </a:lnT>
                    <a:lnB cap="flat" cmpd="sng" w="9525">
                      <a:solidFill>
                        <a:srgbClr val="CFD8DC"/>
                      </a:solidFill>
                      <a:prstDash val="solid"/>
                      <a:round/>
                      <a:headEnd len="sm" w="sm" type="none"/>
                      <a:tailEnd len="sm" w="sm" type="none"/>
                    </a:lnB>
                    <a:solidFill>
                      <a:srgbClr val="FFFFFF"/>
                    </a:solidFill>
                  </a:tcPr>
                </a:tc>
              </a:tr>
              <a:tr h="640075">
                <a:tc>
                  <a:txBody>
                    <a:bodyPr/>
                    <a:lstStyle/>
                    <a:p>
                      <a:pPr indent="0" lvl="0" marL="0" marR="0" rtl="0" algn="ctr">
                        <a:lnSpc>
                          <a:spcPct val="100000"/>
                        </a:lnSpc>
                        <a:spcBef>
                          <a:spcPts val="0"/>
                        </a:spcBef>
                        <a:spcAft>
                          <a:spcPts val="0"/>
                        </a:spcAft>
                        <a:buClr>
                          <a:srgbClr val="E65100"/>
                        </a:buClr>
                        <a:buSzPts val="1200"/>
                        <a:buFont typeface="Calibri"/>
                        <a:buNone/>
                      </a:pPr>
                      <a:r>
                        <a:rPr b="1" lang="en" sz="1200" u="none" cap="none" strike="noStrike">
                          <a:solidFill>
                            <a:srgbClr val="E65100"/>
                          </a:solidFill>
                          <a:latin typeface="Calibri"/>
                          <a:ea typeface="Calibri"/>
                          <a:cs typeface="Calibri"/>
                          <a:sym typeface="Calibri"/>
                        </a:rPr>
                        <a:t>Underfitting</a:t>
                      </a:r>
                      <a:endParaRPr sz="1200" u="none" cap="none" strike="noStrike">
                        <a:latin typeface="Calibri"/>
                        <a:ea typeface="Calibri"/>
                        <a:cs typeface="Calibri"/>
                        <a:sym typeface="Calibri"/>
                      </a:endParaRPr>
                    </a:p>
                  </a:txBody>
                  <a:tcPr marT="45725" marB="45725" marR="91450" marL="91450">
                    <a:lnL cap="flat" cmpd="sng" w="9525">
                      <a:solidFill>
                        <a:srgbClr val="CFD8DC"/>
                      </a:solidFill>
                      <a:prstDash val="solid"/>
                      <a:round/>
                      <a:headEnd len="sm" w="sm" type="none"/>
                      <a:tailEnd len="sm" w="sm" type="none"/>
                    </a:lnL>
                    <a:lnR cap="flat" cmpd="sng" w="9525">
                      <a:solidFill>
                        <a:srgbClr val="CFD8DC"/>
                      </a:solidFill>
                      <a:prstDash val="solid"/>
                      <a:round/>
                      <a:headEnd len="sm" w="sm" type="none"/>
                      <a:tailEnd len="sm" w="sm" type="none"/>
                    </a:lnR>
                    <a:lnT cap="flat" cmpd="sng" w="9525">
                      <a:solidFill>
                        <a:srgbClr val="CFD8DC"/>
                      </a:solidFill>
                      <a:prstDash val="solid"/>
                      <a:round/>
                      <a:headEnd len="sm" w="sm" type="none"/>
                      <a:tailEnd len="sm" w="sm" type="none"/>
                    </a:lnT>
                    <a:lnB cap="flat" cmpd="sng" w="9525">
                      <a:solidFill>
                        <a:srgbClr val="CFD8DC"/>
                      </a:solidFill>
                      <a:prstDash val="solid"/>
                      <a:round/>
                      <a:headEnd len="sm" w="sm" type="none"/>
                      <a:tailEnd len="sm" w="sm" type="none"/>
                    </a:lnB>
                    <a:solidFill>
                      <a:srgbClr val="FFF3E0"/>
                    </a:solidFill>
                  </a:tcPr>
                </a:tc>
                <a:tc>
                  <a:txBody>
                    <a:bodyPr/>
                    <a:lstStyle/>
                    <a:p>
                      <a:pPr indent="0" lvl="0" marL="0" marR="0" rtl="0" algn="l">
                        <a:lnSpc>
                          <a:spcPct val="100000"/>
                        </a:lnSpc>
                        <a:spcBef>
                          <a:spcPts val="0"/>
                        </a:spcBef>
                        <a:spcAft>
                          <a:spcPts val="0"/>
                        </a:spcAft>
                        <a:buClr>
                          <a:srgbClr val="37474F"/>
                        </a:buClr>
                        <a:buSzPts val="1200"/>
                        <a:buFont typeface="Calibri"/>
                        <a:buNone/>
                      </a:pPr>
                      <a:r>
                        <a:rPr lang="en" sz="1200" u="none" cap="none" strike="noStrike">
                          <a:solidFill>
                            <a:srgbClr val="37474F"/>
                          </a:solidFill>
                          <a:latin typeface="Calibri"/>
                          <a:ea typeface="Calibri"/>
                          <a:cs typeface="Calibri"/>
                          <a:sym typeface="Calibri"/>
                        </a:rPr>
                        <a:t>Model too simple — misses patterns in data</a:t>
                      </a:r>
                      <a:endParaRPr sz="1200" u="none" cap="none" strike="noStrike">
                        <a:latin typeface="Calibri"/>
                        <a:ea typeface="Calibri"/>
                        <a:cs typeface="Calibri"/>
                        <a:sym typeface="Calibri"/>
                      </a:endParaRPr>
                    </a:p>
                  </a:txBody>
                  <a:tcPr marT="45725" marB="45725" marR="91450" marL="91450">
                    <a:lnL cap="flat" cmpd="sng" w="9525">
                      <a:solidFill>
                        <a:srgbClr val="CFD8DC"/>
                      </a:solidFill>
                      <a:prstDash val="solid"/>
                      <a:round/>
                      <a:headEnd len="sm" w="sm" type="none"/>
                      <a:tailEnd len="sm" w="sm" type="none"/>
                    </a:lnL>
                    <a:lnR cap="flat" cmpd="sng" w="9525">
                      <a:solidFill>
                        <a:srgbClr val="CFD8DC"/>
                      </a:solidFill>
                      <a:prstDash val="solid"/>
                      <a:round/>
                      <a:headEnd len="sm" w="sm" type="none"/>
                      <a:tailEnd len="sm" w="sm" type="none"/>
                    </a:lnR>
                    <a:lnT cap="flat" cmpd="sng" w="9525">
                      <a:solidFill>
                        <a:srgbClr val="CFD8DC"/>
                      </a:solidFill>
                      <a:prstDash val="solid"/>
                      <a:round/>
                      <a:headEnd len="sm" w="sm" type="none"/>
                      <a:tailEnd len="sm" w="sm" type="none"/>
                    </a:lnT>
                    <a:lnB cap="flat" cmpd="sng" w="9525">
                      <a:solidFill>
                        <a:srgbClr val="CFD8D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37474F"/>
                        </a:buClr>
                        <a:buSzPts val="1200"/>
                        <a:buFont typeface="Calibri"/>
                        <a:buNone/>
                      </a:pPr>
                      <a:r>
                        <a:rPr lang="en" sz="1200" u="none" cap="none" strike="noStrike">
                          <a:solidFill>
                            <a:srgbClr val="37474F"/>
                          </a:solidFill>
                          <a:latin typeface="Calibri"/>
                          <a:ea typeface="Calibri"/>
                          <a:cs typeface="Calibri"/>
                          <a:sym typeface="Calibri"/>
                        </a:rPr>
                        <a:t>—</a:t>
                      </a:r>
                      <a:endParaRPr sz="1200" u="none" cap="none" strike="noStrike">
                        <a:latin typeface="Calibri"/>
                        <a:ea typeface="Calibri"/>
                        <a:cs typeface="Calibri"/>
                        <a:sym typeface="Calibri"/>
                      </a:endParaRPr>
                    </a:p>
                  </a:txBody>
                  <a:tcPr marT="45725" marB="45725" marR="91450" marL="91450">
                    <a:lnL cap="flat" cmpd="sng" w="9525">
                      <a:solidFill>
                        <a:srgbClr val="CFD8DC"/>
                      </a:solidFill>
                      <a:prstDash val="solid"/>
                      <a:round/>
                      <a:headEnd len="sm" w="sm" type="none"/>
                      <a:tailEnd len="sm" w="sm" type="none"/>
                    </a:lnL>
                    <a:lnR cap="flat" cmpd="sng" w="9525">
                      <a:solidFill>
                        <a:srgbClr val="CFD8DC"/>
                      </a:solidFill>
                      <a:prstDash val="solid"/>
                      <a:round/>
                      <a:headEnd len="sm" w="sm" type="none"/>
                      <a:tailEnd len="sm" w="sm" type="none"/>
                    </a:lnR>
                    <a:lnT cap="flat" cmpd="sng" w="9525">
                      <a:solidFill>
                        <a:srgbClr val="CFD8DC"/>
                      </a:solidFill>
                      <a:prstDash val="solid"/>
                      <a:round/>
                      <a:headEnd len="sm" w="sm" type="none"/>
                      <a:tailEnd len="sm" w="sm" type="none"/>
                    </a:lnT>
                    <a:lnB cap="flat" cmpd="sng" w="9525">
                      <a:solidFill>
                        <a:srgbClr val="CFD8D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37474F"/>
                        </a:buClr>
                        <a:buSzPts val="1200"/>
                        <a:buFont typeface="Calibri"/>
                        <a:buNone/>
                      </a:pPr>
                      <a:r>
                        <a:rPr lang="en" sz="1200" u="none" cap="none" strike="noStrike">
                          <a:solidFill>
                            <a:srgbClr val="37474F"/>
                          </a:solidFill>
                          <a:latin typeface="Calibri"/>
                          <a:ea typeface="Calibri"/>
                          <a:cs typeface="Calibri"/>
                          <a:sym typeface="Calibri"/>
                        </a:rPr>
                        <a:t>Add complexity / train more</a:t>
                      </a:r>
                      <a:endParaRPr sz="1200" u="none" cap="none" strike="noStrike">
                        <a:latin typeface="Calibri"/>
                        <a:ea typeface="Calibri"/>
                        <a:cs typeface="Calibri"/>
                        <a:sym typeface="Calibri"/>
                      </a:endParaRPr>
                    </a:p>
                  </a:txBody>
                  <a:tcPr marT="45725" marB="45725" marR="91450" marL="91450">
                    <a:lnL cap="flat" cmpd="sng" w="9525">
                      <a:solidFill>
                        <a:srgbClr val="CFD8DC"/>
                      </a:solidFill>
                      <a:prstDash val="solid"/>
                      <a:round/>
                      <a:headEnd len="sm" w="sm" type="none"/>
                      <a:tailEnd len="sm" w="sm" type="none"/>
                    </a:lnL>
                    <a:lnR cap="flat" cmpd="sng" w="9525">
                      <a:solidFill>
                        <a:srgbClr val="CFD8DC"/>
                      </a:solidFill>
                      <a:prstDash val="solid"/>
                      <a:round/>
                      <a:headEnd len="sm" w="sm" type="none"/>
                      <a:tailEnd len="sm" w="sm" type="none"/>
                    </a:lnR>
                    <a:lnT cap="flat" cmpd="sng" w="9525">
                      <a:solidFill>
                        <a:srgbClr val="CFD8DC"/>
                      </a:solidFill>
                      <a:prstDash val="solid"/>
                      <a:round/>
                      <a:headEnd len="sm" w="sm" type="none"/>
                      <a:tailEnd len="sm" w="sm" type="none"/>
                    </a:lnT>
                    <a:lnB cap="flat" cmpd="sng" w="9525">
                      <a:solidFill>
                        <a:srgbClr val="CFD8DC"/>
                      </a:solidFill>
                      <a:prstDash val="solid"/>
                      <a:round/>
                      <a:headEnd len="sm" w="sm" type="none"/>
                      <a:tailEnd len="sm" w="sm" type="none"/>
                    </a:lnB>
                    <a:solidFill>
                      <a:srgbClr val="FFFFFF"/>
                    </a:solidFill>
                  </a:tcPr>
                </a:tc>
              </a:tr>
              <a:tr h="640075">
                <a:tc>
                  <a:txBody>
                    <a:bodyPr/>
                    <a:lstStyle/>
                    <a:p>
                      <a:pPr indent="0" lvl="0" marL="0" marR="0" rtl="0" algn="ctr">
                        <a:lnSpc>
                          <a:spcPct val="100000"/>
                        </a:lnSpc>
                        <a:spcBef>
                          <a:spcPts val="0"/>
                        </a:spcBef>
                        <a:spcAft>
                          <a:spcPts val="0"/>
                        </a:spcAft>
                        <a:buClr>
                          <a:srgbClr val="2E7D32"/>
                        </a:buClr>
                        <a:buSzPts val="1200"/>
                        <a:buFont typeface="Calibri"/>
                        <a:buNone/>
                      </a:pPr>
                      <a:r>
                        <a:rPr b="1" lang="en" sz="1200" u="none" cap="none" strike="noStrike">
                          <a:solidFill>
                            <a:srgbClr val="2E7D32"/>
                          </a:solidFill>
                          <a:latin typeface="Calibri"/>
                          <a:ea typeface="Calibri"/>
                          <a:cs typeface="Calibri"/>
                          <a:sym typeface="Calibri"/>
                        </a:rPr>
                        <a:t>Good Fit</a:t>
                      </a:r>
                      <a:endParaRPr sz="1200" u="none" cap="none" strike="noStrike">
                        <a:latin typeface="Calibri"/>
                        <a:ea typeface="Calibri"/>
                        <a:cs typeface="Calibri"/>
                        <a:sym typeface="Calibri"/>
                      </a:endParaRPr>
                    </a:p>
                  </a:txBody>
                  <a:tcPr marT="45725" marB="45725" marR="91450" marL="91450">
                    <a:lnL cap="flat" cmpd="sng" w="9525">
                      <a:solidFill>
                        <a:srgbClr val="CFD8DC"/>
                      </a:solidFill>
                      <a:prstDash val="solid"/>
                      <a:round/>
                      <a:headEnd len="sm" w="sm" type="none"/>
                      <a:tailEnd len="sm" w="sm" type="none"/>
                    </a:lnL>
                    <a:lnR cap="flat" cmpd="sng" w="9525">
                      <a:solidFill>
                        <a:srgbClr val="CFD8DC"/>
                      </a:solidFill>
                      <a:prstDash val="solid"/>
                      <a:round/>
                      <a:headEnd len="sm" w="sm" type="none"/>
                      <a:tailEnd len="sm" w="sm" type="none"/>
                    </a:lnR>
                    <a:lnT cap="flat" cmpd="sng" w="9525">
                      <a:solidFill>
                        <a:srgbClr val="CFD8DC"/>
                      </a:solidFill>
                      <a:prstDash val="solid"/>
                      <a:round/>
                      <a:headEnd len="sm" w="sm" type="none"/>
                      <a:tailEnd len="sm" w="sm" type="none"/>
                    </a:lnT>
                    <a:lnB cap="flat" cmpd="sng" w="9525">
                      <a:solidFill>
                        <a:srgbClr val="CFD8DC"/>
                      </a:solidFill>
                      <a:prstDash val="solid"/>
                      <a:round/>
                      <a:headEnd len="sm" w="sm" type="none"/>
                      <a:tailEnd len="sm" w="sm" type="none"/>
                    </a:lnB>
                    <a:solidFill>
                      <a:srgbClr val="E8F5E9"/>
                    </a:solidFill>
                  </a:tcPr>
                </a:tc>
                <a:tc>
                  <a:txBody>
                    <a:bodyPr/>
                    <a:lstStyle/>
                    <a:p>
                      <a:pPr indent="0" lvl="0" marL="0" marR="0" rtl="0" algn="l">
                        <a:lnSpc>
                          <a:spcPct val="100000"/>
                        </a:lnSpc>
                        <a:spcBef>
                          <a:spcPts val="0"/>
                        </a:spcBef>
                        <a:spcAft>
                          <a:spcPts val="0"/>
                        </a:spcAft>
                        <a:buClr>
                          <a:srgbClr val="37474F"/>
                        </a:buClr>
                        <a:buSzPts val="1200"/>
                        <a:buFont typeface="Calibri"/>
                        <a:buNone/>
                      </a:pPr>
                      <a:r>
                        <a:rPr lang="en" sz="1200" u="none" cap="none" strike="noStrike">
                          <a:solidFill>
                            <a:srgbClr val="37474F"/>
                          </a:solidFill>
                          <a:latin typeface="Calibri"/>
                          <a:ea typeface="Calibri"/>
                          <a:cs typeface="Calibri"/>
                          <a:sym typeface="Calibri"/>
                        </a:rPr>
                        <a:t>Right balance of complexity &amp; generalization</a:t>
                      </a:r>
                      <a:endParaRPr sz="1200" u="none" cap="none" strike="noStrike">
                        <a:latin typeface="Calibri"/>
                        <a:ea typeface="Calibri"/>
                        <a:cs typeface="Calibri"/>
                        <a:sym typeface="Calibri"/>
                      </a:endParaRPr>
                    </a:p>
                  </a:txBody>
                  <a:tcPr marT="45725" marB="45725" marR="91450" marL="91450">
                    <a:lnL cap="flat" cmpd="sng" w="9525">
                      <a:solidFill>
                        <a:srgbClr val="CFD8DC"/>
                      </a:solidFill>
                      <a:prstDash val="solid"/>
                      <a:round/>
                      <a:headEnd len="sm" w="sm" type="none"/>
                      <a:tailEnd len="sm" w="sm" type="none"/>
                    </a:lnL>
                    <a:lnR cap="flat" cmpd="sng" w="9525">
                      <a:solidFill>
                        <a:srgbClr val="CFD8DC"/>
                      </a:solidFill>
                      <a:prstDash val="solid"/>
                      <a:round/>
                      <a:headEnd len="sm" w="sm" type="none"/>
                      <a:tailEnd len="sm" w="sm" type="none"/>
                    </a:lnR>
                    <a:lnT cap="flat" cmpd="sng" w="9525">
                      <a:solidFill>
                        <a:srgbClr val="CFD8DC"/>
                      </a:solidFill>
                      <a:prstDash val="solid"/>
                      <a:round/>
                      <a:headEnd len="sm" w="sm" type="none"/>
                      <a:tailEnd len="sm" w="sm" type="none"/>
                    </a:lnT>
                    <a:lnB cap="flat" cmpd="sng" w="9525">
                      <a:solidFill>
                        <a:srgbClr val="CFD8D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37474F"/>
                        </a:buClr>
                        <a:buSzPts val="1200"/>
                        <a:buFont typeface="Calibri"/>
                        <a:buNone/>
                      </a:pPr>
                      <a:r>
                        <a:rPr lang="en" sz="1200" u="none" cap="none" strike="noStrike">
                          <a:solidFill>
                            <a:srgbClr val="37474F"/>
                          </a:solidFill>
                          <a:latin typeface="Calibri"/>
                          <a:ea typeface="Calibri"/>
                          <a:cs typeface="Calibri"/>
                          <a:sym typeface="Calibri"/>
                        </a:rPr>
                        <a:t>—</a:t>
                      </a:r>
                      <a:endParaRPr sz="1200" u="none" cap="none" strike="noStrike">
                        <a:latin typeface="Calibri"/>
                        <a:ea typeface="Calibri"/>
                        <a:cs typeface="Calibri"/>
                        <a:sym typeface="Calibri"/>
                      </a:endParaRPr>
                    </a:p>
                  </a:txBody>
                  <a:tcPr marT="45725" marB="45725" marR="91450" marL="91450">
                    <a:lnL cap="flat" cmpd="sng" w="9525">
                      <a:solidFill>
                        <a:srgbClr val="CFD8DC"/>
                      </a:solidFill>
                      <a:prstDash val="solid"/>
                      <a:round/>
                      <a:headEnd len="sm" w="sm" type="none"/>
                      <a:tailEnd len="sm" w="sm" type="none"/>
                    </a:lnL>
                    <a:lnR cap="flat" cmpd="sng" w="9525">
                      <a:solidFill>
                        <a:srgbClr val="CFD8DC"/>
                      </a:solidFill>
                      <a:prstDash val="solid"/>
                      <a:round/>
                      <a:headEnd len="sm" w="sm" type="none"/>
                      <a:tailEnd len="sm" w="sm" type="none"/>
                    </a:lnR>
                    <a:lnT cap="flat" cmpd="sng" w="9525">
                      <a:solidFill>
                        <a:srgbClr val="CFD8DC"/>
                      </a:solidFill>
                      <a:prstDash val="solid"/>
                      <a:round/>
                      <a:headEnd len="sm" w="sm" type="none"/>
                      <a:tailEnd len="sm" w="sm" type="none"/>
                    </a:lnT>
                    <a:lnB cap="flat" cmpd="sng" w="9525">
                      <a:solidFill>
                        <a:srgbClr val="CFD8D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37474F"/>
                        </a:buClr>
                        <a:buSzPts val="1200"/>
                        <a:buFont typeface="Calibri"/>
                        <a:buNone/>
                      </a:pPr>
                      <a:r>
                        <a:rPr lang="en" sz="1200" u="none" cap="none" strike="noStrike">
                          <a:solidFill>
                            <a:srgbClr val="37474F"/>
                          </a:solidFill>
                          <a:latin typeface="Calibri"/>
                          <a:ea typeface="Calibri"/>
                          <a:cs typeface="Calibri"/>
                          <a:sym typeface="Calibri"/>
                        </a:rPr>
                        <a:t>This is the goal  ✓</a:t>
                      </a:r>
                      <a:endParaRPr sz="1200" u="none" cap="none" strike="noStrike">
                        <a:latin typeface="Calibri"/>
                        <a:ea typeface="Calibri"/>
                        <a:cs typeface="Calibri"/>
                        <a:sym typeface="Calibri"/>
                      </a:endParaRPr>
                    </a:p>
                  </a:txBody>
                  <a:tcPr marT="45725" marB="45725" marR="91450" marL="91450">
                    <a:lnL cap="flat" cmpd="sng" w="9525">
                      <a:solidFill>
                        <a:srgbClr val="CFD8DC"/>
                      </a:solidFill>
                      <a:prstDash val="solid"/>
                      <a:round/>
                      <a:headEnd len="sm" w="sm" type="none"/>
                      <a:tailEnd len="sm" w="sm" type="none"/>
                    </a:lnL>
                    <a:lnR cap="flat" cmpd="sng" w="9525">
                      <a:solidFill>
                        <a:srgbClr val="CFD8DC"/>
                      </a:solidFill>
                      <a:prstDash val="solid"/>
                      <a:round/>
                      <a:headEnd len="sm" w="sm" type="none"/>
                      <a:tailEnd len="sm" w="sm" type="none"/>
                    </a:lnR>
                    <a:lnT cap="flat" cmpd="sng" w="9525">
                      <a:solidFill>
                        <a:srgbClr val="CFD8DC"/>
                      </a:solidFill>
                      <a:prstDash val="solid"/>
                      <a:round/>
                      <a:headEnd len="sm" w="sm" type="none"/>
                      <a:tailEnd len="sm" w="sm" type="none"/>
                    </a:lnT>
                    <a:lnB cap="flat" cmpd="sng" w="9525">
                      <a:solidFill>
                        <a:srgbClr val="CFD8DC"/>
                      </a:solidFill>
                      <a:prstDash val="solid"/>
                      <a:round/>
                      <a:headEnd len="sm" w="sm" type="none"/>
                      <a:tailEnd len="sm" w="sm" type="none"/>
                    </a:lnB>
                    <a:solidFill>
                      <a:srgbClr val="FFFFFF"/>
                    </a:solidFill>
                  </a:tcPr>
                </a:tc>
              </a:tr>
              <a:tr h="640075">
                <a:tc>
                  <a:txBody>
                    <a:bodyPr/>
                    <a:lstStyle/>
                    <a:p>
                      <a:pPr indent="0" lvl="0" marL="0" marR="0" rtl="0" algn="ctr">
                        <a:lnSpc>
                          <a:spcPct val="100000"/>
                        </a:lnSpc>
                        <a:spcBef>
                          <a:spcPts val="0"/>
                        </a:spcBef>
                        <a:spcAft>
                          <a:spcPts val="0"/>
                        </a:spcAft>
                        <a:buClr>
                          <a:srgbClr val="C62828"/>
                        </a:buClr>
                        <a:buSzPts val="1200"/>
                        <a:buFont typeface="Calibri"/>
                        <a:buNone/>
                      </a:pPr>
                      <a:r>
                        <a:rPr b="1" lang="en" sz="1200" u="none" cap="none" strike="noStrike">
                          <a:solidFill>
                            <a:srgbClr val="C62828"/>
                          </a:solidFill>
                          <a:latin typeface="Calibri"/>
                          <a:ea typeface="Calibri"/>
                          <a:cs typeface="Calibri"/>
                          <a:sym typeface="Calibri"/>
                        </a:rPr>
                        <a:t>Overfitting</a:t>
                      </a:r>
                      <a:endParaRPr sz="1200" u="none" cap="none" strike="noStrike">
                        <a:latin typeface="Calibri"/>
                        <a:ea typeface="Calibri"/>
                        <a:cs typeface="Calibri"/>
                        <a:sym typeface="Calibri"/>
                      </a:endParaRPr>
                    </a:p>
                  </a:txBody>
                  <a:tcPr marT="45725" marB="45725" marR="91450" marL="91450">
                    <a:lnL cap="flat" cmpd="sng" w="9525">
                      <a:solidFill>
                        <a:srgbClr val="CFD8DC"/>
                      </a:solidFill>
                      <a:prstDash val="solid"/>
                      <a:round/>
                      <a:headEnd len="sm" w="sm" type="none"/>
                      <a:tailEnd len="sm" w="sm" type="none"/>
                    </a:lnL>
                    <a:lnR cap="flat" cmpd="sng" w="9525">
                      <a:solidFill>
                        <a:srgbClr val="CFD8DC"/>
                      </a:solidFill>
                      <a:prstDash val="solid"/>
                      <a:round/>
                      <a:headEnd len="sm" w="sm" type="none"/>
                      <a:tailEnd len="sm" w="sm" type="none"/>
                    </a:lnR>
                    <a:lnT cap="flat" cmpd="sng" w="9525">
                      <a:solidFill>
                        <a:srgbClr val="CFD8DC"/>
                      </a:solidFill>
                      <a:prstDash val="solid"/>
                      <a:round/>
                      <a:headEnd len="sm" w="sm" type="none"/>
                      <a:tailEnd len="sm" w="sm" type="none"/>
                    </a:lnT>
                    <a:lnB cap="flat" cmpd="sng" w="9525">
                      <a:solidFill>
                        <a:srgbClr val="CFD8DC"/>
                      </a:solidFill>
                      <a:prstDash val="solid"/>
                      <a:round/>
                      <a:headEnd len="sm" w="sm" type="none"/>
                      <a:tailEnd len="sm" w="sm" type="none"/>
                    </a:lnB>
                    <a:solidFill>
                      <a:srgbClr val="FFEBEE"/>
                    </a:solidFill>
                  </a:tcPr>
                </a:tc>
                <a:tc>
                  <a:txBody>
                    <a:bodyPr/>
                    <a:lstStyle/>
                    <a:p>
                      <a:pPr indent="0" lvl="0" marL="0" marR="0" rtl="0" algn="l">
                        <a:lnSpc>
                          <a:spcPct val="100000"/>
                        </a:lnSpc>
                        <a:spcBef>
                          <a:spcPts val="0"/>
                        </a:spcBef>
                        <a:spcAft>
                          <a:spcPts val="0"/>
                        </a:spcAft>
                        <a:buClr>
                          <a:srgbClr val="37474F"/>
                        </a:buClr>
                        <a:buSzPts val="1200"/>
                        <a:buFont typeface="Calibri"/>
                        <a:buNone/>
                      </a:pPr>
                      <a:r>
                        <a:rPr lang="en" sz="1200" u="none" cap="none" strike="noStrike">
                          <a:solidFill>
                            <a:srgbClr val="37474F"/>
                          </a:solidFill>
                          <a:latin typeface="Calibri"/>
                          <a:ea typeface="Calibri"/>
                          <a:cs typeface="Calibri"/>
                          <a:sym typeface="Calibri"/>
                        </a:rPr>
                        <a:t>Model memorizes training data, fails on new data</a:t>
                      </a:r>
                      <a:endParaRPr sz="1200" u="none" cap="none" strike="noStrike">
                        <a:latin typeface="Calibri"/>
                        <a:ea typeface="Calibri"/>
                        <a:cs typeface="Calibri"/>
                        <a:sym typeface="Calibri"/>
                      </a:endParaRPr>
                    </a:p>
                  </a:txBody>
                  <a:tcPr marT="45725" marB="45725" marR="91450" marL="91450">
                    <a:lnL cap="flat" cmpd="sng" w="9525">
                      <a:solidFill>
                        <a:srgbClr val="CFD8DC"/>
                      </a:solidFill>
                      <a:prstDash val="solid"/>
                      <a:round/>
                      <a:headEnd len="sm" w="sm" type="none"/>
                      <a:tailEnd len="sm" w="sm" type="none"/>
                    </a:lnL>
                    <a:lnR cap="flat" cmpd="sng" w="9525">
                      <a:solidFill>
                        <a:srgbClr val="CFD8DC"/>
                      </a:solidFill>
                      <a:prstDash val="solid"/>
                      <a:round/>
                      <a:headEnd len="sm" w="sm" type="none"/>
                      <a:tailEnd len="sm" w="sm" type="none"/>
                    </a:lnR>
                    <a:lnT cap="flat" cmpd="sng" w="9525">
                      <a:solidFill>
                        <a:srgbClr val="CFD8DC"/>
                      </a:solidFill>
                      <a:prstDash val="solid"/>
                      <a:round/>
                      <a:headEnd len="sm" w="sm" type="none"/>
                      <a:tailEnd len="sm" w="sm" type="none"/>
                    </a:lnT>
                    <a:lnB cap="flat" cmpd="sng" w="9525">
                      <a:solidFill>
                        <a:srgbClr val="CFD8D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37474F"/>
                        </a:buClr>
                        <a:buSzPts val="1200"/>
                        <a:buFont typeface="Calibri"/>
                        <a:buNone/>
                      </a:pPr>
                      <a:r>
                        <a:rPr lang="en" sz="1200" u="none" cap="none" strike="noStrike">
                          <a:solidFill>
                            <a:srgbClr val="37474F"/>
                          </a:solidFill>
                          <a:latin typeface="Calibri"/>
                          <a:ea typeface="Calibri"/>
                          <a:cs typeface="Calibri"/>
                          <a:sym typeface="Calibri"/>
                        </a:rPr>
                        <a:t>—</a:t>
                      </a:r>
                      <a:endParaRPr sz="1200" u="none" cap="none" strike="noStrike">
                        <a:latin typeface="Calibri"/>
                        <a:ea typeface="Calibri"/>
                        <a:cs typeface="Calibri"/>
                        <a:sym typeface="Calibri"/>
                      </a:endParaRPr>
                    </a:p>
                  </a:txBody>
                  <a:tcPr marT="45725" marB="45725" marR="91450" marL="91450">
                    <a:lnL cap="flat" cmpd="sng" w="9525">
                      <a:solidFill>
                        <a:srgbClr val="CFD8DC"/>
                      </a:solidFill>
                      <a:prstDash val="solid"/>
                      <a:round/>
                      <a:headEnd len="sm" w="sm" type="none"/>
                      <a:tailEnd len="sm" w="sm" type="none"/>
                    </a:lnL>
                    <a:lnR cap="flat" cmpd="sng" w="9525">
                      <a:solidFill>
                        <a:srgbClr val="CFD8DC"/>
                      </a:solidFill>
                      <a:prstDash val="solid"/>
                      <a:round/>
                      <a:headEnd len="sm" w="sm" type="none"/>
                      <a:tailEnd len="sm" w="sm" type="none"/>
                    </a:lnR>
                    <a:lnT cap="flat" cmpd="sng" w="9525">
                      <a:solidFill>
                        <a:srgbClr val="CFD8DC"/>
                      </a:solidFill>
                      <a:prstDash val="solid"/>
                      <a:round/>
                      <a:headEnd len="sm" w="sm" type="none"/>
                      <a:tailEnd len="sm" w="sm" type="none"/>
                    </a:lnT>
                    <a:lnB cap="flat" cmpd="sng" w="9525">
                      <a:solidFill>
                        <a:srgbClr val="CFD8D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37474F"/>
                        </a:buClr>
                        <a:buSzPts val="1200"/>
                        <a:buFont typeface="Calibri"/>
                        <a:buNone/>
                      </a:pPr>
                      <a:r>
                        <a:rPr lang="en" sz="1200" u="none" cap="none" strike="noStrike">
                          <a:solidFill>
                            <a:srgbClr val="37474F"/>
                          </a:solidFill>
                          <a:latin typeface="Calibri"/>
                          <a:ea typeface="Calibri"/>
                          <a:cs typeface="Calibri"/>
                          <a:sym typeface="Calibri"/>
                        </a:rPr>
                        <a:t>Regularize / simplify</a:t>
                      </a:r>
                      <a:endParaRPr sz="1200" u="none" cap="none" strike="noStrike">
                        <a:latin typeface="Calibri"/>
                        <a:ea typeface="Calibri"/>
                        <a:cs typeface="Calibri"/>
                        <a:sym typeface="Calibri"/>
                      </a:endParaRPr>
                    </a:p>
                  </a:txBody>
                  <a:tcPr marT="45725" marB="45725" marR="91450" marL="91450">
                    <a:lnL cap="flat" cmpd="sng" w="9525">
                      <a:solidFill>
                        <a:srgbClr val="CFD8DC"/>
                      </a:solidFill>
                      <a:prstDash val="solid"/>
                      <a:round/>
                      <a:headEnd len="sm" w="sm" type="none"/>
                      <a:tailEnd len="sm" w="sm" type="none"/>
                    </a:lnL>
                    <a:lnR cap="flat" cmpd="sng" w="9525">
                      <a:solidFill>
                        <a:srgbClr val="CFD8DC"/>
                      </a:solidFill>
                      <a:prstDash val="solid"/>
                      <a:round/>
                      <a:headEnd len="sm" w="sm" type="none"/>
                      <a:tailEnd len="sm" w="sm" type="none"/>
                    </a:lnR>
                    <a:lnT cap="flat" cmpd="sng" w="9525">
                      <a:solidFill>
                        <a:srgbClr val="CFD8DC"/>
                      </a:solidFill>
                      <a:prstDash val="solid"/>
                      <a:round/>
                      <a:headEnd len="sm" w="sm" type="none"/>
                      <a:tailEnd len="sm" w="sm" type="none"/>
                    </a:lnT>
                    <a:lnB cap="flat" cmpd="sng" w="9525">
                      <a:solidFill>
                        <a:srgbClr val="CFD8DC"/>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810" name="Shape 810"/>
        <p:cNvGrpSpPr/>
        <p:nvPr/>
      </p:nvGrpSpPr>
      <p:grpSpPr>
        <a:xfrm>
          <a:off x="0" y="0"/>
          <a:ext cx="0" cy="0"/>
          <a:chOff x="0" y="0"/>
          <a:chExt cx="0" cy="0"/>
        </a:xfrm>
      </p:grpSpPr>
      <p:sp>
        <p:nvSpPr>
          <p:cNvPr id="811" name="Google Shape;811;p20"/>
          <p:cNvSpPr/>
          <p:nvPr/>
        </p:nvSpPr>
        <p:spPr>
          <a:xfrm>
            <a:off x="274320" y="109728"/>
            <a:ext cx="8595300" cy="502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E293B"/>
              </a:buClr>
              <a:buSzPts val="2200"/>
              <a:buFont typeface="Calibri"/>
              <a:buNone/>
            </a:pPr>
            <a:r>
              <a:rPr b="1" i="0" lang="en" sz="2200" u="none" cap="none" strike="noStrike">
                <a:solidFill>
                  <a:srgbClr val="1E293B"/>
                </a:solidFill>
                <a:latin typeface="Calibri"/>
                <a:ea typeface="Calibri"/>
                <a:cs typeface="Calibri"/>
                <a:sym typeface="Calibri"/>
              </a:rPr>
              <a:t>From Perceptron to Specialized Architectures</a:t>
            </a:r>
            <a:endParaRPr b="0" i="0" sz="2200" u="none" cap="none" strike="noStrike">
              <a:solidFill>
                <a:schemeClr val="dk1"/>
              </a:solidFill>
              <a:latin typeface="Calibri"/>
              <a:ea typeface="Calibri"/>
              <a:cs typeface="Calibri"/>
              <a:sym typeface="Calibri"/>
            </a:endParaRPr>
          </a:p>
        </p:txBody>
      </p:sp>
      <p:sp>
        <p:nvSpPr>
          <p:cNvPr id="812" name="Google Shape;812;p20"/>
          <p:cNvSpPr/>
          <p:nvPr/>
        </p:nvSpPr>
        <p:spPr>
          <a:xfrm>
            <a:off x="3200400" y="621792"/>
            <a:ext cx="2743200" cy="27300"/>
          </a:xfrm>
          <a:prstGeom prst="rect">
            <a:avLst/>
          </a:prstGeom>
          <a:solidFill>
            <a:srgbClr val="0EA5E9"/>
          </a:solidFill>
          <a:ln cap="flat" cmpd="sng" w="12700">
            <a:solidFill>
              <a:srgbClr val="0EA5E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3" name="Google Shape;813;p20"/>
          <p:cNvSpPr/>
          <p:nvPr/>
        </p:nvSpPr>
        <p:spPr>
          <a:xfrm>
            <a:off x="228600" y="4206240"/>
            <a:ext cx="8686800" cy="36600"/>
          </a:xfrm>
          <a:prstGeom prst="rect">
            <a:avLst/>
          </a:prstGeom>
          <a:solidFill>
            <a:srgbClr val="CBD5E1"/>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4" name="Google Shape;814;p20"/>
          <p:cNvSpPr/>
          <p:nvPr/>
        </p:nvSpPr>
        <p:spPr>
          <a:xfrm>
            <a:off x="8823960" y="4142232"/>
            <a:ext cx="109800" cy="164700"/>
          </a:xfrm>
          <a:prstGeom prst="rect">
            <a:avLst/>
          </a:prstGeom>
          <a:solidFill>
            <a:srgbClr val="0EA5E9"/>
          </a:solidFill>
          <a:ln cap="flat" cmpd="sng" w="12700">
            <a:solidFill>
              <a:srgbClr val="0EA5E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5" name="Google Shape;815;p20"/>
          <p:cNvSpPr/>
          <p:nvPr/>
        </p:nvSpPr>
        <p:spPr>
          <a:xfrm>
            <a:off x="164592" y="749808"/>
            <a:ext cx="1664100" cy="3291900"/>
          </a:xfrm>
          <a:prstGeom prst="rect">
            <a:avLst/>
          </a:prstGeom>
          <a:solidFill>
            <a:srgbClr val="FFFFFF"/>
          </a:solidFill>
          <a:ln cap="flat" cmpd="sng" w="15225">
            <a:solidFill>
              <a:srgbClr val="6366F1"/>
            </a:solidFill>
            <a:prstDash val="solid"/>
            <a:round/>
            <a:headEnd len="sm" w="sm" type="none"/>
            <a:tailEnd len="sm" w="sm" type="none"/>
          </a:ln>
          <a:effectLst>
            <a:outerShdw blurRad="762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6" name="Google Shape;816;p20"/>
          <p:cNvSpPr/>
          <p:nvPr/>
        </p:nvSpPr>
        <p:spPr>
          <a:xfrm>
            <a:off x="164592" y="749808"/>
            <a:ext cx="1664100" cy="63900"/>
          </a:xfrm>
          <a:prstGeom prst="rect">
            <a:avLst/>
          </a:prstGeom>
          <a:solidFill>
            <a:srgbClr val="6366F1"/>
          </a:solidFill>
          <a:ln cap="flat" cmpd="sng" w="12700">
            <a:solidFill>
              <a:srgbClr val="6366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7" name="Google Shape;817;p20"/>
          <p:cNvSpPr/>
          <p:nvPr/>
        </p:nvSpPr>
        <p:spPr>
          <a:xfrm>
            <a:off x="237744" y="841248"/>
            <a:ext cx="1518000" cy="201300"/>
          </a:xfrm>
          <a:prstGeom prst="rect">
            <a:avLst/>
          </a:prstGeom>
          <a:solidFill>
            <a:srgbClr val="6366F1">
              <a:alpha val="14902"/>
            </a:srgbClr>
          </a:solidFill>
          <a:ln cap="flat" cmpd="sng" w="9525">
            <a:solidFill>
              <a:srgbClr val="6366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8" name="Google Shape;818;p20"/>
          <p:cNvSpPr/>
          <p:nvPr/>
        </p:nvSpPr>
        <p:spPr>
          <a:xfrm>
            <a:off x="237744" y="841248"/>
            <a:ext cx="1518000" cy="201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366F1"/>
              </a:buClr>
              <a:buSzPts val="800"/>
              <a:buFont typeface="Calibri"/>
              <a:buNone/>
            </a:pPr>
            <a:r>
              <a:rPr b="1" i="0" lang="en" sz="800" u="none" cap="none" strike="noStrike">
                <a:solidFill>
                  <a:srgbClr val="6366F1"/>
                </a:solidFill>
                <a:latin typeface="Calibri"/>
                <a:ea typeface="Calibri"/>
                <a:cs typeface="Calibri"/>
                <a:sym typeface="Calibri"/>
              </a:rPr>
              <a:t>1958</a:t>
            </a:r>
            <a:endParaRPr b="0" i="0" sz="800" u="none" cap="none" strike="noStrike">
              <a:solidFill>
                <a:schemeClr val="dk1"/>
              </a:solidFill>
              <a:latin typeface="Calibri"/>
              <a:ea typeface="Calibri"/>
              <a:cs typeface="Calibri"/>
              <a:sym typeface="Calibri"/>
            </a:endParaRPr>
          </a:p>
        </p:txBody>
      </p:sp>
      <p:sp>
        <p:nvSpPr>
          <p:cNvPr id="819" name="Google Shape;819;p20"/>
          <p:cNvSpPr/>
          <p:nvPr/>
        </p:nvSpPr>
        <p:spPr>
          <a:xfrm>
            <a:off x="219456" y="1069848"/>
            <a:ext cx="1554600" cy="292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293B"/>
              </a:buClr>
              <a:buSzPts val="1300"/>
              <a:buFont typeface="Calibri"/>
              <a:buNone/>
            </a:pPr>
            <a:r>
              <a:rPr b="1" i="0" lang="en" sz="1300" u="none" cap="none" strike="noStrike">
                <a:solidFill>
                  <a:srgbClr val="1E293B"/>
                </a:solidFill>
                <a:latin typeface="Calibri"/>
                <a:ea typeface="Calibri"/>
                <a:cs typeface="Calibri"/>
                <a:sym typeface="Calibri"/>
              </a:rPr>
              <a:t>Perceptron</a:t>
            </a:r>
            <a:endParaRPr b="0" i="0" sz="1300" u="none" cap="none" strike="noStrike">
              <a:solidFill>
                <a:schemeClr val="dk1"/>
              </a:solidFill>
              <a:latin typeface="Calibri"/>
              <a:ea typeface="Calibri"/>
              <a:cs typeface="Calibri"/>
              <a:sym typeface="Calibri"/>
            </a:endParaRPr>
          </a:p>
        </p:txBody>
      </p:sp>
      <p:sp>
        <p:nvSpPr>
          <p:cNvPr id="820" name="Google Shape;820;p20"/>
          <p:cNvSpPr/>
          <p:nvPr/>
        </p:nvSpPr>
        <p:spPr>
          <a:xfrm>
            <a:off x="237744" y="1389888"/>
            <a:ext cx="1518000" cy="1005900"/>
          </a:xfrm>
          <a:prstGeom prst="rect">
            <a:avLst/>
          </a:prstGeom>
          <a:solidFill>
            <a:srgbClr val="F1F5F9"/>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1" name="Google Shape;821;p20"/>
          <p:cNvSpPr/>
          <p:nvPr/>
        </p:nvSpPr>
        <p:spPr>
          <a:xfrm>
            <a:off x="283464" y="1481328"/>
            <a:ext cx="183000" cy="183000"/>
          </a:xfrm>
          <a:prstGeom prst="ellipse">
            <a:avLst/>
          </a:prstGeom>
          <a:solidFill>
            <a:srgbClr val="E2E8F0"/>
          </a:solidFill>
          <a:ln cap="flat" cmpd="sng" w="12700">
            <a:solidFill>
              <a:srgbClr val="6366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822" name="Google Shape;822;p20"/>
          <p:cNvCxnSpPr/>
          <p:nvPr/>
        </p:nvCxnSpPr>
        <p:spPr>
          <a:xfrm>
            <a:off x="466344" y="1572768"/>
            <a:ext cx="502800" cy="0"/>
          </a:xfrm>
          <a:prstGeom prst="straightConnector1">
            <a:avLst/>
          </a:prstGeom>
          <a:noFill/>
          <a:ln cap="flat" cmpd="sng" w="12700">
            <a:solidFill>
              <a:srgbClr val="818CF8"/>
            </a:solidFill>
            <a:prstDash val="solid"/>
            <a:round/>
            <a:headEnd len="sm" w="sm" type="none"/>
            <a:tailEnd len="sm" w="sm" type="none"/>
          </a:ln>
        </p:spPr>
      </p:cxnSp>
      <p:sp>
        <p:nvSpPr>
          <p:cNvPr id="823" name="Google Shape;823;p20"/>
          <p:cNvSpPr/>
          <p:nvPr/>
        </p:nvSpPr>
        <p:spPr>
          <a:xfrm>
            <a:off x="283464" y="1801368"/>
            <a:ext cx="183000" cy="183000"/>
          </a:xfrm>
          <a:prstGeom prst="ellipse">
            <a:avLst/>
          </a:prstGeom>
          <a:solidFill>
            <a:srgbClr val="E2E8F0"/>
          </a:solidFill>
          <a:ln cap="flat" cmpd="sng" w="12700">
            <a:solidFill>
              <a:srgbClr val="6366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824" name="Google Shape;824;p20"/>
          <p:cNvCxnSpPr/>
          <p:nvPr/>
        </p:nvCxnSpPr>
        <p:spPr>
          <a:xfrm>
            <a:off x="466344" y="1892808"/>
            <a:ext cx="502800" cy="0"/>
          </a:xfrm>
          <a:prstGeom prst="straightConnector1">
            <a:avLst/>
          </a:prstGeom>
          <a:noFill/>
          <a:ln cap="flat" cmpd="sng" w="12700">
            <a:solidFill>
              <a:srgbClr val="818CF8"/>
            </a:solidFill>
            <a:prstDash val="solid"/>
            <a:round/>
            <a:headEnd len="sm" w="sm" type="none"/>
            <a:tailEnd len="sm" w="sm" type="none"/>
          </a:ln>
        </p:spPr>
      </p:cxnSp>
      <p:sp>
        <p:nvSpPr>
          <p:cNvPr id="825" name="Google Shape;825;p20"/>
          <p:cNvSpPr/>
          <p:nvPr/>
        </p:nvSpPr>
        <p:spPr>
          <a:xfrm>
            <a:off x="283464" y="2121408"/>
            <a:ext cx="183000" cy="183000"/>
          </a:xfrm>
          <a:prstGeom prst="ellipse">
            <a:avLst/>
          </a:prstGeom>
          <a:solidFill>
            <a:srgbClr val="E2E8F0"/>
          </a:solidFill>
          <a:ln cap="flat" cmpd="sng" w="12700">
            <a:solidFill>
              <a:srgbClr val="6366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826" name="Google Shape;826;p20"/>
          <p:cNvCxnSpPr/>
          <p:nvPr/>
        </p:nvCxnSpPr>
        <p:spPr>
          <a:xfrm>
            <a:off x="466344" y="2212848"/>
            <a:ext cx="502800" cy="0"/>
          </a:xfrm>
          <a:prstGeom prst="straightConnector1">
            <a:avLst/>
          </a:prstGeom>
          <a:noFill/>
          <a:ln cap="flat" cmpd="sng" w="12700">
            <a:solidFill>
              <a:srgbClr val="818CF8"/>
            </a:solidFill>
            <a:prstDash val="solid"/>
            <a:round/>
            <a:headEnd len="sm" w="sm" type="none"/>
            <a:tailEnd len="sm" w="sm" type="none"/>
          </a:ln>
        </p:spPr>
      </p:cxnSp>
      <p:sp>
        <p:nvSpPr>
          <p:cNvPr id="827" name="Google Shape;827;p20"/>
          <p:cNvSpPr/>
          <p:nvPr/>
        </p:nvSpPr>
        <p:spPr>
          <a:xfrm>
            <a:off x="877824" y="1755648"/>
            <a:ext cx="347400" cy="347400"/>
          </a:xfrm>
          <a:prstGeom prst="ellipse">
            <a:avLst/>
          </a:prstGeom>
          <a:solidFill>
            <a:srgbClr val="6366F1">
              <a:alpha val="70196"/>
            </a:srgbClr>
          </a:solidFill>
          <a:ln cap="flat" cmpd="sng" w="19050">
            <a:solidFill>
              <a:srgbClr val="6366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828" name="Google Shape;828;p20"/>
          <p:cNvCxnSpPr/>
          <p:nvPr/>
        </p:nvCxnSpPr>
        <p:spPr>
          <a:xfrm>
            <a:off x="1225296" y="1929384"/>
            <a:ext cx="411600" cy="0"/>
          </a:xfrm>
          <a:prstGeom prst="straightConnector1">
            <a:avLst/>
          </a:prstGeom>
          <a:noFill/>
          <a:ln cap="flat" cmpd="sng" w="12700">
            <a:solidFill>
              <a:srgbClr val="818CF8"/>
            </a:solidFill>
            <a:prstDash val="solid"/>
            <a:round/>
            <a:headEnd len="sm" w="sm" type="none"/>
            <a:tailEnd len="sm" w="sm" type="none"/>
          </a:ln>
        </p:spPr>
      </p:cxnSp>
      <p:sp>
        <p:nvSpPr>
          <p:cNvPr id="829" name="Google Shape;829;p20"/>
          <p:cNvSpPr/>
          <p:nvPr/>
        </p:nvSpPr>
        <p:spPr>
          <a:xfrm>
            <a:off x="1527048" y="1837944"/>
            <a:ext cx="183000" cy="183000"/>
          </a:xfrm>
          <a:prstGeom prst="ellipse">
            <a:avLst/>
          </a:prstGeom>
          <a:solidFill>
            <a:srgbClr val="E2E8F0"/>
          </a:solidFill>
          <a:ln cap="flat" cmpd="sng" w="12700">
            <a:solidFill>
              <a:srgbClr val="6366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0" name="Google Shape;830;p20"/>
          <p:cNvSpPr/>
          <p:nvPr/>
        </p:nvSpPr>
        <p:spPr>
          <a:xfrm>
            <a:off x="877824" y="1755648"/>
            <a:ext cx="347400" cy="347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200"/>
              <a:buFont typeface="Calibri"/>
              <a:buNone/>
            </a:pPr>
            <a:r>
              <a:rPr b="0" i="0" lang="en" sz="1200" u="none" cap="none" strike="noStrike">
                <a:solidFill>
                  <a:srgbClr val="FFFFFF"/>
                </a:solidFill>
                <a:latin typeface="Calibri"/>
                <a:ea typeface="Calibri"/>
                <a:cs typeface="Calibri"/>
                <a:sym typeface="Calibri"/>
              </a:rPr>
              <a:t>Σ</a:t>
            </a:r>
            <a:endParaRPr b="0" i="0" sz="1200" u="none" cap="none" strike="noStrike">
              <a:solidFill>
                <a:schemeClr val="dk1"/>
              </a:solidFill>
              <a:latin typeface="Calibri"/>
              <a:ea typeface="Calibri"/>
              <a:cs typeface="Calibri"/>
              <a:sym typeface="Calibri"/>
            </a:endParaRPr>
          </a:p>
        </p:txBody>
      </p:sp>
      <p:sp>
        <p:nvSpPr>
          <p:cNvPr id="831" name="Google Shape;831;p20"/>
          <p:cNvSpPr/>
          <p:nvPr/>
        </p:nvSpPr>
        <p:spPr>
          <a:xfrm>
            <a:off x="237744" y="2441448"/>
            <a:ext cx="1518000" cy="1417200"/>
          </a:xfrm>
          <a:prstGeom prst="rect">
            <a:avLst/>
          </a:prstGeom>
          <a:noFill/>
          <a:ln>
            <a:noFill/>
          </a:ln>
        </p:spPr>
        <p:txBody>
          <a:bodyPr anchorCtr="0" anchor="t" bIns="38100" lIns="38100" spcFirstLastPara="1" rIns="38100" wrap="square" tIns="38100">
            <a:noAutofit/>
          </a:bodyPr>
          <a:lstStyle/>
          <a:p>
            <a:pPr indent="0" lvl="0" marL="0" marR="0" rtl="0" algn="l">
              <a:lnSpc>
                <a:spcPct val="125000"/>
              </a:lnSpc>
              <a:spcBef>
                <a:spcPts val="0"/>
              </a:spcBef>
              <a:spcAft>
                <a:spcPts val="0"/>
              </a:spcAft>
              <a:buClr>
                <a:srgbClr val="6366F1"/>
              </a:buClr>
              <a:buSzPts val="900"/>
              <a:buFont typeface="Calibri"/>
              <a:buNone/>
            </a:pPr>
            <a:r>
              <a:rPr b="1" i="0" lang="en" sz="900" u="none" cap="none" strike="noStrike">
                <a:solidFill>
                  <a:srgbClr val="6366F1"/>
                </a:solidFill>
                <a:latin typeface="Calibri"/>
                <a:ea typeface="Calibri"/>
                <a:cs typeface="Calibri"/>
                <a:sym typeface="Calibri"/>
              </a:rPr>
              <a:t>Single neuron</a:t>
            </a:r>
            <a:endParaRPr b="0" i="0" sz="9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334155"/>
              </a:buClr>
              <a:buSzPts val="900"/>
              <a:buFont typeface="Calibri"/>
              <a:buNone/>
            </a:pPr>
            <a:r>
              <a:rPr b="0" i="0" lang="en" sz="900" u="none" cap="none" strike="noStrike">
                <a:solidFill>
                  <a:srgbClr val="334155"/>
                </a:solidFill>
                <a:latin typeface="Calibri"/>
                <a:ea typeface="Calibri"/>
                <a:cs typeface="Calibri"/>
                <a:sym typeface="Calibri"/>
              </a:rPr>
              <a:t>Binary output</a:t>
            </a:r>
            <a:endParaRPr b="0" i="0" sz="9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334155"/>
              </a:buClr>
              <a:buSzPts val="900"/>
              <a:buFont typeface="Calibri"/>
              <a:buNone/>
            </a:pPr>
            <a:r>
              <a:rPr b="0" i="0" lang="en" sz="900" u="none" cap="none" strike="noStrike">
                <a:solidFill>
                  <a:srgbClr val="334155"/>
                </a:solidFill>
                <a:latin typeface="Calibri"/>
                <a:ea typeface="Calibri"/>
                <a:cs typeface="Calibri"/>
                <a:sym typeface="Calibri"/>
              </a:rPr>
              <a:t>Linear boundary</a:t>
            </a:r>
            <a:endParaRPr b="0" i="0" sz="9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334155"/>
              </a:buClr>
              <a:buSzPts val="900"/>
              <a:buFont typeface="Calibri"/>
              <a:buNone/>
            </a:pPr>
            <a:r>
              <a:rPr b="0" i="0" lang="en" sz="900" u="none" cap="none" strike="noStrike">
                <a:solidFill>
                  <a:srgbClr val="334155"/>
                </a:solidFill>
                <a:latin typeface="Calibri"/>
                <a:ea typeface="Calibri"/>
                <a:cs typeface="Calibri"/>
                <a:sym typeface="Calibri"/>
              </a:rPr>
              <a:t>Step activation</a:t>
            </a:r>
            <a:endParaRPr b="0" i="0" sz="900" u="none" cap="none" strike="noStrike">
              <a:solidFill>
                <a:schemeClr val="dk1"/>
              </a:solidFill>
              <a:latin typeface="Calibri"/>
              <a:ea typeface="Calibri"/>
              <a:cs typeface="Calibri"/>
              <a:sym typeface="Calibri"/>
            </a:endParaRPr>
          </a:p>
        </p:txBody>
      </p:sp>
      <p:sp>
        <p:nvSpPr>
          <p:cNvPr id="832" name="Google Shape;832;p20"/>
          <p:cNvSpPr/>
          <p:nvPr/>
        </p:nvSpPr>
        <p:spPr>
          <a:xfrm>
            <a:off x="914400" y="4142232"/>
            <a:ext cx="164700" cy="164700"/>
          </a:xfrm>
          <a:prstGeom prst="ellipse">
            <a:avLst/>
          </a:prstGeom>
          <a:solidFill>
            <a:srgbClr val="6366F1"/>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3" name="Google Shape;833;p20"/>
          <p:cNvSpPr/>
          <p:nvPr/>
        </p:nvSpPr>
        <p:spPr>
          <a:xfrm>
            <a:off x="1901952" y="749808"/>
            <a:ext cx="1664100" cy="3291900"/>
          </a:xfrm>
          <a:prstGeom prst="rect">
            <a:avLst/>
          </a:prstGeom>
          <a:solidFill>
            <a:srgbClr val="FFFFFF"/>
          </a:solidFill>
          <a:ln cap="flat" cmpd="sng" w="15225">
            <a:solidFill>
              <a:srgbClr val="0EA5E9"/>
            </a:solidFill>
            <a:prstDash val="solid"/>
            <a:round/>
            <a:headEnd len="sm" w="sm" type="none"/>
            <a:tailEnd len="sm" w="sm" type="none"/>
          </a:ln>
          <a:effectLst>
            <a:outerShdw blurRad="762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4" name="Google Shape;834;p20"/>
          <p:cNvSpPr/>
          <p:nvPr/>
        </p:nvSpPr>
        <p:spPr>
          <a:xfrm>
            <a:off x="1901952" y="749808"/>
            <a:ext cx="1664100" cy="63900"/>
          </a:xfrm>
          <a:prstGeom prst="rect">
            <a:avLst/>
          </a:prstGeom>
          <a:solidFill>
            <a:srgbClr val="0EA5E9"/>
          </a:solidFill>
          <a:ln cap="flat" cmpd="sng" w="12700">
            <a:solidFill>
              <a:srgbClr val="0EA5E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5" name="Google Shape;835;p20"/>
          <p:cNvSpPr/>
          <p:nvPr/>
        </p:nvSpPr>
        <p:spPr>
          <a:xfrm>
            <a:off x="1975104" y="841248"/>
            <a:ext cx="1518000" cy="201300"/>
          </a:xfrm>
          <a:prstGeom prst="rect">
            <a:avLst/>
          </a:prstGeom>
          <a:solidFill>
            <a:srgbClr val="0EA5E9">
              <a:alpha val="14902"/>
            </a:srgbClr>
          </a:solidFill>
          <a:ln cap="flat" cmpd="sng" w="9525">
            <a:solidFill>
              <a:srgbClr val="0EA5E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6" name="Google Shape;836;p20"/>
          <p:cNvSpPr/>
          <p:nvPr/>
        </p:nvSpPr>
        <p:spPr>
          <a:xfrm>
            <a:off x="1975104" y="841248"/>
            <a:ext cx="1518000" cy="201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EA5E9"/>
              </a:buClr>
              <a:buSzPts val="800"/>
              <a:buFont typeface="Calibri"/>
              <a:buNone/>
            </a:pPr>
            <a:r>
              <a:rPr b="1" i="0" lang="en" sz="800" u="none" cap="none" strike="noStrike">
                <a:solidFill>
                  <a:srgbClr val="0EA5E9"/>
                </a:solidFill>
                <a:latin typeface="Calibri"/>
                <a:ea typeface="Calibri"/>
                <a:cs typeface="Calibri"/>
                <a:sym typeface="Calibri"/>
              </a:rPr>
              <a:t>1980s</a:t>
            </a:r>
            <a:endParaRPr b="0" i="0" sz="800" u="none" cap="none" strike="noStrike">
              <a:solidFill>
                <a:schemeClr val="dk1"/>
              </a:solidFill>
              <a:latin typeface="Calibri"/>
              <a:ea typeface="Calibri"/>
              <a:cs typeface="Calibri"/>
              <a:sym typeface="Calibri"/>
            </a:endParaRPr>
          </a:p>
        </p:txBody>
      </p:sp>
      <p:sp>
        <p:nvSpPr>
          <p:cNvPr id="837" name="Google Shape;837;p20"/>
          <p:cNvSpPr/>
          <p:nvPr/>
        </p:nvSpPr>
        <p:spPr>
          <a:xfrm>
            <a:off x="1956816" y="1069848"/>
            <a:ext cx="1554600" cy="292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293B"/>
              </a:buClr>
              <a:buSzPts val="1300"/>
              <a:buFont typeface="Calibri"/>
              <a:buNone/>
            </a:pPr>
            <a:r>
              <a:rPr b="1" i="0" lang="en" sz="1300" u="none" cap="none" strike="noStrike">
                <a:solidFill>
                  <a:srgbClr val="1E293B"/>
                </a:solidFill>
                <a:latin typeface="Calibri"/>
                <a:ea typeface="Calibri"/>
                <a:cs typeface="Calibri"/>
                <a:sym typeface="Calibri"/>
              </a:rPr>
              <a:t>MLP</a:t>
            </a:r>
            <a:endParaRPr b="0" i="0" sz="1300" u="none" cap="none" strike="noStrike">
              <a:solidFill>
                <a:schemeClr val="dk1"/>
              </a:solidFill>
              <a:latin typeface="Calibri"/>
              <a:ea typeface="Calibri"/>
              <a:cs typeface="Calibri"/>
              <a:sym typeface="Calibri"/>
            </a:endParaRPr>
          </a:p>
        </p:txBody>
      </p:sp>
      <p:sp>
        <p:nvSpPr>
          <p:cNvPr id="838" name="Google Shape;838;p20"/>
          <p:cNvSpPr/>
          <p:nvPr/>
        </p:nvSpPr>
        <p:spPr>
          <a:xfrm>
            <a:off x="1975104" y="1389888"/>
            <a:ext cx="1518000" cy="1005900"/>
          </a:xfrm>
          <a:prstGeom prst="rect">
            <a:avLst/>
          </a:prstGeom>
          <a:solidFill>
            <a:srgbClr val="F1F5F9"/>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9" name="Google Shape;839;p20"/>
          <p:cNvSpPr/>
          <p:nvPr/>
        </p:nvSpPr>
        <p:spPr>
          <a:xfrm>
            <a:off x="2048256" y="1481328"/>
            <a:ext cx="183000" cy="183000"/>
          </a:xfrm>
          <a:prstGeom prst="ellipse">
            <a:avLst/>
          </a:prstGeom>
          <a:solidFill>
            <a:srgbClr val="E2E8F0"/>
          </a:solidFill>
          <a:ln cap="flat" cmpd="sng" w="12700">
            <a:solidFill>
              <a:srgbClr val="0EA5E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0" name="Google Shape;840;p20"/>
          <p:cNvSpPr/>
          <p:nvPr/>
        </p:nvSpPr>
        <p:spPr>
          <a:xfrm>
            <a:off x="2048256" y="1801368"/>
            <a:ext cx="183000" cy="183000"/>
          </a:xfrm>
          <a:prstGeom prst="ellipse">
            <a:avLst/>
          </a:prstGeom>
          <a:solidFill>
            <a:srgbClr val="E2E8F0"/>
          </a:solidFill>
          <a:ln cap="flat" cmpd="sng" w="12700">
            <a:solidFill>
              <a:srgbClr val="0EA5E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1" name="Google Shape;841;p20"/>
          <p:cNvSpPr/>
          <p:nvPr/>
        </p:nvSpPr>
        <p:spPr>
          <a:xfrm>
            <a:off x="2048256" y="2121408"/>
            <a:ext cx="183000" cy="183000"/>
          </a:xfrm>
          <a:prstGeom prst="ellipse">
            <a:avLst/>
          </a:prstGeom>
          <a:solidFill>
            <a:srgbClr val="E2E8F0"/>
          </a:solidFill>
          <a:ln cap="flat" cmpd="sng" w="12700">
            <a:solidFill>
              <a:srgbClr val="0EA5E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2" name="Google Shape;842;p20"/>
          <p:cNvSpPr/>
          <p:nvPr/>
        </p:nvSpPr>
        <p:spPr>
          <a:xfrm>
            <a:off x="2642616" y="1591056"/>
            <a:ext cx="183000" cy="183000"/>
          </a:xfrm>
          <a:prstGeom prst="ellipse">
            <a:avLst/>
          </a:prstGeom>
          <a:solidFill>
            <a:srgbClr val="0EA5E9">
              <a:alpha val="80000"/>
            </a:srgbClr>
          </a:solidFill>
          <a:ln cap="flat" cmpd="sng" w="12700">
            <a:solidFill>
              <a:srgbClr val="0EA5E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3" name="Google Shape;843;p20"/>
          <p:cNvSpPr/>
          <p:nvPr/>
        </p:nvSpPr>
        <p:spPr>
          <a:xfrm>
            <a:off x="2642616" y="1837944"/>
            <a:ext cx="183000" cy="183000"/>
          </a:xfrm>
          <a:prstGeom prst="ellipse">
            <a:avLst/>
          </a:prstGeom>
          <a:solidFill>
            <a:srgbClr val="0EA5E9">
              <a:alpha val="80000"/>
            </a:srgbClr>
          </a:solidFill>
          <a:ln cap="flat" cmpd="sng" w="12700">
            <a:solidFill>
              <a:srgbClr val="0EA5E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4" name="Google Shape;844;p20"/>
          <p:cNvSpPr/>
          <p:nvPr/>
        </p:nvSpPr>
        <p:spPr>
          <a:xfrm>
            <a:off x="2642616" y="2084832"/>
            <a:ext cx="183000" cy="183000"/>
          </a:xfrm>
          <a:prstGeom prst="ellipse">
            <a:avLst/>
          </a:prstGeom>
          <a:solidFill>
            <a:srgbClr val="0EA5E9">
              <a:alpha val="80000"/>
            </a:srgbClr>
          </a:solidFill>
          <a:ln cap="flat" cmpd="sng" w="12700">
            <a:solidFill>
              <a:srgbClr val="0EA5E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5" name="Google Shape;845;p20"/>
          <p:cNvSpPr/>
          <p:nvPr/>
        </p:nvSpPr>
        <p:spPr>
          <a:xfrm>
            <a:off x="3236976" y="1709928"/>
            <a:ext cx="183000" cy="183000"/>
          </a:xfrm>
          <a:prstGeom prst="ellipse">
            <a:avLst/>
          </a:prstGeom>
          <a:solidFill>
            <a:srgbClr val="E2E8F0"/>
          </a:solidFill>
          <a:ln cap="flat" cmpd="sng" w="12700">
            <a:solidFill>
              <a:srgbClr val="0EA5E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6" name="Google Shape;846;p20"/>
          <p:cNvSpPr/>
          <p:nvPr/>
        </p:nvSpPr>
        <p:spPr>
          <a:xfrm>
            <a:off x="3236976" y="1956816"/>
            <a:ext cx="183000" cy="183000"/>
          </a:xfrm>
          <a:prstGeom prst="ellipse">
            <a:avLst/>
          </a:prstGeom>
          <a:solidFill>
            <a:srgbClr val="E2E8F0"/>
          </a:solidFill>
          <a:ln cap="flat" cmpd="sng" w="12700">
            <a:solidFill>
              <a:srgbClr val="0EA5E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847" name="Google Shape;847;p20"/>
          <p:cNvCxnSpPr/>
          <p:nvPr/>
        </p:nvCxnSpPr>
        <p:spPr>
          <a:xfrm>
            <a:off x="2231136" y="1572768"/>
            <a:ext cx="411600" cy="109800"/>
          </a:xfrm>
          <a:prstGeom prst="straightConnector1">
            <a:avLst/>
          </a:prstGeom>
          <a:noFill/>
          <a:ln cap="flat" cmpd="sng" w="9525">
            <a:solidFill>
              <a:srgbClr val="CBD5E1"/>
            </a:solidFill>
            <a:prstDash val="solid"/>
            <a:round/>
            <a:headEnd len="sm" w="sm" type="none"/>
            <a:tailEnd len="sm" w="sm" type="none"/>
          </a:ln>
        </p:spPr>
      </p:cxnSp>
      <p:cxnSp>
        <p:nvCxnSpPr>
          <p:cNvPr id="848" name="Google Shape;848;p20"/>
          <p:cNvCxnSpPr/>
          <p:nvPr/>
        </p:nvCxnSpPr>
        <p:spPr>
          <a:xfrm>
            <a:off x="2231136" y="1572768"/>
            <a:ext cx="411600" cy="356700"/>
          </a:xfrm>
          <a:prstGeom prst="straightConnector1">
            <a:avLst/>
          </a:prstGeom>
          <a:noFill/>
          <a:ln cap="flat" cmpd="sng" w="9525">
            <a:solidFill>
              <a:srgbClr val="CBD5E1"/>
            </a:solidFill>
            <a:prstDash val="solid"/>
            <a:round/>
            <a:headEnd len="sm" w="sm" type="none"/>
            <a:tailEnd len="sm" w="sm" type="none"/>
          </a:ln>
        </p:spPr>
      </p:cxnSp>
      <p:cxnSp>
        <p:nvCxnSpPr>
          <p:cNvPr id="849" name="Google Shape;849;p20"/>
          <p:cNvCxnSpPr/>
          <p:nvPr/>
        </p:nvCxnSpPr>
        <p:spPr>
          <a:xfrm>
            <a:off x="2231136" y="1572768"/>
            <a:ext cx="411600" cy="603600"/>
          </a:xfrm>
          <a:prstGeom prst="straightConnector1">
            <a:avLst/>
          </a:prstGeom>
          <a:noFill/>
          <a:ln cap="flat" cmpd="sng" w="9525">
            <a:solidFill>
              <a:srgbClr val="CBD5E1"/>
            </a:solidFill>
            <a:prstDash val="solid"/>
            <a:round/>
            <a:headEnd len="sm" w="sm" type="none"/>
            <a:tailEnd len="sm" w="sm" type="none"/>
          </a:ln>
        </p:spPr>
      </p:cxnSp>
      <p:cxnSp>
        <p:nvCxnSpPr>
          <p:cNvPr id="850" name="Google Shape;850;p20"/>
          <p:cNvCxnSpPr/>
          <p:nvPr/>
        </p:nvCxnSpPr>
        <p:spPr>
          <a:xfrm>
            <a:off x="2231136" y="1892808"/>
            <a:ext cx="411600" cy="0"/>
          </a:xfrm>
          <a:prstGeom prst="straightConnector1">
            <a:avLst/>
          </a:prstGeom>
          <a:noFill/>
          <a:ln cap="flat" cmpd="sng" w="9525">
            <a:solidFill>
              <a:srgbClr val="CBD5E1"/>
            </a:solidFill>
            <a:prstDash val="solid"/>
            <a:round/>
            <a:headEnd len="sm" w="sm" type="none"/>
            <a:tailEnd len="sm" w="sm" type="none"/>
          </a:ln>
        </p:spPr>
      </p:cxnSp>
      <p:cxnSp>
        <p:nvCxnSpPr>
          <p:cNvPr id="851" name="Google Shape;851;p20"/>
          <p:cNvCxnSpPr/>
          <p:nvPr/>
        </p:nvCxnSpPr>
        <p:spPr>
          <a:xfrm>
            <a:off x="2231136" y="1892808"/>
            <a:ext cx="411600" cy="36600"/>
          </a:xfrm>
          <a:prstGeom prst="straightConnector1">
            <a:avLst/>
          </a:prstGeom>
          <a:noFill/>
          <a:ln cap="flat" cmpd="sng" w="9525">
            <a:solidFill>
              <a:srgbClr val="CBD5E1"/>
            </a:solidFill>
            <a:prstDash val="solid"/>
            <a:round/>
            <a:headEnd len="sm" w="sm" type="none"/>
            <a:tailEnd len="sm" w="sm" type="none"/>
          </a:ln>
        </p:spPr>
      </p:cxnSp>
      <p:cxnSp>
        <p:nvCxnSpPr>
          <p:cNvPr id="852" name="Google Shape;852;p20"/>
          <p:cNvCxnSpPr/>
          <p:nvPr/>
        </p:nvCxnSpPr>
        <p:spPr>
          <a:xfrm>
            <a:off x="2231136" y="1892808"/>
            <a:ext cx="411600" cy="283500"/>
          </a:xfrm>
          <a:prstGeom prst="straightConnector1">
            <a:avLst/>
          </a:prstGeom>
          <a:noFill/>
          <a:ln cap="flat" cmpd="sng" w="9525">
            <a:solidFill>
              <a:srgbClr val="CBD5E1"/>
            </a:solidFill>
            <a:prstDash val="solid"/>
            <a:round/>
            <a:headEnd len="sm" w="sm" type="none"/>
            <a:tailEnd len="sm" w="sm" type="none"/>
          </a:ln>
        </p:spPr>
      </p:cxnSp>
      <p:cxnSp>
        <p:nvCxnSpPr>
          <p:cNvPr id="853" name="Google Shape;853;p20"/>
          <p:cNvCxnSpPr/>
          <p:nvPr/>
        </p:nvCxnSpPr>
        <p:spPr>
          <a:xfrm>
            <a:off x="2231136" y="2212848"/>
            <a:ext cx="411600" cy="0"/>
          </a:xfrm>
          <a:prstGeom prst="straightConnector1">
            <a:avLst/>
          </a:prstGeom>
          <a:noFill/>
          <a:ln cap="flat" cmpd="sng" w="9525">
            <a:solidFill>
              <a:srgbClr val="CBD5E1"/>
            </a:solidFill>
            <a:prstDash val="solid"/>
            <a:round/>
            <a:headEnd len="sm" w="sm" type="none"/>
            <a:tailEnd len="sm" w="sm" type="none"/>
          </a:ln>
        </p:spPr>
      </p:cxnSp>
      <p:cxnSp>
        <p:nvCxnSpPr>
          <p:cNvPr id="854" name="Google Shape;854;p20"/>
          <p:cNvCxnSpPr/>
          <p:nvPr/>
        </p:nvCxnSpPr>
        <p:spPr>
          <a:xfrm>
            <a:off x="2231136" y="2212848"/>
            <a:ext cx="411600" cy="0"/>
          </a:xfrm>
          <a:prstGeom prst="straightConnector1">
            <a:avLst/>
          </a:prstGeom>
          <a:noFill/>
          <a:ln cap="flat" cmpd="sng" w="9525">
            <a:solidFill>
              <a:srgbClr val="CBD5E1"/>
            </a:solidFill>
            <a:prstDash val="solid"/>
            <a:round/>
            <a:headEnd len="sm" w="sm" type="none"/>
            <a:tailEnd len="sm" w="sm" type="none"/>
          </a:ln>
        </p:spPr>
      </p:cxnSp>
      <p:cxnSp>
        <p:nvCxnSpPr>
          <p:cNvPr id="855" name="Google Shape;855;p20"/>
          <p:cNvCxnSpPr/>
          <p:nvPr/>
        </p:nvCxnSpPr>
        <p:spPr>
          <a:xfrm>
            <a:off x="2231136" y="2212848"/>
            <a:ext cx="411600" cy="0"/>
          </a:xfrm>
          <a:prstGeom prst="straightConnector1">
            <a:avLst/>
          </a:prstGeom>
          <a:noFill/>
          <a:ln cap="flat" cmpd="sng" w="9525">
            <a:solidFill>
              <a:srgbClr val="CBD5E1"/>
            </a:solidFill>
            <a:prstDash val="solid"/>
            <a:round/>
            <a:headEnd len="sm" w="sm" type="none"/>
            <a:tailEnd len="sm" w="sm" type="none"/>
          </a:ln>
        </p:spPr>
      </p:cxnSp>
      <p:cxnSp>
        <p:nvCxnSpPr>
          <p:cNvPr id="856" name="Google Shape;856;p20"/>
          <p:cNvCxnSpPr/>
          <p:nvPr/>
        </p:nvCxnSpPr>
        <p:spPr>
          <a:xfrm>
            <a:off x="2825496" y="1682496"/>
            <a:ext cx="411600" cy="118800"/>
          </a:xfrm>
          <a:prstGeom prst="straightConnector1">
            <a:avLst/>
          </a:prstGeom>
          <a:noFill/>
          <a:ln cap="flat" cmpd="sng" w="9525">
            <a:solidFill>
              <a:srgbClr val="CBD5E1"/>
            </a:solidFill>
            <a:prstDash val="solid"/>
            <a:round/>
            <a:headEnd len="sm" w="sm" type="none"/>
            <a:tailEnd len="sm" w="sm" type="none"/>
          </a:ln>
        </p:spPr>
      </p:cxnSp>
      <p:cxnSp>
        <p:nvCxnSpPr>
          <p:cNvPr id="857" name="Google Shape;857;p20"/>
          <p:cNvCxnSpPr/>
          <p:nvPr/>
        </p:nvCxnSpPr>
        <p:spPr>
          <a:xfrm>
            <a:off x="2825496" y="1682496"/>
            <a:ext cx="411600" cy="365700"/>
          </a:xfrm>
          <a:prstGeom prst="straightConnector1">
            <a:avLst/>
          </a:prstGeom>
          <a:noFill/>
          <a:ln cap="flat" cmpd="sng" w="9525">
            <a:solidFill>
              <a:srgbClr val="CBD5E1"/>
            </a:solidFill>
            <a:prstDash val="solid"/>
            <a:round/>
            <a:headEnd len="sm" w="sm" type="none"/>
            <a:tailEnd len="sm" w="sm" type="none"/>
          </a:ln>
        </p:spPr>
      </p:cxnSp>
      <p:cxnSp>
        <p:nvCxnSpPr>
          <p:cNvPr id="858" name="Google Shape;858;p20"/>
          <p:cNvCxnSpPr/>
          <p:nvPr/>
        </p:nvCxnSpPr>
        <p:spPr>
          <a:xfrm>
            <a:off x="2825496" y="1929384"/>
            <a:ext cx="411600" cy="0"/>
          </a:xfrm>
          <a:prstGeom prst="straightConnector1">
            <a:avLst/>
          </a:prstGeom>
          <a:noFill/>
          <a:ln cap="flat" cmpd="sng" w="9525">
            <a:solidFill>
              <a:srgbClr val="CBD5E1"/>
            </a:solidFill>
            <a:prstDash val="solid"/>
            <a:round/>
            <a:headEnd len="sm" w="sm" type="none"/>
            <a:tailEnd len="sm" w="sm" type="none"/>
          </a:ln>
        </p:spPr>
      </p:cxnSp>
      <p:cxnSp>
        <p:nvCxnSpPr>
          <p:cNvPr id="859" name="Google Shape;859;p20"/>
          <p:cNvCxnSpPr/>
          <p:nvPr/>
        </p:nvCxnSpPr>
        <p:spPr>
          <a:xfrm>
            <a:off x="2825496" y="1929384"/>
            <a:ext cx="411600" cy="118800"/>
          </a:xfrm>
          <a:prstGeom prst="straightConnector1">
            <a:avLst/>
          </a:prstGeom>
          <a:noFill/>
          <a:ln cap="flat" cmpd="sng" w="9525">
            <a:solidFill>
              <a:srgbClr val="CBD5E1"/>
            </a:solidFill>
            <a:prstDash val="solid"/>
            <a:round/>
            <a:headEnd len="sm" w="sm" type="none"/>
            <a:tailEnd len="sm" w="sm" type="none"/>
          </a:ln>
        </p:spPr>
      </p:cxnSp>
      <p:cxnSp>
        <p:nvCxnSpPr>
          <p:cNvPr id="860" name="Google Shape;860;p20"/>
          <p:cNvCxnSpPr/>
          <p:nvPr/>
        </p:nvCxnSpPr>
        <p:spPr>
          <a:xfrm>
            <a:off x="2825496" y="2176272"/>
            <a:ext cx="411600" cy="0"/>
          </a:xfrm>
          <a:prstGeom prst="straightConnector1">
            <a:avLst/>
          </a:prstGeom>
          <a:noFill/>
          <a:ln cap="flat" cmpd="sng" w="9525">
            <a:solidFill>
              <a:srgbClr val="CBD5E1"/>
            </a:solidFill>
            <a:prstDash val="solid"/>
            <a:round/>
            <a:headEnd len="sm" w="sm" type="none"/>
            <a:tailEnd len="sm" w="sm" type="none"/>
          </a:ln>
        </p:spPr>
      </p:cxnSp>
      <p:cxnSp>
        <p:nvCxnSpPr>
          <p:cNvPr id="861" name="Google Shape;861;p20"/>
          <p:cNvCxnSpPr/>
          <p:nvPr/>
        </p:nvCxnSpPr>
        <p:spPr>
          <a:xfrm>
            <a:off x="2825496" y="2176272"/>
            <a:ext cx="411600" cy="0"/>
          </a:xfrm>
          <a:prstGeom prst="straightConnector1">
            <a:avLst/>
          </a:prstGeom>
          <a:noFill/>
          <a:ln cap="flat" cmpd="sng" w="9525">
            <a:solidFill>
              <a:srgbClr val="CBD5E1"/>
            </a:solidFill>
            <a:prstDash val="solid"/>
            <a:round/>
            <a:headEnd len="sm" w="sm" type="none"/>
            <a:tailEnd len="sm" w="sm" type="none"/>
          </a:ln>
        </p:spPr>
      </p:cxnSp>
      <p:sp>
        <p:nvSpPr>
          <p:cNvPr id="862" name="Google Shape;862;p20"/>
          <p:cNvSpPr/>
          <p:nvPr/>
        </p:nvSpPr>
        <p:spPr>
          <a:xfrm>
            <a:off x="1975104" y="2441448"/>
            <a:ext cx="1518000" cy="1417200"/>
          </a:xfrm>
          <a:prstGeom prst="rect">
            <a:avLst/>
          </a:prstGeom>
          <a:noFill/>
          <a:ln>
            <a:noFill/>
          </a:ln>
        </p:spPr>
        <p:txBody>
          <a:bodyPr anchorCtr="0" anchor="t" bIns="38100" lIns="38100" spcFirstLastPara="1" rIns="38100" wrap="square" tIns="38100">
            <a:noAutofit/>
          </a:bodyPr>
          <a:lstStyle/>
          <a:p>
            <a:pPr indent="0" lvl="0" marL="0" marR="0" rtl="0" algn="l">
              <a:lnSpc>
                <a:spcPct val="125000"/>
              </a:lnSpc>
              <a:spcBef>
                <a:spcPts val="0"/>
              </a:spcBef>
              <a:spcAft>
                <a:spcPts val="0"/>
              </a:spcAft>
              <a:buClr>
                <a:srgbClr val="0EA5E9"/>
              </a:buClr>
              <a:buSzPts val="900"/>
              <a:buFont typeface="Calibri"/>
              <a:buNone/>
            </a:pPr>
            <a:r>
              <a:rPr b="1" i="0" lang="en" sz="900" u="none" cap="none" strike="noStrike">
                <a:solidFill>
                  <a:srgbClr val="0EA5E9"/>
                </a:solidFill>
                <a:latin typeface="Calibri"/>
                <a:ea typeface="Calibri"/>
                <a:cs typeface="Calibri"/>
                <a:sym typeface="Calibri"/>
              </a:rPr>
              <a:t>Hidden layers</a:t>
            </a:r>
            <a:endParaRPr b="0" i="0" sz="9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334155"/>
              </a:buClr>
              <a:buSzPts val="900"/>
              <a:buFont typeface="Calibri"/>
              <a:buNone/>
            </a:pPr>
            <a:r>
              <a:rPr b="0" i="0" lang="en" sz="900" u="none" cap="none" strike="noStrike">
                <a:solidFill>
                  <a:srgbClr val="334155"/>
                </a:solidFill>
                <a:latin typeface="Calibri"/>
                <a:ea typeface="Calibri"/>
                <a:cs typeface="Calibri"/>
                <a:sym typeface="Calibri"/>
              </a:rPr>
              <a:t>Backpropagation</a:t>
            </a:r>
            <a:endParaRPr b="0" i="0" sz="9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334155"/>
              </a:buClr>
              <a:buSzPts val="900"/>
              <a:buFont typeface="Calibri"/>
              <a:buNone/>
            </a:pPr>
            <a:r>
              <a:rPr b="0" i="0" lang="en" sz="900" u="none" cap="none" strike="noStrike">
                <a:solidFill>
                  <a:srgbClr val="334155"/>
                </a:solidFill>
                <a:latin typeface="Calibri"/>
                <a:ea typeface="Calibri"/>
                <a:cs typeface="Calibri"/>
                <a:sym typeface="Calibri"/>
              </a:rPr>
              <a:t>Non-linear fn</a:t>
            </a:r>
            <a:endParaRPr b="0" i="0" sz="9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334155"/>
              </a:buClr>
              <a:buSzPts val="900"/>
              <a:buFont typeface="Calibri"/>
              <a:buNone/>
            </a:pPr>
            <a:r>
              <a:rPr b="0" i="0" lang="en" sz="900" u="none" cap="none" strike="noStrike">
                <a:solidFill>
                  <a:srgbClr val="334155"/>
                </a:solidFill>
                <a:latin typeface="Calibri"/>
                <a:ea typeface="Calibri"/>
                <a:cs typeface="Calibri"/>
                <a:sym typeface="Calibri"/>
              </a:rPr>
              <a:t>Universal approx</a:t>
            </a:r>
            <a:endParaRPr b="0" i="0" sz="900" u="none" cap="none" strike="noStrike">
              <a:solidFill>
                <a:schemeClr val="dk1"/>
              </a:solidFill>
              <a:latin typeface="Calibri"/>
              <a:ea typeface="Calibri"/>
              <a:cs typeface="Calibri"/>
              <a:sym typeface="Calibri"/>
            </a:endParaRPr>
          </a:p>
        </p:txBody>
      </p:sp>
      <p:sp>
        <p:nvSpPr>
          <p:cNvPr id="863" name="Google Shape;863;p20"/>
          <p:cNvSpPr/>
          <p:nvPr/>
        </p:nvSpPr>
        <p:spPr>
          <a:xfrm>
            <a:off x="2651760" y="4142232"/>
            <a:ext cx="164700" cy="164700"/>
          </a:xfrm>
          <a:prstGeom prst="ellipse">
            <a:avLst/>
          </a:prstGeom>
          <a:solidFill>
            <a:srgbClr val="0EA5E9"/>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4" name="Google Shape;864;p20"/>
          <p:cNvSpPr/>
          <p:nvPr/>
        </p:nvSpPr>
        <p:spPr>
          <a:xfrm>
            <a:off x="3639312" y="749808"/>
            <a:ext cx="1664100" cy="3291900"/>
          </a:xfrm>
          <a:prstGeom prst="rect">
            <a:avLst/>
          </a:prstGeom>
          <a:solidFill>
            <a:srgbClr val="FFFFFF"/>
          </a:solidFill>
          <a:ln cap="flat" cmpd="sng" w="15225">
            <a:solidFill>
              <a:srgbClr val="10B981"/>
            </a:solidFill>
            <a:prstDash val="solid"/>
            <a:round/>
            <a:headEnd len="sm" w="sm" type="none"/>
            <a:tailEnd len="sm" w="sm" type="none"/>
          </a:ln>
          <a:effectLst>
            <a:outerShdw blurRad="762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5" name="Google Shape;865;p20"/>
          <p:cNvSpPr/>
          <p:nvPr/>
        </p:nvSpPr>
        <p:spPr>
          <a:xfrm>
            <a:off x="3639312" y="749808"/>
            <a:ext cx="1664100" cy="63900"/>
          </a:xfrm>
          <a:prstGeom prst="rect">
            <a:avLst/>
          </a:prstGeom>
          <a:solidFill>
            <a:srgbClr val="10B981"/>
          </a:solidFill>
          <a:ln cap="flat" cmpd="sng" w="12700">
            <a:solidFill>
              <a:srgbClr val="10B98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6" name="Google Shape;866;p20"/>
          <p:cNvSpPr/>
          <p:nvPr/>
        </p:nvSpPr>
        <p:spPr>
          <a:xfrm>
            <a:off x="3712464" y="841248"/>
            <a:ext cx="1518000" cy="201300"/>
          </a:xfrm>
          <a:prstGeom prst="rect">
            <a:avLst/>
          </a:prstGeom>
          <a:solidFill>
            <a:srgbClr val="10B981">
              <a:alpha val="14902"/>
            </a:srgbClr>
          </a:solidFill>
          <a:ln cap="flat" cmpd="sng" w="9525">
            <a:solidFill>
              <a:srgbClr val="10B98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7" name="Google Shape;867;p20"/>
          <p:cNvSpPr/>
          <p:nvPr/>
        </p:nvSpPr>
        <p:spPr>
          <a:xfrm>
            <a:off x="3712464" y="841248"/>
            <a:ext cx="1518000" cy="201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0B981"/>
              </a:buClr>
              <a:buSzPts val="800"/>
              <a:buFont typeface="Calibri"/>
              <a:buNone/>
            </a:pPr>
            <a:r>
              <a:rPr b="1" i="0" lang="en" sz="800" u="none" cap="none" strike="noStrike">
                <a:solidFill>
                  <a:srgbClr val="10B981"/>
                </a:solidFill>
                <a:latin typeface="Calibri"/>
                <a:ea typeface="Calibri"/>
                <a:cs typeface="Calibri"/>
                <a:sym typeface="Calibri"/>
              </a:rPr>
              <a:t>1990s</a:t>
            </a:r>
            <a:endParaRPr b="0" i="0" sz="800" u="none" cap="none" strike="noStrike">
              <a:solidFill>
                <a:schemeClr val="dk1"/>
              </a:solidFill>
              <a:latin typeface="Calibri"/>
              <a:ea typeface="Calibri"/>
              <a:cs typeface="Calibri"/>
              <a:sym typeface="Calibri"/>
            </a:endParaRPr>
          </a:p>
        </p:txBody>
      </p:sp>
      <p:sp>
        <p:nvSpPr>
          <p:cNvPr id="868" name="Google Shape;868;p20"/>
          <p:cNvSpPr/>
          <p:nvPr/>
        </p:nvSpPr>
        <p:spPr>
          <a:xfrm>
            <a:off x="3694176" y="1069848"/>
            <a:ext cx="1554600" cy="292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293B"/>
              </a:buClr>
              <a:buSzPts val="1300"/>
              <a:buFont typeface="Calibri"/>
              <a:buNone/>
            </a:pPr>
            <a:r>
              <a:rPr b="1" i="0" lang="en" sz="1300" u="none" cap="none" strike="noStrike">
                <a:solidFill>
                  <a:srgbClr val="1E293B"/>
                </a:solidFill>
                <a:latin typeface="Calibri"/>
                <a:ea typeface="Calibri"/>
                <a:cs typeface="Calibri"/>
                <a:sym typeface="Calibri"/>
              </a:rPr>
              <a:t>CNN</a:t>
            </a:r>
            <a:endParaRPr b="0" i="0" sz="1300" u="none" cap="none" strike="noStrike">
              <a:solidFill>
                <a:schemeClr val="dk1"/>
              </a:solidFill>
              <a:latin typeface="Calibri"/>
              <a:ea typeface="Calibri"/>
              <a:cs typeface="Calibri"/>
              <a:sym typeface="Calibri"/>
            </a:endParaRPr>
          </a:p>
        </p:txBody>
      </p:sp>
      <p:sp>
        <p:nvSpPr>
          <p:cNvPr id="869" name="Google Shape;869;p20"/>
          <p:cNvSpPr/>
          <p:nvPr/>
        </p:nvSpPr>
        <p:spPr>
          <a:xfrm>
            <a:off x="3712464" y="1389888"/>
            <a:ext cx="1518000" cy="1005900"/>
          </a:xfrm>
          <a:prstGeom prst="rect">
            <a:avLst/>
          </a:prstGeom>
          <a:solidFill>
            <a:srgbClr val="F1F5F9"/>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0" name="Google Shape;870;p20"/>
          <p:cNvSpPr/>
          <p:nvPr/>
        </p:nvSpPr>
        <p:spPr>
          <a:xfrm>
            <a:off x="3785616" y="1527048"/>
            <a:ext cx="201300" cy="749700"/>
          </a:xfrm>
          <a:prstGeom prst="rect">
            <a:avLst/>
          </a:prstGeom>
          <a:solidFill>
            <a:srgbClr val="BFDBFE"/>
          </a:solidFill>
          <a:ln cap="flat" cmpd="sng" w="10150">
            <a:solidFill>
              <a:srgbClr val="10B98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1" name="Google Shape;871;p20"/>
          <p:cNvSpPr/>
          <p:nvPr/>
        </p:nvSpPr>
        <p:spPr>
          <a:xfrm>
            <a:off x="4041648" y="1527048"/>
            <a:ext cx="201300" cy="749700"/>
          </a:xfrm>
          <a:prstGeom prst="rect">
            <a:avLst/>
          </a:prstGeom>
          <a:solidFill>
            <a:srgbClr val="BBF7D0"/>
          </a:solidFill>
          <a:ln cap="flat" cmpd="sng" w="10150">
            <a:solidFill>
              <a:srgbClr val="10B98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2" name="Google Shape;872;p20"/>
          <p:cNvSpPr/>
          <p:nvPr/>
        </p:nvSpPr>
        <p:spPr>
          <a:xfrm>
            <a:off x="4297680" y="1527048"/>
            <a:ext cx="201300" cy="749700"/>
          </a:xfrm>
          <a:prstGeom prst="rect">
            <a:avLst/>
          </a:prstGeom>
          <a:solidFill>
            <a:srgbClr val="BFDBFE"/>
          </a:solidFill>
          <a:ln cap="flat" cmpd="sng" w="10150">
            <a:solidFill>
              <a:srgbClr val="10B98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3" name="Google Shape;873;p20"/>
          <p:cNvSpPr/>
          <p:nvPr/>
        </p:nvSpPr>
        <p:spPr>
          <a:xfrm>
            <a:off x="4608576" y="1645920"/>
            <a:ext cx="146400" cy="521100"/>
          </a:xfrm>
          <a:prstGeom prst="rect">
            <a:avLst/>
          </a:prstGeom>
          <a:solidFill>
            <a:srgbClr val="DBEAFE"/>
          </a:solidFill>
          <a:ln cap="flat" cmpd="sng" w="10150">
            <a:solidFill>
              <a:srgbClr val="10B98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4" name="Google Shape;874;p20"/>
          <p:cNvSpPr/>
          <p:nvPr/>
        </p:nvSpPr>
        <p:spPr>
          <a:xfrm>
            <a:off x="4828032" y="1737360"/>
            <a:ext cx="109800" cy="347400"/>
          </a:xfrm>
          <a:prstGeom prst="rect">
            <a:avLst/>
          </a:prstGeom>
          <a:solidFill>
            <a:srgbClr val="10B981">
              <a:alpha val="60000"/>
            </a:srgbClr>
          </a:solidFill>
          <a:ln cap="flat" cmpd="sng" w="10150">
            <a:solidFill>
              <a:srgbClr val="10B98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5" name="Google Shape;875;p20"/>
          <p:cNvSpPr/>
          <p:nvPr/>
        </p:nvSpPr>
        <p:spPr>
          <a:xfrm>
            <a:off x="3785616" y="2304288"/>
            <a:ext cx="731400" cy="109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600"/>
              <a:buFont typeface="Calibri"/>
              <a:buNone/>
            </a:pPr>
            <a:r>
              <a:rPr b="0" i="0" lang="en" sz="600" u="none" cap="none" strike="noStrike">
                <a:solidFill>
                  <a:srgbClr val="64748B"/>
                </a:solidFill>
                <a:latin typeface="Calibri"/>
                <a:ea typeface="Calibri"/>
                <a:cs typeface="Calibri"/>
                <a:sym typeface="Calibri"/>
              </a:rPr>
              <a:t>conv</a:t>
            </a:r>
            <a:endParaRPr b="0" i="0" sz="600" u="none" cap="none" strike="noStrike">
              <a:solidFill>
                <a:schemeClr val="dk1"/>
              </a:solidFill>
              <a:latin typeface="Calibri"/>
              <a:ea typeface="Calibri"/>
              <a:cs typeface="Calibri"/>
              <a:sym typeface="Calibri"/>
            </a:endParaRPr>
          </a:p>
        </p:txBody>
      </p:sp>
      <p:sp>
        <p:nvSpPr>
          <p:cNvPr id="876" name="Google Shape;876;p20"/>
          <p:cNvSpPr/>
          <p:nvPr/>
        </p:nvSpPr>
        <p:spPr>
          <a:xfrm>
            <a:off x="4535424" y="2304288"/>
            <a:ext cx="274200" cy="109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600"/>
              <a:buFont typeface="Calibri"/>
              <a:buNone/>
            </a:pPr>
            <a:r>
              <a:rPr b="0" i="0" lang="en" sz="600" u="none" cap="none" strike="noStrike">
                <a:solidFill>
                  <a:srgbClr val="64748B"/>
                </a:solidFill>
                <a:latin typeface="Calibri"/>
                <a:ea typeface="Calibri"/>
                <a:cs typeface="Calibri"/>
                <a:sym typeface="Calibri"/>
              </a:rPr>
              <a:t>pool</a:t>
            </a:r>
            <a:endParaRPr b="0" i="0" sz="600" u="none" cap="none" strike="noStrike">
              <a:solidFill>
                <a:schemeClr val="dk1"/>
              </a:solidFill>
              <a:latin typeface="Calibri"/>
              <a:ea typeface="Calibri"/>
              <a:cs typeface="Calibri"/>
              <a:sym typeface="Calibri"/>
            </a:endParaRPr>
          </a:p>
        </p:txBody>
      </p:sp>
      <p:sp>
        <p:nvSpPr>
          <p:cNvPr id="877" name="Google Shape;877;p20"/>
          <p:cNvSpPr/>
          <p:nvPr/>
        </p:nvSpPr>
        <p:spPr>
          <a:xfrm>
            <a:off x="4791456" y="2304288"/>
            <a:ext cx="228600" cy="109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600"/>
              <a:buFont typeface="Calibri"/>
              <a:buNone/>
            </a:pPr>
            <a:r>
              <a:rPr b="0" i="0" lang="en" sz="600" u="none" cap="none" strike="noStrike">
                <a:solidFill>
                  <a:srgbClr val="64748B"/>
                </a:solidFill>
                <a:latin typeface="Calibri"/>
                <a:ea typeface="Calibri"/>
                <a:cs typeface="Calibri"/>
                <a:sym typeface="Calibri"/>
              </a:rPr>
              <a:t>FC</a:t>
            </a:r>
            <a:endParaRPr b="0" i="0" sz="600" u="none" cap="none" strike="noStrike">
              <a:solidFill>
                <a:schemeClr val="dk1"/>
              </a:solidFill>
              <a:latin typeface="Calibri"/>
              <a:ea typeface="Calibri"/>
              <a:cs typeface="Calibri"/>
              <a:sym typeface="Calibri"/>
            </a:endParaRPr>
          </a:p>
        </p:txBody>
      </p:sp>
      <p:sp>
        <p:nvSpPr>
          <p:cNvPr id="878" name="Google Shape;878;p20"/>
          <p:cNvSpPr/>
          <p:nvPr/>
        </p:nvSpPr>
        <p:spPr>
          <a:xfrm>
            <a:off x="3712464" y="2441448"/>
            <a:ext cx="1518000" cy="1417200"/>
          </a:xfrm>
          <a:prstGeom prst="rect">
            <a:avLst/>
          </a:prstGeom>
          <a:noFill/>
          <a:ln>
            <a:noFill/>
          </a:ln>
        </p:spPr>
        <p:txBody>
          <a:bodyPr anchorCtr="0" anchor="t" bIns="38100" lIns="38100" spcFirstLastPara="1" rIns="38100" wrap="square" tIns="38100">
            <a:noAutofit/>
          </a:bodyPr>
          <a:lstStyle/>
          <a:p>
            <a:pPr indent="0" lvl="0" marL="0" marR="0" rtl="0" algn="l">
              <a:lnSpc>
                <a:spcPct val="125000"/>
              </a:lnSpc>
              <a:spcBef>
                <a:spcPts val="0"/>
              </a:spcBef>
              <a:spcAft>
                <a:spcPts val="0"/>
              </a:spcAft>
              <a:buClr>
                <a:srgbClr val="10B981"/>
              </a:buClr>
              <a:buSzPts val="900"/>
              <a:buFont typeface="Calibri"/>
              <a:buNone/>
            </a:pPr>
            <a:r>
              <a:rPr b="1" i="0" lang="en" sz="900" u="none" cap="none" strike="noStrike">
                <a:solidFill>
                  <a:srgbClr val="10B981"/>
                </a:solidFill>
                <a:latin typeface="Calibri"/>
                <a:ea typeface="Calibri"/>
                <a:cs typeface="Calibri"/>
                <a:sym typeface="Calibri"/>
              </a:rPr>
              <a:t>Conv filters</a:t>
            </a:r>
            <a:endParaRPr b="0" i="0" sz="9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334155"/>
              </a:buClr>
              <a:buSzPts val="900"/>
              <a:buFont typeface="Calibri"/>
              <a:buNone/>
            </a:pPr>
            <a:r>
              <a:rPr b="0" i="0" lang="en" sz="900" u="none" cap="none" strike="noStrike">
                <a:solidFill>
                  <a:srgbClr val="334155"/>
                </a:solidFill>
                <a:latin typeface="Calibri"/>
                <a:ea typeface="Calibri"/>
                <a:cs typeface="Calibri"/>
                <a:sym typeface="Calibri"/>
              </a:rPr>
              <a:t>Spatial hierarchy</a:t>
            </a:r>
            <a:endParaRPr b="0" i="0" sz="9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334155"/>
              </a:buClr>
              <a:buSzPts val="900"/>
              <a:buFont typeface="Calibri"/>
              <a:buNone/>
            </a:pPr>
            <a:r>
              <a:rPr b="0" i="0" lang="en" sz="900" u="none" cap="none" strike="noStrike">
                <a:solidFill>
                  <a:srgbClr val="334155"/>
                </a:solidFill>
                <a:latin typeface="Calibri"/>
                <a:ea typeface="Calibri"/>
                <a:cs typeface="Calibri"/>
                <a:sym typeface="Calibri"/>
              </a:rPr>
              <a:t>Weight sharing</a:t>
            </a:r>
            <a:endParaRPr b="0" i="0" sz="9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334155"/>
              </a:buClr>
              <a:buSzPts val="900"/>
              <a:buFont typeface="Calibri"/>
              <a:buNone/>
            </a:pPr>
            <a:r>
              <a:rPr b="0" i="0" lang="en" sz="900" u="none" cap="none" strike="noStrike">
                <a:solidFill>
                  <a:srgbClr val="334155"/>
                </a:solidFill>
                <a:latin typeface="Calibri"/>
                <a:ea typeface="Calibri"/>
                <a:cs typeface="Calibri"/>
                <a:sym typeface="Calibri"/>
              </a:rPr>
              <a:t>Image/vision tasks</a:t>
            </a:r>
            <a:endParaRPr b="0" i="0" sz="900" u="none" cap="none" strike="noStrike">
              <a:solidFill>
                <a:schemeClr val="dk1"/>
              </a:solidFill>
              <a:latin typeface="Calibri"/>
              <a:ea typeface="Calibri"/>
              <a:cs typeface="Calibri"/>
              <a:sym typeface="Calibri"/>
            </a:endParaRPr>
          </a:p>
        </p:txBody>
      </p:sp>
      <p:sp>
        <p:nvSpPr>
          <p:cNvPr id="879" name="Google Shape;879;p20"/>
          <p:cNvSpPr/>
          <p:nvPr/>
        </p:nvSpPr>
        <p:spPr>
          <a:xfrm>
            <a:off x="4389120" y="4142232"/>
            <a:ext cx="164700" cy="164700"/>
          </a:xfrm>
          <a:prstGeom prst="ellipse">
            <a:avLst/>
          </a:prstGeom>
          <a:solidFill>
            <a:srgbClr val="10B981"/>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0" name="Google Shape;880;p20"/>
          <p:cNvSpPr/>
          <p:nvPr/>
        </p:nvSpPr>
        <p:spPr>
          <a:xfrm>
            <a:off x="5376672" y="749808"/>
            <a:ext cx="1664100" cy="3291900"/>
          </a:xfrm>
          <a:prstGeom prst="rect">
            <a:avLst/>
          </a:prstGeom>
          <a:solidFill>
            <a:srgbClr val="FFFFFF"/>
          </a:solidFill>
          <a:ln cap="flat" cmpd="sng" w="15225">
            <a:solidFill>
              <a:srgbClr val="F59E0B"/>
            </a:solidFill>
            <a:prstDash val="solid"/>
            <a:round/>
            <a:headEnd len="sm" w="sm" type="none"/>
            <a:tailEnd len="sm" w="sm" type="none"/>
          </a:ln>
          <a:effectLst>
            <a:outerShdw blurRad="762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1" name="Google Shape;881;p20"/>
          <p:cNvSpPr/>
          <p:nvPr/>
        </p:nvSpPr>
        <p:spPr>
          <a:xfrm>
            <a:off x="5376672" y="749808"/>
            <a:ext cx="1664100" cy="63900"/>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2" name="Google Shape;882;p20"/>
          <p:cNvSpPr/>
          <p:nvPr/>
        </p:nvSpPr>
        <p:spPr>
          <a:xfrm>
            <a:off x="5449824" y="841248"/>
            <a:ext cx="1518000" cy="201300"/>
          </a:xfrm>
          <a:prstGeom prst="rect">
            <a:avLst/>
          </a:prstGeom>
          <a:solidFill>
            <a:srgbClr val="F59E0B">
              <a:alpha val="14902"/>
            </a:srgbClr>
          </a:solidFill>
          <a:ln cap="flat" cmpd="sng" w="9525">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3" name="Google Shape;883;p20"/>
          <p:cNvSpPr/>
          <p:nvPr/>
        </p:nvSpPr>
        <p:spPr>
          <a:xfrm>
            <a:off x="5449824" y="841248"/>
            <a:ext cx="1518000" cy="201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9E0B"/>
              </a:buClr>
              <a:buSzPts val="800"/>
              <a:buFont typeface="Calibri"/>
              <a:buNone/>
            </a:pPr>
            <a:r>
              <a:rPr b="1" i="0" lang="en" sz="800" u="none" cap="none" strike="noStrike">
                <a:solidFill>
                  <a:srgbClr val="F59E0B"/>
                </a:solidFill>
                <a:latin typeface="Calibri"/>
                <a:ea typeface="Calibri"/>
                <a:cs typeface="Calibri"/>
                <a:sym typeface="Calibri"/>
              </a:rPr>
              <a:t>1990s</a:t>
            </a:r>
            <a:endParaRPr b="0" i="0" sz="800" u="none" cap="none" strike="noStrike">
              <a:solidFill>
                <a:schemeClr val="dk1"/>
              </a:solidFill>
              <a:latin typeface="Calibri"/>
              <a:ea typeface="Calibri"/>
              <a:cs typeface="Calibri"/>
              <a:sym typeface="Calibri"/>
            </a:endParaRPr>
          </a:p>
        </p:txBody>
      </p:sp>
      <p:sp>
        <p:nvSpPr>
          <p:cNvPr id="884" name="Google Shape;884;p20"/>
          <p:cNvSpPr/>
          <p:nvPr/>
        </p:nvSpPr>
        <p:spPr>
          <a:xfrm>
            <a:off x="5431536" y="1069848"/>
            <a:ext cx="1554600" cy="292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293B"/>
              </a:buClr>
              <a:buSzPts val="1300"/>
              <a:buFont typeface="Calibri"/>
              <a:buNone/>
            </a:pPr>
            <a:r>
              <a:rPr b="1" i="0" lang="en" sz="1300" u="none" cap="none" strike="noStrike">
                <a:solidFill>
                  <a:srgbClr val="1E293B"/>
                </a:solidFill>
                <a:latin typeface="Calibri"/>
                <a:ea typeface="Calibri"/>
                <a:cs typeface="Calibri"/>
                <a:sym typeface="Calibri"/>
              </a:rPr>
              <a:t>RNN / LSTM</a:t>
            </a:r>
            <a:endParaRPr b="0" i="0" sz="1300" u="none" cap="none" strike="noStrike">
              <a:solidFill>
                <a:schemeClr val="dk1"/>
              </a:solidFill>
              <a:latin typeface="Calibri"/>
              <a:ea typeface="Calibri"/>
              <a:cs typeface="Calibri"/>
              <a:sym typeface="Calibri"/>
            </a:endParaRPr>
          </a:p>
        </p:txBody>
      </p:sp>
      <p:sp>
        <p:nvSpPr>
          <p:cNvPr id="885" name="Google Shape;885;p20"/>
          <p:cNvSpPr/>
          <p:nvPr/>
        </p:nvSpPr>
        <p:spPr>
          <a:xfrm>
            <a:off x="5449824" y="1389888"/>
            <a:ext cx="1518000" cy="1005900"/>
          </a:xfrm>
          <a:prstGeom prst="rect">
            <a:avLst/>
          </a:prstGeom>
          <a:solidFill>
            <a:srgbClr val="F1F5F9"/>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6" name="Google Shape;886;p20"/>
          <p:cNvSpPr/>
          <p:nvPr/>
        </p:nvSpPr>
        <p:spPr>
          <a:xfrm>
            <a:off x="5541264" y="1709928"/>
            <a:ext cx="320100" cy="320100"/>
          </a:xfrm>
          <a:prstGeom prst="rect">
            <a:avLst/>
          </a:prstGeom>
          <a:solidFill>
            <a:srgbClr val="F59E0B">
              <a:alpha val="50196"/>
            </a:srgbClr>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7" name="Google Shape;887;p20"/>
          <p:cNvSpPr/>
          <p:nvPr/>
        </p:nvSpPr>
        <p:spPr>
          <a:xfrm>
            <a:off x="5541264" y="1709928"/>
            <a:ext cx="3201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293B"/>
              </a:buClr>
              <a:buSzPts val="1000"/>
              <a:buFont typeface="Calibri"/>
              <a:buNone/>
            </a:pPr>
            <a:r>
              <a:rPr b="1" i="1" lang="en" sz="1000" u="none" cap="none" strike="noStrike">
                <a:solidFill>
                  <a:srgbClr val="1E293B"/>
                </a:solidFill>
                <a:latin typeface="Calibri"/>
                <a:ea typeface="Calibri"/>
                <a:cs typeface="Calibri"/>
                <a:sym typeface="Calibri"/>
              </a:rPr>
              <a:t>h</a:t>
            </a:r>
            <a:endParaRPr b="0" i="0" sz="1000" u="none" cap="none" strike="noStrike">
              <a:solidFill>
                <a:schemeClr val="dk1"/>
              </a:solidFill>
              <a:latin typeface="Calibri"/>
              <a:ea typeface="Calibri"/>
              <a:cs typeface="Calibri"/>
              <a:sym typeface="Calibri"/>
            </a:endParaRPr>
          </a:p>
        </p:txBody>
      </p:sp>
      <p:cxnSp>
        <p:nvCxnSpPr>
          <p:cNvPr id="888" name="Google Shape;888;p20"/>
          <p:cNvCxnSpPr/>
          <p:nvPr/>
        </p:nvCxnSpPr>
        <p:spPr>
          <a:xfrm>
            <a:off x="5861304" y="1869948"/>
            <a:ext cx="183000" cy="0"/>
          </a:xfrm>
          <a:prstGeom prst="straightConnector1">
            <a:avLst/>
          </a:prstGeom>
          <a:noFill/>
          <a:ln cap="flat" cmpd="sng" w="15225">
            <a:solidFill>
              <a:srgbClr val="F59E0B"/>
            </a:solidFill>
            <a:prstDash val="solid"/>
            <a:round/>
            <a:headEnd len="sm" w="sm" type="none"/>
            <a:tailEnd len="sm" w="sm" type="none"/>
          </a:ln>
        </p:spPr>
      </p:cxnSp>
      <p:cxnSp>
        <p:nvCxnSpPr>
          <p:cNvPr id="889" name="Google Shape;889;p20"/>
          <p:cNvCxnSpPr/>
          <p:nvPr/>
        </p:nvCxnSpPr>
        <p:spPr>
          <a:xfrm>
            <a:off x="5701284" y="1527048"/>
            <a:ext cx="0" cy="183000"/>
          </a:xfrm>
          <a:prstGeom prst="straightConnector1">
            <a:avLst/>
          </a:prstGeom>
          <a:noFill/>
          <a:ln cap="flat" cmpd="sng" w="12700">
            <a:solidFill>
              <a:srgbClr val="94A3B8"/>
            </a:solidFill>
            <a:prstDash val="solid"/>
            <a:round/>
            <a:headEnd len="sm" w="sm" type="none"/>
            <a:tailEnd len="sm" w="sm" type="none"/>
          </a:ln>
        </p:spPr>
      </p:cxnSp>
      <p:sp>
        <p:nvSpPr>
          <p:cNvPr id="890" name="Google Shape;890;p20"/>
          <p:cNvSpPr/>
          <p:nvPr/>
        </p:nvSpPr>
        <p:spPr>
          <a:xfrm>
            <a:off x="5609844" y="1435608"/>
            <a:ext cx="183000" cy="128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4748B"/>
              </a:buClr>
              <a:buSzPts val="700"/>
              <a:buFont typeface="Calibri"/>
              <a:buNone/>
            </a:pPr>
            <a:r>
              <a:rPr b="0" i="1" lang="en" sz="700" u="none" cap="none" strike="noStrike">
                <a:solidFill>
                  <a:srgbClr val="64748B"/>
                </a:solidFill>
                <a:latin typeface="Calibri"/>
                <a:ea typeface="Calibri"/>
                <a:cs typeface="Calibri"/>
                <a:sym typeface="Calibri"/>
              </a:rPr>
              <a:t>x1</a:t>
            </a:r>
            <a:endParaRPr b="0" i="0" sz="700" u="none" cap="none" strike="noStrike">
              <a:solidFill>
                <a:schemeClr val="dk1"/>
              </a:solidFill>
              <a:latin typeface="Calibri"/>
              <a:ea typeface="Calibri"/>
              <a:cs typeface="Calibri"/>
              <a:sym typeface="Calibri"/>
            </a:endParaRPr>
          </a:p>
        </p:txBody>
      </p:sp>
      <p:sp>
        <p:nvSpPr>
          <p:cNvPr id="891" name="Google Shape;891;p20"/>
          <p:cNvSpPr/>
          <p:nvPr/>
        </p:nvSpPr>
        <p:spPr>
          <a:xfrm>
            <a:off x="5952744" y="1709928"/>
            <a:ext cx="320100" cy="320100"/>
          </a:xfrm>
          <a:prstGeom prst="rect">
            <a:avLst/>
          </a:prstGeom>
          <a:solidFill>
            <a:srgbClr val="F59E0B">
              <a:alpha val="50196"/>
            </a:srgbClr>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2" name="Google Shape;892;p20"/>
          <p:cNvSpPr/>
          <p:nvPr/>
        </p:nvSpPr>
        <p:spPr>
          <a:xfrm>
            <a:off x="5952744" y="1709928"/>
            <a:ext cx="3201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293B"/>
              </a:buClr>
              <a:buSzPts val="1000"/>
              <a:buFont typeface="Calibri"/>
              <a:buNone/>
            </a:pPr>
            <a:r>
              <a:rPr b="1" i="1" lang="en" sz="1000" u="none" cap="none" strike="noStrike">
                <a:solidFill>
                  <a:srgbClr val="1E293B"/>
                </a:solidFill>
                <a:latin typeface="Calibri"/>
                <a:ea typeface="Calibri"/>
                <a:cs typeface="Calibri"/>
                <a:sym typeface="Calibri"/>
              </a:rPr>
              <a:t>h</a:t>
            </a:r>
            <a:endParaRPr b="0" i="0" sz="1000" u="none" cap="none" strike="noStrike">
              <a:solidFill>
                <a:schemeClr val="dk1"/>
              </a:solidFill>
              <a:latin typeface="Calibri"/>
              <a:ea typeface="Calibri"/>
              <a:cs typeface="Calibri"/>
              <a:sym typeface="Calibri"/>
            </a:endParaRPr>
          </a:p>
        </p:txBody>
      </p:sp>
      <p:cxnSp>
        <p:nvCxnSpPr>
          <p:cNvPr id="893" name="Google Shape;893;p20"/>
          <p:cNvCxnSpPr/>
          <p:nvPr/>
        </p:nvCxnSpPr>
        <p:spPr>
          <a:xfrm>
            <a:off x="6272784" y="1869948"/>
            <a:ext cx="183000" cy="0"/>
          </a:xfrm>
          <a:prstGeom prst="straightConnector1">
            <a:avLst/>
          </a:prstGeom>
          <a:noFill/>
          <a:ln cap="flat" cmpd="sng" w="15225">
            <a:solidFill>
              <a:srgbClr val="F59E0B"/>
            </a:solidFill>
            <a:prstDash val="solid"/>
            <a:round/>
            <a:headEnd len="sm" w="sm" type="none"/>
            <a:tailEnd len="sm" w="sm" type="none"/>
          </a:ln>
        </p:spPr>
      </p:cxnSp>
      <p:cxnSp>
        <p:nvCxnSpPr>
          <p:cNvPr id="894" name="Google Shape;894;p20"/>
          <p:cNvCxnSpPr/>
          <p:nvPr/>
        </p:nvCxnSpPr>
        <p:spPr>
          <a:xfrm>
            <a:off x="6112764" y="1527048"/>
            <a:ext cx="0" cy="183000"/>
          </a:xfrm>
          <a:prstGeom prst="straightConnector1">
            <a:avLst/>
          </a:prstGeom>
          <a:noFill/>
          <a:ln cap="flat" cmpd="sng" w="12700">
            <a:solidFill>
              <a:srgbClr val="94A3B8"/>
            </a:solidFill>
            <a:prstDash val="solid"/>
            <a:round/>
            <a:headEnd len="sm" w="sm" type="none"/>
            <a:tailEnd len="sm" w="sm" type="none"/>
          </a:ln>
        </p:spPr>
      </p:cxnSp>
      <p:sp>
        <p:nvSpPr>
          <p:cNvPr id="895" name="Google Shape;895;p20"/>
          <p:cNvSpPr/>
          <p:nvPr/>
        </p:nvSpPr>
        <p:spPr>
          <a:xfrm>
            <a:off x="6021324" y="1435608"/>
            <a:ext cx="183000" cy="128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4748B"/>
              </a:buClr>
              <a:buSzPts val="700"/>
              <a:buFont typeface="Calibri"/>
              <a:buNone/>
            </a:pPr>
            <a:r>
              <a:rPr b="0" i="1" lang="en" sz="700" u="none" cap="none" strike="noStrike">
                <a:solidFill>
                  <a:srgbClr val="64748B"/>
                </a:solidFill>
                <a:latin typeface="Calibri"/>
                <a:ea typeface="Calibri"/>
                <a:cs typeface="Calibri"/>
                <a:sym typeface="Calibri"/>
              </a:rPr>
              <a:t>x2</a:t>
            </a:r>
            <a:endParaRPr b="0" i="0" sz="700" u="none" cap="none" strike="noStrike">
              <a:solidFill>
                <a:schemeClr val="dk1"/>
              </a:solidFill>
              <a:latin typeface="Calibri"/>
              <a:ea typeface="Calibri"/>
              <a:cs typeface="Calibri"/>
              <a:sym typeface="Calibri"/>
            </a:endParaRPr>
          </a:p>
        </p:txBody>
      </p:sp>
      <p:sp>
        <p:nvSpPr>
          <p:cNvPr id="896" name="Google Shape;896;p20"/>
          <p:cNvSpPr/>
          <p:nvPr/>
        </p:nvSpPr>
        <p:spPr>
          <a:xfrm>
            <a:off x="6364224" y="1709928"/>
            <a:ext cx="320100" cy="320100"/>
          </a:xfrm>
          <a:prstGeom prst="rect">
            <a:avLst/>
          </a:prstGeom>
          <a:solidFill>
            <a:srgbClr val="F59E0B">
              <a:alpha val="50196"/>
            </a:srgbClr>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7" name="Google Shape;897;p20"/>
          <p:cNvSpPr/>
          <p:nvPr/>
        </p:nvSpPr>
        <p:spPr>
          <a:xfrm>
            <a:off x="6364224" y="1709928"/>
            <a:ext cx="3201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293B"/>
              </a:buClr>
              <a:buSzPts val="1000"/>
              <a:buFont typeface="Calibri"/>
              <a:buNone/>
            </a:pPr>
            <a:r>
              <a:rPr b="1" i="1" lang="en" sz="1000" u="none" cap="none" strike="noStrike">
                <a:solidFill>
                  <a:srgbClr val="1E293B"/>
                </a:solidFill>
                <a:latin typeface="Calibri"/>
                <a:ea typeface="Calibri"/>
                <a:cs typeface="Calibri"/>
                <a:sym typeface="Calibri"/>
              </a:rPr>
              <a:t>h</a:t>
            </a:r>
            <a:endParaRPr b="0" i="0" sz="1000" u="none" cap="none" strike="noStrike">
              <a:solidFill>
                <a:schemeClr val="dk1"/>
              </a:solidFill>
              <a:latin typeface="Calibri"/>
              <a:ea typeface="Calibri"/>
              <a:cs typeface="Calibri"/>
              <a:sym typeface="Calibri"/>
            </a:endParaRPr>
          </a:p>
        </p:txBody>
      </p:sp>
      <p:cxnSp>
        <p:nvCxnSpPr>
          <p:cNvPr id="898" name="Google Shape;898;p20"/>
          <p:cNvCxnSpPr/>
          <p:nvPr/>
        </p:nvCxnSpPr>
        <p:spPr>
          <a:xfrm>
            <a:off x="6524244" y="1527048"/>
            <a:ext cx="0" cy="183000"/>
          </a:xfrm>
          <a:prstGeom prst="straightConnector1">
            <a:avLst/>
          </a:prstGeom>
          <a:noFill/>
          <a:ln cap="flat" cmpd="sng" w="12700">
            <a:solidFill>
              <a:srgbClr val="94A3B8"/>
            </a:solidFill>
            <a:prstDash val="solid"/>
            <a:round/>
            <a:headEnd len="sm" w="sm" type="none"/>
            <a:tailEnd len="sm" w="sm" type="none"/>
          </a:ln>
        </p:spPr>
      </p:cxnSp>
      <p:sp>
        <p:nvSpPr>
          <p:cNvPr id="899" name="Google Shape;899;p20"/>
          <p:cNvSpPr/>
          <p:nvPr/>
        </p:nvSpPr>
        <p:spPr>
          <a:xfrm>
            <a:off x="6432804" y="1435608"/>
            <a:ext cx="183000" cy="128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4748B"/>
              </a:buClr>
              <a:buSzPts val="700"/>
              <a:buFont typeface="Calibri"/>
              <a:buNone/>
            </a:pPr>
            <a:r>
              <a:rPr b="0" i="1" lang="en" sz="700" u="none" cap="none" strike="noStrike">
                <a:solidFill>
                  <a:srgbClr val="64748B"/>
                </a:solidFill>
                <a:latin typeface="Calibri"/>
                <a:ea typeface="Calibri"/>
                <a:cs typeface="Calibri"/>
                <a:sym typeface="Calibri"/>
              </a:rPr>
              <a:t>x3</a:t>
            </a:r>
            <a:endParaRPr b="0" i="0" sz="700" u="none" cap="none" strike="noStrike">
              <a:solidFill>
                <a:schemeClr val="dk1"/>
              </a:solidFill>
              <a:latin typeface="Calibri"/>
              <a:ea typeface="Calibri"/>
              <a:cs typeface="Calibri"/>
              <a:sym typeface="Calibri"/>
            </a:endParaRPr>
          </a:p>
        </p:txBody>
      </p:sp>
      <p:cxnSp>
        <p:nvCxnSpPr>
          <p:cNvPr id="900" name="Google Shape;900;p20"/>
          <p:cNvCxnSpPr/>
          <p:nvPr/>
        </p:nvCxnSpPr>
        <p:spPr>
          <a:xfrm>
            <a:off x="5705856" y="1572768"/>
            <a:ext cx="658500" cy="0"/>
          </a:xfrm>
          <a:prstGeom prst="straightConnector1">
            <a:avLst/>
          </a:prstGeom>
          <a:noFill/>
          <a:ln cap="flat" cmpd="sng" w="10150">
            <a:solidFill>
              <a:srgbClr val="F59E0B"/>
            </a:solidFill>
            <a:prstDash val="dash"/>
            <a:round/>
            <a:headEnd len="sm" w="sm" type="none"/>
            <a:tailEnd len="sm" w="sm" type="none"/>
          </a:ln>
        </p:spPr>
      </p:cxnSp>
      <p:sp>
        <p:nvSpPr>
          <p:cNvPr id="901" name="Google Shape;901;p20"/>
          <p:cNvSpPr/>
          <p:nvPr/>
        </p:nvSpPr>
        <p:spPr>
          <a:xfrm>
            <a:off x="5449824" y="2441448"/>
            <a:ext cx="1518000" cy="1417200"/>
          </a:xfrm>
          <a:prstGeom prst="rect">
            <a:avLst/>
          </a:prstGeom>
          <a:noFill/>
          <a:ln>
            <a:noFill/>
          </a:ln>
        </p:spPr>
        <p:txBody>
          <a:bodyPr anchorCtr="0" anchor="t" bIns="38100" lIns="38100" spcFirstLastPara="1" rIns="38100" wrap="square" tIns="38100">
            <a:noAutofit/>
          </a:bodyPr>
          <a:lstStyle/>
          <a:p>
            <a:pPr indent="0" lvl="0" marL="0" marR="0" rtl="0" algn="l">
              <a:lnSpc>
                <a:spcPct val="125000"/>
              </a:lnSpc>
              <a:spcBef>
                <a:spcPts val="0"/>
              </a:spcBef>
              <a:spcAft>
                <a:spcPts val="0"/>
              </a:spcAft>
              <a:buClr>
                <a:srgbClr val="F59E0B"/>
              </a:buClr>
              <a:buSzPts val="900"/>
              <a:buFont typeface="Calibri"/>
              <a:buNone/>
            </a:pPr>
            <a:r>
              <a:rPr b="1" i="0" lang="en" sz="900" u="none" cap="none" strike="noStrike">
                <a:solidFill>
                  <a:srgbClr val="F59E0B"/>
                </a:solidFill>
                <a:latin typeface="Calibri"/>
                <a:ea typeface="Calibri"/>
                <a:cs typeface="Calibri"/>
                <a:sym typeface="Calibri"/>
              </a:rPr>
              <a:t>Sequential data</a:t>
            </a:r>
            <a:endParaRPr b="0" i="0" sz="9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334155"/>
              </a:buClr>
              <a:buSzPts val="900"/>
              <a:buFont typeface="Calibri"/>
              <a:buNone/>
            </a:pPr>
            <a:r>
              <a:rPr b="0" i="0" lang="en" sz="900" u="none" cap="none" strike="noStrike">
                <a:solidFill>
                  <a:srgbClr val="334155"/>
                </a:solidFill>
                <a:latin typeface="Calibri"/>
                <a:ea typeface="Calibri"/>
                <a:cs typeface="Calibri"/>
                <a:sym typeface="Calibri"/>
              </a:rPr>
              <a:t>Hidden state</a:t>
            </a:r>
            <a:endParaRPr b="0" i="0" sz="9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334155"/>
              </a:buClr>
              <a:buSzPts val="900"/>
              <a:buFont typeface="Calibri"/>
              <a:buNone/>
            </a:pPr>
            <a:r>
              <a:rPr b="0" i="0" lang="en" sz="900" u="none" cap="none" strike="noStrike">
                <a:solidFill>
                  <a:srgbClr val="334155"/>
                </a:solidFill>
                <a:latin typeface="Calibri"/>
                <a:ea typeface="Calibri"/>
                <a:cs typeface="Calibri"/>
                <a:sym typeface="Calibri"/>
              </a:rPr>
              <a:t>Long-term memory</a:t>
            </a:r>
            <a:endParaRPr b="0" i="0" sz="9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334155"/>
              </a:buClr>
              <a:buSzPts val="900"/>
              <a:buFont typeface="Calibri"/>
              <a:buNone/>
            </a:pPr>
            <a:r>
              <a:rPr b="0" i="0" lang="en" sz="900" u="none" cap="none" strike="noStrike">
                <a:solidFill>
                  <a:srgbClr val="334155"/>
                </a:solidFill>
                <a:latin typeface="Calibri"/>
                <a:ea typeface="Calibri"/>
                <a:cs typeface="Calibri"/>
                <a:sym typeface="Calibri"/>
              </a:rPr>
              <a:t>NLP / time-series</a:t>
            </a:r>
            <a:endParaRPr b="0" i="0" sz="900" u="none" cap="none" strike="noStrike">
              <a:solidFill>
                <a:schemeClr val="dk1"/>
              </a:solidFill>
              <a:latin typeface="Calibri"/>
              <a:ea typeface="Calibri"/>
              <a:cs typeface="Calibri"/>
              <a:sym typeface="Calibri"/>
            </a:endParaRPr>
          </a:p>
        </p:txBody>
      </p:sp>
      <p:sp>
        <p:nvSpPr>
          <p:cNvPr id="902" name="Google Shape;902;p20"/>
          <p:cNvSpPr/>
          <p:nvPr/>
        </p:nvSpPr>
        <p:spPr>
          <a:xfrm>
            <a:off x="6126480" y="4142232"/>
            <a:ext cx="164700" cy="164700"/>
          </a:xfrm>
          <a:prstGeom prst="ellipse">
            <a:avLst/>
          </a:prstGeom>
          <a:solidFill>
            <a:srgbClr val="F59E0B"/>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3" name="Google Shape;903;p20"/>
          <p:cNvSpPr/>
          <p:nvPr/>
        </p:nvSpPr>
        <p:spPr>
          <a:xfrm>
            <a:off x="7114032" y="749808"/>
            <a:ext cx="1664100" cy="3291900"/>
          </a:xfrm>
          <a:prstGeom prst="rect">
            <a:avLst/>
          </a:prstGeom>
          <a:solidFill>
            <a:srgbClr val="FFFFFF"/>
          </a:solidFill>
          <a:ln cap="flat" cmpd="sng" w="15225">
            <a:solidFill>
              <a:srgbClr val="EC4899"/>
            </a:solidFill>
            <a:prstDash val="solid"/>
            <a:round/>
            <a:headEnd len="sm" w="sm" type="none"/>
            <a:tailEnd len="sm" w="sm" type="none"/>
          </a:ln>
          <a:effectLst>
            <a:outerShdw blurRad="762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4" name="Google Shape;904;p20"/>
          <p:cNvSpPr/>
          <p:nvPr/>
        </p:nvSpPr>
        <p:spPr>
          <a:xfrm>
            <a:off x="7114032" y="749808"/>
            <a:ext cx="1664100" cy="63900"/>
          </a:xfrm>
          <a:prstGeom prst="rect">
            <a:avLst/>
          </a:prstGeom>
          <a:solidFill>
            <a:srgbClr val="EC4899"/>
          </a:solidFill>
          <a:ln cap="flat" cmpd="sng" w="12700">
            <a:solidFill>
              <a:srgbClr val="EC48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5" name="Google Shape;905;p20"/>
          <p:cNvSpPr/>
          <p:nvPr/>
        </p:nvSpPr>
        <p:spPr>
          <a:xfrm>
            <a:off x="7187184" y="841248"/>
            <a:ext cx="1518000" cy="201300"/>
          </a:xfrm>
          <a:prstGeom prst="rect">
            <a:avLst/>
          </a:prstGeom>
          <a:solidFill>
            <a:srgbClr val="EC4899">
              <a:alpha val="14902"/>
            </a:srgbClr>
          </a:solidFill>
          <a:ln cap="flat" cmpd="sng" w="9525">
            <a:solidFill>
              <a:srgbClr val="EC48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6" name="Google Shape;906;p20"/>
          <p:cNvSpPr/>
          <p:nvPr/>
        </p:nvSpPr>
        <p:spPr>
          <a:xfrm>
            <a:off x="7187184" y="841248"/>
            <a:ext cx="1518000" cy="201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EC4899"/>
              </a:buClr>
              <a:buSzPts val="800"/>
              <a:buFont typeface="Calibri"/>
              <a:buNone/>
            </a:pPr>
            <a:r>
              <a:rPr b="1" i="0" lang="en" sz="800" u="none" cap="none" strike="noStrike">
                <a:solidFill>
                  <a:srgbClr val="EC4899"/>
                </a:solidFill>
                <a:latin typeface="Calibri"/>
                <a:ea typeface="Calibri"/>
                <a:cs typeface="Calibri"/>
                <a:sym typeface="Calibri"/>
              </a:rPr>
              <a:t>2017–now</a:t>
            </a:r>
            <a:endParaRPr b="0" i="0" sz="800" u="none" cap="none" strike="noStrike">
              <a:solidFill>
                <a:schemeClr val="dk1"/>
              </a:solidFill>
              <a:latin typeface="Calibri"/>
              <a:ea typeface="Calibri"/>
              <a:cs typeface="Calibri"/>
              <a:sym typeface="Calibri"/>
            </a:endParaRPr>
          </a:p>
        </p:txBody>
      </p:sp>
      <p:sp>
        <p:nvSpPr>
          <p:cNvPr id="907" name="Google Shape;907;p20"/>
          <p:cNvSpPr/>
          <p:nvPr/>
        </p:nvSpPr>
        <p:spPr>
          <a:xfrm>
            <a:off x="7168896" y="1069848"/>
            <a:ext cx="1554600" cy="292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293B"/>
              </a:buClr>
              <a:buSzPts val="1300"/>
              <a:buFont typeface="Calibri"/>
              <a:buNone/>
            </a:pPr>
            <a:r>
              <a:rPr b="1" i="0" lang="en" sz="1300" u="none" cap="none" strike="noStrike">
                <a:solidFill>
                  <a:srgbClr val="1E293B"/>
                </a:solidFill>
                <a:latin typeface="Calibri"/>
                <a:ea typeface="Calibri"/>
                <a:cs typeface="Calibri"/>
                <a:sym typeface="Calibri"/>
              </a:rPr>
              <a:t>Transformer</a:t>
            </a:r>
            <a:endParaRPr b="0" i="0" sz="1300" u="none" cap="none" strike="noStrike">
              <a:solidFill>
                <a:schemeClr val="dk1"/>
              </a:solidFill>
              <a:latin typeface="Calibri"/>
              <a:ea typeface="Calibri"/>
              <a:cs typeface="Calibri"/>
              <a:sym typeface="Calibri"/>
            </a:endParaRPr>
          </a:p>
        </p:txBody>
      </p:sp>
      <p:sp>
        <p:nvSpPr>
          <p:cNvPr id="908" name="Google Shape;908;p20"/>
          <p:cNvSpPr/>
          <p:nvPr/>
        </p:nvSpPr>
        <p:spPr>
          <a:xfrm>
            <a:off x="7187184" y="1389888"/>
            <a:ext cx="1518000" cy="1005900"/>
          </a:xfrm>
          <a:prstGeom prst="rect">
            <a:avLst/>
          </a:prstGeom>
          <a:solidFill>
            <a:srgbClr val="F1F5F9"/>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9" name="Google Shape;909;p20"/>
          <p:cNvSpPr/>
          <p:nvPr/>
        </p:nvSpPr>
        <p:spPr>
          <a:xfrm>
            <a:off x="7260336" y="1527048"/>
            <a:ext cx="1280100" cy="201300"/>
          </a:xfrm>
          <a:prstGeom prst="rect">
            <a:avLst/>
          </a:prstGeom>
          <a:solidFill>
            <a:srgbClr val="EC4899">
              <a:alpha val="20000"/>
            </a:srgbClr>
          </a:solidFill>
          <a:ln cap="flat" cmpd="sng" w="10150">
            <a:solidFill>
              <a:srgbClr val="EC48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0" name="Google Shape;910;p20"/>
          <p:cNvSpPr/>
          <p:nvPr/>
        </p:nvSpPr>
        <p:spPr>
          <a:xfrm>
            <a:off x="7278624" y="1563624"/>
            <a:ext cx="205800" cy="128100"/>
          </a:xfrm>
          <a:prstGeom prst="rect">
            <a:avLst/>
          </a:prstGeom>
          <a:solidFill>
            <a:srgbClr val="EC4899">
              <a:alpha val="70196"/>
            </a:srgbClr>
          </a:solidFill>
          <a:ln cap="flat" cmpd="sng" w="12700">
            <a:solidFill>
              <a:srgbClr val="EC48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1" name="Google Shape;911;p20"/>
          <p:cNvSpPr/>
          <p:nvPr/>
        </p:nvSpPr>
        <p:spPr>
          <a:xfrm>
            <a:off x="7520940" y="1563624"/>
            <a:ext cx="493800" cy="128100"/>
          </a:xfrm>
          <a:prstGeom prst="rect">
            <a:avLst/>
          </a:prstGeom>
          <a:solidFill>
            <a:srgbClr val="EC4899">
              <a:alpha val="70196"/>
            </a:srgbClr>
          </a:solidFill>
          <a:ln cap="flat" cmpd="sng" w="12700">
            <a:solidFill>
              <a:srgbClr val="EC48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2" name="Google Shape;912;p20"/>
          <p:cNvSpPr/>
          <p:nvPr/>
        </p:nvSpPr>
        <p:spPr>
          <a:xfrm>
            <a:off x="8051292" y="1563624"/>
            <a:ext cx="288000" cy="128100"/>
          </a:xfrm>
          <a:prstGeom prst="rect">
            <a:avLst/>
          </a:prstGeom>
          <a:solidFill>
            <a:srgbClr val="EC4899">
              <a:alpha val="70196"/>
            </a:srgbClr>
          </a:solidFill>
          <a:ln cap="flat" cmpd="sng" w="12700">
            <a:solidFill>
              <a:srgbClr val="EC48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3" name="Google Shape;913;p20"/>
          <p:cNvSpPr/>
          <p:nvPr/>
        </p:nvSpPr>
        <p:spPr>
          <a:xfrm>
            <a:off x="8375904" y="1563624"/>
            <a:ext cx="164700" cy="128100"/>
          </a:xfrm>
          <a:prstGeom prst="rect">
            <a:avLst/>
          </a:prstGeom>
          <a:solidFill>
            <a:srgbClr val="EC4899">
              <a:alpha val="70196"/>
            </a:srgbClr>
          </a:solidFill>
          <a:ln cap="flat" cmpd="sng" w="12700">
            <a:solidFill>
              <a:srgbClr val="EC48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4" name="Google Shape;914;p20"/>
          <p:cNvSpPr/>
          <p:nvPr/>
        </p:nvSpPr>
        <p:spPr>
          <a:xfrm>
            <a:off x="7260336" y="1527048"/>
            <a:ext cx="502800" cy="201300"/>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Clr>
                <a:srgbClr val="1E293B"/>
              </a:buClr>
              <a:buSzPts val="600"/>
              <a:buFont typeface="Calibri"/>
              <a:buNone/>
            </a:pPr>
            <a:r>
              <a:rPr b="0" i="0" lang="en" sz="600" u="none" cap="none" strike="noStrike">
                <a:solidFill>
                  <a:srgbClr val="1E293B"/>
                </a:solidFill>
                <a:latin typeface="Calibri"/>
                <a:ea typeface="Calibri"/>
                <a:cs typeface="Calibri"/>
                <a:sym typeface="Calibri"/>
              </a:rPr>
              <a:t>Head 1</a:t>
            </a:r>
            <a:endParaRPr b="0" i="0" sz="600" u="none" cap="none" strike="noStrike">
              <a:solidFill>
                <a:schemeClr val="dk1"/>
              </a:solidFill>
              <a:latin typeface="Calibri"/>
              <a:ea typeface="Calibri"/>
              <a:cs typeface="Calibri"/>
              <a:sym typeface="Calibri"/>
            </a:endParaRPr>
          </a:p>
        </p:txBody>
      </p:sp>
      <p:sp>
        <p:nvSpPr>
          <p:cNvPr id="915" name="Google Shape;915;p20"/>
          <p:cNvSpPr/>
          <p:nvPr/>
        </p:nvSpPr>
        <p:spPr>
          <a:xfrm>
            <a:off x="7260336" y="1783080"/>
            <a:ext cx="1280100" cy="201300"/>
          </a:xfrm>
          <a:prstGeom prst="rect">
            <a:avLst/>
          </a:prstGeom>
          <a:solidFill>
            <a:srgbClr val="6366F1">
              <a:alpha val="20000"/>
            </a:srgbClr>
          </a:solidFill>
          <a:ln cap="flat" cmpd="sng" w="10150">
            <a:solidFill>
              <a:srgbClr val="6366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6" name="Google Shape;916;p20"/>
          <p:cNvSpPr/>
          <p:nvPr/>
        </p:nvSpPr>
        <p:spPr>
          <a:xfrm>
            <a:off x="7278624" y="1819656"/>
            <a:ext cx="205800" cy="128100"/>
          </a:xfrm>
          <a:prstGeom prst="rect">
            <a:avLst/>
          </a:prstGeom>
          <a:solidFill>
            <a:srgbClr val="6366F1">
              <a:alpha val="70196"/>
            </a:srgbClr>
          </a:solidFill>
          <a:ln cap="flat" cmpd="sng" w="12700">
            <a:solidFill>
              <a:srgbClr val="6366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7" name="Google Shape;917;p20"/>
          <p:cNvSpPr/>
          <p:nvPr/>
        </p:nvSpPr>
        <p:spPr>
          <a:xfrm>
            <a:off x="7520940" y="1819656"/>
            <a:ext cx="493800" cy="128100"/>
          </a:xfrm>
          <a:prstGeom prst="rect">
            <a:avLst/>
          </a:prstGeom>
          <a:solidFill>
            <a:srgbClr val="6366F1">
              <a:alpha val="70196"/>
            </a:srgbClr>
          </a:solidFill>
          <a:ln cap="flat" cmpd="sng" w="12700">
            <a:solidFill>
              <a:srgbClr val="6366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8" name="Google Shape;918;p20"/>
          <p:cNvSpPr/>
          <p:nvPr/>
        </p:nvSpPr>
        <p:spPr>
          <a:xfrm>
            <a:off x="8051292" y="1819656"/>
            <a:ext cx="288000" cy="128100"/>
          </a:xfrm>
          <a:prstGeom prst="rect">
            <a:avLst/>
          </a:prstGeom>
          <a:solidFill>
            <a:srgbClr val="6366F1">
              <a:alpha val="70196"/>
            </a:srgbClr>
          </a:solidFill>
          <a:ln cap="flat" cmpd="sng" w="12700">
            <a:solidFill>
              <a:srgbClr val="6366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9" name="Google Shape;919;p20"/>
          <p:cNvSpPr/>
          <p:nvPr/>
        </p:nvSpPr>
        <p:spPr>
          <a:xfrm>
            <a:off x="8375904" y="1819656"/>
            <a:ext cx="164700" cy="128100"/>
          </a:xfrm>
          <a:prstGeom prst="rect">
            <a:avLst/>
          </a:prstGeom>
          <a:solidFill>
            <a:srgbClr val="6366F1">
              <a:alpha val="70196"/>
            </a:srgbClr>
          </a:solidFill>
          <a:ln cap="flat" cmpd="sng" w="12700">
            <a:solidFill>
              <a:srgbClr val="6366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0" name="Google Shape;920;p20"/>
          <p:cNvSpPr/>
          <p:nvPr/>
        </p:nvSpPr>
        <p:spPr>
          <a:xfrm>
            <a:off x="7260336" y="1783080"/>
            <a:ext cx="502800" cy="201300"/>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Clr>
                <a:srgbClr val="1E293B"/>
              </a:buClr>
              <a:buSzPts val="600"/>
              <a:buFont typeface="Calibri"/>
              <a:buNone/>
            </a:pPr>
            <a:r>
              <a:rPr b="0" i="0" lang="en" sz="600" u="none" cap="none" strike="noStrike">
                <a:solidFill>
                  <a:srgbClr val="1E293B"/>
                </a:solidFill>
                <a:latin typeface="Calibri"/>
                <a:ea typeface="Calibri"/>
                <a:cs typeface="Calibri"/>
                <a:sym typeface="Calibri"/>
              </a:rPr>
              <a:t>Head 2</a:t>
            </a:r>
            <a:endParaRPr b="0" i="0" sz="600" u="none" cap="none" strike="noStrike">
              <a:solidFill>
                <a:schemeClr val="dk1"/>
              </a:solidFill>
              <a:latin typeface="Calibri"/>
              <a:ea typeface="Calibri"/>
              <a:cs typeface="Calibri"/>
              <a:sym typeface="Calibri"/>
            </a:endParaRPr>
          </a:p>
        </p:txBody>
      </p:sp>
      <p:sp>
        <p:nvSpPr>
          <p:cNvPr id="921" name="Google Shape;921;p20"/>
          <p:cNvSpPr/>
          <p:nvPr/>
        </p:nvSpPr>
        <p:spPr>
          <a:xfrm>
            <a:off x="7260336" y="2039112"/>
            <a:ext cx="1280100" cy="201300"/>
          </a:xfrm>
          <a:prstGeom prst="rect">
            <a:avLst/>
          </a:prstGeom>
          <a:solidFill>
            <a:srgbClr val="10B981">
              <a:alpha val="20000"/>
            </a:srgbClr>
          </a:solidFill>
          <a:ln cap="flat" cmpd="sng" w="10150">
            <a:solidFill>
              <a:srgbClr val="10B98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2" name="Google Shape;922;p20"/>
          <p:cNvSpPr/>
          <p:nvPr/>
        </p:nvSpPr>
        <p:spPr>
          <a:xfrm>
            <a:off x="7278624" y="2075688"/>
            <a:ext cx="205800" cy="128100"/>
          </a:xfrm>
          <a:prstGeom prst="rect">
            <a:avLst/>
          </a:prstGeom>
          <a:solidFill>
            <a:srgbClr val="10B981">
              <a:alpha val="70196"/>
            </a:srgbClr>
          </a:solidFill>
          <a:ln cap="flat" cmpd="sng" w="12700">
            <a:solidFill>
              <a:srgbClr val="10B98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3" name="Google Shape;923;p20"/>
          <p:cNvSpPr/>
          <p:nvPr/>
        </p:nvSpPr>
        <p:spPr>
          <a:xfrm>
            <a:off x="7520940" y="2075688"/>
            <a:ext cx="493800" cy="128100"/>
          </a:xfrm>
          <a:prstGeom prst="rect">
            <a:avLst/>
          </a:prstGeom>
          <a:solidFill>
            <a:srgbClr val="10B981">
              <a:alpha val="70196"/>
            </a:srgbClr>
          </a:solidFill>
          <a:ln cap="flat" cmpd="sng" w="12700">
            <a:solidFill>
              <a:srgbClr val="10B98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4" name="Google Shape;924;p20"/>
          <p:cNvSpPr/>
          <p:nvPr/>
        </p:nvSpPr>
        <p:spPr>
          <a:xfrm>
            <a:off x="8051292" y="2075688"/>
            <a:ext cx="288000" cy="128100"/>
          </a:xfrm>
          <a:prstGeom prst="rect">
            <a:avLst/>
          </a:prstGeom>
          <a:solidFill>
            <a:srgbClr val="10B981">
              <a:alpha val="70196"/>
            </a:srgbClr>
          </a:solidFill>
          <a:ln cap="flat" cmpd="sng" w="12700">
            <a:solidFill>
              <a:srgbClr val="10B98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5" name="Google Shape;925;p20"/>
          <p:cNvSpPr/>
          <p:nvPr/>
        </p:nvSpPr>
        <p:spPr>
          <a:xfrm>
            <a:off x="8375904" y="2075688"/>
            <a:ext cx="164700" cy="128100"/>
          </a:xfrm>
          <a:prstGeom prst="rect">
            <a:avLst/>
          </a:prstGeom>
          <a:solidFill>
            <a:srgbClr val="10B981">
              <a:alpha val="70196"/>
            </a:srgbClr>
          </a:solidFill>
          <a:ln cap="flat" cmpd="sng" w="12700">
            <a:solidFill>
              <a:srgbClr val="10B98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6" name="Google Shape;926;p20"/>
          <p:cNvSpPr/>
          <p:nvPr/>
        </p:nvSpPr>
        <p:spPr>
          <a:xfrm>
            <a:off x="7260336" y="2039112"/>
            <a:ext cx="502800" cy="201300"/>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Clr>
                <a:srgbClr val="1E293B"/>
              </a:buClr>
              <a:buSzPts val="600"/>
              <a:buFont typeface="Calibri"/>
              <a:buNone/>
            </a:pPr>
            <a:r>
              <a:rPr b="0" i="0" lang="en" sz="600" u="none" cap="none" strike="noStrike">
                <a:solidFill>
                  <a:srgbClr val="1E293B"/>
                </a:solidFill>
                <a:latin typeface="Calibri"/>
                <a:ea typeface="Calibri"/>
                <a:cs typeface="Calibri"/>
                <a:sym typeface="Calibri"/>
              </a:rPr>
              <a:t>Head 3</a:t>
            </a:r>
            <a:endParaRPr b="0" i="0" sz="600" u="none" cap="none" strike="noStrike">
              <a:solidFill>
                <a:schemeClr val="dk1"/>
              </a:solidFill>
              <a:latin typeface="Calibri"/>
              <a:ea typeface="Calibri"/>
              <a:cs typeface="Calibri"/>
              <a:sym typeface="Calibri"/>
            </a:endParaRPr>
          </a:p>
        </p:txBody>
      </p:sp>
      <p:sp>
        <p:nvSpPr>
          <p:cNvPr id="927" name="Google Shape;927;p20"/>
          <p:cNvSpPr/>
          <p:nvPr/>
        </p:nvSpPr>
        <p:spPr>
          <a:xfrm>
            <a:off x="7260336" y="2304288"/>
            <a:ext cx="1280100" cy="109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4748B"/>
              </a:buClr>
              <a:buSzPts val="600"/>
              <a:buFont typeface="Calibri"/>
              <a:buNone/>
            </a:pPr>
            <a:r>
              <a:rPr b="0" i="0" lang="en" sz="600" u="none" cap="none" strike="noStrike">
                <a:solidFill>
                  <a:srgbClr val="64748B"/>
                </a:solidFill>
                <a:latin typeface="Calibri"/>
                <a:ea typeface="Calibri"/>
                <a:cs typeface="Calibri"/>
                <a:sym typeface="Calibri"/>
              </a:rPr>
              <a:t>Multi-Head Attention</a:t>
            </a:r>
            <a:endParaRPr b="0" i="0" sz="600" u="none" cap="none" strike="noStrike">
              <a:solidFill>
                <a:schemeClr val="dk1"/>
              </a:solidFill>
              <a:latin typeface="Calibri"/>
              <a:ea typeface="Calibri"/>
              <a:cs typeface="Calibri"/>
              <a:sym typeface="Calibri"/>
            </a:endParaRPr>
          </a:p>
        </p:txBody>
      </p:sp>
      <p:sp>
        <p:nvSpPr>
          <p:cNvPr id="928" name="Google Shape;928;p20"/>
          <p:cNvSpPr/>
          <p:nvPr/>
        </p:nvSpPr>
        <p:spPr>
          <a:xfrm>
            <a:off x="7187184" y="2441448"/>
            <a:ext cx="1518000" cy="1417200"/>
          </a:xfrm>
          <a:prstGeom prst="rect">
            <a:avLst/>
          </a:prstGeom>
          <a:noFill/>
          <a:ln>
            <a:noFill/>
          </a:ln>
        </p:spPr>
        <p:txBody>
          <a:bodyPr anchorCtr="0" anchor="t" bIns="38100" lIns="38100" spcFirstLastPara="1" rIns="38100" wrap="square" tIns="38100">
            <a:noAutofit/>
          </a:bodyPr>
          <a:lstStyle/>
          <a:p>
            <a:pPr indent="0" lvl="0" marL="0" marR="0" rtl="0" algn="l">
              <a:lnSpc>
                <a:spcPct val="125000"/>
              </a:lnSpc>
              <a:spcBef>
                <a:spcPts val="0"/>
              </a:spcBef>
              <a:spcAft>
                <a:spcPts val="0"/>
              </a:spcAft>
              <a:buClr>
                <a:srgbClr val="EC4899"/>
              </a:buClr>
              <a:buSzPts val="900"/>
              <a:buFont typeface="Calibri"/>
              <a:buNone/>
            </a:pPr>
            <a:r>
              <a:rPr b="1" i="0" lang="en" sz="900" u="none" cap="none" strike="noStrike">
                <a:solidFill>
                  <a:srgbClr val="EC4899"/>
                </a:solidFill>
                <a:latin typeface="Calibri"/>
                <a:ea typeface="Calibri"/>
                <a:cs typeface="Calibri"/>
                <a:sym typeface="Calibri"/>
              </a:rPr>
              <a:t>Self-attention</a:t>
            </a:r>
            <a:endParaRPr b="0" i="0" sz="9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334155"/>
              </a:buClr>
              <a:buSzPts val="900"/>
              <a:buFont typeface="Calibri"/>
              <a:buNone/>
            </a:pPr>
            <a:r>
              <a:rPr b="0" i="0" lang="en" sz="900" u="none" cap="none" strike="noStrike">
                <a:solidFill>
                  <a:srgbClr val="334155"/>
                </a:solidFill>
                <a:latin typeface="Calibri"/>
                <a:ea typeface="Calibri"/>
                <a:cs typeface="Calibri"/>
                <a:sym typeface="Calibri"/>
              </a:rPr>
              <a:t>Parallelizable</a:t>
            </a:r>
            <a:endParaRPr b="0" i="0" sz="9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334155"/>
              </a:buClr>
              <a:buSzPts val="900"/>
              <a:buFont typeface="Calibri"/>
              <a:buNone/>
            </a:pPr>
            <a:r>
              <a:rPr b="0" i="0" lang="en" sz="900" u="none" cap="none" strike="noStrike">
                <a:solidFill>
                  <a:srgbClr val="334155"/>
                </a:solidFill>
                <a:latin typeface="Calibri"/>
                <a:ea typeface="Calibri"/>
                <a:cs typeface="Calibri"/>
                <a:sym typeface="Calibri"/>
              </a:rPr>
              <a:t>Positional enc.</a:t>
            </a:r>
            <a:endParaRPr b="0" i="0" sz="9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334155"/>
              </a:buClr>
              <a:buSzPts val="900"/>
              <a:buFont typeface="Calibri"/>
              <a:buNone/>
            </a:pPr>
            <a:r>
              <a:rPr b="0" i="0" lang="en" sz="900" u="none" cap="none" strike="noStrike">
                <a:solidFill>
                  <a:srgbClr val="334155"/>
                </a:solidFill>
                <a:latin typeface="Calibri"/>
                <a:ea typeface="Calibri"/>
                <a:cs typeface="Calibri"/>
                <a:sym typeface="Calibri"/>
              </a:rPr>
              <a:t>LLMs / GPT / BERT</a:t>
            </a:r>
            <a:endParaRPr b="0" i="0" sz="900" u="none" cap="none" strike="noStrike">
              <a:solidFill>
                <a:schemeClr val="dk1"/>
              </a:solidFill>
              <a:latin typeface="Calibri"/>
              <a:ea typeface="Calibri"/>
              <a:cs typeface="Calibri"/>
              <a:sym typeface="Calibri"/>
            </a:endParaRPr>
          </a:p>
        </p:txBody>
      </p:sp>
      <p:sp>
        <p:nvSpPr>
          <p:cNvPr id="929" name="Google Shape;929;p20"/>
          <p:cNvSpPr/>
          <p:nvPr/>
        </p:nvSpPr>
        <p:spPr>
          <a:xfrm>
            <a:off x="7863840" y="4142232"/>
            <a:ext cx="164700" cy="164700"/>
          </a:xfrm>
          <a:prstGeom prst="ellipse">
            <a:avLst/>
          </a:prstGeom>
          <a:solidFill>
            <a:srgbClr val="EC4899"/>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0" name="Google Shape;930;p20"/>
          <p:cNvSpPr/>
          <p:nvPr/>
        </p:nvSpPr>
        <p:spPr>
          <a:xfrm>
            <a:off x="228600" y="4828032"/>
            <a:ext cx="36576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800"/>
              <a:buFont typeface="Calibri"/>
              <a:buNone/>
            </a:pPr>
            <a:r>
              <a:rPr b="0" i="0" lang="en" sz="800" u="none" cap="none" strike="noStrike">
                <a:solidFill>
                  <a:srgbClr val="94A3B8"/>
                </a:solidFill>
                <a:latin typeface="Calibri"/>
                <a:ea typeface="Calibri"/>
                <a:cs typeface="Calibri"/>
                <a:sym typeface="Calibri"/>
              </a:rPr>
              <a:t>Deep Learning · IIT Kharagpur</a:t>
            </a:r>
            <a:endParaRPr b="0" i="0" sz="800" u="none" cap="none" strike="noStrike">
              <a:solidFill>
                <a:schemeClr val="dk1"/>
              </a:solidFill>
              <a:latin typeface="Calibri"/>
              <a:ea typeface="Calibri"/>
              <a:cs typeface="Calibri"/>
              <a:sym typeface="Calibri"/>
            </a:endParaRPr>
          </a:p>
        </p:txBody>
      </p:sp>
      <p:sp>
        <p:nvSpPr>
          <p:cNvPr id="931" name="Google Shape;931;p20"/>
          <p:cNvSpPr/>
          <p:nvPr/>
        </p:nvSpPr>
        <p:spPr>
          <a:xfrm>
            <a:off x="228600" y="4828032"/>
            <a:ext cx="8686800" cy="2013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4A3B8"/>
              </a:buClr>
              <a:buSzPts val="800"/>
              <a:buFont typeface="Calibri"/>
              <a:buNone/>
            </a:pPr>
            <a:r>
              <a:rPr b="0" i="1" lang="en" sz="800" u="none" cap="none" strike="noStrike">
                <a:solidFill>
                  <a:srgbClr val="94A3B8"/>
                </a:solidFill>
                <a:latin typeface="Calibri"/>
                <a:ea typeface="Calibri"/>
                <a:cs typeface="Calibri"/>
                <a:sym typeface="Calibri"/>
              </a:rPr>
              <a:t>Complexity &amp; Specialization →</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5" name="Shape 935"/>
        <p:cNvGrpSpPr/>
        <p:nvPr/>
      </p:nvGrpSpPr>
      <p:grpSpPr>
        <a:xfrm>
          <a:off x="0" y="0"/>
          <a:ext cx="0" cy="0"/>
          <a:chOff x="0" y="0"/>
          <a:chExt cx="0" cy="0"/>
        </a:xfrm>
      </p:grpSpPr>
      <p:pic>
        <p:nvPicPr>
          <p:cNvPr id="936" name="Google Shape;936;p21"/>
          <p:cNvPicPr preferRelativeResize="0"/>
          <p:nvPr/>
        </p:nvPicPr>
        <p:blipFill rotWithShape="1">
          <a:blip r:embed="rId3">
            <a:alphaModFix/>
          </a:blip>
          <a:srcRect b="0" l="0" r="0" t="0"/>
          <a:stretch/>
        </p:blipFill>
        <p:spPr>
          <a:xfrm>
            <a:off x="152400" y="152400"/>
            <a:ext cx="8839199" cy="4554643"/>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40" name="Shape 940"/>
        <p:cNvGrpSpPr/>
        <p:nvPr/>
      </p:nvGrpSpPr>
      <p:grpSpPr>
        <a:xfrm>
          <a:off x="0" y="0"/>
          <a:ext cx="0" cy="0"/>
          <a:chOff x="0" y="0"/>
          <a:chExt cx="0" cy="0"/>
        </a:xfrm>
      </p:grpSpPr>
      <p:pic>
        <p:nvPicPr>
          <p:cNvPr id="941" name="Google Shape;941;p22"/>
          <p:cNvPicPr preferRelativeResize="0"/>
          <p:nvPr/>
        </p:nvPicPr>
        <p:blipFill rotWithShape="1">
          <a:blip r:embed="rId4">
            <a:alphaModFix/>
          </a:blip>
          <a:srcRect b="0" l="0" r="0" t="0"/>
          <a:stretch/>
        </p:blipFill>
        <p:spPr>
          <a:xfrm>
            <a:off x="8369125" y="0"/>
            <a:ext cx="774877" cy="867174"/>
          </a:xfrm>
          <a:prstGeom prst="rect">
            <a:avLst/>
          </a:prstGeom>
          <a:noFill/>
          <a:ln>
            <a:noFill/>
          </a:ln>
        </p:spPr>
      </p:pic>
      <p:sp>
        <p:nvSpPr>
          <p:cNvPr id="942" name="Google Shape;942;p22"/>
          <p:cNvSpPr txBox="1"/>
          <p:nvPr/>
        </p:nvSpPr>
        <p:spPr>
          <a:xfrm>
            <a:off x="1512201" y="98876"/>
            <a:ext cx="6618600" cy="1143000"/>
          </a:xfrm>
          <a:prstGeom prst="rect">
            <a:avLst/>
          </a:prstGeom>
          <a:no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rgbClr val="0D1B2A"/>
              </a:buClr>
              <a:buSzPts val="2600"/>
              <a:buFont typeface="Calibri"/>
              <a:buNone/>
            </a:pPr>
            <a:r>
              <a:rPr b="1" i="0" lang="en" sz="2600" u="none" cap="none" strike="noStrike">
                <a:solidFill>
                  <a:srgbClr val="0D1B2A"/>
                </a:solidFill>
                <a:latin typeface="Calibri"/>
                <a:ea typeface="Calibri"/>
                <a:cs typeface="Calibri"/>
                <a:sym typeface="Calibri"/>
              </a:rPr>
              <a:t>Convolutional Neural Networks (CNNs)</a:t>
            </a:r>
            <a:endParaRPr b="1" i="0" sz="2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600"/>
              <a:buFont typeface="Arial"/>
              <a:buNone/>
            </a:pPr>
            <a:r>
              <a:t/>
            </a:r>
            <a:endParaRPr b="1" i="0" sz="2600" u="none" cap="none" strike="noStrike">
              <a:solidFill>
                <a:srgbClr val="0D1B2A"/>
              </a:solidFill>
              <a:latin typeface="Calibri"/>
              <a:ea typeface="Calibri"/>
              <a:cs typeface="Calibri"/>
              <a:sym typeface="Calibri"/>
            </a:endParaRPr>
          </a:p>
        </p:txBody>
      </p:sp>
      <p:sp>
        <p:nvSpPr>
          <p:cNvPr id="943" name="Google Shape;943;p22"/>
          <p:cNvSpPr/>
          <p:nvPr/>
        </p:nvSpPr>
        <p:spPr>
          <a:xfrm>
            <a:off x="320090" y="922370"/>
            <a:ext cx="3931800" cy="3520500"/>
          </a:xfrm>
          <a:prstGeom prst="rect">
            <a:avLst/>
          </a:prstGeom>
          <a:solidFill>
            <a:schemeClr val="lt1"/>
          </a:solidFill>
          <a:ln>
            <a:noFill/>
          </a:ln>
          <a:effectLst>
            <a:outerShdw blurRad="101600" rotWithShape="0" algn="bl" dir="8100000" dist="38100">
              <a:srgbClr val="000000">
                <a:alpha val="14902"/>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4" name="Google Shape;944;p22"/>
          <p:cNvSpPr/>
          <p:nvPr/>
        </p:nvSpPr>
        <p:spPr>
          <a:xfrm>
            <a:off x="320090" y="922370"/>
            <a:ext cx="91500" cy="3520500"/>
          </a:xfrm>
          <a:prstGeom prst="rect">
            <a:avLst/>
          </a:prstGeom>
          <a:solidFill>
            <a:srgbClr val="00B4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5" name="Google Shape;945;p22"/>
          <p:cNvSpPr/>
          <p:nvPr/>
        </p:nvSpPr>
        <p:spPr>
          <a:xfrm>
            <a:off x="548690" y="1059530"/>
            <a:ext cx="3474600" cy="41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FF6FF"/>
              </a:buClr>
              <a:buSzPts val="1600"/>
              <a:buFont typeface="Calibri"/>
              <a:buNone/>
            </a:pPr>
            <a:r>
              <a:rPr b="1" i="0" lang="en" sz="1600" u="none" cap="none" strike="noStrike">
                <a:solidFill>
                  <a:schemeClr val="dk1"/>
                </a:solidFill>
                <a:latin typeface="Calibri"/>
                <a:ea typeface="Calibri"/>
                <a:cs typeface="Calibri"/>
                <a:sym typeface="Calibri"/>
              </a:rPr>
              <a:t>Definition</a:t>
            </a:r>
            <a:endParaRPr b="0" i="0" sz="1600" u="none" cap="none" strike="noStrike">
              <a:solidFill>
                <a:schemeClr val="dk1"/>
              </a:solidFill>
              <a:latin typeface="Calibri"/>
              <a:ea typeface="Calibri"/>
              <a:cs typeface="Calibri"/>
              <a:sym typeface="Calibri"/>
            </a:endParaRPr>
          </a:p>
        </p:txBody>
      </p:sp>
      <p:sp>
        <p:nvSpPr>
          <p:cNvPr id="946" name="Google Shape;946;p22"/>
          <p:cNvSpPr/>
          <p:nvPr/>
        </p:nvSpPr>
        <p:spPr>
          <a:xfrm>
            <a:off x="548690" y="1516730"/>
            <a:ext cx="3520500" cy="2743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3E50"/>
              </a:buClr>
              <a:buSzPts val="1250"/>
              <a:buFont typeface="Calibri"/>
              <a:buNone/>
            </a:pPr>
            <a:r>
              <a:rPr b="0" i="0" lang="en" sz="1250" u="none" cap="none" strike="noStrike">
                <a:solidFill>
                  <a:schemeClr val="dk1"/>
                </a:solidFill>
                <a:latin typeface="Calibri"/>
                <a:ea typeface="Calibri"/>
                <a:cs typeface="Calibri"/>
                <a:sym typeface="Calibri"/>
              </a:rPr>
              <a:t>A Convolutional Neural Network (CNN) is a specialized deep learning architecture designed to process grid-structured data — primarily images.</a:t>
            </a:r>
            <a:endParaRPr b="0" i="0" sz="12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50"/>
              <a:buFont typeface="Calibri"/>
              <a:buNone/>
            </a:pPr>
            <a:r>
              <a:t/>
            </a:r>
            <a:endParaRPr b="0" i="0" sz="12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2C3E50"/>
              </a:buClr>
              <a:buSzPts val="1250"/>
              <a:buFont typeface="Calibri"/>
              <a:buNone/>
            </a:pPr>
            <a:r>
              <a:rPr b="0" i="0" lang="en" sz="1250" u="none" cap="none" strike="noStrike">
                <a:solidFill>
                  <a:schemeClr val="dk1"/>
                </a:solidFill>
                <a:latin typeface="Calibri"/>
                <a:ea typeface="Calibri"/>
                <a:cs typeface="Calibri"/>
                <a:sym typeface="Calibri"/>
              </a:rPr>
              <a:t>Inspired by the visual cortex, CNNs use learnable filters that slide over input data to detect spatial patterns like edges, textures, and shapes.</a:t>
            </a:r>
            <a:endParaRPr b="0" i="0" sz="12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50"/>
              <a:buFont typeface="Calibri"/>
              <a:buNone/>
            </a:pPr>
            <a:r>
              <a:t/>
            </a:r>
            <a:endParaRPr b="0" i="0" sz="12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2C3E50"/>
              </a:buClr>
              <a:buSzPts val="1250"/>
              <a:buFont typeface="Calibri"/>
              <a:buNone/>
            </a:pPr>
            <a:r>
              <a:rPr b="0" i="0" lang="en" sz="1250" u="none" cap="none" strike="noStrike">
                <a:solidFill>
                  <a:schemeClr val="dk1"/>
                </a:solidFill>
                <a:latin typeface="Calibri"/>
                <a:ea typeface="Calibri"/>
                <a:cs typeface="Calibri"/>
                <a:sym typeface="Calibri"/>
              </a:rPr>
              <a:t>They achieve translation invariance, meaning a learned feature can be detected regardless of where it appears in the image.</a:t>
            </a:r>
            <a:endParaRPr b="0" i="0" sz="1250" u="none" cap="none" strike="noStrike">
              <a:solidFill>
                <a:schemeClr val="dk1"/>
              </a:solidFill>
              <a:latin typeface="Calibri"/>
              <a:ea typeface="Calibri"/>
              <a:cs typeface="Calibri"/>
              <a:sym typeface="Calibri"/>
            </a:endParaRPr>
          </a:p>
        </p:txBody>
      </p:sp>
      <p:sp>
        <p:nvSpPr>
          <p:cNvPr id="947" name="Google Shape;947;p22"/>
          <p:cNvSpPr/>
          <p:nvPr/>
        </p:nvSpPr>
        <p:spPr>
          <a:xfrm>
            <a:off x="4663490" y="922370"/>
            <a:ext cx="4114800" cy="1051500"/>
          </a:xfrm>
          <a:prstGeom prst="rect">
            <a:avLst/>
          </a:prstGeom>
          <a:solidFill>
            <a:schemeClr val="lt1"/>
          </a:solidFill>
          <a:ln>
            <a:noFill/>
          </a:ln>
          <a:effectLst>
            <a:outerShdw blurRad="101600" rotWithShape="0" algn="bl" dir="8100000" dist="38100">
              <a:srgbClr val="000000">
                <a:alpha val="14902"/>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8" name="Google Shape;948;p22"/>
          <p:cNvSpPr/>
          <p:nvPr/>
        </p:nvSpPr>
        <p:spPr>
          <a:xfrm>
            <a:off x="4663490" y="922370"/>
            <a:ext cx="502800" cy="1051500"/>
          </a:xfrm>
          <a:prstGeom prst="rect">
            <a:avLst/>
          </a:prstGeom>
          <a:solidFill>
            <a:srgbClr val="00B4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9" name="Google Shape;949;p22"/>
          <p:cNvSpPr/>
          <p:nvPr/>
        </p:nvSpPr>
        <p:spPr>
          <a:xfrm>
            <a:off x="4663490" y="922370"/>
            <a:ext cx="502800" cy="1051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1800"/>
              <a:buFont typeface="Calibri"/>
              <a:buNone/>
            </a:pPr>
            <a:r>
              <a:rPr b="0" i="0" lang="en" sz="1800" u="none" cap="none" strike="noStrike">
                <a:solidFill>
                  <a:srgbClr val="1A2E42"/>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950" name="Google Shape;950;p22"/>
          <p:cNvSpPr/>
          <p:nvPr/>
        </p:nvSpPr>
        <p:spPr>
          <a:xfrm>
            <a:off x="5257850" y="1032098"/>
            <a:ext cx="33834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FF6FF"/>
              </a:buClr>
              <a:buSzPts val="1300"/>
              <a:buFont typeface="Calibri"/>
              <a:buNone/>
            </a:pPr>
            <a:r>
              <a:rPr b="1" i="0" lang="en" sz="1300" u="none" cap="none" strike="noStrike">
                <a:solidFill>
                  <a:schemeClr val="dk1"/>
                </a:solidFill>
                <a:latin typeface="Calibri"/>
                <a:ea typeface="Calibri"/>
                <a:cs typeface="Calibri"/>
                <a:sym typeface="Calibri"/>
              </a:rPr>
              <a:t>Local Connectivity</a:t>
            </a:r>
            <a:endParaRPr b="0" i="0" sz="1300" u="none" cap="none" strike="noStrike">
              <a:solidFill>
                <a:schemeClr val="dk1"/>
              </a:solidFill>
              <a:latin typeface="Calibri"/>
              <a:ea typeface="Calibri"/>
              <a:cs typeface="Calibri"/>
              <a:sym typeface="Calibri"/>
            </a:endParaRPr>
          </a:p>
        </p:txBody>
      </p:sp>
      <p:sp>
        <p:nvSpPr>
          <p:cNvPr id="951" name="Google Shape;951;p22"/>
          <p:cNvSpPr/>
          <p:nvPr/>
        </p:nvSpPr>
        <p:spPr>
          <a:xfrm>
            <a:off x="5257850" y="1379570"/>
            <a:ext cx="33834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1100"/>
              <a:buFont typeface="Calibri"/>
              <a:buNone/>
            </a:pPr>
            <a:r>
              <a:rPr b="0" i="0" lang="en" sz="1100" u="none" cap="none" strike="noStrike">
                <a:solidFill>
                  <a:schemeClr val="dk1"/>
                </a:solidFill>
                <a:latin typeface="Calibri"/>
                <a:ea typeface="Calibri"/>
                <a:cs typeface="Calibri"/>
                <a:sym typeface="Calibri"/>
              </a:rPr>
              <a:t>Neurons connect to small regions, not the entire input</a:t>
            </a:r>
            <a:endParaRPr b="0" i="0" sz="1100" u="none" cap="none" strike="noStrike">
              <a:solidFill>
                <a:schemeClr val="dk1"/>
              </a:solidFill>
              <a:latin typeface="Calibri"/>
              <a:ea typeface="Calibri"/>
              <a:cs typeface="Calibri"/>
              <a:sym typeface="Calibri"/>
            </a:endParaRPr>
          </a:p>
        </p:txBody>
      </p:sp>
      <p:sp>
        <p:nvSpPr>
          <p:cNvPr id="952" name="Google Shape;952;p22"/>
          <p:cNvSpPr/>
          <p:nvPr/>
        </p:nvSpPr>
        <p:spPr>
          <a:xfrm>
            <a:off x="4663490" y="2129378"/>
            <a:ext cx="4114800" cy="1051500"/>
          </a:xfrm>
          <a:prstGeom prst="rect">
            <a:avLst/>
          </a:prstGeom>
          <a:solidFill>
            <a:schemeClr val="lt1"/>
          </a:solidFill>
          <a:ln>
            <a:noFill/>
          </a:ln>
          <a:effectLst>
            <a:outerShdw blurRad="101600" rotWithShape="0" algn="bl" dir="8100000" dist="38100">
              <a:srgbClr val="000000">
                <a:alpha val="14902"/>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3" name="Google Shape;953;p22"/>
          <p:cNvSpPr/>
          <p:nvPr/>
        </p:nvSpPr>
        <p:spPr>
          <a:xfrm>
            <a:off x="4663490" y="2129378"/>
            <a:ext cx="502800" cy="1051500"/>
          </a:xfrm>
          <a:prstGeom prst="rect">
            <a:avLst/>
          </a:prstGeom>
          <a:solidFill>
            <a:srgbClr val="C0E4F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4" name="Google Shape;954;p22"/>
          <p:cNvSpPr/>
          <p:nvPr/>
        </p:nvSpPr>
        <p:spPr>
          <a:xfrm>
            <a:off x="4663490" y="2129378"/>
            <a:ext cx="502800" cy="1051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1800"/>
              <a:buFont typeface="Calibri"/>
              <a:buNone/>
            </a:pPr>
            <a:r>
              <a:rPr b="0" i="0" lang="en" sz="1800" u="none" cap="none" strike="noStrike">
                <a:solidFill>
                  <a:srgbClr val="1A2E42"/>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955" name="Google Shape;955;p22"/>
          <p:cNvSpPr/>
          <p:nvPr/>
        </p:nvSpPr>
        <p:spPr>
          <a:xfrm>
            <a:off x="5257850" y="2239106"/>
            <a:ext cx="33834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FF6FF"/>
              </a:buClr>
              <a:buSzPts val="1300"/>
              <a:buFont typeface="Calibri"/>
              <a:buNone/>
            </a:pPr>
            <a:r>
              <a:rPr b="1" i="0" lang="en" sz="1300" u="none" cap="none" strike="noStrike">
                <a:solidFill>
                  <a:schemeClr val="dk1"/>
                </a:solidFill>
                <a:latin typeface="Calibri"/>
                <a:ea typeface="Calibri"/>
                <a:cs typeface="Calibri"/>
                <a:sym typeface="Calibri"/>
              </a:rPr>
              <a:t>Shared Weights</a:t>
            </a:r>
            <a:endParaRPr b="0" i="0" sz="1300" u="none" cap="none" strike="noStrike">
              <a:solidFill>
                <a:schemeClr val="dk1"/>
              </a:solidFill>
              <a:latin typeface="Calibri"/>
              <a:ea typeface="Calibri"/>
              <a:cs typeface="Calibri"/>
              <a:sym typeface="Calibri"/>
            </a:endParaRPr>
          </a:p>
        </p:txBody>
      </p:sp>
      <p:sp>
        <p:nvSpPr>
          <p:cNvPr id="956" name="Google Shape;956;p22"/>
          <p:cNvSpPr/>
          <p:nvPr/>
        </p:nvSpPr>
        <p:spPr>
          <a:xfrm>
            <a:off x="5257850" y="2586578"/>
            <a:ext cx="33834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1100"/>
              <a:buFont typeface="Calibri"/>
              <a:buNone/>
            </a:pPr>
            <a:r>
              <a:rPr b="0" i="0" lang="en" sz="1100" u="none" cap="none" strike="noStrike">
                <a:solidFill>
                  <a:schemeClr val="dk1"/>
                </a:solidFill>
                <a:latin typeface="Calibri"/>
                <a:ea typeface="Calibri"/>
                <a:cs typeface="Calibri"/>
                <a:sym typeface="Calibri"/>
              </a:rPr>
              <a:t>Same filter applied across all spatial locations</a:t>
            </a:r>
            <a:endParaRPr b="0" i="0" sz="1100" u="none" cap="none" strike="noStrike">
              <a:solidFill>
                <a:schemeClr val="dk1"/>
              </a:solidFill>
              <a:latin typeface="Calibri"/>
              <a:ea typeface="Calibri"/>
              <a:cs typeface="Calibri"/>
              <a:sym typeface="Calibri"/>
            </a:endParaRPr>
          </a:p>
        </p:txBody>
      </p:sp>
      <p:sp>
        <p:nvSpPr>
          <p:cNvPr id="957" name="Google Shape;957;p22"/>
          <p:cNvSpPr/>
          <p:nvPr/>
        </p:nvSpPr>
        <p:spPr>
          <a:xfrm>
            <a:off x="4663490" y="3336386"/>
            <a:ext cx="4114800" cy="1051500"/>
          </a:xfrm>
          <a:prstGeom prst="rect">
            <a:avLst/>
          </a:prstGeom>
          <a:solidFill>
            <a:schemeClr val="lt1"/>
          </a:solidFill>
          <a:ln>
            <a:noFill/>
          </a:ln>
          <a:effectLst>
            <a:outerShdw blurRad="101600" rotWithShape="0" algn="bl" dir="8100000" dist="38100">
              <a:srgbClr val="000000">
                <a:alpha val="14902"/>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8" name="Google Shape;958;p22"/>
          <p:cNvSpPr/>
          <p:nvPr/>
        </p:nvSpPr>
        <p:spPr>
          <a:xfrm>
            <a:off x="4663490" y="3336386"/>
            <a:ext cx="502800" cy="1051500"/>
          </a:xfrm>
          <a:prstGeom prst="rect">
            <a:avLst/>
          </a:prstGeom>
          <a:solidFill>
            <a:srgbClr val="EFF6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9" name="Google Shape;959;p22"/>
          <p:cNvSpPr/>
          <p:nvPr/>
        </p:nvSpPr>
        <p:spPr>
          <a:xfrm>
            <a:off x="4663490" y="3336386"/>
            <a:ext cx="502800" cy="1051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1800"/>
              <a:buFont typeface="Calibri"/>
              <a:buNone/>
            </a:pPr>
            <a:r>
              <a:rPr b="0" i="0" lang="en" sz="1800" u="none" cap="none" strike="noStrike">
                <a:solidFill>
                  <a:srgbClr val="1A2E42"/>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960" name="Google Shape;960;p22"/>
          <p:cNvSpPr/>
          <p:nvPr/>
        </p:nvSpPr>
        <p:spPr>
          <a:xfrm>
            <a:off x="5257850" y="3446114"/>
            <a:ext cx="33834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FF6FF"/>
              </a:buClr>
              <a:buSzPts val="1300"/>
              <a:buFont typeface="Calibri"/>
              <a:buNone/>
            </a:pPr>
            <a:r>
              <a:rPr b="1" i="0" lang="en" sz="1300" u="none" cap="none" strike="noStrike">
                <a:solidFill>
                  <a:schemeClr val="dk1"/>
                </a:solidFill>
                <a:latin typeface="Calibri"/>
                <a:ea typeface="Calibri"/>
                <a:cs typeface="Calibri"/>
                <a:sym typeface="Calibri"/>
              </a:rPr>
              <a:t>Spatial Hierarchy</a:t>
            </a:r>
            <a:endParaRPr b="0" i="0" sz="1300" u="none" cap="none" strike="noStrike">
              <a:solidFill>
                <a:schemeClr val="dk1"/>
              </a:solidFill>
              <a:latin typeface="Calibri"/>
              <a:ea typeface="Calibri"/>
              <a:cs typeface="Calibri"/>
              <a:sym typeface="Calibri"/>
            </a:endParaRPr>
          </a:p>
        </p:txBody>
      </p:sp>
      <p:sp>
        <p:nvSpPr>
          <p:cNvPr id="961" name="Google Shape;961;p22"/>
          <p:cNvSpPr/>
          <p:nvPr/>
        </p:nvSpPr>
        <p:spPr>
          <a:xfrm>
            <a:off x="5257850" y="3793586"/>
            <a:ext cx="33834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1100"/>
              <a:buFont typeface="Calibri"/>
              <a:buNone/>
            </a:pPr>
            <a:r>
              <a:rPr b="0" i="0" lang="en" sz="1100" u="none" cap="none" strike="noStrike">
                <a:solidFill>
                  <a:schemeClr val="dk1"/>
                </a:solidFill>
                <a:latin typeface="Calibri"/>
                <a:ea typeface="Calibri"/>
                <a:cs typeface="Calibri"/>
                <a:sym typeface="Calibri"/>
              </a:rPr>
              <a:t>Low-level → high-level features through stacked layers</a:t>
            </a:r>
            <a:endParaRPr b="0" i="0" sz="1100" u="none" cap="none" strike="noStrike">
              <a:solidFill>
                <a:schemeClr val="dk1"/>
              </a:solidFill>
              <a:latin typeface="Calibri"/>
              <a:ea typeface="Calibri"/>
              <a:cs typeface="Calibri"/>
              <a:sym typeface="Calibri"/>
            </a:endParaRPr>
          </a:p>
        </p:txBody>
      </p:sp>
      <p:sp>
        <p:nvSpPr>
          <p:cNvPr id="962" name="Google Shape;962;p22"/>
          <p:cNvSpPr/>
          <p:nvPr/>
        </p:nvSpPr>
        <p:spPr>
          <a:xfrm>
            <a:off x="320090" y="4534250"/>
            <a:ext cx="85038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1000"/>
              <a:buFont typeface="Calibri"/>
              <a:buNone/>
            </a:pPr>
            <a:r>
              <a:rPr b="0" i="1" lang="en" sz="1000" u="none" cap="none" strike="noStrike">
                <a:solidFill>
                  <a:srgbClr val="64748B"/>
                </a:solidFill>
                <a:latin typeface="Calibri"/>
                <a:ea typeface="Calibri"/>
                <a:cs typeface="Calibri"/>
                <a:sym typeface="Calibri"/>
              </a:rPr>
              <a:t>Originally proposed by LeCun et al. (1989) for digit recognition.</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66" name="Shape 966"/>
        <p:cNvGrpSpPr/>
        <p:nvPr/>
      </p:nvGrpSpPr>
      <p:grpSpPr>
        <a:xfrm>
          <a:off x="0" y="0"/>
          <a:ext cx="0" cy="0"/>
          <a:chOff x="0" y="0"/>
          <a:chExt cx="0" cy="0"/>
        </a:xfrm>
      </p:grpSpPr>
      <p:pic>
        <p:nvPicPr>
          <p:cNvPr id="967" name="Google Shape;967;p23"/>
          <p:cNvPicPr preferRelativeResize="0"/>
          <p:nvPr/>
        </p:nvPicPr>
        <p:blipFill rotWithShape="1">
          <a:blip r:embed="rId4">
            <a:alphaModFix/>
          </a:blip>
          <a:srcRect b="0" l="0" r="0" t="0"/>
          <a:stretch/>
        </p:blipFill>
        <p:spPr>
          <a:xfrm>
            <a:off x="8369125" y="0"/>
            <a:ext cx="774877" cy="867174"/>
          </a:xfrm>
          <a:prstGeom prst="rect">
            <a:avLst/>
          </a:prstGeom>
          <a:noFill/>
          <a:ln>
            <a:noFill/>
          </a:ln>
        </p:spPr>
      </p:pic>
      <p:sp>
        <p:nvSpPr>
          <p:cNvPr id="968" name="Google Shape;968;p23"/>
          <p:cNvSpPr txBox="1"/>
          <p:nvPr/>
        </p:nvSpPr>
        <p:spPr>
          <a:xfrm>
            <a:off x="1512201" y="98876"/>
            <a:ext cx="6618600" cy="1143000"/>
          </a:xfrm>
          <a:prstGeom prst="rect">
            <a:avLst/>
          </a:prstGeom>
          <a:no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rgbClr val="0D1B2A"/>
              </a:buClr>
              <a:buSzPts val="2600"/>
              <a:buFont typeface="Calibri"/>
              <a:buNone/>
            </a:pPr>
            <a:r>
              <a:rPr b="1" i="0" lang="en" sz="2600" u="none" cap="none" strike="noStrike">
                <a:solidFill>
                  <a:srgbClr val="0D1B2A"/>
                </a:solidFill>
                <a:latin typeface="Calibri"/>
                <a:ea typeface="Calibri"/>
                <a:cs typeface="Calibri"/>
                <a:sym typeface="Calibri"/>
              </a:rPr>
              <a:t>Convolutional Neural Networks (CNNs)</a:t>
            </a:r>
            <a:endParaRPr b="1" i="0" sz="2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600"/>
              <a:buFont typeface="Arial"/>
              <a:buNone/>
            </a:pPr>
            <a:r>
              <a:t/>
            </a:r>
            <a:endParaRPr b="1" i="0" sz="2600" u="none" cap="none" strike="noStrike">
              <a:solidFill>
                <a:srgbClr val="0D1B2A"/>
              </a:solidFill>
              <a:latin typeface="Calibri"/>
              <a:ea typeface="Calibri"/>
              <a:cs typeface="Calibri"/>
              <a:sym typeface="Calibri"/>
            </a:endParaRPr>
          </a:p>
        </p:txBody>
      </p:sp>
      <p:pic>
        <p:nvPicPr>
          <p:cNvPr id="969" name="Google Shape;969;p23"/>
          <p:cNvPicPr preferRelativeResize="0"/>
          <p:nvPr/>
        </p:nvPicPr>
        <p:blipFill rotWithShape="1">
          <a:blip r:embed="rId5">
            <a:alphaModFix/>
          </a:blip>
          <a:srcRect b="0" l="0" r="0" t="0"/>
          <a:stretch/>
        </p:blipFill>
        <p:spPr>
          <a:xfrm>
            <a:off x="298651" y="737775"/>
            <a:ext cx="6959250" cy="2799800"/>
          </a:xfrm>
          <a:prstGeom prst="rect">
            <a:avLst/>
          </a:prstGeom>
          <a:noFill/>
          <a:ln>
            <a:noFill/>
          </a:ln>
        </p:spPr>
      </p:pic>
      <p:sp>
        <p:nvSpPr>
          <p:cNvPr id="970" name="Google Shape;970;p23"/>
          <p:cNvSpPr/>
          <p:nvPr/>
        </p:nvSpPr>
        <p:spPr>
          <a:xfrm>
            <a:off x="180567" y="3537564"/>
            <a:ext cx="7588500" cy="1602000"/>
          </a:xfrm>
          <a:prstGeom prst="rect">
            <a:avLst/>
          </a:prstGeom>
          <a:noFill/>
          <a:ln>
            <a:noFill/>
          </a:ln>
        </p:spPr>
        <p:txBody>
          <a:bodyPr anchorCtr="0" anchor="t" bIns="0" lIns="0" spcFirstLastPara="1" rIns="0" wrap="square" tIns="0">
            <a:noAutofit/>
          </a:bodyPr>
          <a:lstStyle/>
          <a:p>
            <a:pPr indent="-316191" lvl="0" marL="316192" marR="0" rtl="0" algn="l">
              <a:lnSpc>
                <a:spcPct val="100000"/>
              </a:lnSpc>
              <a:spcBef>
                <a:spcPts val="0"/>
              </a:spcBef>
              <a:spcAft>
                <a:spcPts val="0"/>
              </a:spcAft>
              <a:buClr>
                <a:srgbClr val="1B2E45"/>
              </a:buClr>
              <a:buSzPts val="1107"/>
              <a:buFont typeface="Calibri"/>
              <a:buChar char="•"/>
            </a:pPr>
            <a:r>
              <a:rPr b="0" i="0" lang="en" sz="1107" u="none" cap="none" strike="noStrike">
                <a:solidFill>
                  <a:srgbClr val="1B2E45"/>
                </a:solidFill>
                <a:latin typeface="Calibri"/>
                <a:ea typeface="Calibri"/>
                <a:cs typeface="Calibri"/>
                <a:sym typeface="Calibri"/>
              </a:rPr>
              <a:t>Convolution: Slide a small filter (kernel) over image to detect local features (edges, textures, patterns)</a:t>
            </a:r>
            <a:endParaRPr b="0" i="0" sz="1107" u="none" cap="none" strike="noStrike">
              <a:solidFill>
                <a:srgbClr val="000000"/>
              </a:solidFill>
              <a:latin typeface="Calibri"/>
              <a:ea typeface="Calibri"/>
              <a:cs typeface="Calibri"/>
              <a:sym typeface="Calibri"/>
            </a:endParaRPr>
          </a:p>
          <a:p>
            <a:pPr indent="-316191" lvl="0" marL="316192" marR="0" rtl="0" algn="l">
              <a:lnSpc>
                <a:spcPct val="100000"/>
              </a:lnSpc>
              <a:spcBef>
                <a:spcPts val="461"/>
              </a:spcBef>
              <a:spcAft>
                <a:spcPts val="0"/>
              </a:spcAft>
              <a:buClr>
                <a:srgbClr val="1B2E45"/>
              </a:buClr>
              <a:buSzPts val="1107"/>
              <a:buFont typeface="Calibri"/>
              <a:buChar char="•"/>
            </a:pPr>
            <a:r>
              <a:rPr b="0" i="0" lang="en" sz="1107" u="none" cap="none" strike="noStrike">
                <a:solidFill>
                  <a:srgbClr val="1B2E45"/>
                </a:solidFill>
                <a:latin typeface="Calibri"/>
                <a:ea typeface="Calibri"/>
                <a:cs typeface="Calibri"/>
                <a:sym typeface="Calibri"/>
              </a:rPr>
              <a:t>Parameter sharing: Same filter weights reused across all spatial locations → fewer parameters</a:t>
            </a:r>
            <a:endParaRPr b="0" i="0" sz="1107" u="none" cap="none" strike="noStrike">
              <a:solidFill>
                <a:srgbClr val="000000"/>
              </a:solidFill>
              <a:latin typeface="Calibri"/>
              <a:ea typeface="Calibri"/>
              <a:cs typeface="Calibri"/>
              <a:sym typeface="Calibri"/>
            </a:endParaRPr>
          </a:p>
          <a:p>
            <a:pPr indent="-316191" lvl="0" marL="316192" marR="0" rtl="0" algn="l">
              <a:lnSpc>
                <a:spcPct val="100000"/>
              </a:lnSpc>
              <a:spcBef>
                <a:spcPts val="461"/>
              </a:spcBef>
              <a:spcAft>
                <a:spcPts val="0"/>
              </a:spcAft>
              <a:buClr>
                <a:srgbClr val="1B2E45"/>
              </a:buClr>
              <a:buSzPts val="1107"/>
              <a:buFont typeface="Calibri"/>
              <a:buChar char="•"/>
            </a:pPr>
            <a:r>
              <a:rPr b="0" i="0" lang="en" sz="1107" u="none" cap="none" strike="noStrike">
                <a:solidFill>
                  <a:srgbClr val="1B2E45"/>
                </a:solidFill>
                <a:latin typeface="Calibri"/>
                <a:ea typeface="Calibri"/>
                <a:cs typeface="Calibri"/>
                <a:sym typeface="Calibri"/>
              </a:rPr>
              <a:t>Pooling: Downsample feature maps (MaxPool, AvgPool) → spatial invariance</a:t>
            </a:r>
            <a:endParaRPr b="0" i="0" sz="1107" u="none" cap="none" strike="noStrike">
              <a:solidFill>
                <a:srgbClr val="000000"/>
              </a:solidFill>
              <a:latin typeface="Calibri"/>
              <a:ea typeface="Calibri"/>
              <a:cs typeface="Calibri"/>
              <a:sym typeface="Calibri"/>
            </a:endParaRPr>
          </a:p>
          <a:p>
            <a:pPr indent="-316191" lvl="0" marL="316192" marR="0" rtl="0" algn="l">
              <a:lnSpc>
                <a:spcPct val="100000"/>
              </a:lnSpc>
              <a:spcBef>
                <a:spcPts val="461"/>
              </a:spcBef>
              <a:spcAft>
                <a:spcPts val="0"/>
              </a:spcAft>
              <a:buClr>
                <a:srgbClr val="1B2E45"/>
              </a:buClr>
              <a:buSzPts val="1107"/>
              <a:buFont typeface="Calibri"/>
              <a:buChar char="•"/>
            </a:pPr>
            <a:r>
              <a:rPr b="0" i="0" lang="en" sz="1107" u="none" cap="none" strike="noStrike">
                <a:solidFill>
                  <a:srgbClr val="1B2E45"/>
                </a:solidFill>
                <a:latin typeface="Calibri"/>
                <a:ea typeface="Calibri"/>
                <a:cs typeface="Calibri"/>
                <a:sym typeface="Calibri"/>
              </a:rPr>
              <a:t>Stacking layers: Low-level (edges) → Mid-level (shapes) → High-level (object parts) → Class</a:t>
            </a:r>
            <a:endParaRPr b="0" i="0" sz="1107" u="none" cap="none" strike="noStrike">
              <a:solidFill>
                <a:srgbClr val="000000"/>
              </a:solidFill>
              <a:latin typeface="Calibri"/>
              <a:ea typeface="Calibri"/>
              <a:cs typeface="Calibri"/>
              <a:sym typeface="Calibri"/>
            </a:endParaRPr>
          </a:p>
          <a:p>
            <a:pPr indent="-316191" lvl="0" marL="316192" marR="0" rtl="0" algn="l">
              <a:lnSpc>
                <a:spcPct val="100000"/>
              </a:lnSpc>
              <a:spcBef>
                <a:spcPts val="461"/>
              </a:spcBef>
              <a:spcAft>
                <a:spcPts val="0"/>
              </a:spcAft>
              <a:buClr>
                <a:srgbClr val="1B2E45"/>
              </a:buClr>
              <a:buSzPts val="1107"/>
              <a:buFont typeface="Calibri"/>
              <a:buChar char="•"/>
            </a:pPr>
            <a:r>
              <a:rPr b="0" i="0" lang="en" sz="1107" u="none" cap="none" strike="noStrike">
                <a:solidFill>
                  <a:srgbClr val="1B2E45"/>
                </a:solidFill>
                <a:latin typeface="Calibri"/>
                <a:ea typeface="Calibri"/>
                <a:cs typeface="Calibri"/>
                <a:sym typeface="Calibri"/>
              </a:rPr>
              <a:t>AlexNet (2012) — revolutionized image recognition; ResNet, VGG, EfficientNet followed</a:t>
            </a:r>
            <a:endParaRPr b="0" i="0" sz="1107" u="none" cap="none" strike="noStrike">
              <a:solidFill>
                <a:srgbClr val="000000"/>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74" name="Shape 974"/>
        <p:cNvGrpSpPr/>
        <p:nvPr/>
      </p:nvGrpSpPr>
      <p:grpSpPr>
        <a:xfrm>
          <a:off x="0" y="0"/>
          <a:ext cx="0" cy="0"/>
          <a:chOff x="0" y="0"/>
          <a:chExt cx="0" cy="0"/>
        </a:xfrm>
      </p:grpSpPr>
      <p:pic>
        <p:nvPicPr>
          <p:cNvPr id="975" name="Google Shape;975;p24"/>
          <p:cNvPicPr preferRelativeResize="0"/>
          <p:nvPr/>
        </p:nvPicPr>
        <p:blipFill rotWithShape="1">
          <a:blip r:embed="rId4">
            <a:alphaModFix/>
          </a:blip>
          <a:srcRect b="0" l="0" r="0" t="0"/>
          <a:stretch/>
        </p:blipFill>
        <p:spPr>
          <a:xfrm>
            <a:off x="8369125" y="0"/>
            <a:ext cx="774877" cy="867174"/>
          </a:xfrm>
          <a:prstGeom prst="rect">
            <a:avLst/>
          </a:prstGeom>
          <a:noFill/>
          <a:ln>
            <a:noFill/>
          </a:ln>
        </p:spPr>
      </p:pic>
      <p:sp>
        <p:nvSpPr>
          <p:cNvPr id="976" name="Google Shape;976;p24"/>
          <p:cNvSpPr txBox="1"/>
          <p:nvPr/>
        </p:nvSpPr>
        <p:spPr>
          <a:xfrm>
            <a:off x="1052950" y="98875"/>
            <a:ext cx="6618600" cy="768300"/>
          </a:xfrm>
          <a:prstGeom prst="rect">
            <a:avLst/>
          </a:prstGeom>
          <a:no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2600"/>
              <a:buFont typeface="Arial"/>
              <a:buNone/>
            </a:pPr>
            <a:r>
              <a:rPr b="1" i="0" lang="en" sz="2600" u="none" cap="none" strike="noStrike">
                <a:solidFill>
                  <a:srgbClr val="0D1B2A"/>
                </a:solidFill>
                <a:latin typeface="Calibri"/>
                <a:ea typeface="Calibri"/>
                <a:cs typeface="Calibri"/>
                <a:sym typeface="Calibri"/>
              </a:rPr>
              <a:t>CNN Architecture</a:t>
            </a:r>
            <a:endParaRPr b="1" i="0" sz="2600" u="none" cap="none" strike="noStrike">
              <a:solidFill>
                <a:srgbClr val="0D1B2A"/>
              </a:solidFill>
              <a:latin typeface="Calibri"/>
              <a:ea typeface="Calibri"/>
              <a:cs typeface="Calibri"/>
              <a:sym typeface="Calibri"/>
            </a:endParaRPr>
          </a:p>
        </p:txBody>
      </p:sp>
      <p:sp>
        <p:nvSpPr>
          <p:cNvPr id="977" name="Google Shape;977;p24"/>
          <p:cNvSpPr/>
          <p:nvPr/>
        </p:nvSpPr>
        <p:spPr>
          <a:xfrm>
            <a:off x="228600" y="1087490"/>
            <a:ext cx="777300" cy="1097400"/>
          </a:xfrm>
          <a:prstGeom prst="rect">
            <a:avLst/>
          </a:prstGeom>
          <a:solidFill>
            <a:srgbClr val="B8D8F0"/>
          </a:solidFill>
          <a:ln>
            <a:noFill/>
          </a:ln>
          <a:effectLst>
            <a:outerShdw blurRad="101600" rotWithShape="0" algn="bl" dir="8100000" dist="38100">
              <a:srgbClr val="000000">
                <a:alpha val="14902"/>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8" name="Google Shape;978;p24"/>
          <p:cNvSpPr/>
          <p:nvPr/>
        </p:nvSpPr>
        <p:spPr>
          <a:xfrm>
            <a:off x="228600" y="1087490"/>
            <a:ext cx="777300" cy="1097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1000"/>
              <a:buFont typeface="Calibri"/>
              <a:buNone/>
            </a:pPr>
            <a:r>
              <a:rPr b="1" i="0" lang="en" sz="1000" u="none" cap="none" strike="noStrike">
                <a:solidFill>
                  <a:srgbClr val="1A2E42"/>
                </a:solidFill>
                <a:latin typeface="Calibri"/>
                <a:ea typeface="Calibri"/>
                <a:cs typeface="Calibri"/>
                <a:sym typeface="Calibri"/>
              </a:rPr>
              <a:t>Input</a:t>
            </a:r>
            <a:endParaRPr b="0" i="0" sz="10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1A2E42"/>
              </a:buClr>
              <a:buSzPts val="1000"/>
              <a:buFont typeface="Calibri"/>
              <a:buNone/>
            </a:pPr>
            <a:r>
              <a:rPr b="1" i="0" lang="en" sz="1000" u="none" cap="none" strike="noStrike">
                <a:solidFill>
                  <a:srgbClr val="1A2E42"/>
                </a:solidFill>
                <a:latin typeface="Calibri"/>
                <a:ea typeface="Calibri"/>
                <a:cs typeface="Calibri"/>
                <a:sym typeface="Calibri"/>
              </a:rPr>
              <a:t>Image</a:t>
            </a:r>
            <a:endParaRPr b="0" i="0" sz="1000" u="none" cap="none" strike="noStrike">
              <a:solidFill>
                <a:schemeClr val="dk1"/>
              </a:solidFill>
              <a:latin typeface="Calibri"/>
              <a:ea typeface="Calibri"/>
              <a:cs typeface="Calibri"/>
              <a:sym typeface="Calibri"/>
            </a:endParaRPr>
          </a:p>
        </p:txBody>
      </p:sp>
      <p:sp>
        <p:nvSpPr>
          <p:cNvPr id="979" name="Google Shape;979;p24"/>
          <p:cNvSpPr/>
          <p:nvPr/>
        </p:nvSpPr>
        <p:spPr>
          <a:xfrm>
            <a:off x="1005840" y="1599554"/>
            <a:ext cx="164700" cy="73200"/>
          </a:xfrm>
          <a:prstGeom prst="rect">
            <a:avLst/>
          </a:prstGeom>
          <a:solidFill>
            <a:srgbClr val="1A608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0" name="Google Shape;980;p24"/>
          <p:cNvSpPr/>
          <p:nvPr/>
        </p:nvSpPr>
        <p:spPr>
          <a:xfrm>
            <a:off x="1033272" y="1498970"/>
            <a:ext cx="1830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6080"/>
              </a:buClr>
              <a:buSzPts val="800"/>
              <a:buFont typeface="Calibri"/>
              <a:buNone/>
            </a:pPr>
            <a:r>
              <a:rPr b="0" i="0" lang="en" sz="800" u="none" cap="none" strike="noStrike">
                <a:solidFill>
                  <a:srgbClr val="1A6080"/>
                </a:solidFill>
                <a:latin typeface="Calibri"/>
                <a:ea typeface="Calibri"/>
                <a:cs typeface="Calibri"/>
                <a:sym typeface="Calibri"/>
              </a:rPr>
              <a:t>▶</a:t>
            </a:r>
            <a:endParaRPr b="0" i="0" sz="800" u="none" cap="none" strike="noStrike">
              <a:solidFill>
                <a:schemeClr val="dk1"/>
              </a:solidFill>
              <a:latin typeface="Calibri"/>
              <a:ea typeface="Calibri"/>
              <a:cs typeface="Calibri"/>
              <a:sym typeface="Calibri"/>
            </a:endParaRPr>
          </a:p>
        </p:txBody>
      </p:sp>
      <p:sp>
        <p:nvSpPr>
          <p:cNvPr id="981" name="Google Shape;981;p24"/>
          <p:cNvSpPr/>
          <p:nvPr/>
        </p:nvSpPr>
        <p:spPr>
          <a:xfrm>
            <a:off x="1170432" y="1087490"/>
            <a:ext cx="777300" cy="1097400"/>
          </a:xfrm>
          <a:prstGeom prst="rect">
            <a:avLst/>
          </a:prstGeom>
          <a:solidFill>
            <a:srgbClr val="C5E9F5"/>
          </a:solidFill>
          <a:ln>
            <a:noFill/>
          </a:ln>
          <a:effectLst>
            <a:outerShdw blurRad="101600" rotWithShape="0" algn="bl" dir="8100000" dist="38100">
              <a:srgbClr val="000000">
                <a:alpha val="14902"/>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2" name="Google Shape;982;p24"/>
          <p:cNvSpPr/>
          <p:nvPr/>
        </p:nvSpPr>
        <p:spPr>
          <a:xfrm>
            <a:off x="1170432" y="1087490"/>
            <a:ext cx="777300" cy="1097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1000"/>
              <a:buFont typeface="Calibri"/>
              <a:buNone/>
            </a:pPr>
            <a:r>
              <a:rPr b="1" i="0" lang="en" sz="1000" u="none" cap="none" strike="noStrike">
                <a:solidFill>
                  <a:srgbClr val="1A2E42"/>
                </a:solidFill>
                <a:latin typeface="Calibri"/>
                <a:ea typeface="Calibri"/>
                <a:cs typeface="Calibri"/>
                <a:sym typeface="Calibri"/>
              </a:rPr>
              <a:t>Conv</a:t>
            </a:r>
            <a:endParaRPr b="0" i="0" sz="10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1A2E42"/>
              </a:buClr>
              <a:buSzPts val="1000"/>
              <a:buFont typeface="Calibri"/>
              <a:buNone/>
            </a:pPr>
            <a:r>
              <a:rPr b="1" i="0" lang="en" sz="1000" u="none" cap="none" strike="noStrike">
                <a:solidFill>
                  <a:srgbClr val="1A2E42"/>
                </a:solidFill>
                <a:latin typeface="Calibri"/>
                <a:ea typeface="Calibri"/>
                <a:cs typeface="Calibri"/>
                <a:sym typeface="Calibri"/>
              </a:rPr>
              <a:t>Layer</a:t>
            </a:r>
            <a:endParaRPr b="0" i="0" sz="1000" u="none" cap="none" strike="noStrike">
              <a:solidFill>
                <a:schemeClr val="dk1"/>
              </a:solidFill>
              <a:latin typeface="Calibri"/>
              <a:ea typeface="Calibri"/>
              <a:cs typeface="Calibri"/>
              <a:sym typeface="Calibri"/>
            </a:endParaRPr>
          </a:p>
        </p:txBody>
      </p:sp>
      <p:sp>
        <p:nvSpPr>
          <p:cNvPr id="983" name="Google Shape;983;p24"/>
          <p:cNvSpPr/>
          <p:nvPr/>
        </p:nvSpPr>
        <p:spPr>
          <a:xfrm>
            <a:off x="1947672" y="1599554"/>
            <a:ext cx="164700" cy="73200"/>
          </a:xfrm>
          <a:prstGeom prst="rect">
            <a:avLst/>
          </a:prstGeom>
          <a:solidFill>
            <a:srgbClr val="1A608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4" name="Google Shape;984;p24"/>
          <p:cNvSpPr/>
          <p:nvPr/>
        </p:nvSpPr>
        <p:spPr>
          <a:xfrm>
            <a:off x="1975104" y="1498970"/>
            <a:ext cx="1830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6080"/>
              </a:buClr>
              <a:buSzPts val="800"/>
              <a:buFont typeface="Calibri"/>
              <a:buNone/>
            </a:pPr>
            <a:r>
              <a:rPr b="0" i="0" lang="en" sz="800" u="none" cap="none" strike="noStrike">
                <a:solidFill>
                  <a:srgbClr val="1A6080"/>
                </a:solidFill>
                <a:latin typeface="Calibri"/>
                <a:ea typeface="Calibri"/>
                <a:cs typeface="Calibri"/>
                <a:sym typeface="Calibri"/>
              </a:rPr>
              <a:t>▶</a:t>
            </a:r>
            <a:endParaRPr b="0" i="0" sz="800" u="none" cap="none" strike="noStrike">
              <a:solidFill>
                <a:schemeClr val="dk1"/>
              </a:solidFill>
              <a:latin typeface="Calibri"/>
              <a:ea typeface="Calibri"/>
              <a:cs typeface="Calibri"/>
              <a:sym typeface="Calibri"/>
            </a:endParaRPr>
          </a:p>
        </p:txBody>
      </p:sp>
      <p:sp>
        <p:nvSpPr>
          <p:cNvPr id="985" name="Google Shape;985;p24"/>
          <p:cNvSpPr/>
          <p:nvPr/>
        </p:nvSpPr>
        <p:spPr>
          <a:xfrm>
            <a:off x="2112264" y="1087490"/>
            <a:ext cx="777300" cy="1097400"/>
          </a:xfrm>
          <a:prstGeom prst="rect">
            <a:avLst/>
          </a:prstGeom>
          <a:solidFill>
            <a:srgbClr val="B8E8F8"/>
          </a:solidFill>
          <a:ln>
            <a:noFill/>
          </a:ln>
          <a:effectLst>
            <a:outerShdw blurRad="101600" rotWithShape="0" algn="bl" dir="8100000" dist="38100">
              <a:srgbClr val="000000">
                <a:alpha val="14902"/>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6" name="Google Shape;986;p24"/>
          <p:cNvSpPr/>
          <p:nvPr/>
        </p:nvSpPr>
        <p:spPr>
          <a:xfrm>
            <a:off x="2112264" y="1087490"/>
            <a:ext cx="777300" cy="1097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1000"/>
              <a:buFont typeface="Calibri"/>
              <a:buNone/>
            </a:pPr>
            <a:r>
              <a:rPr b="1" i="0" lang="en" sz="1000" u="none" cap="none" strike="noStrike">
                <a:solidFill>
                  <a:srgbClr val="1A2E42"/>
                </a:solidFill>
                <a:latin typeface="Calibri"/>
                <a:ea typeface="Calibri"/>
                <a:cs typeface="Calibri"/>
                <a:sym typeface="Calibri"/>
              </a:rPr>
              <a:t>ReLU</a:t>
            </a:r>
            <a:endParaRPr b="0" i="0" sz="10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1A2E42"/>
              </a:buClr>
              <a:buSzPts val="1000"/>
              <a:buFont typeface="Calibri"/>
              <a:buNone/>
            </a:pPr>
            <a:r>
              <a:rPr b="1" i="0" lang="en" sz="1000" u="none" cap="none" strike="noStrike">
                <a:solidFill>
                  <a:srgbClr val="1A2E42"/>
                </a:solidFill>
                <a:latin typeface="Calibri"/>
                <a:ea typeface="Calibri"/>
                <a:cs typeface="Calibri"/>
                <a:sym typeface="Calibri"/>
              </a:rPr>
              <a:t>Activ.</a:t>
            </a:r>
            <a:endParaRPr b="0" i="0" sz="1000" u="none" cap="none" strike="noStrike">
              <a:solidFill>
                <a:schemeClr val="dk1"/>
              </a:solidFill>
              <a:latin typeface="Calibri"/>
              <a:ea typeface="Calibri"/>
              <a:cs typeface="Calibri"/>
              <a:sym typeface="Calibri"/>
            </a:endParaRPr>
          </a:p>
        </p:txBody>
      </p:sp>
      <p:sp>
        <p:nvSpPr>
          <p:cNvPr id="987" name="Google Shape;987;p24"/>
          <p:cNvSpPr/>
          <p:nvPr/>
        </p:nvSpPr>
        <p:spPr>
          <a:xfrm>
            <a:off x="2889504" y="1599554"/>
            <a:ext cx="164700" cy="73200"/>
          </a:xfrm>
          <a:prstGeom prst="rect">
            <a:avLst/>
          </a:prstGeom>
          <a:solidFill>
            <a:srgbClr val="1A608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8" name="Google Shape;988;p24"/>
          <p:cNvSpPr/>
          <p:nvPr/>
        </p:nvSpPr>
        <p:spPr>
          <a:xfrm>
            <a:off x="2916936" y="1498970"/>
            <a:ext cx="1830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6080"/>
              </a:buClr>
              <a:buSzPts val="800"/>
              <a:buFont typeface="Calibri"/>
              <a:buNone/>
            </a:pPr>
            <a:r>
              <a:rPr b="0" i="0" lang="en" sz="800" u="none" cap="none" strike="noStrike">
                <a:solidFill>
                  <a:srgbClr val="1A6080"/>
                </a:solidFill>
                <a:latin typeface="Calibri"/>
                <a:ea typeface="Calibri"/>
                <a:cs typeface="Calibri"/>
                <a:sym typeface="Calibri"/>
              </a:rPr>
              <a:t>▶</a:t>
            </a:r>
            <a:endParaRPr b="0" i="0" sz="800" u="none" cap="none" strike="noStrike">
              <a:solidFill>
                <a:schemeClr val="dk1"/>
              </a:solidFill>
              <a:latin typeface="Calibri"/>
              <a:ea typeface="Calibri"/>
              <a:cs typeface="Calibri"/>
              <a:sym typeface="Calibri"/>
            </a:endParaRPr>
          </a:p>
        </p:txBody>
      </p:sp>
      <p:sp>
        <p:nvSpPr>
          <p:cNvPr id="989" name="Google Shape;989;p24"/>
          <p:cNvSpPr/>
          <p:nvPr/>
        </p:nvSpPr>
        <p:spPr>
          <a:xfrm>
            <a:off x="3054096" y="1087490"/>
            <a:ext cx="777300" cy="1097400"/>
          </a:xfrm>
          <a:prstGeom prst="rect">
            <a:avLst/>
          </a:prstGeom>
          <a:solidFill>
            <a:srgbClr val="B0EAF8"/>
          </a:solidFill>
          <a:ln>
            <a:noFill/>
          </a:ln>
          <a:effectLst>
            <a:outerShdw blurRad="101600" rotWithShape="0" algn="bl" dir="8100000" dist="38100">
              <a:srgbClr val="000000">
                <a:alpha val="14902"/>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0" name="Google Shape;990;p24"/>
          <p:cNvSpPr/>
          <p:nvPr/>
        </p:nvSpPr>
        <p:spPr>
          <a:xfrm>
            <a:off x="3054096" y="1087490"/>
            <a:ext cx="777300" cy="1097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1000"/>
              <a:buFont typeface="Calibri"/>
              <a:buNone/>
            </a:pPr>
            <a:r>
              <a:rPr b="1" i="0" lang="en" sz="1000" u="none" cap="none" strike="noStrike">
                <a:solidFill>
                  <a:srgbClr val="1A2E42"/>
                </a:solidFill>
                <a:latin typeface="Calibri"/>
                <a:ea typeface="Calibri"/>
                <a:cs typeface="Calibri"/>
                <a:sym typeface="Calibri"/>
              </a:rPr>
              <a:t>Pooling</a:t>
            </a:r>
            <a:endParaRPr b="0" i="0" sz="10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1A2E42"/>
              </a:buClr>
              <a:buSzPts val="1000"/>
              <a:buFont typeface="Calibri"/>
              <a:buNone/>
            </a:pPr>
            <a:r>
              <a:rPr b="1" i="0" lang="en" sz="1000" u="none" cap="none" strike="noStrike">
                <a:solidFill>
                  <a:srgbClr val="1A2E42"/>
                </a:solidFill>
                <a:latin typeface="Calibri"/>
                <a:ea typeface="Calibri"/>
                <a:cs typeface="Calibri"/>
                <a:sym typeface="Calibri"/>
              </a:rPr>
              <a:t>Layer</a:t>
            </a:r>
            <a:endParaRPr b="0" i="0" sz="1000" u="none" cap="none" strike="noStrike">
              <a:solidFill>
                <a:schemeClr val="dk1"/>
              </a:solidFill>
              <a:latin typeface="Calibri"/>
              <a:ea typeface="Calibri"/>
              <a:cs typeface="Calibri"/>
              <a:sym typeface="Calibri"/>
            </a:endParaRPr>
          </a:p>
        </p:txBody>
      </p:sp>
      <p:sp>
        <p:nvSpPr>
          <p:cNvPr id="991" name="Google Shape;991;p24"/>
          <p:cNvSpPr/>
          <p:nvPr/>
        </p:nvSpPr>
        <p:spPr>
          <a:xfrm>
            <a:off x="3831336" y="1599554"/>
            <a:ext cx="164700" cy="73200"/>
          </a:xfrm>
          <a:prstGeom prst="rect">
            <a:avLst/>
          </a:prstGeom>
          <a:solidFill>
            <a:srgbClr val="1A608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2" name="Google Shape;992;p24"/>
          <p:cNvSpPr/>
          <p:nvPr/>
        </p:nvSpPr>
        <p:spPr>
          <a:xfrm>
            <a:off x="3858768" y="1498970"/>
            <a:ext cx="1830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6080"/>
              </a:buClr>
              <a:buSzPts val="800"/>
              <a:buFont typeface="Calibri"/>
              <a:buNone/>
            </a:pPr>
            <a:r>
              <a:rPr b="0" i="0" lang="en" sz="800" u="none" cap="none" strike="noStrike">
                <a:solidFill>
                  <a:srgbClr val="1A6080"/>
                </a:solidFill>
                <a:latin typeface="Calibri"/>
                <a:ea typeface="Calibri"/>
                <a:cs typeface="Calibri"/>
                <a:sym typeface="Calibri"/>
              </a:rPr>
              <a:t>▶</a:t>
            </a:r>
            <a:endParaRPr b="0" i="0" sz="800" u="none" cap="none" strike="noStrike">
              <a:solidFill>
                <a:schemeClr val="dk1"/>
              </a:solidFill>
              <a:latin typeface="Calibri"/>
              <a:ea typeface="Calibri"/>
              <a:cs typeface="Calibri"/>
              <a:sym typeface="Calibri"/>
            </a:endParaRPr>
          </a:p>
        </p:txBody>
      </p:sp>
      <p:sp>
        <p:nvSpPr>
          <p:cNvPr id="993" name="Google Shape;993;p24"/>
          <p:cNvSpPr/>
          <p:nvPr/>
        </p:nvSpPr>
        <p:spPr>
          <a:xfrm>
            <a:off x="3995928" y="1087490"/>
            <a:ext cx="777300" cy="1097400"/>
          </a:xfrm>
          <a:prstGeom prst="rect">
            <a:avLst/>
          </a:prstGeom>
          <a:solidFill>
            <a:srgbClr val="A8EEF8"/>
          </a:solidFill>
          <a:ln>
            <a:noFill/>
          </a:ln>
          <a:effectLst>
            <a:outerShdw blurRad="101600" rotWithShape="0" algn="bl" dir="8100000" dist="38100">
              <a:srgbClr val="000000">
                <a:alpha val="14902"/>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4" name="Google Shape;994;p24"/>
          <p:cNvSpPr/>
          <p:nvPr/>
        </p:nvSpPr>
        <p:spPr>
          <a:xfrm>
            <a:off x="3995928" y="1087490"/>
            <a:ext cx="777300" cy="1097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1000"/>
              <a:buFont typeface="Calibri"/>
              <a:buNone/>
            </a:pPr>
            <a:r>
              <a:rPr b="1" i="0" lang="en" sz="1000" u="none" cap="none" strike="noStrike">
                <a:solidFill>
                  <a:srgbClr val="1A2E42"/>
                </a:solidFill>
                <a:latin typeface="Calibri"/>
                <a:ea typeface="Calibri"/>
                <a:cs typeface="Calibri"/>
                <a:sym typeface="Calibri"/>
              </a:rPr>
              <a:t>Conv</a:t>
            </a:r>
            <a:endParaRPr b="0" i="0" sz="10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1A2E42"/>
              </a:buClr>
              <a:buSzPts val="1000"/>
              <a:buFont typeface="Calibri"/>
              <a:buNone/>
            </a:pPr>
            <a:r>
              <a:rPr b="1" i="0" lang="en" sz="1000" u="none" cap="none" strike="noStrike">
                <a:solidFill>
                  <a:srgbClr val="1A2E42"/>
                </a:solidFill>
                <a:latin typeface="Calibri"/>
                <a:ea typeface="Calibri"/>
                <a:cs typeface="Calibri"/>
                <a:sym typeface="Calibri"/>
              </a:rPr>
              <a:t>Layer</a:t>
            </a:r>
            <a:endParaRPr b="0" i="0" sz="1000" u="none" cap="none" strike="noStrike">
              <a:solidFill>
                <a:schemeClr val="dk1"/>
              </a:solidFill>
              <a:latin typeface="Calibri"/>
              <a:ea typeface="Calibri"/>
              <a:cs typeface="Calibri"/>
              <a:sym typeface="Calibri"/>
            </a:endParaRPr>
          </a:p>
        </p:txBody>
      </p:sp>
      <p:sp>
        <p:nvSpPr>
          <p:cNvPr id="995" name="Google Shape;995;p24"/>
          <p:cNvSpPr/>
          <p:nvPr/>
        </p:nvSpPr>
        <p:spPr>
          <a:xfrm>
            <a:off x="4773168" y="1599554"/>
            <a:ext cx="164700" cy="73200"/>
          </a:xfrm>
          <a:prstGeom prst="rect">
            <a:avLst/>
          </a:prstGeom>
          <a:solidFill>
            <a:srgbClr val="1A608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6" name="Google Shape;996;p24"/>
          <p:cNvSpPr/>
          <p:nvPr/>
        </p:nvSpPr>
        <p:spPr>
          <a:xfrm>
            <a:off x="4800600" y="1498970"/>
            <a:ext cx="1830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6080"/>
              </a:buClr>
              <a:buSzPts val="800"/>
              <a:buFont typeface="Calibri"/>
              <a:buNone/>
            </a:pPr>
            <a:r>
              <a:rPr b="0" i="0" lang="en" sz="800" u="none" cap="none" strike="noStrike">
                <a:solidFill>
                  <a:srgbClr val="1A6080"/>
                </a:solidFill>
                <a:latin typeface="Calibri"/>
                <a:ea typeface="Calibri"/>
                <a:cs typeface="Calibri"/>
                <a:sym typeface="Calibri"/>
              </a:rPr>
              <a:t>▶</a:t>
            </a:r>
            <a:endParaRPr b="0" i="0" sz="800" u="none" cap="none" strike="noStrike">
              <a:solidFill>
                <a:schemeClr val="dk1"/>
              </a:solidFill>
              <a:latin typeface="Calibri"/>
              <a:ea typeface="Calibri"/>
              <a:cs typeface="Calibri"/>
              <a:sym typeface="Calibri"/>
            </a:endParaRPr>
          </a:p>
        </p:txBody>
      </p:sp>
      <p:sp>
        <p:nvSpPr>
          <p:cNvPr id="997" name="Google Shape;997;p24"/>
          <p:cNvSpPr/>
          <p:nvPr/>
        </p:nvSpPr>
        <p:spPr>
          <a:xfrm>
            <a:off x="4937760" y="1087490"/>
            <a:ext cx="685800" cy="1097400"/>
          </a:xfrm>
          <a:prstGeom prst="rect">
            <a:avLst/>
          </a:prstGeom>
          <a:solidFill>
            <a:srgbClr val="C0DAEE"/>
          </a:solidFill>
          <a:ln>
            <a:noFill/>
          </a:ln>
          <a:effectLst>
            <a:outerShdw blurRad="101600" rotWithShape="0" algn="bl" dir="8100000" dist="38100">
              <a:srgbClr val="000000">
                <a:alpha val="14902"/>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8" name="Google Shape;998;p24"/>
          <p:cNvSpPr/>
          <p:nvPr/>
        </p:nvSpPr>
        <p:spPr>
          <a:xfrm>
            <a:off x="4937760" y="1087490"/>
            <a:ext cx="685800" cy="1097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1000"/>
              <a:buFont typeface="Calibri"/>
              <a:buNone/>
            </a:pPr>
            <a:r>
              <a:rPr b="1" i="0" lang="en" sz="1000" u="none" cap="none" strike="noStrike">
                <a:solidFill>
                  <a:srgbClr val="1A2E42"/>
                </a:solidFill>
                <a:latin typeface="Calibri"/>
                <a:ea typeface="Calibri"/>
                <a:cs typeface="Calibri"/>
                <a:sym typeface="Calibri"/>
              </a:rPr>
              <a:t>Flatten</a:t>
            </a:r>
            <a:endParaRPr b="0" i="0" sz="1000" u="none" cap="none" strike="noStrike">
              <a:solidFill>
                <a:schemeClr val="dk1"/>
              </a:solidFill>
              <a:latin typeface="Calibri"/>
              <a:ea typeface="Calibri"/>
              <a:cs typeface="Calibri"/>
              <a:sym typeface="Calibri"/>
            </a:endParaRPr>
          </a:p>
        </p:txBody>
      </p:sp>
      <p:sp>
        <p:nvSpPr>
          <p:cNvPr id="999" name="Google Shape;999;p24"/>
          <p:cNvSpPr/>
          <p:nvPr/>
        </p:nvSpPr>
        <p:spPr>
          <a:xfrm>
            <a:off x="5623560" y="1599554"/>
            <a:ext cx="164700" cy="73200"/>
          </a:xfrm>
          <a:prstGeom prst="rect">
            <a:avLst/>
          </a:prstGeom>
          <a:solidFill>
            <a:srgbClr val="1A608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0" name="Google Shape;1000;p24"/>
          <p:cNvSpPr/>
          <p:nvPr/>
        </p:nvSpPr>
        <p:spPr>
          <a:xfrm>
            <a:off x="5650992" y="1498970"/>
            <a:ext cx="1830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6080"/>
              </a:buClr>
              <a:buSzPts val="800"/>
              <a:buFont typeface="Calibri"/>
              <a:buNone/>
            </a:pPr>
            <a:r>
              <a:rPr b="0" i="0" lang="en" sz="800" u="none" cap="none" strike="noStrike">
                <a:solidFill>
                  <a:srgbClr val="1A6080"/>
                </a:solidFill>
                <a:latin typeface="Calibri"/>
                <a:ea typeface="Calibri"/>
                <a:cs typeface="Calibri"/>
                <a:sym typeface="Calibri"/>
              </a:rPr>
              <a:t>▶</a:t>
            </a:r>
            <a:endParaRPr b="0" i="0" sz="800" u="none" cap="none" strike="noStrike">
              <a:solidFill>
                <a:schemeClr val="dk1"/>
              </a:solidFill>
              <a:latin typeface="Calibri"/>
              <a:ea typeface="Calibri"/>
              <a:cs typeface="Calibri"/>
              <a:sym typeface="Calibri"/>
            </a:endParaRPr>
          </a:p>
        </p:txBody>
      </p:sp>
      <p:sp>
        <p:nvSpPr>
          <p:cNvPr id="1001" name="Google Shape;1001;p24"/>
          <p:cNvSpPr/>
          <p:nvPr/>
        </p:nvSpPr>
        <p:spPr>
          <a:xfrm>
            <a:off x="5788152" y="1087490"/>
            <a:ext cx="777300" cy="1097400"/>
          </a:xfrm>
          <a:prstGeom prst="rect">
            <a:avLst/>
          </a:prstGeom>
          <a:solidFill>
            <a:srgbClr val="B8D8F0"/>
          </a:solidFill>
          <a:ln>
            <a:noFill/>
          </a:ln>
          <a:effectLst>
            <a:outerShdw blurRad="101600" rotWithShape="0" algn="bl" dir="8100000" dist="38100">
              <a:srgbClr val="000000">
                <a:alpha val="14902"/>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2" name="Google Shape;1002;p24"/>
          <p:cNvSpPr/>
          <p:nvPr/>
        </p:nvSpPr>
        <p:spPr>
          <a:xfrm>
            <a:off x="5788152" y="1087490"/>
            <a:ext cx="777300" cy="1097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1000"/>
              <a:buFont typeface="Calibri"/>
              <a:buNone/>
            </a:pPr>
            <a:r>
              <a:rPr b="1" i="0" lang="en" sz="1000" u="none" cap="none" strike="noStrike">
                <a:solidFill>
                  <a:srgbClr val="1A2E42"/>
                </a:solidFill>
                <a:latin typeface="Calibri"/>
                <a:ea typeface="Calibri"/>
                <a:cs typeface="Calibri"/>
                <a:sym typeface="Calibri"/>
              </a:rPr>
              <a:t>Fully</a:t>
            </a:r>
            <a:endParaRPr b="0" i="0" sz="10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1A2E42"/>
              </a:buClr>
              <a:buSzPts val="1000"/>
              <a:buFont typeface="Calibri"/>
              <a:buNone/>
            </a:pPr>
            <a:r>
              <a:rPr b="1" i="0" lang="en" sz="1000" u="none" cap="none" strike="noStrike">
                <a:solidFill>
                  <a:srgbClr val="1A2E42"/>
                </a:solidFill>
                <a:latin typeface="Calibri"/>
                <a:ea typeface="Calibri"/>
                <a:cs typeface="Calibri"/>
                <a:sym typeface="Calibri"/>
              </a:rPr>
              <a:t>Connected</a:t>
            </a:r>
            <a:endParaRPr b="0" i="0" sz="1000" u="none" cap="none" strike="noStrike">
              <a:solidFill>
                <a:schemeClr val="dk1"/>
              </a:solidFill>
              <a:latin typeface="Calibri"/>
              <a:ea typeface="Calibri"/>
              <a:cs typeface="Calibri"/>
              <a:sym typeface="Calibri"/>
            </a:endParaRPr>
          </a:p>
        </p:txBody>
      </p:sp>
      <p:sp>
        <p:nvSpPr>
          <p:cNvPr id="1003" name="Google Shape;1003;p24"/>
          <p:cNvSpPr/>
          <p:nvPr/>
        </p:nvSpPr>
        <p:spPr>
          <a:xfrm>
            <a:off x="6565392" y="1599554"/>
            <a:ext cx="164700" cy="73200"/>
          </a:xfrm>
          <a:prstGeom prst="rect">
            <a:avLst/>
          </a:prstGeom>
          <a:solidFill>
            <a:srgbClr val="1A608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4" name="Google Shape;1004;p24"/>
          <p:cNvSpPr/>
          <p:nvPr/>
        </p:nvSpPr>
        <p:spPr>
          <a:xfrm>
            <a:off x="6592824" y="1498970"/>
            <a:ext cx="1830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6080"/>
              </a:buClr>
              <a:buSzPts val="800"/>
              <a:buFont typeface="Calibri"/>
              <a:buNone/>
            </a:pPr>
            <a:r>
              <a:rPr b="0" i="0" lang="en" sz="800" u="none" cap="none" strike="noStrike">
                <a:solidFill>
                  <a:srgbClr val="1A6080"/>
                </a:solidFill>
                <a:latin typeface="Calibri"/>
                <a:ea typeface="Calibri"/>
                <a:cs typeface="Calibri"/>
                <a:sym typeface="Calibri"/>
              </a:rPr>
              <a:t>▶</a:t>
            </a:r>
            <a:endParaRPr b="0" i="0" sz="800" u="none" cap="none" strike="noStrike">
              <a:solidFill>
                <a:schemeClr val="dk1"/>
              </a:solidFill>
              <a:latin typeface="Calibri"/>
              <a:ea typeface="Calibri"/>
              <a:cs typeface="Calibri"/>
              <a:sym typeface="Calibri"/>
            </a:endParaRPr>
          </a:p>
        </p:txBody>
      </p:sp>
      <p:sp>
        <p:nvSpPr>
          <p:cNvPr id="1005" name="Google Shape;1005;p24"/>
          <p:cNvSpPr/>
          <p:nvPr/>
        </p:nvSpPr>
        <p:spPr>
          <a:xfrm>
            <a:off x="6729984" y="1087490"/>
            <a:ext cx="777300" cy="1097400"/>
          </a:xfrm>
          <a:prstGeom prst="rect">
            <a:avLst/>
          </a:prstGeom>
          <a:solidFill>
            <a:srgbClr val="FF6B6B"/>
          </a:solidFill>
          <a:ln>
            <a:noFill/>
          </a:ln>
          <a:effectLst>
            <a:outerShdw blurRad="101600" rotWithShape="0" algn="bl" dir="8100000" dist="38100">
              <a:srgbClr val="000000">
                <a:alpha val="14902"/>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6" name="Google Shape;1006;p24"/>
          <p:cNvSpPr/>
          <p:nvPr/>
        </p:nvSpPr>
        <p:spPr>
          <a:xfrm>
            <a:off x="6729984" y="1087490"/>
            <a:ext cx="777300" cy="1097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1000"/>
              <a:buFont typeface="Calibri"/>
              <a:buNone/>
            </a:pPr>
            <a:r>
              <a:rPr b="1" i="0" lang="en" sz="1000" u="none" cap="none" strike="noStrike">
                <a:solidFill>
                  <a:srgbClr val="1A2E42"/>
                </a:solidFill>
                <a:latin typeface="Calibri"/>
                <a:ea typeface="Calibri"/>
                <a:cs typeface="Calibri"/>
                <a:sym typeface="Calibri"/>
              </a:rPr>
              <a:t>Softmax</a:t>
            </a:r>
            <a:endParaRPr b="0" i="0" sz="10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1A2E42"/>
              </a:buClr>
              <a:buSzPts val="1000"/>
              <a:buFont typeface="Calibri"/>
              <a:buNone/>
            </a:pPr>
            <a:r>
              <a:rPr b="1" i="0" lang="en" sz="1000" u="none" cap="none" strike="noStrike">
                <a:solidFill>
                  <a:srgbClr val="1A2E42"/>
                </a:solidFill>
                <a:latin typeface="Calibri"/>
                <a:ea typeface="Calibri"/>
                <a:cs typeface="Calibri"/>
                <a:sym typeface="Calibri"/>
              </a:rPr>
              <a:t>Output</a:t>
            </a:r>
            <a:endParaRPr b="0" i="0" sz="1000" u="none" cap="none" strike="noStrike">
              <a:solidFill>
                <a:schemeClr val="dk1"/>
              </a:solidFill>
              <a:latin typeface="Calibri"/>
              <a:ea typeface="Calibri"/>
              <a:cs typeface="Calibri"/>
              <a:sym typeface="Calibri"/>
            </a:endParaRPr>
          </a:p>
        </p:txBody>
      </p:sp>
      <p:cxnSp>
        <p:nvCxnSpPr>
          <p:cNvPr id="1007" name="Google Shape;1007;p24"/>
          <p:cNvCxnSpPr/>
          <p:nvPr/>
        </p:nvCxnSpPr>
        <p:spPr>
          <a:xfrm>
            <a:off x="612648" y="2184770"/>
            <a:ext cx="0" cy="274200"/>
          </a:xfrm>
          <a:prstGeom prst="straightConnector1">
            <a:avLst/>
          </a:prstGeom>
          <a:noFill/>
          <a:ln cap="flat" cmpd="sng" w="12700">
            <a:solidFill>
              <a:srgbClr val="1A6080"/>
            </a:solidFill>
            <a:prstDash val="dash"/>
            <a:round/>
            <a:headEnd len="sm" w="sm" type="none"/>
            <a:tailEnd len="sm" w="sm" type="none"/>
          </a:ln>
        </p:spPr>
      </p:cxnSp>
      <p:sp>
        <p:nvSpPr>
          <p:cNvPr id="1008" name="Google Shape;1008;p24"/>
          <p:cNvSpPr/>
          <p:nvPr/>
        </p:nvSpPr>
        <p:spPr>
          <a:xfrm>
            <a:off x="228600" y="2504810"/>
            <a:ext cx="1143000" cy="502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6080"/>
              </a:buClr>
              <a:buSzPts val="950"/>
              <a:buFont typeface="Calibri"/>
              <a:buNone/>
            </a:pPr>
            <a:r>
              <a:rPr b="0" i="0" lang="en" sz="950" u="none" cap="none" strike="noStrike">
                <a:solidFill>
                  <a:srgbClr val="1A6080"/>
                </a:solidFill>
                <a:latin typeface="Calibri"/>
                <a:ea typeface="Calibri"/>
                <a:cs typeface="Calibri"/>
                <a:sym typeface="Calibri"/>
              </a:rPr>
              <a:t>Raw pixels</a:t>
            </a:r>
            <a:endParaRPr b="0" i="0" sz="9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1A6080"/>
              </a:buClr>
              <a:buSzPts val="950"/>
              <a:buFont typeface="Calibri"/>
              <a:buNone/>
            </a:pPr>
            <a:r>
              <a:rPr b="0" i="0" lang="en" sz="950" u="none" cap="none" strike="noStrike">
                <a:solidFill>
                  <a:srgbClr val="1A6080"/>
                </a:solidFill>
                <a:latin typeface="Calibri"/>
                <a:ea typeface="Calibri"/>
                <a:cs typeface="Calibri"/>
                <a:sym typeface="Calibri"/>
              </a:rPr>
              <a:t>(e.g. 224×224×3)</a:t>
            </a:r>
            <a:endParaRPr b="0" i="0" sz="950" u="none" cap="none" strike="noStrike">
              <a:solidFill>
                <a:schemeClr val="dk1"/>
              </a:solidFill>
              <a:latin typeface="Calibri"/>
              <a:ea typeface="Calibri"/>
              <a:cs typeface="Calibri"/>
              <a:sym typeface="Calibri"/>
            </a:endParaRPr>
          </a:p>
        </p:txBody>
      </p:sp>
      <p:cxnSp>
        <p:nvCxnSpPr>
          <p:cNvPr id="1009" name="Google Shape;1009;p24"/>
          <p:cNvCxnSpPr/>
          <p:nvPr/>
        </p:nvCxnSpPr>
        <p:spPr>
          <a:xfrm>
            <a:off x="2103120" y="2184770"/>
            <a:ext cx="0" cy="274200"/>
          </a:xfrm>
          <a:prstGeom prst="straightConnector1">
            <a:avLst/>
          </a:prstGeom>
          <a:noFill/>
          <a:ln cap="flat" cmpd="sng" w="12700">
            <a:solidFill>
              <a:srgbClr val="1A6080"/>
            </a:solidFill>
            <a:prstDash val="dash"/>
            <a:round/>
            <a:headEnd len="sm" w="sm" type="none"/>
            <a:tailEnd len="sm" w="sm" type="none"/>
          </a:ln>
        </p:spPr>
      </p:cxnSp>
      <p:sp>
        <p:nvSpPr>
          <p:cNvPr id="1010" name="Google Shape;1010;p24"/>
          <p:cNvSpPr/>
          <p:nvPr/>
        </p:nvSpPr>
        <p:spPr>
          <a:xfrm>
            <a:off x="1719072" y="2504810"/>
            <a:ext cx="1143000" cy="502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6080"/>
              </a:buClr>
              <a:buSzPts val="950"/>
              <a:buFont typeface="Calibri"/>
              <a:buNone/>
            </a:pPr>
            <a:r>
              <a:rPr b="0" i="0" lang="en" sz="950" u="none" cap="none" strike="noStrike">
                <a:solidFill>
                  <a:srgbClr val="1A6080"/>
                </a:solidFill>
                <a:latin typeface="Calibri"/>
                <a:ea typeface="Calibri"/>
                <a:cs typeface="Calibri"/>
                <a:sym typeface="Calibri"/>
              </a:rPr>
              <a:t>Learns local</a:t>
            </a:r>
            <a:endParaRPr b="0" i="0" sz="9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1A6080"/>
              </a:buClr>
              <a:buSzPts val="950"/>
              <a:buFont typeface="Calibri"/>
              <a:buNone/>
            </a:pPr>
            <a:r>
              <a:rPr b="0" i="0" lang="en" sz="950" u="none" cap="none" strike="noStrike">
                <a:solidFill>
                  <a:srgbClr val="1A6080"/>
                </a:solidFill>
                <a:latin typeface="Calibri"/>
                <a:ea typeface="Calibri"/>
                <a:cs typeface="Calibri"/>
                <a:sym typeface="Calibri"/>
              </a:rPr>
              <a:t>features/filters</a:t>
            </a:r>
            <a:endParaRPr b="0" i="0" sz="950" u="none" cap="none" strike="noStrike">
              <a:solidFill>
                <a:schemeClr val="dk1"/>
              </a:solidFill>
              <a:latin typeface="Calibri"/>
              <a:ea typeface="Calibri"/>
              <a:cs typeface="Calibri"/>
              <a:sym typeface="Calibri"/>
            </a:endParaRPr>
          </a:p>
        </p:txBody>
      </p:sp>
      <p:cxnSp>
        <p:nvCxnSpPr>
          <p:cNvPr id="1011" name="Google Shape;1011;p24"/>
          <p:cNvCxnSpPr/>
          <p:nvPr/>
        </p:nvCxnSpPr>
        <p:spPr>
          <a:xfrm>
            <a:off x="3584448" y="2184770"/>
            <a:ext cx="0" cy="274200"/>
          </a:xfrm>
          <a:prstGeom prst="straightConnector1">
            <a:avLst/>
          </a:prstGeom>
          <a:noFill/>
          <a:ln cap="flat" cmpd="sng" w="12700">
            <a:solidFill>
              <a:srgbClr val="1A6080"/>
            </a:solidFill>
            <a:prstDash val="dash"/>
            <a:round/>
            <a:headEnd len="sm" w="sm" type="none"/>
            <a:tailEnd len="sm" w="sm" type="none"/>
          </a:ln>
        </p:spPr>
      </p:cxnSp>
      <p:sp>
        <p:nvSpPr>
          <p:cNvPr id="1012" name="Google Shape;1012;p24"/>
          <p:cNvSpPr/>
          <p:nvPr/>
        </p:nvSpPr>
        <p:spPr>
          <a:xfrm>
            <a:off x="3200400" y="2504810"/>
            <a:ext cx="1143000" cy="502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6080"/>
              </a:buClr>
              <a:buSzPts val="950"/>
              <a:buFont typeface="Calibri"/>
              <a:buNone/>
            </a:pPr>
            <a:r>
              <a:rPr b="0" i="0" lang="en" sz="950" u="none" cap="none" strike="noStrike">
                <a:solidFill>
                  <a:srgbClr val="1A6080"/>
                </a:solidFill>
                <a:latin typeface="Calibri"/>
                <a:ea typeface="Calibri"/>
                <a:cs typeface="Calibri"/>
                <a:sym typeface="Calibri"/>
              </a:rPr>
              <a:t>Adds non-</a:t>
            </a:r>
            <a:endParaRPr b="0" i="0" sz="9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1A6080"/>
              </a:buClr>
              <a:buSzPts val="950"/>
              <a:buFont typeface="Calibri"/>
              <a:buNone/>
            </a:pPr>
            <a:r>
              <a:rPr b="0" i="0" lang="en" sz="950" u="none" cap="none" strike="noStrike">
                <a:solidFill>
                  <a:srgbClr val="1A6080"/>
                </a:solidFill>
                <a:latin typeface="Calibri"/>
                <a:ea typeface="Calibri"/>
                <a:cs typeface="Calibri"/>
                <a:sym typeface="Calibri"/>
              </a:rPr>
              <a:t>linearity</a:t>
            </a:r>
            <a:endParaRPr b="0" i="0" sz="950" u="none" cap="none" strike="noStrike">
              <a:solidFill>
                <a:schemeClr val="dk1"/>
              </a:solidFill>
              <a:latin typeface="Calibri"/>
              <a:ea typeface="Calibri"/>
              <a:cs typeface="Calibri"/>
              <a:sym typeface="Calibri"/>
            </a:endParaRPr>
          </a:p>
        </p:txBody>
      </p:sp>
      <p:cxnSp>
        <p:nvCxnSpPr>
          <p:cNvPr id="1013" name="Google Shape;1013;p24"/>
          <p:cNvCxnSpPr/>
          <p:nvPr/>
        </p:nvCxnSpPr>
        <p:spPr>
          <a:xfrm>
            <a:off x="5065776" y="2184770"/>
            <a:ext cx="0" cy="274200"/>
          </a:xfrm>
          <a:prstGeom prst="straightConnector1">
            <a:avLst/>
          </a:prstGeom>
          <a:noFill/>
          <a:ln cap="flat" cmpd="sng" w="12700">
            <a:solidFill>
              <a:srgbClr val="1A6080"/>
            </a:solidFill>
            <a:prstDash val="dash"/>
            <a:round/>
            <a:headEnd len="sm" w="sm" type="none"/>
            <a:tailEnd len="sm" w="sm" type="none"/>
          </a:ln>
        </p:spPr>
      </p:cxnSp>
      <p:sp>
        <p:nvSpPr>
          <p:cNvPr id="1014" name="Google Shape;1014;p24"/>
          <p:cNvSpPr/>
          <p:nvPr/>
        </p:nvSpPr>
        <p:spPr>
          <a:xfrm>
            <a:off x="4681728" y="2504810"/>
            <a:ext cx="1143000" cy="502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6080"/>
              </a:buClr>
              <a:buSzPts val="950"/>
              <a:buFont typeface="Calibri"/>
              <a:buNone/>
            </a:pPr>
            <a:r>
              <a:rPr b="0" i="0" lang="en" sz="950" u="none" cap="none" strike="noStrike">
                <a:solidFill>
                  <a:srgbClr val="1A6080"/>
                </a:solidFill>
                <a:latin typeface="Calibri"/>
                <a:ea typeface="Calibri"/>
                <a:cs typeface="Calibri"/>
                <a:sym typeface="Calibri"/>
              </a:rPr>
              <a:t>Reduces spatial</a:t>
            </a:r>
            <a:endParaRPr b="0" i="0" sz="9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1A6080"/>
              </a:buClr>
              <a:buSzPts val="950"/>
              <a:buFont typeface="Calibri"/>
              <a:buNone/>
            </a:pPr>
            <a:r>
              <a:rPr b="0" i="0" lang="en" sz="950" u="none" cap="none" strike="noStrike">
                <a:solidFill>
                  <a:srgbClr val="1A6080"/>
                </a:solidFill>
                <a:latin typeface="Calibri"/>
                <a:ea typeface="Calibri"/>
                <a:cs typeface="Calibri"/>
                <a:sym typeface="Calibri"/>
              </a:rPr>
              <a:t>dimensions</a:t>
            </a:r>
            <a:endParaRPr b="0" i="0" sz="950" u="none" cap="none" strike="noStrike">
              <a:solidFill>
                <a:schemeClr val="dk1"/>
              </a:solidFill>
              <a:latin typeface="Calibri"/>
              <a:ea typeface="Calibri"/>
              <a:cs typeface="Calibri"/>
              <a:sym typeface="Calibri"/>
            </a:endParaRPr>
          </a:p>
        </p:txBody>
      </p:sp>
      <p:cxnSp>
        <p:nvCxnSpPr>
          <p:cNvPr id="1015" name="Google Shape;1015;p24"/>
          <p:cNvCxnSpPr/>
          <p:nvPr/>
        </p:nvCxnSpPr>
        <p:spPr>
          <a:xfrm>
            <a:off x="6547104" y="2184770"/>
            <a:ext cx="0" cy="274200"/>
          </a:xfrm>
          <a:prstGeom prst="straightConnector1">
            <a:avLst/>
          </a:prstGeom>
          <a:noFill/>
          <a:ln cap="flat" cmpd="sng" w="12700">
            <a:solidFill>
              <a:srgbClr val="1A6080"/>
            </a:solidFill>
            <a:prstDash val="dash"/>
            <a:round/>
            <a:headEnd len="sm" w="sm" type="none"/>
            <a:tailEnd len="sm" w="sm" type="none"/>
          </a:ln>
        </p:spPr>
      </p:cxnSp>
      <p:sp>
        <p:nvSpPr>
          <p:cNvPr id="1016" name="Google Shape;1016;p24"/>
          <p:cNvSpPr/>
          <p:nvPr/>
        </p:nvSpPr>
        <p:spPr>
          <a:xfrm>
            <a:off x="6163056" y="2504810"/>
            <a:ext cx="1143000" cy="502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6080"/>
              </a:buClr>
              <a:buSzPts val="950"/>
              <a:buFont typeface="Calibri"/>
              <a:buNone/>
            </a:pPr>
            <a:r>
              <a:rPr b="0" i="0" lang="en" sz="950" u="none" cap="none" strike="noStrike">
                <a:solidFill>
                  <a:srgbClr val="1A6080"/>
                </a:solidFill>
                <a:latin typeface="Calibri"/>
                <a:ea typeface="Calibri"/>
                <a:cs typeface="Calibri"/>
                <a:sym typeface="Calibri"/>
              </a:rPr>
              <a:t>Higher-level</a:t>
            </a:r>
            <a:endParaRPr b="0" i="0" sz="9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1A6080"/>
              </a:buClr>
              <a:buSzPts val="950"/>
              <a:buFont typeface="Calibri"/>
              <a:buNone/>
            </a:pPr>
            <a:r>
              <a:rPr b="0" i="0" lang="en" sz="950" u="none" cap="none" strike="noStrike">
                <a:solidFill>
                  <a:srgbClr val="1A6080"/>
                </a:solidFill>
                <a:latin typeface="Calibri"/>
                <a:ea typeface="Calibri"/>
                <a:cs typeface="Calibri"/>
                <a:sym typeface="Calibri"/>
              </a:rPr>
              <a:t>features</a:t>
            </a:r>
            <a:endParaRPr b="0" i="0" sz="950" u="none" cap="none" strike="noStrike">
              <a:solidFill>
                <a:schemeClr val="dk1"/>
              </a:solidFill>
              <a:latin typeface="Calibri"/>
              <a:ea typeface="Calibri"/>
              <a:cs typeface="Calibri"/>
              <a:sym typeface="Calibri"/>
            </a:endParaRPr>
          </a:p>
        </p:txBody>
      </p:sp>
      <p:sp>
        <p:nvSpPr>
          <p:cNvPr id="1017" name="Google Shape;1017;p24"/>
          <p:cNvSpPr/>
          <p:nvPr/>
        </p:nvSpPr>
        <p:spPr>
          <a:xfrm>
            <a:off x="228600" y="3144890"/>
            <a:ext cx="86868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B4D8"/>
              </a:buClr>
              <a:buSzPts val="1200"/>
              <a:buFont typeface="Calibri"/>
              <a:buNone/>
            </a:pPr>
            <a:r>
              <a:rPr b="0" i="1" lang="en" sz="1200" u="none" cap="none" strike="noStrike">
                <a:solidFill>
                  <a:srgbClr val="00B4D8"/>
                </a:solidFill>
                <a:latin typeface="Calibri"/>
                <a:ea typeface="Calibri"/>
                <a:cs typeface="Calibri"/>
                <a:sym typeface="Calibri"/>
              </a:rPr>
              <a:t>Feature Map Depth Increases →  Spatial Size Decreases →</a:t>
            </a:r>
            <a:endParaRPr b="0" i="0" sz="1200" u="none" cap="none" strike="noStrike">
              <a:solidFill>
                <a:schemeClr val="dk1"/>
              </a:solidFill>
              <a:latin typeface="Calibri"/>
              <a:ea typeface="Calibri"/>
              <a:cs typeface="Calibri"/>
              <a:sym typeface="Calibri"/>
            </a:endParaRPr>
          </a:p>
        </p:txBody>
      </p:sp>
      <p:sp>
        <p:nvSpPr>
          <p:cNvPr id="1018" name="Google Shape;1018;p24"/>
          <p:cNvSpPr/>
          <p:nvPr/>
        </p:nvSpPr>
        <p:spPr>
          <a:xfrm>
            <a:off x="457200" y="3556370"/>
            <a:ext cx="2560200" cy="1097400"/>
          </a:xfrm>
          <a:prstGeom prst="rect">
            <a:avLst/>
          </a:prstGeom>
          <a:solidFill>
            <a:srgbClr val="DDE8F5"/>
          </a:solidFill>
          <a:ln>
            <a:noFill/>
          </a:ln>
          <a:effectLst>
            <a:outerShdw blurRad="101600" rotWithShape="0" algn="bl" dir="8100000" dist="38100">
              <a:srgbClr val="000000">
                <a:alpha val="14902"/>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9" name="Google Shape;1019;p24"/>
          <p:cNvSpPr/>
          <p:nvPr/>
        </p:nvSpPr>
        <p:spPr>
          <a:xfrm>
            <a:off x="457200" y="3556370"/>
            <a:ext cx="2560200" cy="54900"/>
          </a:xfrm>
          <a:prstGeom prst="rect">
            <a:avLst/>
          </a:prstGeom>
          <a:solidFill>
            <a:srgbClr val="00B4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0" name="Google Shape;1020;p24"/>
          <p:cNvSpPr/>
          <p:nvPr/>
        </p:nvSpPr>
        <p:spPr>
          <a:xfrm>
            <a:off x="457200" y="3647810"/>
            <a:ext cx="2560200" cy="347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1300"/>
              <a:buFont typeface="Calibri"/>
              <a:buNone/>
            </a:pPr>
            <a:r>
              <a:rPr b="1" i="0" lang="en" sz="1300" u="none" cap="none" strike="noStrike">
                <a:solidFill>
                  <a:srgbClr val="1A2E42"/>
                </a:solidFill>
                <a:latin typeface="Calibri"/>
                <a:ea typeface="Calibri"/>
                <a:cs typeface="Calibri"/>
                <a:sym typeface="Calibri"/>
              </a:rPr>
              <a:t>Early Layers</a:t>
            </a:r>
            <a:endParaRPr b="0" i="0" sz="1300" u="none" cap="none" strike="noStrike">
              <a:solidFill>
                <a:schemeClr val="dk1"/>
              </a:solidFill>
              <a:latin typeface="Calibri"/>
              <a:ea typeface="Calibri"/>
              <a:cs typeface="Calibri"/>
              <a:sym typeface="Calibri"/>
            </a:endParaRPr>
          </a:p>
        </p:txBody>
      </p:sp>
      <p:sp>
        <p:nvSpPr>
          <p:cNvPr id="1021" name="Google Shape;1021;p24"/>
          <p:cNvSpPr/>
          <p:nvPr/>
        </p:nvSpPr>
        <p:spPr>
          <a:xfrm>
            <a:off x="457200" y="4013570"/>
            <a:ext cx="2560200" cy="594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6080"/>
              </a:buClr>
              <a:buSzPts val="1150"/>
              <a:buFont typeface="Calibri"/>
              <a:buNone/>
            </a:pPr>
            <a:r>
              <a:rPr b="0" i="0" lang="en" sz="1150" u="none" cap="none" strike="noStrike">
                <a:solidFill>
                  <a:srgbClr val="1A6080"/>
                </a:solidFill>
                <a:latin typeface="Calibri"/>
                <a:ea typeface="Calibri"/>
                <a:cs typeface="Calibri"/>
                <a:sym typeface="Calibri"/>
              </a:rPr>
              <a:t>Detect edges &amp; simple patterns</a:t>
            </a:r>
            <a:endParaRPr b="0" i="0" sz="1150" u="none" cap="none" strike="noStrike">
              <a:solidFill>
                <a:schemeClr val="dk1"/>
              </a:solidFill>
              <a:latin typeface="Calibri"/>
              <a:ea typeface="Calibri"/>
              <a:cs typeface="Calibri"/>
              <a:sym typeface="Calibri"/>
            </a:endParaRPr>
          </a:p>
        </p:txBody>
      </p:sp>
      <p:sp>
        <p:nvSpPr>
          <p:cNvPr id="1022" name="Google Shape;1022;p24"/>
          <p:cNvSpPr/>
          <p:nvPr/>
        </p:nvSpPr>
        <p:spPr>
          <a:xfrm>
            <a:off x="3291840" y="3556370"/>
            <a:ext cx="2560200" cy="1097400"/>
          </a:xfrm>
          <a:prstGeom prst="rect">
            <a:avLst/>
          </a:prstGeom>
          <a:solidFill>
            <a:srgbClr val="DDE8F5"/>
          </a:solidFill>
          <a:ln>
            <a:noFill/>
          </a:ln>
          <a:effectLst>
            <a:outerShdw blurRad="101600" rotWithShape="0" algn="bl" dir="8100000" dist="38100">
              <a:srgbClr val="000000">
                <a:alpha val="14902"/>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3" name="Google Shape;1023;p24"/>
          <p:cNvSpPr/>
          <p:nvPr/>
        </p:nvSpPr>
        <p:spPr>
          <a:xfrm>
            <a:off x="3291840" y="3556370"/>
            <a:ext cx="2560200" cy="54900"/>
          </a:xfrm>
          <a:prstGeom prst="rect">
            <a:avLst/>
          </a:prstGeom>
          <a:solidFill>
            <a:srgbClr val="00B4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4" name="Google Shape;1024;p24"/>
          <p:cNvSpPr/>
          <p:nvPr/>
        </p:nvSpPr>
        <p:spPr>
          <a:xfrm>
            <a:off x="3291840" y="3647810"/>
            <a:ext cx="2560200" cy="347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1300"/>
              <a:buFont typeface="Calibri"/>
              <a:buNone/>
            </a:pPr>
            <a:r>
              <a:rPr b="1" i="0" lang="en" sz="1300" u="none" cap="none" strike="noStrike">
                <a:solidFill>
                  <a:srgbClr val="1A2E42"/>
                </a:solidFill>
                <a:latin typeface="Calibri"/>
                <a:ea typeface="Calibri"/>
                <a:cs typeface="Calibri"/>
                <a:sym typeface="Calibri"/>
              </a:rPr>
              <a:t>Mid Layers</a:t>
            </a:r>
            <a:endParaRPr b="0" i="0" sz="1300" u="none" cap="none" strike="noStrike">
              <a:solidFill>
                <a:schemeClr val="dk1"/>
              </a:solidFill>
              <a:latin typeface="Calibri"/>
              <a:ea typeface="Calibri"/>
              <a:cs typeface="Calibri"/>
              <a:sym typeface="Calibri"/>
            </a:endParaRPr>
          </a:p>
        </p:txBody>
      </p:sp>
      <p:sp>
        <p:nvSpPr>
          <p:cNvPr id="1025" name="Google Shape;1025;p24"/>
          <p:cNvSpPr/>
          <p:nvPr/>
        </p:nvSpPr>
        <p:spPr>
          <a:xfrm>
            <a:off x="3291840" y="4013570"/>
            <a:ext cx="2560200" cy="594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6080"/>
              </a:buClr>
              <a:buSzPts val="1150"/>
              <a:buFont typeface="Calibri"/>
              <a:buNone/>
            </a:pPr>
            <a:r>
              <a:rPr b="0" i="0" lang="en" sz="1150" u="none" cap="none" strike="noStrike">
                <a:solidFill>
                  <a:srgbClr val="1A6080"/>
                </a:solidFill>
                <a:latin typeface="Calibri"/>
                <a:ea typeface="Calibri"/>
                <a:cs typeface="Calibri"/>
                <a:sym typeface="Calibri"/>
              </a:rPr>
              <a:t>Textures, shapes, object parts</a:t>
            </a:r>
            <a:endParaRPr b="0" i="0" sz="1150" u="none" cap="none" strike="noStrike">
              <a:solidFill>
                <a:schemeClr val="dk1"/>
              </a:solidFill>
              <a:latin typeface="Calibri"/>
              <a:ea typeface="Calibri"/>
              <a:cs typeface="Calibri"/>
              <a:sym typeface="Calibri"/>
            </a:endParaRPr>
          </a:p>
        </p:txBody>
      </p:sp>
      <p:sp>
        <p:nvSpPr>
          <p:cNvPr id="1026" name="Google Shape;1026;p24"/>
          <p:cNvSpPr/>
          <p:nvPr/>
        </p:nvSpPr>
        <p:spPr>
          <a:xfrm>
            <a:off x="6126480" y="3556370"/>
            <a:ext cx="2560200" cy="1097400"/>
          </a:xfrm>
          <a:prstGeom prst="rect">
            <a:avLst/>
          </a:prstGeom>
          <a:solidFill>
            <a:srgbClr val="DDE8F5"/>
          </a:solidFill>
          <a:ln>
            <a:noFill/>
          </a:ln>
          <a:effectLst>
            <a:outerShdw blurRad="101600" rotWithShape="0" algn="bl" dir="8100000" dist="38100">
              <a:srgbClr val="000000">
                <a:alpha val="14902"/>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7" name="Google Shape;1027;p24"/>
          <p:cNvSpPr/>
          <p:nvPr/>
        </p:nvSpPr>
        <p:spPr>
          <a:xfrm>
            <a:off x="6126480" y="3556370"/>
            <a:ext cx="2560200" cy="54900"/>
          </a:xfrm>
          <a:prstGeom prst="rect">
            <a:avLst/>
          </a:prstGeom>
          <a:solidFill>
            <a:srgbClr val="00B4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8" name="Google Shape;1028;p24"/>
          <p:cNvSpPr/>
          <p:nvPr/>
        </p:nvSpPr>
        <p:spPr>
          <a:xfrm>
            <a:off x="6126480" y="3647810"/>
            <a:ext cx="2560200" cy="347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1300"/>
              <a:buFont typeface="Calibri"/>
              <a:buNone/>
            </a:pPr>
            <a:r>
              <a:rPr b="1" i="0" lang="en" sz="1300" u="none" cap="none" strike="noStrike">
                <a:solidFill>
                  <a:srgbClr val="1A2E42"/>
                </a:solidFill>
                <a:latin typeface="Calibri"/>
                <a:ea typeface="Calibri"/>
                <a:cs typeface="Calibri"/>
                <a:sym typeface="Calibri"/>
              </a:rPr>
              <a:t>Deep Layers</a:t>
            </a:r>
            <a:endParaRPr b="0" i="0" sz="1300" u="none" cap="none" strike="noStrike">
              <a:solidFill>
                <a:schemeClr val="dk1"/>
              </a:solidFill>
              <a:latin typeface="Calibri"/>
              <a:ea typeface="Calibri"/>
              <a:cs typeface="Calibri"/>
              <a:sym typeface="Calibri"/>
            </a:endParaRPr>
          </a:p>
        </p:txBody>
      </p:sp>
      <p:sp>
        <p:nvSpPr>
          <p:cNvPr id="1029" name="Google Shape;1029;p24"/>
          <p:cNvSpPr/>
          <p:nvPr/>
        </p:nvSpPr>
        <p:spPr>
          <a:xfrm>
            <a:off x="6126480" y="4013570"/>
            <a:ext cx="2560200" cy="594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6080"/>
              </a:buClr>
              <a:buSzPts val="1150"/>
              <a:buFont typeface="Calibri"/>
              <a:buNone/>
            </a:pPr>
            <a:r>
              <a:rPr b="0" i="0" lang="en" sz="1150" u="none" cap="none" strike="noStrike">
                <a:solidFill>
                  <a:srgbClr val="1A6080"/>
                </a:solidFill>
                <a:latin typeface="Calibri"/>
                <a:ea typeface="Calibri"/>
                <a:cs typeface="Calibri"/>
                <a:sym typeface="Calibri"/>
              </a:rPr>
              <a:t>High-level semantic concepts</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33" name="Shape 1033"/>
        <p:cNvGrpSpPr/>
        <p:nvPr/>
      </p:nvGrpSpPr>
      <p:grpSpPr>
        <a:xfrm>
          <a:off x="0" y="0"/>
          <a:ext cx="0" cy="0"/>
          <a:chOff x="0" y="0"/>
          <a:chExt cx="0" cy="0"/>
        </a:xfrm>
      </p:grpSpPr>
      <p:pic>
        <p:nvPicPr>
          <p:cNvPr id="1034" name="Google Shape;1034;p25"/>
          <p:cNvPicPr preferRelativeResize="0"/>
          <p:nvPr/>
        </p:nvPicPr>
        <p:blipFill rotWithShape="1">
          <a:blip r:embed="rId4">
            <a:alphaModFix/>
          </a:blip>
          <a:srcRect b="0" l="0" r="0" t="0"/>
          <a:stretch/>
        </p:blipFill>
        <p:spPr>
          <a:xfrm>
            <a:off x="8369125" y="0"/>
            <a:ext cx="774877" cy="867174"/>
          </a:xfrm>
          <a:prstGeom prst="rect">
            <a:avLst/>
          </a:prstGeom>
          <a:noFill/>
          <a:ln>
            <a:noFill/>
          </a:ln>
        </p:spPr>
      </p:pic>
      <p:sp>
        <p:nvSpPr>
          <p:cNvPr id="1035" name="Google Shape;1035;p25"/>
          <p:cNvSpPr txBox="1"/>
          <p:nvPr/>
        </p:nvSpPr>
        <p:spPr>
          <a:xfrm>
            <a:off x="1052950" y="98875"/>
            <a:ext cx="6618600" cy="768300"/>
          </a:xfrm>
          <a:prstGeom prst="rect">
            <a:avLst/>
          </a:prstGeom>
          <a:no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2600"/>
              <a:buFont typeface="Arial"/>
              <a:buNone/>
            </a:pPr>
            <a:r>
              <a:rPr b="1" i="0" lang="en" sz="2600" u="none" cap="none" strike="noStrike">
                <a:solidFill>
                  <a:srgbClr val="0D1B2A"/>
                </a:solidFill>
                <a:latin typeface="Calibri"/>
                <a:ea typeface="Calibri"/>
                <a:cs typeface="Calibri"/>
                <a:sym typeface="Calibri"/>
              </a:rPr>
              <a:t>Key CNN Components</a:t>
            </a:r>
            <a:endParaRPr b="1" i="0" sz="2600" u="none" cap="none" strike="noStrike">
              <a:solidFill>
                <a:srgbClr val="0D1B2A"/>
              </a:solidFill>
              <a:latin typeface="Calibri"/>
              <a:ea typeface="Calibri"/>
              <a:cs typeface="Calibri"/>
              <a:sym typeface="Calibri"/>
            </a:endParaRPr>
          </a:p>
        </p:txBody>
      </p:sp>
      <p:sp>
        <p:nvSpPr>
          <p:cNvPr id="1036" name="Google Shape;1036;p25"/>
          <p:cNvSpPr/>
          <p:nvPr/>
        </p:nvSpPr>
        <p:spPr>
          <a:xfrm>
            <a:off x="274320" y="1097280"/>
            <a:ext cx="4206300" cy="1664100"/>
          </a:xfrm>
          <a:prstGeom prst="rect">
            <a:avLst/>
          </a:prstGeom>
          <a:solidFill>
            <a:schemeClr val="lt1"/>
          </a:solidFill>
          <a:ln>
            <a:noFill/>
          </a:ln>
          <a:effectLst>
            <a:outerShdw blurRad="101600" rotWithShape="0" algn="bl" dir="8100000" dist="38100">
              <a:srgbClr val="000000">
                <a:alpha val="14902"/>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7" name="Google Shape;1037;p25"/>
          <p:cNvSpPr/>
          <p:nvPr/>
        </p:nvSpPr>
        <p:spPr>
          <a:xfrm>
            <a:off x="274320" y="1097280"/>
            <a:ext cx="4206300" cy="411600"/>
          </a:xfrm>
          <a:prstGeom prst="rect">
            <a:avLst/>
          </a:prstGeom>
          <a:solidFill>
            <a:srgbClr val="00B4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8" name="Google Shape;1038;p25"/>
          <p:cNvSpPr/>
          <p:nvPr/>
        </p:nvSpPr>
        <p:spPr>
          <a:xfrm>
            <a:off x="365760" y="1097280"/>
            <a:ext cx="4023300" cy="41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2E42"/>
              </a:buClr>
              <a:buSzPts val="1350"/>
              <a:buFont typeface="Calibri"/>
              <a:buNone/>
            </a:pPr>
            <a:r>
              <a:rPr b="1" i="0" lang="en" sz="1350" u="none" cap="none" strike="noStrike">
                <a:solidFill>
                  <a:schemeClr val="dk1"/>
                </a:solidFill>
                <a:latin typeface="Calibri"/>
                <a:ea typeface="Calibri"/>
                <a:cs typeface="Calibri"/>
                <a:sym typeface="Calibri"/>
              </a:rPr>
              <a:t>⊞  Convolutional Layer</a:t>
            </a:r>
            <a:endParaRPr b="0" i="0" sz="1350" u="none" cap="none" strike="noStrike">
              <a:solidFill>
                <a:schemeClr val="dk1"/>
              </a:solidFill>
              <a:latin typeface="Calibri"/>
              <a:ea typeface="Calibri"/>
              <a:cs typeface="Calibri"/>
              <a:sym typeface="Calibri"/>
            </a:endParaRPr>
          </a:p>
        </p:txBody>
      </p:sp>
      <p:sp>
        <p:nvSpPr>
          <p:cNvPr id="1039" name="Google Shape;1039;p25"/>
          <p:cNvSpPr/>
          <p:nvPr/>
        </p:nvSpPr>
        <p:spPr>
          <a:xfrm>
            <a:off x="4709160" y="1097280"/>
            <a:ext cx="4206300" cy="1664100"/>
          </a:xfrm>
          <a:prstGeom prst="rect">
            <a:avLst/>
          </a:prstGeom>
          <a:solidFill>
            <a:schemeClr val="lt1"/>
          </a:solidFill>
          <a:ln>
            <a:noFill/>
          </a:ln>
          <a:effectLst>
            <a:outerShdw blurRad="101600" rotWithShape="0" algn="bl" dir="8100000" dist="38100">
              <a:srgbClr val="000000">
                <a:alpha val="14902"/>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0" name="Google Shape;1040;p25"/>
          <p:cNvSpPr/>
          <p:nvPr/>
        </p:nvSpPr>
        <p:spPr>
          <a:xfrm>
            <a:off x="4709160" y="1097280"/>
            <a:ext cx="4206300" cy="411600"/>
          </a:xfrm>
          <a:prstGeom prst="rect">
            <a:avLst/>
          </a:prstGeom>
          <a:solidFill>
            <a:srgbClr val="E67E2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1" name="Google Shape;1041;p25"/>
          <p:cNvSpPr/>
          <p:nvPr/>
        </p:nvSpPr>
        <p:spPr>
          <a:xfrm>
            <a:off x="4800600" y="1097280"/>
            <a:ext cx="4023300" cy="41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2E42"/>
              </a:buClr>
              <a:buSzPts val="1350"/>
              <a:buFont typeface="Calibri"/>
              <a:buNone/>
            </a:pPr>
            <a:r>
              <a:rPr b="1" i="0" lang="en" sz="1350" u="none" cap="none" strike="noStrike">
                <a:solidFill>
                  <a:schemeClr val="dk1"/>
                </a:solidFill>
                <a:latin typeface="Calibri"/>
                <a:ea typeface="Calibri"/>
                <a:cs typeface="Calibri"/>
                <a:sym typeface="Calibri"/>
              </a:rPr>
              <a:t>⚡  Activation (ReLU)</a:t>
            </a:r>
            <a:endParaRPr b="0" i="0" sz="1350" u="none" cap="none" strike="noStrike">
              <a:solidFill>
                <a:schemeClr val="dk1"/>
              </a:solidFill>
              <a:latin typeface="Calibri"/>
              <a:ea typeface="Calibri"/>
              <a:cs typeface="Calibri"/>
              <a:sym typeface="Calibri"/>
            </a:endParaRPr>
          </a:p>
        </p:txBody>
      </p:sp>
      <p:sp>
        <p:nvSpPr>
          <p:cNvPr id="1042" name="Google Shape;1042;p25"/>
          <p:cNvSpPr/>
          <p:nvPr/>
        </p:nvSpPr>
        <p:spPr>
          <a:xfrm>
            <a:off x="274320" y="2926080"/>
            <a:ext cx="4206300" cy="1664100"/>
          </a:xfrm>
          <a:prstGeom prst="rect">
            <a:avLst/>
          </a:prstGeom>
          <a:solidFill>
            <a:schemeClr val="lt1"/>
          </a:solidFill>
          <a:ln>
            <a:noFill/>
          </a:ln>
          <a:effectLst>
            <a:outerShdw blurRad="101600" rotWithShape="0" algn="bl" dir="8100000" dist="38100">
              <a:srgbClr val="000000">
                <a:alpha val="14902"/>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3" name="Google Shape;1043;p25"/>
          <p:cNvSpPr/>
          <p:nvPr/>
        </p:nvSpPr>
        <p:spPr>
          <a:xfrm>
            <a:off x="274320" y="2926080"/>
            <a:ext cx="4206300" cy="411600"/>
          </a:xfrm>
          <a:prstGeom prst="rect">
            <a:avLst/>
          </a:prstGeom>
          <a:solidFill>
            <a:srgbClr val="8E44A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4" name="Google Shape;1044;p25"/>
          <p:cNvSpPr/>
          <p:nvPr/>
        </p:nvSpPr>
        <p:spPr>
          <a:xfrm>
            <a:off x="365760" y="2926080"/>
            <a:ext cx="4023300" cy="41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2E42"/>
              </a:buClr>
              <a:buSzPts val="1350"/>
              <a:buFont typeface="Calibri"/>
              <a:buNone/>
            </a:pPr>
            <a:r>
              <a:rPr b="1" i="0" lang="en" sz="1350" u="none" cap="none" strike="noStrike">
                <a:solidFill>
                  <a:schemeClr val="dk1"/>
                </a:solidFill>
                <a:latin typeface="Calibri"/>
                <a:ea typeface="Calibri"/>
                <a:cs typeface="Calibri"/>
                <a:sym typeface="Calibri"/>
              </a:rPr>
              <a:t>⊟  Pooling Layer</a:t>
            </a:r>
            <a:endParaRPr b="0" i="0" sz="1350" u="none" cap="none" strike="noStrike">
              <a:solidFill>
                <a:schemeClr val="dk1"/>
              </a:solidFill>
              <a:latin typeface="Calibri"/>
              <a:ea typeface="Calibri"/>
              <a:cs typeface="Calibri"/>
              <a:sym typeface="Calibri"/>
            </a:endParaRPr>
          </a:p>
        </p:txBody>
      </p:sp>
      <p:sp>
        <p:nvSpPr>
          <p:cNvPr id="1045" name="Google Shape;1045;p25"/>
          <p:cNvSpPr/>
          <p:nvPr/>
        </p:nvSpPr>
        <p:spPr>
          <a:xfrm>
            <a:off x="4709160" y="2926080"/>
            <a:ext cx="4206300" cy="1664100"/>
          </a:xfrm>
          <a:prstGeom prst="rect">
            <a:avLst/>
          </a:prstGeom>
          <a:solidFill>
            <a:schemeClr val="lt1"/>
          </a:solidFill>
          <a:ln>
            <a:noFill/>
          </a:ln>
          <a:effectLst>
            <a:outerShdw blurRad="101600" rotWithShape="0" algn="bl" dir="8100000" dist="38100">
              <a:srgbClr val="000000">
                <a:alpha val="14902"/>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6" name="Google Shape;1046;p25"/>
          <p:cNvSpPr/>
          <p:nvPr/>
        </p:nvSpPr>
        <p:spPr>
          <a:xfrm>
            <a:off x="4709160" y="2926080"/>
            <a:ext cx="4206300" cy="411600"/>
          </a:xfrm>
          <a:prstGeom prst="rect">
            <a:avLst/>
          </a:prstGeom>
          <a:solidFill>
            <a:srgbClr val="C039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7" name="Google Shape;1047;p25"/>
          <p:cNvSpPr/>
          <p:nvPr/>
        </p:nvSpPr>
        <p:spPr>
          <a:xfrm>
            <a:off x="4800600" y="2926080"/>
            <a:ext cx="4023300" cy="41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2E42"/>
              </a:buClr>
              <a:buSzPts val="1350"/>
              <a:buFont typeface="Calibri"/>
              <a:buNone/>
            </a:pPr>
            <a:r>
              <a:rPr b="1" i="0" lang="en" sz="1350" u="none" cap="none" strike="noStrike">
                <a:solidFill>
                  <a:schemeClr val="dk1"/>
                </a:solidFill>
                <a:latin typeface="Calibri"/>
                <a:ea typeface="Calibri"/>
                <a:cs typeface="Calibri"/>
                <a:sym typeface="Calibri"/>
              </a:rPr>
              <a:t>◎  Fully Connected Layer</a:t>
            </a:r>
            <a:endParaRPr b="0" i="0" sz="1350" u="none" cap="none" strike="noStrike">
              <a:solidFill>
                <a:schemeClr val="dk1"/>
              </a:solidFill>
              <a:latin typeface="Calibri"/>
              <a:ea typeface="Calibri"/>
              <a:cs typeface="Calibri"/>
              <a:sym typeface="Calibri"/>
            </a:endParaRPr>
          </a:p>
        </p:txBody>
      </p:sp>
      <p:sp>
        <p:nvSpPr>
          <p:cNvPr id="1048" name="Google Shape;1048;p25"/>
          <p:cNvSpPr/>
          <p:nvPr/>
        </p:nvSpPr>
        <p:spPr>
          <a:xfrm>
            <a:off x="384048" y="1554480"/>
            <a:ext cx="3931800" cy="117030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chemeClr val="dk1"/>
              </a:buClr>
              <a:buSzPts val="1100"/>
              <a:buFont typeface="Calibri"/>
              <a:buChar char="•"/>
            </a:pPr>
            <a:r>
              <a:rPr b="0" i="0" lang="en" sz="1100" u="none" cap="none" strike="noStrike">
                <a:solidFill>
                  <a:schemeClr val="dk1"/>
                </a:solidFill>
                <a:latin typeface="Calibri"/>
                <a:ea typeface="Calibri"/>
                <a:cs typeface="Calibri"/>
                <a:sym typeface="Calibri"/>
              </a:rPr>
              <a:t>Applies learnable filters (kernels) via dot product</a:t>
            </a:r>
            <a:endParaRPr b="0" i="0" sz="11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chemeClr val="dk1"/>
              </a:buClr>
              <a:buSzPts val="1100"/>
              <a:buFont typeface="Calibri"/>
              <a:buChar char="•"/>
            </a:pPr>
            <a:r>
              <a:rPr b="0" i="0" lang="en" sz="1100" u="none" cap="none" strike="noStrike">
                <a:solidFill>
                  <a:schemeClr val="dk1"/>
                </a:solidFill>
                <a:latin typeface="Calibri"/>
                <a:ea typeface="Calibri"/>
                <a:cs typeface="Calibri"/>
                <a:sym typeface="Calibri"/>
              </a:rPr>
              <a:t>Produces feature maps capturing spatial patterns</a:t>
            </a:r>
            <a:endParaRPr b="0" i="0" sz="11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chemeClr val="dk1"/>
              </a:buClr>
              <a:buSzPts val="1100"/>
              <a:buFont typeface="Calibri"/>
              <a:buChar char="•"/>
            </a:pPr>
            <a:r>
              <a:rPr b="0" i="0" lang="en" sz="1100" u="none" cap="none" strike="noStrike">
                <a:solidFill>
                  <a:schemeClr val="dk1"/>
                </a:solidFill>
                <a:latin typeface="Calibri"/>
                <a:ea typeface="Calibri"/>
                <a:cs typeface="Calibri"/>
                <a:sym typeface="Calibri"/>
              </a:rPr>
              <a:t>Parameters: kernel size, stride, padding, # filters</a:t>
            </a:r>
            <a:endParaRPr b="0" i="0" sz="1100" u="none" cap="none" strike="noStrike">
              <a:solidFill>
                <a:schemeClr val="dk1"/>
              </a:solidFill>
              <a:latin typeface="Calibri"/>
              <a:ea typeface="Calibri"/>
              <a:cs typeface="Calibri"/>
              <a:sym typeface="Calibri"/>
            </a:endParaRPr>
          </a:p>
        </p:txBody>
      </p:sp>
      <p:sp>
        <p:nvSpPr>
          <p:cNvPr id="1049" name="Google Shape;1049;p25"/>
          <p:cNvSpPr/>
          <p:nvPr/>
        </p:nvSpPr>
        <p:spPr>
          <a:xfrm>
            <a:off x="4818888" y="1554480"/>
            <a:ext cx="3931800" cy="117030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chemeClr val="dk1"/>
              </a:buClr>
              <a:buSzPts val="1100"/>
              <a:buFont typeface="Calibri"/>
              <a:buChar char="•"/>
            </a:pPr>
            <a:r>
              <a:rPr b="0" i="0" lang="en" sz="1100" u="none" cap="none" strike="noStrike">
                <a:solidFill>
                  <a:schemeClr val="dk1"/>
                </a:solidFill>
                <a:latin typeface="Calibri"/>
                <a:ea typeface="Calibri"/>
                <a:cs typeface="Calibri"/>
                <a:sym typeface="Calibri"/>
              </a:rPr>
              <a:t>Introduces non-linearity: f(x) = max(0, x)</a:t>
            </a:r>
            <a:endParaRPr b="0" i="0" sz="11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chemeClr val="dk1"/>
              </a:buClr>
              <a:buSzPts val="1100"/>
              <a:buFont typeface="Calibri"/>
              <a:buChar char="•"/>
            </a:pPr>
            <a:r>
              <a:rPr b="0" i="0" lang="en" sz="1100" u="none" cap="none" strike="noStrike">
                <a:solidFill>
                  <a:schemeClr val="dk1"/>
                </a:solidFill>
                <a:latin typeface="Calibri"/>
                <a:ea typeface="Calibri"/>
                <a:cs typeface="Calibri"/>
                <a:sym typeface="Calibri"/>
              </a:rPr>
              <a:t>Prevents vanishing gradient problem</a:t>
            </a:r>
            <a:endParaRPr b="0" i="0" sz="11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chemeClr val="dk1"/>
              </a:buClr>
              <a:buSzPts val="1100"/>
              <a:buFont typeface="Calibri"/>
              <a:buChar char="•"/>
            </a:pPr>
            <a:r>
              <a:rPr b="0" i="0" lang="en" sz="1100" u="none" cap="none" strike="noStrike">
                <a:solidFill>
                  <a:schemeClr val="dk1"/>
                </a:solidFill>
                <a:latin typeface="Calibri"/>
                <a:ea typeface="Calibri"/>
                <a:cs typeface="Calibri"/>
                <a:sym typeface="Calibri"/>
              </a:rPr>
              <a:t>Variants: Leaky ReLU, ELU, GELU</a:t>
            </a:r>
            <a:endParaRPr b="0" i="0" sz="1100" u="none" cap="none" strike="noStrike">
              <a:solidFill>
                <a:schemeClr val="dk1"/>
              </a:solidFill>
              <a:latin typeface="Calibri"/>
              <a:ea typeface="Calibri"/>
              <a:cs typeface="Calibri"/>
              <a:sym typeface="Calibri"/>
            </a:endParaRPr>
          </a:p>
        </p:txBody>
      </p:sp>
      <p:sp>
        <p:nvSpPr>
          <p:cNvPr id="1050" name="Google Shape;1050;p25"/>
          <p:cNvSpPr/>
          <p:nvPr/>
        </p:nvSpPr>
        <p:spPr>
          <a:xfrm>
            <a:off x="384048" y="3383280"/>
            <a:ext cx="3931800" cy="117030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chemeClr val="dk1"/>
              </a:buClr>
              <a:buSzPts val="1100"/>
              <a:buFont typeface="Calibri"/>
              <a:buChar char="•"/>
            </a:pPr>
            <a:r>
              <a:rPr b="0" i="0" lang="en" sz="1100" u="none" cap="none" strike="noStrike">
                <a:solidFill>
                  <a:schemeClr val="dk1"/>
                </a:solidFill>
                <a:latin typeface="Calibri"/>
                <a:ea typeface="Calibri"/>
                <a:cs typeface="Calibri"/>
                <a:sym typeface="Calibri"/>
              </a:rPr>
              <a:t>Reduces spatial dimensions (downsampling)</a:t>
            </a:r>
            <a:endParaRPr b="0" i="0" sz="11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chemeClr val="dk1"/>
              </a:buClr>
              <a:buSzPts val="1100"/>
              <a:buFont typeface="Calibri"/>
              <a:buChar char="•"/>
            </a:pPr>
            <a:r>
              <a:rPr b="0" i="0" lang="en" sz="1100" u="none" cap="none" strike="noStrike">
                <a:solidFill>
                  <a:schemeClr val="dk1"/>
                </a:solidFill>
                <a:latin typeface="Calibri"/>
                <a:ea typeface="Calibri"/>
                <a:cs typeface="Calibri"/>
                <a:sym typeface="Calibri"/>
              </a:rPr>
              <a:t>Max pooling takes the maximum value in region</a:t>
            </a:r>
            <a:endParaRPr b="0" i="0" sz="11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chemeClr val="dk1"/>
              </a:buClr>
              <a:buSzPts val="1100"/>
              <a:buFont typeface="Calibri"/>
              <a:buChar char="•"/>
            </a:pPr>
            <a:r>
              <a:rPr b="0" i="0" lang="en" sz="1100" u="none" cap="none" strike="noStrike">
                <a:solidFill>
                  <a:schemeClr val="dk1"/>
                </a:solidFill>
                <a:latin typeface="Calibri"/>
                <a:ea typeface="Calibri"/>
                <a:cs typeface="Calibri"/>
                <a:sym typeface="Calibri"/>
              </a:rPr>
              <a:t>Provides translation invariance, reduces parameters</a:t>
            </a:r>
            <a:endParaRPr b="0" i="0" sz="1100" u="none" cap="none" strike="noStrike">
              <a:solidFill>
                <a:schemeClr val="dk1"/>
              </a:solidFill>
              <a:latin typeface="Calibri"/>
              <a:ea typeface="Calibri"/>
              <a:cs typeface="Calibri"/>
              <a:sym typeface="Calibri"/>
            </a:endParaRPr>
          </a:p>
        </p:txBody>
      </p:sp>
      <p:sp>
        <p:nvSpPr>
          <p:cNvPr id="1051" name="Google Shape;1051;p25"/>
          <p:cNvSpPr/>
          <p:nvPr/>
        </p:nvSpPr>
        <p:spPr>
          <a:xfrm>
            <a:off x="4818888" y="3383280"/>
            <a:ext cx="3931800" cy="117030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chemeClr val="dk1"/>
              </a:buClr>
              <a:buSzPts val="1100"/>
              <a:buFont typeface="Calibri"/>
              <a:buChar char="•"/>
            </a:pPr>
            <a:r>
              <a:rPr b="0" i="0" lang="en" sz="1100" u="none" cap="none" strike="noStrike">
                <a:solidFill>
                  <a:schemeClr val="dk1"/>
                </a:solidFill>
                <a:latin typeface="Calibri"/>
                <a:ea typeface="Calibri"/>
                <a:cs typeface="Calibri"/>
                <a:sym typeface="Calibri"/>
              </a:rPr>
              <a:t>Combines all spatial features into a vector</a:t>
            </a:r>
            <a:endParaRPr b="0" i="0" sz="11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chemeClr val="dk1"/>
              </a:buClr>
              <a:buSzPts val="1100"/>
              <a:buFont typeface="Calibri"/>
              <a:buChar char="•"/>
            </a:pPr>
            <a:r>
              <a:rPr b="0" i="0" lang="en" sz="1100" u="none" cap="none" strike="noStrike">
                <a:solidFill>
                  <a:schemeClr val="dk1"/>
                </a:solidFill>
                <a:latin typeface="Calibri"/>
                <a:ea typeface="Calibri"/>
                <a:cs typeface="Calibri"/>
                <a:sym typeface="Calibri"/>
              </a:rPr>
              <a:t>Performs final classification/regression</a:t>
            </a:r>
            <a:endParaRPr b="0" i="0" sz="11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chemeClr val="dk1"/>
              </a:buClr>
              <a:buSzPts val="1100"/>
              <a:buFont typeface="Calibri"/>
              <a:buChar char="•"/>
            </a:pPr>
            <a:r>
              <a:rPr b="0" i="0" lang="en" sz="1100" u="none" cap="none" strike="noStrike">
                <a:solidFill>
                  <a:schemeClr val="dk1"/>
                </a:solidFill>
                <a:latin typeface="Calibri"/>
                <a:ea typeface="Calibri"/>
                <a:cs typeface="Calibri"/>
                <a:sym typeface="Calibri"/>
              </a:rPr>
              <a:t>Often uses Dropout for regularization</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55" name="Shape 1055"/>
        <p:cNvGrpSpPr/>
        <p:nvPr/>
      </p:nvGrpSpPr>
      <p:grpSpPr>
        <a:xfrm>
          <a:off x="0" y="0"/>
          <a:ext cx="0" cy="0"/>
          <a:chOff x="0" y="0"/>
          <a:chExt cx="0" cy="0"/>
        </a:xfrm>
      </p:grpSpPr>
      <p:pic>
        <p:nvPicPr>
          <p:cNvPr id="1056" name="Google Shape;1056;p26"/>
          <p:cNvPicPr preferRelativeResize="0"/>
          <p:nvPr/>
        </p:nvPicPr>
        <p:blipFill rotWithShape="1">
          <a:blip r:embed="rId4">
            <a:alphaModFix/>
          </a:blip>
          <a:srcRect b="0" l="0" r="0" t="0"/>
          <a:stretch/>
        </p:blipFill>
        <p:spPr>
          <a:xfrm>
            <a:off x="8369125" y="0"/>
            <a:ext cx="774877" cy="867174"/>
          </a:xfrm>
          <a:prstGeom prst="rect">
            <a:avLst/>
          </a:prstGeom>
          <a:noFill/>
          <a:ln>
            <a:noFill/>
          </a:ln>
        </p:spPr>
      </p:pic>
      <p:sp>
        <p:nvSpPr>
          <p:cNvPr id="1057" name="Google Shape;1057;p26"/>
          <p:cNvSpPr txBox="1"/>
          <p:nvPr/>
        </p:nvSpPr>
        <p:spPr>
          <a:xfrm>
            <a:off x="1052950" y="98875"/>
            <a:ext cx="6618600" cy="768300"/>
          </a:xfrm>
          <a:prstGeom prst="rect">
            <a:avLst/>
          </a:prstGeom>
          <a:no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2600"/>
              <a:buFont typeface="Arial"/>
              <a:buNone/>
            </a:pPr>
            <a:r>
              <a:rPr b="1" i="0" lang="en" sz="2600" u="none" cap="none" strike="noStrike">
                <a:solidFill>
                  <a:srgbClr val="0D1B2A"/>
                </a:solidFill>
                <a:latin typeface="Calibri"/>
                <a:ea typeface="Calibri"/>
                <a:cs typeface="Calibri"/>
                <a:sym typeface="Calibri"/>
              </a:rPr>
              <a:t>Convolution: Matrix Operation</a:t>
            </a:r>
            <a:endParaRPr b="1" i="0" sz="2600" u="none" cap="none" strike="noStrike">
              <a:solidFill>
                <a:srgbClr val="0D1B2A"/>
              </a:solidFill>
              <a:latin typeface="Calibri"/>
              <a:ea typeface="Calibri"/>
              <a:cs typeface="Calibri"/>
              <a:sym typeface="Calibri"/>
            </a:endParaRPr>
          </a:p>
        </p:txBody>
      </p:sp>
      <p:sp>
        <p:nvSpPr>
          <p:cNvPr id="1058" name="Google Shape;1058;p26"/>
          <p:cNvSpPr/>
          <p:nvPr/>
        </p:nvSpPr>
        <p:spPr>
          <a:xfrm>
            <a:off x="320040" y="1005840"/>
            <a:ext cx="2926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6080"/>
              </a:buClr>
              <a:buSzPts val="1100"/>
              <a:buFont typeface="Calibri"/>
              <a:buNone/>
            </a:pPr>
            <a:r>
              <a:rPr b="0" i="0" lang="en" sz="1100" u="none" cap="none" strike="noStrike">
                <a:solidFill>
                  <a:srgbClr val="1A6080"/>
                </a:solidFill>
                <a:latin typeface="Calibri"/>
                <a:ea typeface="Calibri"/>
                <a:cs typeface="Calibri"/>
                <a:sym typeface="Calibri"/>
              </a:rPr>
              <a:t>Input image  (5×5)</a:t>
            </a:r>
            <a:endParaRPr b="0" i="0" sz="1100" u="none" cap="none" strike="noStrike">
              <a:solidFill>
                <a:schemeClr val="dk1"/>
              </a:solidFill>
              <a:latin typeface="Calibri"/>
              <a:ea typeface="Calibri"/>
              <a:cs typeface="Calibri"/>
              <a:sym typeface="Calibri"/>
            </a:endParaRPr>
          </a:p>
        </p:txBody>
      </p:sp>
      <p:sp>
        <p:nvSpPr>
          <p:cNvPr id="1059" name="Google Shape;1059;p26"/>
          <p:cNvSpPr/>
          <p:nvPr/>
        </p:nvSpPr>
        <p:spPr>
          <a:xfrm>
            <a:off x="4069080" y="1005840"/>
            <a:ext cx="21945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2C69B"/>
              </a:buClr>
              <a:buSzPts val="1100"/>
              <a:buFont typeface="Calibri"/>
              <a:buNone/>
            </a:pPr>
            <a:r>
              <a:rPr b="0" i="0" lang="en" sz="1100" u="none" cap="none" strike="noStrike">
                <a:solidFill>
                  <a:srgbClr val="52C69B"/>
                </a:solidFill>
                <a:latin typeface="Calibri"/>
                <a:ea typeface="Calibri"/>
                <a:cs typeface="Calibri"/>
                <a:sym typeface="Calibri"/>
              </a:rPr>
              <a:t>Filter / kernel  (3×3)</a:t>
            </a:r>
            <a:endParaRPr b="0" i="0" sz="1100" u="none" cap="none" strike="noStrike">
              <a:solidFill>
                <a:schemeClr val="dk1"/>
              </a:solidFill>
              <a:latin typeface="Calibri"/>
              <a:ea typeface="Calibri"/>
              <a:cs typeface="Calibri"/>
              <a:sym typeface="Calibri"/>
            </a:endParaRPr>
          </a:p>
        </p:txBody>
      </p:sp>
      <p:sp>
        <p:nvSpPr>
          <p:cNvPr id="1060" name="Google Shape;1060;p26"/>
          <p:cNvSpPr/>
          <p:nvPr/>
        </p:nvSpPr>
        <p:spPr>
          <a:xfrm>
            <a:off x="6720840" y="1005840"/>
            <a:ext cx="22860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9E7D"/>
              </a:buClr>
              <a:buSzPts val="1100"/>
              <a:buFont typeface="Calibri"/>
              <a:buNone/>
            </a:pPr>
            <a:r>
              <a:rPr b="0" i="0" lang="en" sz="1100" u="none" cap="none" strike="noStrike">
                <a:solidFill>
                  <a:srgbClr val="FF9E7D"/>
                </a:solidFill>
                <a:latin typeface="Calibri"/>
                <a:ea typeface="Calibri"/>
                <a:cs typeface="Calibri"/>
                <a:sym typeface="Calibri"/>
              </a:rPr>
              <a:t>Feature map  (3×3)</a:t>
            </a:r>
            <a:endParaRPr b="0" i="0" sz="1100" u="none" cap="none" strike="noStrike">
              <a:solidFill>
                <a:schemeClr val="dk1"/>
              </a:solidFill>
              <a:latin typeface="Calibri"/>
              <a:ea typeface="Calibri"/>
              <a:cs typeface="Calibri"/>
              <a:sym typeface="Calibri"/>
            </a:endParaRPr>
          </a:p>
        </p:txBody>
      </p:sp>
      <p:sp>
        <p:nvSpPr>
          <p:cNvPr id="1061" name="Google Shape;1061;p26"/>
          <p:cNvSpPr/>
          <p:nvPr/>
        </p:nvSpPr>
        <p:spPr>
          <a:xfrm>
            <a:off x="320040" y="1280160"/>
            <a:ext cx="457200" cy="457200"/>
          </a:xfrm>
          <a:prstGeom prst="rect">
            <a:avLst/>
          </a:prstGeom>
          <a:solidFill>
            <a:srgbClr val="C8E8F8"/>
          </a:solidFill>
          <a:ln cap="flat" cmpd="sng" w="1905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2" name="Google Shape;1062;p26"/>
          <p:cNvSpPr/>
          <p:nvPr/>
        </p:nvSpPr>
        <p:spPr>
          <a:xfrm>
            <a:off x="320040" y="1280160"/>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1300"/>
              <a:buFont typeface="Calibri"/>
              <a:buNone/>
            </a:pPr>
            <a:r>
              <a:rPr b="1" i="0" lang="en" sz="1300" u="none" cap="none" strike="noStrike">
                <a:solidFill>
                  <a:srgbClr val="1A2E42"/>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1063" name="Google Shape;1063;p26"/>
          <p:cNvSpPr/>
          <p:nvPr/>
        </p:nvSpPr>
        <p:spPr>
          <a:xfrm>
            <a:off x="813816" y="1280160"/>
            <a:ext cx="457200" cy="457200"/>
          </a:xfrm>
          <a:prstGeom prst="rect">
            <a:avLst/>
          </a:prstGeom>
          <a:solidFill>
            <a:srgbClr val="C8E8F8"/>
          </a:solidFill>
          <a:ln cap="flat" cmpd="sng" w="1905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4" name="Google Shape;1064;p26"/>
          <p:cNvSpPr/>
          <p:nvPr/>
        </p:nvSpPr>
        <p:spPr>
          <a:xfrm>
            <a:off x="813816" y="1280160"/>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1300"/>
              <a:buFont typeface="Calibri"/>
              <a:buNone/>
            </a:pPr>
            <a:r>
              <a:rPr b="1" i="0" lang="en" sz="1300" u="none" cap="none" strike="noStrike">
                <a:solidFill>
                  <a:srgbClr val="1A2E42"/>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1065" name="Google Shape;1065;p26"/>
          <p:cNvSpPr/>
          <p:nvPr/>
        </p:nvSpPr>
        <p:spPr>
          <a:xfrm>
            <a:off x="1307592" y="1280160"/>
            <a:ext cx="457200" cy="457200"/>
          </a:xfrm>
          <a:prstGeom prst="rect">
            <a:avLst/>
          </a:prstGeom>
          <a:solidFill>
            <a:srgbClr val="C8E8F8"/>
          </a:solidFill>
          <a:ln cap="flat" cmpd="sng" w="1905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6" name="Google Shape;1066;p26"/>
          <p:cNvSpPr/>
          <p:nvPr/>
        </p:nvSpPr>
        <p:spPr>
          <a:xfrm>
            <a:off x="1307592" y="1280160"/>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1300"/>
              <a:buFont typeface="Calibri"/>
              <a:buNone/>
            </a:pPr>
            <a:r>
              <a:rPr b="1" i="0" lang="en" sz="1300" u="none" cap="none" strike="noStrike">
                <a:solidFill>
                  <a:srgbClr val="1A2E42"/>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1067" name="Google Shape;1067;p26"/>
          <p:cNvSpPr/>
          <p:nvPr/>
        </p:nvSpPr>
        <p:spPr>
          <a:xfrm>
            <a:off x="1801368" y="1280160"/>
            <a:ext cx="457200" cy="457200"/>
          </a:xfrm>
          <a:prstGeom prst="rect">
            <a:avLst/>
          </a:prstGeom>
          <a:solidFill>
            <a:srgbClr val="EAF1FB"/>
          </a:solidFill>
          <a:ln cap="flat" cmpd="sng" w="9525">
            <a:solidFill>
              <a:srgbClr val="1E3A5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8" name="Google Shape;1068;p26"/>
          <p:cNvSpPr/>
          <p:nvPr/>
        </p:nvSpPr>
        <p:spPr>
          <a:xfrm>
            <a:off x="1801368" y="1280160"/>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A7890"/>
              </a:buClr>
              <a:buSzPts val="1300"/>
              <a:buFont typeface="Calibri"/>
              <a:buNone/>
            </a:pPr>
            <a:r>
              <a:rPr b="0" i="0" lang="en" sz="1300" u="none" cap="none" strike="noStrike">
                <a:solidFill>
                  <a:srgbClr val="4A7890"/>
                </a:solidFill>
                <a:latin typeface="Calibri"/>
                <a:ea typeface="Calibri"/>
                <a:cs typeface="Calibri"/>
                <a:sym typeface="Calibri"/>
              </a:rPr>
              <a:t>0</a:t>
            </a:r>
            <a:endParaRPr b="0" i="0" sz="1300" u="none" cap="none" strike="noStrike">
              <a:solidFill>
                <a:schemeClr val="dk1"/>
              </a:solidFill>
              <a:latin typeface="Calibri"/>
              <a:ea typeface="Calibri"/>
              <a:cs typeface="Calibri"/>
              <a:sym typeface="Calibri"/>
            </a:endParaRPr>
          </a:p>
        </p:txBody>
      </p:sp>
      <p:sp>
        <p:nvSpPr>
          <p:cNvPr id="1069" name="Google Shape;1069;p26"/>
          <p:cNvSpPr/>
          <p:nvPr/>
        </p:nvSpPr>
        <p:spPr>
          <a:xfrm>
            <a:off x="2295144" y="1280160"/>
            <a:ext cx="457200" cy="457200"/>
          </a:xfrm>
          <a:prstGeom prst="rect">
            <a:avLst/>
          </a:prstGeom>
          <a:solidFill>
            <a:srgbClr val="EAF1FB"/>
          </a:solidFill>
          <a:ln cap="flat" cmpd="sng" w="9525">
            <a:solidFill>
              <a:srgbClr val="1E3A5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0" name="Google Shape;1070;p26"/>
          <p:cNvSpPr/>
          <p:nvPr/>
        </p:nvSpPr>
        <p:spPr>
          <a:xfrm>
            <a:off x="2295144" y="1280160"/>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A7890"/>
              </a:buClr>
              <a:buSzPts val="1300"/>
              <a:buFont typeface="Calibri"/>
              <a:buNone/>
            </a:pPr>
            <a:r>
              <a:rPr b="0" i="0" lang="en" sz="1300" u="none" cap="none" strike="noStrike">
                <a:solidFill>
                  <a:srgbClr val="4A7890"/>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1071" name="Google Shape;1071;p26"/>
          <p:cNvSpPr/>
          <p:nvPr/>
        </p:nvSpPr>
        <p:spPr>
          <a:xfrm>
            <a:off x="320040" y="1773936"/>
            <a:ext cx="457200" cy="457200"/>
          </a:xfrm>
          <a:prstGeom prst="rect">
            <a:avLst/>
          </a:prstGeom>
          <a:solidFill>
            <a:srgbClr val="C8E8F8"/>
          </a:solidFill>
          <a:ln cap="flat" cmpd="sng" w="1905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2" name="Google Shape;1072;p26"/>
          <p:cNvSpPr/>
          <p:nvPr/>
        </p:nvSpPr>
        <p:spPr>
          <a:xfrm>
            <a:off x="320040" y="1773936"/>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1300"/>
              <a:buFont typeface="Calibri"/>
              <a:buNone/>
            </a:pPr>
            <a:r>
              <a:rPr b="1" i="0" lang="en" sz="1300" u="none" cap="none" strike="noStrike">
                <a:solidFill>
                  <a:srgbClr val="1A2E42"/>
                </a:solidFill>
                <a:latin typeface="Calibri"/>
                <a:ea typeface="Calibri"/>
                <a:cs typeface="Calibri"/>
                <a:sym typeface="Calibri"/>
              </a:rPr>
              <a:t>0</a:t>
            </a:r>
            <a:endParaRPr b="0" i="0" sz="1300" u="none" cap="none" strike="noStrike">
              <a:solidFill>
                <a:schemeClr val="dk1"/>
              </a:solidFill>
              <a:latin typeface="Calibri"/>
              <a:ea typeface="Calibri"/>
              <a:cs typeface="Calibri"/>
              <a:sym typeface="Calibri"/>
            </a:endParaRPr>
          </a:p>
        </p:txBody>
      </p:sp>
      <p:sp>
        <p:nvSpPr>
          <p:cNvPr id="1073" name="Google Shape;1073;p26"/>
          <p:cNvSpPr/>
          <p:nvPr/>
        </p:nvSpPr>
        <p:spPr>
          <a:xfrm>
            <a:off x="813816" y="1773936"/>
            <a:ext cx="457200" cy="457200"/>
          </a:xfrm>
          <a:prstGeom prst="rect">
            <a:avLst/>
          </a:prstGeom>
          <a:solidFill>
            <a:srgbClr val="C8E8F8"/>
          </a:solidFill>
          <a:ln cap="flat" cmpd="sng" w="1905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4" name="Google Shape;1074;p26"/>
          <p:cNvSpPr/>
          <p:nvPr/>
        </p:nvSpPr>
        <p:spPr>
          <a:xfrm>
            <a:off x="813816" y="1773936"/>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1300"/>
              <a:buFont typeface="Calibri"/>
              <a:buNone/>
            </a:pPr>
            <a:r>
              <a:rPr b="1" i="0" lang="en" sz="1300" u="none" cap="none" strike="noStrike">
                <a:solidFill>
                  <a:srgbClr val="1A2E42"/>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1075" name="Google Shape;1075;p26"/>
          <p:cNvSpPr/>
          <p:nvPr/>
        </p:nvSpPr>
        <p:spPr>
          <a:xfrm>
            <a:off x="1307592" y="1773936"/>
            <a:ext cx="457200" cy="457200"/>
          </a:xfrm>
          <a:prstGeom prst="rect">
            <a:avLst/>
          </a:prstGeom>
          <a:solidFill>
            <a:srgbClr val="C8E8F8"/>
          </a:solidFill>
          <a:ln cap="flat" cmpd="sng" w="1905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6" name="Google Shape;1076;p26"/>
          <p:cNvSpPr/>
          <p:nvPr/>
        </p:nvSpPr>
        <p:spPr>
          <a:xfrm>
            <a:off x="1307592" y="1773936"/>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1300"/>
              <a:buFont typeface="Calibri"/>
              <a:buNone/>
            </a:pPr>
            <a:r>
              <a:rPr b="1" i="0" lang="en" sz="1300" u="none" cap="none" strike="noStrike">
                <a:solidFill>
                  <a:srgbClr val="1A2E42"/>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1077" name="Google Shape;1077;p26"/>
          <p:cNvSpPr/>
          <p:nvPr/>
        </p:nvSpPr>
        <p:spPr>
          <a:xfrm>
            <a:off x="1801368" y="1773936"/>
            <a:ext cx="457200" cy="457200"/>
          </a:xfrm>
          <a:prstGeom prst="rect">
            <a:avLst/>
          </a:prstGeom>
          <a:solidFill>
            <a:srgbClr val="EAF1FB"/>
          </a:solidFill>
          <a:ln cap="flat" cmpd="sng" w="9525">
            <a:solidFill>
              <a:srgbClr val="1E3A5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8" name="Google Shape;1078;p26"/>
          <p:cNvSpPr/>
          <p:nvPr/>
        </p:nvSpPr>
        <p:spPr>
          <a:xfrm>
            <a:off x="1801368" y="1773936"/>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A7890"/>
              </a:buClr>
              <a:buSzPts val="1300"/>
              <a:buFont typeface="Calibri"/>
              <a:buNone/>
            </a:pPr>
            <a:r>
              <a:rPr b="0" i="0" lang="en" sz="1300" u="none" cap="none" strike="noStrike">
                <a:solidFill>
                  <a:srgbClr val="4A7890"/>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1079" name="Google Shape;1079;p26"/>
          <p:cNvSpPr/>
          <p:nvPr/>
        </p:nvSpPr>
        <p:spPr>
          <a:xfrm>
            <a:off x="2295144" y="1773936"/>
            <a:ext cx="457200" cy="457200"/>
          </a:xfrm>
          <a:prstGeom prst="rect">
            <a:avLst/>
          </a:prstGeom>
          <a:solidFill>
            <a:srgbClr val="EAF1FB"/>
          </a:solidFill>
          <a:ln cap="flat" cmpd="sng" w="9525">
            <a:solidFill>
              <a:srgbClr val="1E3A5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0" name="Google Shape;1080;p26"/>
          <p:cNvSpPr/>
          <p:nvPr/>
        </p:nvSpPr>
        <p:spPr>
          <a:xfrm>
            <a:off x="2295144" y="1773936"/>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A7890"/>
              </a:buClr>
              <a:buSzPts val="1300"/>
              <a:buFont typeface="Calibri"/>
              <a:buNone/>
            </a:pPr>
            <a:r>
              <a:rPr b="0" i="0" lang="en" sz="1300" u="none" cap="none" strike="noStrike">
                <a:solidFill>
                  <a:srgbClr val="4A7890"/>
                </a:solidFill>
                <a:latin typeface="Calibri"/>
                <a:ea typeface="Calibri"/>
                <a:cs typeface="Calibri"/>
                <a:sym typeface="Calibri"/>
              </a:rPr>
              <a:t>0</a:t>
            </a:r>
            <a:endParaRPr b="0" i="0" sz="1300" u="none" cap="none" strike="noStrike">
              <a:solidFill>
                <a:schemeClr val="dk1"/>
              </a:solidFill>
              <a:latin typeface="Calibri"/>
              <a:ea typeface="Calibri"/>
              <a:cs typeface="Calibri"/>
              <a:sym typeface="Calibri"/>
            </a:endParaRPr>
          </a:p>
        </p:txBody>
      </p:sp>
      <p:sp>
        <p:nvSpPr>
          <p:cNvPr id="1081" name="Google Shape;1081;p26"/>
          <p:cNvSpPr/>
          <p:nvPr/>
        </p:nvSpPr>
        <p:spPr>
          <a:xfrm>
            <a:off x="320040" y="2267712"/>
            <a:ext cx="457200" cy="457200"/>
          </a:xfrm>
          <a:prstGeom prst="rect">
            <a:avLst/>
          </a:prstGeom>
          <a:solidFill>
            <a:srgbClr val="C8E8F8"/>
          </a:solidFill>
          <a:ln cap="flat" cmpd="sng" w="1905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2" name="Google Shape;1082;p26"/>
          <p:cNvSpPr/>
          <p:nvPr/>
        </p:nvSpPr>
        <p:spPr>
          <a:xfrm>
            <a:off x="320040" y="2267712"/>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1300"/>
              <a:buFont typeface="Calibri"/>
              <a:buNone/>
            </a:pPr>
            <a:r>
              <a:rPr b="1" i="0" lang="en" sz="1300" u="none" cap="none" strike="noStrike">
                <a:solidFill>
                  <a:srgbClr val="1A2E42"/>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1083" name="Google Shape;1083;p26"/>
          <p:cNvSpPr/>
          <p:nvPr/>
        </p:nvSpPr>
        <p:spPr>
          <a:xfrm>
            <a:off x="813816" y="2267712"/>
            <a:ext cx="457200" cy="457200"/>
          </a:xfrm>
          <a:prstGeom prst="rect">
            <a:avLst/>
          </a:prstGeom>
          <a:solidFill>
            <a:srgbClr val="C8E8F8"/>
          </a:solidFill>
          <a:ln cap="flat" cmpd="sng" w="1905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4" name="Google Shape;1084;p26"/>
          <p:cNvSpPr/>
          <p:nvPr/>
        </p:nvSpPr>
        <p:spPr>
          <a:xfrm>
            <a:off x="813816" y="2267712"/>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1300"/>
              <a:buFont typeface="Calibri"/>
              <a:buNone/>
            </a:pPr>
            <a:r>
              <a:rPr b="1" i="0" lang="en" sz="1300" u="none" cap="none" strike="noStrike">
                <a:solidFill>
                  <a:srgbClr val="1A2E42"/>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1085" name="Google Shape;1085;p26"/>
          <p:cNvSpPr/>
          <p:nvPr/>
        </p:nvSpPr>
        <p:spPr>
          <a:xfrm>
            <a:off x="1307592" y="2267712"/>
            <a:ext cx="457200" cy="457200"/>
          </a:xfrm>
          <a:prstGeom prst="rect">
            <a:avLst/>
          </a:prstGeom>
          <a:solidFill>
            <a:srgbClr val="C8E8F8"/>
          </a:solidFill>
          <a:ln cap="flat" cmpd="sng" w="1905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6" name="Google Shape;1086;p26"/>
          <p:cNvSpPr/>
          <p:nvPr/>
        </p:nvSpPr>
        <p:spPr>
          <a:xfrm>
            <a:off x="1307592" y="2267712"/>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1300"/>
              <a:buFont typeface="Calibri"/>
              <a:buNone/>
            </a:pPr>
            <a:r>
              <a:rPr b="1" i="0" lang="en" sz="1300" u="none" cap="none" strike="noStrike">
                <a:solidFill>
                  <a:srgbClr val="1A2E42"/>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1087" name="Google Shape;1087;p26"/>
          <p:cNvSpPr/>
          <p:nvPr/>
        </p:nvSpPr>
        <p:spPr>
          <a:xfrm>
            <a:off x="1801368" y="2267712"/>
            <a:ext cx="457200" cy="457200"/>
          </a:xfrm>
          <a:prstGeom prst="rect">
            <a:avLst/>
          </a:prstGeom>
          <a:solidFill>
            <a:srgbClr val="EAF1FB"/>
          </a:solidFill>
          <a:ln cap="flat" cmpd="sng" w="9525">
            <a:solidFill>
              <a:srgbClr val="1E3A5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8" name="Google Shape;1088;p26"/>
          <p:cNvSpPr/>
          <p:nvPr/>
        </p:nvSpPr>
        <p:spPr>
          <a:xfrm>
            <a:off x="1801368" y="2267712"/>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A7890"/>
              </a:buClr>
              <a:buSzPts val="1300"/>
              <a:buFont typeface="Calibri"/>
              <a:buNone/>
            </a:pPr>
            <a:r>
              <a:rPr b="0" i="0" lang="en" sz="1300" u="none" cap="none" strike="noStrike">
                <a:solidFill>
                  <a:srgbClr val="4A7890"/>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1089" name="Google Shape;1089;p26"/>
          <p:cNvSpPr/>
          <p:nvPr/>
        </p:nvSpPr>
        <p:spPr>
          <a:xfrm>
            <a:off x="2295144" y="2267712"/>
            <a:ext cx="457200" cy="457200"/>
          </a:xfrm>
          <a:prstGeom prst="rect">
            <a:avLst/>
          </a:prstGeom>
          <a:solidFill>
            <a:srgbClr val="EAF1FB"/>
          </a:solidFill>
          <a:ln cap="flat" cmpd="sng" w="9525">
            <a:solidFill>
              <a:srgbClr val="1E3A5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0" name="Google Shape;1090;p26"/>
          <p:cNvSpPr/>
          <p:nvPr/>
        </p:nvSpPr>
        <p:spPr>
          <a:xfrm>
            <a:off x="2295144" y="2267712"/>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A7890"/>
              </a:buClr>
              <a:buSzPts val="1300"/>
              <a:buFont typeface="Calibri"/>
              <a:buNone/>
            </a:pPr>
            <a:r>
              <a:rPr b="0" i="0" lang="en" sz="1300" u="none" cap="none" strike="noStrike">
                <a:solidFill>
                  <a:srgbClr val="4A7890"/>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1091" name="Google Shape;1091;p26"/>
          <p:cNvSpPr/>
          <p:nvPr/>
        </p:nvSpPr>
        <p:spPr>
          <a:xfrm>
            <a:off x="320040" y="2761488"/>
            <a:ext cx="457200" cy="457200"/>
          </a:xfrm>
          <a:prstGeom prst="rect">
            <a:avLst/>
          </a:prstGeom>
          <a:solidFill>
            <a:srgbClr val="EAF1FB"/>
          </a:solidFill>
          <a:ln cap="flat" cmpd="sng" w="9525">
            <a:solidFill>
              <a:srgbClr val="1E3A5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2" name="Google Shape;1092;p26"/>
          <p:cNvSpPr/>
          <p:nvPr/>
        </p:nvSpPr>
        <p:spPr>
          <a:xfrm>
            <a:off x="320040" y="2761488"/>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A7890"/>
              </a:buClr>
              <a:buSzPts val="1300"/>
              <a:buFont typeface="Calibri"/>
              <a:buNone/>
            </a:pPr>
            <a:r>
              <a:rPr b="0" i="0" lang="en" sz="1300" u="none" cap="none" strike="noStrike">
                <a:solidFill>
                  <a:srgbClr val="4A7890"/>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1093" name="Google Shape;1093;p26"/>
          <p:cNvSpPr/>
          <p:nvPr/>
        </p:nvSpPr>
        <p:spPr>
          <a:xfrm>
            <a:off x="813816" y="2761488"/>
            <a:ext cx="457200" cy="457200"/>
          </a:xfrm>
          <a:prstGeom prst="rect">
            <a:avLst/>
          </a:prstGeom>
          <a:solidFill>
            <a:srgbClr val="EAF1FB"/>
          </a:solidFill>
          <a:ln cap="flat" cmpd="sng" w="9525">
            <a:solidFill>
              <a:srgbClr val="1E3A5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4" name="Google Shape;1094;p26"/>
          <p:cNvSpPr/>
          <p:nvPr/>
        </p:nvSpPr>
        <p:spPr>
          <a:xfrm>
            <a:off x="813816" y="2761488"/>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A7890"/>
              </a:buClr>
              <a:buSzPts val="1300"/>
              <a:buFont typeface="Calibri"/>
              <a:buNone/>
            </a:pPr>
            <a:r>
              <a:rPr b="0" i="0" lang="en" sz="1300" u="none" cap="none" strike="noStrike">
                <a:solidFill>
                  <a:srgbClr val="4A7890"/>
                </a:solidFill>
                <a:latin typeface="Calibri"/>
                <a:ea typeface="Calibri"/>
                <a:cs typeface="Calibri"/>
                <a:sym typeface="Calibri"/>
              </a:rPr>
              <a:t>0</a:t>
            </a:r>
            <a:endParaRPr b="0" i="0" sz="1300" u="none" cap="none" strike="noStrike">
              <a:solidFill>
                <a:schemeClr val="dk1"/>
              </a:solidFill>
              <a:latin typeface="Calibri"/>
              <a:ea typeface="Calibri"/>
              <a:cs typeface="Calibri"/>
              <a:sym typeface="Calibri"/>
            </a:endParaRPr>
          </a:p>
        </p:txBody>
      </p:sp>
      <p:sp>
        <p:nvSpPr>
          <p:cNvPr id="1095" name="Google Shape;1095;p26"/>
          <p:cNvSpPr/>
          <p:nvPr/>
        </p:nvSpPr>
        <p:spPr>
          <a:xfrm>
            <a:off x="1307592" y="2761488"/>
            <a:ext cx="457200" cy="457200"/>
          </a:xfrm>
          <a:prstGeom prst="rect">
            <a:avLst/>
          </a:prstGeom>
          <a:solidFill>
            <a:srgbClr val="EAF1FB"/>
          </a:solidFill>
          <a:ln cap="flat" cmpd="sng" w="9525">
            <a:solidFill>
              <a:srgbClr val="1E3A5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6" name="Google Shape;1096;p26"/>
          <p:cNvSpPr/>
          <p:nvPr/>
        </p:nvSpPr>
        <p:spPr>
          <a:xfrm>
            <a:off x="1307592" y="2761488"/>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A7890"/>
              </a:buClr>
              <a:buSzPts val="1300"/>
              <a:buFont typeface="Calibri"/>
              <a:buNone/>
            </a:pPr>
            <a:r>
              <a:rPr b="0" i="0" lang="en" sz="1300" u="none" cap="none" strike="noStrike">
                <a:solidFill>
                  <a:srgbClr val="4A7890"/>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1097" name="Google Shape;1097;p26"/>
          <p:cNvSpPr/>
          <p:nvPr/>
        </p:nvSpPr>
        <p:spPr>
          <a:xfrm>
            <a:off x="1801368" y="2761488"/>
            <a:ext cx="457200" cy="457200"/>
          </a:xfrm>
          <a:prstGeom prst="rect">
            <a:avLst/>
          </a:prstGeom>
          <a:solidFill>
            <a:srgbClr val="EAF1FB"/>
          </a:solidFill>
          <a:ln cap="flat" cmpd="sng" w="9525">
            <a:solidFill>
              <a:srgbClr val="1E3A5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8" name="Google Shape;1098;p26"/>
          <p:cNvSpPr/>
          <p:nvPr/>
        </p:nvSpPr>
        <p:spPr>
          <a:xfrm>
            <a:off x="1801368" y="2761488"/>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A7890"/>
              </a:buClr>
              <a:buSzPts val="1300"/>
              <a:buFont typeface="Calibri"/>
              <a:buNone/>
            </a:pPr>
            <a:r>
              <a:rPr b="0" i="0" lang="en" sz="1300" u="none" cap="none" strike="noStrike">
                <a:solidFill>
                  <a:srgbClr val="4A7890"/>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1099" name="Google Shape;1099;p26"/>
          <p:cNvSpPr/>
          <p:nvPr/>
        </p:nvSpPr>
        <p:spPr>
          <a:xfrm>
            <a:off x="2295144" y="2761488"/>
            <a:ext cx="457200" cy="457200"/>
          </a:xfrm>
          <a:prstGeom prst="rect">
            <a:avLst/>
          </a:prstGeom>
          <a:solidFill>
            <a:srgbClr val="EAF1FB"/>
          </a:solidFill>
          <a:ln cap="flat" cmpd="sng" w="9525">
            <a:solidFill>
              <a:srgbClr val="1E3A5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0" name="Google Shape;1100;p26"/>
          <p:cNvSpPr/>
          <p:nvPr/>
        </p:nvSpPr>
        <p:spPr>
          <a:xfrm>
            <a:off x="2295144" y="2761488"/>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A7890"/>
              </a:buClr>
              <a:buSzPts val="1300"/>
              <a:buFont typeface="Calibri"/>
              <a:buNone/>
            </a:pPr>
            <a:r>
              <a:rPr b="0" i="0" lang="en" sz="1300" u="none" cap="none" strike="noStrike">
                <a:solidFill>
                  <a:srgbClr val="4A7890"/>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1101" name="Google Shape;1101;p26"/>
          <p:cNvSpPr/>
          <p:nvPr/>
        </p:nvSpPr>
        <p:spPr>
          <a:xfrm>
            <a:off x="320040" y="3255264"/>
            <a:ext cx="457200" cy="457200"/>
          </a:xfrm>
          <a:prstGeom prst="rect">
            <a:avLst/>
          </a:prstGeom>
          <a:solidFill>
            <a:srgbClr val="EAF1FB"/>
          </a:solidFill>
          <a:ln cap="flat" cmpd="sng" w="9525">
            <a:solidFill>
              <a:srgbClr val="1E3A5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2" name="Google Shape;1102;p26"/>
          <p:cNvSpPr/>
          <p:nvPr/>
        </p:nvSpPr>
        <p:spPr>
          <a:xfrm>
            <a:off x="320040" y="3255264"/>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A7890"/>
              </a:buClr>
              <a:buSzPts val="1300"/>
              <a:buFont typeface="Calibri"/>
              <a:buNone/>
            </a:pPr>
            <a:r>
              <a:rPr b="0" i="0" lang="en" sz="1300" u="none" cap="none" strike="noStrike">
                <a:solidFill>
                  <a:srgbClr val="4A7890"/>
                </a:solidFill>
                <a:latin typeface="Calibri"/>
                <a:ea typeface="Calibri"/>
                <a:cs typeface="Calibri"/>
                <a:sym typeface="Calibri"/>
              </a:rPr>
              <a:t>0</a:t>
            </a:r>
            <a:endParaRPr b="0" i="0" sz="1300" u="none" cap="none" strike="noStrike">
              <a:solidFill>
                <a:schemeClr val="dk1"/>
              </a:solidFill>
              <a:latin typeface="Calibri"/>
              <a:ea typeface="Calibri"/>
              <a:cs typeface="Calibri"/>
              <a:sym typeface="Calibri"/>
            </a:endParaRPr>
          </a:p>
        </p:txBody>
      </p:sp>
      <p:sp>
        <p:nvSpPr>
          <p:cNvPr id="1103" name="Google Shape;1103;p26"/>
          <p:cNvSpPr/>
          <p:nvPr/>
        </p:nvSpPr>
        <p:spPr>
          <a:xfrm>
            <a:off x="813816" y="3255264"/>
            <a:ext cx="457200" cy="457200"/>
          </a:xfrm>
          <a:prstGeom prst="rect">
            <a:avLst/>
          </a:prstGeom>
          <a:solidFill>
            <a:srgbClr val="EAF1FB"/>
          </a:solidFill>
          <a:ln cap="flat" cmpd="sng" w="9525">
            <a:solidFill>
              <a:srgbClr val="1E3A5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4" name="Google Shape;1104;p26"/>
          <p:cNvSpPr/>
          <p:nvPr/>
        </p:nvSpPr>
        <p:spPr>
          <a:xfrm>
            <a:off x="813816" y="3255264"/>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A7890"/>
              </a:buClr>
              <a:buSzPts val="1300"/>
              <a:buFont typeface="Calibri"/>
              <a:buNone/>
            </a:pPr>
            <a:r>
              <a:rPr b="0" i="0" lang="en" sz="1300" u="none" cap="none" strike="noStrike">
                <a:solidFill>
                  <a:srgbClr val="4A7890"/>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1105" name="Google Shape;1105;p26"/>
          <p:cNvSpPr/>
          <p:nvPr/>
        </p:nvSpPr>
        <p:spPr>
          <a:xfrm>
            <a:off x="1307592" y="3255264"/>
            <a:ext cx="457200" cy="457200"/>
          </a:xfrm>
          <a:prstGeom prst="rect">
            <a:avLst/>
          </a:prstGeom>
          <a:solidFill>
            <a:srgbClr val="EAF1FB"/>
          </a:solidFill>
          <a:ln cap="flat" cmpd="sng" w="9525">
            <a:solidFill>
              <a:srgbClr val="1E3A5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6" name="Google Shape;1106;p26"/>
          <p:cNvSpPr/>
          <p:nvPr/>
        </p:nvSpPr>
        <p:spPr>
          <a:xfrm>
            <a:off x="1307592" y="3255264"/>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A7890"/>
              </a:buClr>
              <a:buSzPts val="1300"/>
              <a:buFont typeface="Calibri"/>
              <a:buNone/>
            </a:pPr>
            <a:r>
              <a:rPr b="0" i="0" lang="en" sz="1300" u="none" cap="none" strike="noStrike">
                <a:solidFill>
                  <a:srgbClr val="4A7890"/>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1107" name="Google Shape;1107;p26"/>
          <p:cNvSpPr/>
          <p:nvPr/>
        </p:nvSpPr>
        <p:spPr>
          <a:xfrm>
            <a:off x="1801368" y="3255264"/>
            <a:ext cx="457200" cy="457200"/>
          </a:xfrm>
          <a:prstGeom prst="rect">
            <a:avLst/>
          </a:prstGeom>
          <a:solidFill>
            <a:srgbClr val="EAF1FB"/>
          </a:solidFill>
          <a:ln cap="flat" cmpd="sng" w="9525">
            <a:solidFill>
              <a:srgbClr val="1E3A5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8" name="Google Shape;1108;p26"/>
          <p:cNvSpPr/>
          <p:nvPr/>
        </p:nvSpPr>
        <p:spPr>
          <a:xfrm>
            <a:off x="1801368" y="3255264"/>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A7890"/>
              </a:buClr>
              <a:buSzPts val="1300"/>
              <a:buFont typeface="Calibri"/>
              <a:buNone/>
            </a:pPr>
            <a:r>
              <a:rPr b="0" i="0" lang="en" sz="1300" u="none" cap="none" strike="noStrike">
                <a:solidFill>
                  <a:srgbClr val="4A7890"/>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1109" name="Google Shape;1109;p26"/>
          <p:cNvSpPr/>
          <p:nvPr/>
        </p:nvSpPr>
        <p:spPr>
          <a:xfrm>
            <a:off x="2295144" y="3255264"/>
            <a:ext cx="457200" cy="457200"/>
          </a:xfrm>
          <a:prstGeom prst="rect">
            <a:avLst/>
          </a:prstGeom>
          <a:solidFill>
            <a:srgbClr val="EAF1FB"/>
          </a:solidFill>
          <a:ln cap="flat" cmpd="sng" w="9525">
            <a:solidFill>
              <a:srgbClr val="1E3A5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0" name="Google Shape;1110;p26"/>
          <p:cNvSpPr/>
          <p:nvPr/>
        </p:nvSpPr>
        <p:spPr>
          <a:xfrm>
            <a:off x="2295144" y="3255264"/>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A7890"/>
              </a:buClr>
              <a:buSzPts val="1300"/>
              <a:buFont typeface="Calibri"/>
              <a:buNone/>
            </a:pPr>
            <a:r>
              <a:rPr b="0" i="0" lang="en" sz="1300" u="none" cap="none" strike="noStrike">
                <a:solidFill>
                  <a:srgbClr val="4A7890"/>
                </a:solidFill>
                <a:latin typeface="Calibri"/>
                <a:ea typeface="Calibri"/>
                <a:cs typeface="Calibri"/>
                <a:sym typeface="Calibri"/>
              </a:rPr>
              <a:t>0</a:t>
            </a:r>
            <a:endParaRPr b="0" i="0" sz="1300" u="none" cap="none" strike="noStrike">
              <a:solidFill>
                <a:schemeClr val="dk1"/>
              </a:solidFill>
              <a:latin typeface="Calibri"/>
              <a:ea typeface="Calibri"/>
              <a:cs typeface="Calibri"/>
              <a:sym typeface="Calibri"/>
            </a:endParaRPr>
          </a:p>
        </p:txBody>
      </p:sp>
      <p:sp>
        <p:nvSpPr>
          <p:cNvPr id="1111" name="Google Shape;1111;p26"/>
          <p:cNvSpPr/>
          <p:nvPr/>
        </p:nvSpPr>
        <p:spPr>
          <a:xfrm>
            <a:off x="3611880" y="2194560"/>
            <a:ext cx="4116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6080"/>
              </a:buClr>
              <a:buSzPts val="2200"/>
              <a:buFont typeface="Calibri"/>
              <a:buNone/>
            </a:pPr>
            <a:r>
              <a:rPr b="0" i="0" lang="en" sz="2200" u="none" cap="none" strike="noStrike">
                <a:solidFill>
                  <a:srgbClr val="1A6080"/>
                </a:solidFill>
                <a:latin typeface="Calibri"/>
                <a:ea typeface="Calibri"/>
                <a:cs typeface="Calibri"/>
                <a:sym typeface="Calibri"/>
              </a:rPr>
              <a:t>×</a:t>
            </a:r>
            <a:endParaRPr b="0" i="0" sz="2200" u="none" cap="none" strike="noStrike">
              <a:solidFill>
                <a:schemeClr val="dk1"/>
              </a:solidFill>
              <a:latin typeface="Calibri"/>
              <a:ea typeface="Calibri"/>
              <a:cs typeface="Calibri"/>
              <a:sym typeface="Calibri"/>
            </a:endParaRPr>
          </a:p>
        </p:txBody>
      </p:sp>
      <p:sp>
        <p:nvSpPr>
          <p:cNvPr id="1112" name="Google Shape;1112;p26"/>
          <p:cNvSpPr/>
          <p:nvPr/>
        </p:nvSpPr>
        <p:spPr>
          <a:xfrm>
            <a:off x="4069080" y="1280160"/>
            <a:ext cx="457200" cy="457200"/>
          </a:xfrm>
          <a:prstGeom prst="rect">
            <a:avLst/>
          </a:prstGeom>
          <a:solidFill>
            <a:srgbClr val="C8EDD8"/>
          </a:solidFill>
          <a:ln cap="flat" cmpd="sng" w="12700">
            <a:solidFill>
              <a:srgbClr val="1D9E7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3" name="Google Shape;1113;p26"/>
          <p:cNvSpPr/>
          <p:nvPr/>
        </p:nvSpPr>
        <p:spPr>
          <a:xfrm>
            <a:off x="4069080" y="1280160"/>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2C69B"/>
              </a:buClr>
              <a:buSzPts val="1300"/>
              <a:buFont typeface="Calibri"/>
              <a:buNone/>
            </a:pPr>
            <a:r>
              <a:rPr b="1" i="0" lang="en" sz="1300" u="none" cap="none" strike="noStrike">
                <a:solidFill>
                  <a:srgbClr val="52C69B"/>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1114" name="Google Shape;1114;p26"/>
          <p:cNvSpPr/>
          <p:nvPr/>
        </p:nvSpPr>
        <p:spPr>
          <a:xfrm>
            <a:off x="4562856" y="1280160"/>
            <a:ext cx="457200" cy="457200"/>
          </a:xfrm>
          <a:prstGeom prst="rect">
            <a:avLst/>
          </a:prstGeom>
          <a:solidFill>
            <a:srgbClr val="C8EDD8"/>
          </a:solidFill>
          <a:ln cap="flat" cmpd="sng" w="12700">
            <a:solidFill>
              <a:srgbClr val="1D9E7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5" name="Google Shape;1115;p26"/>
          <p:cNvSpPr/>
          <p:nvPr/>
        </p:nvSpPr>
        <p:spPr>
          <a:xfrm>
            <a:off x="4562856" y="1280160"/>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2C69B"/>
              </a:buClr>
              <a:buSzPts val="1300"/>
              <a:buFont typeface="Calibri"/>
              <a:buNone/>
            </a:pPr>
            <a:r>
              <a:rPr b="1" i="0" lang="en" sz="1300" u="none" cap="none" strike="noStrike">
                <a:solidFill>
                  <a:srgbClr val="52C69B"/>
                </a:solidFill>
                <a:latin typeface="Calibri"/>
                <a:ea typeface="Calibri"/>
                <a:cs typeface="Calibri"/>
                <a:sym typeface="Calibri"/>
              </a:rPr>
              <a:t>0</a:t>
            </a:r>
            <a:endParaRPr b="0" i="0" sz="1300" u="none" cap="none" strike="noStrike">
              <a:solidFill>
                <a:schemeClr val="dk1"/>
              </a:solidFill>
              <a:latin typeface="Calibri"/>
              <a:ea typeface="Calibri"/>
              <a:cs typeface="Calibri"/>
              <a:sym typeface="Calibri"/>
            </a:endParaRPr>
          </a:p>
        </p:txBody>
      </p:sp>
      <p:sp>
        <p:nvSpPr>
          <p:cNvPr id="1116" name="Google Shape;1116;p26"/>
          <p:cNvSpPr/>
          <p:nvPr/>
        </p:nvSpPr>
        <p:spPr>
          <a:xfrm>
            <a:off x="5056632" y="1280160"/>
            <a:ext cx="457200" cy="457200"/>
          </a:xfrm>
          <a:prstGeom prst="rect">
            <a:avLst/>
          </a:prstGeom>
          <a:solidFill>
            <a:srgbClr val="C8EDD8"/>
          </a:solidFill>
          <a:ln cap="flat" cmpd="sng" w="12700">
            <a:solidFill>
              <a:srgbClr val="1D9E7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7" name="Google Shape;1117;p26"/>
          <p:cNvSpPr/>
          <p:nvPr/>
        </p:nvSpPr>
        <p:spPr>
          <a:xfrm>
            <a:off x="5056632" y="1280160"/>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2C69B"/>
              </a:buClr>
              <a:buSzPts val="1300"/>
              <a:buFont typeface="Calibri"/>
              <a:buNone/>
            </a:pPr>
            <a:r>
              <a:rPr b="1" i="0" lang="en" sz="1300" u="none" cap="none" strike="noStrike">
                <a:solidFill>
                  <a:srgbClr val="52C69B"/>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1118" name="Google Shape;1118;p26"/>
          <p:cNvSpPr/>
          <p:nvPr/>
        </p:nvSpPr>
        <p:spPr>
          <a:xfrm>
            <a:off x="4069080" y="1773936"/>
            <a:ext cx="457200" cy="457200"/>
          </a:xfrm>
          <a:prstGeom prst="rect">
            <a:avLst/>
          </a:prstGeom>
          <a:solidFill>
            <a:srgbClr val="C8EDD8"/>
          </a:solidFill>
          <a:ln cap="flat" cmpd="sng" w="12700">
            <a:solidFill>
              <a:srgbClr val="1D9E7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9" name="Google Shape;1119;p26"/>
          <p:cNvSpPr/>
          <p:nvPr/>
        </p:nvSpPr>
        <p:spPr>
          <a:xfrm>
            <a:off x="4069080" y="1773936"/>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2C69B"/>
              </a:buClr>
              <a:buSzPts val="1300"/>
              <a:buFont typeface="Calibri"/>
              <a:buNone/>
            </a:pPr>
            <a:r>
              <a:rPr b="1" i="0" lang="en" sz="1300" u="none" cap="none" strike="noStrike">
                <a:solidFill>
                  <a:srgbClr val="52C69B"/>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1120" name="Google Shape;1120;p26"/>
          <p:cNvSpPr/>
          <p:nvPr/>
        </p:nvSpPr>
        <p:spPr>
          <a:xfrm>
            <a:off x="4562856" y="1773936"/>
            <a:ext cx="457200" cy="457200"/>
          </a:xfrm>
          <a:prstGeom prst="rect">
            <a:avLst/>
          </a:prstGeom>
          <a:solidFill>
            <a:srgbClr val="C8EDD8"/>
          </a:solidFill>
          <a:ln cap="flat" cmpd="sng" w="12700">
            <a:solidFill>
              <a:srgbClr val="1D9E7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1" name="Google Shape;1121;p26"/>
          <p:cNvSpPr/>
          <p:nvPr/>
        </p:nvSpPr>
        <p:spPr>
          <a:xfrm>
            <a:off x="4562856" y="1773936"/>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2C69B"/>
              </a:buClr>
              <a:buSzPts val="1300"/>
              <a:buFont typeface="Calibri"/>
              <a:buNone/>
            </a:pPr>
            <a:r>
              <a:rPr b="1" i="0" lang="en" sz="1300" u="none" cap="none" strike="noStrike">
                <a:solidFill>
                  <a:srgbClr val="52C69B"/>
                </a:solidFill>
                <a:latin typeface="Calibri"/>
                <a:ea typeface="Calibri"/>
                <a:cs typeface="Calibri"/>
                <a:sym typeface="Calibri"/>
              </a:rPr>
              <a:t>0</a:t>
            </a:r>
            <a:endParaRPr b="0" i="0" sz="1300" u="none" cap="none" strike="noStrike">
              <a:solidFill>
                <a:schemeClr val="dk1"/>
              </a:solidFill>
              <a:latin typeface="Calibri"/>
              <a:ea typeface="Calibri"/>
              <a:cs typeface="Calibri"/>
              <a:sym typeface="Calibri"/>
            </a:endParaRPr>
          </a:p>
        </p:txBody>
      </p:sp>
      <p:sp>
        <p:nvSpPr>
          <p:cNvPr id="1122" name="Google Shape;1122;p26"/>
          <p:cNvSpPr/>
          <p:nvPr/>
        </p:nvSpPr>
        <p:spPr>
          <a:xfrm>
            <a:off x="5056632" y="1773936"/>
            <a:ext cx="457200" cy="457200"/>
          </a:xfrm>
          <a:prstGeom prst="rect">
            <a:avLst/>
          </a:prstGeom>
          <a:solidFill>
            <a:srgbClr val="C8EDD8"/>
          </a:solidFill>
          <a:ln cap="flat" cmpd="sng" w="12700">
            <a:solidFill>
              <a:srgbClr val="1D9E7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3" name="Google Shape;1123;p26"/>
          <p:cNvSpPr/>
          <p:nvPr/>
        </p:nvSpPr>
        <p:spPr>
          <a:xfrm>
            <a:off x="5056632" y="1773936"/>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2C69B"/>
              </a:buClr>
              <a:buSzPts val="1300"/>
              <a:buFont typeface="Calibri"/>
              <a:buNone/>
            </a:pPr>
            <a:r>
              <a:rPr b="1" i="0" lang="en" sz="1300" u="none" cap="none" strike="noStrike">
                <a:solidFill>
                  <a:srgbClr val="52C69B"/>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1124" name="Google Shape;1124;p26"/>
          <p:cNvSpPr/>
          <p:nvPr/>
        </p:nvSpPr>
        <p:spPr>
          <a:xfrm>
            <a:off x="4069080" y="2267712"/>
            <a:ext cx="457200" cy="457200"/>
          </a:xfrm>
          <a:prstGeom prst="rect">
            <a:avLst/>
          </a:prstGeom>
          <a:solidFill>
            <a:srgbClr val="C8EDD8"/>
          </a:solidFill>
          <a:ln cap="flat" cmpd="sng" w="12700">
            <a:solidFill>
              <a:srgbClr val="1D9E7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5" name="Google Shape;1125;p26"/>
          <p:cNvSpPr/>
          <p:nvPr/>
        </p:nvSpPr>
        <p:spPr>
          <a:xfrm>
            <a:off x="4069080" y="2267712"/>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2C69B"/>
              </a:buClr>
              <a:buSzPts val="1300"/>
              <a:buFont typeface="Calibri"/>
              <a:buNone/>
            </a:pPr>
            <a:r>
              <a:rPr b="1" i="0" lang="en" sz="1300" u="none" cap="none" strike="noStrike">
                <a:solidFill>
                  <a:srgbClr val="52C69B"/>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1126" name="Google Shape;1126;p26"/>
          <p:cNvSpPr/>
          <p:nvPr/>
        </p:nvSpPr>
        <p:spPr>
          <a:xfrm>
            <a:off x="4562856" y="2267712"/>
            <a:ext cx="457200" cy="457200"/>
          </a:xfrm>
          <a:prstGeom prst="rect">
            <a:avLst/>
          </a:prstGeom>
          <a:solidFill>
            <a:srgbClr val="C8EDD8"/>
          </a:solidFill>
          <a:ln cap="flat" cmpd="sng" w="12700">
            <a:solidFill>
              <a:srgbClr val="1D9E7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7" name="Google Shape;1127;p26"/>
          <p:cNvSpPr/>
          <p:nvPr/>
        </p:nvSpPr>
        <p:spPr>
          <a:xfrm>
            <a:off x="4562856" y="2267712"/>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2C69B"/>
              </a:buClr>
              <a:buSzPts val="1300"/>
              <a:buFont typeface="Calibri"/>
              <a:buNone/>
            </a:pPr>
            <a:r>
              <a:rPr b="1" i="0" lang="en" sz="1300" u="none" cap="none" strike="noStrike">
                <a:solidFill>
                  <a:srgbClr val="52C69B"/>
                </a:solidFill>
                <a:latin typeface="Calibri"/>
                <a:ea typeface="Calibri"/>
                <a:cs typeface="Calibri"/>
                <a:sym typeface="Calibri"/>
              </a:rPr>
              <a:t>0</a:t>
            </a:r>
            <a:endParaRPr b="0" i="0" sz="1300" u="none" cap="none" strike="noStrike">
              <a:solidFill>
                <a:schemeClr val="dk1"/>
              </a:solidFill>
              <a:latin typeface="Calibri"/>
              <a:ea typeface="Calibri"/>
              <a:cs typeface="Calibri"/>
              <a:sym typeface="Calibri"/>
            </a:endParaRPr>
          </a:p>
        </p:txBody>
      </p:sp>
      <p:sp>
        <p:nvSpPr>
          <p:cNvPr id="1128" name="Google Shape;1128;p26"/>
          <p:cNvSpPr/>
          <p:nvPr/>
        </p:nvSpPr>
        <p:spPr>
          <a:xfrm>
            <a:off x="5056632" y="2267712"/>
            <a:ext cx="457200" cy="457200"/>
          </a:xfrm>
          <a:prstGeom prst="rect">
            <a:avLst/>
          </a:prstGeom>
          <a:solidFill>
            <a:srgbClr val="C8EDD8"/>
          </a:solidFill>
          <a:ln cap="flat" cmpd="sng" w="12700">
            <a:solidFill>
              <a:srgbClr val="1D9E7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9" name="Google Shape;1129;p26"/>
          <p:cNvSpPr/>
          <p:nvPr/>
        </p:nvSpPr>
        <p:spPr>
          <a:xfrm>
            <a:off x="5056632" y="2267712"/>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2C69B"/>
              </a:buClr>
              <a:buSzPts val="1300"/>
              <a:buFont typeface="Calibri"/>
              <a:buNone/>
            </a:pPr>
            <a:r>
              <a:rPr b="1" i="0" lang="en" sz="1300" u="none" cap="none" strike="noStrike">
                <a:solidFill>
                  <a:srgbClr val="52C69B"/>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1130" name="Google Shape;1130;p26"/>
          <p:cNvSpPr/>
          <p:nvPr/>
        </p:nvSpPr>
        <p:spPr>
          <a:xfrm>
            <a:off x="6199632" y="2194560"/>
            <a:ext cx="4116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6080"/>
              </a:buClr>
              <a:buSzPts val="2200"/>
              <a:buFont typeface="Calibri"/>
              <a:buNone/>
            </a:pPr>
            <a:r>
              <a:rPr b="0" i="0" lang="en" sz="2200" u="none" cap="none" strike="noStrike">
                <a:solidFill>
                  <a:srgbClr val="1A6080"/>
                </a:solidFill>
                <a:latin typeface="Calibri"/>
                <a:ea typeface="Calibri"/>
                <a:cs typeface="Calibri"/>
                <a:sym typeface="Calibri"/>
              </a:rPr>
              <a:t>→</a:t>
            </a:r>
            <a:endParaRPr b="0" i="0" sz="2200" u="none" cap="none" strike="noStrike">
              <a:solidFill>
                <a:schemeClr val="dk1"/>
              </a:solidFill>
              <a:latin typeface="Calibri"/>
              <a:ea typeface="Calibri"/>
              <a:cs typeface="Calibri"/>
              <a:sym typeface="Calibri"/>
            </a:endParaRPr>
          </a:p>
        </p:txBody>
      </p:sp>
      <p:sp>
        <p:nvSpPr>
          <p:cNvPr id="1131" name="Google Shape;1131;p26"/>
          <p:cNvSpPr/>
          <p:nvPr/>
        </p:nvSpPr>
        <p:spPr>
          <a:xfrm>
            <a:off x="6720840" y="1280160"/>
            <a:ext cx="457200" cy="457200"/>
          </a:xfrm>
          <a:prstGeom prst="rect">
            <a:avLst/>
          </a:prstGeom>
          <a:solidFill>
            <a:srgbClr val="FFE0CC"/>
          </a:solidFill>
          <a:ln cap="flat" cmpd="sng" w="19050">
            <a:solidFill>
              <a:srgbClr val="FF6B3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2" name="Google Shape;1132;p26"/>
          <p:cNvSpPr/>
          <p:nvPr/>
        </p:nvSpPr>
        <p:spPr>
          <a:xfrm>
            <a:off x="6720840" y="1280160"/>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9E7D"/>
              </a:buClr>
              <a:buSzPts val="1300"/>
              <a:buFont typeface="Calibri"/>
              <a:buNone/>
            </a:pPr>
            <a:r>
              <a:rPr b="1" i="0" lang="en" sz="1300" u="none" cap="none" strike="noStrike">
                <a:solidFill>
                  <a:srgbClr val="FF9E7D"/>
                </a:solidFill>
                <a:latin typeface="Calibri"/>
                <a:ea typeface="Calibri"/>
                <a:cs typeface="Calibri"/>
                <a:sym typeface="Calibri"/>
              </a:rPr>
              <a:t>7</a:t>
            </a:r>
            <a:endParaRPr b="0" i="0" sz="1300" u="none" cap="none" strike="noStrike">
              <a:solidFill>
                <a:schemeClr val="dk1"/>
              </a:solidFill>
              <a:latin typeface="Calibri"/>
              <a:ea typeface="Calibri"/>
              <a:cs typeface="Calibri"/>
              <a:sym typeface="Calibri"/>
            </a:endParaRPr>
          </a:p>
        </p:txBody>
      </p:sp>
      <p:sp>
        <p:nvSpPr>
          <p:cNvPr id="1133" name="Google Shape;1133;p26"/>
          <p:cNvSpPr/>
          <p:nvPr/>
        </p:nvSpPr>
        <p:spPr>
          <a:xfrm>
            <a:off x="7214616" y="1280160"/>
            <a:ext cx="457200" cy="457200"/>
          </a:xfrm>
          <a:prstGeom prst="rect">
            <a:avLst/>
          </a:prstGeom>
          <a:solidFill>
            <a:srgbClr val="E8E8F8"/>
          </a:solidFill>
          <a:ln cap="flat" cmpd="sng" w="9525">
            <a:solidFill>
              <a:srgbClr val="D5D5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4" name="Google Shape;1134;p26"/>
          <p:cNvSpPr/>
          <p:nvPr/>
        </p:nvSpPr>
        <p:spPr>
          <a:xfrm>
            <a:off x="7214616" y="1280160"/>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888AA"/>
              </a:buClr>
              <a:buSzPts val="1300"/>
              <a:buFont typeface="Calibri"/>
              <a:buNone/>
            </a:pPr>
            <a:r>
              <a:rPr b="0" i="0" lang="en" sz="1300" u="none" cap="none" strike="noStrike">
                <a:solidFill>
                  <a:srgbClr val="8888AA"/>
                </a:solidFill>
                <a:latin typeface="Calibri"/>
                <a:ea typeface="Calibri"/>
                <a:cs typeface="Calibri"/>
                <a:sym typeface="Calibri"/>
              </a:rPr>
              <a:t>0</a:t>
            </a:r>
            <a:endParaRPr b="0" i="0" sz="1300" u="none" cap="none" strike="noStrike">
              <a:solidFill>
                <a:schemeClr val="dk1"/>
              </a:solidFill>
              <a:latin typeface="Calibri"/>
              <a:ea typeface="Calibri"/>
              <a:cs typeface="Calibri"/>
              <a:sym typeface="Calibri"/>
            </a:endParaRPr>
          </a:p>
        </p:txBody>
      </p:sp>
      <p:sp>
        <p:nvSpPr>
          <p:cNvPr id="1135" name="Google Shape;1135;p26"/>
          <p:cNvSpPr/>
          <p:nvPr/>
        </p:nvSpPr>
        <p:spPr>
          <a:xfrm>
            <a:off x="7708392" y="1280160"/>
            <a:ext cx="457200" cy="457200"/>
          </a:xfrm>
          <a:prstGeom prst="rect">
            <a:avLst/>
          </a:prstGeom>
          <a:solidFill>
            <a:srgbClr val="E8E8F8"/>
          </a:solidFill>
          <a:ln cap="flat" cmpd="sng" w="9525">
            <a:solidFill>
              <a:srgbClr val="D5D5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6" name="Google Shape;1136;p26"/>
          <p:cNvSpPr/>
          <p:nvPr/>
        </p:nvSpPr>
        <p:spPr>
          <a:xfrm>
            <a:off x="7708392" y="1280160"/>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888AA"/>
              </a:buClr>
              <a:buSzPts val="1300"/>
              <a:buFont typeface="Calibri"/>
              <a:buNone/>
            </a:pPr>
            <a:r>
              <a:rPr b="0" i="0" lang="en" sz="1300" u="none" cap="none" strike="noStrike">
                <a:solidFill>
                  <a:srgbClr val="8888AA"/>
                </a:solidFill>
                <a:latin typeface="Calibri"/>
                <a:ea typeface="Calibri"/>
                <a:cs typeface="Calibri"/>
                <a:sym typeface="Calibri"/>
              </a:rPr>
              <a:t>-6</a:t>
            </a:r>
            <a:endParaRPr b="0" i="0" sz="1300" u="none" cap="none" strike="noStrike">
              <a:solidFill>
                <a:schemeClr val="dk1"/>
              </a:solidFill>
              <a:latin typeface="Calibri"/>
              <a:ea typeface="Calibri"/>
              <a:cs typeface="Calibri"/>
              <a:sym typeface="Calibri"/>
            </a:endParaRPr>
          </a:p>
        </p:txBody>
      </p:sp>
      <p:sp>
        <p:nvSpPr>
          <p:cNvPr id="1137" name="Google Shape;1137;p26"/>
          <p:cNvSpPr/>
          <p:nvPr/>
        </p:nvSpPr>
        <p:spPr>
          <a:xfrm>
            <a:off x="6720840" y="1773936"/>
            <a:ext cx="457200" cy="457200"/>
          </a:xfrm>
          <a:prstGeom prst="rect">
            <a:avLst/>
          </a:prstGeom>
          <a:solidFill>
            <a:srgbClr val="E8E8F8"/>
          </a:solidFill>
          <a:ln cap="flat" cmpd="sng" w="9525">
            <a:solidFill>
              <a:srgbClr val="D5D5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8" name="Google Shape;1138;p26"/>
          <p:cNvSpPr/>
          <p:nvPr/>
        </p:nvSpPr>
        <p:spPr>
          <a:xfrm>
            <a:off x="6720840" y="1773936"/>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888AA"/>
              </a:buClr>
              <a:buSzPts val="1300"/>
              <a:buFont typeface="Calibri"/>
              <a:buNone/>
            </a:pPr>
            <a:r>
              <a:rPr b="0" i="0" lang="en" sz="1300" u="none" cap="none" strike="noStrike">
                <a:solidFill>
                  <a:srgbClr val="8888AA"/>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1139" name="Google Shape;1139;p26"/>
          <p:cNvSpPr/>
          <p:nvPr/>
        </p:nvSpPr>
        <p:spPr>
          <a:xfrm>
            <a:off x="7214616" y="1773936"/>
            <a:ext cx="457200" cy="457200"/>
          </a:xfrm>
          <a:prstGeom prst="rect">
            <a:avLst/>
          </a:prstGeom>
          <a:solidFill>
            <a:srgbClr val="E8E8F8"/>
          </a:solidFill>
          <a:ln cap="flat" cmpd="sng" w="9525">
            <a:solidFill>
              <a:srgbClr val="D5D5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0" name="Google Shape;1140;p26"/>
          <p:cNvSpPr/>
          <p:nvPr/>
        </p:nvSpPr>
        <p:spPr>
          <a:xfrm>
            <a:off x="7214616" y="1773936"/>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888AA"/>
              </a:buClr>
              <a:buSzPts val="1300"/>
              <a:buFont typeface="Calibri"/>
              <a:buNone/>
            </a:pPr>
            <a:r>
              <a:rPr b="0" i="0" lang="en" sz="1300" u="none" cap="none" strike="noStrike">
                <a:solidFill>
                  <a:srgbClr val="8888AA"/>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1141" name="Google Shape;1141;p26"/>
          <p:cNvSpPr/>
          <p:nvPr/>
        </p:nvSpPr>
        <p:spPr>
          <a:xfrm>
            <a:off x="7708392" y="1773936"/>
            <a:ext cx="457200" cy="457200"/>
          </a:xfrm>
          <a:prstGeom prst="rect">
            <a:avLst/>
          </a:prstGeom>
          <a:solidFill>
            <a:srgbClr val="E8E8F8"/>
          </a:solidFill>
          <a:ln cap="flat" cmpd="sng" w="9525">
            <a:solidFill>
              <a:srgbClr val="D5D5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2" name="Google Shape;1142;p26"/>
          <p:cNvSpPr/>
          <p:nvPr/>
        </p:nvSpPr>
        <p:spPr>
          <a:xfrm>
            <a:off x="7708392" y="1773936"/>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888AA"/>
              </a:buClr>
              <a:buSzPts val="1300"/>
              <a:buFont typeface="Calibri"/>
              <a:buNone/>
            </a:pPr>
            <a:r>
              <a:rPr b="0" i="0" lang="en" sz="1300" u="none" cap="none" strike="noStrike">
                <a:solidFill>
                  <a:srgbClr val="8888AA"/>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1143" name="Google Shape;1143;p26"/>
          <p:cNvSpPr/>
          <p:nvPr/>
        </p:nvSpPr>
        <p:spPr>
          <a:xfrm>
            <a:off x="6720840" y="2267712"/>
            <a:ext cx="457200" cy="457200"/>
          </a:xfrm>
          <a:prstGeom prst="rect">
            <a:avLst/>
          </a:prstGeom>
          <a:solidFill>
            <a:srgbClr val="E8E8F8"/>
          </a:solidFill>
          <a:ln cap="flat" cmpd="sng" w="9525">
            <a:solidFill>
              <a:srgbClr val="D5D5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4" name="Google Shape;1144;p26"/>
          <p:cNvSpPr/>
          <p:nvPr/>
        </p:nvSpPr>
        <p:spPr>
          <a:xfrm>
            <a:off x="6720840" y="2267712"/>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888AA"/>
              </a:buClr>
              <a:buSzPts val="1300"/>
              <a:buFont typeface="Calibri"/>
              <a:buNone/>
            </a:pPr>
            <a:r>
              <a:rPr b="0" i="0" lang="en" sz="1300" u="none" cap="none" strike="noStrike">
                <a:solidFill>
                  <a:srgbClr val="8888AA"/>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1145" name="Google Shape;1145;p26"/>
          <p:cNvSpPr/>
          <p:nvPr/>
        </p:nvSpPr>
        <p:spPr>
          <a:xfrm>
            <a:off x="7214616" y="2267712"/>
            <a:ext cx="457200" cy="457200"/>
          </a:xfrm>
          <a:prstGeom prst="rect">
            <a:avLst/>
          </a:prstGeom>
          <a:solidFill>
            <a:srgbClr val="E8E8F8"/>
          </a:solidFill>
          <a:ln cap="flat" cmpd="sng" w="9525">
            <a:solidFill>
              <a:srgbClr val="D5D5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6" name="Google Shape;1146;p26"/>
          <p:cNvSpPr/>
          <p:nvPr/>
        </p:nvSpPr>
        <p:spPr>
          <a:xfrm>
            <a:off x="7214616" y="2267712"/>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888AA"/>
              </a:buClr>
              <a:buSzPts val="1300"/>
              <a:buFont typeface="Calibri"/>
              <a:buNone/>
            </a:pPr>
            <a:r>
              <a:rPr b="0" i="0" lang="en" sz="1300" u="none" cap="none" strike="noStrike">
                <a:solidFill>
                  <a:srgbClr val="8888AA"/>
                </a:solidFill>
                <a:latin typeface="Calibri"/>
                <a:ea typeface="Calibri"/>
                <a:cs typeface="Calibri"/>
                <a:sym typeface="Calibri"/>
              </a:rPr>
              <a:t>4</a:t>
            </a:r>
            <a:endParaRPr b="0" i="0" sz="1300" u="none" cap="none" strike="noStrike">
              <a:solidFill>
                <a:schemeClr val="dk1"/>
              </a:solidFill>
              <a:latin typeface="Calibri"/>
              <a:ea typeface="Calibri"/>
              <a:cs typeface="Calibri"/>
              <a:sym typeface="Calibri"/>
            </a:endParaRPr>
          </a:p>
        </p:txBody>
      </p:sp>
      <p:sp>
        <p:nvSpPr>
          <p:cNvPr id="1147" name="Google Shape;1147;p26"/>
          <p:cNvSpPr/>
          <p:nvPr/>
        </p:nvSpPr>
        <p:spPr>
          <a:xfrm>
            <a:off x="7708392" y="2267712"/>
            <a:ext cx="457200" cy="457200"/>
          </a:xfrm>
          <a:prstGeom prst="rect">
            <a:avLst/>
          </a:prstGeom>
          <a:solidFill>
            <a:srgbClr val="E8E8F8"/>
          </a:solidFill>
          <a:ln cap="flat" cmpd="sng" w="9525">
            <a:solidFill>
              <a:srgbClr val="D5D5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8" name="Google Shape;1148;p26"/>
          <p:cNvSpPr/>
          <p:nvPr/>
        </p:nvSpPr>
        <p:spPr>
          <a:xfrm>
            <a:off x="7708392" y="2267712"/>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888AA"/>
              </a:buClr>
              <a:buSzPts val="1300"/>
              <a:buFont typeface="Calibri"/>
              <a:buNone/>
            </a:pPr>
            <a:r>
              <a:rPr b="0" i="0" lang="en" sz="1300" u="none" cap="none" strike="noStrike">
                <a:solidFill>
                  <a:srgbClr val="8888AA"/>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1149" name="Google Shape;1149;p26"/>
          <p:cNvSpPr/>
          <p:nvPr/>
        </p:nvSpPr>
        <p:spPr>
          <a:xfrm>
            <a:off x="283464" y="1243584"/>
            <a:ext cx="1518000" cy="36600"/>
          </a:xfrm>
          <a:prstGeom prst="rect">
            <a:avLst/>
          </a:prstGeom>
          <a:solidFill>
            <a:srgbClr val="00B4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0" name="Google Shape;1150;p26"/>
          <p:cNvSpPr/>
          <p:nvPr/>
        </p:nvSpPr>
        <p:spPr>
          <a:xfrm>
            <a:off x="283464" y="1243584"/>
            <a:ext cx="36600" cy="1518000"/>
          </a:xfrm>
          <a:prstGeom prst="rect">
            <a:avLst/>
          </a:prstGeom>
          <a:solidFill>
            <a:srgbClr val="00B4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1" name="Google Shape;1151;p26"/>
          <p:cNvSpPr/>
          <p:nvPr/>
        </p:nvSpPr>
        <p:spPr>
          <a:xfrm>
            <a:off x="1764792" y="1243584"/>
            <a:ext cx="36600" cy="1518000"/>
          </a:xfrm>
          <a:prstGeom prst="rect">
            <a:avLst/>
          </a:prstGeom>
          <a:solidFill>
            <a:srgbClr val="00B4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2" name="Google Shape;1152;p26"/>
          <p:cNvSpPr/>
          <p:nvPr/>
        </p:nvSpPr>
        <p:spPr>
          <a:xfrm>
            <a:off x="283464" y="2724912"/>
            <a:ext cx="1518000" cy="36600"/>
          </a:xfrm>
          <a:prstGeom prst="rect">
            <a:avLst/>
          </a:prstGeom>
          <a:solidFill>
            <a:srgbClr val="00B4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3" name="Google Shape;1153;p26"/>
          <p:cNvSpPr/>
          <p:nvPr/>
        </p:nvSpPr>
        <p:spPr>
          <a:xfrm>
            <a:off x="320040" y="3246120"/>
            <a:ext cx="8503800" cy="1508700"/>
          </a:xfrm>
          <a:prstGeom prst="rect">
            <a:avLst/>
          </a:prstGeom>
          <a:solidFill>
            <a:srgbClr val="DDE8F5"/>
          </a:solidFill>
          <a:ln>
            <a:noFill/>
          </a:ln>
          <a:effectLst>
            <a:outerShdw blurRad="101600" rotWithShape="0" algn="bl" dir="8100000" dist="38100">
              <a:srgbClr val="000000">
                <a:alpha val="14902"/>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4" name="Google Shape;1154;p26"/>
          <p:cNvSpPr/>
          <p:nvPr/>
        </p:nvSpPr>
        <p:spPr>
          <a:xfrm>
            <a:off x="320040" y="3246120"/>
            <a:ext cx="8503800" cy="45600"/>
          </a:xfrm>
          <a:prstGeom prst="rect">
            <a:avLst/>
          </a:prstGeom>
          <a:solidFill>
            <a:srgbClr val="00B4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5" name="Google Shape;1155;p26"/>
          <p:cNvSpPr/>
          <p:nvPr/>
        </p:nvSpPr>
        <p:spPr>
          <a:xfrm>
            <a:off x="502920" y="3337560"/>
            <a:ext cx="8229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6080"/>
              </a:buClr>
              <a:buSzPts val="1100"/>
              <a:buFont typeface="Calibri"/>
              <a:buNone/>
            </a:pPr>
            <a:r>
              <a:rPr b="0" i="0" lang="en" sz="1100" u="none" cap="none" strike="noStrike">
                <a:solidFill>
                  <a:srgbClr val="1A6080"/>
                </a:solidFill>
                <a:latin typeface="Calibri"/>
                <a:ea typeface="Calibri"/>
                <a:cs typeface="Calibri"/>
                <a:sym typeface="Calibri"/>
              </a:rPr>
              <a:t>Dot product — highlighted patch × kernel:</a:t>
            </a:r>
            <a:endParaRPr b="0" i="0" sz="1100" u="none" cap="none" strike="noStrike">
              <a:solidFill>
                <a:schemeClr val="dk1"/>
              </a:solidFill>
              <a:latin typeface="Calibri"/>
              <a:ea typeface="Calibri"/>
              <a:cs typeface="Calibri"/>
              <a:sym typeface="Calibri"/>
            </a:endParaRPr>
          </a:p>
        </p:txBody>
      </p:sp>
      <p:sp>
        <p:nvSpPr>
          <p:cNvPr id="1156" name="Google Shape;1156;p26"/>
          <p:cNvSpPr/>
          <p:nvPr/>
        </p:nvSpPr>
        <p:spPr>
          <a:xfrm>
            <a:off x="502920" y="3630168"/>
            <a:ext cx="82296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2E42"/>
              </a:buClr>
              <a:buSzPts val="1250"/>
              <a:buFont typeface="Calibri"/>
              <a:buNone/>
            </a:pPr>
            <a:r>
              <a:rPr b="0" i="0" lang="en" sz="1250" u="none" cap="none" strike="noStrike">
                <a:solidFill>
                  <a:srgbClr val="1A2E42"/>
                </a:solidFill>
                <a:latin typeface="Calibri"/>
                <a:ea typeface="Calibri"/>
                <a:cs typeface="Calibri"/>
                <a:sym typeface="Calibri"/>
              </a:rPr>
              <a:t>(1×-1) + (2×0) + (3×1) + (0×-2) + (1×0) + (2×2) + (1×-1) + (3×0) + (2×1)  =  7</a:t>
            </a:r>
            <a:endParaRPr b="0" i="0" sz="1250" u="none" cap="none" strike="noStrike">
              <a:solidFill>
                <a:schemeClr val="dk1"/>
              </a:solidFill>
              <a:latin typeface="Calibri"/>
              <a:ea typeface="Calibri"/>
              <a:cs typeface="Calibri"/>
              <a:sym typeface="Calibri"/>
            </a:endParaRPr>
          </a:p>
        </p:txBody>
      </p:sp>
      <p:sp>
        <p:nvSpPr>
          <p:cNvPr id="1157" name="Google Shape;1157;p26"/>
          <p:cNvSpPr/>
          <p:nvPr/>
        </p:nvSpPr>
        <p:spPr>
          <a:xfrm>
            <a:off x="502920" y="4050792"/>
            <a:ext cx="8229600" cy="594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6070"/>
              </a:buClr>
              <a:buSzPts val="1150"/>
              <a:buFont typeface="Calibri"/>
              <a:buNone/>
            </a:pPr>
            <a:r>
              <a:rPr b="0" i="0" lang="en" sz="1150" u="none" cap="none" strike="noStrike">
                <a:solidFill>
                  <a:srgbClr val="2A6070"/>
                </a:solidFill>
                <a:latin typeface="Calibri"/>
                <a:ea typeface="Calibri"/>
                <a:cs typeface="Calibri"/>
                <a:sym typeface="Calibri"/>
              </a:rPr>
              <a:t>The filter slides across every 3×3 patch (stride = 1). Each position produces one value via element-wise multiply &amp; sum → builds the full feature map.</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61" name="Shape 1161"/>
        <p:cNvGrpSpPr/>
        <p:nvPr/>
      </p:nvGrpSpPr>
      <p:grpSpPr>
        <a:xfrm>
          <a:off x="0" y="0"/>
          <a:ext cx="0" cy="0"/>
          <a:chOff x="0" y="0"/>
          <a:chExt cx="0" cy="0"/>
        </a:xfrm>
      </p:grpSpPr>
      <p:pic>
        <p:nvPicPr>
          <p:cNvPr id="1162" name="Google Shape;1162;p27"/>
          <p:cNvPicPr preferRelativeResize="0"/>
          <p:nvPr/>
        </p:nvPicPr>
        <p:blipFill rotWithShape="1">
          <a:blip r:embed="rId4">
            <a:alphaModFix/>
          </a:blip>
          <a:srcRect b="0" l="0" r="0" t="0"/>
          <a:stretch/>
        </p:blipFill>
        <p:spPr>
          <a:xfrm>
            <a:off x="8369125" y="0"/>
            <a:ext cx="774877" cy="867174"/>
          </a:xfrm>
          <a:prstGeom prst="rect">
            <a:avLst/>
          </a:prstGeom>
          <a:noFill/>
          <a:ln>
            <a:noFill/>
          </a:ln>
        </p:spPr>
      </p:pic>
      <p:sp>
        <p:nvSpPr>
          <p:cNvPr id="1163" name="Google Shape;1163;p27"/>
          <p:cNvSpPr txBox="1"/>
          <p:nvPr/>
        </p:nvSpPr>
        <p:spPr>
          <a:xfrm>
            <a:off x="1052950" y="98875"/>
            <a:ext cx="6618600" cy="768300"/>
          </a:xfrm>
          <a:prstGeom prst="rect">
            <a:avLst/>
          </a:prstGeom>
          <a:no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2600"/>
              <a:buFont typeface="Arial"/>
              <a:buNone/>
            </a:pPr>
            <a:r>
              <a:rPr b="1" i="0" lang="en" sz="2600" u="none" cap="none" strike="noStrike">
                <a:solidFill>
                  <a:srgbClr val="0D1B2A"/>
                </a:solidFill>
                <a:latin typeface="Calibri"/>
                <a:ea typeface="Calibri"/>
                <a:cs typeface="Calibri"/>
                <a:sym typeface="Calibri"/>
              </a:rPr>
              <a:t>Pooling Layer — Matrix Example</a:t>
            </a:r>
            <a:endParaRPr b="1" i="0" sz="2600" u="none" cap="none" strike="noStrike">
              <a:solidFill>
                <a:srgbClr val="0D1B2A"/>
              </a:solidFill>
              <a:latin typeface="Calibri"/>
              <a:ea typeface="Calibri"/>
              <a:cs typeface="Calibri"/>
              <a:sym typeface="Calibri"/>
            </a:endParaRPr>
          </a:p>
        </p:txBody>
      </p:sp>
      <p:sp>
        <p:nvSpPr>
          <p:cNvPr id="1164" name="Google Shape;1164;p27"/>
          <p:cNvSpPr/>
          <p:nvPr/>
        </p:nvSpPr>
        <p:spPr>
          <a:xfrm>
            <a:off x="283533" y="941540"/>
            <a:ext cx="29262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6080"/>
              </a:buClr>
              <a:buSzPts val="1100"/>
              <a:buFont typeface="Calibri"/>
              <a:buNone/>
            </a:pPr>
            <a:r>
              <a:rPr b="0" i="0" lang="en" sz="1100" u="none" cap="none" strike="noStrike">
                <a:solidFill>
                  <a:srgbClr val="1A6080"/>
                </a:solidFill>
                <a:latin typeface="Calibri"/>
                <a:ea typeface="Calibri"/>
                <a:cs typeface="Calibri"/>
                <a:sym typeface="Calibri"/>
              </a:rPr>
              <a:t>Input feature map  (4×4)</a:t>
            </a:r>
            <a:endParaRPr b="0" i="0" sz="1100" u="none" cap="none" strike="noStrike">
              <a:solidFill>
                <a:schemeClr val="dk1"/>
              </a:solidFill>
              <a:latin typeface="Calibri"/>
              <a:ea typeface="Calibri"/>
              <a:cs typeface="Calibri"/>
              <a:sym typeface="Calibri"/>
            </a:endParaRPr>
          </a:p>
        </p:txBody>
      </p:sp>
      <p:sp>
        <p:nvSpPr>
          <p:cNvPr id="1165" name="Google Shape;1165;p27"/>
          <p:cNvSpPr/>
          <p:nvPr/>
        </p:nvSpPr>
        <p:spPr>
          <a:xfrm>
            <a:off x="283533" y="1170140"/>
            <a:ext cx="493800" cy="493800"/>
          </a:xfrm>
          <a:prstGeom prst="rect">
            <a:avLst/>
          </a:prstGeom>
          <a:solidFill>
            <a:srgbClr val="C5E4F5"/>
          </a:solidFill>
          <a:ln cap="flat" cmpd="sng" w="15225">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6" name="Google Shape;1166;p27"/>
          <p:cNvSpPr/>
          <p:nvPr/>
        </p:nvSpPr>
        <p:spPr>
          <a:xfrm>
            <a:off x="283533" y="1170140"/>
            <a:ext cx="493800" cy="493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1400"/>
              <a:buFont typeface="Calibri"/>
              <a:buNone/>
            </a:pPr>
            <a:r>
              <a:rPr b="1" i="0" lang="en" sz="1400" u="none" cap="none" strike="noStrike">
                <a:solidFill>
                  <a:srgbClr val="1A2E42"/>
                </a:solidFill>
                <a:latin typeface="Calibri"/>
                <a:ea typeface="Calibri"/>
                <a:cs typeface="Calibri"/>
                <a:sym typeface="Calibri"/>
              </a:rPr>
              <a:t>12</a:t>
            </a:r>
            <a:endParaRPr b="0" i="0" sz="1400" u="none" cap="none" strike="noStrike">
              <a:solidFill>
                <a:schemeClr val="dk1"/>
              </a:solidFill>
              <a:latin typeface="Calibri"/>
              <a:ea typeface="Calibri"/>
              <a:cs typeface="Calibri"/>
              <a:sym typeface="Calibri"/>
            </a:endParaRPr>
          </a:p>
        </p:txBody>
      </p:sp>
      <p:sp>
        <p:nvSpPr>
          <p:cNvPr id="1167" name="Google Shape;1167;p27"/>
          <p:cNvSpPr/>
          <p:nvPr/>
        </p:nvSpPr>
        <p:spPr>
          <a:xfrm>
            <a:off x="813885" y="1170140"/>
            <a:ext cx="493800" cy="493800"/>
          </a:xfrm>
          <a:prstGeom prst="rect">
            <a:avLst/>
          </a:prstGeom>
          <a:solidFill>
            <a:srgbClr val="C5E4F5"/>
          </a:solidFill>
          <a:ln cap="flat" cmpd="sng" w="15225">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8" name="Google Shape;1168;p27"/>
          <p:cNvSpPr/>
          <p:nvPr/>
        </p:nvSpPr>
        <p:spPr>
          <a:xfrm>
            <a:off x="813885" y="1170140"/>
            <a:ext cx="493800" cy="493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1400"/>
              <a:buFont typeface="Calibri"/>
              <a:buNone/>
            </a:pPr>
            <a:r>
              <a:rPr b="1" i="0" lang="en" sz="1400" u="none" cap="none" strike="noStrike">
                <a:solidFill>
                  <a:srgbClr val="1A2E42"/>
                </a:solidFill>
                <a:latin typeface="Calibri"/>
                <a:ea typeface="Calibri"/>
                <a:cs typeface="Calibri"/>
                <a:sym typeface="Calibri"/>
              </a:rPr>
              <a:t>20</a:t>
            </a:r>
            <a:endParaRPr b="0" i="0" sz="1400" u="none" cap="none" strike="noStrike">
              <a:solidFill>
                <a:schemeClr val="dk1"/>
              </a:solidFill>
              <a:latin typeface="Calibri"/>
              <a:ea typeface="Calibri"/>
              <a:cs typeface="Calibri"/>
              <a:sym typeface="Calibri"/>
            </a:endParaRPr>
          </a:p>
        </p:txBody>
      </p:sp>
      <p:sp>
        <p:nvSpPr>
          <p:cNvPr id="1169" name="Google Shape;1169;p27"/>
          <p:cNvSpPr/>
          <p:nvPr/>
        </p:nvSpPr>
        <p:spPr>
          <a:xfrm>
            <a:off x="1344237" y="1170140"/>
            <a:ext cx="493800" cy="493800"/>
          </a:xfrm>
          <a:prstGeom prst="rect">
            <a:avLst/>
          </a:prstGeom>
          <a:solidFill>
            <a:srgbClr val="C8EED8"/>
          </a:solidFill>
          <a:ln cap="flat" cmpd="sng" w="15225">
            <a:solidFill>
              <a:srgbClr val="1D9E7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0" name="Google Shape;1170;p27"/>
          <p:cNvSpPr/>
          <p:nvPr/>
        </p:nvSpPr>
        <p:spPr>
          <a:xfrm>
            <a:off x="1344237" y="1170140"/>
            <a:ext cx="493800" cy="493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1400"/>
              <a:buFont typeface="Calibri"/>
              <a:buNone/>
            </a:pPr>
            <a:r>
              <a:rPr b="1" i="0" lang="en" sz="1400" u="none" cap="none" strike="noStrike">
                <a:solidFill>
                  <a:srgbClr val="1A2E42"/>
                </a:solidFill>
                <a:latin typeface="Calibri"/>
                <a:ea typeface="Calibri"/>
                <a:cs typeface="Calibri"/>
                <a:sym typeface="Calibri"/>
              </a:rPr>
              <a:t>8</a:t>
            </a:r>
            <a:endParaRPr b="0" i="0" sz="1400" u="none" cap="none" strike="noStrike">
              <a:solidFill>
                <a:schemeClr val="dk1"/>
              </a:solidFill>
              <a:latin typeface="Calibri"/>
              <a:ea typeface="Calibri"/>
              <a:cs typeface="Calibri"/>
              <a:sym typeface="Calibri"/>
            </a:endParaRPr>
          </a:p>
        </p:txBody>
      </p:sp>
      <p:sp>
        <p:nvSpPr>
          <p:cNvPr id="1171" name="Google Shape;1171;p27"/>
          <p:cNvSpPr/>
          <p:nvPr/>
        </p:nvSpPr>
        <p:spPr>
          <a:xfrm>
            <a:off x="1874588" y="1170140"/>
            <a:ext cx="493800" cy="493800"/>
          </a:xfrm>
          <a:prstGeom prst="rect">
            <a:avLst/>
          </a:prstGeom>
          <a:solidFill>
            <a:srgbClr val="C8EED8"/>
          </a:solidFill>
          <a:ln cap="flat" cmpd="sng" w="15225">
            <a:solidFill>
              <a:srgbClr val="1D9E7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2" name="Google Shape;1172;p27"/>
          <p:cNvSpPr/>
          <p:nvPr/>
        </p:nvSpPr>
        <p:spPr>
          <a:xfrm>
            <a:off x="1874588" y="1170140"/>
            <a:ext cx="493800" cy="493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1400"/>
              <a:buFont typeface="Calibri"/>
              <a:buNone/>
            </a:pPr>
            <a:r>
              <a:rPr b="1" i="0" lang="en" sz="1400" u="none" cap="none" strike="noStrike">
                <a:solidFill>
                  <a:srgbClr val="1A2E42"/>
                </a:solidFill>
                <a:latin typeface="Calibri"/>
                <a:ea typeface="Calibri"/>
                <a:cs typeface="Calibri"/>
                <a:sym typeface="Calibri"/>
              </a:rPr>
              <a:t>4</a:t>
            </a:r>
            <a:endParaRPr b="0" i="0" sz="1400" u="none" cap="none" strike="noStrike">
              <a:solidFill>
                <a:schemeClr val="dk1"/>
              </a:solidFill>
              <a:latin typeface="Calibri"/>
              <a:ea typeface="Calibri"/>
              <a:cs typeface="Calibri"/>
              <a:sym typeface="Calibri"/>
            </a:endParaRPr>
          </a:p>
        </p:txBody>
      </p:sp>
      <p:sp>
        <p:nvSpPr>
          <p:cNvPr id="1173" name="Google Shape;1173;p27"/>
          <p:cNvSpPr/>
          <p:nvPr/>
        </p:nvSpPr>
        <p:spPr>
          <a:xfrm>
            <a:off x="283533" y="1700492"/>
            <a:ext cx="493800" cy="493800"/>
          </a:xfrm>
          <a:prstGeom prst="rect">
            <a:avLst/>
          </a:prstGeom>
          <a:solidFill>
            <a:srgbClr val="C5E4F5"/>
          </a:solidFill>
          <a:ln cap="flat" cmpd="sng" w="15225">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4" name="Google Shape;1174;p27"/>
          <p:cNvSpPr/>
          <p:nvPr/>
        </p:nvSpPr>
        <p:spPr>
          <a:xfrm>
            <a:off x="283533" y="1700492"/>
            <a:ext cx="493800" cy="493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1400"/>
              <a:buFont typeface="Calibri"/>
              <a:buNone/>
            </a:pPr>
            <a:r>
              <a:rPr b="1" i="0" lang="en" sz="1400" u="none" cap="none" strike="noStrike">
                <a:solidFill>
                  <a:srgbClr val="1A2E42"/>
                </a:solidFill>
                <a:latin typeface="Calibri"/>
                <a:ea typeface="Calibri"/>
                <a:cs typeface="Calibri"/>
                <a:sym typeface="Calibri"/>
              </a:rPr>
              <a:t>18</a:t>
            </a:r>
            <a:endParaRPr b="0" i="0" sz="1400" u="none" cap="none" strike="noStrike">
              <a:solidFill>
                <a:schemeClr val="dk1"/>
              </a:solidFill>
              <a:latin typeface="Calibri"/>
              <a:ea typeface="Calibri"/>
              <a:cs typeface="Calibri"/>
              <a:sym typeface="Calibri"/>
            </a:endParaRPr>
          </a:p>
        </p:txBody>
      </p:sp>
      <p:sp>
        <p:nvSpPr>
          <p:cNvPr id="1175" name="Google Shape;1175;p27"/>
          <p:cNvSpPr/>
          <p:nvPr/>
        </p:nvSpPr>
        <p:spPr>
          <a:xfrm>
            <a:off x="813885" y="1700492"/>
            <a:ext cx="493800" cy="493800"/>
          </a:xfrm>
          <a:prstGeom prst="rect">
            <a:avLst/>
          </a:prstGeom>
          <a:solidFill>
            <a:srgbClr val="C5E4F5"/>
          </a:solidFill>
          <a:ln cap="flat" cmpd="sng" w="15225">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6" name="Google Shape;1176;p27"/>
          <p:cNvSpPr/>
          <p:nvPr/>
        </p:nvSpPr>
        <p:spPr>
          <a:xfrm>
            <a:off x="813885" y="1700492"/>
            <a:ext cx="493800" cy="493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1400"/>
              <a:buFont typeface="Calibri"/>
              <a:buNone/>
            </a:pPr>
            <a:r>
              <a:rPr b="1" i="0" lang="en" sz="1400" u="none" cap="none" strike="noStrike">
                <a:solidFill>
                  <a:srgbClr val="1A2E42"/>
                </a:solidFill>
                <a:latin typeface="Calibri"/>
                <a:ea typeface="Calibri"/>
                <a:cs typeface="Calibri"/>
                <a:sym typeface="Calibri"/>
              </a:rPr>
              <a:t>36</a:t>
            </a:r>
            <a:endParaRPr b="0" i="0" sz="1400" u="none" cap="none" strike="noStrike">
              <a:solidFill>
                <a:schemeClr val="dk1"/>
              </a:solidFill>
              <a:latin typeface="Calibri"/>
              <a:ea typeface="Calibri"/>
              <a:cs typeface="Calibri"/>
              <a:sym typeface="Calibri"/>
            </a:endParaRPr>
          </a:p>
        </p:txBody>
      </p:sp>
      <p:sp>
        <p:nvSpPr>
          <p:cNvPr id="1177" name="Google Shape;1177;p27"/>
          <p:cNvSpPr/>
          <p:nvPr/>
        </p:nvSpPr>
        <p:spPr>
          <a:xfrm>
            <a:off x="1344237" y="1700492"/>
            <a:ext cx="493800" cy="493800"/>
          </a:xfrm>
          <a:prstGeom prst="rect">
            <a:avLst/>
          </a:prstGeom>
          <a:solidFill>
            <a:srgbClr val="C8EED8"/>
          </a:solidFill>
          <a:ln cap="flat" cmpd="sng" w="15225">
            <a:solidFill>
              <a:srgbClr val="1D9E7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8" name="Google Shape;1178;p27"/>
          <p:cNvSpPr/>
          <p:nvPr/>
        </p:nvSpPr>
        <p:spPr>
          <a:xfrm>
            <a:off x="1344237" y="1700492"/>
            <a:ext cx="493800" cy="493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1400"/>
              <a:buFont typeface="Calibri"/>
              <a:buNone/>
            </a:pPr>
            <a:r>
              <a:rPr b="1" i="0" lang="en" sz="1400" u="none" cap="none" strike="noStrike">
                <a:solidFill>
                  <a:srgbClr val="1A2E42"/>
                </a:solidFill>
                <a:latin typeface="Calibri"/>
                <a:ea typeface="Calibri"/>
                <a:cs typeface="Calibri"/>
                <a:sym typeface="Calibri"/>
              </a:rPr>
              <a:t>14</a:t>
            </a:r>
            <a:endParaRPr b="0" i="0" sz="1400" u="none" cap="none" strike="noStrike">
              <a:solidFill>
                <a:schemeClr val="dk1"/>
              </a:solidFill>
              <a:latin typeface="Calibri"/>
              <a:ea typeface="Calibri"/>
              <a:cs typeface="Calibri"/>
              <a:sym typeface="Calibri"/>
            </a:endParaRPr>
          </a:p>
        </p:txBody>
      </p:sp>
      <p:sp>
        <p:nvSpPr>
          <p:cNvPr id="1179" name="Google Shape;1179;p27"/>
          <p:cNvSpPr/>
          <p:nvPr/>
        </p:nvSpPr>
        <p:spPr>
          <a:xfrm>
            <a:off x="1874588" y="1700492"/>
            <a:ext cx="493800" cy="493800"/>
          </a:xfrm>
          <a:prstGeom prst="rect">
            <a:avLst/>
          </a:prstGeom>
          <a:solidFill>
            <a:srgbClr val="C8EED8"/>
          </a:solidFill>
          <a:ln cap="flat" cmpd="sng" w="15225">
            <a:solidFill>
              <a:srgbClr val="1D9E7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0" name="Google Shape;1180;p27"/>
          <p:cNvSpPr/>
          <p:nvPr/>
        </p:nvSpPr>
        <p:spPr>
          <a:xfrm>
            <a:off x="1874588" y="1700492"/>
            <a:ext cx="493800" cy="493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1400"/>
              <a:buFont typeface="Calibri"/>
              <a:buNone/>
            </a:pPr>
            <a:r>
              <a:rPr b="1" i="0" lang="en" sz="1400" u="none" cap="none" strike="noStrike">
                <a:solidFill>
                  <a:srgbClr val="1A2E42"/>
                </a:solidFill>
                <a:latin typeface="Calibri"/>
                <a:ea typeface="Calibri"/>
                <a:cs typeface="Calibri"/>
                <a:sym typeface="Calibri"/>
              </a:rPr>
              <a:t>6</a:t>
            </a:r>
            <a:endParaRPr b="0" i="0" sz="1400" u="none" cap="none" strike="noStrike">
              <a:solidFill>
                <a:schemeClr val="dk1"/>
              </a:solidFill>
              <a:latin typeface="Calibri"/>
              <a:ea typeface="Calibri"/>
              <a:cs typeface="Calibri"/>
              <a:sym typeface="Calibri"/>
            </a:endParaRPr>
          </a:p>
        </p:txBody>
      </p:sp>
      <p:sp>
        <p:nvSpPr>
          <p:cNvPr id="1181" name="Google Shape;1181;p27"/>
          <p:cNvSpPr/>
          <p:nvPr/>
        </p:nvSpPr>
        <p:spPr>
          <a:xfrm>
            <a:off x="283533" y="2230844"/>
            <a:ext cx="493800" cy="493800"/>
          </a:xfrm>
          <a:prstGeom prst="rect">
            <a:avLst/>
          </a:prstGeom>
          <a:solidFill>
            <a:srgbClr val="FDDEBA"/>
          </a:solidFill>
          <a:ln cap="flat" cmpd="sng" w="15225">
            <a:solidFill>
              <a:srgbClr val="E67E2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2" name="Google Shape;1182;p27"/>
          <p:cNvSpPr/>
          <p:nvPr/>
        </p:nvSpPr>
        <p:spPr>
          <a:xfrm>
            <a:off x="283533" y="2230844"/>
            <a:ext cx="493800" cy="493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1400"/>
              <a:buFont typeface="Calibri"/>
              <a:buNone/>
            </a:pPr>
            <a:r>
              <a:rPr b="1" i="0" lang="en" sz="1400" u="none" cap="none" strike="noStrike">
                <a:solidFill>
                  <a:srgbClr val="1A2E42"/>
                </a:solidFill>
                <a:latin typeface="Calibri"/>
                <a:ea typeface="Calibri"/>
                <a:cs typeface="Calibri"/>
                <a:sym typeface="Calibri"/>
              </a:rPr>
              <a:t>5</a:t>
            </a:r>
            <a:endParaRPr b="0" i="0" sz="1400" u="none" cap="none" strike="noStrike">
              <a:solidFill>
                <a:schemeClr val="dk1"/>
              </a:solidFill>
              <a:latin typeface="Calibri"/>
              <a:ea typeface="Calibri"/>
              <a:cs typeface="Calibri"/>
              <a:sym typeface="Calibri"/>
            </a:endParaRPr>
          </a:p>
        </p:txBody>
      </p:sp>
      <p:sp>
        <p:nvSpPr>
          <p:cNvPr id="1183" name="Google Shape;1183;p27"/>
          <p:cNvSpPr/>
          <p:nvPr/>
        </p:nvSpPr>
        <p:spPr>
          <a:xfrm>
            <a:off x="813885" y="2230844"/>
            <a:ext cx="493800" cy="493800"/>
          </a:xfrm>
          <a:prstGeom prst="rect">
            <a:avLst/>
          </a:prstGeom>
          <a:solidFill>
            <a:srgbClr val="FDDEBA"/>
          </a:solidFill>
          <a:ln cap="flat" cmpd="sng" w="15225">
            <a:solidFill>
              <a:srgbClr val="E67E2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4" name="Google Shape;1184;p27"/>
          <p:cNvSpPr/>
          <p:nvPr/>
        </p:nvSpPr>
        <p:spPr>
          <a:xfrm>
            <a:off x="813885" y="2230844"/>
            <a:ext cx="493800" cy="493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1400"/>
              <a:buFont typeface="Calibri"/>
              <a:buNone/>
            </a:pPr>
            <a:r>
              <a:rPr b="1" i="0" lang="en" sz="1400" u="none" cap="none" strike="noStrike">
                <a:solidFill>
                  <a:srgbClr val="1A2E42"/>
                </a:solidFill>
                <a:latin typeface="Calibri"/>
                <a:ea typeface="Calibri"/>
                <a:cs typeface="Calibri"/>
                <a:sym typeface="Calibri"/>
              </a:rPr>
              <a:t>11</a:t>
            </a:r>
            <a:endParaRPr b="0" i="0" sz="1400" u="none" cap="none" strike="noStrike">
              <a:solidFill>
                <a:schemeClr val="dk1"/>
              </a:solidFill>
              <a:latin typeface="Calibri"/>
              <a:ea typeface="Calibri"/>
              <a:cs typeface="Calibri"/>
              <a:sym typeface="Calibri"/>
            </a:endParaRPr>
          </a:p>
        </p:txBody>
      </p:sp>
      <p:sp>
        <p:nvSpPr>
          <p:cNvPr id="1185" name="Google Shape;1185;p27"/>
          <p:cNvSpPr/>
          <p:nvPr/>
        </p:nvSpPr>
        <p:spPr>
          <a:xfrm>
            <a:off x="1344237" y="2230844"/>
            <a:ext cx="493800" cy="493800"/>
          </a:xfrm>
          <a:prstGeom prst="rect">
            <a:avLst/>
          </a:prstGeom>
          <a:solidFill>
            <a:srgbClr val="EED5FF"/>
          </a:solidFill>
          <a:ln cap="flat" cmpd="sng" w="15225">
            <a:solidFill>
              <a:srgbClr val="A855F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6" name="Google Shape;1186;p27"/>
          <p:cNvSpPr/>
          <p:nvPr/>
        </p:nvSpPr>
        <p:spPr>
          <a:xfrm>
            <a:off x="1344237" y="2230844"/>
            <a:ext cx="493800" cy="493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1400"/>
              <a:buFont typeface="Calibri"/>
              <a:buNone/>
            </a:pPr>
            <a:r>
              <a:rPr b="1" i="0" lang="en" sz="1400" u="none" cap="none" strike="noStrike">
                <a:solidFill>
                  <a:srgbClr val="1A2E42"/>
                </a:solidFill>
                <a:latin typeface="Calibri"/>
                <a:ea typeface="Calibri"/>
                <a:cs typeface="Calibri"/>
                <a:sym typeface="Calibri"/>
              </a:rPr>
              <a:t>22</a:t>
            </a:r>
            <a:endParaRPr b="0" i="0" sz="1400" u="none" cap="none" strike="noStrike">
              <a:solidFill>
                <a:schemeClr val="dk1"/>
              </a:solidFill>
              <a:latin typeface="Calibri"/>
              <a:ea typeface="Calibri"/>
              <a:cs typeface="Calibri"/>
              <a:sym typeface="Calibri"/>
            </a:endParaRPr>
          </a:p>
        </p:txBody>
      </p:sp>
      <p:sp>
        <p:nvSpPr>
          <p:cNvPr id="1187" name="Google Shape;1187;p27"/>
          <p:cNvSpPr/>
          <p:nvPr/>
        </p:nvSpPr>
        <p:spPr>
          <a:xfrm>
            <a:off x="1874588" y="2230844"/>
            <a:ext cx="493800" cy="493800"/>
          </a:xfrm>
          <a:prstGeom prst="rect">
            <a:avLst/>
          </a:prstGeom>
          <a:solidFill>
            <a:srgbClr val="EED5FF"/>
          </a:solidFill>
          <a:ln cap="flat" cmpd="sng" w="15225">
            <a:solidFill>
              <a:srgbClr val="A855F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8" name="Google Shape;1188;p27"/>
          <p:cNvSpPr/>
          <p:nvPr/>
        </p:nvSpPr>
        <p:spPr>
          <a:xfrm>
            <a:off x="1874588" y="2230844"/>
            <a:ext cx="493800" cy="493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1400"/>
              <a:buFont typeface="Calibri"/>
              <a:buNone/>
            </a:pPr>
            <a:r>
              <a:rPr b="1" i="0" lang="en" sz="1400" u="none" cap="none" strike="noStrike">
                <a:solidFill>
                  <a:srgbClr val="1A2E42"/>
                </a:solidFill>
                <a:latin typeface="Calibri"/>
                <a:ea typeface="Calibri"/>
                <a:cs typeface="Calibri"/>
                <a:sym typeface="Calibri"/>
              </a:rPr>
              <a:t>30</a:t>
            </a:r>
            <a:endParaRPr b="0" i="0" sz="1400" u="none" cap="none" strike="noStrike">
              <a:solidFill>
                <a:schemeClr val="dk1"/>
              </a:solidFill>
              <a:latin typeface="Calibri"/>
              <a:ea typeface="Calibri"/>
              <a:cs typeface="Calibri"/>
              <a:sym typeface="Calibri"/>
            </a:endParaRPr>
          </a:p>
        </p:txBody>
      </p:sp>
      <p:sp>
        <p:nvSpPr>
          <p:cNvPr id="1189" name="Google Shape;1189;p27"/>
          <p:cNvSpPr/>
          <p:nvPr/>
        </p:nvSpPr>
        <p:spPr>
          <a:xfrm>
            <a:off x="283533" y="2761196"/>
            <a:ext cx="493800" cy="493800"/>
          </a:xfrm>
          <a:prstGeom prst="rect">
            <a:avLst/>
          </a:prstGeom>
          <a:solidFill>
            <a:srgbClr val="FDDEBA"/>
          </a:solidFill>
          <a:ln cap="flat" cmpd="sng" w="15225">
            <a:solidFill>
              <a:srgbClr val="E67E2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0" name="Google Shape;1190;p27"/>
          <p:cNvSpPr/>
          <p:nvPr/>
        </p:nvSpPr>
        <p:spPr>
          <a:xfrm>
            <a:off x="283533" y="2761196"/>
            <a:ext cx="493800" cy="493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1400"/>
              <a:buFont typeface="Calibri"/>
              <a:buNone/>
            </a:pPr>
            <a:r>
              <a:rPr b="1" i="0" lang="en" sz="1400" u="none" cap="none" strike="noStrike">
                <a:solidFill>
                  <a:srgbClr val="1A2E42"/>
                </a:solidFill>
                <a:latin typeface="Calibri"/>
                <a:ea typeface="Calibri"/>
                <a:cs typeface="Calibri"/>
                <a:sym typeface="Calibri"/>
              </a:rPr>
              <a:t>2</a:t>
            </a:r>
            <a:endParaRPr b="0" i="0" sz="1400" u="none" cap="none" strike="noStrike">
              <a:solidFill>
                <a:schemeClr val="dk1"/>
              </a:solidFill>
              <a:latin typeface="Calibri"/>
              <a:ea typeface="Calibri"/>
              <a:cs typeface="Calibri"/>
              <a:sym typeface="Calibri"/>
            </a:endParaRPr>
          </a:p>
        </p:txBody>
      </p:sp>
      <p:sp>
        <p:nvSpPr>
          <p:cNvPr id="1191" name="Google Shape;1191;p27"/>
          <p:cNvSpPr/>
          <p:nvPr/>
        </p:nvSpPr>
        <p:spPr>
          <a:xfrm>
            <a:off x="813885" y="2761196"/>
            <a:ext cx="493800" cy="493800"/>
          </a:xfrm>
          <a:prstGeom prst="rect">
            <a:avLst/>
          </a:prstGeom>
          <a:solidFill>
            <a:srgbClr val="FDDEBA"/>
          </a:solidFill>
          <a:ln cap="flat" cmpd="sng" w="15225">
            <a:solidFill>
              <a:srgbClr val="E67E2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2" name="Google Shape;1192;p27"/>
          <p:cNvSpPr/>
          <p:nvPr/>
        </p:nvSpPr>
        <p:spPr>
          <a:xfrm>
            <a:off x="813885" y="2761196"/>
            <a:ext cx="493800" cy="493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1400"/>
              <a:buFont typeface="Calibri"/>
              <a:buNone/>
            </a:pPr>
            <a:r>
              <a:rPr b="1" i="0" lang="en" sz="1400" u="none" cap="none" strike="noStrike">
                <a:solidFill>
                  <a:srgbClr val="1A2E42"/>
                </a:solidFill>
                <a:latin typeface="Calibri"/>
                <a:ea typeface="Calibri"/>
                <a:cs typeface="Calibri"/>
                <a:sym typeface="Calibri"/>
              </a:rPr>
              <a:t>7</a:t>
            </a:r>
            <a:endParaRPr b="0" i="0" sz="1400" u="none" cap="none" strike="noStrike">
              <a:solidFill>
                <a:schemeClr val="dk1"/>
              </a:solidFill>
              <a:latin typeface="Calibri"/>
              <a:ea typeface="Calibri"/>
              <a:cs typeface="Calibri"/>
              <a:sym typeface="Calibri"/>
            </a:endParaRPr>
          </a:p>
        </p:txBody>
      </p:sp>
      <p:sp>
        <p:nvSpPr>
          <p:cNvPr id="1193" name="Google Shape;1193;p27"/>
          <p:cNvSpPr/>
          <p:nvPr/>
        </p:nvSpPr>
        <p:spPr>
          <a:xfrm>
            <a:off x="1344237" y="2761196"/>
            <a:ext cx="493800" cy="493800"/>
          </a:xfrm>
          <a:prstGeom prst="rect">
            <a:avLst/>
          </a:prstGeom>
          <a:solidFill>
            <a:srgbClr val="EED5FF"/>
          </a:solidFill>
          <a:ln cap="flat" cmpd="sng" w="15225">
            <a:solidFill>
              <a:srgbClr val="A855F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4" name="Google Shape;1194;p27"/>
          <p:cNvSpPr/>
          <p:nvPr/>
        </p:nvSpPr>
        <p:spPr>
          <a:xfrm>
            <a:off x="1344237" y="2761196"/>
            <a:ext cx="493800" cy="493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1400"/>
              <a:buFont typeface="Calibri"/>
              <a:buNone/>
            </a:pPr>
            <a:r>
              <a:rPr b="1" i="0" lang="en" sz="1400" u="none" cap="none" strike="noStrike">
                <a:solidFill>
                  <a:srgbClr val="1A2E42"/>
                </a:solidFill>
                <a:latin typeface="Calibri"/>
                <a:ea typeface="Calibri"/>
                <a:cs typeface="Calibri"/>
                <a:sym typeface="Calibri"/>
              </a:rPr>
              <a:t>17</a:t>
            </a:r>
            <a:endParaRPr b="0" i="0" sz="1400" u="none" cap="none" strike="noStrike">
              <a:solidFill>
                <a:schemeClr val="dk1"/>
              </a:solidFill>
              <a:latin typeface="Calibri"/>
              <a:ea typeface="Calibri"/>
              <a:cs typeface="Calibri"/>
              <a:sym typeface="Calibri"/>
            </a:endParaRPr>
          </a:p>
        </p:txBody>
      </p:sp>
      <p:sp>
        <p:nvSpPr>
          <p:cNvPr id="1195" name="Google Shape;1195;p27"/>
          <p:cNvSpPr/>
          <p:nvPr/>
        </p:nvSpPr>
        <p:spPr>
          <a:xfrm>
            <a:off x="1874588" y="2761196"/>
            <a:ext cx="493800" cy="493800"/>
          </a:xfrm>
          <a:prstGeom prst="rect">
            <a:avLst/>
          </a:prstGeom>
          <a:solidFill>
            <a:srgbClr val="EED5FF"/>
          </a:solidFill>
          <a:ln cap="flat" cmpd="sng" w="15225">
            <a:solidFill>
              <a:srgbClr val="A855F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6" name="Google Shape;1196;p27"/>
          <p:cNvSpPr/>
          <p:nvPr/>
        </p:nvSpPr>
        <p:spPr>
          <a:xfrm>
            <a:off x="1874588" y="2761196"/>
            <a:ext cx="493800" cy="493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1400"/>
              <a:buFont typeface="Calibri"/>
              <a:buNone/>
            </a:pPr>
            <a:r>
              <a:rPr b="1" i="0" lang="en" sz="1400" u="none" cap="none" strike="noStrike">
                <a:solidFill>
                  <a:srgbClr val="1A2E42"/>
                </a:solidFill>
                <a:latin typeface="Calibri"/>
                <a:ea typeface="Calibri"/>
                <a:cs typeface="Calibri"/>
                <a:sym typeface="Calibri"/>
              </a:rPr>
              <a:t>25</a:t>
            </a:r>
            <a:endParaRPr b="0" i="0" sz="1400" u="none" cap="none" strike="noStrike">
              <a:solidFill>
                <a:schemeClr val="dk1"/>
              </a:solidFill>
              <a:latin typeface="Calibri"/>
              <a:ea typeface="Calibri"/>
              <a:cs typeface="Calibri"/>
              <a:sym typeface="Calibri"/>
            </a:endParaRPr>
          </a:p>
        </p:txBody>
      </p:sp>
      <p:sp>
        <p:nvSpPr>
          <p:cNvPr id="1197" name="Google Shape;1197;p27"/>
          <p:cNvSpPr/>
          <p:nvPr/>
        </p:nvSpPr>
        <p:spPr>
          <a:xfrm>
            <a:off x="1307661" y="1115276"/>
            <a:ext cx="36600" cy="2194500"/>
          </a:xfrm>
          <a:prstGeom prst="rect">
            <a:avLst/>
          </a:prstGeom>
          <a:solidFill>
            <a:srgbClr val="1A2E4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8" name="Google Shape;1198;p27"/>
          <p:cNvSpPr/>
          <p:nvPr/>
        </p:nvSpPr>
        <p:spPr>
          <a:xfrm>
            <a:off x="228668" y="2194268"/>
            <a:ext cx="2194500" cy="36600"/>
          </a:xfrm>
          <a:prstGeom prst="rect">
            <a:avLst/>
          </a:prstGeom>
          <a:solidFill>
            <a:srgbClr val="1A2E4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9" name="Google Shape;1199;p27"/>
          <p:cNvSpPr/>
          <p:nvPr/>
        </p:nvSpPr>
        <p:spPr>
          <a:xfrm>
            <a:off x="3255332" y="1810220"/>
            <a:ext cx="1280100" cy="548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6080"/>
              </a:buClr>
              <a:buSzPts val="1000"/>
              <a:buFont typeface="Calibri"/>
              <a:buNone/>
            </a:pPr>
            <a:r>
              <a:rPr b="0" i="1" lang="en" sz="1000" u="none" cap="none" strike="noStrike">
                <a:solidFill>
                  <a:srgbClr val="1A6080"/>
                </a:solidFill>
                <a:latin typeface="Calibri"/>
                <a:ea typeface="Calibri"/>
                <a:cs typeface="Calibri"/>
                <a:sym typeface="Calibri"/>
              </a:rPr>
              <a:t>Max Pool</a:t>
            </a:r>
            <a:endParaRPr b="0" i="0" sz="10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1A6080"/>
              </a:buClr>
              <a:buSzPts val="1000"/>
              <a:buFont typeface="Calibri"/>
              <a:buNone/>
            </a:pPr>
            <a:r>
              <a:rPr b="0" i="1" lang="en" sz="1000" u="none" cap="none" strike="noStrike">
                <a:solidFill>
                  <a:srgbClr val="1A6080"/>
                </a:solidFill>
                <a:latin typeface="Calibri"/>
                <a:ea typeface="Calibri"/>
                <a:cs typeface="Calibri"/>
                <a:sym typeface="Calibri"/>
              </a:rPr>
              <a:t>(2×2, stride 2)</a:t>
            </a:r>
            <a:endParaRPr b="0" i="0" sz="1000" u="none" cap="none" strike="noStrike">
              <a:solidFill>
                <a:schemeClr val="dk1"/>
              </a:solidFill>
              <a:latin typeface="Calibri"/>
              <a:ea typeface="Calibri"/>
              <a:cs typeface="Calibri"/>
              <a:sym typeface="Calibri"/>
            </a:endParaRPr>
          </a:p>
        </p:txBody>
      </p:sp>
      <p:sp>
        <p:nvSpPr>
          <p:cNvPr id="1200" name="Google Shape;1200;p27"/>
          <p:cNvSpPr/>
          <p:nvPr/>
        </p:nvSpPr>
        <p:spPr>
          <a:xfrm>
            <a:off x="3392493" y="2267420"/>
            <a:ext cx="1005900" cy="411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B4D8"/>
              </a:buClr>
              <a:buSzPts val="2400"/>
              <a:buFont typeface="Calibri"/>
              <a:buNone/>
            </a:pPr>
            <a:r>
              <a:rPr b="0" i="0" lang="en" sz="2400" u="none" cap="none" strike="noStrike">
                <a:solidFill>
                  <a:srgbClr val="00B4D8"/>
                </a:solidFill>
                <a:latin typeface="Calibri"/>
                <a:ea typeface="Calibri"/>
                <a:cs typeface="Calibri"/>
                <a:sym typeface="Calibri"/>
              </a:rPr>
              <a:t>→</a:t>
            </a:r>
            <a:endParaRPr b="0" i="0" sz="2400" u="none" cap="none" strike="noStrike">
              <a:solidFill>
                <a:schemeClr val="dk1"/>
              </a:solidFill>
              <a:latin typeface="Calibri"/>
              <a:ea typeface="Calibri"/>
              <a:cs typeface="Calibri"/>
              <a:sym typeface="Calibri"/>
            </a:endParaRPr>
          </a:p>
        </p:txBody>
      </p:sp>
      <p:sp>
        <p:nvSpPr>
          <p:cNvPr id="1201" name="Google Shape;1201;p27"/>
          <p:cNvSpPr/>
          <p:nvPr/>
        </p:nvSpPr>
        <p:spPr>
          <a:xfrm>
            <a:off x="4672653" y="941540"/>
            <a:ext cx="27432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6080"/>
              </a:buClr>
              <a:buSzPts val="1100"/>
              <a:buFont typeface="Calibri"/>
              <a:buNone/>
            </a:pPr>
            <a:r>
              <a:rPr b="0" i="0" lang="en" sz="1100" u="none" cap="none" strike="noStrike">
                <a:solidFill>
                  <a:srgbClr val="1A6080"/>
                </a:solidFill>
                <a:latin typeface="Calibri"/>
                <a:ea typeface="Calibri"/>
                <a:cs typeface="Calibri"/>
                <a:sym typeface="Calibri"/>
              </a:rPr>
              <a:t>Max-pooled output  (2×2)</a:t>
            </a:r>
            <a:endParaRPr b="0" i="0" sz="1100" u="none" cap="none" strike="noStrike">
              <a:solidFill>
                <a:schemeClr val="dk1"/>
              </a:solidFill>
              <a:latin typeface="Calibri"/>
              <a:ea typeface="Calibri"/>
              <a:cs typeface="Calibri"/>
              <a:sym typeface="Calibri"/>
            </a:endParaRPr>
          </a:p>
        </p:txBody>
      </p:sp>
      <p:sp>
        <p:nvSpPr>
          <p:cNvPr id="1202" name="Google Shape;1202;p27"/>
          <p:cNvSpPr/>
          <p:nvPr/>
        </p:nvSpPr>
        <p:spPr>
          <a:xfrm>
            <a:off x="4672653" y="1170140"/>
            <a:ext cx="658500" cy="658500"/>
          </a:xfrm>
          <a:prstGeom prst="rect">
            <a:avLst/>
          </a:prstGeom>
          <a:solidFill>
            <a:srgbClr val="C5E4F5"/>
          </a:solidFill>
          <a:ln cap="flat" cmpd="sng" w="254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3" name="Google Shape;1203;p27"/>
          <p:cNvSpPr/>
          <p:nvPr/>
        </p:nvSpPr>
        <p:spPr>
          <a:xfrm>
            <a:off x="4672653" y="1170140"/>
            <a:ext cx="658500" cy="658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2200"/>
              <a:buFont typeface="Calibri"/>
              <a:buNone/>
            </a:pPr>
            <a:r>
              <a:rPr b="1" i="0" lang="en" sz="2200" u="none" cap="none" strike="noStrike">
                <a:solidFill>
                  <a:srgbClr val="1A2E42"/>
                </a:solidFill>
                <a:latin typeface="Calibri"/>
                <a:ea typeface="Calibri"/>
                <a:cs typeface="Calibri"/>
                <a:sym typeface="Calibri"/>
              </a:rPr>
              <a:t>36</a:t>
            </a:r>
            <a:endParaRPr b="0" i="0" sz="2200" u="none" cap="none" strike="noStrike">
              <a:solidFill>
                <a:schemeClr val="dk1"/>
              </a:solidFill>
              <a:latin typeface="Calibri"/>
              <a:ea typeface="Calibri"/>
              <a:cs typeface="Calibri"/>
              <a:sym typeface="Calibri"/>
            </a:endParaRPr>
          </a:p>
        </p:txBody>
      </p:sp>
      <p:sp>
        <p:nvSpPr>
          <p:cNvPr id="1204" name="Google Shape;1204;p27"/>
          <p:cNvSpPr/>
          <p:nvPr/>
        </p:nvSpPr>
        <p:spPr>
          <a:xfrm>
            <a:off x="5404173" y="1170140"/>
            <a:ext cx="658500" cy="658500"/>
          </a:xfrm>
          <a:prstGeom prst="rect">
            <a:avLst/>
          </a:prstGeom>
          <a:solidFill>
            <a:srgbClr val="C8EED8"/>
          </a:solidFill>
          <a:ln cap="flat" cmpd="sng" w="25400">
            <a:solidFill>
              <a:srgbClr val="1D9E7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5" name="Google Shape;1205;p27"/>
          <p:cNvSpPr/>
          <p:nvPr/>
        </p:nvSpPr>
        <p:spPr>
          <a:xfrm>
            <a:off x="5404173" y="1170140"/>
            <a:ext cx="658500" cy="658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2200"/>
              <a:buFont typeface="Calibri"/>
              <a:buNone/>
            </a:pPr>
            <a:r>
              <a:rPr b="1" i="0" lang="en" sz="2200" u="none" cap="none" strike="noStrike">
                <a:solidFill>
                  <a:srgbClr val="1A2E42"/>
                </a:solidFill>
                <a:latin typeface="Calibri"/>
                <a:ea typeface="Calibri"/>
                <a:cs typeface="Calibri"/>
                <a:sym typeface="Calibri"/>
              </a:rPr>
              <a:t>14</a:t>
            </a:r>
            <a:endParaRPr b="0" i="0" sz="2200" u="none" cap="none" strike="noStrike">
              <a:solidFill>
                <a:schemeClr val="dk1"/>
              </a:solidFill>
              <a:latin typeface="Calibri"/>
              <a:ea typeface="Calibri"/>
              <a:cs typeface="Calibri"/>
              <a:sym typeface="Calibri"/>
            </a:endParaRPr>
          </a:p>
        </p:txBody>
      </p:sp>
      <p:sp>
        <p:nvSpPr>
          <p:cNvPr id="1206" name="Google Shape;1206;p27"/>
          <p:cNvSpPr/>
          <p:nvPr/>
        </p:nvSpPr>
        <p:spPr>
          <a:xfrm>
            <a:off x="4672653" y="1901660"/>
            <a:ext cx="658500" cy="658500"/>
          </a:xfrm>
          <a:prstGeom prst="rect">
            <a:avLst/>
          </a:prstGeom>
          <a:solidFill>
            <a:srgbClr val="FDDEBA"/>
          </a:solidFill>
          <a:ln cap="flat" cmpd="sng" w="25400">
            <a:solidFill>
              <a:srgbClr val="E67E2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7" name="Google Shape;1207;p27"/>
          <p:cNvSpPr/>
          <p:nvPr/>
        </p:nvSpPr>
        <p:spPr>
          <a:xfrm>
            <a:off x="4672653" y="1901660"/>
            <a:ext cx="658500" cy="658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2200"/>
              <a:buFont typeface="Calibri"/>
              <a:buNone/>
            </a:pPr>
            <a:r>
              <a:rPr b="1" i="0" lang="en" sz="2200" u="none" cap="none" strike="noStrike">
                <a:solidFill>
                  <a:srgbClr val="1A2E42"/>
                </a:solidFill>
                <a:latin typeface="Calibri"/>
                <a:ea typeface="Calibri"/>
                <a:cs typeface="Calibri"/>
                <a:sym typeface="Calibri"/>
              </a:rPr>
              <a:t>11</a:t>
            </a:r>
            <a:endParaRPr b="0" i="0" sz="2200" u="none" cap="none" strike="noStrike">
              <a:solidFill>
                <a:schemeClr val="dk1"/>
              </a:solidFill>
              <a:latin typeface="Calibri"/>
              <a:ea typeface="Calibri"/>
              <a:cs typeface="Calibri"/>
              <a:sym typeface="Calibri"/>
            </a:endParaRPr>
          </a:p>
        </p:txBody>
      </p:sp>
      <p:sp>
        <p:nvSpPr>
          <p:cNvPr id="1208" name="Google Shape;1208;p27"/>
          <p:cNvSpPr/>
          <p:nvPr/>
        </p:nvSpPr>
        <p:spPr>
          <a:xfrm>
            <a:off x="5404173" y="1901660"/>
            <a:ext cx="658500" cy="658500"/>
          </a:xfrm>
          <a:prstGeom prst="rect">
            <a:avLst/>
          </a:prstGeom>
          <a:solidFill>
            <a:srgbClr val="EED5FF"/>
          </a:solidFill>
          <a:ln cap="flat" cmpd="sng" w="25400">
            <a:solidFill>
              <a:srgbClr val="A855F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9" name="Google Shape;1209;p27"/>
          <p:cNvSpPr/>
          <p:nvPr/>
        </p:nvSpPr>
        <p:spPr>
          <a:xfrm>
            <a:off x="5404173" y="1901660"/>
            <a:ext cx="658500" cy="658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2200"/>
              <a:buFont typeface="Calibri"/>
              <a:buNone/>
            </a:pPr>
            <a:r>
              <a:rPr b="1" i="0" lang="en" sz="2200" u="none" cap="none" strike="noStrike">
                <a:solidFill>
                  <a:srgbClr val="1A2E42"/>
                </a:solidFill>
                <a:latin typeface="Calibri"/>
                <a:ea typeface="Calibri"/>
                <a:cs typeface="Calibri"/>
                <a:sym typeface="Calibri"/>
              </a:rPr>
              <a:t>30</a:t>
            </a:r>
            <a:endParaRPr b="0" i="0" sz="2200" u="none" cap="none" strike="noStrike">
              <a:solidFill>
                <a:schemeClr val="dk1"/>
              </a:solidFill>
              <a:latin typeface="Calibri"/>
              <a:ea typeface="Calibri"/>
              <a:cs typeface="Calibri"/>
              <a:sym typeface="Calibri"/>
            </a:endParaRPr>
          </a:p>
        </p:txBody>
      </p:sp>
      <p:sp>
        <p:nvSpPr>
          <p:cNvPr id="1210" name="Google Shape;1210;p27"/>
          <p:cNvSpPr/>
          <p:nvPr/>
        </p:nvSpPr>
        <p:spPr>
          <a:xfrm>
            <a:off x="283532" y="4004780"/>
            <a:ext cx="8595300" cy="1005900"/>
          </a:xfrm>
          <a:prstGeom prst="rect">
            <a:avLst/>
          </a:prstGeom>
          <a:solidFill>
            <a:srgbClr val="DDE8F5"/>
          </a:solidFill>
          <a:ln>
            <a:noFill/>
          </a:ln>
          <a:effectLst>
            <a:outerShdw blurRad="101600" rotWithShape="0" algn="bl" dir="8100000" dist="38100">
              <a:srgbClr val="000000">
                <a:alpha val="14902"/>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1" name="Google Shape;1211;p27"/>
          <p:cNvSpPr/>
          <p:nvPr/>
        </p:nvSpPr>
        <p:spPr>
          <a:xfrm>
            <a:off x="283532" y="4004780"/>
            <a:ext cx="8595300" cy="45600"/>
          </a:xfrm>
          <a:prstGeom prst="rect">
            <a:avLst/>
          </a:prstGeom>
          <a:solidFill>
            <a:srgbClr val="00B4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2" name="Google Shape;1212;p27"/>
          <p:cNvSpPr/>
          <p:nvPr/>
        </p:nvSpPr>
        <p:spPr>
          <a:xfrm>
            <a:off x="466413" y="4077932"/>
            <a:ext cx="82296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6080"/>
              </a:buClr>
              <a:buSzPts val="1100"/>
              <a:buFont typeface="Calibri"/>
              <a:buNone/>
            </a:pPr>
            <a:r>
              <a:rPr b="1" i="0" lang="en" sz="1100" u="none" cap="none" strike="noStrike">
                <a:solidFill>
                  <a:srgbClr val="1A6080"/>
                </a:solidFill>
                <a:latin typeface="Calibri"/>
                <a:ea typeface="Calibri"/>
                <a:cs typeface="Calibri"/>
                <a:sym typeface="Calibri"/>
              </a:rPr>
              <a:t>Window colour key  +  How Max Pooling works:</a:t>
            </a:r>
            <a:endParaRPr b="0" i="0" sz="1100" u="none" cap="none" strike="noStrike">
              <a:solidFill>
                <a:schemeClr val="dk1"/>
              </a:solidFill>
              <a:latin typeface="Calibri"/>
              <a:ea typeface="Calibri"/>
              <a:cs typeface="Calibri"/>
              <a:sym typeface="Calibri"/>
            </a:endParaRPr>
          </a:p>
        </p:txBody>
      </p:sp>
      <p:sp>
        <p:nvSpPr>
          <p:cNvPr id="1213" name="Google Shape;1213;p27"/>
          <p:cNvSpPr/>
          <p:nvPr/>
        </p:nvSpPr>
        <p:spPr>
          <a:xfrm>
            <a:off x="466413" y="4809452"/>
            <a:ext cx="82296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6070"/>
              </a:buClr>
              <a:buSzPts val="1050"/>
              <a:buFont typeface="Calibri"/>
              <a:buNone/>
            </a:pPr>
            <a:r>
              <a:rPr b="0" i="0" lang="en" sz="1050" u="none" cap="none" strike="noStrike">
                <a:solidFill>
                  <a:srgbClr val="2A6070"/>
                </a:solidFill>
                <a:latin typeface="Calibri"/>
                <a:ea typeface="Calibri"/>
                <a:cs typeface="Calibri"/>
                <a:sym typeface="Calibri"/>
              </a:rPr>
              <a:t>Each 2×2 window slides with stride 2 — max value per window fills one output cell → 4×4 becomes 2×2.</a:t>
            </a:r>
            <a:endParaRPr b="0" i="0" sz="1050" u="none" cap="none" strike="noStrike">
              <a:solidFill>
                <a:schemeClr val="dk1"/>
              </a:solidFill>
              <a:latin typeface="Calibri"/>
              <a:ea typeface="Calibri"/>
              <a:cs typeface="Calibri"/>
              <a:sym typeface="Calibri"/>
            </a:endParaRPr>
          </a:p>
        </p:txBody>
      </p:sp>
      <p:sp>
        <p:nvSpPr>
          <p:cNvPr id="1214" name="Google Shape;1214;p27"/>
          <p:cNvSpPr/>
          <p:nvPr/>
        </p:nvSpPr>
        <p:spPr>
          <a:xfrm>
            <a:off x="466413" y="4352252"/>
            <a:ext cx="146400" cy="146400"/>
          </a:xfrm>
          <a:prstGeom prst="rect">
            <a:avLst/>
          </a:prstGeom>
          <a:solidFill>
            <a:srgbClr val="00B4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5" name="Google Shape;1215;p27"/>
          <p:cNvSpPr/>
          <p:nvPr/>
        </p:nvSpPr>
        <p:spPr>
          <a:xfrm>
            <a:off x="685869" y="4324820"/>
            <a:ext cx="39318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5068"/>
              </a:buClr>
              <a:buSzPts val="1050"/>
              <a:buFont typeface="Calibri"/>
              <a:buNone/>
            </a:pPr>
            <a:r>
              <a:rPr b="0" i="0" lang="en" sz="1050" u="none" cap="none" strike="noStrike">
                <a:solidFill>
                  <a:srgbClr val="2A5068"/>
                </a:solidFill>
                <a:latin typeface="Calibri"/>
                <a:ea typeface="Calibri"/>
                <a:cs typeface="Calibri"/>
                <a:sym typeface="Calibri"/>
              </a:rPr>
              <a:t>TL → max = 36</a:t>
            </a:r>
            <a:endParaRPr b="0" i="0" sz="1050" u="none" cap="none" strike="noStrike">
              <a:solidFill>
                <a:schemeClr val="dk1"/>
              </a:solidFill>
              <a:latin typeface="Calibri"/>
              <a:ea typeface="Calibri"/>
              <a:cs typeface="Calibri"/>
              <a:sym typeface="Calibri"/>
            </a:endParaRPr>
          </a:p>
        </p:txBody>
      </p:sp>
      <p:sp>
        <p:nvSpPr>
          <p:cNvPr id="1216" name="Google Shape;1216;p27"/>
          <p:cNvSpPr/>
          <p:nvPr/>
        </p:nvSpPr>
        <p:spPr>
          <a:xfrm>
            <a:off x="4764093" y="4352252"/>
            <a:ext cx="146400" cy="146400"/>
          </a:xfrm>
          <a:prstGeom prst="rect">
            <a:avLst/>
          </a:prstGeom>
          <a:solidFill>
            <a:srgbClr val="1D9E7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7" name="Google Shape;1217;p27"/>
          <p:cNvSpPr/>
          <p:nvPr/>
        </p:nvSpPr>
        <p:spPr>
          <a:xfrm>
            <a:off x="4983549" y="4324820"/>
            <a:ext cx="39318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5068"/>
              </a:buClr>
              <a:buSzPts val="1050"/>
              <a:buFont typeface="Calibri"/>
              <a:buNone/>
            </a:pPr>
            <a:r>
              <a:rPr b="0" i="0" lang="en" sz="1050" u="none" cap="none" strike="noStrike">
                <a:solidFill>
                  <a:srgbClr val="2A5068"/>
                </a:solidFill>
                <a:latin typeface="Calibri"/>
                <a:ea typeface="Calibri"/>
                <a:cs typeface="Calibri"/>
                <a:sym typeface="Calibri"/>
              </a:rPr>
              <a:t>TR → max = 14</a:t>
            </a:r>
            <a:endParaRPr b="0" i="0" sz="1050" u="none" cap="none" strike="noStrike">
              <a:solidFill>
                <a:schemeClr val="dk1"/>
              </a:solidFill>
              <a:latin typeface="Calibri"/>
              <a:ea typeface="Calibri"/>
              <a:cs typeface="Calibri"/>
              <a:sym typeface="Calibri"/>
            </a:endParaRPr>
          </a:p>
        </p:txBody>
      </p:sp>
      <p:sp>
        <p:nvSpPr>
          <p:cNvPr id="1218" name="Google Shape;1218;p27"/>
          <p:cNvSpPr/>
          <p:nvPr/>
        </p:nvSpPr>
        <p:spPr>
          <a:xfrm>
            <a:off x="466413" y="4608284"/>
            <a:ext cx="146400" cy="146400"/>
          </a:xfrm>
          <a:prstGeom prst="rect">
            <a:avLst/>
          </a:prstGeom>
          <a:solidFill>
            <a:srgbClr val="E67E2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9" name="Google Shape;1219;p27"/>
          <p:cNvSpPr/>
          <p:nvPr/>
        </p:nvSpPr>
        <p:spPr>
          <a:xfrm>
            <a:off x="685869" y="4580852"/>
            <a:ext cx="39318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5068"/>
              </a:buClr>
              <a:buSzPts val="1050"/>
              <a:buFont typeface="Calibri"/>
              <a:buNone/>
            </a:pPr>
            <a:r>
              <a:rPr b="0" i="0" lang="en" sz="1050" u="none" cap="none" strike="noStrike">
                <a:solidFill>
                  <a:srgbClr val="2A5068"/>
                </a:solidFill>
                <a:latin typeface="Calibri"/>
                <a:ea typeface="Calibri"/>
                <a:cs typeface="Calibri"/>
                <a:sym typeface="Calibri"/>
              </a:rPr>
              <a:t>BL → max = 11</a:t>
            </a:r>
            <a:endParaRPr b="0" i="0" sz="1050" u="none" cap="none" strike="noStrike">
              <a:solidFill>
                <a:schemeClr val="dk1"/>
              </a:solidFill>
              <a:latin typeface="Calibri"/>
              <a:ea typeface="Calibri"/>
              <a:cs typeface="Calibri"/>
              <a:sym typeface="Calibri"/>
            </a:endParaRPr>
          </a:p>
        </p:txBody>
      </p:sp>
      <p:sp>
        <p:nvSpPr>
          <p:cNvPr id="1220" name="Google Shape;1220;p27"/>
          <p:cNvSpPr/>
          <p:nvPr/>
        </p:nvSpPr>
        <p:spPr>
          <a:xfrm>
            <a:off x="4764093" y="4608284"/>
            <a:ext cx="146400" cy="146400"/>
          </a:xfrm>
          <a:prstGeom prst="rect">
            <a:avLst/>
          </a:prstGeom>
          <a:solidFill>
            <a:srgbClr val="A855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1" name="Google Shape;1221;p27"/>
          <p:cNvSpPr/>
          <p:nvPr/>
        </p:nvSpPr>
        <p:spPr>
          <a:xfrm>
            <a:off x="4983549" y="4580852"/>
            <a:ext cx="39318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5068"/>
              </a:buClr>
              <a:buSzPts val="1050"/>
              <a:buFont typeface="Calibri"/>
              <a:buNone/>
            </a:pPr>
            <a:r>
              <a:rPr b="0" i="0" lang="en" sz="1050" u="none" cap="none" strike="noStrike">
                <a:solidFill>
                  <a:srgbClr val="2A5068"/>
                </a:solidFill>
                <a:latin typeface="Calibri"/>
                <a:ea typeface="Calibri"/>
                <a:cs typeface="Calibri"/>
                <a:sym typeface="Calibri"/>
              </a:rPr>
              <a:t>BR → max = 30</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25" name="Shape 1225"/>
        <p:cNvGrpSpPr/>
        <p:nvPr/>
      </p:nvGrpSpPr>
      <p:grpSpPr>
        <a:xfrm>
          <a:off x="0" y="0"/>
          <a:ext cx="0" cy="0"/>
          <a:chOff x="0" y="0"/>
          <a:chExt cx="0" cy="0"/>
        </a:xfrm>
      </p:grpSpPr>
      <p:pic>
        <p:nvPicPr>
          <p:cNvPr id="1226" name="Google Shape;1226;p28"/>
          <p:cNvPicPr preferRelativeResize="0"/>
          <p:nvPr/>
        </p:nvPicPr>
        <p:blipFill rotWithShape="1">
          <a:blip r:embed="rId4">
            <a:alphaModFix/>
          </a:blip>
          <a:srcRect b="0" l="0" r="0" t="0"/>
          <a:stretch/>
        </p:blipFill>
        <p:spPr>
          <a:xfrm>
            <a:off x="8369125" y="0"/>
            <a:ext cx="774877" cy="867174"/>
          </a:xfrm>
          <a:prstGeom prst="rect">
            <a:avLst/>
          </a:prstGeom>
          <a:noFill/>
          <a:ln>
            <a:noFill/>
          </a:ln>
        </p:spPr>
      </p:pic>
      <p:sp>
        <p:nvSpPr>
          <p:cNvPr id="1227" name="Google Shape;1227;p28"/>
          <p:cNvSpPr txBox="1"/>
          <p:nvPr/>
        </p:nvSpPr>
        <p:spPr>
          <a:xfrm>
            <a:off x="1052950" y="98875"/>
            <a:ext cx="6618600" cy="768300"/>
          </a:xfrm>
          <a:prstGeom prst="rect">
            <a:avLst/>
          </a:prstGeom>
          <a:no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2600"/>
              <a:buFont typeface="Arial"/>
              <a:buNone/>
            </a:pPr>
            <a:r>
              <a:rPr b="1" i="0" lang="en" sz="2600" u="none" cap="none" strike="noStrike">
                <a:solidFill>
                  <a:srgbClr val="0D1B2A"/>
                </a:solidFill>
                <a:latin typeface="Calibri"/>
                <a:ea typeface="Calibri"/>
                <a:cs typeface="Calibri"/>
                <a:sym typeface="Calibri"/>
              </a:rPr>
              <a:t>Fully Connected Layer — Matrix Example</a:t>
            </a:r>
            <a:endParaRPr b="1" i="0" sz="2600" u="none" cap="none" strike="noStrike">
              <a:solidFill>
                <a:srgbClr val="0D1B2A"/>
              </a:solidFill>
              <a:latin typeface="Calibri"/>
              <a:ea typeface="Calibri"/>
              <a:cs typeface="Calibri"/>
              <a:sym typeface="Calibri"/>
            </a:endParaRPr>
          </a:p>
        </p:txBody>
      </p:sp>
      <p:sp>
        <p:nvSpPr>
          <p:cNvPr id="1228" name="Google Shape;1228;p28"/>
          <p:cNvSpPr/>
          <p:nvPr/>
        </p:nvSpPr>
        <p:spPr>
          <a:xfrm>
            <a:off x="274320" y="900002"/>
            <a:ext cx="50292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85FA5"/>
              </a:buClr>
              <a:buSzPts val="1100"/>
              <a:buFont typeface="Calibri"/>
              <a:buNone/>
            </a:pPr>
            <a:r>
              <a:rPr b="1" i="0" lang="en" sz="1100" u="none" cap="none" strike="noStrike">
                <a:solidFill>
                  <a:srgbClr val="185FA5"/>
                </a:solidFill>
                <a:latin typeface="Calibri"/>
                <a:ea typeface="Calibri"/>
                <a:cs typeface="Calibri"/>
                <a:sym typeface="Calibri"/>
              </a:rPr>
              <a:t>Step 1 — Flatten pooled feature map into a vector</a:t>
            </a:r>
            <a:endParaRPr b="0" i="0" sz="1100" u="none" cap="none" strike="noStrike">
              <a:solidFill>
                <a:schemeClr val="dk1"/>
              </a:solidFill>
              <a:latin typeface="Calibri"/>
              <a:ea typeface="Calibri"/>
              <a:cs typeface="Calibri"/>
              <a:sym typeface="Calibri"/>
            </a:endParaRPr>
          </a:p>
        </p:txBody>
      </p:sp>
      <p:sp>
        <p:nvSpPr>
          <p:cNvPr id="1229" name="Google Shape;1229;p28"/>
          <p:cNvSpPr/>
          <p:nvPr/>
        </p:nvSpPr>
        <p:spPr>
          <a:xfrm>
            <a:off x="274320" y="1170432"/>
            <a:ext cx="438900" cy="438900"/>
          </a:xfrm>
          <a:prstGeom prst="rect">
            <a:avLst/>
          </a:prstGeom>
          <a:solidFill>
            <a:srgbClr val="C8E8F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0" name="Google Shape;1230;p28"/>
          <p:cNvSpPr/>
          <p:nvPr/>
        </p:nvSpPr>
        <p:spPr>
          <a:xfrm>
            <a:off x="274320" y="1170432"/>
            <a:ext cx="438900" cy="438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1300"/>
              <a:buFont typeface="Calibri"/>
              <a:buNone/>
            </a:pPr>
            <a:r>
              <a:rPr b="1" i="0" lang="en" sz="1300" u="none" cap="none" strike="noStrike">
                <a:solidFill>
                  <a:srgbClr val="1A2E42"/>
                </a:solidFill>
                <a:latin typeface="Calibri"/>
                <a:ea typeface="Calibri"/>
                <a:cs typeface="Calibri"/>
                <a:sym typeface="Calibri"/>
              </a:rPr>
              <a:t>36</a:t>
            </a:r>
            <a:endParaRPr b="0" i="0" sz="1300" u="none" cap="none" strike="noStrike">
              <a:solidFill>
                <a:schemeClr val="dk1"/>
              </a:solidFill>
              <a:latin typeface="Calibri"/>
              <a:ea typeface="Calibri"/>
              <a:cs typeface="Calibri"/>
              <a:sym typeface="Calibri"/>
            </a:endParaRPr>
          </a:p>
        </p:txBody>
      </p:sp>
      <p:sp>
        <p:nvSpPr>
          <p:cNvPr id="1231" name="Google Shape;1231;p28"/>
          <p:cNvSpPr/>
          <p:nvPr/>
        </p:nvSpPr>
        <p:spPr>
          <a:xfrm>
            <a:off x="758952" y="1170432"/>
            <a:ext cx="438900" cy="438900"/>
          </a:xfrm>
          <a:prstGeom prst="rect">
            <a:avLst/>
          </a:prstGeom>
          <a:solidFill>
            <a:srgbClr val="C8E8F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2" name="Google Shape;1232;p28"/>
          <p:cNvSpPr/>
          <p:nvPr/>
        </p:nvSpPr>
        <p:spPr>
          <a:xfrm>
            <a:off x="758952" y="1170432"/>
            <a:ext cx="438900" cy="438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1300"/>
              <a:buFont typeface="Calibri"/>
              <a:buNone/>
            </a:pPr>
            <a:r>
              <a:rPr b="1" i="0" lang="en" sz="1300" u="none" cap="none" strike="noStrike">
                <a:solidFill>
                  <a:srgbClr val="1A2E42"/>
                </a:solidFill>
                <a:latin typeface="Calibri"/>
                <a:ea typeface="Calibri"/>
                <a:cs typeface="Calibri"/>
                <a:sym typeface="Calibri"/>
              </a:rPr>
              <a:t>22</a:t>
            </a:r>
            <a:endParaRPr b="0" i="0" sz="1300" u="none" cap="none" strike="noStrike">
              <a:solidFill>
                <a:schemeClr val="dk1"/>
              </a:solidFill>
              <a:latin typeface="Calibri"/>
              <a:ea typeface="Calibri"/>
              <a:cs typeface="Calibri"/>
              <a:sym typeface="Calibri"/>
            </a:endParaRPr>
          </a:p>
        </p:txBody>
      </p:sp>
      <p:sp>
        <p:nvSpPr>
          <p:cNvPr id="1233" name="Google Shape;1233;p28"/>
          <p:cNvSpPr/>
          <p:nvPr/>
        </p:nvSpPr>
        <p:spPr>
          <a:xfrm>
            <a:off x="274320" y="1655064"/>
            <a:ext cx="438900" cy="438900"/>
          </a:xfrm>
          <a:prstGeom prst="rect">
            <a:avLst/>
          </a:prstGeom>
          <a:solidFill>
            <a:srgbClr val="C8E8F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4" name="Google Shape;1234;p28"/>
          <p:cNvSpPr/>
          <p:nvPr/>
        </p:nvSpPr>
        <p:spPr>
          <a:xfrm>
            <a:off x="274320" y="1655064"/>
            <a:ext cx="438900" cy="438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1300"/>
              <a:buFont typeface="Calibri"/>
              <a:buNone/>
            </a:pPr>
            <a:r>
              <a:rPr b="1" i="0" lang="en" sz="1300" u="none" cap="none" strike="noStrike">
                <a:solidFill>
                  <a:srgbClr val="1A2E42"/>
                </a:solidFill>
                <a:latin typeface="Calibri"/>
                <a:ea typeface="Calibri"/>
                <a:cs typeface="Calibri"/>
                <a:sym typeface="Calibri"/>
              </a:rPr>
              <a:t>30</a:t>
            </a:r>
            <a:endParaRPr b="0" i="0" sz="1300" u="none" cap="none" strike="noStrike">
              <a:solidFill>
                <a:schemeClr val="dk1"/>
              </a:solidFill>
              <a:latin typeface="Calibri"/>
              <a:ea typeface="Calibri"/>
              <a:cs typeface="Calibri"/>
              <a:sym typeface="Calibri"/>
            </a:endParaRPr>
          </a:p>
        </p:txBody>
      </p:sp>
      <p:sp>
        <p:nvSpPr>
          <p:cNvPr id="1235" name="Google Shape;1235;p28"/>
          <p:cNvSpPr/>
          <p:nvPr/>
        </p:nvSpPr>
        <p:spPr>
          <a:xfrm>
            <a:off x="758952" y="1655064"/>
            <a:ext cx="438900" cy="438900"/>
          </a:xfrm>
          <a:prstGeom prst="rect">
            <a:avLst/>
          </a:prstGeom>
          <a:solidFill>
            <a:srgbClr val="C8E8F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6" name="Google Shape;1236;p28"/>
          <p:cNvSpPr/>
          <p:nvPr/>
        </p:nvSpPr>
        <p:spPr>
          <a:xfrm>
            <a:off x="758952" y="1655064"/>
            <a:ext cx="438900" cy="438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1300"/>
              <a:buFont typeface="Calibri"/>
              <a:buNone/>
            </a:pPr>
            <a:r>
              <a:rPr b="1" i="0" lang="en" sz="1300" u="none" cap="none" strike="noStrike">
                <a:solidFill>
                  <a:srgbClr val="1A2E42"/>
                </a:solidFill>
                <a:latin typeface="Calibri"/>
                <a:ea typeface="Calibri"/>
                <a:cs typeface="Calibri"/>
                <a:sym typeface="Calibri"/>
              </a:rPr>
              <a:t>25</a:t>
            </a:r>
            <a:endParaRPr b="0" i="0" sz="1300" u="none" cap="none" strike="noStrike">
              <a:solidFill>
                <a:schemeClr val="dk1"/>
              </a:solidFill>
              <a:latin typeface="Calibri"/>
              <a:ea typeface="Calibri"/>
              <a:cs typeface="Calibri"/>
              <a:sym typeface="Calibri"/>
            </a:endParaRPr>
          </a:p>
        </p:txBody>
      </p:sp>
      <p:sp>
        <p:nvSpPr>
          <p:cNvPr id="1237" name="Google Shape;1237;p28"/>
          <p:cNvSpPr/>
          <p:nvPr/>
        </p:nvSpPr>
        <p:spPr>
          <a:xfrm>
            <a:off x="1371600" y="1353312"/>
            <a:ext cx="685800" cy="548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4748B"/>
              </a:buClr>
              <a:buSzPts val="1100"/>
              <a:buFont typeface="Calibri"/>
              <a:buNone/>
            </a:pPr>
            <a:r>
              <a:rPr b="0" i="1" lang="en" sz="1100" u="none" cap="none" strike="noStrike">
                <a:solidFill>
                  <a:srgbClr val="64748B"/>
                </a:solidFill>
                <a:latin typeface="Calibri"/>
                <a:ea typeface="Calibri"/>
                <a:cs typeface="Calibri"/>
                <a:sym typeface="Calibri"/>
              </a:rPr>
              <a:t>→</a:t>
            </a:r>
            <a:endParaRPr b="0" i="0" sz="11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64748B"/>
              </a:buClr>
              <a:buSzPts val="1100"/>
              <a:buFont typeface="Calibri"/>
              <a:buNone/>
            </a:pPr>
            <a:r>
              <a:rPr b="0" i="1" lang="en" sz="1100" u="none" cap="none" strike="noStrike">
                <a:solidFill>
                  <a:srgbClr val="64748B"/>
                </a:solidFill>
                <a:latin typeface="Calibri"/>
                <a:ea typeface="Calibri"/>
                <a:cs typeface="Calibri"/>
                <a:sym typeface="Calibri"/>
              </a:rPr>
              <a:t>flatten</a:t>
            </a:r>
            <a:endParaRPr b="0" i="0" sz="1100" u="none" cap="none" strike="noStrike">
              <a:solidFill>
                <a:schemeClr val="dk1"/>
              </a:solidFill>
              <a:latin typeface="Calibri"/>
              <a:ea typeface="Calibri"/>
              <a:cs typeface="Calibri"/>
              <a:sym typeface="Calibri"/>
            </a:endParaRPr>
          </a:p>
        </p:txBody>
      </p:sp>
      <p:sp>
        <p:nvSpPr>
          <p:cNvPr id="1238" name="Google Shape;1238;p28"/>
          <p:cNvSpPr/>
          <p:nvPr/>
        </p:nvSpPr>
        <p:spPr>
          <a:xfrm>
            <a:off x="2148840" y="1371600"/>
            <a:ext cx="420600" cy="420600"/>
          </a:xfrm>
          <a:prstGeom prst="rect">
            <a:avLst/>
          </a:prstGeom>
          <a:solidFill>
            <a:srgbClr val="C8E8F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9" name="Google Shape;1239;p28"/>
          <p:cNvSpPr/>
          <p:nvPr/>
        </p:nvSpPr>
        <p:spPr>
          <a:xfrm>
            <a:off x="2148840" y="1371600"/>
            <a:ext cx="420600" cy="420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1300"/>
              <a:buFont typeface="Calibri"/>
              <a:buNone/>
            </a:pPr>
            <a:r>
              <a:rPr b="1" i="0" lang="en" sz="1300" u="none" cap="none" strike="noStrike">
                <a:solidFill>
                  <a:srgbClr val="1A2E42"/>
                </a:solidFill>
                <a:latin typeface="Calibri"/>
                <a:ea typeface="Calibri"/>
                <a:cs typeface="Calibri"/>
                <a:sym typeface="Calibri"/>
              </a:rPr>
              <a:t>36</a:t>
            </a:r>
            <a:endParaRPr b="0" i="0" sz="1300" u="none" cap="none" strike="noStrike">
              <a:solidFill>
                <a:schemeClr val="dk1"/>
              </a:solidFill>
              <a:latin typeface="Calibri"/>
              <a:ea typeface="Calibri"/>
              <a:cs typeface="Calibri"/>
              <a:sym typeface="Calibri"/>
            </a:endParaRPr>
          </a:p>
        </p:txBody>
      </p:sp>
      <p:sp>
        <p:nvSpPr>
          <p:cNvPr id="1240" name="Google Shape;1240;p28"/>
          <p:cNvSpPr/>
          <p:nvPr/>
        </p:nvSpPr>
        <p:spPr>
          <a:xfrm>
            <a:off x="2651760" y="1371600"/>
            <a:ext cx="420600" cy="420600"/>
          </a:xfrm>
          <a:prstGeom prst="rect">
            <a:avLst/>
          </a:prstGeom>
          <a:solidFill>
            <a:srgbClr val="C8E8F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1" name="Google Shape;1241;p28"/>
          <p:cNvSpPr/>
          <p:nvPr/>
        </p:nvSpPr>
        <p:spPr>
          <a:xfrm>
            <a:off x="2651760" y="1371600"/>
            <a:ext cx="420600" cy="420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1300"/>
              <a:buFont typeface="Calibri"/>
              <a:buNone/>
            </a:pPr>
            <a:r>
              <a:rPr b="1" i="0" lang="en" sz="1300" u="none" cap="none" strike="noStrike">
                <a:solidFill>
                  <a:srgbClr val="1A2E42"/>
                </a:solidFill>
                <a:latin typeface="Calibri"/>
                <a:ea typeface="Calibri"/>
                <a:cs typeface="Calibri"/>
                <a:sym typeface="Calibri"/>
              </a:rPr>
              <a:t>22</a:t>
            </a:r>
            <a:endParaRPr b="0" i="0" sz="1300" u="none" cap="none" strike="noStrike">
              <a:solidFill>
                <a:schemeClr val="dk1"/>
              </a:solidFill>
              <a:latin typeface="Calibri"/>
              <a:ea typeface="Calibri"/>
              <a:cs typeface="Calibri"/>
              <a:sym typeface="Calibri"/>
            </a:endParaRPr>
          </a:p>
        </p:txBody>
      </p:sp>
      <p:sp>
        <p:nvSpPr>
          <p:cNvPr id="1242" name="Google Shape;1242;p28"/>
          <p:cNvSpPr/>
          <p:nvPr/>
        </p:nvSpPr>
        <p:spPr>
          <a:xfrm>
            <a:off x="3154680" y="1371600"/>
            <a:ext cx="420600" cy="420600"/>
          </a:xfrm>
          <a:prstGeom prst="rect">
            <a:avLst/>
          </a:prstGeom>
          <a:solidFill>
            <a:srgbClr val="C8E8F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3" name="Google Shape;1243;p28"/>
          <p:cNvSpPr/>
          <p:nvPr/>
        </p:nvSpPr>
        <p:spPr>
          <a:xfrm>
            <a:off x="3154680" y="1371600"/>
            <a:ext cx="420600" cy="420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1300"/>
              <a:buFont typeface="Calibri"/>
              <a:buNone/>
            </a:pPr>
            <a:r>
              <a:rPr b="1" i="0" lang="en" sz="1300" u="none" cap="none" strike="noStrike">
                <a:solidFill>
                  <a:srgbClr val="1A2E42"/>
                </a:solidFill>
                <a:latin typeface="Calibri"/>
                <a:ea typeface="Calibri"/>
                <a:cs typeface="Calibri"/>
                <a:sym typeface="Calibri"/>
              </a:rPr>
              <a:t>30</a:t>
            </a:r>
            <a:endParaRPr b="0" i="0" sz="1300" u="none" cap="none" strike="noStrike">
              <a:solidFill>
                <a:schemeClr val="dk1"/>
              </a:solidFill>
              <a:latin typeface="Calibri"/>
              <a:ea typeface="Calibri"/>
              <a:cs typeface="Calibri"/>
              <a:sym typeface="Calibri"/>
            </a:endParaRPr>
          </a:p>
        </p:txBody>
      </p:sp>
      <p:sp>
        <p:nvSpPr>
          <p:cNvPr id="1244" name="Google Shape;1244;p28"/>
          <p:cNvSpPr/>
          <p:nvPr/>
        </p:nvSpPr>
        <p:spPr>
          <a:xfrm>
            <a:off x="3657600" y="1371600"/>
            <a:ext cx="420600" cy="420600"/>
          </a:xfrm>
          <a:prstGeom prst="rect">
            <a:avLst/>
          </a:prstGeom>
          <a:solidFill>
            <a:srgbClr val="C8E8F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5" name="Google Shape;1245;p28"/>
          <p:cNvSpPr/>
          <p:nvPr/>
        </p:nvSpPr>
        <p:spPr>
          <a:xfrm>
            <a:off x="3657600" y="1371600"/>
            <a:ext cx="420600" cy="420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1300"/>
              <a:buFont typeface="Calibri"/>
              <a:buNone/>
            </a:pPr>
            <a:r>
              <a:rPr b="1" i="0" lang="en" sz="1300" u="none" cap="none" strike="noStrike">
                <a:solidFill>
                  <a:srgbClr val="1A2E42"/>
                </a:solidFill>
                <a:latin typeface="Calibri"/>
                <a:ea typeface="Calibri"/>
                <a:cs typeface="Calibri"/>
                <a:sym typeface="Calibri"/>
              </a:rPr>
              <a:t>25</a:t>
            </a:r>
            <a:endParaRPr b="0" i="0" sz="1300" u="none" cap="none" strike="noStrike">
              <a:solidFill>
                <a:schemeClr val="dk1"/>
              </a:solidFill>
              <a:latin typeface="Calibri"/>
              <a:ea typeface="Calibri"/>
              <a:cs typeface="Calibri"/>
              <a:sym typeface="Calibri"/>
            </a:endParaRPr>
          </a:p>
        </p:txBody>
      </p:sp>
      <p:sp>
        <p:nvSpPr>
          <p:cNvPr id="1246" name="Google Shape;1246;p28"/>
          <p:cNvSpPr/>
          <p:nvPr/>
        </p:nvSpPr>
        <p:spPr>
          <a:xfrm>
            <a:off x="2148840" y="1847088"/>
            <a:ext cx="2194500" cy="228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4748B"/>
              </a:buClr>
              <a:buSzPts val="1000"/>
              <a:buFont typeface="Calibri"/>
              <a:buNone/>
            </a:pPr>
            <a:r>
              <a:rPr b="0" i="0" lang="en" sz="1000" u="none" cap="none" strike="noStrike">
                <a:solidFill>
                  <a:srgbClr val="64748B"/>
                </a:solidFill>
                <a:latin typeface="Calibri"/>
                <a:ea typeface="Calibri"/>
                <a:cs typeface="Calibri"/>
                <a:sym typeface="Calibri"/>
              </a:rPr>
              <a:t>x  (4×1 input vector)</a:t>
            </a:r>
            <a:endParaRPr b="0" i="0" sz="1000" u="none" cap="none" strike="noStrike">
              <a:solidFill>
                <a:schemeClr val="dk1"/>
              </a:solidFill>
              <a:latin typeface="Calibri"/>
              <a:ea typeface="Calibri"/>
              <a:cs typeface="Calibri"/>
              <a:sym typeface="Calibri"/>
            </a:endParaRPr>
          </a:p>
        </p:txBody>
      </p:sp>
      <p:sp>
        <p:nvSpPr>
          <p:cNvPr id="1247" name="Google Shape;1247;p28"/>
          <p:cNvSpPr/>
          <p:nvPr/>
        </p:nvSpPr>
        <p:spPr>
          <a:xfrm>
            <a:off x="274320" y="2148840"/>
            <a:ext cx="82296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85FA5"/>
              </a:buClr>
              <a:buSzPts val="1100"/>
              <a:buFont typeface="Calibri"/>
              <a:buNone/>
            </a:pPr>
            <a:r>
              <a:rPr b="1" i="0" lang="en" sz="1100" u="none" cap="none" strike="noStrike">
                <a:solidFill>
                  <a:srgbClr val="185FA5"/>
                </a:solidFill>
                <a:latin typeface="Calibri"/>
                <a:ea typeface="Calibri"/>
                <a:cs typeface="Calibri"/>
                <a:sym typeface="Calibri"/>
              </a:rPr>
              <a:t>Step 2 — Multiply by weight matrix  W  (3×4)  →  scores for 3 classes</a:t>
            </a:r>
            <a:endParaRPr b="0" i="0" sz="1100" u="none" cap="none" strike="noStrike">
              <a:solidFill>
                <a:schemeClr val="dk1"/>
              </a:solidFill>
              <a:latin typeface="Calibri"/>
              <a:ea typeface="Calibri"/>
              <a:cs typeface="Calibri"/>
              <a:sym typeface="Calibri"/>
            </a:endParaRPr>
          </a:p>
        </p:txBody>
      </p:sp>
      <p:sp>
        <p:nvSpPr>
          <p:cNvPr id="1248" name="Google Shape;1248;p28"/>
          <p:cNvSpPr/>
          <p:nvPr/>
        </p:nvSpPr>
        <p:spPr>
          <a:xfrm>
            <a:off x="256032" y="2990088"/>
            <a:ext cx="255900" cy="329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EFF6FF"/>
              </a:buClr>
              <a:buSzPts val="1400"/>
              <a:buFont typeface="Calibri"/>
              <a:buNone/>
            </a:pPr>
            <a:r>
              <a:rPr b="1" i="1" lang="en" sz="1400" u="none" cap="none" strike="noStrike">
                <a:solidFill>
                  <a:srgbClr val="EFF6FF"/>
                </a:solidFill>
                <a:latin typeface="Calibri"/>
                <a:ea typeface="Calibri"/>
                <a:cs typeface="Calibri"/>
                <a:sym typeface="Calibri"/>
              </a:rPr>
              <a:t>W</a:t>
            </a:r>
            <a:endParaRPr b="0" i="0" sz="1400" u="none" cap="none" strike="noStrike">
              <a:solidFill>
                <a:schemeClr val="dk1"/>
              </a:solidFill>
              <a:latin typeface="Calibri"/>
              <a:ea typeface="Calibri"/>
              <a:cs typeface="Calibri"/>
              <a:sym typeface="Calibri"/>
            </a:endParaRPr>
          </a:p>
        </p:txBody>
      </p:sp>
      <p:sp>
        <p:nvSpPr>
          <p:cNvPr id="1249" name="Google Shape;1249;p28"/>
          <p:cNvSpPr/>
          <p:nvPr/>
        </p:nvSpPr>
        <p:spPr>
          <a:xfrm>
            <a:off x="228600" y="3310128"/>
            <a:ext cx="365700" cy="201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4748B"/>
              </a:buClr>
              <a:buSzPts val="900"/>
              <a:buFont typeface="Calibri"/>
              <a:buNone/>
            </a:pPr>
            <a:r>
              <a:rPr b="0" i="0" lang="en" sz="900" u="none" cap="none" strike="noStrike">
                <a:solidFill>
                  <a:srgbClr val="64748B"/>
                </a:solidFill>
                <a:latin typeface="Calibri"/>
                <a:ea typeface="Calibri"/>
                <a:cs typeface="Calibri"/>
                <a:sym typeface="Calibri"/>
              </a:rPr>
              <a:t>(3×4)</a:t>
            </a:r>
            <a:endParaRPr b="0" i="0" sz="900" u="none" cap="none" strike="noStrike">
              <a:solidFill>
                <a:schemeClr val="dk1"/>
              </a:solidFill>
              <a:latin typeface="Calibri"/>
              <a:ea typeface="Calibri"/>
              <a:cs typeface="Calibri"/>
              <a:sym typeface="Calibri"/>
            </a:endParaRPr>
          </a:p>
        </p:txBody>
      </p:sp>
      <p:sp>
        <p:nvSpPr>
          <p:cNvPr id="1250" name="Google Shape;1250;p28"/>
          <p:cNvSpPr/>
          <p:nvPr/>
        </p:nvSpPr>
        <p:spPr>
          <a:xfrm>
            <a:off x="658368" y="2487168"/>
            <a:ext cx="548700" cy="301800"/>
          </a:xfrm>
          <a:prstGeom prst="rect">
            <a:avLst/>
          </a:prstGeom>
          <a:solidFill>
            <a:srgbClr val="E6F1FB"/>
          </a:solidFill>
          <a:ln cap="flat" cmpd="sng" w="9525">
            <a:solidFill>
              <a:srgbClr val="0C447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1" name="Google Shape;1251;p28"/>
          <p:cNvSpPr/>
          <p:nvPr/>
        </p:nvSpPr>
        <p:spPr>
          <a:xfrm>
            <a:off x="658368" y="2487168"/>
            <a:ext cx="548700" cy="301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C447C"/>
              </a:buClr>
              <a:buSzPts val="1100"/>
              <a:buFont typeface="Calibri"/>
              <a:buNone/>
            </a:pPr>
            <a:r>
              <a:rPr b="1" i="0" lang="en" sz="1100" u="none" cap="none" strike="noStrike">
                <a:solidFill>
                  <a:srgbClr val="0C447C"/>
                </a:solidFill>
                <a:latin typeface="Calibri"/>
                <a:ea typeface="Calibri"/>
                <a:cs typeface="Calibri"/>
                <a:sym typeface="Calibri"/>
              </a:rPr>
              <a:t>0.2</a:t>
            </a:r>
            <a:endParaRPr b="0" i="0" sz="1100" u="none" cap="none" strike="noStrike">
              <a:solidFill>
                <a:schemeClr val="dk1"/>
              </a:solidFill>
              <a:latin typeface="Calibri"/>
              <a:ea typeface="Calibri"/>
              <a:cs typeface="Calibri"/>
              <a:sym typeface="Calibri"/>
            </a:endParaRPr>
          </a:p>
        </p:txBody>
      </p:sp>
      <p:sp>
        <p:nvSpPr>
          <p:cNvPr id="1252" name="Google Shape;1252;p28"/>
          <p:cNvSpPr/>
          <p:nvPr/>
        </p:nvSpPr>
        <p:spPr>
          <a:xfrm>
            <a:off x="1243584" y="2487168"/>
            <a:ext cx="548700" cy="301800"/>
          </a:xfrm>
          <a:prstGeom prst="rect">
            <a:avLst/>
          </a:prstGeom>
          <a:solidFill>
            <a:srgbClr val="E6F1FB"/>
          </a:solidFill>
          <a:ln cap="flat" cmpd="sng" w="9525">
            <a:solidFill>
              <a:srgbClr val="0C447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3" name="Google Shape;1253;p28"/>
          <p:cNvSpPr/>
          <p:nvPr/>
        </p:nvSpPr>
        <p:spPr>
          <a:xfrm>
            <a:off x="1243584" y="2487168"/>
            <a:ext cx="548700" cy="301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C447C"/>
              </a:buClr>
              <a:buSzPts val="1100"/>
              <a:buFont typeface="Calibri"/>
              <a:buNone/>
            </a:pPr>
            <a:r>
              <a:rPr b="1" i="0" lang="en" sz="1100" u="none" cap="none" strike="noStrike">
                <a:solidFill>
                  <a:srgbClr val="0C447C"/>
                </a:solidFill>
                <a:latin typeface="Calibri"/>
                <a:ea typeface="Calibri"/>
                <a:cs typeface="Calibri"/>
                <a:sym typeface="Calibri"/>
              </a:rPr>
              <a:t>-0.1</a:t>
            </a:r>
            <a:endParaRPr b="0" i="0" sz="1100" u="none" cap="none" strike="noStrike">
              <a:solidFill>
                <a:schemeClr val="dk1"/>
              </a:solidFill>
              <a:latin typeface="Calibri"/>
              <a:ea typeface="Calibri"/>
              <a:cs typeface="Calibri"/>
              <a:sym typeface="Calibri"/>
            </a:endParaRPr>
          </a:p>
        </p:txBody>
      </p:sp>
      <p:sp>
        <p:nvSpPr>
          <p:cNvPr id="1254" name="Google Shape;1254;p28"/>
          <p:cNvSpPr/>
          <p:nvPr/>
        </p:nvSpPr>
        <p:spPr>
          <a:xfrm>
            <a:off x="1828800" y="2487168"/>
            <a:ext cx="548700" cy="301800"/>
          </a:xfrm>
          <a:prstGeom prst="rect">
            <a:avLst/>
          </a:prstGeom>
          <a:solidFill>
            <a:srgbClr val="E6F1FB"/>
          </a:solidFill>
          <a:ln cap="flat" cmpd="sng" w="9525">
            <a:solidFill>
              <a:srgbClr val="0C447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5" name="Google Shape;1255;p28"/>
          <p:cNvSpPr/>
          <p:nvPr/>
        </p:nvSpPr>
        <p:spPr>
          <a:xfrm>
            <a:off x="1828800" y="2487168"/>
            <a:ext cx="548700" cy="301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C447C"/>
              </a:buClr>
              <a:buSzPts val="1100"/>
              <a:buFont typeface="Calibri"/>
              <a:buNone/>
            </a:pPr>
            <a:r>
              <a:rPr b="1" i="0" lang="en" sz="1100" u="none" cap="none" strike="noStrike">
                <a:solidFill>
                  <a:srgbClr val="0C447C"/>
                </a:solidFill>
                <a:latin typeface="Calibri"/>
                <a:ea typeface="Calibri"/>
                <a:cs typeface="Calibri"/>
                <a:sym typeface="Calibri"/>
              </a:rPr>
              <a:t>0.4</a:t>
            </a:r>
            <a:endParaRPr b="0" i="0" sz="1100" u="none" cap="none" strike="noStrike">
              <a:solidFill>
                <a:schemeClr val="dk1"/>
              </a:solidFill>
              <a:latin typeface="Calibri"/>
              <a:ea typeface="Calibri"/>
              <a:cs typeface="Calibri"/>
              <a:sym typeface="Calibri"/>
            </a:endParaRPr>
          </a:p>
        </p:txBody>
      </p:sp>
      <p:sp>
        <p:nvSpPr>
          <p:cNvPr id="1256" name="Google Shape;1256;p28"/>
          <p:cNvSpPr/>
          <p:nvPr/>
        </p:nvSpPr>
        <p:spPr>
          <a:xfrm>
            <a:off x="2414016" y="2487168"/>
            <a:ext cx="548700" cy="301800"/>
          </a:xfrm>
          <a:prstGeom prst="rect">
            <a:avLst/>
          </a:prstGeom>
          <a:solidFill>
            <a:srgbClr val="E6F1FB"/>
          </a:solidFill>
          <a:ln cap="flat" cmpd="sng" w="9525">
            <a:solidFill>
              <a:srgbClr val="0C447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7" name="Google Shape;1257;p28"/>
          <p:cNvSpPr/>
          <p:nvPr/>
        </p:nvSpPr>
        <p:spPr>
          <a:xfrm>
            <a:off x="2414016" y="2487168"/>
            <a:ext cx="548700" cy="301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C447C"/>
              </a:buClr>
              <a:buSzPts val="1100"/>
              <a:buFont typeface="Calibri"/>
              <a:buNone/>
            </a:pPr>
            <a:r>
              <a:rPr b="1" i="0" lang="en" sz="1100" u="none" cap="none" strike="noStrike">
                <a:solidFill>
                  <a:srgbClr val="0C447C"/>
                </a:solidFill>
                <a:latin typeface="Calibri"/>
                <a:ea typeface="Calibri"/>
                <a:cs typeface="Calibri"/>
                <a:sym typeface="Calibri"/>
              </a:rPr>
              <a:t>0.1</a:t>
            </a:r>
            <a:endParaRPr b="0" i="0" sz="1100" u="none" cap="none" strike="noStrike">
              <a:solidFill>
                <a:schemeClr val="dk1"/>
              </a:solidFill>
              <a:latin typeface="Calibri"/>
              <a:ea typeface="Calibri"/>
              <a:cs typeface="Calibri"/>
              <a:sym typeface="Calibri"/>
            </a:endParaRPr>
          </a:p>
        </p:txBody>
      </p:sp>
      <p:sp>
        <p:nvSpPr>
          <p:cNvPr id="1258" name="Google Shape;1258;p28"/>
          <p:cNvSpPr/>
          <p:nvPr/>
        </p:nvSpPr>
        <p:spPr>
          <a:xfrm>
            <a:off x="658368" y="2825496"/>
            <a:ext cx="548700" cy="301800"/>
          </a:xfrm>
          <a:prstGeom prst="rect">
            <a:avLst/>
          </a:prstGeom>
          <a:solidFill>
            <a:srgbClr val="EAF3DE"/>
          </a:solidFill>
          <a:ln cap="flat" cmpd="sng" w="9525">
            <a:solidFill>
              <a:srgbClr val="3B6D1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9" name="Google Shape;1259;p28"/>
          <p:cNvSpPr/>
          <p:nvPr/>
        </p:nvSpPr>
        <p:spPr>
          <a:xfrm>
            <a:off x="658368" y="2825496"/>
            <a:ext cx="548700" cy="301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3B6D11"/>
              </a:buClr>
              <a:buSzPts val="1100"/>
              <a:buFont typeface="Calibri"/>
              <a:buNone/>
            </a:pPr>
            <a:r>
              <a:rPr b="1" i="0" lang="en" sz="1100" u="none" cap="none" strike="noStrike">
                <a:solidFill>
                  <a:srgbClr val="3B6D11"/>
                </a:solidFill>
                <a:latin typeface="Calibri"/>
                <a:ea typeface="Calibri"/>
                <a:cs typeface="Calibri"/>
                <a:sym typeface="Calibri"/>
              </a:rPr>
              <a:t>-0.3</a:t>
            </a:r>
            <a:endParaRPr b="0" i="0" sz="1100" u="none" cap="none" strike="noStrike">
              <a:solidFill>
                <a:schemeClr val="dk1"/>
              </a:solidFill>
              <a:latin typeface="Calibri"/>
              <a:ea typeface="Calibri"/>
              <a:cs typeface="Calibri"/>
              <a:sym typeface="Calibri"/>
            </a:endParaRPr>
          </a:p>
        </p:txBody>
      </p:sp>
      <p:sp>
        <p:nvSpPr>
          <p:cNvPr id="1260" name="Google Shape;1260;p28"/>
          <p:cNvSpPr/>
          <p:nvPr/>
        </p:nvSpPr>
        <p:spPr>
          <a:xfrm>
            <a:off x="1243584" y="2825496"/>
            <a:ext cx="548700" cy="301800"/>
          </a:xfrm>
          <a:prstGeom prst="rect">
            <a:avLst/>
          </a:prstGeom>
          <a:solidFill>
            <a:srgbClr val="EAF3DE"/>
          </a:solidFill>
          <a:ln cap="flat" cmpd="sng" w="9525">
            <a:solidFill>
              <a:srgbClr val="3B6D1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1" name="Google Shape;1261;p28"/>
          <p:cNvSpPr/>
          <p:nvPr/>
        </p:nvSpPr>
        <p:spPr>
          <a:xfrm>
            <a:off x="1243584" y="2825496"/>
            <a:ext cx="548700" cy="301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3B6D11"/>
              </a:buClr>
              <a:buSzPts val="1100"/>
              <a:buFont typeface="Calibri"/>
              <a:buNone/>
            </a:pPr>
            <a:r>
              <a:rPr b="1" i="0" lang="en" sz="1100" u="none" cap="none" strike="noStrike">
                <a:solidFill>
                  <a:srgbClr val="3B6D11"/>
                </a:solidFill>
                <a:latin typeface="Calibri"/>
                <a:ea typeface="Calibri"/>
                <a:cs typeface="Calibri"/>
                <a:sym typeface="Calibri"/>
              </a:rPr>
              <a:t>0.5</a:t>
            </a:r>
            <a:endParaRPr b="0" i="0" sz="1100" u="none" cap="none" strike="noStrike">
              <a:solidFill>
                <a:schemeClr val="dk1"/>
              </a:solidFill>
              <a:latin typeface="Calibri"/>
              <a:ea typeface="Calibri"/>
              <a:cs typeface="Calibri"/>
              <a:sym typeface="Calibri"/>
            </a:endParaRPr>
          </a:p>
        </p:txBody>
      </p:sp>
      <p:sp>
        <p:nvSpPr>
          <p:cNvPr id="1262" name="Google Shape;1262;p28"/>
          <p:cNvSpPr/>
          <p:nvPr/>
        </p:nvSpPr>
        <p:spPr>
          <a:xfrm>
            <a:off x="1828800" y="2825496"/>
            <a:ext cx="548700" cy="301800"/>
          </a:xfrm>
          <a:prstGeom prst="rect">
            <a:avLst/>
          </a:prstGeom>
          <a:solidFill>
            <a:srgbClr val="EAF3DE"/>
          </a:solidFill>
          <a:ln cap="flat" cmpd="sng" w="9525">
            <a:solidFill>
              <a:srgbClr val="3B6D1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3" name="Google Shape;1263;p28"/>
          <p:cNvSpPr/>
          <p:nvPr/>
        </p:nvSpPr>
        <p:spPr>
          <a:xfrm>
            <a:off x="1828800" y="2825496"/>
            <a:ext cx="548700" cy="301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3B6D11"/>
              </a:buClr>
              <a:buSzPts val="1100"/>
              <a:buFont typeface="Calibri"/>
              <a:buNone/>
            </a:pPr>
            <a:r>
              <a:rPr b="1" i="0" lang="en" sz="1100" u="none" cap="none" strike="noStrike">
                <a:solidFill>
                  <a:srgbClr val="3B6D11"/>
                </a:solidFill>
                <a:latin typeface="Calibri"/>
                <a:ea typeface="Calibri"/>
                <a:cs typeface="Calibri"/>
                <a:sym typeface="Calibri"/>
              </a:rPr>
              <a:t>0.1</a:t>
            </a:r>
            <a:endParaRPr b="0" i="0" sz="1100" u="none" cap="none" strike="noStrike">
              <a:solidFill>
                <a:schemeClr val="dk1"/>
              </a:solidFill>
              <a:latin typeface="Calibri"/>
              <a:ea typeface="Calibri"/>
              <a:cs typeface="Calibri"/>
              <a:sym typeface="Calibri"/>
            </a:endParaRPr>
          </a:p>
        </p:txBody>
      </p:sp>
      <p:sp>
        <p:nvSpPr>
          <p:cNvPr id="1264" name="Google Shape;1264;p28"/>
          <p:cNvSpPr/>
          <p:nvPr/>
        </p:nvSpPr>
        <p:spPr>
          <a:xfrm>
            <a:off x="2414016" y="2825496"/>
            <a:ext cx="548700" cy="301800"/>
          </a:xfrm>
          <a:prstGeom prst="rect">
            <a:avLst/>
          </a:prstGeom>
          <a:solidFill>
            <a:srgbClr val="EAF3DE"/>
          </a:solidFill>
          <a:ln cap="flat" cmpd="sng" w="9525">
            <a:solidFill>
              <a:srgbClr val="3B6D1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5" name="Google Shape;1265;p28"/>
          <p:cNvSpPr/>
          <p:nvPr/>
        </p:nvSpPr>
        <p:spPr>
          <a:xfrm>
            <a:off x="2414016" y="2825496"/>
            <a:ext cx="548700" cy="301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3B6D11"/>
              </a:buClr>
              <a:buSzPts val="1100"/>
              <a:buFont typeface="Calibri"/>
              <a:buNone/>
            </a:pPr>
            <a:r>
              <a:rPr b="1" i="0" lang="en" sz="1100" u="none" cap="none" strike="noStrike">
                <a:solidFill>
                  <a:srgbClr val="3B6D11"/>
                </a:solidFill>
                <a:latin typeface="Calibri"/>
                <a:ea typeface="Calibri"/>
                <a:cs typeface="Calibri"/>
                <a:sym typeface="Calibri"/>
              </a:rPr>
              <a:t>-0.2</a:t>
            </a:r>
            <a:endParaRPr b="0" i="0" sz="1100" u="none" cap="none" strike="noStrike">
              <a:solidFill>
                <a:schemeClr val="dk1"/>
              </a:solidFill>
              <a:latin typeface="Calibri"/>
              <a:ea typeface="Calibri"/>
              <a:cs typeface="Calibri"/>
              <a:sym typeface="Calibri"/>
            </a:endParaRPr>
          </a:p>
        </p:txBody>
      </p:sp>
      <p:sp>
        <p:nvSpPr>
          <p:cNvPr id="1266" name="Google Shape;1266;p28"/>
          <p:cNvSpPr/>
          <p:nvPr/>
        </p:nvSpPr>
        <p:spPr>
          <a:xfrm>
            <a:off x="658368" y="3163824"/>
            <a:ext cx="548700" cy="301800"/>
          </a:xfrm>
          <a:prstGeom prst="rect">
            <a:avLst/>
          </a:prstGeom>
          <a:solidFill>
            <a:srgbClr val="FAECE7"/>
          </a:solidFill>
          <a:ln cap="flat" cmpd="sng" w="9525">
            <a:solidFill>
              <a:srgbClr val="712B1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7" name="Google Shape;1267;p28"/>
          <p:cNvSpPr/>
          <p:nvPr/>
        </p:nvSpPr>
        <p:spPr>
          <a:xfrm>
            <a:off x="658368" y="3163824"/>
            <a:ext cx="548700" cy="301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12B13"/>
              </a:buClr>
              <a:buSzPts val="1100"/>
              <a:buFont typeface="Calibri"/>
              <a:buNone/>
            </a:pPr>
            <a:r>
              <a:rPr b="1" i="0" lang="en" sz="1100" u="none" cap="none" strike="noStrike">
                <a:solidFill>
                  <a:srgbClr val="712B13"/>
                </a:solidFill>
                <a:latin typeface="Calibri"/>
                <a:ea typeface="Calibri"/>
                <a:cs typeface="Calibri"/>
                <a:sym typeface="Calibri"/>
              </a:rPr>
              <a:t>0.1</a:t>
            </a:r>
            <a:endParaRPr b="0" i="0" sz="1100" u="none" cap="none" strike="noStrike">
              <a:solidFill>
                <a:schemeClr val="dk1"/>
              </a:solidFill>
              <a:latin typeface="Calibri"/>
              <a:ea typeface="Calibri"/>
              <a:cs typeface="Calibri"/>
              <a:sym typeface="Calibri"/>
            </a:endParaRPr>
          </a:p>
        </p:txBody>
      </p:sp>
      <p:sp>
        <p:nvSpPr>
          <p:cNvPr id="1268" name="Google Shape;1268;p28"/>
          <p:cNvSpPr/>
          <p:nvPr/>
        </p:nvSpPr>
        <p:spPr>
          <a:xfrm>
            <a:off x="1243584" y="3163824"/>
            <a:ext cx="548700" cy="301800"/>
          </a:xfrm>
          <a:prstGeom prst="rect">
            <a:avLst/>
          </a:prstGeom>
          <a:solidFill>
            <a:srgbClr val="FAECE7"/>
          </a:solidFill>
          <a:ln cap="flat" cmpd="sng" w="9525">
            <a:solidFill>
              <a:srgbClr val="712B1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9" name="Google Shape;1269;p28"/>
          <p:cNvSpPr/>
          <p:nvPr/>
        </p:nvSpPr>
        <p:spPr>
          <a:xfrm>
            <a:off x="1243584" y="3163824"/>
            <a:ext cx="548700" cy="301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12B13"/>
              </a:buClr>
              <a:buSzPts val="1100"/>
              <a:buFont typeface="Calibri"/>
              <a:buNone/>
            </a:pPr>
            <a:r>
              <a:rPr b="1" i="0" lang="en" sz="1100" u="none" cap="none" strike="noStrike">
                <a:solidFill>
                  <a:srgbClr val="712B13"/>
                </a:solidFill>
                <a:latin typeface="Calibri"/>
                <a:ea typeface="Calibri"/>
                <a:cs typeface="Calibri"/>
                <a:sym typeface="Calibri"/>
              </a:rPr>
              <a:t>0.2</a:t>
            </a:r>
            <a:endParaRPr b="0" i="0" sz="1100" u="none" cap="none" strike="noStrike">
              <a:solidFill>
                <a:schemeClr val="dk1"/>
              </a:solidFill>
              <a:latin typeface="Calibri"/>
              <a:ea typeface="Calibri"/>
              <a:cs typeface="Calibri"/>
              <a:sym typeface="Calibri"/>
            </a:endParaRPr>
          </a:p>
        </p:txBody>
      </p:sp>
      <p:sp>
        <p:nvSpPr>
          <p:cNvPr id="1270" name="Google Shape;1270;p28"/>
          <p:cNvSpPr/>
          <p:nvPr/>
        </p:nvSpPr>
        <p:spPr>
          <a:xfrm>
            <a:off x="1828800" y="3163824"/>
            <a:ext cx="548700" cy="301800"/>
          </a:xfrm>
          <a:prstGeom prst="rect">
            <a:avLst/>
          </a:prstGeom>
          <a:solidFill>
            <a:srgbClr val="FAECE7"/>
          </a:solidFill>
          <a:ln cap="flat" cmpd="sng" w="9525">
            <a:solidFill>
              <a:srgbClr val="712B1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1" name="Google Shape;1271;p28"/>
          <p:cNvSpPr/>
          <p:nvPr/>
        </p:nvSpPr>
        <p:spPr>
          <a:xfrm>
            <a:off x="1828800" y="3163824"/>
            <a:ext cx="548700" cy="301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12B13"/>
              </a:buClr>
              <a:buSzPts val="1100"/>
              <a:buFont typeface="Calibri"/>
              <a:buNone/>
            </a:pPr>
            <a:r>
              <a:rPr b="1" i="0" lang="en" sz="1100" u="none" cap="none" strike="noStrike">
                <a:solidFill>
                  <a:srgbClr val="712B13"/>
                </a:solidFill>
                <a:latin typeface="Calibri"/>
                <a:ea typeface="Calibri"/>
                <a:cs typeface="Calibri"/>
                <a:sym typeface="Calibri"/>
              </a:rPr>
              <a:t>-0.3</a:t>
            </a:r>
            <a:endParaRPr b="0" i="0" sz="1100" u="none" cap="none" strike="noStrike">
              <a:solidFill>
                <a:schemeClr val="dk1"/>
              </a:solidFill>
              <a:latin typeface="Calibri"/>
              <a:ea typeface="Calibri"/>
              <a:cs typeface="Calibri"/>
              <a:sym typeface="Calibri"/>
            </a:endParaRPr>
          </a:p>
        </p:txBody>
      </p:sp>
      <p:sp>
        <p:nvSpPr>
          <p:cNvPr id="1272" name="Google Shape;1272;p28"/>
          <p:cNvSpPr/>
          <p:nvPr/>
        </p:nvSpPr>
        <p:spPr>
          <a:xfrm>
            <a:off x="2414016" y="3163824"/>
            <a:ext cx="548700" cy="301800"/>
          </a:xfrm>
          <a:prstGeom prst="rect">
            <a:avLst/>
          </a:prstGeom>
          <a:solidFill>
            <a:srgbClr val="FAECE7"/>
          </a:solidFill>
          <a:ln cap="flat" cmpd="sng" w="9525">
            <a:solidFill>
              <a:srgbClr val="712B1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3" name="Google Shape;1273;p28"/>
          <p:cNvSpPr/>
          <p:nvPr/>
        </p:nvSpPr>
        <p:spPr>
          <a:xfrm>
            <a:off x="2414016" y="3163824"/>
            <a:ext cx="548700" cy="301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12B13"/>
              </a:buClr>
              <a:buSzPts val="1100"/>
              <a:buFont typeface="Calibri"/>
              <a:buNone/>
            </a:pPr>
            <a:r>
              <a:rPr b="1" i="0" lang="en" sz="1100" u="none" cap="none" strike="noStrike">
                <a:solidFill>
                  <a:srgbClr val="712B13"/>
                </a:solidFill>
                <a:latin typeface="Calibri"/>
                <a:ea typeface="Calibri"/>
                <a:cs typeface="Calibri"/>
                <a:sym typeface="Calibri"/>
              </a:rPr>
              <a:t>0.5</a:t>
            </a:r>
            <a:endParaRPr b="0" i="0" sz="1100" u="none" cap="none" strike="noStrike">
              <a:solidFill>
                <a:schemeClr val="dk1"/>
              </a:solidFill>
              <a:latin typeface="Calibri"/>
              <a:ea typeface="Calibri"/>
              <a:cs typeface="Calibri"/>
              <a:sym typeface="Calibri"/>
            </a:endParaRPr>
          </a:p>
        </p:txBody>
      </p:sp>
      <p:sp>
        <p:nvSpPr>
          <p:cNvPr id="1274" name="Google Shape;1274;p28"/>
          <p:cNvSpPr/>
          <p:nvPr/>
        </p:nvSpPr>
        <p:spPr>
          <a:xfrm>
            <a:off x="3044952" y="2852928"/>
            <a:ext cx="274200" cy="329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EFF6FF"/>
              </a:buClr>
              <a:buSzPts val="1600"/>
              <a:buFont typeface="Calibri"/>
              <a:buNone/>
            </a:pPr>
            <a:r>
              <a:rPr b="0" i="0" lang="en" sz="1600" u="none" cap="none" strike="noStrike">
                <a:solidFill>
                  <a:srgbClr val="EFF6FF"/>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1275" name="Google Shape;1275;p28"/>
          <p:cNvSpPr/>
          <p:nvPr/>
        </p:nvSpPr>
        <p:spPr>
          <a:xfrm>
            <a:off x="3364992" y="2487168"/>
            <a:ext cx="466200" cy="242400"/>
          </a:xfrm>
          <a:prstGeom prst="rect">
            <a:avLst/>
          </a:prstGeom>
          <a:solidFill>
            <a:srgbClr val="C8E8F8"/>
          </a:solidFill>
          <a:ln cap="flat" cmpd="sng" w="1015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6" name="Google Shape;1276;p28"/>
          <p:cNvSpPr/>
          <p:nvPr/>
        </p:nvSpPr>
        <p:spPr>
          <a:xfrm>
            <a:off x="3364992" y="2487168"/>
            <a:ext cx="466200" cy="242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1100"/>
              <a:buFont typeface="Calibri"/>
              <a:buNone/>
            </a:pPr>
            <a:r>
              <a:rPr b="1" i="0" lang="en" sz="1100" u="none" cap="none" strike="noStrike">
                <a:solidFill>
                  <a:srgbClr val="1A2E42"/>
                </a:solidFill>
                <a:latin typeface="Calibri"/>
                <a:ea typeface="Calibri"/>
                <a:cs typeface="Calibri"/>
                <a:sym typeface="Calibri"/>
              </a:rPr>
              <a:t>36</a:t>
            </a:r>
            <a:endParaRPr b="0" i="0" sz="1100" u="none" cap="none" strike="noStrike">
              <a:solidFill>
                <a:schemeClr val="dk1"/>
              </a:solidFill>
              <a:latin typeface="Calibri"/>
              <a:ea typeface="Calibri"/>
              <a:cs typeface="Calibri"/>
              <a:sym typeface="Calibri"/>
            </a:endParaRPr>
          </a:p>
        </p:txBody>
      </p:sp>
      <p:sp>
        <p:nvSpPr>
          <p:cNvPr id="1277" name="Google Shape;1277;p28"/>
          <p:cNvSpPr/>
          <p:nvPr/>
        </p:nvSpPr>
        <p:spPr>
          <a:xfrm>
            <a:off x="3364992" y="2775204"/>
            <a:ext cx="466200" cy="242400"/>
          </a:xfrm>
          <a:prstGeom prst="rect">
            <a:avLst/>
          </a:prstGeom>
          <a:solidFill>
            <a:srgbClr val="C8E8F8"/>
          </a:solidFill>
          <a:ln cap="flat" cmpd="sng" w="1015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8" name="Google Shape;1278;p28"/>
          <p:cNvSpPr/>
          <p:nvPr/>
        </p:nvSpPr>
        <p:spPr>
          <a:xfrm>
            <a:off x="3364992" y="2775204"/>
            <a:ext cx="466200" cy="242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1100"/>
              <a:buFont typeface="Calibri"/>
              <a:buNone/>
            </a:pPr>
            <a:r>
              <a:rPr b="1" i="0" lang="en" sz="1100" u="none" cap="none" strike="noStrike">
                <a:solidFill>
                  <a:srgbClr val="1A2E42"/>
                </a:solidFill>
                <a:latin typeface="Calibri"/>
                <a:ea typeface="Calibri"/>
                <a:cs typeface="Calibri"/>
                <a:sym typeface="Calibri"/>
              </a:rPr>
              <a:t>22</a:t>
            </a:r>
            <a:endParaRPr b="0" i="0" sz="1100" u="none" cap="none" strike="noStrike">
              <a:solidFill>
                <a:schemeClr val="dk1"/>
              </a:solidFill>
              <a:latin typeface="Calibri"/>
              <a:ea typeface="Calibri"/>
              <a:cs typeface="Calibri"/>
              <a:sym typeface="Calibri"/>
            </a:endParaRPr>
          </a:p>
        </p:txBody>
      </p:sp>
      <p:sp>
        <p:nvSpPr>
          <p:cNvPr id="1279" name="Google Shape;1279;p28"/>
          <p:cNvSpPr/>
          <p:nvPr/>
        </p:nvSpPr>
        <p:spPr>
          <a:xfrm>
            <a:off x="3364992" y="3063240"/>
            <a:ext cx="466200" cy="242400"/>
          </a:xfrm>
          <a:prstGeom prst="rect">
            <a:avLst/>
          </a:prstGeom>
          <a:solidFill>
            <a:srgbClr val="C8E8F8"/>
          </a:solidFill>
          <a:ln cap="flat" cmpd="sng" w="1015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0" name="Google Shape;1280;p28"/>
          <p:cNvSpPr/>
          <p:nvPr/>
        </p:nvSpPr>
        <p:spPr>
          <a:xfrm>
            <a:off x="3364992" y="3063240"/>
            <a:ext cx="466200" cy="242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1100"/>
              <a:buFont typeface="Calibri"/>
              <a:buNone/>
            </a:pPr>
            <a:r>
              <a:rPr b="1" i="0" lang="en" sz="1100" u="none" cap="none" strike="noStrike">
                <a:solidFill>
                  <a:srgbClr val="1A2E42"/>
                </a:solidFill>
                <a:latin typeface="Calibri"/>
                <a:ea typeface="Calibri"/>
                <a:cs typeface="Calibri"/>
                <a:sym typeface="Calibri"/>
              </a:rPr>
              <a:t>30</a:t>
            </a:r>
            <a:endParaRPr b="0" i="0" sz="1100" u="none" cap="none" strike="noStrike">
              <a:solidFill>
                <a:schemeClr val="dk1"/>
              </a:solidFill>
              <a:latin typeface="Calibri"/>
              <a:ea typeface="Calibri"/>
              <a:cs typeface="Calibri"/>
              <a:sym typeface="Calibri"/>
            </a:endParaRPr>
          </a:p>
        </p:txBody>
      </p:sp>
      <p:sp>
        <p:nvSpPr>
          <p:cNvPr id="1281" name="Google Shape;1281;p28"/>
          <p:cNvSpPr/>
          <p:nvPr/>
        </p:nvSpPr>
        <p:spPr>
          <a:xfrm>
            <a:off x="3364992" y="3351276"/>
            <a:ext cx="466200" cy="242400"/>
          </a:xfrm>
          <a:prstGeom prst="rect">
            <a:avLst/>
          </a:prstGeom>
          <a:solidFill>
            <a:srgbClr val="C8E8F8"/>
          </a:solidFill>
          <a:ln cap="flat" cmpd="sng" w="1015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2" name="Google Shape;1282;p28"/>
          <p:cNvSpPr/>
          <p:nvPr/>
        </p:nvSpPr>
        <p:spPr>
          <a:xfrm>
            <a:off x="3364992" y="3351276"/>
            <a:ext cx="466200" cy="242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1100"/>
              <a:buFont typeface="Calibri"/>
              <a:buNone/>
            </a:pPr>
            <a:r>
              <a:rPr b="1" i="0" lang="en" sz="1100" u="none" cap="none" strike="noStrike">
                <a:solidFill>
                  <a:srgbClr val="1A2E42"/>
                </a:solidFill>
                <a:latin typeface="Calibri"/>
                <a:ea typeface="Calibri"/>
                <a:cs typeface="Calibri"/>
                <a:sym typeface="Calibri"/>
              </a:rPr>
              <a:t>25</a:t>
            </a:r>
            <a:endParaRPr b="0" i="0" sz="1100" u="none" cap="none" strike="noStrike">
              <a:solidFill>
                <a:schemeClr val="dk1"/>
              </a:solidFill>
              <a:latin typeface="Calibri"/>
              <a:ea typeface="Calibri"/>
              <a:cs typeface="Calibri"/>
              <a:sym typeface="Calibri"/>
            </a:endParaRPr>
          </a:p>
        </p:txBody>
      </p:sp>
      <p:sp>
        <p:nvSpPr>
          <p:cNvPr id="1283" name="Google Shape;1283;p28"/>
          <p:cNvSpPr/>
          <p:nvPr/>
        </p:nvSpPr>
        <p:spPr>
          <a:xfrm>
            <a:off x="3364992" y="3675888"/>
            <a:ext cx="4662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4748B"/>
              </a:buClr>
              <a:buSzPts val="900"/>
              <a:buFont typeface="Calibri"/>
              <a:buNone/>
            </a:pPr>
            <a:r>
              <a:rPr b="0" i="0" lang="en" sz="900" u="none" cap="none" strike="noStrike">
                <a:solidFill>
                  <a:srgbClr val="64748B"/>
                </a:solidFill>
                <a:latin typeface="Calibri"/>
                <a:ea typeface="Calibri"/>
                <a:cs typeface="Calibri"/>
                <a:sym typeface="Calibri"/>
              </a:rPr>
              <a:t>x</a:t>
            </a:r>
            <a:endParaRPr b="0" i="0" sz="9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64748B"/>
              </a:buClr>
              <a:buSzPts val="900"/>
              <a:buFont typeface="Calibri"/>
              <a:buNone/>
            </a:pPr>
            <a:r>
              <a:rPr b="0" i="0" lang="en" sz="900" u="none" cap="none" strike="noStrike">
                <a:solidFill>
                  <a:srgbClr val="64748B"/>
                </a:solidFill>
                <a:latin typeface="Calibri"/>
                <a:ea typeface="Calibri"/>
                <a:cs typeface="Calibri"/>
                <a:sym typeface="Calibri"/>
              </a:rPr>
              <a:t>(4×1)</a:t>
            </a:r>
            <a:endParaRPr b="0" i="0" sz="900" u="none" cap="none" strike="noStrike">
              <a:solidFill>
                <a:schemeClr val="dk1"/>
              </a:solidFill>
              <a:latin typeface="Calibri"/>
              <a:ea typeface="Calibri"/>
              <a:cs typeface="Calibri"/>
              <a:sym typeface="Calibri"/>
            </a:endParaRPr>
          </a:p>
        </p:txBody>
      </p:sp>
      <p:sp>
        <p:nvSpPr>
          <p:cNvPr id="1284" name="Google Shape;1284;p28"/>
          <p:cNvSpPr/>
          <p:nvPr/>
        </p:nvSpPr>
        <p:spPr>
          <a:xfrm>
            <a:off x="3904488" y="2852928"/>
            <a:ext cx="255900" cy="329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EFF6FF"/>
              </a:buClr>
              <a:buSzPts val="1600"/>
              <a:buFont typeface="Calibri"/>
              <a:buNone/>
            </a:pPr>
            <a:r>
              <a:rPr b="0" i="0" lang="en" sz="1600" u="none" cap="none" strike="noStrike">
                <a:solidFill>
                  <a:srgbClr val="EFF6FF"/>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1285" name="Google Shape;1285;p28"/>
          <p:cNvSpPr/>
          <p:nvPr/>
        </p:nvSpPr>
        <p:spPr>
          <a:xfrm>
            <a:off x="4215384" y="2487168"/>
            <a:ext cx="548700" cy="301800"/>
          </a:xfrm>
          <a:prstGeom prst="rect">
            <a:avLst/>
          </a:prstGeom>
          <a:solidFill>
            <a:srgbClr val="E6F1FB"/>
          </a:solidFill>
          <a:ln cap="flat" cmpd="sng" w="12700">
            <a:solidFill>
              <a:srgbClr val="0C447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6" name="Google Shape;1286;p28"/>
          <p:cNvSpPr/>
          <p:nvPr/>
        </p:nvSpPr>
        <p:spPr>
          <a:xfrm>
            <a:off x="4215384" y="2487168"/>
            <a:ext cx="548700" cy="301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C447C"/>
              </a:buClr>
              <a:buSzPts val="1100"/>
              <a:buFont typeface="Calibri"/>
              <a:buNone/>
            </a:pPr>
            <a:r>
              <a:rPr b="1" i="0" lang="en" sz="1100" u="none" cap="none" strike="noStrike">
                <a:solidFill>
                  <a:srgbClr val="0C447C"/>
                </a:solidFill>
                <a:latin typeface="Calibri"/>
                <a:ea typeface="Calibri"/>
                <a:cs typeface="Calibri"/>
                <a:sym typeface="Calibri"/>
              </a:rPr>
              <a:t>19.5</a:t>
            </a:r>
            <a:endParaRPr b="0" i="0" sz="1100" u="none" cap="none" strike="noStrike">
              <a:solidFill>
                <a:schemeClr val="dk1"/>
              </a:solidFill>
              <a:latin typeface="Calibri"/>
              <a:ea typeface="Calibri"/>
              <a:cs typeface="Calibri"/>
              <a:sym typeface="Calibri"/>
            </a:endParaRPr>
          </a:p>
        </p:txBody>
      </p:sp>
      <p:sp>
        <p:nvSpPr>
          <p:cNvPr id="1287" name="Google Shape;1287;p28"/>
          <p:cNvSpPr/>
          <p:nvPr/>
        </p:nvSpPr>
        <p:spPr>
          <a:xfrm>
            <a:off x="4855464" y="2487168"/>
            <a:ext cx="548700" cy="301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C447C"/>
              </a:buClr>
              <a:buSzPts val="1000"/>
              <a:buFont typeface="Calibri"/>
              <a:buNone/>
            </a:pPr>
            <a:r>
              <a:rPr b="1" i="0" lang="en" sz="1000" u="none" cap="none" strike="noStrike">
                <a:solidFill>
                  <a:srgbClr val="0C447C"/>
                </a:solidFill>
                <a:latin typeface="Calibri"/>
                <a:ea typeface="Calibri"/>
                <a:cs typeface="Calibri"/>
                <a:sym typeface="Calibri"/>
              </a:rPr>
              <a:t>Cat</a:t>
            </a:r>
            <a:endParaRPr b="0" i="0" sz="1000" u="none" cap="none" strike="noStrike">
              <a:solidFill>
                <a:schemeClr val="dk1"/>
              </a:solidFill>
              <a:latin typeface="Calibri"/>
              <a:ea typeface="Calibri"/>
              <a:cs typeface="Calibri"/>
              <a:sym typeface="Calibri"/>
            </a:endParaRPr>
          </a:p>
        </p:txBody>
      </p:sp>
      <p:sp>
        <p:nvSpPr>
          <p:cNvPr id="1288" name="Google Shape;1288;p28"/>
          <p:cNvSpPr/>
          <p:nvPr/>
        </p:nvSpPr>
        <p:spPr>
          <a:xfrm>
            <a:off x="4215384" y="2825496"/>
            <a:ext cx="548700" cy="301800"/>
          </a:xfrm>
          <a:prstGeom prst="rect">
            <a:avLst/>
          </a:prstGeom>
          <a:solidFill>
            <a:srgbClr val="EAF3DE"/>
          </a:solidFill>
          <a:ln cap="flat" cmpd="sng" w="12700">
            <a:solidFill>
              <a:srgbClr val="3B6D1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9" name="Google Shape;1289;p28"/>
          <p:cNvSpPr/>
          <p:nvPr/>
        </p:nvSpPr>
        <p:spPr>
          <a:xfrm>
            <a:off x="4215384" y="2825496"/>
            <a:ext cx="548700" cy="301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3B6D11"/>
              </a:buClr>
              <a:buSzPts val="1100"/>
              <a:buFont typeface="Calibri"/>
              <a:buNone/>
            </a:pPr>
            <a:r>
              <a:rPr b="1" i="0" lang="en" sz="1100" u="none" cap="none" strike="noStrike">
                <a:solidFill>
                  <a:srgbClr val="3B6D11"/>
                </a:solidFill>
                <a:latin typeface="Calibri"/>
                <a:ea typeface="Calibri"/>
                <a:cs typeface="Calibri"/>
                <a:sym typeface="Calibri"/>
              </a:rPr>
              <a:t>-1.8</a:t>
            </a:r>
            <a:endParaRPr b="0" i="0" sz="1100" u="none" cap="none" strike="noStrike">
              <a:solidFill>
                <a:schemeClr val="dk1"/>
              </a:solidFill>
              <a:latin typeface="Calibri"/>
              <a:ea typeface="Calibri"/>
              <a:cs typeface="Calibri"/>
              <a:sym typeface="Calibri"/>
            </a:endParaRPr>
          </a:p>
        </p:txBody>
      </p:sp>
      <p:sp>
        <p:nvSpPr>
          <p:cNvPr id="1290" name="Google Shape;1290;p28"/>
          <p:cNvSpPr/>
          <p:nvPr/>
        </p:nvSpPr>
        <p:spPr>
          <a:xfrm>
            <a:off x="4855464" y="2825496"/>
            <a:ext cx="548700" cy="301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B6D11"/>
              </a:buClr>
              <a:buSzPts val="1000"/>
              <a:buFont typeface="Calibri"/>
              <a:buNone/>
            </a:pPr>
            <a:r>
              <a:rPr b="1" i="0" lang="en" sz="1000" u="none" cap="none" strike="noStrike">
                <a:solidFill>
                  <a:srgbClr val="3B6D11"/>
                </a:solidFill>
                <a:latin typeface="Calibri"/>
                <a:ea typeface="Calibri"/>
                <a:cs typeface="Calibri"/>
                <a:sym typeface="Calibri"/>
              </a:rPr>
              <a:t>Dog</a:t>
            </a:r>
            <a:endParaRPr b="0" i="0" sz="1000" u="none" cap="none" strike="noStrike">
              <a:solidFill>
                <a:schemeClr val="dk1"/>
              </a:solidFill>
              <a:latin typeface="Calibri"/>
              <a:ea typeface="Calibri"/>
              <a:cs typeface="Calibri"/>
              <a:sym typeface="Calibri"/>
            </a:endParaRPr>
          </a:p>
        </p:txBody>
      </p:sp>
      <p:sp>
        <p:nvSpPr>
          <p:cNvPr id="1291" name="Google Shape;1291;p28"/>
          <p:cNvSpPr/>
          <p:nvPr/>
        </p:nvSpPr>
        <p:spPr>
          <a:xfrm>
            <a:off x="4215384" y="3163824"/>
            <a:ext cx="548700" cy="301800"/>
          </a:xfrm>
          <a:prstGeom prst="rect">
            <a:avLst/>
          </a:prstGeom>
          <a:solidFill>
            <a:srgbClr val="FAECE7"/>
          </a:solidFill>
          <a:ln cap="flat" cmpd="sng" w="12700">
            <a:solidFill>
              <a:srgbClr val="712B1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2" name="Google Shape;1292;p28"/>
          <p:cNvSpPr/>
          <p:nvPr/>
        </p:nvSpPr>
        <p:spPr>
          <a:xfrm>
            <a:off x="4215384" y="3163824"/>
            <a:ext cx="548700" cy="301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12B13"/>
              </a:buClr>
              <a:buSzPts val="1100"/>
              <a:buFont typeface="Calibri"/>
              <a:buNone/>
            </a:pPr>
            <a:r>
              <a:rPr b="1" i="0" lang="en" sz="1100" u="none" cap="none" strike="noStrike">
                <a:solidFill>
                  <a:srgbClr val="712B13"/>
                </a:solidFill>
                <a:latin typeface="Calibri"/>
                <a:ea typeface="Calibri"/>
                <a:cs typeface="Calibri"/>
                <a:sym typeface="Calibri"/>
              </a:rPr>
              <a:t>11.5</a:t>
            </a:r>
            <a:endParaRPr b="0" i="0" sz="1100" u="none" cap="none" strike="noStrike">
              <a:solidFill>
                <a:schemeClr val="dk1"/>
              </a:solidFill>
              <a:latin typeface="Calibri"/>
              <a:ea typeface="Calibri"/>
              <a:cs typeface="Calibri"/>
              <a:sym typeface="Calibri"/>
            </a:endParaRPr>
          </a:p>
        </p:txBody>
      </p:sp>
      <p:sp>
        <p:nvSpPr>
          <p:cNvPr id="1293" name="Google Shape;1293;p28"/>
          <p:cNvSpPr/>
          <p:nvPr/>
        </p:nvSpPr>
        <p:spPr>
          <a:xfrm>
            <a:off x="4855464" y="3163824"/>
            <a:ext cx="548700" cy="301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2B13"/>
              </a:buClr>
              <a:buSzPts val="1000"/>
              <a:buFont typeface="Calibri"/>
              <a:buNone/>
            </a:pPr>
            <a:r>
              <a:rPr b="1" i="0" lang="en" sz="1000" u="none" cap="none" strike="noStrike">
                <a:solidFill>
                  <a:srgbClr val="712B13"/>
                </a:solidFill>
                <a:latin typeface="Calibri"/>
                <a:ea typeface="Calibri"/>
                <a:cs typeface="Calibri"/>
                <a:sym typeface="Calibri"/>
              </a:rPr>
              <a:t>Bird</a:t>
            </a:r>
            <a:endParaRPr b="0" i="0" sz="1000" u="none" cap="none" strike="noStrike">
              <a:solidFill>
                <a:schemeClr val="dk1"/>
              </a:solidFill>
              <a:latin typeface="Calibri"/>
              <a:ea typeface="Calibri"/>
              <a:cs typeface="Calibri"/>
              <a:sym typeface="Calibri"/>
            </a:endParaRPr>
          </a:p>
        </p:txBody>
      </p:sp>
      <p:sp>
        <p:nvSpPr>
          <p:cNvPr id="1294" name="Google Shape;1294;p28"/>
          <p:cNvSpPr/>
          <p:nvPr/>
        </p:nvSpPr>
        <p:spPr>
          <a:xfrm>
            <a:off x="4215384" y="3538728"/>
            <a:ext cx="5487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4748B"/>
              </a:buClr>
              <a:buSzPts val="900"/>
              <a:buFont typeface="Calibri"/>
              <a:buNone/>
            </a:pPr>
            <a:r>
              <a:rPr b="0" i="0" lang="en" sz="900" u="none" cap="none" strike="noStrike">
                <a:solidFill>
                  <a:srgbClr val="64748B"/>
                </a:solidFill>
                <a:latin typeface="Calibri"/>
                <a:ea typeface="Calibri"/>
                <a:cs typeface="Calibri"/>
                <a:sym typeface="Calibri"/>
              </a:rPr>
              <a:t>scores</a:t>
            </a:r>
            <a:endParaRPr b="0" i="0" sz="9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64748B"/>
              </a:buClr>
              <a:buSzPts val="900"/>
              <a:buFont typeface="Calibri"/>
              <a:buNone/>
            </a:pPr>
            <a:r>
              <a:rPr b="0" i="0" lang="en" sz="900" u="none" cap="none" strike="noStrike">
                <a:solidFill>
                  <a:srgbClr val="64748B"/>
                </a:solidFill>
                <a:latin typeface="Calibri"/>
                <a:ea typeface="Calibri"/>
                <a:cs typeface="Calibri"/>
                <a:sym typeface="Calibri"/>
              </a:rPr>
              <a:t>(3×1)</a:t>
            </a:r>
            <a:endParaRPr b="0" i="0" sz="900" u="none" cap="none" strike="noStrike">
              <a:solidFill>
                <a:schemeClr val="dk1"/>
              </a:solidFill>
              <a:latin typeface="Calibri"/>
              <a:ea typeface="Calibri"/>
              <a:cs typeface="Calibri"/>
              <a:sym typeface="Calibri"/>
            </a:endParaRPr>
          </a:p>
        </p:txBody>
      </p:sp>
      <p:sp>
        <p:nvSpPr>
          <p:cNvPr id="1295" name="Google Shape;1295;p28"/>
          <p:cNvSpPr/>
          <p:nvPr/>
        </p:nvSpPr>
        <p:spPr>
          <a:xfrm>
            <a:off x="5513832" y="2871216"/>
            <a:ext cx="12801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4748B"/>
              </a:buClr>
              <a:buSzPts val="1000"/>
              <a:buFont typeface="Calibri"/>
              <a:buNone/>
            </a:pPr>
            <a:r>
              <a:rPr b="0" i="1" lang="en" sz="1000" u="none" cap="none" strike="noStrike">
                <a:solidFill>
                  <a:srgbClr val="64748B"/>
                </a:solidFill>
                <a:latin typeface="Calibri"/>
                <a:ea typeface="Calibri"/>
                <a:cs typeface="Calibri"/>
                <a:sym typeface="Calibri"/>
              </a:rPr>
              <a:t>→ Softmax →</a:t>
            </a:r>
            <a:endParaRPr b="0" i="0" sz="10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64748B"/>
              </a:buClr>
              <a:buSzPts val="1000"/>
              <a:buFont typeface="Calibri"/>
              <a:buNone/>
            </a:pPr>
            <a:r>
              <a:rPr b="0" i="1" lang="en" sz="1000" u="none" cap="none" strike="noStrike">
                <a:solidFill>
                  <a:srgbClr val="64748B"/>
                </a:solidFill>
                <a:latin typeface="Calibri"/>
                <a:ea typeface="Calibri"/>
                <a:cs typeface="Calibri"/>
                <a:sym typeface="Calibri"/>
              </a:rPr>
              <a:t>probabilities</a:t>
            </a:r>
            <a:endParaRPr b="0" i="0" sz="1000" u="none" cap="none" strike="noStrike">
              <a:solidFill>
                <a:schemeClr val="dk1"/>
              </a:solidFill>
              <a:latin typeface="Calibri"/>
              <a:ea typeface="Calibri"/>
              <a:cs typeface="Calibri"/>
              <a:sym typeface="Calibri"/>
            </a:endParaRPr>
          </a:p>
        </p:txBody>
      </p:sp>
      <p:sp>
        <p:nvSpPr>
          <p:cNvPr id="1296" name="Google Shape;1296;p28"/>
          <p:cNvSpPr/>
          <p:nvPr/>
        </p:nvSpPr>
        <p:spPr>
          <a:xfrm>
            <a:off x="6885432" y="2487168"/>
            <a:ext cx="603600" cy="301800"/>
          </a:xfrm>
          <a:prstGeom prst="rect">
            <a:avLst/>
          </a:prstGeom>
          <a:solidFill>
            <a:srgbClr val="E6F1FB"/>
          </a:solidFill>
          <a:ln cap="flat" cmpd="sng" w="12700">
            <a:solidFill>
              <a:srgbClr val="0C447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7" name="Google Shape;1297;p28"/>
          <p:cNvSpPr/>
          <p:nvPr/>
        </p:nvSpPr>
        <p:spPr>
          <a:xfrm>
            <a:off x="6885432" y="2487168"/>
            <a:ext cx="603600" cy="301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C447C"/>
              </a:buClr>
              <a:buSzPts val="1100"/>
              <a:buFont typeface="Calibri"/>
              <a:buNone/>
            </a:pPr>
            <a:r>
              <a:rPr b="1" i="0" lang="en" sz="1100" u="none" cap="none" strike="noStrike">
                <a:solidFill>
                  <a:srgbClr val="0C447C"/>
                </a:solidFill>
                <a:latin typeface="Calibri"/>
                <a:ea typeface="Calibri"/>
                <a:cs typeface="Calibri"/>
                <a:sym typeface="Calibri"/>
              </a:rPr>
              <a:t>100.0%</a:t>
            </a:r>
            <a:endParaRPr b="0" i="0" sz="1100" u="none" cap="none" strike="noStrike">
              <a:solidFill>
                <a:schemeClr val="dk1"/>
              </a:solidFill>
              <a:latin typeface="Calibri"/>
              <a:ea typeface="Calibri"/>
              <a:cs typeface="Calibri"/>
              <a:sym typeface="Calibri"/>
            </a:endParaRPr>
          </a:p>
        </p:txBody>
      </p:sp>
      <p:sp>
        <p:nvSpPr>
          <p:cNvPr id="1298" name="Google Shape;1298;p28"/>
          <p:cNvSpPr/>
          <p:nvPr/>
        </p:nvSpPr>
        <p:spPr>
          <a:xfrm>
            <a:off x="7562088" y="2487168"/>
            <a:ext cx="548700" cy="301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C447C"/>
              </a:buClr>
              <a:buSzPts val="1000"/>
              <a:buFont typeface="Calibri"/>
              <a:buNone/>
            </a:pPr>
            <a:r>
              <a:rPr b="1" i="0" lang="en" sz="1000" u="none" cap="none" strike="noStrike">
                <a:solidFill>
                  <a:srgbClr val="0C447C"/>
                </a:solidFill>
                <a:latin typeface="Calibri"/>
                <a:ea typeface="Calibri"/>
                <a:cs typeface="Calibri"/>
                <a:sym typeface="Calibri"/>
              </a:rPr>
              <a:t>Cat</a:t>
            </a:r>
            <a:endParaRPr b="0" i="0" sz="1000" u="none" cap="none" strike="noStrike">
              <a:solidFill>
                <a:schemeClr val="dk1"/>
              </a:solidFill>
              <a:latin typeface="Calibri"/>
              <a:ea typeface="Calibri"/>
              <a:cs typeface="Calibri"/>
              <a:sym typeface="Calibri"/>
            </a:endParaRPr>
          </a:p>
        </p:txBody>
      </p:sp>
      <p:sp>
        <p:nvSpPr>
          <p:cNvPr id="1299" name="Google Shape;1299;p28"/>
          <p:cNvSpPr/>
          <p:nvPr/>
        </p:nvSpPr>
        <p:spPr>
          <a:xfrm>
            <a:off x="6885432" y="2825496"/>
            <a:ext cx="603600" cy="301800"/>
          </a:xfrm>
          <a:prstGeom prst="rect">
            <a:avLst/>
          </a:prstGeom>
          <a:solidFill>
            <a:srgbClr val="EAF3DE"/>
          </a:solidFill>
          <a:ln cap="flat" cmpd="sng" w="12700">
            <a:solidFill>
              <a:srgbClr val="3B6D1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0" name="Google Shape;1300;p28"/>
          <p:cNvSpPr/>
          <p:nvPr/>
        </p:nvSpPr>
        <p:spPr>
          <a:xfrm>
            <a:off x="6885432" y="2825496"/>
            <a:ext cx="603600" cy="301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3B6D11"/>
              </a:buClr>
              <a:buSzPts val="1100"/>
              <a:buFont typeface="Calibri"/>
              <a:buNone/>
            </a:pPr>
            <a:r>
              <a:rPr b="1" i="0" lang="en" sz="1100" u="none" cap="none" strike="noStrike">
                <a:solidFill>
                  <a:srgbClr val="3B6D11"/>
                </a:solidFill>
                <a:latin typeface="Calibri"/>
                <a:ea typeface="Calibri"/>
                <a:cs typeface="Calibri"/>
                <a:sym typeface="Calibri"/>
              </a:rPr>
              <a:t>0.0%</a:t>
            </a:r>
            <a:endParaRPr b="0" i="0" sz="1100" u="none" cap="none" strike="noStrike">
              <a:solidFill>
                <a:schemeClr val="dk1"/>
              </a:solidFill>
              <a:latin typeface="Calibri"/>
              <a:ea typeface="Calibri"/>
              <a:cs typeface="Calibri"/>
              <a:sym typeface="Calibri"/>
            </a:endParaRPr>
          </a:p>
        </p:txBody>
      </p:sp>
      <p:sp>
        <p:nvSpPr>
          <p:cNvPr id="1301" name="Google Shape;1301;p28"/>
          <p:cNvSpPr/>
          <p:nvPr/>
        </p:nvSpPr>
        <p:spPr>
          <a:xfrm>
            <a:off x="7562088" y="2825496"/>
            <a:ext cx="548700" cy="301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B6D11"/>
              </a:buClr>
              <a:buSzPts val="1000"/>
              <a:buFont typeface="Calibri"/>
              <a:buNone/>
            </a:pPr>
            <a:r>
              <a:rPr b="1" i="0" lang="en" sz="1000" u="none" cap="none" strike="noStrike">
                <a:solidFill>
                  <a:srgbClr val="3B6D11"/>
                </a:solidFill>
                <a:latin typeface="Calibri"/>
                <a:ea typeface="Calibri"/>
                <a:cs typeface="Calibri"/>
                <a:sym typeface="Calibri"/>
              </a:rPr>
              <a:t>Dog</a:t>
            </a:r>
            <a:endParaRPr b="0" i="0" sz="1000" u="none" cap="none" strike="noStrike">
              <a:solidFill>
                <a:schemeClr val="dk1"/>
              </a:solidFill>
              <a:latin typeface="Calibri"/>
              <a:ea typeface="Calibri"/>
              <a:cs typeface="Calibri"/>
              <a:sym typeface="Calibri"/>
            </a:endParaRPr>
          </a:p>
        </p:txBody>
      </p:sp>
      <p:sp>
        <p:nvSpPr>
          <p:cNvPr id="1302" name="Google Shape;1302;p28"/>
          <p:cNvSpPr/>
          <p:nvPr/>
        </p:nvSpPr>
        <p:spPr>
          <a:xfrm>
            <a:off x="6885432" y="3163824"/>
            <a:ext cx="603600" cy="301800"/>
          </a:xfrm>
          <a:prstGeom prst="rect">
            <a:avLst/>
          </a:prstGeom>
          <a:solidFill>
            <a:srgbClr val="FAECE7"/>
          </a:solidFill>
          <a:ln cap="flat" cmpd="sng" w="12700">
            <a:solidFill>
              <a:srgbClr val="712B1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3" name="Google Shape;1303;p28"/>
          <p:cNvSpPr/>
          <p:nvPr/>
        </p:nvSpPr>
        <p:spPr>
          <a:xfrm>
            <a:off x="6885432" y="3163824"/>
            <a:ext cx="603600" cy="301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12B13"/>
              </a:buClr>
              <a:buSzPts val="1100"/>
              <a:buFont typeface="Calibri"/>
              <a:buNone/>
            </a:pPr>
            <a:r>
              <a:rPr b="1" i="0" lang="en" sz="1100" u="none" cap="none" strike="noStrike">
                <a:solidFill>
                  <a:srgbClr val="712B13"/>
                </a:solidFill>
                <a:latin typeface="Calibri"/>
                <a:ea typeface="Calibri"/>
                <a:cs typeface="Calibri"/>
                <a:sym typeface="Calibri"/>
              </a:rPr>
              <a:t>0.0%</a:t>
            </a:r>
            <a:endParaRPr b="0" i="0" sz="1100" u="none" cap="none" strike="noStrike">
              <a:solidFill>
                <a:schemeClr val="dk1"/>
              </a:solidFill>
              <a:latin typeface="Calibri"/>
              <a:ea typeface="Calibri"/>
              <a:cs typeface="Calibri"/>
              <a:sym typeface="Calibri"/>
            </a:endParaRPr>
          </a:p>
        </p:txBody>
      </p:sp>
      <p:sp>
        <p:nvSpPr>
          <p:cNvPr id="1304" name="Google Shape;1304;p28"/>
          <p:cNvSpPr/>
          <p:nvPr/>
        </p:nvSpPr>
        <p:spPr>
          <a:xfrm>
            <a:off x="7562088" y="3163824"/>
            <a:ext cx="548700" cy="301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2B13"/>
              </a:buClr>
              <a:buSzPts val="1000"/>
              <a:buFont typeface="Calibri"/>
              <a:buNone/>
            </a:pPr>
            <a:r>
              <a:rPr b="1" i="0" lang="en" sz="1000" u="none" cap="none" strike="noStrike">
                <a:solidFill>
                  <a:srgbClr val="712B13"/>
                </a:solidFill>
                <a:latin typeface="Calibri"/>
                <a:ea typeface="Calibri"/>
                <a:cs typeface="Calibri"/>
                <a:sym typeface="Calibri"/>
              </a:rPr>
              <a:t>Bird</a:t>
            </a:r>
            <a:endParaRPr b="0" i="0" sz="1000" u="none" cap="none" strike="noStrike">
              <a:solidFill>
                <a:schemeClr val="dk1"/>
              </a:solidFill>
              <a:latin typeface="Calibri"/>
              <a:ea typeface="Calibri"/>
              <a:cs typeface="Calibri"/>
              <a:sym typeface="Calibri"/>
            </a:endParaRPr>
          </a:p>
        </p:txBody>
      </p:sp>
      <p:sp>
        <p:nvSpPr>
          <p:cNvPr id="1305" name="Google Shape;1305;p28"/>
          <p:cNvSpPr/>
          <p:nvPr/>
        </p:nvSpPr>
        <p:spPr>
          <a:xfrm>
            <a:off x="274320" y="4041648"/>
            <a:ext cx="8595300" cy="914400"/>
          </a:xfrm>
          <a:prstGeom prst="rect">
            <a:avLst/>
          </a:prstGeom>
          <a:solidFill>
            <a:srgbClr val="EFF6FF"/>
          </a:solidFill>
          <a:ln>
            <a:noFill/>
          </a:ln>
          <a:effectLst>
            <a:outerShdw blurRad="101600" rotWithShape="0" algn="bl" dir="8100000" dist="38100">
              <a:srgbClr val="000000">
                <a:alpha val="14902"/>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6" name="Google Shape;1306;p28"/>
          <p:cNvSpPr/>
          <p:nvPr/>
        </p:nvSpPr>
        <p:spPr>
          <a:xfrm>
            <a:off x="274320" y="4041648"/>
            <a:ext cx="8595300" cy="45600"/>
          </a:xfrm>
          <a:prstGeom prst="rect">
            <a:avLst/>
          </a:prstGeom>
          <a:solidFill>
            <a:srgbClr val="00B4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7" name="Google Shape;1307;p28"/>
          <p:cNvSpPr/>
          <p:nvPr/>
        </p:nvSpPr>
        <p:spPr>
          <a:xfrm>
            <a:off x="457200" y="4114800"/>
            <a:ext cx="82296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6080"/>
              </a:buClr>
              <a:buSzPts val="1100"/>
              <a:buFont typeface="Calibri"/>
              <a:buNone/>
            </a:pPr>
            <a:r>
              <a:rPr b="1" i="0" lang="en" sz="1100" u="none" cap="none" strike="noStrike">
                <a:solidFill>
                  <a:srgbClr val="1A6080"/>
                </a:solidFill>
                <a:latin typeface="Calibri"/>
                <a:ea typeface="Calibri"/>
                <a:cs typeface="Calibri"/>
                <a:sym typeface="Calibri"/>
              </a:rPr>
              <a:t>How the Fully Connected layer works:</a:t>
            </a:r>
            <a:endParaRPr b="0" i="0" sz="1100" u="none" cap="none" strike="noStrike">
              <a:solidFill>
                <a:schemeClr val="dk1"/>
              </a:solidFill>
              <a:latin typeface="Calibri"/>
              <a:ea typeface="Calibri"/>
              <a:cs typeface="Calibri"/>
              <a:sym typeface="Calibri"/>
            </a:endParaRPr>
          </a:p>
        </p:txBody>
      </p:sp>
      <p:sp>
        <p:nvSpPr>
          <p:cNvPr id="1308" name="Google Shape;1308;p28"/>
          <p:cNvSpPr/>
          <p:nvPr/>
        </p:nvSpPr>
        <p:spPr>
          <a:xfrm>
            <a:off x="457200" y="4370832"/>
            <a:ext cx="8229600" cy="512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6070"/>
              </a:buClr>
              <a:buSzPts val="1150"/>
              <a:buFont typeface="Calibri"/>
              <a:buNone/>
            </a:pPr>
            <a:r>
              <a:rPr b="0" i="0" lang="en" sz="1150" u="none" cap="none" strike="noStrike">
                <a:solidFill>
                  <a:srgbClr val="2A6070"/>
                </a:solidFill>
                <a:latin typeface="Calibri"/>
                <a:ea typeface="Calibri"/>
                <a:cs typeface="Calibri"/>
                <a:sym typeface="Calibri"/>
              </a:rPr>
              <a:t>The flattened vector x is multiplied by weight matrix W: score = W·x + b. Each row of W learns which combination of features predicts a class. Softmax then converts raw scores into probabilities that sum to 1.</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2" name="Shape 1312"/>
        <p:cNvGrpSpPr/>
        <p:nvPr/>
      </p:nvGrpSpPr>
      <p:grpSpPr>
        <a:xfrm>
          <a:off x="0" y="0"/>
          <a:ext cx="0" cy="0"/>
          <a:chOff x="0" y="0"/>
          <a:chExt cx="0" cy="0"/>
        </a:xfrm>
      </p:grpSpPr>
      <p:sp>
        <p:nvSpPr>
          <p:cNvPr id="1313" name="Google Shape;1313;p29"/>
          <p:cNvSpPr/>
          <p:nvPr/>
        </p:nvSpPr>
        <p:spPr>
          <a:xfrm>
            <a:off x="457200" y="256032"/>
            <a:ext cx="8229600" cy="567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97316"/>
              </a:buClr>
              <a:buSzPts val="3200"/>
              <a:buFont typeface="Calibri"/>
              <a:buNone/>
            </a:pPr>
            <a:r>
              <a:rPr b="1" i="0" lang="en" sz="3200" u="none" cap="none" strike="noStrike">
                <a:solidFill>
                  <a:schemeClr val="dk1"/>
                </a:solidFill>
                <a:latin typeface="Calibri"/>
                <a:ea typeface="Calibri"/>
                <a:cs typeface="Calibri"/>
                <a:sym typeface="Calibri"/>
              </a:rPr>
              <a:t>Scikit learn</a:t>
            </a:r>
            <a:r>
              <a:rPr b="0" i="0" lang="en" sz="3200" u="none" cap="none" strike="noStrike">
                <a:solidFill>
                  <a:srgbClr val="94A3B8"/>
                </a:solidFill>
                <a:latin typeface="Calibri"/>
                <a:ea typeface="Calibri"/>
                <a:cs typeface="Calibri"/>
                <a:sym typeface="Calibri"/>
              </a:rPr>
              <a:t>  →  </a:t>
            </a:r>
            <a:r>
              <a:rPr b="1" i="0" lang="en" sz="3200" u="none" cap="none" strike="noStrike">
                <a:solidFill>
                  <a:schemeClr val="dk1"/>
                </a:solidFill>
                <a:latin typeface="Calibri"/>
                <a:ea typeface="Calibri"/>
                <a:cs typeface="Calibri"/>
                <a:sym typeface="Calibri"/>
              </a:rPr>
              <a:t>PyTorch</a:t>
            </a:r>
            <a:endParaRPr b="0" i="0" sz="3200" u="none" cap="none" strike="noStrike">
              <a:solidFill>
                <a:schemeClr val="dk1"/>
              </a:solidFill>
              <a:latin typeface="Calibri"/>
              <a:ea typeface="Calibri"/>
              <a:cs typeface="Calibri"/>
              <a:sym typeface="Calibri"/>
            </a:endParaRPr>
          </a:p>
        </p:txBody>
      </p:sp>
      <p:sp>
        <p:nvSpPr>
          <p:cNvPr id="1314" name="Google Shape;1314;p29"/>
          <p:cNvSpPr/>
          <p:nvPr/>
        </p:nvSpPr>
        <p:spPr>
          <a:xfrm>
            <a:off x="457200" y="804672"/>
            <a:ext cx="8229600" cy="292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4A3B8"/>
              </a:buClr>
              <a:buSzPts val="1300"/>
              <a:buFont typeface="Calibri"/>
              <a:buNone/>
            </a:pPr>
            <a:r>
              <a:rPr b="0" i="1" lang="en" sz="1300" u="none" cap="none" strike="noStrike">
                <a:solidFill>
                  <a:srgbClr val="94A3B8"/>
                </a:solidFill>
                <a:latin typeface="Calibri"/>
                <a:ea typeface="Calibri"/>
                <a:cs typeface="Calibri"/>
                <a:sym typeface="Calibri"/>
              </a:rPr>
              <a:t>Why we make the move — and what changes</a:t>
            </a:r>
            <a:endParaRPr b="0" i="0" sz="1300" u="none" cap="none" strike="noStrike">
              <a:solidFill>
                <a:srgbClr val="000000"/>
              </a:solidFill>
              <a:latin typeface="Calibri"/>
              <a:ea typeface="Calibri"/>
              <a:cs typeface="Calibri"/>
              <a:sym typeface="Calibri"/>
            </a:endParaRPr>
          </a:p>
        </p:txBody>
      </p:sp>
      <p:cxnSp>
        <p:nvCxnSpPr>
          <p:cNvPr id="1315" name="Google Shape;1315;p29"/>
          <p:cNvCxnSpPr/>
          <p:nvPr/>
        </p:nvCxnSpPr>
        <p:spPr>
          <a:xfrm>
            <a:off x="2286000" y="1152144"/>
            <a:ext cx="4572000" cy="0"/>
          </a:xfrm>
          <a:prstGeom prst="straightConnector1">
            <a:avLst/>
          </a:prstGeom>
          <a:noFill/>
          <a:ln cap="flat" cmpd="sng" w="12700">
            <a:solidFill>
              <a:srgbClr val="E2E8F0"/>
            </a:solidFill>
            <a:prstDash val="solid"/>
            <a:round/>
            <a:headEnd len="sm" w="sm" type="none"/>
            <a:tailEnd len="sm" w="sm" type="none"/>
          </a:ln>
        </p:spPr>
      </p:cxnSp>
      <p:sp>
        <p:nvSpPr>
          <p:cNvPr id="1316" name="Google Shape;1316;p29"/>
          <p:cNvSpPr/>
          <p:nvPr/>
        </p:nvSpPr>
        <p:spPr>
          <a:xfrm>
            <a:off x="356616" y="1298448"/>
            <a:ext cx="2651700" cy="1371600"/>
          </a:xfrm>
          <a:prstGeom prst="rect">
            <a:avLst/>
          </a:prstGeom>
          <a:solidFill>
            <a:srgbClr val="CBD5E1">
              <a:alpha val="40000"/>
            </a:srgbClr>
          </a:solidFill>
          <a:ln cap="flat" cmpd="sng" w="12700">
            <a:solidFill>
              <a:srgbClr val="CBD5E1">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7" name="Google Shape;1317;p29"/>
          <p:cNvSpPr/>
          <p:nvPr/>
        </p:nvSpPr>
        <p:spPr>
          <a:xfrm>
            <a:off x="320040" y="1261872"/>
            <a:ext cx="2651700" cy="13716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8" name="Google Shape;1318;p29"/>
          <p:cNvSpPr/>
          <p:nvPr/>
        </p:nvSpPr>
        <p:spPr>
          <a:xfrm>
            <a:off x="320040" y="1261872"/>
            <a:ext cx="50400" cy="1371600"/>
          </a:xfrm>
          <a:prstGeom prst="rect">
            <a:avLst/>
          </a:prstGeom>
          <a:solidFill>
            <a:srgbClr val="F97316"/>
          </a:solidFill>
          <a:ln cap="flat" cmpd="sng" w="12700">
            <a:solidFill>
              <a:srgbClr val="F9731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9" name="Google Shape;1319;p29"/>
          <p:cNvSpPr/>
          <p:nvPr/>
        </p:nvSpPr>
        <p:spPr>
          <a:xfrm>
            <a:off x="457200" y="1353312"/>
            <a:ext cx="24507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50"/>
              <a:buFont typeface="Calibri"/>
              <a:buNone/>
            </a:pPr>
            <a:r>
              <a:rPr b="1" i="0" lang="en" sz="1150" u="none" cap="none" strike="noStrike">
                <a:solidFill>
                  <a:srgbClr val="1E293B"/>
                </a:solidFill>
                <a:latin typeface="Calibri"/>
                <a:ea typeface="Calibri"/>
                <a:cs typeface="Calibri"/>
                <a:sym typeface="Calibri"/>
              </a:rPr>
              <a:t>⚙️  Fixed vs. Flexible Pipelines</a:t>
            </a:r>
            <a:endParaRPr b="0" i="0" sz="1150" u="none" cap="none" strike="noStrike">
              <a:solidFill>
                <a:srgbClr val="000000"/>
              </a:solidFill>
              <a:latin typeface="Calibri"/>
              <a:ea typeface="Calibri"/>
              <a:cs typeface="Calibri"/>
              <a:sym typeface="Calibri"/>
            </a:endParaRPr>
          </a:p>
        </p:txBody>
      </p:sp>
      <p:cxnSp>
        <p:nvCxnSpPr>
          <p:cNvPr id="1320" name="Google Shape;1320;p29"/>
          <p:cNvCxnSpPr/>
          <p:nvPr/>
        </p:nvCxnSpPr>
        <p:spPr>
          <a:xfrm>
            <a:off x="457200" y="1719072"/>
            <a:ext cx="2377500" cy="0"/>
          </a:xfrm>
          <a:prstGeom prst="straightConnector1">
            <a:avLst/>
          </a:prstGeom>
          <a:noFill/>
          <a:ln cap="flat" cmpd="sng" w="9525">
            <a:solidFill>
              <a:srgbClr val="E2E8F0"/>
            </a:solidFill>
            <a:prstDash val="solid"/>
            <a:round/>
            <a:headEnd len="sm" w="sm" type="none"/>
            <a:tailEnd len="sm" w="sm" type="none"/>
          </a:ln>
        </p:spPr>
      </p:cxnSp>
      <p:sp>
        <p:nvSpPr>
          <p:cNvPr id="1321" name="Google Shape;1321;p29"/>
          <p:cNvSpPr/>
          <p:nvPr/>
        </p:nvSpPr>
        <p:spPr>
          <a:xfrm>
            <a:off x="457200" y="1764792"/>
            <a:ext cx="2423100" cy="777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75569"/>
              </a:buClr>
              <a:buSzPts val="950"/>
              <a:buFont typeface="Calibri"/>
              <a:buNone/>
            </a:pPr>
            <a:r>
              <a:rPr b="0" i="0" lang="en" sz="950" u="none" cap="none" strike="noStrike">
                <a:solidFill>
                  <a:srgbClr val="475569"/>
                </a:solidFill>
                <a:latin typeface="Calibri"/>
                <a:ea typeface="Calibri"/>
                <a:cs typeface="Calibri"/>
                <a:sym typeface="Calibri"/>
              </a:rPr>
              <a:t>sklearn wraps algorithms in rigid fit/predict APIs. PyTorch lets you define any forward pass — custom loops, dynamic graphs, research ideas.</a:t>
            </a:r>
            <a:endParaRPr b="0" i="0" sz="950" u="none" cap="none" strike="noStrike">
              <a:solidFill>
                <a:srgbClr val="000000"/>
              </a:solidFill>
              <a:latin typeface="Calibri"/>
              <a:ea typeface="Calibri"/>
              <a:cs typeface="Calibri"/>
              <a:sym typeface="Calibri"/>
            </a:endParaRPr>
          </a:p>
        </p:txBody>
      </p:sp>
      <p:sp>
        <p:nvSpPr>
          <p:cNvPr id="1322" name="Google Shape;1322;p29"/>
          <p:cNvSpPr/>
          <p:nvPr/>
        </p:nvSpPr>
        <p:spPr>
          <a:xfrm>
            <a:off x="3209544" y="1298448"/>
            <a:ext cx="2651700" cy="1371600"/>
          </a:xfrm>
          <a:prstGeom prst="rect">
            <a:avLst/>
          </a:prstGeom>
          <a:solidFill>
            <a:srgbClr val="CBD5E1">
              <a:alpha val="40000"/>
            </a:srgbClr>
          </a:solidFill>
          <a:ln cap="flat" cmpd="sng" w="12700">
            <a:solidFill>
              <a:srgbClr val="CBD5E1">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3" name="Google Shape;1323;p29"/>
          <p:cNvSpPr/>
          <p:nvPr/>
        </p:nvSpPr>
        <p:spPr>
          <a:xfrm>
            <a:off x="3172968" y="1261872"/>
            <a:ext cx="2651700" cy="13716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4" name="Google Shape;1324;p29"/>
          <p:cNvSpPr/>
          <p:nvPr/>
        </p:nvSpPr>
        <p:spPr>
          <a:xfrm>
            <a:off x="3172968" y="1261872"/>
            <a:ext cx="50400" cy="1371600"/>
          </a:xfrm>
          <a:prstGeom prst="rect">
            <a:avLst/>
          </a:prstGeom>
          <a:solidFill>
            <a:srgbClr val="EE4C2C"/>
          </a:solidFill>
          <a:ln cap="flat" cmpd="sng" w="12700">
            <a:solidFill>
              <a:srgbClr val="EE4C2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5" name="Google Shape;1325;p29"/>
          <p:cNvSpPr/>
          <p:nvPr/>
        </p:nvSpPr>
        <p:spPr>
          <a:xfrm>
            <a:off x="3310128" y="1353312"/>
            <a:ext cx="24507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50"/>
              <a:buFont typeface="Calibri"/>
              <a:buNone/>
            </a:pPr>
            <a:r>
              <a:rPr b="1" i="0" lang="en" sz="1150" u="none" cap="none" strike="noStrike">
                <a:solidFill>
                  <a:srgbClr val="1E293B"/>
                </a:solidFill>
                <a:latin typeface="Calibri"/>
                <a:ea typeface="Calibri"/>
                <a:cs typeface="Calibri"/>
                <a:sym typeface="Calibri"/>
              </a:rPr>
              <a:t>🧠  Shallow vs. Deep Models</a:t>
            </a:r>
            <a:endParaRPr b="0" i="0" sz="1150" u="none" cap="none" strike="noStrike">
              <a:solidFill>
                <a:srgbClr val="000000"/>
              </a:solidFill>
              <a:latin typeface="Calibri"/>
              <a:ea typeface="Calibri"/>
              <a:cs typeface="Calibri"/>
              <a:sym typeface="Calibri"/>
            </a:endParaRPr>
          </a:p>
        </p:txBody>
      </p:sp>
      <p:cxnSp>
        <p:nvCxnSpPr>
          <p:cNvPr id="1326" name="Google Shape;1326;p29"/>
          <p:cNvCxnSpPr/>
          <p:nvPr/>
        </p:nvCxnSpPr>
        <p:spPr>
          <a:xfrm>
            <a:off x="3310128" y="1719072"/>
            <a:ext cx="2377500" cy="0"/>
          </a:xfrm>
          <a:prstGeom prst="straightConnector1">
            <a:avLst/>
          </a:prstGeom>
          <a:noFill/>
          <a:ln cap="flat" cmpd="sng" w="9525">
            <a:solidFill>
              <a:srgbClr val="E2E8F0"/>
            </a:solidFill>
            <a:prstDash val="solid"/>
            <a:round/>
            <a:headEnd len="sm" w="sm" type="none"/>
            <a:tailEnd len="sm" w="sm" type="none"/>
          </a:ln>
        </p:spPr>
      </p:cxnSp>
      <p:sp>
        <p:nvSpPr>
          <p:cNvPr id="1327" name="Google Shape;1327;p29"/>
          <p:cNvSpPr/>
          <p:nvPr/>
        </p:nvSpPr>
        <p:spPr>
          <a:xfrm>
            <a:off x="3310128" y="1764792"/>
            <a:ext cx="2423100" cy="777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75569"/>
              </a:buClr>
              <a:buSzPts val="950"/>
              <a:buFont typeface="Calibri"/>
              <a:buNone/>
            </a:pPr>
            <a:r>
              <a:rPr b="0" i="0" lang="en" sz="950" u="none" cap="none" strike="noStrike">
                <a:solidFill>
                  <a:srgbClr val="475569"/>
                </a:solidFill>
                <a:latin typeface="Calibri"/>
                <a:ea typeface="Calibri"/>
                <a:cs typeface="Calibri"/>
                <a:sym typeface="Calibri"/>
              </a:rPr>
              <a:t>sklearn excels at classical ML (SVMs, trees, linear models). Deep networks — CNNs, RNNs, Transformers — need PyTorch's layer-level control.</a:t>
            </a:r>
            <a:endParaRPr b="0" i="0" sz="950" u="none" cap="none" strike="noStrike">
              <a:solidFill>
                <a:srgbClr val="000000"/>
              </a:solidFill>
              <a:latin typeface="Calibri"/>
              <a:ea typeface="Calibri"/>
              <a:cs typeface="Calibri"/>
              <a:sym typeface="Calibri"/>
            </a:endParaRPr>
          </a:p>
        </p:txBody>
      </p:sp>
      <p:sp>
        <p:nvSpPr>
          <p:cNvPr id="1328" name="Google Shape;1328;p29"/>
          <p:cNvSpPr/>
          <p:nvPr/>
        </p:nvSpPr>
        <p:spPr>
          <a:xfrm>
            <a:off x="6062472" y="1298448"/>
            <a:ext cx="2651700" cy="1371600"/>
          </a:xfrm>
          <a:prstGeom prst="rect">
            <a:avLst/>
          </a:prstGeom>
          <a:solidFill>
            <a:srgbClr val="CBD5E1">
              <a:alpha val="40000"/>
            </a:srgbClr>
          </a:solidFill>
          <a:ln cap="flat" cmpd="sng" w="12700">
            <a:solidFill>
              <a:srgbClr val="CBD5E1">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9" name="Google Shape;1329;p29"/>
          <p:cNvSpPr/>
          <p:nvPr/>
        </p:nvSpPr>
        <p:spPr>
          <a:xfrm>
            <a:off x="6025896" y="1261872"/>
            <a:ext cx="2651700" cy="13716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0" name="Google Shape;1330;p29"/>
          <p:cNvSpPr/>
          <p:nvPr/>
        </p:nvSpPr>
        <p:spPr>
          <a:xfrm>
            <a:off x="6025896" y="1261872"/>
            <a:ext cx="50400" cy="1371600"/>
          </a:xfrm>
          <a:prstGeom prst="rect">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1" name="Google Shape;1331;p29"/>
          <p:cNvSpPr/>
          <p:nvPr/>
        </p:nvSpPr>
        <p:spPr>
          <a:xfrm>
            <a:off x="6163056" y="1353312"/>
            <a:ext cx="24507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50"/>
              <a:buFont typeface="Calibri"/>
              <a:buNone/>
            </a:pPr>
            <a:r>
              <a:rPr b="1" i="0" lang="en" sz="1150" u="none" cap="none" strike="noStrike">
                <a:solidFill>
                  <a:srgbClr val="1E293B"/>
                </a:solidFill>
                <a:latin typeface="Calibri"/>
                <a:ea typeface="Calibri"/>
                <a:cs typeface="Calibri"/>
                <a:sym typeface="Calibri"/>
              </a:rPr>
              <a:t>⚡  CPU-only vs. GPU Acceleration</a:t>
            </a:r>
            <a:endParaRPr b="0" i="0" sz="1150" u="none" cap="none" strike="noStrike">
              <a:solidFill>
                <a:srgbClr val="000000"/>
              </a:solidFill>
              <a:latin typeface="Calibri"/>
              <a:ea typeface="Calibri"/>
              <a:cs typeface="Calibri"/>
              <a:sym typeface="Calibri"/>
            </a:endParaRPr>
          </a:p>
        </p:txBody>
      </p:sp>
      <p:cxnSp>
        <p:nvCxnSpPr>
          <p:cNvPr id="1332" name="Google Shape;1332;p29"/>
          <p:cNvCxnSpPr/>
          <p:nvPr/>
        </p:nvCxnSpPr>
        <p:spPr>
          <a:xfrm>
            <a:off x="6163056" y="1719072"/>
            <a:ext cx="2377500" cy="0"/>
          </a:xfrm>
          <a:prstGeom prst="straightConnector1">
            <a:avLst/>
          </a:prstGeom>
          <a:noFill/>
          <a:ln cap="flat" cmpd="sng" w="9525">
            <a:solidFill>
              <a:srgbClr val="E2E8F0"/>
            </a:solidFill>
            <a:prstDash val="solid"/>
            <a:round/>
            <a:headEnd len="sm" w="sm" type="none"/>
            <a:tailEnd len="sm" w="sm" type="none"/>
          </a:ln>
        </p:spPr>
      </p:cxnSp>
      <p:sp>
        <p:nvSpPr>
          <p:cNvPr id="1333" name="Google Shape;1333;p29"/>
          <p:cNvSpPr/>
          <p:nvPr/>
        </p:nvSpPr>
        <p:spPr>
          <a:xfrm>
            <a:off x="6163056" y="1764792"/>
            <a:ext cx="2423100" cy="777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75569"/>
              </a:buClr>
              <a:buSzPts val="950"/>
              <a:buFont typeface="Calibri"/>
              <a:buNone/>
            </a:pPr>
            <a:r>
              <a:rPr b="0" i="0" lang="en" sz="950" u="none" cap="none" strike="noStrike">
                <a:solidFill>
                  <a:srgbClr val="475569"/>
                </a:solidFill>
                <a:latin typeface="Calibri"/>
                <a:ea typeface="Calibri"/>
                <a:cs typeface="Calibri"/>
                <a:sym typeface="Calibri"/>
              </a:rPr>
              <a:t>sklearn runs on CPU. PyTorch moves tensors to GPU with .to('cuda'), enabling 10–100× speedups on large datasets and models.</a:t>
            </a:r>
            <a:endParaRPr b="0" i="0" sz="950" u="none" cap="none" strike="noStrike">
              <a:solidFill>
                <a:srgbClr val="000000"/>
              </a:solidFill>
              <a:latin typeface="Calibri"/>
              <a:ea typeface="Calibri"/>
              <a:cs typeface="Calibri"/>
              <a:sym typeface="Calibri"/>
            </a:endParaRPr>
          </a:p>
        </p:txBody>
      </p:sp>
      <p:sp>
        <p:nvSpPr>
          <p:cNvPr id="1334" name="Google Shape;1334;p29"/>
          <p:cNvSpPr/>
          <p:nvPr/>
        </p:nvSpPr>
        <p:spPr>
          <a:xfrm>
            <a:off x="356616" y="2798064"/>
            <a:ext cx="2651700" cy="1371600"/>
          </a:xfrm>
          <a:prstGeom prst="rect">
            <a:avLst/>
          </a:prstGeom>
          <a:solidFill>
            <a:srgbClr val="CBD5E1">
              <a:alpha val="40000"/>
            </a:srgbClr>
          </a:solidFill>
          <a:ln cap="flat" cmpd="sng" w="12700">
            <a:solidFill>
              <a:srgbClr val="CBD5E1">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5" name="Google Shape;1335;p29"/>
          <p:cNvSpPr/>
          <p:nvPr/>
        </p:nvSpPr>
        <p:spPr>
          <a:xfrm>
            <a:off x="320040" y="2761488"/>
            <a:ext cx="2651700" cy="13716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6" name="Google Shape;1336;p29"/>
          <p:cNvSpPr/>
          <p:nvPr/>
        </p:nvSpPr>
        <p:spPr>
          <a:xfrm>
            <a:off x="320040" y="2761488"/>
            <a:ext cx="50400" cy="1371600"/>
          </a:xfrm>
          <a:prstGeom prst="rect">
            <a:avLst/>
          </a:prstGeom>
          <a:solidFill>
            <a:srgbClr val="0284C7"/>
          </a:solidFill>
          <a:ln cap="flat" cmpd="sng" w="12700">
            <a:solidFill>
              <a:srgbClr val="0284C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7" name="Google Shape;1337;p29"/>
          <p:cNvSpPr/>
          <p:nvPr/>
        </p:nvSpPr>
        <p:spPr>
          <a:xfrm>
            <a:off x="457200" y="2852928"/>
            <a:ext cx="24507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50"/>
              <a:buFont typeface="Calibri"/>
              <a:buNone/>
            </a:pPr>
            <a:r>
              <a:rPr b="1" i="0" lang="en" sz="1150" u="none" cap="none" strike="noStrike">
                <a:solidFill>
                  <a:srgbClr val="1E293B"/>
                </a:solidFill>
                <a:latin typeface="Calibri"/>
                <a:ea typeface="Calibri"/>
                <a:cs typeface="Calibri"/>
                <a:sym typeface="Calibri"/>
              </a:rPr>
              <a:t>🔁  Manual vs. Autograd</a:t>
            </a:r>
            <a:endParaRPr b="0" i="0" sz="1150" u="none" cap="none" strike="noStrike">
              <a:solidFill>
                <a:srgbClr val="000000"/>
              </a:solidFill>
              <a:latin typeface="Calibri"/>
              <a:ea typeface="Calibri"/>
              <a:cs typeface="Calibri"/>
              <a:sym typeface="Calibri"/>
            </a:endParaRPr>
          </a:p>
        </p:txBody>
      </p:sp>
      <p:cxnSp>
        <p:nvCxnSpPr>
          <p:cNvPr id="1338" name="Google Shape;1338;p29"/>
          <p:cNvCxnSpPr/>
          <p:nvPr/>
        </p:nvCxnSpPr>
        <p:spPr>
          <a:xfrm>
            <a:off x="457200" y="3218688"/>
            <a:ext cx="2377500" cy="0"/>
          </a:xfrm>
          <a:prstGeom prst="straightConnector1">
            <a:avLst/>
          </a:prstGeom>
          <a:noFill/>
          <a:ln cap="flat" cmpd="sng" w="9525">
            <a:solidFill>
              <a:srgbClr val="E2E8F0"/>
            </a:solidFill>
            <a:prstDash val="solid"/>
            <a:round/>
            <a:headEnd len="sm" w="sm" type="none"/>
            <a:tailEnd len="sm" w="sm" type="none"/>
          </a:ln>
        </p:spPr>
      </p:cxnSp>
      <p:sp>
        <p:nvSpPr>
          <p:cNvPr id="1339" name="Google Shape;1339;p29"/>
          <p:cNvSpPr/>
          <p:nvPr/>
        </p:nvSpPr>
        <p:spPr>
          <a:xfrm>
            <a:off x="457200" y="3264408"/>
            <a:ext cx="2423100" cy="777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75569"/>
              </a:buClr>
              <a:buSzPts val="950"/>
              <a:buFont typeface="Calibri"/>
              <a:buNone/>
            </a:pPr>
            <a:r>
              <a:rPr b="0" i="0" lang="en" sz="950" u="none" cap="none" strike="noStrike">
                <a:solidFill>
                  <a:srgbClr val="475569"/>
                </a:solidFill>
                <a:latin typeface="Calibri"/>
                <a:ea typeface="Calibri"/>
                <a:cs typeface="Calibri"/>
                <a:sym typeface="Calibri"/>
              </a:rPr>
              <a:t>In sklearn, gradients don't exist. PyTorch's autograd engine computes them automatically — essential for training any neural network.</a:t>
            </a:r>
            <a:endParaRPr b="0" i="0" sz="950" u="none" cap="none" strike="noStrike">
              <a:solidFill>
                <a:srgbClr val="000000"/>
              </a:solidFill>
              <a:latin typeface="Calibri"/>
              <a:ea typeface="Calibri"/>
              <a:cs typeface="Calibri"/>
              <a:sym typeface="Calibri"/>
            </a:endParaRPr>
          </a:p>
        </p:txBody>
      </p:sp>
      <p:sp>
        <p:nvSpPr>
          <p:cNvPr id="1340" name="Google Shape;1340;p29"/>
          <p:cNvSpPr/>
          <p:nvPr/>
        </p:nvSpPr>
        <p:spPr>
          <a:xfrm>
            <a:off x="3209544" y="2798064"/>
            <a:ext cx="2651700" cy="1371600"/>
          </a:xfrm>
          <a:prstGeom prst="rect">
            <a:avLst/>
          </a:prstGeom>
          <a:solidFill>
            <a:srgbClr val="CBD5E1">
              <a:alpha val="40000"/>
            </a:srgbClr>
          </a:solidFill>
          <a:ln cap="flat" cmpd="sng" w="12700">
            <a:solidFill>
              <a:srgbClr val="CBD5E1">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1" name="Google Shape;1341;p29"/>
          <p:cNvSpPr/>
          <p:nvPr/>
        </p:nvSpPr>
        <p:spPr>
          <a:xfrm>
            <a:off x="3172968" y="2761488"/>
            <a:ext cx="2651700" cy="13716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2" name="Google Shape;1342;p29"/>
          <p:cNvSpPr/>
          <p:nvPr/>
        </p:nvSpPr>
        <p:spPr>
          <a:xfrm>
            <a:off x="3172968" y="2761488"/>
            <a:ext cx="50400" cy="1371600"/>
          </a:xfrm>
          <a:prstGeom prst="rect">
            <a:avLst/>
          </a:prstGeom>
          <a:solidFill>
            <a:srgbClr val="059669"/>
          </a:solidFill>
          <a:ln cap="flat" cmpd="sng" w="12700">
            <a:solidFill>
              <a:srgbClr val="05966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3" name="Google Shape;1343;p29"/>
          <p:cNvSpPr/>
          <p:nvPr/>
        </p:nvSpPr>
        <p:spPr>
          <a:xfrm>
            <a:off x="3310128" y="2852928"/>
            <a:ext cx="24507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50"/>
              <a:buFont typeface="Calibri"/>
              <a:buNone/>
            </a:pPr>
            <a:r>
              <a:rPr b="1" i="0" lang="en" sz="1150" u="none" cap="none" strike="noStrike">
                <a:solidFill>
                  <a:srgbClr val="1E293B"/>
                </a:solidFill>
                <a:latin typeface="Calibri"/>
                <a:ea typeface="Calibri"/>
                <a:cs typeface="Calibri"/>
                <a:sym typeface="Calibri"/>
              </a:rPr>
              <a:t>🔬  Black-box vs. Full Transparency</a:t>
            </a:r>
            <a:endParaRPr b="0" i="0" sz="1150" u="none" cap="none" strike="noStrike">
              <a:solidFill>
                <a:srgbClr val="000000"/>
              </a:solidFill>
              <a:latin typeface="Calibri"/>
              <a:ea typeface="Calibri"/>
              <a:cs typeface="Calibri"/>
              <a:sym typeface="Calibri"/>
            </a:endParaRPr>
          </a:p>
        </p:txBody>
      </p:sp>
      <p:cxnSp>
        <p:nvCxnSpPr>
          <p:cNvPr id="1344" name="Google Shape;1344;p29"/>
          <p:cNvCxnSpPr/>
          <p:nvPr/>
        </p:nvCxnSpPr>
        <p:spPr>
          <a:xfrm>
            <a:off x="3310128" y="3218688"/>
            <a:ext cx="2377500" cy="0"/>
          </a:xfrm>
          <a:prstGeom prst="straightConnector1">
            <a:avLst/>
          </a:prstGeom>
          <a:noFill/>
          <a:ln cap="flat" cmpd="sng" w="9525">
            <a:solidFill>
              <a:srgbClr val="E2E8F0"/>
            </a:solidFill>
            <a:prstDash val="solid"/>
            <a:round/>
            <a:headEnd len="sm" w="sm" type="none"/>
            <a:tailEnd len="sm" w="sm" type="none"/>
          </a:ln>
        </p:spPr>
      </p:cxnSp>
      <p:sp>
        <p:nvSpPr>
          <p:cNvPr id="1345" name="Google Shape;1345;p29"/>
          <p:cNvSpPr/>
          <p:nvPr/>
        </p:nvSpPr>
        <p:spPr>
          <a:xfrm>
            <a:off x="3310128" y="3264408"/>
            <a:ext cx="2423100" cy="777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75569"/>
              </a:buClr>
              <a:buSzPts val="950"/>
              <a:buFont typeface="Calibri"/>
              <a:buNone/>
            </a:pPr>
            <a:r>
              <a:rPr b="0" i="0" lang="en" sz="950" u="none" cap="none" strike="noStrike">
                <a:solidFill>
                  <a:srgbClr val="475569"/>
                </a:solidFill>
                <a:latin typeface="Calibri"/>
                <a:ea typeface="Calibri"/>
                <a:cs typeface="Calibri"/>
                <a:sym typeface="Calibri"/>
              </a:rPr>
              <a:t>sklearn hides internals. PyTorch exposes every weight, activation, and loss — you control and inspect everything for research &amp; debugging.</a:t>
            </a:r>
            <a:endParaRPr b="0" i="0" sz="950" u="none" cap="none" strike="noStrike">
              <a:solidFill>
                <a:srgbClr val="000000"/>
              </a:solidFill>
              <a:latin typeface="Calibri"/>
              <a:ea typeface="Calibri"/>
              <a:cs typeface="Calibri"/>
              <a:sym typeface="Calibri"/>
            </a:endParaRPr>
          </a:p>
        </p:txBody>
      </p:sp>
      <p:sp>
        <p:nvSpPr>
          <p:cNvPr id="1346" name="Google Shape;1346;p29"/>
          <p:cNvSpPr/>
          <p:nvPr/>
        </p:nvSpPr>
        <p:spPr>
          <a:xfrm>
            <a:off x="6062472" y="2798064"/>
            <a:ext cx="2651700" cy="1371600"/>
          </a:xfrm>
          <a:prstGeom prst="rect">
            <a:avLst/>
          </a:prstGeom>
          <a:solidFill>
            <a:srgbClr val="CBD5E1">
              <a:alpha val="40000"/>
            </a:srgbClr>
          </a:solidFill>
          <a:ln cap="flat" cmpd="sng" w="12700">
            <a:solidFill>
              <a:srgbClr val="CBD5E1">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7" name="Google Shape;1347;p29"/>
          <p:cNvSpPr/>
          <p:nvPr/>
        </p:nvSpPr>
        <p:spPr>
          <a:xfrm>
            <a:off x="6025896" y="2761488"/>
            <a:ext cx="2651700" cy="13716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8" name="Google Shape;1348;p29"/>
          <p:cNvSpPr/>
          <p:nvPr/>
        </p:nvSpPr>
        <p:spPr>
          <a:xfrm>
            <a:off x="6025896" y="2761488"/>
            <a:ext cx="50400" cy="1371600"/>
          </a:xfrm>
          <a:prstGeom prst="rect">
            <a:avLst/>
          </a:prstGeom>
          <a:solidFill>
            <a:srgbClr val="DC2626"/>
          </a:solidFill>
          <a:ln cap="flat" cmpd="sng" w="12700">
            <a:solidFill>
              <a:srgbClr val="DC262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9" name="Google Shape;1349;p29"/>
          <p:cNvSpPr/>
          <p:nvPr/>
        </p:nvSpPr>
        <p:spPr>
          <a:xfrm>
            <a:off x="6163056" y="2852928"/>
            <a:ext cx="24507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50"/>
              <a:buFont typeface="Calibri"/>
              <a:buNone/>
            </a:pPr>
            <a:r>
              <a:rPr b="1" i="0" lang="en" sz="1150" u="none" cap="none" strike="noStrike">
                <a:solidFill>
                  <a:srgbClr val="1E293B"/>
                </a:solidFill>
                <a:latin typeface="Calibri"/>
                <a:ea typeface="Calibri"/>
                <a:cs typeface="Calibri"/>
                <a:sym typeface="Calibri"/>
              </a:rPr>
              <a:t>🌍  Local Tools vs. Industry Standard</a:t>
            </a:r>
            <a:endParaRPr b="0" i="0" sz="1150" u="none" cap="none" strike="noStrike">
              <a:solidFill>
                <a:srgbClr val="000000"/>
              </a:solidFill>
              <a:latin typeface="Calibri"/>
              <a:ea typeface="Calibri"/>
              <a:cs typeface="Calibri"/>
              <a:sym typeface="Calibri"/>
            </a:endParaRPr>
          </a:p>
        </p:txBody>
      </p:sp>
      <p:cxnSp>
        <p:nvCxnSpPr>
          <p:cNvPr id="1350" name="Google Shape;1350;p29"/>
          <p:cNvCxnSpPr/>
          <p:nvPr/>
        </p:nvCxnSpPr>
        <p:spPr>
          <a:xfrm>
            <a:off x="6163056" y="3218688"/>
            <a:ext cx="2377500" cy="0"/>
          </a:xfrm>
          <a:prstGeom prst="straightConnector1">
            <a:avLst/>
          </a:prstGeom>
          <a:noFill/>
          <a:ln cap="flat" cmpd="sng" w="9525">
            <a:solidFill>
              <a:srgbClr val="E2E8F0"/>
            </a:solidFill>
            <a:prstDash val="solid"/>
            <a:round/>
            <a:headEnd len="sm" w="sm" type="none"/>
            <a:tailEnd len="sm" w="sm" type="none"/>
          </a:ln>
        </p:spPr>
      </p:cxnSp>
      <p:sp>
        <p:nvSpPr>
          <p:cNvPr id="1351" name="Google Shape;1351;p29"/>
          <p:cNvSpPr/>
          <p:nvPr/>
        </p:nvSpPr>
        <p:spPr>
          <a:xfrm>
            <a:off x="6163056" y="3264408"/>
            <a:ext cx="2423100" cy="777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75569"/>
              </a:buClr>
              <a:buSzPts val="950"/>
              <a:buFont typeface="Calibri"/>
              <a:buNone/>
            </a:pPr>
            <a:r>
              <a:rPr b="0" i="0" lang="en" sz="950" u="none" cap="none" strike="noStrike">
                <a:solidFill>
                  <a:srgbClr val="475569"/>
                </a:solidFill>
                <a:latin typeface="Calibri"/>
                <a:ea typeface="Calibri"/>
                <a:cs typeface="Calibri"/>
                <a:sym typeface="Calibri"/>
              </a:rPr>
              <a:t>PyTorch powers research at Meta, Google, Tesla &amp; top universities. Moving to PyTorch means speaking the language of modern deep learning.</a:t>
            </a:r>
            <a:endParaRPr b="0" i="0" sz="950" u="none" cap="none" strike="noStrike">
              <a:solidFill>
                <a:srgbClr val="000000"/>
              </a:solidFill>
              <a:latin typeface="Calibri"/>
              <a:ea typeface="Calibri"/>
              <a:cs typeface="Calibri"/>
              <a:sym typeface="Calibri"/>
            </a:endParaRPr>
          </a:p>
        </p:txBody>
      </p:sp>
      <p:sp>
        <p:nvSpPr>
          <p:cNvPr id="1352" name="Google Shape;1352;p29"/>
          <p:cNvSpPr/>
          <p:nvPr/>
        </p:nvSpPr>
        <p:spPr>
          <a:xfrm>
            <a:off x="320040" y="4773168"/>
            <a:ext cx="8503800" cy="274200"/>
          </a:xfrm>
          <a:prstGeom prst="rect">
            <a:avLst/>
          </a:prstGeom>
          <a:solidFill>
            <a:srgbClr val="FFF7ED"/>
          </a:solidFill>
          <a:ln cap="flat" cmpd="sng" w="12700">
            <a:solidFill>
              <a:srgbClr val="FED7A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3" name="Google Shape;1353;p29"/>
          <p:cNvSpPr/>
          <p:nvPr/>
        </p:nvSpPr>
        <p:spPr>
          <a:xfrm>
            <a:off x="411480" y="4773168"/>
            <a:ext cx="83211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EE4C2C"/>
              </a:buClr>
              <a:buSzPts val="950"/>
              <a:buFont typeface="Calibri"/>
              <a:buNone/>
            </a:pPr>
            <a:r>
              <a:rPr b="1" i="0" lang="en" sz="950" u="none" cap="none" strike="noStrike">
                <a:solidFill>
                  <a:srgbClr val="EE4C2C"/>
                </a:solidFill>
                <a:latin typeface="Calibri"/>
                <a:ea typeface="Calibri"/>
                <a:cs typeface="Calibri"/>
                <a:sym typeface="Calibri"/>
              </a:rPr>
              <a:t>Bottom line: </a:t>
            </a:r>
            <a:r>
              <a:rPr b="0" i="0" lang="en" sz="950" u="none" cap="none" strike="noStrike">
                <a:solidFill>
                  <a:srgbClr val="475569"/>
                </a:solidFill>
                <a:latin typeface="Calibri"/>
                <a:ea typeface="Calibri"/>
                <a:cs typeface="Calibri"/>
                <a:sym typeface="Calibri"/>
              </a:rPr>
              <a:t>sklearn is a great starting point. But deep learning at scale demands the flexibility, power, and ecosystem that only PyTorch delivers.</a:t>
            </a:r>
            <a:endParaRPr b="0" i="0" sz="950" u="none" cap="none" strike="noStrike">
              <a:solidFill>
                <a:srgbClr val="000000"/>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57" name="Shape 1357"/>
        <p:cNvGrpSpPr/>
        <p:nvPr/>
      </p:nvGrpSpPr>
      <p:grpSpPr>
        <a:xfrm>
          <a:off x="0" y="0"/>
          <a:ext cx="0" cy="0"/>
          <a:chOff x="0" y="0"/>
          <a:chExt cx="0" cy="0"/>
        </a:xfrm>
      </p:grpSpPr>
      <p:sp>
        <p:nvSpPr>
          <p:cNvPr id="1358" name="Google Shape;1358;p30"/>
          <p:cNvSpPr/>
          <p:nvPr/>
        </p:nvSpPr>
        <p:spPr>
          <a:xfrm>
            <a:off x="320040" y="109728"/>
            <a:ext cx="50292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1A"/>
              </a:buClr>
              <a:buSzPts val="3400"/>
              <a:buFont typeface="Calibri"/>
              <a:buNone/>
            </a:pPr>
            <a:r>
              <a:rPr b="1" i="0" lang="en" sz="2800" u="none" cap="none" strike="noStrike">
                <a:solidFill>
                  <a:srgbClr val="1A1A1A"/>
                </a:solidFill>
                <a:latin typeface="Calibri"/>
                <a:ea typeface="Calibri"/>
                <a:cs typeface="Calibri"/>
                <a:sym typeface="Calibri"/>
              </a:rPr>
              <a:t>PyTorch</a:t>
            </a:r>
            <a:endParaRPr b="0" i="0" sz="2800" u="none" cap="none" strike="noStrike">
              <a:solidFill>
                <a:srgbClr val="000000"/>
              </a:solidFill>
              <a:latin typeface="Calibri"/>
              <a:ea typeface="Calibri"/>
              <a:cs typeface="Calibri"/>
              <a:sym typeface="Calibri"/>
            </a:endParaRPr>
          </a:p>
        </p:txBody>
      </p:sp>
      <p:sp>
        <p:nvSpPr>
          <p:cNvPr id="1359" name="Google Shape;1359;p30"/>
          <p:cNvSpPr/>
          <p:nvPr/>
        </p:nvSpPr>
        <p:spPr>
          <a:xfrm>
            <a:off x="320040" y="621792"/>
            <a:ext cx="50292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7D32"/>
              </a:buClr>
              <a:buSzPts val="1800"/>
              <a:buFont typeface="Calibri"/>
              <a:buNone/>
            </a:pPr>
            <a:r>
              <a:rPr b="0" i="1" lang="en" sz="1800" u="none" cap="none" strike="noStrike">
                <a:solidFill>
                  <a:srgbClr val="C00000"/>
                </a:solidFill>
                <a:latin typeface="Calibri"/>
                <a:ea typeface="Calibri"/>
                <a:cs typeface="Calibri"/>
                <a:sym typeface="Calibri"/>
              </a:rPr>
              <a:t>Deep Learning in Python</a:t>
            </a:r>
            <a:endParaRPr b="0" i="0" sz="1800" u="none" cap="none" strike="noStrike">
              <a:solidFill>
                <a:srgbClr val="C00000"/>
              </a:solidFill>
              <a:latin typeface="Calibri"/>
              <a:ea typeface="Calibri"/>
              <a:cs typeface="Calibri"/>
              <a:sym typeface="Calibri"/>
            </a:endParaRPr>
          </a:p>
        </p:txBody>
      </p:sp>
      <p:sp>
        <p:nvSpPr>
          <p:cNvPr id="1360" name="Google Shape;1360;p30"/>
          <p:cNvSpPr/>
          <p:nvPr/>
        </p:nvSpPr>
        <p:spPr>
          <a:xfrm>
            <a:off x="274320" y="1078992"/>
            <a:ext cx="4206300" cy="1051500"/>
          </a:xfrm>
          <a:prstGeom prst="rect">
            <a:avLst/>
          </a:prstGeom>
          <a:solidFill>
            <a:srgbClr val="FFFFFF"/>
          </a:solidFill>
          <a:ln cap="flat" cmpd="sng" w="9525">
            <a:solidFill>
              <a:srgbClr val="00B05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1" name="Google Shape;1361;p30"/>
          <p:cNvSpPr/>
          <p:nvPr/>
        </p:nvSpPr>
        <p:spPr>
          <a:xfrm>
            <a:off x="384048" y="1133856"/>
            <a:ext cx="40416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1A"/>
              </a:buClr>
              <a:buSzPts val="1300"/>
              <a:buFont typeface="Calibri"/>
              <a:buNone/>
            </a:pPr>
            <a:r>
              <a:rPr b="1" i="0" lang="en" sz="1300" u="none" cap="none" strike="noStrike">
                <a:solidFill>
                  <a:srgbClr val="1A1A1A"/>
                </a:solidFill>
                <a:latin typeface="Calibri"/>
                <a:ea typeface="Calibri"/>
                <a:cs typeface="Calibri"/>
                <a:sym typeface="Calibri"/>
              </a:rPr>
              <a:t>Neural Network Building Blocks</a:t>
            </a:r>
            <a:endParaRPr b="0" i="0" sz="1300" u="none" cap="none" strike="noStrike">
              <a:solidFill>
                <a:srgbClr val="000000"/>
              </a:solidFill>
              <a:latin typeface="Calibri"/>
              <a:ea typeface="Calibri"/>
              <a:cs typeface="Calibri"/>
              <a:sym typeface="Calibri"/>
            </a:endParaRPr>
          </a:p>
        </p:txBody>
      </p:sp>
      <p:sp>
        <p:nvSpPr>
          <p:cNvPr id="1362" name="Google Shape;1362;p30"/>
          <p:cNvSpPr/>
          <p:nvPr/>
        </p:nvSpPr>
        <p:spPr>
          <a:xfrm>
            <a:off x="384048" y="1444752"/>
            <a:ext cx="4041600" cy="621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33333"/>
              </a:buClr>
              <a:buSzPts val="1100"/>
              <a:buFont typeface="Calibri"/>
              <a:buNone/>
            </a:pPr>
            <a:r>
              <a:rPr b="0" i="0" lang="en" sz="1100" u="none" cap="none" strike="noStrike">
                <a:solidFill>
                  <a:srgbClr val="333333"/>
                </a:solidFill>
                <a:latin typeface="Calibri"/>
                <a:ea typeface="Calibri"/>
                <a:cs typeface="Calibri"/>
                <a:sym typeface="Calibri"/>
              </a:rPr>
              <a:t>torch.nn.Module, Linear, Conv2d, RNN/LSTM/GRU, Transformer — composable layers with autograd support</a:t>
            </a:r>
            <a:endParaRPr b="0" i="0" sz="1100" u="none" cap="none" strike="noStrike">
              <a:solidFill>
                <a:srgbClr val="000000"/>
              </a:solidFill>
              <a:latin typeface="Calibri"/>
              <a:ea typeface="Calibri"/>
              <a:cs typeface="Calibri"/>
              <a:sym typeface="Calibri"/>
            </a:endParaRPr>
          </a:p>
        </p:txBody>
      </p:sp>
      <p:sp>
        <p:nvSpPr>
          <p:cNvPr id="1363" name="Google Shape;1363;p30"/>
          <p:cNvSpPr/>
          <p:nvPr/>
        </p:nvSpPr>
        <p:spPr>
          <a:xfrm>
            <a:off x="4663440" y="1078992"/>
            <a:ext cx="4206300" cy="1051500"/>
          </a:xfrm>
          <a:prstGeom prst="rect">
            <a:avLst/>
          </a:prstGeom>
          <a:solidFill>
            <a:srgbClr val="FFFFFF"/>
          </a:solidFill>
          <a:ln cap="flat" cmpd="sng" w="9525">
            <a:solidFill>
              <a:srgbClr val="00B05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4" name="Google Shape;1364;p30"/>
          <p:cNvSpPr/>
          <p:nvPr/>
        </p:nvSpPr>
        <p:spPr>
          <a:xfrm>
            <a:off x="4773168" y="1133856"/>
            <a:ext cx="40416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1A"/>
              </a:buClr>
              <a:buSzPts val="1300"/>
              <a:buFont typeface="Calibri"/>
              <a:buNone/>
            </a:pPr>
            <a:r>
              <a:rPr b="1" i="0" lang="en" sz="1300" u="none" cap="none" strike="noStrike">
                <a:solidFill>
                  <a:srgbClr val="1A1A1A"/>
                </a:solidFill>
                <a:latin typeface="Calibri"/>
                <a:ea typeface="Calibri"/>
                <a:cs typeface="Calibri"/>
                <a:sym typeface="Calibri"/>
              </a:rPr>
              <a:t>Autograd &amp; Optimization</a:t>
            </a:r>
            <a:endParaRPr b="0" i="0" sz="1300" u="none" cap="none" strike="noStrike">
              <a:solidFill>
                <a:srgbClr val="000000"/>
              </a:solidFill>
              <a:latin typeface="Calibri"/>
              <a:ea typeface="Calibri"/>
              <a:cs typeface="Calibri"/>
              <a:sym typeface="Calibri"/>
            </a:endParaRPr>
          </a:p>
        </p:txBody>
      </p:sp>
      <p:sp>
        <p:nvSpPr>
          <p:cNvPr id="1365" name="Google Shape;1365;p30"/>
          <p:cNvSpPr/>
          <p:nvPr/>
        </p:nvSpPr>
        <p:spPr>
          <a:xfrm>
            <a:off x="4773168" y="1444752"/>
            <a:ext cx="4041600" cy="621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33333"/>
              </a:buClr>
              <a:buSzPts val="1100"/>
              <a:buFont typeface="Calibri"/>
              <a:buNone/>
            </a:pPr>
            <a:r>
              <a:rPr b="0" i="0" lang="en" sz="1100" u="none" cap="none" strike="noStrike">
                <a:solidFill>
                  <a:srgbClr val="333333"/>
                </a:solidFill>
                <a:latin typeface="Calibri"/>
                <a:ea typeface="Calibri"/>
                <a:cs typeface="Calibri"/>
                <a:sym typeface="Calibri"/>
              </a:rPr>
              <a:t>Automatic differentiation via torch.autograd · SGD, Adam, AdamW, RMSProp · Learning rate schedulers</a:t>
            </a:r>
            <a:endParaRPr b="0" i="0" sz="1100" u="none" cap="none" strike="noStrike">
              <a:solidFill>
                <a:srgbClr val="000000"/>
              </a:solidFill>
              <a:latin typeface="Calibri"/>
              <a:ea typeface="Calibri"/>
              <a:cs typeface="Calibri"/>
              <a:sym typeface="Calibri"/>
            </a:endParaRPr>
          </a:p>
        </p:txBody>
      </p:sp>
      <p:sp>
        <p:nvSpPr>
          <p:cNvPr id="1366" name="Google Shape;1366;p30"/>
          <p:cNvSpPr/>
          <p:nvPr/>
        </p:nvSpPr>
        <p:spPr>
          <a:xfrm>
            <a:off x="274320" y="2304288"/>
            <a:ext cx="4206300" cy="1051500"/>
          </a:xfrm>
          <a:prstGeom prst="rect">
            <a:avLst/>
          </a:prstGeom>
          <a:solidFill>
            <a:srgbClr val="FFFFFF"/>
          </a:solidFill>
          <a:ln cap="flat" cmpd="sng" w="9525">
            <a:solidFill>
              <a:srgbClr val="10B98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7" name="Google Shape;1367;p30"/>
          <p:cNvSpPr/>
          <p:nvPr/>
        </p:nvSpPr>
        <p:spPr>
          <a:xfrm>
            <a:off x="384048" y="2359152"/>
            <a:ext cx="40416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1A"/>
              </a:buClr>
              <a:buSzPts val="1300"/>
              <a:buFont typeface="Calibri"/>
              <a:buNone/>
            </a:pPr>
            <a:r>
              <a:rPr b="1" i="0" lang="en" sz="1300" u="none" cap="none" strike="noStrike">
                <a:solidFill>
                  <a:srgbClr val="1A1A1A"/>
                </a:solidFill>
                <a:latin typeface="Calibri"/>
                <a:ea typeface="Calibri"/>
                <a:cs typeface="Calibri"/>
                <a:sym typeface="Calibri"/>
              </a:rPr>
              <a:t>Data Loading &amp; Preprocessing</a:t>
            </a:r>
            <a:endParaRPr b="0" i="0" sz="1300" u="none" cap="none" strike="noStrike">
              <a:solidFill>
                <a:srgbClr val="000000"/>
              </a:solidFill>
              <a:latin typeface="Calibri"/>
              <a:ea typeface="Calibri"/>
              <a:cs typeface="Calibri"/>
              <a:sym typeface="Calibri"/>
            </a:endParaRPr>
          </a:p>
        </p:txBody>
      </p:sp>
      <p:sp>
        <p:nvSpPr>
          <p:cNvPr id="1368" name="Google Shape;1368;p30"/>
          <p:cNvSpPr/>
          <p:nvPr/>
        </p:nvSpPr>
        <p:spPr>
          <a:xfrm>
            <a:off x="384048" y="2670048"/>
            <a:ext cx="4041600" cy="621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33333"/>
              </a:buClr>
              <a:buSzPts val="1100"/>
              <a:buFont typeface="Calibri"/>
              <a:buNone/>
            </a:pPr>
            <a:r>
              <a:rPr b="0" i="0" lang="en" sz="1100" u="none" cap="none" strike="noStrike">
                <a:solidFill>
                  <a:srgbClr val="333333"/>
                </a:solidFill>
                <a:latin typeface="Calibri"/>
                <a:ea typeface="Calibri"/>
                <a:cs typeface="Calibri"/>
                <a:sym typeface="Calibri"/>
              </a:rPr>
              <a:t>Dataset, DataLoader, torchvision.transforms · Batching, shuffling, augmentation · Custom Dataset API</a:t>
            </a:r>
            <a:endParaRPr b="0" i="0" sz="1100" u="none" cap="none" strike="noStrike">
              <a:solidFill>
                <a:srgbClr val="000000"/>
              </a:solidFill>
              <a:latin typeface="Calibri"/>
              <a:ea typeface="Calibri"/>
              <a:cs typeface="Calibri"/>
              <a:sym typeface="Calibri"/>
            </a:endParaRPr>
          </a:p>
        </p:txBody>
      </p:sp>
      <p:sp>
        <p:nvSpPr>
          <p:cNvPr id="1369" name="Google Shape;1369;p30"/>
          <p:cNvSpPr/>
          <p:nvPr/>
        </p:nvSpPr>
        <p:spPr>
          <a:xfrm>
            <a:off x="4663440" y="2304288"/>
            <a:ext cx="4206300" cy="1051500"/>
          </a:xfrm>
          <a:prstGeom prst="rect">
            <a:avLst/>
          </a:prstGeom>
          <a:solidFill>
            <a:srgbClr val="FFFFFF"/>
          </a:solidFill>
          <a:ln cap="flat" cmpd="sng" w="9525">
            <a:solidFill>
              <a:srgbClr val="00B05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0" name="Google Shape;1370;p30"/>
          <p:cNvSpPr/>
          <p:nvPr/>
        </p:nvSpPr>
        <p:spPr>
          <a:xfrm>
            <a:off x="4773168" y="2359152"/>
            <a:ext cx="40416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1A"/>
              </a:buClr>
              <a:buSzPts val="1300"/>
              <a:buFont typeface="Calibri"/>
              <a:buNone/>
            </a:pPr>
            <a:r>
              <a:rPr b="1" i="0" lang="en" sz="1300" u="none" cap="none" strike="noStrike">
                <a:solidFill>
                  <a:srgbClr val="1A1A1A"/>
                </a:solidFill>
                <a:latin typeface="Calibri"/>
                <a:ea typeface="Calibri"/>
                <a:cs typeface="Calibri"/>
                <a:sym typeface="Calibri"/>
              </a:rPr>
              <a:t>Key Design Principles</a:t>
            </a:r>
            <a:endParaRPr b="0" i="0" sz="1300" u="none" cap="none" strike="noStrike">
              <a:solidFill>
                <a:srgbClr val="000000"/>
              </a:solidFill>
              <a:latin typeface="Calibri"/>
              <a:ea typeface="Calibri"/>
              <a:cs typeface="Calibri"/>
              <a:sym typeface="Calibri"/>
            </a:endParaRPr>
          </a:p>
        </p:txBody>
      </p:sp>
      <p:sp>
        <p:nvSpPr>
          <p:cNvPr id="1371" name="Google Shape;1371;p30"/>
          <p:cNvSpPr/>
          <p:nvPr/>
        </p:nvSpPr>
        <p:spPr>
          <a:xfrm>
            <a:off x="4773168" y="2670048"/>
            <a:ext cx="4041600" cy="621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33333"/>
              </a:buClr>
              <a:buSzPts val="1100"/>
              <a:buFont typeface="Calibri"/>
              <a:buNone/>
            </a:pPr>
            <a:r>
              <a:rPr b="0" i="0" lang="en" sz="1100" u="none" cap="none" strike="noStrike">
                <a:solidFill>
                  <a:srgbClr val="333333"/>
                </a:solidFill>
                <a:latin typeface="Calibri"/>
                <a:ea typeface="Calibri"/>
                <a:cs typeface="Calibri"/>
                <a:sym typeface="Calibri"/>
              </a:rPr>
              <a:t>Dynamic computation graph · Pythonic &amp; debuggable · NumPy-compatible tensors · GPU/CPU seamless switching</a:t>
            </a:r>
            <a:endParaRPr b="0" i="0" sz="1100" u="none" cap="none" strike="noStrike">
              <a:solidFill>
                <a:srgbClr val="000000"/>
              </a:solidFill>
              <a:latin typeface="Calibri"/>
              <a:ea typeface="Calibri"/>
              <a:cs typeface="Calibri"/>
              <a:sym typeface="Calibri"/>
            </a:endParaRPr>
          </a:p>
        </p:txBody>
      </p:sp>
      <p:sp>
        <p:nvSpPr>
          <p:cNvPr id="1372" name="Google Shape;1372;p30"/>
          <p:cNvSpPr/>
          <p:nvPr/>
        </p:nvSpPr>
        <p:spPr>
          <a:xfrm>
            <a:off x="274320" y="3529584"/>
            <a:ext cx="4206300" cy="1051500"/>
          </a:xfrm>
          <a:prstGeom prst="rect">
            <a:avLst/>
          </a:prstGeom>
          <a:solidFill>
            <a:srgbClr val="FFFFFF"/>
          </a:solidFill>
          <a:ln cap="flat" cmpd="sng" w="9525">
            <a:solidFill>
              <a:srgbClr val="10B98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3" name="Google Shape;1373;p30"/>
          <p:cNvSpPr/>
          <p:nvPr/>
        </p:nvSpPr>
        <p:spPr>
          <a:xfrm>
            <a:off x="384048" y="3584448"/>
            <a:ext cx="40416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1A"/>
              </a:buClr>
              <a:buSzPts val="1300"/>
              <a:buFont typeface="Calibri"/>
              <a:buNone/>
            </a:pPr>
            <a:r>
              <a:rPr b="1" i="0" lang="en" sz="1300" u="none" cap="none" strike="noStrike">
                <a:solidFill>
                  <a:srgbClr val="1A1A1A"/>
                </a:solidFill>
                <a:latin typeface="Calibri"/>
                <a:ea typeface="Calibri"/>
                <a:cs typeface="Calibri"/>
                <a:sym typeface="Calibri"/>
              </a:rPr>
              <a:t>Model Training &amp; Evaluation</a:t>
            </a:r>
            <a:endParaRPr b="0" i="0" sz="1300" u="none" cap="none" strike="noStrike">
              <a:solidFill>
                <a:srgbClr val="000000"/>
              </a:solidFill>
              <a:latin typeface="Calibri"/>
              <a:ea typeface="Calibri"/>
              <a:cs typeface="Calibri"/>
              <a:sym typeface="Calibri"/>
            </a:endParaRPr>
          </a:p>
        </p:txBody>
      </p:sp>
      <p:sp>
        <p:nvSpPr>
          <p:cNvPr id="1374" name="Google Shape;1374;p30"/>
          <p:cNvSpPr/>
          <p:nvPr/>
        </p:nvSpPr>
        <p:spPr>
          <a:xfrm>
            <a:off x="384048" y="3895344"/>
            <a:ext cx="4041600" cy="621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33333"/>
              </a:buClr>
              <a:buSzPts val="1100"/>
              <a:buFont typeface="Calibri"/>
              <a:buNone/>
            </a:pPr>
            <a:r>
              <a:rPr b="0" i="0" lang="en" sz="1100" u="none" cap="none" strike="noStrike">
                <a:solidFill>
                  <a:srgbClr val="333333"/>
                </a:solidFill>
                <a:latin typeface="Calibri"/>
                <a:ea typeface="Calibri"/>
                <a:cs typeface="Calibri"/>
                <a:sym typeface="Calibri"/>
              </a:rPr>
              <a:t>Training loops, loss functions (CrossEntropy, MSE, NLL) · Checkpointing · TorchScript &amp; ONNX export</a:t>
            </a:r>
            <a:endParaRPr b="0" i="0" sz="1100" u="none" cap="none" strike="noStrike">
              <a:solidFill>
                <a:srgbClr val="000000"/>
              </a:solidFill>
              <a:latin typeface="Calibri"/>
              <a:ea typeface="Calibri"/>
              <a:cs typeface="Calibri"/>
              <a:sym typeface="Calibri"/>
            </a:endParaRPr>
          </a:p>
        </p:txBody>
      </p:sp>
      <p:sp>
        <p:nvSpPr>
          <p:cNvPr id="1375" name="Google Shape;1375;p30"/>
          <p:cNvSpPr/>
          <p:nvPr/>
        </p:nvSpPr>
        <p:spPr>
          <a:xfrm>
            <a:off x="4663440" y="3529584"/>
            <a:ext cx="4206300" cy="1051500"/>
          </a:xfrm>
          <a:prstGeom prst="rect">
            <a:avLst/>
          </a:prstGeom>
          <a:solidFill>
            <a:srgbClr val="FFFFFF"/>
          </a:solidFill>
          <a:ln cap="flat" cmpd="sng" w="9525">
            <a:solidFill>
              <a:srgbClr val="00B05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6" name="Google Shape;1376;p30"/>
          <p:cNvSpPr/>
          <p:nvPr/>
        </p:nvSpPr>
        <p:spPr>
          <a:xfrm>
            <a:off x="4773168" y="3584448"/>
            <a:ext cx="40416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1A"/>
              </a:buClr>
              <a:buSzPts val="1300"/>
              <a:buFont typeface="Calibri"/>
              <a:buNone/>
            </a:pPr>
            <a:r>
              <a:rPr b="1" i="0" lang="en" sz="1300" u="none" cap="none" strike="noStrike">
                <a:solidFill>
                  <a:srgbClr val="1A1A1A"/>
                </a:solidFill>
                <a:latin typeface="Calibri"/>
                <a:ea typeface="Calibri"/>
                <a:cs typeface="Calibri"/>
                <a:sym typeface="Calibri"/>
              </a:rPr>
              <a:t>Ecosystem &amp; Use Cases</a:t>
            </a:r>
            <a:endParaRPr b="0" i="0" sz="1300" u="none" cap="none" strike="noStrike">
              <a:solidFill>
                <a:srgbClr val="000000"/>
              </a:solidFill>
              <a:latin typeface="Calibri"/>
              <a:ea typeface="Calibri"/>
              <a:cs typeface="Calibri"/>
              <a:sym typeface="Calibri"/>
            </a:endParaRPr>
          </a:p>
        </p:txBody>
      </p:sp>
      <p:sp>
        <p:nvSpPr>
          <p:cNvPr id="1377" name="Google Shape;1377;p30"/>
          <p:cNvSpPr/>
          <p:nvPr/>
        </p:nvSpPr>
        <p:spPr>
          <a:xfrm>
            <a:off x="4773168" y="3895344"/>
            <a:ext cx="4041600" cy="621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33333"/>
              </a:buClr>
              <a:buSzPts val="1100"/>
              <a:buFont typeface="Calibri"/>
              <a:buNone/>
            </a:pPr>
            <a:r>
              <a:rPr b="0" i="0" lang="en" sz="1100" u="none" cap="none" strike="noStrike">
                <a:solidFill>
                  <a:srgbClr val="333333"/>
                </a:solidFill>
                <a:latin typeface="Calibri"/>
                <a:ea typeface="Calibri"/>
                <a:cs typeface="Calibri"/>
                <a:sym typeface="Calibri"/>
              </a:rPr>
              <a:t>torchvision, torchaudio, torchtext · Hugging Face integration · Used in CV, NLP, RL, generative AI</a:t>
            </a:r>
            <a:endParaRPr b="0" i="0" sz="1100" u="none" cap="none" strike="noStrike">
              <a:solidFill>
                <a:srgbClr val="000000"/>
              </a:solidFill>
              <a:latin typeface="Calibri"/>
              <a:ea typeface="Calibri"/>
              <a:cs typeface="Calibri"/>
              <a:sym typeface="Calibri"/>
            </a:endParaRPr>
          </a:p>
        </p:txBody>
      </p:sp>
      <p:pic>
        <p:nvPicPr>
          <p:cNvPr id="1378" name="Google Shape;1378;p30"/>
          <p:cNvPicPr preferRelativeResize="0"/>
          <p:nvPr/>
        </p:nvPicPr>
        <p:blipFill rotWithShape="1">
          <a:blip r:embed="rId4">
            <a:alphaModFix/>
          </a:blip>
          <a:srcRect b="0" l="0" r="0" t="0"/>
          <a:stretch/>
        </p:blipFill>
        <p:spPr>
          <a:xfrm>
            <a:off x="8369125" y="0"/>
            <a:ext cx="774877" cy="867174"/>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82" name="Shape 1382"/>
        <p:cNvGrpSpPr/>
        <p:nvPr/>
      </p:nvGrpSpPr>
      <p:grpSpPr>
        <a:xfrm>
          <a:off x="0" y="0"/>
          <a:ext cx="0" cy="0"/>
          <a:chOff x="0" y="0"/>
          <a:chExt cx="0" cy="0"/>
        </a:xfrm>
      </p:grpSpPr>
      <p:sp>
        <p:nvSpPr>
          <p:cNvPr id="1383" name="Google Shape;1383;p31"/>
          <p:cNvSpPr txBox="1"/>
          <p:nvPr/>
        </p:nvSpPr>
        <p:spPr>
          <a:xfrm>
            <a:off x="272050" y="970015"/>
            <a:ext cx="5961000" cy="3777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n" sz="1000" u="none" cap="none" strike="noStrike">
                <a:solidFill>
                  <a:schemeClr val="dk2"/>
                </a:solidFill>
                <a:latin typeface="Calibri"/>
                <a:ea typeface="Calibri"/>
                <a:cs typeface="Calibri"/>
                <a:sym typeface="Calibri"/>
              </a:rPr>
              <a:t>import torch                     # Core PyTorch library</a:t>
            </a:r>
            <a:endParaRPr b="0" i="0" sz="1000" u="none" cap="none" strike="noStrike">
              <a:solidFill>
                <a:schemeClr val="dk2"/>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n" sz="1000" u="none" cap="none" strike="noStrike">
                <a:solidFill>
                  <a:schemeClr val="dk2"/>
                </a:solidFill>
                <a:latin typeface="Calibri"/>
                <a:ea typeface="Calibri"/>
                <a:cs typeface="Calibri"/>
                <a:sym typeface="Calibri"/>
              </a:rPr>
              <a:t>import torch.nn as nn           # Neural network module</a:t>
            </a:r>
            <a:endParaRPr b="0" i="0" sz="1000" u="none" cap="none" strike="noStrike">
              <a:solidFill>
                <a:schemeClr val="dk2"/>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dk2"/>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n" sz="1000" u="none" cap="none" strike="noStrike">
                <a:solidFill>
                  <a:schemeClr val="dk2"/>
                </a:solidFill>
                <a:latin typeface="Calibri"/>
                <a:ea typeface="Calibri"/>
                <a:cs typeface="Calibri"/>
                <a:sym typeface="Calibri"/>
              </a:rPr>
              <a:t>class SimpleCNN(nn.Module):                     # Define a simple CNN model</a:t>
            </a:r>
            <a:endParaRPr b="0" i="0" sz="1000" u="none" cap="none" strike="noStrike">
              <a:solidFill>
                <a:schemeClr val="dk2"/>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n" sz="1000" u="none" cap="none" strike="noStrike">
                <a:solidFill>
                  <a:schemeClr val="dk2"/>
                </a:solidFill>
                <a:latin typeface="Calibri"/>
                <a:ea typeface="Calibri"/>
                <a:cs typeface="Calibri"/>
                <a:sym typeface="Calibri"/>
              </a:rPr>
              <a:t>    def __init__(self):</a:t>
            </a:r>
            <a:endParaRPr b="0" i="0" sz="1000" u="none" cap="none" strike="noStrike">
              <a:solidFill>
                <a:schemeClr val="dk2"/>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n" sz="1000" u="none" cap="none" strike="noStrike">
                <a:solidFill>
                  <a:schemeClr val="dk2"/>
                </a:solidFill>
                <a:latin typeface="Calibri"/>
                <a:ea typeface="Calibri"/>
                <a:cs typeface="Calibri"/>
                <a:sym typeface="Calibri"/>
              </a:rPr>
              <a:t>        super().__init__()</a:t>
            </a:r>
            <a:endParaRPr b="0" i="0" sz="1000" u="none" cap="none" strike="noStrike">
              <a:solidFill>
                <a:schemeClr val="dk2"/>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n" sz="1000" u="none" cap="none" strike="noStrike">
                <a:solidFill>
                  <a:schemeClr val="dk2"/>
                </a:solidFill>
                <a:latin typeface="Calibri"/>
                <a:ea typeface="Calibri"/>
                <a:cs typeface="Calibri"/>
                <a:sym typeface="Calibri"/>
              </a:rPr>
              <a:t>        </a:t>
            </a:r>
            <a:endParaRPr b="0" i="0" sz="1000" u="none" cap="none" strike="noStrike">
              <a:solidFill>
                <a:schemeClr val="dk2"/>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n" sz="1000" u="none" cap="none" strike="noStrike">
                <a:solidFill>
                  <a:schemeClr val="dk2"/>
                </a:solidFill>
                <a:latin typeface="Calibri"/>
                <a:ea typeface="Calibri"/>
                <a:cs typeface="Calibri"/>
                <a:sym typeface="Calibri"/>
              </a:rPr>
              <a:t>        # First convolution layer:</a:t>
            </a:r>
            <a:endParaRPr b="0" i="0" sz="1000" u="none" cap="none" strike="noStrike">
              <a:solidFill>
                <a:schemeClr val="dk2"/>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n" sz="1000" u="none" cap="none" strike="noStrike">
                <a:solidFill>
                  <a:schemeClr val="dk2"/>
                </a:solidFill>
                <a:latin typeface="Calibri"/>
                <a:ea typeface="Calibri"/>
                <a:cs typeface="Calibri"/>
                <a:sym typeface="Calibri"/>
              </a:rPr>
              <a:t>        self.conv1 = nn.Conv2d(1, 16, kernel_size=3, padding=1)  #Input: 1 channel (grayscale), Output: 16 feature maps and kernel size = 3x3, padding=1 keeps spatial size same</a:t>
            </a:r>
            <a:endParaRPr b="0" i="0" sz="1000" u="none" cap="none" strike="noStrike">
              <a:solidFill>
                <a:schemeClr val="dk2"/>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n" sz="1000" u="none" cap="none" strike="noStrike">
                <a:solidFill>
                  <a:schemeClr val="dk2"/>
                </a:solidFill>
                <a:latin typeface="Calibri"/>
                <a:ea typeface="Calibri"/>
                <a:cs typeface="Calibri"/>
                <a:sym typeface="Calibri"/>
              </a:rPr>
              <a:t>        </a:t>
            </a:r>
            <a:endParaRPr b="0" i="0" sz="1000" u="none" cap="none" strike="noStrike">
              <a:solidFill>
                <a:schemeClr val="dk2"/>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n" sz="1000" u="none" cap="none" strike="noStrike">
                <a:solidFill>
                  <a:schemeClr val="dk2"/>
                </a:solidFill>
                <a:latin typeface="Calibri"/>
                <a:ea typeface="Calibri"/>
                <a:cs typeface="Calibri"/>
                <a:sym typeface="Calibri"/>
              </a:rPr>
              <a:t>        # Second convolution layer</a:t>
            </a:r>
            <a:endParaRPr b="0" i="0" sz="1000" u="none" cap="none" strike="noStrike">
              <a:solidFill>
                <a:schemeClr val="dk2"/>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n" sz="1000" u="none" cap="none" strike="noStrike">
                <a:solidFill>
                  <a:schemeClr val="dk2"/>
                </a:solidFill>
                <a:latin typeface="Calibri"/>
                <a:ea typeface="Calibri"/>
                <a:cs typeface="Calibri"/>
                <a:sym typeface="Calibri"/>
              </a:rPr>
              <a:t>        self.conv2 = nn.Conv2d(16, 32, kernel_size=3, padding=1)   # Input: 16 channels → Output: 32 feature maps</a:t>
            </a:r>
            <a:endParaRPr b="0" i="0" sz="1000" u="none" cap="none" strike="noStrike">
              <a:solidFill>
                <a:schemeClr val="dk2"/>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n" sz="1000" u="none" cap="none" strike="noStrike">
                <a:solidFill>
                  <a:schemeClr val="dk2"/>
                </a:solidFill>
                <a:latin typeface="Calibri"/>
                <a:ea typeface="Calibri"/>
                <a:cs typeface="Calibri"/>
                <a:sym typeface="Calibri"/>
              </a:rPr>
              <a:t>        </a:t>
            </a:r>
            <a:endParaRPr b="0" i="0" sz="1000" u="none" cap="none" strike="noStrike">
              <a:solidFill>
                <a:schemeClr val="dk2"/>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n" sz="1000" u="none" cap="none" strike="noStrike">
                <a:solidFill>
                  <a:schemeClr val="dk2"/>
                </a:solidFill>
                <a:latin typeface="Calibri"/>
                <a:ea typeface="Calibri"/>
                <a:cs typeface="Calibri"/>
                <a:sym typeface="Calibri"/>
              </a:rPr>
              <a:t>        # MaxPooling layer</a:t>
            </a:r>
            <a:endParaRPr b="0" i="0" sz="1000" u="none" cap="none" strike="noStrike">
              <a:solidFill>
                <a:schemeClr val="dk2"/>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n" sz="1000" u="none" cap="none" strike="noStrike">
                <a:solidFill>
                  <a:schemeClr val="dk2"/>
                </a:solidFill>
                <a:latin typeface="Calibri"/>
                <a:ea typeface="Calibri"/>
                <a:cs typeface="Calibri"/>
                <a:sym typeface="Calibri"/>
              </a:rPr>
              <a:t>        self.pool = nn.MaxPool2d(2, 2)  # Reduces spatial dimensions by half (e.g., 28x28 → 14x14)</a:t>
            </a:r>
            <a:endParaRPr b="0" i="0" sz="1000" u="none" cap="none" strike="noStrike">
              <a:solidFill>
                <a:schemeClr val="dk2"/>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n" sz="1000" u="none" cap="none" strike="noStrike">
                <a:solidFill>
                  <a:schemeClr val="dk2"/>
                </a:solidFill>
                <a:latin typeface="Calibri"/>
                <a:ea typeface="Calibri"/>
                <a:cs typeface="Calibri"/>
                <a:sym typeface="Calibri"/>
              </a:rPr>
              <a:t>        </a:t>
            </a:r>
            <a:endParaRPr b="0" i="0" sz="1000" u="none" cap="none" strike="noStrike">
              <a:solidFill>
                <a:schemeClr val="dk2"/>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n" sz="1000" u="none" cap="none" strike="noStrike">
                <a:solidFill>
                  <a:schemeClr val="dk2"/>
                </a:solidFill>
                <a:latin typeface="Calibri"/>
                <a:ea typeface="Calibri"/>
                <a:cs typeface="Calibri"/>
                <a:sym typeface="Calibri"/>
              </a:rPr>
              <a:t>        # Activation function</a:t>
            </a:r>
            <a:endParaRPr b="0" i="0" sz="1000" u="none" cap="none" strike="noStrike">
              <a:solidFill>
                <a:schemeClr val="dk2"/>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n" sz="1000" u="none" cap="none" strike="noStrike">
                <a:solidFill>
                  <a:schemeClr val="dk2"/>
                </a:solidFill>
                <a:latin typeface="Calibri"/>
                <a:ea typeface="Calibri"/>
                <a:cs typeface="Calibri"/>
                <a:sym typeface="Calibri"/>
              </a:rPr>
              <a:t>        self.relu = nn.ReLU()</a:t>
            </a:r>
            <a:endParaRPr b="0" i="0" sz="1000" u="none" cap="none" strike="noStrike">
              <a:solidFill>
                <a:schemeClr val="dk2"/>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n" sz="1000" u="none" cap="none" strike="noStrike">
                <a:solidFill>
                  <a:schemeClr val="dk2"/>
                </a:solidFill>
                <a:latin typeface="Calibri"/>
                <a:ea typeface="Calibri"/>
                <a:cs typeface="Calibri"/>
                <a:sym typeface="Calibri"/>
              </a:rPr>
              <a:t>        </a:t>
            </a:r>
            <a:endParaRPr b="0" i="0" sz="1000" u="none" cap="none" strike="noStrike">
              <a:solidFill>
                <a:schemeClr val="dk2"/>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n" sz="1000" u="none" cap="none" strike="noStrike">
                <a:solidFill>
                  <a:schemeClr val="dk2"/>
                </a:solidFill>
                <a:latin typeface="Calibri"/>
                <a:ea typeface="Calibri"/>
                <a:cs typeface="Calibri"/>
                <a:sym typeface="Calibri"/>
              </a:rPr>
              <a:t>        # Fully connected layer:</a:t>
            </a:r>
            <a:endParaRPr b="0" i="0" sz="1000" u="none" cap="none" strike="noStrike">
              <a:solidFill>
                <a:schemeClr val="dk2"/>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n" sz="1000" u="none" cap="none" strike="noStrike">
                <a:solidFill>
                  <a:schemeClr val="dk2"/>
                </a:solidFill>
                <a:latin typeface="Calibri"/>
                <a:ea typeface="Calibri"/>
                <a:cs typeface="Calibri"/>
                <a:sym typeface="Calibri"/>
              </a:rPr>
              <a:t>        # After two poolings: 28 → 14 → 7</a:t>
            </a:r>
            <a:endParaRPr b="0" i="0" sz="1000" u="none" cap="none" strike="noStrike">
              <a:solidFill>
                <a:schemeClr val="dk2"/>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n" sz="1000" u="none" cap="none" strike="noStrike">
                <a:solidFill>
                  <a:schemeClr val="dk2"/>
                </a:solidFill>
                <a:latin typeface="Calibri"/>
                <a:ea typeface="Calibri"/>
                <a:cs typeface="Calibri"/>
                <a:sym typeface="Calibri"/>
              </a:rPr>
              <a:t>        # Final feature map size = 32 × 7 × 7</a:t>
            </a:r>
            <a:endParaRPr b="0" i="0" sz="1000" u="none" cap="none" strike="noStrike">
              <a:solidFill>
                <a:schemeClr val="dk2"/>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2"/>
                </a:solidFill>
                <a:latin typeface="Calibri"/>
                <a:ea typeface="Calibri"/>
                <a:cs typeface="Calibri"/>
                <a:sym typeface="Calibri"/>
              </a:rPr>
              <a:t>        self.fc = nn.Linear(32 * 7 * 7, 10)  # 10 output classes</a:t>
            </a:r>
            <a:endParaRPr b="0" i="0" sz="1600" u="none" cap="none" strike="noStrike">
              <a:solidFill>
                <a:schemeClr val="dk2"/>
              </a:solidFill>
              <a:latin typeface="Arial"/>
              <a:ea typeface="Arial"/>
              <a:cs typeface="Arial"/>
              <a:sym typeface="Arial"/>
            </a:endParaRPr>
          </a:p>
        </p:txBody>
      </p:sp>
      <p:pic>
        <p:nvPicPr>
          <p:cNvPr id="1384" name="Google Shape;1384;p31"/>
          <p:cNvPicPr preferRelativeResize="0"/>
          <p:nvPr/>
        </p:nvPicPr>
        <p:blipFill rotWithShape="1">
          <a:blip r:embed="rId4">
            <a:alphaModFix/>
          </a:blip>
          <a:srcRect b="0" l="0" r="0" t="0"/>
          <a:stretch/>
        </p:blipFill>
        <p:spPr>
          <a:xfrm>
            <a:off x="8369125" y="0"/>
            <a:ext cx="774877" cy="867174"/>
          </a:xfrm>
          <a:prstGeom prst="rect">
            <a:avLst/>
          </a:prstGeom>
          <a:noFill/>
          <a:ln>
            <a:noFill/>
          </a:ln>
        </p:spPr>
      </p:pic>
      <p:sp>
        <p:nvSpPr>
          <p:cNvPr id="1385" name="Google Shape;1385;p31"/>
          <p:cNvSpPr txBox="1"/>
          <p:nvPr/>
        </p:nvSpPr>
        <p:spPr>
          <a:xfrm>
            <a:off x="1052950" y="98875"/>
            <a:ext cx="6618600" cy="768300"/>
          </a:xfrm>
          <a:prstGeom prst="rect">
            <a:avLst/>
          </a:prstGeom>
          <a:no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2600"/>
              <a:buFont typeface="Arial"/>
              <a:buNone/>
            </a:pPr>
            <a:r>
              <a:rPr b="1" i="0" lang="en" sz="2600" u="none" cap="none" strike="noStrike">
                <a:solidFill>
                  <a:srgbClr val="0D1B2A"/>
                </a:solidFill>
                <a:latin typeface="Calibri"/>
                <a:ea typeface="Calibri"/>
                <a:cs typeface="Calibri"/>
                <a:sym typeface="Calibri"/>
              </a:rPr>
              <a:t>CNN in PyTorch</a:t>
            </a:r>
            <a:endParaRPr b="1" i="0" sz="2600" u="none" cap="none" strike="noStrike">
              <a:solidFill>
                <a:srgbClr val="0D1B2A"/>
              </a:solidFill>
              <a:latin typeface="Calibri"/>
              <a:ea typeface="Calibri"/>
              <a:cs typeface="Calibri"/>
              <a:sym typeface="Calibri"/>
            </a:endParaRPr>
          </a:p>
        </p:txBody>
      </p:sp>
      <p:sp>
        <p:nvSpPr>
          <p:cNvPr id="1386" name="Google Shape;1386;p31"/>
          <p:cNvSpPr/>
          <p:nvPr/>
        </p:nvSpPr>
        <p:spPr>
          <a:xfrm>
            <a:off x="6400800" y="959710"/>
            <a:ext cx="2514600" cy="868800"/>
          </a:xfrm>
          <a:prstGeom prst="rect">
            <a:avLst/>
          </a:prstGeom>
          <a:solidFill>
            <a:srgbClr val="E0F3FF"/>
          </a:solidFill>
          <a:ln cap="flat" cmpd="sng" w="9525">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7" name="Google Shape;1387;p31"/>
          <p:cNvSpPr/>
          <p:nvPr/>
        </p:nvSpPr>
        <p:spPr>
          <a:xfrm>
            <a:off x="6400800" y="959710"/>
            <a:ext cx="73200" cy="868800"/>
          </a:xfrm>
          <a:prstGeom prst="rect">
            <a:avLst/>
          </a:prstGeom>
          <a:solidFill>
            <a:srgbClr val="00B4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8" name="Google Shape;1388;p31"/>
          <p:cNvSpPr/>
          <p:nvPr/>
        </p:nvSpPr>
        <p:spPr>
          <a:xfrm>
            <a:off x="6565392" y="1032862"/>
            <a:ext cx="22860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2E42"/>
              </a:buClr>
              <a:buSzPts val="1000"/>
              <a:buFont typeface="Consolas"/>
              <a:buNone/>
            </a:pPr>
            <a:r>
              <a:rPr b="1" i="0" lang="en" sz="1000" u="none" cap="none" strike="noStrike">
                <a:solidFill>
                  <a:srgbClr val="1A2E42"/>
                </a:solidFill>
                <a:latin typeface="Consolas"/>
                <a:ea typeface="Consolas"/>
                <a:cs typeface="Consolas"/>
                <a:sym typeface="Consolas"/>
              </a:rPr>
              <a:t>nn.Conv2d(in, out, k)</a:t>
            </a:r>
            <a:endParaRPr b="0" i="0" sz="1000" u="none" cap="none" strike="noStrike">
              <a:solidFill>
                <a:schemeClr val="dk1"/>
              </a:solidFill>
              <a:latin typeface="Calibri"/>
              <a:ea typeface="Calibri"/>
              <a:cs typeface="Calibri"/>
              <a:sym typeface="Calibri"/>
            </a:endParaRPr>
          </a:p>
        </p:txBody>
      </p:sp>
      <p:sp>
        <p:nvSpPr>
          <p:cNvPr id="1389" name="Google Shape;1389;p31"/>
          <p:cNvSpPr/>
          <p:nvPr/>
        </p:nvSpPr>
        <p:spPr>
          <a:xfrm>
            <a:off x="6565392" y="1307182"/>
            <a:ext cx="2286000" cy="475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6070"/>
              </a:buClr>
              <a:buSzPts val="950"/>
              <a:buFont typeface="Calibri"/>
              <a:buNone/>
            </a:pPr>
            <a:r>
              <a:rPr b="0" i="0" lang="en" sz="950" u="none" cap="none" strike="noStrike">
                <a:solidFill>
                  <a:srgbClr val="2A6070"/>
                </a:solidFill>
                <a:latin typeface="Calibri"/>
                <a:ea typeface="Calibri"/>
                <a:cs typeface="Calibri"/>
                <a:sym typeface="Calibri"/>
              </a:rPr>
              <a:t>Learnable 2D filters. Params: in/out channels, kernel_size, padding.</a:t>
            </a:r>
            <a:endParaRPr b="0" i="0" sz="950" u="none" cap="none" strike="noStrike">
              <a:solidFill>
                <a:schemeClr val="dk1"/>
              </a:solidFill>
              <a:latin typeface="Calibri"/>
              <a:ea typeface="Calibri"/>
              <a:cs typeface="Calibri"/>
              <a:sym typeface="Calibri"/>
            </a:endParaRPr>
          </a:p>
        </p:txBody>
      </p:sp>
      <p:sp>
        <p:nvSpPr>
          <p:cNvPr id="1390" name="Google Shape;1390;p31"/>
          <p:cNvSpPr/>
          <p:nvPr/>
        </p:nvSpPr>
        <p:spPr>
          <a:xfrm>
            <a:off x="6400800" y="1938118"/>
            <a:ext cx="2514600" cy="868800"/>
          </a:xfrm>
          <a:prstGeom prst="rect">
            <a:avLst/>
          </a:prstGeom>
          <a:solidFill>
            <a:srgbClr val="C8EED8"/>
          </a:solidFill>
          <a:ln cap="flat" cmpd="sng" w="9525">
            <a:solidFill>
              <a:srgbClr val="1D9E7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1" name="Google Shape;1391;p31"/>
          <p:cNvSpPr/>
          <p:nvPr/>
        </p:nvSpPr>
        <p:spPr>
          <a:xfrm>
            <a:off x="6400800" y="1938118"/>
            <a:ext cx="73200" cy="868800"/>
          </a:xfrm>
          <a:prstGeom prst="rect">
            <a:avLst/>
          </a:prstGeom>
          <a:solidFill>
            <a:srgbClr val="1D9E7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2" name="Google Shape;1392;p31"/>
          <p:cNvSpPr/>
          <p:nvPr/>
        </p:nvSpPr>
        <p:spPr>
          <a:xfrm>
            <a:off x="6565392" y="2011270"/>
            <a:ext cx="22860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2E42"/>
              </a:buClr>
              <a:buSzPts val="1000"/>
              <a:buFont typeface="Consolas"/>
              <a:buNone/>
            </a:pPr>
            <a:r>
              <a:rPr b="1" i="0" lang="en" sz="1000" u="none" cap="none" strike="noStrike">
                <a:solidFill>
                  <a:srgbClr val="1A2E42"/>
                </a:solidFill>
                <a:latin typeface="Consolas"/>
                <a:ea typeface="Consolas"/>
                <a:cs typeface="Consolas"/>
                <a:sym typeface="Consolas"/>
              </a:rPr>
              <a:t>nn.MaxPool2d(2, 2)</a:t>
            </a:r>
            <a:endParaRPr b="0" i="0" sz="1000" u="none" cap="none" strike="noStrike">
              <a:solidFill>
                <a:schemeClr val="dk1"/>
              </a:solidFill>
              <a:latin typeface="Calibri"/>
              <a:ea typeface="Calibri"/>
              <a:cs typeface="Calibri"/>
              <a:sym typeface="Calibri"/>
            </a:endParaRPr>
          </a:p>
        </p:txBody>
      </p:sp>
      <p:sp>
        <p:nvSpPr>
          <p:cNvPr id="1393" name="Google Shape;1393;p31"/>
          <p:cNvSpPr/>
          <p:nvPr/>
        </p:nvSpPr>
        <p:spPr>
          <a:xfrm>
            <a:off x="6565392" y="2285590"/>
            <a:ext cx="2286000" cy="475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6070"/>
              </a:buClr>
              <a:buSzPts val="950"/>
              <a:buFont typeface="Calibri"/>
              <a:buNone/>
            </a:pPr>
            <a:r>
              <a:rPr b="0" i="0" lang="en" sz="950" u="none" cap="none" strike="noStrike">
                <a:solidFill>
                  <a:srgbClr val="2A6070"/>
                </a:solidFill>
                <a:latin typeface="Calibri"/>
                <a:ea typeface="Calibri"/>
                <a:cs typeface="Calibri"/>
                <a:sym typeface="Calibri"/>
              </a:rPr>
              <a:t>Takes max over 2×2 windows — halves H and W.</a:t>
            </a:r>
            <a:endParaRPr b="0" i="0" sz="950" u="none" cap="none" strike="noStrike">
              <a:solidFill>
                <a:schemeClr val="dk1"/>
              </a:solidFill>
              <a:latin typeface="Calibri"/>
              <a:ea typeface="Calibri"/>
              <a:cs typeface="Calibri"/>
              <a:sym typeface="Calibri"/>
            </a:endParaRPr>
          </a:p>
        </p:txBody>
      </p:sp>
      <p:sp>
        <p:nvSpPr>
          <p:cNvPr id="1394" name="Google Shape;1394;p31"/>
          <p:cNvSpPr/>
          <p:nvPr/>
        </p:nvSpPr>
        <p:spPr>
          <a:xfrm>
            <a:off x="6400800" y="2916526"/>
            <a:ext cx="2514600" cy="868800"/>
          </a:xfrm>
          <a:prstGeom prst="rect">
            <a:avLst/>
          </a:prstGeom>
          <a:solidFill>
            <a:srgbClr val="FEF3E2"/>
          </a:solidFill>
          <a:ln cap="flat" cmpd="sng" w="9525">
            <a:solidFill>
              <a:srgbClr val="E67E2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5" name="Google Shape;1395;p31"/>
          <p:cNvSpPr/>
          <p:nvPr/>
        </p:nvSpPr>
        <p:spPr>
          <a:xfrm>
            <a:off x="6400800" y="2916526"/>
            <a:ext cx="73200" cy="868800"/>
          </a:xfrm>
          <a:prstGeom prst="rect">
            <a:avLst/>
          </a:prstGeom>
          <a:solidFill>
            <a:srgbClr val="E67E2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6" name="Google Shape;1396;p31"/>
          <p:cNvSpPr/>
          <p:nvPr/>
        </p:nvSpPr>
        <p:spPr>
          <a:xfrm>
            <a:off x="6565392" y="2989678"/>
            <a:ext cx="22860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2E42"/>
              </a:buClr>
              <a:buSzPts val="1000"/>
              <a:buFont typeface="Consolas"/>
              <a:buNone/>
            </a:pPr>
            <a:r>
              <a:rPr b="1" i="0" lang="en" sz="1000" u="none" cap="none" strike="noStrike">
                <a:solidFill>
                  <a:srgbClr val="1A2E42"/>
                </a:solidFill>
                <a:latin typeface="Consolas"/>
                <a:ea typeface="Consolas"/>
                <a:cs typeface="Consolas"/>
                <a:sym typeface="Consolas"/>
              </a:rPr>
              <a:t>nn.ReLU()</a:t>
            </a:r>
            <a:endParaRPr b="0" i="0" sz="1000" u="none" cap="none" strike="noStrike">
              <a:solidFill>
                <a:schemeClr val="dk1"/>
              </a:solidFill>
              <a:latin typeface="Calibri"/>
              <a:ea typeface="Calibri"/>
              <a:cs typeface="Calibri"/>
              <a:sym typeface="Calibri"/>
            </a:endParaRPr>
          </a:p>
        </p:txBody>
      </p:sp>
      <p:sp>
        <p:nvSpPr>
          <p:cNvPr id="1397" name="Google Shape;1397;p31"/>
          <p:cNvSpPr/>
          <p:nvPr/>
        </p:nvSpPr>
        <p:spPr>
          <a:xfrm>
            <a:off x="6565392" y="3263998"/>
            <a:ext cx="2286000" cy="475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6070"/>
              </a:buClr>
              <a:buSzPts val="950"/>
              <a:buFont typeface="Calibri"/>
              <a:buNone/>
            </a:pPr>
            <a:r>
              <a:rPr b="0" i="0" lang="en" sz="950" u="none" cap="none" strike="noStrike">
                <a:solidFill>
                  <a:srgbClr val="2A6070"/>
                </a:solidFill>
                <a:latin typeface="Calibri"/>
                <a:ea typeface="Calibri"/>
                <a:cs typeface="Calibri"/>
                <a:sym typeface="Calibri"/>
              </a:rPr>
              <a:t>f(x) = max(0, x). Applied after every conv layer.</a:t>
            </a:r>
            <a:endParaRPr b="0" i="0" sz="950" u="none" cap="none" strike="noStrike">
              <a:solidFill>
                <a:schemeClr val="dk1"/>
              </a:solidFill>
              <a:latin typeface="Calibri"/>
              <a:ea typeface="Calibri"/>
              <a:cs typeface="Calibri"/>
              <a:sym typeface="Calibri"/>
            </a:endParaRPr>
          </a:p>
        </p:txBody>
      </p:sp>
      <p:sp>
        <p:nvSpPr>
          <p:cNvPr id="1398" name="Google Shape;1398;p31"/>
          <p:cNvSpPr/>
          <p:nvPr/>
        </p:nvSpPr>
        <p:spPr>
          <a:xfrm>
            <a:off x="6400800" y="3894934"/>
            <a:ext cx="2514600" cy="868800"/>
          </a:xfrm>
          <a:prstGeom prst="rect">
            <a:avLst/>
          </a:prstGeom>
          <a:solidFill>
            <a:srgbClr val="EED5FF"/>
          </a:solidFill>
          <a:ln cap="flat" cmpd="sng" w="9525">
            <a:solidFill>
              <a:srgbClr val="A855F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9" name="Google Shape;1399;p31"/>
          <p:cNvSpPr/>
          <p:nvPr/>
        </p:nvSpPr>
        <p:spPr>
          <a:xfrm>
            <a:off x="6400800" y="3894934"/>
            <a:ext cx="73200" cy="868800"/>
          </a:xfrm>
          <a:prstGeom prst="rect">
            <a:avLst/>
          </a:prstGeom>
          <a:solidFill>
            <a:srgbClr val="A855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0" name="Google Shape;1400;p31"/>
          <p:cNvSpPr/>
          <p:nvPr/>
        </p:nvSpPr>
        <p:spPr>
          <a:xfrm>
            <a:off x="6565392" y="3968086"/>
            <a:ext cx="22860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2E42"/>
              </a:buClr>
              <a:buSzPts val="1000"/>
              <a:buFont typeface="Consolas"/>
              <a:buNone/>
            </a:pPr>
            <a:r>
              <a:rPr b="1" i="0" lang="en" sz="1000" u="none" cap="none" strike="noStrike">
                <a:solidFill>
                  <a:srgbClr val="1A2E42"/>
                </a:solidFill>
                <a:latin typeface="Consolas"/>
                <a:ea typeface="Consolas"/>
                <a:cs typeface="Consolas"/>
                <a:sym typeface="Consolas"/>
              </a:rPr>
              <a:t>nn.Linear(in, out)</a:t>
            </a:r>
            <a:endParaRPr b="0" i="0" sz="1000" u="none" cap="none" strike="noStrike">
              <a:solidFill>
                <a:schemeClr val="dk1"/>
              </a:solidFill>
              <a:latin typeface="Calibri"/>
              <a:ea typeface="Calibri"/>
              <a:cs typeface="Calibri"/>
              <a:sym typeface="Calibri"/>
            </a:endParaRPr>
          </a:p>
        </p:txBody>
      </p:sp>
      <p:sp>
        <p:nvSpPr>
          <p:cNvPr id="1401" name="Google Shape;1401;p31"/>
          <p:cNvSpPr/>
          <p:nvPr/>
        </p:nvSpPr>
        <p:spPr>
          <a:xfrm>
            <a:off x="6565392" y="4242406"/>
            <a:ext cx="2286000" cy="475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6070"/>
              </a:buClr>
              <a:buSzPts val="950"/>
              <a:buFont typeface="Calibri"/>
              <a:buNone/>
            </a:pPr>
            <a:r>
              <a:rPr b="0" i="0" lang="en" sz="950" u="none" cap="none" strike="noStrike">
                <a:solidFill>
                  <a:srgbClr val="2A6070"/>
                </a:solidFill>
                <a:latin typeface="Calibri"/>
                <a:ea typeface="Calibri"/>
                <a:cs typeface="Calibri"/>
                <a:sym typeface="Calibri"/>
              </a:rPr>
              <a:t>Flattened features → class scores.</a:t>
            </a:r>
            <a:endParaRPr b="0" i="0" sz="950" u="none" cap="none" strike="noStrike">
              <a:solidFill>
                <a:schemeClr val="dk1"/>
              </a:solidFill>
              <a:latin typeface="Calibri"/>
              <a:ea typeface="Calibri"/>
              <a:cs typeface="Calibri"/>
              <a:sym typeface="Calibri"/>
            </a:endParaRPr>
          </a:p>
        </p:txBody>
      </p:sp>
      <p:sp>
        <p:nvSpPr>
          <p:cNvPr id="1402" name="Google Shape;1402;p31"/>
          <p:cNvSpPr/>
          <p:nvPr/>
        </p:nvSpPr>
        <p:spPr>
          <a:xfrm flipH="1">
            <a:off x="5605570" y="3661680"/>
            <a:ext cx="351600" cy="496500"/>
          </a:xfrm>
          <a:prstGeom prst="rect">
            <a:avLst/>
          </a:prstGeom>
          <a:solidFill>
            <a:srgbClr val="B8D8F0"/>
          </a:solidFill>
          <a:ln>
            <a:noFill/>
          </a:ln>
          <a:effectLst>
            <a:outerShdw blurRad="45971" rotWithShape="0" algn="bl" dir="8100000" dist="17239">
              <a:srgbClr val="000000">
                <a:alpha val="14902"/>
              </a:srgbClr>
            </a:outerShdw>
          </a:effectLst>
        </p:spPr>
        <p:txBody>
          <a:bodyPr anchorCtr="0" anchor="ctr" bIns="41375" lIns="41375" spcFirstLastPara="1" rIns="41375" wrap="square" tIns="413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3" name="Google Shape;1403;p31"/>
          <p:cNvSpPr/>
          <p:nvPr/>
        </p:nvSpPr>
        <p:spPr>
          <a:xfrm flipH="1">
            <a:off x="5531088" y="3893375"/>
            <a:ext cx="74400" cy="33000"/>
          </a:xfrm>
          <a:prstGeom prst="rect">
            <a:avLst/>
          </a:prstGeom>
          <a:solidFill>
            <a:srgbClr val="1A6080"/>
          </a:solidFill>
          <a:ln>
            <a:noFill/>
          </a:ln>
        </p:spPr>
        <p:txBody>
          <a:bodyPr anchorCtr="0" anchor="ctr" bIns="41375" lIns="41375" spcFirstLastPara="1" rIns="41375" wrap="square" tIns="413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4" name="Google Shape;1404;p31"/>
          <p:cNvSpPr/>
          <p:nvPr/>
        </p:nvSpPr>
        <p:spPr>
          <a:xfrm flipH="1">
            <a:off x="5510276" y="3847864"/>
            <a:ext cx="82800" cy="12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6080"/>
              </a:buClr>
              <a:buSzPts val="362"/>
              <a:buFont typeface="Calibri"/>
              <a:buNone/>
            </a:pPr>
            <a:r>
              <a:rPr b="0" i="0" lang="en" sz="362" u="none" cap="none" strike="noStrike">
                <a:solidFill>
                  <a:srgbClr val="1A6080"/>
                </a:solidFill>
                <a:latin typeface="Calibri"/>
                <a:ea typeface="Calibri"/>
                <a:cs typeface="Calibri"/>
                <a:sym typeface="Calibri"/>
              </a:rPr>
              <a:t>▶</a:t>
            </a:r>
            <a:endParaRPr b="0" i="0" sz="362" u="none" cap="none" strike="noStrike">
              <a:solidFill>
                <a:schemeClr val="dk1"/>
              </a:solidFill>
              <a:latin typeface="Calibri"/>
              <a:ea typeface="Calibri"/>
              <a:cs typeface="Calibri"/>
              <a:sym typeface="Calibri"/>
            </a:endParaRPr>
          </a:p>
        </p:txBody>
      </p:sp>
      <p:sp>
        <p:nvSpPr>
          <p:cNvPr id="1405" name="Google Shape;1405;p31"/>
          <p:cNvSpPr/>
          <p:nvPr/>
        </p:nvSpPr>
        <p:spPr>
          <a:xfrm flipH="1">
            <a:off x="5179414" y="3661680"/>
            <a:ext cx="351600" cy="496500"/>
          </a:xfrm>
          <a:prstGeom prst="rect">
            <a:avLst/>
          </a:prstGeom>
          <a:solidFill>
            <a:srgbClr val="C5E9F5"/>
          </a:solidFill>
          <a:ln>
            <a:noFill/>
          </a:ln>
          <a:effectLst>
            <a:outerShdw blurRad="45971" rotWithShape="0" algn="bl" dir="8100000" dist="17239">
              <a:srgbClr val="000000">
                <a:alpha val="14902"/>
              </a:srgbClr>
            </a:outerShdw>
          </a:effectLst>
        </p:spPr>
        <p:txBody>
          <a:bodyPr anchorCtr="0" anchor="ctr" bIns="41375" lIns="41375" spcFirstLastPara="1" rIns="41375" wrap="square" tIns="413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6" name="Google Shape;1406;p31"/>
          <p:cNvSpPr/>
          <p:nvPr/>
        </p:nvSpPr>
        <p:spPr>
          <a:xfrm flipH="1">
            <a:off x="5104932" y="3893375"/>
            <a:ext cx="74400" cy="33000"/>
          </a:xfrm>
          <a:prstGeom prst="rect">
            <a:avLst/>
          </a:prstGeom>
          <a:solidFill>
            <a:srgbClr val="1A6080"/>
          </a:solidFill>
          <a:ln>
            <a:noFill/>
          </a:ln>
        </p:spPr>
        <p:txBody>
          <a:bodyPr anchorCtr="0" anchor="ctr" bIns="41375" lIns="41375" spcFirstLastPara="1" rIns="41375" wrap="square" tIns="413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7" name="Google Shape;1407;p31"/>
          <p:cNvSpPr/>
          <p:nvPr/>
        </p:nvSpPr>
        <p:spPr>
          <a:xfrm flipH="1">
            <a:off x="5179414" y="3661680"/>
            <a:ext cx="351600" cy="496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452"/>
              <a:buFont typeface="Calibri"/>
              <a:buNone/>
            </a:pPr>
            <a:r>
              <a:rPr b="1" i="0" lang="en" sz="452" u="none" cap="none" strike="noStrike">
                <a:solidFill>
                  <a:srgbClr val="1A2E42"/>
                </a:solidFill>
                <a:latin typeface="Calibri"/>
                <a:ea typeface="Calibri"/>
                <a:cs typeface="Calibri"/>
                <a:sym typeface="Calibri"/>
              </a:rPr>
              <a:t>Conv</a:t>
            </a:r>
            <a:endParaRPr b="0" i="0" sz="452"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1A2E42"/>
              </a:buClr>
              <a:buSzPts val="452"/>
              <a:buFont typeface="Calibri"/>
              <a:buNone/>
            </a:pPr>
            <a:r>
              <a:rPr b="1" i="0" lang="en" sz="452" u="none" cap="none" strike="noStrike">
                <a:solidFill>
                  <a:srgbClr val="1A2E42"/>
                </a:solidFill>
                <a:latin typeface="Calibri"/>
                <a:ea typeface="Calibri"/>
                <a:cs typeface="Calibri"/>
                <a:sym typeface="Calibri"/>
              </a:rPr>
              <a:t>Layer</a:t>
            </a:r>
            <a:endParaRPr b="0" i="0" sz="452" u="none" cap="none" strike="noStrike">
              <a:solidFill>
                <a:schemeClr val="dk1"/>
              </a:solidFill>
              <a:latin typeface="Calibri"/>
              <a:ea typeface="Calibri"/>
              <a:cs typeface="Calibri"/>
              <a:sym typeface="Calibri"/>
            </a:endParaRPr>
          </a:p>
        </p:txBody>
      </p:sp>
      <p:sp>
        <p:nvSpPr>
          <p:cNvPr id="1408" name="Google Shape;1408;p31"/>
          <p:cNvSpPr/>
          <p:nvPr/>
        </p:nvSpPr>
        <p:spPr>
          <a:xfrm flipH="1">
            <a:off x="5084119" y="3847864"/>
            <a:ext cx="82800" cy="12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6080"/>
              </a:buClr>
              <a:buSzPts val="362"/>
              <a:buFont typeface="Calibri"/>
              <a:buNone/>
            </a:pPr>
            <a:r>
              <a:rPr b="0" i="0" lang="en" sz="362" u="none" cap="none" strike="noStrike">
                <a:solidFill>
                  <a:srgbClr val="1A6080"/>
                </a:solidFill>
                <a:latin typeface="Calibri"/>
                <a:ea typeface="Calibri"/>
                <a:cs typeface="Calibri"/>
                <a:sym typeface="Calibri"/>
              </a:rPr>
              <a:t>▶</a:t>
            </a:r>
            <a:endParaRPr b="0" i="0" sz="362" u="none" cap="none" strike="noStrike">
              <a:solidFill>
                <a:schemeClr val="dk1"/>
              </a:solidFill>
              <a:latin typeface="Calibri"/>
              <a:ea typeface="Calibri"/>
              <a:cs typeface="Calibri"/>
              <a:sym typeface="Calibri"/>
            </a:endParaRPr>
          </a:p>
        </p:txBody>
      </p:sp>
      <p:sp>
        <p:nvSpPr>
          <p:cNvPr id="1409" name="Google Shape;1409;p31"/>
          <p:cNvSpPr/>
          <p:nvPr/>
        </p:nvSpPr>
        <p:spPr>
          <a:xfrm flipH="1">
            <a:off x="4753258" y="3661680"/>
            <a:ext cx="351600" cy="496500"/>
          </a:xfrm>
          <a:prstGeom prst="rect">
            <a:avLst/>
          </a:prstGeom>
          <a:solidFill>
            <a:srgbClr val="B8E8F8"/>
          </a:solidFill>
          <a:ln>
            <a:noFill/>
          </a:ln>
          <a:effectLst>
            <a:outerShdw blurRad="45971" rotWithShape="0" algn="bl" dir="8100000" dist="17239">
              <a:srgbClr val="000000">
                <a:alpha val="14902"/>
              </a:srgbClr>
            </a:outerShdw>
          </a:effectLst>
        </p:spPr>
        <p:txBody>
          <a:bodyPr anchorCtr="0" anchor="ctr" bIns="41375" lIns="41375" spcFirstLastPara="1" rIns="41375" wrap="square" tIns="413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0" name="Google Shape;1410;p31"/>
          <p:cNvSpPr/>
          <p:nvPr/>
        </p:nvSpPr>
        <p:spPr>
          <a:xfrm flipH="1">
            <a:off x="4678776" y="3893375"/>
            <a:ext cx="74400" cy="33000"/>
          </a:xfrm>
          <a:prstGeom prst="rect">
            <a:avLst/>
          </a:prstGeom>
          <a:solidFill>
            <a:srgbClr val="1A6080"/>
          </a:solidFill>
          <a:ln>
            <a:noFill/>
          </a:ln>
        </p:spPr>
        <p:txBody>
          <a:bodyPr anchorCtr="0" anchor="ctr" bIns="41375" lIns="41375" spcFirstLastPara="1" rIns="41375" wrap="square" tIns="413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1" name="Google Shape;1411;p31"/>
          <p:cNvSpPr/>
          <p:nvPr/>
        </p:nvSpPr>
        <p:spPr>
          <a:xfrm flipH="1">
            <a:off x="4753258" y="3661680"/>
            <a:ext cx="351600" cy="496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452"/>
              <a:buFont typeface="Calibri"/>
              <a:buNone/>
            </a:pPr>
            <a:r>
              <a:rPr b="1" i="0" lang="en" sz="452" u="none" cap="none" strike="noStrike">
                <a:solidFill>
                  <a:srgbClr val="1A2E42"/>
                </a:solidFill>
                <a:latin typeface="Calibri"/>
                <a:ea typeface="Calibri"/>
                <a:cs typeface="Calibri"/>
                <a:sym typeface="Calibri"/>
              </a:rPr>
              <a:t>ReLU</a:t>
            </a:r>
            <a:endParaRPr b="0" i="0" sz="452"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1A2E42"/>
              </a:buClr>
              <a:buSzPts val="452"/>
              <a:buFont typeface="Calibri"/>
              <a:buNone/>
            </a:pPr>
            <a:r>
              <a:rPr b="1" i="0" lang="en" sz="452" u="none" cap="none" strike="noStrike">
                <a:solidFill>
                  <a:srgbClr val="1A2E42"/>
                </a:solidFill>
                <a:latin typeface="Calibri"/>
                <a:ea typeface="Calibri"/>
                <a:cs typeface="Calibri"/>
                <a:sym typeface="Calibri"/>
              </a:rPr>
              <a:t>Activ.</a:t>
            </a:r>
            <a:endParaRPr b="0" i="0" sz="452" u="none" cap="none" strike="noStrike">
              <a:solidFill>
                <a:schemeClr val="dk1"/>
              </a:solidFill>
              <a:latin typeface="Calibri"/>
              <a:ea typeface="Calibri"/>
              <a:cs typeface="Calibri"/>
              <a:sym typeface="Calibri"/>
            </a:endParaRPr>
          </a:p>
        </p:txBody>
      </p:sp>
      <p:sp>
        <p:nvSpPr>
          <p:cNvPr id="1412" name="Google Shape;1412;p31"/>
          <p:cNvSpPr/>
          <p:nvPr/>
        </p:nvSpPr>
        <p:spPr>
          <a:xfrm flipH="1">
            <a:off x="5605570" y="3661680"/>
            <a:ext cx="351600" cy="496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452"/>
              <a:buFont typeface="Calibri"/>
              <a:buNone/>
            </a:pPr>
            <a:r>
              <a:rPr b="1" i="0" lang="en" sz="452" u="none" cap="none" strike="noStrike">
                <a:solidFill>
                  <a:srgbClr val="1A2E42"/>
                </a:solidFill>
                <a:latin typeface="Calibri"/>
                <a:ea typeface="Calibri"/>
                <a:cs typeface="Calibri"/>
                <a:sym typeface="Calibri"/>
              </a:rPr>
              <a:t>Input</a:t>
            </a:r>
            <a:endParaRPr b="0" i="0" sz="452"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1A2E42"/>
              </a:buClr>
              <a:buSzPts val="452"/>
              <a:buFont typeface="Calibri"/>
              <a:buNone/>
            </a:pPr>
            <a:r>
              <a:rPr b="1" i="0" lang="en" sz="452" u="none" cap="none" strike="noStrike">
                <a:solidFill>
                  <a:srgbClr val="1A2E42"/>
                </a:solidFill>
                <a:latin typeface="Calibri"/>
                <a:ea typeface="Calibri"/>
                <a:cs typeface="Calibri"/>
                <a:sym typeface="Calibri"/>
              </a:rPr>
              <a:t>Image</a:t>
            </a:r>
            <a:endParaRPr b="0" i="0" sz="452" u="none" cap="none" strike="noStrike">
              <a:solidFill>
                <a:schemeClr val="dk1"/>
              </a:solidFill>
              <a:latin typeface="Calibri"/>
              <a:ea typeface="Calibri"/>
              <a:cs typeface="Calibri"/>
              <a:sym typeface="Calibri"/>
            </a:endParaRPr>
          </a:p>
        </p:txBody>
      </p:sp>
      <p:sp>
        <p:nvSpPr>
          <p:cNvPr id="1413" name="Google Shape;1413;p31"/>
          <p:cNvSpPr/>
          <p:nvPr/>
        </p:nvSpPr>
        <p:spPr>
          <a:xfrm flipH="1">
            <a:off x="4657963" y="3847864"/>
            <a:ext cx="82800" cy="12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6080"/>
              </a:buClr>
              <a:buSzPts val="362"/>
              <a:buFont typeface="Calibri"/>
              <a:buNone/>
            </a:pPr>
            <a:r>
              <a:rPr b="0" i="0" lang="en" sz="362" u="none" cap="none" strike="noStrike">
                <a:solidFill>
                  <a:srgbClr val="1A6080"/>
                </a:solidFill>
                <a:latin typeface="Calibri"/>
                <a:ea typeface="Calibri"/>
                <a:cs typeface="Calibri"/>
                <a:sym typeface="Calibri"/>
              </a:rPr>
              <a:t>▶</a:t>
            </a:r>
            <a:endParaRPr b="0" i="0" sz="362" u="none" cap="none" strike="noStrike">
              <a:solidFill>
                <a:schemeClr val="dk1"/>
              </a:solidFill>
              <a:latin typeface="Calibri"/>
              <a:ea typeface="Calibri"/>
              <a:cs typeface="Calibri"/>
              <a:sym typeface="Calibri"/>
            </a:endParaRPr>
          </a:p>
        </p:txBody>
      </p:sp>
      <p:sp>
        <p:nvSpPr>
          <p:cNvPr id="1414" name="Google Shape;1414;p31"/>
          <p:cNvSpPr/>
          <p:nvPr/>
        </p:nvSpPr>
        <p:spPr>
          <a:xfrm flipH="1">
            <a:off x="4327102" y="3661680"/>
            <a:ext cx="351600" cy="496500"/>
          </a:xfrm>
          <a:prstGeom prst="rect">
            <a:avLst/>
          </a:prstGeom>
          <a:solidFill>
            <a:srgbClr val="B0EAF8"/>
          </a:solidFill>
          <a:ln>
            <a:noFill/>
          </a:ln>
          <a:effectLst>
            <a:outerShdw blurRad="45971" rotWithShape="0" algn="bl" dir="8100000" dist="17239">
              <a:srgbClr val="000000">
                <a:alpha val="14902"/>
              </a:srgbClr>
            </a:outerShdw>
          </a:effectLst>
        </p:spPr>
        <p:txBody>
          <a:bodyPr anchorCtr="0" anchor="ctr" bIns="41375" lIns="41375" spcFirstLastPara="1" rIns="41375" wrap="square" tIns="413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5" name="Google Shape;1415;p31"/>
          <p:cNvSpPr/>
          <p:nvPr/>
        </p:nvSpPr>
        <p:spPr>
          <a:xfrm flipH="1">
            <a:off x="4327102" y="3661680"/>
            <a:ext cx="351600" cy="496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452"/>
              <a:buFont typeface="Calibri"/>
              <a:buNone/>
            </a:pPr>
            <a:r>
              <a:rPr b="1" i="0" lang="en" sz="452" u="none" cap="none" strike="noStrike">
                <a:solidFill>
                  <a:srgbClr val="1A2E42"/>
                </a:solidFill>
                <a:latin typeface="Calibri"/>
                <a:ea typeface="Calibri"/>
                <a:cs typeface="Calibri"/>
                <a:sym typeface="Calibri"/>
              </a:rPr>
              <a:t>Pooling</a:t>
            </a:r>
            <a:endParaRPr b="0" i="0" sz="452"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1A2E42"/>
              </a:buClr>
              <a:buSzPts val="452"/>
              <a:buFont typeface="Calibri"/>
              <a:buNone/>
            </a:pPr>
            <a:r>
              <a:rPr b="1" i="0" lang="en" sz="452" u="none" cap="none" strike="noStrike">
                <a:solidFill>
                  <a:srgbClr val="1A2E42"/>
                </a:solidFill>
                <a:latin typeface="Calibri"/>
                <a:ea typeface="Calibri"/>
                <a:cs typeface="Calibri"/>
                <a:sym typeface="Calibri"/>
              </a:rPr>
              <a:t>Layer</a:t>
            </a:r>
            <a:endParaRPr b="0" i="0" sz="452" u="none" cap="none" strike="noStrike">
              <a:solidFill>
                <a:schemeClr val="dk1"/>
              </a:solidFill>
              <a:latin typeface="Calibri"/>
              <a:ea typeface="Calibri"/>
              <a:cs typeface="Calibri"/>
              <a:sym typeface="Calibri"/>
            </a:endParaRPr>
          </a:p>
        </p:txBody>
      </p:sp>
      <p:sp>
        <p:nvSpPr>
          <p:cNvPr id="1416" name="Google Shape;1416;p31"/>
          <p:cNvSpPr/>
          <p:nvPr/>
        </p:nvSpPr>
        <p:spPr>
          <a:xfrm flipH="1">
            <a:off x="4252619" y="3893375"/>
            <a:ext cx="74400" cy="33000"/>
          </a:xfrm>
          <a:prstGeom prst="rect">
            <a:avLst/>
          </a:prstGeom>
          <a:solidFill>
            <a:srgbClr val="1A6080"/>
          </a:solidFill>
          <a:ln>
            <a:noFill/>
          </a:ln>
        </p:spPr>
        <p:txBody>
          <a:bodyPr anchorCtr="0" anchor="ctr" bIns="41375" lIns="41375" spcFirstLastPara="1" rIns="41375" wrap="square" tIns="413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7" name="Google Shape;1417;p31"/>
          <p:cNvSpPr/>
          <p:nvPr/>
        </p:nvSpPr>
        <p:spPr>
          <a:xfrm flipH="1">
            <a:off x="4231807" y="3847864"/>
            <a:ext cx="82800" cy="12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6080"/>
              </a:buClr>
              <a:buSzPts val="362"/>
              <a:buFont typeface="Calibri"/>
              <a:buNone/>
            </a:pPr>
            <a:r>
              <a:rPr b="0" i="0" lang="en" sz="362" u="none" cap="none" strike="noStrike">
                <a:solidFill>
                  <a:srgbClr val="1A6080"/>
                </a:solidFill>
                <a:latin typeface="Calibri"/>
                <a:ea typeface="Calibri"/>
                <a:cs typeface="Calibri"/>
                <a:sym typeface="Calibri"/>
              </a:rPr>
              <a:t>▶</a:t>
            </a:r>
            <a:endParaRPr b="0" i="0" sz="362" u="none" cap="none" strike="noStrike">
              <a:solidFill>
                <a:schemeClr val="dk1"/>
              </a:solidFill>
              <a:latin typeface="Calibri"/>
              <a:ea typeface="Calibri"/>
              <a:cs typeface="Calibri"/>
              <a:sym typeface="Calibri"/>
            </a:endParaRPr>
          </a:p>
        </p:txBody>
      </p:sp>
      <p:sp>
        <p:nvSpPr>
          <p:cNvPr id="1418" name="Google Shape;1418;p31"/>
          <p:cNvSpPr/>
          <p:nvPr/>
        </p:nvSpPr>
        <p:spPr>
          <a:xfrm flipH="1">
            <a:off x="3900945" y="3661680"/>
            <a:ext cx="351600" cy="496500"/>
          </a:xfrm>
          <a:prstGeom prst="rect">
            <a:avLst/>
          </a:prstGeom>
          <a:solidFill>
            <a:srgbClr val="A8EEF8"/>
          </a:solidFill>
          <a:ln>
            <a:noFill/>
          </a:ln>
          <a:effectLst>
            <a:outerShdw blurRad="45971" rotWithShape="0" algn="bl" dir="8100000" dist="17239">
              <a:srgbClr val="000000">
                <a:alpha val="14902"/>
              </a:srgbClr>
            </a:outerShdw>
          </a:effectLst>
        </p:spPr>
        <p:txBody>
          <a:bodyPr anchorCtr="0" anchor="ctr" bIns="41375" lIns="41375" spcFirstLastPara="1" rIns="41375" wrap="square" tIns="413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9" name="Google Shape;1419;p31"/>
          <p:cNvSpPr/>
          <p:nvPr/>
        </p:nvSpPr>
        <p:spPr>
          <a:xfrm flipH="1">
            <a:off x="3900945" y="3661680"/>
            <a:ext cx="351600" cy="496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452"/>
              <a:buFont typeface="Calibri"/>
              <a:buNone/>
            </a:pPr>
            <a:r>
              <a:rPr b="1" i="0" lang="en" sz="452" u="none" cap="none" strike="noStrike">
                <a:solidFill>
                  <a:srgbClr val="1A2E42"/>
                </a:solidFill>
                <a:latin typeface="Calibri"/>
                <a:ea typeface="Calibri"/>
                <a:cs typeface="Calibri"/>
                <a:sym typeface="Calibri"/>
              </a:rPr>
              <a:t>Conv</a:t>
            </a:r>
            <a:endParaRPr b="0" i="0" sz="452"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1A2E42"/>
              </a:buClr>
              <a:buSzPts val="452"/>
              <a:buFont typeface="Calibri"/>
              <a:buNone/>
            </a:pPr>
            <a:r>
              <a:rPr b="1" i="0" lang="en" sz="452" u="none" cap="none" strike="noStrike">
                <a:solidFill>
                  <a:srgbClr val="1A2E42"/>
                </a:solidFill>
                <a:latin typeface="Calibri"/>
                <a:ea typeface="Calibri"/>
                <a:cs typeface="Calibri"/>
                <a:sym typeface="Calibri"/>
              </a:rPr>
              <a:t>Layer</a:t>
            </a:r>
            <a:endParaRPr b="0" i="0" sz="452" u="none" cap="none" strike="noStrike">
              <a:solidFill>
                <a:schemeClr val="dk1"/>
              </a:solidFill>
              <a:latin typeface="Calibri"/>
              <a:ea typeface="Calibri"/>
              <a:cs typeface="Calibri"/>
              <a:sym typeface="Calibri"/>
            </a:endParaRPr>
          </a:p>
        </p:txBody>
      </p:sp>
      <p:sp>
        <p:nvSpPr>
          <p:cNvPr id="1420" name="Google Shape;1420;p31"/>
          <p:cNvSpPr/>
          <p:nvPr/>
        </p:nvSpPr>
        <p:spPr>
          <a:xfrm flipH="1">
            <a:off x="3826463" y="3893375"/>
            <a:ext cx="74400" cy="33000"/>
          </a:xfrm>
          <a:prstGeom prst="rect">
            <a:avLst/>
          </a:prstGeom>
          <a:solidFill>
            <a:srgbClr val="1A6080"/>
          </a:solidFill>
          <a:ln>
            <a:noFill/>
          </a:ln>
        </p:spPr>
        <p:txBody>
          <a:bodyPr anchorCtr="0" anchor="ctr" bIns="41375" lIns="41375" spcFirstLastPara="1" rIns="41375" wrap="square" tIns="413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1" name="Google Shape;1421;p31"/>
          <p:cNvSpPr/>
          <p:nvPr/>
        </p:nvSpPr>
        <p:spPr>
          <a:xfrm flipH="1">
            <a:off x="3805651" y="3847864"/>
            <a:ext cx="82800" cy="12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6080"/>
              </a:buClr>
              <a:buSzPts val="362"/>
              <a:buFont typeface="Calibri"/>
              <a:buNone/>
            </a:pPr>
            <a:r>
              <a:rPr b="0" i="0" lang="en" sz="362" u="none" cap="none" strike="noStrike">
                <a:solidFill>
                  <a:srgbClr val="1A6080"/>
                </a:solidFill>
                <a:latin typeface="Calibri"/>
                <a:ea typeface="Calibri"/>
                <a:cs typeface="Calibri"/>
                <a:sym typeface="Calibri"/>
              </a:rPr>
              <a:t>▶</a:t>
            </a:r>
            <a:endParaRPr b="0" i="0" sz="362" u="none" cap="none" strike="noStrike">
              <a:solidFill>
                <a:schemeClr val="dk1"/>
              </a:solidFill>
              <a:latin typeface="Calibri"/>
              <a:ea typeface="Calibri"/>
              <a:cs typeface="Calibri"/>
              <a:sym typeface="Calibri"/>
            </a:endParaRPr>
          </a:p>
        </p:txBody>
      </p:sp>
      <p:sp>
        <p:nvSpPr>
          <p:cNvPr id="1422" name="Google Shape;1422;p31"/>
          <p:cNvSpPr/>
          <p:nvPr/>
        </p:nvSpPr>
        <p:spPr>
          <a:xfrm flipH="1">
            <a:off x="3516189" y="3661680"/>
            <a:ext cx="310200" cy="496500"/>
          </a:xfrm>
          <a:prstGeom prst="rect">
            <a:avLst/>
          </a:prstGeom>
          <a:solidFill>
            <a:srgbClr val="C0DAEE"/>
          </a:solidFill>
          <a:ln>
            <a:noFill/>
          </a:ln>
          <a:effectLst>
            <a:outerShdw blurRad="45971" rotWithShape="0" algn="bl" dir="8100000" dist="17239">
              <a:srgbClr val="000000">
                <a:alpha val="14902"/>
              </a:srgbClr>
            </a:outerShdw>
          </a:effectLst>
        </p:spPr>
        <p:txBody>
          <a:bodyPr anchorCtr="0" anchor="ctr" bIns="41375" lIns="41375" spcFirstLastPara="1" rIns="41375" wrap="square" tIns="413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3" name="Google Shape;1423;p31"/>
          <p:cNvSpPr/>
          <p:nvPr/>
        </p:nvSpPr>
        <p:spPr>
          <a:xfrm flipH="1">
            <a:off x="3516189" y="3661680"/>
            <a:ext cx="310200" cy="496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452"/>
              <a:buFont typeface="Calibri"/>
              <a:buNone/>
            </a:pPr>
            <a:r>
              <a:rPr b="1" i="0" lang="en" sz="452" u="none" cap="none" strike="noStrike">
                <a:solidFill>
                  <a:srgbClr val="1A2E42"/>
                </a:solidFill>
                <a:latin typeface="Calibri"/>
                <a:ea typeface="Calibri"/>
                <a:cs typeface="Calibri"/>
                <a:sym typeface="Calibri"/>
              </a:rPr>
              <a:t>Flatten</a:t>
            </a:r>
            <a:endParaRPr b="0" i="0" sz="452" u="none" cap="none" strike="noStrike">
              <a:solidFill>
                <a:schemeClr val="dk1"/>
              </a:solidFill>
              <a:latin typeface="Calibri"/>
              <a:ea typeface="Calibri"/>
              <a:cs typeface="Calibri"/>
              <a:sym typeface="Calibri"/>
            </a:endParaRPr>
          </a:p>
        </p:txBody>
      </p:sp>
      <p:sp>
        <p:nvSpPr>
          <p:cNvPr id="1424" name="Google Shape;1424;p31"/>
          <p:cNvSpPr/>
          <p:nvPr/>
        </p:nvSpPr>
        <p:spPr>
          <a:xfrm flipH="1">
            <a:off x="3441681" y="3893375"/>
            <a:ext cx="74400" cy="33000"/>
          </a:xfrm>
          <a:prstGeom prst="rect">
            <a:avLst/>
          </a:prstGeom>
          <a:solidFill>
            <a:srgbClr val="1A6080"/>
          </a:solidFill>
          <a:ln>
            <a:noFill/>
          </a:ln>
        </p:spPr>
        <p:txBody>
          <a:bodyPr anchorCtr="0" anchor="ctr" bIns="41375" lIns="41375" spcFirstLastPara="1" rIns="41375" wrap="square" tIns="413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5" name="Google Shape;1425;p31"/>
          <p:cNvSpPr/>
          <p:nvPr/>
        </p:nvSpPr>
        <p:spPr>
          <a:xfrm flipH="1">
            <a:off x="3420869" y="3847864"/>
            <a:ext cx="82800" cy="12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6080"/>
              </a:buClr>
              <a:buSzPts val="362"/>
              <a:buFont typeface="Calibri"/>
              <a:buNone/>
            </a:pPr>
            <a:r>
              <a:rPr b="0" i="0" lang="en" sz="362" u="none" cap="none" strike="noStrike">
                <a:solidFill>
                  <a:srgbClr val="1A6080"/>
                </a:solidFill>
                <a:latin typeface="Calibri"/>
                <a:ea typeface="Calibri"/>
                <a:cs typeface="Calibri"/>
                <a:sym typeface="Calibri"/>
              </a:rPr>
              <a:t>▶</a:t>
            </a:r>
            <a:endParaRPr b="0" i="0" sz="362" u="none" cap="none" strike="noStrike">
              <a:solidFill>
                <a:schemeClr val="dk1"/>
              </a:solidFill>
              <a:latin typeface="Calibri"/>
              <a:ea typeface="Calibri"/>
              <a:cs typeface="Calibri"/>
              <a:sym typeface="Calibri"/>
            </a:endParaRPr>
          </a:p>
        </p:txBody>
      </p:sp>
      <p:sp>
        <p:nvSpPr>
          <p:cNvPr id="1426" name="Google Shape;1426;p31"/>
          <p:cNvSpPr/>
          <p:nvPr/>
        </p:nvSpPr>
        <p:spPr>
          <a:xfrm flipH="1">
            <a:off x="3090007" y="3661680"/>
            <a:ext cx="351600" cy="496500"/>
          </a:xfrm>
          <a:prstGeom prst="rect">
            <a:avLst/>
          </a:prstGeom>
          <a:solidFill>
            <a:srgbClr val="B8D8F0"/>
          </a:solidFill>
          <a:ln>
            <a:noFill/>
          </a:ln>
          <a:effectLst>
            <a:outerShdw blurRad="45971" rotWithShape="0" algn="bl" dir="8100000" dist="17239">
              <a:srgbClr val="000000">
                <a:alpha val="14902"/>
              </a:srgbClr>
            </a:outerShdw>
          </a:effectLst>
        </p:spPr>
        <p:txBody>
          <a:bodyPr anchorCtr="0" anchor="ctr" bIns="41375" lIns="41375" spcFirstLastPara="1" rIns="41375" wrap="square" tIns="413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7" name="Google Shape;1427;p31"/>
          <p:cNvSpPr/>
          <p:nvPr/>
        </p:nvSpPr>
        <p:spPr>
          <a:xfrm flipH="1">
            <a:off x="3015525" y="3893375"/>
            <a:ext cx="74400" cy="33000"/>
          </a:xfrm>
          <a:prstGeom prst="rect">
            <a:avLst/>
          </a:prstGeom>
          <a:solidFill>
            <a:srgbClr val="1A6080"/>
          </a:solidFill>
          <a:ln>
            <a:noFill/>
          </a:ln>
        </p:spPr>
        <p:txBody>
          <a:bodyPr anchorCtr="0" anchor="ctr" bIns="41375" lIns="41375" spcFirstLastPara="1" rIns="41375" wrap="square" tIns="413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8" name="Google Shape;1428;p31"/>
          <p:cNvSpPr/>
          <p:nvPr/>
        </p:nvSpPr>
        <p:spPr>
          <a:xfrm flipH="1">
            <a:off x="3090007" y="3661680"/>
            <a:ext cx="351600" cy="496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452"/>
              <a:buFont typeface="Calibri"/>
              <a:buNone/>
            </a:pPr>
            <a:r>
              <a:rPr b="1" i="0" lang="en" sz="452" u="none" cap="none" strike="noStrike">
                <a:solidFill>
                  <a:srgbClr val="1A2E42"/>
                </a:solidFill>
                <a:latin typeface="Calibri"/>
                <a:ea typeface="Calibri"/>
                <a:cs typeface="Calibri"/>
                <a:sym typeface="Calibri"/>
              </a:rPr>
              <a:t>Fully</a:t>
            </a:r>
            <a:endParaRPr b="0" i="0" sz="452"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1A2E42"/>
              </a:buClr>
              <a:buSzPts val="452"/>
              <a:buFont typeface="Calibri"/>
              <a:buNone/>
            </a:pPr>
            <a:r>
              <a:rPr b="1" i="0" lang="en" sz="452" u="none" cap="none" strike="noStrike">
                <a:solidFill>
                  <a:srgbClr val="1A2E42"/>
                </a:solidFill>
                <a:latin typeface="Calibri"/>
                <a:ea typeface="Calibri"/>
                <a:cs typeface="Calibri"/>
                <a:sym typeface="Calibri"/>
              </a:rPr>
              <a:t>Connected</a:t>
            </a:r>
            <a:endParaRPr b="0" i="0" sz="452" u="none" cap="none" strike="noStrike">
              <a:solidFill>
                <a:schemeClr val="dk1"/>
              </a:solidFill>
              <a:latin typeface="Calibri"/>
              <a:ea typeface="Calibri"/>
              <a:cs typeface="Calibri"/>
              <a:sym typeface="Calibri"/>
            </a:endParaRPr>
          </a:p>
        </p:txBody>
      </p:sp>
      <p:sp>
        <p:nvSpPr>
          <p:cNvPr id="1429" name="Google Shape;1429;p31"/>
          <p:cNvSpPr/>
          <p:nvPr/>
        </p:nvSpPr>
        <p:spPr>
          <a:xfrm flipH="1">
            <a:off x="2994713" y="3847864"/>
            <a:ext cx="82800" cy="12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6080"/>
              </a:buClr>
              <a:buSzPts val="362"/>
              <a:buFont typeface="Calibri"/>
              <a:buNone/>
            </a:pPr>
            <a:r>
              <a:rPr b="0" i="0" lang="en" sz="362" u="none" cap="none" strike="noStrike">
                <a:solidFill>
                  <a:srgbClr val="1A6080"/>
                </a:solidFill>
                <a:latin typeface="Calibri"/>
                <a:ea typeface="Calibri"/>
                <a:cs typeface="Calibri"/>
                <a:sym typeface="Calibri"/>
              </a:rPr>
              <a:t>▶</a:t>
            </a:r>
            <a:endParaRPr b="0" i="0" sz="362" u="none" cap="none" strike="noStrike">
              <a:solidFill>
                <a:schemeClr val="dk1"/>
              </a:solidFill>
              <a:latin typeface="Calibri"/>
              <a:ea typeface="Calibri"/>
              <a:cs typeface="Calibri"/>
              <a:sym typeface="Calibri"/>
            </a:endParaRPr>
          </a:p>
        </p:txBody>
      </p:sp>
      <p:sp>
        <p:nvSpPr>
          <p:cNvPr id="1430" name="Google Shape;1430;p31"/>
          <p:cNvSpPr/>
          <p:nvPr/>
        </p:nvSpPr>
        <p:spPr>
          <a:xfrm flipH="1">
            <a:off x="2663851" y="3661680"/>
            <a:ext cx="351600" cy="496500"/>
          </a:xfrm>
          <a:prstGeom prst="rect">
            <a:avLst/>
          </a:prstGeom>
          <a:solidFill>
            <a:srgbClr val="FF6B6B"/>
          </a:solidFill>
          <a:ln>
            <a:noFill/>
          </a:ln>
          <a:effectLst>
            <a:outerShdw blurRad="45971" rotWithShape="0" algn="bl" dir="8100000" dist="17239">
              <a:srgbClr val="000000">
                <a:alpha val="14902"/>
              </a:srgbClr>
            </a:outerShdw>
          </a:effectLst>
        </p:spPr>
        <p:txBody>
          <a:bodyPr anchorCtr="0" anchor="ctr" bIns="41375" lIns="41375" spcFirstLastPara="1" rIns="41375" wrap="square" tIns="413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1" name="Google Shape;1431;p31"/>
          <p:cNvSpPr/>
          <p:nvPr/>
        </p:nvSpPr>
        <p:spPr>
          <a:xfrm flipH="1">
            <a:off x="2663851" y="3661680"/>
            <a:ext cx="351600" cy="496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452"/>
              <a:buFont typeface="Calibri"/>
              <a:buNone/>
            </a:pPr>
            <a:r>
              <a:rPr b="1" i="0" lang="en" sz="452" u="none" cap="none" strike="noStrike">
                <a:solidFill>
                  <a:srgbClr val="1A2E42"/>
                </a:solidFill>
                <a:latin typeface="Calibri"/>
                <a:ea typeface="Calibri"/>
                <a:cs typeface="Calibri"/>
                <a:sym typeface="Calibri"/>
              </a:rPr>
              <a:t>Softmax</a:t>
            </a:r>
            <a:endParaRPr b="0" i="0" sz="452"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1A2E42"/>
              </a:buClr>
              <a:buSzPts val="452"/>
              <a:buFont typeface="Calibri"/>
              <a:buNone/>
            </a:pPr>
            <a:r>
              <a:rPr b="1" i="0" lang="en" sz="452" u="none" cap="none" strike="noStrike">
                <a:solidFill>
                  <a:srgbClr val="1A2E42"/>
                </a:solidFill>
                <a:latin typeface="Calibri"/>
                <a:ea typeface="Calibri"/>
                <a:cs typeface="Calibri"/>
                <a:sym typeface="Calibri"/>
              </a:rPr>
              <a:t>Output</a:t>
            </a:r>
            <a:endParaRPr b="0" i="0" sz="452" u="none" cap="none" strike="noStrike">
              <a:solidFill>
                <a:schemeClr val="dk1"/>
              </a:solidFill>
              <a:latin typeface="Calibri"/>
              <a:ea typeface="Calibri"/>
              <a:cs typeface="Calibri"/>
              <a:sym typeface="Calibri"/>
            </a:endParaRPr>
          </a:p>
        </p:txBody>
      </p:sp>
      <p:cxnSp>
        <p:nvCxnSpPr>
          <p:cNvPr id="1432" name="Google Shape;1432;p31"/>
          <p:cNvCxnSpPr/>
          <p:nvPr/>
        </p:nvCxnSpPr>
        <p:spPr>
          <a:xfrm>
            <a:off x="5783398" y="4158169"/>
            <a:ext cx="0" cy="124200"/>
          </a:xfrm>
          <a:prstGeom prst="straightConnector1">
            <a:avLst/>
          </a:prstGeom>
          <a:noFill/>
          <a:ln cap="flat" cmpd="sng" w="9525">
            <a:solidFill>
              <a:srgbClr val="1A6080"/>
            </a:solidFill>
            <a:prstDash val="dash"/>
            <a:round/>
            <a:headEnd len="sm" w="sm" type="none"/>
            <a:tailEnd len="sm" w="sm" type="none"/>
          </a:ln>
        </p:spPr>
      </p:cxnSp>
      <p:sp>
        <p:nvSpPr>
          <p:cNvPr id="1433" name="Google Shape;1433;p31"/>
          <p:cNvSpPr/>
          <p:nvPr/>
        </p:nvSpPr>
        <p:spPr>
          <a:xfrm flipH="1">
            <a:off x="5439970" y="4302978"/>
            <a:ext cx="517200" cy="227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6080"/>
              </a:buClr>
              <a:buSzPts val="430"/>
              <a:buFont typeface="Calibri"/>
              <a:buNone/>
            </a:pPr>
            <a:r>
              <a:rPr b="0" i="0" lang="en" sz="430" u="none" cap="none" strike="noStrike">
                <a:solidFill>
                  <a:srgbClr val="1A6080"/>
                </a:solidFill>
                <a:latin typeface="Calibri"/>
                <a:ea typeface="Calibri"/>
                <a:cs typeface="Calibri"/>
                <a:sym typeface="Calibri"/>
              </a:rPr>
              <a:t>Raw pixels</a:t>
            </a:r>
            <a:endParaRPr b="0" i="0" sz="43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1A6080"/>
              </a:buClr>
              <a:buSzPts val="430"/>
              <a:buFont typeface="Calibri"/>
              <a:buNone/>
            </a:pPr>
            <a:r>
              <a:rPr b="0" i="0" lang="en" sz="430" u="none" cap="none" strike="noStrike">
                <a:solidFill>
                  <a:srgbClr val="1A6080"/>
                </a:solidFill>
                <a:latin typeface="Calibri"/>
                <a:ea typeface="Calibri"/>
                <a:cs typeface="Calibri"/>
                <a:sym typeface="Calibri"/>
              </a:rPr>
              <a:t>(e.g. 224×224×3)</a:t>
            </a:r>
            <a:endParaRPr b="0" i="0" sz="430" u="none" cap="none" strike="noStrike">
              <a:solidFill>
                <a:schemeClr val="dk1"/>
              </a:solidFill>
              <a:latin typeface="Calibri"/>
              <a:ea typeface="Calibri"/>
              <a:cs typeface="Calibri"/>
              <a:sym typeface="Calibri"/>
            </a:endParaRPr>
          </a:p>
        </p:txBody>
      </p:sp>
      <p:cxnSp>
        <p:nvCxnSpPr>
          <p:cNvPr id="1434" name="Google Shape;1434;p31"/>
          <p:cNvCxnSpPr/>
          <p:nvPr/>
        </p:nvCxnSpPr>
        <p:spPr>
          <a:xfrm>
            <a:off x="5108995" y="4158169"/>
            <a:ext cx="0" cy="124200"/>
          </a:xfrm>
          <a:prstGeom prst="straightConnector1">
            <a:avLst/>
          </a:prstGeom>
          <a:noFill/>
          <a:ln cap="flat" cmpd="sng" w="9525">
            <a:solidFill>
              <a:srgbClr val="1A6080"/>
            </a:solidFill>
            <a:prstDash val="dash"/>
            <a:round/>
            <a:headEnd len="sm" w="sm" type="none"/>
            <a:tailEnd len="sm" w="sm" type="none"/>
          </a:ln>
        </p:spPr>
      </p:cxnSp>
      <p:sp>
        <p:nvSpPr>
          <p:cNvPr id="1435" name="Google Shape;1435;p31"/>
          <p:cNvSpPr/>
          <p:nvPr/>
        </p:nvSpPr>
        <p:spPr>
          <a:xfrm flipH="1">
            <a:off x="4765568" y="4302978"/>
            <a:ext cx="517200" cy="227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6080"/>
              </a:buClr>
              <a:buSzPts val="430"/>
              <a:buFont typeface="Calibri"/>
              <a:buNone/>
            </a:pPr>
            <a:r>
              <a:rPr b="0" i="0" lang="en" sz="430" u="none" cap="none" strike="noStrike">
                <a:solidFill>
                  <a:srgbClr val="1A6080"/>
                </a:solidFill>
                <a:latin typeface="Calibri"/>
                <a:ea typeface="Calibri"/>
                <a:cs typeface="Calibri"/>
                <a:sym typeface="Calibri"/>
              </a:rPr>
              <a:t>Learns local</a:t>
            </a:r>
            <a:endParaRPr b="0" i="0" sz="43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1A6080"/>
              </a:buClr>
              <a:buSzPts val="430"/>
              <a:buFont typeface="Calibri"/>
              <a:buNone/>
            </a:pPr>
            <a:r>
              <a:rPr b="0" i="0" lang="en" sz="430" u="none" cap="none" strike="noStrike">
                <a:solidFill>
                  <a:srgbClr val="1A6080"/>
                </a:solidFill>
                <a:latin typeface="Calibri"/>
                <a:ea typeface="Calibri"/>
                <a:cs typeface="Calibri"/>
                <a:sym typeface="Calibri"/>
              </a:rPr>
              <a:t>features/filters</a:t>
            </a:r>
            <a:endParaRPr b="0" i="0" sz="430" u="none" cap="none" strike="noStrike">
              <a:solidFill>
                <a:schemeClr val="dk1"/>
              </a:solidFill>
              <a:latin typeface="Calibri"/>
              <a:ea typeface="Calibri"/>
              <a:cs typeface="Calibri"/>
              <a:sym typeface="Calibri"/>
            </a:endParaRPr>
          </a:p>
        </p:txBody>
      </p:sp>
      <p:cxnSp>
        <p:nvCxnSpPr>
          <p:cNvPr id="1436" name="Google Shape;1436;p31"/>
          <p:cNvCxnSpPr/>
          <p:nvPr/>
        </p:nvCxnSpPr>
        <p:spPr>
          <a:xfrm>
            <a:off x="4438730" y="4158169"/>
            <a:ext cx="0" cy="124200"/>
          </a:xfrm>
          <a:prstGeom prst="straightConnector1">
            <a:avLst/>
          </a:prstGeom>
          <a:noFill/>
          <a:ln cap="flat" cmpd="sng" w="9525">
            <a:solidFill>
              <a:srgbClr val="1A6080"/>
            </a:solidFill>
            <a:prstDash val="dash"/>
            <a:round/>
            <a:headEnd len="sm" w="sm" type="none"/>
            <a:tailEnd len="sm" w="sm" type="none"/>
          </a:ln>
        </p:spPr>
      </p:cxnSp>
      <p:sp>
        <p:nvSpPr>
          <p:cNvPr id="1437" name="Google Shape;1437;p31"/>
          <p:cNvSpPr/>
          <p:nvPr/>
        </p:nvSpPr>
        <p:spPr>
          <a:xfrm flipH="1">
            <a:off x="4095303" y="4302978"/>
            <a:ext cx="517200" cy="227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6080"/>
              </a:buClr>
              <a:buSzPts val="430"/>
              <a:buFont typeface="Calibri"/>
              <a:buNone/>
            </a:pPr>
            <a:r>
              <a:rPr b="0" i="0" lang="en" sz="430" u="none" cap="none" strike="noStrike">
                <a:solidFill>
                  <a:srgbClr val="1A6080"/>
                </a:solidFill>
                <a:latin typeface="Calibri"/>
                <a:ea typeface="Calibri"/>
                <a:cs typeface="Calibri"/>
                <a:sym typeface="Calibri"/>
              </a:rPr>
              <a:t>Adds non-</a:t>
            </a:r>
            <a:endParaRPr b="0" i="0" sz="43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1A6080"/>
              </a:buClr>
              <a:buSzPts val="430"/>
              <a:buFont typeface="Calibri"/>
              <a:buNone/>
            </a:pPr>
            <a:r>
              <a:rPr b="0" i="0" lang="en" sz="430" u="none" cap="none" strike="noStrike">
                <a:solidFill>
                  <a:srgbClr val="1A6080"/>
                </a:solidFill>
                <a:latin typeface="Calibri"/>
                <a:ea typeface="Calibri"/>
                <a:cs typeface="Calibri"/>
                <a:sym typeface="Calibri"/>
              </a:rPr>
              <a:t>linearity</a:t>
            </a:r>
            <a:endParaRPr b="0" i="0" sz="430" u="none" cap="none" strike="noStrike">
              <a:solidFill>
                <a:schemeClr val="dk1"/>
              </a:solidFill>
              <a:latin typeface="Calibri"/>
              <a:ea typeface="Calibri"/>
              <a:cs typeface="Calibri"/>
              <a:sym typeface="Calibri"/>
            </a:endParaRPr>
          </a:p>
        </p:txBody>
      </p:sp>
      <p:cxnSp>
        <p:nvCxnSpPr>
          <p:cNvPr id="1438" name="Google Shape;1438;p31"/>
          <p:cNvCxnSpPr/>
          <p:nvPr/>
        </p:nvCxnSpPr>
        <p:spPr>
          <a:xfrm>
            <a:off x="3768465" y="4158169"/>
            <a:ext cx="0" cy="124200"/>
          </a:xfrm>
          <a:prstGeom prst="straightConnector1">
            <a:avLst/>
          </a:prstGeom>
          <a:noFill/>
          <a:ln cap="flat" cmpd="sng" w="9525">
            <a:solidFill>
              <a:srgbClr val="1A6080"/>
            </a:solidFill>
            <a:prstDash val="dash"/>
            <a:round/>
            <a:headEnd len="sm" w="sm" type="none"/>
            <a:tailEnd len="sm" w="sm" type="none"/>
          </a:ln>
        </p:spPr>
      </p:cxnSp>
      <p:sp>
        <p:nvSpPr>
          <p:cNvPr id="1439" name="Google Shape;1439;p31"/>
          <p:cNvSpPr/>
          <p:nvPr/>
        </p:nvSpPr>
        <p:spPr>
          <a:xfrm flipH="1">
            <a:off x="3425037" y="4302978"/>
            <a:ext cx="517200" cy="227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6080"/>
              </a:buClr>
              <a:buSzPts val="430"/>
              <a:buFont typeface="Calibri"/>
              <a:buNone/>
            </a:pPr>
            <a:r>
              <a:rPr b="0" i="0" lang="en" sz="430" u="none" cap="none" strike="noStrike">
                <a:solidFill>
                  <a:srgbClr val="1A6080"/>
                </a:solidFill>
                <a:latin typeface="Calibri"/>
                <a:ea typeface="Calibri"/>
                <a:cs typeface="Calibri"/>
                <a:sym typeface="Calibri"/>
              </a:rPr>
              <a:t>Reduces spatial</a:t>
            </a:r>
            <a:endParaRPr b="0" i="0" sz="43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1A6080"/>
              </a:buClr>
              <a:buSzPts val="430"/>
              <a:buFont typeface="Calibri"/>
              <a:buNone/>
            </a:pPr>
            <a:r>
              <a:rPr b="0" i="0" lang="en" sz="430" u="none" cap="none" strike="noStrike">
                <a:solidFill>
                  <a:srgbClr val="1A6080"/>
                </a:solidFill>
                <a:latin typeface="Calibri"/>
                <a:ea typeface="Calibri"/>
                <a:cs typeface="Calibri"/>
                <a:sym typeface="Calibri"/>
              </a:rPr>
              <a:t>dimensions</a:t>
            </a:r>
            <a:endParaRPr b="0" i="0" sz="430" u="none" cap="none" strike="noStrike">
              <a:solidFill>
                <a:schemeClr val="dk1"/>
              </a:solidFill>
              <a:latin typeface="Calibri"/>
              <a:ea typeface="Calibri"/>
              <a:cs typeface="Calibri"/>
              <a:sym typeface="Calibri"/>
            </a:endParaRPr>
          </a:p>
        </p:txBody>
      </p:sp>
      <p:cxnSp>
        <p:nvCxnSpPr>
          <p:cNvPr id="1440" name="Google Shape;1440;p31"/>
          <p:cNvCxnSpPr/>
          <p:nvPr/>
        </p:nvCxnSpPr>
        <p:spPr>
          <a:xfrm>
            <a:off x="3098200" y="4158169"/>
            <a:ext cx="0" cy="124200"/>
          </a:xfrm>
          <a:prstGeom prst="straightConnector1">
            <a:avLst/>
          </a:prstGeom>
          <a:noFill/>
          <a:ln cap="flat" cmpd="sng" w="9525">
            <a:solidFill>
              <a:srgbClr val="1A6080"/>
            </a:solidFill>
            <a:prstDash val="dash"/>
            <a:round/>
            <a:headEnd len="sm" w="sm" type="none"/>
            <a:tailEnd len="sm" w="sm" type="none"/>
          </a:ln>
        </p:spPr>
      </p:cxnSp>
      <p:sp>
        <p:nvSpPr>
          <p:cNvPr id="1441" name="Google Shape;1441;p31"/>
          <p:cNvSpPr/>
          <p:nvPr/>
        </p:nvSpPr>
        <p:spPr>
          <a:xfrm flipH="1">
            <a:off x="2754772" y="4302978"/>
            <a:ext cx="517200" cy="227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6080"/>
              </a:buClr>
              <a:buSzPts val="430"/>
              <a:buFont typeface="Calibri"/>
              <a:buNone/>
            </a:pPr>
            <a:r>
              <a:rPr b="0" i="0" lang="en" sz="430" u="none" cap="none" strike="noStrike">
                <a:solidFill>
                  <a:srgbClr val="1A6080"/>
                </a:solidFill>
                <a:latin typeface="Calibri"/>
                <a:ea typeface="Calibri"/>
                <a:cs typeface="Calibri"/>
                <a:sym typeface="Calibri"/>
              </a:rPr>
              <a:t>Higher-level</a:t>
            </a:r>
            <a:endParaRPr b="0" i="0" sz="43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1A6080"/>
              </a:buClr>
              <a:buSzPts val="430"/>
              <a:buFont typeface="Calibri"/>
              <a:buNone/>
            </a:pPr>
            <a:r>
              <a:rPr b="0" i="0" lang="en" sz="430" u="none" cap="none" strike="noStrike">
                <a:solidFill>
                  <a:srgbClr val="1A6080"/>
                </a:solidFill>
                <a:latin typeface="Calibri"/>
                <a:ea typeface="Calibri"/>
                <a:cs typeface="Calibri"/>
                <a:sym typeface="Calibri"/>
              </a:rPr>
              <a:t>features</a:t>
            </a:r>
            <a:endParaRPr b="0" i="0" sz="430" u="none" cap="none" strike="noStrike">
              <a:solidFill>
                <a:schemeClr val="dk1"/>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446" name="Shape 1446"/>
        <p:cNvGrpSpPr/>
        <p:nvPr/>
      </p:nvGrpSpPr>
      <p:grpSpPr>
        <a:xfrm>
          <a:off x="0" y="0"/>
          <a:ext cx="0" cy="0"/>
          <a:chOff x="0" y="0"/>
          <a:chExt cx="0" cy="0"/>
        </a:xfrm>
      </p:grpSpPr>
      <p:sp>
        <p:nvSpPr>
          <p:cNvPr id="1447" name="Google Shape;1447;p32"/>
          <p:cNvSpPr/>
          <p:nvPr/>
        </p:nvSpPr>
        <p:spPr>
          <a:xfrm>
            <a:off x="5441476" y="3685032"/>
            <a:ext cx="1188600" cy="822900"/>
          </a:xfrm>
          <a:prstGeom prst="rect">
            <a:avLst/>
          </a:prstGeom>
          <a:solidFill>
            <a:srgbClr val="DCFCE7"/>
          </a:solidFill>
          <a:ln cap="flat" cmpd="sng" w="19050">
            <a:solidFill>
              <a:srgbClr val="22C5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8" name="Google Shape;1448;p32"/>
          <p:cNvSpPr/>
          <p:nvPr/>
        </p:nvSpPr>
        <p:spPr>
          <a:xfrm>
            <a:off x="5441476" y="3776472"/>
            <a:ext cx="1188600" cy="237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66534"/>
              </a:buClr>
              <a:buSzPts val="950"/>
              <a:buFont typeface="Calibri"/>
              <a:buNone/>
            </a:pPr>
            <a:r>
              <a:rPr b="1" i="0" lang="en" sz="950" u="none" cap="none" strike="noStrike">
                <a:solidFill>
                  <a:srgbClr val="166534"/>
                </a:solidFill>
                <a:latin typeface="Calibri"/>
                <a:ea typeface="Calibri"/>
                <a:cs typeface="Calibri"/>
                <a:sym typeface="Calibri"/>
              </a:rPr>
              <a:t>Output</a:t>
            </a:r>
            <a:endParaRPr b="0" i="0" sz="950" u="none" cap="none" strike="noStrike">
              <a:solidFill>
                <a:schemeClr val="dk1"/>
              </a:solidFill>
              <a:latin typeface="Calibri"/>
              <a:ea typeface="Calibri"/>
              <a:cs typeface="Calibri"/>
              <a:sym typeface="Calibri"/>
            </a:endParaRPr>
          </a:p>
        </p:txBody>
      </p:sp>
      <p:sp>
        <p:nvSpPr>
          <p:cNvPr id="1449" name="Google Shape;1449;p32"/>
          <p:cNvSpPr/>
          <p:nvPr/>
        </p:nvSpPr>
        <p:spPr>
          <a:xfrm>
            <a:off x="5487196" y="4014216"/>
            <a:ext cx="1097400" cy="329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66534"/>
              </a:buClr>
              <a:buSzPts val="800"/>
              <a:buFont typeface="Calibri"/>
              <a:buNone/>
            </a:pPr>
            <a:r>
              <a:rPr b="0" i="0" lang="en" sz="800" u="none" cap="none" strike="noStrike">
                <a:solidFill>
                  <a:srgbClr val="166534"/>
                </a:solidFill>
                <a:latin typeface="Calibri"/>
                <a:ea typeface="Calibri"/>
                <a:cs typeface="Calibri"/>
                <a:sym typeface="Calibri"/>
              </a:rPr>
              <a:t>10 class scores</a:t>
            </a:r>
            <a:endParaRPr b="0" i="0" sz="800" u="none" cap="none" strike="noStrike">
              <a:solidFill>
                <a:schemeClr val="dk1"/>
              </a:solidFill>
              <a:latin typeface="Calibri"/>
              <a:ea typeface="Calibri"/>
              <a:cs typeface="Calibri"/>
              <a:sym typeface="Calibri"/>
            </a:endParaRPr>
          </a:p>
        </p:txBody>
      </p:sp>
      <p:sp>
        <p:nvSpPr>
          <p:cNvPr id="1450" name="Google Shape;1450;p32"/>
          <p:cNvSpPr/>
          <p:nvPr/>
        </p:nvSpPr>
        <p:spPr>
          <a:xfrm>
            <a:off x="5496340" y="4270248"/>
            <a:ext cx="1079100" cy="183000"/>
          </a:xfrm>
          <a:prstGeom prst="rect">
            <a:avLst/>
          </a:prstGeom>
          <a:solidFill>
            <a:srgbClr val="22C55E">
              <a:alpha val="21961"/>
            </a:srgbClr>
          </a:solidFill>
          <a:ln cap="flat" cmpd="sng" w="12700">
            <a:solidFill>
              <a:srgbClr val="22C5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1" name="Google Shape;1451;p32"/>
          <p:cNvSpPr/>
          <p:nvPr/>
        </p:nvSpPr>
        <p:spPr>
          <a:xfrm>
            <a:off x="5496340" y="4270248"/>
            <a:ext cx="10791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66534"/>
              </a:buClr>
              <a:buSzPts val="750"/>
              <a:buFont typeface="Calibri"/>
              <a:buNone/>
            </a:pPr>
            <a:r>
              <a:rPr b="1" i="0" lang="en" sz="750" u="none" cap="none" strike="noStrike">
                <a:solidFill>
                  <a:srgbClr val="166534"/>
                </a:solidFill>
                <a:latin typeface="Calibri"/>
                <a:ea typeface="Calibri"/>
                <a:cs typeface="Calibri"/>
                <a:sym typeface="Calibri"/>
              </a:rPr>
              <a:t>logits</a:t>
            </a:r>
            <a:endParaRPr b="0" i="0" sz="750" u="none" cap="none" strike="noStrike">
              <a:solidFill>
                <a:schemeClr val="dk1"/>
              </a:solidFill>
              <a:latin typeface="Calibri"/>
              <a:ea typeface="Calibri"/>
              <a:cs typeface="Calibri"/>
              <a:sym typeface="Calibri"/>
            </a:endParaRPr>
          </a:p>
        </p:txBody>
      </p:sp>
      <p:sp>
        <p:nvSpPr>
          <p:cNvPr id="1452" name="Google Shape;1452;p32"/>
          <p:cNvSpPr/>
          <p:nvPr/>
        </p:nvSpPr>
        <p:spPr>
          <a:xfrm>
            <a:off x="274320" y="91440"/>
            <a:ext cx="8595300" cy="384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E293B"/>
              </a:buClr>
              <a:buSzPts val="2200"/>
              <a:buFont typeface="Calibri"/>
              <a:buNone/>
            </a:pPr>
            <a:r>
              <a:rPr b="1" i="0" lang="en" sz="2200" u="none" cap="none" strike="noStrike">
                <a:solidFill>
                  <a:srgbClr val="1E293B"/>
                </a:solidFill>
                <a:latin typeface="Calibri"/>
                <a:ea typeface="Calibri"/>
                <a:cs typeface="Calibri"/>
                <a:sym typeface="Calibri"/>
              </a:rPr>
              <a:t>SimpleCNN — Forward Pass</a:t>
            </a:r>
            <a:endParaRPr b="0" i="0" sz="2200" u="none" cap="none" strike="noStrike">
              <a:solidFill>
                <a:schemeClr val="dk1"/>
              </a:solidFill>
              <a:latin typeface="Calibri"/>
              <a:ea typeface="Calibri"/>
              <a:cs typeface="Calibri"/>
              <a:sym typeface="Calibri"/>
            </a:endParaRPr>
          </a:p>
        </p:txBody>
      </p:sp>
      <p:sp>
        <p:nvSpPr>
          <p:cNvPr id="1453" name="Google Shape;1453;p32"/>
          <p:cNvSpPr/>
          <p:nvPr/>
        </p:nvSpPr>
        <p:spPr>
          <a:xfrm>
            <a:off x="6289480" y="566928"/>
            <a:ext cx="2834700" cy="4160400"/>
          </a:xfrm>
          <a:prstGeom prst="rect">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4" name="Google Shape;1454;p32"/>
          <p:cNvSpPr/>
          <p:nvPr/>
        </p:nvSpPr>
        <p:spPr>
          <a:xfrm>
            <a:off x="6327648" y="658368"/>
            <a:ext cx="26151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8BDF8"/>
              </a:buClr>
              <a:buSzPts val="900"/>
              <a:buFont typeface="Consolas"/>
              <a:buNone/>
            </a:pPr>
            <a:r>
              <a:rPr b="1" i="0" lang="en" sz="900" u="none" cap="none" strike="noStrike">
                <a:solidFill>
                  <a:srgbClr val="38BDF8"/>
                </a:solidFill>
                <a:latin typeface="Consolas"/>
                <a:ea typeface="Consolas"/>
                <a:cs typeface="Consolas"/>
                <a:sym typeface="Consolas"/>
              </a:rPr>
              <a:t>forward(self, x)</a:t>
            </a:r>
            <a:endParaRPr b="0" i="0" sz="900" u="none" cap="none" strike="noStrike">
              <a:solidFill>
                <a:schemeClr val="dk1"/>
              </a:solidFill>
              <a:latin typeface="Calibri"/>
              <a:ea typeface="Calibri"/>
              <a:cs typeface="Calibri"/>
              <a:sym typeface="Calibri"/>
            </a:endParaRPr>
          </a:p>
        </p:txBody>
      </p:sp>
      <p:sp>
        <p:nvSpPr>
          <p:cNvPr id="1455" name="Google Shape;1455;p32"/>
          <p:cNvSpPr/>
          <p:nvPr/>
        </p:nvSpPr>
        <p:spPr>
          <a:xfrm>
            <a:off x="6327648" y="932688"/>
            <a:ext cx="26151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800"/>
              <a:buFont typeface="Consolas"/>
              <a:buNone/>
            </a:pPr>
            <a:r>
              <a:rPr b="0" i="0" lang="en" sz="800" u="none" cap="none" strike="noStrike">
                <a:solidFill>
                  <a:srgbClr val="64748B"/>
                </a:solidFill>
                <a:latin typeface="Consolas"/>
                <a:ea typeface="Consolas"/>
                <a:cs typeface="Consolas"/>
                <a:sym typeface="Consolas"/>
              </a:rPr>
              <a:t># Block 1</a:t>
            </a:r>
            <a:endParaRPr b="0" i="0" sz="800" u="none" cap="none" strike="noStrike">
              <a:solidFill>
                <a:schemeClr val="dk1"/>
              </a:solidFill>
              <a:latin typeface="Calibri"/>
              <a:ea typeface="Calibri"/>
              <a:cs typeface="Calibri"/>
              <a:sym typeface="Calibri"/>
            </a:endParaRPr>
          </a:p>
        </p:txBody>
      </p:sp>
      <p:sp>
        <p:nvSpPr>
          <p:cNvPr id="1456" name="Google Shape;1456;p32"/>
          <p:cNvSpPr/>
          <p:nvPr/>
        </p:nvSpPr>
        <p:spPr>
          <a:xfrm>
            <a:off x="6327648" y="1156716"/>
            <a:ext cx="26151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2E8F0"/>
              </a:buClr>
              <a:buSzPts val="800"/>
              <a:buFont typeface="Consolas"/>
              <a:buNone/>
            </a:pPr>
            <a:r>
              <a:rPr b="0" i="0" lang="en" sz="800" u="none" cap="none" strike="noStrike">
                <a:solidFill>
                  <a:srgbClr val="E2E8F0"/>
                </a:solidFill>
                <a:latin typeface="Consolas"/>
                <a:ea typeface="Consolas"/>
                <a:cs typeface="Consolas"/>
                <a:sym typeface="Consolas"/>
              </a:rPr>
              <a:t>x = self.pool(</a:t>
            </a:r>
            <a:endParaRPr b="0" i="0" sz="800" u="none" cap="none" strike="noStrike">
              <a:solidFill>
                <a:schemeClr val="dk1"/>
              </a:solidFill>
              <a:latin typeface="Calibri"/>
              <a:ea typeface="Calibri"/>
              <a:cs typeface="Calibri"/>
              <a:sym typeface="Calibri"/>
            </a:endParaRPr>
          </a:p>
        </p:txBody>
      </p:sp>
      <p:sp>
        <p:nvSpPr>
          <p:cNvPr id="1457" name="Google Shape;1457;p32"/>
          <p:cNvSpPr/>
          <p:nvPr/>
        </p:nvSpPr>
        <p:spPr>
          <a:xfrm>
            <a:off x="6327648" y="1380744"/>
            <a:ext cx="26151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2E8F0"/>
              </a:buClr>
              <a:buSzPts val="800"/>
              <a:buFont typeface="Consolas"/>
              <a:buNone/>
            </a:pPr>
            <a:r>
              <a:rPr b="0" i="0" lang="en" sz="800" u="none" cap="none" strike="noStrike">
                <a:solidFill>
                  <a:srgbClr val="E2E8F0"/>
                </a:solidFill>
                <a:latin typeface="Consolas"/>
                <a:ea typeface="Consolas"/>
                <a:cs typeface="Consolas"/>
                <a:sym typeface="Consolas"/>
              </a:rPr>
              <a:t>      self.relu(</a:t>
            </a:r>
            <a:endParaRPr b="0" i="0" sz="800" u="none" cap="none" strike="noStrike">
              <a:solidFill>
                <a:schemeClr val="dk1"/>
              </a:solidFill>
              <a:latin typeface="Calibri"/>
              <a:ea typeface="Calibri"/>
              <a:cs typeface="Calibri"/>
              <a:sym typeface="Calibri"/>
            </a:endParaRPr>
          </a:p>
        </p:txBody>
      </p:sp>
      <p:sp>
        <p:nvSpPr>
          <p:cNvPr id="1458" name="Google Shape;1458;p32"/>
          <p:cNvSpPr/>
          <p:nvPr/>
        </p:nvSpPr>
        <p:spPr>
          <a:xfrm>
            <a:off x="6327648" y="1604772"/>
            <a:ext cx="26151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2E8F0"/>
              </a:buClr>
              <a:buSzPts val="800"/>
              <a:buFont typeface="Consolas"/>
              <a:buNone/>
            </a:pPr>
            <a:r>
              <a:rPr b="0" i="0" lang="en" sz="800" u="none" cap="none" strike="noStrike">
                <a:solidFill>
                  <a:srgbClr val="E2E8F0"/>
                </a:solidFill>
                <a:latin typeface="Consolas"/>
                <a:ea typeface="Consolas"/>
                <a:cs typeface="Consolas"/>
                <a:sym typeface="Consolas"/>
              </a:rPr>
              <a:t>        self.conv1(x)))</a:t>
            </a:r>
            <a:endParaRPr b="0" i="0" sz="800" u="none" cap="none" strike="noStrike">
              <a:solidFill>
                <a:schemeClr val="dk1"/>
              </a:solidFill>
              <a:latin typeface="Calibri"/>
              <a:ea typeface="Calibri"/>
              <a:cs typeface="Calibri"/>
              <a:sym typeface="Calibri"/>
            </a:endParaRPr>
          </a:p>
        </p:txBody>
      </p:sp>
      <p:sp>
        <p:nvSpPr>
          <p:cNvPr id="1459" name="Google Shape;1459;p32"/>
          <p:cNvSpPr/>
          <p:nvPr/>
        </p:nvSpPr>
        <p:spPr>
          <a:xfrm>
            <a:off x="6327648" y="2052828"/>
            <a:ext cx="26151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800"/>
              <a:buFont typeface="Consolas"/>
              <a:buNone/>
            </a:pPr>
            <a:r>
              <a:rPr b="0" i="0" lang="en" sz="800" u="none" cap="none" strike="noStrike">
                <a:solidFill>
                  <a:srgbClr val="64748B"/>
                </a:solidFill>
                <a:latin typeface="Consolas"/>
                <a:ea typeface="Consolas"/>
                <a:cs typeface="Consolas"/>
                <a:sym typeface="Consolas"/>
              </a:rPr>
              <a:t># Block 2</a:t>
            </a:r>
            <a:endParaRPr b="0" i="0" sz="800" u="none" cap="none" strike="noStrike">
              <a:solidFill>
                <a:schemeClr val="dk1"/>
              </a:solidFill>
              <a:latin typeface="Calibri"/>
              <a:ea typeface="Calibri"/>
              <a:cs typeface="Calibri"/>
              <a:sym typeface="Calibri"/>
            </a:endParaRPr>
          </a:p>
        </p:txBody>
      </p:sp>
      <p:sp>
        <p:nvSpPr>
          <p:cNvPr id="1460" name="Google Shape;1460;p32"/>
          <p:cNvSpPr/>
          <p:nvPr/>
        </p:nvSpPr>
        <p:spPr>
          <a:xfrm>
            <a:off x="6327648" y="2276856"/>
            <a:ext cx="26151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2E8F0"/>
              </a:buClr>
              <a:buSzPts val="800"/>
              <a:buFont typeface="Consolas"/>
              <a:buNone/>
            </a:pPr>
            <a:r>
              <a:rPr b="0" i="0" lang="en" sz="800" u="none" cap="none" strike="noStrike">
                <a:solidFill>
                  <a:srgbClr val="E2E8F0"/>
                </a:solidFill>
                <a:latin typeface="Consolas"/>
                <a:ea typeface="Consolas"/>
                <a:cs typeface="Consolas"/>
                <a:sym typeface="Consolas"/>
              </a:rPr>
              <a:t>x = self.pool(</a:t>
            </a:r>
            <a:endParaRPr b="0" i="0" sz="800" u="none" cap="none" strike="noStrike">
              <a:solidFill>
                <a:schemeClr val="dk1"/>
              </a:solidFill>
              <a:latin typeface="Calibri"/>
              <a:ea typeface="Calibri"/>
              <a:cs typeface="Calibri"/>
              <a:sym typeface="Calibri"/>
            </a:endParaRPr>
          </a:p>
        </p:txBody>
      </p:sp>
      <p:sp>
        <p:nvSpPr>
          <p:cNvPr id="1461" name="Google Shape;1461;p32"/>
          <p:cNvSpPr/>
          <p:nvPr/>
        </p:nvSpPr>
        <p:spPr>
          <a:xfrm>
            <a:off x="6327648" y="2500884"/>
            <a:ext cx="26151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2E8F0"/>
              </a:buClr>
              <a:buSzPts val="800"/>
              <a:buFont typeface="Consolas"/>
              <a:buNone/>
            </a:pPr>
            <a:r>
              <a:rPr b="0" i="0" lang="en" sz="800" u="none" cap="none" strike="noStrike">
                <a:solidFill>
                  <a:srgbClr val="E2E8F0"/>
                </a:solidFill>
                <a:latin typeface="Consolas"/>
                <a:ea typeface="Consolas"/>
                <a:cs typeface="Consolas"/>
                <a:sym typeface="Consolas"/>
              </a:rPr>
              <a:t>      self.relu(</a:t>
            </a:r>
            <a:endParaRPr b="0" i="0" sz="800" u="none" cap="none" strike="noStrike">
              <a:solidFill>
                <a:schemeClr val="dk1"/>
              </a:solidFill>
              <a:latin typeface="Calibri"/>
              <a:ea typeface="Calibri"/>
              <a:cs typeface="Calibri"/>
              <a:sym typeface="Calibri"/>
            </a:endParaRPr>
          </a:p>
        </p:txBody>
      </p:sp>
      <p:sp>
        <p:nvSpPr>
          <p:cNvPr id="1462" name="Google Shape;1462;p32"/>
          <p:cNvSpPr/>
          <p:nvPr/>
        </p:nvSpPr>
        <p:spPr>
          <a:xfrm>
            <a:off x="6327648" y="2724912"/>
            <a:ext cx="26151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2E8F0"/>
              </a:buClr>
              <a:buSzPts val="800"/>
              <a:buFont typeface="Consolas"/>
              <a:buNone/>
            </a:pPr>
            <a:r>
              <a:rPr b="0" i="0" lang="en" sz="800" u="none" cap="none" strike="noStrike">
                <a:solidFill>
                  <a:srgbClr val="E2E8F0"/>
                </a:solidFill>
                <a:latin typeface="Consolas"/>
                <a:ea typeface="Consolas"/>
                <a:cs typeface="Consolas"/>
                <a:sym typeface="Consolas"/>
              </a:rPr>
              <a:t>        self.conv2(x)))</a:t>
            </a:r>
            <a:endParaRPr b="0" i="0" sz="800" u="none" cap="none" strike="noStrike">
              <a:solidFill>
                <a:schemeClr val="dk1"/>
              </a:solidFill>
              <a:latin typeface="Calibri"/>
              <a:ea typeface="Calibri"/>
              <a:cs typeface="Calibri"/>
              <a:sym typeface="Calibri"/>
            </a:endParaRPr>
          </a:p>
        </p:txBody>
      </p:sp>
      <p:sp>
        <p:nvSpPr>
          <p:cNvPr id="1463" name="Google Shape;1463;p32"/>
          <p:cNvSpPr/>
          <p:nvPr/>
        </p:nvSpPr>
        <p:spPr>
          <a:xfrm>
            <a:off x="6327648" y="3172968"/>
            <a:ext cx="26151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800"/>
              <a:buFont typeface="Consolas"/>
              <a:buNone/>
            </a:pPr>
            <a:r>
              <a:rPr b="0" i="0" lang="en" sz="800" u="none" cap="none" strike="noStrike">
                <a:solidFill>
                  <a:srgbClr val="64748B"/>
                </a:solidFill>
                <a:latin typeface="Consolas"/>
                <a:ea typeface="Consolas"/>
                <a:cs typeface="Consolas"/>
                <a:sym typeface="Consolas"/>
              </a:rPr>
              <a:t># Flatten</a:t>
            </a:r>
            <a:endParaRPr b="0" i="0" sz="800" u="none" cap="none" strike="noStrike">
              <a:solidFill>
                <a:schemeClr val="dk1"/>
              </a:solidFill>
              <a:latin typeface="Calibri"/>
              <a:ea typeface="Calibri"/>
              <a:cs typeface="Calibri"/>
              <a:sym typeface="Calibri"/>
            </a:endParaRPr>
          </a:p>
        </p:txBody>
      </p:sp>
      <p:sp>
        <p:nvSpPr>
          <p:cNvPr id="1464" name="Google Shape;1464;p32"/>
          <p:cNvSpPr/>
          <p:nvPr/>
        </p:nvSpPr>
        <p:spPr>
          <a:xfrm>
            <a:off x="6327648" y="3396996"/>
            <a:ext cx="26151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2E8F0"/>
              </a:buClr>
              <a:buSzPts val="800"/>
              <a:buFont typeface="Consolas"/>
              <a:buNone/>
            </a:pPr>
            <a:r>
              <a:rPr b="0" i="0" lang="en" sz="800" u="none" cap="none" strike="noStrike">
                <a:solidFill>
                  <a:srgbClr val="E2E8F0"/>
                </a:solidFill>
                <a:latin typeface="Consolas"/>
                <a:ea typeface="Consolas"/>
                <a:cs typeface="Consolas"/>
                <a:sym typeface="Consolas"/>
              </a:rPr>
              <a:t>x = x.view(</a:t>
            </a:r>
            <a:endParaRPr b="0" i="0" sz="800" u="none" cap="none" strike="noStrike">
              <a:solidFill>
                <a:schemeClr val="dk1"/>
              </a:solidFill>
              <a:latin typeface="Calibri"/>
              <a:ea typeface="Calibri"/>
              <a:cs typeface="Calibri"/>
              <a:sym typeface="Calibri"/>
            </a:endParaRPr>
          </a:p>
        </p:txBody>
      </p:sp>
      <p:sp>
        <p:nvSpPr>
          <p:cNvPr id="1465" name="Google Shape;1465;p32"/>
          <p:cNvSpPr/>
          <p:nvPr/>
        </p:nvSpPr>
        <p:spPr>
          <a:xfrm>
            <a:off x="6327648" y="3621024"/>
            <a:ext cx="26151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2E8F0"/>
              </a:buClr>
              <a:buSzPts val="800"/>
              <a:buFont typeface="Consolas"/>
              <a:buNone/>
            </a:pPr>
            <a:r>
              <a:rPr b="0" i="0" lang="en" sz="800" u="none" cap="none" strike="noStrike">
                <a:solidFill>
                  <a:srgbClr val="E2E8F0"/>
                </a:solidFill>
                <a:latin typeface="Consolas"/>
                <a:ea typeface="Consolas"/>
                <a:cs typeface="Consolas"/>
                <a:sym typeface="Consolas"/>
              </a:rPr>
              <a:t>  x.size(0), -1)</a:t>
            </a:r>
            <a:endParaRPr b="0" i="0" sz="800" u="none" cap="none" strike="noStrike">
              <a:solidFill>
                <a:schemeClr val="dk1"/>
              </a:solidFill>
              <a:latin typeface="Calibri"/>
              <a:ea typeface="Calibri"/>
              <a:cs typeface="Calibri"/>
              <a:sym typeface="Calibri"/>
            </a:endParaRPr>
          </a:p>
        </p:txBody>
      </p:sp>
      <p:sp>
        <p:nvSpPr>
          <p:cNvPr id="1466" name="Google Shape;1466;p32"/>
          <p:cNvSpPr/>
          <p:nvPr/>
        </p:nvSpPr>
        <p:spPr>
          <a:xfrm>
            <a:off x="6327648" y="4069080"/>
            <a:ext cx="26151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800"/>
              <a:buFont typeface="Consolas"/>
              <a:buNone/>
            </a:pPr>
            <a:r>
              <a:rPr b="0" i="0" lang="en" sz="800" u="none" cap="none" strike="noStrike">
                <a:solidFill>
                  <a:srgbClr val="64748B"/>
                </a:solidFill>
                <a:latin typeface="Consolas"/>
                <a:ea typeface="Consolas"/>
                <a:cs typeface="Consolas"/>
                <a:sym typeface="Consolas"/>
              </a:rPr>
              <a:t># Output</a:t>
            </a:r>
            <a:endParaRPr b="0" i="0" sz="800" u="none" cap="none" strike="noStrike">
              <a:solidFill>
                <a:schemeClr val="dk1"/>
              </a:solidFill>
              <a:latin typeface="Calibri"/>
              <a:ea typeface="Calibri"/>
              <a:cs typeface="Calibri"/>
              <a:sym typeface="Calibri"/>
            </a:endParaRPr>
          </a:p>
        </p:txBody>
      </p:sp>
      <p:sp>
        <p:nvSpPr>
          <p:cNvPr id="1467" name="Google Shape;1467;p32"/>
          <p:cNvSpPr/>
          <p:nvPr/>
        </p:nvSpPr>
        <p:spPr>
          <a:xfrm>
            <a:off x="6327648" y="4293108"/>
            <a:ext cx="26151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2E8F0"/>
              </a:buClr>
              <a:buSzPts val="800"/>
              <a:buFont typeface="Consolas"/>
              <a:buNone/>
            </a:pPr>
            <a:r>
              <a:rPr b="0" i="0" lang="en" sz="800" u="none" cap="none" strike="noStrike">
                <a:solidFill>
                  <a:srgbClr val="E2E8F0"/>
                </a:solidFill>
                <a:latin typeface="Consolas"/>
                <a:ea typeface="Consolas"/>
                <a:cs typeface="Consolas"/>
                <a:sym typeface="Consolas"/>
              </a:rPr>
              <a:t>return self.fc(x)</a:t>
            </a:r>
            <a:endParaRPr b="0" i="0" sz="800" u="none" cap="none" strike="noStrike">
              <a:solidFill>
                <a:schemeClr val="dk1"/>
              </a:solidFill>
              <a:latin typeface="Calibri"/>
              <a:ea typeface="Calibri"/>
              <a:cs typeface="Calibri"/>
              <a:sym typeface="Calibri"/>
            </a:endParaRPr>
          </a:p>
        </p:txBody>
      </p:sp>
      <p:sp>
        <p:nvSpPr>
          <p:cNvPr id="1468" name="Google Shape;1468;p32"/>
          <p:cNvSpPr/>
          <p:nvPr/>
        </p:nvSpPr>
        <p:spPr>
          <a:xfrm>
            <a:off x="201168" y="576072"/>
            <a:ext cx="5806500" cy="1152000"/>
          </a:xfrm>
          <a:prstGeom prst="rect">
            <a:avLst/>
          </a:prstGeom>
          <a:solidFill>
            <a:srgbClr val="F1F5F9"/>
          </a:solidFill>
          <a:ln cap="flat" cmpd="sng" w="10150">
            <a:solidFill>
              <a:srgbClr val="CBD5E1"/>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9" name="Google Shape;1469;p32"/>
          <p:cNvSpPr/>
          <p:nvPr/>
        </p:nvSpPr>
        <p:spPr>
          <a:xfrm>
            <a:off x="228600" y="576072"/>
            <a:ext cx="5760600" cy="201300"/>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Clr>
                <a:srgbClr val="94A3B8"/>
              </a:buClr>
              <a:buSzPts val="750"/>
              <a:buFont typeface="Consolas"/>
              <a:buNone/>
            </a:pPr>
            <a:r>
              <a:rPr b="0" i="0" lang="en" sz="750" u="none" cap="none" strike="noStrike">
                <a:solidFill>
                  <a:srgbClr val="94A3B8"/>
                </a:solidFill>
                <a:latin typeface="Consolas"/>
                <a:ea typeface="Consolas"/>
                <a:cs typeface="Consolas"/>
                <a:sym typeface="Consolas"/>
              </a:rPr>
              <a:t>Block 1  ·  x = self.pool(self.relu(self.conv1(x)))</a:t>
            </a:r>
            <a:endParaRPr b="0" i="0" sz="750" u="none" cap="none" strike="noStrike">
              <a:solidFill>
                <a:schemeClr val="dk1"/>
              </a:solidFill>
              <a:latin typeface="Calibri"/>
              <a:ea typeface="Calibri"/>
              <a:cs typeface="Calibri"/>
              <a:sym typeface="Calibri"/>
            </a:endParaRPr>
          </a:p>
        </p:txBody>
      </p:sp>
      <p:sp>
        <p:nvSpPr>
          <p:cNvPr id="1470" name="Google Shape;1470;p32"/>
          <p:cNvSpPr/>
          <p:nvPr/>
        </p:nvSpPr>
        <p:spPr>
          <a:xfrm>
            <a:off x="228600" y="777240"/>
            <a:ext cx="1079100" cy="932700"/>
          </a:xfrm>
          <a:prstGeom prst="rect">
            <a:avLst/>
          </a:prstGeom>
          <a:solidFill>
            <a:srgbClr val="E2E8F0"/>
          </a:solidFill>
          <a:ln cap="flat" cmpd="sng" w="19050">
            <a:solidFill>
              <a:srgbClr val="94A3B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1" name="Google Shape;1471;p32"/>
          <p:cNvSpPr/>
          <p:nvPr/>
        </p:nvSpPr>
        <p:spPr>
          <a:xfrm>
            <a:off x="228600" y="868680"/>
            <a:ext cx="1079100" cy="237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334155"/>
              </a:buClr>
              <a:buSzPts val="950"/>
              <a:buFont typeface="Calibri"/>
              <a:buNone/>
            </a:pPr>
            <a:r>
              <a:rPr b="1" i="0" lang="en" sz="950" u="none" cap="none" strike="noStrike">
                <a:solidFill>
                  <a:srgbClr val="334155"/>
                </a:solidFill>
                <a:latin typeface="Calibri"/>
                <a:ea typeface="Calibri"/>
                <a:cs typeface="Calibri"/>
                <a:sym typeface="Calibri"/>
              </a:rPr>
              <a:t>Input</a:t>
            </a:r>
            <a:endParaRPr b="0" i="0" sz="950" u="none" cap="none" strike="noStrike">
              <a:solidFill>
                <a:schemeClr val="dk1"/>
              </a:solidFill>
              <a:latin typeface="Calibri"/>
              <a:ea typeface="Calibri"/>
              <a:cs typeface="Calibri"/>
              <a:sym typeface="Calibri"/>
            </a:endParaRPr>
          </a:p>
        </p:txBody>
      </p:sp>
      <p:sp>
        <p:nvSpPr>
          <p:cNvPr id="1472" name="Google Shape;1472;p32"/>
          <p:cNvSpPr/>
          <p:nvPr/>
        </p:nvSpPr>
        <p:spPr>
          <a:xfrm>
            <a:off x="274320" y="1106424"/>
            <a:ext cx="987600" cy="329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334155"/>
              </a:buClr>
              <a:buSzPts val="800"/>
              <a:buFont typeface="Calibri"/>
              <a:buNone/>
            </a:pPr>
            <a:r>
              <a:rPr b="0" i="0" lang="en" sz="800" u="none" cap="none" strike="noStrike">
                <a:solidFill>
                  <a:srgbClr val="334155"/>
                </a:solidFill>
                <a:latin typeface="Calibri"/>
                <a:ea typeface="Calibri"/>
                <a:cs typeface="Calibri"/>
                <a:sym typeface="Calibri"/>
              </a:rPr>
              <a:t>1 ch · grayscale</a:t>
            </a:r>
            <a:endParaRPr b="0" i="0" sz="800" u="none" cap="none" strike="noStrike">
              <a:solidFill>
                <a:schemeClr val="dk1"/>
              </a:solidFill>
              <a:latin typeface="Calibri"/>
              <a:ea typeface="Calibri"/>
              <a:cs typeface="Calibri"/>
              <a:sym typeface="Calibri"/>
            </a:endParaRPr>
          </a:p>
        </p:txBody>
      </p:sp>
      <p:sp>
        <p:nvSpPr>
          <p:cNvPr id="1473" name="Google Shape;1473;p32"/>
          <p:cNvSpPr/>
          <p:nvPr/>
        </p:nvSpPr>
        <p:spPr>
          <a:xfrm>
            <a:off x="283464" y="1472184"/>
            <a:ext cx="969300" cy="183000"/>
          </a:xfrm>
          <a:prstGeom prst="rect">
            <a:avLst/>
          </a:prstGeom>
          <a:solidFill>
            <a:srgbClr val="94A3B8">
              <a:alpha val="21961"/>
            </a:srgbClr>
          </a:solidFill>
          <a:ln cap="flat" cmpd="sng" w="12700">
            <a:solidFill>
              <a:srgbClr val="94A3B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4" name="Google Shape;1474;p32"/>
          <p:cNvSpPr/>
          <p:nvPr/>
        </p:nvSpPr>
        <p:spPr>
          <a:xfrm>
            <a:off x="283464" y="1472184"/>
            <a:ext cx="9693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334155"/>
              </a:buClr>
              <a:buSzPts val="750"/>
              <a:buFont typeface="Calibri"/>
              <a:buNone/>
            </a:pPr>
            <a:r>
              <a:rPr b="1" i="0" lang="en" sz="750" u="none" cap="none" strike="noStrike">
                <a:solidFill>
                  <a:srgbClr val="334155"/>
                </a:solidFill>
                <a:latin typeface="Calibri"/>
                <a:ea typeface="Calibri"/>
                <a:cs typeface="Calibri"/>
                <a:sym typeface="Calibri"/>
              </a:rPr>
              <a:t>1×28×28</a:t>
            </a:r>
            <a:endParaRPr b="0" i="0" sz="750" u="none" cap="none" strike="noStrike">
              <a:solidFill>
                <a:schemeClr val="dk1"/>
              </a:solidFill>
              <a:latin typeface="Calibri"/>
              <a:ea typeface="Calibri"/>
              <a:cs typeface="Calibri"/>
              <a:sym typeface="Calibri"/>
            </a:endParaRPr>
          </a:p>
        </p:txBody>
      </p:sp>
      <p:cxnSp>
        <p:nvCxnSpPr>
          <p:cNvPr id="1475" name="Google Shape;1475;p32"/>
          <p:cNvCxnSpPr/>
          <p:nvPr/>
        </p:nvCxnSpPr>
        <p:spPr>
          <a:xfrm>
            <a:off x="1325880" y="1243584"/>
            <a:ext cx="146400" cy="0"/>
          </a:xfrm>
          <a:prstGeom prst="straightConnector1">
            <a:avLst/>
          </a:prstGeom>
          <a:noFill/>
          <a:ln cap="flat" cmpd="sng" w="17775">
            <a:solidFill>
              <a:srgbClr val="94A3B8"/>
            </a:solidFill>
            <a:prstDash val="solid"/>
            <a:round/>
            <a:headEnd len="sm" w="sm" type="none"/>
            <a:tailEnd len="med" w="med" type="triangle"/>
          </a:ln>
        </p:spPr>
      </p:cxnSp>
      <p:sp>
        <p:nvSpPr>
          <p:cNvPr id="1476" name="Google Shape;1476;p32"/>
          <p:cNvSpPr/>
          <p:nvPr/>
        </p:nvSpPr>
        <p:spPr>
          <a:xfrm>
            <a:off x="1472184" y="777240"/>
            <a:ext cx="1079100" cy="932700"/>
          </a:xfrm>
          <a:prstGeom prst="rect">
            <a:avLst/>
          </a:prstGeom>
          <a:solidFill>
            <a:srgbClr val="DBEAFE"/>
          </a:solidFill>
          <a:ln cap="flat" cmpd="sng" w="19050">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7" name="Google Shape;1477;p32"/>
          <p:cNvSpPr/>
          <p:nvPr/>
        </p:nvSpPr>
        <p:spPr>
          <a:xfrm>
            <a:off x="1472184" y="868680"/>
            <a:ext cx="1079100" cy="237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4ED8"/>
              </a:buClr>
              <a:buSzPts val="950"/>
              <a:buFont typeface="Calibri"/>
              <a:buNone/>
            </a:pPr>
            <a:r>
              <a:rPr b="1" i="0" lang="en" sz="950" u="none" cap="none" strike="noStrike">
                <a:solidFill>
                  <a:srgbClr val="1D4ED8"/>
                </a:solidFill>
                <a:latin typeface="Calibri"/>
                <a:ea typeface="Calibri"/>
                <a:cs typeface="Calibri"/>
                <a:sym typeface="Calibri"/>
              </a:rPr>
              <a:t>Conv2d</a:t>
            </a:r>
            <a:endParaRPr b="0" i="0" sz="950" u="none" cap="none" strike="noStrike">
              <a:solidFill>
                <a:schemeClr val="dk1"/>
              </a:solidFill>
              <a:latin typeface="Calibri"/>
              <a:ea typeface="Calibri"/>
              <a:cs typeface="Calibri"/>
              <a:sym typeface="Calibri"/>
            </a:endParaRPr>
          </a:p>
        </p:txBody>
      </p:sp>
      <p:sp>
        <p:nvSpPr>
          <p:cNvPr id="1478" name="Google Shape;1478;p32"/>
          <p:cNvSpPr/>
          <p:nvPr/>
        </p:nvSpPr>
        <p:spPr>
          <a:xfrm>
            <a:off x="1517904" y="1106424"/>
            <a:ext cx="987600" cy="329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4ED8"/>
              </a:buClr>
              <a:buSzPts val="800"/>
              <a:buFont typeface="Calibri"/>
              <a:buNone/>
            </a:pPr>
            <a:r>
              <a:rPr b="0" i="0" lang="en" sz="800" u="none" cap="none" strike="noStrike">
                <a:solidFill>
                  <a:srgbClr val="1D4ED8"/>
                </a:solidFill>
                <a:latin typeface="Calibri"/>
                <a:ea typeface="Calibri"/>
                <a:cs typeface="Calibri"/>
                <a:sym typeface="Calibri"/>
              </a:rPr>
              <a:t>1→16 ch</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1D4ED8"/>
              </a:buClr>
              <a:buSzPts val="800"/>
              <a:buFont typeface="Calibri"/>
              <a:buNone/>
            </a:pPr>
            <a:r>
              <a:rPr b="0" i="0" lang="en" sz="800" u="none" cap="none" strike="noStrike">
                <a:solidFill>
                  <a:srgbClr val="1D4ED8"/>
                </a:solidFill>
                <a:latin typeface="Calibri"/>
                <a:ea typeface="Calibri"/>
                <a:cs typeface="Calibri"/>
                <a:sym typeface="Calibri"/>
              </a:rPr>
              <a:t>3×3 pad=1</a:t>
            </a:r>
            <a:endParaRPr b="0" i="0" sz="800" u="none" cap="none" strike="noStrike">
              <a:solidFill>
                <a:schemeClr val="dk1"/>
              </a:solidFill>
              <a:latin typeface="Calibri"/>
              <a:ea typeface="Calibri"/>
              <a:cs typeface="Calibri"/>
              <a:sym typeface="Calibri"/>
            </a:endParaRPr>
          </a:p>
        </p:txBody>
      </p:sp>
      <p:sp>
        <p:nvSpPr>
          <p:cNvPr id="1479" name="Google Shape;1479;p32"/>
          <p:cNvSpPr/>
          <p:nvPr/>
        </p:nvSpPr>
        <p:spPr>
          <a:xfrm>
            <a:off x="1527048" y="1472184"/>
            <a:ext cx="969300" cy="183000"/>
          </a:xfrm>
          <a:prstGeom prst="rect">
            <a:avLst/>
          </a:prstGeom>
          <a:solidFill>
            <a:srgbClr val="3B82F6">
              <a:alpha val="21961"/>
            </a:srgbClr>
          </a:solidFill>
          <a:ln cap="flat" cmpd="sng" w="12700">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0" name="Google Shape;1480;p32"/>
          <p:cNvSpPr/>
          <p:nvPr/>
        </p:nvSpPr>
        <p:spPr>
          <a:xfrm>
            <a:off x="1527048" y="1472184"/>
            <a:ext cx="9693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4ED8"/>
              </a:buClr>
              <a:buSzPts val="750"/>
              <a:buFont typeface="Calibri"/>
              <a:buNone/>
            </a:pPr>
            <a:r>
              <a:rPr b="1" i="0" lang="en" sz="750" u="none" cap="none" strike="noStrike">
                <a:solidFill>
                  <a:srgbClr val="1D4ED8"/>
                </a:solidFill>
                <a:latin typeface="Calibri"/>
                <a:ea typeface="Calibri"/>
                <a:cs typeface="Calibri"/>
                <a:sym typeface="Calibri"/>
              </a:rPr>
              <a:t>16×28×28</a:t>
            </a:r>
            <a:endParaRPr b="0" i="0" sz="750" u="none" cap="none" strike="noStrike">
              <a:solidFill>
                <a:schemeClr val="dk1"/>
              </a:solidFill>
              <a:latin typeface="Calibri"/>
              <a:ea typeface="Calibri"/>
              <a:cs typeface="Calibri"/>
              <a:sym typeface="Calibri"/>
            </a:endParaRPr>
          </a:p>
        </p:txBody>
      </p:sp>
      <p:cxnSp>
        <p:nvCxnSpPr>
          <p:cNvPr id="1481" name="Google Shape;1481;p32"/>
          <p:cNvCxnSpPr/>
          <p:nvPr/>
        </p:nvCxnSpPr>
        <p:spPr>
          <a:xfrm>
            <a:off x="2569464" y="1243584"/>
            <a:ext cx="146400" cy="0"/>
          </a:xfrm>
          <a:prstGeom prst="straightConnector1">
            <a:avLst/>
          </a:prstGeom>
          <a:noFill/>
          <a:ln cap="flat" cmpd="sng" w="17775">
            <a:solidFill>
              <a:srgbClr val="94A3B8"/>
            </a:solidFill>
            <a:prstDash val="solid"/>
            <a:round/>
            <a:headEnd len="sm" w="sm" type="none"/>
            <a:tailEnd len="med" w="med" type="triangle"/>
          </a:ln>
        </p:spPr>
      </p:cxnSp>
      <p:sp>
        <p:nvSpPr>
          <p:cNvPr id="1482" name="Google Shape;1482;p32"/>
          <p:cNvSpPr/>
          <p:nvPr/>
        </p:nvSpPr>
        <p:spPr>
          <a:xfrm>
            <a:off x="2715768" y="777240"/>
            <a:ext cx="1079100" cy="932700"/>
          </a:xfrm>
          <a:prstGeom prst="rect">
            <a:avLst/>
          </a:prstGeom>
          <a:solidFill>
            <a:srgbClr val="CCFBF1"/>
          </a:solidFill>
          <a:ln cap="flat" cmpd="sng" w="19050">
            <a:solidFill>
              <a:srgbClr val="14B8A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3" name="Google Shape;1483;p32"/>
          <p:cNvSpPr/>
          <p:nvPr/>
        </p:nvSpPr>
        <p:spPr>
          <a:xfrm>
            <a:off x="2715768" y="868680"/>
            <a:ext cx="1079100" cy="237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F766E"/>
              </a:buClr>
              <a:buSzPts val="950"/>
              <a:buFont typeface="Calibri"/>
              <a:buNone/>
            </a:pPr>
            <a:r>
              <a:rPr b="1" i="0" lang="en" sz="950" u="none" cap="none" strike="noStrike">
                <a:solidFill>
                  <a:srgbClr val="0F766E"/>
                </a:solidFill>
                <a:latin typeface="Calibri"/>
                <a:ea typeface="Calibri"/>
                <a:cs typeface="Calibri"/>
                <a:sym typeface="Calibri"/>
              </a:rPr>
              <a:t>ReLU</a:t>
            </a:r>
            <a:endParaRPr b="0" i="0" sz="950" u="none" cap="none" strike="noStrike">
              <a:solidFill>
                <a:schemeClr val="dk1"/>
              </a:solidFill>
              <a:latin typeface="Calibri"/>
              <a:ea typeface="Calibri"/>
              <a:cs typeface="Calibri"/>
              <a:sym typeface="Calibri"/>
            </a:endParaRPr>
          </a:p>
        </p:txBody>
      </p:sp>
      <p:sp>
        <p:nvSpPr>
          <p:cNvPr id="1484" name="Google Shape;1484;p32"/>
          <p:cNvSpPr/>
          <p:nvPr/>
        </p:nvSpPr>
        <p:spPr>
          <a:xfrm>
            <a:off x="2761488" y="1106424"/>
            <a:ext cx="987600" cy="329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F766E"/>
              </a:buClr>
              <a:buSzPts val="800"/>
              <a:buFont typeface="Calibri"/>
              <a:buNone/>
            </a:pPr>
            <a:r>
              <a:rPr b="0" i="0" lang="en" sz="800" u="none" cap="none" strike="noStrike">
                <a:solidFill>
                  <a:srgbClr val="0F766E"/>
                </a:solidFill>
                <a:latin typeface="Calibri"/>
                <a:ea typeface="Calibri"/>
                <a:cs typeface="Calibri"/>
                <a:sym typeface="Calibri"/>
              </a:rPr>
              <a:t>non-linear</a:t>
            </a:r>
            <a:endParaRPr b="0" i="0" sz="800" u="none" cap="none" strike="noStrike">
              <a:solidFill>
                <a:schemeClr val="dk1"/>
              </a:solidFill>
              <a:latin typeface="Calibri"/>
              <a:ea typeface="Calibri"/>
              <a:cs typeface="Calibri"/>
              <a:sym typeface="Calibri"/>
            </a:endParaRPr>
          </a:p>
        </p:txBody>
      </p:sp>
      <p:sp>
        <p:nvSpPr>
          <p:cNvPr id="1485" name="Google Shape;1485;p32"/>
          <p:cNvSpPr/>
          <p:nvPr/>
        </p:nvSpPr>
        <p:spPr>
          <a:xfrm>
            <a:off x="2770632" y="1472184"/>
            <a:ext cx="969300" cy="183000"/>
          </a:xfrm>
          <a:prstGeom prst="rect">
            <a:avLst/>
          </a:prstGeom>
          <a:solidFill>
            <a:srgbClr val="14B8A6">
              <a:alpha val="21961"/>
            </a:srgbClr>
          </a:solidFill>
          <a:ln cap="flat" cmpd="sng" w="12700">
            <a:solidFill>
              <a:srgbClr val="14B8A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6" name="Google Shape;1486;p32"/>
          <p:cNvSpPr/>
          <p:nvPr/>
        </p:nvSpPr>
        <p:spPr>
          <a:xfrm>
            <a:off x="2770632" y="1472184"/>
            <a:ext cx="9693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F766E"/>
              </a:buClr>
              <a:buSzPts val="750"/>
              <a:buFont typeface="Calibri"/>
              <a:buNone/>
            </a:pPr>
            <a:r>
              <a:rPr b="1" i="0" lang="en" sz="750" u="none" cap="none" strike="noStrike">
                <a:solidFill>
                  <a:srgbClr val="0F766E"/>
                </a:solidFill>
                <a:latin typeface="Calibri"/>
                <a:ea typeface="Calibri"/>
                <a:cs typeface="Calibri"/>
                <a:sym typeface="Calibri"/>
              </a:rPr>
              <a:t>16×28×28</a:t>
            </a:r>
            <a:endParaRPr b="0" i="0" sz="750" u="none" cap="none" strike="noStrike">
              <a:solidFill>
                <a:schemeClr val="dk1"/>
              </a:solidFill>
              <a:latin typeface="Calibri"/>
              <a:ea typeface="Calibri"/>
              <a:cs typeface="Calibri"/>
              <a:sym typeface="Calibri"/>
            </a:endParaRPr>
          </a:p>
        </p:txBody>
      </p:sp>
      <p:cxnSp>
        <p:nvCxnSpPr>
          <p:cNvPr id="1487" name="Google Shape;1487;p32"/>
          <p:cNvCxnSpPr/>
          <p:nvPr/>
        </p:nvCxnSpPr>
        <p:spPr>
          <a:xfrm>
            <a:off x="3813048" y="1243584"/>
            <a:ext cx="146400" cy="0"/>
          </a:xfrm>
          <a:prstGeom prst="straightConnector1">
            <a:avLst/>
          </a:prstGeom>
          <a:noFill/>
          <a:ln cap="flat" cmpd="sng" w="17775">
            <a:solidFill>
              <a:srgbClr val="94A3B8"/>
            </a:solidFill>
            <a:prstDash val="solid"/>
            <a:round/>
            <a:headEnd len="sm" w="sm" type="none"/>
            <a:tailEnd len="med" w="med" type="triangle"/>
          </a:ln>
        </p:spPr>
      </p:cxnSp>
      <p:sp>
        <p:nvSpPr>
          <p:cNvPr id="1488" name="Google Shape;1488;p32"/>
          <p:cNvSpPr/>
          <p:nvPr/>
        </p:nvSpPr>
        <p:spPr>
          <a:xfrm>
            <a:off x="3959352" y="777240"/>
            <a:ext cx="1079100" cy="932700"/>
          </a:xfrm>
          <a:prstGeom prst="rect">
            <a:avLst/>
          </a:prstGeom>
          <a:solidFill>
            <a:srgbClr val="EDE9FE"/>
          </a:solidFill>
          <a:ln cap="flat" cmpd="sng" w="19050">
            <a:solidFill>
              <a:srgbClr val="8B5CF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9" name="Google Shape;1489;p32"/>
          <p:cNvSpPr/>
          <p:nvPr/>
        </p:nvSpPr>
        <p:spPr>
          <a:xfrm>
            <a:off x="3959352" y="868680"/>
            <a:ext cx="1079100" cy="237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D28D9"/>
              </a:buClr>
              <a:buSzPts val="950"/>
              <a:buFont typeface="Calibri"/>
              <a:buNone/>
            </a:pPr>
            <a:r>
              <a:rPr b="1" i="0" lang="en" sz="950" u="none" cap="none" strike="noStrike">
                <a:solidFill>
                  <a:srgbClr val="6D28D9"/>
                </a:solidFill>
                <a:latin typeface="Calibri"/>
                <a:ea typeface="Calibri"/>
                <a:cs typeface="Calibri"/>
                <a:sym typeface="Calibri"/>
              </a:rPr>
              <a:t>MaxPool2d</a:t>
            </a:r>
            <a:endParaRPr b="0" i="0" sz="950" u="none" cap="none" strike="noStrike">
              <a:solidFill>
                <a:schemeClr val="dk1"/>
              </a:solidFill>
              <a:latin typeface="Calibri"/>
              <a:ea typeface="Calibri"/>
              <a:cs typeface="Calibri"/>
              <a:sym typeface="Calibri"/>
            </a:endParaRPr>
          </a:p>
        </p:txBody>
      </p:sp>
      <p:sp>
        <p:nvSpPr>
          <p:cNvPr id="1490" name="Google Shape;1490;p32"/>
          <p:cNvSpPr/>
          <p:nvPr/>
        </p:nvSpPr>
        <p:spPr>
          <a:xfrm>
            <a:off x="4005072" y="1106424"/>
            <a:ext cx="987600" cy="329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D28D9"/>
              </a:buClr>
              <a:buSzPts val="800"/>
              <a:buFont typeface="Calibri"/>
              <a:buNone/>
            </a:pPr>
            <a:r>
              <a:rPr b="0" i="0" lang="en" sz="800" u="none" cap="none" strike="noStrike">
                <a:solidFill>
                  <a:srgbClr val="6D28D9"/>
                </a:solidFill>
                <a:latin typeface="Calibri"/>
                <a:ea typeface="Calibri"/>
                <a:cs typeface="Calibri"/>
                <a:sym typeface="Calibri"/>
              </a:rPr>
              <a:t>2×2 stride 2</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6D28D9"/>
              </a:buClr>
              <a:buSzPts val="800"/>
              <a:buFont typeface="Calibri"/>
              <a:buNone/>
            </a:pPr>
            <a:r>
              <a:rPr b="0" i="0" lang="en" sz="800" u="none" cap="none" strike="noStrike">
                <a:solidFill>
                  <a:srgbClr val="6D28D9"/>
                </a:solidFill>
                <a:latin typeface="Calibri"/>
                <a:ea typeface="Calibri"/>
                <a:cs typeface="Calibri"/>
                <a:sym typeface="Calibri"/>
              </a:rPr>
              <a:t>28→14</a:t>
            </a:r>
            <a:endParaRPr b="0" i="0" sz="800" u="none" cap="none" strike="noStrike">
              <a:solidFill>
                <a:schemeClr val="dk1"/>
              </a:solidFill>
              <a:latin typeface="Calibri"/>
              <a:ea typeface="Calibri"/>
              <a:cs typeface="Calibri"/>
              <a:sym typeface="Calibri"/>
            </a:endParaRPr>
          </a:p>
        </p:txBody>
      </p:sp>
      <p:sp>
        <p:nvSpPr>
          <p:cNvPr id="1491" name="Google Shape;1491;p32"/>
          <p:cNvSpPr/>
          <p:nvPr/>
        </p:nvSpPr>
        <p:spPr>
          <a:xfrm>
            <a:off x="4014216" y="1472184"/>
            <a:ext cx="969300" cy="183000"/>
          </a:xfrm>
          <a:prstGeom prst="rect">
            <a:avLst/>
          </a:prstGeom>
          <a:solidFill>
            <a:srgbClr val="8B5CF6">
              <a:alpha val="21961"/>
            </a:srgbClr>
          </a:solidFill>
          <a:ln cap="flat" cmpd="sng" w="12700">
            <a:solidFill>
              <a:srgbClr val="8B5CF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2" name="Google Shape;1492;p32"/>
          <p:cNvSpPr/>
          <p:nvPr/>
        </p:nvSpPr>
        <p:spPr>
          <a:xfrm>
            <a:off x="4014216" y="1472184"/>
            <a:ext cx="9693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D28D9"/>
              </a:buClr>
              <a:buSzPts val="750"/>
              <a:buFont typeface="Calibri"/>
              <a:buNone/>
            </a:pPr>
            <a:r>
              <a:rPr b="1" i="0" lang="en" sz="750" u="none" cap="none" strike="noStrike">
                <a:solidFill>
                  <a:srgbClr val="6D28D9"/>
                </a:solidFill>
                <a:latin typeface="Calibri"/>
                <a:ea typeface="Calibri"/>
                <a:cs typeface="Calibri"/>
                <a:sym typeface="Calibri"/>
              </a:rPr>
              <a:t>16×14×14</a:t>
            </a:r>
            <a:endParaRPr b="0" i="0" sz="750" u="none" cap="none" strike="noStrike">
              <a:solidFill>
                <a:schemeClr val="dk1"/>
              </a:solidFill>
              <a:latin typeface="Calibri"/>
              <a:ea typeface="Calibri"/>
              <a:cs typeface="Calibri"/>
              <a:sym typeface="Calibri"/>
            </a:endParaRPr>
          </a:p>
        </p:txBody>
      </p:sp>
      <p:sp>
        <p:nvSpPr>
          <p:cNvPr id="1493" name="Google Shape;1493;p32"/>
          <p:cNvSpPr/>
          <p:nvPr/>
        </p:nvSpPr>
        <p:spPr>
          <a:xfrm>
            <a:off x="201168" y="2075688"/>
            <a:ext cx="5806500" cy="1152000"/>
          </a:xfrm>
          <a:prstGeom prst="rect">
            <a:avLst/>
          </a:prstGeom>
          <a:solidFill>
            <a:srgbClr val="F1F5F9"/>
          </a:solidFill>
          <a:ln cap="flat" cmpd="sng" w="10150">
            <a:solidFill>
              <a:srgbClr val="CBD5E1"/>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4" name="Google Shape;1494;p32"/>
          <p:cNvSpPr/>
          <p:nvPr/>
        </p:nvSpPr>
        <p:spPr>
          <a:xfrm>
            <a:off x="228600" y="2075688"/>
            <a:ext cx="5760600" cy="201300"/>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Clr>
                <a:srgbClr val="94A3B8"/>
              </a:buClr>
              <a:buSzPts val="750"/>
              <a:buFont typeface="Consolas"/>
              <a:buNone/>
            </a:pPr>
            <a:r>
              <a:rPr b="0" i="0" lang="en" sz="750" u="none" cap="none" strike="noStrike">
                <a:solidFill>
                  <a:srgbClr val="94A3B8"/>
                </a:solidFill>
                <a:latin typeface="Consolas"/>
                <a:ea typeface="Consolas"/>
                <a:cs typeface="Consolas"/>
                <a:sym typeface="Consolas"/>
              </a:rPr>
              <a:t>Block 2  ·  x = self.pool(self.relu(self.conv2(x)))</a:t>
            </a:r>
            <a:endParaRPr b="0" i="0" sz="750" u="none" cap="none" strike="noStrike">
              <a:solidFill>
                <a:schemeClr val="dk1"/>
              </a:solidFill>
              <a:latin typeface="Calibri"/>
              <a:ea typeface="Calibri"/>
              <a:cs typeface="Calibri"/>
              <a:sym typeface="Calibri"/>
            </a:endParaRPr>
          </a:p>
        </p:txBody>
      </p:sp>
      <p:cxnSp>
        <p:nvCxnSpPr>
          <p:cNvPr id="1495" name="Google Shape;1495;p32"/>
          <p:cNvCxnSpPr/>
          <p:nvPr/>
        </p:nvCxnSpPr>
        <p:spPr>
          <a:xfrm>
            <a:off x="4498848" y="1892808"/>
            <a:ext cx="0" cy="384000"/>
          </a:xfrm>
          <a:prstGeom prst="straightConnector1">
            <a:avLst/>
          </a:prstGeom>
          <a:noFill/>
          <a:ln cap="flat" cmpd="sng" w="17775">
            <a:solidFill>
              <a:srgbClr val="94A3B8"/>
            </a:solidFill>
            <a:prstDash val="solid"/>
            <a:round/>
            <a:headEnd len="sm" w="sm" type="none"/>
            <a:tailEnd len="med" w="med" type="triangle"/>
          </a:ln>
        </p:spPr>
      </p:cxnSp>
      <p:sp>
        <p:nvSpPr>
          <p:cNvPr id="1496" name="Google Shape;1496;p32"/>
          <p:cNvSpPr/>
          <p:nvPr/>
        </p:nvSpPr>
        <p:spPr>
          <a:xfrm>
            <a:off x="228600" y="2276856"/>
            <a:ext cx="1079100" cy="932700"/>
          </a:xfrm>
          <a:prstGeom prst="rect">
            <a:avLst/>
          </a:prstGeom>
          <a:solidFill>
            <a:srgbClr val="DBEAFE"/>
          </a:solidFill>
          <a:ln cap="flat" cmpd="sng" w="19050">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7" name="Google Shape;1497;p32"/>
          <p:cNvSpPr/>
          <p:nvPr/>
        </p:nvSpPr>
        <p:spPr>
          <a:xfrm>
            <a:off x="228600" y="2368296"/>
            <a:ext cx="1079100" cy="237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4ED8"/>
              </a:buClr>
              <a:buSzPts val="950"/>
              <a:buFont typeface="Calibri"/>
              <a:buNone/>
            </a:pPr>
            <a:r>
              <a:rPr b="1" i="0" lang="en" sz="950" u="none" cap="none" strike="noStrike">
                <a:solidFill>
                  <a:srgbClr val="1D4ED8"/>
                </a:solidFill>
                <a:latin typeface="Calibri"/>
                <a:ea typeface="Calibri"/>
                <a:cs typeface="Calibri"/>
                <a:sym typeface="Calibri"/>
              </a:rPr>
              <a:t>Conv2d</a:t>
            </a:r>
            <a:endParaRPr b="0" i="0" sz="950" u="none" cap="none" strike="noStrike">
              <a:solidFill>
                <a:schemeClr val="dk1"/>
              </a:solidFill>
              <a:latin typeface="Calibri"/>
              <a:ea typeface="Calibri"/>
              <a:cs typeface="Calibri"/>
              <a:sym typeface="Calibri"/>
            </a:endParaRPr>
          </a:p>
        </p:txBody>
      </p:sp>
      <p:sp>
        <p:nvSpPr>
          <p:cNvPr id="1498" name="Google Shape;1498;p32"/>
          <p:cNvSpPr/>
          <p:nvPr/>
        </p:nvSpPr>
        <p:spPr>
          <a:xfrm>
            <a:off x="274320" y="2606040"/>
            <a:ext cx="987600" cy="329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4ED8"/>
              </a:buClr>
              <a:buSzPts val="800"/>
              <a:buFont typeface="Calibri"/>
              <a:buNone/>
            </a:pPr>
            <a:r>
              <a:rPr b="0" i="0" lang="en" sz="800" u="none" cap="none" strike="noStrike">
                <a:solidFill>
                  <a:srgbClr val="1D4ED8"/>
                </a:solidFill>
                <a:latin typeface="Calibri"/>
                <a:ea typeface="Calibri"/>
                <a:cs typeface="Calibri"/>
                <a:sym typeface="Calibri"/>
              </a:rPr>
              <a:t>16→32 ch</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1D4ED8"/>
              </a:buClr>
              <a:buSzPts val="800"/>
              <a:buFont typeface="Calibri"/>
              <a:buNone/>
            </a:pPr>
            <a:r>
              <a:rPr b="0" i="0" lang="en" sz="800" u="none" cap="none" strike="noStrike">
                <a:solidFill>
                  <a:srgbClr val="1D4ED8"/>
                </a:solidFill>
                <a:latin typeface="Calibri"/>
                <a:ea typeface="Calibri"/>
                <a:cs typeface="Calibri"/>
                <a:sym typeface="Calibri"/>
              </a:rPr>
              <a:t>3×3 pad=1</a:t>
            </a:r>
            <a:endParaRPr b="0" i="0" sz="800" u="none" cap="none" strike="noStrike">
              <a:solidFill>
                <a:schemeClr val="dk1"/>
              </a:solidFill>
              <a:latin typeface="Calibri"/>
              <a:ea typeface="Calibri"/>
              <a:cs typeface="Calibri"/>
              <a:sym typeface="Calibri"/>
            </a:endParaRPr>
          </a:p>
        </p:txBody>
      </p:sp>
      <p:sp>
        <p:nvSpPr>
          <p:cNvPr id="1499" name="Google Shape;1499;p32"/>
          <p:cNvSpPr/>
          <p:nvPr/>
        </p:nvSpPr>
        <p:spPr>
          <a:xfrm>
            <a:off x="283464" y="2971800"/>
            <a:ext cx="969300" cy="183000"/>
          </a:xfrm>
          <a:prstGeom prst="rect">
            <a:avLst/>
          </a:prstGeom>
          <a:solidFill>
            <a:srgbClr val="3B82F6">
              <a:alpha val="21961"/>
            </a:srgbClr>
          </a:solidFill>
          <a:ln cap="flat" cmpd="sng" w="12700">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0" name="Google Shape;1500;p32"/>
          <p:cNvSpPr/>
          <p:nvPr/>
        </p:nvSpPr>
        <p:spPr>
          <a:xfrm>
            <a:off x="283464" y="2971800"/>
            <a:ext cx="9693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4ED8"/>
              </a:buClr>
              <a:buSzPts val="750"/>
              <a:buFont typeface="Calibri"/>
              <a:buNone/>
            </a:pPr>
            <a:r>
              <a:rPr b="1" i="0" lang="en" sz="750" u="none" cap="none" strike="noStrike">
                <a:solidFill>
                  <a:srgbClr val="1D4ED8"/>
                </a:solidFill>
                <a:latin typeface="Calibri"/>
                <a:ea typeface="Calibri"/>
                <a:cs typeface="Calibri"/>
                <a:sym typeface="Calibri"/>
              </a:rPr>
              <a:t>32×14×14</a:t>
            </a:r>
            <a:endParaRPr b="0" i="0" sz="750" u="none" cap="none" strike="noStrike">
              <a:solidFill>
                <a:schemeClr val="dk1"/>
              </a:solidFill>
              <a:latin typeface="Calibri"/>
              <a:ea typeface="Calibri"/>
              <a:cs typeface="Calibri"/>
              <a:sym typeface="Calibri"/>
            </a:endParaRPr>
          </a:p>
        </p:txBody>
      </p:sp>
      <p:cxnSp>
        <p:nvCxnSpPr>
          <p:cNvPr id="1501" name="Google Shape;1501;p32"/>
          <p:cNvCxnSpPr/>
          <p:nvPr/>
        </p:nvCxnSpPr>
        <p:spPr>
          <a:xfrm>
            <a:off x="1325880" y="2743200"/>
            <a:ext cx="146400" cy="0"/>
          </a:xfrm>
          <a:prstGeom prst="straightConnector1">
            <a:avLst/>
          </a:prstGeom>
          <a:noFill/>
          <a:ln cap="flat" cmpd="sng" w="17775">
            <a:solidFill>
              <a:srgbClr val="94A3B8"/>
            </a:solidFill>
            <a:prstDash val="solid"/>
            <a:round/>
            <a:headEnd len="sm" w="sm" type="none"/>
            <a:tailEnd len="med" w="med" type="triangle"/>
          </a:ln>
        </p:spPr>
      </p:cxnSp>
      <p:sp>
        <p:nvSpPr>
          <p:cNvPr id="1502" name="Google Shape;1502;p32"/>
          <p:cNvSpPr/>
          <p:nvPr/>
        </p:nvSpPr>
        <p:spPr>
          <a:xfrm>
            <a:off x="1472184" y="2276856"/>
            <a:ext cx="1079100" cy="932700"/>
          </a:xfrm>
          <a:prstGeom prst="rect">
            <a:avLst/>
          </a:prstGeom>
          <a:solidFill>
            <a:srgbClr val="CCFBF1"/>
          </a:solidFill>
          <a:ln cap="flat" cmpd="sng" w="19050">
            <a:solidFill>
              <a:srgbClr val="14B8A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3" name="Google Shape;1503;p32"/>
          <p:cNvSpPr/>
          <p:nvPr/>
        </p:nvSpPr>
        <p:spPr>
          <a:xfrm>
            <a:off x="1472184" y="2368296"/>
            <a:ext cx="1079100" cy="237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F766E"/>
              </a:buClr>
              <a:buSzPts val="950"/>
              <a:buFont typeface="Calibri"/>
              <a:buNone/>
            </a:pPr>
            <a:r>
              <a:rPr b="1" i="0" lang="en" sz="950" u="none" cap="none" strike="noStrike">
                <a:solidFill>
                  <a:srgbClr val="0F766E"/>
                </a:solidFill>
                <a:latin typeface="Calibri"/>
                <a:ea typeface="Calibri"/>
                <a:cs typeface="Calibri"/>
                <a:sym typeface="Calibri"/>
              </a:rPr>
              <a:t>ReLU</a:t>
            </a:r>
            <a:endParaRPr b="0" i="0" sz="950" u="none" cap="none" strike="noStrike">
              <a:solidFill>
                <a:schemeClr val="dk1"/>
              </a:solidFill>
              <a:latin typeface="Calibri"/>
              <a:ea typeface="Calibri"/>
              <a:cs typeface="Calibri"/>
              <a:sym typeface="Calibri"/>
            </a:endParaRPr>
          </a:p>
        </p:txBody>
      </p:sp>
      <p:sp>
        <p:nvSpPr>
          <p:cNvPr id="1504" name="Google Shape;1504;p32"/>
          <p:cNvSpPr/>
          <p:nvPr/>
        </p:nvSpPr>
        <p:spPr>
          <a:xfrm>
            <a:off x="1517904" y="2606040"/>
            <a:ext cx="987600" cy="329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F766E"/>
              </a:buClr>
              <a:buSzPts val="800"/>
              <a:buFont typeface="Calibri"/>
              <a:buNone/>
            </a:pPr>
            <a:r>
              <a:rPr b="0" i="0" lang="en" sz="800" u="none" cap="none" strike="noStrike">
                <a:solidFill>
                  <a:srgbClr val="0F766E"/>
                </a:solidFill>
                <a:latin typeface="Calibri"/>
                <a:ea typeface="Calibri"/>
                <a:cs typeface="Calibri"/>
                <a:sym typeface="Calibri"/>
              </a:rPr>
              <a:t>non-linear</a:t>
            </a:r>
            <a:endParaRPr b="0" i="0" sz="800" u="none" cap="none" strike="noStrike">
              <a:solidFill>
                <a:schemeClr val="dk1"/>
              </a:solidFill>
              <a:latin typeface="Calibri"/>
              <a:ea typeface="Calibri"/>
              <a:cs typeface="Calibri"/>
              <a:sym typeface="Calibri"/>
            </a:endParaRPr>
          </a:p>
        </p:txBody>
      </p:sp>
      <p:sp>
        <p:nvSpPr>
          <p:cNvPr id="1505" name="Google Shape;1505;p32"/>
          <p:cNvSpPr/>
          <p:nvPr/>
        </p:nvSpPr>
        <p:spPr>
          <a:xfrm>
            <a:off x="1527048" y="2971800"/>
            <a:ext cx="969300" cy="183000"/>
          </a:xfrm>
          <a:prstGeom prst="rect">
            <a:avLst/>
          </a:prstGeom>
          <a:solidFill>
            <a:srgbClr val="14B8A6">
              <a:alpha val="21961"/>
            </a:srgbClr>
          </a:solidFill>
          <a:ln cap="flat" cmpd="sng" w="12700">
            <a:solidFill>
              <a:srgbClr val="14B8A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6" name="Google Shape;1506;p32"/>
          <p:cNvSpPr/>
          <p:nvPr/>
        </p:nvSpPr>
        <p:spPr>
          <a:xfrm>
            <a:off x="1527048" y="2971800"/>
            <a:ext cx="9693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F766E"/>
              </a:buClr>
              <a:buSzPts val="750"/>
              <a:buFont typeface="Calibri"/>
              <a:buNone/>
            </a:pPr>
            <a:r>
              <a:rPr b="1" i="0" lang="en" sz="750" u="none" cap="none" strike="noStrike">
                <a:solidFill>
                  <a:srgbClr val="0F766E"/>
                </a:solidFill>
                <a:latin typeface="Calibri"/>
                <a:ea typeface="Calibri"/>
                <a:cs typeface="Calibri"/>
                <a:sym typeface="Calibri"/>
              </a:rPr>
              <a:t>32×14×14</a:t>
            </a:r>
            <a:endParaRPr b="0" i="0" sz="750" u="none" cap="none" strike="noStrike">
              <a:solidFill>
                <a:schemeClr val="dk1"/>
              </a:solidFill>
              <a:latin typeface="Calibri"/>
              <a:ea typeface="Calibri"/>
              <a:cs typeface="Calibri"/>
              <a:sym typeface="Calibri"/>
            </a:endParaRPr>
          </a:p>
        </p:txBody>
      </p:sp>
      <p:cxnSp>
        <p:nvCxnSpPr>
          <p:cNvPr id="1507" name="Google Shape;1507;p32"/>
          <p:cNvCxnSpPr/>
          <p:nvPr/>
        </p:nvCxnSpPr>
        <p:spPr>
          <a:xfrm>
            <a:off x="2569464" y="2743200"/>
            <a:ext cx="146400" cy="0"/>
          </a:xfrm>
          <a:prstGeom prst="straightConnector1">
            <a:avLst/>
          </a:prstGeom>
          <a:noFill/>
          <a:ln cap="flat" cmpd="sng" w="17775">
            <a:solidFill>
              <a:srgbClr val="94A3B8"/>
            </a:solidFill>
            <a:prstDash val="solid"/>
            <a:round/>
            <a:headEnd len="sm" w="sm" type="none"/>
            <a:tailEnd len="med" w="med" type="triangle"/>
          </a:ln>
        </p:spPr>
      </p:cxnSp>
      <p:sp>
        <p:nvSpPr>
          <p:cNvPr id="1508" name="Google Shape;1508;p32"/>
          <p:cNvSpPr/>
          <p:nvPr/>
        </p:nvSpPr>
        <p:spPr>
          <a:xfrm>
            <a:off x="2715768" y="2276856"/>
            <a:ext cx="1079100" cy="932700"/>
          </a:xfrm>
          <a:prstGeom prst="rect">
            <a:avLst/>
          </a:prstGeom>
          <a:solidFill>
            <a:srgbClr val="EDE9FE"/>
          </a:solidFill>
          <a:ln cap="flat" cmpd="sng" w="19050">
            <a:solidFill>
              <a:srgbClr val="8B5CF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9" name="Google Shape;1509;p32"/>
          <p:cNvSpPr/>
          <p:nvPr/>
        </p:nvSpPr>
        <p:spPr>
          <a:xfrm>
            <a:off x="2715768" y="2368296"/>
            <a:ext cx="1079100" cy="237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D28D9"/>
              </a:buClr>
              <a:buSzPts val="950"/>
              <a:buFont typeface="Calibri"/>
              <a:buNone/>
            </a:pPr>
            <a:r>
              <a:rPr b="1" i="0" lang="en" sz="950" u="none" cap="none" strike="noStrike">
                <a:solidFill>
                  <a:srgbClr val="6D28D9"/>
                </a:solidFill>
                <a:latin typeface="Calibri"/>
                <a:ea typeface="Calibri"/>
                <a:cs typeface="Calibri"/>
                <a:sym typeface="Calibri"/>
              </a:rPr>
              <a:t>MaxPool2d</a:t>
            </a:r>
            <a:endParaRPr b="0" i="0" sz="950" u="none" cap="none" strike="noStrike">
              <a:solidFill>
                <a:schemeClr val="dk1"/>
              </a:solidFill>
              <a:latin typeface="Calibri"/>
              <a:ea typeface="Calibri"/>
              <a:cs typeface="Calibri"/>
              <a:sym typeface="Calibri"/>
            </a:endParaRPr>
          </a:p>
        </p:txBody>
      </p:sp>
      <p:sp>
        <p:nvSpPr>
          <p:cNvPr id="1510" name="Google Shape;1510;p32"/>
          <p:cNvSpPr/>
          <p:nvPr/>
        </p:nvSpPr>
        <p:spPr>
          <a:xfrm>
            <a:off x="2761488" y="2606040"/>
            <a:ext cx="987600" cy="329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D28D9"/>
              </a:buClr>
              <a:buSzPts val="800"/>
              <a:buFont typeface="Calibri"/>
              <a:buNone/>
            </a:pPr>
            <a:r>
              <a:rPr b="0" i="0" lang="en" sz="800" u="none" cap="none" strike="noStrike">
                <a:solidFill>
                  <a:srgbClr val="6D28D9"/>
                </a:solidFill>
                <a:latin typeface="Calibri"/>
                <a:ea typeface="Calibri"/>
                <a:cs typeface="Calibri"/>
                <a:sym typeface="Calibri"/>
              </a:rPr>
              <a:t>2×2 stride 2</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6D28D9"/>
              </a:buClr>
              <a:buSzPts val="800"/>
              <a:buFont typeface="Calibri"/>
              <a:buNone/>
            </a:pPr>
            <a:r>
              <a:rPr b="0" i="0" lang="en" sz="800" u="none" cap="none" strike="noStrike">
                <a:solidFill>
                  <a:srgbClr val="6D28D9"/>
                </a:solidFill>
                <a:latin typeface="Calibri"/>
                <a:ea typeface="Calibri"/>
                <a:cs typeface="Calibri"/>
                <a:sym typeface="Calibri"/>
              </a:rPr>
              <a:t>14→7</a:t>
            </a:r>
            <a:endParaRPr b="0" i="0" sz="800" u="none" cap="none" strike="noStrike">
              <a:solidFill>
                <a:schemeClr val="dk1"/>
              </a:solidFill>
              <a:latin typeface="Calibri"/>
              <a:ea typeface="Calibri"/>
              <a:cs typeface="Calibri"/>
              <a:sym typeface="Calibri"/>
            </a:endParaRPr>
          </a:p>
        </p:txBody>
      </p:sp>
      <p:sp>
        <p:nvSpPr>
          <p:cNvPr id="1511" name="Google Shape;1511;p32"/>
          <p:cNvSpPr/>
          <p:nvPr/>
        </p:nvSpPr>
        <p:spPr>
          <a:xfrm>
            <a:off x="2770632" y="2971800"/>
            <a:ext cx="969300" cy="183000"/>
          </a:xfrm>
          <a:prstGeom prst="rect">
            <a:avLst/>
          </a:prstGeom>
          <a:solidFill>
            <a:srgbClr val="8B5CF6">
              <a:alpha val="21961"/>
            </a:srgbClr>
          </a:solidFill>
          <a:ln cap="flat" cmpd="sng" w="12700">
            <a:solidFill>
              <a:srgbClr val="8B5CF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2" name="Google Shape;1512;p32"/>
          <p:cNvSpPr/>
          <p:nvPr/>
        </p:nvSpPr>
        <p:spPr>
          <a:xfrm>
            <a:off x="2770632" y="2971800"/>
            <a:ext cx="9693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D28D9"/>
              </a:buClr>
              <a:buSzPts val="750"/>
              <a:buFont typeface="Calibri"/>
              <a:buNone/>
            </a:pPr>
            <a:r>
              <a:rPr b="1" i="0" lang="en" sz="750" u="none" cap="none" strike="noStrike">
                <a:solidFill>
                  <a:srgbClr val="6D28D9"/>
                </a:solidFill>
                <a:latin typeface="Calibri"/>
                <a:ea typeface="Calibri"/>
                <a:cs typeface="Calibri"/>
                <a:sym typeface="Calibri"/>
              </a:rPr>
              <a:t>32×7×7</a:t>
            </a:r>
            <a:endParaRPr b="0" i="0" sz="750" u="none" cap="none" strike="noStrike">
              <a:solidFill>
                <a:schemeClr val="dk1"/>
              </a:solidFill>
              <a:latin typeface="Calibri"/>
              <a:ea typeface="Calibri"/>
              <a:cs typeface="Calibri"/>
              <a:sym typeface="Calibri"/>
            </a:endParaRPr>
          </a:p>
        </p:txBody>
      </p:sp>
      <p:cxnSp>
        <p:nvCxnSpPr>
          <p:cNvPr id="1513" name="Google Shape;1513;p32"/>
          <p:cNvCxnSpPr/>
          <p:nvPr/>
        </p:nvCxnSpPr>
        <p:spPr>
          <a:xfrm>
            <a:off x="3813048" y="2743200"/>
            <a:ext cx="146400" cy="0"/>
          </a:xfrm>
          <a:prstGeom prst="straightConnector1">
            <a:avLst/>
          </a:prstGeom>
          <a:noFill/>
          <a:ln cap="flat" cmpd="sng" w="17775">
            <a:solidFill>
              <a:srgbClr val="94A3B8"/>
            </a:solidFill>
            <a:prstDash val="solid"/>
            <a:round/>
            <a:headEnd len="sm" w="sm" type="none"/>
            <a:tailEnd len="med" w="med" type="triangle"/>
          </a:ln>
        </p:spPr>
      </p:cxnSp>
      <p:sp>
        <p:nvSpPr>
          <p:cNvPr id="1514" name="Google Shape;1514;p32"/>
          <p:cNvSpPr/>
          <p:nvPr/>
        </p:nvSpPr>
        <p:spPr>
          <a:xfrm>
            <a:off x="3959352" y="2276856"/>
            <a:ext cx="1079100" cy="932700"/>
          </a:xfrm>
          <a:prstGeom prst="rect">
            <a:avLst/>
          </a:prstGeom>
          <a:solidFill>
            <a:srgbClr val="FEF3C7"/>
          </a:solidFill>
          <a:ln cap="flat" cmpd="sng" w="1905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5" name="Google Shape;1515;p32"/>
          <p:cNvSpPr/>
          <p:nvPr/>
        </p:nvSpPr>
        <p:spPr>
          <a:xfrm>
            <a:off x="3959352" y="2368296"/>
            <a:ext cx="1079100" cy="237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2400E"/>
              </a:buClr>
              <a:buSzPts val="950"/>
              <a:buFont typeface="Calibri"/>
              <a:buNone/>
            </a:pPr>
            <a:r>
              <a:rPr b="1" i="0" lang="en" sz="950" u="none" cap="none" strike="noStrike">
                <a:solidFill>
                  <a:srgbClr val="92400E"/>
                </a:solidFill>
                <a:latin typeface="Calibri"/>
                <a:ea typeface="Calibri"/>
                <a:cs typeface="Calibri"/>
                <a:sym typeface="Calibri"/>
              </a:rPr>
              <a:t>Flatten</a:t>
            </a:r>
            <a:endParaRPr b="0" i="0" sz="950" u="none" cap="none" strike="noStrike">
              <a:solidFill>
                <a:schemeClr val="dk1"/>
              </a:solidFill>
              <a:latin typeface="Calibri"/>
              <a:ea typeface="Calibri"/>
              <a:cs typeface="Calibri"/>
              <a:sym typeface="Calibri"/>
            </a:endParaRPr>
          </a:p>
        </p:txBody>
      </p:sp>
      <p:sp>
        <p:nvSpPr>
          <p:cNvPr id="1516" name="Google Shape;1516;p32"/>
          <p:cNvSpPr/>
          <p:nvPr/>
        </p:nvSpPr>
        <p:spPr>
          <a:xfrm>
            <a:off x="4005072" y="2606040"/>
            <a:ext cx="987600" cy="329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2400E"/>
              </a:buClr>
              <a:buSzPts val="800"/>
              <a:buFont typeface="Calibri"/>
              <a:buNone/>
            </a:pPr>
            <a:r>
              <a:rPr b="0" i="0" lang="en" sz="800" u="none" cap="none" strike="noStrike">
                <a:solidFill>
                  <a:srgbClr val="92400E"/>
                </a:solidFill>
                <a:latin typeface="Calibri"/>
                <a:ea typeface="Calibri"/>
                <a:cs typeface="Calibri"/>
                <a:sym typeface="Calibri"/>
              </a:rPr>
              <a:t>x.view(-1)</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92400E"/>
              </a:buClr>
              <a:buSzPts val="800"/>
              <a:buFont typeface="Calibri"/>
              <a:buNone/>
            </a:pPr>
            <a:r>
              <a:rPr b="0" i="0" lang="en" sz="800" u="none" cap="none" strike="noStrike">
                <a:solidFill>
                  <a:srgbClr val="92400E"/>
                </a:solidFill>
                <a:latin typeface="Calibri"/>
                <a:ea typeface="Calibri"/>
                <a:cs typeface="Calibri"/>
                <a:sym typeface="Calibri"/>
              </a:rPr>
              <a:t>32×7×7=1568</a:t>
            </a:r>
            <a:endParaRPr b="0" i="0" sz="800" u="none" cap="none" strike="noStrike">
              <a:solidFill>
                <a:schemeClr val="dk1"/>
              </a:solidFill>
              <a:latin typeface="Calibri"/>
              <a:ea typeface="Calibri"/>
              <a:cs typeface="Calibri"/>
              <a:sym typeface="Calibri"/>
            </a:endParaRPr>
          </a:p>
        </p:txBody>
      </p:sp>
      <p:sp>
        <p:nvSpPr>
          <p:cNvPr id="1517" name="Google Shape;1517;p32"/>
          <p:cNvSpPr/>
          <p:nvPr/>
        </p:nvSpPr>
        <p:spPr>
          <a:xfrm>
            <a:off x="4014216" y="2971800"/>
            <a:ext cx="969300" cy="183000"/>
          </a:xfrm>
          <a:prstGeom prst="rect">
            <a:avLst/>
          </a:prstGeom>
          <a:solidFill>
            <a:srgbClr val="F59E0B">
              <a:alpha val="21961"/>
            </a:srgbClr>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8" name="Google Shape;1518;p32"/>
          <p:cNvSpPr/>
          <p:nvPr/>
        </p:nvSpPr>
        <p:spPr>
          <a:xfrm>
            <a:off x="4014216" y="2971800"/>
            <a:ext cx="9693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2400E"/>
              </a:buClr>
              <a:buSzPts val="750"/>
              <a:buFont typeface="Calibri"/>
              <a:buNone/>
            </a:pPr>
            <a:r>
              <a:rPr b="1" i="0" lang="en" sz="750" u="none" cap="none" strike="noStrike">
                <a:solidFill>
                  <a:srgbClr val="92400E"/>
                </a:solidFill>
                <a:latin typeface="Calibri"/>
                <a:ea typeface="Calibri"/>
                <a:cs typeface="Calibri"/>
                <a:sym typeface="Calibri"/>
              </a:rPr>
              <a:t>1568</a:t>
            </a:r>
            <a:endParaRPr b="0" i="0" sz="750" u="none" cap="none" strike="noStrike">
              <a:solidFill>
                <a:schemeClr val="dk1"/>
              </a:solidFill>
              <a:latin typeface="Calibri"/>
              <a:ea typeface="Calibri"/>
              <a:cs typeface="Calibri"/>
              <a:sym typeface="Calibri"/>
            </a:endParaRPr>
          </a:p>
        </p:txBody>
      </p:sp>
      <p:cxnSp>
        <p:nvCxnSpPr>
          <p:cNvPr id="1519" name="Google Shape;1519;p32"/>
          <p:cNvCxnSpPr/>
          <p:nvPr/>
        </p:nvCxnSpPr>
        <p:spPr>
          <a:xfrm>
            <a:off x="4498848" y="3392424"/>
            <a:ext cx="0" cy="292500"/>
          </a:xfrm>
          <a:prstGeom prst="straightConnector1">
            <a:avLst/>
          </a:prstGeom>
          <a:noFill/>
          <a:ln cap="flat" cmpd="sng" w="17775">
            <a:solidFill>
              <a:srgbClr val="94A3B8"/>
            </a:solidFill>
            <a:prstDash val="solid"/>
            <a:round/>
            <a:headEnd len="sm" w="sm" type="none"/>
            <a:tailEnd len="med" w="med" type="triangle"/>
          </a:ln>
        </p:spPr>
      </p:cxnSp>
      <p:sp>
        <p:nvSpPr>
          <p:cNvPr id="1520" name="Google Shape;1520;p32"/>
          <p:cNvSpPr/>
          <p:nvPr/>
        </p:nvSpPr>
        <p:spPr>
          <a:xfrm>
            <a:off x="3767328" y="3685032"/>
            <a:ext cx="1463100" cy="822900"/>
          </a:xfrm>
          <a:prstGeom prst="rect">
            <a:avLst/>
          </a:prstGeom>
          <a:solidFill>
            <a:srgbClr val="FFE4E6"/>
          </a:solidFill>
          <a:ln cap="flat" cmpd="sng" w="19050">
            <a:solidFill>
              <a:srgbClr val="F43F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1" name="Google Shape;1521;p32"/>
          <p:cNvSpPr/>
          <p:nvPr/>
        </p:nvSpPr>
        <p:spPr>
          <a:xfrm>
            <a:off x="3767328" y="3776472"/>
            <a:ext cx="1463100" cy="237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F1239"/>
              </a:buClr>
              <a:buSzPts val="950"/>
              <a:buFont typeface="Calibri"/>
              <a:buNone/>
            </a:pPr>
            <a:r>
              <a:rPr b="1" i="0" lang="en" sz="950" u="none" cap="none" strike="noStrike">
                <a:solidFill>
                  <a:srgbClr val="9F1239"/>
                </a:solidFill>
                <a:latin typeface="Calibri"/>
                <a:ea typeface="Calibri"/>
                <a:cs typeface="Calibri"/>
                <a:sym typeface="Calibri"/>
              </a:rPr>
              <a:t>Linear (FC)</a:t>
            </a:r>
            <a:endParaRPr b="0" i="0" sz="950" u="none" cap="none" strike="noStrike">
              <a:solidFill>
                <a:schemeClr val="dk1"/>
              </a:solidFill>
              <a:latin typeface="Calibri"/>
              <a:ea typeface="Calibri"/>
              <a:cs typeface="Calibri"/>
              <a:sym typeface="Calibri"/>
            </a:endParaRPr>
          </a:p>
        </p:txBody>
      </p:sp>
      <p:sp>
        <p:nvSpPr>
          <p:cNvPr id="1522" name="Google Shape;1522;p32"/>
          <p:cNvSpPr/>
          <p:nvPr/>
        </p:nvSpPr>
        <p:spPr>
          <a:xfrm>
            <a:off x="3813048" y="4014216"/>
            <a:ext cx="1371600" cy="329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F1239"/>
              </a:buClr>
              <a:buSzPts val="800"/>
              <a:buFont typeface="Calibri"/>
              <a:buNone/>
            </a:pPr>
            <a:r>
              <a:rPr b="0" i="0" lang="en" sz="800" u="none" cap="none" strike="noStrike">
                <a:solidFill>
                  <a:srgbClr val="9F1239"/>
                </a:solidFill>
                <a:latin typeface="Calibri"/>
                <a:ea typeface="Calibri"/>
                <a:cs typeface="Calibri"/>
                <a:sym typeface="Calibri"/>
              </a:rPr>
              <a:t>self.fc(x)  ·  1568→10</a:t>
            </a:r>
            <a:endParaRPr b="0" i="0" sz="800" u="none" cap="none" strike="noStrike">
              <a:solidFill>
                <a:schemeClr val="dk1"/>
              </a:solidFill>
              <a:latin typeface="Calibri"/>
              <a:ea typeface="Calibri"/>
              <a:cs typeface="Calibri"/>
              <a:sym typeface="Calibri"/>
            </a:endParaRPr>
          </a:p>
        </p:txBody>
      </p:sp>
      <p:sp>
        <p:nvSpPr>
          <p:cNvPr id="1523" name="Google Shape;1523;p32"/>
          <p:cNvSpPr/>
          <p:nvPr/>
        </p:nvSpPr>
        <p:spPr>
          <a:xfrm>
            <a:off x="3822192" y="4270248"/>
            <a:ext cx="1353300" cy="183000"/>
          </a:xfrm>
          <a:prstGeom prst="rect">
            <a:avLst/>
          </a:prstGeom>
          <a:solidFill>
            <a:srgbClr val="F43F5E">
              <a:alpha val="21961"/>
            </a:srgbClr>
          </a:solidFill>
          <a:ln cap="flat" cmpd="sng" w="12700">
            <a:solidFill>
              <a:srgbClr val="F43F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4" name="Google Shape;1524;p32"/>
          <p:cNvSpPr/>
          <p:nvPr/>
        </p:nvSpPr>
        <p:spPr>
          <a:xfrm>
            <a:off x="3822192" y="4270248"/>
            <a:ext cx="13533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F1239"/>
              </a:buClr>
              <a:buSzPts val="750"/>
              <a:buFont typeface="Calibri"/>
              <a:buNone/>
            </a:pPr>
            <a:r>
              <a:rPr b="1" i="0" lang="en" sz="750" u="none" cap="none" strike="noStrike">
                <a:solidFill>
                  <a:srgbClr val="9F1239"/>
                </a:solidFill>
                <a:latin typeface="Calibri"/>
                <a:ea typeface="Calibri"/>
                <a:cs typeface="Calibri"/>
                <a:sym typeface="Calibri"/>
              </a:rPr>
              <a:t>10 logits</a:t>
            </a:r>
            <a:endParaRPr b="0" i="0" sz="750" u="none" cap="none" strike="noStrike">
              <a:solidFill>
                <a:schemeClr val="dk1"/>
              </a:solidFill>
              <a:latin typeface="Calibri"/>
              <a:ea typeface="Calibri"/>
              <a:cs typeface="Calibri"/>
              <a:sym typeface="Calibri"/>
            </a:endParaRPr>
          </a:p>
        </p:txBody>
      </p:sp>
      <p:cxnSp>
        <p:nvCxnSpPr>
          <p:cNvPr id="1525" name="Google Shape;1525;p32"/>
          <p:cNvCxnSpPr/>
          <p:nvPr/>
        </p:nvCxnSpPr>
        <p:spPr>
          <a:xfrm>
            <a:off x="5276088" y="4096512"/>
            <a:ext cx="457200" cy="0"/>
          </a:xfrm>
          <a:prstGeom prst="straightConnector1">
            <a:avLst/>
          </a:prstGeom>
          <a:noFill/>
          <a:ln cap="flat" cmpd="sng" w="17775">
            <a:solidFill>
              <a:srgbClr val="94A3B8"/>
            </a:solidFill>
            <a:prstDash val="solid"/>
            <a:round/>
            <a:headEnd len="sm" w="sm" type="none"/>
            <a:tailEnd len="med" w="med" type="triangle"/>
          </a:ln>
        </p:spPr>
      </p:cxnSp>
      <p:sp>
        <p:nvSpPr>
          <p:cNvPr id="1526" name="Google Shape;1526;p32"/>
          <p:cNvSpPr/>
          <p:nvPr/>
        </p:nvSpPr>
        <p:spPr>
          <a:xfrm>
            <a:off x="274320" y="4846320"/>
            <a:ext cx="137100" cy="137100"/>
          </a:xfrm>
          <a:prstGeom prst="rect">
            <a:avLst/>
          </a:prstGeom>
          <a:solidFill>
            <a:srgbClr val="DBEAFE"/>
          </a:solidFill>
          <a:ln cap="flat" cmpd="sng" w="12700">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7" name="Google Shape;1527;p32"/>
          <p:cNvSpPr/>
          <p:nvPr/>
        </p:nvSpPr>
        <p:spPr>
          <a:xfrm>
            <a:off x="457200" y="4846320"/>
            <a:ext cx="731400" cy="13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75569"/>
              </a:buClr>
              <a:buSzPts val="800"/>
              <a:buFont typeface="Calibri"/>
              <a:buNone/>
            </a:pPr>
            <a:r>
              <a:rPr b="0" i="0" lang="en" sz="800" u="none" cap="none" strike="noStrike">
                <a:solidFill>
                  <a:srgbClr val="475569"/>
                </a:solidFill>
                <a:latin typeface="Calibri"/>
                <a:ea typeface="Calibri"/>
                <a:cs typeface="Calibri"/>
                <a:sym typeface="Calibri"/>
              </a:rPr>
              <a:t>Conv</a:t>
            </a:r>
            <a:endParaRPr b="0" i="0" sz="800" u="none" cap="none" strike="noStrike">
              <a:solidFill>
                <a:schemeClr val="dk1"/>
              </a:solidFill>
              <a:latin typeface="Calibri"/>
              <a:ea typeface="Calibri"/>
              <a:cs typeface="Calibri"/>
              <a:sym typeface="Calibri"/>
            </a:endParaRPr>
          </a:p>
        </p:txBody>
      </p:sp>
      <p:sp>
        <p:nvSpPr>
          <p:cNvPr id="1528" name="Google Shape;1528;p32"/>
          <p:cNvSpPr/>
          <p:nvPr/>
        </p:nvSpPr>
        <p:spPr>
          <a:xfrm>
            <a:off x="1234440" y="4846320"/>
            <a:ext cx="137100" cy="137100"/>
          </a:xfrm>
          <a:prstGeom prst="rect">
            <a:avLst/>
          </a:prstGeom>
          <a:solidFill>
            <a:srgbClr val="CCFBF1"/>
          </a:solidFill>
          <a:ln cap="flat" cmpd="sng" w="12700">
            <a:solidFill>
              <a:srgbClr val="14B8A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9" name="Google Shape;1529;p32"/>
          <p:cNvSpPr/>
          <p:nvPr/>
        </p:nvSpPr>
        <p:spPr>
          <a:xfrm>
            <a:off x="1417320" y="4846320"/>
            <a:ext cx="731400" cy="13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75569"/>
              </a:buClr>
              <a:buSzPts val="800"/>
              <a:buFont typeface="Calibri"/>
              <a:buNone/>
            </a:pPr>
            <a:r>
              <a:rPr b="0" i="0" lang="en" sz="800" u="none" cap="none" strike="noStrike">
                <a:solidFill>
                  <a:srgbClr val="475569"/>
                </a:solidFill>
                <a:latin typeface="Calibri"/>
                <a:ea typeface="Calibri"/>
                <a:cs typeface="Calibri"/>
                <a:sym typeface="Calibri"/>
              </a:rPr>
              <a:t>ReLU</a:t>
            </a:r>
            <a:endParaRPr b="0" i="0" sz="800" u="none" cap="none" strike="noStrike">
              <a:solidFill>
                <a:schemeClr val="dk1"/>
              </a:solidFill>
              <a:latin typeface="Calibri"/>
              <a:ea typeface="Calibri"/>
              <a:cs typeface="Calibri"/>
              <a:sym typeface="Calibri"/>
            </a:endParaRPr>
          </a:p>
        </p:txBody>
      </p:sp>
      <p:sp>
        <p:nvSpPr>
          <p:cNvPr id="1530" name="Google Shape;1530;p32"/>
          <p:cNvSpPr/>
          <p:nvPr/>
        </p:nvSpPr>
        <p:spPr>
          <a:xfrm>
            <a:off x="2194560" y="4846320"/>
            <a:ext cx="137100" cy="137100"/>
          </a:xfrm>
          <a:prstGeom prst="rect">
            <a:avLst/>
          </a:prstGeom>
          <a:solidFill>
            <a:srgbClr val="EDE9FE"/>
          </a:solidFill>
          <a:ln cap="flat" cmpd="sng" w="12700">
            <a:solidFill>
              <a:srgbClr val="8B5CF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1" name="Google Shape;1531;p32"/>
          <p:cNvSpPr/>
          <p:nvPr/>
        </p:nvSpPr>
        <p:spPr>
          <a:xfrm>
            <a:off x="2377440" y="4846320"/>
            <a:ext cx="731400" cy="13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75569"/>
              </a:buClr>
              <a:buSzPts val="800"/>
              <a:buFont typeface="Calibri"/>
              <a:buNone/>
            </a:pPr>
            <a:r>
              <a:rPr b="0" i="0" lang="en" sz="800" u="none" cap="none" strike="noStrike">
                <a:solidFill>
                  <a:srgbClr val="475569"/>
                </a:solidFill>
                <a:latin typeface="Calibri"/>
                <a:ea typeface="Calibri"/>
                <a:cs typeface="Calibri"/>
                <a:sym typeface="Calibri"/>
              </a:rPr>
              <a:t>Pool</a:t>
            </a:r>
            <a:endParaRPr b="0" i="0" sz="800" u="none" cap="none" strike="noStrike">
              <a:solidFill>
                <a:schemeClr val="dk1"/>
              </a:solidFill>
              <a:latin typeface="Calibri"/>
              <a:ea typeface="Calibri"/>
              <a:cs typeface="Calibri"/>
              <a:sym typeface="Calibri"/>
            </a:endParaRPr>
          </a:p>
        </p:txBody>
      </p:sp>
      <p:sp>
        <p:nvSpPr>
          <p:cNvPr id="1532" name="Google Shape;1532;p32"/>
          <p:cNvSpPr/>
          <p:nvPr/>
        </p:nvSpPr>
        <p:spPr>
          <a:xfrm>
            <a:off x="3154680" y="4846320"/>
            <a:ext cx="137100" cy="137100"/>
          </a:xfrm>
          <a:prstGeom prst="rect">
            <a:avLst/>
          </a:prstGeom>
          <a:solidFill>
            <a:srgbClr val="FEF3C7"/>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3" name="Google Shape;1533;p32"/>
          <p:cNvSpPr/>
          <p:nvPr/>
        </p:nvSpPr>
        <p:spPr>
          <a:xfrm>
            <a:off x="3337560" y="4846320"/>
            <a:ext cx="731400" cy="13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75569"/>
              </a:buClr>
              <a:buSzPts val="800"/>
              <a:buFont typeface="Calibri"/>
              <a:buNone/>
            </a:pPr>
            <a:r>
              <a:rPr b="0" i="0" lang="en" sz="800" u="none" cap="none" strike="noStrike">
                <a:solidFill>
                  <a:srgbClr val="475569"/>
                </a:solidFill>
                <a:latin typeface="Calibri"/>
                <a:ea typeface="Calibri"/>
                <a:cs typeface="Calibri"/>
                <a:sym typeface="Calibri"/>
              </a:rPr>
              <a:t>Flatten</a:t>
            </a:r>
            <a:endParaRPr b="0" i="0" sz="800" u="none" cap="none" strike="noStrike">
              <a:solidFill>
                <a:schemeClr val="dk1"/>
              </a:solidFill>
              <a:latin typeface="Calibri"/>
              <a:ea typeface="Calibri"/>
              <a:cs typeface="Calibri"/>
              <a:sym typeface="Calibri"/>
            </a:endParaRPr>
          </a:p>
        </p:txBody>
      </p:sp>
      <p:sp>
        <p:nvSpPr>
          <p:cNvPr id="1534" name="Google Shape;1534;p32"/>
          <p:cNvSpPr/>
          <p:nvPr/>
        </p:nvSpPr>
        <p:spPr>
          <a:xfrm>
            <a:off x="4114800" y="4846320"/>
            <a:ext cx="137100" cy="137100"/>
          </a:xfrm>
          <a:prstGeom prst="rect">
            <a:avLst/>
          </a:prstGeom>
          <a:solidFill>
            <a:srgbClr val="FFE4E6"/>
          </a:solidFill>
          <a:ln cap="flat" cmpd="sng" w="12700">
            <a:solidFill>
              <a:srgbClr val="F43F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5" name="Google Shape;1535;p32"/>
          <p:cNvSpPr/>
          <p:nvPr/>
        </p:nvSpPr>
        <p:spPr>
          <a:xfrm>
            <a:off x="4297680" y="4846320"/>
            <a:ext cx="731400" cy="13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75569"/>
              </a:buClr>
              <a:buSzPts val="800"/>
              <a:buFont typeface="Calibri"/>
              <a:buNone/>
            </a:pPr>
            <a:r>
              <a:rPr b="0" i="0" lang="en" sz="800" u="none" cap="none" strike="noStrike">
                <a:solidFill>
                  <a:srgbClr val="475569"/>
                </a:solidFill>
                <a:latin typeface="Calibri"/>
                <a:ea typeface="Calibri"/>
                <a:cs typeface="Calibri"/>
                <a:sym typeface="Calibri"/>
              </a:rPr>
              <a:t>FC</a:t>
            </a:r>
            <a:endParaRPr b="0" i="0" sz="800" u="none" cap="none" strike="noStrike">
              <a:solidFill>
                <a:schemeClr val="dk1"/>
              </a:solidFill>
              <a:latin typeface="Calibri"/>
              <a:ea typeface="Calibri"/>
              <a:cs typeface="Calibri"/>
              <a:sym typeface="Calibri"/>
            </a:endParaRPr>
          </a:p>
        </p:txBody>
      </p:sp>
      <p:sp>
        <p:nvSpPr>
          <p:cNvPr id="1536" name="Google Shape;1536;p32"/>
          <p:cNvSpPr/>
          <p:nvPr/>
        </p:nvSpPr>
        <p:spPr>
          <a:xfrm>
            <a:off x="5074920" y="4846320"/>
            <a:ext cx="137100" cy="137100"/>
          </a:xfrm>
          <a:prstGeom prst="rect">
            <a:avLst/>
          </a:prstGeom>
          <a:solidFill>
            <a:srgbClr val="DCFCE7"/>
          </a:solidFill>
          <a:ln cap="flat" cmpd="sng" w="12700">
            <a:solidFill>
              <a:srgbClr val="22C5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7" name="Google Shape;1537;p32"/>
          <p:cNvSpPr/>
          <p:nvPr/>
        </p:nvSpPr>
        <p:spPr>
          <a:xfrm>
            <a:off x="5257800" y="4846320"/>
            <a:ext cx="731400" cy="13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75569"/>
              </a:buClr>
              <a:buSzPts val="800"/>
              <a:buFont typeface="Calibri"/>
              <a:buNone/>
            </a:pPr>
            <a:r>
              <a:rPr b="0" i="0" lang="en" sz="800" u="none" cap="none" strike="noStrike">
                <a:solidFill>
                  <a:srgbClr val="475569"/>
                </a:solidFill>
                <a:latin typeface="Calibri"/>
                <a:ea typeface="Calibri"/>
                <a:cs typeface="Calibri"/>
                <a:sym typeface="Calibri"/>
              </a:rPr>
              <a:t>Output</a:t>
            </a:r>
            <a:endParaRPr b="0" i="0" sz="800" u="none" cap="none" strike="noStrike">
              <a:solidFill>
                <a:schemeClr val="dk1"/>
              </a:solidFill>
              <a:latin typeface="Calibri"/>
              <a:ea typeface="Calibri"/>
              <a:cs typeface="Calibri"/>
              <a:sym typeface="Calibri"/>
            </a:endParaRPr>
          </a:p>
        </p:txBody>
      </p:sp>
      <p:sp>
        <p:nvSpPr>
          <p:cNvPr id="1538" name="Google Shape;1538;p32"/>
          <p:cNvSpPr/>
          <p:nvPr/>
        </p:nvSpPr>
        <p:spPr>
          <a:xfrm>
            <a:off x="5029200" y="4828032"/>
            <a:ext cx="3840600" cy="164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4A3B8"/>
              </a:buClr>
              <a:buSzPts val="800"/>
              <a:buFont typeface="Calibri"/>
              <a:buNone/>
            </a:pPr>
            <a:r>
              <a:rPr b="0" i="0" lang="en" sz="800" u="none" cap="none" strike="noStrike">
                <a:solidFill>
                  <a:srgbClr val="94A3B8"/>
                </a:solidFill>
                <a:latin typeface="Calibri"/>
                <a:ea typeface="Calibri"/>
                <a:cs typeface="Calibri"/>
                <a:sym typeface="Calibri"/>
              </a:rPr>
              <a:t>Deep Learning · IIT Kharagpur</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42" name="Shape 1542"/>
        <p:cNvGrpSpPr/>
        <p:nvPr/>
      </p:nvGrpSpPr>
      <p:grpSpPr>
        <a:xfrm>
          <a:off x="0" y="0"/>
          <a:ext cx="0" cy="0"/>
          <a:chOff x="0" y="0"/>
          <a:chExt cx="0" cy="0"/>
        </a:xfrm>
      </p:grpSpPr>
      <p:pic>
        <p:nvPicPr>
          <p:cNvPr id="1543" name="Google Shape;1543;p33"/>
          <p:cNvPicPr preferRelativeResize="0"/>
          <p:nvPr/>
        </p:nvPicPr>
        <p:blipFill rotWithShape="1">
          <a:blip r:embed="rId4">
            <a:alphaModFix/>
          </a:blip>
          <a:srcRect b="0" l="0" r="0" t="0"/>
          <a:stretch/>
        </p:blipFill>
        <p:spPr>
          <a:xfrm>
            <a:off x="8369125" y="0"/>
            <a:ext cx="774877" cy="867174"/>
          </a:xfrm>
          <a:prstGeom prst="rect">
            <a:avLst/>
          </a:prstGeom>
          <a:noFill/>
          <a:ln>
            <a:noFill/>
          </a:ln>
        </p:spPr>
      </p:pic>
      <p:sp>
        <p:nvSpPr>
          <p:cNvPr id="1544" name="Google Shape;1544;p33"/>
          <p:cNvSpPr txBox="1"/>
          <p:nvPr/>
        </p:nvSpPr>
        <p:spPr>
          <a:xfrm>
            <a:off x="1052950" y="98875"/>
            <a:ext cx="6618600" cy="768300"/>
          </a:xfrm>
          <a:prstGeom prst="rect">
            <a:avLst/>
          </a:prstGeom>
          <a:no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2600"/>
              <a:buFont typeface="Arial"/>
              <a:buNone/>
            </a:pPr>
            <a:r>
              <a:rPr b="1" i="0" lang="en" sz="2600" u="none" cap="none" strike="noStrike">
                <a:solidFill>
                  <a:srgbClr val="0D1B2A"/>
                </a:solidFill>
                <a:latin typeface="Calibri"/>
                <a:ea typeface="Calibri"/>
                <a:cs typeface="Calibri"/>
                <a:sym typeface="Calibri"/>
              </a:rPr>
              <a:t>CNN Applications &amp; Famous Architectures</a:t>
            </a:r>
            <a:endParaRPr b="1" i="0" sz="2600" u="none" cap="none" strike="noStrike">
              <a:solidFill>
                <a:srgbClr val="0D1B2A"/>
              </a:solidFill>
              <a:latin typeface="Calibri"/>
              <a:ea typeface="Calibri"/>
              <a:cs typeface="Calibri"/>
              <a:sym typeface="Calibri"/>
            </a:endParaRPr>
          </a:p>
        </p:txBody>
      </p:sp>
      <p:sp>
        <p:nvSpPr>
          <p:cNvPr id="1545" name="Google Shape;1545;p33"/>
          <p:cNvSpPr/>
          <p:nvPr/>
        </p:nvSpPr>
        <p:spPr>
          <a:xfrm>
            <a:off x="274320" y="1097280"/>
            <a:ext cx="2743200" cy="2377500"/>
          </a:xfrm>
          <a:prstGeom prst="rect">
            <a:avLst/>
          </a:prstGeom>
          <a:solidFill>
            <a:srgbClr val="B8E2F5"/>
          </a:solidFill>
          <a:ln>
            <a:noFill/>
          </a:ln>
          <a:effectLst>
            <a:outerShdw blurRad="101600" rotWithShape="0" algn="bl" dir="8100000" dist="38100">
              <a:srgbClr val="000000">
                <a:alpha val="14902"/>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6" name="Google Shape;1546;p33"/>
          <p:cNvSpPr/>
          <p:nvPr/>
        </p:nvSpPr>
        <p:spPr>
          <a:xfrm>
            <a:off x="274320" y="1097280"/>
            <a:ext cx="2743200" cy="438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1400"/>
              <a:buFont typeface="Calibri"/>
              <a:buNone/>
            </a:pPr>
            <a:r>
              <a:rPr b="1" i="0" lang="en" sz="1400" u="none" cap="none" strike="noStrike">
                <a:solidFill>
                  <a:srgbClr val="1A2E42"/>
                </a:solidFill>
                <a:latin typeface="Calibri"/>
                <a:ea typeface="Calibri"/>
                <a:cs typeface="Calibri"/>
                <a:sym typeface="Calibri"/>
              </a:rPr>
              <a:t>Computer Vision</a:t>
            </a:r>
            <a:endParaRPr b="0" i="0" sz="1400" u="none" cap="none" strike="noStrike">
              <a:solidFill>
                <a:schemeClr val="dk1"/>
              </a:solidFill>
              <a:latin typeface="Calibri"/>
              <a:ea typeface="Calibri"/>
              <a:cs typeface="Calibri"/>
              <a:sym typeface="Calibri"/>
            </a:endParaRPr>
          </a:p>
        </p:txBody>
      </p:sp>
      <p:sp>
        <p:nvSpPr>
          <p:cNvPr id="1547" name="Google Shape;1547;p33"/>
          <p:cNvSpPr/>
          <p:nvPr/>
        </p:nvSpPr>
        <p:spPr>
          <a:xfrm>
            <a:off x="274320" y="1536192"/>
            <a:ext cx="2743200" cy="36600"/>
          </a:xfrm>
          <a:prstGeom prst="rect">
            <a:avLst/>
          </a:prstGeom>
          <a:solidFill>
            <a:srgbClr val="00B4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8" name="Google Shape;1548;p33"/>
          <p:cNvSpPr/>
          <p:nvPr/>
        </p:nvSpPr>
        <p:spPr>
          <a:xfrm>
            <a:off x="365760" y="1609344"/>
            <a:ext cx="2560200" cy="182880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1A2E42"/>
              </a:buClr>
              <a:buSzPts val="1150"/>
              <a:buFont typeface="Calibri"/>
              <a:buChar char="•"/>
            </a:pPr>
            <a:r>
              <a:rPr b="0" i="0" lang="en" sz="1150" u="none" cap="none" strike="noStrike">
                <a:solidFill>
                  <a:srgbClr val="1A2E42"/>
                </a:solidFill>
                <a:latin typeface="Calibri"/>
                <a:ea typeface="Calibri"/>
                <a:cs typeface="Calibri"/>
                <a:sym typeface="Calibri"/>
              </a:rPr>
              <a:t>Image Classification</a:t>
            </a:r>
            <a:endParaRPr b="0" i="0" sz="115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1A2E42"/>
              </a:buClr>
              <a:buSzPts val="1150"/>
              <a:buFont typeface="Calibri"/>
              <a:buChar char="•"/>
            </a:pPr>
            <a:r>
              <a:rPr b="0" i="0" lang="en" sz="1150" u="none" cap="none" strike="noStrike">
                <a:solidFill>
                  <a:srgbClr val="1A2E42"/>
                </a:solidFill>
                <a:latin typeface="Calibri"/>
                <a:ea typeface="Calibri"/>
                <a:cs typeface="Calibri"/>
                <a:sym typeface="Calibri"/>
              </a:rPr>
              <a:t>Object Detection (YOLO)</a:t>
            </a:r>
            <a:endParaRPr b="0" i="0" sz="115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1A2E42"/>
              </a:buClr>
              <a:buSzPts val="1150"/>
              <a:buFont typeface="Calibri"/>
              <a:buChar char="•"/>
            </a:pPr>
            <a:r>
              <a:rPr b="0" i="0" lang="en" sz="1150" u="none" cap="none" strike="noStrike">
                <a:solidFill>
                  <a:srgbClr val="1A2E42"/>
                </a:solidFill>
                <a:latin typeface="Calibri"/>
                <a:ea typeface="Calibri"/>
                <a:cs typeface="Calibri"/>
                <a:sym typeface="Calibri"/>
              </a:rPr>
              <a:t>Semantic Segmentation</a:t>
            </a:r>
            <a:endParaRPr b="0" i="0" sz="115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1A2E42"/>
              </a:buClr>
              <a:buSzPts val="1150"/>
              <a:buFont typeface="Calibri"/>
              <a:buChar char="•"/>
            </a:pPr>
            <a:r>
              <a:rPr b="0" i="0" lang="en" sz="1150" u="none" cap="none" strike="noStrike">
                <a:solidFill>
                  <a:srgbClr val="1A2E42"/>
                </a:solidFill>
                <a:latin typeface="Calibri"/>
                <a:ea typeface="Calibri"/>
                <a:cs typeface="Calibri"/>
                <a:sym typeface="Calibri"/>
              </a:rPr>
              <a:t>Facial Recognition</a:t>
            </a:r>
            <a:endParaRPr b="0" i="0" sz="1150" u="none" cap="none" strike="noStrike">
              <a:solidFill>
                <a:schemeClr val="dk1"/>
              </a:solidFill>
              <a:latin typeface="Calibri"/>
              <a:ea typeface="Calibri"/>
              <a:cs typeface="Calibri"/>
              <a:sym typeface="Calibri"/>
            </a:endParaRPr>
          </a:p>
        </p:txBody>
      </p:sp>
      <p:sp>
        <p:nvSpPr>
          <p:cNvPr id="1549" name="Google Shape;1549;p33"/>
          <p:cNvSpPr/>
          <p:nvPr/>
        </p:nvSpPr>
        <p:spPr>
          <a:xfrm>
            <a:off x="3200400" y="1097280"/>
            <a:ext cx="2743200" cy="2377500"/>
          </a:xfrm>
          <a:prstGeom prst="rect">
            <a:avLst/>
          </a:prstGeom>
          <a:solidFill>
            <a:srgbClr val="BAE5F0"/>
          </a:solidFill>
          <a:ln>
            <a:noFill/>
          </a:ln>
          <a:effectLst>
            <a:outerShdw blurRad="101600" rotWithShape="0" algn="bl" dir="8100000" dist="38100">
              <a:srgbClr val="000000">
                <a:alpha val="14902"/>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0" name="Google Shape;1550;p33"/>
          <p:cNvSpPr/>
          <p:nvPr/>
        </p:nvSpPr>
        <p:spPr>
          <a:xfrm>
            <a:off x="3200400" y="1097280"/>
            <a:ext cx="2743200" cy="438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1400"/>
              <a:buFont typeface="Calibri"/>
              <a:buNone/>
            </a:pPr>
            <a:r>
              <a:rPr b="1" i="0" lang="en" sz="1400" u="none" cap="none" strike="noStrike">
                <a:solidFill>
                  <a:srgbClr val="1A2E42"/>
                </a:solidFill>
                <a:latin typeface="Calibri"/>
                <a:ea typeface="Calibri"/>
                <a:cs typeface="Calibri"/>
                <a:sym typeface="Calibri"/>
              </a:rPr>
              <a:t>Medical Imaging</a:t>
            </a:r>
            <a:endParaRPr b="0" i="0" sz="1400" u="none" cap="none" strike="noStrike">
              <a:solidFill>
                <a:schemeClr val="dk1"/>
              </a:solidFill>
              <a:latin typeface="Calibri"/>
              <a:ea typeface="Calibri"/>
              <a:cs typeface="Calibri"/>
              <a:sym typeface="Calibri"/>
            </a:endParaRPr>
          </a:p>
        </p:txBody>
      </p:sp>
      <p:sp>
        <p:nvSpPr>
          <p:cNvPr id="1551" name="Google Shape;1551;p33"/>
          <p:cNvSpPr/>
          <p:nvPr/>
        </p:nvSpPr>
        <p:spPr>
          <a:xfrm>
            <a:off x="3200400" y="1536192"/>
            <a:ext cx="2743200" cy="36600"/>
          </a:xfrm>
          <a:prstGeom prst="rect">
            <a:avLst/>
          </a:prstGeom>
          <a:solidFill>
            <a:srgbClr val="00B4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2" name="Google Shape;1552;p33"/>
          <p:cNvSpPr/>
          <p:nvPr/>
        </p:nvSpPr>
        <p:spPr>
          <a:xfrm>
            <a:off x="3291840" y="1609344"/>
            <a:ext cx="2560200" cy="182880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1A2E42"/>
              </a:buClr>
              <a:buSzPts val="1150"/>
              <a:buFont typeface="Calibri"/>
              <a:buChar char="•"/>
            </a:pPr>
            <a:r>
              <a:rPr b="0" i="0" lang="en" sz="1150" u="none" cap="none" strike="noStrike">
                <a:solidFill>
                  <a:srgbClr val="1A2E42"/>
                </a:solidFill>
                <a:latin typeface="Calibri"/>
                <a:ea typeface="Calibri"/>
                <a:cs typeface="Calibri"/>
                <a:sym typeface="Calibri"/>
              </a:rPr>
              <a:t>Tumor Detection in MRI</a:t>
            </a:r>
            <a:endParaRPr b="0" i="0" sz="115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1A2E42"/>
              </a:buClr>
              <a:buSzPts val="1150"/>
              <a:buFont typeface="Calibri"/>
              <a:buChar char="•"/>
            </a:pPr>
            <a:r>
              <a:rPr b="0" i="0" lang="en" sz="1150" u="none" cap="none" strike="noStrike">
                <a:solidFill>
                  <a:srgbClr val="1A2E42"/>
                </a:solidFill>
                <a:latin typeface="Calibri"/>
                <a:ea typeface="Calibri"/>
                <a:cs typeface="Calibri"/>
                <a:sym typeface="Calibri"/>
              </a:rPr>
              <a:t>Diabetic Retinopathy</a:t>
            </a:r>
            <a:endParaRPr b="0" i="0" sz="115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1A2E42"/>
              </a:buClr>
              <a:buSzPts val="1150"/>
              <a:buFont typeface="Calibri"/>
              <a:buChar char="•"/>
            </a:pPr>
            <a:r>
              <a:rPr b="0" i="0" lang="en" sz="1150" u="none" cap="none" strike="noStrike">
                <a:solidFill>
                  <a:srgbClr val="1A2E42"/>
                </a:solidFill>
                <a:latin typeface="Calibri"/>
                <a:ea typeface="Calibri"/>
                <a:cs typeface="Calibri"/>
                <a:sym typeface="Calibri"/>
              </a:rPr>
              <a:t>Histopathology Analysis</a:t>
            </a:r>
            <a:endParaRPr b="0" i="0" sz="115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1A2E42"/>
              </a:buClr>
              <a:buSzPts val="1150"/>
              <a:buFont typeface="Calibri"/>
              <a:buChar char="•"/>
            </a:pPr>
            <a:r>
              <a:rPr b="0" i="0" lang="en" sz="1150" u="none" cap="none" strike="noStrike">
                <a:solidFill>
                  <a:srgbClr val="1A2E42"/>
                </a:solidFill>
                <a:latin typeface="Calibri"/>
                <a:ea typeface="Calibri"/>
                <a:cs typeface="Calibri"/>
                <a:sym typeface="Calibri"/>
              </a:rPr>
              <a:t>COVID-19 CT Screening</a:t>
            </a:r>
            <a:endParaRPr b="0" i="0" sz="1150" u="none" cap="none" strike="noStrike">
              <a:solidFill>
                <a:schemeClr val="dk1"/>
              </a:solidFill>
              <a:latin typeface="Calibri"/>
              <a:ea typeface="Calibri"/>
              <a:cs typeface="Calibri"/>
              <a:sym typeface="Calibri"/>
            </a:endParaRPr>
          </a:p>
        </p:txBody>
      </p:sp>
      <p:sp>
        <p:nvSpPr>
          <p:cNvPr id="1553" name="Google Shape;1553;p33"/>
          <p:cNvSpPr/>
          <p:nvPr/>
        </p:nvSpPr>
        <p:spPr>
          <a:xfrm>
            <a:off x="6126480" y="1097280"/>
            <a:ext cx="2743200" cy="2377500"/>
          </a:xfrm>
          <a:prstGeom prst="rect">
            <a:avLst/>
          </a:prstGeom>
          <a:solidFill>
            <a:srgbClr val="B8EDE8"/>
          </a:solidFill>
          <a:ln>
            <a:noFill/>
          </a:ln>
          <a:effectLst>
            <a:outerShdw blurRad="101600" rotWithShape="0" algn="bl" dir="8100000" dist="38100">
              <a:srgbClr val="000000">
                <a:alpha val="14902"/>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4" name="Google Shape;1554;p33"/>
          <p:cNvSpPr/>
          <p:nvPr/>
        </p:nvSpPr>
        <p:spPr>
          <a:xfrm>
            <a:off x="6126480" y="1097280"/>
            <a:ext cx="2743200" cy="438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1400"/>
              <a:buFont typeface="Calibri"/>
              <a:buNone/>
            </a:pPr>
            <a:r>
              <a:rPr b="1" i="0" lang="en" sz="1400" u="none" cap="none" strike="noStrike">
                <a:solidFill>
                  <a:srgbClr val="1A2E42"/>
                </a:solidFill>
                <a:latin typeface="Calibri"/>
                <a:ea typeface="Calibri"/>
                <a:cs typeface="Calibri"/>
                <a:sym typeface="Calibri"/>
              </a:rPr>
              <a:t>Other Domains</a:t>
            </a:r>
            <a:endParaRPr b="0" i="0" sz="1400" u="none" cap="none" strike="noStrike">
              <a:solidFill>
                <a:schemeClr val="dk1"/>
              </a:solidFill>
              <a:latin typeface="Calibri"/>
              <a:ea typeface="Calibri"/>
              <a:cs typeface="Calibri"/>
              <a:sym typeface="Calibri"/>
            </a:endParaRPr>
          </a:p>
        </p:txBody>
      </p:sp>
      <p:sp>
        <p:nvSpPr>
          <p:cNvPr id="1555" name="Google Shape;1555;p33"/>
          <p:cNvSpPr/>
          <p:nvPr/>
        </p:nvSpPr>
        <p:spPr>
          <a:xfrm>
            <a:off x="6126480" y="1536192"/>
            <a:ext cx="2743200" cy="36600"/>
          </a:xfrm>
          <a:prstGeom prst="rect">
            <a:avLst/>
          </a:prstGeom>
          <a:solidFill>
            <a:srgbClr val="00B4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6" name="Google Shape;1556;p33"/>
          <p:cNvSpPr/>
          <p:nvPr/>
        </p:nvSpPr>
        <p:spPr>
          <a:xfrm>
            <a:off x="6217920" y="1609344"/>
            <a:ext cx="2560200" cy="182880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1A2E42"/>
              </a:buClr>
              <a:buSzPts val="1150"/>
              <a:buFont typeface="Calibri"/>
              <a:buChar char="•"/>
            </a:pPr>
            <a:r>
              <a:rPr b="0" i="0" lang="en" sz="1150" u="none" cap="none" strike="noStrike">
                <a:solidFill>
                  <a:srgbClr val="1A2E42"/>
                </a:solidFill>
                <a:latin typeface="Calibri"/>
                <a:ea typeface="Calibri"/>
                <a:cs typeface="Calibri"/>
                <a:sym typeface="Calibri"/>
              </a:rPr>
              <a:t>NLP (Text-CNN)</a:t>
            </a:r>
            <a:endParaRPr b="0" i="0" sz="115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1A2E42"/>
              </a:buClr>
              <a:buSzPts val="1150"/>
              <a:buFont typeface="Calibri"/>
              <a:buChar char="•"/>
            </a:pPr>
            <a:r>
              <a:rPr b="0" i="0" lang="en" sz="1150" u="none" cap="none" strike="noStrike">
                <a:solidFill>
                  <a:srgbClr val="1A2E42"/>
                </a:solidFill>
                <a:latin typeface="Calibri"/>
                <a:ea typeface="Calibri"/>
                <a:cs typeface="Calibri"/>
                <a:sym typeface="Calibri"/>
              </a:rPr>
              <a:t>Audio Classification</a:t>
            </a:r>
            <a:endParaRPr b="0" i="0" sz="115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1A2E42"/>
              </a:buClr>
              <a:buSzPts val="1150"/>
              <a:buFont typeface="Calibri"/>
              <a:buChar char="•"/>
            </a:pPr>
            <a:r>
              <a:rPr b="0" i="0" lang="en" sz="1150" u="none" cap="none" strike="noStrike">
                <a:solidFill>
                  <a:srgbClr val="1A2E42"/>
                </a:solidFill>
                <a:latin typeface="Calibri"/>
                <a:ea typeface="Calibri"/>
                <a:cs typeface="Calibri"/>
                <a:sym typeface="Calibri"/>
              </a:rPr>
              <a:t>Video Understanding</a:t>
            </a:r>
            <a:endParaRPr b="0" i="0" sz="115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1A2E42"/>
              </a:buClr>
              <a:buSzPts val="1150"/>
              <a:buFont typeface="Calibri"/>
              <a:buChar char="•"/>
            </a:pPr>
            <a:r>
              <a:rPr b="0" i="0" lang="en" sz="1150" u="none" cap="none" strike="noStrike">
                <a:solidFill>
                  <a:srgbClr val="1A2E42"/>
                </a:solidFill>
                <a:latin typeface="Calibri"/>
                <a:ea typeface="Calibri"/>
                <a:cs typeface="Calibri"/>
                <a:sym typeface="Calibri"/>
              </a:rPr>
              <a:t>Autonomous Driving</a:t>
            </a:r>
            <a:endParaRPr b="0" i="0" sz="1150" u="none" cap="none" strike="noStrike">
              <a:solidFill>
                <a:schemeClr val="dk1"/>
              </a:solidFill>
              <a:latin typeface="Calibri"/>
              <a:ea typeface="Calibri"/>
              <a:cs typeface="Calibri"/>
              <a:sym typeface="Calibri"/>
            </a:endParaRPr>
          </a:p>
        </p:txBody>
      </p:sp>
      <p:sp>
        <p:nvSpPr>
          <p:cNvPr id="1557" name="Google Shape;1557;p33"/>
          <p:cNvSpPr/>
          <p:nvPr/>
        </p:nvSpPr>
        <p:spPr>
          <a:xfrm>
            <a:off x="274320" y="3703320"/>
            <a:ext cx="85953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B4D8"/>
              </a:buClr>
              <a:buSzPts val="1400"/>
              <a:buFont typeface="Calibri"/>
              <a:buNone/>
            </a:pPr>
            <a:r>
              <a:rPr b="1" i="0" lang="en" sz="1400" u="none" cap="none" strike="noStrike">
                <a:solidFill>
                  <a:srgbClr val="00B4D8"/>
                </a:solidFill>
                <a:latin typeface="Calibri"/>
                <a:ea typeface="Calibri"/>
                <a:cs typeface="Calibri"/>
                <a:sym typeface="Calibri"/>
              </a:rPr>
              <a:t>Landmark CNN Architectures</a:t>
            </a:r>
            <a:endParaRPr b="0" i="0" sz="1400" u="none" cap="none" strike="noStrike">
              <a:solidFill>
                <a:schemeClr val="dk1"/>
              </a:solidFill>
              <a:latin typeface="Calibri"/>
              <a:ea typeface="Calibri"/>
              <a:cs typeface="Calibri"/>
              <a:sym typeface="Calibri"/>
            </a:endParaRPr>
          </a:p>
        </p:txBody>
      </p:sp>
      <p:sp>
        <p:nvSpPr>
          <p:cNvPr id="1558" name="Google Shape;1558;p33"/>
          <p:cNvSpPr/>
          <p:nvPr/>
        </p:nvSpPr>
        <p:spPr>
          <a:xfrm>
            <a:off x="274320" y="4114800"/>
            <a:ext cx="8595300" cy="54900"/>
          </a:xfrm>
          <a:prstGeom prst="rect">
            <a:avLst/>
          </a:prstGeom>
          <a:solidFill>
            <a:srgbClr val="DDE8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9" name="Google Shape;1559;p33"/>
          <p:cNvSpPr/>
          <p:nvPr/>
        </p:nvSpPr>
        <p:spPr>
          <a:xfrm>
            <a:off x="777240" y="4005072"/>
            <a:ext cx="255900" cy="255900"/>
          </a:xfrm>
          <a:prstGeom prst="ellipse">
            <a:avLst/>
          </a:prstGeom>
          <a:solidFill>
            <a:srgbClr val="00B4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0" name="Google Shape;1560;p33"/>
          <p:cNvSpPr/>
          <p:nvPr/>
        </p:nvSpPr>
        <p:spPr>
          <a:xfrm>
            <a:off x="274320" y="4315968"/>
            <a:ext cx="12801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1050"/>
              <a:buFont typeface="Calibri"/>
              <a:buNone/>
            </a:pPr>
            <a:r>
              <a:rPr b="1" i="0" lang="en" sz="1050" u="none" cap="none" strike="noStrike">
                <a:solidFill>
                  <a:srgbClr val="1A2E42"/>
                </a:solidFill>
                <a:latin typeface="Calibri"/>
                <a:ea typeface="Calibri"/>
                <a:cs typeface="Calibri"/>
                <a:sym typeface="Calibri"/>
              </a:rPr>
              <a:t>LeNet</a:t>
            </a:r>
            <a:endParaRPr b="0" i="0" sz="1050" u="none" cap="none" strike="noStrike">
              <a:solidFill>
                <a:schemeClr val="dk1"/>
              </a:solidFill>
              <a:latin typeface="Calibri"/>
              <a:ea typeface="Calibri"/>
              <a:cs typeface="Calibri"/>
              <a:sym typeface="Calibri"/>
            </a:endParaRPr>
          </a:p>
        </p:txBody>
      </p:sp>
      <p:sp>
        <p:nvSpPr>
          <p:cNvPr id="1561" name="Google Shape;1561;p33"/>
          <p:cNvSpPr/>
          <p:nvPr/>
        </p:nvSpPr>
        <p:spPr>
          <a:xfrm>
            <a:off x="274320" y="4572000"/>
            <a:ext cx="1280100" cy="228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6080"/>
              </a:buClr>
              <a:buSzPts val="1000"/>
              <a:buFont typeface="Calibri"/>
              <a:buNone/>
            </a:pPr>
            <a:r>
              <a:rPr b="0" i="0" lang="en" sz="1000" u="none" cap="none" strike="noStrike">
                <a:solidFill>
                  <a:srgbClr val="1A6080"/>
                </a:solidFill>
                <a:latin typeface="Calibri"/>
                <a:ea typeface="Calibri"/>
                <a:cs typeface="Calibri"/>
                <a:sym typeface="Calibri"/>
              </a:rPr>
              <a:t>1989</a:t>
            </a:r>
            <a:endParaRPr b="0" i="0" sz="1000" u="none" cap="none" strike="noStrike">
              <a:solidFill>
                <a:schemeClr val="dk1"/>
              </a:solidFill>
              <a:latin typeface="Calibri"/>
              <a:ea typeface="Calibri"/>
              <a:cs typeface="Calibri"/>
              <a:sym typeface="Calibri"/>
            </a:endParaRPr>
          </a:p>
        </p:txBody>
      </p:sp>
      <p:sp>
        <p:nvSpPr>
          <p:cNvPr id="1562" name="Google Shape;1562;p33"/>
          <p:cNvSpPr/>
          <p:nvPr/>
        </p:nvSpPr>
        <p:spPr>
          <a:xfrm>
            <a:off x="2514600" y="4005072"/>
            <a:ext cx="255900" cy="255900"/>
          </a:xfrm>
          <a:prstGeom prst="ellipse">
            <a:avLst/>
          </a:prstGeom>
          <a:solidFill>
            <a:srgbClr val="00B4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3" name="Google Shape;1563;p33"/>
          <p:cNvSpPr/>
          <p:nvPr/>
        </p:nvSpPr>
        <p:spPr>
          <a:xfrm>
            <a:off x="2011680" y="4315968"/>
            <a:ext cx="12801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1050"/>
              <a:buFont typeface="Calibri"/>
              <a:buNone/>
            </a:pPr>
            <a:r>
              <a:rPr b="1" i="0" lang="en" sz="1050" u="none" cap="none" strike="noStrike">
                <a:solidFill>
                  <a:srgbClr val="1A2E42"/>
                </a:solidFill>
                <a:latin typeface="Calibri"/>
                <a:ea typeface="Calibri"/>
                <a:cs typeface="Calibri"/>
                <a:sym typeface="Calibri"/>
              </a:rPr>
              <a:t>AlexNet</a:t>
            </a:r>
            <a:endParaRPr b="0" i="0" sz="1050" u="none" cap="none" strike="noStrike">
              <a:solidFill>
                <a:schemeClr val="dk1"/>
              </a:solidFill>
              <a:latin typeface="Calibri"/>
              <a:ea typeface="Calibri"/>
              <a:cs typeface="Calibri"/>
              <a:sym typeface="Calibri"/>
            </a:endParaRPr>
          </a:p>
        </p:txBody>
      </p:sp>
      <p:sp>
        <p:nvSpPr>
          <p:cNvPr id="1564" name="Google Shape;1564;p33"/>
          <p:cNvSpPr/>
          <p:nvPr/>
        </p:nvSpPr>
        <p:spPr>
          <a:xfrm>
            <a:off x="2011680" y="4572000"/>
            <a:ext cx="1280100" cy="228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6080"/>
              </a:buClr>
              <a:buSzPts val="1000"/>
              <a:buFont typeface="Calibri"/>
              <a:buNone/>
            </a:pPr>
            <a:r>
              <a:rPr b="0" i="0" lang="en" sz="1000" u="none" cap="none" strike="noStrike">
                <a:solidFill>
                  <a:srgbClr val="1A6080"/>
                </a:solidFill>
                <a:latin typeface="Calibri"/>
                <a:ea typeface="Calibri"/>
                <a:cs typeface="Calibri"/>
                <a:sym typeface="Calibri"/>
              </a:rPr>
              <a:t>2012</a:t>
            </a:r>
            <a:endParaRPr b="0" i="0" sz="1000" u="none" cap="none" strike="noStrike">
              <a:solidFill>
                <a:schemeClr val="dk1"/>
              </a:solidFill>
              <a:latin typeface="Calibri"/>
              <a:ea typeface="Calibri"/>
              <a:cs typeface="Calibri"/>
              <a:sym typeface="Calibri"/>
            </a:endParaRPr>
          </a:p>
        </p:txBody>
      </p:sp>
      <p:sp>
        <p:nvSpPr>
          <p:cNvPr id="1565" name="Google Shape;1565;p33"/>
          <p:cNvSpPr/>
          <p:nvPr/>
        </p:nvSpPr>
        <p:spPr>
          <a:xfrm>
            <a:off x="4251960" y="4005072"/>
            <a:ext cx="255900" cy="255900"/>
          </a:xfrm>
          <a:prstGeom prst="ellipse">
            <a:avLst/>
          </a:prstGeom>
          <a:solidFill>
            <a:srgbClr val="00B4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6" name="Google Shape;1566;p33"/>
          <p:cNvSpPr/>
          <p:nvPr/>
        </p:nvSpPr>
        <p:spPr>
          <a:xfrm>
            <a:off x="3749040" y="4315968"/>
            <a:ext cx="12801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1050"/>
              <a:buFont typeface="Calibri"/>
              <a:buNone/>
            </a:pPr>
            <a:r>
              <a:rPr b="1" i="0" lang="en" sz="1050" u="none" cap="none" strike="noStrike">
                <a:solidFill>
                  <a:srgbClr val="1A2E42"/>
                </a:solidFill>
                <a:latin typeface="Calibri"/>
                <a:ea typeface="Calibri"/>
                <a:cs typeface="Calibri"/>
                <a:sym typeface="Calibri"/>
              </a:rPr>
              <a:t>VGGNet</a:t>
            </a:r>
            <a:endParaRPr b="0" i="0" sz="1050" u="none" cap="none" strike="noStrike">
              <a:solidFill>
                <a:schemeClr val="dk1"/>
              </a:solidFill>
              <a:latin typeface="Calibri"/>
              <a:ea typeface="Calibri"/>
              <a:cs typeface="Calibri"/>
              <a:sym typeface="Calibri"/>
            </a:endParaRPr>
          </a:p>
        </p:txBody>
      </p:sp>
      <p:sp>
        <p:nvSpPr>
          <p:cNvPr id="1567" name="Google Shape;1567;p33"/>
          <p:cNvSpPr/>
          <p:nvPr/>
        </p:nvSpPr>
        <p:spPr>
          <a:xfrm>
            <a:off x="3749040" y="4572000"/>
            <a:ext cx="1280100" cy="228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6080"/>
              </a:buClr>
              <a:buSzPts val="1000"/>
              <a:buFont typeface="Calibri"/>
              <a:buNone/>
            </a:pPr>
            <a:r>
              <a:rPr b="0" i="0" lang="en" sz="1000" u="none" cap="none" strike="noStrike">
                <a:solidFill>
                  <a:srgbClr val="1A6080"/>
                </a:solidFill>
                <a:latin typeface="Calibri"/>
                <a:ea typeface="Calibri"/>
                <a:cs typeface="Calibri"/>
                <a:sym typeface="Calibri"/>
              </a:rPr>
              <a:t>2014</a:t>
            </a:r>
            <a:endParaRPr b="0" i="0" sz="1000" u="none" cap="none" strike="noStrike">
              <a:solidFill>
                <a:schemeClr val="dk1"/>
              </a:solidFill>
              <a:latin typeface="Calibri"/>
              <a:ea typeface="Calibri"/>
              <a:cs typeface="Calibri"/>
              <a:sym typeface="Calibri"/>
            </a:endParaRPr>
          </a:p>
        </p:txBody>
      </p:sp>
      <p:sp>
        <p:nvSpPr>
          <p:cNvPr id="1568" name="Google Shape;1568;p33"/>
          <p:cNvSpPr/>
          <p:nvPr/>
        </p:nvSpPr>
        <p:spPr>
          <a:xfrm>
            <a:off x="5989320" y="4005072"/>
            <a:ext cx="255900" cy="255900"/>
          </a:xfrm>
          <a:prstGeom prst="ellipse">
            <a:avLst/>
          </a:prstGeom>
          <a:solidFill>
            <a:srgbClr val="00B4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9" name="Google Shape;1569;p33"/>
          <p:cNvSpPr/>
          <p:nvPr/>
        </p:nvSpPr>
        <p:spPr>
          <a:xfrm>
            <a:off x="5486400" y="4315968"/>
            <a:ext cx="12801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1050"/>
              <a:buFont typeface="Calibri"/>
              <a:buNone/>
            </a:pPr>
            <a:r>
              <a:rPr b="1" i="0" lang="en" sz="1050" u="none" cap="none" strike="noStrike">
                <a:solidFill>
                  <a:srgbClr val="1A2E42"/>
                </a:solidFill>
                <a:latin typeface="Calibri"/>
                <a:ea typeface="Calibri"/>
                <a:cs typeface="Calibri"/>
                <a:sym typeface="Calibri"/>
              </a:rPr>
              <a:t>ResNet</a:t>
            </a:r>
            <a:endParaRPr b="0" i="0" sz="1050" u="none" cap="none" strike="noStrike">
              <a:solidFill>
                <a:schemeClr val="dk1"/>
              </a:solidFill>
              <a:latin typeface="Calibri"/>
              <a:ea typeface="Calibri"/>
              <a:cs typeface="Calibri"/>
              <a:sym typeface="Calibri"/>
            </a:endParaRPr>
          </a:p>
        </p:txBody>
      </p:sp>
      <p:sp>
        <p:nvSpPr>
          <p:cNvPr id="1570" name="Google Shape;1570;p33"/>
          <p:cNvSpPr/>
          <p:nvPr/>
        </p:nvSpPr>
        <p:spPr>
          <a:xfrm>
            <a:off x="5486400" y="4572000"/>
            <a:ext cx="1280100" cy="228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6080"/>
              </a:buClr>
              <a:buSzPts val="1000"/>
              <a:buFont typeface="Calibri"/>
              <a:buNone/>
            </a:pPr>
            <a:r>
              <a:rPr b="0" i="0" lang="en" sz="1000" u="none" cap="none" strike="noStrike">
                <a:solidFill>
                  <a:srgbClr val="1A6080"/>
                </a:solidFill>
                <a:latin typeface="Calibri"/>
                <a:ea typeface="Calibri"/>
                <a:cs typeface="Calibri"/>
                <a:sym typeface="Calibri"/>
              </a:rPr>
              <a:t>2015</a:t>
            </a:r>
            <a:endParaRPr b="0" i="0" sz="1000" u="none" cap="none" strike="noStrike">
              <a:solidFill>
                <a:schemeClr val="dk1"/>
              </a:solidFill>
              <a:latin typeface="Calibri"/>
              <a:ea typeface="Calibri"/>
              <a:cs typeface="Calibri"/>
              <a:sym typeface="Calibri"/>
            </a:endParaRPr>
          </a:p>
        </p:txBody>
      </p:sp>
      <p:sp>
        <p:nvSpPr>
          <p:cNvPr id="1571" name="Google Shape;1571;p33"/>
          <p:cNvSpPr/>
          <p:nvPr/>
        </p:nvSpPr>
        <p:spPr>
          <a:xfrm>
            <a:off x="7726680" y="4005072"/>
            <a:ext cx="255900" cy="255900"/>
          </a:xfrm>
          <a:prstGeom prst="ellipse">
            <a:avLst/>
          </a:prstGeom>
          <a:solidFill>
            <a:srgbClr val="00B4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2" name="Google Shape;1572;p33"/>
          <p:cNvSpPr/>
          <p:nvPr/>
        </p:nvSpPr>
        <p:spPr>
          <a:xfrm>
            <a:off x="7223760" y="4315968"/>
            <a:ext cx="12801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2"/>
              </a:buClr>
              <a:buSzPts val="1050"/>
              <a:buFont typeface="Calibri"/>
              <a:buNone/>
            </a:pPr>
            <a:r>
              <a:rPr b="1" i="0" lang="en" sz="1050" u="none" cap="none" strike="noStrike">
                <a:solidFill>
                  <a:srgbClr val="1A2E42"/>
                </a:solidFill>
                <a:latin typeface="Calibri"/>
                <a:ea typeface="Calibri"/>
                <a:cs typeface="Calibri"/>
                <a:sym typeface="Calibri"/>
              </a:rPr>
              <a:t>EfficientNet</a:t>
            </a:r>
            <a:endParaRPr b="0" i="0" sz="1050" u="none" cap="none" strike="noStrike">
              <a:solidFill>
                <a:schemeClr val="dk1"/>
              </a:solidFill>
              <a:latin typeface="Calibri"/>
              <a:ea typeface="Calibri"/>
              <a:cs typeface="Calibri"/>
              <a:sym typeface="Calibri"/>
            </a:endParaRPr>
          </a:p>
        </p:txBody>
      </p:sp>
      <p:sp>
        <p:nvSpPr>
          <p:cNvPr id="1573" name="Google Shape;1573;p33"/>
          <p:cNvSpPr/>
          <p:nvPr/>
        </p:nvSpPr>
        <p:spPr>
          <a:xfrm>
            <a:off x="7223760" y="4572000"/>
            <a:ext cx="1280100" cy="228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6080"/>
              </a:buClr>
              <a:buSzPts val="1000"/>
              <a:buFont typeface="Calibri"/>
              <a:buNone/>
            </a:pPr>
            <a:r>
              <a:rPr b="0" i="0" lang="en" sz="1000" u="none" cap="none" strike="noStrike">
                <a:solidFill>
                  <a:srgbClr val="1A6080"/>
                </a:solidFill>
                <a:latin typeface="Calibri"/>
                <a:ea typeface="Calibri"/>
                <a:cs typeface="Calibri"/>
                <a:sym typeface="Calibri"/>
              </a:rPr>
              <a:t>2019</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7" name="Shape 1577"/>
        <p:cNvGrpSpPr/>
        <p:nvPr/>
      </p:nvGrpSpPr>
      <p:grpSpPr>
        <a:xfrm>
          <a:off x="0" y="0"/>
          <a:ext cx="0" cy="0"/>
          <a:chOff x="0" y="0"/>
          <a:chExt cx="0" cy="0"/>
        </a:xfrm>
      </p:grpSpPr>
      <p:sp>
        <p:nvSpPr>
          <p:cNvPr id="1578" name="Google Shape;1578;p34"/>
          <p:cNvSpPr/>
          <p:nvPr/>
        </p:nvSpPr>
        <p:spPr>
          <a:xfrm>
            <a:off x="132375" y="181485"/>
            <a:ext cx="822960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D1B2A"/>
              </a:buClr>
              <a:buSzPts val="2600"/>
              <a:buFont typeface="Calibri"/>
              <a:buNone/>
            </a:pPr>
            <a:r>
              <a:rPr b="1" i="0" lang="en" sz="2600" u="none" cap="none" strike="noStrike">
                <a:solidFill>
                  <a:srgbClr val="0D1B2A"/>
                </a:solidFill>
                <a:latin typeface="Calibri"/>
                <a:ea typeface="Calibri"/>
                <a:cs typeface="Calibri"/>
                <a:sym typeface="Calibri"/>
              </a:rPr>
              <a:t>Quiz 3</a:t>
            </a:r>
            <a:endParaRPr b="0" i="0" sz="2600" u="none" cap="none" strike="noStrike">
              <a:solidFill>
                <a:srgbClr val="000000"/>
              </a:solidFill>
              <a:latin typeface="Calibri"/>
              <a:ea typeface="Calibri"/>
              <a:cs typeface="Calibri"/>
              <a:sym typeface="Calibri"/>
            </a:endParaRPr>
          </a:p>
        </p:txBody>
      </p:sp>
      <p:pic>
        <p:nvPicPr>
          <p:cNvPr id="1579" name="Google Shape;1579;p34"/>
          <p:cNvPicPr preferRelativeResize="0"/>
          <p:nvPr/>
        </p:nvPicPr>
        <p:blipFill rotWithShape="1">
          <a:blip r:embed="rId3">
            <a:alphaModFix/>
          </a:blip>
          <a:srcRect b="0" l="0" r="0" t="0"/>
          <a:stretch/>
        </p:blipFill>
        <p:spPr>
          <a:xfrm>
            <a:off x="8369125" y="0"/>
            <a:ext cx="774877" cy="867174"/>
          </a:xfrm>
          <a:prstGeom prst="rect">
            <a:avLst/>
          </a:prstGeom>
          <a:noFill/>
          <a:ln>
            <a:noFill/>
          </a:ln>
        </p:spPr>
      </p:pic>
      <p:sp>
        <p:nvSpPr>
          <p:cNvPr id="1580" name="Google Shape;1580;p34"/>
          <p:cNvSpPr txBox="1"/>
          <p:nvPr/>
        </p:nvSpPr>
        <p:spPr>
          <a:xfrm>
            <a:off x="304100" y="867175"/>
            <a:ext cx="5809800" cy="5832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700"/>
              <a:buFont typeface="Arial"/>
              <a:buNone/>
            </a:pPr>
            <a:r>
              <a:rPr b="0" i="0" lang="en" sz="1700" u="none" cap="none" strike="noStrike">
                <a:solidFill>
                  <a:srgbClr val="000000"/>
                </a:solidFill>
                <a:latin typeface="Calibri"/>
                <a:ea typeface="Calibri"/>
                <a:cs typeface="Calibri"/>
                <a:sym typeface="Calibri"/>
              </a:rPr>
              <a:t>Consider a document containing 1000 words. The word at position 1000 needs information that appeared at position 1 to be interpreted correctly. A standard CNN can theoretically capture such information if it is made sufficiently deep. However, what practical challenge remains?</a:t>
            </a:r>
            <a:endParaRPr b="0" i="0" sz="1700" u="none" cap="none" strike="noStrike">
              <a:solidFill>
                <a:srgbClr val="000000"/>
              </a:solidFill>
              <a:latin typeface="Calibri"/>
              <a:ea typeface="Calibri"/>
              <a:cs typeface="Calibri"/>
              <a:sym typeface="Calibri"/>
            </a:endParaRPr>
          </a:p>
          <a:p>
            <a:pPr indent="0" lvl="0" marL="457200" marR="0" rtl="0" algn="l">
              <a:lnSpc>
                <a:spcPct val="115000"/>
              </a:lnSpc>
              <a:spcBef>
                <a:spcPts val="1200"/>
              </a:spcBef>
              <a:spcAft>
                <a:spcPts val="0"/>
              </a:spcAft>
              <a:buClr>
                <a:srgbClr val="000000"/>
              </a:buClr>
              <a:buSzPts val="1700"/>
              <a:buFont typeface="Arial"/>
              <a:buNone/>
            </a:pPr>
            <a:r>
              <a:rPr b="0" i="0" lang="en" sz="1700" u="none" cap="none" strike="noStrike">
                <a:solidFill>
                  <a:srgbClr val="000000"/>
                </a:solidFill>
                <a:latin typeface="Calibri"/>
                <a:ea typeface="Calibri"/>
                <a:cs typeface="Calibri"/>
                <a:sym typeface="Calibri"/>
              </a:rPr>
              <a:t>A) CNNs cannot process sequences.</a:t>
            </a:r>
            <a:endParaRPr b="0" i="0" sz="1700" u="none" cap="none" strike="noStrike">
              <a:solidFill>
                <a:srgbClr val="000000"/>
              </a:solidFill>
              <a:latin typeface="Calibri"/>
              <a:ea typeface="Calibri"/>
              <a:cs typeface="Calibri"/>
              <a:sym typeface="Calibri"/>
            </a:endParaRPr>
          </a:p>
          <a:p>
            <a:pPr indent="0" lvl="0" marL="457200" marR="0" rtl="0" algn="l">
              <a:lnSpc>
                <a:spcPct val="115000"/>
              </a:lnSpc>
              <a:spcBef>
                <a:spcPts val="1200"/>
              </a:spcBef>
              <a:spcAft>
                <a:spcPts val="0"/>
              </a:spcAft>
              <a:buClr>
                <a:srgbClr val="000000"/>
              </a:buClr>
              <a:buSzPts val="1700"/>
              <a:buFont typeface="Arial"/>
              <a:buNone/>
            </a:pPr>
            <a:r>
              <a:rPr b="0" i="0" lang="en" sz="1700" u="none" cap="none" strike="noStrike">
                <a:solidFill>
                  <a:srgbClr val="000000"/>
                </a:solidFill>
                <a:latin typeface="Calibri"/>
                <a:ea typeface="Calibri"/>
                <a:cs typeface="Calibri"/>
                <a:sym typeface="Calibri"/>
              </a:rPr>
              <a:t>B) Information must travel through many layers, making long-range dependencies harder to learn and represent.</a:t>
            </a:r>
            <a:endParaRPr b="0" i="0" sz="1700" u="none" cap="none" strike="noStrike">
              <a:solidFill>
                <a:srgbClr val="000000"/>
              </a:solidFill>
              <a:latin typeface="Calibri"/>
              <a:ea typeface="Calibri"/>
              <a:cs typeface="Calibri"/>
              <a:sym typeface="Calibri"/>
            </a:endParaRPr>
          </a:p>
          <a:p>
            <a:pPr indent="0" lvl="0" marL="457200" marR="0" rtl="0" algn="l">
              <a:lnSpc>
                <a:spcPct val="115000"/>
              </a:lnSpc>
              <a:spcBef>
                <a:spcPts val="1200"/>
              </a:spcBef>
              <a:spcAft>
                <a:spcPts val="0"/>
              </a:spcAft>
              <a:buClr>
                <a:srgbClr val="000000"/>
              </a:buClr>
              <a:buSzPts val="1700"/>
              <a:buFont typeface="Arial"/>
              <a:buNone/>
            </a:pPr>
            <a:r>
              <a:rPr b="0" i="0" lang="en" sz="1700" u="none" cap="none" strike="noStrike">
                <a:solidFill>
                  <a:srgbClr val="000000"/>
                </a:solidFill>
                <a:latin typeface="Calibri"/>
                <a:ea typeface="Calibri"/>
                <a:cs typeface="Calibri"/>
                <a:sym typeface="Calibri"/>
              </a:rPr>
              <a:t>C) CNNs cannot be trained using gradient descent.</a:t>
            </a:r>
            <a:endParaRPr b="0" i="0" sz="1700" u="none" cap="none" strike="noStrike">
              <a:solidFill>
                <a:srgbClr val="000000"/>
              </a:solidFill>
              <a:latin typeface="Calibri"/>
              <a:ea typeface="Calibri"/>
              <a:cs typeface="Calibri"/>
              <a:sym typeface="Calibri"/>
            </a:endParaRPr>
          </a:p>
          <a:p>
            <a:pPr indent="0" lvl="0" marL="457200" marR="0" rtl="0" algn="l">
              <a:lnSpc>
                <a:spcPct val="115000"/>
              </a:lnSpc>
              <a:spcBef>
                <a:spcPts val="1200"/>
              </a:spcBef>
              <a:spcAft>
                <a:spcPts val="0"/>
              </a:spcAft>
              <a:buClr>
                <a:srgbClr val="000000"/>
              </a:buClr>
              <a:buSzPts val="1700"/>
              <a:buFont typeface="Arial"/>
              <a:buNone/>
            </a:pPr>
            <a:r>
              <a:rPr b="0" i="0" lang="en" sz="1700" u="none" cap="none" strike="noStrike">
                <a:solidFill>
                  <a:srgbClr val="000000"/>
                </a:solidFill>
                <a:latin typeface="Calibri"/>
                <a:ea typeface="Calibri"/>
                <a:cs typeface="Calibri"/>
                <a:sym typeface="Calibri"/>
              </a:rPr>
              <a:t>D) CNNs require one-hot encodings.</a:t>
            </a:r>
            <a:endParaRPr b="0" i="0" sz="1700" u="none" cap="none" strike="noStrike">
              <a:solidFill>
                <a:srgbClr val="000000"/>
              </a:solidFill>
              <a:latin typeface="Calibri"/>
              <a:ea typeface="Calibri"/>
              <a:cs typeface="Calibri"/>
              <a:sym typeface="Calibri"/>
            </a:endParaRPr>
          </a:p>
          <a:p>
            <a:pPr indent="0" lvl="0" marL="457200" marR="0" rtl="0" algn="l">
              <a:lnSpc>
                <a:spcPct val="115000"/>
              </a:lnSpc>
              <a:spcBef>
                <a:spcPts val="1200"/>
              </a:spcBef>
              <a:spcAft>
                <a:spcPts val="0"/>
              </a:spcAft>
              <a:buClr>
                <a:srgbClr val="000000"/>
              </a:buClr>
              <a:buSzPts val="1700"/>
              <a:buFont typeface="Arial"/>
              <a:buNone/>
            </a:pPr>
            <a:r>
              <a:rPr b="1" i="0" lang="en" sz="1700" u="none" cap="none" strike="noStrike">
                <a:solidFill>
                  <a:srgbClr val="000000"/>
                </a:solidFill>
                <a:latin typeface="Calibri"/>
                <a:ea typeface="Calibri"/>
                <a:cs typeface="Calibri"/>
                <a:sym typeface="Calibri"/>
              </a:rPr>
              <a:t> </a:t>
            </a:r>
            <a:endParaRPr b="1" i="0" sz="1700" u="none" cap="none" strike="noStrike">
              <a:solidFill>
                <a:srgbClr val="000000"/>
              </a:solidFill>
              <a:latin typeface="Calibri"/>
              <a:ea typeface="Calibri"/>
              <a:cs typeface="Calibri"/>
              <a:sym typeface="Calibri"/>
            </a:endParaRPr>
          </a:p>
          <a:p>
            <a:pPr indent="0" lvl="0" marL="0" marR="0" rtl="0" algn="l">
              <a:lnSpc>
                <a:spcPct val="115000"/>
              </a:lnSpc>
              <a:spcBef>
                <a:spcPts val="1200"/>
              </a:spcBef>
              <a:spcAft>
                <a:spcPts val="0"/>
              </a:spcAft>
              <a:buClr>
                <a:srgbClr val="000000"/>
              </a:buClr>
              <a:buSzPts val="1700"/>
              <a:buFont typeface="Arial"/>
              <a:buNone/>
            </a:pPr>
            <a:r>
              <a:t/>
            </a:r>
            <a:endParaRPr b="1" i="0" sz="1700" u="none" cap="none" strike="noStrike">
              <a:solidFill>
                <a:srgbClr val="000000"/>
              </a:solidFill>
              <a:latin typeface="Calibri"/>
              <a:ea typeface="Calibri"/>
              <a:cs typeface="Calibri"/>
              <a:sym typeface="Calibri"/>
            </a:endParaRPr>
          </a:p>
          <a:p>
            <a:pPr indent="0" lvl="0" marL="457200" marR="0" rtl="0" algn="l">
              <a:lnSpc>
                <a:spcPct val="115000"/>
              </a:lnSpc>
              <a:spcBef>
                <a:spcPts val="1200"/>
              </a:spcBef>
              <a:spcAft>
                <a:spcPts val="0"/>
              </a:spcAft>
              <a:buClr>
                <a:srgbClr val="000000"/>
              </a:buClr>
              <a:buSzPts val="1100"/>
              <a:buFont typeface="Arial"/>
              <a:buNone/>
            </a:pPr>
            <a:r>
              <a:t/>
            </a:r>
            <a:endParaRPr b="0" i="0" sz="1100" u="none" cap="none" strike="noStrike">
              <a:solidFill>
                <a:srgbClr val="FF0000"/>
              </a:solidFill>
              <a:latin typeface="Arial"/>
              <a:ea typeface="Arial"/>
              <a:cs typeface="Arial"/>
              <a:sym typeface="Arial"/>
            </a:endParaRPr>
          </a:p>
          <a:p>
            <a:pPr indent="0" lvl="0" marL="457200" marR="0" rtl="0" algn="l">
              <a:lnSpc>
                <a:spcPct val="115000"/>
              </a:lnSpc>
              <a:spcBef>
                <a:spcPts val="1200"/>
              </a:spcBef>
              <a:spcAft>
                <a:spcPts val="0"/>
              </a:spcAft>
              <a:buClr>
                <a:srgbClr val="000000"/>
              </a:buClr>
              <a:buSzPts val="1100"/>
              <a:buFont typeface="Arial"/>
              <a:buNone/>
            </a:pPr>
            <a:r>
              <a:t/>
            </a:r>
            <a:endParaRPr b="0" i="0" sz="1100" u="none" cap="none" strike="noStrike">
              <a:solidFill>
                <a:srgbClr val="FF0000"/>
              </a:solidFill>
              <a:latin typeface="Arial"/>
              <a:ea typeface="Arial"/>
              <a:cs typeface="Arial"/>
              <a:sym typeface="Arial"/>
            </a:endParaRPr>
          </a:p>
          <a:p>
            <a:pPr indent="0" lvl="0" marL="0" marR="0" rtl="0" algn="l">
              <a:lnSpc>
                <a:spcPct val="115000"/>
              </a:lnSpc>
              <a:spcBef>
                <a:spcPts val="1200"/>
              </a:spcBef>
              <a:spcAft>
                <a:spcPts val="1200"/>
              </a:spcAft>
              <a:buClr>
                <a:srgbClr val="000000"/>
              </a:buClr>
              <a:buSzPts val="1700"/>
              <a:buFont typeface="Arial"/>
              <a:buNone/>
            </a:pPr>
            <a:r>
              <a:t/>
            </a:r>
            <a:endParaRPr b="1" i="0" sz="1700" u="none" cap="none" strike="noStrike">
              <a:solidFill>
                <a:srgbClr val="000000"/>
              </a:solidFill>
              <a:latin typeface="Calibri"/>
              <a:ea typeface="Calibri"/>
              <a:cs typeface="Calibri"/>
              <a:sym typeface="Calibri"/>
            </a:endParaRPr>
          </a:p>
        </p:txBody>
      </p:sp>
      <p:pic>
        <p:nvPicPr>
          <p:cNvPr id="1581" name="Google Shape;1581;p34"/>
          <p:cNvPicPr preferRelativeResize="0"/>
          <p:nvPr/>
        </p:nvPicPr>
        <p:blipFill rotWithShape="1">
          <a:blip r:embed="rId4">
            <a:alphaModFix/>
          </a:blip>
          <a:srcRect b="0" l="0" r="0" t="0"/>
          <a:stretch/>
        </p:blipFill>
        <p:spPr>
          <a:xfrm>
            <a:off x="6266300" y="1019685"/>
            <a:ext cx="2725300" cy="3765728"/>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5" name="Shape 1585"/>
        <p:cNvGrpSpPr/>
        <p:nvPr/>
      </p:nvGrpSpPr>
      <p:grpSpPr>
        <a:xfrm>
          <a:off x="0" y="0"/>
          <a:ext cx="0" cy="0"/>
          <a:chOff x="0" y="0"/>
          <a:chExt cx="0" cy="0"/>
        </a:xfrm>
      </p:grpSpPr>
      <p:sp>
        <p:nvSpPr>
          <p:cNvPr id="1586" name="Google Shape;1586;p35"/>
          <p:cNvSpPr/>
          <p:nvPr/>
        </p:nvSpPr>
        <p:spPr>
          <a:xfrm>
            <a:off x="132375" y="181485"/>
            <a:ext cx="822960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D1B2A"/>
              </a:buClr>
              <a:buSzPts val="2600"/>
              <a:buFont typeface="Calibri"/>
              <a:buNone/>
            </a:pPr>
            <a:r>
              <a:rPr b="1" i="0" lang="en" sz="2600" u="none" cap="none" strike="noStrike">
                <a:solidFill>
                  <a:srgbClr val="0D1B2A"/>
                </a:solidFill>
                <a:latin typeface="Calibri"/>
                <a:ea typeface="Calibri"/>
                <a:cs typeface="Calibri"/>
                <a:sym typeface="Calibri"/>
              </a:rPr>
              <a:t>Quiz 3</a:t>
            </a:r>
            <a:endParaRPr b="0" i="0" sz="2600" u="none" cap="none" strike="noStrike">
              <a:solidFill>
                <a:srgbClr val="000000"/>
              </a:solidFill>
              <a:latin typeface="Calibri"/>
              <a:ea typeface="Calibri"/>
              <a:cs typeface="Calibri"/>
              <a:sym typeface="Calibri"/>
            </a:endParaRPr>
          </a:p>
        </p:txBody>
      </p:sp>
      <p:pic>
        <p:nvPicPr>
          <p:cNvPr id="1587" name="Google Shape;1587;p35"/>
          <p:cNvPicPr preferRelativeResize="0"/>
          <p:nvPr/>
        </p:nvPicPr>
        <p:blipFill rotWithShape="1">
          <a:blip r:embed="rId3">
            <a:alphaModFix/>
          </a:blip>
          <a:srcRect b="0" l="0" r="0" t="0"/>
          <a:stretch/>
        </p:blipFill>
        <p:spPr>
          <a:xfrm>
            <a:off x="8369125" y="0"/>
            <a:ext cx="774877" cy="867174"/>
          </a:xfrm>
          <a:prstGeom prst="rect">
            <a:avLst/>
          </a:prstGeom>
          <a:noFill/>
          <a:ln>
            <a:noFill/>
          </a:ln>
        </p:spPr>
      </p:pic>
      <p:sp>
        <p:nvSpPr>
          <p:cNvPr id="1588" name="Google Shape;1588;p35"/>
          <p:cNvSpPr txBox="1"/>
          <p:nvPr/>
        </p:nvSpPr>
        <p:spPr>
          <a:xfrm>
            <a:off x="304100" y="867175"/>
            <a:ext cx="5809800" cy="5832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700"/>
              <a:buFont typeface="Arial"/>
              <a:buNone/>
            </a:pPr>
            <a:r>
              <a:rPr b="0" i="0" lang="en" sz="1700" u="none" cap="none" strike="noStrike">
                <a:solidFill>
                  <a:srgbClr val="000000"/>
                </a:solidFill>
                <a:latin typeface="Calibri"/>
                <a:ea typeface="Calibri"/>
                <a:cs typeface="Calibri"/>
                <a:sym typeface="Calibri"/>
              </a:rPr>
              <a:t>Consider a document containing 1000 words. The word at position 1000 needs information that appeared at position 1 to be interpreted correctly. A standard CNN can theoretically capture such information if it is made sufficiently deep. However, what practical challenge remains?</a:t>
            </a:r>
            <a:endParaRPr b="0" i="0" sz="1700" u="none" cap="none" strike="noStrike">
              <a:solidFill>
                <a:srgbClr val="000000"/>
              </a:solidFill>
              <a:latin typeface="Calibri"/>
              <a:ea typeface="Calibri"/>
              <a:cs typeface="Calibri"/>
              <a:sym typeface="Calibri"/>
            </a:endParaRPr>
          </a:p>
          <a:p>
            <a:pPr indent="0" lvl="0" marL="457200" marR="0" rtl="0" algn="l">
              <a:lnSpc>
                <a:spcPct val="115000"/>
              </a:lnSpc>
              <a:spcBef>
                <a:spcPts val="1200"/>
              </a:spcBef>
              <a:spcAft>
                <a:spcPts val="0"/>
              </a:spcAft>
              <a:buClr>
                <a:srgbClr val="000000"/>
              </a:buClr>
              <a:buSzPts val="1700"/>
              <a:buFont typeface="Arial"/>
              <a:buNone/>
            </a:pPr>
            <a:r>
              <a:rPr b="0" i="0" lang="en" sz="1700" u="none" cap="none" strike="noStrike">
                <a:solidFill>
                  <a:srgbClr val="000000"/>
                </a:solidFill>
                <a:latin typeface="Calibri"/>
                <a:ea typeface="Calibri"/>
                <a:cs typeface="Calibri"/>
                <a:sym typeface="Calibri"/>
              </a:rPr>
              <a:t>A) CNNs cannot process sequences.</a:t>
            </a:r>
            <a:endParaRPr b="0" i="0" sz="1700" u="none" cap="none" strike="noStrike">
              <a:solidFill>
                <a:srgbClr val="000000"/>
              </a:solidFill>
              <a:latin typeface="Calibri"/>
              <a:ea typeface="Calibri"/>
              <a:cs typeface="Calibri"/>
              <a:sym typeface="Calibri"/>
            </a:endParaRPr>
          </a:p>
          <a:p>
            <a:pPr indent="0" lvl="0" marL="457200" marR="0" rtl="0" algn="l">
              <a:lnSpc>
                <a:spcPct val="115000"/>
              </a:lnSpc>
              <a:spcBef>
                <a:spcPts val="1200"/>
              </a:spcBef>
              <a:spcAft>
                <a:spcPts val="0"/>
              </a:spcAft>
              <a:buClr>
                <a:srgbClr val="000000"/>
              </a:buClr>
              <a:buSzPts val="1700"/>
              <a:buFont typeface="Arial"/>
              <a:buNone/>
            </a:pPr>
            <a:r>
              <a:rPr b="0" i="0" lang="en" sz="1700" u="none" cap="none" strike="noStrike">
                <a:solidFill>
                  <a:srgbClr val="000000"/>
                </a:solidFill>
                <a:latin typeface="Calibri"/>
                <a:ea typeface="Calibri"/>
                <a:cs typeface="Calibri"/>
                <a:sym typeface="Calibri"/>
              </a:rPr>
              <a:t>B) Information must travel through many layers, making long-range dependencies harder to learn and represent.</a:t>
            </a:r>
            <a:endParaRPr b="0" i="0" sz="1700" u="none" cap="none" strike="noStrike">
              <a:solidFill>
                <a:srgbClr val="000000"/>
              </a:solidFill>
              <a:latin typeface="Calibri"/>
              <a:ea typeface="Calibri"/>
              <a:cs typeface="Calibri"/>
              <a:sym typeface="Calibri"/>
            </a:endParaRPr>
          </a:p>
          <a:p>
            <a:pPr indent="0" lvl="0" marL="457200" marR="0" rtl="0" algn="l">
              <a:lnSpc>
                <a:spcPct val="115000"/>
              </a:lnSpc>
              <a:spcBef>
                <a:spcPts val="1200"/>
              </a:spcBef>
              <a:spcAft>
                <a:spcPts val="0"/>
              </a:spcAft>
              <a:buClr>
                <a:srgbClr val="000000"/>
              </a:buClr>
              <a:buSzPts val="1700"/>
              <a:buFont typeface="Arial"/>
              <a:buNone/>
            </a:pPr>
            <a:r>
              <a:rPr b="0" i="0" lang="en" sz="1700" u="none" cap="none" strike="noStrike">
                <a:solidFill>
                  <a:srgbClr val="000000"/>
                </a:solidFill>
                <a:latin typeface="Calibri"/>
                <a:ea typeface="Calibri"/>
                <a:cs typeface="Calibri"/>
                <a:sym typeface="Calibri"/>
              </a:rPr>
              <a:t>C) CNNs cannot be trained using gradient descent.</a:t>
            </a:r>
            <a:endParaRPr b="0" i="0" sz="1700" u="none" cap="none" strike="noStrike">
              <a:solidFill>
                <a:srgbClr val="000000"/>
              </a:solidFill>
              <a:latin typeface="Calibri"/>
              <a:ea typeface="Calibri"/>
              <a:cs typeface="Calibri"/>
              <a:sym typeface="Calibri"/>
            </a:endParaRPr>
          </a:p>
          <a:p>
            <a:pPr indent="0" lvl="0" marL="457200" marR="0" rtl="0" algn="l">
              <a:lnSpc>
                <a:spcPct val="115000"/>
              </a:lnSpc>
              <a:spcBef>
                <a:spcPts val="1200"/>
              </a:spcBef>
              <a:spcAft>
                <a:spcPts val="0"/>
              </a:spcAft>
              <a:buClr>
                <a:srgbClr val="000000"/>
              </a:buClr>
              <a:buSzPts val="1700"/>
              <a:buFont typeface="Arial"/>
              <a:buNone/>
            </a:pPr>
            <a:r>
              <a:rPr b="0" i="0" lang="en" sz="1700" u="none" cap="none" strike="noStrike">
                <a:solidFill>
                  <a:srgbClr val="000000"/>
                </a:solidFill>
                <a:latin typeface="Calibri"/>
                <a:ea typeface="Calibri"/>
                <a:cs typeface="Calibri"/>
                <a:sym typeface="Calibri"/>
              </a:rPr>
              <a:t>D) CNNs require one-hot encodings.</a:t>
            </a:r>
            <a:endParaRPr b="0" i="0" sz="1700" u="none" cap="none" strike="noStrike">
              <a:solidFill>
                <a:srgbClr val="000000"/>
              </a:solidFill>
              <a:latin typeface="Calibri"/>
              <a:ea typeface="Calibri"/>
              <a:cs typeface="Calibri"/>
              <a:sym typeface="Calibri"/>
            </a:endParaRPr>
          </a:p>
          <a:p>
            <a:pPr indent="0" lvl="0" marL="457200" marR="0" rtl="0" algn="l">
              <a:lnSpc>
                <a:spcPct val="115000"/>
              </a:lnSpc>
              <a:spcBef>
                <a:spcPts val="1200"/>
              </a:spcBef>
              <a:spcAft>
                <a:spcPts val="0"/>
              </a:spcAft>
              <a:buClr>
                <a:srgbClr val="000000"/>
              </a:buClr>
              <a:buSzPts val="1700"/>
              <a:buFont typeface="Arial"/>
              <a:buNone/>
            </a:pPr>
            <a:r>
              <a:rPr b="1" i="0" lang="en" sz="1700" u="none" cap="none" strike="noStrike">
                <a:solidFill>
                  <a:srgbClr val="000000"/>
                </a:solidFill>
                <a:latin typeface="Calibri"/>
                <a:ea typeface="Calibri"/>
                <a:cs typeface="Calibri"/>
                <a:sym typeface="Calibri"/>
              </a:rPr>
              <a:t> </a:t>
            </a:r>
            <a:endParaRPr b="1" i="0" sz="1700" u="none" cap="none" strike="noStrike">
              <a:solidFill>
                <a:srgbClr val="000000"/>
              </a:solidFill>
              <a:latin typeface="Calibri"/>
              <a:ea typeface="Calibri"/>
              <a:cs typeface="Calibri"/>
              <a:sym typeface="Calibri"/>
            </a:endParaRPr>
          </a:p>
          <a:p>
            <a:pPr indent="0" lvl="0" marL="0" marR="0" rtl="0" algn="l">
              <a:lnSpc>
                <a:spcPct val="115000"/>
              </a:lnSpc>
              <a:spcBef>
                <a:spcPts val="1200"/>
              </a:spcBef>
              <a:spcAft>
                <a:spcPts val="0"/>
              </a:spcAft>
              <a:buClr>
                <a:srgbClr val="000000"/>
              </a:buClr>
              <a:buSzPts val="1700"/>
              <a:buFont typeface="Arial"/>
              <a:buNone/>
            </a:pPr>
            <a:r>
              <a:t/>
            </a:r>
            <a:endParaRPr b="1" i="0" sz="1700" u="none" cap="none" strike="noStrike">
              <a:solidFill>
                <a:srgbClr val="000000"/>
              </a:solidFill>
              <a:latin typeface="Calibri"/>
              <a:ea typeface="Calibri"/>
              <a:cs typeface="Calibri"/>
              <a:sym typeface="Calibri"/>
            </a:endParaRPr>
          </a:p>
          <a:p>
            <a:pPr indent="0" lvl="0" marL="457200" marR="0" rtl="0" algn="l">
              <a:lnSpc>
                <a:spcPct val="115000"/>
              </a:lnSpc>
              <a:spcBef>
                <a:spcPts val="1200"/>
              </a:spcBef>
              <a:spcAft>
                <a:spcPts val="0"/>
              </a:spcAft>
              <a:buClr>
                <a:srgbClr val="000000"/>
              </a:buClr>
              <a:buSzPts val="1100"/>
              <a:buFont typeface="Arial"/>
              <a:buNone/>
            </a:pPr>
            <a:r>
              <a:t/>
            </a:r>
            <a:endParaRPr b="0" i="0" sz="1100" u="none" cap="none" strike="noStrike">
              <a:solidFill>
                <a:srgbClr val="FF0000"/>
              </a:solidFill>
              <a:latin typeface="Arial"/>
              <a:ea typeface="Arial"/>
              <a:cs typeface="Arial"/>
              <a:sym typeface="Arial"/>
            </a:endParaRPr>
          </a:p>
          <a:p>
            <a:pPr indent="0" lvl="0" marL="457200" marR="0" rtl="0" algn="l">
              <a:lnSpc>
                <a:spcPct val="115000"/>
              </a:lnSpc>
              <a:spcBef>
                <a:spcPts val="1200"/>
              </a:spcBef>
              <a:spcAft>
                <a:spcPts val="0"/>
              </a:spcAft>
              <a:buClr>
                <a:srgbClr val="000000"/>
              </a:buClr>
              <a:buSzPts val="1100"/>
              <a:buFont typeface="Arial"/>
              <a:buNone/>
            </a:pPr>
            <a:r>
              <a:t/>
            </a:r>
            <a:endParaRPr b="0" i="0" sz="1100" u="none" cap="none" strike="noStrike">
              <a:solidFill>
                <a:srgbClr val="FF0000"/>
              </a:solidFill>
              <a:latin typeface="Arial"/>
              <a:ea typeface="Arial"/>
              <a:cs typeface="Arial"/>
              <a:sym typeface="Arial"/>
            </a:endParaRPr>
          </a:p>
          <a:p>
            <a:pPr indent="0" lvl="0" marL="0" marR="0" rtl="0" algn="l">
              <a:lnSpc>
                <a:spcPct val="115000"/>
              </a:lnSpc>
              <a:spcBef>
                <a:spcPts val="1200"/>
              </a:spcBef>
              <a:spcAft>
                <a:spcPts val="1200"/>
              </a:spcAft>
              <a:buClr>
                <a:srgbClr val="000000"/>
              </a:buClr>
              <a:buSzPts val="1700"/>
              <a:buFont typeface="Arial"/>
              <a:buNone/>
            </a:pPr>
            <a:r>
              <a:t/>
            </a:r>
            <a:endParaRPr b="1" i="0" sz="1700" u="none" cap="none" strike="noStrike">
              <a:solidFill>
                <a:srgbClr val="000000"/>
              </a:solidFill>
              <a:latin typeface="Calibri"/>
              <a:ea typeface="Calibri"/>
              <a:cs typeface="Calibri"/>
              <a:sym typeface="Calibri"/>
            </a:endParaRPr>
          </a:p>
        </p:txBody>
      </p:sp>
      <p:sp>
        <p:nvSpPr>
          <p:cNvPr id="1589" name="Google Shape;1589;p35"/>
          <p:cNvSpPr txBox="1"/>
          <p:nvPr/>
        </p:nvSpPr>
        <p:spPr>
          <a:xfrm>
            <a:off x="5855381" y="3116579"/>
            <a:ext cx="5097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1200"/>
              </a:spcAft>
              <a:buClr>
                <a:srgbClr val="000000"/>
              </a:buClr>
              <a:buSzPts val="1700"/>
              <a:buFont typeface="Arial"/>
              <a:buNone/>
            </a:pPr>
            <a:r>
              <a:rPr b="0" i="0" lang="en" sz="1700" u="none" cap="none" strike="noStrike">
                <a:solidFill>
                  <a:schemeClr val="dk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pic>
        <p:nvPicPr>
          <p:cNvPr id="1590" name="Google Shape;1590;p35"/>
          <p:cNvPicPr preferRelativeResize="0"/>
          <p:nvPr/>
        </p:nvPicPr>
        <p:blipFill rotWithShape="1">
          <a:blip r:embed="rId4">
            <a:alphaModFix/>
          </a:blip>
          <a:srcRect b="0" l="0" r="0" t="0"/>
          <a:stretch/>
        </p:blipFill>
        <p:spPr>
          <a:xfrm>
            <a:off x="6517481" y="1019685"/>
            <a:ext cx="2474119" cy="3418655"/>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95" name="Shape 1595"/>
        <p:cNvGrpSpPr/>
        <p:nvPr/>
      </p:nvGrpSpPr>
      <p:grpSpPr>
        <a:xfrm>
          <a:off x="0" y="0"/>
          <a:ext cx="0" cy="0"/>
          <a:chOff x="0" y="0"/>
          <a:chExt cx="0" cy="0"/>
        </a:xfrm>
      </p:grpSpPr>
      <p:sp>
        <p:nvSpPr>
          <p:cNvPr id="1596" name="Google Shape;1596;g3f6a040a5a3_1_97"/>
          <p:cNvSpPr/>
          <p:nvPr/>
        </p:nvSpPr>
        <p:spPr>
          <a:xfrm>
            <a:off x="411480" y="308610"/>
            <a:ext cx="5966700" cy="44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1295C"/>
              </a:buClr>
              <a:buSzPts val="2300"/>
              <a:buFont typeface="Cambria"/>
              <a:buNone/>
            </a:pPr>
            <a:r>
              <a:rPr b="1" i="0" lang="en" sz="2300" u="none" cap="none" strike="noStrike">
                <a:solidFill>
                  <a:srgbClr val="21295C"/>
                </a:solidFill>
                <a:latin typeface="Cambria"/>
                <a:ea typeface="Cambria"/>
                <a:cs typeface="Cambria"/>
                <a:sym typeface="Cambria"/>
              </a:rPr>
              <a:t>CNNs &amp; Long-Range Dependencies</a:t>
            </a:r>
            <a:endParaRPr b="0" i="0" sz="2300" u="none" cap="none" strike="noStrike">
              <a:solidFill>
                <a:schemeClr val="dk1"/>
              </a:solidFill>
              <a:latin typeface="Calibri"/>
              <a:ea typeface="Calibri"/>
              <a:cs typeface="Calibri"/>
              <a:sym typeface="Calibri"/>
            </a:endParaRPr>
          </a:p>
        </p:txBody>
      </p:sp>
      <p:sp>
        <p:nvSpPr>
          <p:cNvPr id="1597" name="Google Shape;1597;g3f6a040a5a3_1_97"/>
          <p:cNvSpPr/>
          <p:nvPr/>
        </p:nvSpPr>
        <p:spPr>
          <a:xfrm>
            <a:off x="411480" y="788670"/>
            <a:ext cx="59667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472"/>
              </a:buClr>
              <a:buSzPts val="1100"/>
              <a:buFont typeface="Calibri"/>
              <a:buNone/>
            </a:pPr>
            <a:r>
              <a:rPr b="0" i="1" lang="en" sz="1100" u="none" cap="none" strike="noStrike">
                <a:solidFill>
                  <a:srgbClr val="5B6472"/>
                </a:solidFill>
                <a:latin typeface="Calibri"/>
                <a:ea typeface="Calibri"/>
                <a:cs typeface="Calibri"/>
                <a:sym typeface="Calibri"/>
              </a:rPr>
              <a:t>Word 1 must inform word 1000 — theoretically reachable, practically hard</a:t>
            </a:r>
            <a:endParaRPr b="0" i="0" sz="1100" u="none" cap="none" strike="noStrike">
              <a:solidFill>
                <a:schemeClr val="dk1"/>
              </a:solidFill>
              <a:latin typeface="Calibri"/>
              <a:ea typeface="Calibri"/>
              <a:cs typeface="Calibri"/>
              <a:sym typeface="Calibri"/>
            </a:endParaRPr>
          </a:p>
        </p:txBody>
      </p:sp>
      <p:sp>
        <p:nvSpPr>
          <p:cNvPr id="1598" name="Google Shape;1598;g3f6a040a5a3_1_97"/>
          <p:cNvSpPr/>
          <p:nvPr/>
        </p:nvSpPr>
        <p:spPr>
          <a:xfrm>
            <a:off x="6583680" y="274320"/>
            <a:ext cx="2160300" cy="857400"/>
          </a:xfrm>
          <a:prstGeom prst="roundRect">
            <a:avLst>
              <a:gd fmla="val 8000" name="adj"/>
            </a:avLst>
          </a:prstGeom>
          <a:solidFill>
            <a:srgbClr val="21295C"/>
          </a:solidFill>
          <a:ln>
            <a:noFill/>
          </a:ln>
          <a:effectLst>
            <a:outerShdw blurRad="76200" rotWithShape="0" algn="bl" dir="5400000" dist="28575">
              <a:srgbClr val="BFC9D6">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9" name="Google Shape;1599;g3f6a040a5a3_1_97"/>
          <p:cNvSpPr/>
          <p:nvPr/>
        </p:nvSpPr>
        <p:spPr>
          <a:xfrm>
            <a:off x="6583680" y="342900"/>
            <a:ext cx="2160300" cy="411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B627"/>
              </a:buClr>
              <a:buSzPts val="1900"/>
              <a:buFont typeface="Cambria"/>
              <a:buNone/>
            </a:pPr>
            <a:r>
              <a:rPr b="1" i="0" lang="en" sz="1900" u="none" cap="none" strike="noStrike">
                <a:solidFill>
                  <a:srgbClr val="FFB627"/>
                </a:solidFill>
                <a:latin typeface="Cambria"/>
                <a:ea typeface="Cambria"/>
                <a:cs typeface="Cambria"/>
                <a:sym typeface="Cambria"/>
              </a:rPr>
              <a:t>1</a:t>
            </a:r>
            <a:r>
              <a:rPr b="0" i="0" lang="en" sz="1900" u="none" cap="none" strike="noStrike">
                <a:solidFill>
                  <a:srgbClr val="9FB0D9"/>
                </a:solidFill>
                <a:latin typeface="Cambria"/>
                <a:ea typeface="Cambria"/>
                <a:cs typeface="Cambria"/>
                <a:sym typeface="Cambria"/>
              </a:rPr>
              <a:t>  →  </a:t>
            </a:r>
            <a:r>
              <a:rPr b="1" i="0" lang="en" sz="1900" u="none" cap="none" strike="noStrike">
                <a:solidFill>
                  <a:srgbClr val="FFFFFF"/>
                </a:solidFill>
                <a:latin typeface="Cambria"/>
                <a:ea typeface="Cambria"/>
                <a:cs typeface="Cambria"/>
                <a:sym typeface="Cambria"/>
              </a:rPr>
              <a:t>1000</a:t>
            </a:r>
            <a:endParaRPr b="0" i="0" sz="1900" u="none" cap="none" strike="noStrike">
              <a:solidFill>
                <a:schemeClr val="dk1"/>
              </a:solidFill>
              <a:latin typeface="Calibri"/>
              <a:ea typeface="Calibri"/>
              <a:cs typeface="Calibri"/>
              <a:sym typeface="Calibri"/>
            </a:endParaRPr>
          </a:p>
        </p:txBody>
      </p:sp>
      <p:sp>
        <p:nvSpPr>
          <p:cNvPr id="1600" name="Google Shape;1600;g3f6a040a5a3_1_97"/>
          <p:cNvSpPr/>
          <p:nvPr/>
        </p:nvSpPr>
        <p:spPr>
          <a:xfrm>
            <a:off x="6686550" y="788670"/>
            <a:ext cx="1954500" cy="308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ADCFC"/>
              </a:buClr>
              <a:buSzPts val="900"/>
              <a:buFont typeface="Calibri"/>
              <a:buNone/>
            </a:pPr>
            <a:r>
              <a:rPr b="0" i="0" lang="en" sz="900" u="none" cap="none" strike="noStrike">
                <a:solidFill>
                  <a:srgbClr val="CADCFC"/>
                </a:solidFill>
                <a:latin typeface="Calibri"/>
                <a:ea typeface="Calibri"/>
                <a:cs typeface="Calibri"/>
                <a:sym typeface="Calibri"/>
              </a:rPr>
              <a:t>word positions a CNN must bridge, layer by layer</a:t>
            </a:r>
            <a:endParaRPr b="0" i="0" sz="900" u="none" cap="none" strike="noStrike">
              <a:solidFill>
                <a:schemeClr val="dk1"/>
              </a:solidFill>
              <a:latin typeface="Calibri"/>
              <a:ea typeface="Calibri"/>
              <a:cs typeface="Calibri"/>
              <a:sym typeface="Calibri"/>
            </a:endParaRPr>
          </a:p>
        </p:txBody>
      </p:sp>
      <p:sp>
        <p:nvSpPr>
          <p:cNvPr id="1601" name="Google Shape;1601;g3f6a040a5a3_1_97"/>
          <p:cNvSpPr/>
          <p:nvPr/>
        </p:nvSpPr>
        <p:spPr>
          <a:xfrm>
            <a:off x="411480" y="1268730"/>
            <a:ext cx="4114800" cy="1748700"/>
          </a:xfrm>
          <a:prstGeom prst="roundRect">
            <a:avLst>
              <a:gd fmla="val 3922" name="adj"/>
            </a:avLst>
          </a:prstGeom>
          <a:solidFill>
            <a:srgbClr val="F4F7FA"/>
          </a:solidFill>
          <a:ln>
            <a:noFill/>
          </a:ln>
          <a:effectLst>
            <a:outerShdw blurRad="76200" rotWithShape="0" algn="bl" dir="5400000" dist="28575">
              <a:srgbClr val="BFC9D6">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2" name="Google Shape;1602;g3f6a040a5a3_1_97"/>
          <p:cNvSpPr/>
          <p:nvPr/>
        </p:nvSpPr>
        <p:spPr>
          <a:xfrm>
            <a:off x="651510" y="1508760"/>
            <a:ext cx="411600" cy="411600"/>
          </a:xfrm>
          <a:prstGeom prst="ellipse">
            <a:avLst/>
          </a:prstGeom>
          <a:solidFill>
            <a:srgbClr val="AEB8C4"/>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3" name="Google Shape;1603;g3f6a040a5a3_1_97"/>
          <p:cNvSpPr/>
          <p:nvPr/>
        </p:nvSpPr>
        <p:spPr>
          <a:xfrm>
            <a:off x="651510" y="1508760"/>
            <a:ext cx="411600" cy="411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700"/>
              <a:buFont typeface="Calibri"/>
              <a:buNone/>
            </a:pPr>
            <a:r>
              <a:rPr b="1" i="0" lang="en" sz="1700" u="none" cap="none" strike="noStrike">
                <a:solidFill>
                  <a:srgbClr val="FFFFFF"/>
                </a:solidFill>
                <a:latin typeface="Calibri"/>
                <a:ea typeface="Calibri"/>
                <a:cs typeface="Calibri"/>
                <a:sym typeface="Calibri"/>
              </a:rPr>
              <a:t>A</a:t>
            </a:r>
            <a:endParaRPr b="0" i="0" sz="1700" u="none" cap="none" strike="noStrike">
              <a:solidFill>
                <a:schemeClr val="dk1"/>
              </a:solidFill>
              <a:latin typeface="Calibri"/>
              <a:ea typeface="Calibri"/>
              <a:cs typeface="Calibri"/>
              <a:sym typeface="Calibri"/>
            </a:endParaRPr>
          </a:p>
        </p:txBody>
      </p:sp>
      <p:sp>
        <p:nvSpPr>
          <p:cNvPr id="1604" name="Google Shape;1604;g3f6a040a5a3_1_97"/>
          <p:cNvSpPr/>
          <p:nvPr/>
        </p:nvSpPr>
        <p:spPr>
          <a:xfrm>
            <a:off x="3977640" y="1460754"/>
            <a:ext cx="342900" cy="342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B85042"/>
              </a:buClr>
              <a:buSzPts val="1800"/>
              <a:buFont typeface="Calibri"/>
              <a:buNone/>
            </a:pPr>
            <a:r>
              <a:rPr b="1" i="0" lang="en" sz="1800" u="none" cap="none" strike="noStrike">
                <a:solidFill>
                  <a:srgbClr val="B85042"/>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1605" name="Google Shape;1605;g3f6a040a5a3_1_97"/>
          <p:cNvSpPr/>
          <p:nvPr/>
        </p:nvSpPr>
        <p:spPr>
          <a:xfrm>
            <a:off x="1200150" y="1447038"/>
            <a:ext cx="2674500" cy="480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1295C"/>
              </a:buClr>
              <a:buSzPts val="1200"/>
              <a:buFont typeface="Calibri"/>
              <a:buNone/>
            </a:pPr>
            <a:r>
              <a:rPr b="1" i="0" lang="en" sz="1200" u="none" cap="none" strike="noStrike">
                <a:solidFill>
                  <a:srgbClr val="21295C"/>
                </a:solidFill>
                <a:latin typeface="Calibri"/>
                <a:ea typeface="Calibri"/>
                <a:cs typeface="Calibri"/>
                <a:sym typeface="Calibri"/>
              </a:rPr>
              <a:t>CNNs cannot process sequences</a:t>
            </a:r>
            <a:endParaRPr b="0" i="0" sz="1200" u="none" cap="none" strike="noStrike">
              <a:solidFill>
                <a:schemeClr val="dk1"/>
              </a:solidFill>
              <a:latin typeface="Calibri"/>
              <a:ea typeface="Calibri"/>
              <a:cs typeface="Calibri"/>
              <a:sym typeface="Calibri"/>
            </a:endParaRPr>
          </a:p>
        </p:txBody>
      </p:sp>
      <p:sp>
        <p:nvSpPr>
          <p:cNvPr id="1606" name="Google Shape;1606;g3f6a040a5a3_1_97"/>
          <p:cNvSpPr/>
          <p:nvPr/>
        </p:nvSpPr>
        <p:spPr>
          <a:xfrm>
            <a:off x="651510" y="2091690"/>
            <a:ext cx="3634500" cy="7545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5B6472"/>
              </a:buClr>
              <a:buSzPts val="1000"/>
              <a:buFont typeface="Calibri"/>
              <a:buNone/>
            </a:pPr>
            <a:r>
              <a:rPr b="0" i="0" lang="en" sz="1000" u="none" cap="none" strike="noStrike">
                <a:solidFill>
                  <a:srgbClr val="5B6472"/>
                </a:solidFill>
                <a:latin typeface="Calibri"/>
                <a:ea typeface="Calibri"/>
                <a:cs typeface="Calibri"/>
                <a:sym typeface="Calibri"/>
              </a:rPr>
              <a:t>False — 1D convolutions handle sequences routinely (text, audio). Sequence support isn't the issue.</a:t>
            </a:r>
            <a:endParaRPr b="0" i="0" sz="1000" u="none" cap="none" strike="noStrike">
              <a:solidFill>
                <a:schemeClr val="dk1"/>
              </a:solidFill>
              <a:latin typeface="Calibri"/>
              <a:ea typeface="Calibri"/>
              <a:cs typeface="Calibri"/>
              <a:sym typeface="Calibri"/>
            </a:endParaRPr>
          </a:p>
        </p:txBody>
      </p:sp>
      <p:sp>
        <p:nvSpPr>
          <p:cNvPr id="1607" name="Google Shape;1607;g3f6a040a5a3_1_97"/>
          <p:cNvSpPr/>
          <p:nvPr/>
        </p:nvSpPr>
        <p:spPr>
          <a:xfrm>
            <a:off x="4766310" y="1268730"/>
            <a:ext cx="4114800" cy="1748700"/>
          </a:xfrm>
          <a:prstGeom prst="roundRect">
            <a:avLst>
              <a:gd fmla="val 3922" name="adj"/>
            </a:avLst>
          </a:prstGeom>
          <a:solidFill>
            <a:srgbClr val="EAF3F4"/>
          </a:solidFill>
          <a:ln cap="flat" cmpd="sng" w="14300">
            <a:solidFill>
              <a:srgbClr val="1C7293"/>
            </a:solidFill>
            <a:prstDash val="solid"/>
            <a:round/>
            <a:headEnd len="sm" w="sm" type="none"/>
            <a:tailEnd len="sm" w="sm" type="none"/>
          </a:ln>
          <a:effectLst>
            <a:outerShdw blurRad="76200" rotWithShape="0" algn="bl" dir="5400000" dist="28575">
              <a:srgbClr val="BFC9D6">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8" name="Google Shape;1608;g3f6a040a5a3_1_97"/>
          <p:cNvSpPr/>
          <p:nvPr/>
        </p:nvSpPr>
        <p:spPr>
          <a:xfrm>
            <a:off x="5006340" y="1508760"/>
            <a:ext cx="411600" cy="411600"/>
          </a:xfrm>
          <a:prstGeom prst="ellipse">
            <a:avLst/>
          </a:prstGeom>
          <a:solidFill>
            <a:srgbClr val="1C7293"/>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9" name="Google Shape;1609;g3f6a040a5a3_1_97"/>
          <p:cNvSpPr/>
          <p:nvPr/>
        </p:nvSpPr>
        <p:spPr>
          <a:xfrm>
            <a:off x="5006340" y="1508760"/>
            <a:ext cx="411600" cy="411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700"/>
              <a:buFont typeface="Calibri"/>
              <a:buNone/>
            </a:pPr>
            <a:r>
              <a:rPr b="1" i="0" lang="en" sz="1700" u="none" cap="none" strike="noStrike">
                <a:solidFill>
                  <a:srgbClr val="FFFFFF"/>
                </a:solidFill>
                <a:latin typeface="Calibri"/>
                <a:ea typeface="Calibri"/>
                <a:cs typeface="Calibri"/>
                <a:sym typeface="Calibri"/>
              </a:rPr>
              <a:t>B</a:t>
            </a:r>
            <a:endParaRPr b="0" i="0" sz="1700" u="none" cap="none" strike="noStrike">
              <a:solidFill>
                <a:schemeClr val="dk1"/>
              </a:solidFill>
              <a:latin typeface="Calibri"/>
              <a:ea typeface="Calibri"/>
              <a:cs typeface="Calibri"/>
              <a:sym typeface="Calibri"/>
            </a:endParaRPr>
          </a:p>
        </p:txBody>
      </p:sp>
      <p:sp>
        <p:nvSpPr>
          <p:cNvPr id="1610" name="Google Shape;1610;g3f6a040a5a3_1_97"/>
          <p:cNvSpPr/>
          <p:nvPr/>
        </p:nvSpPr>
        <p:spPr>
          <a:xfrm>
            <a:off x="8332470" y="1460754"/>
            <a:ext cx="342900" cy="342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C7293"/>
              </a:buClr>
              <a:buSzPts val="1800"/>
              <a:buFont typeface="Calibri"/>
              <a:buNone/>
            </a:pPr>
            <a:r>
              <a:rPr b="1" i="0" lang="en" sz="1800" u="none" cap="none" strike="noStrike">
                <a:solidFill>
                  <a:srgbClr val="1C7293"/>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1611" name="Google Shape;1611;g3f6a040a5a3_1_97"/>
          <p:cNvSpPr/>
          <p:nvPr/>
        </p:nvSpPr>
        <p:spPr>
          <a:xfrm>
            <a:off x="5554980" y="1447038"/>
            <a:ext cx="2674500" cy="480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1295C"/>
              </a:buClr>
              <a:buSzPts val="1200"/>
              <a:buFont typeface="Calibri"/>
              <a:buNone/>
            </a:pPr>
            <a:r>
              <a:rPr b="1" i="0" lang="en" sz="1200" u="none" cap="none" strike="noStrike">
                <a:solidFill>
                  <a:srgbClr val="21295C"/>
                </a:solidFill>
                <a:latin typeface="Calibri"/>
                <a:ea typeface="Calibri"/>
                <a:cs typeface="Calibri"/>
                <a:sym typeface="Calibri"/>
              </a:rPr>
              <a:t>Info must travel through many layers</a:t>
            </a:r>
            <a:endParaRPr b="0" i="0" sz="1200" u="none" cap="none" strike="noStrike">
              <a:solidFill>
                <a:schemeClr val="dk1"/>
              </a:solidFill>
              <a:latin typeface="Calibri"/>
              <a:ea typeface="Calibri"/>
              <a:cs typeface="Calibri"/>
              <a:sym typeface="Calibri"/>
            </a:endParaRPr>
          </a:p>
        </p:txBody>
      </p:sp>
      <p:sp>
        <p:nvSpPr>
          <p:cNvPr id="1612" name="Google Shape;1612;g3f6a040a5a3_1_97"/>
          <p:cNvSpPr/>
          <p:nvPr/>
        </p:nvSpPr>
        <p:spPr>
          <a:xfrm>
            <a:off x="5006340" y="2091690"/>
            <a:ext cx="3634500" cy="7545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5B6472"/>
              </a:buClr>
              <a:buSzPts val="1000"/>
              <a:buFont typeface="Calibri"/>
              <a:buNone/>
            </a:pPr>
            <a:r>
              <a:rPr b="0" i="0" lang="en" sz="1000" u="none" cap="none" strike="noStrike">
                <a:solidFill>
                  <a:srgbClr val="5B6472"/>
                </a:solidFill>
                <a:latin typeface="Calibri"/>
                <a:ea typeface="Calibri"/>
                <a:cs typeface="Calibri"/>
                <a:sym typeface="Calibri"/>
              </a:rPr>
              <a:t>Correct — local receptive fields mean distant positions connect only via deep stacks; signal is harder to learn and represent over many hops.</a:t>
            </a:r>
            <a:endParaRPr b="0" i="0" sz="1000" u="none" cap="none" strike="noStrike">
              <a:solidFill>
                <a:schemeClr val="dk1"/>
              </a:solidFill>
              <a:latin typeface="Calibri"/>
              <a:ea typeface="Calibri"/>
              <a:cs typeface="Calibri"/>
              <a:sym typeface="Calibri"/>
            </a:endParaRPr>
          </a:p>
        </p:txBody>
      </p:sp>
      <p:sp>
        <p:nvSpPr>
          <p:cNvPr id="1613" name="Google Shape;1613;g3f6a040a5a3_1_97"/>
          <p:cNvSpPr/>
          <p:nvPr/>
        </p:nvSpPr>
        <p:spPr>
          <a:xfrm>
            <a:off x="411480" y="3257550"/>
            <a:ext cx="4114800" cy="1748700"/>
          </a:xfrm>
          <a:prstGeom prst="roundRect">
            <a:avLst>
              <a:gd fmla="val 3922" name="adj"/>
            </a:avLst>
          </a:prstGeom>
          <a:solidFill>
            <a:srgbClr val="F4F7FA"/>
          </a:solidFill>
          <a:ln>
            <a:noFill/>
          </a:ln>
          <a:effectLst>
            <a:outerShdw blurRad="76200" rotWithShape="0" algn="bl" dir="5400000" dist="28575">
              <a:srgbClr val="BFC9D6">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4" name="Google Shape;1614;g3f6a040a5a3_1_97"/>
          <p:cNvSpPr/>
          <p:nvPr/>
        </p:nvSpPr>
        <p:spPr>
          <a:xfrm>
            <a:off x="651510" y="3497580"/>
            <a:ext cx="411600" cy="411600"/>
          </a:xfrm>
          <a:prstGeom prst="ellipse">
            <a:avLst/>
          </a:prstGeom>
          <a:solidFill>
            <a:srgbClr val="AEB8C4"/>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5" name="Google Shape;1615;g3f6a040a5a3_1_97"/>
          <p:cNvSpPr/>
          <p:nvPr/>
        </p:nvSpPr>
        <p:spPr>
          <a:xfrm>
            <a:off x="651510" y="3497580"/>
            <a:ext cx="411600" cy="411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700"/>
              <a:buFont typeface="Calibri"/>
              <a:buNone/>
            </a:pPr>
            <a:r>
              <a:rPr b="1" i="0" lang="en" sz="1700" u="none" cap="none" strike="noStrike">
                <a:solidFill>
                  <a:srgbClr val="FFFFFF"/>
                </a:solidFill>
                <a:latin typeface="Calibri"/>
                <a:ea typeface="Calibri"/>
                <a:cs typeface="Calibri"/>
                <a:sym typeface="Calibri"/>
              </a:rPr>
              <a:t>C</a:t>
            </a:r>
            <a:endParaRPr b="0" i="0" sz="1700" u="none" cap="none" strike="noStrike">
              <a:solidFill>
                <a:schemeClr val="dk1"/>
              </a:solidFill>
              <a:latin typeface="Calibri"/>
              <a:ea typeface="Calibri"/>
              <a:cs typeface="Calibri"/>
              <a:sym typeface="Calibri"/>
            </a:endParaRPr>
          </a:p>
        </p:txBody>
      </p:sp>
      <p:sp>
        <p:nvSpPr>
          <p:cNvPr id="1616" name="Google Shape;1616;g3f6a040a5a3_1_97"/>
          <p:cNvSpPr/>
          <p:nvPr/>
        </p:nvSpPr>
        <p:spPr>
          <a:xfrm>
            <a:off x="3977640" y="3449574"/>
            <a:ext cx="342900" cy="342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B85042"/>
              </a:buClr>
              <a:buSzPts val="1800"/>
              <a:buFont typeface="Calibri"/>
              <a:buNone/>
            </a:pPr>
            <a:r>
              <a:rPr b="1" i="0" lang="en" sz="1800" u="none" cap="none" strike="noStrike">
                <a:solidFill>
                  <a:srgbClr val="B85042"/>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1617" name="Google Shape;1617;g3f6a040a5a3_1_97"/>
          <p:cNvSpPr/>
          <p:nvPr/>
        </p:nvSpPr>
        <p:spPr>
          <a:xfrm>
            <a:off x="1200150" y="3435858"/>
            <a:ext cx="2674500" cy="480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1295C"/>
              </a:buClr>
              <a:buSzPts val="1200"/>
              <a:buFont typeface="Calibri"/>
              <a:buNone/>
            </a:pPr>
            <a:r>
              <a:rPr b="1" i="0" lang="en" sz="1200" u="none" cap="none" strike="noStrike">
                <a:solidFill>
                  <a:srgbClr val="21295C"/>
                </a:solidFill>
                <a:latin typeface="Calibri"/>
                <a:ea typeface="Calibri"/>
                <a:cs typeface="Calibri"/>
                <a:sym typeface="Calibri"/>
              </a:rPr>
              <a:t>CNNs cannot use gradient descent</a:t>
            </a:r>
            <a:endParaRPr b="0" i="0" sz="1200" u="none" cap="none" strike="noStrike">
              <a:solidFill>
                <a:schemeClr val="dk1"/>
              </a:solidFill>
              <a:latin typeface="Calibri"/>
              <a:ea typeface="Calibri"/>
              <a:cs typeface="Calibri"/>
              <a:sym typeface="Calibri"/>
            </a:endParaRPr>
          </a:p>
        </p:txBody>
      </p:sp>
      <p:sp>
        <p:nvSpPr>
          <p:cNvPr id="1618" name="Google Shape;1618;g3f6a040a5a3_1_97"/>
          <p:cNvSpPr/>
          <p:nvPr/>
        </p:nvSpPr>
        <p:spPr>
          <a:xfrm>
            <a:off x="651510" y="4080510"/>
            <a:ext cx="3634500" cy="7545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5B6472"/>
              </a:buClr>
              <a:buSzPts val="1000"/>
              <a:buFont typeface="Calibri"/>
              <a:buNone/>
            </a:pPr>
            <a:r>
              <a:rPr b="0" i="0" lang="en" sz="1000" u="none" cap="none" strike="noStrike">
                <a:solidFill>
                  <a:srgbClr val="5B6472"/>
                </a:solidFill>
                <a:latin typeface="Calibri"/>
                <a:ea typeface="Calibri"/>
                <a:cs typeface="Calibri"/>
                <a:sym typeface="Calibri"/>
              </a:rPr>
              <a:t>False — CNNs are trained by ordinary backprop and gradient descent, same as any differentiable network.</a:t>
            </a:r>
            <a:endParaRPr b="0" i="0" sz="1000" u="none" cap="none" strike="noStrike">
              <a:solidFill>
                <a:schemeClr val="dk1"/>
              </a:solidFill>
              <a:latin typeface="Calibri"/>
              <a:ea typeface="Calibri"/>
              <a:cs typeface="Calibri"/>
              <a:sym typeface="Calibri"/>
            </a:endParaRPr>
          </a:p>
        </p:txBody>
      </p:sp>
      <p:sp>
        <p:nvSpPr>
          <p:cNvPr id="1619" name="Google Shape;1619;g3f6a040a5a3_1_97"/>
          <p:cNvSpPr/>
          <p:nvPr/>
        </p:nvSpPr>
        <p:spPr>
          <a:xfrm>
            <a:off x="4766310" y="3257550"/>
            <a:ext cx="4114800" cy="1748700"/>
          </a:xfrm>
          <a:prstGeom prst="roundRect">
            <a:avLst>
              <a:gd fmla="val 3922" name="adj"/>
            </a:avLst>
          </a:prstGeom>
          <a:solidFill>
            <a:srgbClr val="F4F7FA"/>
          </a:solidFill>
          <a:ln>
            <a:noFill/>
          </a:ln>
          <a:effectLst>
            <a:outerShdw blurRad="76200" rotWithShape="0" algn="bl" dir="5400000" dist="28575">
              <a:srgbClr val="BFC9D6">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0" name="Google Shape;1620;g3f6a040a5a3_1_97"/>
          <p:cNvSpPr/>
          <p:nvPr/>
        </p:nvSpPr>
        <p:spPr>
          <a:xfrm>
            <a:off x="5006340" y="3497580"/>
            <a:ext cx="411600" cy="411600"/>
          </a:xfrm>
          <a:prstGeom prst="ellipse">
            <a:avLst/>
          </a:prstGeom>
          <a:solidFill>
            <a:srgbClr val="AEB8C4"/>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1" name="Google Shape;1621;g3f6a040a5a3_1_97"/>
          <p:cNvSpPr/>
          <p:nvPr/>
        </p:nvSpPr>
        <p:spPr>
          <a:xfrm>
            <a:off x="5006340" y="3497580"/>
            <a:ext cx="411600" cy="411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700"/>
              <a:buFont typeface="Calibri"/>
              <a:buNone/>
            </a:pPr>
            <a:r>
              <a:rPr b="1" i="0" lang="en" sz="1700" u="none" cap="none" strike="noStrike">
                <a:solidFill>
                  <a:srgbClr val="FFFFFF"/>
                </a:solidFill>
                <a:latin typeface="Calibri"/>
                <a:ea typeface="Calibri"/>
                <a:cs typeface="Calibri"/>
                <a:sym typeface="Calibri"/>
              </a:rPr>
              <a:t>D</a:t>
            </a:r>
            <a:endParaRPr b="0" i="0" sz="1700" u="none" cap="none" strike="noStrike">
              <a:solidFill>
                <a:schemeClr val="dk1"/>
              </a:solidFill>
              <a:latin typeface="Calibri"/>
              <a:ea typeface="Calibri"/>
              <a:cs typeface="Calibri"/>
              <a:sym typeface="Calibri"/>
            </a:endParaRPr>
          </a:p>
        </p:txBody>
      </p:sp>
      <p:sp>
        <p:nvSpPr>
          <p:cNvPr id="1622" name="Google Shape;1622;g3f6a040a5a3_1_97"/>
          <p:cNvSpPr/>
          <p:nvPr/>
        </p:nvSpPr>
        <p:spPr>
          <a:xfrm>
            <a:off x="8332470" y="3449574"/>
            <a:ext cx="342900" cy="342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B85042"/>
              </a:buClr>
              <a:buSzPts val="1800"/>
              <a:buFont typeface="Calibri"/>
              <a:buNone/>
            </a:pPr>
            <a:r>
              <a:rPr b="1" i="0" lang="en" sz="1800" u="none" cap="none" strike="noStrike">
                <a:solidFill>
                  <a:srgbClr val="B85042"/>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1623" name="Google Shape;1623;g3f6a040a5a3_1_97"/>
          <p:cNvSpPr/>
          <p:nvPr/>
        </p:nvSpPr>
        <p:spPr>
          <a:xfrm>
            <a:off x="5554980" y="3435858"/>
            <a:ext cx="2674500" cy="480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1295C"/>
              </a:buClr>
              <a:buSzPts val="1200"/>
              <a:buFont typeface="Calibri"/>
              <a:buNone/>
            </a:pPr>
            <a:r>
              <a:rPr b="1" i="0" lang="en" sz="1200" u="none" cap="none" strike="noStrike">
                <a:solidFill>
                  <a:srgbClr val="21295C"/>
                </a:solidFill>
                <a:latin typeface="Calibri"/>
                <a:ea typeface="Calibri"/>
                <a:cs typeface="Calibri"/>
                <a:sym typeface="Calibri"/>
              </a:rPr>
              <a:t>CNNs require one-hot encodings</a:t>
            </a:r>
            <a:endParaRPr b="0" i="0" sz="1200" u="none" cap="none" strike="noStrike">
              <a:solidFill>
                <a:schemeClr val="dk1"/>
              </a:solidFill>
              <a:latin typeface="Calibri"/>
              <a:ea typeface="Calibri"/>
              <a:cs typeface="Calibri"/>
              <a:sym typeface="Calibri"/>
            </a:endParaRPr>
          </a:p>
        </p:txBody>
      </p:sp>
      <p:sp>
        <p:nvSpPr>
          <p:cNvPr id="1624" name="Google Shape;1624;g3f6a040a5a3_1_97"/>
          <p:cNvSpPr/>
          <p:nvPr/>
        </p:nvSpPr>
        <p:spPr>
          <a:xfrm>
            <a:off x="5006340" y="4080510"/>
            <a:ext cx="3634500" cy="7545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5B6472"/>
              </a:buClr>
              <a:buSzPts val="1000"/>
              <a:buFont typeface="Calibri"/>
              <a:buNone/>
            </a:pPr>
            <a:r>
              <a:rPr b="0" i="0" lang="en" sz="1000" u="none" cap="none" strike="noStrike">
                <a:solidFill>
                  <a:srgbClr val="5B6472"/>
                </a:solidFill>
                <a:latin typeface="Calibri"/>
                <a:ea typeface="Calibri"/>
                <a:cs typeface="Calibri"/>
                <a:sym typeface="Calibri"/>
              </a:rPr>
              <a:t>False — input representation is flexible: embeddings, raw pixels, etc. Not a CNN requirement.</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28" name="Shape 1628"/>
        <p:cNvGrpSpPr/>
        <p:nvPr/>
      </p:nvGrpSpPr>
      <p:grpSpPr>
        <a:xfrm>
          <a:off x="0" y="0"/>
          <a:ext cx="0" cy="0"/>
          <a:chOff x="0" y="0"/>
          <a:chExt cx="0" cy="0"/>
        </a:xfrm>
      </p:grpSpPr>
      <p:pic>
        <p:nvPicPr>
          <p:cNvPr id="1629" name="Google Shape;1629;p36"/>
          <p:cNvPicPr preferRelativeResize="0"/>
          <p:nvPr/>
        </p:nvPicPr>
        <p:blipFill rotWithShape="1">
          <a:blip r:embed="rId4">
            <a:alphaModFix/>
          </a:blip>
          <a:srcRect b="0" l="0" r="0" t="0"/>
          <a:stretch/>
        </p:blipFill>
        <p:spPr>
          <a:xfrm>
            <a:off x="8369125" y="0"/>
            <a:ext cx="774877" cy="867174"/>
          </a:xfrm>
          <a:prstGeom prst="rect">
            <a:avLst/>
          </a:prstGeom>
          <a:noFill/>
          <a:ln>
            <a:noFill/>
          </a:ln>
        </p:spPr>
      </p:pic>
      <p:sp>
        <p:nvSpPr>
          <p:cNvPr id="1630" name="Google Shape;1630;p36"/>
          <p:cNvSpPr txBox="1"/>
          <p:nvPr/>
        </p:nvSpPr>
        <p:spPr>
          <a:xfrm>
            <a:off x="1262700" y="200875"/>
            <a:ext cx="6618600" cy="867300"/>
          </a:xfrm>
          <a:prstGeom prst="rect">
            <a:avLst/>
          </a:prstGeom>
          <a:no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2600"/>
              <a:buFont typeface="Arial"/>
              <a:buNone/>
            </a:pPr>
            <a:r>
              <a:rPr b="1" i="0" lang="en" sz="2600" u="none" cap="none" strike="noStrike">
                <a:solidFill>
                  <a:srgbClr val="0D1B2A"/>
                </a:solidFill>
                <a:latin typeface="Calibri"/>
                <a:ea typeface="Calibri"/>
                <a:cs typeface="Calibri"/>
                <a:sym typeface="Calibri"/>
              </a:rPr>
              <a:t>Drawbacks of CNN</a:t>
            </a:r>
            <a:endParaRPr b="1" i="0" sz="2600" u="none" cap="none" strike="noStrike">
              <a:solidFill>
                <a:srgbClr val="0D1B2A"/>
              </a:solidFill>
              <a:latin typeface="Calibri"/>
              <a:ea typeface="Calibri"/>
              <a:cs typeface="Calibri"/>
              <a:sym typeface="Calibri"/>
            </a:endParaRPr>
          </a:p>
        </p:txBody>
      </p:sp>
      <p:sp>
        <p:nvSpPr>
          <p:cNvPr id="1631" name="Google Shape;1631;p36"/>
          <p:cNvSpPr/>
          <p:nvPr/>
        </p:nvSpPr>
        <p:spPr>
          <a:xfrm>
            <a:off x="457200" y="1070640"/>
            <a:ext cx="8229600" cy="384060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600"/>
              </a:spcBef>
              <a:spcAft>
                <a:spcPts val="0"/>
              </a:spcAft>
              <a:buClr>
                <a:srgbClr val="1B2E45"/>
              </a:buClr>
              <a:buSzPts val="1500"/>
              <a:buFont typeface="Calibri"/>
              <a:buChar char="•"/>
            </a:pPr>
            <a:r>
              <a:rPr b="0" i="0" lang="en" sz="1500" u="none" cap="none" strike="noStrike">
                <a:solidFill>
                  <a:srgbClr val="1B2E45"/>
                </a:solidFill>
                <a:latin typeface="Calibri"/>
                <a:ea typeface="Calibri"/>
                <a:cs typeface="Calibri"/>
                <a:sym typeface="Calibri"/>
              </a:rPr>
              <a:t>CNNs are designed to process fixed-size input images and generate fixed-size outputs. They struggle with variable-length sequences, such as sentences in natural language processing (NLP) or varying-length videos.</a:t>
            </a:r>
            <a:endParaRPr b="0" i="0" sz="1500" u="none" cap="none" strike="noStrike">
              <a:solidFill>
                <a:srgbClr val="1B2E45"/>
              </a:solidFill>
              <a:latin typeface="Calibri"/>
              <a:ea typeface="Calibri"/>
              <a:cs typeface="Calibri"/>
              <a:sym typeface="Calibri"/>
            </a:endParaRPr>
          </a:p>
          <a:p>
            <a:pPr indent="0" lvl="0" marL="0" marR="0" rtl="0" algn="l">
              <a:lnSpc>
                <a:spcPct val="100000"/>
              </a:lnSpc>
              <a:spcBef>
                <a:spcPts val="600"/>
              </a:spcBef>
              <a:spcAft>
                <a:spcPts val="0"/>
              </a:spcAft>
              <a:buClr>
                <a:srgbClr val="000000"/>
              </a:buClr>
              <a:buSzPts val="1500"/>
              <a:buFont typeface="Arial"/>
              <a:buNone/>
            </a:pPr>
            <a:r>
              <a:t/>
            </a:r>
            <a:endParaRPr b="0" i="0" sz="1500" u="none" cap="none" strike="noStrike">
              <a:solidFill>
                <a:srgbClr val="1B2E45"/>
              </a:solidFill>
              <a:latin typeface="Calibri"/>
              <a:ea typeface="Calibri"/>
              <a:cs typeface="Calibri"/>
              <a:sym typeface="Calibri"/>
            </a:endParaRPr>
          </a:p>
          <a:p>
            <a:pPr indent="0" lvl="0" marL="0" marR="0" rtl="0" algn="l">
              <a:lnSpc>
                <a:spcPct val="100000"/>
              </a:lnSpc>
              <a:spcBef>
                <a:spcPts val="600"/>
              </a:spcBef>
              <a:spcAft>
                <a:spcPts val="0"/>
              </a:spcAft>
              <a:buClr>
                <a:srgbClr val="000000"/>
              </a:buClr>
              <a:buSzPts val="1500"/>
              <a:buFont typeface="Arial"/>
              <a:buNone/>
            </a:pPr>
            <a:r>
              <a:t/>
            </a:r>
            <a:endParaRPr b="0" i="0" sz="1500" u="none" cap="none" strike="noStrike">
              <a:solidFill>
                <a:srgbClr val="1B2E45"/>
              </a:solidFill>
              <a:latin typeface="Calibri"/>
              <a:ea typeface="Calibri"/>
              <a:cs typeface="Calibri"/>
              <a:sym typeface="Calibri"/>
            </a:endParaRPr>
          </a:p>
          <a:p>
            <a:pPr indent="-342900" lvl="0" marL="342900" marR="0" rtl="0" algn="l">
              <a:lnSpc>
                <a:spcPct val="100000"/>
              </a:lnSpc>
              <a:spcBef>
                <a:spcPts val="600"/>
              </a:spcBef>
              <a:spcAft>
                <a:spcPts val="0"/>
              </a:spcAft>
              <a:buClr>
                <a:srgbClr val="1B2E45"/>
              </a:buClr>
              <a:buSzPts val="1500"/>
              <a:buFont typeface="Calibri"/>
              <a:buChar char="•"/>
            </a:pPr>
            <a:r>
              <a:rPr b="0" i="0" lang="en" sz="1500" u="none" cap="none" strike="noStrike">
                <a:solidFill>
                  <a:srgbClr val="1B2E45"/>
                </a:solidFill>
                <a:latin typeface="Calibri"/>
                <a:ea typeface="Calibri"/>
                <a:cs typeface="Calibri"/>
                <a:sym typeface="Calibri"/>
              </a:rPr>
              <a:t>CNNs process data points independently or within a small local window. They cannot inherently capture the temporal relationship or context across time steps, making them inefficient for tasks where order matters, like stock forecasting or text generation.</a:t>
            </a:r>
            <a:endParaRPr b="0" i="0" sz="1500" u="none" cap="none" strike="noStrike">
              <a:solidFill>
                <a:srgbClr val="1B2E45"/>
              </a:solidFill>
              <a:latin typeface="Calibri"/>
              <a:ea typeface="Calibri"/>
              <a:cs typeface="Calibri"/>
              <a:sym typeface="Calibri"/>
            </a:endParaRPr>
          </a:p>
          <a:p>
            <a:pPr indent="0" lvl="0" marL="0" marR="0" rtl="0" algn="l">
              <a:lnSpc>
                <a:spcPct val="100000"/>
              </a:lnSpc>
              <a:spcBef>
                <a:spcPts val="600"/>
              </a:spcBef>
              <a:spcAft>
                <a:spcPts val="0"/>
              </a:spcAft>
              <a:buClr>
                <a:srgbClr val="000000"/>
              </a:buClr>
              <a:buSzPts val="1500"/>
              <a:buFont typeface="Arial"/>
              <a:buNone/>
            </a:pPr>
            <a:r>
              <a:t/>
            </a:r>
            <a:endParaRPr b="0" i="0" sz="1500" u="none" cap="none" strike="noStrike">
              <a:solidFill>
                <a:srgbClr val="1B2E45"/>
              </a:solidFill>
              <a:latin typeface="Calibri"/>
              <a:ea typeface="Calibri"/>
              <a:cs typeface="Calibri"/>
              <a:sym typeface="Calibri"/>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35" name="Shape 1635"/>
        <p:cNvGrpSpPr/>
        <p:nvPr/>
      </p:nvGrpSpPr>
      <p:grpSpPr>
        <a:xfrm>
          <a:off x="0" y="0"/>
          <a:ext cx="0" cy="0"/>
          <a:chOff x="0" y="0"/>
          <a:chExt cx="0" cy="0"/>
        </a:xfrm>
      </p:grpSpPr>
      <p:pic>
        <p:nvPicPr>
          <p:cNvPr id="1636" name="Google Shape;1636;p37"/>
          <p:cNvPicPr preferRelativeResize="0"/>
          <p:nvPr/>
        </p:nvPicPr>
        <p:blipFill rotWithShape="1">
          <a:blip r:embed="rId4">
            <a:alphaModFix/>
          </a:blip>
          <a:srcRect b="0" l="0" r="0" t="0"/>
          <a:stretch/>
        </p:blipFill>
        <p:spPr>
          <a:xfrm>
            <a:off x="8369125" y="0"/>
            <a:ext cx="774877" cy="867174"/>
          </a:xfrm>
          <a:prstGeom prst="rect">
            <a:avLst/>
          </a:prstGeom>
          <a:noFill/>
          <a:ln>
            <a:noFill/>
          </a:ln>
        </p:spPr>
      </p:pic>
      <p:sp>
        <p:nvSpPr>
          <p:cNvPr id="1637" name="Google Shape;1637;p37"/>
          <p:cNvSpPr txBox="1"/>
          <p:nvPr/>
        </p:nvSpPr>
        <p:spPr>
          <a:xfrm>
            <a:off x="1512201" y="98876"/>
            <a:ext cx="6618600" cy="1143000"/>
          </a:xfrm>
          <a:prstGeom prst="rect">
            <a:avLst/>
          </a:prstGeom>
          <a:no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rgbClr val="0D1B2A"/>
              </a:buClr>
              <a:buSzPts val="2600"/>
              <a:buFont typeface="Calibri"/>
              <a:buNone/>
            </a:pPr>
            <a:r>
              <a:rPr b="1" i="0" lang="en" sz="2600" u="none" cap="none" strike="noStrike">
                <a:solidFill>
                  <a:srgbClr val="0D1B2A"/>
                </a:solidFill>
                <a:latin typeface="Calibri"/>
                <a:ea typeface="Calibri"/>
                <a:cs typeface="Calibri"/>
                <a:sym typeface="Calibri"/>
              </a:rPr>
              <a:t>Convolutional Neural Networks (CNNs)</a:t>
            </a:r>
            <a:endParaRPr b="1" i="0" sz="2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600"/>
              <a:buFont typeface="Arial"/>
              <a:buNone/>
            </a:pPr>
            <a:r>
              <a:t/>
            </a:r>
            <a:endParaRPr b="1" i="0" sz="2600" u="none" cap="none" strike="noStrike">
              <a:solidFill>
                <a:srgbClr val="0D1B2A"/>
              </a:solidFill>
              <a:latin typeface="Calibri"/>
              <a:ea typeface="Calibri"/>
              <a:cs typeface="Calibri"/>
              <a:sym typeface="Calibri"/>
            </a:endParaRPr>
          </a:p>
        </p:txBody>
      </p:sp>
      <p:pic>
        <p:nvPicPr>
          <p:cNvPr id="1638" name="Google Shape;1638;p37"/>
          <p:cNvPicPr preferRelativeResize="0"/>
          <p:nvPr/>
        </p:nvPicPr>
        <p:blipFill rotWithShape="1">
          <a:blip r:embed="rId5">
            <a:alphaModFix/>
          </a:blip>
          <a:srcRect b="0" l="0" r="0" t="0"/>
          <a:stretch/>
        </p:blipFill>
        <p:spPr>
          <a:xfrm>
            <a:off x="298651" y="737775"/>
            <a:ext cx="6959250" cy="2799800"/>
          </a:xfrm>
          <a:prstGeom prst="rect">
            <a:avLst/>
          </a:prstGeom>
          <a:noFill/>
          <a:ln>
            <a:noFill/>
          </a:ln>
        </p:spPr>
      </p:pic>
      <p:sp>
        <p:nvSpPr>
          <p:cNvPr id="1639" name="Google Shape;1639;p37"/>
          <p:cNvSpPr/>
          <p:nvPr/>
        </p:nvSpPr>
        <p:spPr>
          <a:xfrm>
            <a:off x="180567" y="3537564"/>
            <a:ext cx="7588500" cy="1602000"/>
          </a:xfrm>
          <a:prstGeom prst="rect">
            <a:avLst/>
          </a:prstGeom>
          <a:noFill/>
          <a:ln>
            <a:noFill/>
          </a:ln>
        </p:spPr>
        <p:txBody>
          <a:bodyPr anchorCtr="0" anchor="t" bIns="0" lIns="0" spcFirstLastPara="1" rIns="0" wrap="square" tIns="0">
            <a:noAutofit/>
          </a:bodyPr>
          <a:lstStyle/>
          <a:p>
            <a:pPr indent="-316191" lvl="0" marL="316192" marR="0" rtl="0" algn="l">
              <a:lnSpc>
                <a:spcPct val="100000"/>
              </a:lnSpc>
              <a:spcBef>
                <a:spcPts val="0"/>
              </a:spcBef>
              <a:spcAft>
                <a:spcPts val="0"/>
              </a:spcAft>
              <a:buClr>
                <a:srgbClr val="1B2E45"/>
              </a:buClr>
              <a:buSzPts val="1107"/>
              <a:buFont typeface="Calibri"/>
              <a:buChar char="•"/>
            </a:pPr>
            <a:r>
              <a:rPr b="0" i="0" lang="en" sz="1107" u="none" cap="none" strike="noStrike">
                <a:solidFill>
                  <a:srgbClr val="1B2E45"/>
                </a:solidFill>
                <a:latin typeface="Calibri"/>
                <a:ea typeface="Calibri"/>
                <a:cs typeface="Calibri"/>
                <a:sym typeface="Calibri"/>
              </a:rPr>
              <a:t>Convolution: Slide a small filter (kernel) over image to detect local features (edges, textures, patterns)</a:t>
            </a:r>
            <a:endParaRPr b="0" i="0" sz="1107" u="none" cap="none" strike="noStrike">
              <a:solidFill>
                <a:srgbClr val="000000"/>
              </a:solidFill>
              <a:latin typeface="Calibri"/>
              <a:ea typeface="Calibri"/>
              <a:cs typeface="Calibri"/>
              <a:sym typeface="Calibri"/>
            </a:endParaRPr>
          </a:p>
          <a:p>
            <a:pPr indent="-316191" lvl="0" marL="316192" marR="0" rtl="0" algn="l">
              <a:lnSpc>
                <a:spcPct val="100000"/>
              </a:lnSpc>
              <a:spcBef>
                <a:spcPts val="461"/>
              </a:spcBef>
              <a:spcAft>
                <a:spcPts val="0"/>
              </a:spcAft>
              <a:buClr>
                <a:srgbClr val="1B2E45"/>
              </a:buClr>
              <a:buSzPts val="1107"/>
              <a:buFont typeface="Calibri"/>
              <a:buChar char="•"/>
            </a:pPr>
            <a:r>
              <a:rPr b="0" i="0" lang="en" sz="1107" u="none" cap="none" strike="noStrike">
                <a:solidFill>
                  <a:srgbClr val="1B2E45"/>
                </a:solidFill>
                <a:latin typeface="Calibri"/>
                <a:ea typeface="Calibri"/>
                <a:cs typeface="Calibri"/>
                <a:sym typeface="Calibri"/>
              </a:rPr>
              <a:t>Parameter sharing: Same filter weights reused across all spatial locations → fewer parameters</a:t>
            </a:r>
            <a:endParaRPr b="0" i="0" sz="1107" u="none" cap="none" strike="noStrike">
              <a:solidFill>
                <a:srgbClr val="000000"/>
              </a:solidFill>
              <a:latin typeface="Calibri"/>
              <a:ea typeface="Calibri"/>
              <a:cs typeface="Calibri"/>
              <a:sym typeface="Calibri"/>
            </a:endParaRPr>
          </a:p>
          <a:p>
            <a:pPr indent="-316191" lvl="0" marL="316192" marR="0" rtl="0" algn="l">
              <a:lnSpc>
                <a:spcPct val="100000"/>
              </a:lnSpc>
              <a:spcBef>
                <a:spcPts val="461"/>
              </a:spcBef>
              <a:spcAft>
                <a:spcPts val="0"/>
              </a:spcAft>
              <a:buClr>
                <a:srgbClr val="1B2E45"/>
              </a:buClr>
              <a:buSzPts val="1107"/>
              <a:buFont typeface="Calibri"/>
              <a:buChar char="•"/>
            </a:pPr>
            <a:r>
              <a:rPr b="0" i="0" lang="en" sz="1107" u="none" cap="none" strike="noStrike">
                <a:solidFill>
                  <a:srgbClr val="1B2E45"/>
                </a:solidFill>
                <a:latin typeface="Calibri"/>
                <a:ea typeface="Calibri"/>
                <a:cs typeface="Calibri"/>
                <a:sym typeface="Calibri"/>
              </a:rPr>
              <a:t>Pooling: Downsample feature maps (MaxPool, AvgPool) → spatial invariance</a:t>
            </a:r>
            <a:endParaRPr b="0" i="0" sz="1107" u="none" cap="none" strike="noStrike">
              <a:solidFill>
                <a:srgbClr val="000000"/>
              </a:solidFill>
              <a:latin typeface="Calibri"/>
              <a:ea typeface="Calibri"/>
              <a:cs typeface="Calibri"/>
              <a:sym typeface="Calibri"/>
            </a:endParaRPr>
          </a:p>
          <a:p>
            <a:pPr indent="-316191" lvl="0" marL="316192" marR="0" rtl="0" algn="l">
              <a:lnSpc>
                <a:spcPct val="100000"/>
              </a:lnSpc>
              <a:spcBef>
                <a:spcPts val="461"/>
              </a:spcBef>
              <a:spcAft>
                <a:spcPts val="0"/>
              </a:spcAft>
              <a:buClr>
                <a:srgbClr val="1B2E45"/>
              </a:buClr>
              <a:buSzPts val="1107"/>
              <a:buFont typeface="Calibri"/>
              <a:buChar char="•"/>
            </a:pPr>
            <a:r>
              <a:rPr b="0" i="0" lang="en" sz="1107" u="none" cap="none" strike="noStrike">
                <a:solidFill>
                  <a:srgbClr val="1B2E45"/>
                </a:solidFill>
                <a:latin typeface="Calibri"/>
                <a:ea typeface="Calibri"/>
                <a:cs typeface="Calibri"/>
                <a:sym typeface="Calibri"/>
              </a:rPr>
              <a:t>Stacking layers: Low-level (edges) → Mid-level (shapes) → High-level (object parts) → Class</a:t>
            </a:r>
            <a:endParaRPr b="0" i="0" sz="1107" u="none" cap="none" strike="noStrike">
              <a:solidFill>
                <a:srgbClr val="000000"/>
              </a:solidFill>
              <a:latin typeface="Calibri"/>
              <a:ea typeface="Calibri"/>
              <a:cs typeface="Calibri"/>
              <a:sym typeface="Calibri"/>
            </a:endParaRPr>
          </a:p>
          <a:p>
            <a:pPr indent="-316191" lvl="0" marL="316192" marR="0" rtl="0" algn="l">
              <a:lnSpc>
                <a:spcPct val="100000"/>
              </a:lnSpc>
              <a:spcBef>
                <a:spcPts val="461"/>
              </a:spcBef>
              <a:spcAft>
                <a:spcPts val="0"/>
              </a:spcAft>
              <a:buClr>
                <a:srgbClr val="1B2E45"/>
              </a:buClr>
              <a:buSzPts val="1107"/>
              <a:buFont typeface="Calibri"/>
              <a:buChar char="•"/>
            </a:pPr>
            <a:r>
              <a:rPr b="0" i="0" lang="en" sz="1107" u="none" cap="none" strike="noStrike">
                <a:solidFill>
                  <a:srgbClr val="1B2E45"/>
                </a:solidFill>
                <a:latin typeface="Calibri"/>
                <a:ea typeface="Calibri"/>
                <a:cs typeface="Calibri"/>
                <a:sym typeface="Calibri"/>
              </a:rPr>
              <a:t>AlexNet (2012) — revolutionized image recognition; ResNet, VGG, EfficientNet followed</a:t>
            </a:r>
            <a:endParaRPr b="0" i="0" sz="1107" u="none" cap="none" strike="noStrike">
              <a:solidFill>
                <a:srgbClr val="000000"/>
              </a:solidFill>
              <a:latin typeface="Calibri"/>
              <a:ea typeface="Calibri"/>
              <a:cs typeface="Calibri"/>
              <a:sym typeface="Calibri"/>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1644" name="Shape 1644"/>
        <p:cNvGrpSpPr/>
        <p:nvPr/>
      </p:nvGrpSpPr>
      <p:grpSpPr>
        <a:xfrm>
          <a:off x="0" y="0"/>
          <a:ext cx="0" cy="0"/>
          <a:chOff x="0" y="0"/>
          <a:chExt cx="0" cy="0"/>
        </a:xfrm>
      </p:grpSpPr>
      <p:sp>
        <p:nvSpPr>
          <p:cNvPr id="1645" name="Google Shape;1645;p38"/>
          <p:cNvSpPr/>
          <p:nvPr/>
        </p:nvSpPr>
        <p:spPr>
          <a:xfrm>
            <a:off x="0" y="0"/>
            <a:ext cx="9144000" cy="63900"/>
          </a:xfrm>
          <a:prstGeom prst="rect">
            <a:avLst/>
          </a:prstGeom>
          <a:solidFill>
            <a:srgbClr val="1B3A6B"/>
          </a:solidFill>
          <a:ln cap="flat" cmpd="sng" w="12700">
            <a:solidFill>
              <a:srgbClr val="1B3A6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6" name="Google Shape;1646;p38"/>
          <p:cNvSpPr/>
          <p:nvPr/>
        </p:nvSpPr>
        <p:spPr>
          <a:xfrm>
            <a:off x="347472" y="164592"/>
            <a:ext cx="63900" cy="512100"/>
          </a:xfrm>
          <a:prstGeom prst="rect">
            <a:avLst/>
          </a:prstGeom>
          <a:solidFill>
            <a:srgbClr val="1B3A6B"/>
          </a:solidFill>
          <a:ln cap="flat" cmpd="sng" w="12700">
            <a:solidFill>
              <a:srgbClr val="1B3A6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7" name="Google Shape;1647;p38"/>
          <p:cNvSpPr/>
          <p:nvPr/>
        </p:nvSpPr>
        <p:spPr>
          <a:xfrm>
            <a:off x="521208" y="146304"/>
            <a:ext cx="82296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6B"/>
              </a:buClr>
              <a:buSzPts val="2600"/>
              <a:buFont typeface="Calibri"/>
              <a:buNone/>
            </a:pPr>
            <a:r>
              <a:rPr b="1" i="0" lang="en" sz="2600" u="none" cap="none" strike="noStrike">
                <a:solidFill>
                  <a:srgbClr val="1B3A6B"/>
                </a:solidFill>
                <a:latin typeface="Calibri"/>
                <a:ea typeface="Calibri"/>
                <a:cs typeface="Calibri"/>
                <a:sym typeface="Calibri"/>
              </a:rPr>
              <a:t>Feature Learning through Embeddings</a:t>
            </a:r>
            <a:endParaRPr b="0" i="0" sz="2600" u="none" cap="none" strike="noStrike">
              <a:solidFill>
                <a:schemeClr val="dk1"/>
              </a:solidFill>
              <a:latin typeface="Calibri"/>
              <a:ea typeface="Calibri"/>
              <a:cs typeface="Calibri"/>
              <a:sym typeface="Calibri"/>
            </a:endParaRPr>
          </a:p>
        </p:txBody>
      </p:sp>
      <p:cxnSp>
        <p:nvCxnSpPr>
          <p:cNvPr id="1648" name="Google Shape;1648;p38"/>
          <p:cNvCxnSpPr/>
          <p:nvPr/>
        </p:nvCxnSpPr>
        <p:spPr>
          <a:xfrm>
            <a:off x="347472" y="713232"/>
            <a:ext cx="8449200" cy="0"/>
          </a:xfrm>
          <a:prstGeom prst="straightConnector1">
            <a:avLst/>
          </a:prstGeom>
          <a:noFill/>
          <a:ln cap="flat" cmpd="sng" w="15225">
            <a:solidFill>
              <a:srgbClr val="1B3A6B"/>
            </a:solidFill>
            <a:prstDash val="solid"/>
            <a:round/>
            <a:headEnd len="sm" w="sm" type="none"/>
            <a:tailEnd len="sm" w="sm" type="none"/>
          </a:ln>
        </p:spPr>
      </p:cxnSp>
      <p:sp>
        <p:nvSpPr>
          <p:cNvPr id="1649" name="Google Shape;1649;p38"/>
          <p:cNvSpPr/>
          <p:nvPr/>
        </p:nvSpPr>
        <p:spPr>
          <a:xfrm>
            <a:off x="347472" y="749808"/>
            <a:ext cx="8449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200"/>
              <a:buFont typeface="Calibri"/>
              <a:buNone/>
            </a:pPr>
            <a:r>
              <a:rPr b="0" i="1" lang="en" sz="1200" u="none" cap="none" strike="noStrike">
                <a:solidFill>
                  <a:srgbClr val="6B7280"/>
                </a:solidFill>
                <a:latin typeface="Calibri"/>
                <a:ea typeface="Calibri"/>
                <a:cs typeface="Calibri"/>
                <a:sym typeface="Calibri"/>
              </a:rPr>
              <a:t>A motivating journey: from hand-crafted statistics to learned dense vectors</a:t>
            </a:r>
            <a:endParaRPr b="0" i="0" sz="1200" u="none" cap="none" strike="noStrike">
              <a:solidFill>
                <a:schemeClr val="dk1"/>
              </a:solidFill>
              <a:latin typeface="Calibri"/>
              <a:ea typeface="Calibri"/>
              <a:cs typeface="Calibri"/>
              <a:sym typeface="Calibri"/>
            </a:endParaRPr>
          </a:p>
        </p:txBody>
      </p:sp>
      <p:sp>
        <p:nvSpPr>
          <p:cNvPr id="1650" name="Google Shape;1650;p38"/>
          <p:cNvSpPr/>
          <p:nvPr/>
        </p:nvSpPr>
        <p:spPr>
          <a:xfrm>
            <a:off x="347472" y="1078992"/>
            <a:ext cx="84492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11827"/>
              </a:buClr>
              <a:buSzPts val="1400"/>
              <a:buFont typeface="Calibri"/>
              <a:buNone/>
            </a:pPr>
            <a:r>
              <a:rPr b="0" i="1" lang="en" sz="1400" u="none" cap="none" strike="noStrike">
                <a:solidFill>
                  <a:srgbClr val="111827"/>
                </a:solidFill>
                <a:latin typeface="Calibri"/>
                <a:ea typeface="Calibri"/>
                <a:cs typeface="Calibri"/>
                <a:sym typeface="Calibri"/>
              </a:rPr>
              <a:t>How do we turn raw text into something a machine can learn from?</a:t>
            </a:r>
            <a:endParaRPr b="0" i="0" sz="1400" u="none" cap="none" strike="noStrike">
              <a:solidFill>
                <a:schemeClr val="dk1"/>
              </a:solidFill>
              <a:latin typeface="Calibri"/>
              <a:ea typeface="Calibri"/>
              <a:cs typeface="Calibri"/>
              <a:sym typeface="Calibri"/>
            </a:endParaRPr>
          </a:p>
        </p:txBody>
      </p:sp>
      <p:sp>
        <p:nvSpPr>
          <p:cNvPr id="1651" name="Google Shape;1651;p38"/>
          <p:cNvSpPr/>
          <p:nvPr/>
        </p:nvSpPr>
        <p:spPr>
          <a:xfrm>
            <a:off x="384048" y="1481328"/>
            <a:ext cx="2469000" cy="2286000"/>
          </a:xfrm>
          <a:prstGeom prst="rect">
            <a:avLst/>
          </a:prstGeom>
          <a:solidFill>
            <a:srgbClr val="EFF6FF"/>
          </a:solidFill>
          <a:ln cap="flat" cmpd="sng" w="19050">
            <a:solidFill>
              <a:srgbClr val="2563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2" name="Google Shape;1652;p38"/>
          <p:cNvSpPr/>
          <p:nvPr/>
        </p:nvSpPr>
        <p:spPr>
          <a:xfrm>
            <a:off x="384048" y="1481328"/>
            <a:ext cx="2469000" cy="73200"/>
          </a:xfrm>
          <a:prstGeom prst="rect">
            <a:avLst/>
          </a:prstGeom>
          <a:solidFill>
            <a:srgbClr val="2563EB"/>
          </a:solidFill>
          <a:ln cap="flat" cmpd="sng" w="12700">
            <a:solidFill>
              <a:srgbClr val="2563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3" name="Google Shape;1653;p38"/>
          <p:cNvSpPr/>
          <p:nvPr/>
        </p:nvSpPr>
        <p:spPr>
          <a:xfrm>
            <a:off x="384048" y="1645920"/>
            <a:ext cx="2469000" cy="502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800"/>
              <a:buFont typeface="Calibri"/>
              <a:buNone/>
            </a:pPr>
            <a:r>
              <a:rPr b="0" i="0" lang="en" sz="2800" u="none" cap="none" strike="noStrike">
                <a:solidFill>
                  <a:srgbClr val="000000"/>
                </a:solidFill>
                <a:latin typeface="Calibri"/>
                <a:ea typeface="Calibri"/>
                <a:cs typeface="Calibri"/>
                <a:sym typeface="Calibri"/>
              </a:rPr>
              <a:t>📄</a:t>
            </a:r>
            <a:endParaRPr b="0" i="0" sz="2800" u="none" cap="none" strike="noStrike">
              <a:solidFill>
                <a:schemeClr val="dk1"/>
              </a:solidFill>
              <a:latin typeface="Calibri"/>
              <a:ea typeface="Calibri"/>
              <a:cs typeface="Calibri"/>
              <a:sym typeface="Calibri"/>
            </a:endParaRPr>
          </a:p>
        </p:txBody>
      </p:sp>
      <p:sp>
        <p:nvSpPr>
          <p:cNvPr id="1654" name="Google Shape;1654;p38"/>
          <p:cNvSpPr/>
          <p:nvPr/>
        </p:nvSpPr>
        <p:spPr>
          <a:xfrm>
            <a:off x="493776" y="2176272"/>
            <a:ext cx="2249400" cy="347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563EB"/>
              </a:buClr>
              <a:buSzPts val="1600"/>
              <a:buFont typeface="Calibri"/>
              <a:buNone/>
            </a:pPr>
            <a:r>
              <a:rPr b="1" i="0" lang="en" sz="1600" u="none" cap="none" strike="noStrike">
                <a:solidFill>
                  <a:srgbClr val="2563EB"/>
                </a:solidFill>
                <a:latin typeface="Calibri"/>
                <a:ea typeface="Calibri"/>
                <a:cs typeface="Calibri"/>
                <a:sym typeface="Calibri"/>
              </a:rPr>
              <a:t>Raw Text</a:t>
            </a:r>
            <a:endParaRPr b="0" i="0" sz="1600" u="none" cap="none" strike="noStrike">
              <a:solidFill>
                <a:schemeClr val="dk1"/>
              </a:solidFill>
              <a:latin typeface="Calibri"/>
              <a:ea typeface="Calibri"/>
              <a:cs typeface="Calibri"/>
              <a:sym typeface="Calibri"/>
            </a:endParaRPr>
          </a:p>
        </p:txBody>
      </p:sp>
      <p:cxnSp>
        <p:nvCxnSpPr>
          <p:cNvPr id="1655" name="Google Shape;1655;p38"/>
          <p:cNvCxnSpPr/>
          <p:nvPr/>
        </p:nvCxnSpPr>
        <p:spPr>
          <a:xfrm>
            <a:off x="612648" y="2542032"/>
            <a:ext cx="2011800" cy="0"/>
          </a:xfrm>
          <a:prstGeom prst="straightConnector1">
            <a:avLst/>
          </a:prstGeom>
          <a:noFill/>
          <a:ln cap="flat" cmpd="sng" w="10150">
            <a:solidFill>
              <a:srgbClr val="2563EB">
                <a:alpha val="60000"/>
              </a:srgbClr>
            </a:solidFill>
            <a:prstDash val="solid"/>
            <a:round/>
            <a:headEnd len="sm" w="sm" type="none"/>
            <a:tailEnd len="sm" w="sm" type="none"/>
          </a:ln>
        </p:spPr>
      </p:cxnSp>
      <p:sp>
        <p:nvSpPr>
          <p:cNvPr id="1656" name="Google Shape;1656;p38"/>
          <p:cNvSpPr/>
          <p:nvPr/>
        </p:nvSpPr>
        <p:spPr>
          <a:xfrm>
            <a:off x="493776" y="2624328"/>
            <a:ext cx="2249400" cy="822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11827"/>
              </a:buClr>
              <a:buSzPts val="1250"/>
              <a:buFont typeface="Calibri"/>
              <a:buNone/>
            </a:pPr>
            <a:r>
              <a:rPr b="0" i="1" lang="en" sz="1250" u="none" cap="none" strike="noStrike">
                <a:solidFill>
                  <a:srgbClr val="111827"/>
                </a:solidFill>
                <a:latin typeface="Calibri"/>
                <a:ea typeface="Calibri"/>
                <a:cs typeface="Calibri"/>
                <a:sym typeface="Calibri"/>
              </a:rPr>
              <a:t>"The cat sat on the mat"</a:t>
            </a:r>
            <a:endParaRPr b="0" i="0" sz="1250" u="none" cap="none" strike="noStrike">
              <a:solidFill>
                <a:schemeClr val="dk1"/>
              </a:solidFill>
              <a:latin typeface="Calibri"/>
              <a:ea typeface="Calibri"/>
              <a:cs typeface="Calibri"/>
              <a:sym typeface="Calibri"/>
            </a:endParaRPr>
          </a:p>
        </p:txBody>
      </p:sp>
      <p:cxnSp>
        <p:nvCxnSpPr>
          <p:cNvPr id="1657" name="Google Shape;1657;p38"/>
          <p:cNvCxnSpPr/>
          <p:nvPr/>
        </p:nvCxnSpPr>
        <p:spPr>
          <a:xfrm>
            <a:off x="2907792" y="2624328"/>
            <a:ext cx="347400" cy="0"/>
          </a:xfrm>
          <a:prstGeom prst="straightConnector1">
            <a:avLst/>
          </a:prstGeom>
          <a:noFill/>
          <a:ln cap="flat" cmpd="sng" w="25400">
            <a:solidFill>
              <a:srgbClr val="1B3A6B"/>
            </a:solidFill>
            <a:prstDash val="solid"/>
            <a:round/>
            <a:headEnd len="sm" w="sm" type="none"/>
            <a:tailEnd len="med" w="med" type="stealth"/>
          </a:ln>
        </p:spPr>
      </p:cxnSp>
      <p:sp>
        <p:nvSpPr>
          <p:cNvPr id="1658" name="Google Shape;1658;p38"/>
          <p:cNvSpPr/>
          <p:nvPr/>
        </p:nvSpPr>
        <p:spPr>
          <a:xfrm>
            <a:off x="3282696" y="1481328"/>
            <a:ext cx="2469000" cy="2286000"/>
          </a:xfrm>
          <a:prstGeom prst="rect">
            <a:avLst/>
          </a:prstGeom>
          <a:solidFill>
            <a:srgbClr val="F0FDF4"/>
          </a:solidFill>
          <a:ln cap="flat" cmpd="sng" w="1905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9" name="Google Shape;1659;p38"/>
          <p:cNvSpPr/>
          <p:nvPr/>
        </p:nvSpPr>
        <p:spPr>
          <a:xfrm>
            <a:off x="3282696" y="1481328"/>
            <a:ext cx="2469000" cy="73200"/>
          </a:xfrm>
          <a:prstGeom prst="rect">
            <a:avLst/>
          </a:prstGeom>
          <a:solidFill>
            <a:srgbClr val="0D9488"/>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0" name="Google Shape;1660;p38"/>
          <p:cNvSpPr/>
          <p:nvPr/>
        </p:nvSpPr>
        <p:spPr>
          <a:xfrm>
            <a:off x="3282696" y="1645920"/>
            <a:ext cx="2469000" cy="502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800"/>
              <a:buFont typeface="Calibri"/>
              <a:buNone/>
            </a:pPr>
            <a:r>
              <a:rPr b="0" i="0" lang="en" sz="2800" u="none" cap="none" strike="noStrike">
                <a:solidFill>
                  <a:srgbClr val="000000"/>
                </a:solidFill>
                <a:latin typeface="Calibri"/>
                <a:ea typeface="Calibri"/>
                <a:cs typeface="Calibri"/>
                <a:sym typeface="Calibri"/>
              </a:rPr>
              <a:t>🔢</a:t>
            </a:r>
            <a:endParaRPr b="0" i="0" sz="2800" u="none" cap="none" strike="noStrike">
              <a:solidFill>
                <a:schemeClr val="dk1"/>
              </a:solidFill>
              <a:latin typeface="Calibri"/>
              <a:ea typeface="Calibri"/>
              <a:cs typeface="Calibri"/>
              <a:sym typeface="Calibri"/>
            </a:endParaRPr>
          </a:p>
        </p:txBody>
      </p:sp>
      <p:sp>
        <p:nvSpPr>
          <p:cNvPr id="1661" name="Google Shape;1661;p38"/>
          <p:cNvSpPr/>
          <p:nvPr/>
        </p:nvSpPr>
        <p:spPr>
          <a:xfrm>
            <a:off x="3392424" y="2176272"/>
            <a:ext cx="2249400" cy="347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D9488"/>
              </a:buClr>
              <a:buSzPts val="1600"/>
              <a:buFont typeface="Calibri"/>
              <a:buNone/>
            </a:pPr>
            <a:r>
              <a:rPr b="1" i="0" lang="en" sz="1600" u="none" cap="none" strike="noStrike">
                <a:solidFill>
                  <a:srgbClr val="0D9488"/>
                </a:solidFill>
                <a:latin typeface="Calibri"/>
                <a:ea typeface="Calibri"/>
                <a:cs typeface="Calibri"/>
                <a:sym typeface="Calibri"/>
              </a:rPr>
              <a:t>Representation</a:t>
            </a:r>
            <a:endParaRPr b="0" i="0" sz="1600" u="none" cap="none" strike="noStrike">
              <a:solidFill>
                <a:schemeClr val="dk1"/>
              </a:solidFill>
              <a:latin typeface="Calibri"/>
              <a:ea typeface="Calibri"/>
              <a:cs typeface="Calibri"/>
              <a:sym typeface="Calibri"/>
            </a:endParaRPr>
          </a:p>
        </p:txBody>
      </p:sp>
      <p:cxnSp>
        <p:nvCxnSpPr>
          <p:cNvPr id="1662" name="Google Shape;1662;p38"/>
          <p:cNvCxnSpPr/>
          <p:nvPr/>
        </p:nvCxnSpPr>
        <p:spPr>
          <a:xfrm>
            <a:off x="3511296" y="2542032"/>
            <a:ext cx="2011800" cy="0"/>
          </a:xfrm>
          <a:prstGeom prst="straightConnector1">
            <a:avLst/>
          </a:prstGeom>
          <a:noFill/>
          <a:ln cap="flat" cmpd="sng" w="10150">
            <a:solidFill>
              <a:srgbClr val="0D9488">
                <a:alpha val="60000"/>
              </a:srgbClr>
            </a:solidFill>
            <a:prstDash val="solid"/>
            <a:round/>
            <a:headEnd len="sm" w="sm" type="none"/>
            <a:tailEnd len="sm" w="sm" type="none"/>
          </a:ln>
        </p:spPr>
      </p:cxnSp>
      <p:sp>
        <p:nvSpPr>
          <p:cNvPr id="1663" name="Google Shape;1663;p38"/>
          <p:cNvSpPr/>
          <p:nvPr/>
        </p:nvSpPr>
        <p:spPr>
          <a:xfrm>
            <a:off x="3392424" y="2624328"/>
            <a:ext cx="2249400" cy="822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11827"/>
              </a:buClr>
              <a:buSzPts val="1250"/>
              <a:buFont typeface="Calibri"/>
              <a:buNone/>
            </a:pPr>
            <a:r>
              <a:rPr b="0" i="1" lang="en" sz="1250" u="none" cap="none" strike="noStrike">
                <a:solidFill>
                  <a:srgbClr val="111827"/>
                </a:solidFill>
                <a:latin typeface="Calibri"/>
                <a:ea typeface="Calibri"/>
                <a:cs typeface="Calibri"/>
                <a:sym typeface="Calibri"/>
              </a:rPr>
              <a:t>Vectors, numbers, tensors</a:t>
            </a:r>
            <a:endParaRPr b="0" i="0" sz="1250" u="none" cap="none" strike="noStrike">
              <a:solidFill>
                <a:schemeClr val="dk1"/>
              </a:solidFill>
              <a:latin typeface="Calibri"/>
              <a:ea typeface="Calibri"/>
              <a:cs typeface="Calibri"/>
              <a:sym typeface="Calibri"/>
            </a:endParaRPr>
          </a:p>
        </p:txBody>
      </p:sp>
      <p:cxnSp>
        <p:nvCxnSpPr>
          <p:cNvPr id="1664" name="Google Shape;1664;p38"/>
          <p:cNvCxnSpPr/>
          <p:nvPr/>
        </p:nvCxnSpPr>
        <p:spPr>
          <a:xfrm>
            <a:off x="5806440" y="2624328"/>
            <a:ext cx="347400" cy="0"/>
          </a:xfrm>
          <a:prstGeom prst="straightConnector1">
            <a:avLst/>
          </a:prstGeom>
          <a:noFill/>
          <a:ln cap="flat" cmpd="sng" w="25400">
            <a:solidFill>
              <a:srgbClr val="1B3A6B"/>
            </a:solidFill>
            <a:prstDash val="solid"/>
            <a:round/>
            <a:headEnd len="sm" w="sm" type="none"/>
            <a:tailEnd len="med" w="med" type="stealth"/>
          </a:ln>
        </p:spPr>
      </p:cxnSp>
      <p:sp>
        <p:nvSpPr>
          <p:cNvPr id="1665" name="Google Shape;1665;p38"/>
          <p:cNvSpPr/>
          <p:nvPr/>
        </p:nvSpPr>
        <p:spPr>
          <a:xfrm>
            <a:off x="6181344" y="1481328"/>
            <a:ext cx="2469000" cy="2286000"/>
          </a:xfrm>
          <a:prstGeom prst="rect">
            <a:avLst/>
          </a:prstGeom>
          <a:solidFill>
            <a:srgbClr val="FFF7ED"/>
          </a:solidFill>
          <a:ln cap="flat" cmpd="sng" w="19050">
            <a:solidFill>
              <a:srgbClr val="EA580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6" name="Google Shape;1666;p38"/>
          <p:cNvSpPr/>
          <p:nvPr/>
        </p:nvSpPr>
        <p:spPr>
          <a:xfrm>
            <a:off x="6181344" y="1481328"/>
            <a:ext cx="2469000" cy="73200"/>
          </a:xfrm>
          <a:prstGeom prst="rect">
            <a:avLst/>
          </a:prstGeom>
          <a:solidFill>
            <a:srgbClr val="EA580C"/>
          </a:solidFill>
          <a:ln cap="flat" cmpd="sng" w="12700">
            <a:solidFill>
              <a:srgbClr val="EA580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7" name="Google Shape;1667;p38"/>
          <p:cNvSpPr/>
          <p:nvPr/>
        </p:nvSpPr>
        <p:spPr>
          <a:xfrm>
            <a:off x="6181344" y="1645920"/>
            <a:ext cx="2469000" cy="502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800"/>
              <a:buFont typeface="Calibri"/>
              <a:buNone/>
            </a:pPr>
            <a:r>
              <a:rPr b="0" i="0" lang="en" sz="2800" u="none" cap="none" strike="noStrike">
                <a:solidFill>
                  <a:srgbClr val="000000"/>
                </a:solidFill>
                <a:latin typeface="Calibri"/>
                <a:ea typeface="Calibri"/>
                <a:cs typeface="Calibri"/>
                <a:sym typeface="Calibri"/>
              </a:rPr>
              <a:t>🧠</a:t>
            </a:r>
            <a:endParaRPr b="0" i="0" sz="2800" u="none" cap="none" strike="noStrike">
              <a:solidFill>
                <a:schemeClr val="dk1"/>
              </a:solidFill>
              <a:latin typeface="Calibri"/>
              <a:ea typeface="Calibri"/>
              <a:cs typeface="Calibri"/>
              <a:sym typeface="Calibri"/>
            </a:endParaRPr>
          </a:p>
        </p:txBody>
      </p:sp>
      <p:sp>
        <p:nvSpPr>
          <p:cNvPr id="1668" name="Google Shape;1668;p38"/>
          <p:cNvSpPr/>
          <p:nvPr/>
        </p:nvSpPr>
        <p:spPr>
          <a:xfrm>
            <a:off x="6291072" y="2176272"/>
            <a:ext cx="2249400" cy="347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EA580C"/>
              </a:buClr>
              <a:buSzPts val="1600"/>
              <a:buFont typeface="Calibri"/>
              <a:buNone/>
            </a:pPr>
            <a:r>
              <a:rPr b="1" i="0" lang="en" sz="1600" u="none" cap="none" strike="noStrike">
                <a:solidFill>
                  <a:srgbClr val="EA580C"/>
                </a:solidFill>
                <a:latin typeface="Calibri"/>
                <a:ea typeface="Calibri"/>
                <a:cs typeface="Calibri"/>
                <a:sym typeface="Calibri"/>
              </a:rPr>
              <a:t>ML Model</a:t>
            </a:r>
            <a:endParaRPr b="0" i="0" sz="1600" u="none" cap="none" strike="noStrike">
              <a:solidFill>
                <a:schemeClr val="dk1"/>
              </a:solidFill>
              <a:latin typeface="Calibri"/>
              <a:ea typeface="Calibri"/>
              <a:cs typeface="Calibri"/>
              <a:sym typeface="Calibri"/>
            </a:endParaRPr>
          </a:p>
        </p:txBody>
      </p:sp>
      <p:cxnSp>
        <p:nvCxnSpPr>
          <p:cNvPr id="1669" name="Google Shape;1669;p38"/>
          <p:cNvCxnSpPr/>
          <p:nvPr/>
        </p:nvCxnSpPr>
        <p:spPr>
          <a:xfrm>
            <a:off x="6409944" y="2542032"/>
            <a:ext cx="2011800" cy="0"/>
          </a:xfrm>
          <a:prstGeom prst="straightConnector1">
            <a:avLst/>
          </a:prstGeom>
          <a:noFill/>
          <a:ln cap="flat" cmpd="sng" w="10150">
            <a:solidFill>
              <a:srgbClr val="EA580C">
                <a:alpha val="60000"/>
              </a:srgbClr>
            </a:solidFill>
            <a:prstDash val="solid"/>
            <a:round/>
            <a:headEnd len="sm" w="sm" type="none"/>
            <a:tailEnd len="sm" w="sm" type="none"/>
          </a:ln>
        </p:spPr>
      </p:cxnSp>
      <p:sp>
        <p:nvSpPr>
          <p:cNvPr id="1670" name="Google Shape;1670;p38"/>
          <p:cNvSpPr/>
          <p:nvPr/>
        </p:nvSpPr>
        <p:spPr>
          <a:xfrm>
            <a:off x="6291072" y="2624328"/>
            <a:ext cx="2249400" cy="822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11827"/>
              </a:buClr>
              <a:buSzPts val="1250"/>
              <a:buFont typeface="Calibri"/>
              <a:buNone/>
            </a:pPr>
            <a:r>
              <a:rPr b="0" i="1" lang="en" sz="1250" u="none" cap="none" strike="noStrike">
                <a:solidFill>
                  <a:srgbClr val="111827"/>
                </a:solidFill>
                <a:latin typeface="Calibri"/>
                <a:ea typeface="Calibri"/>
                <a:cs typeface="Calibri"/>
                <a:sym typeface="Calibri"/>
              </a:rPr>
              <a:t>Classification, generation…</a:t>
            </a:r>
            <a:endParaRPr b="0" i="0" sz="1250" u="none" cap="none" strike="noStrike">
              <a:solidFill>
                <a:schemeClr val="dk1"/>
              </a:solidFill>
              <a:latin typeface="Calibri"/>
              <a:ea typeface="Calibri"/>
              <a:cs typeface="Calibri"/>
              <a:sym typeface="Calibri"/>
            </a:endParaRPr>
          </a:p>
        </p:txBody>
      </p:sp>
      <p:sp>
        <p:nvSpPr>
          <p:cNvPr id="1671" name="Google Shape;1671;p38"/>
          <p:cNvSpPr/>
          <p:nvPr/>
        </p:nvSpPr>
        <p:spPr>
          <a:xfrm>
            <a:off x="347472" y="3858768"/>
            <a:ext cx="8449200" cy="402300"/>
          </a:xfrm>
          <a:prstGeom prst="rect">
            <a:avLst/>
          </a:prstGeom>
          <a:solidFill>
            <a:srgbClr val="1B3A6B"/>
          </a:solidFill>
          <a:ln cap="flat" cmpd="sng" w="12700">
            <a:solidFill>
              <a:srgbClr val="1B3A6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2" name="Google Shape;1672;p38"/>
          <p:cNvSpPr/>
          <p:nvPr/>
        </p:nvSpPr>
        <p:spPr>
          <a:xfrm>
            <a:off x="457200" y="3858768"/>
            <a:ext cx="82296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Calibri"/>
              <a:buNone/>
            </a:pPr>
            <a:r>
              <a:rPr b="1" i="0" lang="en" sz="1300" u="none" cap="none" strike="noStrike">
                <a:solidFill>
                  <a:srgbClr val="FFFFFF"/>
                </a:solidFill>
                <a:latin typeface="Calibri"/>
                <a:ea typeface="Calibri"/>
                <a:cs typeface="Calibri"/>
                <a:sym typeface="Calibri"/>
              </a:rPr>
              <a:t>The representation step is the key bottleneck — and the biggest opportunity.</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1677" name="Shape 1677"/>
        <p:cNvGrpSpPr/>
        <p:nvPr/>
      </p:nvGrpSpPr>
      <p:grpSpPr>
        <a:xfrm>
          <a:off x="0" y="0"/>
          <a:ext cx="0" cy="0"/>
          <a:chOff x="0" y="0"/>
          <a:chExt cx="0" cy="0"/>
        </a:xfrm>
      </p:grpSpPr>
      <p:sp>
        <p:nvSpPr>
          <p:cNvPr id="1678" name="Google Shape;1678;p39"/>
          <p:cNvSpPr/>
          <p:nvPr/>
        </p:nvSpPr>
        <p:spPr>
          <a:xfrm>
            <a:off x="0" y="0"/>
            <a:ext cx="9144000" cy="63900"/>
          </a:xfrm>
          <a:prstGeom prst="rect">
            <a:avLst/>
          </a:prstGeom>
          <a:solidFill>
            <a:srgbClr val="2563EB"/>
          </a:solidFill>
          <a:ln cap="flat" cmpd="sng" w="12700">
            <a:solidFill>
              <a:srgbClr val="2563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9" name="Google Shape;1679;p39"/>
          <p:cNvSpPr/>
          <p:nvPr/>
        </p:nvSpPr>
        <p:spPr>
          <a:xfrm>
            <a:off x="347472" y="164592"/>
            <a:ext cx="63900" cy="512100"/>
          </a:xfrm>
          <a:prstGeom prst="rect">
            <a:avLst/>
          </a:prstGeom>
          <a:solidFill>
            <a:srgbClr val="2563EB"/>
          </a:solidFill>
          <a:ln cap="flat" cmpd="sng" w="12700">
            <a:solidFill>
              <a:srgbClr val="2563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0" name="Google Shape;1680;p39"/>
          <p:cNvSpPr/>
          <p:nvPr/>
        </p:nvSpPr>
        <p:spPr>
          <a:xfrm>
            <a:off x="521208" y="146304"/>
            <a:ext cx="82296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563EB"/>
              </a:buClr>
              <a:buSzPts val="2600"/>
              <a:buFont typeface="Calibri"/>
              <a:buNone/>
            </a:pPr>
            <a:r>
              <a:rPr b="1" i="0" lang="en" sz="2600" u="none" cap="none" strike="noStrike">
                <a:solidFill>
                  <a:srgbClr val="2563EB"/>
                </a:solidFill>
                <a:latin typeface="Calibri"/>
                <a:ea typeface="Calibri"/>
                <a:cs typeface="Calibri"/>
                <a:sym typeface="Calibri"/>
              </a:rPr>
              <a:t>One-Hot Vector Representation</a:t>
            </a:r>
            <a:endParaRPr b="0" i="0" sz="2600" u="none" cap="none" strike="noStrike">
              <a:solidFill>
                <a:schemeClr val="dk1"/>
              </a:solidFill>
              <a:latin typeface="Calibri"/>
              <a:ea typeface="Calibri"/>
              <a:cs typeface="Calibri"/>
              <a:sym typeface="Calibri"/>
            </a:endParaRPr>
          </a:p>
        </p:txBody>
      </p:sp>
      <p:cxnSp>
        <p:nvCxnSpPr>
          <p:cNvPr id="1681" name="Google Shape;1681;p39"/>
          <p:cNvCxnSpPr/>
          <p:nvPr/>
        </p:nvCxnSpPr>
        <p:spPr>
          <a:xfrm>
            <a:off x="347472" y="713232"/>
            <a:ext cx="8449200" cy="0"/>
          </a:xfrm>
          <a:prstGeom prst="straightConnector1">
            <a:avLst/>
          </a:prstGeom>
          <a:noFill/>
          <a:ln cap="flat" cmpd="sng" w="15225">
            <a:solidFill>
              <a:srgbClr val="2563EB"/>
            </a:solidFill>
            <a:prstDash val="solid"/>
            <a:round/>
            <a:headEnd len="sm" w="sm" type="none"/>
            <a:tailEnd len="sm" w="sm" type="none"/>
          </a:ln>
        </p:spPr>
      </p:cxnSp>
      <p:sp>
        <p:nvSpPr>
          <p:cNvPr id="1682" name="Google Shape;1682;p39"/>
          <p:cNvSpPr/>
          <p:nvPr/>
        </p:nvSpPr>
        <p:spPr>
          <a:xfrm>
            <a:off x="347472" y="749808"/>
            <a:ext cx="8449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200"/>
              <a:buFont typeface="Calibri"/>
              <a:buNone/>
            </a:pPr>
            <a:r>
              <a:rPr b="0" i="1" lang="en" sz="1200" u="none" cap="none" strike="noStrike">
                <a:solidFill>
                  <a:srgbClr val="6B7280"/>
                </a:solidFill>
                <a:latin typeface="Calibri"/>
                <a:ea typeface="Calibri"/>
                <a:cs typeface="Calibri"/>
                <a:sym typeface="Calibri"/>
              </a:rPr>
              <a:t>Step 1: Assign every word a unique index in a fixed vocabulary</a:t>
            </a:r>
            <a:endParaRPr b="0" i="0" sz="1200" u="none" cap="none" strike="noStrike">
              <a:solidFill>
                <a:schemeClr val="dk1"/>
              </a:solidFill>
              <a:latin typeface="Calibri"/>
              <a:ea typeface="Calibri"/>
              <a:cs typeface="Calibri"/>
              <a:sym typeface="Calibri"/>
            </a:endParaRPr>
          </a:p>
        </p:txBody>
      </p:sp>
      <p:sp>
        <p:nvSpPr>
          <p:cNvPr id="1683" name="Google Shape;1683;p39"/>
          <p:cNvSpPr/>
          <p:nvPr/>
        </p:nvSpPr>
        <p:spPr>
          <a:xfrm>
            <a:off x="347472" y="1078992"/>
            <a:ext cx="7680900" cy="420600"/>
          </a:xfrm>
          <a:prstGeom prst="rect">
            <a:avLst/>
          </a:prstGeom>
          <a:solidFill>
            <a:srgbClr val="1B3A6B"/>
          </a:solidFill>
          <a:ln cap="flat" cmpd="sng" w="12700">
            <a:solidFill>
              <a:srgbClr val="1B3A6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4" name="Google Shape;1684;p39"/>
          <p:cNvSpPr/>
          <p:nvPr/>
        </p:nvSpPr>
        <p:spPr>
          <a:xfrm>
            <a:off x="347472" y="1078992"/>
            <a:ext cx="960000" cy="210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3C5FD"/>
              </a:buClr>
              <a:buSzPts val="1000"/>
              <a:buFont typeface="Courier New"/>
              <a:buNone/>
            </a:pPr>
            <a:r>
              <a:rPr b="0" i="0" lang="en" sz="1000" u="none" cap="none" strike="noStrike">
                <a:solidFill>
                  <a:srgbClr val="93C5FD"/>
                </a:solidFill>
                <a:latin typeface="Courier New"/>
                <a:ea typeface="Courier New"/>
                <a:cs typeface="Courier New"/>
                <a:sym typeface="Courier New"/>
              </a:rPr>
              <a:t>0</a:t>
            </a:r>
            <a:endParaRPr b="0" i="0" sz="1000" u="none" cap="none" strike="noStrike">
              <a:solidFill>
                <a:schemeClr val="dk1"/>
              </a:solidFill>
              <a:latin typeface="Calibri"/>
              <a:ea typeface="Calibri"/>
              <a:cs typeface="Calibri"/>
              <a:sym typeface="Calibri"/>
            </a:endParaRPr>
          </a:p>
        </p:txBody>
      </p:sp>
      <p:sp>
        <p:nvSpPr>
          <p:cNvPr id="1685" name="Google Shape;1685;p39"/>
          <p:cNvSpPr/>
          <p:nvPr/>
        </p:nvSpPr>
        <p:spPr>
          <a:xfrm>
            <a:off x="347472" y="1289304"/>
            <a:ext cx="960000" cy="210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Courier New"/>
              <a:buNone/>
            </a:pPr>
            <a:r>
              <a:rPr b="1" i="0" lang="en" sz="1100" u="none" cap="none" strike="noStrike">
                <a:solidFill>
                  <a:srgbClr val="FFFFFF"/>
                </a:solidFill>
                <a:latin typeface="Courier New"/>
                <a:ea typeface="Courier New"/>
                <a:cs typeface="Courier New"/>
                <a:sym typeface="Courier New"/>
              </a:rPr>
              <a:t>cat</a:t>
            </a:r>
            <a:endParaRPr b="0" i="0" sz="1100" u="none" cap="none" strike="noStrike">
              <a:solidFill>
                <a:schemeClr val="dk1"/>
              </a:solidFill>
              <a:latin typeface="Calibri"/>
              <a:ea typeface="Calibri"/>
              <a:cs typeface="Calibri"/>
              <a:sym typeface="Calibri"/>
            </a:endParaRPr>
          </a:p>
        </p:txBody>
      </p:sp>
      <p:sp>
        <p:nvSpPr>
          <p:cNvPr id="1686" name="Google Shape;1686;p39"/>
          <p:cNvSpPr/>
          <p:nvPr/>
        </p:nvSpPr>
        <p:spPr>
          <a:xfrm>
            <a:off x="1307592" y="1078992"/>
            <a:ext cx="960000" cy="210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3C5FD"/>
              </a:buClr>
              <a:buSzPts val="1000"/>
              <a:buFont typeface="Courier New"/>
              <a:buNone/>
            </a:pPr>
            <a:r>
              <a:rPr b="0" i="0" lang="en" sz="1000" u="none" cap="none" strike="noStrike">
                <a:solidFill>
                  <a:srgbClr val="93C5FD"/>
                </a:solidFill>
                <a:latin typeface="Courier New"/>
                <a:ea typeface="Courier New"/>
                <a:cs typeface="Courier New"/>
                <a:sym typeface="Courier New"/>
              </a:rPr>
              <a:t>1</a:t>
            </a:r>
            <a:endParaRPr b="0" i="0" sz="1000" u="none" cap="none" strike="noStrike">
              <a:solidFill>
                <a:schemeClr val="dk1"/>
              </a:solidFill>
              <a:latin typeface="Calibri"/>
              <a:ea typeface="Calibri"/>
              <a:cs typeface="Calibri"/>
              <a:sym typeface="Calibri"/>
            </a:endParaRPr>
          </a:p>
        </p:txBody>
      </p:sp>
      <p:sp>
        <p:nvSpPr>
          <p:cNvPr id="1687" name="Google Shape;1687;p39"/>
          <p:cNvSpPr/>
          <p:nvPr/>
        </p:nvSpPr>
        <p:spPr>
          <a:xfrm>
            <a:off x="1307592" y="1289304"/>
            <a:ext cx="960000" cy="210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Courier New"/>
              <a:buNone/>
            </a:pPr>
            <a:r>
              <a:rPr b="1" i="0" lang="en" sz="1100" u="none" cap="none" strike="noStrike">
                <a:solidFill>
                  <a:srgbClr val="FFFFFF"/>
                </a:solidFill>
                <a:latin typeface="Courier New"/>
                <a:ea typeface="Courier New"/>
                <a:cs typeface="Courier New"/>
                <a:sym typeface="Courier New"/>
              </a:rPr>
              <a:t>dog</a:t>
            </a:r>
            <a:endParaRPr b="0" i="0" sz="1100" u="none" cap="none" strike="noStrike">
              <a:solidFill>
                <a:schemeClr val="dk1"/>
              </a:solidFill>
              <a:latin typeface="Calibri"/>
              <a:ea typeface="Calibri"/>
              <a:cs typeface="Calibri"/>
              <a:sym typeface="Calibri"/>
            </a:endParaRPr>
          </a:p>
        </p:txBody>
      </p:sp>
      <p:cxnSp>
        <p:nvCxnSpPr>
          <p:cNvPr id="1688" name="Google Shape;1688;p39"/>
          <p:cNvCxnSpPr/>
          <p:nvPr/>
        </p:nvCxnSpPr>
        <p:spPr>
          <a:xfrm>
            <a:off x="1307592" y="1078992"/>
            <a:ext cx="0" cy="420600"/>
          </a:xfrm>
          <a:prstGeom prst="straightConnector1">
            <a:avLst/>
          </a:prstGeom>
          <a:noFill/>
          <a:ln cap="flat" cmpd="sng" w="9525">
            <a:solidFill>
              <a:srgbClr val="334D7A"/>
            </a:solidFill>
            <a:prstDash val="solid"/>
            <a:round/>
            <a:headEnd len="sm" w="sm" type="none"/>
            <a:tailEnd len="sm" w="sm" type="none"/>
          </a:ln>
        </p:spPr>
      </p:cxnSp>
      <p:sp>
        <p:nvSpPr>
          <p:cNvPr id="1689" name="Google Shape;1689;p39"/>
          <p:cNvSpPr/>
          <p:nvPr/>
        </p:nvSpPr>
        <p:spPr>
          <a:xfrm>
            <a:off x="2267712" y="1078992"/>
            <a:ext cx="960000" cy="210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3C5FD"/>
              </a:buClr>
              <a:buSzPts val="1000"/>
              <a:buFont typeface="Courier New"/>
              <a:buNone/>
            </a:pPr>
            <a:r>
              <a:rPr b="0" i="0" lang="en" sz="1000" u="none" cap="none" strike="noStrike">
                <a:solidFill>
                  <a:srgbClr val="93C5FD"/>
                </a:solidFill>
                <a:latin typeface="Courier New"/>
                <a:ea typeface="Courier New"/>
                <a:cs typeface="Courier New"/>
                <a:sym typeface="Courier New"/>
              </a:rPr>
              <a:t>2</a:t>
            </a:r>
            <a:endParaRPr b="0" i="0" sz="1000" u="none" cap="none" strike="noStrike">
              <a:solidFill>
                <a:schemeClr val="dk1"/>
              </a:solidFill>
              <a:latin typeface="Calibri"/>
              <a:ea typeface="Calibri"/>
              <a:cs typeface="Calibri"/>
              <a:sym typeface="Calibri"/>
            </a:endParaRPr>
          </a:p>
        </p:txBody>
      </p:sp>
      <p:sp>
        <p:nvSpPr>
          <p:cNvPr id="1690" name="Google Shape;1690;p39"/>
          <p:cNvSpPr/>
          <p:nvPr/>
        </p:nvSpPr>
        <p:spPr>
          <a:xfrm>
            <a:off x="2267712" y="1289304"/>
            <a:ext cx="960000" cy="210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Courier New"/>
              <a:buNone/>
            </a:pPr>
            <a:r>
              <a:rPr b="1" i="0" lang="en" sz="1100" u="none" cap="none" strike="noStrike">
                <a:solidFill>
                  <a:srgbClr val="FFFFFF"/>
                </a:solidFill>
                <a:latin typeface="Courier New"/>
                <a:ea typeface="Courier New"/>
                <a:cs typeface="Courier New"/>
                <a:sym typeface="Courier New"/>
              </a:rPr>
              <a:t>king</a:t>
            </a:r>
            <a:endParaRPr b="0" i="0" sz="1100" u="none" cap="none" strike="noStrike">
              <a:solidFill>
                <a:schemeClr val="dk1"/>
              </a:solidFill>
              <a:latin typeface="Calibri"/>
              <a:ea typeface="Calibri"/>
              <a:cs typeface="Calibri"/>
              <a:sym typeface="Calibri"/>
            </a:endParaRPr>
          </a:p>
        </p:txBody>
      </p:sp>
      <p:cxnSp>
        <p:nvCxnSpPr>
          <p:cNvPr id="1691" name="Google Shape;1691;p39"/>
          <p:cNvCxnSpPr/>
          <p:nvPr/>
        </p:nvCxnSpPr>
        <p:spPr>
          <a:xfrm>
            <a:off x="2267712" y="1078992"/>
            <a:ext cx="0" cy="420600"/>
          </a:xfrm>
          <a:prstGeom prst="straightConnector1">
            <a:avLst/>
          </a:prstGeom>
          <a:noFill/>
          <a:ln cap="flat" cmpd="sng" w="9525">
            <a:solidFill>
              <a:srgbClr val="334D7A"/>
            </a:solidFill>
            <a:prstDash val="solid"/>
            <a:round/>
            <a:headEnd len="sm" w="sm" type="none"/>
            <a:tailEnd len="sm" w="sm" type="none"/>
          </a:ln>
        </p:spPr>
      </p:cxnSp>
      <p:sp>
        <p:nvSpPr>
          <p:cNvPr id="1692" name="Google Shape;1692;p39"/>
          <p:cNvSpPr/>
          <p:nvPr/>
        </p:nvSpPr>
        <p:spPr>
          <a:xfrm>
            <a:off x="3227832" y="1078992"/>
            <a:ext cx="960000" cy="210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3C5FD"/>
              </a:buClr>
              <a:buSzPts val="1000"/>
              <a:buFont typeface="Courier New"/>
              <a:buNone/>
            </a:pPr>
            <a:r>
              <a:rPr b="0" i="0" lang="en" sz="1000" u="none" cap="none" strike="noStrike">
                <a:solidFill>
                  <a:srgbClr val="93C5FD"/>
                </a:solidFill>
                <a:latin typeface="Courier New"/>
                <a:ea typeface="Courier New"/>
                <a:cs typeface="Courier New"/>
                <a:sym typeface="Courier New"/>
              </a:rPr>
              <a:t>3</a:t>
            </a:r>
            <a:endParaRPr b="0" i="0" sz="1000" u="none" cap="none" strike="noStrike">
              <a:solidFill>
                <a:schemeClr val="dk1"/>
              </a:solidFill>
              <a:latin typeface="Calibri"/>
              <a:ea typeface="Calibri"/>
              <a:cs typeface="Calibri"/>
              <a:sym typeface="Calibri"/>
            </a:endParaRPr>
          </a:p>
        </p:txBody>
      </p:sp>
      <p:sp>
        <p:nvSpPr>
          <p:cNvPr id="1693" name="Google Shape;1693;p39"/>
          <p:cNvSpPr/>
          <p:nvPr/>
        </p:nvSpPr>
        <p:spPr>
          <a:xfrm>
            <a:off x="3227832" y="1289304"/>
            <a:ext cx="960000" cy="210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Courier New"/>
              <a:buNone/>
            </a:pPr>
            <a:r>
              <a:rPr b="1" i="0" lang="en" sz="1100" u="none" cap="none" strike="noStrike">
                <a:solidFill>
                  <a:srgbClr val="FFFFFF"/>
                </a:solidFill>
                <a:latin typeface="Courier New"/>
                <a:ea typeface="Courier New"/>
                <a:cs typeface="Courier New"/>
                <a:sym typeface="Courier New"/>
              </a:rPr>
              <a:t>queen</a:t>
            </a:r>
            <a:endParaRPr b="0" i="0" sz="1100" u="none" cap="none" strike="noStrike">
              <a:solidFill>
                <a:schemeClr val="dk1"/>
              </a:solidFill>
              <a:latin typeface="Calibri"/>
              <a:ea typeface="Calibri"/>
              <a:cs typeface="Calibri"/>
              <a:sym typeface="Calibri"/>
            </a:endParaRPr>
          </a:p>
        </p:txBody>
      </p:sp>
      <p:cxnSp>
        <p:nvCxnSpPr>
          <p:cNvPr id="1694" name="Google Shape;1694;p39"/>
          <p:cNvCxnSpPr/>
          <p:nvPr/>
        </p:nvCxnSpPr>
        <p:spPr>
          <a:xfrm>
            <a:off x="3227832" y="1078992"/>
            <a:ext cx="0" cy="420600"/>
          </a:xfrm>
          <a:prstGeom prst="straightConnector1">
            <a:avLst/>
          </a:prstGeom>
          <a:noFill/>
          <a:ln cap="flat" cmpd="sng" w="9525">
            <a:solidFill>
              <a:srgbClr val="334D7A"/>
            </a:solidFill>
            <a:prstDash val="solid"/>
            <a:round/>
            <a:headEnd len="sm" w="sm" type="none"/>
            <a:tailEnd len="sm" w="sm" type="none"/>
          </a:ln>
        </p:spPr>
      </p:cxnSp>
      <p:sp>
        <p:nvSpPr>
          <p:cNvPr id="1695" name="Google Shape;1695;p39"/>
          <p:cNvSpPr/>
          <p:nvPr/>
        </p:nvSpPr>
        <p:spPr>
          <a:xfrm>
            <a:off x="4187952" y="1078992"/>
            <a:ext cx="960000" cy="210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3C5FD"/>
              </a:buClr>
              <a:buSzPts val="1000"/>
              <a:buFont typeface="Courier New"/>
              <a:buNone/>
            </a:pPr>
            <a:r>
              <a:rPr b="0" i="0" lang="en" sz="1000" u="none" cap="none" strike="noStrike">
                <a:solidFill>
                  <a:srgbClr val="93C5FD"/>
                </a:solidFill>
                <a:latin typeface="Courier New"/>
                <a:ea typeface="Courier New"/>
                <a:cs typeface="Courier New"/>
                <a:sym typeface="Courier New"/>
              </a:rPr>
              <a:t>4</a:t>
            </a:r>
            <a:endParaRPr b="0" i="0" sz="1000" u="none" cap="none" strike="noStrike">
              <a:solidFill>
                <a:schemeClr val="dk1"/>
              </a:solidFill>
              <a:latin typeface="Calibri"/>
              <a:ea typeface="Calibri"/>
              <a:cs typeface="Calibri"/>
              <a:sym typeface="Calibri"/>
            </a:endParaRPr>
          </a:p>
        </p:txBody>
      </p:sp>
      <p:sp>
        <p:nvSpPr>
          <p:cNvPr id="1696" name="Google Shape;1696;p39"/>
          <p:cNvSpPr/>
          <p:nvPr/>
        </p:nvSpPr>
        <p:spPr>
          <a:xfrm>
            <a:off x="4187952" y="1289304"/>
            <a:ext cx="960000" cy="210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Courier New"/>
              <a:buNone/>
            </a:pPr>
            <a:r>
              <a:rPr b="1" i="0" lang="en" sz="1100" u="none" cap="none" strike="noStrike">
                <a:solidFill>
                  <a:srgbClr val="FFFFFF"/>
                </a:solidFill>
                <a:latin typeface="Courier New"/>
                <a:ea typeface="Courier New"/>
                <a:cs typeface="Courier New"/>
                <a:sym typeface="Courier New"/>
              </a:rPr>
              <a:t>apple</a:t>
            </a:r>
            <a:endParaRPr b="0" i="0" sz="1100" u="none" cap="none" strike="noStrike">
              <a:solidFill>
                <a:schemeClr val="dk1"/>
              </a:solidFill>
              <a:latin typeface="Calibri"/>
              <a:ea typeface="Calibri"/>
              <a:cs typeface="Calibri"/>
              <a:sym typeface="Calibri"/>
            </a:endParaRPr>
          </a:p>
        </p:txBody>
      </p:sp>
      <p:cxnSp>
        <p:nvCxnSpPr>
          <p:cNvPr id="1697" name="Google Shape;1697;p39"/>
          <p:cNvCxnSpPr/>
          <p:nvPr/>
        </p:nvCxnSpPr>
        <p:spPr>
          <a:xfrm>
            <a:off x="4187952" y="1078992"/>
            <a:ext cx="0" cy="420600"/>
          </a:xfrm>
          <a:prstGeom prst="straightConnector1">
            <a:avLst/>
          </a:prstGeom>
          <a:noFill/>
          <a:ln cap="flat" cmpd="sng" w="9525">
            <a:solidFill>
              <a:srgbClr val="334D7A"/>
            </a:solidFill>
            <a:prstDash val="solid"/>
            <a:round/>
            <a:headEnd len="sm" w="sm" type="none"/>
            <a:tailEnd len="sm" w="sm" type="none"/>
          </a:ln>
        </p:spPr>
      </p:cxnSp>
      <p:sp>
        <p:nvSpPr>
          <p:cNvPr id="1698" name="Google Shape;1698;p39"/>
          <p:cNvSpPr/>
          <p:nvPr/>
        </p:nvSpPr>
        <p:spPr>
          <a:xfrm>
            <a:off x="5148072" y="1078992"/>
            <a:ext cx="960000" cy="210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3C5FD"/>
              </a:buClr>
              <a:buSzPts val="1000"/>
              <a:buFont typeface="Courier New"/>
              <a:buNone/>
            </a:pPr>
            <a:r>
              <a:rPr b="0" i="0" lang="en" sz="1000" u="none" cap="none" strike="noStrike">
                <a:solidFill>
                  <a:srgbClr val="93C5FD"/>
                </a:solidFill>
                <a:latin typeface="Courier New"/>
                <a:ea typeface="Courier New"/>
                <a:cs typeface="Courier New"/>
                <a:sym typeface="Courier New"/>
              </a:rPr>
              <a:t>5</a:t>
            </a:r>
            <a:endParaRPr b="0" i="0" sz="1000" u="none" cap="none" strike="noStrike">
              <a:solidFill>
                <a:schemeClr val="dk1"/>
              </a:solidFill>
              <a:latin typeface="Calibri"/>
              <a:ea typeface="Calibri"/>
              <a:cs typeface="Calibri"/>
              <a:sym typeface="Calibri"/>
            </a:endParaRPr>
          </a:p>
        </p:txBody>
      </p:sp>
      <p:sp>
        <p:nvSpPr>
          <p:cNvPr id="1699" name="Google Shape;1699;p39"/>
          <p:cNvSpPr/>
          <p:nvPr/>
        </p:nvSpPr>
        <p:spPr>
          <a:xfrm>
            <a:off x="5148072" y="1289304"/>
            <a:ext cx="960000" cy="210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Courier New"/>
              <a:buNone/>
            </a:pPr>
            <a:r>
              <a:rPr b="1" i="0" lang="en" sz="1100" u="none" cap="none" strike="noStrike">
                <a:solidFill>
                  <a:srgbClr val="FFFFFF"/>
                </a:solidFill>
                <a:latin typeface="Courier New"/>
                <a:ea typeface="Courier New"/>
                <a:cs typeface="Courier New"/>
                <a:sym typeface="Courier New"/>
              </a:rPr>
              <a:t>runs</a:t>
            </a:r>
            <a:endParaRPr b="0" i="0" sz="1100" u="none" cap="none" strike="noStrike">
              <a:solidFill>
                <a:schemeClr val="dk1"/>
              </a:solidFill>
              <a:latin typeface="Calibri"/>
              <a:ea typeface="Calibri"/>
              <a:cs typeface="Calibri"/>
              <a:sym typeface="Calibri"/>
            </a:endParaRPr>
          </a:p>
        </p:txBody>
      </p:sp>
      <p:cxnSp>
        <p:nvCxnSpPr>
          <p:cNvPr id="1700" name="Google Shape;1700;p39"/>
          <p:cNvCxnSpPr/>
          <p:nvPr/>
        </p:nvCxnSpPr>
        <p:spPr>
          <a:xfrm>
            <a:off x="5148072" y="1078992"/>
            <a:ext cx="0" cy="420600"/>
          </a:xfrm>
          <a:prstGeom prst="straightConnector1">
            <a:avLst/>
          </a:prstGeom>
          <a:noFill/>
          <a:ln cap="flat" cmpd="sng" w="9525">
            <a:solidFill>
              <a:srgbClr val="334D7A"/>
            </a:solidFill>
            <a:prstDash val="solid"/>
            <a:round/>
            <a:headEnd len="sm" w="sm" type="none"/>
            <a:tailEnd len="sm" w="sm" type="none"/>
          </a:ln>
        </p:spPr>
      </p:cxnSp>
      <p:sp>
        <p:nvSpPr>
          <p:cNvPr id="1701" name="Google Shape;1701;p39"/>
          <p:cNvSpPr/>
          <p:nvPr/>
        </p:nvSpPr>
        <p:spPr>
          <a:xfrm>
            <a:off x="6108192" y="1078992"/>
            <a:ext cx="960000" cy="210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3C5FD"/>
              </a:buClr>
              <a:buSzPts val="1000"/>
              <a:buFont typeface="Courier New"/>
              <a:buNone/>
            </a:pPr>
            <a:r>
              <a:rPr b="0" i="0" lang="en" sz="1000" u="none" cap="none" strike="noStrike">
                <a:solidFill>
                  <a:srgbClr val="93C5FD"/>
                </a:solidFill>
                <a:latin typeface="Courier New"/>
                <a:ea typeface="Courier New"/>
                <a:cs typeface="Courier New"/>
                <a:sym typeface="Courier New"/>
              </a:rPr>
              <a:t>6</a:t>
            </a:r>
            <a:endParaRPr b="0" i="0" sz="1000" u="none" cap="none" strike="noStrike">
              <a:solidFill>
                <a:schemeClr val="dk1"/>
              </a:solidFill>
              <a:latin typeface="Calibri"/>
              <a:ea typeface="Calibri"/>
              <a:cs typeface="Calibri"/>
              <a:sym typeface="Calibri"/>
            </a:endParaRPr>
          </a:p>
        </p:txBody>
      </p:sp>
      <p:sp>
        <p:nvSpPr>
          <p:cNvPr id="1702" name="Google Shape;1702;p39"/>
          <p:cNvSpPr/>
          <p:nvPr/>
        </p:nvSpPr>
        <p:spPr>
          <a:xfrm>
            <a:off x="6108192" y="1289304"/>
            <a:ext cx="960000" cy="210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Courier New"/>
              <a:buNone/>
            </a:pPr>
            <a:r>
              <a:rPr b="1" i="0" lang="en" sz="1100" u="none" cap="none" strike="noStrike">
                <a:solidFill>
                  <a:srgbClr val="FFFFFF"/>
                </a:solidFill>
                <a:latin typeface="Courier New"/>
                <a:ea typeface="Courier New"/>
                <a:cs typeface="Courier New"/>
                <a:sym typeface="Courier New"/>
              </a:rPr>
              <a:t>happy</a:t>
            </a:r>
            <a:endParaRPr b="0" i="0" sz="1100" u="none" cap="none" strike="noStrike">
              <a:solidFill>
                <a:schemeClr val="dk1"/>
              </a:solidFill>
              <a:latin typeface="Calibri"/>
              <a:ea typeface="Calibri"/>
              <a:cs typeface="Calibri"/>
              <a:sym typeface="Calibri"/>
            </a:endParaRPr>
          </a:p>
        </p:txBody>
      </p:sp>
      <p:cxnSp>
        <p:nvCxnSpPr>
          <p:cNvPr id="1703" name="Google Shape;1703;p39"/>
          <p:cNvCxnSpPr/>
          <p:nvPr/>
        </p:nvCxnSpPr>
        <p:spPr>
          <a:xfrm>
            <a:off x="6108192" y="1078992"/>
            <a:ext cx="0" cy="420600"/>
          </a:xfrm>
          <a:prstGeom prst="straightConnector1">
            <a:avLst/>
          </a:prstGeom>
          <a:noFill/>
          <a:ln cap="flat" cmpd="sng" w="9525">
            <a:solidFill>
              <a:srgbClr val="334D7A"/>
            </a:solidFill>
            <a:prstDash val="solid"/>
            <a:round/>
            <a:headEnd len="sm" w="sm" type="none"/>
            <a:tailEnd len="sm" w="sm" type="none"/>
          </a:ln>
        </p:spPr>
      </p:cxnSp>
      <p:sp>
        <p:nvSpPr>
          <p:cNvPr id="1704" name="Google Shape;1704;p39"/>
          <p:cNvSpPr/>
          <p:nvPr/>
        </p:nvSpPr>
        <p:spPr>
          <a:xfrm>
            <a:off x="7068312" y="1078992"/>
            <a:ext cx="960000" cy="210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3C5FD"/>
              </a:buClr>
              <a:buSzPts val="1000"/>
              <a:buFont typeface="Courier New"/>
              <a:buNone/>
            </a:pPr>
            <a:r>
              <a:rPr b="0" i="0" lang="en" sz="1000" u="none" cap="none" strike="noStrike">
                <a:solidFill>
                  <a:srgbClr val="93C5FD"/>
                </a:solidFill>
                <a:latin typeface="Courier New"/>
                <a:ea typeface="Courier New"/>
                <a:cs typeface="Courier New"/>
                <a:sym typeface="Courier New"/>
              </a:rPr>
              <a:t>7</a:t>
            </a:r>
            <a:endParaRPr b="0" i="0" sz="1000" u="none" cap="none" strike="noStrike">
              <a:solidFill>
                <a:schemeClr val="dk1"/>
              </a:solidFill>
              <a:latin typeface="Calibri"/>
              <a:ea typeface="Calibri"/>
              <a:cs typeface="Calibri"/>
              <a:sym typeface="Calibri"/>
            </a:endParaRPr>
          </a:p>
        </p:txBody>
      </p:sp>
      <p:sp>
        <p:nvSpPr>
          <p:cNvPr id="1705" name="Google Shape;1705;p39"/>
          <p:cNvSpPr/>
          <p:nvPr/>
        </p:nvSpPr>
        <p:spPr>
          <a:xfrm>
            <a:off x="7068312" y="1289304"/>
            <a:ext cx="960000" cy="210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Courier New"/>
              <a:buNone/>
            </a:pPr>
            <a:r>
              <a:rPr b="1" i="0" lang="en" sz="1100" u="none" cap="none" strike="noStrike">
                <a:solidFill>
                  <a:srgbClr val="FFFFFF"/>
                </a:solidFill>
                <a:latin typeface="Courier New"/>
                <a:ea typeface="Courier New"/>
                <a:cs typeface="Courier New"/>
                <a:sym typeface="Courier New"/>
              </a:rPr>
              <a:t>the</a:t>
            </a:r>
            <a:endParaRPr b="0" i="0" sz="1100" u="none" cap="none" strike="noStrike">
              <a:solidFill>
                <a:schemeClr val="dk1"/>
              </a:solidFill>
              <a:latin typeface="Calibri"/>
              <a:ea typeface="Calibri"/>
              <a:cs typeface="Calibri"/>
              <a:sym typeface="Calibri"/>
            </a:endParaRPr>
          </a:p>
        </p:txBody>
      </p:sp>
      <p:cxnSp>
        <p:nvCxnSpPr>
          <p:cNvPr id="1706" name="Google Shape;1706;p39"/>
          <p:cNvCxnSpPr/>
          <p:nvPr/>
        </p:nvCxnSpPr>
        <p:spPr>
          <a:xfrm>
            <a:off x="7068312" y="1078992"/>
            <a:ext cx="0" cy="420600"/>
          </a:xfrm>
          <a:prstGeom prst="straightConnector1">
            <a:avLst/>
          </a:prstGeom>
          <a:noFill/>
          <a:ln cap="flat" cmpd="sng" w="9525">
            <a:solidFill>
              <a:srgbClr val="334D7A"/>
            </a:solidFill>
            <a:prstDash val="solid"/>
            <a:round/>
            <a:headEnd len="sm" w="sm" type="none"/>
            <a:tailEnd len="sm" w="sm" type="none"/>
          </a:ln>
        </p:spPr>
      </p:cxnSp>
      <p:sp>
        <p:nvSpPr>
          <p:cNvPr id="1707" name="Google Shape;1707;p39"/>
          <p:cNvSpPr/>
          <p:nvPr/>
        </p:nvSpPr>
        <p:spPr>
          <a:xfrm>
            <a:off x="4291983" y="731600"/>
            <a:ext cx="32004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563EB"/>
              </a:buClr>
              <a:buSzPts val="1100"/>
              <a:buFont typeface="Calibri"/>
              <a:buNone/>
            </a:pPr>
            <a:r>
              <a:rPr b="1" i="0" lang="en" sz="1100" u="none" cap="none" strike="noStrike">
                <a:solidFill>
                  <a:srgbClr val="2563EB"/>
                </a:solidFill>
                <a:latin typeface="Calibri"/>
                <a:ea typeface="Calibri"/>
                <a:cs typeface="Calibri"/>
                <a:sym typeface="Calibri"/>
              </a:rPr>
              <a:t>Vocabulary (|V| = 8)</a:t>
            </a:r>
            <a:endParaRPr b="0" i="0" sz="1100" u="none" cap="none" strike="noStrike">
              <a:solidFill>
                <a:schemeClr val="dk1"/>
              </a:solidFill>
              <a:latin typeface="Calibri"/>
              <a:ea typeface="Calibri"/>
              <a:cs typeface="Calibri"/>
              <a:sym typeface="Calibri"/>
            </a:endParaRPr>
          </a:p>
        </p:txBody>
      </p:sp>
      <p:sp>
        <p:nvSpPr>
          <p:cNvPr id="1708" name="Google Shape;1708;p39"/>
          <p:cNvSpPr/>
          <p:nvPr/>
        </p:nvSpPr>
        <p:spPr>
          <a:xfrm>
            <a:off x="347472" y="1920240"/>
            <a:ext cx="749700" cy="475500"/>
          </a:xfrm>
          <a:prstGeom prst="rect">
            <a:avLst/>
          </a:prstGeom>
          <a:solidFill>
            <a:srgbClr val="DBEAFE"/>
          </a:solidFill>
          <a:ln cap="flat" cmpd="sng" w="15225">
            <a:solidFill>
              <a:srgbClr val="2563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9" name="Google Shape;1709;p39"/>
          <p:cNvSpPr/>
          <p:nvPr/>
        </p:nvSpPr>
        <p:spPr>
          <a:xfrm>
            <a:off x="347472" y="1920240"/>
            <a:ext cx="749700" cy="475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563EB"/>
              </a:buClr>
              <a:buSzPts val="1300"/>
              <a:buFont typeface="Courier New"/>
              <a:buNone/>
            </a:pPr>
            <a:r>
              <a:rPr b="1" i="0" lang="en" sz="1300" u="none" cap="none" strike="noStrike">
                <a:solidFill>
                  <a:srgbClr val="2563EB"/>
                </a:solidFill>
                <a:latin typeface="Courier New"/>
                <a:ea typeface="Courier New"/>
                <a:cs typeface="Courier New"/>
                <a:sym typeface="Courier New"/>
              </a:rPr>
              <a:t>cat</a:t>
            </a:r>
            <a:endParaRPr b="0" i="0" sz="1300" u="none" cap="none" strike="noStrike">
              <a:solidFill>
                <a:schemeClr val="dk1"/>
              </a:solidFill>
              <a:latin typeface="Calibri"/>
              <a:ea typeface="Calibri"/>
              <a:cs typeface="Calibri"/>
              <a:sym typeface="Calibri"/>
            </a:endParaRPr>
          </a:p>
        </p:txBody>
      </p:sp>
      <p:cxnSp>
        <p:nvCxnSpPr>
          <p:cNvPr id="1710" name="Google Shape;1710;p39"/>
          <p:cNvCxnSpPr/>
          <p:nvPr/>
        </p:nvCxnSpPr>
        <p:spPr>
          <a:xfrm>
            <a:off x="1115568" y="2157984"/>
            <a:ext cx="255900" cy="0"/>
          </a:xfrm>
          <a:prstGeom prst="straightConnector1">
            <a:avLst/>
          </a:prstGeom>
          <a:noFill/>
          <a:ln cap="flat" cmpd="sng" w="19050">
            <a:solidFill>
              <a:srgbClr val="2563EB"/>
            </a:solidFill>
            <a:prstDash val="solid"/>
            <a:round/>
            <a:headEnd len="sm" w="sm" type="none"/>
            <a:tailEnd len="med" w="med" type="stealth"/>
          </a:ln>
        </p:spPr>
      </p:cxnSp>
      <p:sp>
        <p:nvSpPr>
          <p:cNvPr id="1711" name="Google Shape;1711;p39"/>
          <p:cNvSpPr/>
          <p:nvPr/>
        </p:nvSpPr>
        <p:spPr>
          <a:xfrm>
            <a:off x="1399032" y="1920240"/>
            <a:ext cx="960000" cy="475500"/>
          </a:xfrm>
          <a:prstGeom prst="rect">
            <a:avLst/>
          </a:prstGeom>
          <a:solidFill>
            <a:srgbClr val="DBEAFE"/>
          </a:solidFill>
          <a:ln cap="flat" cmpd="sng" w="22850">
            <a:solidFill>
              <a:srgbClr val="2563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2" name="Google Shape;1712;p39"/>
          <p:cNvSpPr/>
          <p:nvPr/>
        </p:nvSpPr>
        <p:spPr>
          <a:xfrm>
            <a:off x="1399032" y="1920240"/>
            <a:ext cx="960000" cy="475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563EB"/>
              </a:buClr>
              <a:buSzPts val="1400"/>
              <a:buFont typeface="Courier New"/>
              <a:buNone/>
            </a:pPr>
            <a:r>
              <a:rPr b="1" i="0" lang="en" sz="1400" u="none" cap="none" strike="noStrike">
                <a:solidFill>
                  <a:srgbClr val="2563EB"/>
                </a:solidFill>
                <a:latin typeface="Courier New"/>
                <a:ea typeface="Courier New"/>
                <a:cs typeface="Courier New"/>
                <a:sym typeface="Courier New"/>
              </a:rPr>
              <a:t>1</a:t>
            </a:r>
            <a:endParaRPr b="0" i="0" sz="1400" u="none" cap="none" strike="noStrike">
              <a:solidFill>
                <a:schemeClr val="dk1"/>
              </a:solidFill>
              <a:latin typeface="Calibri"/>
              <a:ea typeface="Calibri"/>
              <a:cs typeface="Calibri"/>
              <a:sym typeface="Calibri"/>
            </a:endParaRPr>
          </a:p>
        </p:txBody>
      </p:sp>
      <p:sp>
        <p:nvSpPr>
          <p:cNvPr id="1713" name="Google Shape;1713;p39"/>
          <p:cNvSpPr/>
          <p:nvPr/>
        </p:nvSpPr>
        <p:spPr>
          <a:xfrm>
            <a:off x="2359152" y="1920240"/>
            <a:ext cx="960000" cy="4755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4" name="Google Shape;1714;p39"/>
          <p:cNvSpPr/>
          <p:nvPr/>
        </p:nvSpPr>
        <p:spPr>
          <a:xfrm>
            <a:off x="2359152" y="1920240"/>
            <a:ext cx="960000" cy="475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400"/>
              <a:buFont typeface="Courier New"/>
              <a:buNone/>
            </a:pPr>
            <a:r>
              <a:rPr b="0" i="0" lang="en" sz="1400" u="none" cap="none" strike="noStrike">
                <a:solidFill>
                  <a:srgbClr val="6B7280"/>
                </a:solidFill>
                <a:latin typeface="Courier New"/>
                <a:ea typeface="Courier New"/>
                <a:cs typeface="Courier New"/>
                <a:sym typeface="Courier New"/>
              </a:rPr>
              <a:t>0</a:t>
            </a:r>
            <a:endParaRPr b="0" i="0" sz="1400" u="none" cap="none" strike="noStrike">
              <a:solidFill>
                <a:schemeClr val="dk1"/>
              </a:solidFill>
              <a:latin typeface="Calibri"/>
              <a:ea typeface="Calibri"/>
              <a:cs typeface="Calibri"/>
              <a:sym typeface="Calibri"/>
            </a:endParaRPr>
          </a:p>
        </p:txBody>
      </p:sp>
      <p:sp>
        <p:nvSpPr>
          <p:cNvPr id="1715" name="Google Shape;1715;p39"/>
          <p:cNvSpPr/>
          <p:nvPr/>
        </p:nvSpPr>
        <p:spPr>
          <a:xfrm>
            <a:off x="3319272" y="1920240"/>
            <a:ext cx="960000" cy="4755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6" name="Google Shape;1716;p39"/>
          <p:cNvSpPr/>
          <p:nvPr/>
        </p:nvSpPr>
        <p:spPr>
          <a:xfrm>
            <a:off x="3319272" y="1920240"/>
            <a:ext cx="960000" cy="475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400"/>
              <a:buFont typeface="Courier New"/>
              <a:buNone/>
            </a:pPr>
            <a:r>
              <a:rPr b="0" i="0" lang="en" sz="1400" u="none" cap="none" strike="noStrike">
                <a:solidFill>
                  <a:srgbClr val="6B7280"/>
                </a:solidFill>
                <a:latin typeface="Courier New"/>
                <a:ea typeface="Courier New"/>
                <a:cs typeface="Courier New"/>
                <a:sym typeface="Courier New"/>
              </a:rPr>
              <a:t>0</a:t>
            </a:r>
            <a:endParaRPr b="0" i="0" sz="1400" u="none" cap="none" strike="noStrike">
              <a:solidFill>
                <a:schemeClr val="dk1"/>
              </a:solidFill>
              <a:latin typeface="Calibri"/>
              <a:ea typeface="Calibri"/>
              <a:cs typeface="Calibri"/>
              <a:sym typeface="Calibri"/>
            </a:endParaRPr>
          </a:p>
        </p:txBody>
      </p:sp>
      <p:sp>
        <p:nvSpPr>
          <p:cNvPr id="1717" name="Google Shape;1717;p39"/>
          <p:cNvSpPr/>
          <p:nvPr/>
        </p:nvSpPr>
        <p:spPr>
          <a:xfrm>
            <a:off x="4279392" y="1920240"/>
            <a:ext cx="960000" cy="4755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8" name="Google Shape;1718;p39"/>
          <p:cNvSpPr/>
          <p:nvPr/>
        </p:nvSpPr>
        <p:spPr>
          <a:xfrm>
            <a:off x="4279392" y="1920240"/>
            <a:ext cx="960000" cy="475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400"/>
              <a:buFont typeface="Courier New"/>
              <a:buNone/>
            </a:pPr>
            <a:r>
              <a:rPr b="0" i="0" lang="en" sz="1400" u="none" cap="none" strike="noStrike">
                <a:solidFill>
                  <a:srgbClr val="6B7280"/>
                </a:solidFill>
                <a:latin typeface="Courier New"/>
                <a:ea typeface="Courier New"/>
                <a:cs typeface="Courier New"/>
                <a:sym typeface="Courier New"/>
              </a:rPr>
              <a:t>0</a:t>
            </a:r>
            <a:endParaRPr b="0" i="0" sz="1400" u="none" cap="none" strike="noStrike">
              <a:solidFill>
                <a:schemeClr val="dk1"/>
              </a:solidFill>
              <a:latin typeface="Calibri"/>
              <a:ea typeface="Calibri"/>
              <a:cs typeface="Calibri"/>
              <a:sym typeface="Calibri"/>
            </a:endParaRPr>
          </a:p>
        </p:txBody>
      </p:sp>
      <p:sp>
        <p:nvSpPr>
          <p:cNvPr id="1719" name="Google Shape;1719;p39"/>
          <p:cNvSpPr/>
          <p:nvPr/>
        </p:nvSpPr>
        <p:spPr>
          <a:xfrm>
            <a:off x="5239512" y="1920240"/>
            <a:ext cx="960000" cy="4755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0" name="Google Shape;1720;p39"/>
          <p:cNvSpPr/>
          <p:nvPr/>
        </p:nvSpPr>
        <p:spPr>
          <a:xfrm>
            <a:off x="5239512" y="1920240"/>
            <a:ext cx="960000" cy="475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400"/>
              <a:buFont typeface="Courier New"/>
              <a:buNone/>
            </a:pPr>
            <a:r>
              <a:rPr b="0" i="0" lang="en" sz="1400" u="none" cap="none" strike="noStrike">
                <a:solidFill>
                  <a:srgbClr val="6B7280"/>
                </a:solidFill>
                <a:latin typeface="Courier New"/>
                <a:ea typeface="Courier New"/>
                <a:cs typeface="Courier New"/>
                <a:sym typeface="Courier New"/>
              </a:rPr>
              <a:t>0</a:t>
            </a:r>
            <a:endParaRPr b="0" i="0" sz="1400" u="none" cap="none" strike="noStrike">
              <a:solidFill>
                <a:schemeClr val="dk1"/>
              </a:solidFill>
              <a:latin typeface="Calibri"/>
              <a:ea typeface="Calibri"/>
              <a:cs typeface="Calibri"/>
              <a:sym typeface="Calibri"/>
            </a:endParaRPr>
          </a:p>
        </p:txBody>
      </p:sp>
      <p:sp>
        <p:nvSpPr>
          <p:cNvPr id="1721" name="Google Shape;1721;p39"/>
          <p:cNvSpPr/>
          <p:nvPr/>
        </p:nvSpPr>
        <p:spPr>
          <a:xfrm>
            <a:off x="6199632" y="1920240"/>
            <a:ext cx="960000" cy="4755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2" name="Google Shape;1722;p39"/>
          <p:cNvSpPr/>
          <p:nvPr/>
        </p:nvSpPr>
        <p:spPr>
          <a:xfrm>
            <a:off x="6199632" y="1920240"/>
            <a:ext cx="960000" cy="475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400"/>
              <a:buFont typeface="Courier New"/>
              <a:buNone/>
            </a:pPr>
            <a:r>
              <a:rPr b="0" i="0" lang="en" sz="1400" u="none" cap="none" strike="noStrike">
                <a:solidFill>
                  <a:srgbClr val="6B7280"/>
                </a:solidFill>
                <a:latin typeface="Courier New"/>
                <a:ea typeface="Courier New"/>
                <a:cs typeface="Courier New"/>
                <a:sym typeface="Courier New"/>
              </a:rPr>
              <a:t>0</a:t>
            </a:r>
            <a:endParaRPr b="0" i="0" sz="1400" u="none" cap="none" strike="noStrike">
              <a:solidFill>
                <a:schemeClr val="dk1"/>
              </a:solidFill>
              <a:latin typeface="Calibri"/>
              <a:ea typeface="Calibri"/>
              <a:cs typeface="Calibri"/>
              <a:sym typeface="Calibri"/>
            </a:endParaRPr>
          </a:p>
        </p:txBody>
      </p:sp>
      <p:sp>
        <p:nvSpPr>
          <p:cNvPr id="1723" name="Google Shape;1723;p39"/>
          <p:cNvSpPr/>
          <p:nvPr/>
        </p:nvSpPr>
        <p:spPr>
          <a:xfrm>
            <a:off x="7159752" y="1920240"/>
            <a:ext cx="960000" cy="4755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4" name="Google Shape;1724;p39"/>
          <p:cNvSpPr/>
          <p:nvPr/>
        </p:nvSpPr>
        <p:spPr>
          <a:xfrm>
            <a:off x="7159752" y="1920240"/>
            <a:ext cx="960000" cy="475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400"/>
              <a:buFont typeface="Courier New"/>
              <a:buNone/>
            </a:pPr>
            <a:r>
              <a:rPr b="0" i="0" lang="en" sz="1400" u="none" cap="none" strike="noStrike">
                <a:solidFill>
                  <a:srgbClr val="6B7280"/>
                </a:solidFill>
                <a:latin typeface="Courier New"/>
                <a:ea typeface="Courier New"/>
                <a:cs typeface="Courier New"/>
                <a:sym typeface="Courier New"/>
              </a:rPr>
              <a:t>0</a:t>
            </a:r>
            <a:endParaRPr b="0" i="0" sz="1400" u="none" cap="none" strike="noStrike">
              <a:solidFill>
                <a:schemeClr val="dk1"/>
              </a:solidFill>
              <a:latin typeface="Calibri"/>
              <a:ea typeface="Calibri"/>
              <a:cs typeface="Calibri"/>
              <a:sym typeface="Calibri"/>
            </a:endParaRPr>
          </a:p>
        </p:txBody>
      </p:sp>
      <p:sp>
        <p:nvSpPr>
          <p:cNvPr id="1725" name="Google Shape;1725;p39"/>
          <p:cNvSpPr/>
          <p:nvPr/>
        </p:nvSpPr>
        <p:spPr>
          <a:xfrm>
            <a:off x="8119872" y="1920240"/>
            <a:ext cx="960000" cy="4755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6" name="Google Shape;1726;p39"/>
          <p:cNvSpPr/>
          <p:nvPr/>
        </p:nvSpPr>
        <p:spPr>
          <a:xfrm>
            <a:off x="8119872" y="1920240"/>
            <a:ext cx="960000" cy="475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400"/>
              <a:buFont typeface="Courier New"/>
              <a:buNone/>
            </a:pPr>
            <a:r>
              <a:rPr b="0" i="0" lang="en" sz="1400" u="none" cap="none" strike="noStrike">
                <a:solidFill>
                  <a:srgbClr val="6B7280"/>
                </a:solidFill>
                <a:latin typeface="Courier New"/>
                <a:ea typeface="Courier New"/>
                <a:cs typeface="Courier New"/>
                <a:sym typeface="Courier New"/>
              </a:rPr>
              <a:t>0</a:t>
            </a:r>
            <a:endParaRPr b="0" i="0" sz="1400" u="none" cap="none" strike="noStrike">
              <a:solidFill>
                <a:schemeClr val="dk1"/>
              </a:solidFill>
              <a:latin typeface="Calibri"/>
              <a:ea typeface="Calibri"/>
              <a:cs typeface="Calibri"/>
              <a:sym typeface="Calibri"/>
            </a:endParaRPr>
          </a:p>
        </p:txBody>
      </p:sp>
      <p:sp>
        <p:nvSpPr>
          <p:cNvPr id="1727" name="Google Shape;1727;p39"/>
          <p:cNvSpPr/>
          <p:nvPr/>
        </p:nvSpPr>
        <p:spPr>
          <a:xfrm>
            <a:off x="9189720" y="2029968"/>
            <a:ext cx="22860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563EB"/>
              </a:buClr>
              <a:buSzPts val="1000"/>
              <a:buFont typeface="Calibri"/>
              <a:buNone/>
            </a:pPr>
            <a:r>
              <a:rPr b="0" i="1" lang="en" sz="1000" u="none" cap="none" strike="noStrike">
                <a:solidFill>
                  <a:srgbClr val="2563EB"/>
                </a:solidFill>
                <a:latin typeface="Calibri"/>
                <a:ea typeface="Calibri"/>
                <a:cs typeface="Calibri"/>
                <a:sym typeface="Calibri"/>
              </a:rPr>
              <a:t>← 8-dim vector, exactly one '1'</a:t>
            </a:r>
            <a:endParaRPr b="0" i="0" sz="1000" u="none" cap="none" strike="noStrike">
              <a:solidFill>
                <a:schemeClr val="dk1"/>
              </a:solidFill>
              <a:latin typeface="Calibri"/>
              <a:ea typeface="Calibri"/>
              <a:cs typeface="Calibri"/>
              <a:sym typeface="Calibri"/>
            </a:endParaRPr>
          </a:p>
        </p:txBody>
      </p:sp>
      <p:sp>
        <p:nvSpPr>
          <p:cNvPr id="1728" name="Google Shape;1728;p39"/>
          <p:cNvSpPr/>
          <p:nvPr/>
        </p:nvSpPr>
        <p:spPr>
          <a:xfrm>
            <a:off x="347472" y="2852928"/>
            <a:ext cx="749700" cy="475500"/>
          </a:xfrm>
          <a:prstGeom prst="rect">
            <a:avLst/>
          </a:prstGeom>
          <a:solidFill>
            <a:srgbClr val="EDE9FE"/>
          </a:solidFill>
          <a:ln cap="flat" cmpd="sng" w="15225">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9" name="Google Shape;1729;p39"/>
          <p:cNvSpPr/>
          <p:nvPr/>
        </p:nvSpPr>
        <p:spPr>
          <a:xfrm>
            <a:off x="347472" y="2852928"/>
            <a:ext cx="749700" cy="475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C3AED"/>
              </a:buClr>
              <a:buSzPts val="1300"/>
              <a:buFont typeface="Courier New"/>
              <a:buNone/>
            </a:pPr>
            <a:r>
              <a:rPr b="1" i="0" lang="en" sz="1300" u="none" cap="none" strike="noStrike">
                <a:solidFill>
                  <a:srgbClr val="7C3AED"/>
                </a:solidFill>
                <a:latin typeface="Courier New"/>
                <a:ea typeface="Courier New"/>
                <a:cs typeface="Courier New"/>
                <a:sym typeface="Courier New"/>
              </a:rPr>
              <a:t>king</a:t>
            </a:r>
            <a:endParaRPr b="0" i="0" sz="1300" u="none" cap="none" strike="noStrike">
              <a:solidFill>
                <a:schemeClr val="dk1"/>
              </a:solidFill>
              <a:latin typeface="Calibri"/>
              <a:ea typeface="Calibri"/>
              <a:cs typeface="Calibri"/>
              <a:sym typeface="Calibri"/>
            </a:endParaRPr>
          </a:p>
        </p:txBody>
      </p:sp>
      <p:cxnSp>
        <p:nvCxnSpPr>
          <p:cNvPr id="1730" name="Google Shape;1730;p39"/>
          <p:cNvCxnSpPr/>
          <p:nvPr/>
        </p:nvCxnSpPr>
        <p:spPr>
          <a:xfrm>
            <a:off x="1115568" y="3090672"/>
            <a:ext cx="255900" cy="0"/>
          </a:xfrm>
          <a:prstGeom prst="straightConnector1">
            <a:avLst/>
          </a:prstGeom>
          <a:noFill/>
          <a:ln cap="flat" cmpd="sng" w="19050">
            <a:solidFill>
              <a:srgbClr val="7C3AED"/>
            </a:solidFill>
            <a:prstDash val="solid"/>
            <a:round/>
            <a:headEnd len="sm" w="sm" type="none"/>
            <a:tailEnd len="med" w="med" type="stealth"/>
          </a:ln>
        </p:spPr>
      </p:cxnSp>
      <p:sp>
        <p:nvSpPr>
          <p:cNvPr id="1731" name="Google Shape;1731;p39"/>
          <p:cNvSpPr/>
          <p:nvPr/>
        </p:nvSpPr>
        <p:spPr>
          <a:xfrm>
            <a:off x="1399032" y="2852928"/>
            <a:ext cx="960000" cy="4755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2" name="Google Shape;1732;p39"/>
          <p:cNvSpPr/>
          <p:nvPr/>
        </p:nvSpPr>
        <p:spPr>
          <a:xfrm>
            <a:off x="1399032" y="2852928"/>
            <a:ext cx="960000" cy="475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400"/>
              <a:buFont typeface="Courier New"/>
              <a:buNone/>
            </a:pPr>
            <a:r>
              <a:rPr b="0" i="0" lang="en" sz="1400" u="none" cap="none" strike="noStrike">
                <a:solidFill>
                  <a:srgbClr val="6B7280"/>
                </a:solidFill>
                <a:latin typeface="Courier New"/>
                <a:ea typeface="Courier New"/>
                <a:cs typeface="Courier New"/>
                <a:sym typeface="Courier New"/>
              </a:rPr>
              <a:t>0</a:t>
            </a:r>
            <a:endParaRPr b="0" i="0" sz="1400" u="none" cap="none" strike="noStrike">
              <a:solidFill>
                <a:schemeClr val="dk1"/>
              </a:solidFill>
              <a:latin typeface="Calibri"/>
              <a:ea typeface="Calibri"/>
              <a:cs typeface="Calibri"/>
              <a:sym typeface="Calibri"/>
            </a:endParaRPr>
          </a:p>
        </p:txBody>
      </p:sp>
      <p:sp>
        <p:nvSpPr>
          <p:cNvPr id="1733" name="Google Shape;1733;p39"/>
          <p:cNvSpPr/>
          <p:nvPr/>
        </p:nvSpPr>
        <p:spPr>
          <a:xfrm>
            <a:off x="2359152" y="2852928"/>
            <a:ext cx="960000" cy="4755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4" name="Google Shape;1734;p39"/>
          <p:cNvSpPr/>
          <p:nvPr/>
        </p:nvSpPr>
        <p:spPr>
          <a:xfrm>
            <a:off x="2359152" y="2852928"/>
            <a:ext cx="960000" cy="475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400"/>
              <a:buFont typeface="Courier New"/>
              <a:buNone/>
            </a:pPr>
            <a:r>
              <a:rPr b="0" i="0" lang="en" sz="1400" u="none" cap="none" strike="noStrike">
                <a:solidFill>
                  <a:srgbClr val="6B7280"/>
                </a:solidFill>
                <a:latin typeface="Courier New"/>
                <a:ea typeface="Courier New"/>
                <a:cs typeface="Courier New"/>
                <a:sym typeface="Courier New"/>
              </a:rPr>
              <a:t>0</a:t>
            </a:r>
            <a:endParaRPr b="0" i="0" sz="1400" u="none" cap="none" strike="noStrike">
              <a:solidFill>
                <a:schemeClr val="dk1"/>
              </a:solidFill>
              <a:latin typeface="Calibri"/>
              <a:ea typeface="Calibri"/>
              <a:cs typeface="Calibri"/>
              <a:sym typeface="Calibri"/>
            </a:endParaRPr>
          </a:p>
        </p:txBody>
      </p:sp>
      <p:sp>
        <p:nvSpPr>
          <p:cNvPr id="1735" name="Google Shape;1735;p39"/>
          <p:cNvSpPr/>
          <p:nvPr/>
        </p:nvSpPr>
        <p:spPr>
          <a:xfrm>
            <a:off x="3319272" y="2852928"/>
            <a:ext cx="960000" cy="475500"/>
          </a:xfrm>
          <a:prstGeom prst="rect">
            <a:avLst/>
          </a:prstGeom>
          <a:solidFill>
            <a:srgbClr val="EDE9FE"/>
          </a:solidFill>
          <a:ln cap="flat" cmpd="sng" w="2285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6" name="Google Shape;1736;p39"/>
          <p:cNvSpPr/>
          <p:nvPr/>
        </p:nvSpPr>
        <p:spPr>
          <a:xfrm>
            <a:off x="3319272" y="2852928"/>
            <a:ext cx="960000" cy="475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C3AED"/>
              </a:buClr>
              <a:buSzPts val="1400"/>
              <a:buFont typeface="Courier New"/>
              <a:buNone/>
            </a:pPr>
            <a:r>
              <a:rPr b="1" i="0" lang="en" sz="1400" u="none" cap="none" strike="noStrike">
                <a:solidFill>
                  <a:srgbClr val="7C3AED"/>
                </a:solidFill>
                <a:latin typeface="Courier New"/>
                <a:ea typeface="Courier New"/>
                <a:cs typeface="Courier New"/>
                <a:sym typeface="Courier New"/>
              </a:rPr>
              <a:t>1</a:t>
            </a:r>
            <a:endParaRPr b="0" i="0" sz="1400" u="none" cap="none" strike="noStrike">
              <a:solidFill>
                <a:schemeClr val="dk1"/>
              </a:solidFill>
              <a:latin typeface="Calibri"/>
              <a:ea typeface="Calibri"/>
              <a:cs typeface="Calibri"/>
              <a:sym typeface="Calibri"/>
            </a:endParaRPr>
          </a:p>
        </p:txBody>
      </p:sp>
      <p:sp>
        <p:nvSpPr>
          <p:cNvPr id="1737" name="Google Shape;1737;p39"/>
          <p:cNvSpPr/>
          <p:nvPr/>
        </p:nvSpPr>
        <p:spPr>
          <a:xfrm>
            <a:off x="4279392" y="2852928"/>
            <a:ext cx="960000" cy="4755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8" name="Google Shape;1738;p39"/>
          <p:cNvSpPr/>
          <p:nvPr/>
        </p:nvSpPr>
        <p:spPr>
          <a:xfrm>
            <a:off x="4279392" y="2852928"/>
            <a:ext cx="960000" cy="475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400"/>
              <a:buFont typeface="Courier New"/>
              <a:buNone/>
            </a:pPr>
            <a:r>
              <a:rPr b="0" i="0" lang="en" sz="1400" u="none" cap="none" strike="noStrike">
                <a:solidFill>
                  <a:srgbClr val="6B7280"/>
                </a:solidFill>
                <a:latin typeface="Courier New"/>
                <a:ea typeface="Courier New"/>
                <a:cs typeface="Courier New"/>
                <a:sym typeface="Courier New"/>
              </a:rPr>
              <a:t>0</a:t>
            </a:r>
            <a:endParaRPr b="0" i="0" sz="1400" u="none" cap="none" strike="noStrike">
              <a:solidFill>
                <a:schemeClr val="dk1"/>
              </a:solidFill>
              <a:latin typeface="Calibri"/>
              <a:ea typeface="Calibri"/>
              <a:cs typeface="Calibri"/>
              <a:sym typeface="Calibri"/>
            </a:endParaRPr>
          </a:p>
        </p:txBody>
      </p:sp>
      <p:sp>
        <p:nvSpPr>
          <p:cNvPr id="1739" name="Google Shape;1739;p39"/>
          <p:cNvSpPr/>
          <p:nvPr/>
        </p:nvSpPr>
        <p:spPr>
          <a:xfrm>
            <a:off x="5239512" y="2852928"/>
            <a:ext cx="960000" cy="4755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0" name="Google Shape;1740;p39"/>
          <p:cNvSpPr/>
          <p:nvPr/>
        </p:nvSpPr>
        <p:spPr>
          <a:xfrm>
            <a:off x="5239512" y="2852928"/>
            <a:ext cx="960000" cy="475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400"/>
              <a:buFont typeface="Courier New"/>
              <a:buNone/>
            </a:pPr>
            <a:r>
              <a:rPr b="0" i="0" lang="en" sz="1400" u="none" cap="none" strike="noStrike">
                <a:solidFill>
                  <a:srgbClr val="6B7280"/>
                </a:solidFill>
                <a:latin typeface="Courier New"/>
                <a:ea typeface="Courier New"/>
                <a:cs typeface="Courier New"/>
                <a:sym typeface="Courier New"/>
              </a:rPr>
              <a:t>0</a:t>
            </a:r>
            <a:endParaRPr b="0" i="0" sz="1400" u="none" cap="none" strike="noStrike">
              <a:solidFill>
                <a:schemeClr val="dk1"/>
              </a:solidFill>
              <a:latin typeface="Calibri"/>
              <a:ea typeface="Calibri"/>
              <a:cs typeface="Calibri"/>
              <a:sym typeface="Calibri"/>
            </a:endParaRPr>
          </a:p>
        </p:txBody>
      </p:sp>
      <p:sp>
        <p:nvSpPr>
          <p:cNvPr id="1741" name="Google Shape;1741;p39"/>
          <p:cNvSpPr/>
          <p:nvPr/>
        </p:nvSpPr>
        <p:spPr>
          <a:xfrm>
            <a:off x="6199632" y="2852928"/>
            <a:ext cx="960000" cy="4755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2" name="Google Shape;1742;p39"/>
          <p:cNvSpPr/>
          <p:nvPr/>
        </p:nvSpPr>
        <p:spPr>
          <a:xfrm>
            <a:off x="6199632" y="2852928"/>
            <a:ext cx="960000" cy="475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400"/>
              <a:buFont typeface="Courier New"/>
              <a:buNone/>
            </a:pPr>
            <a:r>
              <a:rPr b="0" i="0" lang="en" sz="1400" u="none" cap="none" strike="noStrike">
                <a:solidFill>
                  <a:srgbClr val="6B7280"/>
                </a:solidFill>
                <a:latin typeface="Courier New"/>
                <a:ea typeface="Courier New"/>
                <a:cs typeface="Courier New"/>
                <a:sym typeface="Courier New"/>
              </a:rPr>
              <a:t>0</a:t>
            </a:r>
            <a:endParaRPr b="0" i="0" sz="1400" u="none" cap="none" strike="noStrike">
              <a:solidFill>
                <a:schemeClr val="dk1"/>
              </a:solidFill>
              <a:latin typeface="Calibri"/>
              <a:ea typeface="Calibri"/>
              <a:cs typeface="Calibri"/>
              <a:sym typeface="Calibri"/>
            </a:endParaRPr>
          </a:p>
        </p:txBody>
      </p:sp>
      <p:sp>
        <p:nvSpPr>
          <p:cNvPr id="1743" name="Google Shape;1743;p39"/>
          <p:cNvSpPr/>
          <p:nvPr/>
        </p:nvSpPr>
        <p:spPr>
          <a:xfrm>
            <a:off x="7159752" y="2852928"/>
            <a:ext cx="960000" cy="4755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4" name="Google Shape;1744;p39"/>
          <p:cNvSpPr/>
          <p:nvPr/>
        </p:nvSpPr>
        <p:spPr>
          <a:xfrm>
            <a:off x="7159752" y="2852928"/>
            <a:ext cx="960000" cy="475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400"/>
              <a:buFont typeface="Courier New"/>
              <a:buNone/>
            </a:pPr>
            <a:r>
              <a:rPr b="0" i="0" lang="en" sz="1400" u="none" cap="none" strike="noStrike">
                <a:solidFill>
                  <a:srgbClr val="6B7280"/>
                </a:solidFill>
                <a:latin typeface="Courier New"/>
                <a:ea typeface="Courier New"/>
                <a:cs typeface="Courier New"/>
                <a:sym typeface="Courier New"/>
              </a:rPr>
              <a:t>0</a:t>
            </a:r>
            <a:endParaRPr b="0" i="0" sz="1400" u="none" cap="none" strike="noStrike">
              <a:solidFill>
                <a:schemeClr val="dk1"/>
              </a:solidFill>
              <a:latin typeface="Calibri"/>
              <a:ea typeface="Calibri"/>
              <a:cs typeface="Calibri"/>
              <a:sym typeface="Calibri"/>
            </a:endParaRPr>
          </a:p>
        </p:txBody>
      </p:sp>
      <p:sp>
        <p:nvSpPr>
          <p:cNvPr id="1745" name="Google Shape;1745;p39"/>
          <p:cNvSpPr/>
          <p:nvPr/>
        </p:nvSpPr>
        <p:spPr>
          <a:xfrm>
            <a:off x="8119872" y="2852928"/>
            <a:ext cx="960000" cy="4755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6" name="Google Shape;1746;p39"/>
          <p:cNvSpPr/>
          <p:nvPr/>
        </p:nvSpPr>
        <p:spPr>
          <a:xfrm>
            <a:off x="8119872" y="2852928"/>
            <a:ext cx="960000" cy="475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400"/>
              <a:buFont typeface="Courier New"/>
              <a:buNone/>
            </a:pPr>
            <a:r>
              <a:rPr b="0" i="0" lang="en" sz="1400" u="none" cap="none" strike="noStrike">
                <a:solidFill>
                  <a:srgbClr val="6B7280"/>
                </a:solidFill>
                <a:latin typeface="Courier New"/>
                <a:ea typeface="Courier New"/>
                <a:cs typeface="Courier New"/>
                <a:sym typeface="Courier New"/>
              </a:rPr>
              <a:t>0</a:t>
            </a:r>
            <a:endParaRPr b="0" i="0" sz="1400" u="none" cap="none" strike="noStrike">
              <a:solidFill>
                <a:schemeClr val="dk1"/>
              </a:solidFill>
              <a:latin typeface="Calibri"/>
              <a:ea typeface="Calibri"/>
              <a:cs typeface="Calibri"/>
              <a:sym typeface="Calibri"/>
            </a:endParaRPr>
          </a:p>
        </p:txBody>
      </p:sp>
      <p:sp>
        <p:nvSpPr>
          <p:cNvPr id="1747" name="Google Shape;1747;p39"/>
          <p:cNvSpPr/>
          <p:nvPr/>
        </p:nvSpPr>
        <p:spPr>
          <a:xfrm>
            <a:off x="9189720" y="2962656"/>
            <a:ext cx="22860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C3AED"/>
              </a:buClr>
              <a:buSzPts val="1000"/>
              <a:buFont typeface="Calibri"/>
              <a:buNone/>
            </a:pPr>
            <a:r>
              <a:rPr b="0" i="1" lang="en" sz="1000" u="none" cap="none" strike="noStrike">
                <a:solidFill>
                  <a:srgbClr val="7C3AED"/>
                </a:solidFill>
                <a:latin typeface="Calibri"/>
                <a:ea typeface="Calibri"/>
                <a:cs typeface="Calibri"/>
                <a:sym typeface="Calibri"/>
              </a:rPr>
              <a:t>← 8-dim vector, exactly one '1'</a:t>
            </a:r>
            <a:endParaRPr b="0" i="0" sz="1000" u="none" cap="none" strike="noStrike">
              <a:solidFill>
                <a:schemeClr val="dk1"/>
              </a:solidFill>
              <a:latin typeface="Calibri"/>
              <a:ea typeface="Calibri"/>
              <a:cs typeface="Calibri"/>
              <a:sym typeface="Calibri"/>
            </a:endParaRPr>
          </a:p>
        </p:txBody>
      </p:sp>
      <p:sp>
        <p:nvSpPr>
          <p:cNvPr id="1748" name="Google Shape;1748;p39"/>
          <p:cNvSpPr/>
          <p:nvPr/>
        </p:nvSpPr>
        <p:spPr>
          <a:xfrm>
            <a:off x="347472" y="3785616"/>
            <a:ext cx="749700" cy="475500"/>
          </a:xfrm>
          <a:prstGeom prst="rect">
            <a:avLst/>
          </a:prstGeom>
          <a:solidFill>
            <a:srgbClr val="FED7AA"/>
          </a:solidFill>
          <a:ln cap="flat" cmpd="sng" w="15225">
            <a:solidFill>
              <a:srgbClr val="EA580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9" name="Google Shape;1749;p39"/>
          <p:cNvSpPr/>
          <p:nvPr/>
        </p:nvSpPr>
        <p:spPr>
          <a:xfrm>
            <a:off x="347472" y="3785616"/>
            <a:ext cx="749700" cy="475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EA580C"/>
              </a:buClr>
              <a:buSzPts val="1300"/>
              <a:buFont typeface="Courier New"/>
              <a:buNone/>
            </a:pPr>
            <a:r>
              <a:rPr b="1" i="0" lang="en" sz="1300" u="none" cap="none" strike="noStrike">
                <a:solidFill>
                  <a:srgbClr val="EA580C"/>
                </a:solidFill>
                <a:latin typeface="Courier New"/>
                <a:ea typeface="Courier New"/>
                <a:cs typeface="Courier New"/>
                <a:sym typeface="Courier New"/>
              </a:rPr>
              <a:t>queen</a:t>
            </a:r>
            <a:endParaRPr b="0" i="0" sz="1300" u="none" cap="none" strike="noStrike">
              <a:solidFill>
                <a:schemeClr val="dk1"/>
              </a:solidFill>
              <a:latin typeface="Calibri"/>
              <a:ea typeface="Calibri"/>
              <a:cs typeface="Calibri"/>
              <a:sym typeface="Calibri"/>
            </a:endParaRPr>
          </a:p>
        </p:txBody>
      </p:sp>
      <p:cxnSp>
        <p:nvCxnSpPr>
          <p:cNvPr id="1750" name="Google Shape;1750;p39"/>
          <p:cNvCxnSpPr/>
          <p:nvPr/>
        </p:nvCxnSpPr>
        <p:spPr>
          <a:xfrm>
            <a:off x="1115568" y="4023360"/>
            <a:ext cx="255900" cy="0"/>
          </a:xfrm>
          <a:prstGeom prst="straightConnector1">
            <a:avLst/>
          </a:prstGeom>
          <a:noFill/>
          <a:ln cap="flat" cmpd="sng" w="19050">
            <a:solidFill>
              <a:srgbClr val="EA580C"/>
            </a:solidFill>
            <a:prstDash val="solid"/>
            <a:round/>
            <a:headEnd len="sm" w="sm" type="none"/>
            <a:tailEnd len="med" w="med" type="stealth"/>
          </a:ln>
        </p:spPr>
      </p:cxnSp>
      <p:sp>
        <p:nvSpPr>
          <p:cNvPr id="1751" name="Google Shape;1751;p39"/>
          <p:cNvSpPr/>
          <p:nvPr/>
        </p:nvSpPr>
        <p:spPr>
          <a:xfrm>
            <a:off x="1399032" y="3785616"/>
            <a:ext cx="960000" cy="4755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2" name="Google Shape;1752;p39"/>
          <p:cNvSpPr/>
          <p:nvPr/>
        </p:nvSpPr>
        <p:spPr>
          <a:xfrm>
            <a:off x="1399032" y="3785616"/>
            <a:ext cx="960000" cy="475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400"/>
              <a:buFont typeface="Courier New"/>
              <a:buNone/>
            </a:pPr>
            <a:r>
              <a:rPr b="0" i="0" lang="en" sz="1400" u="none" cap="none" strike="noStrike">
                <a:solidFill>
                  <a:srgbClr val="6B7280"/>
                </a:solidFill>
                <a:latin typeface="Courier New"/>
                <a:ea typeface="Courier New"/>
                <a:cs typeface="Courier New"/>
                <a:sym typeface="Courier New"/>
              </a:rPr>
              <a:t>0</a:t>
            </a:r>
            <a:endParaRPr b="0" i="0" sz="1400" u="none" cap="none" strike="noStrike">
              <a:solidFill>
                <a:schemeClr val="dk1"/>
              </a:solidFill>
              <a:latin typeface="Calibri"/>
              <a:ea typeface="Calibri"/>
              <a:cs typeface="Calibri"/>
              <a:sym typeface="Calibri"/>
            </a:endParaRPr>
          </a:p>
        </p:txBody>
      </p:sp>
      <p:sp>
        <p:nvSpPr>
          <p:cNvPr id="1753" name="Google Shape;1753;p39"/>
          <p:cNvSpPr/>
          <p:nvPr/>
        </p:nvSpPr>
        <p:spPr>
          <a:xfrm>
            <a:off x="2359152" y="3785616"/>
            <a:ext cx="960000" cy="4755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4" name="Google Shape;1754;p39"/>
          <p:cNvSpPr/>
          <p:nvPr/>
        </p:nvSpPr>
        <p:spPr>
          <a:xfrm>
            <a:off x="2359152" y="3785616"/>
            <a:ext cx="960000" cy="475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400"/>
              <a:buFont typeface="Courier New"/>
              <a:buNone/>
            </a:pPr>
            <a:r>
              <a:rPr b="0" i="0" lang="en" sz="1400" u="none" cap="none" strike="noStrike">
                <a:solidFill>
                  <a:srgbClr val="6B7280"/>
                </a:solidFill>
                <a:latin typeface="Courier New"/>
                <a:ea typeface="Courier New"/>
                <a:cs typeface="Courier New"/>
                <a:sym typeface="Courier New"/>
              </a:rPr>
              <a:t>0</a:t>
            </a:r>
            <a:endParaRPr b="0" i="0" sz="1400" u="none" cap="none" strike="noStrike">
              <a:solidFill>
                <a:schemeClr val="dk1"/>
              </a:solidFill>
              <a:latin typeface="Calibri"/>
              <a:ea typeface="Calibri"/>
              <a:cs typeface="Calibri"/>
              <a:sym typeface="Calibri"/>
            </a:endParaRPr>
          </a:p>
        </p:txBody>
      </p:sp>
      <p:sp>
        <p:nvSpPr>
          <p:cNvPr id="1755" name="Google Shape;1755;p39"/>
          <p:cNvSpPr/>
          <p:nvPr/>
        </p:nvSpPr>
        <p:spPr>
          <a:xfrm>
            <a:off x="3319272" y="3785616"/>
            <a:ext cx="960000" cy="4755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6" name="Google Shape;1756;p39"/>
          <p:cNvSpPr/>
          <p:nvPr/>
        </p:nvSpPr>
        <p:spPr>
          <a:xfrm>
            <a:off x="3319272" y="3785616"/>
            <a:ext cx="960000" cy="475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400"/>
              <a:buFont typeface="Courier New"/>
              <a:buNone/>
            </a:pPr>
            <a:r>
              <a:rPr b="0" i="0" lang="en" sz="1400" u="none" cap="none" strike="noStrike">
                <a:solidFill>
                  <a:srgbClr val="6B7280"/>
                </a:solidFill>
                <a:latin typeface="Courier New"/>
                <a:ea typeface="Courier New"/>
                <a:cs typeface="Courier New"/>
                <a:sym typeface="Courier New"/>
              </a:rPr>
              <a:t>0</a:t>
            </a:r>
            <a:endParaRPr b="0" i="0" sz="1400" u="none" cap="none" strike="noStrike">
              <a:solidFill>
                <a:schemeClr val="dk1"/>
              </a:solidFill>
              <a:latin typeface="Calibri"/>
              <a:ea typeface="Calibri"/>
              <a:cs typeface="Calibri"/>
              <a:sym typeface="Calibri"/>
            </a:endParaRPr>
          </a:p>
        </p:txBody>
      </p:sp>
      <p:sp>
        <p:nvSpPr>
          <p:cNvPr id="1757" name="Google Shape;1757;p39"/>
          <p:cNvSpPr/>
          <p:nvPr/>
        </p:nvSpPr>
        <p:spPr>
          <a:xfrm>
            <a:off x="4279392" y="3785616"/>
            <a:ext cx="960000" cy="475500"/>
          </a:xfrm>
          <a:prstGeom prst="rect">
            <a:avLst/>
          </a:prstGeom>
          <a:solidFill>
            <a:srgbClr val="FED7AA"/>
          </a:solidFill>
          <a:ln cap="flat" cmpd="sng" w="22850">
            <a:solidFill>
              <a:srgbClr val="EA580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8" name="Google Shape;1758;p39"/>
          <p:cNvSpPr/>
          <p:nvPr/>
        </p:nvSpPr>
        <p:spPr>
          <a:xfrm>
            <a:off x="4279392" y="3785616"/>
            <a:ext cx="960000" cy="475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EA580C"/>
              </a:buClr>
              <a:buSzPts val="1400"/>
              <a:buFont typeface="Courier New"/>
              <a:buNone/>
            </a:pPr>
            <a:r>
              <a:rPr b="1" i="0" lang="en" sz="1400" u="none" cap="none" strike="noStrike">
                <a:solidFill>
                  <a:srgbClr val="EA580C"/>
                </a:solidFill>
                <a:latin typeface="Courier New"/>
                <a:ea typeface="Courier New"/>
                <a:cs typeface="Courier New"/>
                <a:sym typeface="Courier New"/>
              </a:rPr>
              <a:t>1</a:t>
            </a:r>
            <a:endParaRPr b="0" i="0" sz="1400" u="none" cap="none" strike="noStrike">
              <a:solidFill>
                <a:schemeClr val="dk1"/>
              </a:solidFill>
              <a:latin typeface="Calibri"/>
              <a:ea typeface="Calibri"/>
              <a:cs typeface="Calibri"/>
              <a:sym typeface="Calibri"/>
            </a:endParaRPr>
          </a:p>
        </p:txBody>
      </p:sp>
      <p:sp>
        <p:nvSpPr>
          <p:cNvPr id="1759" name="Google Shape;1759;p39"/>
          <p:cNvSpPr/>
          <p:nvPr/>
        </p:nvSpPr>
        <p:spPr>
          <a:xfrm>
            <a:off x="5239512" y="3785616"/>
            <a:ext cx="960000" cy="4755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0" name="Google Shape;1760;p39"/>
          <p:cNvSpPr/>
          <p:nvPr/>
        </p:nvSpPr>
        <p:spPr>
          <a:xfrm>
            <a:off x="5239512" y="3785616"/>
            <a:ext cx="960000" cy="475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400"/>
              <a:buFont typeface="Courier New"/>
              <a:buNone/>
            </a:pPr>
            <a:r>
              <a:rPr b="0" i="0" lang="en" sz="1400" u="none" cap="none" strike="noStrike">
                <a:solidFill>
                  <a:srgbClr val="6B7280"/>
                </a:solidFill>
                <a:latin typeface="Courier New"/>
                <a:ea typeface="Courier New"/>
                <a:cs typeface="Courier New"/>
                <a:sym typeface="Courier New"/>
              </a:rPr>
              <a:t>0</a:t>
            </a:r>
            <a:endParaRPr b="0" i="0" sz="1400" u="none" cap="none" strike="noStrike">
              <a:solidFill>
                <a:schemeClr val="dk1"/>
              </a:solidFill>
              <a:latin typeface="Calibri"/>
              <a:ea typeface="Calibri"/>
              <a:cs typeface="Calibri"/>
              <a:sym typeface="Calibri"/>
            </a:endParaRPr>
          </a:p>
        </p:txBody>
      </p:sp>
      <p:sp>
        <p:nvSpPr>
          <p:cNvPr id="1761" name="Google Shape;1761;p39"/>
          <p:cNvSpPr/>
          <p:nvPr/>
        </p:nvSpPr>
        <p:spPr>
          <a:xfrm>
            <a:off x="6199632" y="3785616"/>
            <a:ext cx="960000" cy="4755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2" name="Google Shape;1762;p39"/>
          <p:cNvSpPr/>
          <p:nvPr/>
        </p:nvSpPr>
        <p:spPr>
          <a:xfrm>
            <a:off x="6199632" y="3785616"/>
            <a:ext cx="960000" cy="475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400"/>
              <a:buFont typeface="Courier New"/>
              <a:buNone/>
            </a:pPr>
            <a:r>
              <a:rPr b="0" i="0" lang="en" sz="1400" u="none" cap="none" strike="noStrike">
                <a:solidFill>
                  <a:srgbClr val="6B7280"/>
                </a:solidFill>
                <a:latin typeface="Courier New"/>
                <a:ea typeface="Courier New"/>
                <a:cs typeface="Courier New"/>
                <a:sym typeface="Courier New"/>
              </a:rPr>
              <a:t>0</a:t>
            </a:r>
            <a:endParaRPr b="0" i="0" sz="1400" u="none" cap="none" strike="noStrike">
              <a:solidFill>
                <a:schemeClr val="dk1"/>
              </a:solidFill>
              <a:latin typeface="Calibri"/>
              <a:ea typeface="Calibri"/>
              <a:cs typeface="Calibri"/>
              <a:sym typeface="Calibri"/>
            </a:endParaRPr>
          </a:p>
        </p:txBody>
      </p:sp>
      <p:sp>
        <p:nvSpPr>
          <p:cNvPr id="1763" name="Google Shape;1763;p39"/>
          <p:cNvSpPr/>
          <p:nvPr/>
        </p:nvSpPr>
        <p:spPr>
          <a:xfrm>
            <a:off x="7159752" y="3785616"/>
            <a:ext cx="960000" cy="4755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4" name="Google Shape;1764;p39"/>
          <p:cNvSpPr/>
          <p:nvPr/>
        </p:nvSpPr>
        <p:spPr>
          <a:xfrm>
            <a:off x="7159752" y="3785616"/>
            <a:ext cx="960000" cy="475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400"/>
              <a:buFont typeface="Courier New"/>
              <a:buNone/>
            </a:pPr>
            <a:r>
              <a:rPr b="0" i="0" lang="en" sz="1400" u="none" cap="none" strike="noStrike">
                <a:solidFill>
                  <a:srgbClr val="6B7280"/>
                </a:solidFill>
                <a:latin typeface="Courier New"/>
                <a:ea typeface="Courier New"/>
                <a:cs typeface="Courier New"/>
                <a:sym typeface="Courier New"/>
              </a:rPr>
              <a:t>0</a:t>
            </a:r>
            <a:endParaRPr b="0" i="0" sz="1400" u="none" cap="none" strike="noStrike">
              <a:solidFill>
                <a:schemeClr val="dk1"/>
              </a:solidFill>
              <a:latin typeface="Calibri"/>
              <a:ea typeface="Calibri"/>
              <a:cs typeface="Calibri"/>
              <a:sym typeface="Calibri"/>
            </a:endParaRPr>
          </a:p>
        </p:txBody>
      </p:sp>
      <p:sp>
        <p:nvSpPr>
          <p:cNvPr id="1765" name="Google Shape;1765;p39"/>
          <p:cNvSpPr/>
          <p:nvPr/>
        </p:nvSpPr>
        <p:spPr>
          <a:xfrm>
            <a:off x="8119872" y="3785616"/>
            <a:ext cx="960000" cy="4755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6" name="Google Shape;1766;p39"/>
          <p:cNvSpPr/>
          <p:nvPr/>
        </p:nvSpPr>
        <p:spPr>
          <a:xfrm>
            <a:off x="8119872" y="3785616"/>
            <a:ext cx="960000" cy="475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400"/>
              <a:buFont typeface="Courier New"/>
              <a:buNone/>
            </a:pPr>
            <a:r>
              <a:rPr b="0" i="0" lang="en" sz="1400" u="none" cap="none" strike="noStrike">
                <a:solidFill>
                  <a:srgbClr val="6B7280"/>
                </a:solidFill>
                <a:latin typeface="Courier New"/>
                <a:ea typeface="Courier New"/>
                <a:cs typeface="Courier New"/>
                <a:sym typeface="Courier New"/>
              </a:rPr>
              <a:t>0</a:t>
            </a:r>
            <a:endParaRPr b="0" i="0" sz="1400" u="none" cap="none" strike="noStrike">
              <a:solidFill>
                <a:schemeClr val="dk1"/>
              </a:solidFill>
              <a:latin typeface="Calibri"/>
              <a:ea typeface="Calibri"/>
              <a:cs typeface="Calibri"/>
              <a:sym typeface="Calibri"/>
            </a:endParaRPr>
          </a:p>
        </p:txBody>
      </p:sp>
      <p:sp>
        <p:nvSpPr>
          <p:cNvPr id="1767" name="Google Shape;1767;p39"/>
          <p:cNvSpPr/>
          <p:nvPr/>
        </p:nvSpPr>
        <p:spPr>
          <a:xfrm>
            <a:off x="9189720" y="3895344"/>
            <a:ext cx="22860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A580C"/>
              </a:buClr>
              <a:buSzPts val="1000"/>
              <a:buFont typeface="Calibri"/>
              <a:buNone/>
            </a:pPr>
            <a:r>
              <a:rPr b="0" i="1" lang="en" sz="1000" u="none" cap="none" strike="noStrike">
                <a:solidFill>
                  <a:srgbClr val="EA580C"/>
                </a:solidFill>
                <a:latin typeface="Calibri"/>
                <a:ea typeface="Calibri"/>
                <a:cs typeface="Calibri"/>
                <a:sym typeface="Calibri"/>
              </a:rPr>
              <a:t>← 8-dim vector, exactly one '1'</a:t>
            </a:r>
            <a:endParaRPr b="0" i="0" sz="1000" u="none" cap="none" strike="noStrike">
              <a:solidFill>
                <a:schemeClr val="dk1"/>
              </a:solidFill>
              <a:latin typeface="Calibri"/>
              <a:ea typeface="Calibri"/>
              <a:cs typeface="Calibri"/>
              <a:sym typeface="Calibri"/>
            </a:endParaRPr>
          </a:p>
        </p:txBody>
      </p:sp>
      <p:sp>
        <p:nvSpPr>
          <p:cNvPr id="1768" name="Google Shape;1768;p39"/>
          <p:cNvSpPr/>
          <p:nvPr/>
        </p:nvSpPr>
        <p:spPr>
          <a:xfrm>
            <a:off x="347472" y="4663440"/>
            <a:ext cx="8449200" cy="365700"/>
          </a:xfrm>
          <a:prstGeom prst="rect">
            <a:avLst/>
          </a:prstGeom>
          <a:solidFill>
            <a:srgbClr val="EFF6FF"/>
          </a:solidFill>
          <a:ln cap="flat" cmpd="sng" w="12700">
            <a:solidFill>
              <a:srgbClr val="2563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9" name="Google Shape;1769;p39"/>
          <p:cNvSpPr/>
          <p:nvPr/>
        </p:nvSpPr>
        <p:spPr>
          <a:xfrm>
            <a:off x="502920" y="4663440"/>
            <a:ext cx="82296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563EB"/>
              </a:buClr>
              <a:buSzPts val="1150"/>
              <a:buFont typeface="Calibri"/>
              <a:buNone/>
            </a:pPr>
            <a:r>
              <a:rPr b="1" i="0" lang="en" sz="1150" u="none" cap="none" strike="noStrike">
                <a:solidFill>
                  <a:srgbClr val="2563EB"/>
                </a:solidFill>
                <a:latin typeface="Calibri"/>
                <a:ea typeface="Calibri"/>
                <a:cs typeface="Calibri"/>
                <a:sym typeface="Calibri"/>
              </a:rPr>
              <a:t>Key property: </a:t>
            </a:r>
            <a:r>
              <a:rPr b="0" i="0" lang="en" sz="1150" u="none" cap="none" strike="noStrike">
                <a:solidFill>
                  <a:srgbClr val="111827"/>
                </a:solidFill>
                <a:latin typeface="Calibri"/>
                <a:ea typeface="Calibri"/>
                <a:cs typeface="Calibri"/>
                <a:sym typeface="Calibri"/>
              </a:rPr>
              <a:t>Each word is a point in high-dimensional space. The '1' is at index i, everything else is 0.</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1774" name="Shape 1774"/>
        <p:cNvGrpSpPr/>
        <p:nvPr/>
      </p:nvGrpSpPr>
      <p:grpSpPr>
        <a:xfrm>
          <a:off x="0" y="0"/>
          <a:ext cx="0" cy="0"/>
          <a:chOff x="0" y="0"/>
          <a:chExt cx="0" cy="0"/>
        </a:xfrm>
      </p:grpSpPr>
      <p:sp>
        <p:nvSpPr>
          <p:cNvPr id="1775" name="Google Shape;1775;p40"/>
          <p:cNvSpPr/>
          <p:nvPr/>
        </p:nvSpPr>
        <p:spPr>
          <a:xfrm>
            <a:off x="0" y="0"/>
            <a:ext cx="9144000" cy="63900"/>
          </a:xfrm>
          <a:prstGeom prst="rect">
            <a:avLst/>
          </a:prstGeom>
          <a:solidFill>
            <a:srgbClr val="0D9488"/>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6" name="Google Shape;1776;p40"/>
          <p:cNvSpPr/>
          <p:nvPr/>
        </p:nvSpPr>
        <p:spPr>
          <a:xfrm>
            <a:off x="347472" y="164592"/>
            <a:ext cx="63900" cy="512100"/>
          </a:xfrm>
          <a:prstGeom prst="rect">
            <a:avLst/>
          </a:prstGeom>
          <a:solidFill>
            <a:srgbClr val="0D9488"/>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7" name="Google Shape;1777;p40"/>
          <p:cNvSpPr/>
          <p:nvPr/>
        </p:nvSpPr>
        <p:spPr>
          <a:xfrm>
            <a:off x="521208" y="146304"/>
            <a:ext cx="82296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9488"/>
              </a:buClr>
              <a:buSzPts val="2600"/>
              <a:buFont typeface="Calibri"/>
              <a:buNone/>
            </a:pPr>
            <a:r>
              <a:rPr b="1" i="0" lang="en" sz="2600" u="none" cap="none" strike="noStrike">
                <a:solidFill>
                  <a:srgbClr val="0D9488"/>
                </a:solidFill>
                <a:latin typeface="Calibri"/>
                <a:ea typeface="Calibri"/>
                <a:cs typeface="Calibri"/>
                <a:sym typeface="Calibri"/>
              </a:rPr>
              <a:t>Classification with One-Hot Vectors</a:t>
            </a:r>
            <a:endParaRPr b="0" i="0" sz="2600" u="none" cap="none" strike="noStrike">
              <a:solidFill>
                <a:schemeClr val="dk1"/>
              </a:solidFill>
              <a:latin typeface="Calibri"/>
              <a:ea typeface="Calibri"/>
              <a:cs typeface="Calibri"/>
              <a:sym typeface="Calibri"/>
            </a:endParaRPr>
          </a:p>
        </p:txBody>
      </p:sp>
      <p:cxnSp>
        <p:nvCxnSpPr>
          <p:cNvPr id="1778" name="Google Shape;1778;p40"/>
          <p:cNvCxnSpPr/>
          <p:nvPr/>
        </p:nvCxnSpPr>
        <p:spPr>
          <a:xfrm>
            <a:off x="347472" y="713232"/>
            <a:ext cx="8449200" cy="0"/>
          </a:xfrm>
          <a:prstGeom prst="straightConnector1">
            <a:avLst/>
          </a:prstGeom>
          <a:noFill/>
          <a:ln cap="flat" cmpd="sng" w="15225">
            <a:solidFill>
              <a:srgbClr val="0D9488"/>
            </a:solidFill>
            <a:prstDash val="solid"/>
            <a:round/>
            <a:headEnd len="sm" w="sm" type="none"/>
            <a:tailEnd len="sm" w="sm" type="none"/>
          </a:ln>
        </p:spPr>
      </p:cxnSp>
      <p:sp>
        <p:nvSpPr>
          <p:cNvPr id="1779" name="Google Shape;1779;p40"/>
          <p:cNvSpPr/>
          <p:nvPr/>
        </p:nvSpPr>
        <p:spPr>
          <a:xfrm>
            <a:off x="347472" y="749808"/>
            <a:ext cx="8449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200"/>
              <a:buFont typeface="Calibri"/>
              <a:buNone/>
            </a:pPr>
            <a:r>
              <a:rPr b="0" i="1" lang="en" sz="1200" u="none" cap="none" strike="noStrike">
                <a:solidFill>
                  <a:srgbClr val="6B7280"/>
                </a:solidFill>
                <a:latin typeface="Calibri"/>
                <a:ea typeface="Calibri"/>
                <a:cs typeface="Calibri"/>
                <a:sym typeface="Calibri"/>
              </a:rPr>
              <a:t>Example: sentiment classification — can a linear model separate positive from negative?</a:t>
            </a:r>
            <a:endParaRPr b="0" i="0" sz="1200" u="none" cap="none" strike="noStrike">
              <a:solidFill>
                <a:schemeClr val="dk1"/>
              </a:solidFill>
              <a:latin typeface="Calibri"/>
              <a:ea typeface="Calibri"/>
              <a:cs typeface="Calibri"/>
              <a:sym typeface="Calibri"/>
            </a:endParaRPr>
          </a:p>
        </p:txBody>
      </p:sp>
      <p:sp>
        <p:nvSpPr>
          <p:cNvPr id="1780" name="Google Shape;1780;p40"/>
          <p:cNvSpPr/>
          <p:nvPr/>
        </p:nvSpPr>
        <p:spPr>
          <a:xfrm>
            <a:off x="347472" y="868680"/>
            <a:ext cx="42063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9488"/>
              </a:buClr>
              <a:buSzPts val="1300"/>
              <a:buFont typeface="Calibri"/>
              <a:buNone/>
            </a:pPr>
            <a:r>
              <a:rPr b="1" i="0" lang="en" sz="1300" u="none" cap="none" strike="noStrike">
                <a:solidFill>
                  <a:srgbClr val="0D9488"/>
                </a:solidFill>
                <a:latin typeface="Calibri"/>
                <a:ea typeface="Calibri"/>
                <a:cs typeface="Calibri"/>
                <a:sym typeface="Calibri"/>
              </a:rPr>
              <a:t>Bag-of-Words Representation</a:t>
            </a:r>
            <a:endParaRPr b="0" i="0" sz="1300" u="none" cap="none" strike="noStrike">
              <a:solidFill>
                <a:schemeClr val="dk1"/>
              </a:solidFill>
              <a:latin typeface="Calibri"/>
              <a:ea typeface="Calibri"/>
              <a:cs typeface="Calibri"/>
              <a:sym typeface="Calibri"/>
            </a:endParaRPr>
          </a:p>
        </p:txBody>
      </p:sp>
      <p:sp>
        <p:nvSpPr>
          <p:cNvPr id="1781" name="Google Shape;1781;p40"/>
          <p:cNvSpPr/>
          <p:nvPr/>
        </p:nvSpPr>
        <p:spPr>
          <a:xfrm>
            <a:off x="347472" y="1188720"/>
            <a:ext cx="4206300" cy="1234500"/>
          </a:xfrm>
          <a:prstGeom prst="rect">
            <a:avLst/>
          </a:prstGeom>
          <a:solidFill>
            <a:srgbClr val="F0FDF4"/>
          </a:solidFill>
          <a:ln cap="flat" cmpd="sng" w="15225">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2" name="Google Shape;1782;p40"/>
          <p:cNvSpPr/>
          <p:nvPr/>
        </p:nvSpPr>
        <p:spPr>
          <a:xfrm>
            <a:off x="438912" y="1243584"/>
            <a:ext cx="822900" cy="219600"/>
          </a:xfrm>
          <a:prstGeom prst="roundRect">
            <a:avLst>
              <a:gd fmla="val 25000" name="adj"/>
            </a:avLst>
          </a:prstGeom>
          <a:solidFill>
            <a:srgbClr val="16A34A"/>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3" name="Google Shape;1783;p40"/>
          <p:cNvSpPr/>
          <p:nvPr/>
        </p:nvSpPr>
        <p:spPr>
          <a:xfrm>
            <a:off x="438912" y="1243584"/>
            <a:ext cx="822900" cy="219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Calibri"/>
              <a:buNone/>
            </a:pPr>
            <a:r>
              <a:rPr b="1" i="0" lang="en" sz="900" u="none" cap="none" strike="noStrike">
                <a:solidFill>
                  <a:srgbClr val="FFFFFF"/>
                </a:solidFill>
                <a:latin typeface="Calibri"/>
                <a:ea typeface="Calibri"/>
                <a:cs typeface="Calibri"/>
                <a:sym typeface="Calibri"/>
              </a:rPr>
              <a:t>POSITIVE</a:t>
            </a:r>
            <a:endParaRPr b="0" i="0" sz="900" u="none" cap="none" strike="noStrike">
              <a:solidFill>
                <a:schemeClr val="dk1"/>
              </a:solidFill>
              <a:latin typeface="Calibri"/>
              <a:ea typeface="Calibri"/>
              <a:cs typeface="Calibri"/>
              <a:sym typeface="Calibri"/>
            </a:endParaRPr>
          </a:p>
        </p:txBody>
      </p:sp>
      <p:sp>
        <p:nvSpPr>
          <p:cNvPr id="1784" name="Google Shape;1784;p40"/>
          <p:cNvSpPr/>
          <p:nvPr/>
        </p:nvSpPr>
        <p:spPr>
          <a:xfrm>
            <a:off x="438912" y="1508760"/>
            <a:ext cx="27432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250"/>
              <a:buFont typeface="Courier New"/>
              <a:buNone/>
            </a:pPr>
            <a:r>
              <a:rPr b="1" i="0" lang="en" sz="1250" u="none" cap="none" strike="noStrike">
                <a:solidFill>
                  <a:srgbClr val="111827"/>
                </a:solidFill>
                <a:latin typeface="Courier New"/>
                <a:ea typeface="Courier New"/>
                <a:cs typeface="Courier New"/>
                <a:sym typeface="Courier New"/>
              </a:rPr>
              <a:t>"The cat is happy"</a:t>
            </a:r>
            <a:endParaRPr b="0" i="0" sz="1250" u="none" cap="none" strike="noStrike">
              <a:solidFill>
                <a:schemeClr val="dk1"/>
              </a:solidFill>
              <a:latin typeface="Calibri"/>
              <a:ea typeface="Calibri"/>
              <a:cs typeface="Calibri"/>
              <a:sym typeface="Calibri"/>
            </a:endParaRPr>
          </a:p>
        </p:txBody>
      </p:sp>
      <p:sp>
        <p:nvSpPr>
          <p:cNvPr id="1785" name="Google Shape;1785;p40"/>
          <p:cNvSpPr/>
          <p:nvPr/>
        </p:nvSpPr>
        <p:spPr>
          <a:xfrm>
            <a:off x="438912" y="1783080"/>
            <a:ext cx="39318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A34A"/>
              </a:buClr>
              <a:buSzPts val="1100"/>
              <a:buFont typeface="Courier New"/>
              <a:buNone/>
            </a:pPr>
            <a:r>
              <a:rPr b="0" i="0" lang="en" sz="1100" u="none" cap="none" strike="noStrike">
                <a:solidFill>
                  <a:srgbClr val="16A34A"/>
                </a:solidFill>
                <a:latin typeface="Courier New"/>
                <a:ea typeface="Courier New"/>
                <a:cs typeface="Courier New"/>
                <a:sym typeface="Courier New"/>
              </a:rPr>
              <a:t>→  [1, </a:t>
            </a:r>
            <a:r>
              <a:rPr lang="en" sz="1100">
                <a:solidFill>
                  <a:srgbClr val="16A34A"/>
                </a:solidFill>
                <a:latin typeface="Courier New"/>
                <a:ea typeface="Courier New"/>
                <a:cs typeface="Courier New"/>
                <a:sym typeface="Courier New"/>
              </a:rPr>
              <a:t>1</a:t>
            </a:r>
            <a:r>
              <a:rPr b="0" i="0" lang="en" sz="1100" u="none" cap="none" strike="noStrike">
                <a:solidFill>
                  <a:srgbClr val="16A34A"/>
                </a:solidFill>
                <a:latin typeface="Courier New"/>
                <a:ea typeface="Courier New"/>
                <a:cs typeface="Courier New"/>
                <a:sym typeface="Courier New"/>
              </a:rPr>
              <a:t>, 0, 0, 0, 0, 1, 1]</a:t>
            </a:r>
            <a:endParaRPr b="0" i="0" sz="1100" u="none" cap="none" strike="noStrike">
              <a:solidFill>
                <a:schemeClr val="dk1"/>
              </a:solidFill>
              <a:latin typeface="Calibri"/>
              <a:ea typeface="Calibri"/>
              <a:cs typeface="Calibri"/>
              <a:sym typeface="Calibri"/>
            </a:endParaRPr>
          </a:p>
        </p:txBody>
      </p:sp>
      <p:sp>
        <p:nvSpPr>
          <p:cNvPr id="1786" name="Google Shape;1786;p40"/>
          <p:cNvSpPr/>
          <p:nvPr/>
        </p:nvSpPr>
        <p:spPr>
          <a:xfrm>
            <a:off x="347472" y="2514600"/>
            <a:ext cx="4206300" cy="1234500"/>
          </a:xfrm>
          <a:prstGeom prst="rect">
            <a:avLst/>
          </a:prstGeom>
          <a:solidFill>
            <a:srgbClr val="FEE2E2"/>
          </a:solidFill>
          <a:ln cap="flat" cmpd="sng" w="15225">
            <a:solidFill>
              <a:srgbClr val="DC262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7" name="Google Shape;1787;p40"/>
          <p:cNvSpPr/>
          <p:nvPr/>
        </p:nvSpPr>
        <p:spPr>
          <a:xfrm>
            <a:off x="438912" y="2569464"/>
            <a:ext cx="822900" cy="219600"/>
          </a:xfrm>
          <a:prstGeom prst="roundRect">
            <a:avLst>
              <a:gd fmla="val 25000" name="adj"/>
            </a:avLst>
          </a:prstGeom>
          <a:solidFill>
            <a:srgbClr val="DC2626"/>
          </a:solidFill>
          <a:ln cap="flat" cmpd="sng" w="12700">
            <a:solidFill>
              <a:srgbClr val="DC262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8" name="Google Shape;1788;p40"/>
          <p:cNvSpPr/>
          <p:nvPr/>
        </p:nvSpPr>
        <p:spPr>
          <a:xfrm>
            <a:off x="438912" y="2569464"/>
            <a:ext cx="822900" cy="219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Calibri"/>
              <a:buNone/>
            </a:pPr>
            <a:r>
              <a:rPr b="1" i="0" lang="en" sz="900" u="none" cap="none" strike="noStrike">
                <a:solidFill>
                  <a:srgbClr val="FFFFFF"/>
                </a:solidFill>
                <a:latin typeface="Calibri"/>
                <a:ea typeface="Calibri"/>
                <a:cs typeface="Calibri"/>
                <a:sym typeface="Calibri"/>
              </a:rPr>
              <a:t>NEGATIVE</a:t>
            </a:r>
            <a:endParaRPr b="0" i="0" sz="900" u="none" cap="none" strike="noStrike">
              <a:solidFill>
                <a:schemeClr val="dk1"/>
              </a:solidFill>
              <a:latin typeface="Calibri"/>
              <a:ea typeface="Calibri"/>
              <a:cs typeface="Calibri"/>
              <a:sym typeface="Calibri"/>
            </a:endParaRPr>
          </a:p>
        </p:txBody>
      </p:sp>
      <p:sp>
        <p:nvSpPr>
          <p:cNvPr id="1789" name="Google Shape;1789;p40"/>
          <p:cNvSpPr/>
          <p:nvPr/>
        </p:nvSpPr>
        <p:spPr>
          <a:xfrm>
            <a:off x="438912" y="2834640"/>
            <a:ext cx="29262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250"/>
              <a:buFont typeface="Courier New"/>
              <a:buNone/>
            </a:pPr>
            <a:r>
              <a:rPr b="1" i="0" lang="en" sz="1250" u="none" cap="none" strike="noStrike">
                <a:solidFill>
                  <a:srgbClr val="111827"/>
                </a:solidFill>
                <a:latin typeface="Courier New"/>
                <a:ea typeface="Courier New"/>
                <a:cs typeface="Courier New"/>
                <a:sym typeface="Courier New"/>
              </a:rPr>
              <a:t>"The dog runs away"</a:t>
            </a:r>
            <a:endParaRPr b="0" i="0" sz="1250" u="none" cap="none" strike="noStrike">
              <a:solidFill>
                <a:schemeClr val="dk1"/>
              </a:solidFill>
              <a:latin typeface="Calibri"/>
              <a:ea typeface="Calibri"/>
              <a:cs typeface="Calibri"/>
              <a:sym typeface="Calibri"/>
            </a:endParaRPr>
          </a:p>
        </p:txBody>
      </p:sp>
      <p:sp>
        <p:nvSpPr>
          <p:cNvPr id="1790" name="Google Shape;1790;p40"/>
          <p:cNvSpPr/>
          <p:nvPr/>
        </p:nvSpPr>
        <p:spPr>
          <a:xfrm>
            <a:off x="438912" y="3108960"/>
            <a:ext cx="39318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C2626"/>
              </a:buClr>
              <a:buSzPts val="1100"/>
              <a:buFont typeface="Courier New"/>
              <a:buNone/>
            </a:pPr>
            <a:r>
              <a:rPr b="0" i="0" lang="en" sz="1100" u="none" cap="none" strike="noStrike">
                <a:solidFill>
                  <a:srgbClr val="DC2626"/>
                </a:solidFill>
                <a:latin typeface="Courier New"/>
                <a:ea typeface="Courier New"/>
                <a:cs typeface="Courier New"/>
                <a:sym typeface="Courier New"/>
              </a:rPr>
              <a:t>→  [1, 0, 1, 1, 1, 0, 0, 0]</a:t>
            </a:r>
            <a:endParaRPr b="0" i="0" sz="1100" u="none" cap="none" strike="noStrike">
              <a:solidFill>
                <a:schemeClr val="dk1"/>
              </a:solidFill>
              <a:latin typeface="Calibri"/>
              <a:ea typeface="Calibri"/>
              <a:cs typeface="Calibri"/>
              <a:sym typeface="Calibri"/>
            </a:endParaRPr>
          </a:p>
        </p:txBody>
      </p:sp>
      <p:cxnSp>
        <p:nvCxnSpPr>
          <p:cNvPr id="1791" name="Google Shape;1791;p40"/>
          <p:cNvCxnSpPr/>
          <p:nvPr/>
        </p:nvCxnSpPr>
        <p:spPr>
          <a:xfrm>
            <a:off x="4590288" y="2331720"/>
            <a:ext cx="457200" cy="0"/>
          </a:xfrm>
          <a:prstGeom prst="straightConnector1">
            <a:avLst/>
          </a:prstGeom>
          <a:noFill/>
          <a:ln cap="flat" cmpd="sng" w="25400">
            <a:solidFill>
              <a:srgbClr val="1B3A6B"/>
            </a:solidFill>
            <a:prstDash val="solid"/>
            <a:round/>
            <a:headEnd len="sm" w="sm" type="none"/>
            <a:tailEnd len="med" w="med" type="stealth"/>
          </a:ln>
        </p:spPr>
      </p:cxnSp>
      <p:sp>
        <p:nvSpPr>
          <p:cNvPr id="1792" name="Google Shape;1792;p40"/>
          <p:cNvSpPr/>
          <p:nvPr/>
        </p:nvSpPr>
        <p:spPr>
          <a:xfrm>
            <a:off x="5074920" y="1920240"/>
            <a:ext cx="1828800" cy="822900"/>
          </a:xfrm>
          <a:prstGeom prst="rect">
            <a:avLst/>
          </a:prstGeom>
          <a:solidFill>
            <a:srgbClr val="1B3A6B"/>
          </a:solidFill>
          <a:ln cap="flat" cmpd="sng" w="12700">
            <a:solidFill>
              <a:srgbClr val="1B3A6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3" name="Google Shape;1793;p40"/>
          <p:cNvSpPr/>
          <p:nvPr/>
        </p:nvSpPr>
        <p:spPr>
          <a:xfrm>
            <a:off x="5074920" y="1920240"/>
            <a:ext cx="1828800" cy="822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Calibri"/>
              <a:buNone/>
            </a:pPr>
            <a:r>
              <a:rPr b="1" i="0" lang="en" sz="1300" u="none" cap="none" strike="noStrike">
                <a:solidFill>
                  <a:srgbClr val="FFFFFF"/>
                </a:solidFill>
                <a:latin typeface="Calibri"/>
                <a:ea typeface="Calibri"/>
                <a:cs typeface="Calibri"/>
                <a:sym typeface="Calibri"/>
              </a:rPr>
              <a:t>Linear</a:t>
            </a:r>
            <a:endParaRPr b="0"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1300"/>
              <a:buFont typeface="Calibri"/>
              <a:buNone/>
            </a:pPr>
            <a:r>
              <a:rPr b="1" i="0" lang="en" sz="1300" u="none" cap="none" strike="noStrike">
                <a:solidFill>
                  <a:srgbClr val="FFFFFF"/>
                </a:solidFill>
                <a:latin typeface="Calibri"/>
                <a:ea typeface="Calibri"/>
                <a:cs typeface="Calibri"/>
                <a:sym typeface="Calibri"/>
              </a:rPr>
              <a:t>Classifier</a:t>
            </a:r>
            <a:endParaRPr b="0" i="0" sz="1300" u="none" cap="none" strike="noStrike">
              <a:solidFill>
                <a:schemeClr val="dk1"/>
              </a:solidFill>
              <a:latin typeface="Calibri"/>
              <a:ea typeface="Calibri"/>
              <a:cs typeface="Calibri"/>
              <a:sym typeface="Calibri"/>
            </a:endParaRPr>
          </a:p>
        </p:txBody>
      </p:sp>
      <p:sp>
        <p:nvSpPr>
          <p:cNvPr id="1794" name="Google Shape;1794;p40"/>
          <p:cNvSpPr/>
          <p:nvPr/>
        </p:nvSpPr>
        <p:spPr>
          <a:xfrm>
            <a:off x="5074920" y="2798064"/>
            <a:ext cx="1828800" cy="237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000"/>
              <a:buFont typeface="Courier New"/>
              <a:buNone/>
            </a:pPr>
            <a:r>
              <a:rPr b="0" i="0" lang="en" sz="1000" u="none" cap="none" strike="noStrike">
                <a:solidFill>
                  <a:srgbClr val="6B7280"/>
                </a:solidFill>
                <a:latin typeface="Courier New"/>
                <a:ea typeface="Courier New"/>
                <a:cs typeface="Courier New"/>
                <a:sym typeface="Courier New"/>
              </a:rPr>
              <a:t>w · x + b</a:t>
            </a:r>
            <a:endParaRPr b="0" i="0" sz="1000" u="none" cap="none" strike="noStrike">
              <a:solidFill>
                <a:schemeClr val="dk1"/>
              </a:solidFill>
              <a:latin typeface="Calibri"/>
              <a:ea typeface="Calibri"/>
              <a:cs typeface="Calibri"/>
              <a:sym typeface="Calibri"/>
            </a:endParaRPr>
          </a:p>
        </p:txBody>
      </p:sp>
      <p:cxnSp>
        <p:nvCxnSpPr>
          <p:cNvPr id="1795" name="Google Shape;1795;p40"/>
          <p:cNvCxnSpPr/>
          <p:nvPr/>
        </p:nvCxnSpPr>
        <p:spPr>
          <a:xfrm>
            <a:off x="6931152" y="2331720"/>
            <a:ext cx="457200" cy="0"/>
          </a:xfrm>
          <a:prstGeom prst="straightConnector1">
            <a:avLst/>
          </a:prstGeom>
          <a:noFill/>
          <a:ln cap="flat" cmpd="sng" w="25400">
            <a:solidFill>
              <a:srgbClr val="1B3A6B"/>
            </a:solidFill>
            <a:prstDash val="solid"/>
            <a:round/>
            <a:headEnd len="sm" w="sm" type="none"/>
            <a:tailEnd len="med" w="med" type="stealth"/>
          </a:ln>
        </p:spPr>
      </p:cxnSp>
      <p:sp>
        <p:nvSpPr>
          <p:cNvPr id="1796" name="Google Shape;1796;p40"/>
          <p:cNvSpPr/>
          <p:nvPr/>
        </p:nvSpPr>
        <p:spPr>
          <a:xfrm>
            <a:off x="7406640" y="1719072"/>
            <a:ext cx="1389900" cy="567000"/>
          </a:xfrm>
          <a:prstGeom prst="rect">
            <a:avLst/>
          </a:prstGeom>
          <a:solidFill>
            <a:srgbClr val="F0FDF4"/>
          </a:solidFill>
          <a:ln cap="flat" cmpd="sng" w="1905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7" name="Google Shape;1797;p40"/>
          <p:cNvSpPr/>
          <p:nvPr/>
        </p:nvSpPr>
        <p:spPr>
          <a:xfrm>
            <a:off x="7406640" y="1719072"/>
            <a:ext cx="1389900" cy="567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6A34A"/>
              </a:buClr>
              <a:buSzPts val="1600"/>
              <a:buFont typeface="Calibri"/>
              <a:buNone/>
            </a:pPr>
            <a:r>
              <a:rPr b="0" i="0" lang="en" sz="1600" u="none" cap="none" strike="noStrike">
                <a:solidFill>
                  <a:srgbClr val="16A34A"/>
                </a:solidFill>
                <a:latin typeface="Calibri"/>
                <a:ea typeface="Calibri"/>
                <a:cs typeface="Calibri"/>
                <a:sym typeface="Calibri"/>
              </a:rPr>
              <a:t>😊 +1</a:t>
            </a:r>
            <a:endParaRPr b="0" i="0" sz="1600" u="none" cap="none" strike="noStrike">
              <a:solidFill>
                <a:schemeClr val="dk1"/>
              </a:solidFill>
              <a:latin typeface="Calibri"/>
              <a:ea typeface="Calibri"/>
              <a:cs typeface="Calibri"/>
              <a:sym typeface="Calibri"/>
            </a:endParaRPr>
          </a:p>
        </p:txBody>
      </p:sp>
      <p:sp>
        <p:nvSpPr>
          <p:cNvPr id="1798" name="Google Shape;1798;p40"/>
          <p:cNvSpPr/>
          <p:nvPr/>
        </p:nvSpPr>
        <p:spPr>
          <a:xfrm>
            <a:off x="7406640" y="2395728"/>
            <a:ext cx="1389900" cy="567000"/>
          </a:xfrm>
          <a:prstGeom prst="rect">
            <a:avLst/>
          </a:prstGeom>
          <a:solidFill>
            <a:srgbClr val="FEE2E2"/>
          </a:solidFill>
          <a:ln cap="flat" cmpd="sng" w="19050">
            <a:solidFill>
              <a:srgbClr val="DC262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9" name="Google Shape;1799;p40"/>
          <p:cNvSpPr/>
          <p:nvPr/>
        </p:nvSpPr>
        <p:spPr>
          <a:xfrm>
            <a:off x="7406640" y="2395728"/>
            <a:ext cx="1389900" cy="567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DC2626"/>
              </a:buClr>
              <a:buSzPts val="1600"/>
              <a:buFont typeface="Calibri"/>
              <a:buNone/>
            </a:pPr>
            <a:r>
              <a:rPr b="0" i="0" lang="en" sz="1600" u="none" cap="none" strike="noStrike">
                <a:solidFill>
                  <a:srgbClr val="DC2626"/>
                </a:solidFill>
                <a:latin typeface="Calibri"/>
                <a:ea typeface="Calibri"/>
                <a:cs typeface="Calibri"/>
                <a:sym typeface="Calibri"/>
              </a:rPr>
              <a:t>😞 −1</a:t>
            </a:r>
            <a:endParaRPr b="0" i="0" sz="1600" u="none" cap="none" strike="noStrike">
              <a:solidFill>
                <a:schemeClr val="dk1"/>
              </a:solidFill>
              <a:latin typeface="Calibri"/>
              <a:ea typeface="Calibri"/>
              <a:cs typeface="Calibri"/>
              <a:sym typeface="Calibri"/>
            </a:endParaRPr>
          </a:p>
        </p:txBody>
      </p:sp>
      <p:sp>
        <p:nvSpPr>
          <p:cNvPr id="1800" name="Google Shape;1800;p40"/>
          <p:cNvSpPr/>
          <p:nvPr/>
        </p:nvSpPr>
        <p:spPr>
          <a:xfrm>
            <a:off x="347472" y="3858768"/>
            <a:ext cx="41604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A34A"/>
              </a:buClr>
              <a:buSzPts val="1200"/>
              <a:buFont typeface="Calibri"/>
              <a:buNone/>
            </a:pPr>
            <a:r>
              <a:rPr b="1" i="0" lang="en" sz="1200" u="none" cap="none" strike="noStrike">
                <a:solidFill>
                  <a:srgbClr val="16A34A"/>
                </a:solidFill>
                <a:latin typeface="Calibri"/>
                <a:ea typeface="Calibri"/>
                <a:cs typeface="Calibri"/>
                <a:sym typeface="Calibri"/>
              </a:rPr>
              <a:t>✅  What works</a:t>
            </a:r>
            <a:endParaRPr b="0" i="0" sz="1200" u="none" cap="none" strike="noStrike">
              <a:solidFill>
                <a:schemeClr val="dk1"/>
              </a:solidFill>
              <a:latin typeface="Calibri"/>
              <a:ea typeface="Calibri"/>
              <a:cs typeface="Calibri"/>
              <a:sym typeface="Calibri"/>
            </a:endParaRPr>
          </a:p>
        </p:txBody>
      </p:sp>
      <p:sp>
        <p:nvSpPr>
          <p:cNvPr id="1801" name="Google Shape;1801;p40"/>
          <p:cNvSpPr/>
          <p:nvPr/>
        </p:nvSpPr>
        <p:spPr>
          <a:xfrm>
            <a:off x="347472" y="4096512"/>
            <a:ext cx="4160400" cy="62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A34A"/>
              </a:buClr>
              <a:buSzPts val="1150"/>
              <a:buFont typeface="Calibri"/>
              <a:buNone/>
            </a:pPr>
            <a:r>
              <a:rPr b="0" i="0" lang="en" sz="1150" u="none" cap="none" strike="noStrike">
                <a:solidFill>
                  <a:srgbClr val="16A34A"/>
                </a:solidFill>
                <a:latin typeface="Calibri"/>
                <a:ea typeface="Calibri"/>
                <a:cs typeface="Calibri"/>
                <a:sym typeface="Calibri"/>
              </a:rPr>
              <a:t>• </a:t>
            </a:r>
            <a:r>
              <a:rPr b="0" i="0" lang="en" sz="1150" u="none" cap="none" strike="noStrike">
                <a:solidFill>
                  <a:srgbClr val="111827"/>
                </a:solidFill>
                <a:latin typeface="Calibri"/>
                <a:ea typeface="Calibri"/>
                <a:cs typeface="Calibri"/>
                <a:sym typeface="Calibri"/>
              </a:rPr>
              <a:t>Simple, fast, interpretable weights</a:t>
            </a:r>
            <a:br>
              <a:rPr b="0" i="0" lang="en" sz="1150" u="none" cap="none" strike="noStrike">
                <a:solidFill>
                  <a:srgbClr val="111827"/>
                </a:solidFill>
                <a:latin typeface="Calibri"/>
                <a:ea typeface="Calibri"/>
                <a:cs typeface="Calibri"/>
                <a:sym typeface="Calibri"/>
              </a:rPr>
            </a:br>
            <a:r>
              <a:rPr b="0" i="0" lang="en" sz="1150" u="none" cap="none" strike="noStrike">
                <a:solidFill>
                  <a:srgbClr val="16A34A"/>
                </a:solidFill>
                <a:latin typeface="Calibri"/>
                <a:ea typeface="Calibri"/>
                <a:cs typeface="Calibri"/>
                <a:sym typeface="Calibri"/>
              </a:rPr>
              <a:t>• </a:t>
            </a:r>
            <a:r>
              <a:rPr b="0" i="0" lang="en" sz="1150" u="none" cap="none" strike="noStrike">
                <a:solidFill>
                  <a:srgbClr val="111827"/>
                </a:solidFill>
                <a:latin typeface="Calibri"/>
                <a:ea typeface="Calibri"/>
                <a:cs typeface="Calibri"/>
                <a:sym typeface="Calibri"/>
              </a:rPr>
              <a:t>Works for word-frequency signals</a:t>
            </a:r>
            <a:endParaRPr b="0" i="0" sz="1150" u="none" cap="none" strike="noStrike">
              <a:solidFill>
                <a:schemeClr val="dk1"/>
              </a:solidFill>
              <a:latin typeface="Calibri"/>
              <a:ea typeface="Calibri"/>
              <a:cs typeface="Calibri"/>
              <a:sym typeface="Calibri"/>
            </a:endParaRPr>
          </a:p>
        </p:txBody>
      </p:sp>
      <p:sp>
        <p:nvSpPr>
          <p:cNvPr id="1802" name="Google Shape;1802;p40"/>
          <p:cNvSpPr/>
          <p:nvPr/>
        </p:nvSpPr>
        <p:spPr>
          <a:xfrm>
            <a:off x="4663440" y="3858768"/>
            <a:ext cx="41331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A580C"/>
              </a:buClr>
              <a:buSzPts val="1200"/>
              <a:buFont typeface="Calibri"/>
              <a:buNone/>
            </a:pPr>
            <a:r>
              <a:rPr b="1" i="0" lang="en" sz="1200" u="none" cap="none" strike="noStrike">
                <a:solidFill>
                  <a:srgbClr val="EA580C"/>
                </a:solidFill>
                <a:latin typeface="Calibri"/>
                <a:ea typeface="Calibri"/>
                <a:cs typeface="Calibri"/>
                <a:sym typeface="Calibri"/>
              </a:rPr>
              <a:t>⚠️  What struggles</a:t>
            </a:r>
            <a:endParaRPr b="0" i="0" sz="1200" u="none" cap="none" strike="noStrike">
              <a:solidFill>
                <a:schemeClr val="dk1"/>
              </a:solidFill>
              <a:latin typeface="Calibri"/>
              <a:ea typeface="Calibri"/>
              <a:cs typeface="Calibri"/>
              <a:sym typeface="Calibri"/>
            </a:endParaRPr>
          </a:p>
        </p:txBody>
      </p:sp>
      <p:sp>
        <p:nvSpPr>
          <p:cNvPr id="1803" name="Google Shape;1803;p40"/>
          <p:cNvSpPr/>
          <p:nvPr/>
        </p:nvSpPr>
        <p:spPr>
          <a:xfrm>
            <a:off x="4663440" y="4096512"/>
            <a:ext cx="4133100" cy="62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A580C"/>
              </a:buClr>
              <a:buSzPts val="1150"/>
              <a:buFont typeface="Calibri"/>
              <a:buNone/>
            </a:pPr>
            <a:r>
              <a:rPr b="0" i="0" lang="en" sz="1150" u="none" cap="none" strike="noStrike">
                <a:solidFill>
                  <a:srgbClr val="EA580C"/>
                </a:solidFill>
                <a:latin typeface="Calibri"/>
                <a:ea typeface="Calibri"/>
                <a:cs typeface="Calibri"/>
                <a:sym typeface="Calibri"/>
              </a:rPr>
              <a:t>• </a:t>
            </a:r>
            <a:r>
              <a:rPr b="0" i="0" lang="en" sz="1150" u="none" cap="none" strike="noStrike">
                <a:solidFill>
                  <a:srgbClr val="111827"/>
                </a:solidFill>
                <a:latin typeface="Calibri"/>
                <a:ea typeface="Calibri"/>
                <a:cs typeface="Calibri"/>
                <a:sym typeface="Calibri"/>
              </a:rPr>
              <a:t>"happy" and "joyful" treated as unrelated</a:t>
            </a:r>
            <a:br>
              <a:rPr b="0" i="0" lang="en" sz="1150" u="none" cap="none" strike="noStrike">
                <a:solidFill>
                  <a:srgbClr val="111827"/>
                </a:solidFill>
                <a:latin typeface="Calibri"/>
                <a:ea typeface="Calibri"/>
                <a:cs typeface="Calibri"/>
                <a:sym typeface="Calibri"/>
              </a:rPr>
            </a:br>
            <a:r>
              <a:rPr b="0" i="0" lang="en" sz="1150" u="none" cap="none" strike="noStrike">
                <a:solidFill>
                  <a:srgbClr val="EA580C"/>
                </a:solidFill>
                <a:latin typeface="Calibri"/>
                <a:ea typeface="Calibri"/>
                <a:cs typeface="Calibri"/>
                <a:sym typeface="Calibri"/>
              </a:rPr>
              <a:t>• </a:t>
            </a:r>
            <a:r>
              <a:rPr b="0" i="0" lang="en" sz="1150" u="none" cap="none" strike="noStrike">
                <a:solidFill>
                  <a:srgbClr val="111827"/>
                </a:solidFill>
                <a:latin typeface="Calibri"/>
                <a:ea typeface="Calibri"/>
                <a:cs typeface="Calibri"/>
                <a:sym typeface="Calibri"/>
              </a:rPr>
              <a:t>Sparse vectors → huge, mostly-zero inputs</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08" name="Shape 1808"/>
        <p:cNvGrpSpPr/>
        <p:nvPr/>
      </p:nvGrpSpPr>
      <p:grpSpPr>
        <a:xfrm>
          <a:off x="0" y="0"/>
          <a:ext cx="0" cy="0"/>
          <a:chOff x="0" y="0"/>
          <a:chExt cx="0" cy="0"/>
        </a:xfrm>
      </p:grpSpPr>
      <p:sp>
        <p:nvSpPr>
          <p:cNvPr id="1809" name="Google Shape;1809;p41"/>
          <p:cNvSpPr/>
          <p:nvPr/>
        </p:nvSpPr>
        <p:spPr>
          <a:xfrm>
            <a:off x="0" y="0"/>
            <a:ext cx="109800" cy="5143500"/>
          </a:xfrm>
          <a:prstGeom prst="rect">
            <a:avLst/>
          </a:prstGeom>
          <a:solidFill>
            <a:srgbClr val="0077AA"/>
          </a:solidFill>
          <a:ln cap="flat" cmpd="sng" w="12700">
            <a:solidFill>
              <a:srgbClr val="0077A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0" name="Google Shape;1810;p41"/>
          <p:cNvSpPr/>
          <p:nvPr/>
        </p:nvSpPr>
        <p:spPr>
          <a:xfrm>
            <a:off x="310515" y="1280160"/>
            <a:ext cx="8503800" cy="1463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F26"/>
              </a:buClr>
              <a:buSzPts val="5200"/>
              <a:buFont typeface="Calibri"/>
              <a:buNone/>
            </a:pPr>
            <a:r>
              <a:rPr b="1" i="0" lang="en" sz="4400" u="none" cap="none" strike="noStrike">
                <a:solidFill>
                  <a:srgbClr val="1A1F26"/>
                </a:solidFill>
                <a:latin typeface="Calibri"/>
                <a:ea typeface="Calibri"/>
                <a:cs typeface="Calibri"/>
                <a:sym typeface="Calibri"/>
              </a:rPr>
              <a:t>One-Hot Vectors</a:t>
            </a:r>
            <a:endParaRPr b="0" i="0" sz="4400" u="none" cap="none" strike="noStrike">
              <a:solidFill>
                <a:schemeClr val="dk1"/>
              </a:solidFill>
              <a:latin typeface="Calibri"/>
              <a:ea typeface="Calibri"/>
              <a:cs typeface="Calibri"/>
              <a:sym typeface="Calibri"/>
            </a:endParaRPr>
          </a:p>
        </p:txBody>
      </p:sp>
      <p:sp>
        <p:nvSpPr>
          <p:cNvPr id="1811" name="Google Shape;1811;p41"/>
          <p:cNvSpPr/>
          <p:nvPr/>
        </p:nvSpPr>
        <p:spPr>
          <a:xfrm>
            <a:off x="320040" y="2834640"/>
            <a:ext cx="8503800" cy="731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6270"/>
              </a:buClr>
              <a:buSzPts val="2000"/>
              <a:buFont typeface="Calibri"/>
              <a:buNone/>
            </a:pPr>
            <a:r>
              <a:rPr b="0" i="0" lang="en" sz="2100" u="none" cap="none" strike="noStrike">
                <a:solidFill>
                  <a:srgbClr val="5A6270"/>
                </a:solidFill>
                <a:latin typeface="Calibri"/>
                <a:ea typeface="Calibri"/>
                <a:cs typeface="Calibri"/>
                <a:sym typeface="Calibri"/>
              </a:rPr>
              <a:t>Where every NLP pipeline once began</a:t>
            </a:r>
            <a:endParaRPr b="0" i="0" sz="2100" u="none" cap="none" strike="noStrike">
              <a:solidFill>
                <a:schemeClr val="dk1"/>
              </a:solidFill>
              <a:latin typeface="Calibri"/>
              <a:ea typeface="Calibri"/>
              <a:cs typeface="Calibri"/>
              <a:sym typeface="Calibri"/>
            </a:endParaRPr>
          </a:p>
        </p:txBody>
      </p:sp>
      <p:sp>
        <p:nvSpPr>
          <p:cNvPr id="1812" name="Google Shape;1812;p41"/>
          <p:cNvSpPr/>
          <p:nvPr/>
        </p:nvSpPr>
        <p:spPr>
          <a:xfrm>
            <a:off x="320040" y="4389120"/>
            <a:ext cx="109800" cy="109800"/>
          </a:xfrm>
          <a:prstGeom prst="ellipse">
            <a:avLst/>
          </a:prstGeom>
          <a:solidFill>
            <a:srgbClr val="0077A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3" name="Google Shape;1813;p41"/>
          <p:cNvSpPr/>
          <p:nvPr/>
        </p:nvSpPr>
        <p:spPr>
          <a:xfrm>
            <a:off x="640080" y="4389120"/>
            <a:ext cx="109800" cy="109800"/>
          </a:xfrm>
          <a:prstGeom prst="ellipse">
            <a:avLst/>
          </a:prstGeom>
          <a:solidFill>
            <a:srgbClr val="5A627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4" name="Google Shape;1814;p41"/>
          <p:cNvSpPr/>
          <p:nvPr/>
        </p:nvSpPr>
        <p:spPr>
          <a:xfrm>
            <a:off x="960120" y="4389120"/>
            <a:ext cx="109800" cy="109800"/>
          </a:xfrm>
          <a:prstGeom prst="ellipse">
            <a:avLst/>
          </a:prstGeom>
          <a:solidFill>
            <a:srgbClr val="5A627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5" name="Google Shape;1815;p41"/>
          <p:cNvSpPr/>
          <p:nvPr/>
        </p:nvSpPr>
        <p:spPr>
          <a:xfrm>
            <a:off x="1280160" y="4389120"/>
            <a:ext cx="109800" cy="109800"/>
          </a:xfrm>
          <a:prstGeom prst="ellipse">
            <a:avLst/>
          </a:prstGeom>
          <a:solidFill>
            <a:srgbClr val="5A627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6" name="Google Shape;1816;p41"/>
          <p:cNvSpPr/>
          <p:nvPr/>
        </p:nvSpPr>
        <p:spPr>
          <a:xfrm>
            <a:off x="1600200" y="4389120"/>
            <a:ext cx="109800" cy="109800"/>
          </a:xfrm>
          <a:prstGeom prst="ellipse">
            <a:avLst/>
          </a:prstGeom>
          <a:solidFill>
            <a:srgbClr val="5A627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817" name="Google Shape;1817;p41"/>
          <p:cNvPicPr preferRelativeResize="0"/>
          <p:nvPr/>
        </p:nvPicPr>
        <p:blipFill rotWithShape="1">
          <a:blip r:embed="rId4">
            <a:alphaModFix/>
          </a:blip>
          <a:srcRect b="0" l="0" r="0" t="0"/>
          <a:stretch/>
        </p:blipFill>
        <p:spPr>
          <a:xfrm>
            <a:off x="8369125" y="0"/>
            <a:ext cx="774877" cy="867174"/>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22" name="Shape 1822"/>
        <p:cNvGrpSpPr/>
        <p:nvPr/>
      </p:nvGrpSpPr>
      <p:grpSpPr>
        <a:xfrm>
          <a:off x="0" y="0"/>
          <a:ext cx="0" cy="0"/>
          <a:chOff x="0" y="0"/>
          <a:chExt cx="0" cy="0"/>
        </a:xfrm>
      </p:grpSpPr>
      <p:sp>
        <p:nvSpPr>
          <p:cNvPr id="1823" name="Google Shape;1823;p42"/>
          <p:cNvSpPr/>
          <p:nvPr/>
        </p:nvSpPr>
        <p:spPr>
          <a:xfrm>
            <a:off x="3543857" y="411480"/>
            <a:ext cx="8412600" cy="594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F26"/>
              </a:buClr>
              <a:buSzPts val="3400"/>
              <a:buFont typeface="Calibri"/>
              <a:buNone/>
            </a:pPr>
            <a:r>
              <a:rPr b="1" i="0" lang="en" sz="2800" u="none" cap="none" strike="noStrike">
                <a:solidFill>
                  <a:srgbClr val="1A1F26"/>
                </a:solidFill>
                <a:latin typeface="Calibri"/>
                <a:ea typeface="Calibri"/>
                <a:cs typeface="Calibri"/>
                <a:sym typeface="Calibri"/>
              </a:rPr>
              <a:t>One-Hot Encoding</a:t>
            </a:r>
            <a:endParaRPr b="0" i="0" sz="2800" u="none" cap="none" strike="noStrike">
              <a:solidFill>
                <a:schemeClr val="dk1"/>
              </a:solidFill>
              <a:latin typeface="Calibri"/>
              <a:ea typeface="Calibri"/>
              <a:cs typeface="Calibri"/>
              <a:sym typeface="Calibri"/>
            </a:endParaRPr>
          </a:p>
        </p:txBody>
      </p:sp>
      <p:sp>
        <p:nvSpPr>
          <p:cNvPr id="1824" name="Google Shape;1824;p42"/>
          <p:cNvSpPr/>
          <p:nvPr/>
        </p:nvSpPr>
        <p:spPr>
          <a:xfrm>
            <a:off x="320040" y="1143000"/>
            <a:ext cx="4755000" cy="3474600"/>
          </a:xfrm>
          <a:prstGeom prst="rect">
            <a:avLst/>
          </a:prstGeom>
          <a:solidFill>
            <a:schemeClr val="lt1"/>
          </a:solidFill>
          <a:ln cap="flat" cmpd="sng" w="12700">
            <a:solidFill>
              <a:srgbClr val="0077AA"/>
            </a:solidFill>
            <a:prstDash val="solid"/>
            <a:round/>
            <a:headEnd len="sm" w="sm" type="none"/>
            <a:tailEnd len="sm" w="sm" type="none"/>
          </a:ln>
          <a:effectLst>
            <a:outerShdw blurRad="101600" rotWithShape="0" algn="bl" dir="8100000" dist="38100">
              <a:srgbClr val="000000">
                <a:alpha val="3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5" name="Google Shape;1825;p42"/>
          <p:cNvSpPr/>
          <p:nvPr/>
        </p:nvSpPr>
        <p:spPr>
          <a:xfrm>
            <a:off x="320040" y="1143000"/>
            <a:ext cx="1645800" cy="255900"/>
          </a:xfrm>
          <a:prstGeom prst="rect">
            <a:avLst/>
          </a:prstGeom>
          <a:solidFill>
            <a:schemeClr val="lt1"/>
          </a:solidFill>
          <a:ln cap="flat" cmpd="sng" w="9525">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6" name="Google Shape;1826;p42"/>
          <p:cNvSpPr/>
          <p:nvPr/>
        </p:nvSpPr>
        <p:spPr>
          <a:xfrm>
            <a:off x="320040" y="1143000"/>
            <a:ext cx="1645800" cy="255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8F9FA"/>
              </a:buClr>
              <a:buSzPts val="900"/>
              <a:buFont typeface="Calibri"/>
              <a:buNone/>
            </a:pPr>
            <a:r>
              <a:rPr b="1" i="0" lang="en" sz="900" u="none" cap="none" strike="noStrike">
                <a:solidFill>
                  <a:schemeClr val="dk1"/>
                </a:solidFill>
                <a:latin typeface="Calibri"/>
                <a:ea typeface="Calibri"/>
                <a:cs typeface="Calibri"/>
                <a:sym typeface="Calibri"/>
              </a:rPr>
              <a:t>Python</a:t>
            </a:r>
            <a:endParaRPr b="0" i="0" sz="900" u="none" cap="none" strike="noStrike">
              <a:solidFill>
                <a:schemeClr val="dk1"/>
              </a:solidFill>
              <a:latin typeface="Calibri"/>
              <a:ea typeface="Calibri"/>
              <a:cs typeface="Calibri"/>
              <a:sym typeface="Calibri"/>
            </a:endParaRPr>
          </a:p>
        </p:txBody>
      </p:sp>
      <p:sp>
        <p:nvSpPr>
          <p:cNvPr id="1827" name="Google Shape;1827;p42"/>
          <p:cNvSpPr/>
          <p:nvPr/>
        </p:nvSpPr>
        <p:spPr>
          <a:xfrm>
            <a:off x="429768" y="1477425"/>
            <a:ext cx="4535400" cy="3072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A1F26"/>
              </a:buClr>
              <a:buSzPts val="950"/>
              <a:buFont typeface="Consolas"/>
              <a:buNone/>
            </a:pPr>
            <a:r>
              <a:rPr b="0" i="0" lang="en" sz="1050" u="none" cap="none" strike="noStrike">
                <a:solidFill>
                  <a:srgbClr val="1A1F26"/>
                </a:solidFill>
                <a:latin typeface="Consolas"/>
                <a:ea typeface="Consolas"/>
                <a:cs typeface="Consolas"/>
                <a:sym typeface="Consolas"/>
              </a:rPr>
              <a:t>from sklearn.preprocessing import OneHotEncoder</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F26"/>
              </a:buClr>
              <a:buSzPts val="950"/>
              <a:buFont typeface="Consolas"/>
              <a:buNone/>
            </a:pPr>
            <a:r>
              <a:rPr b="0" i="0" lang="en" sz="1050" u="none" cap="none" strike="noStrike">
                <a:solidFill>
                  <a:srgbClr val="1A1F26"/>
                </a:solidFill>
                <a:latin typeface="Consolas"/>
                <a:ea typeface="Consolas"/>
                <a:cs typeface="Consolas"/>
                <a:sym typeface="Consolas"/>
              </a:rPr>
              <a:t>import numpy as np</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9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F26"/>
              </a:buClr>
              <a:buSzPts val="950"/>
              <a:buFont typeface="Consolas"/>
              <a:buNone/>
            </a:pPr>
            <a:r>
              <a:rPr b="0" i="0" lang="en" sz="1050" u="none" cap="none" strike="noStrike">
                <a:solidFill>
                  <a:srgbClr val="1A1F26"/>
                </a:solidFill>
                <a:latin typeface="Consolas"/>
                <a:ea typeface="Consolas"/>
                <a:cs typeface="Consolas"/>
                <a:sym typeface="Consolas"/>
              </a:rPr>
              <a:t>vocab = ["king", "queen", "man", "woman", "cat"]</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F26"/>
              </a:buClr>
              <a:buSzPts val="950"/>
              <a:buFont typeface="Consolas"/>
              <a:buNone/>
            </a:pPr>
            <a:r>
              <a:rPr b="0" i="0" lang="en" sz="1050" u="none" cap="none" strike="noStrike">
                <a:solidFill>
                  <a:srgbClr val="1A1F26"/>
                </a:solidFill>
                <a:latin typeface="Consolas"/>
                <a:ea typeface="Consolas"/>
                <a:cs typeface="Consolas"/>
                <a:sym typeface="Consolas"/>
              </a:rPr>
              <a:t># Vocab size = 50,000 in production!</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9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F26"/>
              </a:buClr>
              <a:buSzPts val="950"/>
              <a:buFont typeface="Consolas"/>
              <a:buNone/>
            </a:pPr>
            <a:r>
              <a:rPr b="0" i="0" lang="en" sz="1050" u="none" cap="none" strike="noStrike">
                <a:solidFill>
                  <a:srgbClr val="1A1F26"/>
                </a:solidFill>
                <a:latin typeface="Consolas"/>
                <a:ea typeface="Consolas"/>
                <a:cs typeface="Consolas"/>
                <a:sym typeface="Consolas"/>
              </a:rPr>
              <a:t>encoder = OneHotEncoder(sparse_output=False)</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F26"/>
              </a:buClr>
              <a:buSzPts val="950"/>
              <a:buFont typeface="Consolas"/>
              <a:buNone/>
            </a:pPr>
            <a:r>
              <a:rPr b="0" i="0" lang="en" sz="1050" u="none" cap="none" strike="noStrike">
                <a:solidFill>
                  <a:srgbClr val="1A1F26"/>
                </a:solidFill>
                <a:latin typeface="Consolas"/>
                <a:ea typeface="Consolas"/>
                <a:cs typeface="Consolas"/>
                <a:sym typeface="Consolas"/>
              </a:rPr>
              <a:t>vectors = encoder.fit_transform([[w] for w in vocab])</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9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F26"/>
              </a:buClr>
              <a:buSzPts val="950"/>
              <a:buFont typeface="Consolas"/>
              <a:buNone/>
            </a:pPr>
            <a:r>
              <a:rPr b="0" i="0" lang="en" sz="1050" u="none" cap="none" strike="noStrike">
                <a:solidFill>
                  <a:srgbClr val="1A1F26"/>
                </a:solidFill>
                <a:latin typeface="Consolas"/>
                <a:ea typeface="Consolas"/>
                <a:cs typeface="Consolas"/>
                <a:sym typeface="Consolas"/>
              </a:rPr>
              <a:t>print(vectors.shape)  # (5, 5) → (50000, 50000) in prod</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F26"/>
              </a:buClr>
              <a:buSzPts val="950"/>
              <a:buFont typeface="Consolas"/>
              <a:buNone/>
            </a:pPr>
            <a:r>
              <a:rPr b="0" i="0" lang="en" sz="1050" u="none" cap="none" strike="noStrike">
                <a:solidFill>
                  <a:srgbClr val="1A1F26"/>
                </a:solidFill>
                <a:latin typeface="Consolas"/>
                <a:ea typeface="Consolas"/>
                <a:cs typeface="Consolas"/>
                <a:sym typeface="Consolas"/>
              </a:rPr>
              <a:t># king   = [1, 0, 0, 0, 0]</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F26"/>
              </a:buClr>
              <a:buSzPts val="950"/>
              <a:buFont typeface="Consolas"/>
              <a:buNone/>
            </a:pPr>
            <a:r>
              <a:rPr b="0" i="0" lang="en" sz="1050" u="none" cap="none" strike="noStrike">
                <a:solidFill>
                  <a:srgbClr val="1A1F26"/>
                </a:solidFill>
                <a:latin typeface="Consolas"/>
                <a:ea typeface="Consolas"/>
                <a:cs typeface="Consolas"/>
                <a:sym typeface="Consolas"/>
              </a:rPr>
              <a:t># queen  = [0, 1, 0, 0, 0]</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F26"/>
              </a:buClr>
              <a:buSzPts val="950"/>
              <a:buFont typeface="Consolas"/>
              <a:buNone/>
            </a:pPr>
            <a:r>
              <a:rPr b="0" i="0" lang="en" sz="1050" u="none" cap="none" strike="noStrike">
                <a:solidFill>
                  <a:srgbClr val="1A1F26"/>
                </a:solidFill>
                <a:latin typeface="Consolas"/>
                <a:ea typeface="Consolas"/>
                <a:cs typeface="Consolas"/>
                <a:sym typeface="Consolas"/>
              </a:rPr>
              <a:t># man    = [0, 0, 1, 0, 0]</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9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F26"/>
              </a:buClr>
              <a:buSzPts val="950"/>
              <a:buFont typeface="Consolas"/>
              <a:buNone/>
            </a:pPr>
            <a:r>
              <a:rPr b="0" i="0" lang="en" sz="1050" u="none" cap="none" strike="noStrike">
                <a:solidFill>
                  <a:srgbClr val="1A1F26"/>
                </a:solidFill>
                <a:latin typeface="Consolas"/>
                <a:ea typeface="Consolas"/>
                <a:cs typeface="Consolas"/>
                <a:sym typeface="Consolas"/>
              </a:rPr>
              <a:t># Cosine similarity?</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F26"/>
              </a:buClr>
              <a:buSzPts val="950"/>
              <a:buFont typeface="Consolas"/>
              <a:buNone/>
            </a:pPr>
            <a:r>
              <a:rPr b="0" i="0" lang="en" sz="1050" u="none" cap="none" strike="noStrike">
                <a:solidFill>
                  <a:srgbClr val="1A1F26"/>
                </a:solidFill>
                <a:latin typeface="Consolas"/>
                <a:ea typeface="Consolas"/>
                <a:cs typeface="Consolas"/>
                <a:sym typeface="Consolas"/>
              </a:rPr>
              <a:t>from numpy.linalg import norm</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F26"/>
              </a:buClr>
              <a:buSzPts val="950"/>
              <a:buFont typeface="Consolas"/>
              <a:buNone/>
            </a:pPr>
            <a:r>
              <a:rPr b="0" i="0" lang="en" sz="1050" u="none" cap="none" strike="noStrike">
                <a:solidFill>
                  <a:srgbClr val="1A1F26"/>
                </a:solidFill>
                <a:latin typeface="Consolas"/>
                <a:ea typeface="Consolas"/>
                <a:cs typeface="Consolas"/>
                <a:sym typeface="Consolas"/>
              </a:rPr>
              <a:t>cos = lambda a,b: np.dot(a,b)/(norm(a)*norm(b))</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F26"/>
              </a:buClr>
              <a:buSzPts val="950"/>
              <a:buFont typeface="Consolas"/>
              <a:buNone/>
            </a:pPr>
            <a:r>
              <a:rPr b="0" i="0" lang="en" sz="1050" u="none" cap="none" strike="noStrike">
                <a:solidFill>
                  <a:srgbClr val="1A1F26"/>
                </a:solidFill>
                <a:latin typeface="Consolas"/>
                <a:ea typeface="Consolas"/>
                <a:cs typeface="Consolas"/>
                <a:sym typeface="Consolas"/>
              </a:rPr>
              <a:t>print(cos(vectors[0], vectors[1]))  # 0.0 ← king ≠ queen??</a:t>
            </a:r>
            <a:endParaRPr b="0" i="0" sz="1050" u="none" cap="none" strike="noStrike">
              <a:solidFill>
                <a:schemeClr val="dk1"/>
              </a:solidFill>
              <a:latin typeface="Calibri"/>
              <a:ea typeface="Calibri"/>
              <a:cs typeface="Calibri"/>
              <a:sym typeface="Calibri"/>
            </a:endParaRPr>
          </a:p>
        </p:txBody>
      </p:sp>
      <p:sp>
        <p:nvSpPr>
          <p:cNvPr id="1828" name="Google Shape;1828;p42"/>
          <p:cNvSpPr/>
          <p:nvPr/>
        </p:nvSpPr>
        <p:spPr>
          <a:xfrm>
            <a:off x="5303520" y="1143000"/>
            <a:ext cx="3474600" cy="1005900"/>
          </a:xfrm>
          <a:prstGeom prst="rect">
            <a:avLst/>
          </a:prstGeom>
          <a:solidFill>
            <a:schemeClr val="lt1"/>
          </a:solidFill>
          <a:ln cap="flat" cmpd="sng" w="15225">
            <a:solidFill>
              <a:srgbClr val="EF4444"/>
            </a:solidFill>
            <a:prstDash val="solid"/>
            <a:round/>
            <a:headEnd len="sm" w="sm" type="none"/>
            <a:tailEnd len="sm" w="sm" type="none"/>
          </a:ln>
          <a:effectLst>
            <a:outerShdw blurRad="101600" rotWithShape="0" algn="bl" dir="8100000" dist="38100">
              <a:srgbClr val="000000">
                <a:alpha val="3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9" name="Google Shape;1829;p42"/>
          <p:cNvSpPr/>
          <p:nvPr/>
        </p:nvSpPr>
        <p:spPr>
          <a:xfrm>
            <a:off x="5303520" y="1143000"/>
            <a:ext cx="3474600" cy="54900"/>
          </a:xfrm>
          <a:prstGeom prst="rect">
            <a:avLst/>
          </a:prstGeom>
          <a:solidFill>
            <a:srgbClr val="EF4444"/>
          </a:solidFill>
          <a:ln cap="flat" cmpd="sng" w="1270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0" name="Google Shape;1830;p42"/>
          <p:cNvSpPr/>
          <p:nvPr/>
        </p:nvSpPr>
        <p:spPr>
          <a:xfrm>
            <a:off x="5440680" y="1216152"/>
            <a:ext cx="3200400" cy="320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F4444"/>
              </a:buClr>
              <a:buSzPts val="1300"/>
              <a:buFont typeface="Calibri"/>
              <a:buNone/>
            </a:pPr>
            <a:r>
              <a:rPr b="1" i="0" lang="en" sz="1700" u="none" cap="none" strike="noStrike">
                <a:solidFill>
                  <a:srgbClr val="EF4444"/>
                </a:solidFill>
                <a:latin typeface="Calibri"/>
                <a:ea typeface="Calibri"/>
                <a:cs typeface="Calibri"/>
                <a:sym typeface="Calibri"/>
              </a:rPr>
              <a:t>⚡  Sparse &amp; Huge</a:t>
            </a:r>
            <a:endParaRPr b="0" i="0" sz="1700" u="none" cap="none" strike="noStrike">
              <a:solidFill>
                <a:schemeClr val="dk1"/>
              </a:solidFill>
              <a:latin typeface="Calibri"/>
              <a:ea typeface="Calibri"/>
              <a:cs typeface="Calibri"/>
              <a:sym typeface="Calibri"/>
            </a:endParaRPr>
          </a:p>
        </p:txBody>
      </p:sp>
      <p:sp>
        <p:nvSpPr>
          <p:cNvPr id="1831" name="Google Shape;1831;p42"/>
          <p:cNvSpPr/>
          <p:nvPr/>
        </p:nvSpPr>
        <p:spPr>
          <a:xfrm>
            <a:off x="5440680" y="1508760"/>
            <a:ext cx="3200400" cy="5028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6270"/>
              </a:buClr>
              <a:buSzPts val="1050"/>
              <a:buFont typeface="Calibri"/>
              <a:buNone/>
            </a:pPr>
            <a:r>
              <a:rPr b="0" i="0" lang="en" sz="1200" u="none" cap="none" strike="noStrike">
                <a:solidFill>
                  <a:schemeClr val="dk1"/>
                </a:solidFill>
                <a:latin typeface="Calibri"/>
                <a:ea typeface="Calibri"/>
                <a:cs typeface="Calibri"/>
                <a:sym typeface="Calibri"/>
              </a:rPr>
              <a:t>50K vocab → 50K-dim vector. 2.5GB matrix. Most values are 0.</a:t>
            </a:r>
            <a:endParaRPr b="0" i="0" sz="1200" u="none" cap="none" strike="noStrike">
              <a:solidFill>
                <a:schemeClr val="dk1"/>
              </a:solidFill>
              <a:latin typeface="Calibri"/>
              <a:ea typeface="Calibri"/>
              <a:cs typeface="Calibri"/>
              <a:sym typeface="Calibri"/>
            </a:endParaRPr>
          </a:p>
        </p:txBody>
      </p:sp>
      <p:sp>
        <p:nvSpPr>
          <p:cNvPr id="1832" name="Google Shape;1832;p42"/>
          <p:cNvSpPr/>
          <p:nvPr/>
        </p:nvSpPr>
        <p:spPr>
          <a:xfrm>
            <a:off x="5303520" y="2258568"/>
            <a:ext cx="3474600" cy="1005900"/>
          </a:xfrm>
          <a:prstGeom prst="rect">
            <a:avLst/>
          </a:prstGeom>
          <a:solidFill>
            <a:schemeClr val="lt1"/>
          </a:solidFill>
          <a:ln cap="flat" cmpd="sng" w="15225">
            <a:solidFill>
              <a:srgbClr val="C00000"/>
            </a:solidFill>
            <a:prstDash val="solid"/>
            <a:round/>
            <a:headEnd len="sm" w="sm" type="none"/>
            <a:tailEnd len="sm" w="sm" type="none"/>
          </a:ln>
          <a:effectLst>
            <a:outerShdw blurRad="101600" rotWithShape="0" algn="bl" dir="8100000" dist="38100">
              <a:srgbClr val="000000">
                <a:alpha val="3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3" name="Google Shape;1833;p42"/>
          <p:cNvSpPr/>
          <p:nvPr/>
        </p:nvSpPr>
        <p:spPr>
          <a:xfrm>
            <a:off x="5303520" y="2258568"/>
            <a:ext cx="3474600" cy="54900"/>
          </a:xfrm>
          <a:prstGeom prst="rect">
            <a:avLst/>
          </a:prstGeom>
          <a:solidFill>
            <a:srgbClr val="EF4444"/>
          </a:solidFill>
          <a:ln cap="flat" cmpd="sng" w="1270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4" name="Google Shape;1834;p42"/>
          <p:cNvSpPr/>
          <p:nvPr/>
        </p:nvSpPr>
        <p:spPr>
          <a:xfrm>
            <a:off x="5440680" y="2331720"/>
            <a:ext cx="3200400" cy="320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F4444"/>
              </a:buClr>
              <a:buSzPts val="1300"/>
              <a:buFont typeface="Calibri"/>
              <a:buNone/>
            </a:pPr>
            <a:r>
              <a:rPr b="1" i="0" lang="en" sz="1700" u="none" cap="none" strike="noStrike">
                <a:solidFill>
                  <a:srgbClr val="EF4444"/>
                </a:solidFill>
                <a:latin typeface="Calibri"/>
                <a:ea typeface="Calibri"/>
                <a:cs typeface="Calibri"/>
                <a:sym typeface="Calibri"/>
              </a:rPr>
              <a:t>🧠  No Semantics</a:t>
            </a:r>
            <a:endParaRPr b="0" i="0" sz="1700" u="none" cap="none" strike="noStrike">
              <a:solidFill>
                <a:schemeClr val="dk1"/>
              </a:solidFill>
              <a:latin typeface="Calibri"/>
              <a:ea typeface="Calibri"/>
              <a:cs typeface="Calibri"/>
              <a:sym typeface="Calibri"/>
            </a:endParaRPr>
          </a:p>
        </p:txBody>
      </p:sp>
      <p:sp>
        <p:nvSpPr>
          <p:cNvPr id="1835" name="Google Shape;1835;p42"/>
          <p:cNvSpPr/>
          <p:nvPr/>
        </p:nvSpPr>
        <p:spPr>
          <a:xfrm>
            <a:off x="5440680" y="2624328"/>
            <a:ext cx="3200400" cy="5028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6270"/>
              </a:buClr>
              <a:buSzPts val="1050"/>
              <a:buFont typeface="Calibri"/>
              <a:buNone/>
            </a:pPr>
            <a:r>
              <a:rPr b="0" i="0" lang="en" sz="1200" u="none" cap="none" strike="noStrike">
                <a:solidFill>
                  <a:schemeClr val="dk1"/>
                </a:solidFill>
                <a:latin typeface="Calibri"/>
                <a:ea typeface="Calibri"/>
                <a:cs typeface="Calibri"/>
                <a:sym typeface="Calibri"/>
              </a:rPr>
              <a:t>cos(king, queen) = 0.0. The model has no idea they're related.</a:t>
            </a:r>
            <a:endParaRPr b="0" i="0" sz="1200" u="none" cap="none" strike="noStrike">
              <a:solidFill>
                <a:schemeClr val="dk1"/>
              </a:solidFill>
              <a:latin typeface="Calibri"/>
              <a:ea typeface="Calibri"/>
              <a:cs typeface="Calibri"/>
              <a:sym typeface="Calibri"/>
            </a:endParaRPr>
          </a:p>
        </p:txBody>
      </p:sp>
      <p:sp>
        <p:nvSpPr>
          <p:cNvPr id="1836" name="Google Shape;1836;p42"/>
          <p:cNvSpPr/>
          <p:nvPr/>
        </p:nvSpPr>
        <p:spPr>
          <a:xfrm>
            <a:off x="5303520" y="3374136"/>
            <a:ext cx="3474600" cy="1005900"/>
          </a:xfrm>
          <a:prstGeom prst="rect">
            <a:avLst/>
          </a:prstGeom>
          <a:solidFill>
            <a:schemeClr val="lt1"/>
          </a:solidFill>
          <a:ln cap="flat" cmpd="sng" w="15225">
            <a:solidFill>
              <a:srgbClr val="EF4444"/>
            </a:solidFill>
            <a:prstDash val="solid"/>
            <a:round/>
            <a:headEnd len="sm" w="sm" type="none"/>
            <a:tailEnd len="sm" w="sm" type="none"/>
          </a:ln>
          <a:effectLst>
            <a:outerShdw blurRad="101600" rotWithShape="0" algn="bl" dir="8100000" dist="38100">
              <a:srgbClr val="000000">
                <a:alpha val="3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7" name="Google Shape;1837;p42"/>
          <p:cNvSpPr/>
          <p:nvPr/>
        </p:nvSpPr>
        <p:spPr>
          <a:xfrm>
            <a:off x="5303520" y="3374136"/>
            <a:ext cx="3474600" cy="54900"/>
          </a:xfrm>
          <a:prstGeom prst="rect">
            <a:avLst/>
          </a:prstGeom>
          <a:solidFill>
            <a:srgbClr val="EF4444"/>
          </a:solidFill>
          <a:ln cap="flat" cmpd="sng" w="1270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8" name="Google Shape;1838;p42"/>
          <p:cNvSpPr/>
          <p:nvPr/>
        </p:nvSpPr>
        <p:spPr>
          <a:xfrm>
            <a:off x="5440680" y="3447288"/>
            <a:ext cx="3200400" cy="320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F4444"/>
              </a:buClr>
              <a:buSzPts val="1300"/>
              <a:buFont typeface="Calibri"/>
              <a:buNone/>
            </a:pPr>
            <a:r>
              <a:rPr b="1" i="0" lang="en" sz="1700" u="none" cap="none" strike="noStrike">
                <a:solidFill>
                  <a:srgbClr val="EF4444"/>
                </a:solidFill>
                <a:latin typeface="Calibri"/>
                <a:ea typeface="Calibri"/>
                <a:cs typeface="Calibri"/>
                <a:sym typeface="Calibri"/>
              </a:rPr>
              <a:t>🔗  No Relationships</a:t>
            </a:r>
            <a:endParaRPr b="0" i="0" sz="1700" u="none" cap="none" strike="noStrike">
              <a:solidFill>
                <a:schemeClr val="dk1"/>
              </a:solidFill>
              <a:latin typeface="Calibri"/>
              <a:ea typeface="Calibri"/>
              <a:cs typeface="Calibri"/>
              <a:sym typeface="Calibri"/>
            </a:endParaRPr>
          </a:p>
        </p:txBody>
      </p:sp>
      <p:sp>
        <p:nvSpPr>
          <p:cNvPr id="1839" name="Google Shape;1839;p42"/>
          <p:cNvSpPr/>
          <p:nvPr/>
        </p:nvSpPr>
        <p:spPr>
          <a:xfrm>
            <a:off x="5440680" y="3739896"/>
            <a:ext cx="3200400" cy="5028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6270"/>
              </a:buClr>
              <a:buSzPts val="1050"/>
              <a:buFont typeface="Calibri"/>
              <a:buNone/>
            </a:pPr>
            <a:r>
              <a:rPr b="0" i="0" lang="en" sz="1200" u="none" cap="none" strike="noStrike">
                <a:solidFill>
                  <a:schemeClr val="dk1"/>
                </a:solidFill>
                <a:latin typeface="Calibri"/>
                <a:ea typeface="Calibri"/>
                <a:cs typeface="Calibri"/>
                <a:sym typeface="Calibri"/>
              </a:rPr>
              <a:t>king − man + woman = ??? The math is meaningless.</a:t>
            </a:r>
            <a:endParaRPr b="0" i="0" sz="1200" u="none" cap="none" strike="noStrike">
              <a:solidFill>
                <a:schemeClr val="dk1"/>
              </a:solidFill>
              <a:latin typeface="Calibri"/>
              <a:ea typeface="Calibri"/>
              <a:cs typeface="Calibri"/>
              <a:sym typeface="Calibri"/>
            </a:endParaRPr>
          </a:p>
        </p:txBody>
      </p:sp>
      <p:sp>
        <p:nvSpPr>
          <p:cNvPr id="1840" name="Google Shape;1840;p42"/>
          <p:cNvSpPr/>
          <p:nvPr/>
        </p:nvSpPr>
        <p:spPr>
          <a:xfrm>
            <a:off x="320040" y="4663440"/>
            <a:ext cx="8503800" cy="347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59E0B"/>
              </a:buClr>
              <a:buSzPts val="1300"/>
              <a:buFont typeface="Calibri"/>
              <a:buNone/>
            </a:pPr>
            <a:r>
              <a:rPr b="1" i="0" lang="en" sz="1400" u="none" cap="none" strike="noStrike">
                <a:solidFill>
                  <a:schemeClr val="dk1"/>
                </a:solidFill>
                <a:latin typeface="Calibri"/>
                <a:ea typeface="Calibri"/>
                <a:cs typeface="Calibri"/>
                <a:sym typeface="Calibri"/>
              </a:rPr>
              <a:t>→  We need dense, meaningful representations.</a:t>
            </a:r>
            <a:endParaRPr b="0" i="0" sz="1400" u="none" cap="none" strike="noStrike">
              <a:solidFill>
                <a:schemeClr val="dk1"/>
              </a:solidFill>
              <a:latin typeface="Calibri"/>
              <a:ea typeface="Calibri"/>
              <a:cs typeface="Calibri"/>
              <a:sym typeface="Calibri"/>
            </a:endParaRPr>
          </a:p>
        </p:txBody>
      </p:sp>
      <p:pic>
        <p:nvPicPr>
          <p:cNvPr id="1841" name="Google Shape;1841;p42"/>
          <p:cNvPicPr preferRelativeResize="0"/>
          <p:nvPr/>
        </p:nvPicPr>
        <p:blipFill rotWithShape="1">
          <a:blip r:embed="rId4">
            <a:alphaModFix/>
          </a:blip>
          <a:srcRect b="0" l="0" r="0" t="0"/>
          <a:stretch/>
        </p:blipFill>
        <p:spPr>
          <a:xfrm>
            <a:off x="8369125" y="0"/>
            <a:ext cx="774877" cy="867174"/>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5" name="Shape 1845"/>
        <p:cNvGrpSpPr/>
        <p:nvPr/>
      </p:nvGrpSpPr>
      <p:grpSpPr>
        <a:xfrm>
          <a:off x="0" y="0"/>
          <a:ext cx="0" cy="0"/>
          <a:chOff x="0" y="0"/>
          <a:chExt cx="0" cy="0"/>
        </a:xfrm>
      </p:grpSpPr>
      <p:sp>
        <p:nvSpPr>
          <p:cNvPr id="1846" name="Google Shape;1846;p43"/>
          <p:cNvSpPr/>
          <p:nvPr/>
        </p:nvSpPr>
        <p:spPr>
          <a:xfrm>
            <a:off x="132375" y="181485"/>
            <a:ext cx="822960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D1B2A"/>
              </a:buClr>
              <a:buSzPts val="2600"/>
              <a:buFont typeface="Calibri"/>
              <a:buNone/>
            </a:pPr>
            <a:r>
              <a:rPr b="1" i="0" lang="en" sz="2600" u="none" cap="none" strike="noStrike">
                <a:solidFill>
                  <a:srgbClr val="0D1B2A"/>
                </a:solidFill>
                <a:latin typeface="Calibri"/>
                <a:ea typeface="Calibri"/>
                <a:cs typeface="Calibri"/>
                <a:sym typeface="Calibri"/>
              </a:rPr>
              <a:t>Quiz 4</a:t>
            </a:r>
            <a:endParaRPr b="0" i="0" sz="2600" u="none" cap="none" strike="noStrike">
              <a:solidFill>
                <a:srgbClr val="000000"/>
              </a:solidFill>
              <a:latin typeface="Calibri"/>
              <a:ea typeface="Calibri"/>
              <a:cs typeface="Calibri"/>
              <a:sym typeface="Calibri"/>
            </a:endParaRPr>
          </a:p>
        </p:txBody>
      </p:sp>
      <p:pic>
        <p:nvPicPr>
          <p:cNvPr id="1847" name="Google Shape;1847;p43"/>
          <p:cNvPicPr preferRelativeResize="0"/>
          <p:nvPr/>
        </p:nvPicPr>
        <p:blipFill rotWithShape="1">
          <a:blip r:embed="rId3">
            <a:alphaModFix/>
          </a:blip>
          <a:srcRect b="0" l="0" r="0" t="0"/>
          <a:stretch/>
        </p:blipFill>
        <p:spPr>
          <a:xfrm>
            <a:off x="8369125" y="0"/>
            <a:ext cx="774877" cy="867174"/>
          </a:xfrm>
          <a:prstGeom prst="rect">
            <a:avLst/>
          </a:prstGeom>
          <a:noFill/>
          <a:ln>
            <a:noFill/>
          </a:ln>
        </p:spPr>
      </p:pic>
      <p:sp>
        <p:nvSpPr>
          <p:cNvPr id="1848" name="Google Shape;1848;p43"/>
          <p:cNvSpPr txBox="1"/>
          <p:nvPr/>
        </p:nvSpPr>
        <p:spPr>
          <a:xfrm>
            <a:off x="354350" y="1187800"/>
            <a:ext cx="5809800" cy="3308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700"/>
              <a:buFont typeface="Arial"/>
              <a:buNone/>
            </a:pPr>
            <a:r>
              <a:rPr b="0" i="0" lang="en" sz="1700" u="none" cap="none" strike="noStrike">
                <a:solidFill>
                  <a:srgbClr val="000000"/>
                </a:solidFill>
                <a:latin typeface="Calibri"/>
                <a:ea typeface="Calibri"/>
                <a:cs typeface="Calibri"/>
                <a:sym typeface="Calibri"/>
              </a:rPr>
              <a:t>A search engine learns that users who search for "car" often click the same pages as users who search for "automobile". As an engineer, what will be your decision choice.</a:t>
            </a:r>
            <a:endParaRPr b="0" i="0" sz="1700" u="none" cap="none" strike="noStrike">
              <a:solidFill>
                <a:srgbClr val="000000"/>
              </a:solidFill>
              <a:latin typeface="Calibri"/>
              <a:ea typeface="Calibri"/>
              <a:cs typeface="Calibri"/>
              <a:sym typeface="Calibri"/>
            </a:endParaRPr>
          </a:p>
          <a:p>
            <a:pPr indent="-336550" lvl="0" marL="457200" marR="0" rtl="0" algn="l">
              <a:lnSpc>
                <a:spcPct val="115000"/>
              </a:lnSpc>
              <a:spcBef>
                <a:spcPts val="1200"/>
              </a:spcBef>
              <a:spcAft>
                <a:spcPts val="0"/>
              </a:spcAft>
              <a:buClr>
                <a:srgbClr val="000000"/>
              </a:buClr>
              <a:buSzPts val="1700"/>
              <a:buFont typeface="Arial"/>
              <a:buChar char="●"/>
            </a:pPr>
            <a:r>
              <a:rPr b="1" i="0" lang="en" sz="1700" u="none" cap="none" strike="noStrike">
                <a:solidFill>
                  <a:srgbClr val="000000"/>
                </a:solidFill>
                <a:latin typeface="Calibri"/>
                <a:ea typeface="Calibri"/>
                <a:cs typeface="Calibri"/>
                <a:sym typeface="Calibri"/>
              </a:rPr>
              <a:t>A)</a:t>
            </a:r>
            <a:r>
              <a:rPr b="0" i="0" lang="en" sz="1700" u="none" cap="none" strike="noStrike">
                <a:solidFill>
                  <a:srgbClr val="000000"/>
                </a:solidFill>
                <a:latin typeface="Calibri"/>
                <a:ea typeface="Calibri"/>
                <a:cs typeface="Calibri"/>
                <a:sym typeface="Calibri"/>
              </a:rPr>
              <a:t> One-hot representations of the words and use cosine similarity.</a:t>
            </a:r>
            <a:endParaRPr b="0" i="0" sz="1700" u="none" cap="none" strike="noStrike">
              <a:solidFill>
                <a:srgbClr val="000000"/>
              </a:solidFill>
              <a:latin typeface="Calibri"/>
              <a:ea typeface="Calibri"/>
              <a:cs typeface="Calibri"/>
              <a:sym typeface="Calibri"/>
            </a:endParaRPr>
          </a:p>
          <a:p>
            <a:pPr indent="-336550" lvl="0" marL="457200" marR="0" rtl="0" algn="l">
              <a:lnSpc>
                <a:spcPct val="115000"/>
              </a:lnSpc>
              <a:spcBef>
                <a:spcPts val="0"/>
              </a:spcBef>
              <a:spcAft>
                <a:spcPts val="0"/>
              </a:spcAft>
              <a:buClr>
                <a:srgbClr val="000000"/>
              </a:buClr>
              <a:buSzPts val="1700"/>
              <a:buFont typeface="Arial"/>
              <a:buChar char="●"/>
            </a:pPr>
            <a:r>
              <a:rPr b="1" i="0" lang="en" sz="1700" u="none" cap="none" strike="noStrike">
                <a:solidFill>
                  <a:srgbClr val="000000"/>
                </a:solidFill>
                <a:latin typeface="Calibri"/>
                <a:ea typeface="Calibri"/>
                <a:cs typeface="Calibri"/>
                <a:sym typeface="Calibri"/>
              </a:rPr>
              <a:t>B)</a:t>
            </a:r>
            <a:r>
              <a:rPr b="0" i="0" lang="en" sz="1700" u="none" cap="none" strike="noStrike">
                <a:solidFill>
                  <a:srgbClr val="000000"/>
                </a:solidFill>
                <a:latin typeface="Calibri"/>
                <a:ea typeface="Calibri"/>
                <a:cs typeface="Calibri"/>
                <a:sym typeface="Calibri"/>
              </a:rPr>
              <a:t> Simply add "automobile" as a hardcoded synonym for "car" in a lookup table. </a:t>
            </a:r>
            <a:endParaRPr b="0" i="0" sz="1700" u="none" cap="none" strike="noStrike">
              <a:solidFill>
                <a:srgbClr val="000000"/>
              </a:solidFill>
              <a:latin typeface="Calibri"/>
              <a:ea typeface="Calibri"/>
              <a:cs typeface="Calibri"/>
              <a:sym typeface="Calibri"/>
            </a:endParaRPr>
          </a:p>
          <a:p>
            <a:pPr indent="-336550" lvl="0" marL="457200" marR="0" rtl="0" algn="l">
              <a:lnSpc>
                <a:spcPct val="115000"/>
              </a:lnSpc>
              <a:spcBef>
                <a:spcPts val="0"/>
              </a:spcBef>
              <a:spcAft>
                <a:spcPts val="0"/>
              </a:spcAft>
              <a:buClr>
                <a:srgbClr val="000000"/>
              </a:buClr>
              <a:buSzPts val="1700"/>
              <a:buFont typeface="Arial"/>
              <a:buChar char="●"/>
            </a:pPr>
            <a:r>
              <a:rPr b="1" i="0" lang="en" sz="1700" u="none" cap="none" strike="noStrike">
                <a:solidFill>
                  <a:srgbClr val="000000"/>
                </a:solidFill>
                <a:latin typeface="Calibri"/>
                <a:ea typeface="Calibri"/>
                <a:cs typeface="Calibri"/>
                <a:sym typeface="Calibri"/>
              </a:rPr>
              <a:t>C)</a:t>
            </a:r>
            <a:r>
              <a:rPr b="0" i="0" lang="en" sz="1700" u="none" cap="none" strike="noStrike">
                <a:solidFill>
                  <a:srgbClr val="000000"/>
                </a:solidFill>
                <a:latin typeface="Calibri"/>
                <a:ea typeface="Calibri"/>
                <a:cs typeface="Calibri"/>
                <a:sym typeface="Calibri"/>
              </a:rPr>
              <a:t> </a:t>
            </a:r>
            <a:r>
              <a:rPr b="0" i="0" lang="en" sz="1700" u="none" cap="none" strike="noStrike">
                <a:solidFill>
                  <a:schemeClr val="dk1"/>
                </a:solidFill>
                <a:latin typeface="Calibri"/>
                <a:ea typeface="Calibri"/>
                <a:cs typeface="Calibri"/>
                <a:sym typeface="Calibri"/>
              </a:rPr>
              <a:t>Reduce one-hot vectors using PCA so that "car" and "automobile" end up closer in the reduced space. </a:t>
            </a:r>
            <a:endParaRPr b="0" i="0" sz="1700" u="none" cap="none" strike="noStrike">
              <a:solidFill>
                <a:schemeClr val="dk1"/>
              </a:solidFill>
              <a:latin typeface="Calibri"/>
              <a:ea typeface="Calibri"/>
              <a:cs typeface="Calibri"/>
              <a:sym typeface="Calibri"/>
            </a:endParaRPr>
          </a:p>
          <a:p>
            <a:pPr indent="-336550" lvl="0" marL="457200" marR="0" rtl="0" algn="l">
              <a:lnSpc>
                <a:spcPct val="115000"/>
              </a:lnSpc>
              <a:spcBef>
                <a:spcPts val="0"/>
              </a:spcBef>
              <a:spcAft>
                <a:spcPts val="0"/>
              </a:spcAft>
              <a:buClr>
                <a:schemeClr val="dk1"/>
              </a:buClr>
              <a:buSzPts val="1700"/>
              <a:buFont typeface="Calibri"/>
              <a:buChar char="●"/>
            </a:pPr>
            <a:r>
              <a:rPr b="1" i="0" lang="en" sz="1700" u="none" cap="none" strike="noStrike">
                <a:solidFill>
                  <a:schemeClr val="dk1"/>
                </a:solidFill>
                <a:latin typeface="Calibri"/>
                <a:ea typeface="Calibri"/>
                <a:cs typeface="Calibri"/>
                <a:sym typeface="Calibri"/>
              </a:rPr>
              <a:t>D) </a:t>
            </a:r>
            <a:r>
              <a:rPr b="0" i="0" lang="en" sz="1700" u="none" cap="none" strike="noStrike">
                <a:solidFill>
                  <a:schemeClr val="dk1"/>
                </a:solidFill>
                <a:latin typeface="Calibri"/>
                <a:ea typeface="Calibri"/>
                <a:cs typeface="Calibri"/>
                <a:sym typeface="Calibri"/>
              </a:rPr>
              <a:t>None of them.</a:t>
            </a:r>
            <a:endParaRPr b="0" i="0" sz="1700" u="none" cap="none" strike="noStrike">
              <a:solidFill>
                <a:schemeClr val="dk1"/>
              </a:solidFill>
              <a:latin typeface="Calibri"/>
              <a:ea typeface="Calibri"/>
              <a:cs typeface="Calibri"/>
              <a:sym typeface="Calibri"/>
            </a:endParaRPr>
          </a:p>
        </p:txBody>
      </p:sp>
      <p:pic>
        <p:nvPicPr>
          <p:cNvPr id="1849" name="Google Shape;1849;p43"/>
          <p:cNvPicPr preferRelativeResize="0"/>
          <p:nvPr/>
        </p:nvPicPr>
        <p:blipFill rotWithShape="1">
          <a:blip r:embed="rId4">
            <a:alphaModFix/>
          </a:blip>
          <a:srcRect b="0" l="0" r="0" t="0"/>
          <a:stretch/>
        </p:blipFill>
        <p:spPr>
          <a:xfrm>
            <a:off x="6316550" y="1019685"/>
            <a:ext cx="2675050" cy="3696294"/>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3" name="Shape 1853"/>
        <p:cNvGrpSpPr/>
        <p:nvPr/>
      </p:nvGrpSpPr>
      <p:grpSpPr>
        <a:xfrm>
          <a:off x="0" y="0"/>
          <a:ext cx="0" cy="0"/>
          <a:chOff x="0" y="0"/>
          <a:chExt cx="0" cy="0"/>
        </a:xfrm>
      </p:grpSpPr>
      <p:sp>
        <p:nvSpPr>
          <p:cNvPr id="1854" name="Google Shape;1854;p44"/>
          <p:cNvSpPr/>
          <p:nvPr/>
        </p:nvSpPr>
        <p:spPr>
          <a:xfrm>
            <a:off x="132375" y="181485"/>
            <a:ext cx="822960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D1B2A"/>
              </a:buClr>
              <a:buSzPts val="2600"/>
              <a:buFont typeface="Calibri"/>
              <a:buNone/>
            </a:pPr>
            <a:r>
              <a:rPr b="1" i="0" lang="en" sz="2600" u="none" cap="none" strike="noStrike">
                <a:solidFill>
                  <a:srgbClr val="0D1B2A"/>
                </a:solidFill>
                <a:latin typeface="Calibri"/>
                <a:ea typeface="Calibri"/>
                <a:cs typeface="Calibri"/>
                <a:sym typeface="Calibri"/>
              </a:rPr>
              <a:t>Quiz 4</a:t>
            </a:r>
            <a:endParaRPr b="0" i="0" sz="2600" u="none" cap="none" strike="noStrike">
              <a:solidFill>
                <a:srgbClr val="000000"/>
              </a:solidFill>
              <a:latin typeface="Calibri"/>
              <a:ea typeface="Calibri"/>
              <a:cs typeface="Calibri"/>
              <a:sym typeface="Calibri"/>
            </a:endParaRPr>
          </a:p>
        </p:txBody>
      </p:sp>
      <p:pic>
        <p:nvPicPr>
          <p:cNvPr id="1855" name="Google Shape;1855;p44"/>
          <p:cNvPicPr preferRelativeResize="0"/>
          <p:nvPr/>
        </p:nvPicPr>
        <p:blipFill rotWithShape="1">
          <a:blip r:embed="rId3">
            <a:alphaModFix/>
          </a:blip>
          <a:srcRect b="0" l="0" r="0" t="0"/>
          <a:stretch/>
        </p:blipFill>
        <p:spPr>
          <a:xfrm>
            <a:off x="8369125" y="0"/>
            <a:ext cx="774877" cy="867174"/>
          </a:xfrm>
          <a:prstGeom prst="rect">
            <a:avLst/>
          </a:prstGeom>
          <a:noFill/>
          <a:ln>
            <a:noFill/>
          </a:ln>
        </p:spPr>
      </p:pic>
      <p:sp>
        <p:nvSpPr>
          <p:cNvPr id="1856" name="Google Shape;1856;p44"/>
          <p:cNvSpPr txBox="1"/>
          <p:nvPr/>
        </p:nvSpPr>
        <p:spPr>
          <a:xfrm>
            <a:off x="354350" y="1187800"/>
            <a:ext cx="5809800" cy="3308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700"/>
              <a:buFont typeface="Arial"/>
              <a:buNone/>
            </a:pPr>
            <a:r>
              <a:rPr b="0" i="0" lang="en" sz="1700" u="none" cap="none" strike="noStrike">
                <a:solidFill>
                  <a:srgbClr val="000000"/>
                </a:solidFill>
                <a:latin typeface="Calibri"/>
                <a:ea typeface="Calibri"/>
                <a:cs typeface="Calibri"/>
                <a:sym typeface="Calibri"/>
              </a:rPr>
              <a:t>A search engine learns that users who search for "car" often click the same pages as users who search for "automobile". As an engineer, what will be your decision choice.</a:t>
            </a:r>
            <a:endParaRPr b="0" i="0" sz="1700" u="none" cap="none" strike="noStrike">
              <a:solidFill>
                <a:srgbClr val="000000"/>
              </a:solidFill>
              <a:latin typeface="Calibri"/>
              <a:ea typeface="Calibri"/>
              <a:cs typeface="Calibri"/>
              <a:sym typeface="Calibri"/>
            </a:endParaRPr>
          </a:p>
          <a:p>
            <a:pPr indent="-336550" lvl="0" marL="457200" marR="0" rtl="0" algn="l">
              <a:lnSpc>
                <a:spcPct val="115000"/>
              </a:lnSpc>
              <a:spcBef>
                <a:spcPts val="1200"/>
              </a:spcBef>
              <a:spcAft>
                <a:spcPts val="0"/>
              </a:spcAft>
              <a:buClr>
                <a:srgbClr val="000000"/>
              </a:buClr>
              <a:buSzPts val="1700"/>
              <a:buFont typeface="Arial"/>
              <a:buChar char="●"/>
            </a:pPr>
            <a:r>
              <a:rPr b="1" i="0" lang="en" sz="1700" u="none" cap="none" strike="noStrike">
                <a:solidFill>
                  <a:srgbClr val="000000"/>
                </a:solidFill>
                <a:latin typeface="Calibri"/>
                <a:ea typeface="Calibri"/>
                <a:cs typeface="Calibri"/>
                <a:sym typeface="Calibri"/>
              </a:rPr>
              <a:t>A)</a:t>
            </a:r>
            <a:r>
              <a:rPr b="0" i="0" lang="en" sz="1700" u="none" cap="none" strike="noStrike">
                <a:solidFill>
                  <a:srgbClr val="000000"/>
                </a:solidFill>
                <a:latin typeface="Calibri"/>
                <a:ea typeface="Calibri"/>
                <a:cs typeface="Calibri"/>
                <a:sym typeface="Calibri"/>
              </a:rPr>
              <a:t> One-hot representations of the words and use cosine similarity.</a:t>
            </a:r>
            <a:endParaRPr b="0" i="0" sz="1700" u="none" cap="none" strike="noStrike">
              <a:solidFill>
                <a:srgbClr val="000000"/>
              </a:solidFill>
              <a:latin typeface="Calibri"/>
              <a:ea typeface="Calibri"/>
              <a:cs typeface="Calibri"/>
              <a:sym typeface="Calibri"/>
            </a:endParaRPr>
          </a:p>
          <a:p>
            <a:pPr indent="-336550" lvl="0" marL="457200" marR="0" rtl="0" algn="l">
              <a:lnSpc>
                <a:spcPct val="115000"/>
              </a:lnSpc>
              <a:spcBef>
                <a:spcPts val="0"/>
              </a:spcBef>
              <a:spcAft>
                <a:spcPts val="0"/>
              </a:spcAft>
              <a:buClr>
                <a:srgbClr val="000000"/>
              </a:buClr>
              <a:buSzPts val="1700"/>
              <a:buFont typeface="Arial"/>
              <a:buChar char="●"/>
            </a:pPr>
            <a:r>
              <a:rPr b="1" i="0" lang="en" sz="1700" u="none" cap="none" strike="noStrike">
                <a:solidFill>
                  <a:srgbClr val="000000"/>
                </a:solidFill>
                <a:latin typeface="Calibri"/>
                <a:ea typeface="Calibri"/>
                <a:cs typeface="Calibri"/>
                <a:sym typeface="Calibri"/>
              </a:rPr>
              <a:t>B)</a:t>
            </a:r>
            <a:r>
              <a:rPr b="0" i="0" lang="en" sz="1700" u="none" cap="none" strike="noStrike">
                <a:solidFill>
                  <a:srgbClr val="000000"/>
                </a:solidFill>
                <a:latin typeface="Calibri"/>
                <a:ea typeface="Calibri"/>
                <a:cs typeface="Calibri"/>
                <a:sym typeface="Calibri"/>
              </a:rPr>
              <a:t> Simply add "automobile" as a hardcoded synonym for "car" in a lookup table. </a:t>
            </a:r>
            <a:r>
              <a:rPr b="0" i="0" lang="en" sz="1700" u="none" cap="none" strike="noStrike">
                <a:solidFill>
                  <a:schemeClr val="dk1"/>
                </a:solidFill>
                <a:latin typeface="Calibri"/>
                <a:ea typeface="Calibri"/>
                <a:cs typeface="Calibri"/>
                <a:sym typeface="Calibri"/>
              </a:rPr>
              <a:t>✅</a:t>
            </a:r>
            <a:endParaRPr b="0" i="0" sz="1700" u="none" cap="none" strike="noStrike">
              <a:solidFill>
                <a:srgbClr val="000000"/>
              </a:solidFill>
              <a:latin typeface="Calibri"/>
              <a:ea typeface="Calibri"/>
              <a:cs typeface="Calibri"/>
              <a:sym typeface="Calibri"/>
            </a:endParaRPr>
          </a:p>
          <a:p>
            <a:pPr indent="-336550" lvl="0" marL="457200" marR="0" rtl="0" algn="l">
              <a:lnSpc>
                <a:spcPct val="115000"/>
              </a:lnSpc>
              <a:spcBef>
                <a:spcPts val="0"/>
              </a:spcBef>
              <a:spcAft>
                <a:spcPts val="0"/>
              </a:spcAft>
              <a:buClr>
                <a:srgbClr val="000000"/>
              </a:buClr>
              <a:buSzPts val="1700"/>
              <a:buFont typeface="Arial"/>
              <a:buChar char="●"/>
            </a:pPr>
            <a:r>
              <a:rPr b="1" i="0" lang="en" sz="1700" u="none" cap="none" strike="noStrike">
                <a:solidFill>
                  <a:srgbClr val="000000"/>
                </a:solidFill>
                <a:latin typeface="Calibri"/>
                <a:ea typeface="Calibri"/>
                <a:cs typeface="Calibri"/>
                <a:sym typeface="Calibri"/>
              </a:rPr>
              <a:t>C)</a:t>
            </a:r>
            <a:r>
              <a:rPr b="0" i="0" lang="en" sz="1700" u="none" cap="none" strike="noStrike">
                <a:solidFill>
                  <a:srgbClr val="000000"/>
                </a:solidFill>
                <a:latin typeface="Calibri"/>
                <a:ea typeface="Calibri"/>
                <a:cs typeface="Calibri"/>
                <a:sym typeface="Calibri"/>
              </a:rPr>
              <a:t> </a:t>
            </a:r>
            <a:r>
              <a:rPr b="0" i="0" lang="en" sz="1700" u="none" cap="none" strike="noStrike">
                <a:solidFill>
                  <a:schemeClr val="dk1"/>
                </a:solidFill>
                <a:latin typeface="Calibri"/>
                <a:ea typeface="Calibri"/>
                <a:cs typeface="Calibri"/>
                <a:sym typeface="Calibri"/>
              </a:rPr>
              <a:t>Reduce one-hot vectors using PCA so that "car" and "automobile" end up closer in the reduced space. </a:t>
            </a:r>
            <a:endParaRPr b="0" i="0" sz="1700" u="none" cap="none" strike="noStrike">
              <a:solidFill>
                <a:schemeClr val="dk1"/>
              </a:solidFill>
              <a:latin typeface="Calibri"/>
              <a:ea typeface="Calibri"/>
              <a:cs typeface="Calibri"/>
              <a:sym typeface="Calibri"/>
            </a:endParaRPr>
          </a:p>
          <a:p>
            <a:pPr indent="-336550" lvl="0" marL="457200" marR="0" rtl="0" algn="l">
              <a:lnSpc>
                <a:spcPct val="115000"/>
              </a:lnSpc>
              <a:spcBef>
                <a:spcPts val="0"/>
              </a:spcBef>
              <a:spcAft>
                <a:spcPts val="0"/>
              </a:spcAft>
              <a:buClr>
                <a:schemeClr val="dk1"/>
              </a:buClr>
              <a:buSzPts val="1700"/>
              <a:buFont typeface="Calibri"/>
              <a:buChar char="●"/>
            </a:pPr>
            <a:r>
              <a:rPr b="1" i="0" lang="en" sz="1700" u="none" cap="none" strike="noStrike">
                <a:solidFill>
                  <a:schemeClr val="dk1"/>
                </a:solidFill>
                <a:latin typeface="Calibri"/>
                <a:ea typeface="Calibri"/>
                <a:cs typeface="Calibri"/>
                <a:sym typeface="Calibri"/>
              </a:rPr>
              <a:t>D) </a:t>
            </a:r>
            <a:r>
              <a:rPr b="0" i="0" lang="en" sz="1700" u="none" cap="none" strike="noStrike">
                <a:solidFill>
                  <a:schemeClr val="dk1"/>
                </a:solidFill>
                <a:latin typeface="Calibri"/>
                <a:ea typeface="Calibri"/>
                <a:cs typeface="Calibri"/>
                <a:sym typeface="Calibri"/>
              </a:rPr>
              <a:t>None of them.</a:t>
            </a:r>
            <a:endParaRPr b="0" i="0" sz="1700" u="none" cap="none" strike="noStrike">
              <a:solidFill>
                <a:schemeClr val="dk1"/>
              </a:solidFill>
              <a:latin typeface="Calibri"/>
              <a:ea typeface="Calibri"/>
              <a:cs typeface="Calibri"/>
              <a:sym typeface="Calibri"/>
            </a:endParaRPr>
          </a:p>
        </p:txBody>
      </p:sp>
      <p:pic>
        <p:nvPicPr>
          <p:cNvPr id="1857" name="Google Shape;1857;p44"/>
          <p:cNvPicPr preferRelativeResize="0"/>
          <p:nvPr/>
        </p:nvPicPr>
        <p:blipFill rotWithShape="1">
          <a:blip r:embed="rId4">
            <a:alphaModFix/>
          </a:blip>
          <a:srcRect b="0" l="0" r="0" t="0"/>
          <a:stretch/>
        </p:blipFill>
        <p:spPr>
          <a:xfrm>
            <a:off x="6316550" y="1019685"/>
            <a:ext cx="2675050" cy="3696294"/>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1" name="Shape 1861"/>
        <p:cNvGrpSpPr/>
        <p:nvPr/>
      </p:nvGrpSpPr>
      <p:grpSpPr>
        <a:xfrm>
          <a:off x="0" y="0"/>
          <a:ext cx="0" cy="0"/>
          <a:chOff x="0" y="0"/>
          <a:chExt cx="0" cy="0"/>
        </a:xfrm>
      </p:grpSpPr>
      <p:sp>
        <p:nvSpPr>
          <p:cNvPr id="1862" name="Google Shape;1862;p45"/>
          <p:cNvSpPr/>
          <p:nvPr/>
        </p:nvSpPr>
        <p:spPr>
          <a:xfrm>
            <a:off x="132375" y="181485"/>
            <a:ext cx="822960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D1B2A"/>
              </a:buClr>
              <a:buSzPts val="2600"/>
              <a:buFont typeface="Calibri"/>
              <a:buNone/>
            </a:pPr>
            <a:r>
              <a:rPr b="1" i="0" lang="en" sz="2600" u="none" cap="none" strike="noStrike">
                <a:solidFill>
                  <a:srgbClr val="0D1B2A"/>
                </a:solidFill>
                <a:latin typeface="Calibri"/>
                <a:ea typeface="Calibri"/>
                <a:cs typeface="Calibri"/>
                <a:sym typeface="Calibri"/>
              </a:rPr>
              <a:t>Quiz 5</a:t>
            </a:r>
            <a:endParaRPr b="0" i="0" sz="2600" u="none" cap="none" strike="noStrike">
              <a:solidFill>
                <a:srgbClr val="000000"/>
              </a:solidFill>
              <a:latin typeface="Calibri"/>
              <a:ea typeface="Calibri"/>
              <a:cs typeface="Calibri"/>
              <a:sym typeface="Calibri"/>
            </a:endParaRPr>
          </a:p>
        </p:txBody>
      </p:sp>
      <p:pic>
        <p:nvPicPr>
          <p:cNvPr id="1863" name="Google Shape;1863;p45"/>
          <p:cNvPicPr preferRelativeResize="0"/>
          <p:nvPr/>
        </p:nvPicPr>
        <p:blipFill rotWithShape="1">
          <a:blip r:embed="rId3">
            <a:alphaModFix/>
          </a:blip>
          <a:srcRect b="0" l="0" r="0" t="0"/>
          <a:stretch/>
        </p:blipFill>
        <p:spPr>
          <a:xfrm>
            <a:off x="8369125" y="0"/>
            <a:ext cx="774877" cy="867174"/>
          </a:xfrm>
          <a:prstGeom prst="rect">
            <a:avLst/>
          </a:prstGeom>
          <a:noFill/>
          <a:ln>
            <a:noFill/>
          </a:ln>
        </p:spPr>
      </p:pic>
      <p:sp>
        <p:nvSpPr>
          <p:cNvPr id="1864" name="Google Shape;1864;p45"/>
          <p:cNvSpPr txBox="1"/>
          <p:nvPr/>
        </p:nvSpPr>
        <p:spPr>
          <a:xfrm>
            <a:off x="354350" y="1187800"/>
            <a:ext cx="5809800" cy="3609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700"/>
              <a:buFont typeface="Arial"/>
              <a:buNone/>
            </a:pPr>
            <a:r>
              <a:rPr b="0" i="0" lang="en" sz="1700" u="none" cap="none" strike="noStrike">
                <a:solidFill>
                  <a:srgbClr val="000000"/>
                </a:solidFill>
                <a:latin typeface="Calibri"/>
                <a:ea typeface="Calibri"/>
                <a:cs typeface="Calibri"/>
                <a:sym typeface="Calibri"/>
              </a:rPr>
              <a:t>A search engine learns that users who search for "car" often click the same pages as users who search for "automobile". As an engineer, what will be your decision choice. What can be a generalized design choice. </a:t>
            </a:r>
            <a:r>
              <a:rPr b="0" i="0" lang="en" sz="1700" u="none" cap="none" strike="noStrike">
                <a:solidFill>
                  <a:srgbClr val="DC2626"/>
                </a:solidFill>
                <a:latin typeface="Calibri"/>
                <a:ea typeface="Calibri"/>
                <a:cs typeface="Calibri"/>
                <a:sym typeface="Calibri"/>
              </a:rPr>
              <a:t>(restaurant, eatery)</a:t>
            </a:r>
            <a:endParaRPr b="0" i="0" sz="1700" u="none" cap="none" strike="noStrike">
              <a:solidFill>
                <a:srgbClr val="DC2626"/>
              </a:solidFill>
              <a:latin typeface="Calibri"/>
              <a:ea typeface="Calibri"/>
              <a:cs typeface="Calibri"/>
              <a:sym typeface="Calibri"/>
            </a:endParaRPr>
          </a:p>
          <a:p>
            <a:pPr indent="-336550" lvl="0" marL="457200" marR="0" rtl="0" algn="l">
              <a:lnSpc>
                <a:spcPct val="115000"/>
              </a:lnSpc>
              <a:spcBef>
                <a:spcPts val="1200"/>
              </a:spcBef>
              <a:spcAft>
                <a:spcPts val="0"/>
              </a:spcAft>
              <a:buClr>
                <a:srgbClr val="000000"/>
              </a:buClr>
              <a:buSzPts val="1700"/>
              <a:buFont typeface="Arial"/>
              <a:buChar char="●"/>
            </a:pPr>
            <a:r>
              <a:rPr b="1" i="0" lang="en" sz="1700" u="none" cap="none" strike="noStrike">
                <a:solidFill>
                  <a:srgbClr val="000000"/>
                </a:solidFill>
                <a:latin typeface="Calibri"/>
                <a:ea typeface="Calibri"/>
                <a:cs typeface="Calibri"/>
                <a:sym typeface="Calibri"/>
              </a:rPr>
              <a:t>A)</a:t>
            </a:r>
            <a:r>
              <a:rPr b="0" i="0" lang="en" sz="1700" u="none" cap="none" strike="noStrike">
                <a:solidFill>
                  <a:srgbClr val="000000"/>
                </a:solidFill>
                <a:latin typeface="Calibri"/>
                <a:ea typeface="Calibri"/>
                <a:cs typeface="Calibri"/>
                <a:sym typeface="Calibri"/>
              </a:rPr>
              <a:t> One-hot representations of the words and use cosine similarity.</a:t>
            </a:r>
            <a:endParaRPr b="0" i="0" sz="1700" u="none" cap="none" strike="noStrike">
              <a:solidFill>
                <a:srgbClr val="000000"/>
              </a:solidFill>
              <a:latin typeface="Calibri"/>
              <a:ea typeface="Calibri"/>
              <a:cs typeface="Calibri"/>
              <a:sym typeface="Calibri"/>
            </a:endParaRPr>
          </a:p>
          <a:p>
            <a:pPr indent="-336550" lvl="0" marL="457200" marR="0" rtl="0" algn="l">
              <a:lnSpc>
                <a:spcPct val="115000"/>
              </a:lnSpc>
              <a:spcBef>
                <a:spcPts val="0"/>
              </a:spcBef>
              <a:spcAft>
                <a:spcPts val="0"/>
              </a:spcAft>
              <a:buClr>
                <a:srgbClr val="000000"/>
              </a:buClr>
              <a:buSzPts val="1700"/>
              <a:buFont typeface="Arial"/>
              <a:buChar char="●"/>
            </a:pPr>
            <a:r>
              <a:rPr b="1" i="0" lang="en" sz="1700" u="none" cap="none" strike="noStrike">
                <a:solidFill>
                  <a:srgbClr val="000000"/>
                </a:solidFill>
                <a:latin typeface="Calibri"/>
                <a:ea typeface="Calibri"/>
                <a:cs typeface="Calibri"/>
                <a:sym typeface="Calibri"/>
              </a:rPr>
              <a:t>B)</a:t>
            </a:r>
            <a:r>
              <a:rPr b="0" i="0" lang="en" sz="1700" u="none" cap="none" strike="noStrike">
                <a:solidFill>
                  <a:srgbClr val="000000"/>
                </a:solidFill>
                <a:latin typeface="Calibri"/>
                <a:ea typeface="Calibri"/>
                <a:cs typeface="Calibri"/>
                <a:sym typeface="Calibri"/>
              </a:rPr>
              <a:t> Simply add "automobile" as a hardcoded synonym for "car" in a lookup table.  </a:t>
            </a:r>
            <a:endParaRPr b="0" i="0" sz="1700" u="none" cap="none" strike="noStrike">
              <a:solidFill>
                <a:srgbClr val="000000"/>
              </a:solidFill>
              <a:latin typeface="Calibri"/>
              <a:ea typeface="Calibri"/>
              <a:cs typeface="Calibri"/>
              <a:sym typeface="Calibri"/>
            </a:endParaRPr>
          </a:p>
          <a:p>
            <a:pPr indent="-336550" lvl="0" marL="457200" marR="0" rtl="0" algn="l">
              <a:lnSpc>
                <a:spcPct val="115000"/>
              </a:lnSpc>
              <a:spcBef>
                <a:spcPts val="0"/>
              </a:spcBef>
              <a:spcAft>
                <a:spcPts val="0"/>
              </a:spcAft>
              <a:buClr>
                <a:srgbClr val="000000"/>
              </a:buClr>
              <a:buSzPts val="1700"/>
              <a:buFont typeface="Arial"/>
              <a:buChar char="●"/>
            </a:pPr>
            <a:r>
              <a:rPr b="1" i="0" lang="en" sz="1700" u="none" cap="none" strike="noStrike">
                <a:solidFill>
                  <a:srgbClr val="000000"/>
                </a:solidFill>
                <a:latin typeface="Calibri"/>
                <a:ea typeface="Calibri"/>
                <a:cs typeface="Calibri"/>
                <a:sym typeface="Calibri"/>
              </a:rPr>
              <a:t>C)</a:t>
            </a:r>
            <a:r>
              <a:rPr b="0" i="0" lang="en" sz="1700" u="none" cap="none" strike="noStrike">
                <a:solidFill>
                  <a:srgbClr val="000000"/>
                </a:solidFill>
                <a:latin typeface="Calibri"/>
                <a:ea typeface="Calibri"/>
                <a:cs typeface="Calibri"/>
                <a:sym typeface="Calibri"/>
              </a:rPr>
              <a:t> </a:t>
            </a:r>
            <a:r>
              <a:rPr b="0" i="0" lang="en" sz="1700" u="none" cap="none" strike="noStrike">
                <a:solidFill>
                  <a:schemeClr val="dk1"/>
                </a:solidFill>
                <a:latin typeface="Calibri"/>
                <a:ea typeface="Calibri"/>
                <a:cs typeface="Calibri"/>
                <a:sym typeface="Calibri"/>
              </a:rPr>
              <a:t>Reduce one-hot vectors using PCA so that "car" and "automobile" end up closer in the reduced space. </a:t>
            </a:r>
            <a:endParaRPr b="0" i="0" sz="1700" u="none" cap="none" strike="noStrike">
              <a:solidFill>
                <a:schemeClr val="dk1"/>
              </a:solidFill>
              <a:latin typeface="Calibri"/>
              <a:ea typeface="Calibri"/>
              <a:cs typeface="Calibri"/>
              <a:sym typeface="Calibri"/>
            </a:endParaRPr>
          </a:p>
          <a:p>
            <a:pPr indent="-336550" lvl="0" marL="457200" marR="0" rtl="0" algn="l">
              <a:lnSpc>
                <a:spcPct val="115000"/>
              </a:lnSpc>
              <a:spcBef>
                <a:spcPts val="0"/>
              </a:spcBef>
              <a:spcAft>
                <a:spcPts val="0"/>
              </a:spcAft>
              <a:buClr>
                <a:schemeClr val="dk1"/>
              </a:buClr>
              <a:buSzPts val="1700"/>
              <a:buFont typeface="Calibri"/>
              <a:buChar char="●"/>
            </a:pPr>
            <a:r>
              <a:rPr b="1" i="0" lang="en" sz="1700" u="none" cap="none" strike="noStrike">
                <a:solidFill>
                  <a:schemeClr val="dk1"/>
                </a:solidFill>
                <a:latin typeface="Calibri"/>
                <a:ea typeface="Calibri"/>
                <a:cs typeface="Calibri"/>
                <a:sym typeface="Calibri"/>
              </a:rPr>
              <a:t>D) </a:t>
            </a:r>
            <a:r>
              <a:rPr b="0" i="0" lang="en" sz="1700" u="none" cap="none" strike="noStrike">
                <a:solidFill>
                  <a:schemeClr val="dk1"/>
                </a:solidFill>
                <a:latin typeface="Calibri"/>
                <a:ea typeface="Calibri"/>
                <a:cs typeface="Calibri"/>
                <a:sym typeface="Calibri"/>
              </a:rPr>
              <a:t>None of them. </a:t>
            </a:r>
            <a:endParaRPr b="0" i="0" sz="1700" u="none" cap="none" strike="noStrike">
              <a:solidFill>
                <a:schemeClr val="dk1"/>
              </a:solidFill>
              <a:latin typeface="Calibri"/>
              <a:ea typeface="Calibri"/>
              <a:cs typeface="Calibri"/>
              <a:sym typeface="Calibri"/>
            </a:endParaRPr>
          </a:p>
        </p:txBody>
      </p:sp>
      <p:pic>
        <p:nvPicPr>
          <p:cNvPr id="1865" name="Google Shape;1865;p45"/>
          <p:cNvPicPr preferRelativeResize="0"/>
          <p:nvPr/>
        </p:nvPicPr>
        <p:blipFill rotWithShape="1">
          <a:blip r:embed="rId4">
            <a:alphaModFix/>
          </a:blip>
          <a:srcRect b="0" l="0" r="0" t="0"/>
          <a:stretch/>
        </p:blipFill>
        <p:spPr>
          <a:xfrm>
            <a:off x="6316550" y="1019685"/>
            <a:ext cx="2675050" cy="3696294"/>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9" name="Shape 1869"/>
        <p:cNvGrpSpPr/>
        <p:nvPr/>
      </p:nvGrpSpPr>
      <p:grpSpPr>
        <a:xfrm>
          <a:off x="0" y="0"/>
          <a:ext cx="0" cy="0"/>
          <a:chOff x="0" y="0"/>
          <a:chExt cx="0" cy="0"/>
        </a:xfrm>
      </p:grpSpPr>
      <p:sp>
        <p:nvSpPr>
          <p:cNvPr id="1870" name="Google Shape;1870;p46"/>
          <p:cNvSpPr/>
          <p:nvPr/>
        </p:nvSpPr>
        <p:spPr>
          <a:xfrm>
            <a:off x="132375" y="181485"/>
            <a:ext cx="822960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D1B2A"/>
              </a:buClr>
              <a:buSzPts val="2600"/>
              <a:buFont typeface="Calibri"/>
              <a:buNone/>
            </a:pPr>
            <a:r>
              <a:rPr b="1" i="0" lang="en" sz="2600" u="none" cap="none" strike="noStrike">
                <a:solidFill>
                  <a:srgbClr val="0D1B2A"/>
                </a:solidFill>
                <a:latin typeface="Calibri"/>
                <a:ea typeface="Calibri"/>
                <a:cs typeface="Calibri"/>
                <a:sym typeface="Calibri"/>
              </a:rPr>
              <a:t>Quiz 5</a:t>
            </a:r>
            <a:endParaRPr b="0" i="0" sz="2600" u="none" cap="none" strike="noStrike">
              <a:solidFill>
                <a:srgbClr val="000000"/>
              </a:solidFill>
              <a:latin typeface="Calibri"/>
              <a:ea typeface="Calibri"/>
              <a:cs typeface="Calibri"/>
              <a:sym typeface="Calibri"/>
            </a:endParaRPr>
          </a:p>
        </p:txBody>
      </p:sp>
      <p:pic>
        <p:nvPicPr>
          <p:cNvPr id="1871" name="Google Shape;1871;p46"/>
          <p:cNvPicPr preferRelativeResize="0"/>
          <p:nvPr/>
        </p:nvPicPr>
        <p:blipFill rotWithShape="1">
          <a:blip r:embed="rId3">
            <a:alphaModFix/>
          </a:blip>
          <a:srcRect b="0" l="0" r="0" t="0"/>
          <a:stretch/>
        </p:blipFill>
        <p:spPr>
          <a:xfrm>
            <a:off x="8369125" y="0"/>
            <a:ext cx="774877" cy="867174"/>
          </a:xfrm>
          <a:prstGeom prst="rect">
            <a:avLst/>
          </a:prstGeom>
          <a:noFill/>
          <a:ln>
            <a:noFill/>
          </a:ln>
        </p:spPr>
      </p:pic>
      <p:sp>
        <p:nvSpPr>
          <p:cNvPr id="1872" name="Google Shape;1872;p46"/>
          <p:cNvSpPr txBox="1"/>
          <p:nvPr/>
        </p:nvSpPr>
        <p:spPr>
          <a:xfrm>
            <a:off x="354350" y="1187800"/>
            <a:ext cx="5809800" cy="3609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700"/>
              <a:buFont typeface="Arial"/>
              <a:buNone/>
            </a:pPr>
            <a:r>
              <a:rPr b="0" i="0" lang="en" sz="1700" u="none" cap="none" strike="noStrike">
                <a:solidFill>
                  <a:srgbClr val="000000"/>
                </a:solidFill>
                <a:latin typeface="Calibri"/>
                <a:ea typeface="Calibri"/>
                <a:cs typeface="Calibri"/>
                <a:sym typeface="Calibri"/>
              </a:rPr>
              <a:t>A search engine learns that users who search for "car" often click the same pages as users who search for "automobile". As an engineer, what will be your decision choice. What can be a generalized design choice. </a:t>
            </a:r>
            <a:endParaRPr b="0" i="0" sz="1700" u="none" cap="none" strike="noStrike">
              <a:solidFill>
                <a:srgbClr val="000000"/>
              </a:solidFill>
              <a:latin typeface="Calibri"/>
              <a:ea typeface="Calibri"/>
              <a:cs typeface="Calibri"/>
              <a:sym typeface="Calibri"/>
            </a:endParaRPr>
          </a:p>
          <a:p>
            <a:pPr indent="-336550" lvl="0" marL="457200" marR="0" rtl="0" algn="l">
              <a:lnSpc>
                <a:spcPct val="115000"/>
              </a:lnSpc>
              <a:spcBef>
                <a:spcPts val="1200"/>
              </a:spcBef>
              <a:spcAft>
                <a:spcPts val="0"/>
              </a:spcAft>
              <a:buClr>
                <a:srgbClr val="000000"/>
              </a:buClr>
              <a:buSzPts val="1700"/>
              <a:buFont typeface="Arial"/>
              <a:buChar char="●"/>
            </a:pPr>
            <a:r>
              <a:rPr b="1" i="0" lang="en" sz="1700" u="none" cap="none" strike="noStrike">
                <a:solidFill>
                  <a:srgbClr val="000000"/>
                </a:solidFill>
                <a:latin typeface="Calibri"/>
                <a:ea typeface="Calibri"/>
                <a:cs typeface="Calibri"/>
                <a:sym typeface="Calibri"/>
              </a:rPr>
              <a:t>A)</a:t>
            </a:r>
            <a:r>
              <a:rPr b="0" i="0" lang="en" sz="1700" u="none" cap="none" strike="noStrike">
                <a:solidFill>
                  <a:srgbClr val="000000"/>
                </a:solidFill>
                <a:latin typeface="Calibri"/>
                <a:ea typeface="Calibri"/>
                <a:cs typeface="Calibri"/>
                <a:sym typeface="Calibri"/>
              </a:rPr>
              <a:t> One-hot representations of the words and use cosine similarity.</a:t>
            </a:r>
            <a:endParaRPr b="0" i="0" sz="1700" u="none" cap="none" strike="noStrike">
              <a:solidFill>
                <a:srgbClr val="000000"/>
              </a:solidFill>
              <a:latin typeface="Calibri"/>
              <a:ea typeface="Calibri"/>
              <a:cs typeface="Calibri"/>
              <a:sym typeface="Calibri"/>
            </a:endParaRPr>
          </a:p>
          <a:p>
            <a:pPr indent="-336550" lvl="0" marL="457200" marR="0" rtl="0" algn="l">
              <a:lnSpc>
                <a:spcPct val="115000"/>
              </a:lnSpc>
              <a:spcBef>
                <a:spcPts val="0"/>
              </a:spcBef>
              <a:spcAft>
                <a:spcPts val="0"/>
              </a:spcAft>
              <a:buClr>
                <a:srgbClr val="000000"/>
              </a:buClr>
              <a:buSzPts val="1700"/>
              <a:buFont typeface="Arial"/>
              <a:buChar char="●"/>
            </a:pPr>
            <a:r>
              <a:rPr b="1" i="0" lang="en" sz="1700" u="none" cap="none" strike="noStrike">
                <a:solidFill>
                  <a:srgbClr val="000000"/>
                </a:solidFill>
                <a:latin typeface="Calibri"/>
                <a:ea typeface="Calibri"/>
                <a:cs typeface="Calibri"/>
                <a:sym typeface="Calibri"/>
              </a:rPr>
              <a:t>B)</a:t>
            </a:r>
            <a:r>
              <a:rPr b="0" i="0" lang="en" sz="1700" u="none" cap="none" strike="noStrike">
                <a:solidFill>
                  <a:srgbClr val="000000"/>
                </a:solidFill>
                <a:latin typeface="Calibri"/>
                <a:ea typeface="Calibri"/>
                <a:cs typeface="Calibri"/>
                <a:sym typeface="Calibri"/>
              </a:rPr>
              <a:t> Simply add "automobile" as a hardcoded synonym for "car" in a lookup table.  </a:t>
            </a:r>
            <a:endParaRPr b="0" i="0" sz="1700" u="none" cap="none" strike="noStrike">
              <a:solidFill>
                <a:srgbClr val="000000"/>
              </a:solidFill>
              <a:latin typeface="Calibri"/>
              <a:ea typeface="Calibri"/>
              <a:cs typeface="Calibri"/>
              <a:sym typeface="Calibri"/>
            </a:endParaRPr>
          </a:p>
          <a:p>
            <a:pPr indent="-336550" lvl="0" marL="457200" marR="0" rtl="0" algn="l">
              <a:lnSpc>
                <a:spcPct val="115000"/>
              </a:lnSpc>
              <a:spcBef>
                <a:spcPts val="0"/>
              </a:spcBef>
              <a:spcAft>
                <a:spcPts val="0"/>
              </a:spcAft>
              <a:buClr>
                <a:srgbClr val="000000"/>
              </a:buClr>
              <a:buSzPts val="1700"/>
              <a:buFont typeface="Arial"/>
              <a:buChar char="●"/>
            </a:pPr>
            <a:r>
              <a:rPr b="1" i="0" lang="en" sz="1700" u="none" cap="none" strike="noStrike">
                <a:solidFill>
                  <a:srgbClr val="000000"/>
                </a:solidFill>
                <a:latin typeface="Calibri"/>
                <a:ea typeface="Calibri"/>
                <a:cs typeface="Calibri"/>
                <a:sym typeface="Calibri"/>
              </a:rPr>
              <a:t>C)</a:t>
            </a:r>
            <a:r>
              <a:rPr b="0" i="0" lang="en" sz="1700" u="none" cap="none" strike="noStrike">
                <a:solidFill>
                  <a:srgbClr val="000000"/>
                </a:solidFill>
                <a:latin typeface="Calibri"/>
                <a:ea typeface="Calibri"/>
                <a:cs typeface="Calibri"/>
                <a:sym typeface="Calibri"/>
              </a:rPr>
              <a:t> </a:t>
            </a:r>
            <a:r>
              <a:rPr b="0" i="0" lang="en" sz="1700" u="none" cap="none" strike="noStrike">
                <a:solidFill>
                  <a:schemeClr val="dk1"/>
                </a:solidFill>
                <a:latin typeface="Calibri"/>
                <a:ea typeface="Calibri"/>
                <a:cs typeface="Calibri"/>
                <a:sym typeface="Calibri"/>
              </a:rPr>
              <a:t>Reduce one-hot vectors using PCA so that "car" and "automobile" end up closer in the reduced space. </a:t>
            </a:r>
            <a:endParaRPr b="0" i="0" sz="1700" u="none" cap="none" strike="noStrike">
              <a:solidFill>
                <a:schemeClr val="dk1"/>
              </a:solidFill>
              <a:latin typeface="Calibri"/>
              <a:ea typeface="Calibri"/>
              <a:cs typeface="Calibri"/>
              <a:sym typeface="Calibri"/>
            </a:endParaRPr>
          </a:p>
          <a:p>
            <a:pPr indent="-336550" lvl="0" marL="457200" marR="0" rtl="0" algn="l">
              <a:lnSpc>
                <a:spcPct val="115000"/>
              </a:lnSpc>
              <a:spcBef>
                <a:spcPts val="0"/>
              </a:spcBef>
              <a:spcAft>
                <a:spcPts val="0"/>
              </a:spcAft>
              <a:buClr>
                <a:schemeClr val="dk1"/>
              </a:buClr>
              <a:buSzPts val="1700"/>
              <a:buFont typeface="Calibri"/>
              <a:buChar char="●"/>
            </a:pPr>
            <a:r>
              <a:rPr b="1" i="0" lang="en" sz="1700" u="none" cap="none" strike="noStrike">
                <a:solidFill>
                  <a:schemeClr val="dk1"/>
                </a:solidFill>
                <a:latin typeface="Calibri"/>
                <a:ea typeface="Calibri"/>
                <a:cs typeface="Calibri"/>
                <a:sym typeface="Calibri"/>
              </a:rPr>
              <a:t>D) </a:t>
            </a:r>
            <a:r>
              <a:rPr b="0" i="0" lang="en" sz="1700" u="none" cap="none" strike="noStrike">
                <a:solidFill>
                  <a:schemeClr val="dk1"/>
                </a:solidFill>
                <a:latin typeface="Calibri"/>
                <a:ea typeface="Calibri"/>
                <a:cs typeface="Calibri"/>
                <a:sym typeface="Calibri"/>
              </a:rPr>
              <a:t>None of them. ✅</a:t>
            </a:r>
            <a:endParaRPr b="0" i="0" sz="1700" u="none" cap="none" strike="noStrike">
              <a:solidFill>
                <a:schemeClr val="dk1"/>
              </a:solidFill>
              <a:latin typeface="Calibri"/>
              <a:ea typeface="Calibri"/>
              <a:cs typeface="Calibri"/>
              <a:sym typeface="Calibri"/>
            </a:endParaRPr>
          </a:p>
        </p:txBody>
      </p:sp>
      <p:pic>
        <p:nvPicPr>
          <p:cNvPr id="1873" name="Google Shape;1873;p46"/>
          <p:cNvPicPr preferRelativeResize="0"/>
          <p:nvPr/>
        </p:nvPicPr>
        <p:blipFill rotWithShape="1">
          <a:blip r:embed="rId4">
            <a:alphaModFix/>
          </a:blip>
          <a:srcRect b="0" l="0" r="0" t="0"/>
          <a:stretch/>
        </p:blipFill>
        <p:spPr>
          <a:xfrm>
            <a:off x="6316550" y="1019685"/>
            <a:ext cx="2675050" cy="3696294"/>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7" name="Shape 1877"/>
        <p:cNvGrpSpPr/>
        <p:nvPr/>
      </p:nvGrpSpPr>
      <p:grpSpPr>
        <a:xfrm>
          <a:off x="0" y="0"/>
          <a:ext cx="0" cy="0"/>
          <a:chOff x="0" y="0"/>
          <a:chExt cx="0" cy="0"/>
        </a:xfrm>
      </p:grpSpPr>
      <p:sp>
        <p:nvSpPr>
          <p:cNvPr id="1878" name="Google Shape;1878;p47"/>
          <p:cNvSpPr/>
          <p:nvPr/>
        </p:nvSpPr>
        <p:spPr>
          <a:xfrm>
            <a:off x="0" y="0"/>
            <a:ext cx="9144000" cy="960000"/>
          </a:xfrm>
          <a:prstGeom prst="rect">
            <a:avLst/>
          </a:prstGeom>
          <a:solidFill>
            <a:srgbClr val="0F1E3C"/>
          </a:solidFill>
          <a:ln cap="flat" cmpd="sng" w="12700">
            <a:solidFill>
              <a:srgbClr val="0F1E3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9" name="Google Shape;1879;p47"/>
          <p:cNvSpPr/>
          <p:nvPr/>
        </p:nvSpPr>
        <p:spPr>
          <a:xfrm>
            <a:off x="365760" y="91440"/>
            <a:ext cx="8412600"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800"/>
              <a:buFont typeface="Calibri"/>
              <a:buNone/>
            </a:pPr>
            <a:r>
              <a:rPr b="1" i="0" lang="en" sz="2800" u="none" cap="none" strike="noStrike">
                <a:solidFill>
                  <a:srgbClr val="FFFFFF"/>
                </a:solidFill>
                <a:latin typeface="Calibri"/>
                <a:ea typeface="Calibri"/>
                <a:cs typeface="Calibri"/>
                <a:sym typeface="Calibri"/>
              </a:rPr>
              <a:t>The Search Engine Synonym Problem</a:t>
            </a:r>
            <a:endParaRPr b="0" i="0" sz="2800" u="none" cap="none" strike="noStrike">
              <a:solidFill>
                <a:srgbClr val="000000"/>
              </a:solidFill>
              <a:latin typeface="Calibri"/>
              <a:ea typeface="Calibri"/>
              <a:cs typeface="Calibri"/>
              <a:sym typeface="Calibri"/>
            </a:endParaRPr>
          </a:p>
        </p:txBody>
      </p:sp>
      <p:sp>
        <p:nvSpPr>
          <p:cNvPr id="1880" name="Google Shape;1880;p47"/>
          <p:cNvSpPr/>
          <p:nvPr/>
        </p:nvSpPr>
        <p:spPr>
          <a:xfrm>
            <a:off x="365760" y="1097280"/>
            <a:ext cx="8412600" cy="1234500"/>
          </a:xfrm>
          <a:prstGeom prst="rect">
            <a:avLst/>
          </a:prstGeom>
          <a:solidFill>
            <a:srgbClr val="EAF6FB"/>
          </a:solidFill>
          <a:ln cap="flat" cmpd="sng" w="25400">
            <a:solidFill>
              <a:srgbClr val="00B4D8"/>
            </a:solidFill>
            <a:prstDash val="solid"/>
            <a:round/>
            <a:headEnd len="sm" w="sm" type="none"/>
            <a:tailEnd len="sm" w="sm" type="none"/>
          </a:ln>
          <a:effectLst>
            <a:outerShdw blurRad="101600" rotWithShape="0" algn="bl" dir="8100000" dist="38100">
              <a:srgbClr val="000000">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1" name="Google Shape;1881;p47"/>
          <p:cNvSpPr/>
          <p:nvPr/>
        </p:nvSpPr>
        <p:spPr>
          <a:xfrm>
            <a:off x="548640" y="1170432"/>
            <a:ext cx="8046600" cy="5028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F1E3C"/>
              </a:buClr>
              <a:buSzPts val="1500"/>
              <a:buFont typeface="Calibri"/>
              <a:buNone/>
            </a:pPr>
            <a:r>
              <a:rPr b="1" i="0" lang="en" sz="1500" u="none" cap="none" strike="noStrike">
                <a:solidFill>
                  <a:srgbClr val="0F1E3C"/>
                </a:solidFill>
                <a:latin typeface="Calibri"/>
                <a:ea typeface="Calibri"/>
                <a:cs typeface="Calibri"/>
                <a:sym typeface="Calibri"/>
              </a:rPr>
              <a:t>📋  Scenario: </a:t>
            </a:r>
            <a:r>
              <a:rPr b="0" i="0" lang="en" sz="1500" u="none" cap="none" strike="noStrike">
                <a:solidFill>
                  <a:srgbClr val="0F1E3C"/>
                </a:solidFill>
                <a:latin typeface="Calibri"/>
                <a:ea typeface="Calibri"/>
                <a:cs typeface="Calibri"/>
                <a:sym typeface="Calibri"/>
              </a:rPr>
              <a:t>A search engine observes that users who search </a:t>
            </a:r>
            <a:r>
              <a:rPr b="1" i="0" lang="en" sz="1500" u="none" cap="none" strike="noStrike">
                <a:solidFill>
                  <a:srgbClr val="00B4D8"/>
                </a:solidFill>
                <a:latin typeface="Calibri"/>
                <a:ea typeface="Calibri"/>
                <a:cs typeface="Calibri"/>
                <a:sym typeface="Calibri"/>
              </a:rPr>
              <a:t>"car"</a:t>
            </a:r>
            <a:r>
              <a:rPr b="0" i="0" lang="en" sz="1500" u="none" cap="none" strike="noStrike">
                <a:solidFill>
                  <a:srgbClr val="0F1E3C"/>
                </a:solidFill>
                <a:latin typeface="Calibri"/>
                <a:ea typeface="Calibri"/>
                <a:cs typeface="Calibri"/>
                <a:sym typeface="Calibri"/>
              </a:rPr>
              <a:t> often click the same pages as users who search </a:t>
            </a:r>
            <a:r>
              <a:rPr b="1" i="0" lang="en" sz="1500" u="none" cap="none" strike="noStrike">
                <a:solidFill>
                  <a:srgbClr val="00B4D8"/>
                </a:solidFill>
                <a:latin typeface="Calibri"/>
                <a:ea typeface="Calibri"/>
                <a:cs typeface="Calibri"/>
                <a:sym typeface="Calibri"/>
              </a:rPr>
              <a:t>"automobile".</a:t>
            </a:r>
            <a:endParaRPr b="0" i="0" sz="1500" u="none" cap="none" strike="noStrike">
              <a:solidFill>
                <a:srgbClr val="000000"/>
              </a:solidFill>
              <a:latin typeface="Calibri"/>
              <a:ea typeface="Calibri"/>
              <a:cs typeface="Calibri"/>
              <a:sym typeface="Calibri"/>
            </a:endParaRPr>
          </a:p>
        </p:txBody>
      </p:sp>
      <p:sp>
        <p:nvSpPr>
          <p:cNvPr id="1882" name="Google Shape;1882;p47"/>
          <p:cNvSpPr/>
          <p:nvPr/>
        </p:nvSpPr>
        <p:spPr>
          <a:xfrm>
            <a:off x="548640" y="1691640"/>
            <a:ext cx="8046600" cy="5028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63946"/>
              </a:buClr>
              <a:buSzPts val="1500"/>
              <a:buFont typeface="Calibri"/>
              <a:buNone/>
            </a:pPr>
            <a:r>
              <a:rPr b="1" i="0" lang="en" sz="1500" u="none" cap="none" strike="noStrike">
                <a:solidFill>
                  <a:srgbClr val="E63946"/>
                </a:solidFill>
                <a:latin typeface="Calibri"/>
                <a:ea typeface="Calibri"/>
                <a:cs typeface="Calibri"/>
                <a:sym typeface="Calibri"/>
              </a:rPr>
              <a:t>🔍  Observation: </a:t>
            </a:r>
            <a:r>
              <a:rPr b="0" i="0" lang="en" sz="1500" u="none" cap="none" strike="noStrike">
                <a:solidFill>
                  <a:srgbClr val="0F1E3C"/>
                </a:solidFill>
                <a:latin typeface="Calibri"/>
                <a:ea typeface="Calibri"/>
                <a:cs typeface="Calibri"/>
                <a:sym typeface="Calibri"/>
              </a:rPr>
              <a:t>Despite identical intent, the system returns different results — it treats the two words as completely unrelated.</a:t>
            </a:r>
            <a:endParaRPr b="0" i="0" sz="1500" u="none" cap="none" strike="noStrike">
              <a:solidFill>
                <a:srgbClr val="000000"/>
              </a:solidFill>
              <a:latin typeface="Calibri"/>
              <a:ea typeface="Calibri"/>
              <a:cs typeface="Calibri"/>
              <a:sym typeface="Calibri"/>
            </a:endParaRPr>
          </a:p>
        </p:txBody>
      </p:sp>
      <p:sp>
        <p:nvSpPr>
          <p:cNvPr id="1883" name="Google Shape;1883;p47"/>
          <p:cNvSpPr/>
          <p:nvPr/>
        </p:nvSpPr>
        <p:spPr>
          <a:xfrm>
            <a:off x="365760" y="2487168"/>
            <a:ext cx="8412600" cy="594300"/>
          </a:xfrm>
          <a:prstGeom prst="rect">
            <a:avLst/>
          </a:prstGeom>
          <a:solidFill>
            <a:srgbClr val="0F1E3C"/>
          </a:solidFill>
          <a:ln cap="flat" cmpd="sng" w="12700">
            <a:solidFill>
              <a:srgbClr val="0F1E3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4" name="Google Shape;1884;p47"/>
          <p:cNvSpPr/>
          <p:nvPr/>
        </p:nvSpPr>
        <p:spPr>
          <a:xfrm>
            <a:off x="548640" y="2578608"/>
            <a:ext cx="8046600" cy="41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600"/>
              <a:buFont typeface="Calibri"/>
              <a:buNone/>
            </a:pPr>
            <a:r>
              <a:rPr b="1" i="0" lang="en" sz="1600" u="none" cap="none" strike="noStrike">
                <a:solidFill>
                  <a:srgbClr val="FFFFFF"/>
                </a:solidFill>
                <a:latin typeface="Calibri"/>
                <a:ea typeface="Calibri"/>
                <a:cs typeface="Calibri"/>
                <a:sym typeface="Calibri"/>
              </a:rPr>
              <a:t>❓  Question: As an engineer, which approach do you choose to fix this?</a:t>
            </a:r>
            <a:endParaRPr b="0" i="0" sz="1600" u="none" cap="none" strike="noStrike">
              <a:solidFill>
                <a:srgbClr val="000000"/>
              </a:solidFill>
              <a:latin typeface="Calibri"/>
              <a:ea typeface="Calibri"/>
              <a:cs typeface="Calibri"/>
              <a:sym typeface="Calibri"/>
            </a:endParaRPr>
          </a:p>
        </p:txBody>
      </p:sp>
      <p:sp>
        <p:nvSpPr>
          <p:cNvPr id="1885" name="Google Shape;1885;p47"/>
          <p:cNvSpPr/>
          <p:nvPr/>
        </p:nvSpPr>
        <p:spPr>
          <a:xfrm>
            <a:off x="365760" y="3246120"/>
            <a:ext cx="8412600" cy="347400"/>
          </a:xfrm>
          <a:prstGeom prst="rect">
            <a:avLst/>
          </a:prstGeom>
          <a:solidFill>
            <a:srgbClr val="F5F7FA"/>
          </a:solidFill>
          <a:ln cap="flat" cmpd="sng" w="12700">
            <a:solidFill>
              <a:srgbClr val="DDE8E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6" name="Google Shape;1886;p47"/>
          <p:cNvSpPr/>
          <p:nvPr/>
        </p:nvSpPr>
        <p:spPr>
          <a:xfrm>
            <a:off x="365760" y="3246120"/>
            <a:ext cx="347400" cy="347400"/>
          </a:xfrm>
          <a:prstGeom prst="rect">
            <a:avLst/>
          </a:prstGeom>
          <a:solidFill>
            <a:srgbClr val="0096B4"/>
          </a:solidFill>
          <a:ln cap="flat" cmpd="sng" w="12700">
            <a:solidFill>
              <a:srgbClr val="0096B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7" name="Google Shape;1887;p47"/>
          <p:cNvSpPr/>
          <p:nvPr/>
        </p:nvSpPr>
        <p:spPr>
          <a:xfrm>
            <a:off x="365760" y="3246120"/>
            <a:ext cx="347400" cy="347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Calibri"/>
              <a:buNone/>
            </a:pPr>
            <a:r>
              <a:rPr b="1" i="0" lang="en" sz="1300" u="none" cap="none" strike="noStrike">
                <a:solidFill>
                  <a:srgbClr val="FFFFFF"/>
                </a:solidFill>
                <a:latin typeface="Calibri"/>
                <a:ea typeface="Calibri"/>
                <a:cs typeface="Calibri"/>
                <a:sym typeface="Calibri"/>
              </a:rPr>
              <a:t>A</a:t>
            </a:r>
            <a:endParaRPr b="0" i="0" sz="1300" u="none" cap="none" strike="noStrike">
              <a:solidFill>
                <a:srgbClr val="000000"/>
              </a:solidFill>
              <a:latin typeface="Calibri"/>
              <a:ea typeface="Calibri"/>
              <a:cs typeface="Calibri"/>
              <a:sym typeface="Calibri"/>
            </a:endParaRPr>
          </a:p>
        </p:txBody>
      </p:sp>
      <p:sp>
        <p:nvSpPr>
          <p:cNvPr id="1888" name="Google Shape;1888;p47"/>
          <p:cNvSpPr/>
          <p:nvPr/>
        </p:nvSpPr>
        <p:spPr>
          <a:xfrm>
            <a:off x="777240" y="3282696"/>
            <a:ext cx="78639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E3C"/>
              </a:buClr>
              <a:buSzPts val="1300"/>
              <a:buFont typeface="Calibri"/>
              <a:buNone/>
            </a:pPr>
            <a:r>
              <a:rPr b="0" i="0" lang="en" sz="1300" u="none" cap="none" strike="noStrike">
                <a:solidFill>
                  <a:srgbClr val="0F1E3C"/>
                </a:solidFill>
                <a:latin typeface="Calibri"/>
                <a:ea typeface="Calibri"/>
                <a:cs typeface="Calibri"/>
                <a:sym typeface="Calibri"/>
              </a:rPr>
              <a:t>One-hot representations + cosine similarity</a:t>
            </a:r>
            <a:endParaRPr b="0" i="0" sz="1300" u="none" cap="none" strike="noStrike">
              <a:solidFill>
                <a:srgbClr val="000000"/>
              </a:solidFill>
              <a:latin typeface="Calibri"/>
              <a:ea typeface="Calibri"/>
              <a:cs typeface="Calibri"/>
              <a:sym typeface="Calibri"/>
            </a:endParaRPr>
          </a:p>
        </p:txBody>
      </p:sp>
      <p:sp>
        <p:nvSpPr>
          <p:cNvPr id="1889" name="Google Shape;1889;p47"/>
          <p:cNvSpPr/>
          <p:nvPr/>
        </p:nvSpPr>
        <p:spPr>
          <a:xfrm>
            <a:off x="365760" y="3666744"/>
            <a:ext cx="8412600" cy="347400"/>
          </a:xfrm>
          <a:prstGeom prst="rect">
            <a:avLst/>
          </a:prstGeom>
          <a:solidFill>
            <a:srgbClr val="F5F7FA"/>
          </a:solidFill>
          <a:ln cap="flat" cmpd="sng" w="12700">
            <a:solidFill>
              <a:srgbClr val="DDE8E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0" name="Google Shape;1890;p47"/>
          <p:cNvSpPr/>
          <p:nvPr/>
        </p:nvSpPr>
        <p:spPr>
          <a:xfrm>
            <a:off x="365760" y="3666744"/>
            <a:ext cx="347400" cy="347400"/>
          </a:xfrm>
          <a:prstGeom prst="rect">
            <a:avLst/>
          </a:prstGeom>
          <a:solidFill>
            <a:srgbClr val="0096B4"/>
          </a:solidFill>
          <a:ln cap="flat" cmpd="sng" w="12700">
            <a:solidFill>
              <a:srgbClr val="0096B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1" name="Google Shape;1891;p47"/>
          <p:cNvSpPr/>
          <p:nvPr/>
        </p:nvSpPr>
        <p:spPr>
          <a:xfrm>
            <a:off x="365760" y="3666744"/>
            <a:ext cx="347400" cy="347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Calibri"/>
              <a:buNone/>
            </a:pPr>
            <a:r>
              <a:rPr b="1" i="0" lang="en" sz="1300" u="none" cap="none" strike="noStrike">
                <a:solidFill>
                  <a:srgbClr val="FFFFFF"/>
                </a:solidFill>
                <a:latin typeface="Calibri"/>
                <a:ea typeface="Calibri"/>
                <a:cs typeface="Calibri"/>
                <a:sym typeface="Calibri"/>
              </a:rPr>
              <a:t>B</a:t>
            </a:r>
            <a:endParaRPr b="0" i="0" sz="1300" u="none" cap="none" strike="noStrike">
              <a:solidFill>
                <a:srgbClr val="000000"/>
              </a:solidFill>
              <a:latin typeface="Calibri"/>
              <a:ea typeface="Calibri"/>
              <a:cs typeface="Calibri"/>
              <a:sym typeface="Calibri"/>
            </a:endParaRPr>
          </a:p>
        </p:txBody>
      </p:sp>
      <p:sp>
        <p:nvSpPr>
          <p:cNvPr id="1892" name="Google Shape;1892;p47"/>
          <p:cNvSpPr/>
          <p:nvPr/>
        </p:nvSpPr>
        <p:spPr>
          <a:xfrm>
            <a:off x="777240" y="3703320"/>
            <a:ext cx="78639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E3C"/>
              </a:buClr>
              <a:buSzPts val="1300"/>
              <a:buFont typeface="Calibri"/>
              <a:buNone/>
            </a:pPr>
            <a:r>
              <a:rPr b="0" i="0" lang="en" sz="1300" u="none" cap="none" strike="noStrike">
                <a:solidFill>
                  <a:srgbClr val="0F1E3C"/>
                </a:solidFill>
                <a:latin typeface="Calibri"/>
                <a:ea typeface="Calibri"/>
                <a:cs typeface="Calibri"/>
                <a:sym typeface="Calibri"/>
              </a:rPr>
              <a:t>Hardcoded synonym table (car ↔ automobile)</a:t>
            </a:r>
            <a:endParaRPr b="0" i="0" sz="1300" u="none" cap="none" strike="noStrike">
              <a:solidFill>
                <a:srgbClr val="000000"/>
              </a:solidFill>
              <a:latin typeface="Calibri"/>
              <a:ea typeface="Calibri"/>
              <a:cs typeface="Calibri"/>
              <a:sym typeface="Calibri"/>
            </a:endParaRPr>
          </a:p>
        </p:txBody>
      </p:sp>
      <p:sp>
        <p:nvSpPr>
          <p:cNvPr id="1893" name="Google Shape;1893;p47"/>
          <p:cNvSpPr/>
          <p:nvPr/>
        </p:nvSpPr>
        <p:spPr>
          <a:xfrm>
            <a:off x="365760" y="4087368"/>
            <a:ext cx="8412600" cy="347400"/>
          </a:xfrm>
          <a:prstGeom prst="rect">
            <a:avLst/>
          </a:prstGeom>
          <a:solidFill>
            <a:srgbClr val="F5F7FA"/>
          </a:solidFill>
          <a:ln cap="flat" cmpd="sng" w="12700">
            <a:solidFill>
              <a:srgbClr val="DDE8E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4" name="Google Shape;1894;p47"/>
          <p:cNvSpPr/>
          <p:nvPr/>
        </p:nvSpPr>
        <p:spPr>
          <a:xfrm>
            <a:off x="365760" y="4087368"/>
            <a:ext cx="347400" cy="347400"/>
          </a:xfrm>
          <a:prstGeom prst="rect">
            <a:avLst/>
          </a:prstGeom>
          <a:solidFill>
            <a:srgbClr val="0096B4"/>
          </a:solidFill>
          <a:ln cap="flat" cmpd="sng" w="12700">
            <a:solidFill>
              <a:srgbClr val="0096B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5" name="Google Shape;1895;p47"/>
          <p:cNvSpPr/>
          <p:nvPr/>
        </p:nvSpPr>
        <p:spPr>
          <a:xfrm>
            <a:off x="365760" y="4087368"/>
            <a:ext cx="347400" cy="347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Calibri"/>
              <a:buNone/>
            </a:pPr>
            <a:r>
              <a:rPr b="1" i="0" lang="en" sz="1300" u="none" cap="none" strike="noStrike">
                <a:solidFill>
                  <a:srgbClr val="FFFFFF"/>
                </a:solidFill>
                <a:latin typeface="Calibri"/>
                <a:ea typeface="Calibri"/>
                <a:cs typeface="Calibri"/>
                <a:sym typeface="Calibri"/>
              </a:rPr>
              <a:t>C</a:t>
            </a:r>
            <a:endParaRPr b="0" i="0" sz="1300" u="none" cap="none" strike="noStrike">
              <a:solidFill>
                <a:srgbClr val="000000"/>
              </a:solidFill>
              <a:latin typeface="Calibri"/>
              <a:ea typeface="Calibri"/>
              <a:cs typeface="Calibri"/>
              <a:sym typeface="Calibri"/>
            </a:endParaRPr>
          </a:p>
        </p:txBody>
      </p:sp>
      <p:sp>
        <p:nvSpPr>
          <p:cNvPr id="1896" name="Google Shape;1896;p47"/>
          <p:cNvSpPr/>
          <p:nvPr/>
        </p:nvSpPr>
        <p:spPr>
          <a:xfrm>
            <a:off x="777240" y="4123944"/>
            <a:ext cx="78639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E3C"/>
              </a:buClr>
              <a:buSzPts val="1300"/>
              <a:buFont typeface="Calibri"/>
              <a:buNone/>
            </a:pPr>
            <a:r>
              <a:rPr b="0" i="0" lang="en" sz="1300" u="none" cap="none" strike="noStrike">
                <a:solidFill>
                  <a:srgbClr val="0F1E3C"/>
                </a:solidFill>
                <a:latin typeface="Calibri"/>
                <a:ea typeface="Calibri"/>
                <a:cs typeface="Calibri"/>
                <a:sym typeface="Calibri"/>
              </a:rPr>
              <a:t>PCA on one-hot vectors</a:t>
            </a:r>
            <a:endParaRPr b="0" i="0" sz="1300" u="none" cap="none" strike="noStrike">
              <a:solidFill>
                <a:srgbClr val="000000"/>
              </a:solidFill>
              <a:latin typeface="Calibri"/>
              <a:ea typeface="Calibri"/>
              <a:cs typeface="Calibri"/>
              <a:sym typeface="Calibri"/>
            </a:endParaRPr>
          </a:p>
        </p:txBody>
      </p:sp>
      <p:sp>
        <p:nvSpPr>
          <p:cNvPr id="1897" name="Google Shape;1897;p47"/>
          <p:cNvSpPr/>
          <p:nvPr/>
        </p:nvSpPr>
        <p:spPr>
          <a:xfrm>
            <a:off x="365760" y="4507992"/>
            <a:ext cx="8412600" cy="347400"/>
          </a:xfrm>
          <a:prstGeom prst="rect">
            <a:avLst/>
          </a:prstGeom>
          <a:solidFill>
            <a:srgbClr val="F5F7FA"/>
          </a:solidFill>
          <a:ln cap="flat" cmpd="sng" w="12700">
            <a:solidFill>
              <a:srgbClr val="DDE8E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8" name="Google Shape;1898;p47"/>
          <p:cNvSpPr/>
          <p:nvPr/>
        </p:nvSpPr>
        <p:spPr>
          <a:xfrm>
            <a:off x="365760" y="4507992"/>
            <a:ext cx="347400" cy="347400"/>
          </a:xfrm>
          <a:prstGeom prst="rect">
            <a:avLst/>
          </a:prstGeom>
          <a:solidFill>
            <a:srgbClr val="0096B4"/>
          </a:solidFill>
          <a:ln cap="flat" cmpd="sng" w="12700">
            <a:solidFill>
              <a:srgbClr val="0096B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9" name="Google Shape;1899;p47"/>
          <p:cNvSpPr/>
          <p:nvPr/>
        </p:nvSpPr>
        <p:spPr>
          <a:xfrm>
            <a:off x="365760" y="4507992"/>
            <a:ext cx="347400" cy="347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Calibri"/>
              <a:buNone/>
            </a:pPr>
            <a:r>
              <a:rPr b="1" i="0" lang="en" sz="1300" u="none" cap="none" strike="noStrike">
                <a:solidFill>
                  <a:srgbClr val="FFFFFF"/>
                </a:solidFill>
                <a:latin typeface="Calibri"/>
                <a:ea typeface="Calibri"/>
                <a:cs typeface="Calibri"/>
                <a:sym typeface="Calibri"/>
              </a:rPr>
              <a:t>D</a:t>
            </a:r>
            <a:endParaRPr b="0" i="0" sz="1300" u="none" cap="none" strike="noStrike">
              <a:solidFill>
                <a:srgbClr val="000000"/>
              </a:solidFill>
              <a:latin typeface="Calibri"/>
              <a:ea typeface="Calibri"/>
              <a:cs typeface="Calibri"/>
              <a:sym typeface="Calibri"/>
            </a:endParaRPr>
          </a:p>
        </p:txBody>
      </p:sp>
      <p:sp>
        <p:nvSpPr>
          <p:cNvPr id="1900" name="Google Shape;1900;p47"/>
          <p:cNvSpPr/>
          <p:nvPr/>
        </p:nvSpPr>
        <p:spPr>
          <a:xfrm>
            <a:off x="777240" y="4544568"/>
            <a:ext cx="78639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E3C"/>
              </a:buClr>
              <a:buSzPts val="1300"/>
              <a:buFont typeface="Calibri"/>
              <a:buNone/>
            </a:pPr>
            <a:r>
              <a:rPr b="0" i="0" lang="en" sz="1300" u="none" cap="none" strike="noStrike">
                <a:solidFill>
                  <a:srgbClr val="0F1E3C"/>
                </a:solidFill>
                <a:latin typeface="Calibri"/>
                <a:ea typeface="Calibri"/>
                <a:cs typeface="Calibri"/>
                <a:sym typeface="Calibri"/>
              </a:rPr>
              <a:t>None of the above</a:t>
            </a:r>
            <a:endParaRPr b="0" i="0" sz="1300" u="none" cap="none" strike="noStrike">
              <a:solidFill>
                <a:srgbClr val="000000"/>
              </a:solidFill>
              <a:latin typeface="Calibri"/>
              <a:ea typeface="Calibri"/>
              <a:cs typeface="Calibri"/>
              <a:sym typeface="Calibri"/>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4" name="Shape 1904"/>
        <p:cNvGrpSpPr/>
        <p:nvPr/>
      </p:nvGrpSpPr>
      <p:grpSpPr>
        <a:xfrm>
          <a:off x="0" y="0"/>
          <a:ext cx="0" cy="0"/>
          <a:chOff x="0" y="0"/>
          <a:chExt cx="0" cy="0"/>
        </a:xfrm>
      </p:grpSpPr>
      <p:sp>
        <p:nvSpPr>
          <p:cNvPr id="1905" name="Google Shape;1905;p48"/>
          <p:cNvSpPr/>
          <p:nvPr/>
        </p:nvSpPr>
        <p:spPr>
          <a:xfrm>
            <a:off x="0" y="0"/>
            <a:ext cx="9144000" cy="960000"/>
          </a:xfrm>
          <a:prstGeom prst="rect">
            <a:avLst/>
          </a:prstGeom>
          <a:solidFill>
            <a:srgbClr val="0F1E3C"/>
          </a:solidFill>
          <a:ln cap="flat" cmpd="sng" w="12700">
            <a:solidFill>
              <a:srgbClr val="0F1E3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6" name="Google Shape;1906;p48"/>
          <p:cNvSpPr/>
          <p:nvPr/>
        </p:nvSpPr>
        <p:spPr>
          <a:xfrm>
            <a:off x="365760" y="91440"/>
            <a:ext cx="8412600"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600"/>
              <a:buFont typeface="Calibri"/>
              <a:buNone/>
            </a:pPr>
            <a:r>
              <a:rPr b="1" i="0" lang="en" sz="2600" u="none" cap="none" strike="noStrike">
                <a:solidFill>
                  <a:srgbClr val="FFFFFF"/>
                </a:solidFill>
                <a:latin typeface="Calibri"/>
                <a:ea typeface="Calibri"/>
                <a:cs typeface="Calibri"/>
                <a:sym typeface="Calibri"/>
              </a:rPr>
              <a:t>Option A — One-Hot Vectors + Cosine Similarity</a:t>
            </a:r>
            <a:endParaRPr b="0" i="0" sz="2600" u="none" cap="none" strike="noStrike">
              <a:solidFill>
                <a:srgbClr val="000000"/>
              </a:solidFill>
              <a:latin typeface="Calibri"/>
              <a:ea typeface="Calibri"/>
              <a:cs typeface="Calibri"/>
              <a:sym typeface="Calibri"/>
            </a:endParaRPr>
          </a:p>
        </p:txBody>
      </p:sp>
      <p:sp>
        <p:nvSpPr>
          <p:cNvPr id="1907" name="Google Shape;1907;p48"/>
          <p:cNvSpPr/>
          <p:nvPr/>
        </p:nvSpPr>
        <p:spPr>
          <a:xfrm>
            <a:off x="365760" y="1078992"/>
            <a:ext cx="39318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B4D8"/>
              </a:buClr>
              <a:buSzPts val="1700"/>
              <a:buFont typeface="Calibri"/>
              <a:buNone/>
            </a:pPr>
            <a:r>
              <a:rPr b="1" i="0" lang="en" sz="1700" u="none" cap="none" strike="noStrike">
                <a:solidFill>
                  <a:srgbClr val="00B4D8"/>
                </a:solidFill>
                <a:latin typeface="Calibri"/>
                <a:ea typeface="Calibri"/>
                <a:cs typeface="Calibri"/>
                <a:sym typeface="Calibri"/>
              </a:rPr>
              <a:t>Representation</a:t>
            </a:r>
            <a:endParaRPr b="0" i="0" sz="1700" u="none" cap="none" strike="noStrike">
              <a:solidFill>
                <a:srgbClr val="000000"/>
              </a:solidFill>
              <a:latin typeface="Calibri"/>
              <a:ea typeface="Calibri"/>
              <a:cs typeface="Calibri"/>
              <a:sym typeface="Calibri"/>
            </a:endParaRPr>
          </a:p>
        </p:txBody>
      </p:sp>
      <p:sp>
        <p:nvSpPr>
          <p:cNvPr id="1908" name="Google Shape;1908;p48"/>
          <p:cNvSpPr/>
          <p:nvPr/>
        </p:nvSpPr>
        <p:spPr>
          <a:xfrm>
            <a:off x="365760" y="1508760"/>
            <a:ext cx="3840600" cy="530400"/>
          </a:xfrm>
          <a:prstGeom prst="rect">
            <a:avLst/>
          </a:prstGeom>
          <a:solidFill>
            <a:srgbClr val="EAF6FB"/>
          </a:solidFill>
          <a:ln cap="flat" cmpd="sng" w="1905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9" name="Google Shape;1909;p48"/>
          <p:cNvSpPr/>
          <p:nvPr/>
        </p:nvSpPr>
        <p:spPr>
          <a:xfrm>
            <a:off x="502920" y="1600200"/>
            <a:ext cx="3657600" cy="329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F1E3C"/>
              </a:buClr>
              <a:buSzPts val="1400"/>
              <a:buFont typeface="Calibri"/>
              <a:buNone/>
            </a:pPr>
            <a:r>
              <a:rPr b="1" i="0" lang="en" sz="1400" u="none" cap="none" strike="noStrike">
                <a:solidFill>
                  <a:srgbClr val="0F1E3C"/>
                </a:solidFill>
                <a:latin typeface="Calibri"/>
                <a:ea typeface="Calibri"/>
                <a:cs typeface="Calibri"/>
                <a:sym typeface="Calibri"/>
              </a:rPr>
              <a:t>car  </a:t>
            </a:r>
            <a:r>
              <a:rPr b="0" i="0" lang="en" sz="1400" u="none" cap="none" strike="noStrike">
                <a:solidFill>
                  <a:srgbClr val="8FA3B1"/>
                </a:solidFill>
                <a:latin typeface="Calibri"/>
                <a:ea typeface="Calibri"/>
                <a:cs typeface="Calibri"/>
                <a:sym typeface="Calibri"/>
              </a:rPr>
              <a:t>→  </a:t>
            </a:r>
            <a:r>
              <a:rPr b="0" i="0" lang="en" sz="1400" u="none" cap="none" strike="noStrike">
                <a:solidFill>
                  <a:srgbClr val="00B4D8"/>
                </a:solidFill>
                <a:latin typeface="Consolas"/>
                <a:ea typeface="Consolas"/>
                <a:cs typeface="Consolas"/>
                <a:sym typeface="Consolas"/>
              </a:rPr>
              <a:t>[1, 0, 0, 0, 0, ...]</a:t>
            </a:r>
            <a:endParaRPr b="0" i="0" sz="1400" u="none" cap="none" strike="noStrike">
              <a:solidFill>
                <a:srgbClr val="000000"/>
              </a:solidFill>
              <a:latin typeface="Calibri"/>
              <a:ea typeface="Calibri"/>
              <a:cs typeface="Calibri"/>
              <a:sym typeface="Calibri"/>
            </a:endParaRPr>
          </a:p>
        </p:txBody>
      </p:sp>
      <p:sp>
        <p:nvSpPr>
          <p:cNvPr id="1910" name="Google Shape;1910;p48"/>
          <p:cNvSpPr/>
          <p:nvPr/>
        </p:nvSpPr>
        <p:spPr>
          <a:xfrm>
            <a:off x="365760" y="2167128"/>
            <a:ext cx="3840600" cy="530400"/>
          </a:xfrm>
          <a:prstGeom prst="rect">
            <a:avLst/>
          </a:prstGeom>
          <a:solidFill>
            <a:srgbClr val="EAF6FB"/>
          </a:solidFill>
          <a:ln cap="flat" cmpd="sng" w="1905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1" name="Google Shape;1911;p48"/>
          <p:cNvSpPr/>
          <p:nvPr/>
        </p:nvSpPr>
        <p:spPr>
          <a:xfrm>
            <a:off x="502920" y="2258568"/>
            <a:ext cx="3657600" cy="329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F1E3C"/>
              </a:buClr>
              <a:buSzPts val="1400"/>
              <a:buFont typeface="Calibri"/>
              <a:buNone/>
            </a:pPr>
            <a:r>
              <a:rPr b="1" i="0" lang="en" sz="1400" u="none" cap="none" strike="noStrike">
                <a:solidFill>
                  <a:srgbClr val="0F1E3C"/>
                </a:solidFill>
                <a:latin typeface="Calibri"/>
                <a:ea typeface="Calibri"/>
                <a:cs typeface="Calibri"/>
                <a:sym typeface="Calibri"/>
              </a:rPr>
              <a:t>automobile  </a:t>
            </a:r>
            <a:r>
              <a:rPr b="0" i="0" lang="en" sz="1400" u="none" cap="none" strike="noStrike">
                <a:solidFill>
                  <a:srgbClr val="8FA3B1"/>
                </a:solidFill>
                <a:latin typeface="Calibri"/>
                <a:ea typeface="Calibri"/>
                <a:cs typeface="Calibri"/>
                <a:sym typeface="Calibri"/>
              </a:rPr>
              <a:t>→  </a:t>
            </a:r>
            <a:r>
              <a:rPr b="0" i="0" lang="en" sz="1400" u="none" cap="none" strike="noStrike">
                <a:solidFill>
                  <a:srgbClr val="00B4D8"/>
                </a:solidFill>
                <a:latin typeface="Consolas"/>
                <a:ea typeface="Consolas"/>
                <a:cs typeface="Consolas"/>
                <a:sym typeface="Consolas"/>
              </a:rPr>
              <a:t>[0, 1, 0, 0, 0, ...]</a:t>
            </a:r>
            <a:endParaRPr b="0" i="0" sz="1400" u="none" cap="none" strike="noStrike">
              <a:solidFill>
                <a:srgbClr val="000000"/>
              </a:solidFill>
              <a:latin typeface="Calibri"/>
              <a:ea typeface="Calibri"/>
              <a:cs typeface="Calibri"/>
              <a:sym typeface="Calibri"/>
            </a:endParaRPr>
          </a:p>
        </p:txBody>
      </p:sp>
      <p:sp>
        <p:nvSpPr>
          <p:cNvPr id="1912" name="Google Shape;1912;p48"/>
          <p:cNvSpPr/>
          <p:nvPr/>
        </p:nvSpPr>
        <p:spPr>
          <a:xfrm>
            <a:off x="365760" y="2825496"/>
            <a:ext cx="3840600" cy="530400"/>
          </a:xfrm>
          <a:prstGeom prst="rect">
            <a:avLst/>
          </a:prstGeom>
          <a:solidFill>
            <a:srgbClr val="FFF3F3"/>
          </a:solidFill>
          <a:ln cap="flat" cmpd="sng" w="19050">
            <a:solidFill>
              <a:srgbClr val="E6394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3" name="Google Shape;1913;p48"/>
          <p:cNvSpPr/>
          <p:nvPr/>
        </p:nvSpPr>
        <p:spPr>
          <a:xfrm>
            <a:off x="502920" y="2916936"/>
            <a:ext cx="3657600" cy="329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F1E3C"/>
              </a:buClr>
              <a:buSzPts val="1400"/>
              <a:buFont typeface="Calibri"/>
              <a:buNone/>
            </a:pPr>
            <a:r>
              <a:rPr b="1" i="0" lang="en" sz="1400" u="none" cap="none" strike="noStrike">
                <a:solidFill>
                  <a:srgbClr val="0F1E3C"/>
                </a:solidFill>
                <a:latin typeface="Calibri"/>
                <a:ea typeface="Calibri"/>
                <a:cs typeface="Calibri"/>
                <a:sym typeface="Calibri"/>
              </a:rPr>
              <a:t>banana  </a:t>
            </a:r>
            <a:r>
              <a:rPr b="0" i="0" lang="en" sz="1400" u="none" cap="none" strike="noStrike">
                <a:solidFill>
                  <a:srgbClr val="8FA3B1"/>
                </a:solidFill>
                <a:latin typeface="Calibri"/>
                <a:ea typeface="Calibri"/>
                <a:cs typeface="Calibri"/>
                <a:sym typeface="Calibri"/>
              </a:rPr>
              <a:t>→  </a:t>
            </a:r>
            <a:r>
              <a:rPr b="0" i="0" lang="en" sz="1400" u="none" cap="none" strike="noStrike">
                <a:solidFill>
                  <a:srgbClr val="E63946"/>
                </a:solidFill>
                <a:latin typeface="Consolas"/>
                <a:ea typeface="Consolas"/>
                <a:cs typeface="Consolas"/>
                <a:sym typeface="Consolas"/>
              </a:rPr>
              <a:t>[0, 0, 1, 0, 0, ...]</a:t>
            </a:r>
            <a:endParaRPr b="0" i="0" sz="1400" u="none" cap="none" strike="noStrike">
              <a:solidFill>
                <a:srgbClr val="000000"/>
              </a:solidFill>
              <a:latin typeface="Calibri"/>
              <a:ea typeface="Calibri"/>
              <a:cs typeface="Calibri"/>
              <a:sym typeface="Calibri"/>
            </a:endParaRPr>
          </a:p>
        </p:txBody>
      </p:sp>
      <p:sp>
        <p:nvSpPr>
          <p:cNvPr id="1914" name="Google Shape;1914;p48"/>
          <p:cNvSpPr/>
          <p:nvPr/>
        </p:nvSpPr>
        <p:spPr>
          <a:xfrm>
            <a:off x="4754880" y="1078992"/>
            <a:ext cx="40233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63946"/>
              </a:buClr>
              <a:buSzPts val="1700"/>
              <a:buFont typeface="Calibri"/>
              <a:buNone/>
            </a:pPr>
            <a:r>
              <a:rPr b="1" i="0" lang="en" sz="1700" u="none" cap="none" strike="noStrike">
                <a:solidFill>
                  <a:srgbClr val="E63946"/>
                </a:solidFill>
                <a:latin typeface="Calibri"/>
                <a:ea typeface="Calibri"/>
                <a:cs typeface="Calibri"/>
                <a:sym typeface="Calibri"/>
              </a:rPr>
              <a:t>What Goes Wrong?</a:t>
            </a:r>
            <a:endParaRPr b="0" i="0" sz="1700" u="none" cap="none" strike="noStrike">
              <a:solidFill>
                <a:srgbClr val="000000"/>
              </a:solidFill>
              <a:latin typeface="Calibri"/>
              <a:ea typeface="Calibri"/>
              <a:cs typeface="Calibri"/>
              <a:sym typeface="Calibri"/>
            </a:endParaRPr>
          </a:p>
        </p:txBody>
      </p:sp>
      <p:sp>
        <p:nvSpPr>
          <p:cNvPr id="1915" name="Google Shape;1915;p48"/>
          <p:cNvSpPr/>
          <p:nvPr/>
        </p:nvSpPr>
        <p:spPr>
          <a:xfrm>
            <a:off x="4754880" y="1508760"/>
            <a:ext cx="4023300" cy="1097400"/>
          </a:xfrm>
          <a:prstGeom prst="rect">
            <a:avLst/>
          </a:prstGeom>
          <a:solidFill>
            <a:srgbClr val="FFF3F3"/>
          </a:solidFill>
          <a:ln cap="flat" cmpd="sng" w="19050">
            <a:solidFill>
              <a:srgbClr val="E63946"/>
            </a:solidFill>
            <a:prstDash val="solid"/>
            <a:round/>
            <a:headEnd len="sm" w="sm" type="none"/>
            <a:tailEnd len="sm" w="sm" type="none"/>
          </a:ln>
          <a:effectLst>
            <a:outerShdw blurRad="101600" rotWithShape="0" algn="bl" dir="8100000" dist="38100">
              <a:srgbClr val="000000">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6" name="Google Shape;1916;p48"/>
          <p:cNvSpPr/>
          <p:nvPr/>
        </p:nvSpPr>
        <p:spPr>
          <a:xfrm>
            <a:off x="4892040" y="1600200"/>
            <a:ext cx="3749100" cy="8688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F1E3C"/>
              </a:buClr>
              <a:buSzPts val="1400"/>
              <a:buFont typeface="Consolas"/>
              <a:buNone/>
            </a:pPr>
            <a:r>
              <a:rPr b="0" i="0" lang="en" sz="1400" u="none" cap="none" strike="noStrike">
                <a:solidFill>
                  <a:srgbClr val="0F1E3C"/>
                </a:solidFill>
                <a:latin typeface="Consolas"/>
                <a:ea typeface="Consolas"/>
                <a:cs typeface="Consolas"/>
                <a:sym typeface="Consolas"/>
              </a:rPr>
              <a:t>cos(car, automobile)  =  </a:t>
            </a:r>
            <a:r>
              <a:rPr b="1" i="0" lang="en" sz="2200" u="none" cap="none" strike="noStrike">
                <a:solidFill>
                  <a:srgbClr val="E63946"/>
                </a:solidFill>
                <a:latin typeface="Consolas"/>
                <a:ea typeface="Consolas"/>
                <a:cs typeface="Consolas"/>
                <a:sym typeface="Consolas"/>
              </a:rPr>
              <a:t>0</a:t>
            </a:r>
            <a:endParaRPr b="0" i="0" sz="1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F1E3C"/>
              </a:buClr>
              <a:buSzPts val="1400"/>
              <a:buFont typeface="Consolas"/>
              <a:buNone/>
            </a:pPr>
            <a:r>
              <a:rPr b="0" i="0" lang="en" sz="1400" u="none" cap="none" strike="noStrike">
                <a:solidFill>
                  <a:srgbClr val="0F1E3C"/>
                </a:solidFill>
                <a:latin typeface="Consolas"/>
                <a:ea typeface="Consolas"/>
                <a:cs typeface="Consolas"/>
                <a:sym typeface="Consolas"/>
              </a:rPr>
              <a:t>cos(car, banana)  =  </a:t>
            </a:r>
            <a:endParaRPr b="0" i="0" sz="1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E63946"/>
              </a:buClr>
              <a:buSzPts val="2200"/>
              <a:buFont typeface="Consolas"/>
              <a:buNone/>
            </a:pPr>
            <a:r>
              <a:rPr b="1" i="0" lang="en" sz="2200" u="none" cap="none" strike="noStrike">
                <a:solidFill>
                  <a:srgbClr val="E63946"/>
                </a:solidFill>
                <a:latin typeface="Consolas"/>
                <a:ea typeface="Consolas"/>
                <a:cs typeface="Consolas"/>
                <a:sym typeface="Consolas"/>
              </a:rPr>
              <a:t>0</a:t>
            </a:r>
            <a:endParaRPr b="0" i="0" sz="1400" u="none" cap="none" strike="noStrike">
              <a:solidFill>
                <a:srgbClr val="000000"/>
              </a:solidFill>
              <a:latin typeface="Calibri"/>
              <a:ea typeface="Calibri"/>
              <a:cs typeface="Calibri"/>
              <a:sym typeface="Calibri"/>
            </a:endParaRPr>
          </a:p>
        </p:txBody>
      </p:sp>
      <p:sp>
        <p:nvSpPr>
          <p:cNvPr id="1917" name="Google Shape;1917;p48"/>
          <p:cNvSpPr/>
          <p:nvPr/>
        </p:nvSpPr>
        <p:spPr>
          <a:xfrm>
            <a:off x="4754880" y="2743200"/>
            <a:ext cx="4023300" cy="1005900"/>
          </a:xfrm>
          <a:prstGeom prst="rect">
            <a:avLst/>
          </a:prstGeom>
          <a:solidFill>
            <a:srgbClr val="0F1E3C"/>
          </a:solidFill>
          <a:ln cap="flat" cmpd="sng" w="12700">
            <a:solidFill>
              <a:srgbClr val="0F1E3C"/>
            </a:solidFill>
            <a:prstDash val="solid"/>
            <a:round/>
            <a:headEnd len="sm" w="sm" type="none"/>
            <a:tailEnd len="sm" w="sm" type="none"/>
          </a:ln>
          <a:effectLst>
            <a:outerShdw blurRad="101600" rotWithShape="0" algn="bl" dir="8100000" dist="38100">
              <a:srgbClr val="000000">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8" name="Google Shape;1918;p48"/>
          <p:cNvSpPr/>
          <p:nvPr/>
        </p:nvSpPr>
        <p:spPr>
          <a:xfrm>
            <a:off x="4892040" y="2816352"/>
            <a:ext cx="3749100" cy="859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63946"/>
              </a:buClr>
              <a:buSzPts val="1300"/>
              <a:buFont typeface="Calibri"/>
              <a:buNone/>
            </a:pPr>
            <a:r>
              <a:rPr b="1" i="0" lang="en" sz="1300" u="none" cap="none" strike="noStrike">
                <a:solidFill>
                  <a:srgbClr val="E63946"/>
                </a:solidFill>
                <a:latin typeface="Calibri"/>
                <a:ea typeface="Calibri"/>
                <a:cs typeface="Calibri"/>
                <a:sym typeface="Calibri"/>
              </a:rPr>
              <a:t>❌  Verdict</a:t>
            </a:r>
            <a:br>
              <a:rPr b="1" i="0" lang="en" sz="1300" u="none" cap="none" strike="noStrike">
                <a:solidFill>
                  <a:srgbClr val="E63946"/>
                </a:solidFill>
                <a:latin typeface="Calibri"/>
                <a:ea typeface="Calibri"/>
                <a:cs typeface="Calibri"/>
                <a:sym typeface="Calibri"/>
              </a:rPr>
            </a:br>
            <a:endParaRPr b="0" i="0" sz="13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E8F4F8"/>
              </a:buClr>
              <a:buSzPts val="1300"/>
              <a:buFont typeface="Calibri"/>
              <a:buNone/>
            </a:pPr>
            <a:r>
              <a:rPr b="0" i="0" lang="en" sz="1300" u="none" cap="none" strike="noStrike">
                <a:solidFill>
                  <a:srgbClr val="E8F4F8"/>
                </a:solidFill>
                <a:latin typeface="Calibri"/>
                <a:ea typeface="Calibri"/>
                <a:cs typeface="Calibri"/>
                <a:sym typeface="Calibri"/>
              </a:rPr>
              <a:t>"car" and "automobile" are no closer than "car" and "banana". Click behavior is completely ignored.</a:t>
            </a:r>
            <a:endParaRPr b="0" i="0" sz="1300" u="none" cap="none" strike="noStrike">
              <a:solidFill>
                <a:srgbClr val="000000"/>
              </a:solidFill>
              <a:latin typeface="Calibri"/>
              <a:ea typeface="Calibri"/>
              <a:cs typeface="Calibri"/>
              <a:sym typeface="Calibri"/>
            </a:endParaRPr>
          </a:p>
        </p:txBody>
      </p:sp>
      <p:sp>
        <p:nvSpPr>
          <p:cNvPr id="1919" name="Google Shape;1919;p48"/>
          <p:cNvSpPr/>
          <p:nvPr/>
        </p:nvSpPr>
        <p:spPr>
          <a:xfrm>
            <a:off x="365760" y="4480560"/>
            <a:ext cx="8412600" cy="292500"/>
          </a:xfrm>
          <a:prstGeom prst="rect">
            <a:avLst/>
          </a:prstGeom>
          <a:solidFill>
            <a:srgbClr val="FFF3F3"/>
          </a:solidFill>
          <a:ln cap="flat" cmpd="sng" w="12700">
            <a:solidFill>
              <a:srgbClr val="E6394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0" name="Google Shape;1920;p48"/>
          <p:cNvSpPr/>
          <p:nvPr/>
        </p:nvSpPr>
        <p:spPr>
          <a:xfrm>
            <a:off x="548640" y="4517136"/>
            <a:ext cx="36576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63946"/>
              </a:buClr>
              <a:buSzPts val="1300"/>
              <a:buFont typeface="Calibri"/>
              <a:buNone/>
            </a:pPr>
            <a:r>
              <a:rPr b="1" i="0" lang="en" sz="1300" u="none" cap="none" strike="noStrike">
                <a:solidFill>
                  <a:srgbClr val="E63946"/>
                </a:solidFill>
                <a:latin typeface="Calibri"/>
                <a:ea typeface="Calibri"/>
                <a:cs typeface="Calibri"/>
                <a:sym typeface="Calibri"/>
              </a:rPr>
              <a:t>Answer A is ❌ Wrong</a:t>
            </a:r>
            <a:endParaRPr b="0" i="0" sz="1300" u="none" cap="none" strike="noStrike">
              <a:solidFill>
                <a:srgbClr val="000000"/>
              </a:solidFill>
              <a:latin typeface="Calibri"/>
              <a:ea typeface="Calibri"/>
              <a:cs typeface="Calibri"/>
              <a:sym typeface="Calibri"/>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25" name="Shape 1925"/>
        <p:cNvGrpSpPr/>
        <p:nvPr/>
      </p:nvGrpSpPr>
      <p:grpSpPr>
        <a:xfrm>
          <a:off x="0" y="0"/>
          <a:ext cx="0" cy="0"/>
          <a:chOff x="0" y="0"/>
          <a:chExt cx="0" cy="0"/>
        </a:xfrm>
      </p:grpSpPr>
      <p:sp>
        <p:nvSpPr>
          <p:cNvPr id="1926" name="Google Shape;1926;g3f6a040a5a3_1_132"/>
          <p:cNvSpPr/>
          <p:nvPr/>
        </p:nvSpPr>
        <p:spPr>
          <a:xfrm>
            <a:off x="411480" y="240030"/>
            <a:ext cx="8298300" cy="41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1295C"/>
              </a:buClr>
              <a:buSzPts val="2300"/>
              <a:buFont typeface="Cambria"/>
              <a:buNone/>
            </a:pPr>
            <a:r>
              <a:rPr b="1" i="0" lang="en" sz="2300" u="none" cap="none" strike="noStrike">
                <a:solidFill>
                  <a:srgbClr val="21295C"/>
                </a:solidFill>
                <a:latin typeface="Cambria"/>
                <a:ea typeface="Cambria"/>
                <a:cs typeface="Cambria"/>
                <a:sym typeface="Cambria"/>
              </a:rPr>
              <a:t>PCA Doesn't Discover Meaning</a:t>
            </a:r>
            <a:endParaRPr b="0" i="0" sz="2300" u="none" cap="none" strike="noStrike">
              <a:solidFill>
                <a:schemeClr val="dk1"/>
              </a:solidFill>
              <a:latin typeface="Calibri"/>
              <a:ea typeface="Calibri"/>
              <a:cs typeface="Calibri"/>
              <a:sym typeface="Calibri"/>
            </a:endParaRPr>
          </a:p>
        </p:txBody>
      </p:sp>
      <p:sp>
        <p:nvSpPr>
          <p:cNvPr id="1927" name="Google Shape;1927;g3f6a040a5a3_1_132"/>
          <p:cNvSpPr/>
          <p:nvPr/>
        </p:nvSpPr>
        <p:spPr>
          <a:xfrm>
            <a:off x="411480" y="651510"/>
            <a:ext cx="8298300" cy="24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472"/>
              </a:buClr>
              <a:buSzPts val="1100"/>
              <a:buFont typeface="Calibri"/>
              <a:buNone/>
            </a:pPr>
            <a:r>
              <a:rPr b="0" i="1" lang="en" sz="1100" u="none" cap="none" strike="noStrike">
                <a:solidFill>
                  <a:srgbClr val="5B6472"/>
                </a:solidFill>
                <a:latin typeface="Calibri"/>
                <a:ea typeface="Calibri"/>
                <a:cs typeface="Calibri"/>
                <a:sym typeface="Calibri"/>
              </a:rPr>
              <a:t>It only reflects the structure that's already in the data</a:t>
            </a:r>
            <a:endParaRPr b="0" i="0" sz="1100" u="none" cap="none" strike="noStrike">
              <a:solidFill>
                <a:schemeClr val="dk1"/>
              </a:solidFill>
              <a:latin typeface="Calibri"/>
              <a:ea typeface="Calibri"/>
              <a:cs typeface="Calibri"/>
              <a:sym typeface="Calibri"/>
            </a:endParaRPr>
          </a:p>
        </p:txBody>
      </p:sp>
      <p:sp>
        <p:nvSpPr>
          <p:cNvPr id="1928" name="Google Shape;1928;g3f6a040a5a3_1_132"/>
          <p:cNvSpPr/>
          <p:nvPr/>
        </p:nvSpPr>
        <p:spPr>
          <a:xfrm>
            <a:off x="411480" y="891540"/>
            <a:ext cx="4011900" cy="3360300"/>
          </a:xfrm>
          <a:prstGeom prst="roundRect">
            <a:avLst>
              <a:gd fmla="val 2449" name="adj"/>
            </a:avLst>
          </a:prstGeom>
          <a:solidFill>
            <a:srgbClr val="F9FAFB"/>
          </a:solidFill>
          <a:ln>
            <a:noFill/>
          </a:ln>
          <a:effectLst>
            <a:outerShdw blurRad="76200" rotWithShape="0" algn="bl" dir="5400000" dist="28575">
              <a:srgbClr val="BFC9D6">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9" name="Google Shape;1929;g3f6a040a5a3_1_132"/>
          <p:cNvSpPr/>
          <p:nvPr/>
        </p:nvSpPr>
        <p:spPr>
          <a:xfrm>
            <a:off x="411480" y="891540"/>
            <a:ext cx="4011900" cy="445800"/>
          </a:xfrm>
          <a:prstGeom prst="roundRect">
            <a:avLst>
              <a:gd fmla="val 18462" name="adj"/>
            </a:avLst>
          </a:prstGeom>
          <a:solidFill>
            <a:srgbClr val="AEB8C4"/>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0" name="Google Shape;1930;g3f6a040a5a3_1_132"/>
          <p:cNvSpPr/>
          <p:nvPr/>
        </p:nvSpPr>
        <p:spPr>
          <a:xfrm>
            <a:off x="411480" y="1110996"/>
            <a:ext cx="4011900" cy="226200"/>
          </a:xfrm>
          <a:prstGeom prst="rect">
            <a:avLst/>
          </a:prstGeom>
          <a:solidFill>
            <a:srgbClr val="AEB8C4"/>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1" name="Google Shape;1931;g3f6a040a5a3_1_132"/>
          <p:cNvSpPr/>
          <p:nvPr/>
        </p:nvSpPr>
        <p:spPr>
          <a:xfrm>
            <a:off x="617220" y="891540"/>
            <a:ext cx="3600600" cy="44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One-Hot Input  →  PCA Output</a:t>
            </a:r>
            <a:endParaRPr b="0" i="0" sz="1200" u="none" cap="none" strike="noStrike">
              <a:solidFill>
                <a:schemeClr val="dk1"/>
              </a:solidFill>
              <a:latin typeface="Calibri"/>
              <a:ea typeface="Calibri"/>
              <a:cs typeface="Calibri"/>
              <a:sym typeface="Calibri"/>
            </a:endParaRPr>
          </a:p>
        </p:txBody>
      </p:sp>
      <p:cxnSp>
        <p:nvCxnSpPr>
          <p:cNvPr id="1932" name="Google Shape;1932;g3f6a040a5a3_1_132"/>
          <p:cNvCxnSpPr/>
          <p:nvPr/>
        </p:nvCxnSpPr>
        <p:spPr>
          <a:xfrm>
            <a:off x="2417445" y="1885950"/>
            <a:ext cx="594000" cy="342900"/>
          </a:xfrm>
          <a:prstGeom prst="straightConnector1">
            <a:avLst/>
          </a:prstGeom>
          <a:noFill/>
          <a:ln cap="flat" cmpd="sng" w="9525">
            <a:solidFill>
              <a:srgbClr val="E3E8ED"/>
            </a:solidFill>
            <a:prstDash val="solid"/>
            <a:round/>
            <a:headEnd len="sm" w="sm" type="none"/>
            <a:tailEnd len="sm" w="sm" type="none"/>
          </a:ln>
        </p:spPr>
      </p:cxnSp>
      <p:cxnSp>
        <p:nvCxnSpPr>
          <p:cNvPr id="1933" name="Google Shape;1933;g3f6a040a5a3_1_132"/>
          <p:cNvCxnSpPr/>
          <p:nvPr/>
        </p:nvCxnSpPr>
        <p:spPr>
          <a:xfrm>
            <a:off x="2417445" y="1885950"/>
            <a:ext cx="594000" cy="1028700"/>
          </a:xfrm>
          <a:prstGeom prst="straightConnector1">
            <a:avLst/>
          </a:prstGeom>
          <a:noFill/>
          <a:ln cap="flat" cmpd="sng" w="9525">
            <a:solidFill>
              <a:srgbClr val="E3E8ED"/>
            </a:solidFill>
            <a:prstDash val="solid"/>
            <a:round/>
            <a:headEnd len="sm" w="sm" type="none"/>
            <a:tailEnd len="sm" w="sm" type="none"/>
          </a:ln>
        </p:spPr>
      </p:cxnSp>
      <p:cxnSp>
        <p:nvCxnSpPr>
          <p:cNvPr id="1934" name="Google Shape;1934;g3f6a040a5a3_1_132"/>
          <p:cNvCxnSpPr/>
          <p:nvPr/>
        </p:nvCxnSpPr>
        <p:spPr>
          <a:xfrm>
            <a:off x="2417445" y="1885950"/>
            <a:ext cx="0" cy="1371600"/>
          </a:xfrm>
          <a:prstGeom prst="straightConnector1">
            <a:avLst/>
          </a:prstGeom>
          <a:noFill/>
          <a:ln cap="flat" cmpd="sng" w="9525">
            <a:solidFill>
              <a:srgbClr val="E3E8ED"/>
            </a:solidFill>
            <a:prstDash val="solid"/>
            <a:round/>
            <a:headEnd len="sm" w="sm" type="none"/>
            <a:tailEnd len="sm" w="sm" type="none"/>
          </a:ln>
        </p:spPr>
      </p:cxnSp>
      <p:cxnSp>
        <p:nvCxnSpPr>
          <p:cNvPr id="1935" name="Google Shape;1935;g3f6a040a5a3_1_132"/>
          <p:cNvCxnSpPr/>
          <p:nvPr/>
        </p:nvCxnSpPr>
        <p:spPr>
          <a:xfrm flipH="1">
            <a:off x="1823445" y="1885950"/>
            <a:ext cx="594000" cy="1028700"/>
          </a:xfrm>
          <a:prstGeom prst="straightConnector1">
            <a:avLst/>
          </a:prstGeom>
          <a:noFill/>
          <a:ln cap="flat" cmpd="sng" w="9525">
            <a:solidFill>
              <a:srgbClr val="E3E8ED"/>
            </a:solidFill>
            <a:prstDash val="solid"/>
            <a:round/>
            <a:headEnd len="sm" w="sm" type="none"/>
            <a:tailEnd len="sm" w="sm" type="none"/>
          </a:ln>
        </p:spPr>
      </p:cxnSp>
      <p:cxnSp>
        <p:nvCxnSpPr>
          <p:cNvPr id="1936" name="Google Shape;1936;g3f6a040a5a3_1_132"/>
          <p:cNvCxnSpPr/>
          <p:nvPr/>
        </p:nvCxnSpPr>
        <p:spPr>
          <a:xfrm flipH="1">
            <a:off x="1823445" y="1885950"/>
            <a:ext cx="594000" cy="342900"/>
          </a:xfrm>
          <a:prstGeom prst="straightConnector1">
            <a:avLst/>
          </a:prstGeom>
          <a:noFill/>
          <a:ln cap="flat" cmpd="sng" w="9525">
            <a:solidFill>
              <a:srgbClr val="E3E8ED"/>
            </a:solidFill>
            <a:prstDash val="solid"/>
            <a:round/>
            <a:headEnd len="sm" w="sm" type="none"/>
            <a:tailEnd len="sm" w="sm" type="none"/>
          </a:ln>
        </p:spPr>
      </p:cxnSp>
      <p:cxnSp>
        <p:nvCxnSpPr>
          <p:cNvPr id="1937" name="Google Shape;1937;g3f6a040a5a3_1_132"/>
          <p:cNvCxnSpPr/>
          <p:nvPr/>
        </p:nvCxnSpPr>
        <p:spPr>
          <a:xfrm>
            <a:off x="3011366" y="2228850"/>
            <a:ext cx="0" cy="685800"/>
          </a:xfrm>
          <a:prstGeom prst="straightConnector1">
            <a:avLst/>
          </a:prstGeom>
          <a:noFill/>
          <a:ln cap="flat" cmpd="sng" w="9525">
            <a:solidFill>
              <a:srgbClr val="E3E8ED"/>
            </a:solidFill>
            <a:prstDash val="solid"/>
            <a:round/>
            <a:headEnd len="sm" w="sm" type="none"/>
            <a:tailEnd len="sm" w="sm" type="none"/>
          </a:ln>
        </p:spPr>
      </p:cxnSp>
      <p:cxnSp>
        <p:nvCxnSpPr>
          <p:cNvPr id="1938" name="Google Shape;1938;g3f6a040a5a3_1_132"/>
          <p:cNvCxnSpPr/>
          <p:nvPr/>
        </p:nvCxnSpPr>
        <p:spPr>
          <a:xfrm flipH="1">
            <a:off x="2417366" y="2228850"/>
            <a:ext cx="594000" cy="1028700"/>
          </a:xfrm>
          <a:prstGeom prst="straightConnector1">
            <a:avLst/>
          </a:prstGeom>
          <a:noFill/>
          <a:ln cap="flat" cmpd="sng" w="9525">
            <a:solidFill>
              <a:srgbClr val="E3E8ED"/>
            </a:solidFill>
            <a:prstDash val="solid"/>
            <a:round/>
            <a:headEnd len="sm" w="sm" type="none"/>
            <a:tailEnd len="sm" w="sm" type="none"/>
          </a:ln>
        </p:spPr>
      </p:cxnSp>
      <p:cxnSp>
        <p:nvCxnSpPr>
          <p:cNvPr id="1939" name="Google Shape;1939;g3f6a040a5a3_1_132"/>
          <p:cNvCxnSpPr/>
          <p:nvPr/>
        </p:nvCxnSpPr>
        <p:spPr>
          <a:xfrm flipH="1">
            <a:off x="1823665" y="2228850"/>
            <a:ext cx="1187700" cy="685800"/>
          </a:xfrm>
          <a:prstGeom prst="straightConnector1">
            <a:avLst/>
          </a:prstGeom>
          <a:noFill/>
          <a:ln cap="flat" cmpd="sng" w="9525">
            <a:solidFill>
              <a:srgbClr val="E3E8ED"/>
            </a:solidFill>
            <a:prstDash val="solid"/>
            <a:round/>
            <a:headEnd len="sm" w="sm" type="none"/>
            <a:tailEnd len="sm" w="sm" type="none"/>
          </a:ln>
        </p:spPr>
      </p:cxnSp>
      <p:cxnSp>
        <p:nvCxnSpPr>
          <p:cNvPr id="1940" name="Google Shape;1940;g3f6a040a5a3_1_132"/>
          <p:cNvCxnSpPr/>
          <p:nvPr/>
        </p:nvCxnSpPr>
        <p:spPr>
          <a:xfrm rot="10800000">
            <a:off x="1823665" y="2228850"/>
            <a:ext cx="1187700" cy="0"/>
          </a:xfrm>
          <a:prstGeom prst="straightConnector1">
            <a:avLst/>
          </a:prstGeom>
          <a:noFill/>
          <a:ln cap="flat" cmpd="sng" w="9525">
            <a:solidFill>
              <a:srgbClr val="E3E8ED"/>
            </a:solidFill>
            <a:prstDash val="solid"/>
            <a:round/>
            <a:headEnd len="sm" w="sm" type="none"/>
            <a:tailEnd len="sm" w="sm" type="none"/>
          </a:ln>
        </p:spPr>
      </p:cxnSp>
      <p:cxnSp>
        <p:nvCxnSpPr>
          <p:cNvPr id="1941" name="Google Shape;1941;g3f6a040a5a3_1_132"/>
          <p:cNvCxnSpPr/>
          <p:nvPr/>
        </p:nvCxnSpPr>
        <p:spPr>
          <a:xfrm flipH="1">
            <a:off x="2417366" y="2914650"/>
            <a:ext cx="594000" cy="342900"/>
          </a:xfrm>
          <a:prstGeom prst="straightConnector1">
            <a:avLst/>
          </a:prstGeom>
          <a:noFill/>
          <a:ln cap="flat" cmpd="sng" w="9525">
            <a:solidFill>
              <a:srgbClr val="E3E8ED"/>
            </a:solidFill>
            <a:prstDash val="solid"/>
            <a:round/>
            <a:headEnd len="sm" w="sm" type="none"/>
            <a:tailEnd len="sm" w="sm" type="none"/>
          </a:ln>
        </p:spPr>
      </p:cxnSp>
      <p:cxnSp>
        <p:nvCxnSpPr>
          <p:cNvPr id="1942" name="Google Shape;1942;g3f6a040a5a3_1_132"/>
          <p:cNvCxnSpPr/>
          <p:nvPr/>
        </p:nvCxnSpPr>
        <p:spPr>
          <a:xfrm rot="10800000">
            <a:off x="1823665" y="2914650"/>
            <a:ext cx="1187700" cy="0"/>
          </a:xfrm>
          <a:prstGeom prst="straightConnector1">
            <a:avLst/>
          </a:prstGeom>
          <a:noFill/>
          <a:ln cap="flat" cmpd="sng" w="9525">
            <a:solidFill>
              <a:srgbClr val="E3E8ED"/>
            </a:solidFill>
            <a:prstDash val="solid"/>
            <a:round/>
            <a:headEnd len="sm" w="sm" type="none"/>
            <a:tailEnd len="sm" w="sm" type="none"/>
          </a:ln>
        </p:spPr>
      </p:cxnSp>
      <p:cxnSp>
        <p:nvCxnSpPr>
          <p:cNvPr id="1943" name="Google Shape;1943;g3f6a040a5a3_1_132"/>
          <p:cNvCxnSpPr/>
          <p:nvPr/>
        </p:nvCxnSpPr>
        <p:spPr>
          <a:xfrm rot="10800000">
            <a:off x="1823665" y="2228850"/>
            <a:ext cx="1187700" cy="685800"/>
          </a:xfrm>
          <a:prstGeom prst="straightConnector1">
            <a:avLst/>
          </a:prstGeom>
          <a:noFill/>
          <a:ln cap="flat" cmpd="sng" w="9525">
            <a:solidFill>
              <a:srgbClr val="E3E8ED"/>
            </a:solidFill>
            <a:prstDash val="solid"/>
            <a:round/>
            <a:headEnd len="sm" w="sm" type="none"/>
            <a:tailEnd len="sm" w="sm" type="none"/>
          </a:ln>
        </p:spPr>
      </p:cxnSp>
      <p:cxnSp>
        <p:nvCxnSpPr>
          <p:cNvPr id="1944" name="Google Shape;1944;g3f6a040a5a3_1_132"/>
          <p:cNvCxnSpPr/>
          <p:nvPr/>
        </p:nvCxnSpPr>
        <p:spPr>
          <a:xfrm rot="10800000">
            <a:off x="1823445" y="2914650"/>
            <a:ext cx="594000" cy="342900"/>
          </a:xfrm>
          <a:prstGeom prst="straightConnector1">
            <a:avLst/>
          </a:prstGeom>
          <a:noFill/>
          <a:ln cap="flat" cmpd="sng" w="9525">
            <a:solidFill>
              <a:srgbClr val="E3E8ED"/>
            </a:solidFill>
            <a:prstDash val="solid"/>
            <a:round/>
            <a:headEnd len="sm" w="sm" type="none"/>
            <a:tailEnd len="sm" w="sm" type="none"/>
          </a:ln>
        </p:spPr>
      </p:cxnSp>
      <p:cxnSp>
        <p:nvCxnSpPr>
          <p:cNvPr id="1945" name="Google Shape;1945;g3f6a040a5a3_1_132"/>
          <p:cNvCxnSpPr/>
          <p:nvPr/>
        </p:nvCxnSpPr>
        <p:spPr>
          <a:xfrm rot="10800000">
            <a:off x="1823445" y="2228850"/>
            <a:ext cx="594000" cy="1028700"/>
          </a:xfrm>
          <a:prstGeom prst="straightConnector1">
            <a:avLst/>
          </a:prstGeom>
          <a:noFill/>
          <a:ln cap="flat" cmpd="sng" w="9525">
            <a:solidFill>
              <a:srgbClr val="E3E8ED"/>
            </a:solidFill>
            <a:prstDash val="solid"/>
            <a:round/>
            <a:headEnd len="sm" w="sm" type="none"/>
            <a:tailEnd len="sm" w="sm" type="none"/>
          </a:ln>
        </p:spPr>
      </p:cxnSp>
      <p:cxnSp>
        <p:nvCxnSpPr>
          <p:cNvPr id="1946" name="Google Shape;1946;g3f6a040a5a3_1_132"/>
          <p:cNvCxnSpPr/>
          <p:nvPr/>
        </p:nvCxnSpPr>
        <p:spPr>
          <a:xfrm rot="10800000">
            <a:off x="1823525" y="2228850"/>
            <a:ext cx="0" cy="685800"/>
          </a:xfrm>
          <a:prstGeom prst="straightConnector1">
            <a:avLst/>
          </a:prstGeom>
          <a:noFill/>
          <a:ln cap="flat" cmpd="sng" w="9525">
            <a:solidFill>
              <a:srgbClr val="E3E8ED"/>
            </a:solidFill>
            <a:prstDash val="solid"/>
            <a:round/>
            <a:headEnd len="sm" w="sm" type="none"/>
            <a:tailEnd len="sm" w="sm" type="none"/>
          </a:ln>
        </p:spPr>
      </p:cxnSp>
      <p:sp>
        <p:nvSpPr>
          <p:cNvPr id="1947" name="Google Shape;1947;g3f6a040a5a3_1_132"/>
          <p:cNvSpPr/>
          <p:nvPr/>
        </p:nvSpPr>
        <p:spPr>
          <a:xfrm>
            <a:off x="2280285" y="1748790"/>
            <a:ext cx="274200" cy="274200"/>
          </a:xfrm>
          <a:prstGeom prst="ellipse">
            <a:avLst/>
          </a:prstGeom>
          <a:solidFill>
            <a:srgbClr val="8A97A6"/>
          </a:solidFill>
          <a:ln>
            <a:noFill/>
          </a:ln>
          <a:effectLst>
            <a:outerShdw blurRad="76200" rotWithShape="0" algn="bl" dir="5400000" dist="28575">
              <a:srgbClr val="BFC9D6">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8" name="Google Shape;1948;g3f6a040a5a3_1_132"/>
          <p:cNvSpPr/>
          <p:nvPr/>
        </p:nvSpPr>
        <p:spPr>
          <a:xfrm>
            <a:off x="2005965" y="1495044"/>
            <a:ext cx="823200" cy="233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B6472"/>
              </a:buClr>
              <a:buSzPts val="800"/>
              <a:buFont typeface="Calibri"/>
              <a:buNone/>
            </a:pPr>
            <a:r>
              <a:rPr b="1" i="0" lang="en" sz="800" u="none" cap="none" strike="noStrike">
                <a:solidFill>
                  <a:srgbClr val="5B6472"/>
                </a:solidFill>
                <a:latin typeface="Calibri"/>
                <a:ea typeface="Calibri"/>
                <a:cs typeface="Calibri"/>
                <a:sym typeface="Calibri"/>
              </a:rPr>
              <a:t>car</a:t>
            </a:r>
            <a:endParaRPr b="0" i="0" sz="800" u="none" cap="none" strike="noStrike">
              <a:solidFill>
                <a:schemeClr val="dk1"/>
              </a:solidFill>
              <a:latin typeface="Calibri"/>
              <a:ea typeface="Calibri"/>
              <a:cs typeface="Calibri"/>
              <a:sym typeface="Calibri"/>
            </a:endParaRPr>
          </a:p>
        </p:txBody>
      </p:sp>
      <p:sp>
        <p:nvSpPr>
          <p:cNvPr id="1949" name="Google Shape;1949;g3f6a040a5a3_1_132"/>
          <p:cNvSpPr/>
          <p:nvPr/>
        </p:nvSpPr>
        <p:spPr>
          <a:xfrm>
            <a:off x="2874206" y="2091690"/>
            <a:ext cx="274200" cy="274200"/>
          </a:xfrm>
          <a:prstGeom prst="ellipse">
            <a:avLst/>
          </a:prstGeom>
          <a:solidFill>
            <a:srgbClr val="8A97A6"/>
          </a:solidFill>
          <a:ln>
            <a:noFill/>
          </a:ln>
          <a:effectLst>
            <a:outerShdw blurRad="76200" rotWithShape="0" algn="bl" dir="5400000" dist="28575">
              <a:srgbClr val="BFC9D6">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0" name="Google Shape;1950;g3f6a040a5a3_1_132"/>
          <p:cNvSpPr/>
          <p:nvPr/>
        </p:nvSpPr>
        <p:spPr>
          <a:xfrm>
            <a:off x="2896845" y="1975104"/>
            <a:ext cx="823200" cy="233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B6472"/>
              </a:buClr>
              <a:buSzPts val="800"/>
              <a:buFont typeface="Calibri"/>
              <a:buNone/>
            </a:pPr>
            <a:r>
              <a:rPr b="1" i="0" lang="en" sz="800" u="none" cap="none" strike="noStrike">
                <a:solidFill>
                  <a:srgbClr val="5B6472"/>
                </a:solidFill>
                <a:latin typeface="Calibri"/>
                <a:ea typeface="Calibri"/>
                <a:cs typeface="Calibri"/>
                <a:sym typeface="Calibri"/>
              </a:rPr>
              <a:t>bus</a:t>
            </a:r>
            <a:endParaRPr b="0" i="0" sz="800" u="none" cap="none" strike="noStrike">
              <a:solidFill>
                <a:schemeClr val="dk1"/>
              </a:solidFill>
              <a:latin typeface="Calibri"/>
              <a:ea typeface="Calibri"/>
              <a:cs typeface="Calibri"/>
              <a:sym typeface="Calibri"/>
            </a:endParaRPr>
          </a:p>
        </p:txBody>
      </p:sp>
      <p:sp>
        <p:nvSpPr>
          <p:cNvPr id="1951" name="Google Shape;1951;g3f6a040a5a3_1_132"/>
          <p:cNvSpPr/>
          <p:nvPr/>
        </p:nvSpPr>
        <p:spPr>
          <a:xfrm>
            <a:off x="2874206" y="2777490"/>
            <a:ext cx="274200" cy="274200"/>
          </a:xfrm>
          <a:prstGeom prst="ellipse">
            <a:avLst/>
          </a:prstGeom>
          <a:solidFill>
            <a:srgbClr val="8A97A6"/>
          </a:solidFill>
          <a:ln>
            <a:noFill/>
          </a:ln>
          <a:effectLst>
            <a:outerShdw blurRad="76200" rotWithShape="0" algn="bl" dir="5400000" dist="28575">
              <a:srgbClr val="BFC9D6">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2" name="Google Shape;1952;g3f6a040a5a3_1_132"/>
          <p:cNvSpPr/>
          <p:nvPr/>
        </p:nvSpPr>
        <p:spPr>
          <a:xfrm>
            <a:off x="2896845" y="2935224"/>
            <a:ext cx="823200" cy="233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B6472"/>
              </a:buClr>
              <a:buSzPts val="800"/>
              <a:buFont typeface="Calibri"/>
              <a:buNone/>
            </a:pPr>
            <a:r>
              <a:rPr b="1" i="0" lang="en" sz="800" u="none" cap="none" strike="noStrike">
                <a:solidFill>
                  <a:srgbClr val="5B6472"/>
                </a:solidFill>
                <a:latin typeface="Calibri"/>
                <a:ea typeface="Calibri"/>
                <a:cs typeface="Calibri"/>
                <a:sym typeface="Calibri"/>
              </a:rPr>
              <a:t>banana</a:t>
            </a:r>
            <a:endParaRPr b="0" i="0" sz="800" u="none" cap="none" strike="noStrike">
              <a:solidFill>
                <a:schemeClr val="dk1"/>
              </a:solidFill>
              <a:latin typeface="Calibri"/>
              <a:ea typeface="Calibri"/>
              <a:cs typeface="Calibri"/>
              <a:sym typeface="Calibri"/>
            </a:endParaRPr>
          </a:p>
        </p:txBody>
      </p:sp>
      <p:sp>
        <p:nvSpPr>
          <p:cNvPr id="1953" name="Google Shape;1953;g3f6a040a5a3_1_132"/>
          <p:cNvSpPr/>
          <p:nvPr/>
        </p:nvSpPr>
        <p:spPr>
          <a:xfrm>
            <a:off x="2280285" y="3120390"/>
            <a:ext cx="274200" cy="274200"/>
          </a:xfrm>
          <a:prstGeom prst="ellipse">
            <a:avLst/>
          </a:prstGeom>
          <a:solidFill>
            <a:srgbClr val="8A97A6"/>
          </a:solidFill>
          <a:ln>
            <a:noFill/>
          </a:ln>
          <a:effectLst>
            <a:outerShdw blurRad="76200" rotWithShape="0" algn="bl" dir="5400000" dist="28575">
              <a:srgbClr val="BFC9D6">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4" name="Google Shape;1954;g3f6a040a5a3_1_132"/>
          <p:cNvSpPr/>
          <p:nvPr/>
        </p:nvSpPr>
        <p:spPr>
          <a:xfrm>
            <a:off x="2005965" y="3415284"/>
            <a:ext cx="823200" cy="233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B6472"/>
              </a:buClr>
              <a:buSzPts val="800"/>
              <a:buFont typeface="Calibri"/>
              <a:buNone/>
            </a:pPr>
            <a:r>
              <a:rPr b="1" i="0" lang="en" sz="800" u="none" cap="none" strike="noStrike">
                <a:solidFill>
                  <a:srgbClr val="5B6472"/>
                </a:solidFill>
                <a:latin typeface="Calibri"/>
                <a:ea typeface="Calibri"/>
                <a:cs typeface="Calibri"/>
                <a:sym typeface="Calibri"/>
              </a:rPr>
              <a:t>apple</a:t>
            </a:r>
            <a:endParaRPr b="0" i="0" sz="800" u="none" cap="none" strike="noStrike">
              <a:solidFill>
                <a:schemeClr val="dk1"/>
              </a:solidFill>
              <a:latin typeface="Calibri"/>
              <a:ea typeface="Calibri"/>
              <a:cs typeface="Calibri"/>
              <a:sym typeface="Calibri"/>
            </a:endParaRPr>
          </a:p>
        </p:txBody>
      </p:sp>
      <p:sp>
        <p:nvSpPr>
          <p:cNvPr id="1955" name="Google Shape;1955;g3f6a040a5a3_1_132"/>
          <p:cNvSpPr/>
          <p:nvPr/>
        </p:nvSpPr>
        <p:spPr>
          <a:xfrm>
            <a:off x="1686365" y="2777490"/>
            <a:ext cx="274200" cy="274200"/>
          </a:xfrm>
          <a:prstGeom prst="ellipse">
            <a:avLst/>
          </a:prstGeom>
          <a:solidFill>
            <a:srgbClr val="8A97A6"/>
          </a:solidFill>
          <a:ln>
            <a:noFill/>
          </a:ln>
          <a:effectLst>
            <a:outerShdw blurRad="76200" rotWithShape="0" algn="bl" dir="5400000" dist="28575">
              <a:srgbClr val="BFC9D6">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6" name="Google Shape;1956;g3f6a040a5a3_1_132"/>
          <p:cNvSpPr/>
          <p:nvPr/>
        </p:nvSpPr>
        <p:spPr>
          <a:xfrm>
            <a:off x="1115085" y="2935224"/>
            <a:ext cx="823200" cy="233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B6472"/>
              </a:buClr>
              <a:buSzPts val="800"/>
              <a:buFont typeface="Calibri"/>
              <a:buNone/>
            </a:pPr>
            <a:r>
              <a:rPr b="1" i="0" lang="en" sz="800" u="none" cap="none" strike="noStrike">
                <a:solidFill>
                  <a:srgbClr val="5B6472"/>
                </a:solidFill>
                <a:latin typeface="Calibri"/>
                <a:ea typeface="Calibri"/>
                <a:cs typeface="Calibri"/>
                <a:sym typeface="Calibri"/>
              </a:rPr>
              <a:t>cloud</a:t>
            </a:r>
            <a:endParaRPr b="0" i="0" sz="800" u="none" cap="none" strike="noStrike">
              <a:solidFill>
                <a:schemeClr val="dk1"/>
              </a:solidFill>
              <a:latin typeface="Calibri"/>
              <a:ea typeface="Calibri"/>
              <a:cs typeface="Calibri"/>
              <a:sym typeface="Calibri"/>
            </a:endParaRPr>
          </a:p>
        </p:txBody>
      </p:sp>
      <p:sp>
        <p:nvSpPr>
          <p:cNvPr id="1957" name="Google Shape;1957;g3f6a040a5a3_1_132"/>
          <p:cNvSpPr/>
          <p:nvPr/>
        </p:nvSpPr>
        <p:spPr>
          <a:xfrm>
            <a:off x="1686365" y="2091690"/>
            <a:ext cx="274200" cy="274200"/>
          </a:xfrm>
          <a:prstGeom prst="ellipse">
            <a:avLst/>
          </a:prstGeom>
          <a:solidFill>
            <a:srgbClr val="8A97A6"/>
          </a:solidFill>
          <a:ln>
            <a:noFill/>
          </a:ln>
          <a:effectLst>
            <a:outerShdw blurRad="76200" rotWithShape="0" algn="bl" dir="5400000" dist="28575">
              <a:srgbClr val="BFC9D6">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8" name="Google Shape;1958;g3f6a040a5a3_1_132"/>
          <p:cNvSpPr/>
          <p:nvPr/>
        </p:nvSpPr>
        <p:spPr>
          <a:xfrm>
            <a:off x="1115085" y="1975104"/>
            <a:ext cx="823200" cy="233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B6472"/>
              </a:buClr>
              <a:buSzPts val="800"/>
              <a:buFont typeface="Calibri"/>
              <a:buNone/>
            </a:pPr>
            <a:r>
              <a:rPr b="1" i="0" lang="en" sz="800" u="none" cap="none" strike="noStrike">
                <a:solidFill>
                  <a:srgbClr val="5B6472"/>
                </a:solidFill>
                <a:latin typeface="Calibri"/>
                <a:ea typeface="Calibri"/>
                <a:cs typeface="Calibri"/>
                <a:sym typeface="Calibri"/>
              </a:rPr>
              <a:t>chair</a:t>
            </a:r>
            <a:endParaRPr b="0" i="0" sz="800" u="none" cap="none" strike="noStrike">
              <a:solidFill>
                <a:schemeClr val="dk1"/>
              </a:solidFill>
              <a:latin typeface="Calibri"/>
              <a:ea typeface="Calibri"/>
              <a:cs typeface="Calibri"/>
              <a:sym typeface="Calibri"/>
            </a:endParaRPr>
          </a:p>
        </p:txBody>
      </p:sp>
      <p:sp>
        <p:nvSpPr>
          <p:cNvPr id="1959" name="Google Shape;1959;g3f6a040a5a3_1_132"/>
          <p:cNvSpPr/>
          <p:nvPr/>
        </p:nvSpPr>
        <p:spPr>
          <a:xfrm>
            <a:off x="651510" y="3826764"/>
            <a:ext cx="3531900" cy="288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B6472"/>
              </a:buClr>
              <a:buSzPts val="900"/>
              <a:buFont typeface="Calibri"/>
              <a:buNone/>
            </a:pPr>
            <a:r>
              <a:rPr b="0" i="1" lang="en" sz="900" u="none" cap="none" strike="noStrike">
                <a:solidFill>
                  <a:srgbClr val="5B6472"/>
                </a:solidFill>
                <a:latin typeface="Calibri"/>
                <a:ea typeface="Calibri"/>
                <a:cs typeface="Calibri"/>
                <a:sym typeface="Calibri"/>
              </a:rPr>
              <a:t>Still symmetric — no clusters, no meaning recovered</a:t>
            </a:r>
            <a:endParaRPr b="0" i="0" sz="900" u="none" cap="none" strike="noStrike">
              <a:solidFill>
                <a:schemeClr val="dk1"/>
              </a:solidFill>
              <a:latin typeface="Calibri"/>
              <a:ea typeface="Calibri"/>
              <a:cs typeface="Calibri"/>
              <a:sym typeface="Calibri"/>
            </a:endParaRPr>
          </a:p>
        </p:txBody>
      </p:sp>
      <p:sp>
        <p:nvSpPr>
          <p:cNvPr id="1960" name="Google Shape;1960;g3f6a040a5a3_1_132"/>
          <p:cNvSpPr/>
          <p:nvPr/>
        </p:nvSpPr>
        <p:spPr>
          <a:xfrm>
            <a:off x="4732020" y="891540"/>
            <a:ext cx="4011900" cy="3360300"/>
          </a:xfrm>
          <a:prstGeom prst="roundRect">
            <a:avLst>
              <a:gd fmla="val 2449" name="adj"/>
            </a:avLst>
          </a:prstGeom>
          <a:solidFill>
            <a:srgbClr val="F9FAFB"/>
          </a:solidFill>
          <a:ln>
            <a:noFill/>
          </a:ln>
          <a:effectLst>
            <a:outerShdw blurRad="76200" rotWithShape="0" algn="bl" dir="5400000" dist="28575">
              <a:srgbClr val="BFC9D6">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1" name="Google Shape;1961;g3f6a040a5a3_1_132"/>
          <p:cNvSpPr/>
          <p:nvPr/>
        </p:nvSpPr>
        <p:spPr>
          <a:xfrm>
            <a:off x="4732020" y="891540"/>
            <a:ext cx="4011900" cy="445800"/>
          </a:xfrm>
          <a:prstGeom prst="roundRect">
            <a:avLst>
              <a:gd fmla="val 18462" name="adj"/>
            </a:avLst>
          </a:prstGeom>
          <a:solidFill>
            <a:srgbClr val="1C7293"/>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2" name="Google Shape;1962;g3f6a040a5a3_1_132"/>
          <p:cNvSpPr/>
          <p:nvPr/>
        </p:nvSpPr>
        <p:spPr>
          <a:xfrm>
            <a:off x="4732020" y="1110996"/>
            <a:ext cx="4011900" cy="226200"/>
          </a:xfrm>
          <a:prstGeom prst="rect">
            <a:avLst/>
          </a:prstGeom>
          <a:solidFill>
            <a:srgbClr val="1C7293"/>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3" name="Google Shape;1963;g3f6a040a5a3_1_132"/>
          <p:cNvSpPr/>
          <p:nvPr/>
        </p:nvSpPr>
        <p:spPr>
          <a:xfrm>
            <a:off x="4937760" y="891540"/>
            <a:ext cx="3600600" cy="44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Trained Embeddings  →  PCA Output</a:t>
            </a:r>
            <a:endParaRPr b="0" i="0" sz="1200" u="none" cap="none" strike="noStrike">
              <a:solidFill>
                <a:schemeClr val="dk1"/>
              </a:solidFill>
              <a:latin typeface="Calibri"/>
              <a:ea typeface="Calibri"/>
              <a:cs typeface="Calibri"/>
              <a:sym typeface="Calibri"/>
            </a:endParaRPr>
          </a:p>
        </p:txBody>
      </p:sp>
      <p:sp>
        <p:nvSpPr>
          <p:cNvPr id="1964" name="Google Shape;1964;g3f6a040a5a3_1_132"/>
          <p:cNvSpPr/>
          <p:nvPr/>
        </p:nvSpPr>
        <p:spPr>
          <a:xfrm>
            <a:off x="5736717" y="2221992"/>
            <a:ext cx="219300" cy="219300"/>
          </a:xfrm>
          <a:prstGeom prst="ellipse">
            <a:avLst/>
          </a:prstGeom>
          <a:solidFill>
            <a:srgbClr val="065A82"/>
          </a:solidFill>
          <a:ln>
            <a:noFill/>
          </a:ln>
          <a:effectLst>
            <a:outerShdw blurRad="76200" rotWithShape="0" algn="bl" dir="5400000" dist="28575">
              <a:srgbClr val="BFC9D6">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5" name="Google Shape;1965;g3f6a040a5a3_1_132"/>
          <p:cNvSpPr/>
          <p:nvPr/>
        </p:nvSpPr>
        <p:spPr>
          <a:xfrm>
            <a:off x="5469255" y="2468880"/>
            <a:ext cx="754500" cy="192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1295C"/>
              </a:buClr>
              <a:buSzPts val="800"/>
              <a:buFont typeface="Calibri"/>
              <a:buNone/>
            </a:pPr>
            <a:r>
              <a:rPr b="1" i="0" lang="en" sz="800" u="none" cap="none" strike="noStrike">
                <a:solidFill>
                  <a:srgbClr val="21295C"/>
                </a:solidFill>
                <a:latin typeface="Calibri"/>
                <a:ea typeface="Calibri"/>
                <a:cs typeface="Calibri"/>
                <a:sym typeface="Calibri"/>
              </a:rPr>
              <a:t>car</a:t>
            </a:r>
            <a:endParaRPr b="0" i="0" sz="800" u="none" cap="none" strike="noStrike">
              <a:solidFill>
                <a:schemeClr val="dk1"/>
              </a:solidFill>
              <a:latin typeface="Calibri"/>
              <a:ea typeface="Calibri"/>
              <a:cs typeface="Calibri"/>
              <a:sym typeface="Calibri"/>
            </a:endParaRPr>
          </a:p>
        </p:txBody>
      </p:sp>
      <p:sp>
        <p:nvSpPr>
          <p:cNvPr id="1966" name="Google Shape;1966;g3f6a040a5a3_1_132"/>
          <p:cNvSpPr/>
          <p:nvPr/>
        </p:nvSpPr>
        <p:spPr>
          <a:xfrm>
            <a:off x="6113907" y="2427732"/>
            <a:ext cx="219300" cy="219300"/>
          </a:xfrm>
          <a:prstGeom prst="ellipse">
            <a:avLst/>
          </a:prstGeom>
          <a:solidFill>
            <a:srgbClr val="065A82"/>
          </a:solidFill>
          <a:ln>
            <a:noFill/>
          </a:ln>
          <a:effectLst>
            <a:outerShdw blurRad="76200" rotWithShape="0" algn="bl" dir="5400000" dist="28575">
              <a:srgbClr val="BFC9D6">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7" name="Google Shape;1967;g3f6a040a5a3_1_132"/>
          <p:cNvSpPr/>
          <p:nvPr/>
        </p:nvSpPr>
        <p:spPr>
          <a:xfrm>
            <a:off x="5846445" y="2674620"/>
            <a:ext cx="754500" cy="192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1295C"/>
              </a:buClr>
              <a:buSzPts val="800"/>
              <a:buFont typeface="Calibri"/>
              <a:buNone/>
            </a:pPr>
            <a:r>
              <a:rPr b="1" i="0" lang="en" sz="800" u="none" cap="none" strike="noStrike">
                <a:solidFill>
                  <a:srgbClr val="21295C"/>
                </a:solidFill>
                <a:latin typeface="Calibri"/>
                <a:ea typeface="Calibri"/>
                <a:cs typeface="Calibri"/>
                <a:sym typeface="Calibri"/>
              </a:rPr>
              <a:t>bus</a:t>
            </a:r>
            <a:endParaRPr b="0" i="0" sz="800" u="none" cap="none" strike="noStrike">
              <a:solidFill>
                <a:schemeClr val="dk1"/>
              </a:solidFill>
              <a:latin typeface="Calibri"/>
              <a:ea typeface="Calibri"/>
              <a:cs typeface="Calibri"/>
              <a:sym typeface="Calibri"/>
            </a:endParaRPr>
          </a:p>
        </p:txBody>
      </p:sp>
      <p:sp>
        <p:nvSpPr>
          <p:cNvPr id="1968" name="Google Shape;1968;g3f6a040a5a3_1_132"/>
          <p:cNvSpPr/>
          <p:nvPr/>
        </p:nvSpPr>
        <p:spPr>
          <a:xfrm>
            <a:off x="5908167" y="2770632"/>
            <a:ext cx="219300" cy="219300"/>
          </a:xfrm>
          <a:prstGeom prst="ellipse">
            <a:avLst/>
          </a:prstGeom>
          <a:solidFill>
            <a:srgbClr val="065A82"/>
          </a:solidFill>
          <a:ln>
            <a:noFill/>
          </a:ln>
          <a:effectLst>
            <a:outerShdw blurRad="76200" rotWithShape="0" algn="bl" dir="5400000" dist="28575">
              <a:srgbClr val="BFC9D6">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9" name="Google Shape;1969;g3f6a040a5a3_1_132"/>
          <p:cNvSpPr/>
          <p:nvPr/>
        </p:nvSpPr>
        <p:spPr>
          <a:xfrm>
            <a:off x="5640705" y="3017520"/>
            <a:ext cx="754500" cy="192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1295C"/>
              </a:buClr>
              <a:buSzPts val="800"/>
              <a:buFont typeface="Calibri"/>
              <a:buNone/>
            </a:pPr>
            <a:r>
              <a:rPr b="1" i="0" lang="en" sz="800" u="none" cap="none" strike="noStrike">
                <a:solidFill>
                  <a:srgbClr val="21295C"/>
                </a:solidFill>
                <a:latin typeface="Calibri"/>
                <a:ea typeface="Calibri"/>
                <a:cs typeface="Calibri"/>
                <a:sym typeface="Calibri"/>
              </a:rPr>
              <a:t>auto</a:t>
            </a:r>
            <a:endParaRPr b="0" i="0" sz="800" u="none" cap="none" strike="noStrike">
              <a:solidFill>
                <a:schemeClr val="dk1"/>
              </a:solidFill>
              <a:latin typeface="Calibri"/>
              <a:ea typeface="Calibri"/>
              <a:cs typeface="Calibri"/>
              <a:sym typeface="Calibri"/>
            </a:endParaRPr>
          </a:p>
        </p:txBody>
      </p:sp>
      <p:sp>
        <p:nvSpPr>
          <p:cNvPr id="1970" name="Google Shape;1970;g3f6a040a5a3_1_132"/>
          <p:cNvSpPr/>
          <p:nvPr/>
        </p:nvSpPr>
        <p:spPr>
          <a:xfrm>
            <a:off x="7314057" y="2119122"/>
            <a:ext cx="219300" cy="219300"/>
          </a:xfrm>
          <a:prstGeom prst="ellipse">
            <a:avLst/>
          </a:prstGeom>
          <a:solidFill>
            <a:srgbClr val="FFB627"/>
          </a:solidFill>
          <a:ln>
            <a:noFill/>
          </a:ln>
          <a:effectLst>
            <a:outerShdw blurRad="76200" rotWithShape="0" algn="bl" dir="5400000" dist="28575">
              <a:srgbClr val="BFC9D6">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1" name="Google Shape;1971;g3f6a040a5a3_1_132"/>
          <p:cNvSpPr/>
          <p:nvPr/>
        </p:nvSpPr>
        <p:spPr>
          <a:xfrm>
            <a:off x="7046595" y="2366010"/>
            <a:ext cx="754500" cy="192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1295C"/>
              </a:buClr>
              <a:buSzPts val="800"/>
              <a:buFont typeface="Calibri"/>
              <a:buNone/>
            </a:pPr>
            <a:r>
              <a:rPr b="1" i="0" lang="en" sz="800" u="none" cap="none" strike="noStrike">
                <a:solidFill>
                  <a:srgbClr val="21295C"/>
                </a:solidFill>
                <a:latin typeface="Calibri"/>
                <a:ea typeface="Calibri"/>
                <a:cs typeface="Calibri"/>
                <a:sym typeface="Calibri"/>
              </a:rPr>
              <a:t>banana</a:t>
            </a:r>
            <a:endParaRPr b="0" i="0" sz="800" u="none" cap="none" strike="noStrike">
              <a:solidFill>
                <a:schemeClr val="dk1"/>
              </a:solidFill>
              <a:latin typeface="Calibri"/>
              <a:ea typeface="Calibri"/>
              <a:cs typeface="Calibri"/>
              <a:sym typeface="Calibri"/>
            </a:endParaRPr>
          </a:p>
        </p:txBody>
      </p:sp>
      <p:sp>
        <p:nvSpPr>
          <p:cNvPr id="1972" name="Google Shape;1972;g3f6a040a5a3_1_132"/>
          <p:cNvSpPr/>
          <p:nvPr/>
        </p:nvSpPr>
        <p:spPr>
          <a:xfrm>
            <a:off x="7691247" y="2427732"/>
            <a:ext cx="219300" cy="219300"/>
          </a:xfrm>
          <a:prstGeom prst="ellipse">
            <a:avLst/>
          </a:prstGeom>
          <a:solidFill>
            <a:srgbClr val="FFB627"/>
          </a:solidFill>
          <a:ln>
            <a:noFill/>
          </a:ln>
          <a:effectLst>
            <a:outerShdw blurRad="76200" rotWithShape="0" algn="bl" dir="5400000" dist="28575">
              <a:srgbClr val="BFC9D6">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3" name="Google Shape;1973;g3f6a040a5a3_1_132"/>
          <p:cNvSpPr/>
          <p:nvPr/>
        </p:nvSpPr>
        <p:spPr>
          <a:xfrm>
            <a:off x="7423785" y="2674620"/>
            <a:ext cx="754500" cy="192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1295C"/>
              </a:buClr>
              <a:buSzPts val="800"/>
              <a:buFont typeface="Calibri"/>
              <a:buNone/>
            </a:pPr>
            <a:r>
              <a:rPr b="1" i="0" lang="en" sz="800" u="none" cap="none" strike="noStrike">
                <a:solidFill>
                  <a:srgbClr val="21295C"/>
                </a:solidFill>
                <a:latin typeface="Calibri"/>
                <a:ea typeface="Calibri"/>
                <a:cs typeface="Calibri"/>
                <a:sym typeface="Calibri"/>
              </a:rPr>
              <a:t>apple</a:t>
            </a:r>
            <a:endParaRPr b="0" i="0" sz="800" u="none" cap="none" strike="noStrike">
              <a:solidFill>
                <a:schemeClr val="dk1"/>
              </a:solidFill>
              <a:latin typeface="Calibri"/>
              <a:ea typeface="Calibri"/>
              <a:cs typeface="Calibri"/>
              <a:sym typeface="Calibri"/>
            </a:endParaRPr>
          </a:p>
        </p:txBody>
      </p:sp>
      <p:sp>
        <p:nvSpPr>
          <p:cNvPr id="1974" name="Google Shape;1974;g3f6a040a5a3_1_132"/>
          <p:cNvSpPr/>
          <p:nvPr/>
        </p:nvSpPr>
        <p:spPr>
          <a:xfrm>
            <a:off x="7416927" y="2736342"/>
            <a:ext cx="219300" cy="219300"/>
          </a:xfrm>
          <a:prstGeom prst="ellipse">
            <a:avLst/>
          </a:prstGeom>
          <a:solidFill>
            <a:srgbClr val="FFB627"/>
          </a:solidFill>
          <a:ln>
            <a:noFill/>
          </a:ln>
          <a:effectLst>
            <a:outerShdw blurRad="76200" rotWithShape="0" algn="bl" dir="5400000" dist="28575">
              <a:srgbClr val="BFC9D6">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5" name="Google Shape;1975;g3f6a040a5a3_1_132"/>
          <p:cNvSpPr/>
          <p:nvPr/>
        </p:nvSpPr>
        <p:spPr>
          <a:xfrm>
            <a:off x="7149465" y="2983230"/>
            <a:ext cx="754500" cy="192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1295C"/>
              </a:buClr>
              <a:buSzPts val="800"/>
              <a:buFont typeface="Calibri"/>
              <a:buNone/>
            </a:pPr>
            <a:r>
              <a:rPr b="1" i="0" lang="en" sz="800" u="none" cap="none" strike="noStrike">
                <a:solidFill>
                  <a:srgbClr val="21295C"/>
                </a:solidFill>
                <a:latin typeface="Calibri"/>
                <a:ea typeface="Calibri"/>
                <a:cs typeface="Calibri"/>
                <a:sym typeface="Calibri"/>
              </a:rPr>
              <a:t>mango</a:t>
            </a:r>
            <a:endParaRPr b="0" i="0" sz="800" u="none" cap="none" strike="noStrike">
              <a:solidFill>
                <a:schemeClr val="dk1"/>
              </a:solidFill>
              <a:latin typeface="Calibri"/>
              <a:ea typeface="Calibri"/>
              <a:cs typeface="Calibri"/>
              <a:sym typeface="Calibri"/>
            </a:endParaRPr>
          </a:p>
        </p:txBody>
      </p:sp>
      <p:sp>
        <p:nvSpPr>
          <p:cNvPr id="1976" name="Google Shape;1976;g3f6a040a5a3_1_132"/>
          <p:cNvSpPr/>
          <p:nvPr/>
        </p:nvSpPr>
        <p:spPr>
          <a:xfrm>
            <a:off x="4972050" y="3826764"/>
            <a:ext cx="3531900" cy="288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C7293"/>
              </a:buClr>
              <a:buSzPts val="900"/>
              <a:buFont typeface="Calibri"/>
              <a:buNone/>
            </a:pPr>
            <a:r>
              <a:rPr b="1" i="1" lang="en" sz="900" u="none" cap="none" strike="noStrike">
                <a:solidFill>
                  <a:srgbClr val="1C7293"/>
                </a:solidFill>
                <a:latin typeface="Calibri"/>
                <a:ea typeface="Calibri"/>
                <a:cs typeface="Calibri"/>
                <a:sym typeface="Calibri"/>
              </a:rPr>
              <a:t>Real clusters survive — meaning was already encoded</a:t>
            </a:r>
            <a:endParaRPr b="0" i="0" sz="900" u="none" cap="none" strike="noStrike">
              <a:solidFill>
                <a:schemeClr val="dk1"/>
              </a:solidFill>
              <a:latin typeface="Calibri"/>
              <a:ea typeface="Calibri"/>
              <a:cs typeface="Calibri"/>
              <a:sym typeface="Calibri"/>
            </a:endParaRPr>
          </a:p>
        </p:txBody>
      </p:sp>
      <p:sp>
        <p:nvSpPr>
          <p:cNvPr id="1977" name="Google Shape;1977;g3f6a040a5a3_1_132"/>
          <p:cNvSpPr/>
          <p:nvPr/>
        </p:nvSpPr>
        <p:spPr>
          <a:xfrm>
            <a:off x="411480" y="4389120"/>
            <a:ext cx="8318700" cy="514500"/>
          </a:xfrm>
          <a:prstGeom prst="roundRect">
            <a:avLst>
              <a:gd fmla="val 13333" name="adj"/>
            </a:avLst>
          </a:prstGeom>
          <a:solidFill>
            <a:srgbClr val="21295C"/>
          </a:solidFill>
          <a:ln>
            <a:noFill/>
          </a:ln>
          <a:effectLst>
            <a:outerShdw blurRad="76200" rotWithShape="0" algn="bl" dir="5400000" dist="28575">
              <a:srgbClr val="BFC9D6">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8" name="Google Shape;1978;g3f6a040a5a3_1_132"/>
          <p:cNvSpPr/>
          <p:nvPr/>
        </p:nvSpPr>
        <p:spPr>
          <a:xfrm>
            <a:off x="617220" y="4389120"/>
            <a:ext cx="7886700" cy="514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B627"/>
              </a:buClr>
              <a:buSzPts val="1100"/>
              <a:buFont typeface="Calibri"/>
              <a:buNone/>
            </a:pPr>
            <a:r>
              <a:rPr b="1" i="0" lang="en" sz="1100" u="none" cap="none" strike="noStrike">
                <a:solidFill>
                  <a:srgbClr val="FFB627"/>
                </a:solidFill>
                <a:latin typeface="Calibri"/>
                <a:ea typeface="Calibri"/>
                <a:cs typeface="Calibri"/>
                <a:sym typeface="Calibri"/>
              </a:rPr>
              <a:t>PCA is a mirror, not a mind reader — </a:t>
            </a:r>
            <a:r>
              <a:rPr b="0" i="0" lang="en" sz="1100" u="none" cap="none" strike="noStrike">
                <a:solidFill>
                  <a:srgbClr val="FFFFFF"/>
                </a:solidFill>
                <a:latin typeface="Calibri"/>
                <a:ea typeface="Calibri"/>
                <a:cs typeface="Calibri"/>
                <a:sym typeface="Calibri"/>
              </a:rPr>
              <a:t>it can only compress meaning that was already learned, never invent it.</a:t>
            </a:r>
            <a:endParaRPr b="0" i="0" sz="1100" u="none" cap="none" strike="noStrike">
              <a:solidFill>
                <a:schemeClr val="dk1"/>
              </a:solidFill>
              <a:latin typeface="Calibri"/>
              <a:ea typeface="Calibri"/>
              <a:cs typeface="Calibri"/>
              <a:sym typeface="Calibri"/>
            </a:endParaRPr>
          </a:p>
        </p:txBody>
      </p:sp>
      <p:sp>
        <p:nvSpPr>
          <p:cNvPr id="1979" name="Google Shape;1979;g3f6a040a5a3_1_132"/>
          <p:cNvSpPr/>
          <p:nvPr/>
        </p:nvSpPr>
        <p:spPr>
          <a:xfrm>
            <a:off x="4595482" y="127956"/>
            <a:ext cx="8412600"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600"/>
              <a:buFont typeface="Calibri"/>
              <a:buNone/>
            </a:pPr>
            <a:r>
              <a:rPr b="1" i="0" lang="en" sz="2300" u="none" cap="none" strike="noStrike">
                <a:solidFill>
                  <a:srgbClr val="DC2626"/>
                </a:solidFill>
                <a:latin typeface="Calibri"/>
                <a:ea typeface="Calibri"/>
                <a:cs typeface="Calibri"/>
                <a:sym typeface="Calibri"/>
              </a:rPr>
              <a:t>Option C — PCA on One-Hot Vectors</a:t>
            </a:r>
            <a:endParaRPr b="0" i="0" sz="2300" u="none" cap="none" strike="noStrike">
              <a:solidFill>
                <a:srgbClr val="DC2626"/>
              </a:solidFill>
              <a:latin typeface="Calibri"/>
              <a:ea typeface="Calibri"/>
              <a:cs typeface="Calibri"/>
              <a:sym typeface="Calibri"/>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3" name="Shape 1983"/>
        <p:cNvGrpSpPr/>
        <p:nvPr/>
      </p:nvGrpSpPr>
      <p:grpSpPr>
        <a:xfrm>
          <a:off x="0" y="0"/>
          <a:ext cx="0" cy="0"/>
          <a:chOff x="0" y="0"/>
          <a:chExt cx="0" cy="0"/>
        </a:xfrm>
      </p:grpSpPr>
      <p:sp>
        <p:nvSpPr>
          <p:cNvPr id="1984" name="Google Shape;1984;p50"/>
          <p:cNvSpPr/>
          <p:nvPr/>
        </p:nvSpPr>
        <p:spPr>
          <a:xfrm>
            <a:off x="0" y="0"/>
            <a:ext cx="9144000" cy="960000"/>
          </a:xfrm>
          <a:prstGeom prst="rect">
            <a:avLst/>
          </a:prstGeom>
          <a:solidFill>
            <a:srgbClr val="0F1E3C"/>
          </a:solidFill>
          <a:ln cap="flat" cmpd="sng" w="12700">
            <a:solidFill>
              <a:srgbClr val="0F1E3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5" name="Google Shape;1985;p50"/>
          <p:cNvSpPr/>
          <p:nvPr/>
        </p:nvSpPr>
        <p:spPr>
          <a:xfrm>
            <a:off x="365760" y="91440"/>
            <a:ext cx="8412600"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600"/>
              <a:buFont typeface="Calibri"/>
              <a:buNone/>
            </a:pPr>
            <a:r>
              <a:rPr b="1" i="0" lang="en" sz="2600" u="none" cap="none" strike="noStrike">
                <a:solidFill>
                  <a:srgbClr val="FFFFFF"/>
                </a:solidFill>
                <a:latin typeface="Calibri"/>
                <a:ea typeface="Calibri"/>
                <a:cs typeface="Calibri"/>
                <a:sym typeface="Calibri"/>
              </a:rPr>
              <a:t>Option B — Hardcoded Synonym Table</a:t>
            </a:r>
            <a:endParaRPr b="0" i="0" sz="2600" u="none" cap="none" strike="noStrike">
              <a:solidFill>
                <a:srgbClr val="000000"/>
              </a:solidFill>
              <a:latin typeface="Calibri"/>
              <a:ea typeface="Calibri"/>
              <a:cs typeface="Calibri"/>
              <a:sym typeface="Calibri"/>
            </a:endParaRPr>
          </a:p>
        </p:txBody>
      </p:sp>
      <p:sp>
        <p:nvSpPr>
          <p:cNvPr id="1986" name="Google Shape;1986;p50"/>
          <p:cNvSpPr/>
          <p:nvPr/>
        </p:nvSpPr>
        <p:spPr>
          <a:xfrm>
            <a:off x="365760" y="1078992"/>
            <a:ext cx="39318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DC653"/>
              </a:buClr>
              <a:buSzPts val="1800"/>
              <a:buFont typeface="Calibri"/>
              <a:buNone/>
            </a:pPr>
            <a:r>
              <a:rPr b="1" i="0" lang="en" sz="1800" u="none" cap="none" strike="noStrike">
                <a:solidFill>
                  <a:srgbClr val="2DC653"/>
                </a:solidFill>
                <a:latin typeface="Calibri"/>
                <a:ea typeface="Calibri"/>
                <a:cs typeface="Calibri"/>
                <a:sym typeface="Calibri"/>
              </a:rPr>
              <a:t>✅  Pros</a:t>
            </a:r>
            <a:endParaRPr b="0" i="0" sz="1800" u="none" cap="none" strike="noStrike">
              <a:solidFill>
                <a:srgbClr val="000000"/>
              </a:solidFill>
              <a:latin typeface="Calibri"/>
              <a:ea typeface="Calibri"/>
              <a:cs typeface="Calibri"/>
              <a:sym typeface="Calibri"/>
            </a:endParaRPr>
          </a:p>
        </p:txBody>
      </p:sp>
      <p:sp>
        <p:nvSpPr>
          <p:cNvPr id="1987" name="Google Shape;1987;p50"/>
          <p:cNvSpPr/>
          <p:nvPr/>
        </p:nvSpPr>
        <p:spPr>
          <a:xfrm>
            <a:off x="4846320" y="1078992"/>
            <a:ext cx="39318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63946"/>
              </a:buClr>
              <a:buSzPts val="1800"/>
              <a:buFont typeface="Calibri"/>
              <a:buNone/>
            </a:pPr>
            <a:r>
              <a:rPr b="1" i="0" lang="en" sz="1800" u="none" cap="none" strike="noStrike">
                <a:solidFill>
                  <a:srgbClr val="E63946"/>
                </a:solidFill>
                <a:latin typeface="Calibri"/>
                <a:ea typeface="Calibri"/>
                <a:cs typeface="Calibri"/>
                <a:sym typeface="Calibri"/>
              </a:rPr>
              <a:t>❌  Cons</a:t>
            </a:r>
            <a:endParaRPr b="0" i="0" sz="1800" u="none" cap="none" strike="noStrike">
              <a:solidFill>
                <a:srgbClr val="000000"/>
              </a:solidFill>
              <a:latin typeface="Calibri"/>
              <a:ea typeface="Calibri"/>
              <a:cs typeface="Calibri"/>
              <a:sym typeface="Calibri"/>
            </a:endParaRPr>
          </a:p>
        </p:txBody>
      </p:sp>
      <p:sp>
        <p:nvSpPr>
          <p:cNvPr id="1988" name="Google Shape;1988;p50"/>
          <p:cNvSpPr/>
          <p:nvPr/>
        </p:nvSpPr>
        <p:spPr>
          <a:xfrm>
            <a:off x="365760" y="1572768"/>
            <a:ext cx="3931800" cy="420600"/>
          </a:xfrm>
          <a:prstGeom prst="rect">
            <a:avLst/>
          </a:prstGeom>
          <a:solidFill>
            <a:srgbClr val="F0FFF4"/>
          </a:solidFill>
          <a:ln cap="flat" cmpd="sng" w="12700">
            <a:solidFill>
              <a:srgbClr val="2DC65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9" name="Google Shape;1989;p50"/>
          <p:cNvSpPr/>
          <p:nvPr/>
        </p:nvSpPr>
        <p:spPr>
          <a:xfrm>
            <a:off x="502920" y="1627632"/>
            <a:ext cx="36576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E3C"/>
              </a:buClr>
              <a:buSzPts val="1300"/>
              <a:buFont typeface="Calibri"/>
              <a:buNone/>
            </a:pPr>
            <a:r>
              <a:rPr b="0" i="0" lang="en" sz="1300" u="none" cap="none" strike="noStrike">
                <a:solidFill>
                  <a:srgbClr val="0F1E3C"/>
                </a:solidFill>
                <a:latin typeface="Calibri"/>
                <a:ea typeface="Calibri"/>
                <a:cs typeface="Calibri"/>
                <a:sym typeface="Calibri"/>
              </a:rPr>
              <a:t>• Fixes the observed problem immediately</a:t>
            </a:r>
            <a:endParaRPr b="0" i="0" sz="1300" u="none" cap="none" strike="noStrike">
              <a:solidFill>
                <a:srgbClr val="000000"/>
              </a:solidFill>
              <a:latin typeface="Calibri"/>
              <a:ea typeface="Calibri"/>
              <a:cs typeface="Calibri"/>
              <a:sym typeface="Calibri"/>
            </a:endParaRPr>
          </a:p>
        </p:txBody>
      </p:sp>
      <p:sp>
        <p:nvSpPr>
          <p:cNvPr id="1990" name="Google Shape;1990;p50"/>
          <p:cNvSpPr/>
          <p:nvPr/>
        </p:nvSpPr>
        <p:spPr>
          <a:xfrm>
            <a:off x="365760" y="2103120"/>
            <a:ext cx="3931800" cy="420600"/>
          </a:xfrm>
          <a:prstGeom prst="rect">
            <a:avLst/>
          </a:prstGeom>
          <a:solidFill>
            <a:srgbClr val="F0FFF4"/>
          </a:solidFill>
          <a:ln cap="flat" cmpd="sng" w="12700">
            <a:solidFill>
              <a:srgbClr val="2DC65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1" name="Google Shape;1991;p50"/>
          <p:cNvSpPr/>
          <p:nvPr/>
        </p:nvSpPr>
        <p:spPr>
          <a:xfrm>
            <a:off x="502920" y="2157984"/>
            <a:ext cx="36576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E3C"/>
              </a:buClr>
              <a:buSzPts val="1300"/>
              <a:buFont typeface="Calibri"/>
              <a:buNone/>
            </a:pPr>
            <a:r>
              <a:rPr b="0" i="0" lang="en" sz="1300" u="none" cap="none" strike="noStrike">
                <a:solidFill>
                  <a:srgbClr val="0F1E3C"/>
                </a:solidFill>
                <a:latin typeface="Calibri"/>
                <a:ea typeface="Calibri"/>
                <a:cs typeface="Calibri"/>
                <a:sym typeface="Calibri"/>
              </a:rPr>
              <a:t>• Easy to implement and deploy</a:t>
            </a:r>
            <a:endParaRPr b="0" i="0" sz="1300" u="none" cap="none" strike="noStrike">
              <a:solidFill>
                <a:srgbClr val="000000"/>
              </a:solidFill>
              <a:latin typeface="Calibri"/>
              <a:ea typeface="Calibri"/>
              <a:cs typeface="Calibri"/>
              <a:sym typeface="Calibri"/>
            </a:endParaRPr>
          </a:p>
        </p:txBody>
      </p:sp>
      <p:sp>
        <p:nvSpPr>
          <p:cNvPr id="1992" name="Google Shape;1992;p50"/>
          <p:cNvSpPr/>
          <p:nvPr/>
        </p:nvSpPr>
        <p:spPr>
          <a:xfrm>
            <a:off x="365760" y="2633472"/>
            <a:ext cx="3931800" cy="420600"/>
          </a:xfrm>
          <a:prstGeom prst="rect">
            <a:avLst/>
          </a:prstGeom>
          <a:solidFill>
            <a:srgbClr val="F0FFF4"/>
          </a:solidFill>
          <a:ln cap="flat" cmpd="sng" w="12700">
            <a:solidFill>
              <a:srgbClr val="2DC65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3" name="Google Shape;1993;p50"/>
          <p:cNvSpPr/>
          <p:nvPr/>
        </p:nvSpPr>
        <p:spPr>
          <a:xfrm>
            <a:off x="502920" y="2688336"/>
            <a:ext cx="36576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E3C"/>
              </a:buClr>
              <a:buSzPts val="1300"/>
              <a:buFont typeface="Calibri"/>
              <a:buNone/>
            </a:pPr>
            <a:r>
              <a:rPr b="0" i="0" lang="en" sz="1300" u="none" cap="none" strike="noStrike">
                <a:solidFill>
                  <a:srgbClr val="0F1E3C"/>
                </a:solidFill>
                <a:latin typeface="Calibri"/>
                <a:ea typeface="Calibri"/>
                <a:cs typeface="Calibri"/>
                <a:sym typeface="Calibri"/>
              </a:rPr>
              <a:t>• Widely used in commercial search engines</a:t>
            </a:r>
            <a:endParaRPr b="0" i="0" sz="1300" u="none" cap="none" strike="noStrike">
              <a:solidFill>
                <a:srgbClr val="000000"/>
              </a:solidFill>
              <a:latin typeface="Calibri"/>
              <a:ea typeface="Calibri"/>
              <a:cs typeface="Calibri"/>
              <a:sym typeface="Calibri"/>
            </a:endParaRPr>
          </a:p>
        </p:txBody>
      </p:sp>
      <p:sp>
        <p:nvSpPr>
          <p:cNvPr id="1994" name="Google Shape;1994;p50"/>
          <p:cNvSpPr/>
          <p:nvPr/>
        </p:nvSpPr>
        <p:spPr>
          <a:xfrm>
            <a:off x="365760" y="3163824"/>
            <a:ext cx="3931800" cy="420600"/>
          </a:xfrm>
          <a:prstGeom prst="rect">
            <a:avLst/>
          </a:prstGeom>
          <a:solidFill>
            <a:srgbClr val="F0FFF4"/>
          </a:solidFill>
          <a:ln cap="flat" cmpd="sng" w="12700">
            <a:solidFill>
              <a:srgbClr val="2DC65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5" name="Google Shape;1995;p50"/>
          <p:cNvSpPr/>
          <p:nvPr/>
        </p:nvSpPr>
        <p:spPr>
          <a:xfrm>
            <a:off x="502920" y="3218688"/>
            <a:ext cx="36576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E3C"/>
              </a:buClr>
              <a:buSzPts val="1300"/>
              <a:buFont typeface="Calibri"/>
              <a:buNone/>
            </a:pPr>
            <a:r>
              <a:rPr b="0" i="0" lang="en" sz="1300" u="none" cap="none" strike="noStrike">
                <a:solidFill>
                  <a:srgbClr val="0F1E3C"/>
                </a:solidFill>
                <a:latin typeface="Calibri"/>
                <a:ea typeface="Calibri"/>
                <a:cs typeface="Calibri"/>
                <a:sym typeface="Calibri"/>
              </a:rPr>
              <a:t>• No training data required</a:t>
            </a:r>
            <a:endParaRPr b="0" i="0" sz="1300" u="none" cap="none" strike="noStrike">
              <a:solidFill>
                <a:srgbClr val="000000"/>
              </a:solidFill>
              <a:latin typeface="Calibri"/>
              <a:ea typeface="Calibri"/>
              <a:cs typeface="Calibri"/>
              <a:sym typeface="Calibri"/>
            </a:endParaRPr>
          </a:p>
        </p:txBody>
      </p:sp>
      <p:sp>
        <p:nvSpPr>
          <p:cNvPr id="1996" name="Google Shape;1996;p50"/>
          <p:cNvSpPr/>
          <p:nvPr/>
        </p:nvSpPr>
        <p:spPr>
          <a:xfrm>
            <a:off x="4846320" y="1572768"/>
            <a:ext cx="3931800" cy="420600"/>
          </a:xfrm>
          <a:prstGeom prst="rect">
            <a:avLst/>
          </a:prstGeom>
          <a:solidFill>
            <a:srgbClr val="FFF3F3"/>
          </a:solidFill>
          <a:ln cap="flat" cmpd="sng" w="12700">
            <a:solidFill>
              <a:srgbClr val="E6394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7" name="Google Shape;1997;p50"/>
          <p:cNvSpPr/>
          <p:nvPr/>
        </p:nvSpPr>
        <p:spPr>
          <a:xfrm>
            <a:off x="4983480" y="1627632"/>
            <a:ext cx="36576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E3C"/>
              </a:buClr>
              <a:buSzPts val="1300"/>
              <a:buFont typeface="Calibri"/>
              <a:buNone/>
            </a:pPr>
            <a:r>
              <a:rPr b="0" i="0" lang="en" sz="1300" u="none" cap="none" strike="noStrike">
                <a:solidFill>
                  <a:srgbClr val="0F1E3C"/>
                </a:solidFill>
                <a:latin typeface="Calibri"/>
                <a:ea typeface="Calibri"/>
                <a:cs typeface="Calibri"/>
                <a:sym typeface="Calibri"/>
              </a:rPr>
              <a:t>• Does not scale — manual maintenance</a:t>
            </a:r>
            <a:endParaRPr b="0" i="0" sz="1300" u="none" cap="none" strike="noStrike">
              <a:solidFill>
                <a:srgbClr val="000000"/>
              </a:solidFill>
              <a:latin typeface="Calibri"/>
              <a:ea typeface="Calibri"/>
              <a:cs typeface="Calibri"/>
              <a:sym typeface="Calibri"/>
            </a:endParaRPr>
          </a:p>
        </p:txBody>
      </p:sp>
      <p:sp>
        <p:nvSpPr>
          <p:cNvPr id="1998" name="Google Shape;1998;p50"/>
          <p:cNvSpPr/>
          <p:nvPr/>
        </p:nvSpPr>
        <p:spPr>
          <a:xfrm>
            <a:off x="4846320" y="2103120"/>
            <a:ext cx="3931800" cy="420600"/>
          </a:xfrm>
          <a:prstGeom prst="rect">
            <a:avLst/>
          </a:prstGeom>
          <a:solidFill>
            <a:srgbClr val="FFF3F3"/>
          </a:solidFill>
          <a:ln cap="flat" cmpd="sng" w="12700">
            <a:solidFill>
              <a:srgbClr val="E6394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9" name="Google Shape;1999;p50"/>
          <p:cNvSpPr/>
          <p:nvPr/>
        </p:nvSpPr>
        <p:spPr>
          <a:xfrm>
            <a:off x="4983480" y="2157984"/>
            <a:ext cx="36576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E3C"/>
              </a:buClr>
              <a:buSzPts val="1300"/>
              <a:buFont typeface="Calibri"/>
              <a:buNone/>
            </a:pPr>
            <a:r>
              <a:rPr b="0" i="0" lang="en" sz="1300" u="none" cap="none" strike="noStrike">
                <a:solidFill>
                  <a:srgbClr val="0F1E3C"/>
                </a:solidFill>
                <a:latin typeface="Calibri"/>
                <a:ea typeface="Calibri"/>
                <a:cs typeface="Calibri"/>
                <a:sym typeface="Calibri"/>
              </a:rPr>
              <a:t>• Misses context-dependent synonyms</a:t>
            </a:r>
            <a:endParaRPr b="0" i="0" sz="1300" u="none" cap="none" strike="noStrike">
              <a:solidFill>
                <a:srgbClr val="000000"/>
              </a:solidFill>
              <a:latin typeface="Calibri"/>
              <a:ea typeface="Calibri"/>
              <a:cs typeface="Calibri"/>
              <a:sym typeface="Calibri"/>
            </a:endParaRPr>
          </a:p>
        </p:txBody>
      </p:sp>
      <p:sp>
        <p:nvSpPr>
          <p:cNvPr id="2000" name="Google Shape;2000;p50"/>
          <p:cNvSpPr/>
          <p:nvPr/>
        </p:nvSpPr>
        <p:spPr>
          <a:xfrm>
            <a:off x="4846320" y="2633472"/>
            <a:ext cx="3931800" cy="420600"/>
          </a:xfrm>
          <a:prstGeom prst="rect">
            <a:avLst/>
          </a:prstGeom>
          <a:solidFill>
            <a:srgbClr val="FFF3F3"/>
          </a:solidFill>
          <a:ln cap="flat" cmpd="sng" w="12700">
            <a:solidFill>
              <a:srgbClr val="E6394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1" name="Google Shape;2001;p50"/>
          <p:cNvSpPr/>
          <p:nvPr/>
        </p:nvSpPr>
        <p:spPr>
          <a:xfrm>
            <a:off x="4983480" y="2688336"/>
            <a:ext cx="36576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E3C"/>
              </a:buClr>
              <a:buSzPts val="1300"/>
              <a:buFont typeface="Calibri"/>
              <a:buNone/>
            </a:pPr>
            <a:r>
              <a:rPr b="0" i="0" lang="en" sz="1300" u="none" cap="none" strike="noStrike">
                <a:solidFill>
                  <a:srgbClr val="0F1E3C"/>
                </a:solidFill>
                <a:latin typeface="Calibri"/>
                <a:ea typeface="Calibri"/>
                <a:cs typeface="Calibri"/>
                <a:sym typeface="Calibri"/>
              </a:rPr>
              <a:t>• Cannot discover new relationships automatically</a:t>
            </a:r>
            <a:endParaRPr b="0" i="0" sz="1300" u="none" cap="none" strike="noStrike">
              <a:solidFill>
                <a:srgbClr val="000000"/>
              </a:solidFill>
              <a:latin typeface="Calibri"/>
              <a:ea typeface="Calibri"/>
              <a:cs typeface="Calibri"/>
              <a:sym typeface="Calibri"/>
            </a:endParaRPr>
          </a:p>
        </p:txBody>
      </p:sp>
      <p:sp>
        <p:nvSpPr>
          <p:cNvPr id="2002" name="Google Shape;2002;p50"/>
          <p:cNvSpPr/>
          <p:nvPr/>
        </p:nvSpPr>
        <p:spPr>
          <a:xfrm>
            <a:off x="4846320" y="3163824"/>
            <a:ext cx="3931800" cy="420600"/>
          </a:xfrm>
          <a:prstGeom prst="rect">
            <a:avLst/>
          </a:prstGeom>
          <a:solidFill>
            <a:srgbClr val="FFF3F3"/>
          </a:solidFill>
          <a:ln cap="flat" cmpd="sng" w="12700">
            <a:solidFill>
              <a:srgbClr val="E6394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3" name="Google Shape;2003;p50"/>
          <p:cNvSpPr/>
          <p:nvPr/>
        </p:nvSpPr>
        <p:spPr>
          <a:xfrm>
            <a:off x="4983480" y="3218688"/>
            <a:ext cx="36576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E3C"/>
              </a:buClr>
              <a:buSzPts val="1300"/>
              <a:buFont typeface="Calibri"/>
              <a:buNone/>
            </a:pPr>
            <a:r>
              <a:rPr b="0" i="0" lang="en" sz="1300" u="none" cap="none" strike="noStrike">
                <a:solidFill>
                  <a:srgbClr val="0F1E3C"/>
                </a:solidFill>
                <a:latin typeface="Calibri"/>
                <a:ea typeface="Calibri"/>
                <a:cs typeface="Calibri"/>
                <a:sym typeface="Calibri"/>
              </a:rPr>
              <a:t>• Brittle — one engineer's judgment</a:t>
            </a:r>
            <a:endParaRPr b="0" i="0" sz="1300" u="none" cap="none" strike="noStrike">
              <a:solidFill>
                <a:srgbClr val="000000"/>
              </a:solidFill>
              <a:latin typeface="Calibri"/>
              <a:ea typeface="Calibri"/>
              <a:cs typeface="Calibri"/>
              <a:sym typeface="Calibri"/>
            </a:endParaRPr>
          </a:p>
        </p:txBody>
      </p:sp>
      <p:sp>
        <p:nvSpPr>
          <p:cNvPr id="2004" name="Google Shape;2004;p50"/>
          <p:cNvSpPr/>
          <p:nvPr/>
        </p:nvSpPr>
        <p:spPr>
          <a:xfrm>
            <a:off x="365760" y="3767328"/>
            <a:ext cx="8412600" cy="1051500"/>
          </a:xfrm>
          <a:prstGeom prst="rect">
            <a:avLst/>
          </a:prstGeom>
          <a:solidFill>
            <a:srgbClr val="FFFBEA"/>
          </a:solidFill>
          <a:ln cap="flat" cmpd="sng" w="25400">
            <a:solidFill>
              <a:srgbClr val="F4A261"/>
            </a:solidFill>
            <a:prstDash val="solid"/>
            <a:round/>
            <a:headEnd len="sm" w="sm" type="none"/>
            <a:tailEnd len="sm" w="sm" type="none"/>
          </a:ln>
          <a:effectLst>
            <a:outerShdw blurRad="101600" rotWithShape="0" algn="bl" dir="8100000" dist="38100">
              <a:srgbClr val="000000">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5" name="Google Shape;2005;p50"/>
          <p:cNvSpPr/>
          <p:nvPr/>
        </p:nvSpPr>
        <p:spPr>
          <a:xfrm>
            <a:off x="548640" y="3822192"/>
            <a:ext cx="8046600" cy="914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4A261"/>
              </a:buClr>
              <a:buSzPts val="1300"/>
              <a:buFont typeface="Calibri"/>
              <a:buNone/>
            </a:pPr>
            <a:r>
              <a:rPr b="1" i="0" lang="en" sz="1300" u="none" cap="none" strike="noStrike">
                <a:solidFill>
                  <a:srgbClr val="F4A261"/>
                </a:solidFill>
                <a:latin typeface="Calibri"/>
                <a:ea typeface="Calibri"/>
                <a:cs typeface="Calibri"/>
                <a:sym typeface="Calibri"/>
              </a:rPr>
              <a:t>⚠️  Context matters!</a:t>
            </a:r>
            <a:br>
              <a:rPr b="1" i="0" lang="en" sz="1300" u="none" cap="none" strike="noStrike">
                <a:solidFill>
                  <a:srgbClr val="F4A261"/>
                </a:solidFill>
                <a:latin typeface="Calibri"/>
                <a:ea typeface="Calibri"/>
                <a:cs typeface="Calibri"/>
                <a:sym typeface="Calibri"/>
              </a:rPr>
            </a:br>
            <a:endParaRPr b="0" i="0" sz="13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F1E3C"/>
              </a:buClr>
              <a:buSzPts val="1300"/>
              <a:buFont typeface="Calibri"/>
              <a:buNone/>
            </a:pPr>
            <a:r>
              <a:rPr b="0" i="0" lang="en" sz="1300" u="none" cap="none" strike="noStrike">
                <a:solidFill>
                  <a:srgbClr val="0F1E3C"/>
                </a:solidFill>
                <a:latin typeface="Calibri"/>
                <a:ea typeface="Calibri"/>
                <a:cs typeface="Calibri"/>
                <a:sym typeface="Calibri"/>
              </a:rPr>
              <a:t>In a practical engineering interview: </a:t>
            </a:r>
            <a:r>
              <a:rPr b="1" i="0" lang="en" sz="1300" u="none" cap="none" strike="noStrike">
                <a:solidFill>
                  <a:srgbClr val="00B4D8"/>
                </a:solidFill>
                <a:latin typeface="Calibri"/>
                <a:ea typeface="Calibri"/>
                <a:cs typeface="Calibri"/>
                <a:sym typeface="Calibri"/>
              </a:rPr>
              <a:t>B is a reasonable pragmatic answer.</a:t>
            </a:r>
            <a:br>
              <a:rPr b="1" i="0" lang="en" sz="1300" u="none" cap="none" strike="noStrike">
                <a:solidFill>
                  <a:srgbClr val="00B4D8"/>
                </a:solidFill>
                <a:latin typeface="Calibri"/>
                <a:ea typeface="Calibri"/>
                <a:cs typeface="Calibri"/>
                <a:sym typeface="Calibri"/>
              </a:rPr>
            </a:br>
            <a:r>
              <a:rPr b="0" i="0" lang="en" sz="1300" u="none" cap="none" strike="noStrike">
                <a:solidFill>
                  <a:srgbClr val="0F1E3C"/>
                </a:solidFill>
                <a:latin typeface="Calibri"/>
                <a:ea typeface="Calibri"/>
                <a:cs typeface="Calibri"/>
                <a:sym typeface="Calibri"/>
              </a:rPr>
              <a:t>In an ML/representation-learning exam: </a:t>
            </a:r>
            <a:r>
              <a:rPr b="1" i="0" lang="en" sz="1300" u="none" cap="none" strike="noStrike">
                <a:solidFill>
                  <a:srgbClr val="00B4D8"/>
                </a:solidFill>
                <a:latin typeface="Calibri"/>
                <a:ea typeface="Calibri"/>
                <a:cs typeface="Calibri"/>
                <a:sym typeface="Calibri"/>
              </a:rPr>
              <a:t>D (dense embeddings) is the intended answer.</a:t>
            </a:r>
            <a:endParaRPr b="0" i="0" sz="1300" u="none" cap="none" strike="noStrike">
              <a:solidFill>
                <a:srgbClr val="000000"/>
              </a:solidFill>
              <a:latin typeface="Calibri"/>
              <a:ea typeface="Calibri"/>
              <a:cs typeface="Calibri"/>
              <a:sym typeface="Calibri"/>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9" name="Shape 2009"/>
        <p:cNvGrpSpPr/>
        <p:nvPr/>
      </p:nvGrpSpPr>
      <p:grpSpPr>
        <a:xfrm>
          <a:off x="0" y="0"/>
          <a:ext cx="0" cy="0"/>
          <a:chOff x="0" y="0"/>
          <a:chExt cx="0" cy="0"/>
        </a:xfrm>
      </p:grpSpPr>
      <p:sp>
        <p:nvSpPr>
          <p:cNvPr id="2010" name="Google Shape;2010;p51"/>
          <p:cNvSpPr/>
          <p:nvPr/>
        </p:nvSpPr>
        <p:spPr>
          <a:xfrm>
            <a:off x="0" y="0"/>
            <a:ext cx="9144000" cy="960000"/>
          </a:xfrm>
          <a:prstGeom prst="rect">
            <a:avLst/>
          </a:prstGeom>
          <a:solidFill>
            <a:srgbClr val="0F1E3C"/>
          </a:solidFill>
          <a:ln cap="flat" cmpd="sng" w="12700">
            <a:solidFill>
              <a:srgbClr val="0F1E3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1" name="Google Shape;2011;p51"/>
          <p:cNvSpPr/>
          <p:nvPr/>
        </p:nvSpPr>
        <p:spPr>
          <a:xfrm>
            <a:off x="365760" y="91440"/>
            <a:ext cx="8412600"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600"/>
              <a:buFont typeface="Calibri"/>
              <a:buNone/>
            </a:pPr>
            <a:r>
              <a:rPr b="1" i="0" lang="en" sz="2600" u="none" cap="none" strike="noStrike">
                <a:solidFill>
                  <a:srgbClr val="FFFFFF"/>
                </a:solidFill>
                <a:latin typeface="Calibri"/>
                <a:ea typeface="Calibri"/>
                <a:cs typeface="Calibri"/>
                <a:sym typeface="Calibri"/>
              </a:rPr>
              <a:t>Option D</a:t>
            </a:r>
            <a:endParaRPr b="0" i="0" sz="2600" u="none" cap="none" strike="noStrike">
              <a:solidFill>
                <a:srgbClr val="000000"/>
              </a:solidFill>
              <a:latin typeface="Calibri"/>
              <a:ea typeface="Calibri"/>
              <a:cs typeface="Calibri"/>
              <a:sym typeface="Calibri"/>
            </a:endParaRPr>
          </a:p>
        </p:txBody>
      </p:sp>
      <p:sp>
        <p:nvSpPr>
          <p:cNvPr id="2012" name="Google Shape;2012;p51"/>
          <p:cNvSpPr/>
          <p:nvPr/>
        </p:nvSpPr>
        <p:spPr>
          <a:xfrm>
            <a:off x="365760" y="1051560"/>
            <a:ext cx="22860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B4D8"/>
              </a:buClr>
              <a:buSzPts val="1600"/>
              <a:buFont typeface="Calibri"/>
              <a:buNone/>
            </a:pPr>
            <a:r>
              <a:rPr b="1" i="0" lang="en" sz="1600" u="none" cap="none" strike="noStrike">
                <a:solidFill>
                  <a:srgbClr val="00B4D8"/>
                </a:solidFill>
                <a:latin typeface="Calibri"/>
                <a:ea typeface="Calibri"/>
                <a:cs typeface="Calibri"/>
                <a:sym typeface="Calibri"/>
              </a:rPr>
              <a:t>Core Idea</a:t>
            </a:r>
            <a:endParaRPr b="0" i="0" sz="1600" u="none" cap="none" strike="noStrike">
              <a:solidFill>
                <a:srgbClr val="000000"/>
              </a:solidFill>
              <a:latin typeface="Calibri"/>
              <a:ea typeface="Calibri"/>
              <a:cs typeface="Calibri"/>
              <a:sym typeface="Calibri"/>
            </a:endParaRPr>
          </a:p>
        </p:txBody>
      </p:sp>
      <p:sp>
        <p:nvSpPr>
          <p:cNvPr id="2013" name="Google Shape;2013;p51"/>
          <p:cNvSpPr/>
          <p:nvPr/>
        </p:nvSpPr>
        <p:spPr>
          <a:xfrm>
            <a:off x="365760" y="1417320"/>
            <a:ext cx="84126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E3C"/>
              </a:buClr>
              <a:buSzPts val="1500"/>
              <a:buFont typeface="Calibri"/>
              <a:buNone/>
            </a:pPr>
            <a:r>
              <a:rPr b="0" i="1" lang="en" sz="1500" u="none" cap="none" strike="noStrike">
                <a:solidFill>
                  <a:srgbClr val="0F1E3C"/>
                </a:solidFill>
                <a:latin typeface="Calibri"/>
                <a:ea typeface="Calibri"/>
                <a:cs typeface="Calibri"/>
                <a:sym typeface="Calibri"/>
              </a:rPr>
              <a:t>Words that lead to similar user behavior should have similar vector representations.</a:t>
            </a:r>
            <a:endParaRPr b="0" i="0" sz="1500" u="none" cap="none" strike="noStrike">
              <a:solidFill>
                <a:srgbClr val="000000"/>
              </a:solidFill>
              <a:latin typeface="Calibri"/>
              <a:ea typeface="Calibri"/>
              <a:cs typeface="Calibri"/>
              <a:sym typeface="Calibri"/>
            </a:endParaRPr>
          </a:p>
        </p:txBody>
      </p:sp>
      <p:sp>
        <p:nvSpPr>
          <p:cNvPr id="2014" name="Google Shape;2014;p51"/>
          <p:cNvSpPr/>
          <p:nvPr/>
        </p:nvSpPr>
        <p:spPr>
          <a:xfrm>
            <a:off x="365760" y="1874520"/>
            <a:ext cx="4206300" cy="2103000"/>
          </a:xfrm>
          <a:prstGeom prst="rect">
            <a:avLst/>
          </a:prstGeom>
          <a:solidFill>
            <a:srgbClr val="FFF3F3"/>
          </a:solidFill>
          <a:ln cap="flat" cmpd="sng" w="25400">
            <a:solidFill>
              <a:srgbClr val="E63946"/>
            </a:solidFill>
            <a:prstDash val="solid"/>
            <a:round/>
            <a:headEnd len="sm" w="sm" type="none"/>
            <a:tailEnd len="sm" w="sm" type="none"/>
          </a:ln>
          <a:effectLst>
            <a:outerShdw blurRad="101600" rotWithShape="0" algn="bl" dir="8100000" dist="38100">
              <a:srgbClr val="000000">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5" name="Google Shape;2015;p51"/>
          <p:cNvSpPr/>
          <p:nvPr/>
        </p:nvSpPr>
        <p:spPr>
          <a:xfrm>
            <a:off x="502920" y="1947672"/>
            <a:ext cx="39318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63946"/>
              </a:buClr>
              <a:buSzPts val="1400"/>
              <a:buFont typeface="Calibri"/>
              <a:buNone/>
            </a:pPr>
            <a:r>
              <a:rPr b="1" i="0" lang="en" sz="1400" u="none" cap="none" strike="noStrike">
                <a:solidFill>
                  <a:srgbClr val="E63946"/>
                </a:solidFill>
                <a:latin typeface="Calibri"/>
                <a:ea typeface="Calibri"/>
                <a:cs typeface="Calibri"/>
                <a:sym typeface="Calibri"/>
              </a:rPr>
              <a:t>❌  One-Hot Space</a:t>
            </a:r>
            <a:endParaRPr b="0" i="0" sz="1400" u="none" cap="none" strike="noStrike">
              <a:solidFill>
                <a:srgbClr val="000000"/>
              </a:solidFill>
              <a:latin typeface="Calibri"/>
              <a:ea typeface="Calibri"/>
              <a:cs typeface="Calibri"/>
              <a:sym typeface="Calibri"/>
            </a:endParaRPr>
          </a:p>
        </p:txBody>
      </p:sp>
      <p:sp>
        <p:nvSpPr>
          <p:cNvPr id="2016" name="Google Shape;2016;p51"/>
          <p:cNvSpPr/>
          <p:nvPr/>
        </p:nvSpPr>
        <p:spPr>
          <a:xfrm>
            <a:off x="502920" y="2359152"/>
            <a:ext cx="39318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E3C"/>
              </a:buClr>
              <a:buSzPts val="1200"/>
              <a:buFont typeface="Consolas"/>
              <a:buNone/>
            </a:pPr>
            <a:r>
              <a:rPr b="0" i="0" lang="en" sz="1200" u="none" cap="none" strike="noStrike">
                <a:solidFill>
                  <a:srgbClr val="0F1E3C"/>
                </a:solidFill>
                <a:latin typeface="Consolas"/>
                <a:ea typeface="Consolas"/>
                <a:cs typeface="Consolas"/>
                <a:sym typeface="Consolas"/>
              </a:rPr>
              <a:t>car        → [1, 0, 0, 0, 0, ...]</a:t>
            </a:r>
            <a:endParaRPr b="0" i="0" sz="1200" u="none" cap="none" strike="noStrike">
              <a:solidFill>
                <a:srgbClr val="000000"/>
              </a:solidFill>
              <a:latin typeface="Calibri"/>
              <a:ea typeface="Calibri"/>
              <a:cs typeface="Calibri"/>
              <a:sym typeface="Calibri"/>
            </a:endParaRPr>
          </a:p>
        </p:txBody>
      </p:sp>
      <p:sp>
        <p:nvSpPr>
          <p:cNvPr id="2017" name="Google Shape;2017;p51"/>
          <p:cNvSpPr/>
          <p:nvPr/>
        </p:nvSpPr>
        <p:spPr>
          <a:xfrm>
            <a:off x="502920" y="2816352"/>
            <a:ext cx="39318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E3C"/>
              </a:buClr>
              <a:buSzPts val="1200"/>
              <a:buFont typeface="Consolas"/>
              <a:buNone/>
            </a:pPr>
            <a:r>
              <a:rPr b="0" i="0" lang="en" sz="1200" u="none" cap="none" strike="noStrike">
                <a:solidFill>
                  <a:srgbClr val="0F1E3C"/>
                </a:solidFill>
                <a:latin typeface="Consolas"/>
                <a:ea typeface="Consolas"/>
                <a:cs typeface="Consolas"/>
                <a:sym typeface="Consolas"/>
              </a:rPr>
              <a:t>automobile → [0, 1, 0, 0, 0, ...]</a:t>
            </a:r>
            <a:endParaRPr b="0" i="0" sz="1200" u="none" cap="none" strike="noStrike">
              <a:solidFill>
                <a:srgbClr val="000000"/>
              </a:solidFill>
              <a:latin typeface="Calibri"/>
              <a:ea typeface="Calibri"/>
              <a:cs typeface="Calibri"/>
              <a:sym typeface="Calibri"/>
            </a:endParaRPr>
          </a:p>
        </p:txBody>
      </p:sp>
      <p:sp>
        <p:nvSpPr>
          <p:cNvPr id="2018" name="Google Shape;2018;p51"/>
          <p:cNvSpPr/>
          <p:nvPr/>
        </p:nvSpPr>
        <p:spPr>
          <a:xfrm>
            <a:off x="502920" y="3273552"/>
            <a:ext cx="39318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E3C"/>
              </a:buClr>
              <a:buSzPts val="1200"/>
              <a:buFont typeface="Consolas"/>
              <a:buNone/>
            </a:pPr>
            <a:r>
              <a:rPr b="0" i="0" lang="en" sz="1200" u="none" cap="none" strike="noStrike">
                <a:solidFill>
                  <a:srgbClr val="0F1E3C"/>
                </a:solidFill>
                <a:latin typeface="Consolas"/>
                <a:ea typeface="Consolas"/>
                <a:cs typeface="Consolas"/>
                <a:sym typeface="Consolas"/>
              </a:rPr>
              <a:t>cos similarity = 0</a:t>
            </a:r>
            <a:endParaRPr b="0" i="0" sz="1200" u="none" cap="none" strike="noStrike">
              <a:solidFill>
                <a:srgbClr val="000000"/>
              </a:solidFill>
              <a:latin typeface="Calibri"/>
              <a:ea typeface="Calibri"/>
              <a:cs typeface="Calibri"/>
              <a:sym typeface="Calibri"/>
            </a:endParaRPr>
          </a:p>
        </p:txBody>
      </p:sp>
      <p:sp>
        <p:nvSpPr>
          <p:cNvPr id="2019" name="Google Shape;2019;p51"/>
          <p:cNvSpPr/>
          <p:nvPr/>
        </p:nvSpPr>
        <p:spPr>
          <a:xfrm>
            <a:off x="4800600" y="1874520"/>
            <a:ext cx="4206300" cy="2103000"/>
          </a:xfrm>
          <a:prstGeom prst="rect">
            <a:avLst/>
          </a:prstGeom>
          <a:solidFill>
            <a:srgbClr val="F0FFF4"/>
          </a:solidFill>
          <a:ln cap="flat" cmpd="sng" w="25400">
            <a:solidFill>
              <a:srgbClr val="2DC653"/>
            </a:solidFill>
            <a:prstDash val="solid"/>
            <a:round/>
            <a:headEnd len="sm" w="sm" type="none"/>
            <a:tailEnd len="sm" w="sm" type="none"/>
          </a:ln>
          <a:effectLst>
            <a:outerShdw blurRad="101600" rotWithShape="0" algn="bl" dir="8100000" dist="38100">
              <a:srgbClr val="000000">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0" name="Google Shape;2020;p51"/>
          <p:cNvSpPr/>
          <p:nvPr/>
        </p:nvSpPr>
        <p:spPr>
          <a:xfrm>
            <a:off x="4937760" y="1947672"/>
            <a:ext cx="39318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DC653"/>
              </a:buClr>
              <a:buSzPts val="1400"/>
              <a:buFont typeface="Calibri"/>
              <a:buNone/>
            </a:pPr>
            <a:r>
              <a:rPr b="1" i="0" lang="en" sz="1400" u="none" cap="none" strike="noStrike">
                <a:solidFill>
                  <a:srgbClr val="2DC653"/>
                </a:solidFill>
                <a:latin typeface="Calibri"/>
                <a:ea typeface="Calibri"/>
                <a:cs typeface="Calibri"/>
                <a:sym typeface="Calibri"/>
              </a:rPr>
              <a:t>✅  Dense Embedding Space</a:t>
            </a:r>
            <a:endParaRPr b="0" i="0" sz="1400" u="none" cap="none" strike="noStrike">
              <a:solidFill>
                <a:srgbClr val="000000"/>
              </a:solidFill>
              <a:latin typeface="Calibri"/>
              <a:ea typeface="Calibri"/>
              <a:cs typeface="Calibri"/>
              <a:sym typeface="Calibri"/>
            </a:endParaRPr>
          </a:p>
        </p:txBody>
      </p:sp>
      <p:sp>
        <p:nvSpPr>
          <p:cNvPr id="2021" name="Google Shape;2021;p51"/>
          <p:cNvSpPr/>
          <p:nvPr/>
        </p:nvSpPr>
        <p:spPr>
          <a:xfrm>
            <a:off x="4937760" y="2359152"/>
            <a:ext cx="39318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E3C"/>
              </a:buClr>
              <a:buSzPts val="1200"/>
              <a:buFont typeface="Consolas"/>
              <a:buNone/>
            </a:pPr>
            <a:r>
              <a:rPr b="0" i="0" lang="en" sz="1200" u="none" cap="none" strike="noStrike">
                <a:solidFill>
                  <a:srgbClr val="0F1E3C"/>
                </a:solidFill>
                <a:latin typeface="Consolas"/>
                <a:ea typeface="Consolas"/>
                <a:cs typeface="Consolas"/>
                <a:sym typeface="Consolas"/>
              </a:rPr>
              <a:t>car        → [0.21, -0.37, 0.88, ...]</a:t>
            </a:r>
            <a:endParaRPr b="0" i="0" sz="1200" u="none" cap="none" strike="noStrike">
              <a:solidFill>
                <a:srgbClr val="000000"/>
              </a:solidFill>
              <a:latin typeface="Calibri"/>
              <a:ea typeface="Calibri"/>
              <a:cs typeface="Calibri"/>
              <a:sym typeface="Calibri"/>
            </a:endParaRPr>
          </a:p>
        </p:txBody>
      </p:sp>
      <p:sp>
        <p:nvSpPr>
          <p:cNvPr id="2022" name="Google Shape;2022;p51"/>
          <p:cNvSpPr/>
          <p:nvPr/>
        </p:nvSpPr>
        <p:spPr>
          <a:xfrm>
            <a:off x="4937760" y="2816352"/>
            <a:ext cx="39318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E3C"/>
              </a:buClr>
              <a:buSzPts val="1200"/>
              <a:buFont typeface="Consolas"/>
              <a:buNone/>
            </a:pPr>
            <a:r>
              <a:rPr b="0" i="0" lang="en" sz="1200" u="none" cap="none" strike="noStrike">
                <a:solidFill>
                  <a:srgbClr val="0F1E3C"/>
                </a:solidFill>
                <a:latin typeface="Consolas"/>
                <a:ea typeface="Consolas"/>
                <a:cs typeface="Consolas"/>
                <a:sym typeface="Consolas"/>
              </a:rPr>
              <a:t>automobile → [0.19, -0.35, 0.85, ...]</a:t>
            </a:r>
            <a:endParaRPr b="0" i="0" sz="1200" u="none" cap="none" strike="noStrike">
              <a:solidFill>
                <a:srgbClr val="000000"/>
              </a:solidFill>
              <a:latin typeface="Calibri"/>
              <a:ea typeface="Calibri"/>
              <a:cs typeface="Calibri"/>
              <a:sym typeface="Calibri"/>
            </a:endParaRPr>
          </a:p>
        </p:txBody>
      </p:sp>
      <p:sp>
        <p:nvSpPr>
          <p:cNvPr id="2023" name="Google Shape;2023;p51"/>
          <p:cNvSpPr/>
          <p:nvPr/>
        </p:nvSpPr>
        <p:spPr>
          <a:xfrm>
            <a:off x="4937760" y="3273552"/>
            <a:ext cx="39318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E3C"/>
              </a:buClr>
              <a:buSzPts val="1200"/>
              <a:buFont typeface="Consolas"/>
              <a:buNone/>
            </a:pPr>
            <a:r>
              <a:rPr b="0" i="0" lang="en" sz="1200" u="none" cap="none" strike="noStrike">
                <a:solidFill>
                  <a:srgbClr val="0F1E3C"/>
                </a:solidFill>
                <a:latin typeface="Consolas"/>
                <a:ea typeface="Consolas"/>
                <a:cs typeface="Consolas"/>
                <a:sym typeface="Consolas"/>
              </a:rPr>
              <a:t>cos similarity ≈ 0.99  🎯</a:t>
            </a:r>
            <a:endParaRPr b="0" i="0" sz="1200" u="none" cap="none" strike="noStrike">
              <a:solidFill>
                <a:srgbClr val="000000"/>
              </a:solidFill>
              <a:latin typeface="Calibri"/>
              <a:ea typeface="Calibri"/>
              <a:cs typeface="Calibri"/>
              <a:sym typeface="Calibri"/>
            </a:endParaRPr>
          </a:p>
        </p:txBody>
      </p:sp>
      <p:sp>
        <p:nvSpPr>
          <p:cNvPr id="2024" name="Google Shape;2024;p51"/>
          <p:cNvSpPr/>
          <p:nvPr/>
        </p:nvSpPr>
        <p:spPr>
          <a:xfrm>
            <a:off x="365760" y="4096512"/>
            <a:ext cx="41148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B4D8"/>
              </a:buClr>
              <a:buSzPts val="1500"/>
              <a:buFont typeface="Calibri"/>
              <a:buNone/>
            </a:pPr>
            <a:r>
              <a:rPr b="1" i="0" lang="en" sz="1500" u="none" cap="none" strike="noStrike">
                <a:solidFill>
                  <a:srgbClr val="00B4D8"/>
                </a:solidFill>
                <a:latin typeface="Calibri"/>
                <a:ea typeface="Calibri"/>
                <a:cs typeface="Calibri"/>
                <a:sym typeface="Calibri"/>
              </a:rPr>
              <a:t>How to learn these embeddings:</a:t>
            </a:r>
            <a:endParaRPr b="0" i="0" sz="1500" u="none" cap="none" strike="noStrike">
              <a:solidFill>
                <a:srgbClr val="000000"/>
              </a:solidFill>
              <a:latin typeface="Calibri"/>
              <a:ea typeface="Calibri"/>
              <a:cs typeface="Calibri"/>
              <a:sym typeface="Calibri"/>
            </a:endParaRPr>
          </a:p>
        </p:txBody>
      </p:sp>
      <p:sp>
        <p:nvSpPr>
          <p:cNvPr id="2025" name="Google Shape;2025;p51"/>
          <p:cNvSpPr/>
          <p:nvPr/>
        </p:nvSpPr>
        <p:spPr>
          <a:xfrm>
            <a:off x="365760" y="4480560"/>
            <a:ext cx="255900" cy="255900"/>
          </a:xfrm>
          <a:prstGeom prst="ellipse">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6" name="Google Shape;2026;p51"/>
          <p:cNvSpPr/>
          <p:nvPr/>
        </p:nvSpPr>
        <p:spPr>
          <a:xfrm>
            <a:off x="685800" y="4480560"/>
            <a:ext cx="256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E3C"/>
              </a:buClr>
              <a:buSzPts val="1200"/>
              <a:buFont typeface="Calibri"/>
              <a:buNone/>
            </a:pPr>
            <a:r>
              <a:rPr b="0" i="0" lang="en" sz="1200" u="none" cap="none" strike="noStrike">
                <a:solidFill>
                  <a:srgbClr val="0F1E3C"/>
                </a:solidFill>
                <a:latin typeface="Calibri"/>
                <a:ea typeface="Calibri"/>
                <a:cs typeface="Calibri"/>
                <a:sym typeface="Calibri"/>
              </a:rPr>
              <a:t>Word2Vec / GloVe on text corpora</a:t>
            </a:r>
            <a:endParaRPr b="0" i="0" sz="1200" u="none" cap="none" strike="noStrike">
              <a:solidFill>
                <a:srgbClr val="000000"/>
              </a:solidFill>
              <a:latin typeface="Calibri"/>
              <a:ea typeface="Calibri"/>
              <a:cs typeface="Calibri"/>
              <a:sym typeface="Calibri"/>
            </a:endParaRPr>
          </a:p>
        </p:txBody>
      </p:sp>
      <p:sp>
        <p:nvSpPr>
          <p:cNvPr id="2027" name="Google Shape;2027;p51"/>
          <p:cNvSpPr/>
          <p:nvPr/>
        </p:nvSpPr>
        <p:spPr>
          <a:xfrm>
            <a:off x="3246120" y="4480560"/>
            <a:ext cx="255900" cy="255900"/>
          </a:xfrm>
          <a:prstGeom prst="ellipse">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8" name="Google Shape;2028;p51"/>
          <p:cNvSpPr/>
          <p:nvPr/>
        </p:nvSpPr>
        <p:spPr>
          <a:xfrm>
            <a:off x="3566160" y="4480560"/>
            <a:ext cx="256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E3C"/>
              </a:buClr>
              <a:buSzPts val="1200"/>
              <a:buFont typeface="Calibri"/>
              <a:buNone/>
            </a:pPr>
            <a:r>
              <a:rPr b="0" i="0" lang="en" sz="1200" u="none" cap="none" strike="noStrike">
                <a:solidFill>
                  <a:srgbClr val="0F1E3C"/>
                </a:solidFill>
                <a:latin typeface="Calibri"/>
                <a:ea typeface="Calibri"/>
                <a:cs typeface="Calibri"/>
                <a:sym typeface="Calibri"/>
              </a:rPr>
              <a:t>Query-document click graphs</a:t>
            </a:r>
            <a:endParaRPr b="0" i="0" sz="1200" u="none" cap="none" strike="noStrike">
              <a:solidFill>
                <a:srgbClr val="000000"/>
              </a:solidFill>
              <a:latin typeface="Calibri"/>
              <a:ea typeface="Calibri"/>
              <a:cs typeface="Calibri"/>
              <a:sym typeface="Calibri"/>
            </a:endParaRPr>
          </a:p>
        </p:txBody>
      </p:sp>
      <p:sp>
        <p:nvSpPr>
          <p:cNvPr id="2029" name="Google Shape;2029;p51"/>
          <p:cNvSpPr/>
          <p:nvPr/>
        </p:nvSpPr>
        <p:spPr>
          <a:xfrm>
            <a:off x="6126480" y="4480560"/>
            <a:ext cx="255900" cy="255900"/>
          </a:xfrm>
          <a:prstGeom prst="ellipse">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0" name="Google Shape;2030;p51"/>
          <p:cNvSpPr/>
          <p:nvPr/>
        </p:nvSpPr>
        <p:spPr>
          <a:xfrm>
            <a:off x="6446520" y="4480560"/>
            <a:ext cx="256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E3C"/>
              </a:buClr>
              <a:buSzPts val="1200"/>
              <a:buFont typeface="Calibri"/>
              <a:buNone/>
            </a:pPr>
            <a:r>
              <a:rPr b="0" i="0" lang="en" sz="1200" u="none" cap="none" strike="noStrike">
                <a:solidFill>
                  <a:srgbClr val="0F1E3C"/>
                </a:solidFill>
                <a:latin typeface="Calibri"/>
                <a:ea typeface="Calibri"/>
                <a:cs typeface="Calibri"/>
                <a:sym typeface="Calibri"/>
              </a:rPr>
              <a:t>Neural retrieval models (DPR, BERT)</a:t>
            </a:r>
            <a:endParaRPr b="0" i="0" sz="1200" u="none" cap="none" strike="noStrike">
              <a:solidFill>
                <a:srgbClr val="000000"/>
              </a:solidFill>
              <a:latin typeface="Calibri"/>
              <a:ea typeface="Calibri"/>
              <a:cs typeface="Calibri"/>
              <a:sym typeface="Calibri"/>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2035" name="Shape 2035"/>
        <p:cNvGrpSpPr/>
        <p:nvPr/>
      </p:nvGrpSpPr>
      <p:grpSpPr>
        <a:xfrm>
          <a:off x="0" y="0"/>
          <a:ext cx="0" cy="0"/>
          <a:chOff x="0" y="0"/>
          <a:chExt cx="0" cy="0"/>
        </a:xfrm>
      </p:grpSpPr>
      <p:sp>
        <p:nvSpPr>
          <p:cNvPr id="2036" name="Google Shape;2036;p52"/>
          <p:cNvSpPr/>
          <p:nvPr/>
        </p:nvSpPr>
        <p:spPr>
          <a:xfrm>
            <a:off x="0" y="0"/>
            <a:ext cx="9144000" cy="63900"/>
          </a:xfrm>
          <a:prstGeom prst="rect">
            <a:avLst/>
          </a:prstGeom>
          <a:solidFill>
            <a:srgbClr val="DC2626"/>
          </a:solidFill>
          <a:ln cap="flat" cmpd="sng" w="12700">
            <a:solidFill>
              <a:srgbClr val="DC262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7" name="Google Shape;2037;p52"/>
          <p:cNvSpPr/>
          <p:nvPr/>
        </p:nvSpPr>
        <p:spPr>
          <a:xfrm>
            <a:off x="347472" y="164592"/>
            <a:ext cx="63900" cy="512100"/>
          </a:xfrm>
          <a:prstGeom prst="rect">
            <a:avLst/>
          </a:prstGeom>
          <a:solidFill>
            <a:srgbClr val="DC2626"/>
          </a:solidFill>
          <a:ln cap="flat" cmpd="sng" w="12700">
            <a:solidFill>
              <a:srgbClr val="DC262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8" name="Google Shape;2038;p52"/>
          <p:cNvSpPr/>
          <p:nvPr/>
        </p:nvSpPr>
        <p:spPr>
          <a:xfrm>
            <a:off x="521208" y="146304"/>
            <a:ext cx="82296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C2626"/>
              </a:buClr>
              <a:buSzPts val="2600"/>
              <a:buFont typeface="Calibri"/>
              <a:buNone/>
            </a:pPr>
            <a:r>
              <a:rPr b="1" i="0" lang="en" sz="2600" u="none" cap="none" strike="noStrike">
                <a:solidFill>
                  <a:srgbClr val="DC2626"/>
                </a:solidFill>
                <a:latin typeface="Calibri"/>
                <a:ea typeface="Calibri"/>
                <a:cs typeface="Calibri"/>
                <a:sym typeface="Calibri"/>
              </a:rPr>
              <a:t>Limitations of Sparse Representations</a:t>
            </a:r>
            <a:endParaRPr b="0" i="0" sz="2600" u="none" cap="none" strike="noStrike">
              <a:solidFill>
                <a:schemeClr val="dk1"/>
              </a:solidFill>
              <a:latin typeface="Calibri"/>
              <a:ea typeface="Calibri"/>
              <a:cs typeface="Calibri"/>
              <a:sym typeface="Calibri"/>
            </a:endParaRPr>
          </a:p>
        </p:txBody>
      </p:sp>
      <p:cxnSp>
        <p:nvCxnSpPr>
          <p:cNvPr id="2039" name="Google Shape;2039;p52"/>
          <p:cNvCxnSpPr/>
          <p:nvPr/>
        </p:nvCxnSpPr>
        <p:spPr>
          <a:xfrm>
            <a:off x="347472" y="713232"/>
            <a:ext cx="8449200" cy="0"/>
          </a:xfrm>
          <a:prstGeom prst="straightConnector1">
            <a:avLst/>
          </a:prstGeom>
          <a:noFill/>
          <a:ln cap="flat" cmpd="sng" w="15225">
            <a:solidFill>
              <a:srgbClr val="DC2626"/>
            </a:solidFill>
            <a:prstDash val="solid"/>
            <a:round/>
            <a:headEnd len="sm" w="sm" type="none"/>
            <a:tailEnd len="sm" w="sm" type="none"/>
          </a:ln>
        </p:spPr>
      </p:cxnSp>
      <p:sp>
        <p:nvSpPr>
          <p:cNvPr id="2040" name="Google Shape;2040;p52"/>
          <p:cNvSpPr/>
          <p:nvPr/>
        </p:nvSpPr>
        <p:spPr>
          <a:xfrm>
            <a:off x="347472" y="638797"/>
            <a:ext cx="8449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2041" name="Google Shape;2041;p52"/>
          <p:cNvSpPr/>
          <p:nvPr/>
        </p:nvSpPr>
        <p:spPr>
          <a:xfrm>
            <a:off x="347472" y="896112"/>
            <a:ext cx="4041600" cy="1691700"/>
          </a:xfrm>
          <a:prstGeom prst="rect">
            <a:avLst/>
          </a:prstGeom>
          <a:solidFill>
            <a:srgbClr val="FEF2F2"/>
          </a:solidFill>
          <a:ln cap="flat" cmpd="sng" w="19050">
            <a:solidFill>
              <a:srgbClr val="DC262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2" name="Google Shape;2042;p52"/>
          <p:cNvSpPr/>
          <p:nvPr/>
        </p:nvSpPr>
        <p:spPr>
          <a:xfrm>
            <a:off x="347472" y="896112"/>
            <a:ext cx="4041600" cy="63900"/>
          </a:xfrm>
          <a:prstGeom prst="rect">
            <a:avLst/>
          </a:prstGeom>
          <a:solidFill>
            <a:srgbClr val="DC2626"/>
          </a:solidFill>
          <a:ln cap="flat" cmpd="sng" w="12700">
            <a:solidFill>
              <a:srgbClr val="DC262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3" name="Google Shape;2043;p52"/>
          <p:cNvSpPr/>
          <p:nvPr/>
        </p:nvSpPr>
        <p:spPr>
          <a:xfrm>
            <a:off x="475488" y="1005840"/>
            <a:ext cx="37857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C2626"/>
              </a:buClr>
              <a:buSzPts val="1300"/>
              <a:buFont typeface="Calibri"/>
              <a:buNone/>
            </a:pPr>
            <a:r>
              <a:rPr b="1" i="0" lang="en" sz="1300" u="none" cap="none" strike="noStrike">
                <a:solidFill>
                  <a:srgbClr val="DC2626"/>
                </a:solidFill>
                <a:latin typeface="Calibri"/>
                <a:ea typeface="Calibri"/>
                <a:cs typeface="Calibri"/>
                <a:sym typeface="Calibri"/>
              </a:rPr>
              <a:t>🔤  No Semantic Meaning</a:t>
            </a:r>
            <a:endParaRPr b="0" i="0" sz="1300" u="none" cap="none" strike="noStrike">
              <a:solidFill>
                <a:schemeClr val="dk1"/>
              </a:solidFill>
              <a:latin typeface="Calibri"/>
              <a:ea typeface="Calibri"/>
              <a:cs typeface="Calibri"/>
              <a:sym typeface="Calibri"/>
            </a:endParaRPr>
          </a:p>
        </p:txBody>
      </p:sp>
      <p:sp>
        <p:nvSpPr>
          <p:cNvPr id="2044" name="Google Shape;2044;p52"/>
          <p:cNvSpPr/>
          <p:nvPr/>
        </p:nvSpPr>
        <p:spPr>
          <a:xfrm>
            <a:off x="475488" y="1335024"/>
            <a:ext cx="2414100" cy="64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11827"/>
              </a:buClr>
              <a:buSzPts val="1150"/>
              <a:buFont typeface="Calibri"/>
              <a:buNone/>
            </a:pPr>
            <a:r>
              <a:rPr b="0" i="0" lang="en" sz="1150" u="none" cap="none" strike="noStrike">
                <a:solidFill>
                  <a:srgbClr val="111827"/>
                </a:solidFill>
                <a:latin typeface="Calibri"/>
                <a:ea typeface="Calibri"/>
                <a:cs typeface="Calibri"/>
                <a:sym typeface="Calibri"/>
              </a:rPr>
              <a:t>"king" and "queen" are two unrelated dimensions — dot product = 0</a:t>
            </a:r>
            <a:endParaRPr b="0" i="0" sz="1150" u="none" cap="none" strike="noStrike">
              <a:solidFill>
                <a:schemeClr val="dk1"/>
              </a:solidFill>
              <a:latin typeface="Calibri"/>
              <a:ea typeface="Calibri"/>
              <a:cs typeface="Calibri"/>
              <a:sym typeface="Calibri"/>
            </a:endParaRPr>
          </a:p>
        </p:txBody>
      </p:sp>
      <p:sp>
        <p:nvSpPr>
          <p:cNvPr id="2045" name="Google Shape;2045;p52"/>
          <p:cNvSpPr/>
          <p:nvPr/>
        </p:nvSpPr>
        <p:spPr>
          <a:xfrm>
            <a:off x="2962656" y="1280160"/>
            <a:ext cx="1316700" cy="512100"/>
          </a:xfrm>
          <a:prstGeom prst="roundRect">
            <a:avLst>
              <a:gd fmla="val 14286"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6" name="Google Shape;2046;p52"/>
          <p:cNvSpPr/>
          <p:nvPr/>
        </p:nvSpPr>
        <p:spPr>
          <a:xfrm>
            <a:off x="3099816" y="1280160"/>
            <a:ext cx="1134000" cy="512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2E8F0"/>
              </a:buClr>
              <a:buSzPts val="950"/>
              <a:buFont typeface="Courier New"/>
              <a:buNone/>
            </a:pPr>
            <a:r>
              <a:rPr b="0" i="0" lang="en" sz="950" u="none" cap="none" strike="noStrike">
                <a:solidFill>
                  <a:srgbClr val="E2E8F0"/>
                </a:solidFill>
                <a:latin typeface="Courier New"/>
                <a:ea typeface="Courier New"/>
                <a:cs typeface="Courier New"/>
                <a:sym typeface="Courier New"/>
              </a:rPr>
              <a:t>"cat" ≠ "kitten" in TF-IDF</a:t>
            </a:r>
            <a:endParaRPr b="0" i="0" sz="950" u="none" cap="none" strike="noStrike">
              <a:solidFill>
                <a:schemeClr val="dk1"/>
              </a:solidFill>
              <a:latin typeface="Calibri"/>
              <a:ea typeface="Calibri"/>
              <a:cs typeface="Calibri"/>
              <a:sym typeface="Calibri"/>
            </a:endParaRPr>
          </a:p>
        </p:txBody>
      </p:sp>
      <p:sp>
        <p:nvSpPr>
          <p:cNvPr id="2047" name="Google Shape;2047;p52"/>
          <p:cNvSpPr/>
          <p:nvPr/>
        </p:nvSpPr>
        <p:spPr>
          <a:xfrm>
            <a:off x="4553712" y="896112"/>
            <a:ext cx="4041600" cy="1691700"/>
          </a:xfrm>
          <a:prstGeom prst="rect">
            <a:avLst/>
          </a:prstGeom>
          <a:solidFill>
            <a:srgbClr val="FFF7ED"/>
          </a:solidFill>
          <a:ln cap="flat" cmpd="sng" w="19050">
            <a:solidFill>
              <a:srgbClr val="EA580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8" name="Google Shape;2048;p52"/>
          <p:cNvSpPr/>
          <p:nvPr/>
        </p:nvSpPr>
        <p:spPr>
          <a:xfrm>
            <a:off x="4553712" y="896112"/>
            <a:ext cx="4041600" cy="63900"/>
          </a:xfrm>
          <a:prstGeom prst="rect">
            <a:avLst/>
          </a:prstGeom>
          <a:solidFill>
            <a:srgbClr val="EA580C"/>
          </a:solidFill>
          <a:ln cap="flat" cmpd="sng" w="12700">
            <a:solidFill>
              <a:srgbClr val="EA580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9" name="Google Shape;2049;p52"/>
          <p:cNvSpPr/>
          <p:nvPr/>
        </p:nvSpPr>
        <p:spPr>
          <a:xfrm>
            <a:off x="4681728" y="1005840"/>
            <a:ext cx="37857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A580C"/>
              </a:buClr>
              <a:buSzPts val="1300"/>
              <a:buFont typeface="Calibri"/>
              <a:buNone/>
            </a:pPr>
            <a:r>
              <a:rPr b="1" i="0" lang="en" sz="1300" u="none" cap="none" strike="noStrike">
                <a:solidFill>
                  <a:srgbClr val="EA580C"/>
                </a:solidFill>
                <a:latin typeface="Calibri"/>
                <a:ea typeface="Calibri"/>
                <a:cs typeface="Calibri"/>
                <a:sym typeface="Calibri"/>
              </a:rPr>
              <a:t>📏  Curse of Dimensionality</a:t>
            </a:r>
            <a:endParaRPr b="0" i="0" sz="1300" u="none" cap="none" strike="noStrike">
              <a:solidFill>
                <a:schemeClr val="dk1"/>
              </a:solidFill>
              <a:latin typeface="Calibri"/>
              <a:ea typeface="Calibri"/>
              <a:cs typeface="Calibri"/>
              <a:sym typeface="Calibri"/>
            </a:endParaRPr>
          </a:p>
        </p:txBody>
      </p:sp>
      <p:sp>
        <p:nvSpPr>
          <p:cNvPr id="2050" name="Google Shape;2050;p52"/>
          <p:cNvSpPr/>
          <p:nvPr/>
        </p:nvSpPr>
        <p:spPr>
          <a:xfrm>
            <a:off x="4681728" y="1335024"/>
            <a:ext cx="2414100" cy="64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11827"/>
              </a:buClr>
              <a:buSzPts val="1150"/>
              <a:buFont typeface="Calibri"/>
              <a:buNone/>
            </a:pPr>
            <a:r>
              <a:rPr b="0" i="0" lang="en" sz="1150" u="none" cap="none" strike="noStrike">
                <a:solidFill>
                  <a:srgbClr val="111827"/>
                </a:solidFill>
                <a:latin typeface="Calibri"/>
                <a:ea typeface="Calibri"/>
                <a:cs typeface="Calibri"/>
                <a:sym typeface="Calibri"/>
              </a:rPr>
              <a:t>Vocabulary of 100k words = 100k-dim vectors with 99%+ zeros</a:t>
            </a:r>
            <a:endParaRPr b="0" i="0" sz="1150" u="none" cap="none" strike="noStrike">
              <a:solidFill>
                <a:schemeClr val="dk1"/>
              </a:solidFill>
              <a:latin typeface="Calibri"/>
              <a:ea typeface="Calibri"/>
              <a:cs typeface="Calibri"/>
              <a:sym typeface="Calibri"/>
            </a:endParaRPr>
          </a:p>
        </p:txBody>
      </p:sp>
      <p:sp>
        <p:nvSpPr>
          <p:cNvPr id="2051" name="Google Shape;2051;p52"/>
          <p:cNvSpPr/>
          <p:nvPr/>
        </p:nvSpPr>
        <p:spPr>
          <a:xfrm>
            <a:off x="7168896" y="1280160"/>
            <a:ext cx="1316700" cy="512100"/>
          </a:xfrm>
          <a:prstGeom prst="roundRect">
            <a:avLst>
              <a:gd fmla="val 14286"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2" name="Google Shape;2052;p52"/>
          <p:cNvSpPr/>
          <p:nvPr/>
        </p:nvSpPr>
        <p:spPr>
          <a:xfrm>
            <a:off x="7306056" y="1280160"/>
            <a:ext cx="1134000" cy="512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2E8F0"/>
              </a:buClr>
              <a:buSzPts val="950"/>
              <a:buFont typeface="Courier New"/>
              <a:buNone/>
            </a:pPr>
            <a:r>
              <a:rPr b="0" i="0" lang="en" sz="950" u="none" cap="none" strike="noStrike">
                <a:solidFill>
                  <a:srgbClr val="E2E8F0"/>
                </a:solidFill>
                <a:latin typeface="Courier New"/>
                <a:ea typeface="Courier New"/>
                <a:cs typeface="Courier New"/>
                <a:sym typeface="Courier New"/>
              </a:rPr>
              <a:t>99%+ entries are zero</a:t>
            </a:r>
            <a:endParaRPr b="0" i="0" sz="950" u="none" cap="none" strike="noStrike">
              <a:solidFill>
                <a:schemeClr val="dk1"/>
              </a:solidFill>
              <a:latin typeface="Calibri"/>
              <a:ea typeface="Calibri"/>
              <a:cs typeface="Calibri"/>
              <a:sym typeface="Calibri"/>
            </a:endParaRPr>
          </a:p>
        </p:txBody>
      </p:sp>
      <p:sp>
        <p:nvSpPr>
          <p:cNvPr id="2053" name="Google Shape;2053;p52"/>
          <p:cNvSpPr/>
          <p:nvPr/>
        </p:nvSpPr>
        <p:spPr>
          <a:xfrm>
            <a:off x="347472" y="2734056"/>
            <a:ext cx="4041600" cy="1691700"/>
          </a:xfrm>
          <a:prstGeom prst="rect">
            <a:avLst/>
          </a:prstGeom>
          <a:solidFill>
            <a:srgbClr val="F5F3FF"/>
          </a:solidFill>
          <a:ln cap="flat" cmpd="sng" w="1905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4" name="Google Shape;2054;p52"/>
          <p:cNvSpPr/>
          <p:nvPr/>
        </p:nvSpPr>
        <p:spPr>
          <a:xfrm>
            <a:off x="347472" y="2734056"/>
            <a:ext cx="4041600" cy="63900"/>
          </a:xfrm>
          <a:prstGeom prst="rect">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5" name="Google Shape;2055;p52"/>
          <p:cNvSpPr/>
          <p:nvPr/>
        </p:nvSpPr>
        <p:spPr>
          <a:xfrm>
            <a:off x="475488" y="2843784"/>
            <a:ext cx="37857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C3AED"/>
              </a:buClr>
              <a:buSzPts val="1300"/>
              <a:buFont typeface="Calibri"/>
              <a:buNone/>
            </a:pPr>
            <a:r>
              <a:rPr b="1" i="0" lang="en" sz="1300" u="none" cap="none" strike="noStrike">
                <a:solidFill>
                  <a:srgbClr val="7C3AED"/>
                </a:solidFill>
                <a:latin typeface="Calibri"/>
                <a:ea typeface="Calibri"/>
                <a:cs typeface="Calibri"/>
                <a:sym typeface="Calibri"/>
              </a:rPr>
              <a:t>🔀  No Word Order</a:t>
            </a:r>
            <a:endParaRPr b="0" i="0" sz="1300" u="none" cap="none" strike="noStrike">
              <a:solidFill>
                <a:schemeClr val="dk1"/>
              </a:solidFill>
              <a:latin typeface="Calibri"/>
              <a:ea typeface="Calibri"/>
              <a:cs typeface="Calibri"/>
              <a:sym typeface="Calibri"/>
            </a:endParaRPr>
          </a:p>
        </p:txBody>
      </p:sp>
      <p:sp>
        <p:nvSpPr>
          <p:cNvPr id="2056" name="Google Shape;2056;p52"/>
          <p:cNvSpPr/>
          <p:nvPr/>
        </p:nvSpPr>
        <p:spPr>
          <a:xfrm>
            <a:off x="475488" y="3172968"/>
            <a:ext cx="2414100" cy="64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11827"/>
              </a:buClr>
              <a:buSzPts val="1150"/>
              <a:buFont typeface="Calibri"/>
              <a:buNone/>
            </a:pPr>
            <a:r>
              <a:rPr b="0" i="0" lang="en" sz="1150" u="none" cap="none" strike="noStrike">
                <a:solidFill>
                  <a:srgbClr val="111827"/>
                </a:solidFill>
                <a:latin typeface="Calibri"/>
                <a:ea typeface="Calibri"/>
                <a:cs typeface="Calibri"/>
                <a:sym typeface="Calibri"/>
              </a:rPr>
              <a:t>"dog bites man" and "man bites dog" have identical representations</a:t>
            </a:r>
            <a:endParaRPr b="0" i="0" sz="1150" u="none" cap="none" strike="noStrike">
              <a:solidFill>
                <a:schemeClr val="dk1"/>
              </a:solidFill>
              <a:latin typeface="Calibri"/>
              <a:ea typeface="Calibri"/>
              <a:cs typeface="Calibri"/>
              <a:sym typeface="Calibri"/>
            </a:endParaRPr>
          </a:p>
        </p:txBody>
      </p:sp>
      <p:sp>
        <p:nvSpPr>
          <p:cNvPr id="2057" name="Google Shape;2057;p52"/>
          <p:cNvSpPr/>
          <p:nvPr/>
        </p:nvSpPr>
        <p:spPr>
          <a:xfrm>
            <a:off x="2962656" y="3118104"/>
            <a:ext cx="1316700" cy="512100"/>
          </a:xfrm>
          <a:prstGeom prst="roundRect">
            <a:avLst>
              <a:gd fmla="val 14286"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8" name="Google Shape;2058;p52"/>
          <p:cNvSpPr/>
          <p:nvPr/>
        </p:nvSpPr>
        <p:spPr>
          <a:xfrm>
            <a:off x="3099816" y="3118104"/>
            <a:ext cx="1134000" cy="512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2E8F0"/>
              </a:buClr>
              <a:buSzPts val="950"/>
              <a:buFont typeface="Courier New"/>
              <a:buNone/>
            </a:pPr>
            <a:r>
              <a:rPr b="0" i="0" lang="en" sz="950" u="none" cap="none" strike="noStrike">
                <a:solidFill>
                  <a:srgbClr val="E2E8F0"/>
                </a:solidFill>
                <a:latin typeface="Courier New"/>
                <a:ea typeface="Courier New"/>
                <a:cs typeface="Courier New"/>
                <a:sym typeface="Courier New"/>
              </a:rPr>
              <a:t>Bag-of-words assumption</a:t>
            </a:r>
            <a:endParaRPr b="0" i="0" sz="950" u="none" cap="none" strike="noStrike">
              <a:solidFill>
                <a:schemeClr val="dk1"/>
              </a:solidFill>
              <a:latin typeface="Calibri"/>
              <a:ea typeface="Calibri"/>
              <a:cs typeface="Calibri"/>
              <a:sym typeface="Calibri"/>
            </a:endParaRPr>
          </a:p>
        </p:txBody>
      </p:sp>
      <p:sp>
        <p:nvSpPr>
          <p:cNvPr id="2059" name="Google Shape;2059;p52"/>
          <p:cNvSpPr/>
          <p:nvPr/>
        </p:nvSpPr>
        <p:spPr>
          <a:xfrm>
            <a:off x="4553712" y="2734056"/>
            <a:ext cx="4041600" cy="1691700"/>
          </a:xfrm>
          <a:prstGeom prst="rect">
            <a:avLst/>
          </a:prstGeom>
          <a:solidFill>
            <a:srgbClr val="F0FDF4"/>
          </a:solidFill>
          <a:ln cap="flat" cmpd="sng" w="1905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0" name="Google Shape;2060;p52"/>
          <p:cNvSpPr/>
          <p:nvPr/>
        </p:nvSpPr>
        <p:spPr>
          <a:xfrm>
            <a:off x="4553712" y="2734056"/>
            <a:ext cx="4041600" cy="63900"/>
          </a:xfrm>
          <a:prstGeom prst="rect">
            <a:avLst/>
          </a:prstGeom>
          <a:solidFill>
            <a:srgbClr val="16A34A"/>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1" name="Google Shape;2061;p52"/>
          <p:cNvSpPr/>
          <p:nvPr/>
        </p:nvSpPr>
        <p:spPr>
          <a:xfrm>
            <a:off x="4681728" y="2843784"/>
            <a:ext cx="37857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A34A"/>
              </a:buClr>
              <a:buSzPts val="1300"/>
              <a:buFont typeface="Calibri"/>
              <a:buNone/>
            </a:pPr>
            <a:r>
              <a:rPr b="1" i="0" lang="en" sz="1300" u="none" cap="none" strike="noStrike">
                <a:solidFill>
                  <a:srgbClr val="16A34A"/>
                </a:solidFill>
                <a:latin typeface="Calibri"/>
                <a:ea typeface="Calibri"/>
                <a:cs typeface="Calibri"/>
                <a:sym typeface="Calibri"/>
              </a:rPr>
              <a:t>🆕  Out-of-Vocabulary</a:t>
            </a:r>
            <a:endParaRPr b="0" i="0" sz="1300" u="none" cap="none" strike="noStrike">
              <a:solidFill>
                <a:schemeClr val="dk1"/>
              </a:solidFill>
              <a:latin typeface="Calibri"/>
              <a:ea typeface="Calibri"/>
              <a:cs typeface="Calibri"/>
              <a:sym typeface="Calibri"/>
            </a:endParaRPr>
          </a:p>
        </p:txBody>
      </p:sp>
      <p:sp>
        <p:nvSpPr>
          <p:cNvPr id="2062" name="Google Shape;2062;p52"/>
          <p:cNvSpPr/>
          <p:nvPr/>
        </p:nvSpPr>
        <p:spPr>
          <a:xfrm>
            <a:off x="4681728" y="3172968"/>
            <a:ext cx="2414100" cy="64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11827"/>
              </a:buClr>
              <a:buSzPts val="1150"/>
              <a:buFont typeface="Calibri"/>
              <a:buNone/>
            </a:pPr>
            <a:r>
              <a:rPr b="0" i="0" lang="en" sz="1150" u="none" cap="none" strike="noStrike">
                <a:solidFill>
                  <a:srgbClr val="111827"/>
                </a:solidFill>
                <a:latin typeface="Calibri"/>
                <a:ea typeface="Calibri"/>
                <a:cs typeface="Calibri"/>
                <a:sym typeface="Calibri"/>
              </a:rPr>
              <a:t>New words at test time have no vector — model is completely blind</a:t>
            </a:r>
            <a:endParaRPr b="0" i="0" sz="1150" u="none" cap="none" strike="noStrike">
              <a:solidFill>
                <a:schemeClr val="dk1"/>
              </a:solidFill>
              <a:latin typeface="Calibri"/>
              <a:ea typeface="Calibri"/>
              <a:cs typeface="Calibri"/>
              <a:sym typeface="Calibri"/>
            </a:endParaRPr>
          </a:p>
        </p:txBody>
      </p:sp>
      <p:sp>
        <p:nvSpPr>
          <p:cNvPr id="2063" name="Google Shape;2063;p52"/>
          <p:cNvSpPr/>
          <p:nvPr/>
        </p:nvSpPr>
        <p:spPr>
          <a:xfrm>
            <a:off x="7168896" y="3118104"/>
            <a:ext cx="1316700" cy="512100"/>
          </a:xfrm>
          <a:prstGeom prst="roundRect">
            <a:avLst>
              <a:gd fmla="val 14286"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4" name="Google Shape;2064;p52"/>
          <p:cNvSpPr/>
          <p:nvPr/>
        </p:nvSpPr>
        <p:spPr>
          <a:xfrm>
            <a:off x="7306056" y="3118104"/>
            <a:ext cx="1134000" cy="512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2E8F0"/>
              </a:buClr>
              <a:buSzPts val="950"/>
              <a:buFont typeface="Courier New"/>
              <a:buNone/>
            </a:pPr>
            <a:r>
              <a:rPr b="0" i="0" lang="en" sz="950" u="none" cap="none" strike="noStrike">
                <a:solidFill>
                  <a:srgbClr val="E2E8F0"/>
                </a:solidFill>
                <a:latin typeface="Courier New"/>
                <a:ea typeface="Courier New"/>
                <a:cs typeface="Courier New"/>
                <a:sym typeface="Courier New"/>
              </a:rPr>
              <a:t>Zero vector = no info</a:t>
            </a:r>
            <a:endParaRPr b="0" i="0" sz="950" u="none" cap="none" strike="noStrike">
              <a:solidFill>
                <a:schemeClr val="dk1"/>
              </a:solidFill>
              <a:latin typeface="Calibri"/>
              <a:ea typeface="Calibri"/>
              <a:cs typeface="Calibri"/>
              <a:sym typeface="Calibri"/>
            </a:endParaRPr>
          </a:p>
        </p:txBody>
      </p:sp>
      <p:sp>
        <p:nvSpPr>
          <p:cNvPr id="2065" name="Google Shape;2065;p52"/>
          <p:cNvSpPr/>
          <p:nvPr/>
        </p:nvSpPr>
        <p:spPr>
          <a:xfrm>
            <a:off x="347472" y="4389120"/>
            <a:ext cx="8449200" cy="420600"/>
          </a:xfrm>
          <a:prstGeom prst="rect">
            <a:avLst/>
          </a:prstGeom>
          <a:solidFill>
            <a:srgbClr val="DC2626"/>
          </a:solidFill>
          <a:ln cap="flat" cmpd="sng" w="12700">
            <a:solidFill>
              <a:srgbClr val="DC262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6" name="Google Shape;2066;p52"/>
          <p:cNvSpPr/>
          <p:nvPr/>
        </p:nvSpPr>
        <p:spPr>
          <a:xfrm>
            <a:off x="502920" y="4389120"/>
            <a:ext cx="8229600" cy="420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Calibri"/>
              <a:buNone/>
            </a:pPr>
            <a:r>
              <a:rPr b="1" i="1" lang="en" sz="1300" u="none" cap="none" strike="noStrike">
                <a:solidFill>
                  <a:srgbClr val="FFFFFF"/>
                </a:solidFill>
                <a:latin typeface="Calibri"/>
                <a:ea typeface="Calibri"/>
                <a:cs typeface="Calibri"/>
                <a:sym typeface="Calibri"/>
              </a:rPr>
              <a:t>→  These are fundamental flaws. We need a smarter representation.</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2071" name="Shape 2071"/>
        <p:cNvGrpSpPr/>
        <p:nvPr/>
      </p:nvGrpSpPr>
      <p:grpSpPr>
        <a:xfrm>
          <a:off x="0" y="0"/>
          <a:ext cx="0" cy="0"/>
          <a:chOff x="0" y="0"/>
          <a:chExt cx="0" cy="0"/>
        </a:xfrm>
      </p:grpSpPr>
      <p:sp>
        <p:nvSpPr>
          <p:cNvPr id="2072" name="Google Shape;2072;p53"/>
          <p:cNvSpPr/>
          <p:nvPr/>
        </p:nvSpPr>
        <p:spPr>
          <a:xfrm>
            <a:off x="0" y="0"/>
            <a:ext cx="9144000" cy="63900"/>
          </a:xfrm>
          <a:prstGeom prst="rect">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3" name="Google Shape;2073;p53"/>
          <p:cNvSpPr/>
          <p:nvPr/>
        </p:nvSpPr>
        <p:spPr>
          <a:xfrm>
            <a:off x="347472" y="164592"/>
            <a:ext cx="63900" cy="512100"/>
          </a:xfrm>
          <a:prstGeom prst="rect">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4" name="Google Shape;2074;p53"/>
          <p:cNvSpPr/>
          <p:nvPr/>
        </p:nvSpPr>
        <p:spPr>
          <a:xfrm>
            <a:off x="521208" y="146304"/>
            <a:ext cx="82296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C3AED"/>
              </a:buClr>
              <a:buSzPts val="2600"/>
              <a:buFont typeface="Calibri"/>
              <a:buNone/>
            </a:pPr>
            <a:r>
              <a:rPr b="1" i="0" lang="en" sz="2600" u="none" cap="none" strike="noStrike">
                <a:solidFill>
                  <a:srgbClr val="7C3AED"/>
                </a:solidFill>
                <a:latin typeface="Calibri"/>
                <a:ea typeface="Calibri"/>
                <a:cs typeface="Calibri"/>
                <a:sym typeface="Calibri"/>
              </a:rPr>
              <a:t>Why Sparsity Breaks Similarity</a:t>
            </a:r>
            <a:endParaRPr b="0" i="0" sz="2600" u="none" cap="none" strike="noStrike">
              <a:solidFill>
                <a:schemeClr val="dk1"/>
              </a:solidFill>
              <a:latin typeface="Calibri"/>
              <a:ea typeface="Calibri"/>
              <a:cs typeface="Calibri"/>
              <a:sym typeface="Calibri"/>
            </a:endParaRPr>
          </a:p>
        </p:txBody>
      </p:sp>
      <p:cxnSp>
        <p:nvCxnSpPr>
          <p:cNvPr id="2075" name="Google Shape;2075;p53"/>
          <p:cNvCxnSpPr/>
          <p:nvPr/>
        </p:nvCxnSpPr>
        <p:spPr>
          <a:xfrm>
            <a:off x="347472" y="713232"/>
            <a:ext cx="8449200" cy="0"/>
          </a:xfrm>
          <a:prstGeom prst="straightConnector1">
            <a:avLst/>
          </a:prstGeom>
          <a:noFill/>
          <a:ln cap="flat" cmpd="sng" w="15225">
            <a:solidFill>
              <a:srgbClr val="7C3AED"/>
            </a:solidFill>
            <a:prstDash val="solid"/>
            <a:round/>
            <a:headEnd len="sm" w="sm" type="none"/>
            <a:tailEnd len="sm" w="sm" type="none"/>
          </a:ln>
        </p:spPr>
      </p:cxnSp>
      <p:sp>
        <p:nvSpPr>
          <p:cNvPr id="2076" name="Google Shape;2076;p53"/>
          <p:cNvSpPr/>
          <p:nvPr/>
        </p:nvSpPr>
        <p:spPr>
          <a:xfrm>
            <a:off x="347472" y="749808"/>
            <a:ext cx="8449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200"/>
              <a:buFont typeface="Calibri"/>
              <a:buNone/>
            </a:pPr>
            <a:r>
              <a:rPr b="0" i="1" lang="en" sz="1200" u="none" cap="none" strike="noStrike">
                <a:solidFill>
                  <a:srgbClr val="6B7280"/>
                </a:solidFill>
                <a:latin typeface="Calibri"/>
                <a:ea typeface="Calibri"/>
                <a:cs typeface="Calibri"/>
                <a:sym typeface="Calibri"/>
              </a:rPr>
              <a:t>The dot product between any two one-hot vectors is always zero</a:t>
            </a:r>
            <a:endParaRPr b="0" i="0" sz="1200" u="none" cap="none" strike="noStrike">
              <a:solidFill>
                <a:schemeClr val="dk1"/>
              </a:solidFill>
              <a:latin typeface="Calibri"/>
              <a:ea typeface="Calibri"/>
              <a:cs typeface="Calibri"/>
              <a:sym typeface="Calibri"/>
            </a:endParaRPr>
          </a:p>
        </p:txBody>
      </p:sp>
      <p:sp>
        <p:nvSpPr>
          <p:cNvPr id="2077" name="Google Shape;2077;p53"/>
          <p:cNvSpPr/>
          <p:nvPr/>
        </p:nvSpPr>
        <p:spPr>
          <a:xfrm>
            <a:off x="347472" y="896112"/>
            <a:ext cx="54864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C3AED"/>
              </a:buClr>
              <a:buSzPts val="1300"/>
              <a:buFont typeface="Calibri"/>
              <a:buNone/>
            </a:pPr>
            <a:r>
              <a:rPr b="1" i="0" lang="en" sz="1300" u="none" cap="none" strike="noStrike">
                <a:solidFill>
                  <a:srgbClr val="7C3AED"/>
                </a:solidFill>
                <a:latin typeface="Calibri"/>
                <a:ea typeface="Calibri"/>
                <a:cs typeface="Calibri"/>
                <a:sym typeface="Calibri"/>
              </a:rPr>
              <a:t>Cosine Similarity between one-hot vectors:</a:t>
            </a:r>
            <a:endParaRPr b="0" i="0" sz="1300" u="none" cap="none" strike="noStrike">
              <a:solidFill>
                <a:schemeClr val="dk1"/>
              </a:solidFill>
              <a:latin typeface="Calibri"/>
              <a:ea typeface="Calibri"/>
              <a:cs typeface="Calibri"/>
              <a:sym typeface="Calibri"/>
            </a:endParaRPr>
          </a:p>
        </p:txBody>
      </p:sp>
      <p:sp>
        <p:nvSpPr>
          <p:cNvPr id="2078" name="Google Shape;2078;p53"/>
          <p:cNvSpPr/>
          <p:nvPr/>
        </p:nvSpPr>
        <p:spPr>
          <a:xfrm>
            <a:off x="347472" y="1298448"/>
            <a:ext cx="713100" cy="402300"/>
          </a:xfrm>
          <a:prstGeom prst="rect">
            <a:avLst/>
          </a:prstGeom>
          <a:solidFill>
            <a:srgbClr val="DBEAFE"/>
          </a:solidFill>
          <a:ln cap="flat" cmpd="sng" w="15225">
            <a:solidFill>
              <a:srgbClr val="2563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9" name="Google Shape;2079;p53"/>
          <p:cNvSpPr/>
          <p:nvPr/>
        </p:nvSpPr>
        <p:spPr>
          <a:xfrm>
            <a:off x="347472" y="1298448"/>
            <a:ext cx="7131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563EB"/>
              </a:buClr>
              <a:buSzPts val="1100"/>
              <a:buFont typeface="Courier New"/>
              <a:buNone/>
            </a:pPr>
            <a:r>
              <a:rPr b="1" i="0" lang="en" sz="1100" u="none" cap="none" strike="noStrike">
                <a:solidFill>
                  <a:srgbClr val="2563EB"/>
                </a:solidFill>
                <a:latin typeface="Courier New"/>
                <a:ea typeface="Courier New"/>
                <a:cs typeface="Courier New"/>
                <a:sym typeface="Courier New"/>
              </a:rPr>
              <a:t>cat</a:t>
            </a:r>
            <a:endParaRPr b="0" i="0" sz="1100" u="none" cap="none" strike="noStrike">
              <a:solidFill>
                <a:schemeClr val="dk1"/>
              </a:solidFill>
              <a:latin typeface="Calibri"/>
              <a:ea typeface="Calibri"/>
              <a:cs typeface="Calibri"/>
              <a:sym typeface="Calibri"/>
            </a:endParaRPr>
          </a:p>
        </p:txBody>
      </p:sp>
      <p:sp>
        <p:nvSpPr>
          <p:cNvPr id="2080" name="Google Shape;2080;p53"/>
          <p:cNvSpPr/>
          <p:nvPr/>
        </p:nvSpPr>
        <p:spPr>
          <a:xfrm>
            <a:off x="1097280" y="1298448"/>
            <a:ext cx="292500" cy="402300"/>
          </a:xfrm>
          <a:prstGeom prst="rect">
            <a:avLst/>
          </a:prstGeom>
          <a:solidFill>
            <a:srgbClr val="DBEAFE"/>
          </a:solidFill>
          <a:ln cap="flat" cmpd="sng" w="19050">
            <a:solidFill>
              <a:srgbClr val="2563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1" name="Google Shape;2081;p53"/>
          <p:cNvSpPr/>
          <p:nvPr/>
        </p:nvSpPr>
        <p:spPr>
          <a:xfrm>
            <a:off x="1097280" y="1298448"/>
            <a:ext cx="2925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563EB"/>
              </a:buClr>
              <a:buSzPts val="1000"/>
              <a:buFont typeface="Courier New"/>
              <a:buNone/>
            </a:pPr>
            <a:r>
              <a:rPr b="1" i="0" lang="en" sz="1000" u="none" cap="none" strike="noStrike">
                <a:solidFill>
                  <a:srgbClr val="2563EB"/>
                </a:solidFill>
                <a:latin typeface="Courier New"/>
                <a:ea typeface="Courier New"/>
                <a:cs typeface="Courier New"/>
                <a:sym typeface="Courier New"/>
              </a:rPr>
              <a:t>1</a:t>
            </a:r>
            <a:endParaRPr b="0" i="0" sz="1000" u="none" cap="none" strike="noStrike">
              <a:solidFill>
                <a:schemeClr val="dk1"/>
              </a:solidFill>
              <a:latin typeface="Calibri"/>
              <a:ea typeface="Calibri"/>
              <a:cs typeface="Calibri"/>
              <a:sym typeface="Calibri"/>
            </a:endParaRPr>
          </a:p>
        </p:txBody>
      </p:sp>
      <p:sp>
        <p:nvSpPr>
          <p:cNvPr id="2082" name="Google Shape;2082;p53"/>
          <p:cNvSpPr/>
          <p:nvPr/>
        </p:nvSpPr>
        <p:spPr>
          <a:xfrm>
            <a:off x="1389888" y="1298448"/>
            <a:ext cx="292500" cy="4023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3" name="Google Shape;2083;p53"/>
          <p:cNvSpPr/>
          <p:nvPr/>
        </p:nvSpPr>
        <p:spPr>
          <a:xfrm>
            <a:off x="1389888" y="1298448"/>
            <a:ext cx="2925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000"/>
              <a:buFont typeface="Courier New"/>
              <a:buNone/>
            </a:pPr>
            <a:r>
              <a:rPr b="0" i="0" lang="en" sz="1000" u="none" cap="none" strike="noStrike">
                <a:solidFill>
                  <a:srgbClr val="6B7280"/>
                </a:solidFill>
                <a:latin typeface="Courier New"/>
                <a:ea typeface="Courier New"/>
                <a:cs typeface="Courier New"/>
                <a:sym typeface="Courier New"/>
              </a:rPr>
              <a:t>0</a:t>
            </a:r>
            <a:endParaRPr b="0" i="0" sz="1000" u="none" cap="none" strike="noStrike">
              <a:solidFill>
                <a:schemeClr val="dk1"/>
              </a:solidFill>
              <a:latin typeface="Calibri"/>
              <a:ea typeface="Calibri"/>
              <a:cs typeface="Calibri"/>
              <a:sym typeface="Calibri"/>
            </a:endParaRPr>
          </a:p>
        </p:txBody>
      </p:sp>
      <p:sp>
        <p:nvSpPr>
          <p:cNvPr id="2084" name="Google Shape;2084;p53"/>
          <p:cNvSpPr/>
          <p:nvPr/>
        </p:nvSpPr>
        <p:spPr>
          <a:xfrm>
            <a:off x="1682496" y="1298448"/>
            <a:ext cx="292500" cy="4023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5" name="Google Shape;2085;p53"/>
          <p:cNvSpPr/>
          <p:nvPr/>
        </p:nvSpPr>
        <p:spPr>
          <a:xfrm>
            <a:off x="1682496" y="1298448"/>
            <a:ext cx="2925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000"/>
              <a:buFont typeface="Courier New"/>
              <a:buNone/>
            </a:pPr>
            <a:r>
              <a:rPr b="0" i="0" lang="en" sz="1000" u="none" cap="none" strike="noStrike">
                <a:solidFill>
                  <a:srgbClr val="6B7280"/>
                </a:solidFill>
                <a:latin typeface="Courier New"/>
                <a:ea typeface="Courier New"/>
                <a:cs typeface="Courier New"/>
                <a:sym typeface="Courier New"/>
              </a:rPr>
              <a:t>0</a:t>
            </a:r>
            <a:endParaRPr b="0" i="0" sz="1000" u="none" cap="none" strike="noStrike">
              <a:solidFill>
                <a:schemeClr val="dk1"/>
              </a:solidFill>
              <a:latin typeface="Calibri"/>
              <a:ea typeface="Calibri"/>
              <a:cs typeface="Calibri"/>
              <a:sym typeface="Calibri"/>
            </a:endParaRPr>
          </a:p>
        </p:txBody>
      </p:sp>
      <p:sp>
        <p:nvSpPr>
          <p:cNvPr id="2086" name="Google Shape;2086;p53"/>
          <p:cNvSpPr/>
          <p:nvPr/>
        </p:nvSpPr>
        <p:spPr>
          <a:xfrm>
            <a:off x="1975104" y="1298448"/>
            <a:ext cx="292500" cy="4023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7" name="Google Shape;2087;p53"/>
          <p:cNvSpPr/>
          <p:nvPr/>
        </p:nvSpPr>
        <p:spPr>
          <a:xfrm>
            <a:off x="1975104" y="1298448"/>
            <a:ext cx="2925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000"/>
              <a:buFont typeface="Courier New"/>
              <a:buNone/>
            </a:pPr>
            <a:r>
              <a:rPr b="0" i="0" lang="en" sz="1000" u="none" cap="none" strike="noStrike">
                <a:solidFill>
                  <a:srgbClr val="6B7280"/>
                </a:solidFill>
                <a:latin typeface="Courier New"/>
                <a:ea typeface="Courier New"/>
                <a:cs typeface="Courier New"/>
                <a:sym typeface="Courier New"/>
              </a:rPr>
              <a:t>0</a:t>
            </a:r>
            <a:endParaRPr b="0" i="0" sz="1000" u="none" cap="none" strike="noStrike">
              <a:solidFill>
                <a:schemeClr val="dk1"/>
              </a:solidFill>
              <a:latin typeface="Calibri"/>
              <a:ea typeface="Calibri"/>
              <a:cs typeface="Calibri"/>
              <a:sym typeface="Calibri"/>
            </a:endParaRPr>
          </a:p>
        </p:txBody>
      </p:sp>
      <p:sp>
        <p:nvSpPr>
          <p:cNvPr id="2088" name="Google Shape;2088;p53"/>
          <p:cNvSpPr/>
          <p:nvPr/>
        </p:nvSpPr>
        <p:spPr>
          <a:xfrm>
            <a:off x="2267712" y="1298448"/>
            <a:ext cx="292500" cy="4023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9" name="Google Shape;2089;p53"/>
          <p:cNvSpPr/>
          <p:nvPr/>
        </p:nvSpPr>
        <p:spPr>
          <a:xfrm>
            <a:off x="2267712" y="1298448"/>
            <a:ext cx="2925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000"/>
              <a:buFont typeface="Courier New"/>
              <a:buNone/>
            </a:pPr>
            <a:r>
              <a:rPr b="0" i="0" lang="en" sz="1000" u="none" cap="none" strike="noStrike">
                <a:solidFill>
                  <a:srgbClr val="6B7280"/>
                </a:solidFill>
                <a:latin typeface="Courier New"/>
                <a:ea typeface="Courier New"/>
                <a:cs typeface="Courier New"/>
                <a:sym typeface="Courier New"/>
              </a:rPr>
              <a:t>0</a:t>
            </a:r>
            <a:endParaRPr b="0" i="0" sz="1000" u="none" cap="none" strike="noStrike">
              <a:solidFill>
                <a:schemeClr val="dk1"/>
              </a:solidFill>
              <a:latin typeface="Calibri"/>
              <a:ea typeface="Calibri"/>
              <a:cs typeface="Calibri"/>
              <a:sym typeface="Calibri"/>
            </a:endParaRPr>
          </a:p>
        </p:txBody>
      </p:sp>
      <p:sp>
        <p:nvSpPr>
          <p:cNvPr id="2090" name="Google Shape;2090;p53"/>
          <p:cNvSpPr/>
          <p:nvPr/>
        </p:nvSpPr>
        <p:spPr>
          <a:xfrm>
            <a:off x="2560320" y="1298448"/>
            <a:ext cx="292500" cy="4023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1" name="Google Shape;2091;p53"/>
          <p:cNvSpPr/>
          <p:nvPr/>
        </p:nvSpPr>
        <p:spPr>
          <a:xfrm>
            <a:off x="2560320" y="1298448"/>
            <a:ext cx="2925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000"/>
              <a:buFont typeface="Courier New"/>
              <a:buNone/>
            </a:pPr>
            <a:r>
              <a:rPr b="0" i="0" lang="en" sz="1000" u="none" cap="none" strike="noStrike">
                <a:solidFill>
                  <a:srgbClr val="6B7280"/>
                </a:solidFill>
                <a:latin typeface="Courier New"/>
                <a:ea typeface="Courier New"/>
                <a:cs typeface="Courier New"/>
                <a:sym typeface="Courier New"/>
              </a:rPr>
              <a:t>0</a:t>
            </a:r>
            <a:endParaRPr b="0" i="0" sz="1000" u="none" cap="none" strike="noStrike">
              <a:solidFill>
                <a:schemeClr val="dk1"/>
              </a:solidFill>
              <a:latin typeface="Calibri"/>
              <a:ea typeface="Calibri"/>
              <a:cs typeface="Calibri"/>
              <a:sym typeface="Calibri"/>
            </a:endParaRPr>
          </a:p>
        </p:txBody>
      </p:sp>
      <p:sp>
        <p:nvSpPr>
          <p:cNvPr id="2092" name="Google Shape;2092;p53"/>
          <p:cNvSpPr/>
          <p:nvPr/>
        </p:nvSpPr>
        <p:spPr>
          <a:xfrm>
            <a:off x="2852928" y="1298448"/>
            <a:ext cx="292500" cy="4023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3" name="Google Shape;2093;p53"/>
          <p:cNvSpPr/>
          <p:nvPr/>
        </p:nvSpPr>
        <p:spPr>
          <a:xfrm>
            <a:off x="2852928" y="1298448"/>
            <a:ext cx="2925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000"/>
              <a:buFont typeface="Courier New"/>
              <a:buNone/>
            </a:pPr>
            <a:r>
              <a:rPr b="0" i="0" lang="en" sz="1000" u="none" cap="none" strike="noStrike">
                <a:solidFill>
                  <a:srgbClr val="6B7280"/>
                </a:solidFill>
                <a:latin typeface="Courier New"/>
                <a:ea typeface="Courier New"/>
                <a:cs typeface="Courier New"/>
                <a:sym typeface="Courier New"/>
              </a:rPr>
              <a:t>0</a:t>
            </a:r>
            <a:endParaRPr b="0" i="0" sz="1000" u="none" cap="none" strike="noStrike">
              <a:solidFill>
                <a:schemeClr val="dk1"/>
              </a:solidFill>
              <a:latin typeface="Calibri"/>
              <a:ea typeface="Calibri"/>
              <a:cs typeface="Calibri"/>
              <a:sym typeface="Calibri"/>
            </a:endParaRPr>
          </a:p>
        </p:txBody>
      </p:sp>
      <p:sp>
        <p:nvSpPr>
          <p:cNvPr id="2094" name="Google Shape;2094;p53"/>
          <p:cNvSpPr/>
          <p:nvPr/>
        </p:nvSpPr>
        <p:spPr>
          <a:xfrm>
            <a:off x="3145536" y="1298448"/>
            <a:ext cx="292500" cy="4023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5" name="Google Shape;2095;p53"/>
          <p:cNvSpPr/>
          <p:nvPr/>
        </p:nvSpPr>
        <p:spPr>
          <a:xfrm>
            <a:off x="3145536" y="1298448"/>
            <a:ext cx="2925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000"/>
              <a:buFont typeface="Courier New"/>
              <a:buNone/>
            </a:pPr>
            <a:r>
              <a:rPr b="0" i="0" lang="en" sz="1000" u="none" cap="none" strike="noStrike">
                <a:solidFill>
                  <a:srgbClr val="6B7280"/>
                </a:solidFill>
                <a:latin typeface="Courier New"/>
                <a:ea typeface="Courier New"/>
                <a:cs typeface="Courier New"/>
                <a:sym typeface="Courier New"/>
              </a:rPr>
              <a:t>0</a:t>
            </a:r>
            <a:endParaRPr b="0" i="0" sz="1000" u="none" cap="none" strike="noStrike">
              <a:solidFill>
                <a:schemeClr val="dk1"/>
              </a:solidFill>
              <a:latin typeface="Calibri"/>
              <a:ea typeface="Calibri"/>
              <a:cs typeface="Calibri"/>
              <a:sym typeface="Calibri"/>
            </a:endParaRPr>
          </a:p>
        </p:txBody>
      </p:sp>
      <p:sp>
        <p:nvSpPr>
          <p:cNvPr id="2096" name="Google Shape;2096;p53"/>
          <p:cNvSpPr/>
          <p:nvPr/>
        </p:nvSpPr>
        <p:spPr>
          <a:xfrm>
            <a:off x="3566160" y="1298448"/>
            <a:ext cx="2559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B3A6B"/>
              </a:buClr>
              <a:buSzPts val="2200"/>
              <a:buFont typeface="Calibri"/>
              <a:buNone/>
            </a:pPr>
            <a:r>
              <a:rPr b="1" i="0" lang="en" sz="2200" u="none" cap="none" strike="noStrike">
                <a:solidFill>
                  <a:srgbClr val="1B3A6B"/>
                </a:solidFill>
                <a:latin typeface="Calibri"/>
                <a:ea typeface="Calibri"/>
                <a:cs typeface="Calibri"/>
                <a:sym typeface="Calibri"/>
              </a:rPr>
              <a:t>·</a:t>
            </a:r>
            <a:endParaRPr b="0" i="0" sz="2200" u="none" cap="none" strike="noStrike">
              <a:solidFill>
                <a:schemeClr val="dk1"/>
              </a:solidFill>
              <a:latin typeface="Calibri"/>
              <a:ea typeface="Calibri"/>
              <a:cs typeface="Calibri"/>
              <a:sym typeface="Calibri"/>
            </a:endParaRPr>
          </a:p>
        </p:txBody>
      </p:sp>
      <p:sp>
        <p:nvSpPr>
          <p:cNvPr id="2097" name="Google Shape;2097;p53"/>
          <p:cNvSpPr/>
          <p:nvPr/>
        </p:nvSpPr>
        <p:spPr>
          <a:xfrm>
            <a:off x="3858768" y="1298448"/>
            <a:ext cx="713100" cy="402300"/>
          </a:xfrm>
          <a:prstGeom prst="rect">
            <a:avLst/>
          </a:prstGeom>
          <a:solidFill>
            <a:srgbClr val="EDE9FE"/>
          </a:solidFill>
          <a:ln cap="flat" cmpd="sng" w="15225">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8" name="Google Shape;2098;p53"/>
          <p:cNvSpPr/>
          <p:nvPr/>
        </p:nvSpPr>
        <p:spPr>
          <a:xfrm>
            <a:off x="3858768" y="1298448"/>
            <a:ext cx="7131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C3AED"/>
              </a:buClr>
              <a:buSzPts val="1100"/>
              <a:buFont typeface="Courier New"/>
              <a:buNone/>
            </a:pPr>
            <a:r>
              <a:rPr b="1" i="0" lang="en" sz="1100" u="none" cap="none" strike="noStrike">
                <a:solidFill>
                  <a:srgbClr val="7C3AED"/>
                </a:solidFill>
                <a:latin typeface="Courier New"/>
                <a:ea typeface="Courier New"/>
                <a:cs typeface="Courier New"/>
                <a:sym typeface="Courier New"/>
              </a:rPr>
              <a:t>kitten</a:t>
            </a:r>
            <a:endParaRPr b="0" i="0" sz="1100" u="none" cap="none" strike="noStrike">
              <a:solidFill>
                <a:schemeClr val="dk1"/>
              </a:solidFill>
              <a:latin typeface="Calibri"/>
              <a:ea typeface="Calibri"/>
              <a:cs typeface="Calibri"/>
              <a:sym typeface="Calibri"/>
            </a:endParaRPr>
          </a:p>
        </p:txBody>
      </p:sp>
      <p:sp>
        <p:nvSpPr>
          <p:cNvPr id="2099" name="Google Shape;2099;p53"/>
          <p:cNvSpPr/>
          <p:nvPr/>
        </p:nvSpPr>
        <p:spPr>
          <a:xfrm>
            <a:off x="4608576" y="1298448"/>
            <a:ext cx="292500" cy="4023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0" name="Google Shape;2100;p53"/>
          <p:cNvSpPr/>
          <p:nvPr/>
        </p:nvSpPr>
        <p:spPr>
          <a:xfrm>
            <a:off x="4608576" y="1298448"/>
            <a:ext cx="2925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000"/>
              <a:buFont typeface="Courier New"/>
              <a:buNone/>
            </a:pPr>
            <a:r>
              <a:rPr b="0" i="0" lang="en" sz="1000" u="none" cap="none" strike="noStrike">
                <a:solidFill>
                  <a:srgbClr val="6B7280"/>
                </a:solidFill>
                <a:latin typeface="Courier New"/>
                <a:ea typeface="Courier New"/>
                <a:cs typeface="Courier New"/>
                <a:sym typeface="Courier New"/>
              </a:rPr>
              <a:t>0</a:t>
            </a:r>
            <a:endParaRPr b="0" i="0" sz="1000" u="none" cap="none" strike="noStrike">
              <a:solidFill>
                <a:schemeClr val="dk1"/>
              </a:solidFill>
              <a:latin typeface="Calibri"/>
              <a:ea typeface="Calibri"/>
              <a:cs typeface="Calibri"/>
              <a:sym typeface="Calibri"/>
            </a:endParaRPr>
          </a:p>
        </p:txBody>
      </p:sp>
      <p:sp>
        <p:nvSpPr>
          <p:cNvPr id="2101" name="Google Shape;2101;p53"/>
          <p:cNvSpPr/>
          <p:nvPr/>
        </p:nvSpPr>
        <p:spPr>
          <a:xfrm>
            <a:off x="4901184" y="1298448"/>
            <a:ext cx="292500" cy="4023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2" name="Google Shape;2102;p53"/>
          <p:cNvSpPr/>
          <p:nvPr/>
        </p:nvSpPr>
        <p:spPr>
          <a:xfrm>
            <a:off x="4901184" y="1298448"/>
            <a:ext cx="2925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000"/>
              <a:buFont typeface="Courier New"/>
              <a:buNone/>
            </a:pPr>
            <a:r>
              <a:rPr b="0" i="0" lang="en" sz="1000" u="none" cap="none" strike="noStrike">
                <a:solidFill>
                  <a:srgbClr val="6B7280"/>
                </a:solidFill>
                <a:latin typeface="Courier New"/>
                <a:ea typeface="Courier New"/>
                <a:cs typeface="Courier New"/>
                <a:sym typeface="Courier New"/>
              </a:rPr>
              <a:t>0</a:t>
            </a:r>
            <a:endParaRPr b="0" i="0" sz="1000" u="none" cap="none" strike="noStrike">
              <a:solidFill>
                <a:schemeClr val="dk1"/>
              </a:solidFill>
              <a:latin typeface="Calibri"/>
              <a:ea typeface="Calibri"/>
              <a:cs typeface="Calibri"/>
              <a:sym typeface="Calibri"/>
            </a:endParaRPr>
          </a:p>
        </p:txBody>
      </p:sp>
      <p:sp>
        <p:nvSpPr>
          <p:cNvPr id="2103" name="Google Shape;2103;p53"/>
          <p:cNvSpPr/>
          <p:nvPr/>
        </p:nvSpPr>
        <p:spPr>
          <a:xfrm>
            <a:off x="5193792" y="1298448"/>
            <a:ext cx="292500" cy="4023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4" name="Google Shape;2104;p53"/>
          <p:cNvSpPr/>
          <p:nvPr/>
        </p:nvSpPr>
        <p:spPr>
          <a:xfrm>
            <a:off x="5193792" y="1298448"/>
            <a:ext cx="2925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000"/>
              <a:buFont typeface="Courier New"/>
              <a:buNone/>
            </a:pPr>
            <a:r>
              <a:rPr b="0" i="0" lang="en" sz="1000" u="none" cap="none" strike="noStrike">
                <a:solidFill>
                  <a:srgbClr val="6B7280"/>
                </a:solidFill>
                <a:latin typeface="Courier New"/>
                <a:ea typeface="Courier New"/>
                <a:cs typeface="Courier New"/>
                <a:sym typeface="Courier New"/>
              </a:rPr>
              <a:t>0</a:t>
            </a:r>
            <a:endParaRPr b="0" i="0" sz="1000" u="none" cap="none" strike="noStrike">
              <a:solidFill>
                <a:schemeClr val="dk1"/>
              </a:solidFill>
              <a:latin typeface="Calibri"/>
              <a:ea typeface="Calibri"/>
              <a:cs typeface="Calibri"/>
              <a:sym typeface="Calibri"/>
            </a:endParaRPr>
          </a:p>
        </p:txBody>
      </p:sp>
      <p:sp>
        <p:nvSpPr>
          <p:cNvPr id="2105" name="Google Shape;2105;p53"/>
          <p:cNvSpPr/>
          <p:nvPr/>
        </p:nvSpPr>
        <p:spPr>
          <a:xfrm>
            <a:off x="5486400" y="1298448"/>
            <a:ext cx="292500" cy="4023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6" name="Google Shape;2106;p53"/>
          <p:cNvSpPr/>
          <p:nvPr/>
        </p:nvSpPr>
        <p:spPr>
          <a:xfrm>
            <a:off x="5486400" y="1298448"/>
            <a:ext cx="2925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000"/>
              <a:buFont typeface="Courier New"/>
              <a:buNone/>
            </a:pPr>
            <a:r>
              <a:rPr b="0" i="0" lang="en" sz="1000" u="none" cap="none" strike="noStrike">
                <a:solidFill>
                  <a:srgbClr val="6B7280"/>
                </a:solidFill>
                <a:latin typeface="Courier New"/>
                <a:ea typeface="Courier New"/>
                <a:cs typeface="Courier New"/>
                <a:sym typeface="Courier New"/>
              </a:rPr>
              <a:t>0</a:t>
            </a:r>
            <a:endParaRPr b="0" i="0" sz="1000" u="none" cap="none" strike="noStrike">
              <a:solidFill>
                <a:schemeClr val="dk1"/>
              </a:solidFill>
              <a:latin typeface="Calibri"/>
              <a:ea typeface="Calibri"/>
              <a:cs typeface="Calibri"/>
              <a:sym typeface="Calibri"/>
            </a:endParaRPr>
          </a:p>
        </p:txBody>
      </p:sp>
      <p:sp>
        <p:nvSpPr>
          <p:cNvPr id="2107" name="Google Shape;2107;p53"/>
          <p:cNvSpPr/>
          <p:nvPr/>
        </p:nvSpPr>
        <p:spPr>
          <a:xfrm>
            <a:off x="5779008" y="1298448"/>
            <a:ext cx="292500" cy="402300"/>
          </a:xfrm>
          <a:prstGeom prst="rect">
            <a:avLst/>
          </a:prstGeom>
          <a:solidFill>
            <a:srgbClr val="EDE9FE"/>
          </a:solidFill>
          <a:ln cap="flat" cmpd="sng" w="1905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8" name="Google Shape;2108;p53"/>
          <p:cNvSpPr/>
          <p:nvPr/>
        </p:nvSpPr>
        <p:spPr>
          <a:xfrm>
            <a:off x="5779008" y="1298448"/>
            <a:ext cx="2925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C3AED"/>
              </a:buClr>
              <a:buSzPts val="1000"/>
              <a:buFont typeface="Courier New"/>
              <a:buNone/>
            </a:pPr>
            <a:r>
              <a:rPr b="1" i="0" lang="en" sz="1000" u="none" cap="none" strike="noStrike">
                <a:solidFill>
                  <a:srgbClr val="7C3AED"/>
                </a:solidFill>
                <a:latin typeface="Courier New"/>
                <a:ea typeface="Courier New"/>
                <a:cs typeface="Courier New"/>
                <a:sym typeface="Courier New"/>
              </a:rPr>
              <a:t>1</a:t>
            </a:r>
            <a:endParaRPr b="0" i="0" sz="1000" u="none" cap="none" strike="noStrike">
              <a:solidFill>
                <a:schemeClr val="dk1"/>
              </a:solidFill>
              <a:latin typeface="Calibri"/>
              <a:ea typeface="Calibri"/>
              <a:cs typeface="Calibri"/>
              <a:sym typeface="Calibri"/>
            </a:endParaRPr>
          </a:p>
        </p:txBody>
      </p:sp>
      <p:sp>
        <p:nvSpPr>
          <p:cNvPr id="2109" name="Google Shape;2109;p53"/>
          <p:cNvSpPr/>
          <p:nvPr/>
        </p:nvSpPr>
        <p:spPr>
          <a:xfrm>
            <a:off x="6071616" y="1298448"/>
            <a:ext cx="292500" cy="4023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0" name="Google Shape;2110;p53"/>
          <p:cNvSpPr/>
          <p:nvPr/>
        </p:nvSpPr>
        <p:spPr>
          <a:xfrm>
            <a:off x="6071616" y="1298448"/>
            <a:ext cx="2925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000"/>
              <a:buFont typeface="Courier New"/>
              <a:buNone/>
            </a:pPr>
            <a:r>
              <a:rPr b="0" i="0" lang="en" sz="1000" u="none" cap="none" strike="noStrike">
                <a:solidFill>
                  <a:srgbClr val="6B7280"/>
                </a:solidFill>
                <a:latin typeface="Courier New"/>
                <a:ea typeface="Courier New"/>
                <a:cs typeface="Courier New"/>
                <a:sym typeface="Courier New"/>
              </a:rPr>
              <a:t>0</a:t>
            </a:r>
            <a:endParaRPr b="0" i="0" sz="1000" u="none" cap="none" strike="noStrike">
              <a:solidFill>
                <a:schemeClr val="dk1"/>
              </a:solidFill>
              <a:latin typeface="Calibri"/>
              <a:ea typeface="Calibri"/>
              <a:cs typeface="Calibri"/>
              <a:sym typeface="Calibri"/>
            </a:endParaRPr>
          </a:p>
        </p:txBody>
      </p:sp>
      <p:sp>
        <p:nvSpPr>
          <p:cNvPr id="2111" name="Google Shape;2111;p53"/>
          <p:cNvSpPr/>
          <p:nvPr/>
        </p:nvSpPr>
        <p:spPr>
          <a:xfrm>
            <a:off x="6364224" y="1298448"/>
            <a:ext cx="292500" cy="4023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2" name="Google Shape;2112;p53"/>
          <p:cNvSpPr/>
          <p:nvPr/>
        </p:nvSpPr>
        <p:spPr>
          <a:xfrm>
            <a:off x="6364224" y="1298448"/>
            <a:ext cx="2925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000"/>
              <a:buFont typeface="Courier New"/>
              <a:buNone/>
            </a:pPr>
            <a:r>
              <a:rPr b="0" i="0" lang="en" sz="1000" u="none" cap="none" strike="noStrike">
                <a:solidFill>
                  <a:srgbClr val="6B7280"/>
                </a:solidFill>
                <a:latin typeface="Courier New"/>
                <a:ea typeface="Courier New"/>
                <a:cs typeface="Courier New"/>
                <a:sym typeface="Courier New"/>
              </a:rPr>
              <a:t>0</a:t>
            </a:r>
            <a:endParaRPr b="0" i="0" sz="1000" u="none" cap="none" strike="noStrike">
              <a:solidFill>
                <a:schemeClr val="dk1"/>
              </a:solidFill>
              <a:latin typeface="Calibri"/>
              <a:ea typeface="Calibri"/>
              <a:cs typeface="Calibri"/>
              <a:sym typeface="Calibri"/>
            </a:endParaRPr>
          </a:p>
        </p:txBody>
      </p:sp>
      <p:sp>
        <p:nvSpPr>
          <p:cNvPr id="2113" name="Google Shape;2113;p53"/>
          <p:cNvSpPr/>
          <p:nvPr/>
        </p:nvSpPr>
        <p:spPr>
          <a:xfrm>
            <a:off x="6656832" y="1298448"/>
            <a:ext cx="292500" cy="4023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4" name="Google Shape;2114;p53"/>
          <p:cNvSpPr/>
          <p:nvPr/>
        </p:nvSpPr>
        <p:spPr>
          <a:xfrm>
            <a:off x="6656832" y="1298448"/>
            <a:ext cx="2925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000"/>
              <a:buFont typeface="Courier New"/>
              <a:buNone/>
            </a:pPr>
            <a:r>
              <a:rPr b="0" i="0" lang="en" sz="1000" u="none" cap="none" strike="noStrike">
                <a:solidFill>
                  <a:srgbClr val="6B7280"/>
                </a:solidFill>
                <a:latin typeface="Courier New"/>
                <a:ea typeface="Courier New"/>
                <a:cs typeface="Courier New"/>
                <a:sym typeface="Courier New"/>
              </a:rPr>
              <a:t>0</a:t>
            </a:r>
            <a:endParaRPr b="0" i="0" sz="1000" u="none" cap="none" strike="noStrike">
              <a:solidFill>
                <a:schemeClr val="dk1"/>
              </a:solidFill>
              <a:latin typeface="Calibri"/>
              <a:ea typeface="Calibri"/>
              <a:cs typeface="Calibri"/>
              <a:sym typeface="Calibri"/>
            </a:endParaRPr>
          </a:p>
        </p:txBody>
      </p:sp>
      <p:sp>
        <p:nvSpPr>
          <p:cNvPr id="2115" name="Google Shape;2115;p53"/>
          <p:cNvSpPr/>
          <p:nvPr/>
        </p:nvSpPr>
        <p:spPr>
          <a:xfrm>
            <a:off x="7040880" y="1298448"/>
            <a:ext cx="2376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B3A6B"/>
              </a:buClr>
              <a:buSzPts val="1600"/>
              <a:buFont typeface="Calibri"/>
              <a:buNone/>
            </a:pPr>
            <a:r>
              <a:rPr b="1" i="0" lang="en" sz="1600" u="none" cap="none" strike="noStrike">
                <a:solidFill>
                  <a:srgbClr val="1B3A6B"/>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2116" name="Google Shape;2116;p53"/>
          <p:cNvSpPr/>
          <p:nvPr/>
        </p:nvSpPr>
        <p:spPr>
          <a:xfrm>
            <a:off x="7296912" y="1353312"/>
            <a:ext cx="512100" cy="292500"/>
          </a:xfrm>
          <a:prstGeom prst="rect">
            <a:avLst/>
          </a:prstGeom>
          <a:solidFill>
            <a:srgbClr val="FEE2E2"/>
          </a:solidFill>
          <a:ln cap="flat" cmpd="sng" w="15225">
            <a:solidFill>
              <a:srgbClr val="DC262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7" name="Google Shape;2117;p53"/>
          <p:cNvSpPr/>
          <p:nvPr/>
        </p:nvSpPr>
        <p:spPr>
          <a:xfrm>
            <a:off x="7296912" y="1353312"/>
            <a:ext cx="512100" cy="292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DC2626"/>
              </a:buClr>
              <a:buSzPts val="1300"/>
              <a:buFont typeface="Courier New"/>
              <a:buNone/>
            </a:pPr>
            <a:r>
              <a:rPr b="1" i="0" lang="en" sz="1300" u="none" cap="none" strike="noStrike">
                <a:solidFill>
                  <a:srgbClr val="DC2626"/>
                </a:solidFill>
                <a:latin typeface="Courier New"/>
                <a:ea typeface="Courier New"/>
                <a:cs typeface="Courier New"/>
                <a:sym typeface="Courier New"/>
              </a:rPr>
              <a:t>0.00</a:t>
            </a:r>
            <a:endParaRPr b="0" i="0" sz="1300" u="none" cap="none" strike="noStrike">
              <a:solidFill>
                <a:schemeClr val="dk1"/>
              </a:solidFill>
              <a:latin typeface="Calibri"/>
              <a:ea typeface="Calibri"/>
              <a:cs typeface="Calibri"/>
              <a:sym typeface="Calibri"/>
            </a:endParaRPr>
          </a:p>
        </p:txBody>
      </p:sp>
      <p:sp>
        <p:nvSpPr>
          <p:cNvPr id="2118" name="Google Shape;2118;p53"/>
          <p:cNvSpPr/>
          <p:nvPr/>
        </p:nvSpPr>
        <p:spPr>
          <a:xfrm>
            <a:off x="7836408" y="1371600"/>
            <a:ext cx="11886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00"/>
              <a:buFont typeface="Calibri"/>
              <a:buNone/>
            </a:pPr>
            <a:r>
              <a:rPr b="0" i="1" lang="en" sz="1000" u="none" cap="none" strike="noStrike">
                <a:solidFill>
                  <a:srgbClr val="6B7280"/>
                </a:solidFill>
                <a:latin typeface="Calibri"/>
                <a:ea typeface="Calibri"/>
                <a:cs typeface="Calibri"/>
                <a:sym typeface="Calibri"/>
              </a:rPr>
              <a:t>synonyms!</a:t>
            </a:r>
            <a:endParaRPr b="0" i="0" sz="1000" u="none" cap="none" strike="noStrike">
              <a:solidFill>
                <a:schemeClr val="dk1"/>
              </a:solidFill>
              <a:latin typeface="Calibri"/>
              <a:ea typeface="Calibri"/>
              <a:cs typeface="Calibri"/>
              <a:sym typeface="Calibri"/>
            </a:endParaRPr>
          </a:p>
        </p:txBody>
      </p:sp>
      <p:sp>
        <p:nvSpPr>
          <p:cNvPr id="2119" name="Google Shape;2119;p53"/>
          <p:cNvSpPr/>
          <p:nvPr/>
        </p:nvSpPr>
        <p:spPr>
          <a:xfrm>
            <a:off x="347472" y="2249424"/>
            <a:ext cx="713100" cy="402300"/>
          </a:xfrm>
          <a:prstGeom prst="rect">
            <a:avLst/>
          </a:prstGeom>
          <a:solidFill>
            <a:srgbClr val="DBEAFE"/>
          </a:solidFill>
          <a:ln cap="flat" cmpd="sng" w="15225">
            <a:solidFill>
              <a:srgbClr val="2563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0" name="Google Shape;2120;p53"/>
          <p:cNvSpPr/>
          <p:nvPr/>
        </p:nvSpPr>
        <p:spPr>
          <a:xfrm>
            <a:off x="347472" y="2249424"/>
            <a:ext cx="7131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563EB"/>
              </a:buClr>
              <a:buSzPts val="1100"/>
              <a:buFont typeface="Courier New"/>
              <a:buNone/>
            </a:pPr>
            <a:r>
              <a:rPr b="1" i="0" lang="en" sz="1100" u="none" cap="none" strike="noStrike">
                <a:solidFill>
                  <a:srgbClr val="2563EB"/>
                </a:solidFill>
                <a:latin typeface="Courier New"/>
                <a:ea typeface="Courier New"/>
                <a:cs typeface="Courier New"/>
                <a:sym typeface="Courier New"/>
              </a:rPr>
              <a:t>king</a:t>
            </a:r>
            <a:endParaRPr b="0" i="0" sz="1100" u="none" cap="none" strike="noStrike">
              <a:solidFill>
                <a:schemeClr val="dk1"/>
              </a:solidFill>
              <a:latin typeface="Calibri"/>
              <a:ea typeface="Calibri"/>
              <a:cs typeface="Calibri"/>
              <a:sym typeface="Calibri"/>
            </a:endParaRPr>
          </a:p>
        </p:txBody>
      </p:sp>
      <p:sp>
        <p:nvSpPr>
          <p:cNvPr id="2121" name="Google Shape;2121;p53"/>
          <p:cNvSpPr/>
          <p:nvPr/>
        </p:nvSpPr>
        <p:spPr>
          <a:xfrm>
            <a:off x="1097280" y="2249424"/>
            <a:ext cx="292500" cy="4023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2" name="Google Shape;2122;p53"/>
          <p:cNvSpPr/>
          <p:nvPr/>
        </p:nvSpPr>
        <p:spPr>
          <a:xfrm>
            <a:off x="1097280" y="2249424"/>
            <a:ext cx="2925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000"/>
              <a:buFont typeface="Courier New"/>
              <a:buNone/>
            </a:pPr>
            <a:r>
              <a:rPr b="0" i="0" lang="en" sz="1000" u="none" cap="none" strike="noStrike">
                <a:solidFill>
                  <a:srgbClr val="6B7280"/>
                </a:solidFill>
                <a:latin typeface="Courier New"/>
                <a:ea typeface="Courier New"/>
                <a:cs typeface="Courier New"/>
                <a:sym typeface="Courier New"/>
              </a:rPr>
              <a:t>0</a:t>
            </a:r>
            <a:endParaRPr b="0" i="0" sz="1000" u="none" cap="none" strike="noStrike">
              <a:solidFill>
                <a:schemeClr val="dk1"/>
              </a:solidFill>
              <a:latin typeface="Calibri"/>
              <a:ea typeface="Calibri"/>
              <a:cs typeface="Calibri"/>
              <a:sym typeface="Calibri"/>
            </a:endParaRPr>
          </a:p>
        </p:txBody>
      </p:sp>
      <p:sp>
        <p:nvSpPr>
          <p:cNvPr id="2123" name="Google Shape;2123;p53"/>
          <p:cNvSpPr/>
          <p:nvPr/>
        </p:nvSpPr>
        <p:spPr>
          <a:xfrm>
            <a:off x="1389888" y="2249424"/>
            <a:ext cx="292500" cy="4023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4" name="Google Shape;2124;p53"/>
          <p:cNvSpPr/>
          <p:nvPr/>
        </p:nvSpPr>
        <p:spPr>
          <a:xfrm>
            <a:off x="1389888" y="2249424"/>
            <a:ext cx="2925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000"/>
              <a:buFont typeface="Courier New"/>
              <a:buNone/>
            </a:pPr>
            <a:r>
              <a:rPr b="0" i="0" lang="en" sz="1000" u="none" cap="none" strike="noStrike">
                <a:solidFill>
                  <a:srgbClr val="6B7280"/>
                </a:solidFill>
                <a:latin typeface="Courier New"/>
                <a:ea typeface="Courier New"/>
                <a:cs typeface="Courier New"/>
                <a:sym typeface="Courier New"/>
              </a:rPr>
              <a:t>0</a:t>
            </a:r>
            <a:endParaRPr b="0" i="0" sz="1000" u="none" cap="none" strike="noStrike">
              <a:solidFill>
                <a:schemeClr val="dk1"/>
              </a:solidFill>
              <a:latin typeface="Calibri"/>
              <a:ea typeface="Calibri"/>
              <a:cs typeface="Calibri"/>
              <a:sym typeface="Calibri"/>
            </a:endParaRPr>
          </a:p>
        </p:txBody>
      </p:sp>
      <p:sp>
        <p:nvSpPr>
          <p:cNvPr id="2125" name="Google Shape;2125;p53"/>
          <p:cNvSpPr/>
          <p:nvPr/>
        </p:nvSpPr>
        <p:spPr>
          <a:xfrm>
            <a:off x="1682496" y="2249424"/>
            <a:ext cx="292500" cy="402300"/>
          </a:xfrm>
          <a:prstGeom prst="rect">
            <a:avLst/>
          </a:prstGeom>
          <a:solidFill>
            <a:srgbClr val="DBEAFE"/>
          </a:solidFill>
          <a:ln cap="flat" cmpd="sng" w="19050">
            <a:solidFill>
              <a:srgbClr val="2563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6" name="Google Shape;2126;p53"/>
          <p:cNvSpPr/>
          <p:nvPr/>
        </p:nvSpPr>
        <p:spPr>
          <a:xfrm>
            <a:off x="1682496" y="2249424"/>
            <a:ext cx="2925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563EB"/>
              </a:buClr>
              <a:buSzPts val="1000"/>
              <a:buFont typeface="Courier New"/>
              <a:buNone/>
            </a:pPr>
            <a:r>
              <a:rPr b="1" i="0" lang="en" sz="1000" u="none" cap="none" strike="noStrike">
                <a:solidFill>
                  <a:srgbClr val="2563EB"/>
                </a:solidFill>
                <a:latin typeface="Courier New"/>
                <a:ea typeface="Courier New"/>
                <a:cs typeface="Courier New"/>
                <a:sym typeface="Courier New"/>
              </a:rPr>
              <a:t>1</a:t>
            </a:r>
            <a:endParaRPr b="0" i="0" sz="1000" u="none" cap="none" strike="noStrike">
              <a:solidFill>
                <a:schemeClr val="dk1"/>
              </a:solidFill>
              <a:latin typeface="Calibri"/>
              <a:ea typeface="Calibri"/>
              <a:cs typeface="Calibri"/>
              <a:sym typeface="Calibri"/>
            </a:endParaRPr>
          </a:p>
        </p:txBody>
      </p:sp>
      <p:sp>
        <p:nvSpPr>
          <p:cNvPr id="2127" name="Google Shape;2127;p53"/>
          <p:cNvSpPr/>
          <p:nvPr/>
        </p:nvSpPr>
        <p:spPr>
          <a:xfrm>
            <a:off x="1975104" y="2249424"/>
            <a:ext cx="292500" cy="4023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8" name="Google Shape;2128;p53"/>
          <p:cNvSpPr/>
          <p:nvPr/>
        </p:nvSpPr>
        <p:spPr>
          <a:xfrm>
            <a:off x="1975104" y="2249424"/>
            <a:ext cx="2925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000"/>
              <a:buFont typeface="Courier New"/>
              <a:buNone/>
            </a:pPr>
            <a:r>
              <a:rPr b="0" i="0" lang="en" sz="1000" u="none" cap="none" strike="noStrike">
                <a:solidFill>
                  <a:srgbClr val="6B7280"/>
                </a:solidFill>
                <a:latin typeface="Courier New"/>
                <a:ea typeface="Courier New"/>
                <a:cs typeface="Courier New"/>
                <a:sym typeface="Courier New"/>
              </a:rPr>
              <a:t>0</a:t>
            </a:r>
            <a:endParaRPr b="0" i="0" sz="1000" u="none" cap="none" strike="noStrike">
              <a:solidFill>
                <a:schemeClr val="dk1"/>
              </a:solidFill>
              <a:latin typeface="Calibri"/>
              <a:ea typeface="Calibri"/>
              <a:cs typeface="Calibri"/>
              <a:sym typeface="Calibri"/>
            </a:endParaRPr>
          </a:p>
        </p:txBody>
      </p:sp>
      <p:sp>
        <p:nvSpPr>
          <p:cNvPr id="2129" name="Google Shape;2129;p53"/>
          <p:cNvSpPr/>
          <p:nvPr/>
        </p:nvSpPr>
        <p:spPr>
          <a:xfrm>
            <a:off x="2267712" y="2249424"/>
            <a:ext cx="292500" cy="4023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0" name="Google Shape;2130;p53"/>
          <p:cNvSpPr/>
          <p:nvPr/>
        </p:nvSpPr>
        <p:spPr>
          <a:xfrm>
            <a:off x="2267712" y="2249424"/>
            <a:ext cx="2925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000"/>
              <a:buFont typeface="Courier New"/>
              <a:buNone/>
            </a:pPr>
            <a:r>
              <a:rPr b="0" i="0" lang="en" sz="1000" u="none" cap="none" strike="noStrike">
                <a:solidFill>
                  <a:srgbClr val="6B7280"/>
                </a:solidFill>
                <a:latin typeface="Courier New"/>
                <a:ea typeface="Courier New"/>
                <a:cs typeface="Courier New"/>
                <a:sym typeface="Courier New"/>
              </a:rPr>
              <a:t>0</a:t>
            </a:r>
            <a:endParaRPr b="0" i="0" sz="1000" u="none" cap="none" strike="noStrike">
              <a:solidFill>
                <a:schemeClr val="dk1"/>
              </a:solidFill>
              <a:latin typeface="Calibri"/>
              <a:ea typeface="Calibri"/>
              <a:cs typeface="Calibri"/>
              <a:sym typeface="Calibri"/>
            </a:endParaRPr>
          </a:p>
        </p:txBody>
      </p:sp>
      <p:sp>
        <p:nvSpPr>
          <p:cNvPr id="2131" name="Google Shape;2131;p53"/>
          <p:cNvSpPr/>
          <p:nvPr/>
        </p:nvSpPr>
        <p:spPr>
          <a:xfrm>
            <a:off x="2560320" y="2249424"/>
            <a:ext cx="292500" cy="4023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2" name="Google Shape;2132;p53"/>
          <p:cNvSpPr/>
          <p:nvPr/>
        </p:nvSpPr>
        <p:spPr>
          <a:xfrm>
            <a:off x="2560320" y="2249424"/>
            <a:ext cx="2925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000"/>
              <a:buFont typeface="Courier New"/>
              <a:buNone/>
            </a:pPr>
            <a:r>
              <a:rPr b="0" i="0" lang="en" sz="1000" u="none" cap="none" strike="noStrike">
                <a:solidFill>
                  <a:srgbClr val="6B7280"/>
                </a:solidFill>
                <a:latin typeface="Courier New"/>
                <a:ea typeface="Courier New"/>
                <a:cs typeface="Courier New"/>
                <a:sym typeface="Courier New"/>
              </a:rPr>
              <a:t>0</a:t>
            </a:r>
            <a:endParaRPr b="0" i="0" sz="1000" u="none" cap="none" strike="noStrike">
              <a:solidFill>
                <a:schemeClr val="dk1"/>
              </a:solidFill>
              <a:latin typeface="Calibri"/>
              <a:ea typeface="Calibri"/>
              <a:cs typeface="Calibri"/>
              <a:sym typeface="Calibri"/>
            </a:endParaRPr>
          </a:p>
        </p:txBody>
      </p:sp>
      <p:sp>
        <p:nvSpPr>
          <p:cNvPr id="2133" name="Google Shape;2133;p53"/>
          <p:cNvSpPr/>
          <p:nvPr/>
        </p:nvSpPr>
        <p:spPr>
          <a:xfrm>
            <a:off x="2852928" y="2249424"/>
            <a:ext cx="292500" cy="4023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4" name="Google Shape;2134;p53"/>
          <p:cNvSpPr/>
          <p:nvPr/>
        </p:nvSpPr>
        <p:spPr>
          <a:xfrm>
            <a:off x="2852928" y="2249424"/>
            <a:ext cx="2925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000"/>
              <a:buFont typeface="Courier New"/>
              <a:buNone/>
            </a:pPr>
            <a:r>
              <a:rPr b="0" i="0" lang="en" sz="1000" u="none" cap="none" strike="noStrike">
                <a:solidFill>
                  <a:srgbClr val="6B7280"/>
                </a:solidFill>
                <a:latin typeface="Courier New"/>
                <a:ea typeface="Courier New"/>
                <a:cs typeface="Courier New"/>
                <a:sym typeface="Courier New"/>
              </a:rPr>
              <a:t>0</a:t>
            </a:r>
            <a:endParaRPr b="0" i="0" sz="1000" u="none" cap="none" strike="noStrike">
              <a:solidFill>
                <a:schemeClr val="dk1"/>
              </a:solidFill>
              <a:latin typeface="Calibri"/>
              <a:ea typeface="Calibri"/>
              <a:cs typeface="Calibri"/>
              <a:sym typeface="Calibri"/>
            </a:endParaRPr>
          </a:p>
        </p:txBody>
      </p:sp>
      <p:sp>
        <p:nvSpPr>
          <p:cNvPr id="2135" name="Google Shape;2135;p53"/>
          <p:cNvSpPr/>
          <p:nvPr/>
        </p:nvSpPr>
        <p:spPr>
          <a:xfrm>
            <a:off x="3145536" y="2249424"/>
            <a:ext cx="292500" cy="4023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6" name="Google Shape;2136;p53"/>
          <p:cNvSpPr/>
          <p:nvPr/>
        </p:nvSpPr>
        <p:spPr>
          <a:xfrm>
            <a:off x="3145536" y="2249424"/>
            <a:ext cx="2925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000"/>
              <a:buFont typeface="Courier New"/>
              <a:buNone/>
            </a:pPr>
            <a:r>
              <a:rPr b="0" i="0" lang="en" sz="1000" u="none" cap="none" strike="noStrike">
                <a:solidFill>
                  <a:srgbClr val="6B7280"/>
                </a:solidFill>
                <a:latin typeface="Courier New"/>
                <a:ea typeface="Courier New"/>
                <a:cs typeface="Courier New"/>
                <a:sym typeface="Courier New"/>
              </a:rPr>
              <a:t>0</a:t>
            </a:r>
            <a:endParaRPr b="0" i="0" sz="1000" u="none" cap="none" strike="noStrike">
              <a:solidFill>
                <a:schemeClr val="dk1"/>
              </a:solidFill>
              <a:latin typeface="Calibri"/>
              <a:ea typeface="Calibri"/>
              <a:cs typeface="Calibri"/>
              <a:sym typeface="Calibri"/>
            </a:endParaRPr>
          </a:p>
        </p:txBody>
      </p:sp>
      <p:sp>
        <p:nvSpPr>
          <p:cNvPr id="2137" name="Google Shape;2137;p53"/>
          <p:cNvSpPr/>
          <p:nvPr/>
        </p:nvSpPr>
        <p:spPr>
          <a:xfrm>
            <a:off x="3566160" y="2249424"/>
            <a:ext cx="2559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B3A6B"/>
              </a:buClr>
              <a:buSzPts val="2200"/>
              <a:buFont typeface="Calibri"/>
              <a:buNone/>
            </a:pPr>
            <a:r>
              <a:rPr b="1" i="0" lang="en" sz="2200" u="none" cap="none" strike="noStrike">
                <a:solidFill>
                  <a:srgbClr val="1B3A6B"/>
                </a:solidFill>
                <a:latin typeface="Calibri"/>
                <a:ea typeface="Calibri"/>
                <a:cs typeface="Calibri"/>
                <a:sym typeface="Calibri"/>
              </a:rPr>
              <a:t>·</a:t>
            </a:r>
            <a:endParaRPr b="0" i="0" sz="2200" u="none" cap="none" strike="noStrike">
              <a:solidFill>
                <a:schemeClr val="dk1"/>
              </a:solidFill>
              <a:latin typeface="Calibri"/>
              <a:ea typeface="Calibri"/>
              <a:cs typeface="Calibri"/>
              <a:sym typeface="Calibri"/>
            </a:endParaRPr>
          </a:p>
        </p:txBody>
      </p:sp>
      <p:sp>
        <p:nvSpPr>
          <p:cNvPr id="2138" name="Google Shape;2138;p53"/>
          <p:cNvSpPr/>
          <p:nvPr/>
        </p:nvSpPr>
        <p:spPr>
          <a:xfrm>
            <a:off x="3858768" y="2249424"/>
            <a:ext cx="713100" cy="402300"/>
          </a:xfrm>
          <a:prstGeom prst="rect">
            <a:avLst/>
          </a:prstGeom>
          <a:solidFill>
            <a:srgbClr val="EDE9FE"/>
          </a:solidFill>
          <a:ln cap="flat" cmpd="sng" w="15225">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9" name="Google Shape;2139;p53"/>
          <p:cNvSpPr/>
          <p:nvPr/>
        </p:nvSpPr>
        <p:spPr>
          <a:xfrm>
            <a:off x="3858768" y="2249424"/>
            <a:ext cx="7131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C3AED"/>
              </a:buClr>
              <a:buSzPts val="1100"/>
              <a:buFont typeface="Courier New"/>
              <a:buNone/>
            </a:pPr>
            <a:r>
              <a:rPr b="1" i="0" lang="en" sz="1100" u="none" cap="none" strike="noStrike">
                <a:solidFill>
                  <a:srgbClr val="7C3AED"/>
                </a:solidFill>
                <a:latin typeface="Courier New"/>
                <a:ea typeface="Courier New"/>
                <a:cs typeface="Courier New"/>
                <a:sym typeface="Courier New"/>
              </a:rPr>
              <a:t>queen</a:t>
            </a:r>
            <a:endParaRPr b="0" i="0" sz="1100" u="none" cap="none" strike="noStrike">
              <a:solidFill>
                <a:schemeClr val="dk1"/>
              </a:solidFill>
              <a:latin typeface="Calibri"/>
              <a:ea typeface="Calibri"/>
              <a:cs typeface="Calibri"/>
              <a:sym typeface="Calibri"/>
            </a:endParaRPr>
          </a:p>
        </p:txBody>
      </p:sp>
      <p:sp>
        <p:nvSpPr>
          <p:cNvPr id="2140" name="Google Shape;2140;p53"/>
          <p:cNvSpPr/>
          <p:nvPr/>
        </p:nvSpPr>
        <p:spPr>
          <a:xfrm>
            <a:off x="4608576" y="2249424"/>
            <a:ext cx="292500" cy="4023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1" name="Google Shape;2141;p53"/>
          <p:cNvSpPr/>
          <p:nvPr/>
        </p:nvSpPr>
        <p:spPr>
          <a:xfrm>
            <a:off x="4608576" y="2249424"/>
            <a:ext cx="2925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000"/>
              <a:buFont typeface="Courier New"/>
              <a:buNone/>
            </a:pPr>
            <a:r>
              <a:rPr b="0" i="0" lang="en" sz="1000" u="none" cap="none" strike="noStrike">
                <a:solidFill>
                  <a:srgbClr val="6B7280"/>
                </a:solidFill>
                <a:latin typeface="Courier New"/>
                <a:ea typeface="Courier New"/>
                <a:cs typeface="Courier New"/>
                <a:sym typeface="Courier New"/>
              </a:rPr>
              <a:t>0</a:t>
            </a:r>
            <a:endParaRPr b="0" i="0" sz="1000" u="none" cap="none" strike="noStrike">
              <a:solidFill>
                <a:schemeClr val="dk1"/>
              </a:solidFill>
              <a:latin typeface="Calibri"/>
              <a:ea typeface="Calibri"/>
              <a:cs typeface="Calibri"/>
              <a:sym typeface="Calibri"/>
            </a:endParaRPr>
          </a:p>
        </p:txBody>
      </p:sp>
      <p:sp>
        <p:nvSpPr>
          <p:cNvPr id="2142" name="Google Shape;2142;p53"/>
          <p:cNvSpPr/>
          <p:nvPr/>
        </p:nvSpPr>
        <p:spPr>
          <a:xfrm>
            <a:off x="4901184" y="2249424"/>
            <a:ext cx="292500" cy="4023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3" name="Google Shape;2143;p53"/>
          <p:cNvSpPr/>
          <p:nvPr/>
        </p:nvSpPr>
        <p:spPr>
          <a:xfrm>
            <a:off x="4901184" y="2249424"/>
            <a:ext cx="2925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000"/>
              <a:buFont typeface="Courier New"/>
              <a:buNone/>
            </a:pPr>
            <a:r>
              <a:rPr b="0" i="0" lang="en" sz="1000" u="none" cap="none" strike="noStrike">
                <a:solidFill>
                  <a:srgbClr val="6B7280"/>
                </a:solidFill>
                <a:latin typeface="Courier New"/>
                <a:ea typeface="Courier New"/>
                <a:cs typeface="Courier New"/>
                <a:sym typeface="Courier New"/>
              </a:rPr>
              <a:t>0</a:t>
            </a:r>
            <a:endParaRPr b="0" i="0" sz="1000" u="none" cap="none" strike="noStrike">
              <a:solidFill>
                <a:schemeClr val="dk1"/>
              </a:solidFill>
              <a:latin typeface="Calibri"/>
              <a:ea typeface="Calibri"/>
              <a:cs typeface="Calibri"/>
              <a:sym typeface="Calibri"/>
            </a:endParaRPr>
          </a:p>
        </p:txBody>
      </p:sp>
      <p:sp>
        <p:nvSpPr>
          <p:cNvPr id="2144" name="Google Shape;2144;p53"/>
          <p:cNvSpPr/>
          <p:nvPr/>
        </p:nvSpPr>
        <p:spPr>
          <a:xfrm>
            <a:off x="5193792" y="2249424"/>
            <a:ext cx="292500" cy="4023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5" name="Google Shape;2145;p53"/>
          <p:cNvSpPr/>
          <p:nvPr/>
        </p:nvSpPr>
        <p:spPr>
          <a:xfrm>
            <a:off x="5193792" y="2249424"/>
            <a:ext cx="2925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000"/>
              <a:buFont typeface="Courier New"/>
              <a:buNone/>
            </a:pPr>
            <a:r>
              <a:rPr b="0" i="0" lang="en" sz="1000" u="none" cap="none" strike="noStrike">
                <a:solidFill>
                  <a:srgbClr val="6B7280"/>
                </a:solidFill>
                <a:latin typeface="Courier New"/>
                <a:ea typeface="Courier New"/>
                <a:cs typeface="Courier New"/>
                <a:sym typeface="Courier New"/>
              </a:rPr>
              <a:t>0</a:t>
            </a:r>
            <a:endParaRPr b="0" i="0" sz="1000" u="none" cap="none" strike="noStrike">
              <a:solidFill>
                <a:schemeClr val="dk1"/>
              </a:solidFill>
              <a:latin typeface="Calibri"/>
              <a:ea typeface="Calibri"/>
              <a:cs typeface="Calibri"/>
              <a:sym typeface="Calibri"/>
            </a:endParaRPr>
          </a:p>
        </p:txBody>
      </p:sp>
      <p:sp>
        <p:nvSpPr>
          <p:cNvPr id="2146" name="Google Shape;2146;p53"/>
          <p:cNvSpPr/>
          <p:nvPr/>
        </p:nvSpPr>
        <p:spPr>
          <a:xfrm>
            <a:off x="5486400" y="2249424"/>
            <a:ext cx="292500" cy="402300"/>
          </a:xfrm>
          <a:prstGeom prst="rect">
            <a:avLst/>
          </a:prstGeom>
          <a:solidFill>
            <a:srgbClr val="EDE9FE"/>
          </a:solidFill>
          <a:ln cap="flat" cmpd="sng" w="1905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7" name="Google Shape;2147;p53"/>
          <p:cNvSpPr/>
          <p:nvPr/>
        </p:nvSpPr>
        <p:spPr>
          <a:xfrm>
            <a:off x="5486400" y="2249424"/>
            <a:ext cx="2925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C3AED"/>
              </a:buClr>
              <a:buSzPts val="1000"/>
              <a:buFont typeface="Courier New"/>
              <a:buNone/>
            </a:pPr>
            <a:r>
              <a:rPr b="1" i="0" lang="en" sz="1000" u="none" cap="none" strike="noStrike">
                <a:solidFill>
                  <a:srgbClr val="7C3AED"/>
                </a:solidFill>
                <a:latin typeface="Courier New"/>
                <a:ea typeface="Courier New"/>
                <a:cs typeface="Courier New"/>
                <a:sym typeface="Courier New"/>
              </a:rPr>
              <a:t>1</a:t>
            </a:r>
            <a:endParaRPr b="0" i="0" sz="1000" u="none" cap="none" strike="noStrike">
              <a:solidFill>
                <a:schemeClr val="dk1"/>
              </a:solidFill>
              <a:latin typeface="Calibri"/>
              <a:ea typeface="Calibri"/>
              <a:cs typeface="Calibri"/>
              <a:sym typeface="Calibri"/>
            </a:endParaRPr>
          </a:p>
        </p:txBody>
      </p:sp>
      <p:sp>
        <p:nvSpPr>
          <p:cNvPr id="2148" name="Google Shape;2148;p53"/>
          <p:cNvSpPr/>
          <p:nvPr/>
        </p:nvSpPr>
        <p:spPr>
          <a:xfrm>
            <a:off x="5779008" y="2249424"/>
            <a:ext cx="292500" cy="4023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9" name="Google Shape;2149;p53"/>
          <p:cNvSpPr/>
          <p:nvPr/>
        </p:nvSpPr>
        <p:spPr>
          <a:xfrm>
            <a:off x="5779008" y="2249424"/>
            <a:ext cx="2925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000"/>
              <a:buFont typeface="Courier New"/>
              <a:buNone/>
            </a:pPr>
            <a:r>
              <a:rPr b="0" i="0" lang="en" sz="1000" u="none" cap="none" strike="noStrike">
                <a:solidFill>
                  <a:srgbClr val="6B7280"/>
                </a:solidFill>
                <a:latin typeface="Courier New"/>
                <a:ea typeface="Courier New"/>
                <a:cs typeface="Courier New"/>
                <a:sym typeface="Courier New"/>
              </a:rPr>
              <a:t>0</a:t>
            </a:r>
            <a:endParaRPr b="0" i="0" sz="1000" u="none" cap="none" strike="noStrike">
              <a:solidFill>
                <a:schemeClr val="dk1"/>
              </a:solidFill>
              <a:latin typeface="Calibri"/>
              <a:ea typeface="Calibri"/>
              <a:cs typeface="Calibri"/>
              <a:sym typeface="Calibri"/>
            </a:endParaRPr>
          </a:p>
        </p:txBody>
      </p:sp>
      <p:sp>
        <p:nvSpPr>
          <p:cNvPr id="2150" name="Google Shape;2150;p53"/>
          <p:cNvSpPr/>
          <p:nvPr/>
        </p:nvSpPr>
        <p:spPr>
          <a:xfrm>
            <a:off x="6071616" y="2249424"/>
            <a:ext cx="292500" cy="4023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1" name="Google Shape;2151;p53"/>
          <p:cNvSpPr/>
          <p:nvPr/>
        </p:nvSpPr>
        <p:spPr>
          <a:xfrm>
            <a:off x="6071616" y="2249424"/>
            <a:ext cx="2925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000"/>
              <a:buFont typeface="Courier New"/>
              <a:buNone/>
            </a:pPr>
            <a:r>
              <a:rPr b="0" i="0" lang="en" sz="1000" u="none" cap="none" strike="noStrike">
                <a:solidFill>
                  <a:srgbClr val="6B7280"/>
                </a:solidFill>
                <a:latin typeface="Courier New"/>
                <a:ea typeface="Courier New"/>
                <a:cs typeface="Courier New"/>
                <a:sym typeface="Courier New"/>
              </a:rPr>
              <a:t>0</a:t>
            </a:r>
            <a:endParaRPr b="0" i="0" sz="1000" u="none" cap="none" strike="noStrike">
              <a:solidFill>
                <a:schemeClr val="dk1"/>
              </a:solidFill>
              <a:latin typeface="Calibri"/>
              <a:ea typeface="Calibri"/>
              <a:cs typeface="Calibri"/>
              <a:sym typeface="Calibri"/>
            </a:endParaRPr>
          </a:p>
        </p:txBody>
      </p:sp>
      <p:sp>
        <p:nvSpPr>
          <p:cNvPr id="2152" name="Google Shape;2152;p53"/>
          <p:cNvSpPr/>
          <p:nvPr/>
        </p:nvSpPr>
        <p:spPr>
          <a:xfrm>
            <a:off x="6364224" y="2249424"/>
            <a:ext cx="292500" cy="4023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3" name="Google Shape;2153;p53"/>
          <p:cNvSpPr/>
          <p:nvPr/>
        </p:nvSpPr>
        <p:spPr>
          <a:xfrm>
            <a:off x="6364224" y="2249424"/>
            <a:ext cx="2925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000"/>
              <a:buFont typeface="Courier New"/>
              <a:buNone/>
            </a:pPr>
            <a:r>
              <a:rPr b="0" i="0" lang="en" sz="1000" u="none" cap="none" strike="noStrike">
                <a:solidFill>
                  <a:srgbClr val="6B7280"/>
                </a:solidFill>
                <a:latin typeface="Courier New"/>
                <a:ea typeface="Courier New"/>
                <a:cs typeface="Courier New"/>
                <a:sym typeface="Courier New"/>
              </a:rPr>
              <a:t>0</a:t>
            </a:r>
            <a:endParaRPr b="0" i="0" sz="1000" u="none" cap="none" strike="noStrike">
              <a:solidFill>
                <a:schemeClr val="dk1"/>
              </a:solidFill>
              <a:latin typeface="Calibri"/>
              <a:ea typeface="Calibri"/>
              <a:cs typeface="Calibri"/>
              <a:sym typeface="Calibri"/>
            </a:endParaRPr>
          </a:p>
        </p:txBody>
      </p:sp>
      <p:sp>
        <p:nvSpPr>
          <p:cNvPr id="2154" name="Google Shape;2154;p53"/>
          <p:cNvSpPr/>
          <p:nvPr/>
        </p:nvSpPr>
        <p:spPr>
          <a:xfrm>
            <a:off x="6656832" y="2249424"/>
            <a:ext cx="292500" cy="4023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5" name="Google Shape;2155;p53"/>
          <p:cNvSpPr/>
          <p:nvPr/>
        </p:nvSpPr>
        <p:spPr>
          <a:xfrm>
            <a:off x="6656832" y="2249424"/>
            <a:ext cx="2925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000"/>
              <a:buFont typeface="Courier New"/>
              <a:buNone/>
            </a:pPr>
            <a:r>
              <a:rPr b="0" i="0" lang="en" sz="1000" u="none" cap="none" strike="noStrike">
                <a:solidFill>
                  <a:srgbClr val="6B7280"/>
                </a:solidFill>
                <a:latin typeface="Courier New"/>
                <a:ea typeface="Courier New"/>
                <a:cs typeface="Courier New"/>
                <a:sym typeface="Courier New"/>
              </a:rPr>
              <a:t>0</a:t>
            </a:r>
            <a:endParaRPr b="0" i="0" sz="1000" u="none" cap="none" strike="noStrike">
              <a:solidFill>
                <a:schemeClr val="dk1"/>
              </a:solidFill>
              <a:latin typeface="Calibri"/>
              <a:ea typeface="Calibri"/>
              <a:cs typeface="Calibri"/>
              <a:sym typeface="Calibri"/>
            </a:endParaRPr>
          </a:p>
        </p:txBody>
      </p:sp>
      <p:sp>
        <p:nvSpPr>
          <p:cNvPr id="2156" name="Google Shape;2156;p53"/>
          <p:cNvSpPr/>
          <p:nvPr/>
        </p:nvSpPr>
        <p:spPr>
          <a:xfrm>
            <a:off x="7040880" y="2249424"/>
            <a:ext cx="2376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B3A6B"/>
              </a:buClr>
              <a:buSzPts val="1600"/>
              <a:buFont typeface="Calibri"/>
              <a:buNone/>
            </a:pPr>
            <a:r>
              <a:rPr b="1" i="0" lang="en" sz="1600" u="none" cap="none" strike="noStrike">
                <a:solidFill>
                  <a:srgbClr val="1B3A6B"/>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2157" name="Google Shape;2157;p53"/>
          <p:cNvSpPr/>
          <p:nvPr/>
        </p:nvSpPr>
        <p:spPr>
          <a:xfrm>
            <a:off x="7296912" y="2304288"/>
            <a:ext cx="512100" cy="292500"/>
          </a:xfrm>
          <a:prstGeom prst="rect">
            <a:avLst/>
          </a:prstGeom>
          <a:solidFill>
            <a:srgbClr val="FEE2E2"/>
          </a:solidFill>
          <a:ln cap="flat" cmpd="sng" w="15225">
            <a:solidFill>
              <a:srgbClr val="DC262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8" name="Google Shape;2158;p53"/>
          <p:cNvSpPr/>
          <p:nvPr/>
        </p:nvSpPr>
        <p:spPr>
          <a:xfrm>
            <a:off x="7296912" y="2304288"/>
            <a:ext cx="512100" cy="292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DC2626"/>
              </a:buClr>
              <a:buSzPts val="1300"/>
              <a:buFont typeface="Courier New"/>
              <a:buNone/>
            </a:pPr>
            <a:r>
              <a:rPr b="1" i="0" lang="en" sz="1300" u="none" cap="none" strike="noStrike">
                <a:solidFill>
                  <a:srgbClr val="DC2626"/>
                </a:solidFill>
                <a:latin typeface="Courier New"/>
                <a:ea typeface="Courier New"/>
                <a:cs typeface="Courier New"/>
                <a:sym typeface="Courier New"/>
              </a:rPr>
              <a:t>0.00</a:t>
            </a:r>
            <a:endParaRPr b="0" i="0" sz="1300" u="none" cap="none" strike="noStrike">
              <a:solidFill>
                <a:schemeClr val="dk1"/>
              </a:solidFill>
              <a:latin typeface="Calibri"/>
              <a:ea typeface="Calibri"/>
              <a:cs typeface="Calibri"/>
              <a:sym typeface="Calibri"/>
            </a:endParaRPr>
          </a:p>
        </p:txBody>
      </p:sp>
      <p:sp>
        <p:nvSpPr>
          <p:cNvPr id="2159" name="Google Shape;2159;p53"/>
          <p:cNvSpPr/>
          <p:nvPr/>
        </p:nvSpPr>
        <p:spPr>
          <a:xfrm>
            <a:off x="7836408" y="2322576"/>
            <a:ext cx="11886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00"/>
              <a:buFont typeface="Calibri"/>
              <a:buNone/>
            </a:pPr>
            <a:r>
              <a:rPr b="0" i="1" lang="en" sz="1000" u="none" cap="none" strike="noStrike">
                <a:solidFill>
                  <a:srgbClr val="6B7280"/>
                </a:solidFill>
                <a:latin typeface="Calibri"/>
                <a:ea typeface="Calibri"/>
                <a:cs typeface="Calibri"/>
                <a:sym typeface="Calibri"/>
              </a:rPr>
              <a:t>antonyms?</a:t>
            </a:r>
            <a:endParaRPr b="0" i="0" sz="1000" u="none" cap="none" strike="noStrike">
              <a:solidFill>
                <a:schemeClr val="dk1"/>
              </a:solidFill>
              <a:latin typeface="Calibri"/>
              <a:ea typeface="Calibri"/>
              <a:cs typeface="Calibri"/>
              <a:sym typeface="Calibri"/>
            </a:endParaRPr>
          </a:p>
        </p:txBody>
      </p:sp>
      <p:sp>
        <p:nvSpPr>
          <p:cNvPr id="2160" name="Google Shape;2160;p53"/>
          <p:cNvSpPr/>
          <p:nvPr/>
        </p:nvSpPr>
        <p:spPr>
          <a:xfrm>
            <a:off x="347472" y="3200400"/>
            <a:ext cx="713100" cy="402300"/>
          </a:xfrm>
          <a:prstGeom prst="rect">
            <a:avLst/>
          </a:prstGeom>
          <a:solidFill>
            <a:srgbClr val="DBEAFE"/>
          </a:solidFill>
          <a:ln cap="flat" cmpd="sng" w="15225">
            <a:solidFill>
              <a:srgbClr val="2563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1" name="Google Shape;2161;p53"/>
          <p:cNvSpPr/>
          <p:nvPr/>
        </p:nvSpPr>
        <p:spPr>
          <a:xfrm>
            <a:off x="347472" y="3200400"/>
            <a:ext cx="7131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563EB"/>
              </a:buClr>
              <a:buSzPts val="1100"/>
              <a:buFont typeface="Courier New"/>
              <a:buNone/>
            </a:pPr>
            <a:r>
              <a:rPr b="1" i="0" lang="en" sz="1100" u="none" cap="none" strike="noStrike">
                <a:solidFill>
                  <a:srgbClr val="2563EB"/>
                </a:solidFill>
                <a:latin typeface="Courier New"/>
                <a:ea typeface="Courier New"/>
                <a:cs typeface="Courier New"/>
                <a:sym typeface="Courier New"/>
              </a:rPr>
              <a:t>happy</a:t>
            </a:r>
            <a:endParaRPr b="0" i="0" sz="1100" u="none" cap="none" strike="noStrike">
              <a:solidFill>
                <a:schemeClr val="dk1"/>
              </a:solidFill>
              <a:latin typeface="Calibri"/>
              <a:ea typeface="Calibri"/>
              <a:cs typeface="Calibri"/>
              <a:sym typeface="Calibri"/>
            </a:endParaRPr>
          </a:p>
        </p:txBody>
      </p:sp>
      <p:sp>
        <p:nvSpPr>
          <p:cNvPr id="2162" name="Google Shape;2162;p53"/>
          <p:cNvSpPr/>
          <p:nvPr/>
        </p:nvSpPr>
        <p:spPr>
          <a:xfrm>
            <a:off x="1097280" y="3200400"/>
            <a:ext cx="292500" cy="4023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3" name="Google Shape;2163;p53"/>
          <p:cNvSpPr/>
          <p:nvPr/>
        </p:nvSpPr>
        <p:spPr>
          <a:xfrm>
            <a:off x="1097280" y="3200400"/>
            <a:ext cx="2925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000"/>
              <a:buFont typeface="Courier New"/>
              <a:buNone/>
            </a:pPr>
            <a:r>
              <a:rPr b="0" i="0" lang="en" sz="1000" u="none" cap="none" strike="noStrike">
                <a:solidFill>
                  <a:srgbClr val="6B7280"/>
                </a:solidFill>
                <a:latin typeface="Courier New"/>
                <a:ea typeface="Courier New"/>
                <a:cs typeface="Courier New"/>
                <a:sym typeface="Courier New"/>
              </a:rPr>
              <a:t>0</a:t>
            </a:r>
            <a:endParaRPr b="0" i="0" sz="1000" u="none" cap="none" strike="noStrike">
              <a:solidFill>
                <a:schemeClr val="dk1"/>
              </a:solidFill>
              <a:latin typeface="Calibri"/>
              <a:ea typeface="Calibri"/>
              <a:cs typeface="Calibri"/>
              <a:sym typeface="Calibri"/>
            </a:endParaRPr>
          </a:p>
        </p:txBody>
      </p:sp>
      <p:sp>
        <p:nvSpPr>
          <p:cNvPr id="2164" name="Google Shape;2164;p53"/>
          <p:cNvSpPr/>
          <p:nvPr/>
        </p:nvSpPr>
        <p:spPr>
          <a:xfrm>
            <a:off x="1389888" y="3200400"/>
            <a:ext cx="292500" cy="4023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5" name="Google Shape;2165;p53"/>
          <p:cNvSpPr/>
          <p:nvPr/>
        </p:nvSpPr>
        <p:spPr>
          <a:xfrm>
            <a:off x="1389888" y="3200400"/>
            <a:ext cx="2925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000"/>
              <a:buFont typeface="Courier New"/>
              <a:buNone/>
            </a:pPr>
            <a:r>
              <a:rPr b="0" i="0" lang="en" sz="1000" u="none" cap="none" strike="noStrike">
                <a:solidFill>
                  <a:srgbClr val="6B7280"/>
                </a:solidFill>
                <a:latin typeface="Courier New"/>
                <a:ea typeface="Courier New"/>
                <a:cs typeface="Courier New"/>
                <a:sym typeface="Courier New"/>
              </a:rPr>
              <a:t>0</a:t>
            </a:r>
            <a:endParaRPr b="0" i="0" sz="1000" u="none" cap="none" strike="noStrike">
              <a:solidFill>
                <a:schemeClr val="dk1"/>
              </a:solidFill>
              <a:latin typeface="Calibri"/>
              <a:ea typeface="Calibri"/>
              <a:cs typeface="Calibri"/>
              <a:sym typeface="Calibri"/>
            </a:endParaRPr>
          </a:p>
        </p:txBody>
      </p:sp>
      <p:sp>
        <p:nvSpPr>
          <p:cNvPr id="2166" name="Google Shape;2166;p53"/>
          <p:cNvSpPr/>
          <p:nvPr/>
        </p:nvSpPr>
        <p:spPr>
          <a:xfrm>
            <a:off x="1682496" y="3200400"/>
            <a:ext cx="292500" cy="4023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7" name="Google Shape;2167;p53"/>
          <p:cNvSpPr/>
          <p:nvPr/>
        </p:nvSpPr>
        <p:spPr>
          <a:xfrm>
            <a:off x="1682496" y="3200400"/>
            <a:ext cx="2925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000"/>
              <a:buFont typeface="Courier New"/>
              <a:buNone/>
            </a:pPr>
            <a:r>
              <a:rPr b="0" i="0" lang="en" sz="1000" u="none" cap="none" strike="noStrike">
                <a:solidFill>
                  <a:srgbClr val="6B7280"/>
                </a:solidFill>
                <a:latin typeface="Courier New"/>
                <a:ea typeface="Courier New"/>
                <a:cs typeface="Courier New"/>
                <a:sym typeface="Courier New"/>
              </a:rPr>
              <a:t>0</a:t>
            </a:r>
            <a:endParaRPr b="0" i="0" sz="1000" u="none" cap="none" strike="noStrike">
              <a:solidFill>
                <a:schemeClr val="dk1"/>
              </a:solidFill>
              <a:latin typeface="Calibri"/>
              <a:ea typeface="Calibri"/>
              <a:cs typeface="Calibri"/>
              <a:sym typeface="Calibri"/>
            </a:endParaRPr>
          </a:p>
        </p:txBody>
      </p:sp>
      <p:sp>
        <p:nvSpPr>
          <p:cNvPr id="2168" name="Google Shape;2168;p53"/>
          <p:cNvSpPr/>
          <p:nvPr/>
        </p:nvSpPr>
        <p:spPr>
          <a:xfrm>
            <a:off x="1975104" y="3200400"/>
            <a:ext cx="292500" cy="4023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9" name="Google Shape;2169;p53"/>
          <p:cNvSpPr/>
          <p:nvPr/>
        </p:nvSpPr>
        <p:spPr>
          <a:xfrm>
            <a:off x="1975104" y="3200400"/>
            <a:ext cx="2925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000"/>
              <a:buFont typeface="Courier New"/>
              <a:buNone/>
            </a:pPr>
            <a:r>
              <a:rPr b="0" i="0" lang="en" sz="1000" u="none" cap="none" strike="noStrike">
                <a:solidFill>
                  <a:srgbClr val="6B7280"/>
                </a:solidFill>
                <a:latin typeface="Courier New"/>
                <a:ea typeface="Courier New"/>
                <a:cs typeface="Courier New"/>
                <a:sym typeface="Courier New"/>
              </a:rPr>
              <a:t>0</a:t>
            </a:r>
            <a:endParaRPr b="0" i="0" sz="1000" u="none" cap="none" strike="noStrike">
              <a:solidFill>
                <a:schemeClr val="dk1"/>
              </a:solidFill>
              <a:latin typeface="Calibri"/>
              <a:ea typeface="Calibri"/>
              <a:cs typeface="Calibri"/>
              <a:sym typeface="Calibri"/>
            </a:endParaRPr>
          </a:p>
        </p:txBody>
      </p:sp>
      <p:sp>
        <p:nvSpPr>
          <p:cNvPr id="2170" name="Google Shape;2170;p53"/>
          <p:cNvSpPr/>
          <p:nvPr/>
        </p:nvSpPr>
        <p:spPr>
          <a:xfrm>
            <a:off x="2267712" y="3200400"/>
            <a:ext cx="292500" cy="4023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1" name="Google Shape;2171;p53"/>
          <p:cNvSpPr/>
          <p:nvPr/>
        </p:nvSpPr>
        <p:spPr>
          <a:xfrm>
            <a:off x="2267712" y="3200400"/>
            <a:ext cx="2925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000"/>
              <a:buFont typeface="Courier New"/>
              <a:buNone/>
            </a:pPr>
            <a:r>
              <a:rPr b="0" i="0" lang="en" sz="1000" u="none" cap="none" strike="noStrike">
                <a:solidFill>
                  <a:srgbClr val="6B7280"/>
                </a:solidFill>
                <a:latin typeface="Courier New"/>
                <a:ea typeface="Courier New"/>
                <a:cs typeface="Courier New"/>
                <a:sym typeface="Courier New"/>
              </a:rPr>
              <a:t>0</a:t>
            </a:r>
            <a:endParaRPr b="0" i="0" sz="1000" u="none" cap="none" strike="noStrike">
              <a:solidFill>
                <a:schemeClr val="dk1"/>
              </a:solidFill>
              <a:latin typeface="Calibri"/>
              <a:ea typeface="Calibri"/>
              <a:cs typeface="Calibri"/>
              <a:sym typeface="Calibri"/>
            </a:endParaRPr>
          </a:p>
        </p:txBody>
      </p:sp>
      <p:sp>
        <p:nvSpPr>
          <p:cNvPr id="2172" name="Google Shape;2172;p53"/>
          <p:cNvSpPr/>
          <p:nvPr/>
        </p:nvSpPr>
        <p:spPr>
          <a:xfrm>
            <a:off x="2560320" y="3200400"/>
            <a:ext cx="292500" cy="4023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3" name="Google Shape;2173;p53"/>
          <p:cNvSpPr/>
          <p:nvPr/>
        </p:nvSpPr>
        <p:spPr>
          <a:xfrm>
            <a:off x="2560320" y="3200400"/>
            <a:ext cx="2925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000"/>
              <a:buFont typeface="Courier New"/>
              <a:buNone/>
            </a:pPr>
            <a:r>
              <a:rPr b="0" i="0" lang="en" sz="1000" u="none" cap="none" strike="noStrike">
                <a:solidFill>
                  <a:srgbClr val="6B7280"/>
                </a:solidFill>
                <a:latin typeface="Courier New"/>
                <a:ea typeface="Courier New"/>
                <a:cs typeface="Courier New"/>
                <a:sym typeface="Courier New"/>
              </a:rPr>
              <a:t>0</a:t>
            </a:r>
            <a:endParaRPr b="0" i="0" sz="1000" u="none" cap="none" strike="noStrike">
              <a:solidFill>
                <a:schemeClr val="dk1"/>
              </a:solidFill>
              <a:latin typeface="Calibri"/>
              <a:ea typeface="Calibri"/>
              <a:cs typeface="Calibri"/>
              <a:sym typeface="Calibri"/>
            </a:endParaRPr>
          </a:p>
        </p:txBody>
      </p:sp>
      <p:sp>
        <p:nvSpPr>
          <p:cNvPr id="2174" name="Google Shape;2174;p53"/>
          <p:cNvSpPr/>
          <p:nvPr/>
        </p:nvSpPr>
        <p:spPr>
          <a:xfrm>
            <a:off x="2852928" y="3200400"/>
            <a:ext cx="292500" cy="402300"/>
          </a:xfrm>
          <a:prstGeom prst="rect">
            <a:avLst/>
          </a:prstGeom>
          <a:solidFill>
            <a:srgbClr val="DBEAFE"/>
          </a:solidFill>
          <a:ln cap="flat" cmpd="sng" w="19050">
            <a:solidFill>
              <a:srgbClr val="2563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5" name="Google Shape;2175;p53"/>
          <p:cNvSpPr/>
          <p:nvPr/>
        </p:nvSpPr>
        <p:spPr>
          <a:xfrm>
            <a:off x="2852928" y="3200400"/>
            <a:ext cx="2925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563EB"/>
              </a:buClr>
              <a:buSzPts val="1000"/>
              <a:buFont typeface="Courier New"/>
              <a:buNone/>
            </a:pPr>
            <a:r>
              <a:rPr b="1" i="0" lang="en" sz="1000" u="none" cap="none" strike="noStrike">
                <a:solidFill>
                  <a:srgbClr val="2563EB"/>
                </a:solidFill>
                <a:latin typeface="Courier New"/>
                <a:ea typeface="Courier New"/>
                <a:cs typeface="Courier New"/>
                <a:sym typeface="Courier New"/>
              </a:rPr>
              <a:t>1</a:t>
            </a:r>
            <a:endParaRPr b="0" i="0" sz="1000" u="none" cap="none" strike="noStrike">
              <a:solidFill>
                <a:schemeClr val="dk1"/>
              </a:solidFill>
              <a:latin typeface="Calibri"/>
              <a:ea typeface="Calibri"/>
              <a:cs typeface="Calibri"/>
              <a:sym typeface="Calibri"/>
            </a:endParaRPr>
          </a:p>
        </p:txBody>
      </p:sp>
      <p:sp>
        <p:nvSpPr>
          <p:cNvPr id="2176" name="Google Shape;2176;p53"/>
          <p:cNvSpPr/>
          <p:nvPr/>
        </p:nvSpPr>
        <p:spPr>
          <a:xfrm>
            <a:off x="3145536" y="3200400"/>
            <a:ext cx="292500" cy="4023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7" name="Google Shape;2177;p53"/>
          <p:cNvSpPr/>
          <p:nvPr/>
        </p:nvSpPr>
        <p:spPr>
          <a:xfrm>
            <a:off x="3145536" y="3200400"/>
            <a:ext cx="2925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000"/>
              <a:buFont typeface="Courier New"/>
              <a:buNone/>
            </a:pPr>
            <a:r>
              <a:rPr b="0" i="0" lang="en" sz="1000" u="none" cap="none" strike="noStrike">
                <a:solidFill>
                  <a:srgbClr val="6B7280"/>
                </a:solidFill>
                <a:latin typeface="Courier New"/>
                <a:ea typeface="Courier New"/>
                <a:cs typeface="Courier New"/>
                <a:sym typeface="Courier New"/>
              </a:rPr>
              <a:t>0</a:t>
            </a:r>
            <a:endParaRPr b="0" i="0" sz="1000" u="none" cap="none" strike="noStrike">
              <a:solidFill>
                <a:schemeClr val="dk1"/>
              </a:solidFill>
              <a:latin typeface="Calibri"/>
              <a:ea typeface="Calibri"/>
              <a:cs typeface="Calibri"/>
              <a:sym typeface="Calibri"/>
            </a:endParaRPr>
          </a:p>
        </p:txBody>
      </p:sp>
      <p:sp>
        <p:nvSpPr>
          <p:cNvPr id="2178" name="Google Shape;2178;p53"/>
          <p:cNvSpPr/>
          <p:nvPr/>
        </p:nvSpPr>
        <p:spPr>
          <a:xfrm>
            <a:off x="3566160" y="3200400"/>
            <a:ext cx="2559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B3A6B"/>
              </a:buClr>
              <a:buSzPts val="2200"/>
              <a:buFont typeface="Calibri"/>
              <a:buNone/>
            </a:pPr>
            <a:r>
              <a:rPr b="1" i="0" lang="en" sz="2200" u="none" cap="none" strike="noStrike">
                <a:solidFill>
                  <a:srgbClr val="1B3A6B"/>
                </a:solidFill>
                <a:latin typeface="Calibri"/>
                <a:ea typeface="Calibri"/>
                <a:cs typeface="Calibri"/>
                <a:sym typeface="Calibri"/>
              </a:rPr>
              <a:t>·</a:t>
            </a:r>
            <a:endParaRPr b="0" i="0" sz="2200" u="none" cap="none" strike="noStrike">
              <a:solidFill>
                <a:schemeClr val="dk1"/>
              </a:solidFill>
              <a:latin typeface="Calibri"/>
              <a:ea typeface="Calibri"/>
              <a:cs typeface="Calibri"/>
              <a:sym typeface="Calibri"/>
            </a:endParaRPr>
          </a:p>
        </p:txBody>
      </p:sp>
      <p:sp>
        <p:nvSpPr>
          <p:cNvPr id="2179" name="Google Shape;2179;p53"/>
          <p:cNvSpPr/>
          <p:nvPr/>
        </p:nvSpPr>
        <p:spPr>
          <a:xfrm>
            <a:off x="3858768" y="3200400"/>
            <a:ext cx="713100" cy="402300"/>
          </a:xfrm>
          <a:prstGeom prst="rect">
            <a:avLst/>
          </a:prstGeom>
          <a:solidFill>
            <a:srgbClr val="EDE9FE"/>
          </a:solidFill>
          <a:ln cap="flat" cmpd="sng" w="15225">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0" name="Google Shape;2180;p53"/>
          <p:cNvSpPr/>
          <p:nvPr/>
        </p:nvSpPr>
        <p:spPr>
          <a:xfrm>
            <a:off x="3858768" y="3200400"/>
            <a:ext cx="7131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C3AED"/>
              </a:buClr>
              <a:buSzPts val="1100"/>
              <a:buFont typeface="Courier New"/>
              <a:buNone/>
            </a:pPr>
            <a:r>
              <a:rPr b="1" i="0" lang="en" sz="1100" u="none" cap="none" strike="noStrike">
                <a:solidFill>
                  <a:srgbClr val="7C3AED"/>
                </a:solidFill>
                <a:latin typeface="Courier New"/>
                <a:ea typeface="Courier New"/>
                <a:cs typeface="Courier New"/>
                <a:sym typeface="Courier New"/>
              </a:rPr>
              <a:t>dog</a:t>
            </a:r>
            <a:endParaRPr b="0" i="0" sz="1100" u="none" cap="none" strike="noStrike">
              <a:solidFill>
                <a:schemeClr val="dk1"/>
              </a:solidFill>
              <a:latin typeface="Calibri"/>
              <a:ea typeface="Calibri"/>
              <a:cs typeface="Calibri"/>
              <a:sym typeface="Calibri"/>
            </a:endParaRPr>
          </a:p>
        </p:txBody>
      </p:sp>
      <p:sp>
        <p:nvSpPr>
          <p:cNvPr id="2181" name="Google Shape;2181;p53"/>
          <p:cNvSpPr/>
          <p:nvPr/>
        </p:nvSpPr>
        <p:spPr>
          <a:xfrm>
            <a:off x="4608576" y="3200400"/>
            <a:ext cx="292500" cy="4023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2" name="Google Shape;2182;p53"/>
          <p:cNvSpPr/>
          <p:nvPr/>
        </p:nvSpPr>
        <p:spPr>
          <a:xfrm>
            <a:off x="4608576" y="3200400"/>
            <a:ext cx="2925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000"/>
              <a:buFont typeface="Courier New"/>
              <a:buNone/>
            </a:pPr>
            <a:r>
              <a:rPr b="0" i="0" lang="en" sz="1000" u="none" cap="none" strike="noStrike">
                <a:solidFill>
                  <a:srgbClr val="6B7280"/>
                </a:solidFill>
                <a:latin typeface="Courier New"/>
                <a:ea typeface="Courier New"/>
                <a:cs typeface="Courier New"/>
                <a:sym typeface="Courier New"/>
              </a:rPr>
              <a:t>0</a:t>
            </a:r>
            <a:endParaRPr b="0" i="0" sz="1000" u="none" cap="none" strike="noStrike">
              <a:solidFill>
                <a:schemeClr val="dk1"/>
              </a:solidFill>
              <a:latin typeface="Calibri"/>
              <a:ea typeface="Calibri"/>
              <a:cs typeface="Calibri"/>
              <a:sym typeface="Calibri"/>
            </a:endParaRPr>
          </a:p>
        </p:txBody>
      </p:sp>
      <p:sp>
        <p:nvSpPr>
          <p:cNvPr id="2183" name="Google Shape;2183;p53"/>
          <p:cNvSpPr/>
          <p:nvPr/>
        </p:nvSpPr>
        <p:spPr>
          <a:xfrm>
            <a:off x="4901184" y="3200400"/>
            <a:ext cx="292500" cy="402300"/>
          </a:xfrm>
          <a:prstGeom prst="rect">
            <a:avLst/>
          </a:prstGeom>
          <a:solidFill>
            <a:srgbClr val="EDE9FE"/>
          </a:solidFill>
          <a:ln cap="flat" cmpd="sng" w="1905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4" name="Google Shape;2184;p53"/>
          <p:cNvSpPr/>
          <p:nvPr/>
        </p:nvSpPr>
        <p:spPr>
          <a:xfrm>
            <a:off x="4901184" y="3200400"/>
            <a:ext cx="2925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C3AED"/>
              </a:buClr>
              <a:buSzPts val="1000"/>
              <a:buFont typeface="Courier New"/>
              <a:buNone/>
            </a:pPr>
            <a:r>
              <a:rPr b="1" i="0" lang="en" sz="1000" u="none" cap="none" strike="noStrike">
                <a:solidFill>
                  <a:srgbClr val="7C3AED"/>
                </a:solidFill>
                <a:latin typeface="Courier New"/>
                <a:ea typeface="Courier New"/>
                <a:cs typeface="Courier New"/>
                <a:sym typeface="Courier New"/>
              </a:rPr>
              <a:t>1</a:t>
            </a:r>
            <a:endParaRPr b="0" i="0" sz="1000" u="none" cap="none" strike="noStrike">
              <a:solidFill>
                <a:schemeClr val="dk1"/>
              </a:solidFill>
              <a:latin typeface="Calibri"/>
              <a:ea typeface="Calibri"/>
              <a:cs typeface="Calibri"/>
              <a:sym typeface="Calibri"/>
            </a:endParaRPr>
          </a:p>
        </p:txBody>
      </p:sp>
      <p:sp>
        <p:nvSpPr>
          <p:cNvPr id="2185" name="Google Shape;2185;p53"/>
          <p:cNvSpPr/>
          <p:nvPr/>
        </p:nvSpPr>
        <p:spPr>
          <a:xfrm>
            <a:off x="5193792" y="3200400"/>
            <a:ext cx="292500" cy="4023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6" name="Google Shape;2186;p53"/>
          <p:cNvSpPr/>
          <p:nvPr/>
        </p:nvSpPr>
        <p:spPr>
          <a:xfrm>
            <a:off x="5193792" y="3200400"/>
            <a:ext cx="2925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000"/>
              <a:buFont typeface="Courier New"/>
              <a:buNone/>
            </a:pPr>
            <a:r>
              <a:rPr b="0" i="0" lang="en" sz="1000" u="none" cap="none" strike="noStrike">
                <a:solidFill>
                  <a:srgbClr val="6B7280"/>
                </a:solidFill>
                <a:latin typeface="Courier New"/>
                <a:ea typeface="Courier New"/>
                <a:cs typeface="Courier New"/>
                <a:sym typeface="Courier New"/>
              </a:rPr>
              <a:t>0</a:t>
            </a:r>
            <a:endParaRPr b="0" i="0" sz="1000" u="none" cap="none" strike="noStrike">
              <a:solidFill>
                <a:schemeClr val="dk1"/>
              </a:solidFill>
              <a:latin typeface="Calibri"/>
              <a:ea typeface="Calibri"/>
              <a:cs typeface="Calibri"/>
              <a:sym typeface="Calibri"/>
            </a:endParaRPr>
          </a:p>
        </p:txBody>
      </p:sp>
      <p:sp>
        <p:nvSpPr>
          <p:cNvPr id="2187" name="Google Shape;2187;p53"/>
          <p:cNvSpPr/>
          <p:nvPr/>
        </p:nvSpPr>
        <p:spPr>
          <a:xfrm>
            <a:off x="5486400" y="3200400"/>
            <a:ext cx="292500" cy="4023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8" name="Google Shape;2188;p53"/>
          <p:cNvSpPr/>
          <p:nvPr/>
        </p:nvSpPr>
        <p:spPr>
          <a:xfrm>
            <a:off x="5486400" y="3200400"/>
            <a:ext cx="2925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000"/>
              <a:buFont typeface="Courier New"/>
              <a:buNone/>
            </a:pPr>
            <a:r>
              <a:rPr b="0" i="0" lang="en" sz="1000" u="none" cap="none" strike="noStrike">
                <a:solidFill>
                  <a:srgbClr val="6B7280"/>
                </a:solidFill>
                <a:latin typeface="Courier New"/>
                <a:ea typeface="Courier New"/>
                <a:cs typeface="Courier New"/>
                <a:sym typeface="Courier New"/>
              </a:rPr>
              <a:t>0</a:t>
            </a:r>
            <a:endParaRPr b="0" i="0" sz="1000" u="none" cap="none" strike="noStrike">
              <a:solidFill>
                <a:schemeClr val="dk1"/>
              </a:solidFill>
              <a:latin typeface="Calibri"/>
              <a:ea typeface="Calibri"/>
              <a:cs typeface="Calibri"/>
              <a:sym typeface="Calibri"/>
            </a:endParaRPr>
          </a:p>
        </p:txBody>
      </p:sp>
      <p:sp>
        <p:nvSpPr>
          <p:cNvPr id="2189" name="Google Shape;2189;p53"/>
          <p:cNvSpPr/>
          <p:nvPr/>
        </p:nvSpPr>
        <p:spPr>
          <a:xfrm>
            <a:off x="5779008" y="3200400"/>
            <a:ext cx="292500" cy="4023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0" name="Google Shape;2190;p53"/>
          <p:cNvSpPr/>
          <p:nvPr/>
        </p:nvSpPr>
        <p:spPr>
          <a:xfrm>
            <a:off x="5779008" y="3200400"/>
            <a:ext cx="2925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000"/>
              <a:buFont typeface="Courier New"/>
              <a:buNone/>
            </a:pPr>
            <a:r>
              <a:rPr b="0" i="0" lang="en" sz="1000" u="none" cap="none" strike="noStrike">
                <a:solidFill>
                  <a:srgbClr val="6B7280"/>
                </a:solidFill>
                <a:latin typeface="Courier New"/>
                <a:ea typeface="Courier New"/>
                <a:cs typeface="Courier New"/>
                <a:sym typeface="Courier New"/>
              </a:rPr>
              <a:t>0</a:t>
            </a:r>
            <a:endParaRPr b="0" i="0" sz="1000" u="none" cap="none" strike="noStrike">
              <a:solidFill>
                <a:schemeClr val="dk1"/>
              </a:solidFill>
              <a:latin typeface="Calibri"/>
              <a:ea typeface="Calibri"/>
              <a:cs typeface="Calibri"/>
              <a:sym typeface="Calibri"/>
            </a:endParaRPr>
          </a:p>
        </p:txBody>
      </p:sp>
      <p:sp>
        <p:nvSpPr>
          <p:cNvPr id="2191" name="Google Shape;2191;p53"/>
          <p:cNvSpPr/>
          <p:nvPr/>
        </p:nvSpPr>
        <p:spPr>
          <a:xfrm>
            <a:off x="6071616" y="3200400"/>
            <a:ext cx="292500" cy="4023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2" name="Google Shape;2192;p53"/>
          <p:cNvSpPr/>
          <p:nvPr/>
        </p:nvSpPr>
        <p:spPr>
          <a:xfrm>
            <a:off x="6071616" y="3200400"/>
            <a:ext cx="2925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000"/>
              <a:buFont typeface="Courier New"/>
              <a:buNone/>
            </a:pPr>
            <a:r>
              <a:rPr b="0" i="0" lang="en" sz="1000" u="none" cap="none" strike="noStrike">
                <a:solidFill>
                  <a:srgbClr val="6B7280"/>
                </a:solidFill>
                <a:latin typeface="Courier New"/>
                <a:ea typeface="Courier New"/>
                <a:cs typeface="Courier New"/>
                <a:sym typeface="Courier New"/>
              </a:rPr>
              <a:t>0</a:t>
            </a:r>
            <a:endParaRPr b="0" i="0" sz="1000" u="none" cap="none" strike="noStrike">
              <a:solidFill>
                <a:schemeClr val="dk1"/>
              </a:solidFill>
              <a:latin typeface="Calibri"/>
              <a:ea typeface="Calibri"/>
              <a:cs typeface="Calibri"/>
              <a:sym typeface="Calibri"/>
            </a:endParaRPr>
          </a:p>
        </p:txBody>
      </p:sp>
      <p:sp>
        <p:nvSpPr>
          <p:cNvPr id="2193" name="Google Shape;2193;p53"/>
          <p:cNvSpPr/>
          <p:nvPr/>
        </p:nvSpPr>
        <p:spPr>
          <a:xfrm>
            <a:off x="6364224" y="3200400"/>
            <a:ext cx="292500" cy="4023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4" name="Google Shape;2194;p53"/>
          <p:cNvSpPr/>
          <p:nvPr/>
        </p:nvSpPr>
        <p:spPr>
          <a:xfrm>
            <a:off x="6364224" y="3200400"/>
            <a:ext cx="2925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000"/>
              <a:buFont typeface="Courier New"/>
              <a:buNone/>
            </a:pPr>
            <a:r>
              <a:rPr b="0" i="0" lang="en" sz="1000" u="none" cap="none" strike="noStrike">
                <a:solidFill>
                  <a:srgbClr val="6B7280"/>
                </a:solidFill>
                <a:latin typeface="Courier New"/>
                <a:ea typeface="Courier New"/>
                <a:cs typeface="Courier New"/>
                <a:sym typeface="Courier New"/>
              </a:rPr>
              <a:t>0</a:t>
            </a:r>
            <a:endParaRPr b="0" i="0" sz="1000" u="none" cap="none" strike="noStrike">
              <a:solidFill>
                <a:schemeClr val="dk1"/>
              </a:solidFill>
              <a:latin typeface="Calibri"/>
              <a:ea typeface="Calibri"/>
              <a:cs typeface="Calibri"/>
              <a:sym typeface="Calibri"/>
            </a:endParaRPr>
          </a:p>
        </p:txBody>
      </p:sp>
      <p:sp>
        <p:nvSpPr>
          <p:cNvPr id="2195" name="Google Shape;2195;p53"/>
          <p:cNvSpPr/>
          <p:nvPr/>
        </p:nvSpPr>
        <p:spPr>
          <a:xfrm>
            <a:off x="6656832" y="3200400"/>
            <a:ext cx="292500" cy="4023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6" name="Google Shape;2196;p53"/>
          <p:cNvSpPr/>
          <p:nvPr/>
        </p:nvSpPr>
        <p:spPr>
          <a:xfrm>
            <a:off x="6656832" y="3200400"/>
            <a:ext cx="2925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000"/>
              <a:buFont typeface="Courier New"/>
              <a:buNone/>
            </a:pPr>
            <a:r>
              <a:rPr b="0" i="0" lang="en" sz="1000" u="none" cap="none" strike="noStrike">
                <a:solidFill>
                  <a:srgbClr val="6B7280"/>
                </a:solidFill>
                <a:latin typeface="Courier New"/>
                <a:ea typeface="Courier New"/>
                <a:cs typeface="Courier New"/>
                <a:sym typeface="Courier New"/>
              </a:rPr>
              <a:t>0</a:t>
            </a:r>
            <a:endParaRPr b="0" i="0" sz="1000" u="none" cap="none" strike="noStrike">
              <a:solidFill>
                <a:schemeClr val="dk1"/>
              </a:solidFill>
              <a:latin typeface="Calibri"/>
              <a:ea typeface="Calibri"/>
              <a:cs typeface="Calibri"/>
              <a:sym typeface="Calibri"/>
            </a:endParaRPr>
          </a:p>
        </p:txBody>
      </p:sp>
      <p:sp>
        <p:nvSpPr>
          <p:cNvPr id="2197" name="Google Shape;2197;p53"/>
          <p:cNvSpPr/>
          <p:nvPr/>
        </p:nvSpPr>
        <p:spPr>
          <a:xfrm>
            <a:off x="7040880" y="3200400"/>
            <a:ext cx="2376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B3A6B"/>
              </a:buClr>
              <a:buSzPts val="1600"/>
              <a:buFont typeface="Calibri"/>
              <a:buNone/>
            </a:pPr>
            <a:r>
              <a:rPr b="1" i="0" lang="en" sz="1600" u="none" cap="none" strike="noStrike">
                <a:solidFill>
                  <a:srgbClr val="1B3A6B"/>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2198" name="Google Shape;2198;p53"/>
          <p:cNvSpPr/>
          <p:nvPr/>
        </p:nvSpPr>
        <p:spPr>
          <a:xfrm>
            <a:off x="7296912" y="3255264"/>
            <a:ext cx="512100" cy="292500"/>
          </a:xfrm>
          <a:prstGeom prst="rect">
            <a:avLst/>
          </a:prstGeom>
          <a:solidFill>
            <a:srgbClr val="FEE2E2"/>
          </a:solidFill>
          <a:ln cap="flat" cmpd="sng" w="15225">
            <a:solidFill>
              <a:srgbClr val="DC262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9" name="Google Shape;2199;p53"/>
          <p:cNvSpPr/>
          <p:nvPr/>
        </p:nvSpPr>
        <p:spPr>
          <a:xfrm>
            <a:off x="7296912" y="3255264"/>
            <a:ext cx="512100" cy="292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DC2626"/>
              </a:buClr>
              <a:buSzPts val="1300"/>
              <a:buFont typeface="Courier New"/>
              <a:buNone/>
            </a:pPr>
            <a:r>
              <a:rPr b="1" i="0" lang="en" sz="1300" u="none" cap="none" strike="noStrike">
                <a:solidFill>
                  <a:srgbClr val="DC2626"/>
                </a:solidFill>
                <a:latin typeface="Courier New"/>
                <a:ea typeface="Courier New"/>
                <a:cs typeface="Courier New"/>
                <a:sym typeface="Courier New"/>
              </a:rPr>
              <a:t>0.00</a:t>
            </a:r>
            <a:endParaRPr b="0" i="0" sz="1300" u="none" cap="none" strike="noStrike">
              <a:solidFill>
                <a:schemeClr val="dk1"/>
              </a:solidFill>
              <a:latin typeface="Calibri"/>
              <a:ea typeface="Calibri"/>
              <a:cs typeface="Calibri"/>
              <a:sym typeface="Calibri"/>
            </a:endParaRPr>
          </a:p>
        </p:txBody>
      </p:sp>
      <p:sp>
        <p:nvSpPr>
          <p:cNvPr id="2200" name="Google Shape;2200;p53"/>
          <p:cNvSpPr/>
          <p:nvPr/>
        </p:nvSpPr>
        <p:spPr>
          <a:xfrm>
            <a:off x="7836408" y="3273552"/>
            <a:ext cx="11886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00"/>
              <a:buFont typeface="Calibri"/>
              <a:buNone/>
            </a:pPr>
            <a:r>
              <a:rPr b="0" i="1" lang="en" sz="1000" u="none" cap="none" strike="noStrike">
                <a:solidFill>
                  <a:srgbClr val="6B7280"/>
                </a:solidFill>
                <a:latin typeface="Calibri"/>
                <a:ea typeface="Calibri"/>
                <a:cs typeface="Calibri"/>
                <a:sym typeface="Calibri"/>
              </a:rPr>
              <a:t>unrelated!</a:t>
            </a:r>
            <a:endParaRPr b="0" i="0" sz="1000" u="none" cap="none" strike="noStrike">
              <a:solidFill>
                <a:schemeClr val="dk1"/>
              </a:solidFill>
              <a:latin typeface="Calibri"/>
              <a:ea typeface="Calibri"/>
              <a:cs typeface="Calibri"/>
              <a:sym typeface="Calibri"/>
            </a:endParaRPr>
          </a:p>
        </p:txBody>
      </p:sp>
      <p:sp>
        <p:nvSpPr>
          <p:cNvPr id="2201" name="Google Shape;2201;p53"/>
          <p:cNvSpPr/>
          <p:nvPr/>
        </p:nvSpPr>
        <p:spPr>
          <a:xfrm>
            <a:off x="347472" y="4224528"/>
            <a:ext cx="8449200" cy="685800"/>
          </a:xfrm>
          <a:prstGeom prst="rect">
            <a:avLst/>
          </a:prstGeom>
          <a:solidFill>
            <a:srgbClr val="EDE9FE"/>
          </a:solidFill>
          <a:ln cap="flat" cmpd="sng" w="15225">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2" name="Google Shape;2202;p53"/>
          <p:cNvSpPr/>
          <p:nvPr/>
        </p:nvSpPr>
        <p:spPr>
          <a:xfrm>
            <a:off x="502920" y="4261104"/>
            <a:ext cx="10059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C3AED"/>
              </a:buClr>
              <a:buSzPts val="1200"/>
              <a:buFont typeface="Calibri"/>
              <a:buNone/>
            </a:pPr>
            <a:r>
              <a:rPr b="1" i="0" lang="en" sz="1200" u="none" cap="none" strike="noStrike">
                <a:solidFill>
                  <a:srgbClr val="7C3AED"/>
                </a:solidFill>
                <a:latin typeface="Calibri"/>
                <a:ea typeface="Calibri"/>
                <a:cs typeface="Calibri"/>
                <a:sym typeface="Calibri"/>
              </a:rPr>
              <a:t>💡  Insight</a:t>
            </a:r>
            <a:endParaRPr b="0" i="0" sz="1200" u="none" cap="none" strike="noStrike">
              <a:solidFill>
                <a:schemeClr val="dk1"/>
              </a:solidFill>
              <a:latin typeface="Calibri"/>
              <a:ea typeface="Calibri"/>
              <a:cs typeface="Calibri"/>
              <a:sym typeface="Calibri"/>
            </a:endParaRPr>
          </a:p>
        </p:txBody>
      </p:sp>
      <p:sp>
        <p:nvSpPr>
          <p:cNvPr id="2203" name="Google Shape;2203;p53"/>
          <p:cNvSpPr/>
          <p:nvPr/>
        </p:nvSpPr>
        <p:spPr>
          <a:xfrm>
            <a:off x="502920" y="4507992"/>
            <a:ext cx="82296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100"/>
              <a:buFont typeface="Calibri"/>
              <a:buNone/>
            </a:pPr>
            <a:r>
              <a:rPr b="0" i="0" lang="en" sz="1100" u="none" cap="none" strike="noStrike">
                <a:solidFill>
                  <a:srgbClr val="111827"/>
                </a:solidFill>
                <a:latin typeface="Calibri"/>
                <a:ea typeface="Calibri"/>
                <a:cs typeface="Calibri"/>
                <a:sym typeface="Calibri"/>
              </a:rPr>
              <a:t>One-hot vectors are orthogonal by construction — the model can never discover that "cat" and "kitten" are related.</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11827"/>
              </a:buClr>
              <a:buSzPts val="1100"/>
              <a:buFont typeface="Calibri"/>
              <a:buNone/>
            </a:pPr>
            <a:r>
              <a:rPr b="0" i="0" lang="en" sz="1100" u="none" cap="none" strike="noStrike">
                <a:solidFill>
                  <a:srgbClr val="111827"/>
                </a:solidFill>
                <a:latin typeface="Calibri"/>
                <a:ea typeface="Calibri"/>
                <a:cs typeface="Calibri"/>
                <a:sym typeface="Calibri"/>
              </a:rPr>
              <a:t>We need a representation where similar words are geometrically close.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2208" name="Shape 2208"/>
        <p:cNvGrpSpPr/>
        <p:nvPr/>
      </p:nvGrpSpPr>
      <p:grpSpPr>
        <a:xfrm>
          <a:off x="0" y="0"/>
          <a:ext cx="0" cy="0"/>
          <a:chOff x="0" y="0"/>
          <a:chExt cx="0" cy="0"/>
        </a:xfrm>
      </p:grpSpPr>
      <p:sp>
        <p:nvSpPr>
          <p:cNvPr id="2209" name="Google Shape;2209;p54"/>
          <p:cNvSpPr/>
          <p:nvPr/>
        </p:nvSpPr>
        <p:spPr>
          <a:xfrm>
            <a:off x="0" y="0"/>
            <a:ext cx="9144000" cy="63900"/>
          </a:xfrm>
          <a:prstGeom prst="rect">
            <a:avLst/>
          </a:prstGeom>
          <a:solidFill>
            <a:srgbClr val="0D9488"/>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0" name="Google Shape;2210;p54"/>
          <p:cNvSpPr/>
          <p:nvPr/>
        </p:nvSpPr>
        <p:spPr>
          <a:xfrm>
            <a:off x="347472" y="164592"/>
            <a:ext cx="63900" cy="512100"/>
          </a:xfrm>
          <a:prstGeom prst="rect">
            <a:avLst/>
          </a:prstGeom>
          <a:solidFill>
            <a:srgbClr val="0D9488"/>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1" name="Google Shape;2211;p54"/>
          <p:cNvSpPr/>
          <p:nvPr/>
        </p:nvSpPr>
        <p:spPr>
          <a:xfrm>
            <a:off x="521208" y="146304"/>
            <a:ext cx="82296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9488"/>
              </a:buClr>
              <a:buSzPts val="2600"/>
              <a:buFont typeface="Calibri"/>
              <a:buNone/>
            </a:pPr>
            <a:r>
              <a:rPr b="1" i="0" lang="en" sz="2600" u="none" cap="none" strike="noStrike">
                <a:solidFill>
                  <a:srgbClr val="0D9488"/>
                </a:solidFill>
                <a:latin typeface="Calibri"/>
                <a:ea typeface="Calibri"/>
                <a:cs typeface="Calibri"/>
                <a:sym typeface="Calibri"/>
              </a:rPr>
              <a:t>Distributional Semantics — Words by Context</a:t>
            </a:r>
            <a:endParaRPr b="0" i="0" sz="2600" u="none" cap="none" strike="noStrike">
              <a:solidFill>
                <a:schemeClr val="dk1"/>
              </a:solidFill>
              <a:latin typeface="Calibri"/>
              <a:ea typeface="Calibri"/>
              <a:cs typeface="Calibri"/>
              <a:sym typeface="Calibri"/>
            </a:endParaRPr>
          </a:p>
        </p:txBody>
      </p:sp>
      <p:cxnSp>
        <p:nvCxnSpPr>
          <p:cNvPr id="2212" name="Google Shape;2212;p54"/>
          <p:cNvCxnSpPr/>
          <p:nvPr/>
        </p:nvCxnSpPr>
        <p:spPr>
          <a:xfrm>
            <a:off x="347472" y="713232"/>
            <a:ext cx="8449200" cy="0"/>
          </a:xfrm>
          <a:prstGeom prst="straightConnector1">
            <a:avLst/>
          </a:prstGeom>
          <a:noFill/>
          <a:ln cap="flat" cmpd="sng" w="15225">
            <a:solidFill>
              <a:srgbClr val="0D9488"/>
            </a:solidFill>
            <a:prstDash val="solid"/>
            <a:round/>
            <a:headEnd len="sm" w="sm" type="none"/>
            <a:tailEnd len="sm" w="sm" type="none"/>
          </a:ln>
        </p:spPr>
      </p:cxnSp>
      <p:sp>
        <p:nvSpPr>
          <p:cNvPr id="2213" name="Google Shape;2213;p54"/>
          <p:cNvSpPr/>
          <p:nvPr/>
        </p:nvSpPr>
        <p:spPr>
          <a:xfrm>
            <a:off x="347472" y="663466"/>
            <a:ext cx="8449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200"/>
              <a:buFont typeface="Calibri"/>
              <a:buNone/>
            </a:pPr>
            <a:r>
              <a:rPr b="0" i="1" lang="en" sz="1200" u="none" cap="none" strike="noStrike">
                <a:solidFill>
                  <a:srgbClr val="6B7280"/>
                </a:solidFill>
                <a:latin typeface="Calibri"/>
                <a:ea typeface="Calibri"/>
                <a:cs typeface="Calibri"/>
                <a:sym typeface="Calibri"/>
              </a:rPr>
              <a:t>"You shall know a word by the company it keeps" — J. R. Firth, 1957</a:t>
            </a:r>
            <a:endParaRPr b="0" i="0" sz="1200" u="none" cap="none" strike="noStrike">
              <a:solidFill>
                <a:schemeClr val="dk1"/>
              </a:solidFill>
              <a:latin typeface="Calibri"/>
              <a:ea typeface="Calibri"/>
              <a:cs typeface="Calibri"/>
              <a:sym typeface="Calibri"/>
            </a:endParaRPr>
          </a:p>
        </p:txBody>
      </p:sp>
      <p:sp>
        <p:nvSpPr>
          <p:cNvPr id="2214" name="Google Shape;2214;p54"/>
          <p:cNvSpPr/>
          <p:nvPr/>
        </p:nvSpPr>
        <p:spPr>
          <a:xfrm>
            <a:off x="347472" y="914400"/>
            <a:ext cx="4572000" cy="2834700"/>
          </a:xfrm>
          <a:prstGeom prst="rect">
            <a:avLst/>
          </a:prstGeom>
          <a:solidFill>
            <a:srgbClr val="F0FDFA"/>
          </a:solidFill>
          <a:ln cap="flat" cmpd="sng" w="15225">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5" name="Google Shape;2215;p54"/>
          <p:cNvSpPr/>
          <p:nvPr/>
        </p:nvSpPr>
        <p:spPr>
          <a:xfrm>
            <a:off x="502920" y="987552"/>
            <a:ext cx="22860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9488"/>
              </a:buClr>
              <a:buSzPts val="1300"/>
              <a:buFont typeface="Calibri"/>
              <a:buNone/>
            </a:pPr>
            <a:r>
              <a:rPr b="1" i="0" lang="en" sz="1300" u="none" cap="none" strike="noStrike">
                <a:solidFill>
                  <a:srgbClr val="0D9488"/>
                </a:solidFill>
                <a:latin typeface="Calibri"/>
                <a:ea typeface="Calibri"/>
                <a:cs typeface="Calibri"/>
                <a:sym typeface="Calibri"/>
              </a:rPr>
              <a:t>The Big Idea</a:t>
            </a:r>
            <a:endParaRPr b="0" i="0" sz="1300" u="none" cap="none" strike="noStrike">
              <a:solidFill>
                <a:schemeClr val="dk1"/>
              </a:solidFill>
              <a:latin typeface="Calibri"/>
              <a:ea typeface="Calibri"/>
              <a:cs typeface="Calibri"/>
              <a:sym typeface="Calibri"/>
            </a:endParaRPr>
          </a:p>
        </p:txBody>
      </p:sp>
      <p:sp>
        <p:nvSpPr>
          <p:cNvPr id="2216" name="Google Shape;2216;p54"/>
          <p:cNvSpPr/>
          <p:nvPr/>
        </p:nvSpPr>
        <p:spPr>
          <a:xfrm>
            <a:off x="502920" y="1353312"/>
            <a:ext cx="4251900" cy="43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D9488"/>
              </a:buClr>
              <a:buSzPts val="1200"/>
              <a:buFont typeface="Calibri"/>
              <a:buNone/>
            </a:pPr>
            <a:r>
              <a:rPr b="1" i="0" lang="en" sz="1200" u="none" cap="none" strike="noStrike">
                <a:solidFill>
                  <a:srgbClr val="0D9488"/>
                </a:solidFill>
                <a:latin typeface="Calibri"/>
                <a:ea typeface="Calibri"/>
                <a:cs typeface="Calibri"/>
                <a:sym typeface="Calibri"/>
              </a:rPr>
              <a:t>①  </a:t>
            </a:r>
            <a:r>
              <a:rPr b="1" i="0" lang="en" sz="1200" u="none" cap="none" strike="noStrike">
                <a:solidFill>
                  <a:srgbClr val="111827"/>
                </a:solidFill>
                <a:latin typeface="Calibri"/>
                <a:ea typeface="Calibri"/>
                <a:cs typeface="Calibri"/>
                <a:sym typeface="Calibri"/>
              </a:rPr>
              <a:t>A word's meaning</a:t>
            </a:r>
            <a:r>
              <a:rPr b="0" i="0" lang="en" sz="1200" u="none" cap="none" strike="noStrike">
                <a:solidFill>
                  <a:srgbClr val="111827"/>
                </a:solidFill>
                <a:latin typeface="Calibri"/>
                <a:ea typeface="Calibri"/>
                <a:cs typeface="Calibri"/>
                <a:sym typeface="Calibri"/>
              </a:rPr>
              <a:t> is defined by the words that frequently appear around it.</a:t>
            </a:r>
            <a:endParaRPr b="0" i="0" sz="1200" u="none" cap="none" strike="noStrike">
              <a:solidFill>
                <a:schemeClr val="dk1"/>
              </a:solidFill>
              <a:latin typeface="Calibri"/>
              <a:ea typeface="Calibri"/>
              <a:cs typeface="Calibri"/>
              <a:sym typeface="Calibri"/>
            </a:endParaRPr>
          </a:p>
        </p:txBody>
      </p:sp>
      <p:sp>
        <p:nvSpPr>
          <p:cNvPr id="2217" name="Google Shape;2217;p54"/>
          <p:cNvSpPr/>
          <p:nvPr/>
        </p:nvSpPr>
        <p:spPr>
          <a:xfrm>
            <a:off x="502920" y="1847088"/>
            <a:ext cx="4251900" cy="43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D9488"/>
              </a:buClr>
              <a:buSzPts val="1200"/>
              <a:buFont typeface="Calibri"/>
              <a:buNone/>
            </a:pPr>
            <a:r>
              <a:rPr b="1" i="0" lang="en" sz="1200" u="none" cap="none" strike="noStrike">
                <a:solidFill>
                  <a:srgbClr val="0D9488"/>
                </a:solidFill>
                <a:latin typeface="Calibri"/>
                <a:ea typeface="Calibri"/>
                <a:cs typeface="Calibri"/>
                <a:sym typeface="Calibri"/>
              </a:rPr>
              <a:t>②  </a:t>
            </a:r>
            <a:r>
              <a:rPr b="1" i="0" lang="en" sz="1200" u="none" cap="none" strike="noStrike">
                <a:solidFill>
                  <a:srgbClr val="111827"/>
                </a:solidFill>
                <a:latin typeface="Calibri"/>
                <a:ea typeface="Calibri"/>
                <a:cs typeface="Calibri"/>
                <a:sym typeface="Calibri"/>
              </a:rPr>
              <a:t>Context window:</a:t>
            </a:r>
            <a:r>
              <a:rPr b="0" i="0" lang="en" sz="1200" u="none" cap="none" strike="noStrike">
                <a:solidFill>
                  <a:srgbClr val="111827"/>
                </a:solidFill>
                <a:latin typeface="Calibri"/>
                <a:ea typeface="Calibri"/>
                <a:cs typeface="Calibri"/>
                <a:sym typeface="Calibri"/>
              </a:rPr>
              <a:t> look at ±k words on either side of the target word.</a:t>
            </a:r>
            <a:endParaRPr b="0" i="0" sz="1200" u="none" cap="none" strike="noStrike">
              <a:solidFill>
                <a:schemeClr val="dk1"/>
              </a:solidFill>
              <a:latin typeface="Calibri"/>
              <a:ea typeface="Calibri"/>
              <a:cs typeface="Calibri"/>
              <a:sym typeface="Calibri"/>
            </a:endParaRPr>
          </a:p>
        </p:txBody>
      </p:sp>
      <p:sp>
        <p:nvSpPr>
          <p:cNvPr id="2218" name="Google Shape;2218;p54"/>
          <p:cNvSpPr/>
          <p:nvPr/>
        </p:nvSpPr>
        <p:spPr>
          <a:xfrm>
            <a:off x="502920" y="2340864"/>
            <a:ext cx="4251900" cy="43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D9488"/>
              </a:buClr>
              <a:buSzPts val="1200"/>
              <a:buFont typeface="Calibri"/>
              <a:buNone/>
            </a:pPr>
            <a:r>
              <a:rPr b="1" i="0" lang="en" sz="1200" u="none" cap="none" strike="noStrike">
                <a:solidFill>
                  <a:srgbClr val="0D9488"/>
                </a:solidFill>
                <a:latin typeface="Calibri"/>
                <a:ea typeface="Calibri"/>
                <a:cs typeface="Calibri"/>
                <a:sym typeface="Calibri"/>
              </a:rPr>
              <a:t>③  </a:t>
            </a:r>
            <a:r>
              <a:rPr b="1" i="0" lang="en" sz="1200" u="none" cap="none" strike="noStrike">
                <a:solidFill>
                  <a:srgbClr val="111827"/>
                </a:solidFill>
                <a:latin typeface="Calibri"/>
                <a:ea typeface="Calibri"/>
                <a:cs typeface="Calibri"/>
                <a:sym typeface="Calibri"/>
              </a:rPr>
              <a:t>Build a vector</a:t>
            </a:r>
            <a:r>
              <a:rPr b="0" i="0" lang="en" sz="1200" u="none" cap="none" strike="noStrike">
                <a:solidFill>
                  <a:srgbClr val="111827"/>
                </a:solidFill>
                <a:latin typeface="Calibri"/>
                <a:ea typeface="Calibri"/>
                <a:cs typeface="Calibri"/>
                <a:sym typeface="Calibri"/>
              </a:rPr>
              <a:t> from the distribution of context words across a large corpus.</a:t>
            </a:r>
            <a:endParaRPr b="0" i="0" sz="1200" u="none" cap="none" strike="noStrike">
              <a:solidFill>
                <a:schemeClr val="dk1"/>
              </a:solidFill>
              <a:latin typeface="Calibri"/>
              <a:ea typeface="Calibri"/>
              <a:cs typeface="Calibri"/>
              <a:sym typeface="Calibri"/>
            </a:endParaRPr>
          </a:p>
        </p:txBody>
      </p:sp>
      <p:sp>
        <p:nvSpPr>
          <p:cNvPr id="2219" name="Google Shape;2219;p54"/>
          <p:cNvSpPr/>
          <p:nvPr/>
        </p:nvSpPr>
        <p:spPr>
          <a:xfrm>
            <a:off x="502920" y="2834640"/>
            <a:ext cx="4251900" cy="43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D9488"/>
              </a:buClr>
              <a:buSzPts val="1200"/>
              <a:buFont typeface="Calibri"/>
              <a:buNone/>
            </a:pPr>
            <a:r>
              <a:rPr b="1" i="0" lang="en" sz="1200" u="none" cap="none" strike="noStrike">
                <a:solidFill>
                  <a:srgbClr val="0D9488"/>
                </a:solidFill>
                <a:latin typeface="Calibri"/>
                <a:ea typeface="Calibri"/>
                <a:cs typeface="Calibri"/>
                <a:sym typeface="Calibri"/>
              </a:rPr>
              <a:t>④  </a:t>
            </a:r>
            <a:r>
              <a:rPr b="1" i="0" lang="en" sz="1200" u="none" cap="none" strike="noStrike">
                <a:solidFill>
                  <a:srgbClr val="111827"/>
                </a:solidFill>
                <a:latin typeface="Calibri"/>
                <a:ea typeface="Calibri"/>
                <a:cs typeface="Calibri"/>
                <a:sym typeface="Calibri"/>
              </a:rPr>
              <a:t>Similar contexts</a:t>
            </a:r>
            <a:r>
              <a:rPr b="0" i="0" lang="en" sz="1200" u="none" cap="none" strike="noStrike">
                <a:solidFill>
                  <a:srgbClr val="111827"/>
                </a:solidFill>
                <a:latin typeface="Calibri"/>
                <a:ea typeface="Calibri"/>
                <a:cs typeface="Calibri"/>
                <a:sym typeface="Calibri"/>
              </a:rPr>
              <a:t> → similar meaning → similar vectors.</a:t>
            </a:r>
            <a:endParaRPr b="0" i="0" sz="1200" u="none" cap="none" strike="noStrike">
              <a:solidFill>
                <a:schemeClr val="dk1"/>
              </a:solidFill>
              <a:latin typeface="Calibri"/>
              <a:ea typeface="Calibri"/>
              <a:cs typeface="Calibri"/>
              <a:sym typeface="Calibri"/>
            </a:endParaRPr>
          </a:p>
        </p:txBody>
      </p:sp>
      <p:sp>
        <p:nvSpPr>
          <p:cNvPr id="2220" name="Google Shape;2220;p54"/>
          <p:cNvSpPr/>
          <p:nvPr/>
        </p:nvSpPr>
        <p:spPr>
          <a:xfrm>
            <a:off x="5047488" y="914400"/>
            <a:ext cx="3749100" cy="2834700"/>
          </a:xfrm>
          <a:prstGeom prst="rect">
            <a:avLst/>
          </a:prstGeom>
          <a:solidFill>
            <a:srgbClr val="FFFBEB"/>
          </a:solidFill>
          <a:ln cap="flat" cmpd="sng" w="15225">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1" name="Google Shape;2221;p54"/>
          <p:cNvSpPr/>
          <p:nvPr/>
        </p:nvSpPr>
        <p:spPr>
          <a:xfrm>
            <a:off x="5193792" y="987552"/>
            <a:ext cx="32919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9E0B"/>
              </a:buClr>
              <a:buSzPts val="1200"/>
              <a:buFont typeface="Calibri"/>
              <a:buNone/>
            </a:pPr>
            <a:r>
              <a:rPr b="1" i="0" lang="en" sz="1200" u="none" cap="none" strike="noStrike">
                <a:solidFill>
                  <a:srgbClr val="F59E0B"/>
                </a:solidFill>
                <a:latin typeface="Calibri"/>
                <a:ea typeface="Calibri"/>
                <a:cs typeface="Calibri"/>
                <a:sym typeface="Calibri"/>
              </a:rPr>
              <a:t>Context Window  (k = 2)</a:t>
            </a:r>
            <a:endParaRPr b="0" i="0" sz="1200" u="none" cap="none" strike="noStrike">
              <a:solidFill>
                <a:schemeClr val="dk1"/>
              </a:solidFill>
              <a:latin typeface="Calibri"/>
              <a:ea typeface="Calibri"/>
              <a:cs typeface="Calibri"/>
              <a:sym typeface="Calibri"/>
            </a:endParaRPr>
          </a:p>
        </p:txBody>
      </p:sp>
      <p:sp>
        <p:nvSpPr>
          <p:cNvPr id="2222" name="Google Shape;2222;p54"/>
          <p:cNvSpPr/>
          <p:nvPr/>
        </p:nvSpPr>
        <p:spPr>
          <a:xfrm>
            <a:off x="5120640" y="1389888"/>
            <a:ext cx="3566100" cy="512100"/>
          </a:xfrm>
          <a:prstGeom prst="rect">
            <a:avLst/>
          </a:prstGeom>
          <a:solidFill>
            <a:srgbClr val="FFFFFF"/>
          </a:solidFill>
          <a:ln cap="flat" cmpd="sng" w="1015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3" name="Google Shape;2223;p54"/>
          <p:cNvSpPr/>
          <p:nvPr/>
        </p:nvSpPr>
        <p:spPr>
          <a:xfrm>
            <a:off x="5193792" y="1417320"/>
            <a:ext cx="34200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950"/>
              <a:buFont typeface="Calibri"/>
              <a:buNone/>
            </a:pPr>
            <a:r>
              <a:rPr b="0" i="0" lang="en" sz="950" u="none" cap="none" strike="noStrike">
                <a:solidFill>
                  <a:srgbClr val="111827"/>
                </a:solidFill>
                <a:latin typeface="Calibri"/>
                <a:ea typeface="Calibri"/>
                <a:cs typeface="Calibri"/>
                <a:sym typeface="Calibri"/>
              </a:rPr>
              <a:t>…government debt problems turning into </a:t>
            </a:r>
            <a:r>
              <a:rPr b="1" i="0" lang="en" sz="950" u="none" cap="none" strike="noStrike">
                <a:solidFill>
                  <a:srgbClr val="FFFFFF"/>
                </a:solidFill>
                <a:highlight>
                  <a:srgbClr val="7C3AED"/>
                </a:highlight>
                <a:latin typeface="Calibri"/>
                <a:ea typeface="Calibri"/>
                <a:cs typeface="Calibri"/>
                <a:sym typeface="Calibri"/>
              </a:rPr>
              <a:t>banking</a:t>
            </a:r>
            <a:r>
              <a:rPr b="0" i="0" lang="en" sz="950" u="none" cap="none" strike="noStrike">
                <a:solidFill>
                  <a:srgbClr val="111827"/>
                </a:solidFill>
                <a:latin typeface="Calibri"/>
                <a:ea typeface="Calibri"/>
                <a:cs typeface="Calibri"/>
                <a:sym typeface="Calibri"/>
              </a:rPr>
              <a:t> crises as happened in 2009…</a:t>
            </a:r>
            <a:endParaRPr b="0" i="0" sz="950" u="none" cap="none" strike="noStrike">
              <a:solidFill>
                <a:schemeClr val="dk1"/>
              </a:solidFill>
              <a:latin typeface="Calibri"/>
              <a:ea typeface="Calibri"/>
              <a:cs typeface="Calibri"/>
              <a:sym typeface="Calibri"/>
            </a:endParaRPr>
          </a:p>
        </p:txBody>
      </p:sp>
      <p:sp>
        <p:nvSpPr>
          <p:cNvPr id="2224" name="Google Shape;2224;p54"/>
          <p:cNvSpPr/>
          <p:nvPr/>
        </p:nvSpPr>
        <p:spPr>
          <a:xfrm>
            <a:off x="7048195" y="1481328"/>
            <a:ext cx="603600" cy="274200"/>
          </a:xfrm>
          <a:prstGeom prst="roundRect">
            <a:avLst>
              <a:gd fmla="val 13333" name="adj"/>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5" name="Google Shape;2225;p54"/>
          <p:cNvSpPr/>
          <p:nvPr/>
        </p:nvSpPr>
        <p:spPr>
          <a:xfrm>
            <a:off x="7048195" y="1481328"/>
            <a:ext cx="6036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Calibri"/>
              <a:buNone/>
            </a:pPr>
            <a:r>
              <a:rPr b="1" i="0" lang="en" sz="900" u="none" cap="none" strike="noStrike">
                <a:solidFill>
                  <a:srgbClr val="FFFFFF"/>
                </a:solidFill>
                <a:latin typeface="Calibri"/>
                <a:ea typeface="Calibri"/>
                <a:cs typeface="Calibri"/>
                <a:sym typeface="Calibri"/>
              </a:rPr>
              <a:t>banking</a:t>
            </a:r>
            <a:endParaRPr b="0" i="0" sz="900" u="none" cap="none" strike="noStrike">
              <a:solidFill>
                <a:schemeClr val="dk1"/>
              </a:solidFill>
              <a:latin typeface="Calibri"/>
              <a:ea typeface="Calibri"/>
              <a:cs typeface="Calibri"/>
              <a:sym typeface="Calibri"/>
            </a:endParaRPr>
          </a:p>
        </p:txBody>
      </p:sp>
      <p:sp>
        <p:nvSpPr>
          <p:cNvPr id="2226" name="Google Shape;2226;p54"/>
          <p:cNvSpPr/>
          <p:nvPr/>
        </p:nvSpPr>
        <p:spPr>
          <a:xfrm>
            <a:off x="5120640" y="2029968"/>
            <a:ext cx="3566100" cy="512100"/>
          </a:xfrm>
          <a:prstGeom prst="rect">
            <a:avLst/>
          </a:prstGeom>
          <a:solidFill>
            <a:srgbClr val="FFFFFF"/>
          </a:solidFill>
          <a:ln cap="flat" cmpd="sng" w="1015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7" name="Google Shape;2227;p54"/>
          <p:cNvSpPr/>
          <p:nvPr/>
        </p:nvSpPr>
        <p:spPr>
          <a:xfrm>
            <a:off x="5193792" y="2057400"/>
            <a:ext cx="34200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950"/>
              <a:buFont typeface="Calibri"/>
              <a:buNone/>
            </a:pPr>
            <a:r>
              <a:rPr b="0" i="0" lang="en" sz="950" u="none" cap="none" strike="noStrike">
                <a:solidFill>
                  <a:srgbClr val="111827"/>
                </a:solidFill>
                <a:latin typeface="Calibri"/>
                <a:ea typeface="Calibri"/>
                <a:cs typeface="Calibri"/>
                <a:sym typeface="Calibri"/>
              </a:rPr>
              <a:t>…saying that Europe needs unified </a:t>
            </a:r>
            <a:r>
              <a:rPr b="1" i="0" lang="en" sz="950" u="none" cap="none" strike="noStrike">
                <a:solidFill>
                  <a:srgbClr val="FFFFFF"/>
                </a:solidFill>
                <a:highlight>
                  <a:srgbClr val="7C3AED"/>
                </a:highlight>
                <a:latin typeface="Calibri"/>
                <a:ea typeface="Calibri"/>
                <a:cs typeface="Calibri"/>
                <a:sym typeface="Calibri"/>
              </a:rPr>
              <a:t>banking</a:t>
            </a:r>
            <a:r>
              <a:rPr b="0" i="0" lang="en" sz="950" u="none" cap="none" strike="noStrike">
                <a:solidFill>
                  <a:srgbClr val="111827"/>
                </a:solidFill>
                <a:latin typeface="Calibri"/>
                <a:ea typeface="Calibri"/>
                <a:cs typeface="Calibri"/>
                <a:sym typeface="Calibri"/>
              </a:rPr>
              <a:t> regulation to replace the hodgepodge…</a:t>
            </a:r>
            <a:endParaRPr b="0" i="0" sz="950" u="none" cap="none" strike="noStrike">
              <a:solidFill>
                <a:schemeClr val="dk1"/>
              </a:solidFill>
              <a:latin typeface="Calibri"/>
              <a:ea typeface="Calibri"/>
              <a:cs typeface="Calibri"/>
              <a:sym typeface="Calibri"/>
            </a:endParaRPr>
          </a:p>
        </p:txBody>
      </p:sp>
      <p:sp>
        <p:nvSpPr>
          <p:cNvPr id="2228" name="Google Shape;2228;p54"/>
          <p:cNvSpPr/>
          <p:nvPr/>
        </p:nvSpPr>
        <p:spPr>
          <a:xfrm>
            <a:off x="6810451" y="2121408"/>
            <a:ext cx="603600" cy="274200"/>
          </a:xfrm>
          <a:prstGeom prst="roundRect">
            <a:avLst>
              <a:gd fmla="val 13333" name="adj"/>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9" name="Google Shape;2229;p54"/>
          <p:cNvSpPr/>
          <p:nvPr/>
        </p:nvSpPr>
        <p:spPr>
          <a:xfrm>
            <a:off x="6810451" y="2121408"/>
            <a:ext cx="6036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Calibri"/>
              <a:buNone/>
            </a:pPr>
            <a:r>
              <a:rPr b="1" i="0" lang="en" sz="900" u="none" cap="none" strike="noStrike">
                <a:solidFill>
                  <a:srgbClr val="FFFFFF"/>
                </a:solidFill>
                <a:latin typeface="Calibri"/>
                <a:ea typeface="Calibri"/>
                <a:cs typeface="Calibri"/>
                <a:sym typeface="Calibri"/>
              </a:rPr>
              <a:t>banking</a:t>
            </a:r>
            <a:endParaRPr b="0" i="0" sz="900" u="none" cap="none" strike="noStrike">
              <a:solidFill>
                <a:schemeClr val="dk1"/>
              </a:solidFill>
              <a:latin typeface="Calibri"/>
              <a:ea typeface="Calibri"/>
              <a:cs typeface="Calibri"/>
              <a:sym typeface="Calibri"/>
            </a:endParaRPr>
          </a:p>
        </p:txBody>
      </p:sp>
      <p:sp>
        <p:nvSpPr>
          <p:cNvPr id="2230" name="Google Shape;2230;p54"/>
          <p:cNvSpPr/>
          <p:nvPr/>
        </p:nvSpPr>
        <p:spPr>
          <a:xfrm>
            <a:off x="5120640" y="2670048"/>
            <a:ext cx="3566100" cy="512100"/>
          </a:xfrm>
          <a:prstGeom prst="rect">
            <a:avLst/>
          </a:prstGeom>
          <a:solidFill>
            <a:srgbClr val="FFFFFF"/>
          </a:solidFill>
          <a:ln cap="flat" cmpd="sng" w="1015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1" name="Google Shape;2231;p54"/>
          <p:cNvSpPr/>
          <p:nvPr/>
        </p:nvSpPr>
        <p:spPr>
          <a:xfrm>
            <a:off x="5193792" y="2697480"/>
            <a:ext cx="34200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950"/>
              <a:buFont typeface="Calibri"/>
              <a:buNone/>
            </a:pPr>
            <a:r>
              <a:rPr b="0" i="0" lang="en" sz="950" u="none" cap="none" strike="noStrike">
                <a:solidFill>
                  <a:srgbClr val="111827"/>
                </a:solidFill>
                <a:latin typeface="Calibri"/>
                <a:ea typeface="Calibri"/>
                <a:cs typeface="Calibri"/>
                <a:sym typeface="Calibri"/>
              </a:rPr>
              <a:t>…India has just given its </a:t>
            </a:r>
            <a:r>
              <a:rPr b="1" i="0" lang="en" sz="950" u="none" cap="none" strike="noStrike">
                <a:solidFill>
                  <a:srgbClr val="FFFFFF"/>
                </a:solidFill>
                <a:highlight>
                  <a:srgbClr val="7C3AED"/>
                </a:highlight>
                <a:latin typeface="Calibri"/>
                <a:ea typeface="Calibri"/>
                <a:cs typeface="Calibri"/>
                <a:sym typeface="Calibri"/>
              </a:rPr>
              <a:t>banking</a:t>
            </a:r>
            <a:r>
              <a:rPr b="0" i="0" lang="en" sz="950" u="none" cap="none" strike="noStrike">
                <a:solidFill>
                  <a:srgbClr val="111827"/>
                </a:solidFill>
                <a:latin typeface="Calibri"/>
                <a:ea typeface="Calibri"/>
                <a:cs typeface="Calibri"/>
                <a:sym typeface="Calibri"/>
              </a:rPr>
              <a:t> system a shot in the arm…</a:t>
            </a:r>
            <a:endParaRPr b="0" i="0" sz="950" u="none" cap="none" strike="noStrike">
              <a:solidFill>
                <a:schemeClr val="dk1"/>
              </a:solidFill>
              <a:latin typeface="Calibri"/>
              <a:ea typeface="Calibri"/>
              <a:cs typeface="Calibri"/>
              <a:sym typeface="Calibri"/>
            </a:endParaRPr>
          </a:p>
        </p:txBody>
      </p:sp>
      <p:sp>
        <p:nvSpPr>
          <p:cNvPr id="2232" name="Google Shape;2232;p54"/>
          <p:cNvSpPr/>
          <p:nvPr/>
        </p:nvSpPr>
        <p:spPr>
          <a:xfrm>
            <a:off x="6430061" y="2761488"/>
            <a:ext cx="603600" cy="274200"/>
          </a:xfrm>
          <a:prstGeom prst="roundRect">
            <a:avLst>
              <a:gd fmla="val 13333" name="adj"/>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3" name="Google Shape;2233;p54"/>
          <p:cNvSpPr/>
          <p:nvPr/>
        </p:nvSpPr>
        <p:spPr>
          <a:xfrm>
            <a:off x="6430061" y="2761488"/>
            <a:ext cx="6036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Calibri"/>
              <a:buNone/>
            </a:pPr>
            <a:r>
              <a:rPr b="1" i="0" lang="en" sz="900" u="none" cap="none" strike="noStrike">
                <a:solidFill>
                  <a:srgbClr val="FFFFFF"/>
                </a:solidFill>
                <a:latin typeface="Calibri"/>
                <a:ea typeface="Calibri"/>
                <a:cs typeface="Calibri"/>
                <a:sym typeface="Calibri"/>
              </a:rPr>
              <a:t>banking</a:t>
            </a:r>
            <a:endParaRPr b="0" i="0" sz="900" u="none" cap="none" strike="noStrike">
              <a:solidFill>
                <a:schemeClr val="dk1"/>
              </a:solidFill>
              <a:latin typeface="Calibri"/>
              <a:ea typeface="Calibri"/>
              <a:cs typeface="Calibri"/>
              <a:sym typeface="Calibri"/>
            </a:endParaRPr>
          </a:p>
        </p:txBody>
      </p:sp>
      <p:cxnSp>
        <p:nvCxnSpPr>
          <p:cNvPr id="2234" name="Google Shape;2234;p54"/>
          <p:cNvCxnSpPr/>
          <p:nvPr/>
        </p:nvCxnSpPr>
        <p:spPr>
          <a:xfrm>
            <a:off x="5699447" y="3206894"/>
            <a:ext cx="0" cy="274200"/>
          </a:xfrm>
          <a:prstGeom prst="straightConnector1">
            <a:avLst/>
          </a:prstGeom>
          <a:noFill/>
          <a:ln cap="flat" cmpd="sng" w="25400">
            <a:solidFill>
              <a:srgbClr val="0D9488"/>
            </a:solidFill>
            <a:prstDash val="solid"/>
            <a:round/>
            <a:headEnd len="sm" w="sm" type="none"/>
            <a:tailEnd len="med" w="med" type="stealth"/>
          </a:ln>
        </p:spPr>
      </p:cxnSp>
      <p:cxnSp>
        <p:nvCxnSpPr>
          <p:cNvPr id="2235" name="Google Shape;2235;p54"/>
          <p:cNvCxnSpPr/>
          <p:nvPr/>
        </p:nvCxnSpPr>
        <p:spPr>
          <a:xfrm>
            <a:off x="6504119" y="3206894"/>
            <a:ext cx="0" cy="274200"/>
          </a:xfrm>
          <a:prstGeom prst="straightConnector1">
            <a:avLst/>
          </a:prstGeom>
          <a:noFill/>
          <a:ln cap="flat" cmpd="sng" w="25400">
            <a:solidFill>
              <a:srgbClr val="0D9488"/>
            </a:solidFill>
            <a:prstDash val="solid"/>
            <a:round/>
            <a:headEnd len="sm" w="sm" type="none"/>
            <a:tailEnd len="med" w="med" type="stealth"/>
          </a:ln>
        </p:spPr>
      </p:cxnSp>
      <p:sp>
        <p:nvSpPr>
          <p:cNvPr id="2236" name="Google Shape;2236;p54"/>
          <p:cNvSpPr/>
          <p:nvPr/>
        </p:nvSpPr>
        <p:spPr>
          <a:xfrm>
            <a:off x="5132519" y="3508646"/>
            <a:ext cx="3566100" cy="255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D9488"/>
              </a:buClr>
              <a:buSzPts val="1100"/>
              <a:buFont typeface="Calibri"/>
              <a:buNone/>
            </a:pPr>
            <a:r>
              <a:rPr b="1" i="0" lang="en" sz="1100" u="none" cap="none" strike="noStrike">
                <a:solidFill>
                  <a:srgbClr val="0D9488"/>
                </a:solidFill>
                <a:latin typeface="Calibri"/>
                <a:ea typeface="Calibri"/>
                <a:cs typeface="Calibri"/>
                <a:sym typeface="Calibri"/>
              </a:rPr>
              <a:t>These context words will represent  banking</a:t>
            </a:r>
            <a:endParaRPr b="0" i="0" sz="1100" u="none" cap="none" strike="noStrike">
              <a:solidFill>
                <a:schemeClr val="dk1"/>
              </a:solidFill>
              <a:latin typeface="Calibri"/>
              <a:ea typeface="Calibri"/>
              <a:cs typeface="Calibri"/>
              <a:sym typeface="Calibri"/>
            </a:endParaRPr>
          </a:p>
        </p:txBody>
      </p:sp>
      <p:sp>
        <p:nvSpPr>
          <p:cNvPr id="2237" name="Google Shape;2237;p54"/>
          <p:cNvSpPr/>
          <p:nvPr/>
        </p:nvSpPr>
        <p:spPr>
          <a:xfrm>
            <a:off x="347472" y="3858768"/>
            <a:ext cx="8449200" cy="567000"/>
          </a:xfrm>
          <a:prstGeom prst="rect">
            <a:avLst/>
          </a:prstGeom>
          <a:solidFill>
            <a:srgbClr val="F0FDF4"/>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8" name="Google Shape;2238;p54"/>
          <p:cNvSpPr/>
          <p:nvPr/>
        </p:nvSpPr>
        <p:spPr>
          <a:xfrm>
            <a:off x="502920" y="3895344"/>
            <a:ext cx="10974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9488"/>
              </a:buClr>
              <a:buSzPts val="1200"/>
              <a:buFont typeface="Calibri"/>
              <a:buNone/>
            </a:pPr>
            <a:r>
              <a:rPr b="1" i="0" lang="en" sz="1200" u="none" cap="none" strike="noStrike">
                <a:solidFill>
                  <a:srgbClr val="0D9488"/>
                </a:solidFill>
                <a:latin typeface="Calibri"/>
                <a:ea typeface="Calibri"/>
                <a:cs typeface="Calibri"/>
                <a:sym typeface="Calibri"/>
              </a:rPr>
              <a:t>💡  Key shift:</a:t>
            </a:r>
            <a:endParaRPr b="0" i="0" sz="1200" u="none" cap="none" strike="noStrike">
              <a:solidFill>
                <a:schemeClr val="dk1"/>
              </a:solidFill>
              <a:latin typeface="Calibri"/>
              <a:ea typeface="Calibri"/>
              <a:cs typeface="Calibri"/>
              <a:sym typeface="Calibri"/>
            </a:endParaRPr>
          </a:p>
        </p:txBody>
      </p:sp>
      <p:sp>
        <p:nvSpPr>
          <p:cNvPr id="2239" name="Google Shape;2239;p54"/>
          <p:cNvSpPr/>
          <p:nvPr/>
        </p:nvSpPr>
        <p:spPr>
          <a:xfrm>
            <a:off x="1627632" y="3895344"/>
            <a:ext cx="70410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200"/>
              <a:buFont typeface="Calibri"/>
              <a:buNone/>
            </a:pPr>
            <a:r>
              <a:rPr b="0" i="0" lang="en" sz="1200" u="none" cap="none" strike="noStrike">
                <a:solidFill>
                  <a:srgbClr val="111827"/>
                </a:solidFill>
                <a:latin typeface="Calibri"/>
                <a:ea typeface="Calibri"/>
                <a:cs typeface="Calibri"/>
                <a:sym typeface="Calibri"/>
              </a:rPr>
              <a:t>Instead of a word's position in a fixed vocabulary, we encode what words it co-occurs with.</a:t>
            </a:r>
            <a:endParaRPr b="0" i="0" sz="1200" u="none" cap="none" strike="noStrike">
              <a:solidFill>
                <a:schemeClr val="dk1"/>
              </a:solidFill>
              <a:latin typeface="Calibri"/>
              <a:ea typeface="Calibri"/>
              <a:cs typeface="Calibri"/>
              <a:sym typeface="Calibri"/>
            </a:endParaRPr>
          </a:p>
        </p:txBody>
      </p:sp>
      <p:sp>
        <p:nvSpPr>
          <p:cNvPr id="2240" name="Google Shape;2240;p54"/>
          <p:cNvSpPr/>
          <p:nvPr/>
        </p:nvSpPr>
        <p:spPr>
          <a:xfrm>
            <a:off x="502920" y="4160520"/>
            <a:ext cx="82296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100"/>
              <a:buFont typeface="Calibri"/>
              <a:buNone/>
            </a:pPr>
            <a:r>
              <a:rPr b="0" i="1" lang="en" sz="1100" u="none" cap="none" strike="noStrike">
                <a:solidFill>
                  <a:srgbClr val="6B7280"/>
                </a:solidFill>
                <a:latin typeface="Calibri"/>
                <a:ea typeface="Calibri"/>
                <a:cs typeface="Calibri"/>
                <a:sym typeface="Calibri"/>
              </a:rPr>
              <a:t>Count co-occurrences → compress → dense vector.  This is the road to word embeddings.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2245" name="Shape 2245"/>
        <p:cNvGrpSpPr/>
        <p:nvPr/>
      </p:nvGrpSpPr>
      <p:grpSpPr>
        <a:xfrm>
          <a:off x="0" y="0"/>
          <a:ext cx="0" cy="0"/>
          <a:chOff x="0" y="0"/>
          <a:chExt cx="0" cy="0"/>
        </a:xfrm>
      </p:grpSpPr>
      <p:sp>
        <p:nvSpPr>
          <p:cNvPr id="2246" name="Google Shape;2246;p55"/>
          <p:cNvSpPr/>
          <p:nvPr/>
        </p:nvSpPr>
        <p:spPr>
          <a:xfrm>
            <a:off x="0" y="0"/>
            <a:ext cx="9144000" cy="63900"/>
          </a:xfrm>
          <a:prstGeom prst="rect">
            <a:avLst/>
          </a:prstGeom>
          <a:solidFill>
            <a:srgbClr val="1B3A6B"/>
          </a:solidFill>
          <a:ln cap="flat" cmpd="sng" w="12700">
            <a:solidFill>
              <a:srgbClr val="1B3A6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7" name="Google Shape;2247;p55"/>
          <p:cNvSpPr/>
          <p:nvPr/>
        </p:nvSpPr>
        <p:spPr>
          <a:xfrm>
            <a:off x="347472" y="164592"/>
            <a:ext cx="63900" cy="512100"/>
          </a:xfrm>
          <a:prstGeom prst="rect">
            <a:avLst/>
          </a:prstGeom>
          <a:solidFill>
            <a:srgbClr val="1B3A6B"/>
          </a:solidFill>
          <a:ln cap="flat" cmpd="sng" w="12700">
            <a:solidFill>
              <a:srgbClr val="1B3A6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8" name="Google Shape;2248;p55"/>
          <p:cNvSpPr/>
          <p:nvPr/>
        </p:nvSpPr>
        <p:spPr>
          <a:xfrm>
            <a:off x="521208" y="146304"/>
            <a:ext cx="82296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6B"/>
              </a:buClr>
              <a:buSzPts val="2600"/>
              <a:buFont typeface="Calibri"/>
              <a:buNone/>
            </a:pPr>
            <a:r>
              <a:rPr b="1" i="0" lang="en" sz="2600" u="none" cap="none" strike="noStrike">
                <a:solidFill>
                  <a:srgbClr val="1B3A6B"/>
                </a:solidFill>
                <a:latin typeface="Calibri"/>
                <a:ea typeface="Calibri"/>
                <a:cs typeface="Calibri"/>
                <a:sym typeface="Calibri"/>
              </a:rPr>
              <a:t>Dense Representations — Distributed Semantics</a:t>
            </a:r>
            <a:endParaRPr b="0" i="0" sz="2600" u="none" cap="none" strike="noStrike">
              <a:solidFill>
                <a:schemeClr val="dk1"/>
              </a:solidFill>
              <a:latin typeface="Calibri"/>
              <a:ea typeface="Calibri"/>
              <a:cs typeface="Calibri"/>
              <a:sym typeface="Calibri"/>
            </a:endParaRPr>
          </a:p>
        </p:txBody>
      </p:sp>
      <p:cxnSp>
        <p:nvCxnSpPr>
          <p:cNvPr id="2249" name="Google Shape;2249;p55"/>
          <p:cNvCxnSpPr/>
          <p:nvPr/>
        </p:nvCxnSpPr>
        <p:spPr>
          <a:xfrm>
            <a:off x="347472" y="713232"/>
            <a:ext cx="8449200" cy="0"/>
          </a:xfrm>
          <a:prstGeom prst="straightConnector1">
            <a:avLst/>
          </a:prstGeom>
          <a:noFill/>
          <a:ln cap="flat" cmpd="sng" w="15225">
            <a:solidFill>
              <a:srgbClr val="1B3A6B"/>
            </a:solidFill>
            <a:prstDash val="solid"/>
            <a:round/>
            <a:headEnd len="sm" w="sm" type="none"/>
            <a:tailEnd len="sm" w="sm" type="none"/>
          </a:ln>
        </p:spPr>
      </p:cxnSp>
      <p:sp>
        <p:nvSpPr>
          <p:cNvPr id="2250" name="Google Shape;2250;p55"/>
          <p:cNvSpPr/>
          <p:nvPr/>
        </p:nvSpPr>
        <p:spPr>
          <a:xfrm>
            <a:off x="347472" y="749808"/>
            <a:ext cx="8449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200"/>
              <a:buFont typeface="Calibri"/>
              <a:buNone/>
            </a:pPr>
            <a:r>
              <a:rPr b="0" i="1" lang="en" sz="1200" u="none" cap="none" strike="noStrike">
                <a:solidFill>
                  <a:srgbClr val="6B7280"/>
                </a:solidFill>
                <a:latin typeface="Calibri"/>
                <a:ea typeface="Calibri"/>
                <a:cs typeface="Calibri"/>
                <a:sym typeface="Calibri"/>
              </a:rPr>
              <a:t>Replace one sparse index with a short, dense vector where every dimension carries meaning</a:t>
            </a:r>
            <a:endParaRPr b="0" i="0" sz="1200" u="none" cap="none" strike="noStrike">
              <a:solidFill>
                <a:schemeClr val="dk1"/>
              </a:solidFill>
              <a:latin typeface="Calibri"/>
              <a:ea typeface="Calibri"/>
              <a:cs typeface="Calibri"/>
              <a:sym typeface="Calibri"/>
            </a:endParaRPr>
          </a:p>
        </p:txBody>
      </p:sp>
      <p:sp>
        <p:nvSpPr>
          <p:cNvPr id="2251" name="Google Shape;2251;p55"/>
          <p:cNvSpPr/>
          <p:nvPr/>
        </p:nvSpPr>
        <p:spPr>
          <a:xfrm>
            <a:off x="347472" y="914400"/>
            <a:ext cx="3657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C2626"/>
              </a:buClr>
              <a:buSzPts val="1300"/>
              <a:buFont typeface="Calibri"/>
              <a:buNone/>
            </a:pPr>
            <a:r>
              <a:rPr b="1" i="0" lang="en" sz="1300" u="none" cap="none" strike="noStrike">
                <a:solidFill>
                  <a:srgbClr val="DC2626"/>
                </a:solidFill>
                <a:latin typeface="Calibri"/>
                <a:ea typeface="Calibri"/>
                <a:cs typeface="Calibri"/>
                <a:sym typeface="Calibri"/>
              </a:rPr>
              <a:t>SPARSE (One-Hot)</a:t>
            </a:r>
            <a:endParaRPr b="0" i="0" sz="1300" u="none" cap="none" strike="noStrike">
              <a:solidFill>
                <a:schemeClr val="dk1"/>
              </a:solidFill>
              <a:latin typeface="Calibri"/>
              <a:ea typeface="Calibri"/>
              <a:cs typeface="Calibri"/>
              <a:sym typeface="Calibri"/>
            </a:endParaRPr>
          </a:p>
        </p:txBody>
      </p:sp>
      <p:sp>
        <p:nvSpPr>
          <p:cNvPr id="2252" name="Google Shape;2252;p55"/>
          <p:cNvSpPr/>
          <p:nvPr/>
        </p:nvSpPr>
        <p:spPr>
          <a:xfrm>
            <a:off x="347472" y="1243584"/>
            <a:ext cx="310800" cy="4572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3" name="Google Shape;2253;p55"/>
          <p:cNvSpPr/>
          <p:nvPr/>
        </p:nvSpPr>
        <p:spPr>
          <a:xfrm>
            <a:off x="347472" y="1243584"/>
            <a:ext cx="3108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100"/>
              <a:buFont typeface="Courier New"/>
              <a:buNone/>
            </a:pPr>
            <a:r>
              <a:rPr b="0" i="0" lang="en" sz="1100" u="none" cap="none" strike="noStrike">
                <a:solidFill>
                  <a:srgbClr val="6B7280"/>
                </a:solidFill>
                <a:latin typeface="Courier New"/>
                <a:ea typeface="Courier New"/>
                <a:cs typeface="Courier New"/>
                <a:sym typeface="Courier New"/>
              </a:rPr>
              <a:t>0</a:t>
            </a:r>
            <a:endParaRPr b="0" i="0" sz="1100" u="none" cap="none" strike="noStrike">
              <a:solidFill>
                <a:schemeClr val="dk1"/>
              </a:solidFill>
              <a:latin typeface="Calibri"/>
              <a:ea typeface="Calibri"/>
              <a:cs typeface="Calibri"/>
              <a:sym typeface="Calibri"/>
            </a:endParaRPr>
          </a:p>
        </p:txBody>
      </p:sp>
      <p:sp>
        <p:nvSpPr>
          <p:cNvPr id="2254" name="Google Shape;2254;p55"/>
          <p:cNvSpPr/>
          <p:nvPr/>
        </p:nvSpPr>
        <p:spPr>
          <a:xfrm>
            <a:off x="694944" y="1243584"/>
            <a:ext cx="310800" cy="4572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5" name="Google Shape;2255;p55"/>
          <p:cNvSpPr/>
          <p:nvPr/>
        </p:nvSpPr>
        <p:spPr>
          <a:xfrm>
            <a:off x="694944" y="1243584"/>
            <a:ext cx="3108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100"/>
              <a:buFont typeface="Courier New"/>
              <a:buNone/>
            </a:pPr>
            <a:r>
              <a:rPr b="0" i="0" lang="en" sz="1100" u="none" cap="none" strike="noStrike">
                <a:solidFill>
                  <a:srgbClr val="6B7280"/>
                </a:solidFill>
                <a:latin typeface="Courier New"/>
                <a:ea typeface="Courier New"/>
                <a:cs typeface="Courier New"/>
                <a:sym typeface="Courier New"/>
              </a:rPr>
              <a:t>0</a:t>
            </a:r>
            <a:endParaRPr b="0" i="0" sz="1100" u="none" cap="none" strike="noStrike">
              <a:solidFill>
                <a:schemeClr val="dk1"/>
              </a:solidFill>
              <a:latin typeface="Calibri"/>
              <a:ea typeface="Calibri"/>
              <a:cs typeface="Calibri"/>
              <a:sym typeface="Calibri"/>
            </a:endParaRPr>
          </a:p>
        </p:txBody>
      </p:sp>
      <p:sp>
        <p:nvSpPr>
          <p:cNvPr id="2256" name="Google Shape;2256;p55"/>
          <p:cNvSpPr/>
          <p:nvPr/>
        </p:nvSpPr>
        <p:spPr>
          <a:xfrm>
            <a:off x="1042416" y="1243584"/>
            <a:ext cx="310800" cy="457200"/>
          </a:xfrm>
          <a:prstGeom prst="rect">
            <a:avLst/>
          </a:prstGeom>
          <a:solidFill>
            <a:srgbClr val="FEE2E2"/>
          </a:solidFill>
          <a:ln cap="flat" cmpd="sng" w="22850">
            <a:solidFill>
              <a:srgbClr val="DC262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7" name="Google Shape;2257;p55"/>
          <p:cNvSpPr/>
          <p:nvPr/>
        </p:nvSpPr>
        <p:spPr>
          <a:xfrm>
            <a:off x="1042416" y="1243584"/>
            <a:ext cx="3108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DC2626"/>
              </a:buClr>
              <a:buSzPts val="1100"/>
              <a:buFont typeface="Courier New"/>
              <a:buNone/>
            </a:pPr>
            <a:r>
              <a:rPr b="1" i="0" lang="en" sz="1100" u="none" cap="none" strike="noStrike">
                <a:solidFill>
                  <a:srgbClr val="DC2626"/>
                </a:solidFill>
                <a:latin typeface="Courier New"/>
                <a:ea typeface="Courier New"/>
                <a:cs typeface="Courier New"/>
                <a:sym typeface="Courier New"/>
              </a:rPr>
              <a:t>1</a:t>
            </a:r>
            <a:endParaRPr b="0" i="0" sz="1100" u="none" cap="none" strike="noStrike">
              <a:solidFill>
                <a:schemeClr val="dk1"/>
              </a:solidFill>
              <a:latin typeface="Calibri"/>
              <a:ea typeface="Calibri"/>
              <a:cs typeface="Calibri"/>
              <a:sym typeface="Calibri"/>
            </a:endParaRPr>
          </a:p>
        </p:txBody>
      </p:sp>
      <p:sp>
        <p:nvSpPr>
          <p:cNvPr id="2258" name="Google Shape;2258;p55"/>
          <p:cNvSpPr/>
          <p:nvPr/>
        </p:nvSpPr>
        <p:spPr>
          <a:xfrm>
            <a:off x="1389888" y="1243584"/>
            <a:ext cx="310800" cy="4572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9" name="Google Shape;2259;p55"/>
          <p:cNvSpPr/>
          <p:nvPr/>
        </p:nvSpPr>
        <p:spPr>
          <a:xfrm>
            <a:off x="1389888" y="1243584"/>
            <a:ext cx="3108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100"/>
              <a:buFont typeface="Courier New"/>
              <a:buNone/>
            </a:pPr>
            <a:r>
              <a:rPr b="0" i="0" lang="en" sz="1100" u="none" cap="none" strike="noStrike">
                <a:solidFill>
                  <a:srgbClr val="6B7280"/>
                </a:solidFill>
                <a:latin typeface="Courier New"/>
                <a:ea typeface="Courier New"/>
                <a:cs typeface="Courier New"/>
                <a:sym typeface="Courier New"/>
              </a:rPr>
              <a:t>0</a:t>
            </a:r>
            <a:endParaRPr b="0" i="0" sz="1100" u="none" cap="none" strike="noStrike">
              <a:solidFill>
                <a:schemeClr val="dk1"/>
              </a:solidFill>
              <a:latin typeface="Calibri"/>
              <a:ea typeface="Calibri"/>
              <a:cs typeface="Calibri"/>
              <a:sym typeface="Calibri"/>
            </a:endParaRPr>
          </a:p>
        </p:txBody>
      </p:sp>
      <p:sp>
        <p:nvSpPr>
          <p:cNvPr id="2260" name="Google Shape;2260;p55"/>
          <p:cNvSpPr/>
          <p:nvPr/>
        </p:nvSpPr>
        <p:spPr>
          <a:xfrm>
            <a:off x="1737360" y="1243584"/>
            <a:ext cx="310800" cy="4572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1" name="Google Shape;2261;p55"/>
          <p:cNvSpPr/>
          <p:nvPr/>
        </p:nvSpPr>
        <p:spPr>
          <a:xfrm>
            <a:off x="1737360" y="1243584"/>
            <a:ext cx="3108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100"/>
              <a:buFont typeface="Courier New"/>
              <a:buNone/>
            </a:pPr>
            <a:r>
              <a:rPr b="0" i="0" lang="en" sz="1100" u="none" cap="none" strike="noStrike">
                <a:solidFill>
                  <a:srgbClr val="6B7280"/>
                </a:solidFill>
                <a:latin typeface="Courier New"/>
                <a:ea typeface="Courier New"/>
                <a:cs typeface="Courier New"/>
                <a:sym typeface="Courier New"/>
              </a:rPr>
              <a:t>0</a:t>
            </a:r>
            <a:endParaRPr b="0" i="0" sz="1100" u="none" cap="none" strike="noStrike">
              <a:solidFill>
                <a:schemeClr val="dk1"/>
              </a:solidFill>
              <a:latin typeface="Calibri"/>
              <a:ea typeface="Calibri"/>
              <a:cs typeface="Calibri"/>
              <a:sym typeface="Calibri"/>
            </a:endParaRPr>
          </a:p>
        </p:txBody>
      </p:sp>
      <p:sp>
        <p:nvSpPr>
          <p:cNvPr id="2262" name="Google Shape;2262;p55"/>
          <p:cNvSpPr/>
          <p:nvPr/>
        </p:nvSpPr>
        <p:spPr>
          <a:xfrm>
            <a:off x="2084832" y="1243584"/>
            <a:ext cx="310800" cy="4572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3" name="Google Shape;2263;p55"/>
          <p:cNvSpPr/>
          <p:nvPr/>
        </p:nvSpPr>
        <p:spPr>
          <a:xfrm>
            <a:off x="2084832" y="1243584"/>
            <a:ext cx="3108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100"/>
              <a:buFont typeface="Courier New"/>
              <a:buNone/>
            </a:pPr>
            <a:r>
              <a:rPr b="0" i="0" lang="en" sz="1100" u="none" cap="none" strike="noStrike">
                <a:solidFill>
                  <a:srgbClr val="6B7280"/>
                </a:solidFill>
                <a:latin typeface="Courier New"/>
                <a:ea typeface="Courier New"/>
                <a:cs typeface="Courier New"/>
                <a:sym typeface="Courier New"/>
              </a:rPr>
              <a:t>0</a:t>
            </a:r>
            <a:endParaRPr b="0" i="0" sz="1100" u="none" cap="none" strike="noStrike">
              <a:solidFill>
                <a:schemeClr val="dk1"/>
              </a:solidFill>
              <a:latin typeface="Calibri"/>
              <a:ea typeface="Calibri"/>
              <a:cs typeface="Calibri"/>
              <a:sym typeface="Calibri"/>
            </a:endParaRPr>
          </a:p>
        </p:txBody>
      </p:sp>
      <p:sp>
        <p:nvSpPr>
          <p:cNvPr id="2264" name="Google Shape;2264;p55"/>
          <p:cNvSpPr/>
          <p:nvPr/>
        </p:nvSpPr>
        <p:spPr>
          <a:xfrm>
            <a:off x="2432304" y="1243584"/>
            <a:ext cx="310800" cy="4572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5" name="Google Shape;2265;p55"/>
          <p:cNvSpPr/>
          <p:nvPr/>
        </p:nvSpPr>
        <p:spPr>
          <a:xfrm>
            <a:off x="2432304" y="1243584"/>
            <a:ext cx="3108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100"/>
              <a:buFont typeface="Courier New"/>
              <a:buNone/>
            </a:pPr>
            <a:r>
              <a:rPr b="0" i="0" lang="en" sz="1100" u="none" cap="none" strike="noStrike">
                <a:solidFill>
                  <a:srgbClr val="6B7280"/>
                </a:solidFill>
                <a:latin typeface="Courier New"/>
                <a:ea typeface="Courier New"/>
                <a:cs typeface="Courier New"/>
                <a:sym typeface="Courier New"/>
              </a:rPr>
              <a:t>0</a:t>
            </a:r>
            <a:endParaRPr b="0" i="0" sz="1100" u="none" cap="none" strike="noStrike">
              <a:solidFill>
                <a:schemeClr val="dk1"/>
              </a:solidFill>
              <a:latin typeface="Calibri"/>
              <a:ea typeface="Calibri"/>
              <a:cs typeface="Calibri"/>
              <a:sym typeface="Calibri"/>
            </a:endParaRPr>
          </a:p>
        </p:txBody>
      </p:sp>
      <p:sp>
        <p:nvSpPr>
          <p:cNvPr id="2266" name="Google Shape;2266;p55"/>
          <p:cNvSpPr/>
          <p:nvPr/>
        </p:nvSpPr>
        <p:spPr>
          <a:xfrm>
            <a:off x="2779776" y="1243584"/>
            <a:ext cx="310800" cy="4572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7" name="Google Shape;2267;p55"/>
          <p:cNvSpPr/>
          <p:nvPr/>
        </p:nvSpPr>
        <p:spPr>
          <a:xfrm>
            <a:off x="2779776" y="1243584"/>
            <a:ext cx="3108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100"/>
              <a:buFont typeface="Courier New"/>
              <a:buNone/>
            </a:pPr>
            <a:r>
              <a:rPr b="0" i="0" lang="en" sz="1100" u="none" cap="none" strike="noStrike">
                <a:solidFill>
                  <a:srgbClr val="6B7280"/>
                </a:solidFill>
                <a:latin typeface="Courier New"/>
                <a:ea typeface="Courier New"/>
                <a:cs typeface="Courier New"/>
                <a:sym typeface="Courier New"/>
              </a:rPr>
              <a:t>0</a:t>
            </a:r>
            <a:endParaRPr b="0" i="0" sz="1100" u="none" cap="none" strike="noStrike">
              <a:solidFill>
                <a:schemeClr val="dk1"/>
              </a:solidFill>
              <a:latin typeface="Calibri"/>
              <a:ea typeface="Calibri"/>
              <a:cs typeface="Calibri"/>
              <a:sym typeface="Calibri"/>
            </a:endParaRPr>
          </a:p>
        </p:txBody>
      </p:sp>
      <p:sp>
        <p:nvSpPr>
          <p:cNvPr id="2268" name="Google Shape;2268;p55"/>
          <p:cNvSpPr/>
          <p:nvPr/>
        </p:nvSpPr>
        <p:spPr>
          <a:xfrm>
            <a:off x="3127248" y="1243584"/>
            <a:ext cx="310800" cy="4572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9" name="Google Shape;2269;p55"/>
          <p:cNvSpPr/>
          <p:nvPr/>
        </p:nvSpPr>
        <p:spPr>
          <a:xfrm>
            <a:off x="3127248" y="1243584"/>
            <a:ext cx="3108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100"/>
              <a:buFont typeface="Courier New"/>
              <a:buNone/>
            </a:pPr>
            <a:r>
              <a:rPr b="0" i="0" lang="en" sz="1100" u="none" cap="none" strike="noStrike">
                <a:solidFill>
                  <a:srgbClr val="6B7280"/>
                </a:solidFill>
                <a:latin typeface="Courier New"/>
                <a:ea typeface="Courier New"/>
                <a:cs typeface="Courier New"/>
                <a:sym typeface="Courier New"/>
              </a:rPr>
              <a:t>0</a:t>
            </a:r>
            <a:endParaRPr b="0" i="0" sz="1100" u="none" cap="none" strike="noStrike">
              <a:solidFill>
                <a:schemeClr val="dk1"/>
              </a:solidFill>
              <a:latin typeface="Calibri"/>
              <a:ea typeface="Calibri"/>
              <a:cs typeface="Calibri"/>
              <a:sym typeface="Calibri"/>
            </a:endParaRPr>
          </a:p>
        </p:txBody>
      </p:sp>
      <p:sp>
        <p:nvSpPr>
          <p:cNvPr id="2270" name="Google Shape;2270;p55"/>
          <p:cNvSpPr/>
          <p:nvPr/>
        </p:nvSpPr>
        <p:spPr>
          <a:xfrm>
            <a:off x="3474720" y="1243584"/>
            <a:ext cx="310800" cy="4572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1" name="Google Shape;2271;p55"/>
          <p:cNvSpPr/>
          <p:nvPr/>
        </p:nvSpPr>
        <p:spPr>
          <a:xfrm>
            <a:off x="3474720" y="1243584"/>
            <a:ext cx="3108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100"/>
              <a:buFont typeface="Courier New"/>
              <a:buNone/>
            </a:pPr>
            <a:r>
              <a:rPr b="0" i="0" lang="en" sz="1100" u="none" cap="none" strike="noStrike">
                <a:solidFill>
                  <a:srgbClr val="6B7280"/>
                </a:solidFill>
                <a:latin typeface="Courier New"/>
                <a:ea typeface="Courier New"/>
                <a:cs typeface="Courier New"/>
                <a:sym typeface="Courier New"/>
              </a:rPr>
              <a:t>0</a:t>
            </a:r>
            <a:endParaRPr b="0" i="0" sz="1100" u="none" cap="none" strike="noStrike">
              <a:solidFill>
                <a:schemeClr val="dk1"/>
              </a:solidFill>
              <a:latin typeface="Calibri"/>
              <a:ea typeface="Calibri"/>
              <a:cs typeface="Calibri"/>
              <a:sym typeface="Calibri"/>
            </a:endParaRPr>
          </a:p>
        </p:txBody>
      </p:sp>
      <p:sp>
        <p:nvSpPr>
          <p:cNvPr id="2272" name="Google Shape;2272;p55"/>
          <p:cNvSpPr/>
          <p:nvPr/>
        </p:nvSpPr>
        <p:spPr>
          <a:xfrm>
            <a:off x="3822192" y="1243584"/>
            <a:ext cx="310800" cy="4572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3" name="Google Shape;2273;p55"/>
          <p:cNvSpPr/>
          <p:nvPr/>
        </p:nvSpPr>
        <p:spPr>
          <a:xfrm>
            <a:off x="3822192" y="1243584"/>
            <a:ext cx="3108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100"/>
              <a:buFont typeface="Courier New"/>
              <a:buNone/>
            </a:pPr>
            <a:r>
              <a:rPr b="0" i="0" lang="en" sz="1100" u="none" cap="none" strike="noStrike">
                <a:solidFill>
                  <a:srgbClr val="6B7280"/>
                </a:solidFill>
                <a:latin typeface="Courier New"/>
                <a:ea typeface="Courier New"/>
                <a:cs typeface="Courier New"/>
                <a:sym typeface="Courier New"/>
              </a:rPr>
              <a:t>0</a:t>
            </a:r>
            <a:endParaRPr b="0" i="0" sz="1100" u="none" cap="none" strike="noStrike">
              <a:solidFill>
                <a:schemeClr val="dk1"/>
              </a:solidFill>
              <a:latin typeface="Calibri"/>
              <a:ea typeface="Calibri"/>
              <a:cs typeface="Calibri"/>
              <a:sym typeface="Calibri"/>
            </a:endParaRPr>
          </a:p>
        </p:txBody>
      </p:sp>
      <p:sp>
        <p:nvSpPr>
          <p:cNvPr id="2274" name="Google Shape;2274;p55"/>
          <p:cNvSpPr/>
          <p:nvPr/>
        </p:nvSpPr>
        <p:spPr>
          <a:xfrm>
            <a:off x="4169664" y="1243584"/>
            <a:ext cx="310800" cy="4572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5" name="Google Shape;2275;p55"/>
          <p:cNvSpPr/>
          <p:nvPr/>
        </p:nvSpPr>
        <p:spPr>
          <a:xfrm>
            <a:off x="4169664" y="1243584"/>
            <a:ext cx="3108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1100"/>
              <a:buFont typeface="Courier New"/>
              <a:buNone/>
            </a:pPr>
            <a:r>
              <a:rPr b="0" i="0" lang="en" sz="1100" u="none" cap="none" strike="noStrike">
                <a:solidFill>
                  <a:srgbClr val="6B7280"/>
                </a:solidFill>
                <a:latin typeface="Courier New"/>
                <a:ea typeface="Courier New"/>
                <a:cs typeface="Courier New"/>
                <a:sym typeface="Courier New"/>
              </a:rPr>
              <a:t>0</a:t>
            </a:r>
            <a:endParaRPr b="0" i="0" sz="1100" u="none" cap="none" strike="noStrike">
              <a:solidFill>
                <a:schemeClr val="dk1"/>
              </a:solidFill>
              <a:latin typeface="Calibri"/>
              <a:ea typeface="Calibri"/>
              <a:cs typeface="Calibri"/>
              <a:sym typeface="Calibri"/>
            </a:endParaRPr>
          </a:p>
        </p:txBody>
      </p:sp>
      <p:sp>
        <p:nvSpPr>
          <p:cNvPr id="2276" name="Google Shape;2276;p55"/>
          <p:cNvSpPr/>
          <p:nvPr/>
        </p:nvSpPr>
        <p:spPr>
          <a:xfrm>
            <a:off x="347472" y="1755648"/>
            <a:ext cx="36576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00"/>
              <a:buFont typeface="Calibri"/>
              <a:buNone/>
            </a:pPr>
            <a:r>
              <a:rPr b="0" i="1" lang="en" sz="1000" u="none" cap="none" strike="noStrike">
                <a:solidFill>
                  <a:srgbClr val="6B7280"/>
                </a:solidFill>
                <a:latin typeface="Calibri"/>
                <a:ea typeface="Calibri"/>
                <a:cs typeface="Calibri"/>
                <a:sym typeface="Calibri"/>
              </a:rPr>
              <a:t>… (50,000 dims)</a:t>
            </a:r>
            <a:endParaRPr b="0" i="0" sz="1000" u="none" cap="none" strike="noStrike">
              <a:solidFill>
                <a:schemeClr val="dk1"/>
              </a:solidFill>
              <a:latin typeface="Calibri"/>
              <a:ea typeface="Calibri"/>
              <a:cs typeface="Calibri"/>
              <a:sym typeface="Calibri"/>
            </a:endParaRPr>
          </a:p>
        </p:txBody>
      </p:sp>
      <p:sp>
        <p:nvSpPr>
          <p:cNvPr id="2277" name="Google Shape;2277;p55"/>
          <p:cNvSpPr/>
          <p:nvPr/>
        </p:nvSpPr>
        <p:spPr>
          <a:xfrm>
            <a:off x="347472" y="2048256"/>
            <a:ext cx="3657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C2626"/>
              </a:buClr>
              <a:buSzPts val="1200"/>
              <a:buFont typeface="Calibri"/>
              <a:buNone/>
            </a:pPr>
            <a:r>
              <a:rPr b="0" i="0" lang="en" sz="1200" u="none" cap="none" strike="noStrike">
                <a:solidFill>
                  <a:srgbClr val="DC2626"/>
                </a:solidFill>
                <a:latin typeface="Calibri"/>
                <a:ea typeface="Calibri"/>
                <a:cs typeface="Calibri"/>
                <a:sym typeface="Calibri"/>
              </a:rPr>
              <a:t>✗  99%+ zeros</a:t>
            </a:r>
            <a:endParaRPr b="0" i="0" sz="1200" u="none" cap="none" strike="noStrike">
              <a:solidFill>
                <a:schemeClr val="dk1"/>
              </a:solidFill>
              <a:latin typeface="Calibri"/>
              <a:ea typeface="Calibri"/>
              <a:cs typeface="Calibri"/>
              <a:sym typeface="Calibri"/>
            </a:endParaRPr>
          </a:p>
        </p:txBody>
      </p:sp>
      <p:sp>
        <p:nvSpPr>
          <p:cNvPr id="2278" name="Google Shape;2278;p55"/>
          <p:cNvSpPr/>
          <p:nvPr/>
        </p:nvSpPr>
        <p:spPr>
          <a:xfrm>
            <a:off x="347472" y="2359152"/>
            <a:ext cx="3657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C2626"/>
              </a:buClr>
              <a:buSzPts val="1200"/>
              <a:buFont typeface="Calibri"/>
              <a:buNone/>
            </a:pPr>
            <a:r>
              <a:rPr b="0" i="0" lang="en" sz="1200" u="none" cap="none" strike="noStrike">
                <a:solidFill>
                  <a:srgbClr val="DC2626"/>
                </a:solidFill>
                <a:latin typeface="Calibri"/>
                <a:ea typeface="Calibri"/>
                <a:cs typeface="Calibri"/>
                <a:sym typeface="Calibri"/>
              </a:rPr>
              <a:t>✗  No similarity</a:t>
            </a:r>
            <a:endParaRPr b="0" i="0" sz="1200" u="none" cap="none" strike="noStrike">
              <a:solidFill>
                <a:schemeClr val="dk1"/>
              </a:solidFill>
              <a:latin typeface="Calibri"/>
              <a:ea typeface="Calibri"/>
              <a:cs typeface="Calibri"/>
              <a:sym typeface="Calibri"/>
            </a:endParaRPr>
          </a:p>
        </p:txBody>
      </p:sp>
      <p:sp>
        <p:nvSpPr>
          <p:cNvPr id="2279" name="Google Shape;2279;p55"/>
          <p:cNvSpPr/>
          <p:nvPr/>
        </p:nvSpPr>
        <p:spPr>
          <a:xfrm>
            <a:off x="347472" y="2670048"/>
            <a:ext cx="3657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C2626"/>
              </a:buClr>
              <a:buSzPts val="1200"/>
              <a:buFont typeface="Calibri"/>
              <a:buNone/>
            </a:pPr>
            <a:r>
              <a:rPr b="0" i="0" lang="en" sz="1200" u="none" cap="none" strike="noStrike">
                <a:solidFill>
                  <a:srgbClr val="DC2626"/>
                </a:solidFill>
                <a:latin typeface="Calibri"/>
                <a:ea typeface="Calibri"/>
                <a:cs typeface="Calibri"/>
                <a:sym typeface="Calibri"/>
              </a:rPr>
              <a:t>✗  Huge memory</a:t>
            </a:r>
            <a:endParaRPr b="0" i="0" sz="1200" u="none" cap="none" strike="noStrike">
              <a:solidFill>
                <a:schemeClr val="dk1"/>
              </a:solidFill>
              <a:latin typeface="Calibri"/>
              <a:ea typeface="Calibri"/>
              <a:cs typeface="Calibri"/>
              <a:sym typeface="Calibri"/>
            </a:endParaRPr>
          </a:p>
        </p:txBody>
      </p:sp>
      <p:cxnSp>
        <p:nvCxnSpPr>
          <p:cNvPr id="2280" name="Google Shape;2280;p55"/>
          <p:cNvCxnSpPr/>
          <p:nvPr/>
        </p:nvCxnSpPr>
        <p:spPr>
          <a:xfrm>
            <a:off x="4251960" y="2331720"/>
            <a:ext cx="658500" cy="0"/>
          </a:xfrm>
          <a:prstGeom prst="straightConnector1">
            <a:avLst/>
          </a:prstGeom>
          <a:noFill/>
          <a:ln cap="flat" cmpd="sng" w="31750">
            <a:solidFill>
              <a:srgbClr val="1B3A6B"/>
            </a:solidFill>
            <a:prstDash val="solid"/>
            <a:round/>
            <a:headEnd len="sm" w="sm" type="none"/>
            <a:tailEnd len="med" w="med" type="stealth"/>
          </a:ln>
        </p:spPr>
      </p:cxnSp>
      <p:sp>
        <p:nvSpPr>
          <p:cNvPr id="2281" name="Google Shape;2281;p55"/>
          <p:cNvSpPr/>
          <p:nvPr/>
        </p:nvSpPr>
        <p:spPr>
          <a:xfrm>
            <a:off x="4169664" y="2029968"/>
            <a:ext cx="841200" cy="329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900"/>
              <a:buFont typeface="Calibri"/>
              <a:buNone/>
            </a:pPr>
            <a:r>
              <a:rPr b="0" i="1" lang="en" sz="900" u="none" cap="none" strike="noStrike">
                <a:solidFill>
                  <a:srgbClr val="6B7280"/>
                </a:solidFill>
                <a:latin typeface="Calibri"/>
                <a:ea typeface="Calibri"/>
                <a:cs typeface="Calibri"/>
                <a:sym typeface="Calibri"/>
              </a:rPr>
              <a:t>learn</a:t>
            </a:r>
            <a:endParaRPr b="0" i="0" sz="9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6B7280"/>
              </a:buClr>
              <a:buSzPts val="900"/>
              <a:buFont typeface="Calibri"/>
              <a:buNone/>
            </a:pPr>
            <a:r>
              <a:rPr b="0" i="1" lang="en" sz="900" u="none" cap="none" strike="noStrike">
                <a:solidFill>
                  <a:srgbClr val="6B7280"/>
                </a:solidFill>
                <a:latin typeface="Calibri"/>
                <a:ea typeface="Calibri"/>
                <a:cs typeface="Calibri"/>
                <a:sym typeface="Calibri"/>
              </a:rPr>
              <a:t>weights</a:t>
            </a:r>
            <a:endParaRPr b="0" i="0" sz="900" u="none" cap="none" strike="noStrike">
              <a:solidFill>
                <a:schemeClr val="dk1"/>
              </a:solidFill>
              <a:latin typeface="Calibri"/>
              <a:ea typeface="Calibri"/>
              <a:cs typeface="Calibri"/>
              <a:sym typeface="Calibri"/>
            </a:endParaRPr>
          </a:p>
        </p:txBody>
      </p:sp>
      <p:sp>
        <p:nvSpPr>
          <p:cNvPr id="2282" name="Google Shape;2282;p55"/>
          <p:cNvSpPr/>
          <p:nvPr/>
        </p:nvSpPr>
        <p:spPr>
          <a:xfrm>
            <a:off x="4956048" y="914400"/>
            <a:ext cx="3840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563EB"/>
              </a:buClr>
              <a:buSzPts val="1300"/>
              <a:buFont typeface="Calibri"/>
              <a:buNone/>
            </a:pPr>
            <a:r>
              <a:rPr b="1" i="0" lang="en" sz="1300" u="none" cap="none" strike="noStrike">
                <a:solidFill>
                  <a:srgbClr val="2563EB"/>
                </a:solidFill>
                <a:latin typeface="Calibri"/>
                <a:ea typeface="Calibri"/>
                <a:cs typeface="Calibri"/>
                <a:sym typeface="Calibri"/>
              </a:rPr>
              <a:t>DENSE (Word Embedding)</a:t>
            </a:r>
            <a:endParaRPr b="0" i="0" sz="1300" u="none" cap="none" strike="noStrike">
              <a:solidFill>
                <a:schemeClr val="dk1"/>
              </a:solidFill>
              <a:latin typeface="Calibri"/>
              <a:ea typeface="Calibri"/>
              <a:cs typeface="Calibri"/>
              <a:sym typeface="Calibri"/>
            </a:endParaRPr>
          </a:p>
        </p:txBody>
      </p:sp>
      <p:sp>
        <p:nvSpPr>
          <p:cNvPr id="2283" name="Google Shape;2283;p55"/>
          <p:cNvSpPr/>
          <p:nvPr/>
        </p:nvSpPr>
        <p:spPr>
          <a:xfrm>
            <a:off x="4956048" y="1243584"/>
            <a:ext cx="475500" cy="548700"/>
          </a:xfrm>
          <a:prstGeom prst="rect">
            <a:avLst/>
          </a:prstGeom>
          <a:solidFill>
            <a:srgbClr val="EFF6FF"/>
          </a:solidFill>
          <a:ln cap="flat" cmpd="sng" w="19050">
            <a:solidFill>
              <a:srgbClr val="2563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4" name="Google Shape;2284;p55"/>
          <p:cNvSpPr/>
          <p:nvPr/>
        </p:nvSpPr>
        <p:spPr>
          <a:xfrm>
            <a:off x="4956048" y="1243584"/>
            <a:ext cx="475500" cy="548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563EB"/>
              </a:buClr>
              <a:buSzPts val="950"/>
              <a:buFont typeface="Courier New"/>
              <a:buNone/>
            </a:pPr>
            <a:r>
              <a:rPr b="1" i="0" lang="en" sz="950" u="none" cap="none" strike="noStrike">
                <a:solidFill>
                  <a:srgbClr val="2563EB"/>
                </a:solidFill>
                <a:latin typeface="Courier New"/>
                <a:ea typeface="Courier New"/>
                <a:cs typeface="Courier New"/>
                <a:sym typeface="Courier New"/>
              </a:rPr>
              <a:t>0.32</a:t>
            </a:r>
            <a:endParaRPr b="0" i="0" sz="950" u="none" cap="none" strike="noStrike">
              <a:solidFill>
                <a:schemeClr val="dk1"/>
              </a:solidFill>
              <a:latin typeface="Calibri"/>
              <a:ea typeface="Calibri"/>
              <a:cs typeface="Calibri"/>
              <a:sym typeface="Calibri"/>
            </a:endParaRPr>
          </a:p>
        </p:txBody>
      </p:sp>
      <p:sp>
        <p:nvSpPr>
          <p:cNvPr id="2285" name="Google Shape;2285;p55"/>
          <p:cNvSpPr/>
          <p:nvPr/>
        </p:nvSpPr>
        <p:spPr>
          <a:xfrm>
            <a:off x="5468112" y="1243584"/>
            <a:ext cx="475500" cy="548700"/>
          </a:xfrm>
          <a:prstGeom prst="rect">
            <a:avLst/>
          </a:prstGeom>
          <a:solidFill>
            <a:srgbClr val="FEF2F2"/>
          </a:solidFill>
          <a:ln cap="flat" cmpd="sng" w="19050">
            <a:solidFill>
              <a:srgbClr val="DC262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6" name="Google Shape;2286;p55"/>
          <p:cNvSpPr/>
          <p:nvPr/>
        </p:nvSpPr>
        <p:spPr>
          <a:xfrm>
            <a:off x="5468112" y="1243584"/>
            <a:ext cx="475500" cy="548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DC2626"/>
              </a:buClr>
              <a:buSzPts val="950"/>
              <a:buFont typeface="Courier New"/>
              <a:buNone/>
            </a:pPr>
            <a:r>
              <a:rPr b="1" i="0" lang="en" sz="950" u="none" cap="none" strike="noStrike">
                <a:solidFill>
                  <a:srgbClr val="DC2626"/>
                </a:solidFill>
                <a:latin typeface="Courier New"/>
                <a:ea typeface="Courier New"/>
                <a:cs typeface="Courier New"/>
                <a:sym typeface="Courier New"/>
              </a:rPr>
              <a:t>-0.71</a:t>
            </a:r>
            <a:endParaRPr b="0" i="0" sz="950" u="none" cap="none" strike="noStrike">
              <a:solidFill>
                <a:schemeClr val="dk1"/>
              </a:solidFill>
              <a:latin typeface="Calibri"/>
              <a:ea typeface="Calibri"/>
              <a:cs typeface="Calibri"/>
              <a:sym typeface="Calibri"/>
            </a:endParaRPr>
          </a:p>
        </p:txBody>
      </p:sp>
      <p:sp>
        <p:nvSpPr>
          <p:cNvPr id="2287" name="Google Shape;2287;p55"/>
          <p:cNvSpPr/>
          <p:nvPr/>
        </p:nvSpPr>
        <p:spPr>
          <a:xfrm>
            <a:off x="5980176" y="1243584"/>
            <a:ext cx="475500" cy="548700"/>
          </a:xfrm>
          <a:prstGeom prst="rect">
            <a:avLst/>
          </a:prstGeom>
          <a:solidFill>
            <a:srgbClr val="EFF6FF"/>
          </a:solidFill>
          <a:ln cap="flat" cmpd="sng" w="1905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8" name="Google Shape;2288;p55"/>
          <p:cNvSpPr/>
          <p:nvPr/>
        </p:nvSpPr>
        <p:spPr>
          <a:xfrm>
            <a:off x="5980176" y="1243584"/>
            <a:ext cx="475500" cy="548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6A34A"/>
              </a:buClr>
              <a:buSzPts val="950"/>
              <a:buFont typeface="Courier New"/>
              <a:buNone/>
            </a:pPr>
            <a:r>
              <a:rPr b="1" i="0" lang="en" sz="950" u="none" cap="none" strike="noStrike">
                <a:solidFill>
                  <a:srgbClr val="16A34A"/>
                </a:solidFill>
                <a:latin typeface="Courier New"/>
                <a:ea typeface="Courier New"/>
                <a:cs typeface="Courier New"/>
                <a:sym typeface="Courier New"/>
              </a:rPr>
              <a:t>0.15</a:t>
            </a:r>
            <a:endParaRPr b="0" i="0" sz="950" u="none" cap="none" strike="noStrike">
              <a:solidFill>
                <a:schemeClr val="dk1"/>
              </a:solidFill>
              <a:latin typeface="Calibri"/>
              <a:ea typeface="Calibri"/>
              <a:cs typeface="Calibri"/>
              <a:sym typeface="Calibri"/>
            </a:endParaRPr>
          </a:p>
        </p:txBody>
      </p:sp>
      <p:sp>
        <p:nvSpPr>
          <p:cNvPr id="2289" name="Google Shape;2289;p55"/>
          <p:cNvSpPr/>
          <p:nvPr/>
        </p:nvSpPr>
        <p:spPr>
          <a:xfrm>
            <a:off x="6492240" y="1243584"/>
            <a:ext cx="475500" cy="548700"/>
          </a:xfrm>
          <a:prstGeom prst="rect">
            <a:avLst/>
          </a:prstGeom>
          <a:solidFill>
            <a:srgbClr val="EFF6FF"/>
          </a:solidFill>
          <a:ln cap="flat" cmpd="sng" w="1905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0" name="Google Shape;2290;p55"/>
          <p:cNvSpPr/>
          <p:nvPr/>
        </p:nvSpPr>
        <p:spPr>
          <a:xfrm>
            <a:off x="6492240" y="1243584"/>
            <a:ext cx="475500" cy="548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C3AED"/>
              </a:buClr>
              <a:buSzPts val="950"/>
              <a:buFont typeface="Courier New"/>
              <a:buNone/>
            </a:pPr>
            <a:r>
              <a:rPr b="1" i="0" lang="en" sz="950" u="none" cap="none" strike="noStrike">
                <a:solidFill>
                  <a:srgbClr val="7C3AED"/>
                </a:solidFill>
                <a:latin typeface="Courier New"/>
                <a:ea typeface="Courier New"/>
                <a:cs typeface="Courier New"/>
                <a:sym typeface="Courier New"/>
              </a:rPr>
              <a:t>0.88</a:t>
            </a:r>
            <a:endParaRPr b="0" i="0" sz="950" u="none" cap="none" strike="noStrike">
              <a:solidFill>
                <a:schemeClr val="dk1"/>
              </a:solidFill>
              <a:latin typeface="Calibri"/>
              <a:ea typeface="Calibri"/>
              <a:cs typeface="Calibri"/>
              <a:sym typeface="Calibri"/>
            </a:endParaRPr>
          </a:p>
        </p:txBody>
      </p:sp>
      <p:sp>
        <p:nvSpPr>
          <p:cNvPr id="2291" name="Google Shape;2291;p55"/>
          <p:cNvSpPr/>
          <p:nvPr/>
        </p:nvSpPr>
        <p:spPr>
          <a:xfrm>
            <a:off x="7004304" y="1243584"/>
            <a:ext cx="475500" cy="548700"/>
          </a:xfrm>
          <a:prstGeom prst="rect">
            <a:avLst/>
          </a:prstGeom>
          <a:solidFill>
            <a:srgbClr val="FEF2F2"/>
          </a:solidFill>
          <a:ln cap="flat" cmpd="sng" w="19050">
            <a:solidFill>
              <a:srgbClr val="EA580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2" name="Google Shape;2292;p55"/>
          <p:cNvSpPr/>
          <p:nvPr/>
        </p:nvSpPr>
        <p:spPr>
          <a:xfrm>
            <a:off x="7004304" y="1243584"/>
            <a:ext cx="475500" cy="548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EA580C"/>
              </a:buClr>
              <a:buSzPts val="950"/>
              <a:buFont typeface="Courier New"/>
              <a:buNone/>
            </a:pPr>
            <a:r>
              <a:rPr b="1" i="0" lang="en" sz="950" u="none" cap="none" strike="noStrike">
                <a:solidFill>
                  <a:srgbClr val="EA580C"/>
                </a:solidFill>
                <a:latin typeface="Courier New"/>
                <a:ea typeface="Courier New"/>
                <a:cs typeface="Courier New"/>
                <a:sym typeface="Courier New"/>
              </a:rPr>
              <a:t>-0.43</a:t>
            </a:r>
            <a:endParaRPr b="0" i="0" sz="950" u="none" cap="none" strike="noStrike">
              <a:solidFill>
                <a:schemeClr val="dk1"/>
              </a:solidFill>
              <a:latin typeface="Calibri"/>
              <a:ea typeface="Calibri"/>
              <a:cs typeface="Calibri"/>
              <a:sym typeface="Calibri"/>
            </a:endParaRPr>
          </a:p>
        </p:txBody>
      </p:sp>
      <p:sp>
        <p:nvSpPr>
          <p:cNvPr id="2293" name="Google Shape;2293;p55"/>
          <p:cNvSpPr/>
          <p:nvPr/>
        </p:nvSpPr>
        <p:spPr>
          <a:xfrm>
            <a:off x="7516368" y="1243584"/>
            <a:ext cx="475500" cy="548700"/>
          </a:xfrm>
          <a:prstGeom prst="rect">
            <a:avLst/>
          </a:prstGeom>
          <a:solidFill>
            <a:srgbClr val="EFF6FF"/>
          </a:solidFill>
          <a:ln cap="flat" cmpd="sng" w="1905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4" name="Google Shape;2294;p55"/>
          <p:cNvSpPr/>
          <p:nvPr/>
        </p:nvSpPr>
        <p:spPr>
          <a:xfrm>
            <a:off x="7516368" y="1243584"/>
            <a:ext cx="475500" cy="548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D9488"/>
              </a:buClr>
              <a:buSzPts val="950"/>
              <a:buFont typeface="Courier New"/>
              <a:buNone/>
            </a:pPr>
            <a:r>
              <a:rPr b="1" i="0" lang="en" sz="950" u="none" cap="none" strike="noStrike">
                <a:solidFill>
                  <a:srgbClr val="0D9488"/>
                </a:solidFill>
                <a:latin typeface="Courier New"/>
                <a:ea typeface="Courier New"/>
                <a:cs typeface="Courier New"/>
                <a:sym typeface="Courier New"/>
              </a:rPr>
              <a:t>0.07</a:t>
            </a:r>
            <a:endParaRPr b="0" i="0" sz="950" u="none" cap="none" strike="noStrike">
              <a:solidFill>
                <a:schemeClr val="dk1"/>
              </a:solidFill>
              <a:latin typeface="Calibri"/>
              <a:ea typeface="Calibri"/>
              <a:cs typeface="Calibri"/>
              <a:sym typeface="Calibri"/>
            </a:endParaRPr>
          </a:p>
        </p:txBody>
      </p:sp>
      <p:sp>
        <p:nvSpPr>
          <p:cNvPr id="2295" name="Google Shape;2295;p55"/>
          <p:cNvSpPr/>
          <p:nvPr/>
        </p:nvSpPr>
        <p:spPr>
          <a:xfrm>
            <a:off x="8028432" y="1243584"/>
            <a:ext cx="475500" cy="548700"/>
          </a:xfrm>
          <a:prstGeom prst="rect">
            <a:avLst/>
          </a:prstGeom>
          <a:solidFill>
            <a:srgbClr val="EFF6FF"/>
          </a:solidFill>
          <a:ln cap="flat" cmpd="sng" w="19050">
            <a:solidFill>
              <a:srgbClr val="1B3A6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6" name="Google Shape;2296;p55"/>
          <p:cNvSpPr/>
          <p:nvPr/>
        </p:nvSpPr>
        <p:spPr>
          <a:xfrm>
            <a:off x="8028432" y="1243584"/>
            <a:ext cx="475500" cy="548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B3A6B"/>
              </a:buClr>
              <a:buSzPts val="950"/>
              <a:buFont typeface="Courier New"/>
              <a:buNone/>
            </a:pPr>
            <a:r>
              <a:rPr b="1" i="0" lang="en" sz="950" u="none" cap="none" strike="noStrike">
                <a:solidFill>
                  <a:srgbClr val="1B3A6B"/>
                </a:solidFill>
                <a:latin typeface="Courier New"/>
                <a:ea typeface="Courier New"/>
                <a:cs typeface="Courier New"/>
                <a:sym typeface="Courier New"/>
              </a:rPr>
              <a:t>0.61</a:t>
            </a:r>
            <a:endParaRPr b="0" i="0" sz="950" u="none" cap="none" strike="noStrike">
              <a:solidFill>
                <a:schemeClr val="dk1"/>
              </a:solidFill>
              <a:latin typeface="Calibri"/>
              <a:ea typeface="Calibri"/>
              <a:cs typeface="Calibri"/>
              <a:sym typeface="Calibri"/>
            </a:endParaRPr>
          </a:p>
        </p:txBody>
      </p:sp>
      <p:sp>
        <p:nvSpPr>
          <p:cNvPr id="2297" name="Google Shape;2297;p55"/>
          <p:cNvSpPr/>
          <p:nvPr/>
        </p:nvSpPr>
        <p:spPr>
          <a:xfrm>
            <a:off x="8540496" y="1243584"/>
            <a:ext cx="475500" cy="548700"/>
          </a:xfrm>
          <a:prstGeom prst="rect">
            <a:avLst/>
          </a:prstGeom>
          <a:solidFill>
            <a:srgbClr val="FEF2F2"/>
          </a:solidFill>
          <a:ln cap="flat" cmpd="sng" w="19050">
            <a:solidFill>
              <a:srgbClr val="D9770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8" name="Google Shape;2298;p55"/>
          <p:cNvSpPr/>
          <p:nvPr/>
        </p:nvSpPr>
        <p:spPr>
          <a:xfrm>
            <a:off x="8540496" y="1243584"/>
            <a:ext cx="475500" cy="548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D97706"/>
              </a:buClr>
              <a:buSzPts val="950"/>
              <a:buFont typeface="Courier New"/>
              <a:buNone/>
            </a:pPr>
            <a:r>
              <a:rPr b="1" i="0" lang="en" sz="950" u="none" cap="none" strike="noStrike">
                <a:solidFill>
                  <a:srgbClr val="D97706"/>
                </a:solidFill>
                <a:latin typeface="Courier New"/>
                <a:ea typeface="Courier New"/>
                <a:cs typeface="Courier New"/>
                <a:sym typeface="Courier New"/>
              </a:rPr>
              <a:t>-0.22</a:t>
            </a:r>
            <a:endParaRPr b="0" i="0" sz="950" u="none" cap="none" strike="noStrike">
              <a:solidFill>
                <a:schemeClr val="dk1"/>
              </a:solidFill>
              <a:latin typeface="Calibri"/>
              <a:ea typeface="Calibri"/>
              <a:cs typeface="Calibri"/>
              <a:sym typeface="Calibri"/>
            </a:endParaRPr>
          </a:p>
        </p:txBody>
      </p:sp>
      <p:sp>
        <p:nvSpPr>
          <p:cNvPr id="2299" name="Google Shape;2299;p55"/>
          <p:cNvSpPr/>
          <p:nvPr/>
        </p:nvSpPr>
        <p:spPr>
          <a:xfrm>
            <a:off x="4956048" y="1847088"/>
            <a:ext cx="38406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00"/>
              <a:buFont typeface="Calibri"/>
              <a:buNone/>
            </a:pPr>
            <a:r>
              <a:rPr b="0" i="1" lang="en" sz="1000" u="none" cap="none" strike="noStrike">
                <a:solidFill>
                  <a:srgbClr val="6B7280"/>
                </a:solidFill>
                <a:latin typeface="Calibri"/>
                <a:ea typeface="Calibri"/>
                <a:cs typeface="Calibri"/>
                <a:sym typeface="Calibri"/>
              </a:rPr>
              <a:t>(300 dims — every value carries meaning)</a:t>
            </a:r>
            <a:endParaRPr b="0" i="0" sz="1000" u="none" cap="none" strike="noStrike">
              <a:solidFill>
                <a:schemeClr val="dk1"/>
              </a:solidFill>
              <a:latin typeface="Calibri"/>
              <a:ea typeface="Calibri"/>
              <a:cs typeface="Calibri"/>
              <a:sym typeface="Calibri"/>
            </a:endParaRPr>
          </a:p>
        </p:txBody>
      </p:sp>
      <p:sp>
        <p:nvSpPr>
          <p:cNvPr id="2300" name="Google Shape;2300;p55"/>
          <p:cNvSpPr/>
          <p:nvPr/>
        </p:nvSpPr>
        <p:spPr>
          <a:xfrm>
            <a:off x="4956048" y="2103120"/>
            <a:ext cx="3840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A34A"/>
              </a:buClr>
              <a:buSzPts val="1200"/>
              <a:buFont typeface="Calibri"/>
              <a:buNone/>
            </a:pPr>
            <a:r>
              <a:rPr b="0" i="0" lang="en" sz="1200" u="none" cap="none" strike="noStrike">
                <a:solidFill>
                  <a:srgbClr val="16A34A"/>
                </a:solidFill>
                <a:latin typeface="Calibri"/>
                <a:ea typeface="Calibri"/>
                <a:cs typeface="Calibri"/>
                <a:sym typeface="Calibri"/>
              </a:rPr>
              <a:t>✓  All values active</a:t>
            </a:r>
            <a:endParaRPr b="0" i="0" sz="1200" u="none" cap="none" strike="noStrike">
              <a:solidFill>
                <a:schemeClr val="dk1"/>
              </a:solidFill>
              <a:latin typeface="Calibri"/>
              <a:ea typeface="Calibri"/>
              <a:cs typeface="Calibri"/>
              <a:sym typeface="Calibri"/>
            </a:endParaRPr>
          </a:p>
        </p:txBody>
      </p:sp>
      <p:sp>
        <p:nvSpPr>
          <p:cNvPr id="2301" name="Google Shape;2301;p55"/>
          <p:cNvSpPr/>
          <p:nvPr/>
        </p:nvSpPr>
        <p:spPr>
          <a:xfrm>
            <a:off x="4956048" y="2414016"/>
            <a:ext cx="3840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A34A"/>
              </a:buClr>
              <a:buSzPts val="1200"/>
              <a:buFont typeface="Calibri"/>
              <a:buNone/>
            </a:pPr>
            <a:r>
              <a:rPr b="0" i="0" lang="en" sz="1200" u="none" cap="none" strike="noStrike">
                <a:solidFill>
                  <a:srgbClr val="16A34A"/>
                </a:solidFill>
                <a:latin typeface="Calibri"/>
                <a:ea typeface="Calibri"/>
                <a:cs typeface="Calibri"/>
                <a:sym typeface="Calibri"/>
              </a:rPr>
              <a:t>✓  Geometry = meaning</a:t>
            </a:r>
            <a:endParaRPr b="0" i="0" sz="1200" u="none" cap="none" strike="noStrike">
              <a:solidFill>
                <a:schemeClr val="dk1"/>
              </a:solidFill>
              <a:latin typeface="Calibri"/>
              <a:ea typeface="Calibri"/>
              <a:cs typeface="Calibri"/>
              <a:sym typeface="Calibri"/>
            </a:endParaRPr>
          </a:p>
        </p:txBody>
      </p:sp>
      <p:sp>
        <p:nvSpPr>
          <p:cNvPr id="2302" name="Google Shape;2302;p55"/>
          <p:cNvSpPr/>
          <p:nvPr/>
        </p:nvSpPr>
        <p:spPr>
          <a:xfrm>
            <a:off x="4956048" y="2724912"/>
            <a:ext cx="3840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A34A"/>
              </a:buClr>
              <a:buSzPts val="1200"/>
              <a:buFont typeface="Calibri"/>
              <a:buNone/>
            </a:pPr>
            <a:r>
              <a:rPr b="0" i="0" lang="en" sz="1200" u="none" cap="none" strike="noStrike">
                <a:solidFill>
                  <a:srgbClr val="16A34A"/>
                </a:solidFill>
                <a:latin typeface="Calibri"/>
                <a:ea typeface="Calibri"/>
                <a:cs typeface="Calibri"/>
                <a:sym typeface="Calibri"/>
              </a:rPr>
              <a:t>✓  Compact &amp; fast</a:t>
            </a:r>
            <a:endParaRPr b="0" i="0" sz="1200" u="none" cap="none" strike="noStrike">
              <a:solidFill>
                <a:schemeClr val="dk1"/>
              </a:solidFill>
              <a:latin typeface="Calibri"/>
              <a:ea typeface="Calibri"/>
              <a:cs typeface="Calibri"/>
              <a:sym typeface="Calibri"/>
            </a:endParaRPr>
          </a:p>
        </p:txBody>
      </p:sp>
      <p:sp>
        <p:nvSpPr>
          <p:cNvPr id="2303" name="Google Shape;2303;p55"/>
          <p:cNvSpPr/>
          <p:nvPr/>
        </p:nvSpPr>
        <p:spPr>
          <a:xfrm>
            <a:off x="347472" y="3310128"/>
            <a:ext cx="8449200" cy="1481400"/>
          </a:xfrm>
          <a:prstGeom prst="rect">
            <a:avLst/>
          </a:prstGeom>
          <a:solidFill>
            <a:srgbClr val="EFF6FF"/>
          </a:solidFill>
          <a:ln cap="flat" cmpd="sng" w="12700">
            <a:solidFill>
              <a:srgbClr val="2563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4" name="Google Shape;2304;p55"/>
          <p:cNvSpPr/>
          <p:nvPr/>
        </p:nvSpPr>
        <p:spPr>
          <a:xfrm>
            <a:off x="502920" y="3364992"/>
            <a:ext cx="45720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563EB"/>
              </a:buClr>
              <a:buSzPts val="1200"/>
              <a:buFont typeface="Calibri"/>
              <a:buNone/>
            </a:pPr>
            <a:r>
              <a:rPr b="1" i="0" lang="en" sz="1200" u="none" cap="none" strike="noStrike">
                <a:solidFill>
                  <a:srgbClr val="2563EB"/>
                </a:solidFill>
                <a:latin typeface="Calibri"/>
                <a:ea typeface="Calibri"/>
                <a:cs typeface="Calibri"/>
                <a:sym typeface="Calibri"/>
              </a:rPr>
              <a:t>Geometry encodes meaning — famous examples:</a:t>
            </a:r>
            <a:endParaRPr b="0" i="0" sz="1200" u="none" cap="none" strike="noStrike">
              <a:solidFill>
                <a:schemeClr val="dk1"/>
              </a:solidFill>
              <a:latin typeface="Calibri"/>
              <a:ea typeface="Calibri"/>
              <a:cs typeface="Calibri"/>
              <a:sym typeface="Calibri"/>
            </a:endParaRPr>
          </a:p>
        </p:txBody>
      </p:sp>
      <p:sp>
        <p:nvSpPr>
          <p:cNvPr id="2305" name="Google Shape;2305;p55"/>
          <p:cNvSpPr/>
          <p:nvPr/>
        </p:nvSpPr>
        <p:spPr>
          <a:xfrm>
            <a:off x="475488" y="3675888"/>
            <a:ext cx="5120700" cy="292500"/>
          </a:xfrm>
          <a:prstGeom prst="roundRect">
            <a:avLst>
              <a:gd fmla="val 25000"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6" name="Google Shape;2306;p55"/>
          <p:cNvSpPr/>
          <p:nvPr/>
        </p:nvSpPr>
        <p:spPr>
          <a:xfrm>
            <a:off x="612648" y="3675888"/>
            <a:ext cx="49377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2E8F0"/>
              </a:buClr>
              <a:buSzPts val="1050"/>
              <a:buFont typeface="Courier New"/>
              <a:buNone/>
            </a:pPr>
            <a:r>
              <a:rPr b="0" i="0" lang="en" sz="1050" u="none" cap="none" strike="noStrike">
                <a:solidFill>
                  <a:srgbClr val="E2E8F0"/>
                </a:solidFill>
                <a:latin typeface="Courier New"/>
                <a:ea typeface="Courier New"/>
                <a:cs typeface="Courier New"/>
                <a:sym typeface="Courier New"/>
              </a:rPr>
              <a:t>vec("king") − vec("man") + vec("woman")</a:t>
            </a:r>
            <a:endParaRPr b="0" i="0" sz="1050" u="none" cap="none" strike="noStrike">
              <a:solidFill>
                <a:schemeClr val="dk1"/>
              </a:solidFill>
              <a:latin typeface="Calibri"/>
              <a:ea typeface="Calibri"/>
              <a:cs typeface="Calibri"/>
              <a:sym typeface="Calibri"/>
            </a:endParaRPr>
          </a:p>
        </p:txBody>
      </p:sp>
      <p:sp>
        <p:nvSpPr>
          <p:cNvPr id="2307" name="Google Shape;2307;p55"/>
          <p:cNvSpPr/>
          <p:nvPr/>
        </p:nvSpPr>
        <p:spPr>
          <a:xfrm>
            <a:off x="5650992" y="3675888"/>
            <a:ext cx="30174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C3AED"/>
              </a:buClr>
              <a:buSzPts val="1150"/>
              <a:buFont typeface="Courier New"/>
              <a:buNone/>
            </a:pPr>
            <a:r>
              <a:rPr b="1" i="0" lang="en" sz="1150" u="none" cap="none" strike="noStrike">
                <a:solidFill>
                  <a:srgbClr val="7C3AED"/>
                </a:solidFill>
                <a:latin typeface="Courier New"/>
                <a:ea typeface="Courier New"/>
                <a:cs typeface="Courier New"/>
                <a:sym typeface="Courier New"/>
              </a:rPr>
              <a:t>≈ vec("queen")</a:t>
            </a:r>
            <a:endParaRPr b="0" i="0" sz="1150" u="none" cap="none" strike="noStrike">
              <a:solidFill>
                <a:schemeClr val="dk1"/>
              </a:solidFill>
              <a:latin typeface="Calibri"/>
              <a:ea typeface="Calibri"/>
              <a:cs typeface="Calibri"/>
              <a:sym typeface="Calibri"/>
            </a:endParaRPr>
          </a:p>
        </p:txBody>
      </p:sp>
      <p:sp>
        <p:nvSpPr>
          <p:cNvPr id="2308" name="Google Shape;2308;p55"/>
          <p:cNvSpPr/>
          <p:nvPr/>
        </p:nvSpPr>
        <p:spPr>
          <a:xfrm>
            <a:off x="475488" y="4023360"/>
            <a:ext cx="5120700" cy="292500"/>
          </a:xfrm>
          <a:prstGeom prst="roundRect">
            <a:avLst>
              <a:gd fmla="val 25000"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9" name="Google Shape;2309;p55"/>
          <p:cNvSpPr/>
          <p:nvPr/>
        </p:nvSpPr>
        <p:spPr>
          <a:xfrm>
            <a:off x="612648" y="4023360"/>
            <a:ext cx="49377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2E8F0"/>
              </a:buClr>
              <a:buSzPts val="1050"/>
              <a:buFont typeface="Courier New"/>
              <a:buNone/>
            </a:pPr>
            <a:r>
              <a:rPr b="0" i="0" lang="en" sz="1050" u="none" cap="none" strike="noStrike">
                <a:solidFill>
                  <a:srgbClr val="E2E8F0"/>
                </a:solidFill>
                <a:latin typeface="Courier New"/>
                <a:ea typeface="Courier New"/>
                <a:cs typeface="Courier New"/>
                <a:sym typeface="Courier New"/>
              </a:rPr>
              <a:t>vec("Paris") − vec("France") + vec("Germany")</a:t>
            </a:r>
            <a:endParaRPr b="0" i="0" sz="1050" u="none" cap="none" strike="noStrike">
              <a:solidFill>
                <a:schemeClr val="dk1"/>
              </a:solidFill>
              <a:latin typeface="Calibri"/>
              <a:ea typeface="Calibri"/>
              <a:cs typeface="Calibri"/>
              <a:sym typeface="Calibri"/>
            </a:endParaRPr>
          </a:p>
        </p:txBody>
      </p:sp>
      <p:sp>
        <p:nvSpPr>
          <p:cNvPr id="2310" name="Google Shape;2310;p55"/>
          <p:cNvSpPr/>
          <p:nvPr/>
        </p:nvSpPr>
        <p:spPr>
          <a:xfrm>
            <a:off x="5650992" y="4023360"/>
            <a:ext cx="30174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9488"/>
              </a:buClr>
              <a:buSzPts val="1150"/>
              <a:buFont typeface="Courier New"/>
              <a:buNone/>
            </a:pPr>
            <a:r>
              <a:rPr b="1" i="0" lang="en" sz="1150" u="none" cap="none" strike="noStrike">
                <a:solidFill>
                  <a:srgbClr val="0D9488"/>
                </a:solidFill>
                <a:latin typeface="Courier New"/>
                <a:ea typeface="Courier New"/>
                <a:cs typeface="Courier New"/>
                <a:sym typeface="Courier New"/>
              </a:rPr>
              <a:t>≈ vec("Berlin")</a:t>
            </a:r>
            <a:endParaRPr b="0" i="0" sz="1150" u="none" cap="none" strike="noStrike">
              <a:solidFill>
                <a:schemeClr val="dk1"/>
              </a:solidFill>
              <a:latin typeface="Calibri"/>
              <a:ea typeface="Calibri"/>
              <a:cs typeface="Calibri"/>
              <a:sym typeface="Calibri"/>
            </a:endParaRPr>
          </a:p>
        </p:txBody>
      </p:sp>
      <p:sp>
        <p:nvSpPr>
          <p:cNvPr id="2311" name="Google Shape;2311;p55"/>
          <p:cNvSpPr/>
          <p:nvPr/>
        </p:nvSpPr>
        <p:spPr>
          <a:xfrm>
            <a:off x="475488" y="4370832"/>
            <a:ext cx="5120700" cy="292500"/>
          </a:xfrm>
          <a:prstGeom prst="roundRect">
            <a:avLst>
              <a:gd fmla="val 25000"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2" name="Google Shape;2312;p55"/>
          <p:cNvSpPr/>
          <p:nvPr/>
        </p:nvSpPr>
        <p:spPr>
          <a:xfrm>
            <a:off x="612648" y="4370832"/>
            <a:ext cx="49377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2E8F0"/>
              </a:buClr>
              <a:buSzPts val="1050"/>
              <a:buFont typeface="Courier New"/>
              <a:buNone/>
            </a:pPr>
            <a:r>
              <a:rPr b="0" i="0" lang="en" sz="1050" u="none" cap="none" strike="noStrike">
                <a:solidFill>
                  <a:srgbClr val="E2E8F0"/>
                </a:solidFill>
                <a:latin typeface="Courier New"/>
                <a:ea typeface="Courier New"/>
                <a:cs typeface="Courier New"/>
                <a:sym typeface="Courier New"/>
              </a:rPr>
              <a:t>cosine( vec("cat"), vec("kitten") )</a:t>
            </a:r>
            <a:endParaRPr b="0" i="0" sz="1050" u="none" cap="none" strike="noStrike">
              <a:solidFill>
                <a:schemeClr val="dk1"/>
              </a:solidFill>
              <a:latin typeface="Calibri"/>
              <a:ea typeface="Calibri"/>
              <a:cs typeface="Calibri"/>
              <a:sym typeface="Calibri"/>
            </a:endParaRPr>
          </a:p>
        </p:txBody>
      </p:sp>
      <p:sp>
        <p:nvSpPr>
          <p:cNvPr id="2313" name="Google Shape;2313;p55"/>
          <p:cNvSpPr/>
          <p:nvPr/>
        </p:nvSpPr>
        <p:spPr>
          <a:xfrm>
            <a:off x="5650992" y="4370832"/>
            <a:ext cx="30174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A34A"/>
              </a:buClr>
              <a:buSzPts val="1150"/>
              <a:buFont typeface="Courier New"/>
              <a:buNone/>
            </a:pPr>
            <a:r>
              <a:rPr b="1" i="0" lang="en" sz="1150" u="none" cap="none" strike="noStrike">
                <a:solidFill>
                  <a:srgbClr val="16A34A"/>
                </a:solidFill>
                <a:latin typeface="Courier New"/>
                <a:ea typeface="Courier New"/>
                <a:cs typeface="Courier New"/>
                <a:sym typeface="Courier New"/>
              </a:rPr>
              <a:t>≈ 0.92  ✓</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2318" name="Shape 2318"/>
        <p:cNvGrpSpPr/>
        <p:nvPr/>
      </p:nvGrpSpPr>
      <p:grpSpPr>
        <a:xfrm>
          <a:off x="0" y="0"/>
          <a:ext cx="0" cy="0"/>
          <a:chOff x="0" y="0"/>
          <a:chExt cx="0" cy="0"/>
        </a:xfrm>
      </p:grpSpPr>
      <p:sp>
        <p:nvSpPr>
          <p:cNvPr id="2319" name="Google Shape;2319;p56"/>
          <p:cNvSpPr/>
          <p:nvPr/>
        </p:nvSpPr>
        <p:spPr>
          <a:xfrm>
            <a:off x="0" y="0"/>
            <a:ext cx="9144000" cy="63900"/>
          </a:xfrm>
          <a:prstGeom prst="rect">
            <a:avLst/>
          </a:prstGeom>
          <a:solidFill>
            <a:srgbClr val="0D9488"/>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0" name="Google Shape;2320;p56"/>
          <p:cNvSpPr/>
          <p:nvPr/>
        </p:nvSpPr>
        <p:spPr>
          <a:xfrm>
            <a:off x="347472" y="164592"/>
            <a:ext cx="63900" cy="512100"/>
          </a:xfrm>
          <a:prstGeom prst="rect">
            <a:avLst/>
          </a:prstGeom>
          <a:solidFill>
            <a:srgbClr val="0D9488"/>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1" name="Google Shape;2321;p56"/>
          <p:cNvSpPr/>
          <p:nvPr/>
        </p:nvSpPr>
        <p:spPr>
          <a:xfrm>
            <a:off x="521208" y="146304"/>
            <a:ext cx="82296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9488"/>
              </a:buClr>
              <a:buSzPts val="2600"/>
              <a:buFont typeface="Calibri"/>
              <a:buNone/>
            </a:pPr>
            <a:r>
              <a:rPr b="1" i="0" lang="en" sz="2600" u="none" cap="none" strike="noStrike">
                <a:solidFill>
                  <a:srgbClr val="0D9488"/>
                </a:solidFill>
                <a:latin typeface="Calibri"/>
                <a:ea typeface="Calibri"/>
                <a:cs typeface="Calibri"/>
                <a:sym typeface="Calibri"/>
              </a:rPr>
              <a:t>Feature Learning through Embeddings</a:t>
            </a:r>
            <a:endParaRPr b="0" i="0" sz="2600" u="none" cap="none" strike="noStrike">
              <a:solidFill>
                <a:schemeClr val="dk1"/>
              </a:solidFill>
              <a:latin typeface="Calibri"/>
              <a:ea typeface="Calibri"/>
              <a:cs typeface="Calibri"/>
              <a:sym typeface="Calibri"/>
            </a:endParaRPr>
          </a:p>
        </p:txBody>
      </p:sp>
      <p:cxnSp>
        <p:nvCxnSpPr>
          <p:cNvPr id="2322" name="Google Shape;2322;p56"/>
          <p:cNvCxnSpPr/>
          <p:nvPr/>
        </p:nvCxnSpPr>
        <p:spPr>
          <a:xfrm>
            <a:off x="347472" y="713232"/>
            <a:ext cx="8449200" cy="0"/>
          </a:xfrm>
          <a:prstGeom prst="straightConnector1">
            <a:avLst/>
          </a:prstGeom>
          <a:noFill/>
          <a:ln cap="flat" cmpd="sng" w="15225">
            <a:solidFill>
              <a:srgbClr val="0D9488"/>
            </a:solidFill>
            <a:prstDash val="solid"/>
            <a:round/>
            <a:headEnd len="sm" w="sm" type="none"/>
            <a:tailEnd len="sm" w="sm" type="none"/>
          </a:ln>
        </p:spPr>
      </p:cxnSp>
      <p:sp>
        <p:nvSpPr>
          <p:cNvPr id="2323" name="Google Shape;2323;p56"/>
          <p:cNvSpPr/>
          <p:nvPr/>
        </p:nvSpPr>
        <p:spPr>
          <a:xfrm>
            <a:off x="347472" y="749808"/>
            <a:ext cx="8449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200"/>
              <a:buFont typeface="Calibri"/>
              <a:buNone/>
            </a:pPr>
            <a:r>
              <a:rPr b="0" i="1" lang="en" sz="1200" u="none" cap="none" strike="noStrike">
                <a:solidFill>
                  <a:srgbClr val="6B7280"/>
                </a:solidFill>
                <a:latin typeface="Calibri"/>
                <a:ea typeface="Calibri"/>
                <a:cs typeface="Calibri"/>
                <a:sym typeface="Calibri"/>
              </a:rPr>
              <a:t>The embedding model learns dense vectors from raw data — no hand-crafting required.</a:t>
            </a:r>
            <a:endParaRPr b="0" i="0" sz="1200" u="none" cap="none" strike="noStrike">
              <a:solidFill>
                <a:schemeClr val="dk1"/>
              </a:solidFill>
              <a:latin typeface="Calibri"/>
              <a:ea typeface="Calibri"/>
              <a:cs typeface="Calibri"/>
              <a:sym typeface="Calibri"/>
            </a:endParaRPr>
          </a:p>
        </p:txBody>
      </p:sp>
      <p:sp>
        <p:nvSpPr>
          <p:cNvPr id="2324" name="Google Shape;2324;p56"/>
          <p:cNvSpPr/>
          <p:nvPr/>
        </p:nvSpPr>
        <p:spPr>
          <a:xfrm>
            <a:off x="347472" y="914400"/>
            <a:ext cx="19203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9488"/>
              </a:buClr>
              <a:buSzPts val="1200"/>
              <a:buFont typeface="Calibri"/>
              <a:buNone/>
            </a:pPr>
            <a:r>
              <a:rPr b="1" i="0" lang="en" sz="1200" u="none" cap="none" strike="noStrike">
                <a:solidFill>
                  <a:srgbClr val="0D9488"/>
                </a:solidFill>
                <a:latin typeface="Calibri"/>
                <a:ea typeface="Calibri"/>
                <a:cs typeface="Calibri"/>
                <a:sym typeface="Calibri"/>
              </a:rPr>
              <a:t>Any Objects</a:t>
            </a:r>
            <a:endParaRPr b="0" i="0" sz="1200" u="none" cap="none" strike="noStrike">
              <a:solidFill>
                <a:schemeClr val="dk1"/>
              </a:solidFill>
              <a:latin typeface="Calibri"/>
              <a:ea typeface="Calibri"/>
              <a:cs typeface="Calibri"/>
              <a:sym typeface="Calibri"/>
            </a:endParaRPr>
          </a:p>
        </p:txBody>
      </p:sp>
      <p:sp>
        <p:nvSpPr>
          <p:cNvPr id="2325" name="Google Shape;2325;p56"/>
          <p:cNvSpPr/>
          <p:nvPr/>
        </p:nvSpPr>
        <p:spPr>
          <a:xfrm>
            <a:off x="347472" y="1225296"/>
            <a:ext cx="1920300" cy="658500"/>
          </a:xfrm>
          <a:prstGeom prst="rect">
            <a:avLst/>
          </a:prstGeom>
          <a:solidFill>
            <a:srgbClr val="FFFFFF"/>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6" name="Google Shape;2326;p56"/>
          <p:cNvSpPr/>
          <p:nvPr/>
        </p:nvSpPr>
        <p:spPr>
          <a:xfrm>
            <a:off x="457200" y="1225296"/>
            <a:ext cx="1737300" cy="658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100"/>
              <a:buFont typeface="Calibri"/>
              <a:buNone/>
            </a:pPr>
            <a:r>
              <a:rPr b="0" i="0" lang="en" sz="1100" u="none" cap="none" strike="noStrike">
                <a:solidFill>
                  <a:srgbClr val="111827"/>
                </a:solidFill>
                <a:latin typeface="Calibri"/>
                <a:ea typeface="Calibri"/>
                <a:cs typeface="Calibri"/>
                <a:sym typeface="Calibri"/>
              </a:rPr>
              <a:t>📝  word: "cat"</a:t>
            </a:r>
            <a:endParaRPr b="0" i="0" sz="1100" u="none" cap="none" strike="noStrike">
              <a:solidFill>
                <a:schemeClr val="dk1"/>
              </a:solidFill>
              <a:latin typeface="Calibri"/>
              <a:ea typeface="Calibri"/>
              <a:cs typeface="Calibri"/>
              <a:sym typeface="Calibri"/>
            </a:endParaRPr>
          </a:p>
        </p:txBody>
      </p:sp>
      <p:cxnSp>
        <p:nvCxnSpPr>
          <p:cNvPr id="2327" name="Google Shape;2327;p56"/>
          <p:cNvCxnSpPr/>
          <p:nvPr/>
        </p:nvCxnSpPr>
        <p:spPr>
          <a:xfrm>
            <a:off x="2286000" y="1554480"/>
            <a:ext cx="384000" cy="0"/>
          </a:xfrm>
          <a:prstGeom prst="straightConnector1">
            <a:avLst/>
          </a:prstGeom>
          <a:noFill/>
          <a:ln cap="flat" cmpd="sng" w="19050">
            <a:solidFill>
              <a:srgbClr val="0D9488"/>
            </a:solidFill>
            <a:prstDash val="solid"/>
            <a:round/>
            <a:headEnd len="sm" w="sm" type="none"/>
            <a:tailEnd len="med" w="med" type="stealth"/>
          </a:ln>
        </p:spPr>
      </p:cxnSp>
      <p:sp>
        <p:nvSpPr>
          <p:cNvPr id="2328" name="Google Shape;2328;p56"/>
          <p:cNvSpPr/>
          <p:nvPr/>
        </p:nvSpPr>
        <p:spPr>
          <a:xfrm>
            <a:off x="347472" y="1993392"/>
            <a:ext cx="1920300" cy="658500"/>
          </a:xfrm>
          <a:prstGeom prst="rect">
            <a:avLst/>
          </a:prstGeom>
          <a:solidFill>
            <a:srgbClr val="FFFFFF"/>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9" name="Google Shape;2329;p56"/>
          <p:cNvSpPr/>
          <p:nvPr/>
        </p:nvSpPr>
        <p:spPr>
          <a:xfrm>
            <a:off x="457200" y="1993392"/>
            <a:ext cx="1737300" cy="658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100"/>
              <a:buFont typeface="Calibri"/>
              <a:buNone/>
            </a:pPr>
            <a:r>
              <a:rPr b="0" i="0" lang="en" sz="1100" u="none" cap="none" strike="noStrike">
                <a:solidFill>
                  <a:srgbClr val="111827"/>
                </a:solidFill>
                <a:latin typeface="Calibri"/>
                <a:ea typeface="Calibri"/>
                <a:cs typeface="Calibri"/>
                <a:sym typeface="Calibri"/>
              </a:rPr>
              <a:t>📄  sentence</a:t>
            </a:r>
            <a:endParaRPr b="0" i="0" sz="1100" u="none" cap="none" strike="noStrike">
              <a:solidFill>
                <a:schemeClr val="dk1"/>
              </a:solidFill>
              <a:latin typeface="Calibri"/>
              <a:ea typeface="Calibri"/>
              <a:cs typeface="Calibri"/>
              <a:sym typeface="Calibri"/>
            </a:endParaRPr>
          </a:p>
        </p:txBody>
      </p:sp>
      <p:cxnSp>
        <p:nvCxnSpPr>
          <p:cNvPr id="2330" name="Google Shape;2330;p56"/>
          <p:cNvCxnSpPr/>
          <p:nvPr/>
        </p:nvCxnSpPr>
        <p:spPr>
          <a:xfrm>
            <a:off x="2286000" y="2322576"/>
            <a:ext cx="384000" cy="0"/>
          </a:xfrm>
          <a:prstGeom prst="straightConnector1">
            <a:avLst/>
          </a:prstGeom>
          <a:noFill/>
          <a:ln cap="flat" cmpd="sng" w="19050">
            <a:solidFill>
              <a:srgbClr val="0D9488"/>
            </a:solidFill>
            <a:prstDash val="solid"/>
            <a:round/>
            <a:headEnd len="sm" w="sm" type="none"/>
            <a:tailEnd len="med" w="med" type="stealth"/>
          </a:ln>
        </p:spPr>
      </p:cxnSp>
      <p:sp>
        <p:nvSpPr>
          <p:cNvPr id="2331" name="Google Shape;2331;p56"/>
          <p:cNvSpPr/>
          <p:nvPr/>
        </p:nvSpPr>
        <p:spPr>
          <a:xfrm>
            <a:off x="347472" y="2761488"/>
            <a:ext cx="1920300" cy="658500"/>
          </a:xfrm>
          <a:prstGeom prst="rect">
            <a:avLst/>
          </a:prstGeom>
          <a:solidFill>
            <a:srgbClr val="FFFFFF"/>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2" name="Google Shape;2332;p56"/>
          <p:cNvSpPr/>
          <p:nvPr/>
        </p:nvSpPr>
        <p:spPr>
          <a:xfrm>
            <a:off x="457200" y="2761488"/>
            <a:ext cx="1737300" cy="658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100"/>
              <a:buFont typeface="Calibri"/>
              <a:buNone/>
            </a:pPr>
            <a:r>
              <a:rPr b="0" i="0" lang="en" sz="1100" u="none" cap="none" strike="noStrike">
                <a:solidFill>
                  <a:srgbClr val="111827"/>
                </a:solidFill>
                <a:latin typeface="Calibri"/>
                <a:ea typeface="Calibri"/>
                <a:cs typeface="Calibri"/>
                <a:sym typeface="Calibri"/>
              </a:rPr>
              <a:t>🖼️  image</a:t>
            </a:r>
            <a:endParaRPr b="0" i="0" sz="1100" u="none" cap="none" strike="noStrike">
              <a:solidFill>
                <a:schemeClr val="dk1"/>
              </a:solidFill>
              <a:latin typeface="Calibri"/>
              <a:ea typeface="Calibri"/>
              <a:cs typeface="Calibri"/>
              <a:sym typeface="Calibri"/>
            </a:endParaRPr>
          </a:p>
        </p:txBody>
      </p:sp>
      <p:cxnSp>
        <p:nvCxnSpPr>
          <p:cNvPr id="2333" name="Google Shape;2333;p56"/>
          <p:cNvCxnSpPr/>
          <p:nvPr/>
        </p:nvCxnSpPr>
        <p:spPr>
          <a:xfrm>
            <a:off x="2286000" y="3090672"/>
            <a:ext cx="384000" cy="0"/>
          </a:xfrm>
          <a:prstGeom prst="straightConnector1">
            <a:avLst/>
          </a:prstGeom>
          <a:noFill/>
          <a:ln cap="flat" cmpd="sng" w="19050">
            <a:solidFill>
              <a:srgbClr val="0D9488"/>
            </a:solidFill>
            <a:prstDash val="solid"/>
            <a:round/>
            <a:headEnd len="sm" w="sm" type="none"/>
            <a:tailEnd len="med" w="med" type="stealth"/>
          </a:ln>
        </p:spPr>
      </p:cxnSp>
      <p:sp>
        <p:nvSpPr>
          <p:cNvPr id="2334" name="Google Shape;2334;p56"/>
          <p:cNvSpPr/>
          <p:nvPr/>
        </p:nvSpPr>
        <p:spPr>
          <a:xfrm>
            <a:off x="347472" y="3529584"/>
            <a:ext cx="1920300" cy="658500"/>
          </a:xfrm>
          <a:prstGeom prst="rect">
            <a:avLst/>
          </a:prstGeom>
          <a:solidFill>
            <a:srgbClr val="FFFFFF"/>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5" name="Google Shape;2335;p56"/>
          <p:cNvSpPr/>
          <p:nvPr/>
        </p:nvSpPr>
        <p:spPr>
          <a:xfrm>
            <a:off x="457200" y="3529584"/>
            <a:ext cx="1737300" cy="658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100"/>
              <a:buFont typeface="Calibri"/>
              <a:buNone/>
            </a:pPr>
            <a:r>
              <a:rPr b="0" i="0" lang="en" sz="1100" u="none" cap="none" strike="noStrike">
                <a:solidFill>
                  <a:srgbClr val="111827"/>
                </a:solidFill>
                <a:latin typeface="Calibri"/>
                <a:ea typeface="Calibri"/>
                <a:cs typeface="Calibri"/>
                <a:sym typeface="Calibri"/>
              </a:rPr>
              <a:t>👤  user profile</a:t>
            </a:r>
            <a:endParaRPr b="0" i="0" sz="1100" u="none" cap="none" strike="noStrike">
              <a:solidFill>
                <a:schemeClr val="dk1"/>
              </a:solidFill>
              <a:latin typeface="Calibri"/>
              <a:ea typeface="Calibri"/>
              <a:cs typeface="Calibri"/>
              <a:sym typeface="Calibri"/>
            </a:endParaRPr>
          </a:p>
        </p:txBody>
      </p:sp>
      <p:cxnSp>
        <p:nvCxnSpPr>
          <p:cNvPr id="2336" name="Google Shape;2336;p56"/>
          <p:cNvCxnSpPr/>
          <p:nvPr/>
        </p:nvCxnSpPr>
        <p:spPr>
          <a:xfrm>
            <a:off x="2286000" y="3858768"/>
            <a:ext cx="384000" cy="0"/>
          </a:xfrm>
          <a:prstGeom prst="straightConnector1">
            <a:avLst/>
          </a:prstGeom>
          <a:noFill/>
          <a:ln cap="flat" cmpd="sng" w="19050">
            <a:solidFill>
              <a:srgbClr val="0D9488"/>
            </a:solidFill>
            <a:prstDash val="solid"/>
            <a:round/>
            <a:headEnd len="sm" w="sm" type="none"/>
            <a:tailEnd len="med" w="med" type="stealth"/>
          </a:ln>
        </p:spPr>
      </p:cxnSp>
      <p:sp>
        <p:nvSpPr>
          <p:cNvPr id="2337" name="Google Shape;2337;p56"/>
          <p:cNvSpPr/>
          <p:nvPr/>
        </p:nvSpPr>
        <p:spPr>
          <a:xfrm>
            <a:off x="2688336" y="1664208"/>
            <a:ext cx="2011800" cy="1645800"/>
          </a:xfrm>
          <a:prstGeom prst="rect">
            <a:avLst/>
          </a:prstGeom>
          <a:solidFill>
            <a:srgbClr val="1B3A6B"/>
          </a:solidFill>
          <a:ln cap="flat" cmpd="sng" w="12700">
            <a:solidFill>
              <a:srgbClr val="1B3A6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8" name="Google Shape;2338;p56"/>
          <p:cNvSpPr/>
          <p:nvPr/>
        </p:nvSpPr>
        <p:spPr>
          <a:xfrm>
            <a:off x="2688336" y="1664208"/>
            <a:ext cx="2011800" cy="914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600"/>
              <a:buFont typeface="Calibri"/>
              <a:buNone/>
            </a:pPr>
            <a:r>
              <a:rPr b="1" i="0" lang="en" sz="1600" u="none" cap="none" strike="noStrike">
                <a:solidFill>
                  <a:srgbClr val="FFFFFF"/>
                </a:solidFill>
                <a:latin typeface="Calibri"/>
                <a:ea typeface="Calibri"/>
                <a:cs typeface="Calibri"/>
                <a:sym typeface="Calibri"/>
              </a:rPr>
              <a:t>Embedding</a:t>
            </a:r>
            <a:endParaRPr b="0" i="0" sz="16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1600"/>
              <a:buFont typeface="Calibri"/>
              <a:buNone/>
            </a:pPr>
            <a:r>
              <a:rPr b="1" i="0" lang="en" sz="1600" u="none" cap="none" strike="noStrike">
                <a:solidFill>
                  <a:srgbClr val="FFFFFF"/>
                </a:solidFill>
                <a:latin typeface="Calibri"/>
                <a:ea typeface="Calibri"/>
                <a:cs typeface="Calibri"/>
                <a:sym typeface="Calibri"/>
              </a:rPr>
              <a:t>Model</a:t>
            </a:r>
            <a:endParaRPr b="0" i="0" sz="1600" u="none" cap="none" strike="noStrike">
              <a:solidFill>
                <a:schemeClr val="dk1"/>
              </a:solidFill>
              <a:latin typeface="Calibri"/>
              <a:ea typeface="Calibri"/>
              <a:cs typeface="Calibri"/>
              <a:sym typeface="Calibri"/>
            </a:endParaRPr>
          </a:p>
        </p:txBody>
      </p:sp>
      <p:sp>
        <p:nvSpPr>
          <p:cNvPr id="2339" name="Google Shape;2339;p56"/>
          <p:cNvSpPr/>
          <p:nvPr/>
        </p:nvSpPr>
        <p:spPr>
          <a:xfrm>
            <a:off x="2688336" y="2578608"/>
            <a:ext cx="2011800" cy="731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3C5FD"/>
              </a:buClr>
              <a:buSzPts val="1000"/>
              <a:buFont typeface="Calibri"/>
              <a:buNone/>
            </a:pPr>
            <a:r>
              <a:rPr b="0" i="0" lang="en" sz="1000" u="none" cap="none" strike="noStrike">
                <a:solidFill>
                  <a:srgbClr val="93C5FD"/>
                </a:solidFill>
                <a:latin typeface="Calibri"/>
                <a:ea typeface="Calibri"/>
                <a:cs typeface="Calibri"/>
                <a:sym typeface="Calibri"/>
              </a:rPr>
              <a:t>(Word2Vec, GloVe,</a:t>
            </a:r>
            <a:endParaRPr b="0" i="0" sz="10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93C5FD"/>
              </a:buClr>
              <a:buSzPts val="1000"/>
              <a:buFont typeface="Calibri"/>
              <a:buNone/>
            </a:pPr>
            <a:r>
              <a:rPr b="0" i="0" lang="en" sz="1000" u="none" cap="none" strike="noStrike">
                <a:solidFill>
                  <a:srgbClr val="93C5FD"/>
                </a:solidFill>
                <a:latin typeface="Calibri"/>
                <a:ea typeface="Calibri"/>
                <a:cs typeface="Calibri"/>
                <a:sym typeface="Calibri"/>
              </a:rPr>
              <a:t>BERT, GPT…)</a:t>
            </a:r>
            <a:endParaRPr b="0" i="0" sz="1000" u="none" cap="none" strike="noStrike">
              <a:solidFill>
                <a:schemeClr val="dk1"/>
              </a:solidFill>
              <a:latin typeface="Calibri"/>
              <a:ea typeface="Calibri"/>
              <a:cs typeface="Calibri"/>
              <a:sym typeface="Calibri"/>
            </a:endParaRPr>
          </a:p>
        </p:txBody>
      </p:sp>
      <p:cxnSp>
        <p:nvCxnSpPr>
          <p:cNvPr id="2340" name="Google Shape;2340;p56"/>
          <p:cNvCxnSpPr/>
          <p:nvPr/>
        </p:nvCxnSpPr>
        <p:spPr>
          <a:xfrm>
            <a:off x="4718304" y="2487168"/>
            <a:ext cx="384000" cy="0"/>
          </a:xfrm>
          <a:prstGeom prst="straightConnector1">
            <a:avLst/>
          </a:prstGeom>
          <a:noFill/>
          <a:ln cap="flat" cmpd="sng" w="31750">
            <a:solidFill>
              <a:srgbClr val="0D9488"/>
            </a:solidFill>
            <a:prstDash val="solid"/>
            <a:round/>
            <a:headEnd len="sm" w="sm" type="none"/>
            <a:tailEnd len="med" w="med" type="stealth"/>
          </a:ln>
        </p:spPr>
      </p:cxnSp>
      <p:sp>
        <p:nvSpPr>
          <p:cNvPr id="2341" name="Google Shape;2341;p56"/>
          <p:cNvSpPr/>
          <p:nvPr/>
        </p:nvSpPr>
        <p:spPr>
          <a:xfrm>
            <a:off x="5120640" y="914400"/>
            <a:ext cx="3675900" cy="3492900"/>
          </a:xfrm>
          <a:prstGeom prst="rect">
            <a:avLst/>
          </a:prstGeom>
          <a:solidFill>
            <a:srgbClr val="F8FAFC"/>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2" name="Google Shape;2342;p56"/>
          <p:cNvSpPr/>
          <p:nvPr/>
        </p:nvSpPr>
        <p:spPr>
          <a:xfrm>
            <a:off x="5230368" y="1060704"/>
            <a:ext cx="23775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6B"/>
              </a:buClr>
              <a:buSzPts val="1100"/>
              <a:buFont typeface="Calibri"/>
              <a:buNone/>
            </a:pPr>
            <a:r>
              <a:rPr b="1" i="0" lang="en" sz="1100" u="none" cap="none" strike="noStrike">
                <a:solidFill>
                  <a:srgbClr val="1B3A6B"/>
                </a:solidFill>
                <a:latin typeface="Calibri"/>
                <a:ea typeface="Calibri"/>
                <a:cs typeface="Calibri"/>
                <a:sym typeface="Calibri"/>
              </a:rPr>
              <a:t>Dense Vector Space</a:t>
            </a:r>
            <a:endParaRPr b="0" i="0" sz="1100" u="none" cap="none" strike="noStrike">
              <a:solidFill>
                <a:schemeClr val="dk1"/>
              </a:solidFill>
              <a:latin typeface="Calibri"/>
              <a:ea typeface="Calibri"/>
              <a:cs typeface="Calibri"/>
              <a:sym typeface="Calibri"/>
            </a:endParaRPr>
          </a:p>
        </p:txBody>
      </p:sp>
      <p:sp>
        <p:nvSpPr>
          <p:cNvPr id="2343" name="Google Shape;2343;p56"/>
          <p:cNvSpPr/>
          <p:nvPr/>
        </p:nvSpPr>
        <p:spPr>
          <a:xfrm>
            <a:off x="5453721" y="1746504"/>
            <a:ext cx="128100" cy="128100"/>
          </a:xfrm>
          <a:prstGeom prst="ellipse">
            <a:avLst/>
          </a:prstGeom>
          <a:solidFill>
            <a:srgbClr val="0D9488"/>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4" name="Google Shape;2344;p56"/>
          <p:cNvSpPr/>
          <p:nvPr/>
        </p:nvSpPr>
        <p:spPr>
          <a:xfrm>
            <a:off x="5334849" y="1901952"/>
            <a:ext cx="548700" cy="164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D9488"/>
              </a:buClr>
              <a:buSzPts val="750"/>
              <a:buFont typeface="Calibri"/>
              <a:buNone/>
            </a:pPr>
            <a:r>
              <a:rPr b="0" i="0" lang="en" sz="750" u="none" cap="none" strike="noStrike">
                <a:solidFill>
                  <a:srgbClr val="0D9488"/>
                </a:solidFill>
                <a:latin typeface="Calibri"/>
                <a:ea typeface="Calibri"/>
                <a:cs typeface="Calibri"/>
                <a:sym typeface="Calibri"/>
              </a:rPr>
              <a:t>cat</a:t>
            </a:r>
            <a:endParaRPr b="0" i="0" sz="750" u="none" cap="none" strike="noStrike">
              <a:solidFill>
                <a:schemeClr val="dk1"/>
              </a:solidFill>
              <a:latin typeface="Calibri"/>
              <a:ea typeface="Calibri"/>
              <a:cs typeface="Calibri"/>
              <a:sym typeface="Calibri"/>
            </a:endParaRPr>
          </a:p>
        </p:txBody>
      </p:sp>
      <p:sp>
        <p:nvSpPr>
          <p:cNvPr id="2345" name="Google Shape;2345;p56"/>
          <p:cNvSpPr/>
          <p:nvPr/>
        </p:nvSpPr>
        <p:spPr>
          <a:xfrm>
            <a:off x="5762630" y="2148840"/>
            <a:ext cx="128100" cy="128100"/>
          </a:xfrm>
          <a:prstGeom prst="ellipse">
            <a:avLst/>
          </a:prstGeom>
          <a:solidFill>
            <a:srgbClr val="0D9488"/>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6" name="Google Shape;2346;p56"/>
          <p:cNvSpPr/>
          <p:nvPr/>
        </p:nvSpPr>
        <p:spPr>
          <a:xfrm>
            <a:off x="5643758" y="2304288"/>
            <a:ext cx="548700" cy="164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D9488"/>
              </a:buClr>
              <a:buSzPts val="750"/>
              <a:buFont typeface="Calibri"/>
              <a:buNone/>
            </a:pPr>
            <a:r>
              <a:rPr b="0" i="0" lang="en" sz="750" u="none" cap="none" strike="noStrike">
                <a:solidFill>
                  <a:srgbClr val="0D9488"/>
                </a:solidFill>
                <a:latin typeface="Calibri"/>
                <a:ea typeface="Calibri"/>
                <a:cs typeface="Calibri"/>
                <a:sym typeface="Calibri"/>
              </a:rPr>
              <a:t>dog</a:t>
            </a:r>
            <a:endParaRPr b="0" i="0" sz="750" u="none" cap="none" strike="noStrike">
              <a:solidFill>
                <a:schemeClr val="dk1"/>
              </a:solidFill>
              <a:latin typeface="Calibri"/>
              <a:ea typeface="Calibri"/>
              <a:cs typeface="Calibri"/>
              <a:sym typeface="Calibri"/>
            </a:endParaRPr>
          </a:p>
        </p:txBody>
      </p:sp>
      <p:sp>
        <p:nvSpPr>
          <p:cNvPr id="2347" name="Google Shape;2347;p56"/>
          <p:cNvSpPr/>
          <p:nvPr/>
        </p:nvSpPr>
        <p:spPr>
          <a:xfrm>
            <a:off x="6113490" y="1746504"/>
            <a:ext cx="128100" cy="128100"/>
          </a:xfrm>
          <a:prstGeom prst="ellipse">
            <a:avLst/>
          </a:prstGeom>
          <a:solidFill>
            <a:srgbClr val="0D9488"/>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8" name="Google Shape;2348;p56"/>
          <p:cNvSpPr/>
          <p:nvPr/>
        </p:nvSpPr>
        <p:spPr>
          <a:xfrm>
            <a:off x="5994618" y="1901952"/>
            <a:ext cx="548700" cy="164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D9488"/>
              </a:buClr>
              <a:buSzPts val="750"/>
              <a:buFont typeface="Calibri"/>
              <a:buNone/>
            </a:pPr>
            <a:r>
              <a:rPr b="0" i="0" lang="en" sz="750" u="none" cap="none" strike="noStrike">
                <a:solidFill>
                  <a:srgbClr val="0D9488"/>
                </a:solidFill>
                <a:latin typeface="Calibri"/>
                <a:ea typeface="Calibri"/>
                <a:cs typeface="Calibri"/>
                <a:sym typeface="Calibri"/>
              </a:rPr>
              <a:t>kitten</a:t>
            </a:r>
            <a:endParaRPr b="0" i="0" sz="750" u="none" cap="none" strike="noStrike">
              <a:solidFill>
                <a:schemeClr val="dk1"/>
              </a:solidFill>
              <a:latin typeface="Calibri"/>
              <a:ea typeface="Calibri"/>
              <a:cs typeface="Calibri"/>
              <a:sym typeface="Calibri"/>
            </a:endParaRPr>
          </a:p>
        </p:txBody>
      </p:sp>
      <p:sp>
        <p:nvSpPr>
          <p:cNvPr id="2349" name="Google Shape;2349;p56"/>
          <p:cNvSpPr/>
          <p:nvPr/>
        </p:nvSpPr>
        <p:spPr>
          <a:xfrm>
            <a:off x="5349240" y="1664208"/>
            <a:ext cx="1005900" cy="694800"/>
          </a:xfrm>
          <a:prstGeom prst="ellipse">
            <a:avLst/>
          </a:prstGeom>
          <a:solidFill>
            <a:srgbClr val="0D9488">
              <a:alpha val="12157"/>
            </a:srgbClr>
          </a:solidFill>
          <a:ln cap="flat" cmpd="sng" w="10150">
            <a:solidFill>
              <a:srgbClr val="0D9488">
                <a:alpha val="600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0" name="Google Shape;2350;p56"/>
          <p:cNvSpPr/>
          <p:nvPr/>
        </p:nvSpPr>
        <p:spPr>
          <a:xfrm>
            <a:off x="5349240" y="2377440"/>
            <a:ext cx="1005900" cy="201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D9488"/>
              </a:buClr>
              <a:buSzPts val="800"/>
              <a:buFont typeface="Calibri"/>
              <a:buNone/>
            </a:pPr>
            <a:r>
              <a:rPr b="1" i="0" lang="en" sz="800" u="none" cap="none" strike="noStrike">
                <a:solidFill>
                  <a:srgbClr val="0D9488"/>
                </a:solidFill>
                <a:latin typeface="Calibri"/>
                <a:ea typeface="Calibri"/>
                <a:cs typeface="Calibri"/>
                <a:sym typeface="Calibri"/>
              </a:rPr>
              <a:t>animals</a:t>
            </a:r>
            <a:endParaRPr b="0" i="0" sz="800" u="none" cap="none" strike="noStrike">
              <a:solidFill>
                <a:schemeClr val="dk1"/>
              </a:solidFill>
              <a:latin typeface="Calibri"/>
              <a:ea typeface="Calibri"/>
              <a:cs typeface="Calibri"/>
              <a:sym typeface="Calibri"/>
            </a:endParaRPr>
          </a:p>
        </p:txBody>
      </p:sp>
      <p:sp>
        <p:nvSpPr>
          <p:cNvPr id="2351" name="Google Shape;2351;p56"/>
          <p:cNvSpPr/>
          <p:nvPr/>
        </p:nvSpPr>
        <p:spPr>
          <a:xfrm>
            <a:off x="6458447" y="1472184"/>
            <a:ext cx="128100" cy="128100"/>
          </a:xfrm>
          <a:prstGeom prst="ellipse">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2" name="Google Shape;2352;p56"/>
          <p:cNvSpPr/>
          <p:nvPr/>
        </p:nvSpPr>
        <p:spPr>
          <a:xfrm>
            <a:off x="6339575" y="1627632"/>
            <a:ext cx="548700" cy="164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C3AED"/>
              </a:buClr>
              <a:buSzPts val="750"/>
              <a:buFont typeface="Calibri"/>
              <a:buNone/>
            </a:pPr>
            <a:r>
              <a:rPr b="0" i="0" lang="en" sz="750" u="none" cap="none" strike="noStrike">
                <a:solidFill>
                  <a:srgbClr val="7C3AED"/>
                </a:solidFill>
                <a:latin typeface="Calibri"/>
                <a:ea typeface="Calibri"/>
                <a:cs typeface="Calibri"/>
                <a:sym typeface="Calibri"/>
              </a:rPr>
              <a:t>king</a:t>
            </a:r>
            <a:endParaRPr b="0" i="0" sz="750" u="none" cap="none" strike="noStrike">
              <a:solidFill>
                <a:schemeClr val="dk1"/>
              </a:solidFill>
              <a:latin typeface="Calibri"/>
              <a:ea typeface="Calibri"/>
              <a:cs typeface="Calibri"/>
              <a:sym typeface="Calibri"/>
            </a:endParaRPr>
          </a:p>
        </p:txBody>
      </p:sp>
      <p:sp>
        <p:nvSpPr>
          <p:cNvPr id="2353" name="Google Shape;2353;p56"/>
          <p:cNvSpPr/>
          <p:nvPr/>
        </p:nvSpPr>
        <p:spPr>
          <a:xfrm>
            <a:off x="6754293" y="1874520"/>
            <a:ext cx="128100" cy="128100"/>
          </a:xfrm>
          <a:prstGeom prst="ellipse">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4" name="Google Shape;2354;p56"/>
          <p:cNvSpPr/>
          <p:nvPr/>
        </p:nvSpPr>
        <p:spPr>
          <a:xfrm>
            <a:off x="6635421" y="2029968"/>
            <a:ext cx="548700" cy="164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C3AED"/>
              </a:buClr>
              <a:buSzPts val="750"/>
              <a:buFont typeface="Calibri"/>
              <a:buNone/>
            </a:pPr>
            <a:r>
              <a:rPr b="0" i="0" lang="en" sz="750" u="none" cap="none" strike="noStrike">
                <a:solidFill>
                  <a:srgbClr val="7C3AED"/>
                </a:solidFill>
                <a:latin typeface="Calibri"/>
                <a:ea typeface="Calibri"/>
                <a:cs typeface="Calibri"/>
                <a:sym typeface="Calibri"/>
              </a:rPr>
              <a:t>queen</a:t>
            </a:r>
            <a:endParaRPr b="0" i="0" sz="750" u="none" cap="none" strike="noStrike">
              <a:solidFill>
                <a:schemeClr val="dk1"/>
              </a:solidFill>
              <a:latin typeface="Calibri"/>
              <a:ea typeface="Calibri"/>
              <a:cs typeface="Calibri"/>
              <a:sym typeface="Calibri"/>
            </a:endParaRPr>
          </a:p>
        </p:txBody>
      </p:sp>
      <p:sp>
        <p:nvSpPr>
          <p:cNvPr id="2355" name="Google Shape;2355;p56"/>
          <p:cNvSpPr/>
          <p:nvPr/>
        </p:nvSpPr>
        <p:spPr>
          <a:xfrm>
            <a:off x="7189495" y="1472184"/>
            <a:ext cx="128100" cy="128100"/>
          </a:xfrm>
          <a:prstGeom prst="ellipse">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6" name="Google Shape;2356;p56"/>
          <p:cNvSpPr/>
          <p:nvPr/>
        </p:nvSpPr>
        <p:spPr>
          <a:xfrm>
            <a:off x="7070623" y="1627632"/>
            <a:ext cx="548700" cy="164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C3AED"/>
              </a:buClr>
              <a:buSzPts val="750"/>
              <a:buFont typeface="Calibri"/>
              <a:buNone/>
            </a:pPr>
            <a:r>
              <a:rPr b="0" i="0" lang="en" sz="750" u="none" cap="none" strike="noStrike">
                <a:solidFill>
                  <a:srgbClr val="7C3AED"/>
                </a:solidFill>
                <a:latin typeface="Calibri"/>
                <a:ea typeface="Calibri"/>
                <a:cs typeface="Calibri"/>
                <a:sym typeface="Calibri"/>
              </a:rPr>
              <a:t>prince</a:t>
            </a:r>
            <a:endParaRPr b="0" i="0" sz="750" u="none" cap="none" strike="noStrike">
              <a:solidFill>
                <a:schemeClr val="dk1"/>
              </a:solidFill>
              <a:latin typeface="Calibri"/>
              <a:ea typeface="Calibri"/>
              <a:cs typeface="Calibri"/>
              <a:sym typeface="Calibri"/>
            </a:endParaRPr>
          </a:p>
        </p:txBody>
      </p:sp>
      <p:sp>
        <p:nvSpPr>
          <p:cNvPr id="2357" name="Google Shape;2357;p56"/>
          <p:cNvSpPr/>
          <p:nvPr/>
        </p:nvSpPr>
        <p:spPr>
          <a:xfrm>
            <a:off x="6355080" y="1389888"/>
            <a:ext cx="1005900" cy="694800"/>
          </a:xfrm>
          <a:prstGeom prst="ellipse">
            <a:avLst/>
          </a:prstGeom>
          <a:solidFill>
            <a:srgbClr val="7C3AED">
              <a:alpha val="12157"/>
            </a:srgbClr>
          </a:solidFill>
          <a:ln cap="flat" cmpd="sng" w="10150">
            <a:solidFill>
              <a:srgbClr val="7C3AED">
                <a:alpha val="600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8" name="Google Shape;2358;p56"/>
          <p:cNvSpPr/>
          <p:nvPr/>
        </p:nvSpPr>
        <p:spPr>
          <a:xfrm>
            <a:off x="6355080" y="2103120"/>
            <a:ext cx="1005900" cy="201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C3AED"/>
              </a:buClr>
              <a:buSzPts val="800"/>
              <a:buFont typeface="Calibri"/>
              <a:buNone/>
            </a:pPr>
            <a:r>
              <a:rPr b="1" i="0" lang="en" sz="800" u="none" cap="none" strike="noStrike">
                <a:solidFill>
                  <a:srgbClr val="7C3AED"/>
                </a:solidFill>
                <a:latin typeface="Calibri"/>
                <a:ea typeface="Calibri"/>
                <a:cs typeface="Calibri"/>
                <a:sym typeface="Calibri"/>
              </a:rPr>
              <a:t>royalty</a:t>
            </a:r>
            <a:endParaRPr b="0" i="0" sz="800" u="none" cap="none" strike="noStrike">
              <a:solidFill>
                <a:schemeClr val="dk1"/>
              </a:solidFill>
              <a:latin typeface="Calibri"/>
              <a:ea typeface="Calibri"/>
              <a:cs typeface="Calibri"/>
              <a:sym typeface="Calibri"/>
            </a:endParaRPr>
          </a:p>
        </p:txBody>
      </p:sp>
      <p:sp>
        <p:nvSpPr>
          <p:cNvPr id="2359" name="Google Shape;2359;p56"/>
          <p:cNvSpPr/>
          <p:nvPr/>
        </p:nvSpPr>
        <p:spPr>
          <a:xfrm>
            <a:off x="5994048" y="2569464"/>
            <a:ext cx="128100" cy="128100"/>
          </a:xfrm>
          <a:prstGeom prst="ellipse">
            <a:avLst/>
          </a:prstGeom>
          <a:solidFill>
            <a:srgbClr val="EA580C"/>
          </a:solidFill>
          <a:ln cap="flat" cmpd="sng" w="12700">
            <a:solidFill>
              <a:srgbClr val="EA580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0" name="Google Shape;2360;p56"/>
          <p:cNvSpPr/>
          <p:nvPr/>
        </p:nvSpPr>
        <p:spPr>
          <a:xfrm>
            <a:off x="5875176" y="2724912"/>
            <a:ext cx="548700" cy="164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EA580C"/>
              </a:buClr>
              <a:buSzPts val="750"/>
              <a:buFont typeface="Calibri"/>
              <a:buNone/>
            </a:pPr>
            <a:r>
              <a:rPr b="0" i="0" lang="en" sz="750" u="none" cap="none" strike="noStrike">
                <a:solidFill>
                  <a:srgbClr val="EA580C"/>
                </a:solidFill>
                <a:latin typeface="Calibri"/>
                <a:ea typeface="Calibri"/>
                <a:cs typeface="Calibri"/>
                <a:sym typeface="Calibri"/>
              </a:rPr>
              <a:t>Paris</a:t>
            </a:r>
            <a:endParaRPr b="0" i="0" sz="750" u="none" cap="none" strike="noStrike">
              <a:solidFill>
                <a:schemeClr val="dk1"/>
              </a:solidFill>
              <a:latin typeface="Calibri"/>
              <a:ea typeface="Calibri"/>
              <a:cs typeface="Calibri"/>
              <a:sym typeface="Calibri"/>
            </a:endParaRPr>
          </a:p>
        </p:txBody>
      </p:sp>
      <p:sp>
        <p:nvSpPr>
          <p:cNvPr id="2361" name="Google Shape;2361;p56"/>
          <p:cNvSpPr/>
          <p:nvPr/>
        </p:nvSpPr>
        <p:spPr>
          <a:xfrm>
            <a:off x="6328177" y="2971800"/>
            <a:ext cx="128100" cy="128100"/>
          </a:xfrm>
          <a:prstGeom prst="ellipse">
            <a:avLst/>
          </a:prstGeom>
          <a:solidFill>
            <a:srgbClr val="EA580C"/>
          </a:solidFill>
          <a:ln cap="flat" cmpd="sng" w="12700">
            <a:solidFill>
              <a:srgbClr val="EA580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2" name="Google Shape;2362;p56"/>
          <p:cNvSpPr/>
          <p:nvPr/>
        </p:nvSpPr>
        <p:spPr>
          <a:xfrm>
            <a:off x="6209305" y="3127248"/>
            <a:ext cx="548700" cy="164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EA580C"/>
              </a:buClr>
              <a:buSzPts val="750"/>
              <a:buFont typeface="Calibri"/>
              <a:buNone/>
            </a:pPr>
            <a:r>
              <a:rPr b="0" i="0" lang="en" sz="750" u="none" cap="none" strike="noStrike">
                <a:solidFill>
                  <a:srgbClr val="EA580C"/>
                </a:solidFill>
                <a:latin typeface="Calibri"/>
                <a:ea typeface="Calibri"/>
                <a:cs typeface="Calibri"/>
                <a:sym typeface="Calibri"/>
              </a:rPr>
              <a:t>Berlin</a:t>
            </a:r>
            <a:endParaRPr b="0" i="0" sz="750" u="none" cap="none" strike="noStrike">
              <a:solidFill>
                <a:schemeClr val="dk1"/>
              </a:solidFill>
              <a:latin typeface="Calibri"/>
              <a:ea typeface="Calibri"/>
              <a:cs typeface="Calibri"/>
              <a:sym typeface="Calibri"/>
            </a:endParaRPr>
          </a:p>
        </p:txBody>
      </p:sp>
      <p:sp>
        <p:nvSpPr>
          <p:cNvPr id="2363" name="Google Shape;2363;p56"/>
          <p:cNvSpPr/>
          <p:nvPr/>
        </p:nvSpPr>
        <p:spPr>
          <a:xfrm>
            <a:off x="6658981" y="2569464"/>
            <a:ext cx="128100" cy="128100"/>
          </a:xfrm>
          <a:prstGeom prst="ellipse">
            <a:avLst/>
          </a:prstGeom>
          <a:solidFill>
            <a:srgbClr val="EA580C"/>
          </a:solidFill>
          <a:ln cap="flat" cmpd="sng" w="12700">
            <a:solidFill>
              <a:srgbClr val="EA580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4" name="Google Shape;2364;p56"/>
          <p:cNvSpPr/>
          <p:nvPr/>
        </p:nvSpPr>
        <p:spPr>
          <a:xfrm>
            <a:off x="6540109" y="2724912"/>
            <a:ext cx="548700" cy="164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EA580C"/>
              </a:buClr>
              <a:buSzPts val="750"/>
              <a:buFont typeface="Calibri"/>
              <a:buNone/>
            </a:pPr>
            <a:r>
              <a:rPr b="0" i="0" lang="en" sz="750" u="none" cap="none" strike="noStrike">
                <a:solidFill>
                  <a:srgbClr val="EA580C"/>
                </a:solidFill>
                <a:latin typeface="Calibri"/>
                <a:ea typeface="Calibri"/>
                <a:cs typeface="Calibri"/>
                <a:sym typeface="Calibri"/>
              </a:rPr>
              <a:t>Tokyo</a:t>
            </a:r>
            <a:endParaRPr b="0" i="0" sz="750" u="none" cap="none" strike="noStrike">
              <a:solidFill>
                <a:schemeClr val="dk1"/>
              </a:solidFill>
              <a:latin typeface="Calibri"/>
              <a:ea typeface="Calibri"/>
              <a:cs typeface="Calibri"/>
              <a:sym typeface="Calibri"/>
            </a:endParaRPr>
          </a:p>
        </p:txBody>
      </p:sp>
      <p:sp>
        <p:nvSpPr>
          <p:cNvPr id="2365" name="Google Shape;2365;p56"/>
          <p:cNvSpPr/>
          <p:nvPr/>
        </p:nvSpPr>
        <p:spPr>
          <a:xfrm>
            <a:off x="5897880" y="2487168"/>
            <a:ext cx="1005900" cy="694800"/>
          </a:xfrm>
          <a:prstGeom prst="ellipse">
            <a:avLst/>
          </a:prstGeom>
          <a:solidFill>
            <a:srgbClr val="EA580C">
              <a:alpha val="12157"/>
            </a:srgbClr>
          </a:solidFill>
          <a:ln cap="flat" cmpd="sng" w="10150">
            <a:solidFill>
              <a:srgbClr val="EA580C">
                <a:alpha val="600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6" name="Google Shape;2366;p56"/>
          <p:cNvSpPr/>
          <p:nvPr/>
        </p:nvSpPr>
        <p:spPr>
          <a:xfrm>
            <a:off x="5897880" y="3200400"/>
            <a:ext cx="1005900" cy="201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EA580C"/>
              </a:buClr>
              <a:buSzPts val="800"/>
              <a:buFont typeface="Calibri"/>
              <a:buNone/>
            </a:pPr>
            <a:r>
              <a:rPr b="1" i="0" lang="en" sz="800" u="none" cap="none" strike="noStrike">
                <a:solidFill>
                  <a:srgbClr val="EA580C"/>
                </a:solidFill>
                <a:latin typeface="Calibri"/>
                <a:ea typeface="Calibri"/>
                <a:cs typeface="Calibri"/>
                <a:sym typeface="Calibri"/>
              </a:rPr>
              <a:t>places</a:t>
            </a:r>
            <a:endParaRPr b="0" i="0" sz="800" u="none" cap="none" strike="noStrike">
              <a:solidFill>
                <a:schemeClr val="dk1"/>
              </a:solidFill>
              <a:latin typeface="Calibri"/>
              <a:ea typeface="Calibri"/>
              <a:cs typeface="Calibri"/>
              <a:sym typeface="Calibri"/>
            </a:endParaRPr>
          </a:p>
        </p:txBody>
      </p:sp>
      <p:sp>
        <p:nvSpPr>
          <p:cNvPr id="2367" name="Google Shape;2367;p56"/>
          <p:cNvSpPr/>
          <p:nvPr/>
        </p:nvSpPr>
        <p:spPr>
          <a:xfrm>
            <a:off x="7308429" y="2295144"/>
            <a:ext cx="128100" cy="128100"/>
          </a:xfrm>
          <a:prstGeom prst="ellipse">
            <a:avLst/>
          </a:prstGeom>
          <a:solidFill>
            <a:srgbClr val="16A34A"/>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8" name="Google Shape;2368;p56"/>
          <p:cNvSpPr/>
          <p:nvPr/>
        </p:nvSpPr>
        <p:spPr>
          <a:xfrm>
            <a:off x="7189557" y="2450592"/>
            <a:ext cx="548700" cy="164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6A34A"/>
              </a:buClr>
              <a:buSzPts val="750"/>
              <a:buFont typeface="Calibri"/>
              <a:buNone/>
            </a:pPr>
            <a:r>
              <a:rPr b="0" i="0" lang="en" sz="750" u="none" cap="none" strike="noStrike">
                <a:solidFill>
                  <a:srgbClr val="16A34A"/>
                </a:solidFill>
                <a:latin typeface="Calibri"/>
                <a:ea typeface="Calibri"/>
                <a:cs typeface="Calibri"/>
                <a:sym typeface="Calibri"/>
              </a:rPr>
              <a:t>happy</a:t>
            </a:r>
            <a:endParaRPr b="0" i="0" sz="750" u="none" cap="none" strike="noStrike">
              <a:solidFill>
                <a:schemeClr val="dk1"/>
              </a:solidFill>
              <a:latin typeface="Calibri"/>
              <a:ea typeface="Calibri"/>
              <a:cs typeface="Calibri"/>
              <a:sym typeface="Calibri"/>
            </a:endParaRPr>
          </a:p>
        </p:txBody>
      </p:sp>
      <p:sp>
        <p:nvSpPr>
          <p:cNvPr id="2369" name="Google Shape;2369;p56"/>
          <p:cNvSpPr/>
          <p:nvPr/>
        </p:nvSpPr>
        <p:spPr>
          <a:xfrm>
            <a:off x="7674676" y="2697480"/>
            <a:ext cx="128100" cy="128100"/>
          </a:xfrm>
          <a:prstGeom prst="ellipse">
            <a:avLst/>
          </a:prstGeom>
          <a:solidFill>
            <a:srgbClr val="16A34A"/>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0" name="Google Shape;2370;p56"/>
          <p:cNvSpPr/>
          <p:nvPr/>
        </p:nvSpPr>
        <p:spPr>
          <a:xfrm>
            <a:off x="7555804" y="2852928"/>
            <a:ext cx="548700" cy="164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6A34A"/>
              </a:buClr>
              <a:buSzPts val="750"/>
              <a:buFont typeface="Calibri"/>
              <a:buNone/>
            </a:pPr>
            <a:r>
              <a:rPr b="0" i="0" lang="en" sz="750" u="none" cap="none" strike="noStrike">
                <a:solidFill>
                  <a:srgbClr val="16A34A"/>
                </a:solidFill>
                <a:latin typeface="Calibri"/>
                <a:ea typeface="Calibri"/>
                <a:cs typeface="Calibri"/>
                <a:sym typeface="Calibri"/>
              </a:rPr>
              <a:t>joyful</a:t>
            </a:r>
            <a:endParaRPr b="0" i="0" sz="750" u="none" cap="none" strike="noStrike">
              <a:solidFill>
                <a:schemeClr val="dk1"/>
              </a:solidFill>
              <a:latin typeface="Calibri"/>
              <a:ea typeface="Calibri"/>
              <a:cs typeface="Calibri"/>
              <a:sym typeface="Calibri"/>
            </a:endParaRPr>
          </a:p>
        </p:txBody>
      </p:sp>
      <p:sp>
        <p:nvSpPr>
          <p:cNvPr id="2371" name="Google Shape;2371;p56"/>
          <p:cNvSpPr/>
          <p:nvPr/>
        </p:nvSpPr>
        <p:spPr>
          <a:xfrm>
            <a:off x="8082655" y="2295144"/>
            <a:ext cx="128100" cy="128100"/>
          </a:xfrm>
          <a:prstGeom prst="ellipse">
            <a:avLst/>
          </a:prstGeom>
          <a:solidFill>
            <a:srgbClr val="16A34A"/>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2" name="Google Shape;2372;p56"/>
          <p:cNvSpPr/>
          <p:nvPr/>
        </p:nvSpPr>
        <p:spPr>
          <a:xfrm>
            <a:off x="7963783" y="2450592"/>
            <a:ext cx="548700" cy="164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6A34A"/>
              </a:buClr>
              <a:buSzPts val="750"/>
              <a:buFont typeface="Calibri"/>
              <a:buNone/>
            </a:pPr>
            <a:r>
              <a:rPr b="0" i="0" lang="en" sz="750" u="none" cap="none" strike="noStrike">
                <a:solidFill>
                  <a:srgbClr val="16A34A"/>
                </a:solidFill>
                <a:latin typeface="Calibri"/>
                <a:ea typeface="Calibri"/>
                <a:cs typeface="Calibri"/>
                <a:sym typeface="Calibri"/>
              </a:rPr>
              <a:t>sad</a:t>
            </a:r>
            <a:endParaRPr b="0" i="0" sz="750" u="none" cap="none" strike="noStrike">
              <a:solidFill>
                <a:schemeClr val="dk1"/>
              </a:solidFill>
              <a:latin typeface="Calibri"/>
              <a:ea typeface="Calibri"/>
              <a:cs typeface="Calibri"/>
              <a:sym typeface="Calibri"/>
            </a:endParaRPr>
          </a:p>
        </p:txBody>
      </p:sp>
      <p:sp>
        <p:nvSpPr>
          <p:cNvPr id="2373" name="Google Shape;2373;p56"/>
          <p:cNvSpPr/>
          <p:nvPr/>
        </p:nvSpPr>
        <p:spPr>
          <a:xfrm>
            <a:off x="7269480" y="2212848"/>
            <a:ext cx="1005900" cy="694800"/>
          </a:xfrm>
          <a:prstGeom prst="ellipse">
            <a:avLst/>
          </a:prstGeom>
          <a:solidFill>
            <a:srgbClr val="16A34A">
              <a:alpha val="12157"/>
            </a:srgbClr>
          </a:solidFill>
          <a:ln cap="flat" cmpd="sng" w="10150">
            <a:solidFill>
              <a:srgbClr val="16A34A">
                <a:alpha val="600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4" name="Google Shape;2374;p56"/>
          <p:cNvSpPr/>
          <p:nvPr/>
        </p:nvSpPr>
        <p:spPr>
          <a:xfrm>
            <a:off x="7269480" y="2926080"/>
            <a:ext cx="1005900" cy="201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6A34A"/>
              </a:buClr>
              <a:buSzPts val="800"/>
              <a:buFont typeface="Calibri"/>
              <a:buNone/>
            </a:pPr>
            <a:r>
              <a:rPr b="1" i="0" lang="en" sz="800" u="none" cap="none" strike="noStrike">
                <a:solidFill>
                  <a:srgbClr val="16A34A"/>
                </a:solidFill>
                <a:latin typeface="Calibri"/>
                <a:ea typeface="Calibri"/>
                <a:cs typeface="Calibri"/>
                <a:sym typeface="Calibri"/>
              </a:rPr>
              <a:t>emotion</a:t>
            </a:r>
            <a:endParaRPr b="0" i="0" sz="800" u="none" cap="none" strike="noStrike">
              <a:solidFill>
                <a:schemeClr val="dk1"/>
              </a:solidFill>
              <a:latin typeface="Calibri"/>
              <a:ea typeface="Calibri"/>
              <a:cs typeface="Calibri"/>
              <a:sym typeface="Calibri"/>
            </a:endParaRPr>
          </a:p>
        </p:txBody>
      </p:sp>
      <p:cxnSp>
        <p:nvCxnSpPr>
          <p:cNvPr id="2375" name="Google Shape;2375;p56"/>
          <p:cNvCxnSpPr/>
          <p:nvPr/>
        </p:nvCxnSpPr>
        <p:spPr>
          <a:xfrm>
            <a:off x="5230368" y="4206240"/>
            <a:ext cx="3383400" cy="0"/>
          </a:xfrm>
          <a:prstGeom prst="straightConnector1">
            <a:avLst/>
          </a:prstGeom>
          <a:noFill/>
          <a:ln cap="flat" cmpd="sng" w="10150">
            <a:solidFill>
              <a:srgbClr val="CBD5E1"/>
            </a:solidFill>
            <a:prstDash val="solid"/>
            <a:round/>
            <a:headEnd len="sm" w="sm" type="none"/>
            <a:tailEnd len="sm" w="sm" type="none"/>
          </a:ln>
        </p:spPr>
      </p:cxnSp>
      <p:cxnSp>
        <p:nvCxnSpPr>
          <p:cNvPr id="2376" name="Google Shape;2376;p56"/>
          <p:cNvCxnSpPr/>
          <p:nvPr/>
        </p:nvCxnSpPr>
        <p:spPr>
          <a:xfrm>
            <a:off x="5230368" y="1225296"/>
            <a:ext cx="0" cy="2980800"/>
          </a:xfrm>
          <a:prstGeom prst="straightConnector1">
            <a:avLst/>
          </a:prstGeom>
          <a:noFill/>
          <a:ln cap="flat" cmpd="sng" w="10150">
            <a:solidFill>
              <a:srgbClr val="CBD5E1"/>
            </a:solidFill>
            <a:prstDash val="solid"/>
            <a:round/>
            <a:headEnd len="sm" w="sm" type="none"/>
            <a:tailEnd len="sm" w="sm" type="none"/>
          </a:ln>
        </p:spPr>
      </p:cxnSp>
      <p:sp>
        <p:nvSpPr>
          <p:cNvPr id="2377" name="Google Shape;2377;p56"/>
          <p:cNvSpPr/>
          <p:nvPr/>
        </p:nvSpPr>
        <p:spPr>
          <a:xfrm>
            <a:off x="347472" y="4480560"/>
            <a:ext cx="8449200" cy="457200"/>
          </a:xfrm>
          <a:prstGeom prst="rect">
            <a:avLst/>
          </a:prstGeom>
          <a:solidFill>
            <a:srgbClr val="0D9488"/>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8" name="Google Shape;2378;p56"/>
          <p:cNvSpPr/>
          <p:nvPr/>
        </p:nvSpPr>
        <p:spPr>
          <a:xfrm>
            <a:off x="502920" y="4480560"/>
            <a:ext cx="82296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600"/>
              <a:buFont typeface="Calibri"/>
              <a:buNone/>
            </a:pPr>
            <a:r>
              <a:rPr b="1" i="0" lang="en" sz="1600" u="none" cap="none" strike="noStrike">
                <a:solidFill>
                  <a:srgbClr val="FFFFFF"/>
                </a:solidFill>
                <a:latin typeface="Calibri"/>
                <a:ea typeface="Calibri"/>
                <a:cs typeface="Calibri"/>
                <a:sym typeface="Calibri"/>
              </a:rPr>
              <a:t>Embeddings !! </a:t>
            </a:r>
            <a:r>
              <a:rPr b="0" i="0" lang="en" sz="1300" u="none" cap="none" strike="noStrike">
                <a:solidFill>
                  <a:srgbClr val="CCFBF1"/>
                </a:solidFill>
                <a:latin typeface="Calibri"/>
                <a:ea typeface="Calibri"/>
                <a:cs typeface="Calibri"/>
                <a:sym typeface="Calibri"/>
              </a:rPr>
              <a:t>— Dense, low-dimensional vectors where geometry encodes linguistic meaning.</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83" name="Shape 2383"/>
        <p:cNvGrpSpPr/>
        <p:nvPr/>
      </p:nvGrpSpPr>
      <p:grpSpPr>
        <a:xfrm>
          <a:off x="0" y="0"/>
          <a:ext cx="0" cy="0"/>
          <a:chOff x="0" y="0"/>
          <a:chExt cx="0" cy="0"/>
        </a:xfrm>
      </p:grpSpPr>
      <p:sp>
        <p:nvSpPr>
          <p:cNvPr id="2384" name="Google Shape;2384;p57"/>
          <p:cNvSpPr/>
          <p:nvPr/>
        </p:nvSpPr>
        <p:spPr>
          <a:xfrm>
            <a:off x="0" y="0"/>
            <a:ext cx="109800" cy="5143500"/>
          </a:xfrm>
          <a:prstGeom prst="rect">
            <a:avLst/>
          </a:prstGeom>
          <a:solidFill>
            <a:srgbClr val="0077AA"/>
          </a:solidFill>
          <a:ln cap="flat" cmpd="sng" w="12700">
            <a:solidFill>
              <a:srgbClr val="0077A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5" name="Google Shape;2385;p57"/>
          <p:cNvSpPr/>
          <p:nvPr/>
        </p:nvSpPr>
        <p:spPr>
          <a:xfrm>
            <a:off x="320040" y="1280160"/>
            <a:ext cx="8503800" cy="1463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F26"/>
              </a:buClr>
              <a:buSzPts val="5200"/>
              <a:buFont typeface="Calibri"/>
              <a:buNone/>
            </a:pPr>
            <a:r>
              <a:rPr b="1" i="0" lang="en" sz="4400" u="none" cap="none" strike="noStrike">
                <a:solidFill>
                  <a:srgbClr val="1A1F26"/>
                </a:solidFill>
                <a:latin typeface="Calibri"/>
                <a:ea typeface="Calibri"/>
                <a:cs typeface="Calibri"/>
                <a:sym typeface="Calibri"/>
              </a:rPr>
              <a:t>Dense Embeddings</a:t>
            </a:r>
            <a:endParaRPr b="0" i="0" sz="4400" u="none" cap="none" strike="noStrike">
              <a:solidFill>
                <a:schemeClr val="dk1"/>
              </a:solidFill>
              <a:latin typeface="Calibri"/>
              <a:ea typeface="Calibri"/>
              <a:cs typeface="Calibri"/>
              <a:sym typeface="Calibri"/>
            </a:endParaRPr>
          </a:p>
        </p:txBody>
      </p:sp>
      <p:sp>
        <p:nvSpPr>
          <p:cNvPr id="2386" name="Google Shape;2386;p57"/>
          <p:cNvSpPr/>
          <p:nvPr/>
        </p:nvSpPr>
        <p:spPr>
          <a:xfrm>
            <a:off x="320040" y="2834640"/>
            <a:ext cx="8503800" cy="731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6270"/>
              </a:buClr>
              <a:buSzPts val="2000"/>
              <a:buFont typeface="Calibri"/>
              <a:buNone/>
            </a:pPr>
            <a:r>
              <a:rPr b="0" i="0" lang="en" sz="2000" u="none" cap="none" strike="noStrike">
                <a:solidFill>
                  <a:schemeClr val="dk1"/>
                </a:solidFill>
                <a:latin typeface="Calibri"/>
                <a:ea typeface="Calibri"/>
                <a:cs typeface="Calibri"/>
                <a:sym typeface="Calibri"/>
              </a:rPr>
              <a:t>Compact, learned vector representations</a:t>
            </a:r>
            <a:endParaRPr b="0" i="0" sz="2000" u="none" cap="none" strike="noStrike">
              <a:solidFill>
                <a:schemeClr val="dk1"/>
              </a:solidFill>
              <a:latin typeface="Calibri"/>
              <a:ea typeface="Calibri"/>
              <a:cs typeface="Calibri"/>
              <a:sym typeface="Calibri"/>
            </a:endParaRPr>
          </a:p>
        </p:txBody>
      </p:sp>
      <p:sp>
        <p:nvSpPr>
          <p:cNvPr id="2387" name="Google Shape;2387;p57"/>
          <p:cNvSpPr/>
          <p:nvPr/>
        </p:nvSpPr>
        <p:spPr>
          <a:xfrm>
            <a:off x="320040" y="4389120"/>
            <a:ext cx="109800" cy="109800"/>
          </a:xfrm>
          <a:prstGeom prst="ellipse">
            <a:avLst/>
          </a:prstGeom>
          <a:solidFill>
            <a:srgbClr val="0077A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8" name="Google Shape;2388;p57"/>
          <p:cNvSpPr/>
          <p:nvPr/>
        </p:nvSpPr>
        <p:spPr>
          <a:xfrm>
            <a:off x="640080" y="4389120"/>
            <a:ext cx="109800" cy="109800"/>
          </a:xfrm>
          <a:prstGeom prst="ellipse">
            <a:avLst/>
          </a:prstGeom>
          <a:solidFill>
            <a:srgbClr val="5A627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9" name="Google Shape;2389;p57"/>
          <p:cNvSpPr/>
          <p:nvPr/>
        </p:nvSpPr>
        <p:spPr>
          <a:xfrm>
            <a:off x="960120" y="4389120"/>
            <a:ext cx="109800" cy="109800"/>
          </a:xfrm>
          <a:prstGeom prst="ellipse">
            <a:avLst/>
          </a:prstGeom>
          <a:solidFill>
            <a:srgbClr val="5A627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0" name="Google Shape;2390;p57"/>
          <p:cNvSpPr/>
          <p:nvPr/>
        </p:nvSpPr>
        <p:spPr>
          <a:xfrm>
            <a:off x="1280160" y="4389120"/>
            <a:ext cx="109800" cy="109800"/>
          </a:xfrm>
          <a:prstGeom prst="ellipse">
            <a:avLst/>
          </a:prstGeom>
          <a:solidFill>
            <a:srgbClr val="5A627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1" name="Google Shape;2391;p57"/>
          <p:cNvSpPr/>
          <p:nvPr/>
        </p:nvSpPr>
        <p:spPr>
          <a:xfrm>
            <a:off x="1600200" y="4389120"/>
            <a:ext cx="109800" cy="109800"/>
          </a:xfrm>
          <a:prstGeom prst="ellipse">
            <a:avLst/>
          </a:prstGeom>
          <a:solidFill>
            <a:srgbClr val="5A627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392" name="Google Shape;2392;p57"/>
          <p:cNvPicPr preferRelativeResize="0"/>
          <p:nvPr/>
        </p:nvPicPr>
        <p:blipFill rotWithShape="1">
          <a:blip r:embed="rId4">
            <a:alphaModFix/>
          </a:blip>
          <a:srcRect b="0" l="0" r="0" t="0"/>
          <a:stretch/>
        </p:blipFill>
        <p:spPr>
          <a:xfrm>
            <a:off x="8369125" y="0"/>
            <a:ext cx="774877" cy="867174"/>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97" name="Shape 2397"/>
        <p:cNvGrpSpPr/>
        <p:nvPr/>
      </p:nvGrpSpPr>
      <p:grpSpPr>
        <a:xfrm>
          <a:off x="0" y="0"/>
          <a:ext cx="0" cy="0"/>
          <a:chOff x="0" y="0"/>
          <a:chExt cx="0" cy="0"/>
        </a:xfrm>
      </p:grpSpPr>
      <p:sp>
        <p:nvSpPr>
          <p:cNvPr id="2398" name="Google Shape;2398;p58"/>
          <p:cNvSpPr/>
          <p:nvPr/>
        </p:nvSpPr>
        <p:spPr>
          <a:xfrm>
            <a:off x="3125687" y="411480"/>
            <a:ext cx="8412600" cy="594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F26"/>
              </a:buClr>
              <a:buSzPts val="3400"/>
              <a:buFont typeface="Calibri"/>
              <a:buNone/>
            </a:pPr>
            <a:r>
              <a:rPr b="1" i="0" lang="en" sz="2800" u="none" cap="none" strike="noStrike">
                <a:solidFill>
                  <a:srgbClr val="1A1F26"/>
                </a:solidFill>
                <a:latin typeface="Calibri"/>
                <a:ea typeface="Calibri"/>
                <a:cs typeface="Calibri"/>
                <a:sym typeface="Calibri"/>
              </a:rPr>
              <a:t>Embedding Lookup Tables</a:t>
            </a:r>
            <a:endParaRPr b="0" i="0" sz="2800" u="none" cap="none" strike="noStrike">
              <a:solidFill>
                <a:schemeClr val="dk1"/>
              </a:solidFill>
              <a:latin typeface="Calibri"/>
              <a:ea typeface="Calibri"/>
              <a:cs typeface="Calibri"/>
              <a:sym typeface="Calibri"/>
            </a:endParaRPr>
          </a:p>
        </p:txBody>
      </p:sp>
      <p:sp>
        <p:nvSpPr>
          <p:cNvPr id="2399" name="Google Shape;2399;p58"/>
          <p:cNvSpPr/>
          <p:nvPr/>
        </p:nvSpPr>
        <p:spPr>
          <a:xfrm>
            <a:off x="320050" y="1143000"/>
            <a:ext cx="5029200" cy="3770400"/>
          </a:xfrm>
          <a:prstGeom prst="rect">
            <a:avLst/>
          </a:prstGeom>
          <a:solidFill>
            <a:schemeClr val="lt1"/>
          </a:solidFill>
          <a:ln cap="flat" cmpd="sng" w="12700">
            <a:solidFill>
              <a:srgbClr val="0077AA"/>
            </a:solidFill>
            <a:prstDash val="solid"/>
            <a:round/>
            <a:headEnd len="sm" w="sm" type="none"/>
            <a:tailEnd len="sm" w="sm" type="none"/>
          </a:ln>
          <a:effectLst>
            <a:outerShdw blurRad="101600" rotWithShape="0" algn="bl" dir="8100000" dist="38100">
              <a:srgbClr val="000000">
                <a:alpha val="3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0" name="Google Shape;2400;p58"/>
          <p:cNvSpPr/>
          <p:nvPr/>
        </p:nvSpPr>
        <p:spPr>
          <a:xfrm>
            <a:off x="6397" y="1188713"/>
            <a:ext cx="1645800" cy="255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8F9FA"/>
              </a:buClr>
              <a:buSzPts val="900"/>
              <a:buFont typeface="Calibri"/>
              <a:buNone/>
            </a:pPr>
            <a:r>
              <a:rPr b="1" i="0" lang="en" sz="1400" u="none" cap="none" strike="noStrike">
                <a:solidFill>
                  <a:schemeClr val="dk1"/>
                </a:solidFill>
                <a:latin typeface="Calibri"/>
                <a:ea typeface="Calibri"/>
                <a:cs typeface="Calibri"/>
                <a:sym typeface="Calibri"/>
              </a:rPr>
              <a:t>PyTorch</a:t>
            </a:r>
            <a:endParaRPr b="0" i="0" sz="1400" u="none" cap="none" strike="noStrike">
              <a:solidFill>
                <a:schemeClr val="dk1"/>
              </a:solidFill>
              <a:latin typeface="Calibri"/>
              <a:ea typeface="Calibri"/>
              <a:cs typeface="Calibri"/>
              <a:sym typeface="Calibri"/>
            </a:endParaRPr>
          </a:p>
        </p:txBody>
      </p:sp>
      <p:sp>
        <p:nvSpPr>
          <p:cNvPr id="2401" name="Google Shape;2401;p58"/>
          <p:cNvSpPr/>
          <p:nvPr/>
        </p:nvSpPr>
        <p:spPr>
          <a:xfrm>
            <a:off x="429768" y="1435608"/>
            <a:ext cx="4809600" cy="3072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A1F26"/>
              </a:buClr>
              <a:buSzPts val="950"/>
              <a:buFont typeface="Consolas"/>
              <a:buNone/>
            </a:pPr>
            <a:r>
              <a:rPr b="0" i="0" lang="en" sz="1050" u="none" cap="none" strike="noStrike">
                <a:solidFill>
                  <a:srgbClr val="1A1F26"/>
                </a:solidFill>
                <a:latin typeface="Consolas"/>
                <a:ea typeface="Consolas"/>
                <a:cs typeface="Consolas"/>
                <a:sym typeface="Consolas"/>
              </a:rPr>
              <a:t>import torch</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F26"/>
              </a:buClr>
              <a:buSzPts val="950"/>
              <a:buFont typeface="Consolas"/>
              <a:buNone/>
            </a:pPr>
            <a:r>
              <a:rPr b="0" i="0" lang="en" sz="1050" u="none" cap="none" strike="noStrike">
                <a:solidFill>
                  <a:srgbClr val="1A1F26"/>
                </a:solidFill>
                <a:latin typeface="Consolas"/>
                <a:ea typeface="Consolas"/>
                <a:cs typeface="Consolas"/>
                <a:sym typeface="Consolas"/>
              </a:rPr>
              <a:t>import torch.nn as nn</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9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F26"/>
              </a:buClr>
              <a:buSzPts val="950"/>
              <a:buFont typeface="Consolas"/>
              <a:buNone/>
            </a:pPr>
            <a:r>
              <a:rPr b="0" i="0" lang="en" sz="1050" u="none" cap="none" strike="noStrike">
                <a:solidFill>
                  <a:srgbClr val="1A1F26"/>
                </a:solidFill>
                <a:latin typeface="Consolas"/>
                <a:ea typeface="Consolas"/>
                <a:cs typeface="Consolas"/>
                <a:sym typeface="Consolas"/>
              </a:rPr>
              <a:t>VOCAB_SIZE = 50_000</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F26"/>
              </a:buClr>
              <a:buSzPts val="950"/>
              <a:buFont typeface="Consolas"/>
              <a:buNone/>
            </a:pPr>
            <a:r>
              <a:rPr b="0" i="0" lang="en" sz="1050" u="none" cap="none" strike="noStrike">
                <a:solidFill>
                  <a:srgbClr val="1A1F26"/>
                </a:solidFill>
                <a:latin typeface="Consolas"/>
                <a:ea typeface="Consolas"/>
                <a:cs typeface="Consolas"/>
                <a:sym typeface="Consolas"/>
              </a:rPr>
              <a:t>EMBED_DIM  = 300  # was 50K, now just 300!</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9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F26"/>
              </a:buClr>
              <a:buSzPts val="950"/>
              <a:buFont typeface="Consolas"/>
              <a:buNone/>
            </a:pPr>
            <a:r>
              <a:rPr b="0" i="0" lang="en" sz="1050" u="none" cap="none" strike="noStrike">
                <a:solidFill>
                  <a:srgbClr val="1A1F26"/>
                </a:solidFill>
                <a:latin typeface="Consolas"/>
                <a:ea typeface="Consolas"/>
                <a:cs typeface="Consolas"/>
                <a:sym typeface="Consolas"/>
              </a:rPr>
              <a:t># This is a learnable weight matrix: (50000, 300)</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F26"/>
              </a:buClr>
              <a:buSzPts val="950"/>
              <a:buFont typeface="Consolas"/>
              <a:buNone/>
            </a:pPr>
            <a:r>
              <a:rPr b="0" i="0" lang="en" sz="1050" u="none" cap="none" strike="noStrike">
                <a:solidFill>
                  <a:srgbClr val="1A1F26"/>
                </a:solidFill>
                <a:latin typeface="Consolas"/>
                <a:ea typeface="Consolas"/>
                <a:cs typeface="Consolas"/>
                <a:sym typeface="Consolas"/>
              </a:rPr>
              <a:t>embedding = nn.Embedding(VOCAB_SIZE, EMBED_DIM)</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9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F26"/>
              </a:buClr>
              <a:buSzPts val="950"/>
              <a:buFont typeface="Consolas"/>
              <a:buNone/>
            </a:pPr>
            <a:r>
              <a:rPr b="0" i="0" lang="en" sz="1050" u="none" cap="none" strike="noStrike">
                <a:solidFill>
                  <a:srgbClr val="1A1F26"/>
                </a:solidFill>
                <a:latin typeface="Consolas"/>
                <a:ea typeface="Consolas"/>
                <a:cs typeface="Consolas"/>
                <a:sym typeface="Consolas"/>
              </a:rPr>
              <a:t># Forward pass: integer index → dense vector</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F26"/>
              </a:buClr>
              <a:buSzPts val="950"/>
              <a:buFont typeface="Consolas"/>
              <a:buNone/>
            </a:pPr>
            <a:r>
              <a:rPr b="0" i="0" lang="en" sz="1050" u="none" cap="none" strike="noStrike">
                <a:solidFill>
                  <a:srgbClr val="1A1F26"/>
                </a:solidFill>
                <a:latin typeface="Consolas"/>
                <a:ea typeface="Consolas"/>
                <a:cs typeface="Consolas"/>
                <a:sym typeface="Consolas"/>
              </a:rPr>
              <a:t>token_ids = torch.tensor([42, 1337, 7])   # "king", "queen", "man"</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F26"/>
              </a:buClr>
              <a:buSzPts val="950"/>
              <a:buFont typeface="Consolas"/>
              <a:buNone/>
            </a:pPr>
            <a:r>
              <a:rPr b="0" i="0" lang="en" sz="1050" u="none" cap="none" strike="noStrike">
                <a:solidFill>
                  <a:srgbClr val="1A1F26"/>
                </a:solidFill>
                <a:latin typeface="Consolas"/>
                <a:ea typeface="Consolas"/>
                <a:cs typeface="Consolas"/>
                <a:sym typeface="Consolas"/>
              </a:rPr>
              <a:t>vectors   = embedding(token_ids)           # shape: (3, 300)</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9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F26"/>
              </a:buClr>
              <a:buSzPts val="950"/>
              <a:buFont typeface="Consolas"/>
              <a:buNone/>
            </a:pPr>
            <a:r>
              <a:rPr b="0" i="0" lang="en" sz="1050" u="none" cap="none" strike="noStrike">
                <a:solidFill>
                  <a:srgbClr val="1A1F26"/>
                </a:solidFill>
                <a:latin typeface="Consolas"/>
                <a:ea typeface="Consolas"/>
                <a:cs typeface="Consolas"/>
                <a:sym typeface="Consolas"/>
              </a:rPr>
              <a:t># During training, gradients flow back and update weights</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F26"/>
              </a:buClr>
              <a:buSzPts val="950"/>
              <a:buFont typeface="Consolas"/>
              <a:buNone/>
            </a:pPr>
            <a:r>
              <a:rPr b="0" i="0" lang="en" sz="1050" u="none" cap="none" strike="noStrike">
                <a:solidFill>
                  <a:srgbClr val="1A1F26"/>
                </a:solidFill>
                <a:latin typeface="Consolas"/>
                <a:ea typeface="Consolas"/>
                <a:cs typeface="Consolas"/>
                <a:sym typeface="Consolas"/>
              </a:rPr>
              <a:t># Similar words end up with similar vectors — automatically!</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F26"/>
              </a:buClr>
              <a:buSzPts val="950"/>
              <a:buFont typeface="Consolas"/>
              <a:buNone/>
            </a:pPr>
            <a:r>
              <a:rPr b="0" i="0" lang="en" sz="1050" u="none" cap="none" strike="noStrike">
                <a:solidFill>
                  <a:srgbClr val="1A1F26"/>
                </a:solidFill>
                <a:latin typeface="Consolas"/>
                <a:ea typeface="Consolas"/>
                <a:cs typeface="Consolas"/>
                <a:sym typeface="Consolas"/>
              </a:rPr>
              <a:t>optimizer = torch.optim.Adam(embedding.parameters())</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9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F26"/>
              </a:buClr>
              <a:buSzPts val="950"/>
              <a:buFont typeface="Consolas"/>
              <a:buNone/>
            </a:pPr>
            <a:r>
              <a:rPr b="0" i="0" lang="en" sz="1050" u="none" cap="none" strike="noStrike">
                <a:solidFill>
                  <a:srgbClr val="1A1F26"/>
                </a:solidFill>
                <a:latin typeface="Consolas"/>
                <a:ea typeface="Consolas"/>
                <a:cs typeface="Consolas"/>
                <a:sym typeface="Consolas"/>
              </a:rPr>
              <a:t>print(vectors.shape)  # torch.Size([3, 300])</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F26"/>
              </a:buClr>
              <a:buSzPts val="950"/>
              <a:buFont typeface="Consolas"/>
              <a:buNone/>
            </a:pPr>
            <a:r>
              <a:rPr b="0" i="0" lang="en" sz="1050" u="none" cap="none" strike="noStrike">
                <a:solidFill>
                  <a:srgbClr val="1A1F26"/>
                </a:solidFill>
                <a:latin typeface="Consolas"/>
                <a:ea typeface="Consolas"/>
                <a:cs typeface="Consolas"/>
                <a:sym typeface="Consolas"/>
              </a:rPr>
              <a:t>print(f"Memory: {VOCAB_SIZE * EMBED_DIM * 4 / 1e6:.1f} MB")</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F26"/>
              </a:buClr>
              <a:buSzPts val="950"/>
              <a:buFont typeface="Consolas"/>
              <a:buNone/>
            </a:pPr>
            <a:r>
              <a:rPr b="0" i="0" lang="en" sz="1050" u="none" cap="none" strike="noStrike">
                <a:solidFill>
                  <a:srgbClr val="1A1F26"/>
                </a:solidFill>
                <a:latin typeface="Consolas"/>
                <a:ea typeface="Consolas"/>
                <a:cs typeface="Consolas"/>
                <a:sym typeface="Consolas"/>
              </a:rPr>
              <a:t># Memory: 60.0 MB  vs  10 GB for one-hot!</a:t>
            </a:r>
            <a:endParaRPr b="0" i="0" sz="1050" u="none" cap="none" strike="noStrike">
              <a:solidFill>
                <a:schemeClr val="dk1"/>
              </a:solidFill>
              <a:latin typeface="Calibri"/>
              <a:ea typeface="Calibri"/>
              <a:cs typeface="Calibri"/>
              <a:sym typeface="Calibri"/>
            </a:endParaRPr>
          </a:p>
        </p:txBody>
      </p:sp>
      <p:sp>
        <p:nvSpPr>
          <p:cNvPr id="2402" name="Google Shape;2402;p58"/>
          <p:cNvSpPr/>
          <p:nvPr/>
        </p:nvSpPr>
        <p:spPr>
          <a:xfrm>
            <a:off x="5577840" y="1188720"/>
            <a:ext cx="3200400" cy="411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F26"/>
              </a:buClr>
              <a:buSzPts val="1600"/>
              <a:buFont typeface="Calibri"/>
              <a:buNone/>
            </a:pPr>
            <a:r>
              <a:rPr b="1" i="0" lang="en" sz="2000" u="none" cap="none" strike="noStrike">
                <a:solidFill>
                  <a:srgbClr val="1A1F26"/>
                </a:solidFill>
                <a:latin typeface="Calibri"/>
                <a:ea typeface="Calibri"/>
                <a:cs typeface="Calibri"/>
                <a:sym typeface="Calibri"/>
              </a:rPr>
              <a:t>What changed?</a:t>
            </a:r>
            <a:endParaRPr b="0" i="0" sz="2000" u="none" cap="none" strike="noStrike">
              <a:solidFill>
                <a:schemeClr val="dk1"/>
              </a:solidFill>
              <a:latin typeface="Calibri"/>
              <a:ea typeface="Calibri"/>
              <a:cs typeface="Calibri"/>
              <a:sym typeface="Calibri"/>
            </a:endParaRPr>
          </a:p>
        </p:txBody>
      </p:sp>
      <p:sp>
        <p:nvSpPr>
          <p:cNvPr id="2403" name="Google Shape;2403;p58"/>
          <p:cNvSpPr/>
          <p:nvPr/>
        </p:nvSpPr>
        <p:spPr>
          <a:xfrm>
            <a:off x="5577840" y="1691640"/>
            <a:ext cx="1280100" cy="594300"/>
          </a:xfrm>
          <a:prstGeom prst="rect">
            <a:avLst/>
          </a:prstGeom>
          <a:solidFill>
            <a:srgbClr val="E8EDF2"/>
          </a:solidFill>
          <a:ln cap="flat" cmpd="sng" w="1015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4" name="Google Shape;2404;p58"/>
          <p:cNvSpPr/>
          <p:nvPr/>
        </p:nvSpPr>
        <p:spPr>
          <a:xfrm>
            <a:off x="5577840" y="1691640"/>
            <a:ext cx="1280100" cy="594300"/>
          </a:xfrm>
          <a:prstGeom prst="rect">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EF4444"/>
              </a:buClr>
              <a:buSzPts val="1100"/>
              <a:buFont typeface="Calibri"/>
              <a:buNone/>
            </a:pPr>
            <a:r>
              <a:rPr b="0" i="0" lang="en" sz="1500" u="none" cap="none" strike="noStrike">
                <a:solidFill>
                  <a:schemeClr val="dk1"/>
                </a:solidFill>
                <a:latin typeface="Calibri"/>
                <a:ea typeface="Calibri"/>
                <a:cs typeface="Calibri"/>
                <a:sym typeface="Calibri"/>
              </a:rPr>
              <a:t>50K dims</a:t>
            </a:r>
            <a:endParaRPr b="0" i="0" sz="1500" u="none" cap="none" strike="noStrike">
              <a:solidFill>
                <a:schemeClr val="dk1"/>
              </a:solidFill>
              <a:latin typeface="Calibri"/>
              <a:ea typeface="Calibri"/>
              <a:cs typeface="Calibri"/>
              <a:sym typeface="Calibri"/>
            </a:endParaRPr>
          </a:p>
        </p:txBody>
      </p:sp>
      <p:sp>
        <p:nvSpPr>
          <p:cNvPr id="2405" name="Google Shape;2405;p58"/>
          <p:cNvSpPr/>
          <p:nvPr/>
        </p:nvSpPr>
        <p:spPr>
          <a:xfrm>
            <a:off x="6949440" y="1691640"/>
            <a:ext cx="274200" cy="594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A6270"/>
              </a:buClr>
              <a:buSzPts val="1400"/>
              <a:buFont typeface="Calibri"/>
              <a:buNone/>
            </a:pPr>
            <a:r>
              <a:rPr b="0" i="0" lang="en" sz="1400" u="none" cap="none" strike="noStrike">
                <a:solidFill>
                  <a:srgbClr val="5A6270"/>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2406" name="Google Shape;2406;p58"/>
          <p:cNvSpPr/>
          <p:nvPr/>
        </p:nvSpPr>
        <p:spPr>
          <a:xfrm>
            <a:off x="7269480" y="1691640"/>
            <a:ext cx="1280100" cy="594300"/>
          </a:xfrm>
          <a:prstGeom prst="rect">
            <a:avLst/>
          </a:prstGeom>
          <a:solidFill>
            <a:srgbClr val="E8EDF2"/>
          </a:solidFill>
          <a:ln cap="flat" cmpd="sng" w="10150">
            <a:solidFill>
              <a:srgbClr val="10B98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7" name="Google Shape;2407;p58"/>
          <p:cNvSpPr/>
          <p:nvPr/>
        </p:nvSpPr>
        <p:spPr>
          <a:xfrm>
            <a:off x="7269480" y="1691640"/>
            <a:ext cx="1280100" cy="594300"/>
          </a:xfrm>
          <a:prstGeom prst="rect">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0B981"/>
              </a:buClr>
              <a:buSzPts val="1100"/>
              <a:buFont typeface="Calibri"/>
              <a:buNone/>
            </a:pPr>
            <a:r>
              <a:rPr b="0" i="0" lang="en" sz="1500" u="none" cap="none" strike="noStrike">
                <a:solidFill>
                  <a:schemeClr val="dk1"/>
                </a:solidFill>
                <a:latin typeface="Calibri"/>
                <a:ea typeface="Calibri"/>
                <a:cs typeface="Calibri"/>
                <a:sym typeface="Calibri"/>
              </a:rPr>
              <a:t>300 dims</a:t>
            </a:r>
            <a:endParaRPr b="0" i="0" sz="1500" u="none" cap="none" strike="noStrike">
              <a:solidFill>
                <a:schemeClr val="dk1"/>
              </a:solidFill>
              <a:latin typeface="Calibri"/>
              <a:ea typeface="Calibri"/>
              <a:cs typeface="Calibri"/>
              <a:sym typeface="Calibri"/>
            </a:endParaRPr>
          </a:p>
        </p:txBody>
      </p:sp>
      <p:sp>
        <p:nvSpPr>
          <p:cNvPr id="2408" name="Google Shape;2408;p58"/>
          <p:cNvSpPr/>
          <p:nvPr/>
        </p:nvSpPr>
        <p:spPr>
          <a:xfrm>
            <a:off x="5577840" y="2304288"/>
            <a:ext cx="29718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6270"/>
              </a:buClr>
              <a:buSzPts val="900"/>
              <a:buFont typeface="Calibri"/>
              <a:buNone/>
            </a:pPr>
            <a:r>
              <a:rPr b="0" i="0" lang="en" sz="1400" u="none" cap="none" strike="noStrike">
                <a:solidFill>
                  <a:srgbClr val="5A6270"/>
                </a:solidFill>
                <a:latin typeface="Calibri"/>
                <a:ea typeface="Calibri"/>
                <a:cs typeface="Calibri"/>
                <a:sym typeface="Calibri"/>
              </a:rPr>
              <a:t>✓ 167× smaller</a:t>
            </a:r>
            <a:endParaRPr b="0" i="0" sz="1400" u="none" cap="none" strike="noStrike">
              <a:solidFill>
                <a:schemeClr val="dk1"/>
              </a:solidFill>
              <a:latin typeface="Calibri"/>
              <a:ea typeface="Calibri"/>
              <a:cs typeface="Calibri"/>
              <a:sym typeface="Calibri"/>
            </a:endParaRPr>
          </a:p>
        </p:txBody>
      </p:sp>
      <p:sp>
        <p:nvSpPr>
          <p:cNvPr id="2409" name="Google Shape;2409;p58"/>
          <p:cNvSpPr/>
          <p:nvPr/>
        </p:nvSpPr>
        <p:spPr>
          <a:xfrm>
            <a:off x="5577840" y="2606040"/>
            <a:ext cx="1280100" cy="594300"/>
          </a:xfrm>
          <a:prstGeom prst="rect">
            <a:avLst/>
          </a:prstGeom>
          <a:solidFill>
            <a:srgbClr val="E8EDF2"/>
          </a:solidFill>
          <a:ln cap="flat" cmpd="sng" w="1015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0" name="Google Shape;2410;p58"/>
          <p:cNvSpPr/>
          <p:nvPr/>
        </p:nvSpPr>
        <p:spPr>
          <a:xfrm>
            <a:off x="5577840" y="2606040"/>
            <a:ext cx="1280100" cy="594300"/>
          </a:xfrm>
          <a:prstGeom prst="rect">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EF4444"/>
              </a:buClr>
              <a:buSzPts val="1100"/>
              <a:buFont typeface="Calibri"/>
              <a:buNone/>
            </a:pPr>
            <a:r>
              <a:rPr b="0" i="0" lang="en" sz="1500" u="none" cap="none" strike="noStrike">
                <a:solidFill>
                  <a:schemeClr val="dk1"/>
                </a:solidFill>
                <a:latin typeface="Calibri"/>
                <a:ea typeface="Calibri"/>
                <a:cs typeface="Calibri"/>
                <a:sym typeface="Calibri"/>
              </a:rPr>
              <a:t>All zeros</a:t>
            </a:r>
            <a:endParaRPr b="0" i="0" sz="1500" u="none" cap="none" strike="noStrike">
              <a:solidFill>
                <a:schemeClr val="dk1"/>
              </a:solidFill>
              <a:latin typeface="Calibri"/>
              <a:ea typeface="Calibri"/>
              <a:cs typeface="Calibri"/>
              <a:sym typeface="Calibri"/>
            </a:endParaRPr>
          </a:p>
        </p:txBody>
      </p:sp>
      <p:sp>
        <p:nvSpPr>
          <p:cNvPr id="2411" name="Google Shape;2411;p58"/>
          <p:cNvSpPr/>
          <p:nvPr/>
        </p:nvSpPr>
        <p:spPr>
          <a:xfrm>
            <a:off x="6949440" y="2606040"/>
            <a:ext cx="274200" cy="594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A6270"/>
              </a:buClr>
              <a:buSzPts val="1400"/>
              <a:buFont typeface="Calibri"/>
              <a:buNone/>
            </a:pPr>
            <a:r>
              <a:rPr b="0" i="0" lang="en" sz="1400" u="none" cap="none" strike="noStrike">
                <a:solidFill>
                  <a:srgbClr val="5A6270"/>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2412" name="Google Shape;2412;p58"/>
          <p:cNvSpPr/>
          <p:nvPr/>
        </p:nvSpPr>
        <p:spPr>
          <a:xfrm>
            <a:off x="7269480" y="2606040"/>
            <a:ext cx="1280100" cy="594300"/>
          </a:xfrm>
          <a:prstGeom prst="rect">
            <a:avLst/>
          </a:prstGeom>
          <a:solidFill>
            <a:srgbClr val="E8EDF2"/>
          </a:solidFill>
          <a:ln cap="flat" cmpd="sng" w="10150">
            <a:solidFill>
              <a:srgbClr val="10B98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3" name="Google Shape;2413;p58"/>
          <p:cNvSpPr/>
          <p:nvPr/>
        </p:nvSpPr>
        <p:spPr>
          <a:xfrm>
            <a:off x="7269480" y="2606040"/>
            <a:ext cx="1280100" cy="594300"/>
          </a:xfrm>
          <a:prstGeom prst="rect">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0B981"/>
              </a:buClr>
              <a:buSzPts val="1100"/>
              <a:buFont typeface="Calibri"/>
              <a:buNone/>
            </a:pPr>
            <a:r>
              <a:rPr b="0" i="0" lang="en" sz="1500" u="none" cap="none" strike="noStrike">
                <a:solidFill>
                  <a:schemeClr val="dk1"/>
                </a:solidFill>
                <a:latin typeface="Calibri"/>
                <a:ea typeface="Calibri"/>
                <a:cs typeface="Calibri"/>
                <a:sym typeface="Calibri"/>
              </a:rPr>
              <a:t>Dense floats</a:t>
            </a:r>
            <a:endParaRPr b="0" i="0" sz="1500" u="none" cap="none" strike="noStrike">
              <a:solidFill>
                <a:schemeClr val="dk1"/>
              </a:solidFill>
              <a:latin typeface="Calibri"/>
              <a:ea typeface="Calibri"/>
              <a:cs typeface="Calibri"/>
              <a:sym typeface="Calibri"/>
            </a:endParaRPr>
          </a:p>
        </p:txBody>
      </p:sp>
      <p:sp>
        <p:nvSpPr>
          <p:cNvPr id="2414" name="Google Shape;2414;p58"/>
          <p:cNvSpPr/>
          <p:nvPr/>
        </p:nvSpPr>
        <p:spPr>
          <a:xfrm>
            <a:off x="5567386" y="3197779"/>
            <a:ext cx="29718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6270"/>
              </a:buClr>
              <a:buSzPts val="900"/>
              <a:buFont typeface="Calibri"/>
              <a:buNone/>
            </a:pPr>
            <a:r>
              <a:rPr b="0" i="0" lang="en" sz="1400" u="none" cap="none" strike="noStrike">
                <a:solidFill>
                  <a:srgbClr val="5A6270"/>
                </a:solidFill>
                <a:latin typeface="Calibri"/>
                <a:ea typeface="Calibri"/>
                <a:cs typeface="Calibri"/>
                <a:sym typeface="Calibri"/>
              </a:rPr>
              <a:t>✓ Information-rich</a:t>
            </a:r>
            <a:endParaRPr b="0" i="0" sz="1400" u="none" cap="none" strike="noStrike">
              <a:solidFill>
                <a:schemeClr val="dk1"/>
              </a:solidFill>
              <a:latin typeface="Calibri"/>
              <a:ea typeface="Calibri"/>
              <a:cs typeface="Calibri"/>
              <a:sym typeface="Calibri"/>
            </a:endParaRPr>
          </a:p>
        </p:txBody>
      </p:sp>
      <p:sp>
        <p:nvSpPr>
          <p:cNvPr id="2415" name="Google Shape;2415;p58"/>
          <p:cNvSpPr/>
          <p:nvPr/>
        </p:nvSpPr>
        <p:spPr>
          <a:xfrm>
            <a:off x="5577840" y="3520440"/>
            <a:ext cx="1280100" cy="594300"/>
          </a:xfrm>
          <a:prstGeom prst="rect">
            <a:avLst/>
          </a:prstGeom>
          <a:solidFill>
            <a:srgbClr val="E8EDF2"/>
          </a:solidFill>
          <a:ln cap="flat" cmpd="sng" w="1015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6" name="Google Shape;2416;p58"/>
          <p:cNvSpPr/>
          <p:nvPr/>
        </p:nvSpPr>
        <p:spPr>
          <a:xfrm>
            <a:off x="5577840" y="3520440"/>
            <a:ext cx="1280100" cy="594300"/>
          </a:xfrm>
          <a:prstGeom prst="rect">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EF4444"/>
              </a:buClr>
              <a:buSzPts val="1100"/>
              <a:buFont typeface="Calibri"/>
              <a:buNone/>
            </a:pPr>
            <a:r>
              <a:rPr b="0" i="0" lang="en" sz="1500" u="none" cap="none" strike="noStrike">
                <a:solidFill>
                  <a:schemeClr val="dk1"/>
                </a:solidFill>
                <a:latin typeface="Calibri"/>
                <a:ea typeface="Calibri"/>
                <a:cs typeface="Calibri"/>
                <a:sym typeface="Calibri"/>
              </a:rPr>
              <a:t>Fixed</a:t>
            </a:r>
            <a:endParaRPr b="0" i="0" sz="1500" u="none" cap="none" strike="noStrike">
              <a:solidFill>
                <a:schemeClr val="dk1"/>
              </a:solidFill>
              <a:latin typeface="Calibri"/>
              <a:ea typeface="Calibri"/>
              <a:cs typeface="Calibri"/>
              <a:sym typeface="Calibri"/>
            </a:endParaRPr>
          </a:p>
        </p:txBody>
      </p:sp>
      <p:sp>
        <p:nvSpPr>
          <p:cNvPr id="2417" name="Google Shape;2417;p58"/>
          <p:cNvSpPr/>
          <p:nvPr/>
        </p:nvSpPr>
        <p:spPr>
          <a:xfrm>
            <a:off x="6949440" y="3520440"/>
            <a:ext cx="274200" cy="594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A6270"/>
              </a:buClr>
              <a:buSzPts val="1400"/>
              <a:buFont typeface="Calibri"/>
              <a:buNone/>
            </a:pPr>
            <a:r>
              <a:rPr b="0" i="0" lang="en" sz="1400" u="none" cap="none" strike="noStrike">
                <a:solidFill>
                  <a:srgbClr val="5A6270"/>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2418" name="Google Shape;2418;p58"/>
          <p:cNvSpPr/>
          <p:nvPr/>
        </p:nvSpPr>
        <p:spPr>
          <a:xfrm>
            <a:off x="7269480" y="3520440"/>
            <a:ext cx="1280100" cy="594300"/>
          </a:xfrm>
          <a:prstGeom prst="rect">
            <a:avLst/>
          </a:prstGeom>
          <a:solidFill>
            <a:srgbClr val="E8EDF2"/>
          </a:solidFill>
          <a:ln cap="flat" cmpd="sng" w="10150">
            <a:solidFill>
              <a:srgbClr val="10B98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9" name="Google Shape;2419;p58"/>
          <p:cNvSpPr/>
          <p:nvPr/>
        </p:nvSpPr>
        <p:spPr>
          <a:xfrm>
            <a:off x="7269480" y="3520440"/>
            <a:ext cx="1280100" cy="594300"/>
          </a:xfrm>
          <a:prstGeom prst="rect">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0B981"/>
              </a:buClr>
              <a:buSzPts val="1100"/>
              <a:buFont typeface="Calibri"/>
              <a:buNone/>
            </a:pPr>
            <a:r>
              <a:rPr b="0" i="0" lang="en" sz="1500" u="none" cap="none" strike="noStrike">
                <a:solidFill>
                  <a:schemeClr val="dk1"/>
                </a:solidFill>
                <a:latin typeface="Calibri"/>
                <a:ea typeface="Calibri"/>
                <a:cs typeface="Calibri"/>
                <a:sym typeface="Calibri"/>
              </a:rPr>
              <a:t>Learned</a:t>
            </a:r>
            <a:endParaRPr b="0" i="0" sz="1500" u="none" cap="none" strike="noStrike">
              <a:solidFill>
                <a:schemeClr val="dk1"/>
              </a:solidFill>
              <a:latin typeface="Calibri"/>
              <a:ea typeface="Calibri"/>
              <a:cs typeface="Calibri"/>
              <a:sym typeface="Calibri"/>
            </a:endParaRPr>
          </a:p>
        </p:txBody>
      </p:sp>
      <p:sp>
        <p:nvSpPr>
          <p:cNvPr id="2420" name="Google Shape;2420;p58"/>
          <p:cNvSpPr/>
          <p:nvPr/>
        </p:nvSpPr>
        <p:spPr>
          <a:xfrm>
            <a:off x="5577840" y="4133088"/>
            <a:ext cx="29718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6270"/>
              </a:buClr>
              <a:buSzPts val="900"/>
              <a:buFont typeface="Calibri"/>
              <a:buNone/>
            </a:pPr>
            <a:r>
              <a:rPr b="0" i="0" lang="en" sz="1400" u="none" cap="none" strike="noStrike">
                <a:solidFill>
                  <a:srgbClr val="5A6270"/>
                </a:solidFill>
                <a:latin typeface="Calibri"/>
                <a:ea typeface="Calibri"/>
                <a:cs typeface="Calibri"/>
                <a:sym typeface="Calibri"/>
              </a:rPr>
              <a:t>✓ Task-aware</a:t>
            </a:r>
            <a:endParaRPr b="0" i="0" sz="1400" u="none" cap="none" strike="noStrike">
              <a:solidFill>
                <a:schemeClr val="dk1"/>
              </a:solidFill>
              <a:latin typeface="Calibri"/>
              <a:ea typeface="Calibri"/>
              <a:cs typeface="Calibri"/>
              <a:sym typeface="Calibri"/>
            </a:endParaRPr>
          </a:p>
        </p:txBody>
      </p:sp>
      <p:pic>
        <p:nvPicPr>
          <p:cNvPr id="2421" name="Google Shape;2421;p58"/>
          <p:cNvPicPr preferRelativeResize="0"/>
          <p:nvPr/>
        </p:nvPicPr>
        <p:blipFill rotWithShape="1">
          <a:blip r:embed="rId4">
            <a:alphaModFix/>
          </a:blip>
          <a:srcRect b="0" l="0" r="0" t="0"/>
          <a:stretch/>
        </p:blipFill>
        <p:spPr>
          <a:xfrm>
            <a:off x="8369125" y="0"/>
            <a:ext cx="774877" cy="867174"/>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426" name="Shape 2426"/>
        <p:cNvGrpSpPr/>
        <p:nvPr/>
      </p:nvGrpSpPr>
      <p:grpSpPr>
        <a:xfrm>
          <a:off x="0" y="0"/>
          <a:ext cx="0" cy="0"/>
          <a:chOff x="0" y="0"/>
          <a:chExt cx="0" cy="0"/>
        </a:xfrm>
      </p:grpSpPr>
      <p:sp>
        <p:nvSpPr>
          <p:cNvPr id="2427" name="Google Shape;2427;p59"/>
          <p:cNvSpPr/>
          <p:nvPr/>
        </p:nvSpPr>
        <p:spPr>
          <a:xfrm>
            <a:off x="0" y="0"/>
            <a:ext cx="109800" cy="5143500"/>
          </a:xfrm>
          <a:prstGeom prst="rect">
            <a:avLst/>
          </a:prstGeom>
          <a:solidFill>
            <a:srgbClr val="0077AA"/>
          </a:solidFill>
          <a:ln cap="flat" cmpd="sng" w="12700">
            <a:solidFill>
              <a:srgbClr val="0077A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8" name="Google Shape;2428;p59"/>
          <p:cNvSpPr/>
          <p:nvPr/>
        </p:nvSpPr>
        <p:spPr>
          <a:xfrm>
            <a:off x="320040" y="1280160"/>
            <a:ext cx="8503800" cy="1463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F26"/>
              </a:buClr>
              <a:buSzPts val="5200"/>
              <a:buFont typeface="Calibri"/>
              <a:buNone/>
            </a:pPr>
            <a:r>
              <a:rPr b="1" i="0" lang="en" sz="4400" u="none" cap="none" strike="noStrike">
                <a:solidFill>
                  <a:srgbClr val="1A1F26"/>
                </a:solidFill>
                <a:latin typeface="Calibri"/>
                <a:ea typeface="Calibri"/>
                <a:cs typeface="Calibri"/>
                <a:sym typeface="Calibri"/>
              </a:rPr>
              <a:t>Word2Vec</a:t>
            </a:r>
            <a:endParaRPr b="0" i="0" sz="4400" u="none" cap="none" strike="noStrike">
              <a:solidFill>
                <a:schemeClr val="dk1"/>
              </a:solidFill>
              <a:latin typeface="Calibri"/>
              <a:ea typeface="Calibri"/>
              <a:cs typeface="Calibri"/>
              <a:sym typeface="Calibri"/>
            </a:endParaRPr>
          </a:p>
        </p:txBody>
      </p:sp>
      <p:sp>
        <p:nvSpPr>
          <p:cNvPr id="2429" name="Google Shape;2429;p59"/>
          <p:cNvSpPr/>
          <p:nvPr/>
        </p:nvSpPr>
        <p:spPr>
          <a:xfrm>
            <a:off x="320040" y="2834640"/>
            <a:ext cx="8503800" cy="731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6270"/>
              </a:buClr>
              <a:buSzPts val="2000"/>
              <a:buFont typeface="Calibri"/>
              <a:buNone/>
            </a:pPr>
            <a:r>
              <a:rPr b="0" i="0" lang="en" sz="2000" u="none" cap="none" strike="noStrike">
                <a:solidFill>
                  <a:schemeClr val="dk1"/>
                </a:solidFill>
                <a:latin typeface="Calibri"/>
                <a:ea typeface="Calibri"/>
                <a:cs typeface="Calibri"/>
                <a:sym typeface="Calibri"/>
              </a:rPr>
              <a:t>Skip-gram &amp; CBOW — learning from context</a:t>
            </a:r>
            <a:endParaRPr b="0" i="0" sz="2000" u="none" cap="none" strike="noStrike">
              <a:solidFill>
                <a:schemeClr val="dk1"/>
              </a:solidFill>
              <a:latin typeface="Calibri"/>
              <a:ea typeface="Calibri"/>
              <a:cs typeface="Calibri"/>
              <a:sym typeface="Calibri"/>
            </a:endParaRPr>
          </a:p>
        </p:txBody>
      </p:sp>
      <p:sp>
        <p:nvSpPr>
          <p:cNvPr id="2430" name="Google Shape;2430;p59"/>
          <p:cNvSpPr/>
          <p:nvPr/>
        </p:nvSpPr>
        <p:spPr>
          <a:xfrm>
            <a:off x="320040" y="4389120"/>
            <a:ext cx="109800" cy="109800"/>
          </a:xfrm>
          <a:prstGeom prst="ellipse">
            <a:avLst/>
          </a:prstGeom>
          <a:solidFill>
            <a:srgbClr val="0077A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1" name="Google Shape;2431;p59"/>
          <p:cNvSpPr/>
          <p:nvPr/>
        </p:nvSpPr>
        <p:spPr>
          <a:xfrm>
            <a:off x="640080" y="4389120"/>
            <a:ext cx="109800" cy="109800"/>
          </a:xfrm>
          <a:prstGeom prst="ellipse">
            <a:avLst/>
          </a:prstGeom>
          <a:solidFill>
            <a:srgbClr val="5A627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2" name="Google Shape;2432;p59"/>
          <p:cNvSpPr/>
          <p:nvPr/>
        </p:nvSpPr>
        <p:spPr>
          <a:xfrm>
            <a:off x="960120" y="4389120"/>
            <a:ext cx="109800" cy="109800"/>
          </a:xfrm>
          <a:prstGeom prst="ellipse">
            <a:avLst/>
          </a:prstGeom>
          <a:solidFill>
            <a:srgbClr val="5A627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3" name="Google Shape;2433;p59"/>
          <p:cNvSpPr/>
          <p:nvPr/>
        </p:nvSpPr>
        <p:spPr>
          <a:xfrm>
            <a:off x="1280160" y="4389120"/>
            <a:ext cx="109800" cy="109800"/>
          </a:xfrm>
          <a:prstGeom prst="ellipse">
            <a:avLst/>
          </a:prstGeom>
          <a:solidFill>
            <a:srgbClr val="5A627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4" name="Google Shape;2434;p59"/>
          <p:cNvSpPr/>
          <p:nvPr/>
        </p:nvSpPr>
        <p:spPr>
          <a:xfrm>
            <a:off x="1600200" y="4389120"/>
            <a:ext cx="109800" cy="109800"/>
          </a:xfrm>
          <a:prstGeom prst="ellipse">
            <a:avLst/>
          </a:prstGeom>
          <a:solidFill>
            <a:srgbClr val="5A627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435" name="Google Shape;2435;p59"/>
          <p:cNvPicPr preferRelativeResize="0"/>
          <p:nvPr/>
        </p:nvPicPr>
        <p:blipFill rotWithShape="1">
          <a:blip r:embed="rId4">
            <a:alphaModFix/>
          </a:blip>
          <a:srcRect b="0" l="0" r="0" t="0"/>
          <a:stretch/>
        </p:blipFill>
        <p:spPr>
          <a:xfrm>
            <a:off x="8369125" y="0"/>
            <a:ext cx="774877" cy="867174"/>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440" name="Shape 2440"/>
        <p:cNvGrpSpPr/>
        <p:nvPr/>
      </p:nvGrpSpPr>
      <p:grpSpPr>
        <a:xfrm>
          <a:off x="0" y="0"/>
          <a:ext cx="0" cy="0"/>
          <a:chOff x="0" y="0"/>
          <a:chExt cx="0" cy="0"/>
        </a:xfrm>
      </p:grpSpPr>
      <p:sp>
        <p:nvSpPr>
          <p:cNvPr id="2441" name="Google Shape;2441;p60"/>
          <p:cNvSpPr/>
          <p:nvPr/>
        </p:nvSpPr>
        <p:spPr>
          <a:xfrm>
            <a:off x="365760" y="411480"/>
            <a:ext cx="8412600" cy="594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F26"/>
              </a:buClr>
              <a:buSzPts val="3200"/>
              <a:buFont typeface="Calibri"/>
              <a:buNone/>
            </a:pPr>
            <a:r>
              <a:rPr b="1" i="0" lang="en" sz="2800" u="none" cap="none" strike="noStrike">
                <a:solidFill>
                  <a:srgbClr val="1A1F26"/>
                </a:solidFill>
                <a:latin typeface="Calibri"/>
                <a:ea typeface="Calibri"/>
                <a:cs typeface="Calibri"/>
                <a:sym typeface="Calibri"/>
              </a:rPr>
              <a:t>Word2Vec: Two Training Strategies</a:t>
            </a:r>
            <a:endParaRPr b="0" i="0" sz="2800" u="none" cap="none" strike="noStrike">
              <a:solidFill>
                <a:schemeClr val="dk1"/>
              </a:solidFill>
              <a:latin typeface="Calibri"/>
              <a:ea typeface="Calibri"/>
              <a:cs typeface="Calibri"/>
              <a:sym typeface="Calibri"/>
            </a:endParaRPr>
          </a:p>
        </p:txBody>
      </p:sp>
      <p:sp>
        <p:nvSpPr>
          <p:cNvPr id="2442" name="Google Shape;2442;p60"/>
          <p:cNvSpPr/>
          <p:nvPr/>
        </p:nvSpPr>
        <p:spPr>
          <a:xfrm>
            <a:off x="320040" y="1143000"/>
            <a:ext cx="4023300" cy="2194500"/>
          </a:xfrm>
          <a:prstGeom prst="rect">
            <a:avLst/>
          </a:prstGeom>
          <a:solidFill>
            <a:schemeClr val="lt1"/>
          </a:solidFill>
          <a:ln cap="flat" cmpd="sng" w="15225">
            <a:solidFill>
              <a:srgbClr val="0077AA"/>
            </a:solidFill>
            <a:prstDash val="solid"/>
            <a:round/>
            <a:headEnd len="sm" w="sm" type="none"/>
            <a:tailEnd len="sm" w="sm" type="none"/>
          </a:ln>
          <a:effectLst>
            <a:outerShdw blurRad="101600" rotWithShape="0" algn="bl" dir="8100000" dist="38100">
              <a:srgbClr val="000000">
                <a:alpha val="3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443" name="Google Shape;2443;p60"/>
          <p:cNvSpPr/>
          <p:nvPr/>
        </p:nvSpPr>
        <p:spPr>
          <a:xfrm>
            <a:off x="457200" y="1248797"/>
            <a:ext cx="3749100" cy="365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77AA"/>
              </a:buClr>
              <a:buSzPts val="1500"/>
              <a:buFont typeface="Calibri"/>
              <a:buNone/>
            </a:pPr>
            <a:r>
              <a:rPr b="1" i="0" lang="en" sz="1900" u="none" cap="none" strike="noStrike">
                <a:solidFill>
                  <a:schemeClr val="dk1"/>
                </a:solidFill>
                <a:latin typeface="Calibri"/>
                <a:ea typeface="Calibri"/>
                <a:cs typeface="Calibri"/>
                <a:sym typeface="Calibri"/>
              </a:rPr>
              <a:t>Skip-gram</a:t>
            </a:r>
            <a:endParaRPr b="0" i="0" sz="1900" u="none" cap="none" strike="noStrike">
              <a:solidFill>
                <a:schemeClr val="dk1"/>
              </a:solidFill>
              <a:latin typeface="Calibri"/>
              <a:ea typeface="Calibri"/>
              <a:cs typeface="Calibri"/>
              <a:sym typeface="Calibri"/>
            </a:endParaRPr>
          </a:p>
        </p:txBody>
      </p:sp>
      <p:sp>
        <p:nvSpPr>
          <p:cNvPr id="2444" name="Google Shape;2444;p60"/>
          <p:cNvSpPr/>
          <p:nvPr/>
        </p:nvSpPr>
        <p:spPr>
          <a:xfrm>
            <a:off x="457200" y="1627632"/>
            <a:ext cx="3749100" cy="320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6270"/>
              </a:buClr>
              <a:buSzPts val="1000"/>
              <a:buFont typeface="Calibri"/>
              <a:buNone/>
            </a:pPr>
            <a:r>
              <a:rPr b="0" i="0" lang="en" sz="1200" u="none" cap="none" strike="noStrike">
                <a:solidFill>
                  <a:schemeClr val="dk1"/>
                </a:solidFill>
                <a:latin typeface="Calibri"/>
                <a:ea typeface="Calibri"/>
                <a:cs typeface="Calibri"/>
                <a:sym typeface="Calibri"/>
              </a:rPr>
              <a:t>Input: center word → Predict: context words</a:t>
            </a:r>
            <a:endParaRPr b="0" i="0" sz="1200" u="none" cap="none" strike="noStrike">
              <a:solidFill>
                <a:schemeClr val="dk1"/>
              </a:solidFill>
              <a:latin typeface="Calibri"/>
              <a:ea typeface="Calibri"/>
              <a:cs typeface="Calibri"/>
              <a:sym typeface="Calibri"/>
            </a:endParaRPr>
          </a:p>
        </p:txBody>
      </p:sp>
      <p:sp>
        <p:nvSpPr>
          <p:cNvPr id="2445" name="Google Shape;2445;p60"/>
          <p:cNvSpPr/>
          <p:nvPr/>
        </p:nvSpPr>
        <p:spPr>
          <a:xfrm>
            <a:off x="457200" y="1920240"/>
            <a:ext cx="3749100" cy="731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90E0EF"/>
              </a:buClr>
              <a:buSzPts val="1050"/>
              <a:buFont typeface="Consolas"/>
              <a:buNone/>
            </a:pPr>
            <a:r>
              <a:rPr b="0" i="0" lang="en" sz="1050" u="none" cap="none" strike="noStrike">
                <a:solidFill>
                  <a:schemeClr val="dk1"/>
                </a:solidFill>
                <a:latin typeface="Consolas"/>
                <a:ea typeface="Consolas"/>
                <a:cs typeface="Consolas"/>
                <a:sym typeface="Consolas"/>
              </a:rPr>
              <a:t>"The [cat] sat on the mat"</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0E0EF"/>
              </a:buClr>
              <a:buSzPts val="1050"/>
              <a:buFont typeface="Consolas"/>
              <a:buNone/>
            </a:pPr>
            <a:r>
              <a:rPr b="0" i="0" lang="en" sz="1050" u="none" cap="none" strike="noStrike">
                <a:solidFill>
                  <a:schemeClr val="dk1"/>
                </a:solidFill>
                <a:latin typeface="Consolas"/>
                <a:ea typeface="Consolas"/>
                <a:cs typeface="Consolas"/>
                <a:sym typeface="Consolas"/>
              </a:rPr>
              <a:t>    ↓</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0E0EF"/>
              </a:buClr>
              <a:buSzPts val="1050"/>
              <a:buFont typeface="Consolas"/>
              <a:buNone/>
            </a:pPr>
            <a:r>
              <a:rPr b="0" i="0" lang="en" sz="1050" u="none" cap="none" strike="noStrike">
                <a:solidFill>
                  <a:schemeClr val="dk1"/>
                </a:solidFill>
                <a:latin typeface="Consolas"/>
                <a:ea typeface="Consolas"/>
                <a:cs typeface="Consolas"/>
                <a:sym typeface="Consolas"/>
              </a:rPr>
              <a:t>Predict: "The", "sat", "on"</a:t>
            </a:r>
            <a:endParaRPr b="0" i="0" sz="1050" u="none" cap="none" strike="noStrike">
              <a:solidFill>
                <a:schemeClr val="dk1"/>
              </a:solidFill>
              <a:latin typeface="Calibri"/>
              <a:ea typeface="Calibri"/>
              <a:cs typeface="Calibri"/>
              <a:sym typeface="Calibri"/>
            </a:endParaRPr>
          </a:p>
        </p:txBody>
      </p:sp>
      <p:sp>
        <p:nvSpPr>
          <p:cNvPr id="2446" name="Google Shape;2446;p60"/>
          <p:cNvSpPr/>
          <p:nvPr/>
        </p:nvSpPr>
        <p:spPr>
          <a:xfrm>
            <a:off x="457200" y="2670048"/>
            <a:ext cx="3749100" cy="320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0B981"/>
              </a:buClr>
              <a:buSzPts val="1000"/>
              <a:buFont typeface="Calibri"/>
              <a:buNone/>
            </a:pPr>
            <a:r>
              <a:rPr b="0" i="0" lang="en" sz="1000" u="none" cap="none" strike="noStrike">
                <a:solidFill>
                  <a:schemeClr val="dk1"/>
                </a:solidFill>
                <a:latin typeface="Calibri"/>
                <a:ea typeface="Calibri"/>
                <a:cs typeface="Calibri"/>
                <a:sym typeface="Calibri"/>
              </a:rPr>
              <a:t>Better for rare words</a:t>
            </a:r>
            <a:endParaRPr b="0" i="0" sz="1000" u="none" cap="none" strike="noStrike">
              <a:solidFill>
                <a:schemeClr val="dk1"/>
              </a:solidFill>
              <a:latin typeface="Calibri"/>
              <a:ea typeface="Calibri"/>
              <a:cs typeface="Calibri"/>
              <a:sym typeface="Calibri"/>
            </a:endParaRPr>
          </a:p>
        </p:txBody>
      </p:sp>
      <p:sp>
        <p:nvSpPr>
          <p:cNvPr id="2447" name="Google Shape;2447;p60"/>
          <p:cNvSpPr/>
          <p:nvPr/>
        </p:nvSpPr>
        <p:spPr>
          <a:xfrm>
            <a:off x="4572000" y="1143000"/>
            <a:ext cx="4023300" cy="2194500"/>
          </a:xfrm>
          <a:prstGeom prst="rect">
            <a:avLst/>
          </a:prstGeom>
          <a:solidFill>
            <a:schemeClr val="lt1"/>
          </a:solidFill>
          <a:ln cap="flat" cmpd="sng" w="15225">
            <a:solidFill>
              <a:srgbClr val="7C3AED"/>
            </a:solidFill>
            <a:prstDash val="solid"/>
            <a:round/>
            <a:headEnd len="sm" w="sm" type="none"/>
            <a:tailEnd len="sm" w="sm" type="none"/>
          </a:ln>
          <a:effectLst>
            <a:outerShdw blurRad="101600" rotWithShape="0" algn="bl" dir="8100000" dist="38100">
              <a:srgbClr val="000000">
                <a:alpha val="3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8" name="Google Shape;2448;p60"/>
          <p:cNvSpPr/>
          <p:nvPr/>
        </p:nvSpPr>
        <p:spPr>
          <a:xfrm>
            <a:off x="4709160" y="1280173"/>
            <a:ext cx="3749100" cy="365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7C3AED"/>
              </a:buClr>
              <a:buSzPts val="1500"/>
              <a:buFont typeface="Calibri"/>
              <a:buNone/>
            </a:pPr>
            <a:r>
              <a:rPr b="1" i="0" lang="en" sz="1500" u="none" cap="none" strike="noStrike">
                <a:solidFill>
                  <a:schemeClr val="dk1"/>
                </a:solidFill>
                <a:latin typeface="Calibri"/>
                <a:ea typeface="Calibri"/>
                <a:cs typeface="Calibri"/>
                <a:sym typeface="Calibri"/>
              </a:rPr>
              <a:t>CBOW</a:t>
            </a:r>
            <a:endParaRPr b="0" i="0" sz="1500" u="none" cap="none" strike="noStrike">
              <a:solidFill>
                <a:schemeClr val="dk1"/>
              </a:solidFill>
              <a:latin typeface="Calibri"/>
              <a:ea typeface="Calibri"/>
              <a:cs typeface="Calibri"/>
              <a:sym typeface="Calibri"/>
            </a:endParaRPr>
          </a:p>
        </p:txBody>
      </p:sp>
      <p:sp>
        <p:nvSpPr>
          <p:cNvPr id="2449" name="Google Shape;2449;p60"/>
          <p:cNvSpPr/>
          <p:nvPr/>
        </p:nvSpPr>
        <p:spPr>
          <a:xfrm>
            <a:off x="4709160" y="1627632"/>
            <a:ext cx="3749100" cy="320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6270"/>
              </a:buClr>
              <a:buSzPts val="1000"/>
              <a:buFont typeface="Calibri"/>
              <a:buNone/>
            </a:pPr>
            <a:r>
              <a:rPr b="0" i="0" lang="en" sz="1000" u="none" cap="none" strike="noStrike">
                <a:solidFill>
                  <a:schemeClr val="dk1"/>
                </a:solidFill>
                <a:latin typeface="Calibri"/>
                <a:ea typeface="Calibri"/>
                <a:cs typeface="Calibri"/>
                <a:sym typeface="Calibri"/>
              </a:rPr>
              <a:t>Input: context words → Predict: center word</a:t>
            </a:r>
            <a:endParaRPr b="0" i="0" sz="1000" u="none" cap="none" strike="noStrike">
              <a:solidFill>
                <a:schemeClr val="dk1"/>
              </a:solidFill>
              <a:latin typeface="Calibri"/>
              <a:ea typeface="Calibri"/>
              <a:cs typeface="Calibri"/>
              <a:sym typeface="Calibri"/>
            </a:endParaRPr>
          </a:p>
        </p:txBody>
      </p:sp>
      <p:sp>
        <p:nvSpPr>
          <p:cNvPr id="2450" name="Google Shape;2450;p60"/>
          <p:cNvSpPr/>
          <p:nvPr/>
        </p:nvSpPr>
        <p:spPr>
          <a:xfrm>
            <a:off x="4709160" y="1920240"/>
            <a:ext cx="3749100" cy="731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084FC"/>
              </a:buClr>
              <a:buSzPts val="1050"/>
              <a:buFont typeface="Consolas"/>
              <a:buNone/>
            </a:pPr>
            <a:r>
              <a:rPr b="0" i="0" lang="en" sz="1050" u="none" cap="none" strike="noStrike">
                <a:solidFill>
                  <a:schemeClr val="dk1"/>
                </a:solidFill>
                <a:latin typeface="Consolas"/>
                <a:ea typeface="Consolas"/>
                <a:cs typeface="Consolas"/>
                <a:sym typeface="Consolas"/>
              </a:rPr>
              <a:t>"The [?] sat on the mat"</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C084FC"/>
              </a:buClr>
              <a:buSzPts val="1050"/>
              <a:buFont typeface="Consolas"/>
              <a:buNone/>
            </a:pPr>
            <a:r>
              <a:rPr b="0" i="0" lang="en" sz="1050" u="none" cap="none" strike="noStrike">
                <a:solidFill>
                  <a:schemeClr val="dk1"/>
                </a:solidFill>
                <a:latin typeface="Consolas"/>
                <a:ea typeface="Consolas"/>
                <a:cs typeface="Consolas"/>
                <a:sym typeface="Consolas"/>
              </a:rPr>
              <a:t>    ↑</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C084FC"/>
              </a:buClr>
              <a:buSzPts val="1050"/>
              <a:buFont typeface="Consolas"/>
              <a:buNone/>
            </a:pPr>
            <a:r>
              <a:rPr b="0" i="0" lang="en" sz="1050" u="none" cap="none" strike="noStrike">
                <a:solidFill>
                  <a:schemeClr val="dk1"/>
                </a:solidFill>
                <a:latin typeface="Consolas"/>
                <a:ea typeface="Consolas"/>
                <a:cs typeface="Consolas"/>
                <a:sym typeface="Consolas"/>
              </a:rPr>
              <a:t>Context: "The", "sat", "on"</a:t>
            </a:r>
            <a:endParaRPr b="0" i="0" sz="1050" u="none" cap="none" strike="noStrike">
              <a:solidFill>
                <a:schemeClr val="dk1"/>
              </a:solidFill>
              <a:latin typeface="Calibri"/>
              <a:ea typeface="Calibri"/>
              <a:cs typeface="Calibri"/>
              <a:sym typeface="Calibri"/>
            </a:endParaRPr>
          </a:p>
        </p:txBody>
      </p:sp>
      <p:sp>
        <p:nvSpPr>
          <p:cNvPr id="2451" name="Google Shape;2451;p60"/>
          <p:cNvSpPr/>
          <p:nvPr/>
        </p:nvSpPr>
        <p:spPr>
          <a:xfrm>
            <a:off x="4709160" y="2670048"/>
            <a:ext cx="3749100" cy="320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0B981"/>
              </a:buClr>
              <a:buSzPts val="1000"/>
              <a:buFont typeface="Calibri"/>
              <a:buNone/>
            </a:pPr>
            <a:r>
              <a:rPr b="0" i="0" lang="en" sz="1000" u="none" cap="none" strike="noStrike">
                <a:solidFill>
                  <a:schemeClr val="dk1"/>
                </a:solidFill>
                <a:latin typeface="Calibri"/>
                <a:ea typeface="Calibri"/>
                <a:cs typeface="Calibri"/>
                <a:sym typeface="Calibri"/>
              </a:rPr>
              <a:t>Faster, good for frequent words</a:t>
            </a:r>
            <a:endParaRPr b="0" i="0" sz="1000" u="none" cap="none" strike="noStrike">
              <a:solidFill>
                <a:schemeClr val="dk1"/>
              </a:solidFill>
              <a:latin typeface="Calibri"/>
              <a:ea typeface="Calibri"/>
              <a:cs typeface="Calibri"/>
              <a:sym typeface="Calibri"/>
            </a:endParaRPr>
          </a:p>
        </p:txBody>
      </p:sp>
      <p:sp>
        <p:nvSpPr>
          <p:cNvPr id="2452" name="Google Shape;2452;p60"/>
          <p:cNvSpPr/>
          <p:nvPr/>
        </p:nvSpPr>
        <p:spPr>
          <a:xfrm>
            <a:off x="320050" y="3520451"/>
            <a:ext cx="8503800" cy="1497600"/>
          </a:xfrm>
          <a:prstGeom prst="rect">
            <a:avLst/>
          </a:prstGeom>
          <a:solidFill>
            <a:srgbClr val="F8F9FA"/>
          </a:solidFill>
          <a:ln cap="flat" cmpd="sng" w="12700">
            <a:solidFill>
              <a:srgbClr val="0077AA"/>
            </a:solidFill>
            <a:prstDash val="solid"/>
            <a:round/>
            <a:headEnd len="sm" w="sm" type="none"/>
            <a:tailEnd len="sm" w="sm" type="none"/>
          </a:ln>
          <a:effectLst>
            <a:outerShdw blurRad="101600" rotWithShape="0" algn="bl" dir="8100000" dist="38100">
              <a:srgbClr val="000000">
                <a:alpha val="3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3" name="Google Shape;2453;p60"/>
          <p:cNvSpPr/>
          <p:nvPr/>
        </p:nvSpPr>
        <p:spPr>
          <a:xfrm>
            <a:off x="60698" y="3555661"/>
            <a:ext cx="1645800" cy="255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8F9FA"/>
              </a:buClr>
              <a:buSzPts val="900"/>
              <a:buFont typeface="Calibri"/>
              <a:buNone/>
            </a:pPr>
            <a:r>
              <a:rPr b="1" i="0" lang="en" sz="1900" u="none" cap="none" strike="noStrike">
                <a:solidFill>
                  <a:schemeClr val="dk1"/>
                </a:solidFill>
                <a:latin typeface="Calibri"/>
                <a:ea typeface="Calibri"/>
                <a:cs typeface="Calibri"/>
                <a:sym typeface="Calibri"/>
              </a:rPr>
              <a:t>Gensim</a:t>
            </a:r>
            <a:endParaRPr b="0" i="0" sz="1900" u="none" cap="none" strike="noStrike">
              <a:solidFill>
                <a:schemeClr val="dk1"/>
              </a:solidFill>
              <a:latin typeface="Calibri"/>
              <a:ea typeface="Calibri"/>
              <a:cs typeface="Calibri"/>
              <a:sym typeface="Calibri"/>
            </a:endParaRPr>
          </a:p>
        </p:txBody>
      </p:sp>
      <p:sp>
        <p:nvSpPr>
          <p:cNvPr id="2454" name="Google Shape;2454;p60"/>
          <p:cNvSpPr/>
          <p:nvPr/>
        </p:nvSpPr>
        <p:spPr>
          <a:xfrm>
            <a:off x="429772" y="3813050"/>
            <a:ext cx="4661400" cy="1014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A1F26"/>
              </a:buClr>
              <a:buSzPts val="950"/>
              <a:buFont typeface="Consolas"/>
              <a:buNone/>
            </a:pPr>
            <a:r>
              <a:rPr b="0" i="0" lang="en" sz="1050" u="none" cap="none" strike="noStrike">
                <a:solidFill>
                  <a:srgbClr val="1A1F26"/>
                </a:solidFill>
                <a:latin typeface="Consolas"/>
                <a:ea typeface="Consolas"/>
                <a:cs typeface="Consolas"/>
                <a:sym typeface="Consolas"/>
              </a:rPr>
              <a:t>from gensim.models import Word2Vec                                        </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9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F26"/>
              </a:buClr>
              <a:buSzPts val="950"/>
              <a:buFont typeface="Consolas"/>
              <a:buNone/>
            </a:pPr>
            <a:r>
              <a:rPr b="0" i="0" lang="en" sz="1050" u="none" cap="none" strike="noStrike">
                <a:solidFill>
                  <a:srgbClr val="1A1F26"/>
                </a:solidFill>
                <a:latin typeface="Consolas"/>
                <a:ea typeface="Consolas"/>
                <a:cs typeface="Consolas"/>
                <a:sym typeface="Consolas"/>
              </a:rPr>
              <a:t>sentences = [["king","rules","the","kingdom"],</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F26"/>
              </a:buClr>
              <a:buSzPts val="950"/>
              <a:buFont typeface="Consolas"/>
              <a:buNone/>
            </a:pPr>
            <a:r>
              <a:rPr b="0" i="0" lang="en" sz="1050" u="none" cap="none" strike="noStrike">
                <a:solidFill>
                  <a:srgbClr val="1A1F26"/>
                </a:solidFill>
                <a:latin typeface="Consolas"/>
                <a:ea typeface="Consolas"/>
                <a:cs typeface="Consolas"/>
                <a:sym typeface="Consolas"/>
              </a:rPr>
              <a:t>             ["queen","rules","the","kingdom"],</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F26"/>
              </a:buClr>
              <a:buSzPts val="950"/>
              <a:buFont typeface="Consolas"/>
              <a:buNone/>
            </a:pPr>
            <a:r>
              <a:rPr b="0" i="0" lang="en" sz="1050" u="none" cap="none" strike="noStrike">
                <a:solidFill>
                  <a:srgbClr val="1A1F26"/>
                </a:solidFill>
                <a:latin typeface="Consolas"/>
                <a:ea typeface="Consolas"/>
                <a:cs typeface="Consolas"/>
                <a:sym typeface="Consolas"/>
              </a:rPr>
              <a:t>             ["man","is","a","human"],["woman","is","a","human"]]</a:t>
            </a:r>
            <a:endParaRPr b="0" i="0" sz="1050" u="none" cap="none" strike="noStrike">
              <a:solidFill>
                <a:schemeClr val="dk1"/>
              </a:solidFill>
              <a:latin typeface="Calibri"/>
              <a:ea typeface="Calibri"/>
              <a:cs typeface="Calibri"/>
              <a:sym typeface="Calibri"/>
            </a:endParaRPr>
          </a:p>
        </p:txBody>
      </p:sp>
      <p:pic>
        <p:nvPicPr>
          <p:cNvPr id="2455" name="Google Shape;2455;p60"/>
          <p:cNvPicPr preferRelativeResize="0"/>
          <p:nvPr/>
        </p:nvPicPr>
        <p:blipFill rotWithShape="1">
          <a:blip r:embed="rId4">
            <a:alphaModFix/>
          </a:blip>
          <a:srcRect b="0" l="0" r="0" t="0"/>
          <a:stretch/>
        </p:blipFill>
        <p:spPr>
          <a:xfrm>
            <a:off x="8369125" y="0"/>
            <a:ext cx="774877" cy="867174"/>
          </a:xfrm>
          <a:prstGeom prst="rect">
            <a:avLst/>
          </a:prstGeom>
          <a:noFill/>
          <a:ln>
            <a:noFill/>
          </a:ln>
        </p:spPr>
      </p:pic>
      <p:sp>
        <p:nvSpPr>
          <p:cNvPr id="2456" name="Google Shape;2456;p60"/>
          <p:cNvSpPr txBox="1"/>
          <p:nvPr/>
        </p:nvSpPr>
        <p:spPr>
          <a:xfrm>
            <a:off x="4986700" y="3566125"/>
            <a:ext cx="3749100" cy="1106100"/>
          </a:xfrm>
          <a:prstGeom prst="rect">
            <a:avLst/>
          </a:prstGeom>
          <a:noFill/>
          <a:ln>
            <a:noFill/>
          </a:ln>
        </p:spPr>
        <p:txBody>
          <a:bodyPr anchorCtr="0" anchor="t" bIns="91425" lIns="91425" spcFirstLastPara="1" rIns="91425" wrap="square" tIns="91425">
            <a:noAutofit/>
          </a:bodyPr>
          <a:lstStyle/>
          <a:p>
            <a:pPr indent="0" lvl="0" marL="0" marR="0" rtl="0" algn="l">
              <a:lnSpc>
                <a:spcPct val="80000"/>
              </a:lnSpc>
              <a:spcBef>
                <a:spcPts val="0"/>
              </a:spcBef>
              <a:spcAft>
                <a:spcPts val="0"/>
              </a:spcAft>
              <a:buClr>
                <a:srgbClr val="1A1F26"/>
              </a:buClr>
              <a:buSzPts val="736"/>
              <a:buFont typeface="Consolas"/>
              <a:buNone/>
            </a:pPr>
            <a:r>
              <a:rPr b="0" i="0" lang="en" sz="1036" u="none" cap="none" strike="noStrike">
                <a:solidFill>
                  <a:srgbClr val="1A1F26"/>
                </a:solidFill>
                <a:latin typeface="Consolas"/>
                <a:ea typeface="Consolas"/>
                <a:cs typeface="Consolas"/>
                <a:sym typeface="Consolas"/>
              </a:rPr>
              <a:t>model = Word2Vec(sentences, vector_size=100,</a:t>
            </a:r>
            <a:endParaRPr b="0" i="0" sz="1036" u="none" cap="none" strike="noStrike">
              <a:solidFill>
                <a:schemeClr val="dk1"/>
              </a:solidFill>
              <a:latin typeface="Calibri"/>
              <a:ea typeface="Calibri"/>
              <a:cs typeface="Calibri"/>
              <a:sym typeface="Calibri"/>
            </a:endParaRPr>
          </a:p>
          <a:p>
            <a:pPr indent="0" lvl="0" marL="0" marR="0" rtl="0" algn="l">
              <a:lnSpc>
                <a:spcPct val="80000"/>
              </a:lnSpc>
              <a:spcBef>
                <a:spcPts val="0"/>
              </a:spcBef>
              <a:spcAft>
                <a:spcPts val="0"/>
              </a:spcAft>
              <a:buClr>
                <a:srgbClr val="1A1F26"/>
              </a:buClr>
              <a:buSzPts val="736"/>
              <a:buFont typeface="Consolas"/>
              <a:buNone/>
            </a:pPr>
            <a:r>
              <a:rPr b="0" i="0" lang="en" sz="1036" u="none" cap="none" strike="noStrike">
                <a:solidFill>
                  <a:srgbClr val="1A1F26"/>
                </a:solidFill>
                <a:latin typeface="Consolas"/>
                <a:ea typeface="Consolas"/>
                <a:cs typeface="Consolas"/>
                <a:sym typeface="Consolas"/>
              </a:rPr>
              <a:t>                 window=3, min_count=1,</a:t>
            </a:r>
            <a:endParaRPr b="0" i="0" sz="1036" u="none" cap="none" strike="noStrike">
              <a:solidFill>
                <a:schemeClr val="dk1"/>
              </a:solidFill>
              <a:latin typeface="Calibri"/>
              <a:ea typeface="Calibri"/>
              <a:cs typeface="Calibri"/>
              <a:sym typeface="Calibri"/>
            </a:endParaRPr>
          </a:p>
          <a:p>
            <a:pPr indent="0" lvl="0" marL="0" marR="0" rtl="0" algn="l">
              <a:lnSpc>
                <a:spcPct val="80000"/>
              </a:lnSpc>
              <a:spcBef>
                <a:spcPts val="0"/>
              </a:spcBef>
              <a:spcAft>
                <a:spcPts val="0"/>
              </a:spcAft>
              <a:buClr>
                <a:srgbClr val="1A1F26"/>
              </a:buClr>
              <a:buSzPts val="736"/>
              <a:buFont typeface="Consolas"/>
              <a:buNone/>
            </a:pPr>
            <a:r>
              <a:rPr b="0" i="0" lang="en" sz="1036" u="none" cap="none" strike="noStrike">
                <a:solidFill>
                  <a:srgbClr val="1A1F26"/>
                </a:solidFill>
                <a:latin typeface="Consolas"/>
                <a:ea typeface="Consolas"/>
                <a:cs typeface="Consolas"/>
                <a:sym typeface="Consolas"/>
              </a:rPr>
              <a:t>                 sg=1)   # sg=1: Skip-gram, sg=0: CBOW</a:t>
            </a:r>
            <a:endParaRPr b="0" i="0" sz="1036" u="none" cap="none" strike="noStrike">
              <a:solidFill>
                <a:schemeClr val="dk1"/>
              </a:solidFill>
              <a:latin typeface="Calibri"/>
              <a:ea typeface="Calibri"/>
              <a:cs typeface="Calibri"/>
              <a:sym typeface="Calibri"/>
            </a:endParaRPr>
          </a:p>
          <a:p>
            <a:pPr indent="0" lvl="0" marL="0" marR="0" rtl="0" algn="l">
              <a:lnSpc>
                <a:spcPct val="80000"/>
              </a:lnSpc>
              <a:spcBef>
                <a:spcPts val="0"/>
              </a:spcBef>
              <a:spcAft>
                <a:spcPts val="0"/>
              </a:spcAft>
              <a:buClr>
                <a:schemeClr val="dk1"/>
              </a:buClr>
              <a:buSzPts val="736"/>
              <a:buFont typeface="Calibri"/>
              <a:buNone/>
            </a:pPr>
            <a:r>
              <a:t/>
            </a:r>
            <a:endParaRPr b="0" i="0" sz="1036" u="none" cap="none" strike="noStrike">
              <a:solidFill>
                <a:schemeClr val="dk1"/>
              </a:solidFill>
              <a:latin typeface="Calibri"/>
              <a:ea typeface="Calibri"/>
              <a:cs typeface="Calibri"/>
              <a:sym typeface="Calibri"/>
            </a:endParaRPr>
          </a:p>
          <a:p>
            <a:pPr indent="0" lvl="0" marL="0" marR="0" rtl="0" algn="l">
              <a:lnSpc>
                <a:spcPct val="80000"/>
              </a:lnSpc>
              <a:spcBef>
                <a:spcPts val="0"/>
              </a:spcBef>
              <a:spcAft>
                <a:spcPts val="0"/>
              </a:spcAft>
              <a:buClr>
                <a:srgbClr val="1A1F26"/>
              </a:buClr>
              <a:buSzPts val="736"/>
              <a:buFont typeface="Consolas"/>
              <a:buNone/>
            </a:pPr>
            <a:r>
              <a:rPr b="0" i="0" lang="en" sz="1036" u="none" cap="none" strike="noStrike">
                <a:solidFill>
                  <a:srgbClr val="1A1F26"/>
                </a:solidFill>
                <a:latin typeface="Consolas"/>
                <a:ea typeface="Consolas"/>
                <a:cs typeface="Consolas"/>
                <a:sym typeface="Consolas"/>
              </a:rPr>
              <a:t># The famous analogy</a:t>
            </a:r>
            <a:endParaRPr b="0" i="0" sz="1036" u="none" cap="none" strike="noStrike">
              <a:solidFill>
                <a:schemeClr val="dk1"/>
              </a:solidFill>
              <a:latin typeface="Calibri"/>
              <a:ea typeface="Calibri"/>
              <a:cs typeface="Calibri"/>
              <a:sym typeface="Calibri"/>
            </a:endParaRPr>
          </a:p>
          <a:p>
            <a:pPr indent="0" lvl="0" marL="0" marR="0" rtl="0" algn="l">
              <a:lnSpc>
                <a:spcPct val="80000"/>
              </a:lnSpc>
              <a:spcBef>
                <a:spcPts val="0"/>
              </a:spcBef>
              <a:spcAft>
                <a:spcPts val="0"/>
              </a:spcAft>
              <a:buClr>
                <a:srgbClr val="1A1F26"/>
              </a:buClr>
              <a:buSzPts val="736"/>
              <a:buFont typeface="Consolas"/>
              <a:buNone/>
            </a:pPr>
            <a:r>
              <a:rPr b="0" i="0" lang="en" sz="1036" u="none" cap="none" strike="noStrike">
                <a:solidFill>
                  <a:srgbClr val="1A1F26"/>
                </a:solidFill>
                <a:latin typeface="Consolas"/>
                <a:ea typeface="Consolas"/>
                <a:cs typeface="Consolas"/>
                <a:sym typeface="Consolas"/>
              </a:rPr>
              <a:t>result = model.wv.most_similar(</a:t>
            </a:r>
            <a:endParaRPr b="0" i="0" sz="1036" u="none" cap="none" strike="noStrike">
              <a:solidFill>
                <a:schemeClr val="dk1"/>
              </a:solidFill>
              <a:latin typeface="Calibri"/>
              <a:ea typeface="Calibri"/>
              <a:cs typeface="Calibri"/>
              <a:sym typeface="Calibri"/>
            </a:endParaRPr>
          </a:p>
          <a:p>
            <a:pPr indent="0" lvl="0" marL="0" marR="0" rtl="0" algn="l">
              <a:lnSpc>
                <a:spcPct val="80000"/>
              </a:lnSpc>
              <a:spcBef>
                <a:spcPts val="0"/>
              </a:spcBef>
              <a:spcAft>
                <a:spcPts val="0"/>
              </a:spcAft>
              <a:buClr>
                <a:srgbClr val="1A1F26"/>
              </a:buClr>
              <a:buSzPts val="736"/>
              <a:buFont typeface="Consolas"/>
              <a:buNone/>
            </a:pPr>
            <a:r>
              <a:rPr b="0" i="0" lang="en" sz="1036" u="none" cap="none" strike="noStrike">
                <a:solidFill>
                  <a:srgbClr val="1A1F26"/>
                </a:solidFill>
                <a:latin typeface="Consolas"/>
                <a:ea typeface="Consolas"/>
                <a:cs typeface="Consolas"/>
                <a:sym typeface="Consolas"/>
              </a:rPr>
              <a:t>    positive=["king","woman"], negative=["man"])</a:t>
            </a:r>
            <a:endParaRPr b="0" i="0" sz="1036" u="none" cap="none" strike="noStrike">
              <a:solidFill>
                <a:schemeClr val="dk1"/>
              </a:solidFill>
              <a:latin typeface="Calibri"/>
              <a:ea typeface="Calibri"/>
              <a:cs typeface="Calibri"/>
              <a:sym typeface="Calibri"/>
            </a:endParaRPr>
          </a:p>
          <a:p>
            <a:pPr indent="0" lvl="0" marL="0" marR="0" rtl="0" algn="l">
              <a:lnSpc>
                <a:spcPct val="80000"/>
              </a:lnSpc>
              <a:spcBef>
                <a:spcPts val="0"/>
              </a:spcBef>
              <a:spcAft>
                <a:spcPts val="0"/>
              </a:spcAft>
              <a:buClr>
                <a:srgbClr val="1A1F26"/>
              </a:buClr>
              <a:buSzPts val="736"/>
              <a:buFont typeface="Consolas"/>
              <a:buNone/>
            </a:pPr>
            <a:r>
              <a:rPr b="0" i="0" lang="en" sz="1036" u="none" cap="none" strike="noStrike">
                <a:solidFill>
                  <a:srgbClr val="1A1F26"/>
                </a:solidFill>
                <a:latin typeface="Consolas"/>
                <a:ea typeface="Consolas"/>
                <a:cs typeface="Consolas"/>
                <a:sym typeface="Consolas"/>
              </a:rPr>
              <a:t>print(result[0])  # ('queen', 0.9991...)</a:t>
            </a:r>
            <a:endParaRPr b="0" i="0" sz="1036" u="none" cap="none" strike="noStrike">
              <a:solidFill>
                <a:schemeClr val="dk1"/>
              </a:solidFill>
              <a:latin typeface="Calibri"/>
              <a:ea typeface="Calibri"/>
              <a:cs typeface="Calibri"/>
              <a:sym typeface="Calibri"/>
            </a:endParaRPr>
          </a:p>
          <a:p>
            <a:pPr indent="0" lvl="0" marL="0" marR="0" rtl="0" algn="l">
              <a:lnSpc>
                <a:spcPct val="80000"/>
              </a:lnSpc>
              <a:spcBef>
                <a:spcPts val="0"/>
              </a:spcBef>
              <a:spcAft>
                <a:spcPts val="0"/>
              </a:spcAft>
              <a:buClr>
                <a:srgbClr val="000000"/>
              </a:buClr>
              <a:buSzPts val="853"/>
              <a:buFont typeface="Arial"/>
              <a:buNone/>
            </a:pPr>
            <a:r>
              <a:t/>
            </a:r>
            <a:endParaRPr b="0" i="0" sz="1695" u="none" cap="none" strike="noStrike">
              <a:solidFill>
                <a:schemeClr val="dk2"/>
              </a:solidFill>
              <a:latin typeface="Arial"/>
              <a:ea typeface="Arial"/>
              <a:cs typeface="Arial"/>
              <a:sym typeface="Arial"/>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0" name="Shape 2460"/>
        <p:cNvGrpSpPr/>
        <p:nvPr/>
      </p:nvGrpSpPr>
      <p:grpSpPr>
        <a:xfrm>
          <a:off x="0" y="0"/>
          <a:ext cx="0" cy="0"/>
          <a:chOff x="0" y="0"/>
          <a:chExt cx="0" cy="0"/>
        </a:xfrm>
      </p:grpSpPr>
      <p:sp>
        <p:nvSpPr>
          <p:cNvPr id="2461" name="Google Shape;2461;p61"/>
          <p:cNvSpPr/>
          <p:nvPr/>
        </p:nvSpPr>
        <p:spPr>
          <a:xfrm>
            <a:off x="307525" y="184448"/>
            <a:ext cx="822960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D1B2A"/>
              </a:buClr>
              <a:buSzPts val="2600"/>
              <a:buFont typeface="Calibri"/>
              <a:buNone/>
            </a:pPr>
            <a:r>
              <a:rPr b="1" i="0" lang="en" sz="2600" u="none" cap="none" strike="noStrike">
                <a:solidFill>
                  <a:srgbClr val="0D1B2A"/>
                </a:solidFill>
                <a:latin typeface="Calibri"/>
                <a:ea typeface="Calibri"/>
                <a:cs typeface="Calibri"/>
                <a:sym typeface="Calibri"/>
              </a:rPr>
              <a:t>Quiz 6</a:t>
            </a:r>
            <a:endParaRPr b="0" i="0" sz="2600" u="none" cap="none" strike="noStrike">
              <a:solidFill>
                <a:srgbClr val="000000"/>
              </a:solidFill>
              <a:latin typeface="Calibri"/>
              <a:ea typeface="Calibri"/>
              <a:cs typeface="Calibri"/>
              <a:sym typeface="Calibri"/>
            </a:endParaRPr>
          </a:p>
        </p:txBody>
      </p:sp>
      <p:pic>
        <p:nvPicPr>
          <p:cNvPr id="2462" name="Google Shape;2462;p61"/>
          <p:cNvPicPr preferRelativeResize="0"/>
          <p:nvPr/>
        </p:nvPicPr>
        <p:blipFill rotWithShape="1">
          <a:blip r:embed="rId3">
            <a:alphaModFix/>
          </a:blip>
          <a:srcRect b="0" l="0" r="0" t="0"/>
          <a:stretch/>
        </p:blipFill>
        <p:spPr>
          <a:xfrm>
            <a:off x="8295345" y="93761"/>
            <a:ext cx="774877" cy="867174"/>
          </a:xfrm>
          <a:prstGeom prst="rect">
            <a:avLst/>
          </a:prstGeom>
          <a:noFill/>
          <a:ln>
            <a:noFill/>
          </a:ln>
        </p:spPr>
      </p:pic>
      <p:sp>
        <p:nvSpPr>
          <p:cNvPr id="2463" name="Google Shape;2463;p61"/>
          <p:cNvSpPr txBox="1"/>
          <p:nvPr/>
        </p:nvSpPr>
        <p:spPr>
          <a:xfrm>
            <a:off x="491575" y="870250"/>
            <a:ext cx="6045900" cy="4263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100"/>
              <a:buFont typeface="Arial"/>
              <a:buNone/>
            </a:pPr>
            <a:r>
              <a:rPr b="0" i="0" lang="en" sz="1100" u="none" cap="none" strike="noStrike">
                <a:solidFill>
                  <a:schemeClr val="dk1"/>
                </a:solidFill>
                <a:latin typeface="Arial"/>
                <a:ea typeface="Arial"/>
                <a:cs typeface="Arial"/>
                <a:sym typeface="Arial"/>
              </a:rPr>
              <a:t>A fintech startup trains a Word2Vec model on 10 years of </a:t>
            </a:r>
            <a:r>
              <a:rPr b="1" i="0" lang="en" sz="1100" u="none" cap="none" strike="noStrike">
                <a:solidFill>
                  <a:schemeClr val="dk1"/>
                </a:solidFill>
                <a:latin typeface="Arial"/>
                <a:ea typeface="Arial"/>
                <a:cs typeface="Arial"/>
                <a:sym typeface="Arial"/>
              </a:rPr>
              <a:t>Bloomberg</a:t>
            </a:r>
            <a:r>
              <a:rPr b="0" i="0" lang="en" sz="1100" u="none" cap="none" strike="noStrike">
                <a:solidFill>
                  <a:schemeClr val="dk1"/>
                </a:solidFill>
                <a:latin typeface="Arial"/>
                <a:ea typeface="Arial"/>
                <a:cs typeface="Arial"/>
                <a:sym typeface="Arial"/>
              </a:rPr>
              <a:t> financial articles. The model learns strong representations for terms like </a:t>
            </a:r>
            <a:r>
              <a:rPr b="0" i="1" lang="en" sz="1100" u="none" cap="none" strike="noStrike">
                <a:solidFill>
                  <a:schemeClr val="dk1"/>
                </a:solidFill>
                <a:latin typeface="Arial"/>
                <a:ea typeface="Arial"/>
                <a:cs typeface="Arial"/>
                <a:sym typeface="Arial"/>
              </a:rPr>
              <a:t>equity</a:t>
            </a:r>
            <a:r>
              <a:rPr b="0" i="0" lang="en" sz="1100" u="none" cap="none" strike="noStrike">
                <a:solidFill>
                  <a:schemeClr val="dk1"/>
                </a:solidFill>
                <a:latin typeface="Arial"/>
                <a:ea typeface="Arial"/>
                <a:cs typeface="Arial"/>
                <a:sym typeface="Arial"/>
              </a:rPr>
              <a:t>, </a:t>
            </a:r>
            <a:r>
              <a:rPr b="0" i="1" lang="en" sz="1100" u="none" cap="none" strike="noStrike">
                <a:solidFill>
                  <a:schemeClr val="dk1"/>
                </a:solidFill>
                <a:latin typeface="Arial"/>
                <a:ea typeface="Arial"/>
                <a:cs typeface="Arial"/>
                <a:sym typeface="Arial"/>
              </a:rPr>
              <a:t>bond</a:t>
            </a:r>
            <a:r>
              <a:rPr b="0" i="0" lang="en" sz="1100" u="none" cap="none" strike="noStrike">
                <a:solidFill>
                  <a:schemeClr val="dk1"/>
                </a:solidFill>
                <a:latin typeface="Arial"/>
                <a:ea typeface="Arial"/>
                <a:cs typeface="Arial"/>
                <a:sym typeface="Arial"/>
              </a:rPr>
              <a:t>, and </a:t>
            </a:r>
            <a:r>
              <a:rPr b="0" i="1" lang="en" sz="1100" u="none" cap="none" strike="noStrike">
                <a:solidFill>
                  <a:schemeClr val="dk1"/>
                </a:solidFill>
                <a:latin typeface="Arial"/>
                <a:ea typeface="Arial"/>
                <a:cs typeface="Arial"/>
                <a:sym typeface="Arial"/>
              </a:rPr>
              <a:t>bank</a:t>
            </a:r>
            <a:r>
              <a:rPr b="0" i="0" lang="en" sz="1100" u="none" cap="none" strike="noStrike">
                <a:solidFill>
                  <a:schemeClr val="dk1"/>
                </a:solidFill>
                <a:latin typeface="Arial"/>
                <a:ea typeface="Arial"/>
                <a:cs typeface="Arial"/>
                <a:sym typeface="Arial"/>
              </a:rPr>
              <a:t>. They then deploy it as a feature extractor for a general-purpose chatbot. A user types:</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100"/>
              <a:buFont typeface="Arial"/>
              <a:buNone/>
            </a:pPr>
            <a:r>
              <a:rPr b="0" i="1" lang="en" sz="1100" u="none" cap="none" strike="noStrike">
                <a:solidFill>
                  <a:schemeClr val="dk1"/>
                </a:solidFill>
                <a:latin typeface="Arial"/>
                <a:ea typeface="Arial"/>
                <a:cs typeface="Arial"/>
                <a:sym typeface="Arial"/>
              </a:rPr>
              <a:t>"My grandfather used to fish by the bank every Sunday morning." </a:t>
            </a:r>
            <a:endParaRPr b="0" i="1"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100"/>
              <a:buFont typeface="Arial"/>
              <a:buNone/>
            </a:pPr>
            <a:r>
              <a:rPr b="1" i="0" lang="en" sz="1100" u="none" cap="none" strike="noStrike">
                <a:solidFill>
                  <a:srgbClr val="DC2626"/>
                </a:solidFill>
                <a:latin typeface="Arial"/>
                <a:ea typeface="Arial"/>
                <a:cs typeface="Arial"/>
                <a:sym typeface="Arial"/>
              </a:rPr>
              <a:t>The model produces misleading answer</a:t>
            </a:r>
            <a:endParaRPr b="1" i="0" sz="1100" u="none" cap="none" strike="noStrike">
              <a:solidFill>
                <a:srgbClr val="DC2626"/>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100"/>
              <a:buFont typeface="Arial"/>
              <a:buNone/>
            </a:pPr>
            <a:r>
              <a:rPr b="0" i="0" lang="en" sz="1100" u="none" cap="none" strike="noStrike">
                <a:solidFill>
                  <a:schemeClr val="dk1"/>
                </a:solidFill>
                <a:latin typeface="Arial"/>
                <a:ea typeface="Arial"/>
                <a:cs typeface="Arial"/>
                <a:sym typeface="Arial"/>
              </a:rPr>
              <a:t>Which of the following best explains why the model produce a misleading representation for the word </a:t>
            </a:r>
            <a:r>
              <a:rPr b="0" i="1" lang="en" sz="1100" u="none" cap="none" strike="noStrike">
                <a:solidFill>
                  <a:schemeClr val="dk1"/>
                </a:solidFill>
                <a:latin typeface="Arial"/>
                <a:ea typeface="Arial"/>
                <a:cs typeface="Arial"/>
                <a:sym typeface="Arial"/>
              </a:rPr>
              <a:t>bank</a:t>
            </a:r>
            <a:r>
              <a:rPr b="0" i="0" lang="en" sz="1100" u="none" cap="none" strike="noStrike">
                <a:solidFill>
                  <a:schemeClr val="dk1"/>
                </a:solidFill>
                <a:latin typeface="Arial"/>
                <a:ea typeface="Arial"/>
                <a:cs typeface="Arial"/>
                <a:sym typeface="Arial"/>
              </a:rPr>
              <a:t> in this sentence? </a:t>
            </a:r>
            <a:endParaRPr b="0" i="1" sz="1100" u="none" cap="none" strike="noStrike">
              <a:solidFill>
                <a:schemeClr val="dk1"/>
              </a:solidFill>
              <a:latin typeface="Arial"/>
              <a:ea typeface="Arial"/>
              <a:cs typeface="Arial"/>
              <a:sym typeface="Arial"/>
            </a:endParaRPr>
          </a:p>
          <a:p>
            <a:pPr indent="0" lvl="0" marL="457200" marR="0" rtl="0" algn="l">
              <a:lnSpc>
                <a:spcPct val="115000"/>
              </a:lnSpc>
              <a:spcBef>
                <a:spcPts val="1200"/>
              </a:spcBef>
              <a:spcAft>
                <a:spcPts val="0"/>
              </a:spcAft>
              <a:buClr>
                <a:srgbClr val="000000"/>
              </a:buClr>
              <a:buSzPts val="1100"/>
              <a:buFont typeface="Arial"/>
              <a:buNone/>
            </a:pPr>
            <a:r>
              <a:rPr b="1" i="0" lang="en" sz="1100" u="none" cap="none" strike="noStrike">
                <a:solidFill>
                  <a:schemeClr val="dk1"/>
                </a:solidFill>
                <a:latin typeface="Calibri"/>
                <a:ea typeface="Calibri"/>
                <a:cs typeface="Calibri"/>
                <a:sym typeface="Calibri"/>
              </a:rPr>
              <a:t>A)</a:t>
            </a:r>
            <a:r>
              <a:rPr b="0" i="0" lang="en" sz="1700" u="none" cap="none" strike="noStrike">
                <a:solidFill>
                  <a:schemeClr val="dk1"/>
                </a:solidFill>
                <a:latin typeface="Calibri"/>
                <a:ea typeface="Calibri"/>
                <a:cs typeface="Calibri"/>
                <a:sym typeface="Calibri"/>
              </a:rPr>
              <a:t> </a:t>
            </a:r>
            <a:r>
              <a:rPr b="0" i="0" lang="en" sz="1100" u="none" cap="none" strike="noStrike">
                <a:solidFill>
                  <a:schemeClr val="dk1"/>
                </a:solidFill>
                <a:latin typeface="Arial"/>
                <a:ea typeface="Arial"/>
                <a:cs typeface="Arial"/>
                <a:sym typeface="Arial"/>
              </a:rPr>
              <a:t>The model was trained on too little data — with more Bloomberg articles, it would eventually learn the river-bank sense as well.</a:t>
            </a:r>
            <a:endParaRPr b="0" i="0" sz="1100" u="none" cap="none" strike="noStrike">
              <a:solidFill>
                <a:schemeClr val="dk1"/>
              </a:solidFill>
              <a:latin typeface="Arial"/>
              <a:ea typeface="Arial"/>
              <a:cs typeface="Arial"/>
              <a:sym typeface="Arial"/>
            </a:endParaRPr>
          </a:p>
          <a:p>
            <a:pPr indent="0" lvl="0" marL="457200" marR="0" rtl="0" algn="l">
              <a:lnSpc>
                <a:spcPct val="115000"/>
              </a:lnSpc>
              <a:spcBef>
                <a:spcPts val="1200"/>
              </a:spcBef>
              <a:spcAft>
                <a:spcPts val="0"/>
              </a:spcAft>
              <a:buClr>
                <a:srgbClr val="000000"/>
              </a:buClr>
              <a:buSzPts val="1100"/>
              <a:buFont typeface="Arial"/>
              <a:buNone/>
            </a:pPr>
            <a:r>
              <a:rPr b="1" i="0" lang="en" sz="1100" u="none" cap="none" strike="noStrike">
                <a:solidFill>
                  <a:schemeClr val="dk1"/>
                </a:solidFill>
                <a:latin typeface="Arial"/>
                <a:ea typeface="Arial"/>
                <a:cs typeface="Arial"/>
                <a:sym typeface="Arial"/>
              </a:rPr>
              <a:t>B)</a:t>
            </a:r>
            <a:r>
              <a:rPr b="0" i="0" lang="en" sz="1100" u="none" cap="none" strike="noStrike">
                <a:solidFill>
                  <a:schemeClr val="dk1"/>
                </a:solidFill>
                <a:latin typeface="Arial"/>
                <a:ea typeface="Arial"/>
                <a:cs typeface="Arial"/>
                <a:sym typeface="Arial"/>
              </a:rPr>
              <a:t> Word2Vec's 300-dimensional vectors are too small to store multiple meanings simultaneously.</a:t>
            </a:r>
            <a:endParaRPr b="0" i="0" sz="1100" u="none" cap="none" strike="noStrike">
              <a:solidFill>
                <a:schemeClr val="dk1"/>
              </a:solidFill>
              <a:latin typeface="Arial"/>
              <a:ea typeface="Arial"/>
              <a:cs typeface="Arial"/>
              <a:sym typeface="Arial"/>
            </a:endParaRPr>
          </a:p>
          <a:p>
            <a:pPr indent="0" lvl="0" marL="457200" marR="0" rtl="0" algn="l">
              <a:lnSpc>
                <a:spcPct val="115000"/>
              </a:lnSpc>
              <a:spcBef>
                <a:spcPts val="1200"/>
              </a:spcBef>
              <a:spcAft>
                <a:spcPts val="0"/>
              </a:spcAft>
              <a:buClr>
                <a:srgbClr val="000000"/>
              </a:buClr>
              <a:buSzPts val="1100"/>
              <a:buFont typeface="Arial"/>
              <a:buNone/>
            </a:pPr>
            <a:r>
              <a:rPr b="1" i="0" lang="en" sz="1100" u="none" cap="none" strike="noStrike">
                <a:solidFill>
                  <a:schemeClr val="dk1"/>
                </a:solidFill>
                <a:latin typeface="Arial"/>
                <a:ea typeface="Arial"/>
                <a:cs typeface="Arial"/>
                <a:sym typeface="Arial"/>
              </a:rPr>
              <a:t>C)</a:t>
            </a:r>
            <a:r>
              <a:rPr b="0" i="0" lang="en" sz="1100" u="none" cap="none" strike="noStrike">
                <a:solidFill>
                  <a:schemeClr val="dk1"/>
                </a:solidFill>
                <a:latin typeface="Arial"/>
                <a:ea typeface="Arial"/>
                <a:cs typeface="Arial"/>
                <a:sym typeface="Arial"/>
              </a:rPr>
              <a:t> Word2Vec collapses all usages of "bank" into a single vector during training, so at inference time it has no mechanism to consult surrounding words and shift meaning.</a:t>
            </a:r>
            <a:endParaRPr b="0" i="0" sz="1100" u="none" cap="none" strike="noStrike">
              <a:solidFill>
                <a:schemeClr val="dk1"/>
              </a:solidFill>
              <a:latin typeface="Arial"/>
              <a:ea typeface="Arial"/>
              <a:cs typeface="Arial"/>
              <a:sym typeface="Arial"/>
            </a:endParaRPr>
          </a:p>
          <a:p>
            <a:pPr indent="0" lvl="0" marL="457200" marR="0" rtl="0" algn="l">
              <a:lnSpc>
                <a:spcPct val="115000"/>
              </a:lnSpc>
              <a:spcBef>
                <a:spcPts val="1200"/>
              </a:spcBef>
              <a:spcAft>
                <a:spcPts val="1200"/>
              </a:spcAft>
              <a:buClr>
                <a:srgbClr val="000000"/>
              </a:buClr>
              <a:buSzPts val="1100"/>
              <a:buFont typeface="Arial"/>
              <a:buNone/>
            </a:pPr>
            <a:r>
              <a:rPr b="1" i="0" lang="en" sz="1100" u="none" cap="none" strike="noStrike">
                <a:solidFill>
                  <a:schemeClr val="dk1"/>
                </a:solidFill>
                <a:latin typeface="Arial"/>
                <a:ea typeface="Arial"/>
                <a:cs typeface="Arial"/>
                <a:sym typeface="Arial"/>
              </a:rPr>
              <a:t>D)</a:t>
            </a:r>
            <a:r>
              <a:rPr b="0" i="0" lang="en" sz="1100" u="none" cap="none" strike="noStrike">
                <a:solidFill>
                  <a:schemeClr val="dk1"/>
                </a:solidFill>
                <a:latin typeface="Arial"/>
                <a:ea typeface="Arial"/>
                <a:cs typeface="Arial"/>
                <a:sym typeface="Arial"/>
              </a:rPr>
              <a:t> The CBOW training objective only looks at surrounding words during training, not at inference — so context-dependent disambiguation was never part of the design.</a:t>
            </a:r>
            <a:endParaRPr b="0" i="0" sz="1700" u="none" cap="none" strike="noStrike">
              <a:solidFill>
                <a:schemeClr val="dk1"/>
              </a:solidFill>
              <a:latin typeface="Calibri"/>
              <a:ea typeface="Calibri"/>
              <a:cs typeface="Calibri"/>
              <a:sym typeface="Calibri"/>
            </a:endParaRPr>
          </a:p>
        </p:txBody>
      </p:sp>
      <p:pic>
        <p:nvPicPr>
          <p:cNvPr id="2464" name="Google Shape;2464;p61"/>
          <p:cNvPicPr preferRelativeResize="0"/>
          <p:nvPr/>
        </p:nvPicPr>
        <p:blipFill rotWithShape="1">
          <a:blip r:embed="rId4">
            <a:alphaModFix/>
          </a:blip>
          <a:srcRect b="0" l="0" r="0" t="0"/>
          <a:stretch/>
        </p:blipFill>
        <p:spPr>
          <a:xfrm>
            <a:off x="6689875" y="1113335"/>
            <a:ext cx="2301725" cy="3180446"/>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8" name="Shape 2468"/>
        <p:cNvGrpSpPr/>
        <p:nvPr/>
      </p:nvGrpSpPr>
      <p:grpSpPr>
        <a:xfrm>
          <a:off x="0" y="0"/>
          <a:ext cx="0" cy="0"/>
          <a:chOff x="0" y="0"/>
          <a:chExt cx="0" cy="0"/>
        </a:xfrm>
      </p:grpSpPr>
      <p:sp>
        <p:nvSpPr>
          <p:cNvPr id="2469" name="Google Shape;2469;p62"/>
          <p:cNvSpPr/>
          <p:nvPr/>
        </p:nvSpPr>
        <p:spPr>
          <a:xfrm>
            <a:off x="269600" y="242860"/>
            <a:ext cx="822960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D1B2A"/>
              </a:buClr>
              <a:buSzPts val="2600"/>
              <a:buFont typeface="Calibri"/>
              <a:buNone/>
            </a:pPr>
            <a:r>
              <a:rPr b="1" i="0" lang="en" sz="2600" u="none" cap="none" strike="noStrike">
                <a:solidFill>
                  <a:srgbClr val="0D1B2A"/>
                </a:solidFill>
                <a:latin typeface="Calibri"/>
                <a:ea typeface="Calibri"/>
                <a:cs typeface="Calibri"/>
                <a:sym typeface="Calibri"/>
              </a:rPr>
              <a:t>Quiz 6</a:t>
            </a:r>
            <a:endParaRPr b="0" i="0" sz="2600" u="none" cap="none" strike="noStrike">
              <a:solidFill>
                <a:srgbClr val="000000"/>
              </a:solidFill>
              <a:latin typeface="Calibri"/>
              <a:ea typeface="Calibri"/>
              <a:cs typeface="Calibri"/>
              <a:sym typeface="Calibri"/>
            </a:endParaRPr>
          </a:p>
        </p:txBody>
      </p:sp>
      <p:pic>
        <p:nvPicPr>
          <p:cNvPr id="2470" name="Google Shape;2470;p62"/>
          <p:cNvPicPr preferRelativeResize="0"/>
          <p:nvPr/>
        </p:nvPicPr>
        <p:blipFill rotWithShape="1">
          <a:blip r:embed="rId3">
            <a:alphaModFix/>
          </a:blip>
          <a:srcRect b="0" l="0" r="0" t="0"/>
          <a:stretch/>
        </p:blipFill>
        <p:spPr>
          <a:xfrm>
            <a:off x="8295345" y="93761"/>
            <a:ext cx="774877" cy="867174"/>
          </a:xfrm>
          <a:prstGeom prst="rect">
            <a:avLst/>
          </a:prstGeom>
          <a:noFill/>
          <a:ln>
            <a:noFill/>
          </a:ln>
        </p:spPr>
      </p:pic>
      <p:sp>
        <p:nvSpPr>
          <p:cNvPr id="2471" name="Google Shape;2471;p62"/>
          <p:cNvSpPr txBox="1"/>
          <p:nvPr/>
        </p:nvSpPr>
        <p:spPr>
          <a:xfrm>
            <a:off x="514325" y="928650"/>
            <a:ext cx="6045900" cy="3915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100"/>
              <a:buFont typeface="Arial"/>
              <a:buNone/>
            </a:pPr>
            <a:r>
              <a:rPr b="0" i="0" lang="en" sz="1100" u="none" cap="none" strike="noStrike">
                <a:solidFill>
                  <a:schemeClr val="dk1"/>
                </a:solidFill>
                <a:latin typeface="Arial"/>
                <a:ea typeface="Arial"/>
                <a:cs typeface="Arial"/>
                <a:sym typeface="Arial"/>
              </a:rPr>
              <a:t>A fintech startup trains a Word2Vec model on 10 years of </a:t>
            </a:r>
            <a:r>
              <a:rPr b="1" i="0" lang="en" sz="1100" u="none" cap="none" strike="noStrike">
                <a:solidFill>
                  <a:schemeClr val="dk1"/>
                </a:solidFill>
                <a:latin typeface="Arial"/>
                <a:ea typeface="Arial"/>
                <a:cs typeface="Arial"/>
                <a:sym typeface="Arial"/>
              </a:rPr>
              <a:t>Bloomberg</a:t>
            </a:r>
            <a:r>
              <a:rPr b="0" i="0" lang="en" sz="1100" u="none" cap="none" strike="noStrike">
                <a:solidFill>
                  <a:schemeClr val="dk1"/>
                </a:solidFill>
                <a:latin typeface="Arial"/>
                <a:ea typeface="Arial"/>
                <a:cs typeface="Arial"/>
                <a:sym typeface="Arial"/>
              </a:rPr>
              <a:t> financial articles. The model learns strong representations for terms like </a:t>
            </a:r>
            <a:r>
              <a:rPr b="0" i="1" lang="en" sz="1100" u="none" cap="none" strike="noStrike">
                <a:solidFill>
                  <a:schemeClr val="dk1"/>
                </a:solidFill>
                <a:latin typeface="Arial"/>
                <a:ea typeface="Arial"/>
                <a:cs typeface="Arial"/>
                <a:sym typeface="Arial"/>
              </a:rPr>
              <a:t>equity</a:t>
            </a:r>
            <a:r>
              <a:rPr b="0" i="0" lang="en" sz="1100" u="none" cap="none" strike="noStrike">
                <a:solidFill>
                  <a:schemeClr val="dk1"/>
                </a:solidFill>
                <a:latin typeface="Arial"/>
                <a:ea typeface="Arial"/>
                <a:cs typeface="Arial"/>
                <a:sym typeface="Arial"/>
              </a:rPr>
              <a:t>, </a:t>
            </a:r>
            <a:r>
              <a:rPr b="0" i="1" lang="en" sz="1100" u="none" cap="none" strike="noStrike">
                <a:solidFill>
                  <a:schemeClr val="dk1"/>
                </a:solidFill>
                <a:latin typeface="Arial"/>
                <a:ea typeface="Arial"/>
                <a:cs typeface="Arial"/>
                <a:sym typeface="Arial"/>
              </a:rPr>
              <a:t>bond</a:t>
            </a:r>
            <a:r>
              <a:rPr b="0" i="0" lang="en" sz="1100" u="none" cap="none" strike="noStrike">
                <a:solidFill>
                  <a:schemeClr val="dk1"/>
                </a:solidFill>
                <a:latin typeface="Arial"/>
                <a:ea typeface="Arial"/>
                <a:cs typeface="Arial"/>
                <a:sym typeface="Arial"/>
              </a:rPr>
              <a:t>, and </a:t>
            </a:r>
            <a:r>
              <a:rPr b="0" i="1" lang="en" sz="1100" u="none" cap="none" strike="noStrike">
                <a:solidFill>
                  <a:schemeClr val="dk1"/>
                </a:solidFill>
                <a:latin typeface="Arial"/>
                <a:ea typeface="Arial"/>
                <a:cs typeface="Arial"/>
                <a:sym typeface="Arial"/>
              </a:rPr>
              <a:t>bank</a:t>
            </a:r>
            <a:r>
              <a:rPr b="0" i="0" lang="en" sz="1100" u="none" cap="none" strike="noStrike">
                <a:solidFill>
                  <a:schemeClr val="dk1"/>
                </a:solidFill>
                <a:latin typeface="Arial"/>
                <a:ea typeface="Arial"/>
                <a:cs typeface="Arial"/>
                <a:sym typeface="Arial"/>
              </a:rPr>
              <a:t>. They then deploy it as a feature extractor for a general-purpose chatbot. A user types:</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100"/>
              <a:buFont typeface="Arial"/>
              <a:buNone/>
            </a:pPr>
            <a:r>
              <a:rPr b="0" i="1" lang="en" sz="1100" u="none" cap="none" strike="noStrike">
                <a:solidFill>
                  <a:schemeClr val="dk1"/>
                </a:solidFill>
                <a:latin typeface="Arial"/>
                <a:ea typeface="Arial"/>
                <a:cs typeface="Arial"/>
                <a:sym typeface="Arial"/>
              </a:rPr>
              <a:t>"My grandfather used to fish by the bank every Sunday morning."</a:t>
            </a:r>
            <a:endParaRPr b="0" i="1"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100"/>
              <a:buFont typeface="Arial"/>
              <a:buNone/>
            </a:pPr>
            <a:r>
              <a:rPr b="0" i="0" lang="en" sz="1100" u="none" cap="none" strike="noStrike">
                <a:solidFill>
                  <a:schemeClr val="dk1"/>
                </a:solidFill>
                <a:latin typeface="Arial"/>
                <a:ea typeface="Arial"/>
                <a:cs typeface="Arial"/>
                <a:sym typeface="Arial"/>
              </a:rPr>
              <a:t>Which of the following best explains why the model will produce a misleading representation for the word </a:t>
            </a:r>
            <a:r>
              <a:rPr b="0" i="1" lang="en" sz="1100" u="none" cap="none" strike="noStrike">
                <a:solidFill>
                  <a:schemeClr val="dk1"/>
                </a:solidFill>
                <a:latin typeface="Arial"/>
                <a:ea typeface="Arial"/>
                <a:cs typeface="Arial"/>
                <a:sym typeface="Arial"/>
              </a:rPr>
              <a:t>bank</a:t>
            </a:r>
            <a:r>
              <a:rPr b="0" i="0" lang="en" sz="1100" u="none" cap="none" strike="noStrike">
                <a:solidFill>
                  <a:schemeClr val="dk1"/>
                </a:solidFill>
                <a:latin typeface="Arial"/>
                <a:ea typeface="Arial"/>
                <a:cs typeface="Arial"/>
                <a:sym typeface="Arial"/>
              </a:rPr>
              <a:t> in this sentence? </a:t>
            </a:r>
            <a:endParaRPr b="0" i="1" sz="1100" u="none" cap="none" strike="noStrike">
              <a:solidFill>
                <a:schemeClr val="dk1"/>
              </a:solidFill>
              <a:latin typeface="Arial"/>
              <a:ea typeface="Arial"/>
              <a:cs typeface="Arial"/>
              <a:sym typeface="Arial"/>
            </a:endParaRPr>
          </a:p>
          <a:p>
            <a:pPr indent="0" lvl="0" marL="457200" marR="0" rtl="0" algn="l">
              <a:lnSpc>
                <a:spcPct val="115000"/>
              </a:lnSpc>
              <a:spcBef>
                <a:spcPts val="1200"/>
              </a:spcBef>
              <a:spcAft>
                <a:spcPts val="0"/>
              </a:spcAft>
              <a:buClr>
                <a:srgbClr val="000000"/>
              </a:buClr>
              <a:buSzPts val="1100"/>
              <a:buFont typeface="Arial"/>
              <a:buNone/>
            </a:pPr>
            <a:r>
              <a:rPr b="1" i="0" lang="en" sz="1100" u="none" cap="none" strike="noStrike">
                <a:solidFill>
                  <a:schemeClr val="dk1"/>
                </a:solidFill>
                <a:latin typeface="Calibri"/>
                <a:ea typeface="Calibri"/>
                <a:cs typeface="Calibri"/>
                <a:sym typeface="Calibri"/>
              </a:rPr>
              <a:t>A)</a:t>
            </a:r>
            <a:r>
              <a:rPr b="0" i="0" lang="en" sz="1700" u="none" cap="none" strike="noStrike">
                <a:solidFill>
                  <a:schemeClr val="dk1"/>
                </a:solidFill>
                <a:latin typeface="Calibri"/>
                <a:ea typeface="Calibri"/>
                <a:cs typeface="Calibri"/>
                <a:sym typeface="Calibri"/>
              </a:rPr>
              <a:t> </a:t>
            </a:r>
            <a:r>
              <a:rPr b="0" i="0" lang="en" sz="1100" u="none" cap="none" strike="noStrike">
                <a:solidFill>
                  <a:schemeClr val="dk1"/>
                </a:solidFill>
                <a:latin typeface="Arial"/>
                <a:ea typeface="Arial"/>
                <a:cs typeface="Arial"/>
                <a:sym typeface="Arial"/>
              </a:rPr>
              <a:t>The model was trained on too little data — with more Bloomberg articles, it would eventually learn the river-bank sense as well.</a:t>
            </a:r>
            <a:endParaRPr b="0" i="0" sz="1100" u="none" cap="none" strike="noStrike">
              <a:solidFill>
                <a:schemeClr val="dk1"/>
              </a:solidFill>
              <a:latin typeface="Arial"/>
              <a:ea typeface="Arial"/>
              <a:cs typeface="Arial"/>
              <a:sym typeface="Arial"/>
            </a:endParaRPr>
          </a:p>
          <a:p>
            <a:pPr indent="0" lvl="0" marL="457200" marR="0" rtl="0" algn="l">
              <a:lnSpc>
                <a:spcPct val="115000"/>
              </a:lnSpc>
              <a:spcBef>
                <a:spcPts val="1200"/>
              </a:spcBef>
              <a:spcAft>
                <a:spcPts val="0"/>
              </a:spcAft>
              <a:buClr>
                <a:srgbClr val="000000"/>
              </a:buClr>
              <a:buSzPts val="1100"/>
              <a:buFont typeface="Arial"/>
              <a:buNone/>
            </a:pPr>
            <a:r>
              <a:rPr b="1" i="0" lang="en" sz="1100" u="none" cap="none" strike="noStrike">
                <a:solidFill>
                  <a:schemeClr val="dk1"/>
                </a:solidFill>
                <a:latin typeface="Arial"/>
                <a:ea typeface="Arial"/>
                <a:cs typeface="Arial"/>
                <a:sym typeface="Arial"/>
              </a:rPr>
              <a:t>B)</a:t>
            </a:r>
            <a:r>
              <a:rPr b="0" i="0" lang="en" sz="1100" u="none" cap="none" strike="noStrike">
                <a:solidFill>
                  <a:schemeClr val="dk1"/>
                </a:solidFill>
                <a:latin typeface="Arial"/>
                <a:ea typeface="Arial"/>
                <a:cs typeface="Arial"/>
                <a:sym typeface="Arial"/>
              </a:rPr>
              <a:t> Word2Vec's 300-dimensional vectors are too small to store multiple meanings simultaneously.</a:t>
            </a:r>
            <a:endParaRPr b="0" i="0" sz="1100" u="none" cap="none" strike="noStrike">
              <a:solidFill>
                <a:schemeClr val="dk1"/>
              </a:solidFill>
              <a:latin typeface="Arial"/>
              <a:ea typeface="Arial"/>
              <a:cs typeface="Arial"/>
              <a:sym typeface="Arial"/>
            </a:endParaRPr>
          </a:p>
          <a:p>
            <a:pPr indent="0" lvl="0" marL="457200" marR="0" rtl="0" algn="l">
              <a:lnSpc>
                <a:spcPct val="115000"/>
              </a:lnSpc>
              <a:spcBef>
                <a:spcPts val="1200"/>
              </a:spcBef>
              <a:spcAft>
                <a:spcPts val="0"/>
              </a:spcAft>
              <a:buClr>
                <a:srgbClr val="000000"/>
              </a:buClr>
              <a:buSzPts val="1100"/>
              <a:buFont typeface="Arial"/>
              <a:buNone/>
            </a:pPr>
            <a:r>
              <a:rPr b="1" i="0" lang="en" sz="1100" u="none" cap="none" strike="noStrike">
                <a:solidFill>
                  <a:schemeClr val="dk1"/>
                </a:solidFill>
                <a:latin typeface="Arial"/>
                <a:ea typeface="Arial"/>
                <a:cs typeface="Arial"/>
                <a:sym typeface="Arial"/>
              </a:rPr>
              <a:t>C)</a:t>
            </a:r>
            <a:r>
              <a:rPr b="0" i="0" lang="en" sz="1100" u="none" cap="none" strike="noStrike">
                <a:solidFill>
                  <a:schemeClr val="dk1"/>
                </a:solidFill>
                <a:latin typeface="Arial"/>
                <a:ea typeface="Arial"/>
                <a:cs typeface="Arial"/>
                <a:sym typeface="Arial"/>
              </a:rPr>
              <a:t> Word2Vec collapses all usages of "bank" into a single vector during training, so at inference time it has no mechanism to consult surrounding words and shift meaning.</a:t>
            </a:r>
            <a:endParaRPr b="0" i="0" sz="1100" u="none" cap="none" strike="noStrike">
              <a:solidFill>
                <a:schemeClr val="dk1"/>
              </a:solidFill>
              <a:latin typeface="Arial"/>
              <a:ea typeface="Arial"/>
              <a:cs typeface="Arial"/>
              <a:sym typeface="Arial"/>
            </a:endParaRPr>
          </a:p>
          <a:p>
            <a:pPr indent="0" lvl="0" marL="457200" marR="0" rtl="0" algn="l">
              <a:lnSpc>
                <a:spcPct val="115000"/>
              </a:lnSpc>
              <a:spcBef>
                <a:spcPts val="1200"/>
              </a:spcBef>
              <a:spcAft>
                <a:spcPts val="1200"/>
              </a:spcAft>
              <a:buClr>
                <a:srgbClr val="000000"/>
              </a:buClr>
              <a:buSzPts val="1100"/>
              <a:buFont typeface="Arial"/>
              <a:buNone/>
            </a:pPr>
            <a:r>
              <a:rPr b="1" i="0" lang="en" sz="1100" u="none" cap="none" strike="noStrike">
                <a:solidFill>
                  <a:schemeClr val="dk1"/>
                </a:solidFill>
                <a:latin typeface="Arial"/>
                <a:ea typeface="Arial"/>
                <a:cs typeface="Arial"/>
                <a:sym typeface="Arial"/>
              </a:rPr>
              <a:t>D)</a:t>
            </a:r>
            <a:r>
              <a:rPr b="0" i="0" lang="en" sz="1100" u="none" cap="none" strike="noStrike">
                <a:solidFill>
                  <a:schemeClr val="dk1"/>
                </a:solidFill>
                <a:latin typeface="Arial"/>
                <a:ea typeface="Arial"/>
                <a:cs typeface="Arial"/>
                <a:sym typeface="Arial"/>
              </a:rPr>
              <a:t> The CBOW training objective only looks at surrounding words during training, not at inference — so context-dependent disambiguation was never part of the design.</a:t>
            </a:r>
            <a:endParaRPr b="0" i="0" sz="1700" u="none" cap="none" strike="noStrike">
              <a:solidFill>
                <a:schemeClr val="dk1"/>
              </a:solidFill>
              <a:latin typeface="Calibri"/>
              <a:ea typeface="Calibri"/>
              <a:cs typeface="Calibri"/>
              <a:sym typeface="Calibri"/>
            </a:endParaRPr>
          </a:p>
        </p:txBody>
      </p:sp>
      <p:sp>
        <p:nvSpPr>
          <p:cNvPr id="2472" name="Google Shape;2472;p62"/>
          <p:cNvSpPr txBox="1"/>
          <p:nvPr/>
        </p:nvSpPr>
        <p:spPr>
          <a:xfrm>
            <a:off x="6258025" y="3952105"/>
            <a:ext cx="5097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1200"/>
              </a:spcAft>
              <a:buClr>
                <a:srgbClr val="000000"/>
              </a:buClr>
              <a:buSzPts val="1700"/>
              <a:buFont typeface="Arial"/>
              <a:buNone/>
            </a:pPr>
            <a:r>
              <a:rPr b="0" i="0" lang="en" sz="1700" u="none" cap="none" strike="noStrike">
                <a:solidFill>
                  <a:schemeClr val="dk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pic>
        <p:nvPicPr>
          <p:cNvPr id="2473" name="Google Shape;2473;p62"/>
          <p:cNvPicPr preferRelativeResize="0"/>
          <p:nvPr/>
        </p:nvPicPr>
        <p:blipFill rotWithShape="1">
          <a:blip r:embed="rId4">
            <a:alphaModFix/>
          </a:blip>
          <a:srcRect b="0" l="0" r="0" t="0"/>
          <a:stretch/>
        </p:blipFill>
        <p:spPr>
          <a:xfrm>
            <a:off x="6767725" y="1113324"/>
            <a:ext cx="2223875" cy="3072881"/>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478" name="Shape 2478"/>
        <p:cNvGrpSpPr/>
        <p:nvPr/>
      </p:nvGrpSpPr>
      <p:grpSpPr>
        <a:xfrm>
          <a:off x="0" y="0"/>
          <a:ext cx="0" cy="0"/>
          <a:chOff x="0" y="0"/>
          <a:chExt cx="0" cy="0"/>
        </a:xfrm>
      </p:grpSpPr>
      <p:sp>
        <p:nvSpPr>
          <p:cNvPr id="2479" name="Google Shape;2479;p63"/>
          <p:cNvSpPr/>
          <p:nvPr/>
        </p:nvSpPr>
        <p:spPr>
          <a:xfrm>
            <a:off x="365760" y="411480"/>
            <a:ext cx="8412600" cy="594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F26"/>
              </a:buClr>
              <a:buSzPts val="3000"/>
              <a:buFont typeface="Calibri"/>
              <a:buNone/>
            </a:pPr>
            <a:r>
              <a:rPr b="1" i="0" lang="en" sz="3000" u="none" cap="none" strike="noStrike">
                <a:solidFill>
                  <a:srgbClr val="1A1F26"/>
                </a:solidFill>
                <a:latin typeface="Calibri"/>
                <a:ea typeface="Calibri"/>
                <a:cs typeface="Calibri"/>
                <a:sym typeface="Calibri"/>
              </a:rPr>
              <a:t>Static Embeddings Can't Handle Polysemy</a:t>
            </a:r>
            <a:endParaRPr b="0" i="0" sz="3000" u="none" cap="none" strike="noStrike">
              <a:solidFill>
                <a:schemeClr val="dk1"/>
              </a:solidFill>
              <a:latin typeface="Calibri"/>
              <a:ea typeface="Calibri"/>
              <a:cs typeface="Calibri"/>
              <a:sym typeface="Calibri"/>
            </a:endParaRPr>
          </a:p>
        </p:txBody>
      </p:sp>
      <p:sp>
        <p:nvSpPr>
          <p:cNvPr id="2480" name="Google Shape;2480;p63"/>
          <p:cNvSpPr/>
          <p:nvPr/>
        </p:nvSpPr>
        <p:spPr>
          <a:xfrm>
            <a:off x="320040" y="1143000"/>
            <a:ext cx="5486400" cy="2834700"/>
          </a:xfrm>
          <a:prstGeom prst="rect">
            <a:avLst/>
          </a:prstGeom>
          <a:solidFill>
            <a:schemeClr val="lt1"/>
          </a:solidFill>
          <a:ln cap="flat" cmpd="sng" w="12700">
            <a:solidFill>
              <a:srgbClr val="0077AA"/>
            </a:solidFill>
            <a:prstDash val="solid"/>
            <a:round/>
            <a:headEnd len="sm" w="sm" type="none"/>
            <a:tailEnd len="sm" w="sm" type="none"/>
          </a:ln>
          <a:effectLst>
            <a:outerShdw blurRad="101600" rotWithShape="0" algn="bl" dir="8100000" dist="38100">
              <a:srgbClr val="000000">
                <a:alpha val="3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1" name="Google Shape;2481;p63"/>
          <p:cNvSpPr/>
          <p:nvPr/>
        </p:nvSpPr>
        <p:spPr>
          <a:xfrm>
            <a:off x="-72070" y="1228642"/>
            <a:ext cx="1645800" cy="255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8F9FA"/>
              </a:buClr>
              <a:buSzPts val="900"/>
              <a:buFont typeface="Calibri"/>
              <a:buNone/>
            </a:pPr>
            <a:r>
              <a:rPr b="1" i="0" lang="en" sz="1500" u="none" cap="none" strike="noStrike">
                <a:solidFill>
                  <a:schemeClr val="dk1"/>
                </a:solidFill>
                <a:latin typeface="Calibri"/>
                <a:ea typeface="Calibri"/>
                <a:cs typeface="Calibri"/>
                <a:sym typeface="Calibri"/>
              </a:rPr>
              <a:t>PyTorch</a:t>
            </a:r>
            <a:endParaRPr b="0" i="0" sz="1500" u="none" cap="none" strike="noStrike">
              <a:solidFill>
                <a:schemeClr val="dk1"/>
              </a:solidFill>
              <a:latin typeface="Calibri"/>
              <a:ea typeface="Calibri"/>
              <a:cs typeface="Calibri"/>
              <a:sym typeface="Calibri"/>
            </a:endParaRPr>
          </a:p>
        </p:txBody>
      </p:sp>
      <p:sp>
        <p:nvSpPr>
          <p:cNvPr id="2482" name="Google Shape;2482;p63"/>
          <p:cNvSpPr/>
          <p:nvPr/>
        </p:nvSpPr>
        <p:spPr>
          <a:xfrm>
            <a:off x="419314" y="1623785"/>
            <a:ext cx="5266800" cy="2432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A1F26"/>
              </a:buClr>
              <a:buSzPts val="950"/>
              <a:buFont typeface="Consolas"/>
              <a:buNone/>
            </a:pPr>
            <a:r>
              <a:rPr b="0" i="0" lang="en" sz="1050" u="none" cap="none" strike="noStrike">
                <a:solidFill>
                  <a:srgbClr val="1A1F26"/>
                </a:solidFill>
                <a:latin typeface="Consolas"/>
                <a:ea typeface="Consolas"/>
                <a:cs typeface="Consolas"/>
                <a:sym typeface="Consolas"/>
              </a:rPr>
              <a:t># Word2Vec gives ONE vector per word, regardless of context</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F26"/>
              </a:buClr>
              <a:buSzPts val="950"/>
              <a:buFont typeface="Consolas"/>
              <a:buNone/>
            </a:pPr>
            <a:r>
              <a:rPr b="0" i="0" lang="en" sz="1050" u="none" cap="none" strike="noStrike">
                <a:solidFill>
                  <a:srgbClr val="1A1F26"/>
                </a:solidFill>
                <a:latin typeface="Consolas"/>
                <a:ea typeface="Consolas"/>
                <a:cs typeface="Consolas"/>
                <a:sym typeface="Consolas"/>
              </a:rPr>
              <a:t>model = Word2Vec.load("word2vec-google-news-300")</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9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F26"/>
              </a:buClr>
              <a:buSzPts val="950"/>
              <a:buFont typeface="Consolas"/>
              <a:buNone/>
            </a:pPr>
            <a:r>
              <a:rPr b="0" i="0" lang="en" sz="1050" u="none" cap="none" strike="noStrike">
                <a:solidFill>
                  <a:srgbClr val="1A1F26"/>
                </a:solidFill>
                <a:latin typeface="Consolas"/>
                <a:ea typeface="Consolas"/>
                <a:cs typeface="Consolas"/>
                <a:sym typeface="Consolas"/>
              </a:rPr>
              <a:t>bank_vector = model.wv["bank"]   # One single vector</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F26"/>
              </a:buClr>
              <a:buSzPts val="950"/>
              <a:buFont typeface="Consolas"/>
              <a:buNone/>
            </a:pPr>
            <a:r>
              <a:rPr b="0" i="0" lang="en" sz="1050" u="none" cap="none" strike="noStrike">
                <a:solidFill>
                  <a:srgbClr val="1A1F26"/>
                </a:solidFill>
                <a:latin typeface="Consolas"/>
                <a:ea typeface="Consolas"/>
                <a:cs typeface="Consolas"/>
                <a:sym typeface="Consolas"/>
              </a:rPr>
              <a:t># But "bank" means DIFFERENT things:</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F26"/>
              </a:buClr>
              <a:buSzPts val="950"/>
              <a:buFont typeface="Consolas"/>
              <a:buNone/>
            </a:pPr>
            <a:r>
              <a:rPr b="0" i="0" lang="en" sz="1050" u="none" cap="none" strike="noStrike">
                <a:solidFill>
                  <a:srgbClr val="1A1F26"/>
                </a:solidFill>
                <a:latin typeface="Consolas"/>
                <a:ea typeface="Consolas"/>
                <a:cs typeface="Consolas"/>
                <a:sym typeface="Consolas"/>
              </a:rPr>
              <a:t>#   "I deposited money at the bank"  → financial institution</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F26"/>
              </a:buClr>
              <a:buSzPts val="950"/>
              <a:buFont typeface="Consolas"/>
              <a:buNone/>
            </a:pPr>
            <a:r>
              <a:rPr b="0" i="0" lang="en" sz="1050" u="none" cap="none" strike="noStrike">
                <a:solidFill>
                  <a:srgbClr val="1A1F26"/>
                </a:solidFill>
                <a:latin typeface="Consolas"/>
                <a:ea typeface="Consolas"/>
                <a:cs typeface="Consolas"/>
                <a:sym typeface="Consolas"/>
              </a:rPr>
              <a:t>#   "She sat on the river bank"      → geographic feature</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F26"/>
              </a:buClr>
              <a:buSzPts val="950"/>
              <a:buFont typeface="Consolas"/>
              <a:buNone/>
            </a:pPr>
            <a:r>
              <a:rPr b="0" i="0" lang="en" sz="1050" u="none" cap="none" strike="noStrike">
                <a:solidFill>
                  <a:srgbClr val="1A1F26"/>
                </a:solidFill>
                <a:latin typeface="Consolas"/>
                <a:ea typeface="Consolas"/>
                <a:cs typeface="Consolas"/>
                <a:sym typeface="Consolas"/>
              </a:rPr>
              <a:t>#   "The plane had to bank left"     → aeronautical maneuver</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9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F26"/>
              </a:buClr>
              <a:buSzPts val="950"/>
              <a:buFont typeface="Consolas"/>
              <a:buNone/>
            </a:pPr>
            <a:r>
              <a:rPr b="0" i="0" lang="en" sz="1050" u="none" cap="none" strike="noStrike">
                <a:solidFill>
                  <a:srgbClr val="1A1F26"/>
                </a:solidFill>
                <a:latin typeface="Consolas"/>
                <a:ea typeface="Consolas"/>
                <a:cs typeface="Consolas"/>
                <a:sym typeface="Consolas"/>
              </a:rPr>
              <a:t># Word2Vec collapses all meanings into ONE point in space!</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F26"/>
              </a:buClr>
              <a:buSzPts val="950"/>
              <a:buFont typeface="Consolas"/>
              <a:buNone/>
            </a:pPr>
            <a:r>
              <a:rPr b="0" i="0" lang="en" sz="1050" u="none" cap="none" strike="noStrike">
                <a:solidFill>
                  <a:srgbClr val="1A1F26"/>
                </a:solidFill>
                <a:latin typeface="Consolas"/>
                <a:ea typeface="Consolas"/>
                <a:cs typeface="Consolas"/>
                <a:sym typeface="Consolas"/>
              </a:rPr>
              <a:t>print(model.wv.most_similar("bank"))</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F26"/>
              </a:buClr>
              <a:buSzPts val="950"/>
              <a:buFont typeface="Consolas"/>
              <a:buNone/>
            </a:pPr>
            <a:r>
              <a:rPr b="0" i="0" lang="en" sz="1050" u="none" cap="none" strike="noStrike">
                <a:solidFill>
                  <a:srgbClr val="1A1F26"/>
                </a:solidFill>
                <a:latin typeface="Consolas"/>
                <a:ea typeface="Consolas"/>
                <a:cs typeface="Consolas"/>
                <a:sym typeface="Consolas"/>
              </a:rPr>
              <a:t># [('banks', 0.92), ('banking', 0.89), ('financial', 0.85), ...]</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F26"/>
              </a:buClr>
              <a:buSzPts val="950"/>
              <a:buFont typeface="Consolas"/>
              <a:buNone/>
            </a:pPr>
            <a:r>
              <a:rPr b="0" i="0" lang="en" sz="1050" u="none" cap="none" strike="noStrike">
                <a:solidFill>
                  <a:srgbClr val="1A1F26"/>
                </a:solidFill>
                <a:latin typeface="Consolas"/>
                <a:ea typeface="Consolas"/>
                <a:cs typeface="Consolas"/>
                <a:sym typeface="Consolas"/>
              </a:rPr>
              <a:t># No context. No disambiguation. Just one averaged vector.</a:t>
            </a:r>
            <a:endParaRPr b="0" i="0" sz="1050" u="none" cap="none" strike="noStrike">
              <a:solidFill>
                <a:schemeClr val="dk1"/>
              </a:solidFill>
              <a:latin typeface="Calibri"/>
              <a:ea typeface="Calibri"/>
              <a:cs typeface="Calibri"/>
              <a:sym typeface="Calibri"/>
            </a:endParaRPr>
          </a:p>
        </p:txBody>
      </p:sp>
      <p:sp>
        <p:nvSpPr>
          <p:cNvPr id="2483" name="Google Shape;2483;p63"/>
          <p:cNvSpPr/>
          <p:nvPr/>
        </p:nvSpPr>
        <p:spPr>
          <a:xfrm>
            <a:off x="6035040" y="1188720"/>
            <a:ext cx="2834700" cy="365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A1F26"/>
              </a:buClr>
              <a:buSzPts val="1300"/>
              <a:buFont typeface="Calibri"/>
              <a:buNone/>
            </a:pPr>
            <a:r>
              <a:rPr b="1" i="0" lang="en" sz="2000" u="none" cap="none" strike="noStrike">
                <a:solidFill>
                  <a:srgbClr val="1A1F26"/>
                </a:solidFill>
                <a:latin typeface="Calibri"/>
                <a:ea typeface="Calibri"/>
                <a:cs typeface="Calibri"/>
                <a:sym typeface="Calibri"/>
              </a:rPr>
              <a:t>"bank" in Word2Vec</a:t>
            </a:r>
            <a:endParaRPr b="0" i="0" sz="2000" u="none" cap="none" strike="noStrike">
              <a:solidFill>
                <a:schemeClr val="dk1"/>
              </a:solidFill>
              <a:latin typeface="Calibri"/>
              <a:ea typeface="Calibri"/>
              <a:cs typeface="Calibri"/>
              <a:sym typeface="Calibri"/>
            </a:endParaRPr>
          </a:p>
        </p:txBody>
      </p:sp>
      <p:sp>
        <p:nvSpPr>
          <p:cNvPr id="2484" name="Google Shape;2484;p63"/>
          <p:cNvSpPr/>
          <p:nvPr/>
        </p:nvSpPr>
        <p:spPr>
          <a:xfrm>
            <a:off x="6766560" y="1691640"/>
            <a:ext cx="1463100" cy="1463100"/>
          </a:xfrm>
          <a:prstGeom prst="ellipse">
            <a:avLst/>
          </a:prstGeom>
          <a:solidFill>
            <a:schemeClr val="lt1"/>
          </a:solidFill>
          <a:ln cap="flat" cmpd="sng" w="254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5" name="Google Shape;2485;p63"/>
          <p:cNvSpPr/>
          <p:nvPr/>
        </p:nvSpPr>
        <p:spPr>
          <a:xfrm>
            <a:off x="6777014" y="1623765"/>
            <a:ext cx="1463100" cy="1463100"/>
          </a:xfrm>
          <a:prstGeom prst="rect">
            <a:avLst/>
          </a:prstGeom>
          <a:noFill/>
          <a:ln cap="flat" cmpd="sng" w="9525">
            <a:solidFill>
              <a:schemeClr val="l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9E0B"/>
              </a:buClr>
              <a:buSzPts val="1100"/>
              <a:buFont typeface="Calibri"/>
              <a:buNone/>
            </a:pPr>
            <a:r>
              <a:rPr b="1" i="0" lang="en" sz="1500" u="none" cap="none" strike="noStrike">
                <a:solidFill>
                  <a:schemeClr val="dk1"/>
                </a:solidFill>
                <a:latin typeface="Calibri"/>
                <a:ea typeface="Calibri"/>
                <a:cs typeface="Calibri"/>
                <a:sym typeface="Calibri"/>
              </a:rPr>
              <a:t>bank</a:t>
            </a:r>
            <a:endParaRPr b="0" i="0" sz="15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59E0B"/>
              </a:buClr>
              <a:buSzPts val="1100"/>
              <a:buFont typeface="Calibri"/>
              <a:buNone/>
            </a:pPr>
            <a:r>
              <a:rPr b="1" i="0" lang="en" sz="1500" u="none" cap="none" strike="noStrike">
                <a:solidFill>
                  <a:schemeClr val="dk1"/>
                </a:solidFill>
                <a:latin typeface="Calibri"/>
                <a:ea typeface="Calibri"/>
                <a:cs typeface="Calibri"/>
                <a:sym typeface="Calibri"/>
              </a:rPr>
              <a:t>(1 vector)</a:t>
            </a:r>
            <a:endParaRPr b="0" i="0" sz="1500" u="none" cap="none" strike="noStrike">
              <a:solidFill>
                <a:schemeClr val="dk1"/>
              </a:solidFill>
              <a:latin typeface="Calibri"/>
              <a:ea typeface="Calibri"/>
              <a:cs typeface="Calibri"/>
              <a:sym typeface="Calibri"/>
            </a:endParaRPr>
          </a:p>
        </p:txBody>
      </p:sp>
      <p:sp>
        <p:nvSpPr>
          <p:cNvPr id="2486" name="Google Shape;2486;p63"/>
          <p:cNvSpPr/>
          <p:nvPr/>
        </p:nvSpPr>
        <p:spPr>
          <a:xfrm>
            <a:off x="5943600" y="3246120"/>
            <a:ext cx="1188600" cy="320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6270"/>
              </a:buClr>
              <a:buSzPts val="900"/>
              <a:buFont typeface="Calibri"/>
              <a:buNone/>
            </a:pPr>
            <a:r>
              <a:rPr b="0" i="0" lang="en" sz="1200" u="none" cap="none" strike="noStrike">
                <a:solidFill>
                  <a:srgbClr val="5A6270"/>
                </a:solidFill>
                <a:latin typeface="Calibri"/>
                <a:ea typeface="Calibri"/>
                <a:cs typeface="Calibri"/>
                <a:sym typeface="Calibri"/>
              </a:rPr>
              <a:t>💰 finance?</a:t>
            </a:r>
            <a:endParaRPr b="0" i="0" sz="1200" u="none" cap="none" strike="noStrike">
              <a:solidFill>
                <a:schemeClr val="dk1"/>
              </a:solidFill>
              <a:latin typeface="Calibri"/>
              <a:ea typeface="Calibri"/>
              <a:cs typeface="Calibri"/>
              <a:sym typeface="Calibri"/>
            </a:endParaRPr>
          </a:p>
        </p:txBody>
      </p:sp>
      <p:sp>
        <p:nvSpPr>
          <p:cNvPr id="2487" name="Google Shape;2487;p63"/>
          <p:cNvSpPr/>
          <p:nvPr/>
        </p:nvSpPr>
        <p:spPr>
          <a:xfrm>
            <a:off x="7040880" y="3246120"/>
            <a:ext cx="1005900" cy="320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6270"/>
              </a:buClr>
              <a:buSzPts val="900"/>
              <a:buFont typeface="Calibri"/>
              <a:buNone/>
            </a:pPr>
            <a:r>
              <a:rPr b="0" i="0" lang="en" sz="1200" u="none" cap="none" strike="noStrike">
                <a:solidFill>
                  <a:srgbClr val="5A6270"/>
                </a:solidFill>
                <a:latin typeface="Calibri"/>
                <a:ea typeface="Calibri"/>
                <a:cs typeface="Calibri"/>
                <a:sym typeface="Calibri"/>
              </a:rPr>
              <a:t>🌊 river?</a:t>
            </a:r>
            <a:endParaRPr b="0" i="0" sz="1200" u="none" cap="none" strike="noStrike">
              <a:solidFill>
                <a:schemeClr val="dk1"/>
              </a:solidFill>
              <a:latin typeface="Calibri"/>
              <a:ea typeface="Calibri"/>
              <a:cs typeface="Calibri"/>
              <a:sym typeface="Calibri"/>
            </a:endParaRPr>
          </a:p>
        </p:txBody>
      </p:sp>
      <p:sp>
        <p:nvSpPr>
          <p:cNvPr id="2488" name="Google Shape;2488;p63"/>
          <p:cNvSpPr/>
          <p:nvPr/>
        </p:nvSpPr>
        <p:spPr>
          <a:xfrm>
            <a:off x="8001000" y="3246120"/>
            <a:ext cx="914400" cy="320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6270"/>
              </a:buClr>
              <a:buSzPts val="900"/>
              <a:buFont typeface="Calibri"/>
              <a:buNone/>
            </a:pPr>
            <a:r>
              <a:rPr b="0" i="0" lang="en" sz="1200" u="none" cap="none" strike="noStrike">
                <a:solidFill>
                  <a:srgbClr val="5A6270"/>
                </a:solidFill>
                <a:latin typeface="Calibri"/>
                <a:ea typeface="Calibri"/>
                <a:cs typeface="Calibri"/>
                <a:sym typeface="Calibri"/>
              </a:rPr>
              <a:t>✈️ plane?</a:t>
            </a:r>
            <a:endParaRPr b="0" i="0" sz="1200" u="none" cap="none" strike="noStrike">
              <a:solidFill>
                <a:schemeClr val="dk1"/>
              </a:solidFill>
              <a:latin typeface="Calibri"/>
              <a:ea typeface="Calibri"/>
              <a:cs typeface="Calibri"/>
              <a:sym typeface="Calibri"/>
            </a:endParaRPr>
          </a:p>
        </p:txBody>
      </p:sp>
      <p:sp>
        <p:nvSpPr>
          <p:cNvPr id="2489" name="Google Shape;2489;p63"/>
          <p:cNvSpPr/>
          <p:nvPr/>
        </p:nvSpPr>
        <p:spPr>
          <a:xfrm>
            <a:off x="320040" y="4160520"/>
            <a:ext cx="8503800" cy="731400"/>
          </a:xfrm>
          <a:prstGeom prst="rect">
            <a:avLst/>
          </a:prstGeom>
          <a:solidFill>
            <a:schemeClr val="lt1"/>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490" name="Google Shape;2490;p63"/>
          <p:cNvSpPr/>
          <p:nvPr/>
        </p:nvSpPr>
        <p:spPr>
          <a:xfrm>
            <a:off x="502920" y="4251960"/>
            <a:ext cx="8229600" cy="548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59E0B"/>
              </a:buClr>
              <a:buSzPts val="1300"/>
              <a:buFont typeface="Calibri"/>
              <a:buNone/>
            </a:pPr>
            <a:r>
              <a:rPr b="0" i="0" lang="en" sz="1700" u="none" cap="none" strike="noStrike">
                <a:solidFill>
                  <a:srgbClr val="F59E0B"/>
                </a:solidFill>
                <a:latin typeface="Calibri"/>
                <a:ea typeface="Calibri"/>
                <a:cs typeface="Calibri"/>
                <a:sym typeface="Calibri"/>
              </a:rPr>
              <a:t>💡 </a:t>
            </a:r>
            <a:r>
              <a:rPr b="0" i="0" lang="en" sz="1700" u="none" cap="none" strike="noStrike">
                <a:solidFill>
                  <a:schemeClr val="dk1"/>
                </a:solidFill>
                <a:latin typeface="Calibri"/>
                <a:ea typeface="Calibri"/>
                <a:cs typeface="Calibri"/>
                <a:sym typeface="Calibri"/>
              </a:rPr>
              <a:t>Fix: Embeddings should be computed dynamically based on the surrounding context.</a:t>
            </a:r>
            <a:endParaRPr b="0" i="0" sz="1700" u="none" cap="none" strike="noStrike">
              <a:solidFill>
                <a:schemeClr val="dk1"/>
              </a:solidFill>
              <a:latin typeface="Calibri"/>
              <a:ea typeface="Calibri"/>
              <a:cs typeface="Calibri"/>
              <a:sym typeface="Calibri"/>
            </a:endParaRPr>
          </a:p>
        </p:txBody>
      </p:sp>
      <p:pic>
        <p:nvPicPr>
          <p:cNvPr id="2491" name="Google Shape;2491;p63"/>
          <p:cNvPicPr preferRelativeResize="0"/>
          <p:nvPr/>
        </p:nvPicPr>
        <p:blipFill rotWithShape="1">
          <a:blip r:embed="rId4">
            <a:alphaModFix/>
          </a:blip>
          <a:srcRect b="0" l="0" r="0" t="0"/>
          <a:stretch/>
        </p:blipFill>
        <p:spPr>
          <a:xfrm>
            <a:off x="8369125" y="0"/>
            <a:ext cx="774877" cy="867174"/>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496" name="Shape 2496"/>
        <p:cNvGrpSpPr/>
        <p:nvPr/>
      </p:nvGrpSpPr>
      <p:grpSpPr>
        <a:xfrm>
          <a:off x="0" y="0"/>
          <a:ext cx="0" cy="0"/>
          <a:chOff x="0" y="0"/>
          <a:chExt cx="0" cy="0"/>
        </a:xfrm>
      </p:grpSpPr>
      <p:sp>
        <p:nvSpPr>
          <p:cNvPr id="2497" name="Google Shape;2497;p64"/>
          <p:cNvSpPr/>
          <p:nvPr/>
        </p:nvSpPr>
        <p:spPr>
          <a:xfrm>
            <a:off x="274320" y="109728"/>
            <a:ext cx="8595300" cy="502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E293B"/>
              </a:buClr>
              <a:buSzPts val="2200"/>
              <a:buFont typeface="Calibri"/>
              <a:buNone/>
            </a:pPr>
            <a:r>
              <a:rPr b="1" i="0" lang="en" sz="2200" u="none" cap="none" strike="noStrike">
                <a:solidFill>
                  <a:srgbClr val="1E293B"/>
                </a:solidFill>
                <a:latin typeface="Calibri"/>
                <a:ea typeface="Calibri"/>
                <a:cs typeface="Calibri"/>
                <a:sym typeface="Calibri"/>
              </a:rPr>
              <a:t>From Perceptron to Specialized Architectures</a:t>
            </a:r>
            <a:endParaRPr b="0" i="0" sz="2200" u="none" cap="none" strike="noStrike">
              <a:solidFill>
                <a:schemeClr val="dk1"/>
              </a:solidFill>
              <a:latin typeface="Calibri"/>
              <a:ea typeface="Calibri"/>
              <a:cs typeface="Calibri"/>
              <a:sym typeface="Calibri"/>
            </a:endParaRPr>
          </a:p>
        </p:txBody>
      </p:sp>
      <p:sp>
        <p:nvSpPr>
          <p:cNvPr id="2498" name="Google Shape;2498;p64"/>
          <p:cNvSpPr/>
          <p:nvPr/>
        </p:nvSpPr>
        <p:spPr>
          <a:xfrm>
            <a:off x="3200400" y="621792"/>
            <a:ext cx="2743200" cy="27300"/>
          </a:xfrm>
          <a:prstGeom prst="rect">
            <a:avLst/>
          </a:prstGeom>
          <a:solidFill>
            <a:srgbClr val="0EA5E9"/>
          </a:solidFill>
          <a:ln cap="flat" cmpd="sng" w="12700">
            <a:solidFill>
              <a:srgbClr val="0EA5E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9" name="Google Shape;2499;p64"/>
          <p:cNvSpPr/>
          <p:nvPr/>
        </p:nvSpPr>
        <p:spPr>
          <a:xfrm>
            <a:off x="228600" y="4206240"/>
            <a:ext cx="8686800" cy="36600"/>
          </a:xfrm>
          <a:prstGeom prst="rect">
            <a:avLst/>
          </a:prstGeom>
          <a:solidFill>
            <a:srgbClr val="CBD5E1"/>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0" name="Google Shape;2500;p64"/>
          <p:cNvSpPr/>
          <p:nvPr/>
        </p:nvSpPr>
        <p:spPr>
          <a:xfrm>
            <a:off x="8823960" y="4142232"/>
            <a:ext cx="109800" cy="164700"/>
          </a:xfrm>
          <a:prstGeom prst="rect">
            <a:avLst/>
          </a:prstGeom>
          <a:solidFill>
            <a:srgbClr val="0EA5E9"/>
          </a:solidFill>
          <a:ln cap="flat" cmpd="sng" w="12700">
            <a:solidFill>
              <a:srgbClr val="0EA5E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1" name="Google Shape;2501;p64"/>
          <p:cNvSpPr/>
          <p:nvPr/>
        </p:nvSpPr>
        <p:spPr>
          <a:xfrm>
            <a:off x="164592" y="749808"/>
            <a:ext cx="1664100" cy="3291900"/>
          </a:xfrm>
          <a:prstGeom prst="rect">
            <a:avLst/>
          </a:prstGeom>
          <a:solidFill>
            <a:srgbClr val="FFFFFF"/>
          </a:solidFill>
          <a:ln cap="flat" cmpd="sng" w="15225">
            <a:solidFill>
              <a:srgbClr val="6366F1"/>
            </a:solidFill>
            <a:prstDash val="solid"/>
            <a:round/>
            <a:headEnd len="sm" w="sm" type="none"/>
            <a:tailEnd len="sm" w="sm" type="none"/>
          </a:ln>
          <a:effectLst>
            <a:outerShdw blurRad="762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2" name="Google Shape;2502;p64"/>
          <p:cNvSpPr/>
          <p:nvPr/>
        </p:nvSpPr>
        <p:spPr>
          <a:xfrm>
            <a:off x="164592" y="749808"/>
            <a:ext cx="1664100" cy="63900"/>
          </a:xfrm>
          <a:prstGeom prst="rect">
            <a:avLst/>
          </a:prstGeom>
          <a:solidFill>
            <a:srgbClr val="6366F1"/>
          </a:solidFill>
          <a:ln cap="flat" cmpd="sng" w="12700">
            <a:solidFill>
              <a:srgbClr val="6366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3" name="Google Shape;2503;p64"/>
          <p:cNvSpPr/>
          <p:nvPr/>
        </p:nvSpPr>
        <p:spPr>
          <a:xfrm>
            <a:off x="237744" y="841248"/>
            <a:ext cx="1518000" cy="201300"/>
          </a:xfrm>
          <a:prstGeom prst="rect">
            <a:avLst/>
          </a:prstGeom>
          <a:solidFill>
            <a:srgbClr val="6366F1">
              <a:alpha val="14902"/>
            </a:srgbClr>
          </a:solidFill>
          <a:ln cap="flat" cmpd="sng" w="9525">
            <a:solidFill>
              <a:srgbClr val="6366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4" name="Google Shape;2504;p64"/>
          <p:cNvSpPr/>
          <p:nvPr/>
        </p:nvSpPr>
        <p:spPr>
          <a:xfrm>
            <a:off x="237744" y="841248"/>
            <a:ext cx="1518000" cy="201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366F1"/>
              </a:buClr>
              <a:buSzPts val="800"/>
              <a:buFont typeface="Calibri"/>
              <a:buNone/>
            </a:pPr>
            <a:r>
              <a:rPr b="1" i="0" lang="en" sz="800" u="none" cap="none" strike="noStrike">
                <a:solidFill>
                  <a:srgbClr val="6366F1"/>
                </a:solidFill>
                <a:latin typeface="Calibri"/>
                <a:ea typeface="Calibri"/>
                <a:cs typeface="Calibri"/>
                <a:sym typeface="Calibri"/>
              </a:rPr>
              <a:t>1958</a:t>
            </a:r>
            <a:endParaRPr b="0" i="0" sz="800" u="none" cap="none" strike="noStrike">
              <a:solidFill>
                <a:schemeClr val="dk1"/>
              </a:solidFill>
              <a:latin typeface="Calibri"/>
              <a:ea typeface="Calibri"/>
              <a:cs typeface="Calibri"/>
              <a:sym typeface="Calibri"/>
            </a:endParaRPr>
          </a:p>
        </p:txBody>
      </p:sp>
      <p:sp>
        <p:nvSpPr>
          <p:cNvPr id="2505" name="Google Shape;2505;p64"/>
          <p:cNvSpPr/>
          <p:nvPr/>
        </p:nvSpPr>
        <p:spPr>
          <a:xfrm>
            <a:off x="219456" y="1069848"/>
            <a:ext cx="1554600" cy="292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293B"/>
              </a:buClr>
              <a:buSzPts val="1300"/>
              <a:buFont typeface="Calibri"/>
              <a:buNone/>
            </a:pPr>
            <a:r>
              <a:rPr b="1" i="0" lang="en" sz="1300" u="none" cap="none" strike="noStrike">
                <a:solidFill>
                  <a:srgbClr val="1E293B"/>
                </a:solidFill>
                <a:latin typeface="Calibri"/>
                <a:ea typeface="Calibri"/>
                <a:cs typeface="Calibri"/>
                <a:sym typeface="Calibri"/>
              </a:rPr>
              <a:t>Perceptron</a:t>
            </a:r>
            <a:endParaRPr b="0" i="0" sz="1300" u="none" cap="none" strike="noStrike">
              <a:solidFill>
                <a:schemeClr val="dk1"/>
              </a:solidFill>
              <a:latin typeface="Calibri"/>
              <a:ea typeface="Calibri"/>
              <a:cs typeface="Calibri"/>
              <a:sym typeface="Calibri"/>
            </a:endParaRPr>
          </a:p>
        </p:txBody>
      </p:sp>
      <p:sp>
        <p:nvSpPr>
          <p:cNvPr id="2506" name="Google Shape;2506;p64"/>
          <p:cNvSpPr/>
          <p:nvPr/>
        </p:nvSpPr>
        <p:spPr>
          <a:xfrm>
            <a:off x="237744" y="1389888"/>
            <a:ext cx="1518000" cy="1005900"/>
          </a:xfrm>
          <a:prstGeom prst="rect">
            <a:avLst/>
          </a:prstGeom>
          <a:solidFill>
            <a:srgbClr val="F1F5F9"/>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7" name="Google Shape;2507;p64"/>
          <p:cNvSpPr/>
          <p:nvPr/>
        </p:nvSpPr>
        <p:spPr>
          <a:xfrm>
            <a:off x="283464" y="1481328"/>
            <a:ext cx="183000" cy="183000"/>
          </a:xfrm>
          <a:prstGeom prst="ellipse">
            <a:avLst/>
          </a:prstGeom>
          <a:solidFill>
            <a:srgbClr val="E2E8F0"/>
          </a:solidFill>
          <a:ln cap="flat" cmpd="sng" w="12700">
            <a:solidFill>
              <a:srgbClr val="6366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508" name="Google Shape;2508;p64"/>
          <p:cNvCxnSpPr/>
          <p:nvPr/>
        </p:nvCxnSpPr>
        <p:spPr>
          <a:xfrm>
            <a:off x="466344" y="1572768"/>
            <a:ext cx="502800" cy="0"/>
          </a:xfrm>
          <a:prstGeom prst="straightConnector1">
            <a:avLst/>
          </a:prstGeom>
          <a:noFill/>
          <a:ln cap="flat" cmpd="sng" w="12700">
            <a:solidFill>
              <a:srgbClr val="818CF8"/>
            </a:solidFill>
            <a:prstDash val="solid"/>
            <a:round/>
            <a:headEnd len="sm" w="sm" type="none"/>
            <a:tailEnd len="sm" w="sm" type="none"/>
          </a:ln>
        </p:spPr>
      </p:cxnSp>
      <p:sp>
        <p:nvSpPr>
          <p:cNvPr id="2509" name="Google Shape;2509;p64"/>
          <p:cNvSpPr/>
          <p:nvPr/>
        </p:nvSpPr>
        <p:spPr>
          <a:xfrm>
            <a:off x="283464" y="1801368"/>
            <a:ext cx="183000" cy="183000"/>
          </a:xfrm>
          <a:prstGeom prst="ellipse">
            <a:avLst/>
          </a:prstGeom>
          <a:solidFill>
            <a:srgbClr val="E2E8F0"/>
          </a:solidFill>
          <a:ln cap="flat" cmpd="sng" w="12700">
            <a:solidFill>
              <a:srgbClr val="6366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510" name="Google Shape;2510;p64"/>
          <p:cNvCxnSpPr/>
          <p:nvPr/>
        </p:nvCxnSpPr>
        <p:spPr>
          <a:xfrm>
            <a:off x="466344" y="1892808"/>
            <a:ext cx="502800" cy="0"/>
          </a:xfrm>
          <a:prstGeom prst="straightConnector1">
            <a:avLst/>
          </a:prstGeom>
          <a:noFill/>
          <a:ln cap="flat" cmpd="sng" w="12700">
            <a:solidFill>
              <a:srgbClr val="818CF8"/>
            </a:solidFill>
            <a:prstDash val="solid"/>
            <a:round/>
            <a:headEnd len="sm" w="sm" type="none"/>
            <a:tailEnd len="sm" w="sm" type="none"/>
          </a:ln>
        </p:spPr>
      </p:cxnSp>
      <p:sp>
        <p:nvSpPr>
          <p:cNvPr id="2511" name="Google Shape;2511;p64"/>
          <p:cNvSpPr/>
          <p:nvPr/>
        </p:nvSpPr>
        <p:spPr>
          <a:xfrm>
            <a:off x="283464" y="2121408"/>
            <a:ext cx="183000" cy="183000"/>
          </a:xfrm>
          <a:prstGeom prst="ellipse">
            <a:avLst/>
          </a:prstGeom>
          <a:solidFill>
            <a:srgbClr val="E2E8F0"/>
          </a:solidFill>
          <a:ln cap="flat" cmpd="sng" w="12700">
            <a:solidFill>
              <a:srgbClr val="6366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512" name="Google Shape;2512;p64"/>
          <p:cNvCxnSpPr/>
          <p:nvPr/>
        </p:nvCxnSpPr>
        <p:spPr>
          <a:xfrm>
            <a:off x="466344" y="2212848"/>
            <a:ext cx="502800" cy="0"/>
          </a:xfrm>
          <a:prstGeom prst="straightConnector1">
            <a:avLst/>
          </a:prstGeom>
          <a:noFill/>
          <a:ln cap="flat" cmpd="sng" w="12700">
            <a:solidFill>
              <a:srgbClr val="818CF8"/>
            </a:solidFill>
            <a:prstDash val="solid"/>
            <a:round/>
            <a:headEnd len="sm" w="sm" type="none"/>
            <a:tailEnd len="sm" w="sm" type="none"/>
          </a:ln>
        </p:spPr>
      </p:cxnSp>
      <p:sp>
        <p:nvSpPr>
          <p:cNvPr id="2513" name="Google Shape;2513;p64"/>
          <p:cNvSpPr/>
          <p:nvPr/>
        </p:nvSpPr>
        <p:spPr>
          <a:xfrm>
            <a:off x="877824" y="1755648"/>
            <a:ext cx="347400" cy="347400"/>
          </a:xfrm>
          <a:prstGeom prst="ellipse">
            <a:avLst/>
          </a:prstGeom>
          <a:solidFill>
            <a:srgbClr val="6366F1">
              <a:alpha val="70196"/>
            </a:srgbClr>
          </a:solidFill>
          <a:ln cap="flat" cmpd="sng" w="19050">
            <a:solidFill>
              <a:srgbClr val="6366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514" name="Google Shape;2514;p64"/>
          <p:cNvCxnSpPr/>
          <p:nvPr/>
        </p:nvCxnSpPr>
        <p:spPr>
          <a:xfrm>
            <a:off x="1225296" y="1929384"/>
            <a:ext cx="411600" cy="0"/>
          </a:xfrm>
          <a:prstGeom prst="straightConnector1">
            <a:avLst/>
          </a:prstGeom>
          <a:noFill/>
          <a:ln cap="flat" cmpd="sng" w="12700">
            <a:solidFill>
              <a:srgbClr val="818CF8"/>
            </a:solidFill>
            <a:prstDash val="solid"/>
            <a:round/>
            <a:headEnd len="sm" w="sm" type="none"/>
            <a:tailEnd len="sm" w="sm" type="none"/>
          </a:ln>
        </p:spPr>
      </p:cxnSp>
      <p:sp>
        <p:nvSpPr>
          <p:cNvPr id="2515" name="Google Shape;2515;p64"/>
          <p:cNvSpPr/>
          <p:nvPr/>
        </p:nvSpPr>
        <p:spPr>
          <a:xfrm>
            <a:off x="1527048" y="1837944"/>
            <a:ext cx="183000" cy="183000"/>
          </a:xfrm>
          <a:prstGeom prst="ellipse">
            <a:avLst/>
          </a:prstGeom>
          <a:solidFill>
            <a:srgbClr val="E2E8F0"/>
          </a:solidFill>
          <a:ln cap="flat" cmpd="sng" w="12700">
            <a:solidFill>
              <a:srgbClr val="6366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6" name="Google Shape;2516;p64"/>
          <p:cNvSpPr/>
          <p:nvPr/>
        </p:nvSpPr>
        <p:spPr>
          <a:xfrm>
            <a:off x="877824" y="1755648"/>
            <a:ext cx="347400" cy="347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200"/>
              <a:buFont typeface="Calibri"/>
              <a:buNone/>
            </a:pPr>
            <a:r>
              <a:rPr b="0" i="0" lang="en" sz="1200" u="none" cap="none" strike="noStrike">
                <a:solidFill>
                  <a:srgbClr val="FFFFFF"/>
                </a:solidFill>
                <a:latin typeface="Calibri"/>
                <a:ea typeface="Calibri"/>
                <a:cs typeface="Calibri"/>
                <a:sym typeface="Calibri"/>
              </a:rPr>
              <a:t>Σ</a:t>
            </a:r>
            <a:endParaRPr b="0" i="0" sz="1200" u="none" cap="none" strike="noStrike">
              <a:solidFill>
                <a:schemeClr val="dk1"/>
              </a:solidFill>
              <a:latin typeface="Calibri"/>
              <a:ea typeface="Calibri"/>
              <a:cs typeface="Calibri"/>
              <a:sym typeface="Calibri"/>
            </a:endParaRPr>
          </a:p>
        </p:txBody>
      </p:sp>
      <p:sp>
        <p:nvSpPr>
          <p:cNvPr id="2517" name="Google Shape;2517;p64"/>
          <p:cNvSpPr/>
          <p:nvPr/>
        </p:nvSpPr>
        <p:spPr>
          <a:xfrm>
            <a:off x="237744" y="2441448"/>
            <a:ext cx="1518000" cy="1417200"/>
          </a:xfrm>
          <a:prstGeom prst="rect">
            <a:avLst/>
          </a:prstGeom>
          <a:noFill/>
          <a:ln>
            <a:noFill/>
          </a:ln>
        </p:spPr>
        <p:txBody>
          <a:bodyPr anchorCtr="0" anchor="t" bIns="38100" lIns="38100" spcFirstLastPara="1" rIns="38100" wrap="square" tIns="38100">
            <a:noAutofit/>
          </a:bodyPr>
          <a:lstStyle/>
          <a:p>
            <a:pPr indent="0" lvl="0" marL="0" marR="0" rtl="0" algn="l">
              <a:lnSpc>
                <a:spcPct val="125000"/>
              </a:lnSpc>
              <a:spcBef>
                <a:spcPts val="0"/>
              </a:spcBef>
              <a:spcAft>
                <a:spcPts val="0"/>
              </a:spcAft>
              <a:buClr>
                <a:srgbClr val="6366F1"/>
              </a:buClr>
              <a:buSzPts val="900"/>
              <a:buFont typeface="Calibri"/>
              <a:buNone/>
            </a:pPr>
            <a:r>
              <a:rPr b="1" i="0" lang="en" sz="900" u="none" cap="none" strike="noStrike">
                <a:solidFill>
                  <a:srgbClr val="6366F1"/>
                </a:solidFill>
                <a:latin typeface="Calibri"/>
                <a:ea typeface="Calibri"/>
                <a:cs typeface="Calibri"/>
                <a:sym typeface="Calibri"/>
              </a:rPr>
              <a:t>Single neuron</a:t>
            </a:r>
            <a:endParaRPr b="0" i="0" sz="9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334155"/>
              </a:buClr>
              <a:buSzPts val="900"/>
              <a:buFont typeface="Calibri"/>
              <a:buNone/>
            </a:pPr>
            <a:r>
              <a:rPr b="0" i="0" lang="en" sz="900" u="none" cap="none" strike="noStrike">
                <a:solidFill>
                  <a:srgbClr val="334155"/>
                </a:solidFill>
                <a:latin typeface="Calibri"/>
                <a:ea typeface="Calibri"/>
                <a:cs typeface="Calibri"/>
                <a:sym typeface="Calibri"/>
              </a:rPr>
              <a:t>Binary output</a:t>
            </a:r>
            <a:endParaRPr b="0" i="0" sz="9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334155"/>
              </a:buClr>
              <a:buSzPts val="900"/>
              <a:buFont typeface="Calibri"/>
              <a:buNone/>
            </a:pPr>
            <a:r>
              <a:rPr b="0" i="0" lang="en" sz="900" u="none" cap="none" strike="noStrike">
                <a:solidFill>
                  <a:srgbClr val="334155"/>
                </a:solidFill>
                <a:latin typeface="Calibri"/>
                <a:ea typeface="Calibri"/>
                <a:cs typeface="Calibri"/>
                <a:sym typeface="Calibri"/>
              </a:rPr>
              <a:t>Linear boundary</a:t>
            </a:r>
            <a:endParaRPr b="0" i="0" sz="9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334155"/>
              </a:buClr>
              <a:buSzPts val="900"/>
              <a:buFont typeface="Calibri"/>
              <a:buNone/>
            </a:pPr>
            <a:r>
              <a:rPr b="0" i="0" lang="en" sz="900" u="none" cap="none" strike="noStrike">
                <a:solidFill>
                  <a:srgbClr val="334155"/>
                </a:solidFill>
                <a:latin typeface="Calibri"/>
                <a:ea typeface="Calibri"/>
                <a:cs typeface="Calibri"/>
                <a:sym typeface="Calibri"/>
              </a:rPr>
              <a:t>Step activation</a:t>
            </a:r>
            <a:endParaRPr b="0" i="0" sz="900" u="none" cap="none" strike="noStrike">
              <a:solidFill>
                <a:schemeClr val="dk1"/>
              </a:solidFill>
              <a:latin typeface="Calibri"/>
              <a:ea typeface="Calibri"/>
              <a:cs typeface="Calibri"/>
              <a:sym typeface="Calibri"/>
            </a:endParaRPr>
          </a:p>
        </p:txBody>
      </p:sp>
      <p:sp>
        <p:nvSpPr>
          <p:cNvPr id="2518" name="Google Shape;2518;p64"/>
          <p:cNvSpPr/>
          <p:nvPr/>
        </p:nvSpPr>
        <p:spPr>
          <a:xfrm>
            <a:off x="914400" y="4142232"/>
            <a:ext cx="164700" cy="164700"/>
          </a:xfrm>
          <a:prstGeom prst="ellipse">
            <a:avLst/>
          </a:prstGeom>
          <a:solidFill>
            <a:srgbClr val="6366F1"/>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9" name="Google Shape;2519;p64"/>
          <p:cNvSpPr/>
          <p:nvPr/>
        </p:nvSpPr>
        <p:spPr>
          <a:xfrm>
            <a:off x="1901952" y="749808"/>
            <a:ext cx="1664100" cy="3291900"/>
          </a:xfrm>
          <a:prstGeom prst="rect">
            <a:avLst/>
          </a:prstGeom>
          <a:solidFill>
            <a:srgbClr val="FFFFFF"/>
          </a:solidFill>
          <a:ln cap="flat" cmpd="sng" w="15225">
            <a:solidFill>
              <a:srgbClr val="0EA5E9"/>
            </a:solidFill>
            <a:prstDash val="solid"/>
            <a:round/>
            <a:headEnd len="sm" w="sm" type="none"/>
            <a:tailEnd len="sm" w="sm" type="none"/>
          </a:ln>
          <a:effectLst>
            <a:outerShdw blurRad="762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0" name="Google Shape;2520;p64"/>
          <p:cNvSpPr/>
          <p:nvPr/>
        </p:nvSpPr>
        <p:spPr>
          <a:xfrm>
            <a:off x="1901952" y="749808"/>
            <a:ext cx="1664100" cy="63900"/>
          </a:xfrm>
          <a:prstGeom prst="rect">
            <a:avLst/>
          </a:prstGeom>
          <a:solidFill>
            <a:srgbClr val="0EA5E9"/>
          </a:solidFill>
          <a:ln cap="flat" cmpd="sng" w="12700">
            <a:solidFill>
              <a:srgbClr val="0EA5E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1" name="Google Shape;2521;p64"/>
          <p:cNvSpPr/>
          <p:nvPr/>
        </p:nvSpPr>
        <p:spPr>
          <a:xfrm>
            <a:off x="1975104" y="841248"/>
            <a:ext cx="1518000" cy="201300"/>
          </a:xfrm>
          <a:prstGeom prst="rect">
            <a:avLst/>
          </a:prstGeom>
          <a:solidFill>
            <a:srgbClr val="0EA5E9">
              <a:alpha val="14902"/>
            </a:srgbClr>
          </a:solidFill>
          <a:ln cap="flat" cmpd="sng" w="9525">
            <a:solidFill>
              <a:srgbClr val="0EA5E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2" name="Google Shape;2522;p64"/>
          <p:cNvSpPr/>
          <p:nvPr/>
        </p:nvSpPr>
        <p:spPr>
          <a:xfrm>
            <a:off x="1975104" y="841248"/>
            <a:ext cx="1518000" cy="201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EA5E9"/>
              </a:buClr>
              <a:buSzPts val="800"/>
              <a:buFont typeface="Calibri"/>
              <a:buNone/>
            </a:pPr>
            <a:r>
              <a:rPr b="1" i="0" lang="en" sz="800" u="none" cap="none" strike="noStrike">
                <a:solidFill>
                  <a:srgbClr val="0EA5E9"/>
                </a:solidFill>
                <a:latin typeface="Calibri"/>
                <a:ea typeface="Calibri"/>
                <a:cs typeface="Calibri"/>
                <a:sym typeface="Calibri"/>
              </a:rPr>
              <a:t>1980s</a:t>
            </a:r>
            <a:endParaRPr b="0" i="0" sz="800" u="none" cap="none" strike="noStrike">
              <a:solidFill>
                <a:schemeClr val="dk1"/>
              </a:solidFill>
              <a:latin typeface="Calibri"/>
              <a:ea typeface="Calibri"/>
              <a:cs typeface="Calibri"/>
              <a:sym typeface="Calibri"/>
            </a:endParaRPr>
          </a:p>
        </p:txBody>
      </p:sp>
      <p:sp>
        <p:nvSpPr>
          <p:cNvPr id="2523" name="Google Shape;2523;p64"/>
          <p:cNvSpPr/>
          <p:nvPr/>
        </p:nvSpPr>
        <p:spPr>
          <a:xfrm>
            <a:off x="1956816" y="1069848"/>
            <a:ext cx="1554600" cy="292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293B"/>
              </a:buClr>
              <a:buSzPts val="1300"/>
              <a:buFont typeface="Calibri"/>
              <a:buNone/>
            </a:pPr>
            <a:r>
              <a:rPr b="1" i="0" lang="en" sz="1300" u="none" cap="none" strike="noStrike">
                <a:solidFill>
                  <a:srgbClr val="1E293B"/>
                </a:solidFill>
                <a:latin typeface="Calibri"/>
                <a:ea typeface="Calibri"/>
                <a:cs typeface="Calibri"/>
                <a:sym typeface="Calibri"/>
              </a:rPr>
              <a:t>MLP</a:t>
            </a:r>
            <a:endParaRPr b="0" i="0" sz="1300" u="none" cap="none" strike="noStrike">
              <a:solidFill>
                <a:schemeClr val="dk1"/>
              </a:solidFill>
              <a:latin typeface="Calibri"/>
              <a:ea typeface="Calibri"/>
              <a:cs typeface="Calibri"/>
              <a:sym typeface="Calibri"/>
            </a:endParaRPr>
          </a:p>
        </p:txBody>
      </p:sp>
      <p:sp>
        <p:nvSpPr>
          <p:cNvPr id="2524" name="Google Shape;2524;p64"/>
          <p:cNvSpPr/>
          <p:nvPr/>
        </p:nvSpPr>
        <p:spPr>
          <a:xfrm>
            <a:off x="1975104" y="1389888"/>
            <a:ext cx="1518000" cy="1005900"/>
          </a:xfrm>
          <a:prstGeom prst="rect">
            <a:avLst/>
          </a:prstGeom>
          <a:solidFill>
            <a:srgbClr val="F1F5F9"/>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5" name="Google Shape;2525;p64"/>
          <p:cNvSpPr/>
          <p:nvPr/>
        </p:nvSpPr>
        <p:spPr>
          <a:xfrm>
            <a:off x="2048256" y="1481328"/>
            <a:ext cx="183000" cy="183000"/>
          </a:xfrm>
          <a:prstGeom prst="ellipse">
            <a:avLst/>
          </a:prstGeom>
          <a:solidFill>
            <a:srgbClr val="E2E8F0"/>
          </a:solidFill>
          <a:ln cap="flat" cmpd="sng" w="12700">
            <a:solidFill>
              <a:srgbClr val="0EA5E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6" name="Google Shape;2526;p64"/>
          <p:cNvSpPr/>
          <p:nvPr/>
        </p:nvSpPr>
        <p:spPr>
          <a:xfrm>
            <a:off x="2048256" y="1801368"/>
            <a:ext cx="183000" cy="183000"/>
          </a:xfrm>
          <a:prstGeom prst="ellipse">
            <a:avLst/>
          </a:prstGeom>
          <a:solidFill>
            <a:srgbClr val="E2E8F0"/>
          </a:solidFill>
          <a:ln cap="flat" cmpd="sng" w="12700">
            <a:solidFill>
              <a:srgbClr val="0EA5E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7" name="Google Shape;2527;p64"/>
          <p:cNvSpPr/>
          <p:nvPr/>
        </p:nvSpPr>
        <p:spPr>
          <a:xfrm>
            <a:off x="2048256" y="2121408"/>
            <a:ext cx="183000" cy="183000"/>
          </a:xfrm>
          <a:prstGeom prst="ellipse">
            <a:avLst/>
          </a:prstGeom>
          <a:solidFill>
            <a:srgbClr val="E2E8F0"/>
          </a:solidFill>
          <a:ln cap="flat" cmpd="sng" w="12700">
            <a:solidFill>
              <a:srgbClr val="0EA5E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8" name="Google Shape;2528;p64"/>
          <p:cNvSpPr/>
          <p:nvPr/>
        </p:nvSpPr>
        <p:spPr>
          <a:xfrm>
            <a:off x="2642616" y="1591056"/>
            <a:ext cx="183000" cy="183000"/>
          </a:xfrm>
          <a:prstGeom prst="ellipse">
            <a:avLst/>
          </a:prstGeom>
          <a:solidFill>
            <a:srgbClr val="0EA5E9">
              <a:alpha val="80000"/>
            </a:srgbClr>
          </a:solidFill>
          <a:ln cap="flat" cmpd="sng" w="12700">
            <a:solidFill>
              <a:srgbClr val="0EA5E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9" name="Google Shape;2529;p64"/>
          <p:cNvSpPr/>
          <p:nvPr/>
        </p:nvSpPr>
        <p:spPr>
          <a:xfrm>
            <a:off x="2642616" y="1837944"/>
            <a:ext cx="183000" cy="183000"/>
          </a:xfrm>
          <a:prstGeom prst="ellipse">
            <a:avLst/>
          </a:prstGeom>
          <a:solidFill>
            <a:srgbClr val="0EA5E9">
              <a:alpha val="80000"/>
            </a:srgbClr>
          </a:solidFill>
          <a:ln cap="flat" cmpd="sng" w="12700">
            <a:solidFill>
              <a:srgbClr val="0EA5E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0" name="Google Shape;2530;p64"/>
          <p:cNvSpPr/>
          <p:nvPr/>
        </p:nvSpPr>
        <p:spPr>
          <a:xfrm>
            <a:off x="2642616" y="2084832"/>
            <a:ext cx="183000" cy="183000"/>
          </a:xfrm>
          <a:prstGeom prst="ellipse">
            <a:avLst/>
          </a:prstGeom>
          <a:solidFill>
            <a:srgbClr val="0EA5E9">
              <a:alpha val="80000"/>
            </a:srgbClr>
          </a:solidFill>
          <a:ln cap="flat" cmpd="sng" w="12700">
            <a:solidFill>
              <a:srgbClr val="0EA5E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1" name="Google Shape;2531;p64"/>
          <p:cNvSpPr/>
          <p:nvPr/>
        </p:nvSpPr>
        <p:spPr>
          <a:xfrm>
            <a:off x="3236976" y="1709928"/>
            <a:ext cx="183000" cy="183000"/>
          </a:xfrm>
          <a:prstGeom prst="ellipse">
            <a:avLst/>
          </a:prstGeom>
          <a:solidFill>
            <a:srgbClr val="E2E8F0"/>
          </a:solidFill>
          <a:ln cap="flat" cmpd="sng" w="12700">
            <a:solidFill>
              <a:srgbClr val="0EA5E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2" name="Google Shape;2532;p64"/>
          <p:cNvSpPr/>
          <p:nvPr/>
        </p:nvSpPr>
        <p:spPr>
          <a:xfrm>
            <a:off x="3236976" y="1956816"/>
            <a:ext cx="183000" cy="183000"/>
          </a:xfrm>
          <a:prstGeom prst="ellipse">
            <a:avLst/>
          </a:prstGeom>
          <a:solidFill>
            <a:srgbClr val="E2E8F0"/>
          </a:solidFill>
          <a:ln cap="flat" cmpd="sng" w="12700">
            <a:solidFill>
              <a:srgbClr val="0EA5E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533" name="Google Shape;2533;p64"/>
          <p:cNvCxnSpPr/>
          <p:nvPr/>
        </p:nvCxnSpPr>
        <p:spPr>
          <a:xfrm>
            <a:off x="2231136" y="1572768"/>
            <a:ext cx="411600" cy="109800"/>
          </a:xfrm>
          <a:prstGeom prst="straightConnector1">
            <a:avLst/>
          </a:prstGeom>
          <a:noFill/>
          <a:ln cap="flat" cmpd="sng" w="9525">
            <a:solidFill>
              <a:srgbClr val="CBD5E1"/>
            </a:solidFill>
            <a:prstDash val="solid"/>
            <a:round/>
            <a:headEnd len="sm" w="sm" type="none"/>
            <a:tailEnd len="sm" w="sm" type="none"/>
          </a:ln>
        </p:spPr>
      </p:cxnSp>
      <p:cxnSp>
        <p:nvCxnSpPr>
          <p:cNvPr id="2534" name="Google Shape;2534;p64"/>
          <p:cNvCxnSpPr/>
          <p:nvPr/>
        </p:nvCxnSpPr>
        <p:spPr>
          <a:xfrm>
            <a:off x="2231136" y="1572768"/>
            <a:ext cx="411600" cy="356700"/>
          </a:xfrm>
          <a:prstGeom prst="straightConnector1">
            <a:avLst/>
          </a:prstGeom>
          <a:noFill/>
          <a:ln cap="flat" cmpd="sng" w="9525">
            <a:solidFill>
              <a:srgbClr val="CBD5E1"/>
            </a:solidFill>
            <a:prstDash val="solid"/>
            <a:round/>
            <a:headEnd len="sm" w="sm" type="none"/>
            <a:tailEnd len="sm" w="sm" type="none"/>
          </a:ln>
        </p:spPr>
      </p:cxnSp>
      <p:cxnSp>
        <p:nvCxnSpPr>
          <p:cNvPr id="2535" name="Google Shape;2535;p64"/>
          <p:cNvCxnSpPr/>
          <p:nvPr/>
        </p:nvCxnSpPr>
        <p:spPr>
          <a:xfrm>
            <a:off x="2231136" y="1572768"/>
            <a:ext cx="411600" cy="603600"/>
          </a:xfrm>
          <a:prstGeom prst="straightConnector1">
            <a:avLst/>
          </a:prstGeom>
          <a:noFill/>
          <a:ln cap="flat" cmpd="sng" w="9525">
            <a:solidFill>
              <a:srgbClr val="CBD5E1"/>
            </a:solidFill>
            <a:prstDash val="solid"/>
            <a:round/>
            <a:headEnd len="sm" w="sm" type="none"/>
            <a:tailEnd len="sm" w="sm" type="none"/>
          </a:ln>
        </p:spPr>
      </p:cxnSp>
      <p:cxnSp>
        <p:nvCxnSpPr>
          <p:cNvPr id="2536" name="Google Shape;2536;p64"/>
          <p:cNvCxnSpPr/>
          <p:nvPr/>
        </p:nvCxnSpPr>
        <p:spPr>
          <a:xfrm>
            <a:off x="2231136" y="1892808"/>
            <a:ext cx="411600" cy="0"/>
          </a:xfrm>
          <a:prstGeom prst="straightConnector1">
            <a:avLst/>
          </a:prstGeom>
          <a:noFill/>
          <a:ln cap="flat" cmpd="sng" w="9525">
            <a:solidFill>
              <a:srgbClr val="CBD5E1"/>
            </a:solidFill>
            <a:prstDash val="solid"/>
            <a:round/>
            <a:headEnd len="sm" w="sm" type="none"/>
            <a:tailEnd len="sm" w="sm" type="none"/>
          </a:ln>
        </p:spPr>
      </p:cxnSp>
      <p:cxnSp>
        <p:nvCxnSpPr>
          <p:cNvPr id="2537" name="Google Shape;2537;p64"/>
          <p:cNvCxnSpPr/>
          <p:nvPr/>
        </p:nvCxnSpPr>
        <p:spPr>
          <a:xfrm>
            <a:off x="2231136" y="1892808"/>
            <a:ext cx="411600" cy="36600"/>
          </a:xfrm>
          <a:prstGeom prst="straightConnector1">
            <a:avLst/>
          </a:prstGeom>
          <a:noFill/>
          <a:ln cap="flat" cmpd="sng" w="9525">
            <a:solidFill>
              <a:srgbClr val="CBD5E1"/>
            </a:solidFill>
            <a:prstDash val="solid"/>
            <a:round/>
            <a:headEnd len="sm" w="sm" type="none"/>
            <a:tailEnd len="sm" w="sm" type="none"/>
          </a:ln>
        </p:spPr>
      </p:cxnSp>
      <p:cxnSp>
        <p:nvCxnSpPr>
          <p:cNvPr id="2538" name="Google Shape;2538;p64"/>
          <p:cNvCxnSpPr/>
          <p:nvPr/>
        </p:nvCxnSpPr>
        <p:spPr>
          <a:xfrm>
            <a:off x="2231136" y="1892808"/>
            <a:ext cx="411600" cy="283500"/>
          </a:xfrm>
          <a:prstGeom prst="straightConnector1">
            <a:avLst/>
          </a:prstGeom>
          <a:noFill/>
          <a:ln cap="flat" cmpd="sng" w="9525">
            <a:solidFill>
              <a:srgbClr val="CBD5E1"/>
            </a:solidFill>
            <a:prstDash val="solid"/>
            <a:round/>
            <a:headEnd len="sm" w="sm" type="none"/>
            <a:tailEnd len="sm" w="sm" type="none"/>
          </a:ln>
        </p:spPr>
      </p:cxnSp>
      <p:cxnSp>
        <p:nvCxnSpPr>
          <p:cNvPr id="2539" name="Google Shape;2539;p64"/>
          <p:cNvCxnSpPr/>
          <p:nvPr/>
        </p:nvCxnSpPr>
        <p:spPr>
          <a:xfrm>
            <a:off x="2231136" y="2212848"/>
            <a:ext cx="411600" cy="0"/>
          </a:xfrm>
          <a:prstGeom prst="straightConnector1">
            <a:avLst/>
          </a:prstGeom>
          <a:noFill/>
          <a:ln cap="flat" cmpd="sng" w="9525">
            <a:solidFill>
              <a:srgbClr val="CBD5E1"/>
            </a:solidFill>
            <a:prstDash val="solid"/>
            <a:round/>
            <a:headEnd len="sm" w="sm" type="none"/>
            <a:tailEnd len="sm" w="sm" type="none"/>
          </a:ln>
        </p:spPr>
      </p:cxnSp>
      <p:cxnSp>
        <p:nvCxnSpPr>
          <p:cNvPr id="2540" name="Google Shape;2540;p64"/>
          <p:cNvCxnSpPr/>
          <p:nvPr/>
        </p:nvCxnSpPr>
        <p:spPr>
          <a:xfrm>
            <a:off x="2231136" y="2212848"/>
            <a:ext cx="411600" cy="0"/>
          </a:xfrm>
          <a:prstGeom prst="straightConnector1">
            <a:avLst/>
          </a:prstGeom>
          <a:noFill/>
          <a:ln cap="flat" cmpd="sng" w="9525">
            <a:solidFill>
              <a:srgbClr val="CBD5E1"/>
            </a:solidFill>
            <a:prstDash val="solid"/>
            <a:round/>
            <a:headEnd len="sm" w="sm" type="none"/>
            <a:tailEnd len="sm" w="sm" type="none"/>
          </a:ln>
        </p:spPr>
      </p:cxnSp>
      <p:cxnSp>
        <p:nvCxnSpPr>
          <p:cNvPr id="2541" name="Google Shape;2541;p64"/>
          <p:cNvCxnSpPr/>
          <p:nvPr/>
        </p:nvCxnSpPr>
        <p:spPr>
          <a:xfrm>
            <a:off x="2231136" y="2212848"/>
            <a:ext cx="411600" cy="0"/>
          </a:xfrm>
          <a:prstGeom prst="straightConnector1">
            <a:avLst/>
          </a:prstGeom>
          <a:noFill/>
          <a:ln cap="flat" cmpd="sng" w="9525">
            <a:solidFill>
              <a:srgbClr val="CBD5E1"/>
            </a:solidFill>
            <a:prstDash val="solid"/>
            <a:round/>
            <a:headEnd len="sm" w="sm" type="none"/>
            <a:tailEnd len="sm" w="sm" type="none"/>
          </a:ln>
        </p:spPr>
      </p:cxnSp>
      <p:cxnSp>
        <p:nvCxnSpPr>
          <p:cNvPr id="2542" name="Google Shape;2542;p64"/>
          <p:cNvCxnSpPr/>
          <p:nvPr/>
        </p:nvCxnSpPr>
        <p:spPr>
          <a:xfrm>
            <a:off x="2825496" y="1682496"/>
            <a:ext cx="411600" cy="118800"/>
          </a:xfrm>
          <a:prstGeom prst="straightConnector1">
            <a:avLst/>
          </a:prstGeom>
          <a:noFill/>
          <a:ln cap="flat" cmpd="sng" w="9525">
            <a:solidFill>
              <a:srgbClr val="CBD5E1"/>
            </a:solidFill>
            <a:prstDash val="solid"/>
            <a:round/>
            <a:headEnd len="sm" w="sm" type="none"/>
            <a:tailEnd len="sm" w="sm" type="none"/>
          </a:ln>
        </p:spPr>
      </p:cxnSp>
      <p:cxnSp>
        <p:nvCxnSpPr>
          <p:cNvPr id="2543" name="Google Shape;2543;p64"/>
          <p:cNvCxnSpPr/>
          <p:nvPr/>
        </p:nvCxnSpPr>
        <p:spPr>
          <a:xfrm>
            <a:off x="2825496" y="1682496"/>
            <a:ext cx="411600" cy="365700"/>
          </a:xfrm>
          <a:prstGeom prst="straightConnector1">
            <a:avLst/>
          </a:prstGeom>
          <a:noFill/>
          <a:ln cap="flat" cmpd="sng" w="9525">
            <a:solidFill>
              <a:srgbClr val="CBD5E1"/>
            </a:solidFill>
            <a:prstDash val="solid"/>
            <a:round/>
            <a:headEnd len="sm" w="sm" type="none"/>
            <a:tailEnd len="sm" w="sm" type="none"/>
          </a:ln>
        </p:spPr>
      </p:cxnSp>
      <p:cxnSp>
        <p:nvCxnSpPr>
          <p:cNvPr id="2544" name="Google Shape;2544;p64"/>
          <p:cNvCxnSpPr/>
          <p:nvPr/>
        </p:nvCxnSpPr>
        <p:spPr>
          <a:xfrm>
            <a:off x="2825496" y="1929384"/>
            <a:ext cx="411600" cy="0"/>
          </a:xfrm>
          <a:prstGeom prst="straightConnector1">
            <a:avLst/>
          </a:prstGeom>
          <a:noFill/>
          <a:ln cap="flat" cmpd="sng" w="9525">
            <a:solidFill>
              <a:srgbClr val="CBD5E1"/>
            </a:solidFill>
            <a:prstDash val="solid"/>
            <a:round/>
            <a:headEnd len="sm" w="sm" type="none"/>
            <a:tailEnd len="sm" w="sm" type="none"/>
          </a:ln>
        </p:spPr>
      </p:cxnSp>
      <p:cxnSp>
        <p:nvCxnSpPr>
          <p:cNvPr id="2545" name="Google Shape;2545;p64"/>
          <p:cNvCxnSpPr/>
          <p:nvPr/>
        </p:nvCxnSpPr>
        <p:spPr>
          <a:xfrm>
            <a:off x="2825496" y="1929384"/>
            <a:ext cx="411600" cy="118800"/>
          </a:xfrm>
          <a:prstGeom prst="straightConnector1">
            <a:avLst/>
          </a:prstGeom>
          <a:noFill/>
          <a:ln cap="flat" cmpd="sng" w="9525">
            <a:solidFill>
              <a:srgbClr val="CBD5E1"/>
            </a:solidFill>
            <a:prstDash val="solid"/>
            <a:round/>
            <a:headEnd len="sm" w="sm" type="none"/>
            <a:tailEnd len="sm" w="sm" type="none"/>
          </a:ln>
        </p:spPr>
      </p:cxnSp>
      <p:cxnSp>
        <p:nvCxnSpPr>
          <p:cNvPr id="2546" name="Google Shape;2546;p64"/>
          <p:cNvCxnSpPr/>
          <p:nvPr/>
        </p:nvCxnSpPr>
        <p:spPr>
          <a:xfrm>
            <a:off x="2825496" y="2176272"/>
            <a:ext cx="411600" cy="0"/>
          </a:xfrm>
          <a:prstGeom prst="straightConnector1">
            <a:avLst/>
          </a:prstGeom>
          <a:noFill/>
          <a:ln cap="flat" cmpd="sng" w="9525">
            <a:solidFill>
              <a:srgbClr val="CBD5E1"/>
            </a:solidFill>
            <a:prstDash val="solid"/>
            <a:round/>
            <a:headEnd len="sm" w="sm" type="none"/>
            <a:tailEnd len="sm" w="sm" type="none"/>
          </a:ln>
        </p:spPr>
      </p:cxnSp>
      <p:cxnSp>
        <p:nvCxnSpPr>
          <p:cNvPr id="2547" name="Google Shape;2547;p64"/>
          <p:cNvCxnSpPr/>
          <p:nvPr/>
        </p:nvCxnSpPr>
        <p:spPr>
          <a:xfrm>
            <a:off x="2825496" y="2176272"/>
            <a:ext cx="411600" cy="0"/>
          </a:xfrm>
          <a:prstGeom prst="straightConnector1">
            <a:avLst/>
          </a:prstGeom>
          <a:noFill/>
          <a:ln cap="flat" cmpd="sng" w="9525">
            <a:solidFill>
              <a:srgbClr val="CBD5E1"/>
            </a:solidFill>
            <a:prstDash val="solid"/>
            <a:round/>
            <a:headEnd len="sm" w="sm" type="none"/>
            <a:tailEnd len="sm" w="sm" type="none"/>
          </a:ln>
        </p:spPr>
      </p:cxnSp>
      <p:sp>
        <p:nvSpPr>
          <p:cNvPr id="2548" name="Google Shape;2548;p64"/>
          <p:cNvSpPr/>
          <p:nvPr/>
        </p:nvSpPr>
        <p:spPr>
          <a:xfrm>
            <a:off x="1975104" y="2441448"/>
            <a:ext cx="1518000" cy="1417200"/>
          </a:xfrm>
          <a:prstGeom prst="rect">
            <a:avLst/>
          </a:prstGeom>
          <a:noFill/>
          <a:ln>
            <a:noFill/>
          </a:ln>
        </p:spPr>
        <p:txBody>
          <a:bodyPr anchorCtr="0" anchor="t" bIns="38100" lIns="38100" spcFirstLastPara="1" rIns="38100" wrap="square" tIns="38100">
            <a:noAutofit/>
          </a:bodyPr>
          <a:lstStyle/>
          <a:p>
            <a:pPr indent="0" lvl="0" marL="0" marR="0" rtl="0" algn="l">
              <a:lnSpc>
                <a:spcPct val="125000"/>
              </a:lnSpc>
              <a:spcBef>
                <a:spcPts val="0"/>
              </a:spcBef>
              <a:spcAft>
                <a:spcPts val="0"/>
              </a:spcAft>
              <a:buClr>
                <a:srgbClr val="0EA5E9"/>
              </a:buClr>
              <a:buSzPts val="900"/>
              <a:buFont typeface="Calibri"/>
              <a:buNone/>
            </a:pPr>
            <a:r>
              <a:rPr b="1" i="0" lang="en" sz="900" u="none" cap="none" strike="noStrike">
                <a:solidFill>
                  <a:srgbClr val="0EA5E9"/>
                </a:solidFill>
                <a:latin typeface="Calibri"/>
                <a:ea typeface="Calibri"/>
                <a:cs typeface="Calibri"/>
                <a:sym typeface="Calibri"/>
              </a:rPr>
              <a:t>Hidden layers</a:t>
            </a:r>
            <a:endParaRPr b="0" i="0" sz="9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334155"/>
              </a:buClr>
              <a:buSzPts val="900"/>
              <a:buFont typeface="Calibri"/>
              <a:buNone/>
            </a:pPr>
            <a:r>
              <a:rPr b="0" i="0" lang="en" sz="900" u="none" cap="none" strike="noStrike">
                <a:solidFill>
                  <a:srgbClr val="334155"/>
                </a:solidFill>
                <a:latin typeface="Calibri"/>
                <a:ea typeface="Calibri"/>
                <a:cs typeface="Calibri"/>
                <a:sym typeface="Calibri"/>
              </a:rPr>
              <a:t>Backpropagation</a:t>
            </a:r>
            <a:endParaRPr b="0" i="0" sz="9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334155"/>
              </a:buClr>
              <a:buSzPts val="900"/>
              <a:buFont typeface="Calibri"/>
              <a:buNone/>
            </a:pPr>
            <a:r>
              <a:rPr b="0" i="0" lang="en" sz="900" u="none" cap="none" strike="noStrike">
                <a:solidFill>
                  <a:srgbClr val="334155"/>
                </a:solidFill>
                <a:latin typeface="Calibri"/>
                <a:ea typeface="Calibri"/>
                <a:cs typeface="Calibri"/>
                <a:sym typeface="Calibri"/>
              </a:rPr>
              <a:t>Non-linear fn</a:t>
            </a:r>
            <a:endParaRPr b="0" i="0" sz="9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334155"/>
              </a:buClr>
              <a:buSzPts val="900"/>
              <a:buFont typeface="Calibri"/>
              <a:buNone/>
            </a:pPr>
            <a:r>
              <a:rPr b="0" i="0" lang="en" sz="900" u="none" cap="none" strike="noStrike">
                <a:solidFill>
                  <a:srgbClr val="334155"/>
                </a:solidFill>
                <a:latin typeface="Calibri"/>
                <a:ea typeface="Calibri"/>
                <a:cs typeface="Calibri"/>
                <a:sym typeface="Calibri"/>
              </a:rPr>
              <a:t>Universal approx</a:t>
            </a:r>
            <a:endParaRPr b="0" i="0" sz="900" u="none" cap="none" strike="noStrike">
              <a:solidFill>
                <a:schemeClr val="dk1"/>
              </a:solidFill>
              <a:latin typeface="Calibri"/>
              <a:ea typeface="Calibri"/>
              <a:cs typeface="Calibri"/>
              <a:sym typeface="Calibri"/>
            </a:endParaRPr>
          </a:p>
        </p:txBody>
      </p:sp>
      <p:sp>
        <p:nvSpPr>
          <p:cNvPr id="2549" name="Google Shape;2549;p64"/>
          <p:cNvSpPr/>
          <p:nvPr/>
        </p:nvSpPr>
        <p:spPr>
          <a:xfrm>
            <a:off x="2651760" y="4142232"/>
            <a:ext cx="164700" cy="164700"/>
          </a:xfrm>
          <a:prstGeom prst="ellipse">
            <a:avLst/>
          </a:prstGeom>
          <a:solidFill>
            <a:srgbClr val="0EA5E9"/>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0" name="Google Shape;2550;p64"/>
          <p:cNvSpPr/>
          <p:nvPr/>
        </p:nvSpPr>
        <p:spPr>
          <a:xfrm>
            <a:off x="3639312" y="749808"/>
            <a:ext cx="1664100" cy="3291900"/>
          </a:xfrm>
          <a:prstGeom prst="rect">
            <a:avLst/>
          </a:prstGeom>
          <a:solidFill>
            <a:srgbClr val="FFFFFF"/>
          </a:solidFill>
          <a:ln cap="flat" cmpd="sng" w="15225">
            <a:solidFill>
              <a:srgbClr val="10B981"/>
            </a:solidFill>
            <a:prstDash val="solid"/>
            <a:round/>
            <a:headEnd len="sm" w="sm" type="none"/>
            <a:tailEnd len="sm" w="sm" type="none"/>
          </a:ln>
          <a:effectLst>
            <a:outerShdw blurRad="762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1" name="Google Shape;2551;p64"/>
          <p:cNvSpPr/>
          <p:nvPr/>
        </p:nvSpPr>
        <p:spPr>
          <a:xfrm>
            <a:off x="3639312" y="749808"/>
            <a:ext cx="1664100" cy="63900"/>
          </a:xfrm>
          <a:prstGeom prst="rect">
            <a:avLst/>
          </a:prstGeom>
          <a:solidFill>
            <a:srgbClr val="10B981"/>
          </a:solidFill>
          <a:ln cap="flat" cmpd="sng" w="12700">
            <a:solidFill>
              <a:srgbClr val="10B98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2" name="Google Shape;2552;p64"/>
          <p:cNvSpPr/>
          <p:nvPr/>
        </p:nvSpPr>
        <p:spPr>
          <a:xfrm>
            <a:off x="3712464" y="841248"/>
            <a:ext cx="1518000" cy="201300"/>
          </a:xfrm>
          <a:prstGeom prst="rect">
            <a:avLst/>
          </a:prstGeom>
          <a:solidFill>
            <a:srgbClr val="10B981">
              <a:alpha val="14902"/>
            </a:srgbClr>
          </a:solidFill>
          <a:ln cap="flat" cmpd="sng" w="9525">
            <a:solidFill>
              <a:srgbClr val="10B98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3" name="Google Shape;2553;p64"/>
          <p:cNvSpPr/>
          <p:nvPr/>
        </p:nvSpPr>
        <p:spPr>
          <a:xfrm>
            <a:off x="3712464" y="841248"/>
            <a:ext cx="1518000" cy="201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0B981"/>
              </a:buClr>
              <a:buSzPts val="800"/>
              <a:buFont typeface="Calibri"/>
              <a:buNone/>
            </a:pPr>
            <a:r>
              <a:rPr b="1" i="0" lang="en" sz="800" u="none" cap="none" strike="noStrike">
                <a:solidFill>
                  <a:srgbClr val="10B981"/>
                </a:solidFill>
                <a:latin typeface="Calibri"/>
                <a:ea typeface="Calibri"/>
                <a:cs typeface="Calibri"/>
                <a:sym typeface="Calibri"/>
              </a:rPr>
              <a:t>1990s</a:t>
            </a:r>
            <a:endParaRPr b="0" i="0" sz="800" u="none" cap="none" strike="noStrike">
              <a:solidFill>
                <a:schemeClr val="dk1"/>
              </a:solidFill>
              <a:latin typeface="Calibri"/>
              <a:ea typeface="Calibri"/>
              <a:cs typeface="Calibri"/>
              <a:sym typeface="Calibri"/>
            </a:endParaRPr>
          </a:p>
        </p:txBody>
      </p:sp>
      <p:sp>
        <p:nvSpPr>
          <p:cNvPr id="2554" name="Google Shape;2554;p64"/>
          <p:cNvSpPr/>
          <p:nvPr/>
        </p:nvSpPr>
        <p:spPr>
          <a:xfrm>
            <a:off x="3694176" y="1069848"/>
            <a:ext cx="1554600" cy="292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293B"/>
              </a:buClr>
              <a:buSzPts val="1300"/>
              <a:buFont typeface="Calibri"/>
              <a:buNone/>
            </a:pPr>
            <a:r>
              <a:rPr b="1" i="0" lang="en" sz="1300" u="none" cap="none" strike="noStrike">
                <a:solidFill>
                  <a:srgbClr val="1E293B"/>
                </a:solidFill>
                <a:latin typeface="Calibri"/>
                <a:ea typeface="Calibri"/>
                <a:cs typeface="Calibri"/>
                <a:sym typeface="Calibri"/>
              </a:rPr>
              <a:t>CNN</a:t>
            </a:r>
            <a:endParaRPr b="0" i="0" sz="1300" u="none" cap="none" strike="noStrike">
              <a:solidFill>
                <a:schemeClr val="dk1"/>
              </a:solidFill>
              <a:latin typeface="Calibri"/>
              <a:ea typeface="Calibri"/>
              <a:cs typeface="Calibri"/>
              <a:sym typeface="Calibri"/>
            </a:endParaRPr>
          </a:p>
        </p:txBody>
      </p:sp>
      <p:sp>
        <p:nvSpPr>
          <p:cNvPr id="2555" name="Google Shape;2555;p64"/>
          <p:cNvSpPr/>
          <p:nvPr/>
        </p:nvSpPr>
        <p:spPr>
          <a:xfrm>
            <a:off x="3712464" y="1389888"/>
            <a:ext cx="1518000" cy="1005900"/>
          </a:xfrm>
          <a:prstGeom prst="rect">
            <a:avLst/>
          </a:prstGeom>
          <a:solidFill>
            <a:srgbClr val="F1F5F9"/>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6" name="Google Shape;2556;p64"/>
          <p:cNvSpPr/>
          <p:nvPr/>
        </p:nvSpPr>
        <p:spPr>
          <a:xfrm>
            <a:off x="3785616" y="1527048"/>
            <a:ext cx="201300" cy="749700"/>
          </a:xfrm>
          <a:prstGeom prst="rect">
            <a:avLst/>
          </a:prstGeom>
          <a:solidFill>
            <a:srgbClr val="BFDBFE"/>
          </a:solidFill>
          <a:ln cap="flat" cmpd="sng" w="10150">
            <a:solidFill>
              <a:srgbClr val="10B98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7" name="Google Shape;2557;p64"/>
          <p:cNvSpPr/>
          <p:nvPr/>
        </p:nvSpPr>
        <p:spPr>
          <a:xfrm>
            <a:off x="4041648" y="1527048"/>
            <a:ext cx="201300" cy="749700"/>
          </a:xfrm>
          <a:prstGeom prst="rect">
            <a:avLst/>
          </a:prstGeom>
          <a:solidFill>
            <a:srgbClr val="BBF7D0"/>
          </a:solidFill>
          <a:ln cap="flat" cmpd="sng" w="10150">
            <a:solidFill>
              <a:srgbClr val="10B98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8" name="Google Shape;2558;p64"/>
          <p:cNvSpPr/>
          <p:nvPr/>
        </p:nvSpPr>
        <p:spPr>
          <a:xfrm>
            <a:off x="4297680" y="1527048"/>
            <a:ext cx="201300" cy="749700"/>
          </a:xfrm>
          <a:prstGeom prst="rect">
            <a:avLst/>
          </a:prstGeom>
          <a:solidFill>
            <a:srgbClr val="BFDBFE"/>
          </a:solidFill>
          <a:ln cap="flat" cmpd="sng" w="10150">
            <a:solidFill>
              <a:srgbClr val="10B98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9" name="Google Shape;2559;p64"/>
          <p:cNvSpPr/>
          <p:nvPr/>
        </p:nvSpPr>
        <p:spPr>
          <a:xfrm>
            <a:off x="4608576" y="1645920"/>
            <a:ext cx="146400" cy="521100"/>
          </a:xfrm>
          <a:prstGeom prst="rect">
            <a:avLst/>
          </a:prstGeom>
          <a:solidFill>
            <a:srgbClr val="DBEAFE"/>
          </a:solidFill>
          <a:ln cap="flat" cmpd="sng" w="10150">
            <a:solidFill>
              <a:srgbClr val="10B98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0" name="Google Shape;2560;p64"/>
          <p:cNvSpPr/>
          <p:nvPr/>
        </p:nvSpPr>
        <p:spPr>
          <a:xfrm>
            <a:off x="4828032" y="1737360"/>
            <a:ext cx="109800" cy="347400"/>
          </a:xfrm>
          <a:prstGeom prst="rect">
            <a:avLst/>
          </a:prstGeom>
          <a:solidFill>
            <a:srgbClr val="10B981">
              <a:alpha val="60000"/>
            </a:srgbClr>
          </a:solidFill>
          <a:ln cap="flat" cmpd="sng" w="10150">
            <a:solidFill>
              <a:srgbClr val="10B98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1" name="Google Shape;2561;p64"/>
          <p:cNvSpPr/>
          <p:nvPr/>
        </p:nvSpPr>
        <p:spPr>
          <a:xfrm>
            <a:off x="3785616" y="2304288"/>
            <a:ext cx="731400" cy="109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600"/>
              <a:buFont typeface="Calibri"/>
              <a:buNone/>
            </a:pPr>
            <a:r>
              <a:rPr b="0" i="0" lang="en" sz="600" u="none" cap="none" strike="noStrike">
                <a:solidFill>
                  <a:srgbClr val="64748B"/>
                </a:solidFill>
                <a:latin typeface="Calibri"/>
                <a:ea typeface="Calibri"/>
                <a:cs typeface="Calibri"/>
                <a:sym typeface="Calibri"/>
              </a:rPr>
              <a:t>conv</a:t>
            </a:r>
            <a:endParaRPr b="0" i="0" sz="600" u="none" cap="none" strike="noStrike">
              <a:solidFill>
                <a:schemeClr val="dk1"/>
              </a:solidFill>
              <a:latin typeface="Calibri"/>
              <a:ea typeface="Calibri"/>
              <a:cs typeface="Calibri"/>
              <a:sym typeface="Calibri"/>
            </a:endParaRPr>
          </a:p>
        </p:txBody>
      </p:sp>
      <p:sp>
        <p:nvSpPr>
          <p:cNvPr id="2562" name="Google Shape;2562;p64"/>
          <p:cNvSpPr/>
          <p:nvPr/>
        </p:nvSpPr>
        <p:spPr>
          <a:xfrm>
            <a:off x="4535424" y="2304288"/>
            <a:ext cx="274200" cy="109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600"/>
              <a:buFont typeface="Calibri"/>
              <a:buNone/>
            </a:pPr>
            <a:r>
              <a:rPr b="0" i="0" lang="en" sz="600" u="none" cap="none" strike="noStrike">
                <a:solidFill>
                  <a:srgbClr val="64748B"/>
                </a:solidFill>
                <a:latin typeface="Calibri"/>
                <a:ea typeface="Calibri"/>
                <a:cs typeface="Calibri"/>
                <a:sym typeface="Calibri"/>
              </a:rPr>
              <a:t>pool</a:t>
            </a:r>
            <a:endParaRPr b="0" i="0" sz="600" u="none" cap="none" strike="noStrike">
              <a:solidFill>
                <a:schemeClr val="dk1"/>
              </a:solidFill>
              <a:latin typeface="Calibri"/>
              <a:ea typeface="Calibri"/>
              <a:cs typeface="Calibri"/>
              <a:sym typeface="Calibri"/>
            </a:endParaRPr>
          </a:p>
        </p:txBody>
      </p:sp>
      <p:sp>
        <p:nvSpPr>
          <p:cNvPr id="2563" name="Google Shape;2563;p64"/>
          <p:cNvSpPr/>
          <p:nvPr/>
        </p:nvSpPr>
        <p:spPr>
          <a:xfrm>
            <a:off x="4791456" y="2304288"/>
            <a:ext cx="228600" cy="109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600"/>
              <a:buFont typeface="Calibri"/>
              <a:buNone/>
            </a:pPr>
            <a:r>
              <a:rPr b="0" i="0" lang="en" sz="600" u="none" cap="none" strike="noStrike">
                <a:solidFill>
                  <a:srgbClr val="64748B"/>
                </a:solidFill>
                <a:latin typeface="Calibri"/>
                <a:ea typeface="Calibri"/>
                <a:cs typeface="Calibri"/>
                <a:sym typeface="Calibri"/>
              </a:rPr>
              <a:t>FC</a:t>
            </a:r>
            <a:endParaRPr b="0" i="0" sz="600" u="none" cap="none" strike="noStrike">
              <a:solidFill>
                <a:schemeClr val="dk1"/>
              </a:solidFill>
              <a:latin typeface="Calibri"/>
              <a:ea typeface="Calibri"/>
              <a:cs typeface="Calibri"/>
              <a:sym typeface="Calibri"/>
            </a:endParaRPr>
          </a:p>
        </p:txBody>
      </p:sp>
      <p:sp>
        <p:nvSpPr>
          <p:cNvPr id="2564" name="Google Shape;2564;p64"/>
          <p:cNvSpPr/>
          <p:nvPr/>
        </p:nvSpPr>
        <p:spPr>
          <a:xfrm>
            <a:off x="3712464" y="2441448"/>
            <a:ext cx="1518000" cy="1417200"/>
          </a:xfrm>
          <a:prstGeom prst="rect">
            <a:avLst/>
          </a:prstGeom>
          <a:noFill/>
          <a:ln>
            <a:noFill/>
          </a:ln>
        </p:spPr>
        <p:txBody>
          <a:bodyPr anchorCtr="0" anchor="t" bIns="38100" lIns="38100" spcFirstLastPara="1" rIns="38100" wrap="square" tIns="38100">
            <a:noAutofit/>
          </a:bodyPr>
          <a:lstStyle/>
          <a:p>
            <a:pPr indent="0" lvl="0" marL="0" marR="0" rtl="0" algn="l">
              <a:lnSpc>
                <a:spcPct val="125000"/>
              </a:lnSpc>
              <a:spcBef>
                <a:spcPts val="0"/>
              </a:spcBef>
              <a:spcAft>
                <a:spcPts val="0"/>
              </a:spcAft>
              <a:buClr>
                <a:srgbClr val="10B981"/>
              </a:buClr>
              <a:buSzPts val="900"/>
              <a:buFont typeface="Calibri"/>
              <a:buNone/>
            </a:pPr>
            <a:r>
              <a:rPr b="1" i="0" lang="en" sz="900" u="none" cap="none" strike="noStrike">
                <a:solidFill>
                  <a:srgbClr val="10B981"/>
                </a:solidFill>
                <a:latin typeface="Calibri"/>
                <a:ea typeface="Calibri"/>
                <a:cs typeface="Calibri"/>
                <a:sym typeface="Calibri"/>
              </a:rPr>
              <a:t>Conv filters</a:t>
            </a:r>
            <a:endParaRPr b="0" i="0" sz="9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334155"/>
              </a:buClr>
              <a:buSzPts val="900"/>
              <a:buFont typeface="Calibri"/>
              <a:buNone/>
            </a:pPr>
            <a:r>
              <a:rPr b="0" i="0" lang="en" sz="900" u="none" cap="none" strike="noStrike">
                <a:solidFill>
                  <a:srgbClr val="334155"/>
                </a:solidFill>
                <a:latin typeface="Calibri"/>
                <a:ea typeface="Calibri"/>
                <a:cs typeface="Calibri"/>
                <a:sym typeface="Calibri"/>
              </a:rPr>
              <a:t>Spatial hierarchy</a:t>
            </a:r>
            <a:endParaRPr b="0" i="0" sz="9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334155"/>
              </a:buClr>
              <a:buSzPts val="900"/>
              <a:buFont typeface="Calibri"/>
              <a:buNone/>
            </a:pPr>
            <a:r>
              <a:rPr b="0" i="0" lang="en" sz="900" u="none" cap="none" strike="noStrike">
                <a:solidFill>
                  <a:srgbClr val="334155"/>
                </a:solidFill>
                <a:latin typeface="Calibri"/>
                <a:ea typeface="Calibri"/>
                <a:cs typeface="Calibri"/>
                <a:sym typeface="Calibri"/>
              </a:rPr>
              <a:t>Weight sharing</a:t>
            </a:r>
            <a:endParaRPr b="0" i="0" sz="9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334155"/>
              </a:buClr>
              <a:buSzPts val="900"/>
              <a:buFont typeface="Calibri"/>
              <a:buNone/>
            </a:pPr>
            <a:r>
              <a:rPr b="0" i="0" lang="en" sz="900" u="none" cap="none" strike="noStrike">
                <a:solidFill>
                  <a:srgbClr val="334155"/>
                </a:solidFill>
                <a:latin typeface="Calibri"/>
                <a:ea typeface="Calibri"/>
                <a:cs typeface="Calibri"/>
                <a:sym typeface="Calibri"/>
              </a:rPr>
              <a:t>Image/vision tasks</a:t>
            </a:r>
            <a:endParaRPr b="0" i="0" sz="900" u="none" cap="none" strike="noStrike">
              <a:solidFill>
                <a:schemeClr val="dk1"/>
              </a:solidFill>
              <a:latin typeface="Calibri"/>
              <a:ea typeface="Calibri"/>
              <a:cs typeface="Calibri"/>
              <a:sym typeface="Calibri"/>
            </a:endParaRPr>
          </a:p>
        </p:txBody>
      </p:sp>
      <p:sp>
        <p:nvSpPr>
          <p:cNvPr id="2565" name="Google Shape;2565;p64"/>
          <p:cNvSpPr/>
          <p:nvPr/>
        </p:nvSpPr>
        <p:spPr>
          <a:xfrm>
            <a:off x="4389120" y="4142232"/>
            <a:ext cx="164700" cy="164700"/>
          </a:xfrm>
          <a:prstGeom prst="ellipse">
            <a:avLst/>
          </a:prstGeom>
          <a:solidFill>
            <a:srgbClr val="10B981"/>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6" name="Google Shape;2566;p64"/>
          <p:cNvSpPr/>
          <p:nvPr/>
        </p:nvSpPr>
        <p:spPr>
          <a:xfrm>
            <a:off x="5376672" y="749808"/>
            <a:ext cx="1664100" cy="3291900"/>
          </a:xfrm>
          <a:prstGeom prst="rect">
            <a:avLst/>
          </a:prstGeom>
          <a:solidFill>
            <a:srgbClr val="FFFFFF"/>
          </a:solidFill>
          <a:ln cap="flat" cmpd="sng" w="15225">
            <a:solidFill>
              <a:srgbClr val="F59E0B"/>
            </a:solidFill>
            <a:prstDash val="solid"/>
            <a:round/>
            <a:headEnd len="sm" w="sm" type="none"/>
            <a:tailEnd len="sm" w="sm" type="none"/>
          </a:ln>
          <a:effectLst>
            <a:outerShdw blurRad="762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7" name="Google Shape;2567;p64"/>
          <p:cNvSpPr/>
          <p:nvPr/>
        </p:nvSpPr>
        <p:spPr>
          <a:xfrm>
            <a:off x="5376672" y="749808"/>
            <a:ext cx="1664100" cy="63900"/>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8" name="Google Shape;2568;p64"/>
          <p:cNvSpPr/>
          <p:nvPr/>
        </p:nvSpPr>
        <p:spPr>
          <a:xfrm>
            <a:off x="5449824" y="841248"/>
            <a:ext cx="1518000" cy="201300"/>
          </a:xfrm>
          <a:prstGeom prst="rect">
            <a:avLst/>
          </a:prstGeom>
          <a:solidFill>
            <a:srgbClr val="F59E0B">
              <a:alpha val="14902"/>
            </a:srgbClr>
          </a:solidFill>
          <a:ln cap="flat" cmpd="sng" w="9525">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9" name="Google Shape;2569;p64"/>
          <p:cNvSpPr/>
          <p:nvPr/>
        </p:nvSpPr>
        <p:spPr>
          <a:xfrm>
            <a:off x="5449824" y="841248"/>
            <a:ext cx="1518000" cy="201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9E0B"/>
              </a:buClr>
              <a:buSzPts val="800"/>
              <a:buFont typeface="Calibri"/>
              <a:buNone/>
            </a:pPr>
            <a:r>
              <a:rPr b="1" i="0" lang="en" sz="800" u="none" cap="none" strike="noStrike">
                <a:solidFill>
                  <a:srgbClr val="F59E0B"/>
                </a:solidFill>
                <a:latin typeface="Calibri"/>
                <a:ea typeface="Calibri"/>
                <a:cs typeface="Calibri"/>
                <a:sym typeface="Calibri"/>
              </a:rPr>
              <a:t>1990s</a:t>
            </a:r>
            <a:endParaRPr b="0" i="0" sz="800" u="none" cap="none" strike="noStrike">
              <a:solidFill>
                <a:schemeClr val="dk1"/>
              </a:solidFill>
              <a:latin typeface="Calibri"/>
              <a:ea typeface="Calibri"/>
              <a:cs typeface="Calibri"/>
              <a:sym typeface="Calibri"/>
            </a:endParaRPr>
          </a:p>
        </p:txBody>
      </p:sp>
      <p:sp>
        <p:nvSpPr>
          <p:cNvPr id="2570" name="Google Shape;2570;p64"/>
          <p:cNvSpPr/>
          <p:nvPr/>
        </p:nvSpPr>
        <p:spPr>
          <a:xfrm>
            <a:off x="5431536" y="1069848"/>
            <a:ext cx="1554600" cy="292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293B"/>
              </a:buClr>
              <a:buSzPts val="1300"/>
              <a:buFont typeface="Calibri"/>
              <a:buNone/>
            </a:pPr>
            <a:r>
              <a:rPr b="1" i="0" lang="en" sz="1300" u="none" cap="none" strike="noStrike">
                <a:solidFill>
                  <a:srgbClr val="1E293B"/>
                </a:solidFill>
                <a:latin typeface="Calibri"/>
                <a:ea typeface="Calibri"/>
                <a:cs typeface="Calibri"/>
                <a:sym typeface="Calibri"/>
              </a:rPr>
              <a:t>RNN / LSTM</a:t>
            </a:r>
            <a:endParaRPr b="0" i="0" sz="1300" u="none" cap="none" strike="noStrike">
              <a:solidFill>
                <a:schemeClr val="dk1"/>
              </a:solidFill>
              <a:latin typeface="Calibri"/>
              <a:ea typeface="Calibri"/>
              <a:cs typeface="Calibri"/>
              <a:sym typeface="Calibri"/>
            </a:endParaRPr>
          </a:p>
        </p:txBody>
      </p:sp>
      <p:sp>
        <p:nvSpPr>
          <p:cNvPr id="2571" name="Google Shape;2571;p64"/>
          <p:cNvSpPr/>
          <p:nvPr/>
        </p:nvSpPr>
        <p:spPr>
          <a:xfrm>
            <a:off x="5449824" y="1389888"/>
            <a:ext cx="1518000" cy="1005900"/>
          </a:xfrm>
          <a:prstGeom prst="rect">
            <a:avLst/>
          </a:prstGeom>
          <a:solidFill>
            <a:srgbClr val="F1F5F9"/>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2" name="Google Shape;2572;p64"/>
          <p:cNvSpPr/>
          <p:nvPr/>
        </p:nvSpPr>
        <p:spPr>
          <a:xfrm>
            <a:off x="5541264" y="1709928"/>
            <a:ext cx="320100" cy="320100"/>
          </a:xfrm>
          <a:prstGeom prst="rect">
            <a:avLst/>
          </a:prstGeom>
          <a:solidFill>
            <a:srgbClr val="F59E0B">
              <a:alpha val="50196"/>
            </a:srgbClr>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3" name="Google Shape;2573;p64"/>
          <p:cNvSpPr/>
          <p:nvPr/>
        </p:nvSpPr>
        <p:spPr>
          <a:xfrm>
            <a:off x="5541264" y="1709928"/>
            <a:ext cx="3201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293B"/>
              </a:buClr>
              <a:buSzPts val="1000"/>
              <a:buFont typeface="Calibri"/>
              <a:buNone/>
            </a:pPr>
            <a:r>
              <a:rPr b="1" i="1" lang="en" sz="1000" u="none" cap="none" strike="noStrike">
                <a:solidFill>
                  <a:srgbClr val="1E293B"/>
                </a:solidFill>
                <a:latin typeface="Calibri"/>
                <a:ea typeface="Calibri"/>
                <a:cs typeface="Calibri"/>
                <a:sym typeface="Calibri"/>
              </a:rPr>
              <a:t>h</a:t>
            </a:r>
            <a:endParaRPr b="0" i="0" sz="1000" u="none" cap="none" strike="noStrike">
              <a:solidFill>
                <a:schemeClr val="dk1"/>
              </a:solidFill>
              <a:latin typeface="Calibri"/>
              <a:ea typeface="Calibri"/>
              <a:cs typeface="Calibri"/>
              <a:sym typeface="Calibri"/>
            </a:endParaRPr>
          </a:p>
        </p:txBody>
      </p:sp>
      <p:cxnSp>
        <p:nvCxnSpPr>
          <p:cNvPr id="2574" name="Google Shape;2574;p64"/>
          <p:cNvCxnSpPr/>
          <p:nvPr/>
        </p:nvCxnSpPr>
        <p:spPr>
          <a:xfrm>
            <a:off x="5861304" y="1869948"/>
            <a:ext cx="183000" cy="0"/>
          </a:xfrm>
          <a:prstGeom prst="straightConnector1">
            <a:avLst/>
          </a:prstGeom>
          <a:noFill/>
          <a:ln cap="flat" cmpd="sng" w="15225">
            <a:solidFill>
              <a:srgbClr val="F59E0B"/>
            </a:solidFill>
            <a:prstDash val="solid"/>
            <a:round/>
            <a:headEnd len="sm" w="sm" type="none"/>
            <a:tailEnd len="sm" w="sm" type="none"/>
          </a:ln>
        </p:spPr>
      </p:cxnSp>
      <p:cxnSp>
        <p:nvCxnSpPr>
          <p:cNvPr id="2575" name="Google Shape;2575;p64"/>
          <p:cNvCxnSpPr/>
          <p:nvPr/>
        </p:nvCxnSpPr>
        <p:spPr>
          <a:xfrm>
            <a:off x="5701284" y="1527048"/>
            <a:ext cx="0" cy="183000"/>
          </a:xfrm>
          <a:prstGeom prst="straightConnector1">
            <a:avLst/>
          </a:prstGeom>
          <a:noFill/>
          <a:ln cap="flat" cmpd="sng" w="12700">
            <a:solidFill>
              <a:srgbClr val="94A3B8"/>
            </a:solidFill>
            <a:prstDash val="solid"/>
            <a:round/>
            <a:headEnd len="sm" w="sm" type="none"/>
            <a:tailEnd len="sm" w="sm" type="none"/>
          </a:ln>
        </p:spPr>
      </p:cxnSp>
      <p:sp>
        <p:nvSpPr>
          <p:cNvPr id="2576" name="Google Shape;2576;p64"/>
          <p:cNvSpPr/>
          <p:nvPr/>
        </p:nvSpPr>
        <p:spPr>
          <a:xfrm>
            <a:off x="5609844" y="1435608"/>
            <a:ext cx="183000" cy="128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4748B"/>
              </a:buClr>
              <a:buSzPts val="700"/>
              <a:buFont typeface="Calibri"/>
              <a:buNone/>
            </a:pPr>
            <a:r>
              <a:rPr b="0" i="1" lang="en" sz="700" u="none" cap="none" strike="noStrike">
                <a:solidFill>
                  <a:srgbClr val="64748B"/>
                </a:solidFill>
                <a:latin typeface="Calibri"/>
                <a:ea typeface="Calibri"/>
                <a:cs typeface="Calibri"/>
                <a:sym typeface="Calibri"/>
              </a:rPr>
              <a:t>x1</a:t>
            </a:r>
            <a:endParaRPr b="0" i="0" sz="700" u="none" cap="none" strike="noStrike">
              <a:solidFill>
                <a:schemeClr val="dk1"/>
              </a:solidFill>
              <a:latin typeface="Calibri"/>
              <a:ea typeface="Calibri"/>
              <a:cs typeface="Calibri"/>
              <a:sym typeface="Calibri"/>
            </a:endParaRPr>
          </a:p>
        </p:txBody>
      </p:sp>
      <p:sp>
        <p:nvSpPr>
          <p:cNvPr id="2577" name="Google Shape;2577;p64"/>
          <p:cNvSpPr/>
          <p:nvPr/>
        </p:nvSpPr>
        <p:spPr>
          <a:xfrm>
            <a:off x="5952744" y="1709928"/>
            <a:ext cx="320100" cy="320100"/>
          </a:xfrm>
          <a:prstGeom prst="rect">
            <a:avLst/>
          </a:prstGeom>
          <a:solidFill>
            <a:srgbClr val="F59E0B">
              <a:alpha val="50196"/>
            </a:srgbClr>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8" name="Google Shape;2578;p64"/>
          <p:cNvSpPr/>
          <p:nvPr/>
        </p:nvSpPr>
        <p:spPr>
          <a:xfrm>
            <a:off x="5952744" y="1709928"/>
            <a:ext cx="3201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293B"/>
              </a:buClr>
              <a:buSzPts val="1000"/>
              <a:buFont typeface="Calibri"/>
              <a:buNone/>
            </a:pPr>
            <a:r>
              <a:rPr b="1" i="1" lang="en" sz="1000" u="none" cap="none" strike="noStrike">
                <a:solidFill>
                  <a:srgbClr val="1E293B"/>
                </a:solidFill>
                <a:latin typeface="Calibri"/>
                <a:ea typeface="Calibri"/>
                <a:cs typeface="Calibri"/>
                <a:sym typeface="Calibri"/>
              </a:rPr>
              <a:t>h</a:t>
            </a:r>
            <a:endParaRPr b="0" i="0" sz="1000" u="none" cap="none" strike="noStrike">
              <a:solidFill>
                <a:schemeClr val="dk1"/>
              </a:solidFill>
              <a:latin typeface="Calibri"/>
              <a:ea typeface="Calibri"/>
              <a:cs typeface="Calibri"/>
              <a:sym typeface="Calibri"/>
            </a:endParaRPr>
          </a:p>
        </p:txBody>
      </p:sp>
      <p:cxnSp>
        <p:nvCxnSpPr>
          <p:cNvPr id="2579" name="Google Shape;2579;p64"/>
          <p:cNvCxnSpPr/>
          <p:nvPr/>
        </p:nvCxnSpPr>
        <p:spPr>
          <a:xfrm>
            <a:off x="6272784" y="1869948"/>
            <a:ext cx="183000" cy="0"/>
          </a:xfrm>
          <a:prstGeom prst="straightConnector1">
            <a:avLst/>
          </a:prstGeom>
          <a:noFill/>
          <a:ln cap="flat" cmpd="sng" w="15225">
            <a:solidFill>
              <a:srgbClr val="F59E0B"/>
            </a:solidFill>
            <a:prstDash val="solid"/>
            <a:round/>
            <a:headEnd len="sm" w="sm" type="none"/>
            <a:tailEnd len="sm" w="sm" type="none"/>
          </a:ln>
        </p:spPr>
      </p:cxnSp>
      <p:cxnSp>
        <p:nvCxnSpPr>
          <p:cNvPr id="2580" name="Google Shape;2580;p64"/>
          <p:cNvCxnSpPr/>
          <p:nvPr/>
        </p:nvCxnSpPr>
        <p:spPr>
          <a:xfrm>
            <a:off x="6112764" y="1527048"/>
            <a:ext cx="0" cy="183000"/>
          </a:xfrm>
          <a:prstGeom prst="straightConnector1">
            <a:avLst/>
          </a:prstGeom>
          <a:noFill/>
          <a:ln cap="flat" cmpd="sng" w="12700">
            <a:solidFill>
              <a:srgbClr val="94A3B8"/>
            </a:solidFill>
            <a:prstDash val="solid"/>
            <a:round/>
            <a:headEnd len="sm" w="sm" type="none"/>
            <a:tailEnd len="sm" w="sm" type="none"/>
          </a:ln>
        </p:spPr>
      </p:cxnSp>
      <p:sp>
        <p:nvSpPr>
          <p:cNvPr id="2581" name="Google Shape;2581;p64"/>
          <p:cNvSpPr/>
          <p:nvPr/>
        </p:nvSpPr>
        <p:spPr>
          <a:xfrm>
            <a:off x="6021324" y="1435608"/>
            <a:ext cx="183000" cy="128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4748B"/>
              </a:buClr>
              <a:buSzPts val="700"/>
              <a:buFont typeface="Calibri"/>
              <a:buNone/>
            </a:pPr>
            <a:r>
              <a:rPr b="0" i="1" lang="en" sz="700" u="none" cap="none" strike="noStrike">
                <a:solidFill>
                  <a:srgbClr val="64748B"/>
                </a:solidFill>
                <a:latin typeface="Calibri"/>
                <a:ea typeface="Calibri"/>
                <a:cs typeface="Calibri"/>
                <a:sym typeface="Calibri"/>
              </a:rPr>
              <a:t>x2</a:t>
            </a:r>
            <a:endParaRPr b="0" i="0" sz="700" u="none" cap="none" strike="noStrike">
              <a:solidFill>
                <a:schemeClr val="dk1"/>
              </a:solidFill>
              <a:latin typeface="Calibri"/>
              <a:ea typeface="Calibri"/>
              <a:cs typeface="Calibri"/>
              <a:sym typeface="Calibri"/>
            </a:endParaRPr>
          </a:p>
        </p:txBody>
      </p:sp>
      <p:sp>
        <p:nvSpPr>
          <p:cNvPr id="2582" name="Google Shape;2582;p64"/>
          <p:cNvSpPr/>
          <p:nvPr/>
        </p:nvSpPr>
        <p:spPr>
          <a:xfrm>
            <a:off x="6364224" y="1709928"/>
            <a:ext cx="320100" cy="320100"/>
          </a:xfrm>
          <a:prstGeom prst="rect">
            <a:avLst/>
          </a:prstGeom>
          <a:solidFill>
            <a:srgbClr val="F59E0B">
              <a:alpha val="50196"/>
            </a:srgbClr>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3" name="Google Shape;2583;p64"/>
          <p:cNvSpPr/>
          <p:nvPr/>
        </p:nvSpPr>
        <p:spPr>
          <a:xfrm>
            <a:off x="6364224" y="1709928"/>
            <a:ext cx="3201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293B"/>
              </a:buClr>
              <a:buSzPts val="1000"/>
              <a:buFont typeface="Calibri"/>
              <a:buNone/>
            </a:pPr>
            <a:r>
              <a:rPr b="1" i="1" lang="en" sz="1000" u="none" cap="none" strike="noStrike">
                <a:solidFill>
                  <a:srgbClr val="1E293B"/>
                </a:solidFill>
                <a:latin typeface="Calibri"/>
                <a:ea typeface="Calibri"/>
                <a:cs typeface="Calibri"/>
                <a:sym typeface="Calibri"/>
              </a:rPr>
              <a:t>h</a:t>
            </a:r>
            <a:endParaRPr b="0" i="0" sz="1000" u="none" cap="none" strike="noStrike">
              <a:solidFill>
                <a:schemeClr val="dk1"/>
              </a:solidFill>
              <a:latin typeface="Calibri"/>
              <a:ea typeface="Calibri"/>
              <a:cs typeface="Calibri"/>
              <a:sym typeface="Calibri"/>
            </a:endParaRPr>
          </a:p>
        </p:txBody>
      </p:sp>
      <p:cxnSp>
        <p:nvCxnSpPr>
          <p:cNvPr id="2584" name="Google Shape;2584;p64"/>
          <p:cNvCxnSpPr/>
          <p:nvPr/>
        </p:nvCxnSpPr>
        <p:spPr>
          <a:xfrm>
            <a:off x="6524244" y="1527048"/>
            <a:ext cx="0" cy="183000"/>
          </a:xfrm>
          <a:prstGeom prst="straightConnector1">
            <a:avLst/>
          </a:prstGeom>
          <a:noFill/>
          <a:ln cap="flat" cmpd="sng" w="12700">
            <a:solidFill>
              <a:srgbClr val="94A3B8"/>
            </a:solidFill>
            <a:prstDash val="solid"/>
            <a:round/>
            <a:headEnd len="sm" w="sm" type="none"/>
            <a:tailEnd len="sm" w="sm" type="none"/>
          </a:ln>
        </p:spPr>
      </p:cxnSp>
      <p:sp>
        <p:nvSpPr>
          <p:cNvPr id="2585" name="Google Shape;2585;p64"/>
          <p:cNvSpPr/>
          <p:nvPr/>
        </p:nvSpPr>
        <p:spPr>
          <a:xfrm>
            <a:off x="6432804" y="1435608"/>
            <a:ext cx="183000" cy="128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4748B"/>
              </a:buClr>
              <a:buSzPts val="700"/>
              <a:buFont typeface="Calibri"/>
              <a:buNone/>
            </a:pPr>
            <a:r>
              <a:rPr b="0" i="1" lang="en" sz="700" u="none" cap="none" strike="noStrike">
                <a:solidFill>
                  <a:srgbClr val="64748B"/>
                </a:solidFill>
                <a:latin typeface="Calibri"/>
                <a:ea typeface="Calibri"/>
                <a:cs typeface="Calibri"/>
                <a:sym typeface="Calibri"/>
              </a:rPr>
              <a:t>x3</a:t>
            </a:r>
            <a:endParaRPr b="0" i="0" sz="700" u="none" cap="none" strike="noStrike">
              <a:solidFill>
                <a:schemeClr val="dk1"/>
              </a:solidFill>
              <a:latin typeface="Calibri"/>
              <a:ea typeface="Calibri"/>
              <a:cs typeface="Calibri"/>
              <a:sym typeface="Calibri"/>
            </a:endParaRPr>
          </a:p>
        </p:txBody>
      </p:sp>
      <p:cxnSp>
        <p:nvCxnSpPr>
          <p:cNvPr id="2586" name="Google Shape;2586;p64"/>
          <p:cNvCxnSpPr/>
          <p:nvPr/>
        </p:nvCxnSpPr>
        <p:spPr>
          <a:xfrm>
            <a:off x="5705856" y="1572768"/>
            <a:ext cx="658500" cy="0"/>
          </a:xfrm>
          <a:prstGeom prst="straightConnector1">
            <a:avLst/>
          </a:prstGeom>
          <a:noFill/>
          <a:ln cap="flat" cmpd="sng" w="10150">
            <a:solidFill>
              <a:srgbClr val="F59E0B"/>
            </a:solidFill>
            <a:prstDash val="dash"/>
            <a:round/>
            <a:headEnd len="sm" w="sm" type="none"/>
            <a:tailEnd len="sm" w="sm" type="none"/>
          </a:ln>
        </p:spPr>
      </p:cxnSp>
      <p:sp>
        <p:nvSpPr>
          <p:cNvPr id="2587" name="Google Shape;2587;p64"/>
          <p:cNvSpPr/>
          <p:nvPr/>
        </p:nvSpPr>
        <p:spPr>
          <a:xfrm>
            <a:off x="5449824" y="2441448"/>
            <a:ext cx="1518000" cy="1417200"/>
          </a:xfrm>
          <a:prstGeom prst="rect">
            <a:avLst/>
          </a:prstGeom>
          <a:noFill/>
          <a:ln>
            <a:noFill/>
          </a:ln>
        </p:spPr>
        <p:txBody>
          <a:bodyPr anchorCtr="0" anchor="t" bIns="38100" lIns="38100" spcFirstLastPara="1" rIns="38100" wrap="square" tIns="38100">
            <a:noAutofit/>
          </a:bodyPr>
          <a:lstStyle/>
          <a:p>
            <a:pPr indent="0" lvl="0" marL="0" marR="0" rtl="0" algn="l">
              <a:lnSpc>
                <a:spcPct val="125000"/>
              </a:lnSpc>
              <a:spcBef>
                <a:spcPts val="0"/>
              </a:spcBef>
              <a:spcAft>
                <a:spcPts val="0"/>
              </a:spcAft>
              <a:buClr>
                <a:srgbClr val="F59E0B"/>
              </a:buClr>
              <a:buSzPts val="900"/>
              <a:buFont typeface="Calibri"/>
              <a:buNone/>
            </a:pPr>
            <a:r>
              <a:rPr b="1" i="0" lang="en" sz="900" u="none" cap="none" strike="noStrike">
                <a:solidFill>
                  <a:srgbClr val="F59E0B"/>
                </a:solidFill>
                <a:latin typeface="Calibri"/>
                <a:ea typeface="Calibri"/>
                <a:cs typeface="Calibri"/>
                <a:sym typeface="Calibri"/>
              </a:rPr>
              <a:t>Sequential data</a:t>
            </a:r>
            <a:endParaRPr b="0" i="0" sz="9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334155"/>
              </a:buClr>
              <a:buSzPts val="900"/>
              <a:buFont typeface="Calibri"/>
              <a:buNone/>
            </a:pPr>
            <a:r>
              <a:rPr b="0" i="0" lang="en" sz="900" u="none" cap="none" strike="noStrike">
                <a:solidFill>
                  <a:srgbClr val="334155"/>
                </a:solidFill>
                <a:latin typeface="Calibri"/>
                <a:ea typeface="Calibri"/>
                <a:cs typeface="Calibri"/>
                <a:sym typeface="Calibri"/>
              </a:rPr>
              <a:t>Hidden state</a:t>
            </a:r>
            <a:endParaRPr b="0" i="0" sz="9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334155"/>
              </a:buClr>
              <a:buSzPts val="900"/>
              <a:buFont typeface="Calibri"/>
              <a:buNone/>
            </a:pPr>
            <a:r>
              <a:rPr b="0" i="0" lang="en" sz="900" u="none" cap="none" strike="noStrike">
                <a:solidFill>
                  <a:srgbClr val="334155"/>
                </a:solidFill>
                <a:latin typeface="Calibri"/>
                <a:ea typeface="Calibri"/>
                <a:cs typeface="Calibri"/>
                <a:sym typeface="Calibri"/>
              </a:rPr>
              <a:t>Long-term memory</a:t>
            </a:r>
            <a:endParaRPr b="0" i="0" sz="9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334155"/>
              </a:buClr>
              <a:buSzPts val="900"/>
              <a:buFont typeface="Calibri"/>
              <a:buNone/>
            </a:pPr>
            <a:r>
              <a:rPr b="0" i="0" lang="en" sz="900" u="none" cap="none" strike="noStrike">
                <a:solidFill>
                  <a:srgbClr val="334155"/>
                </a:solidFill>
                <a:latin typeface="Calibri"/>
                <a:ea typeface="Calibri"/>
                <a:cs typeface="Calibri"/>
                <a:sym typeface="Calibri"/>
              </a:rPr>
              <a:t>NLP / time-series</a:t>
            </a:r>
            <a:endParaRPr b="0" i="0" sz="900" u="none" cap="none" strike="noStrike">
              <a:solidFill>
                <a:schemeClr val="dk1"/>
              </a:solidFill>
              <a:latin typeface="Calibri"/>
              <a:ea typeface="Calibri"/>
              <a:cs typeface="Calibri"/>
              <a:sym typeface="Calibri"/>
            </a:endParaRPr>
          </a:p>
        </p:txBody>
      </p:sp>
      <p:sp>
        <p:nvSpPr>
          <p:cNvPr id="2588" name="Google Shape;2588;p64"/>
          <p:cNvSpPr/>
          <p:nvPr/>
        </p:nvSpPr>
        <p:spPr>
          <a:xfrm>
            <a:off x="6126480" y="4142232"/>
            <a:ext cx="164700" cy="164700"/>
          </a:xfrm>
          <a:prstGeom prst="ellipse">
            <a:avLst/>
          </a:prstGeom>
          <a:solidFill>
            <a:srgbClr val="F59E0B"/>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9" name="Google Shape;2589;p64"/>
          <p:cNvSpPr/>
          <p:nvPr/>
        </p:nvSpPr>
        <p:spPr>
          <a:xfrm>
            <a:off x="7114032" y="749808"/>
            <a:ext cx="1664100" cy="3291900"/>
          </a:xfrm>
          <a:prstGeom prst="rect">
            <a:avLst/>
          </a:prstGeom>
          <a:solidFill>
            <a:srgbClr val="FFFFFF"/>
          </a:solidFill>
          <a:ln cap="flat" cmpd="sng" w="15225">
            <a:solidFill>
              <a:srgbClr val="EC4899"/>
            </a:solidFill>
            <a:prstDash val="solid"/>
            <a:round/>
            <a:headEnd len="sm" w="sm" type="none"/>
            <a:tailEnd len="sm" w="sm" type="none"/>
          </a:ln>
          <a:effectLst>
            <a:outerShdw blurRad="762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0" name="Google Shape;2590;p64"/>
          <p:cNvSpPr/>
          <p:nvPr/>
        </p:nvSpPr>
        <p:spPr>
          <a:xfrm>
            <a:off x="7114032" y="749808"/>
            <a:ext cx="1664100" cy="63900"/>
          </a:xfrm>
          <a:prstGeom prst="rect">
            <a:avLst/>
          </a:prstGeom>
          <a:solidFill>
            <a:srgbClr val="EC4899"/>
          </a:solidFill>
          <a:ln cap="flat" cmpd="sng" w="12700">
            <a:solidFill>
              <a:srgbClr val="EC48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1" name="Google Shape;2591;p64"/>
          <p:cNvSpPr/>
          <p:nvPr/>
        </p:nvSpPr>
        <p:spPr>
          <a:xfrm>
            <a:off x="7187184" y="841248"/>
            <a:ext cx="1518000" cy="201300"/>
          </a:xfrm>
          <a:prstGeom prst="rect">
            <a:avLst/>
          </a:prstGeom>
          <a:solidFill>
            <a:srgbClr val="EC4899">
              <a:alpha val="14902"/>
            </a:srgbClr>
          </a:solidFill>
          <a:ln cap="flat" cmpd="sng" w="9525">
            <a:solidFill>
              <a:srgbClr val="EC48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2" name="Google Shape;2592;p64"/>
          <p:cNvSpPr/>
          <p:nvPr/>
        </p:nvSpPr>
        <p:spPr>
          <a:xfrm>
            <a:off x="7187184" y="841248"/>
            <a:ext cx="1518000" cy="201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EC4899"/>
              </a:buClr>
              <a:buSzPts val="800"/>
              <a:buFont typeface="Calibri"/>
              <a:buNone/>
            </a:pPr>
            <a:r>
              <a:rPr b="1" i="0" lang="en" sz="800" u="none" cap="none" strike="noStrike">
                <a:solidFill>
                  <a:srgbClr val="EC4899"/>
                </a:solidFill>
                <a:latin typeface="Calibri"/>
                <a:ea typeface="Calibri"/>
                <a:cs typeface="Calibri"/>
                <a:sym typeface="Calibri"/>
              </a:rPr>
              <a:t>2017–now</a:t>
            </a:r>
            <a:endParaRPr b="0" i="0" sz="800" u="none" cap="none" strike="noStrike">
              <a:solidFill>
                <a:schemeClr val="dk1"/>
              </a:solidFill>
              <a:latin typeface="Calibri"/>
              <a:ea typeface="Calibri"/>
              <a:cs typeface="Calibri"/>
              <a:sym typeface="Calibri"/>
            </a:endParaRPr>
          </a:p>
        </p:txBody>
      </p:sp>
      <p:sp>
        <p:nvSpPr>
          <p:cNvPr id="2593" name="Google Shape;2593;p64"/>
          <p:cNvSpPr/>
          <p:nvPr/>
        </p:nvSpPr>
        <p:spPr>
          <a:xfrm>
            <a:off x="7168896" y="1069848"/>
            <a:ext cx="1554600" cy="292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293B"/>
              </a:buClr>
              <a:buSzPts val="1300"/>
              <a:buFont typeface="Calibri"/>
              <a:buNone/>
            </a:pPr>
            <a:r>
              <a:rPr b="1" i="0" lang="en" sz="1300" u="none" cap="none" strike="noStrike">
                <a:solidFill>
                  <a:srgbClr val="1E293B"/>
                </a:solidFill>
                <a:latin typeface="Calibri"/>
                <a:ea typeface="Calibri"/>
                <a:cs typeface="Calibri"/>
                <a:sym typeface="Calibri"/>
              </a:rPr>
              <a:t>Transformer</a:t>
            </a:r>
            <a:endParaRPr b="0" i="0" sz="1300" u="none" cap="none" strike="noStrike">
              <a:solidFill>
                <a:schemeClr val="dk1"/>
              </a:solidFill>
              <a:latin typeface="Calibri"/>
              <a:ea typeface="Calibri"/>
              <a:cs typeface="Calibri"/>
              <a:sym typeface="Calibri"/>
            </a:endParaRPr>
          </a:p>
        </p:txBody>
      </p:sp>
      <p:sp>
        <p:nvSpPr>
          <p:cNvPr id="2594" name="Google Shape;2594;p64"/>
          <p:cNvSpPr/>
          <p:nvPr/>
        </p:nvSpPr>
        <p:spPr>
          <a:xfrm>
            <a:off x="7187184" y="1389888"/>
            <a:ext cx="1518000" cy="1005900"/>
          </a:xfrm>
          <a:prstGeom prst="rect">
            <a:avLst/>
          </a:prstGeom>
          <a:solidFill>
            <a:srgbClr val="F1F5F9"/>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5" name="Google Shape;2595;p64"/>
          <p:cNvSpPr/>
          <p:nvPr/>
        </p:nvSpPr>
        <p:spPr>
          <a:xfrm>
            <a:off x="7260336" y="1527048"/>
            <a:ext cx="1280100" cy="201300"/>
          </a:xfrm>
          <a:prstGeom prst="rect">
            <a:avLst/>
          </a:prstGeom>
          <a:solidFill>
            <a:srgbClr val="EC4899">
              <a:alpha val="20000"/>
            </a:srgbClr>
          </a:solidFill>
          <a:ln cap="flat" cmpd="sng" w="10150">
            <a:solidFill>
              <a:srgbClr val="EC48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6" name="Google Shape;2596;p64"/>
          <p:cNvSpPr/>
          <p:nvPr/>
        </p:nvSpPr>
        <p:spPr>
          <a:xfrm>
            <a:off x="7278624" y="1563624"/>
            <a:ext cx="205800" cy="128100"/>
          </a:xfrm>
          <a:prstGeom prst="rect">
            <a:avLst/>
          </a:prstGeom>
          <a:solidFill>
            <a:srgbClr val="EC4899">
              <a:alpha val="70196"/>
            </a:srgbClr>
          </a:solidFill>
          <a:ln cap="flat" cmpd="sng" w="12700">
            <a:solidFill>
              <a:srgbClr val="EC48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7" name="Google Shape;2597;p64"/>
          <p:cNvSpPr/>
          <p:nvPr/>
        </p:nvSpPr>
        <p:spPr>
          <a:xfrm>
            <a:off x="7520940" y="1563624"/>
            <a:ext cx="493800" cy="128100"/>
          </a:xfrm>
          <a:prstGeom prst="rect">
            <a:avLst/>
          </a:prstGeom>
          <a:solidFill>
            <a:srgbClr val="EC4899">
              <a:alpha val="70196"/>
            </a:srgbClr>
          </a:solidFill>
          <a:ln cap="flat" cmpd="sng" w="12700">
            <a:solidFill>
              <a:srgbClr val="EC48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8" name="Google Shape;2598;p64"/>
          <p:cNvSpPr/>
          <p:nvPr/>
        </p:nvSpPr>
        <p:spPr>
          <a:xfrm>
            <a:off x="8051292" y="1563624"/>
            <a:ext cx="288000" cy="128100"/>
          </a:xfrm>
          <a:prstGeom prst="rect">
            <a:avLst/>
          </a:prstGeom>
          <a:solidFill>
            <a:srgbClr val="EC4899">
              <a:alpha val="70196"/>
            </a:srgbClr>
          </a:solidFill>
          <a:ln cap="flat" cmpd="sng" w="12700">
            <a:solidFill>
              <a:srgbClr val="EC48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9" name="Google Shape;2599;p64"/>
          <p:cNvSpPr/>
          <p:nvPr/>
        </p:nvSpPr>
        <p:spPr>
          <a:xfrm>
            <a:off x="8375904" y="1563624"/>
            <a:ext cx="164700" cy="128100"/>
          </a:xfrm>
          <a:prstGeom prst="rect">
            <a:avLst/>
          </a:prstGeom>
          <a:solidFill>
            <a:srgbClr val="EC4899">
              <a:alpha val="70196"/>
            </a:srgbClr>
          </a:solidFill>
          <a:ln cap="flat" cmpd="sng" w="12700">
            <a:solidFill>
              <a:srgbClr val="EC48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0" name="Google Shape;2600;p64"/>
          <p:cNvSpPr/>
          <p:nvPr/>
        </p:nvSpPr>
        <p:spPr>
          <a:xfrm>
            <a:off x="7260336" y="1527048"/>
            <a:ext cx="502800" cy="201300"/>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Clr>
                <a:srgbClr val="1E293B"/>
              </a:buClr>
              <a:buSzPts val="600"/>
              <a:buFont typeface="Calibri"/>
              <a:buNone/>
            </a:pPr>
            <a:r>
              <a:rPr b="0" i="0" lang="en" sz="600" u="none" cap="none" strike="noStrike">
                <a:solidFill>
                  <a:srgbClr val="1E293B"/>
                </a:solidFill>
                <a:latin typeface="Calibri"/>
                <a:ea typeface="Calibri"/>
                <a:cs typeface="Calibri"/>
                <a:sym typeface="Calibri"/>
              </a:rPr>
              <a:t>Head 1</a:t>
            </a:r>
            <a:endParaRPr b="0" i="0" sz="600" u="none" cap="none" strike="noStrike">
              <a:solidFill>
                <a:schemeClr val="dk1"/>
              </a:solidFill>
              <a:latin typeface="Calibri"/>
              <a:ea typeface="Calibri"/>
              <a:cs typeface="Calibri"/>
              <a:sym typeface="Calibri"/>
            </a:endParaRPr>
          </a:p>
        </p:txBody>
      </p:sp>
      <p:sp>
        <p:nvSpPr>
          <p:cNvPr id="2601" name="Google Shape;2601;p64"/>
          <p:cNvSpPr/>
          <p:nvPr/>
        </p:nvSpPr>
        <p:spPr>
          <a:xfrm>
            <a:off x="7260336" y="1783080"/>
            <a:ext cx="1280100" cy="201300"/>
          </a:xfrm>
          <a:prstGeom prst="rect">
            <a:avLst/>
          </a:prstGeom>
          <a:solidFill>
            <a:srgbClr val="6366F1">
              <a:alpha val="20000"/>
            </a:srgbClr>
          </a:solidFill>
          <a:ln cap="flat" cmpd="sng" w="10150">
            <a:solidFill>
              <a:srgbClr val="6366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2" name="Google Shape;2602;p64"/>
          <p:cNvSpPr/>
          <p:nvPr/>
        </p:nvSpPr>
        <p:spPr>
          <a:xfrm>
            <a:off x="7278624" y="1819656"/>
            <a:ext cx="205800" cy="128100"/>
          </a:xfrm>
          <a:prstGeom prst="rect">
            <a:avLst/>
          </a:prstGeom>
          <a:solidFill>
            <a:srgbClr val="6366F1">
              <a:alpha val="70196"/>
            </a:srgbClr>
          </a:solidFill>
          <a:ln cap="flat" cmpd="sng" w="12700">
            <a:solidFill>
              <a:srgbClr val="6366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3" name="Google Shape;2603;p64"/>
          <p:cNvSpPr/>
          <p:nvPr/>
        </p:nvSpPr>
        <p:spPr>
          <a:xfrm>
            <a:off x="7520940" y="1819656"/>
            <a:ext cx="493800" cy="128100"/>
          </a:xfrm>
          <a:prstGeom prst="rect">
            <a:avLst/>
          </a:prstGeom>
          <a:solidFill>
            <a:srgbClr val="6366F1">
              <a:alpha val="70196"/>
            </a:srgbClr>
          </a:solidFill>
          <a:ln cap="flat" cmpd="sng" w="12700">
            <a:solidFill>
              <a:srgbClr val="6366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4" name="Google Shape;2604;p64"/>
          <p:cNvSpPr/>
          <p:nvPr/>
        </p:nvSpPr>
        <p:spPr>
          <a:xfrm>
            <a:off x="8051292" y="1819656"/>
            <a:ext cx="288000" cy="128100"/>
          </a:xfrm>
          <a:prstGeom prst="rect">
            <a:avLst/>
          </a:prstGeom>
          <a:solidFill>
            <a:srgbClr val="6366F1">
              <a:alpha val="70196"/>
            </a:srgbClr>
          </a:solidFill>
          <a:ln cap="flat" cmpd="sng" w="12700">
            <a:solidFill>
              <a:srgbClr val="6366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5" name="Google Shape;2605;p64"/>
          <p:cNvSpPr/>
          <p:nvPr/>
        </p:nvSpPr>
        <p:spPr>
          <a:xfrm>
            <a:off x="8375904" y="1819656"/>
            <a:ext cx="164700" cy="128100"/>
          </a:xfrm>
          <a:prstGeom prst="rect">
            <a:avLst/>
          </a:prstGeom>
          <a:solidFill>
            <a:srgbClr val="6366F1">
              <a:alpha val="70196"/>
            </a:srgbClr>
          </a:solidFill>
          <a:ln cap="flat" cmpd="sng" w="12700">
            <a:solidFill>
              <a:srgbClr val="6366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6" name="Google Shape;2606;p64"/>
          <p:cNvSpPr/>
          <p:nvPr/>
        </p:nvSpPr>
        <p:spPr>
          <a:xfrm>
            <a:off x="7260336" y="1783080"/>
            <a:ext cx="502800" cy="201300"/>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Clr>
                <a:srgbClr val="1E293B"/>
              </a:buClr>
              <a:buSzPts val="600"/>
              <a:buFont typeface="Calibri"/>
              <a:buNone/>
            </a:pPr>
            <a:r>
              <a:rPr b="0" i="0" lang="en" sz="600" u="none" cap="none" strike="noStrike">
                <a:solidFill>
                  <a:srgbClr val="1E293B"/>
                </a:solidFill>
                <a:latin typeface="Calibri"/>
                <a:ea typeface="Calibri"/>
                <a:cs typeface="Calibri"/>
                <a:sym typeface="Calibri"/>
              </a:rPr>
              <a:t>Head 2</a:t>
            </a:r>
            <a:endParaRPr b="0" i="0" sz="600" u="none" cap="none" strike="noStrike">
              <a:solidFill>
                <a:schemeClr val="dk1"/>
              </a:solidFill>
              <a:latin typeface="Calibri"/>
              <a:ea typeface="Calibri"/>
              <a:cs typeface="Calibri"/>
              <a:sym typeface="Calibri"/>
            </a:endParaRPr>
          </a:p>
        </p:txBody>
      </p:sp>
      <p:sp>
        <p:nvSpPr>
          <p:cNvPr id="2607" name="Google Shape;2607;p64"/>
          <p:cNvSpPr/>
          <p:nvPr/>
        </p:nvSpPr>
        <p:spPr>
          <a:xfrm>
            <a:off x="7260336" y="2039112"/>
            <a:ext cx="1280100" cy="201300"/>
          </a:xfrm>
          <a:prstGeom prst="rect">
            <a:avLst/>
          </a:prstGeom>
          <a:solidFill>
            <a:srgbClr val="10B981">
              <a:alpha val="20000"/>
            </a:srgbClr>
          </a:solidFill>
          <a:ln cap="flat" cmpd="sng" w="10150">
            <a:solidFill>
              <a:srgbClr val="10B98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8" name="Google Shape;2608;p64"/>
          <p:cNvSpPr/>
          <p:nvPr/>
        </p:nvSpPr>
        <p:spPr>
          <a:xfrm>
            <a:off x="7278624" y="2075688"/>
            <a:ext cx="205800" cy="128100"/>
          </a:xfrm>
          <a:prstGeom prst="rect">
            <a:avLst/>
          </a:prstGeom>
          <a:solidFill>
            <a:srgbClr val="10B981">
              <a:alpha val="70196"/>
            </a:srgbClr>
          </a:solidFill>
          <a:ln cap="flat" cmpd="sng" w="12700">
            <a:solidFill>
              <a:srgbClr val="10B98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9" name="Google Shape;2609;p64"/>
          <p:cNvSpPr/>
          <p:nvPr/>
        </p:nvSpPr>
        <p:spPr>
          <a:xfrm>
            <a:off x="7520940" y="2075688"/>
            <a:ext cx="493800" cy="128100"/>
          </a:xfrm>
          <a:prstGeom prst="rect">
            <a:avLst/>
          </a:prstGeom>
          <a:solidFill>
            <a:srgbClr val="10B981">
              <a:alpha val="70196"/>
            </a:srgbClr>
          </a:solidFill>
          <a:ln cap="flat" cmpd="sng" w="12700">
            <a:solidFill>
              <a:srgbClr val="10B98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0" name="Google Shape;2610;p64"/>
          <p:cNvSpPr/>
          <p:nvPr/>
        </p:nvSpPr>
        <p:spPr>
          <a:xfrm>
            <a:off x="8051292" y="2075688"/>
            <a:ext cx="288000" cy="128100"/>
          </a:xfrm>
          <a:prstGeom prst="rect">
            <a:avLst/>
          </a:prstGeom>
          <a:solidFill>
            <a:srgbClr val="10B981">
              <a:alpha val="70196"/>
            </a:srgbClr>
          </a:solidFill>
          <a:ln cap="flat" cmpd="sng" w="12700">
            <a:solidFill>
              <a:srgbClr val="10B98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1" name="Google Shape;2611;p64"/>
          <p:cNvSpPr/>
          <p:nvPr/>
        </p:nvSpPr>
        <p:spPr>
          <a:xfrm>
            <a:off x="8375904" y="2075688"/>
            <a:ext cx="164700" cy="128100"/>
          </a:xfrm>
          <a:prstGeom prst="rect">
            <a:avLst/>
          </a:prstGeom>
          <a:solidFill>
            <a:srgbClr val="10B981">
              <a:alpha val="70196"/>
            </a:srgbClr>
          </a:solidFill>
          <a:ln cap="flat" cmpd="sng" w="12700">
            <a:solidFill>
              <a:srgbClr val="10B98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2" name="Google Shape;2612;p64"/>
          <p:cNvSpPr/>
          <p:nvPr/>
        </p:nvSpPr>
        <p:spPr>
          <a:xfrm>
            <a:off x="7260336" y="2039112"/>
            <a:ext cx="502800" cy="201300"/>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Clr>
                <a:srgbClr val="1E293B"/>
              </a:buClr>
              <a:buSzPts val="600"/>
              <a:buFont typeface="Calibri"/>
              <a:buNone/>
            </a:pPr>
            <a:r>
              <a:rPr b="0" i="0" lang="en" sz="600" u="none" cap="none" strike="noStrike">
                <a:solidFill>
                  <a:srgbClr val="1E293B"/>
                </a:solidFill>
                <a:latin typeface="Calibri"/>
                <a:ea typeface="Calibri"/>
                <a:cs typeface="Calibri"/>
                <a:sym typeface="Calibri"/>
              </a:rPr>
              <a:t>Head 3</a:t>
            </a:r>
            <a:endParaRPr b="0" i="0" sz="600" u="none" cap="none" strike="noStrike">
              <a:solidFill>
                <a:schemeClr val="dk1"/>
              </a:solidFill>
              <a:latin typeface="Calibri"/>
              <a:ea typeface="Calibri"/>
              <a:cs typeface="Calibri"/>
              <a:sym typeface="Calibri"/>
            </a:endParaRPr>
          </a:p>
        </p:txBody>
      </p:sp>
      <p:sp>
        <p:nvSpPr>
          <p:cNvPr id="2613" name="Google Shape;2613;p64"/>
          <p:cNvSpPr/>
          <p:nvPr/>
        </p:nvSpPr>
        <p:spPr>
          <a:xfrm>
            <a:off x="7260336" y="2304288"/>
            <a:ext cx="1280100" cy="109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4748B"/>
              </a:buClr>
              <a:buSzPts val="600"/>
              <a:buFont typeface="Calibri"/>
              <a:buNone/>
            </a:pPr>
            <a:r>
              <a:rPr b="0" i="0" lang="en" sz="600" u="none" cap="none" strike="noStrike">
                <a:solidFill>
                  <a:srgbClr val="64748B"/>
                </a:solidFill>
                <a:latin typeface="Calibri"/>
                <a:ea typeface="Calibri"/>
                <a:cs typeface="Calibri"/>
                <a:sym typeface="Calibri"/>
              </a:rPr>
              <a:t>Multi-Head Attention</a:t>
            </a:r>
            <a:endParaRPr b="0" i="0" sz="600" u="none" cap="none" strike="noStrike">
              <a:solidFill>
                <a:schemeClr val="dk1"/>
              </a:solidFill>
              <a:latin typeface="Calibri"/>
              <a:ea typeface="Calibri"/>
              <a:cs typeface="Calibri"/>
              <a:sym typeface="Calibri"/>
            </a:endParaRPr>
          </a:p>
        </p:txBody>
      </p:sp>
      <p:sp>
        <p:nvSpPr>
          <p:cNvPr id="2614" name="Google Shape;2614;p64"/>
          <p:cNvSpPr/>
          <p:nvPr/>
        </p:nvSpPr>
        <p:spPr>
          <a:xfrm>
            <a:off x="7187184" y="2441448"/>
            <a:ext cx="1518000" cy="1417200"/>
          </a:xfrm>
          <a:prstGeom prst="rect">
            <a:avLst/>
          </a:prstGeom>
          <a:noFill/>
          <a:ln>
            <a:noFill/>
          </a:ln>
        </p:spPr>
        <p:txBody>
          <a:bodyPr anchorCtr="0" anchor="t" bIns="38100" lIns="38100" spcFirstLastPara="1" rIns="38100" wrap="square" tIns="38100">
            <a:noAutofit/>
          </a:bodyPr>
          <a:lstStyle/>
          <a:p>
            <a:pPr indent="0" lvl="0" marL="0" marR="0" rtl="0" algn="l">
              <a:lnSpc>
                <a:spcPct val="125000"/>
              </a:lnSpc>
              <a:spcBef>
                <a:spcPts val="0"/>
              </a:spcBef>
              <a:spcAft>
                <a:spcPts val="0"/>
              </a:spcAft>
              <a:buClr>
                <a:srgbClr val="EC4899"/>
              </a:buClr>
              <a:buSzPts val="900"/>
              <a:buFont typeface="Calibri"/>
              <a:buNone/>
            </a:pPr>
            <a:r>
              <a:rPr b="1" i="0" lang="en" sz="900" u="none" cap="none" strike="noStrike">
                <a:solidFill>
                  <a:srgbClr val="EC4899"/>
                </a:solidFill>
                <a:latin typeface="Calibri"/>
                <a:ea typeface="Calibri"/>
                <a:cs typeface="Calibri"/>
                <a:sym typeface="Calibri"/>
              </a:rPr>
              <a:t>Self-attention</a:t>
            </a:r>
            <a:endParaRPr b="0" i="0" sz="9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334155"/>
              </a:buClr>
              <a:buSzPts val="900"/>
              <a:buFont typeface="Calibri"/>
              <a:buNone/>
            </a:pPr>
            <a:r>
              <a:rPr b="0" i="0" lang="en" sz="900" u="none" cap="none" strike="noStrike">
                <a:solidFill>
                  <a:srgbClr val="334155"/>
                </a:solidFill>
                <a:latin typeface="Calibri"/>
                <a:ea typeface="Calibri"/>
                <a:cs typeface="Calibri"/>
                <a:sym typeface="Calibri"/>
              </a:rPr>
              <a:t>Parallelizable</a:t>
            </a:r>
            <a:endParaRPr b="0" i="0" sz="9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334155"/>
              </a:buClr>
              <a:buSzPts val="900"/>
              <a:buFont typeface="Calibri"/>
              <a:buNone/>
            </a:pPr>
            <a:r>
              <a:rPr b="0" i="0" lang="en" sz="900" u="none" cap="none" strike="noStrike">
                <a:solidFill>
                  <a:srgbClr val="334155"/>
                </a:solidFill>
                <a:latin typeface="Calibri"/>
                <a:ea typeface="Calibri"/>
                <a:cs typeface="Calibri"/>
                <a:sym typeface="Calibri"/>
              </a:rPr>
              <a:t>Positional enc.</a:t>
            </a:r>
            <a:endParaRPr b="0" i="0" sz="9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334155"/>
              </a:buClr>
              <a:buSzPts val="900"/>
              <a:buFont typeface="Calibri"/>
              <a:buNone/>
            </a:pPr>
            <a:r>
              <a:rPr b="0" i="0" lang="en" sz="900" u="none" cap="none" strike="noStrike">
                <a:solidFill>
                  <a:srgbClr val="334155"/>
                </a:solidFill>
                <a:latin typeface="Calibri"/>
                <a:ea typeface="Calibri"/>
                <a:cs typeface="Calibri"/>
                <a:sym typeface="Calibri"/>
              </a:rPr>
              <a:t>LLMs / GPT / BERT</a:t>
            </a:r>
            <a:endParaRPr b="0" i="0" sz="900" u="none" cap="none" strike="noStrike">
              <a:solidFill>
                <a:schemeClr val="dk1"/>
              </a:solidFill>
              <a:latin typeface="Calibri"/>
              <a:ea typeface="Calibri"/>
              <a:cs typeface="Calibri"/>
              <a:sym typeface="Calibri"/>
            </a:endParaRPr>
          </a:p>
        </p:txBody>
      </p:sp>
      <p:sp>
        <p:nvSpPr>
          <p:cNvPr id="2615" name="Google Shape;2615;p64"/>
          <p:cNvSpPr/>
          <p:nvPr/>
        </p:nvSpPr>
        <p:spPr>
          <a:xfrm>
            <a:off x="7863840" y="4142232"/>
            <a:ext cx="164700" cy="164700"/>
          </a:xfrm>
          <a:prstGeom prst="ellipse">
            <a:avLst/>
          </a:prstGeom>
          <a:solidFill>
            <a:srgbClr val="EC4899"/>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6" name="Google Shape;2616;p64"/>
          <p:cNvSpPr/>
          <p:nvPr/>
        </p:nvSpPr>
        <p:spPr>
          <a:xfrm>
            <a:off x="228600" y="4828032"/>
            <a:ext cx="36576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800"/>
              <a:buFont typeface="Calibri"/>
              <a:buNone/>
            </a:pPr>
            <a:r>
              <a:rPr b="0" i="0" lang="en" sz="800" u="none" cap="none" strike="noStrike">
                <a:solidFill>
                  <a:srgbClr val="94A3B8"/>
                </a:solidFill>
                <a:latin typeface="Calibri"/>
                <a:ea typeface="Calibri"/>
                <a:cs typeface="Calibri"/>
                <a:sym typeface="Calibri"/>
              </a:rPr>
              <a:t>Deep Learning · IIT Kharagpur</a:t>
            </a:r>
            <a:endParaRPr b="0" i="0" sz="800" u="none" cap="none" strike="noStrike">
              <a:solidFill>
                <a:schemeClr val="dk1"/>
              </a:solidFill>
              <a:latin typeface="Calibri"/>
              <a:ea typeface="Calibri"/>
              <a:cs typeface="Calibri"/>
              <a:sym typeface="Calibri"/>
            </a:endParaRPr>
          </a:p>
        </p:txBody>
      </p:sp>
      <p:sp>
        <p:nvSpPr>
          <p:cNvPr id="2617" name="Google Shape;2617;p64"/>
          <p:cNvSpPr/>
          <p:nvPr/>
        </p:nvSpPr>
        <p:spPr>
          <a:xfrm>
            <a:off x="228600" y="4828032"/>
            <a:ext cx="8686800" cy="2013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4A3B8"/>
              </a:buClr>
              <a:buSzPts val="800"/>
              <a:buFont typeface="Calibri"/>
              <a:buNone/>
            </a:pPr>
            <a:r>
              <a:rPr b="0" i="1" lang="en" sz="800" u="none" cap="none" strike="noStrike">
                <a:solidFill>
                  <a:srgbClr val="94A3B8"/>
                </a:solidFill>
                <a:latin typeface="Calibri"/>
                <a:ea typeface="Calibri"/>
                <a:cs typeface="Calibri"/>
                <a:sym typeface="Calibri"/>
              </a:rPr>
              <a:t>Complexity &amp; Specialization →</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621" name="Shape 2621"/>
        <p:cNvGrpSpPr/>
        <p:nvPr/>
      </p:nvGrpSpPr>
      <p:grpSpPr>
        <a:xfrm>
          <a:off x="0" y="0"/>
          <a:ext cx="0" cy="0"/>
          <a:chOff x="0" y="0"/>
          <a:chExt cx="0" cy="0"/>
        </a:xfrm>
      </p:grpSpPr>
      <p:pic>
        <p:nvPicPr>
          <p:cNvPr id="2622" name="Google Shape;2622;p65"/>
          <p:cNvPicPr preferRelativeResize="0"/>
          <p:nvPr/>
        </p:nvPicPr>
        <p:blipFill rotWithShape="1">
          <a:blip r:embed="rId4">
            <a:alphaModFix/>
          </a:blip>
          <a:srcRect b="0" l="0" r="0" t="0"/>
          <a:stretch/>
        </p:blipFill>
        <p:spPr>
          <a:xfrm>
            <a:off x="8369125" y="0"/>
            <a:ext cx="774877" cy="867174"/>
          </a:xfrm>
          <a:prstGeom prst="rect">
            <a:avLst/>
          </a:prstGeom>
          <a:noFill/>
          <a:ln>
            <a:noFill/>
          </a:ln>
        </p:spPr>
      </p:pic>
      <p:sp>
        <p:nvSpPr>
          <p:cNvPr id="2623" name="Google Shape;2623;p65"/>
          <p:cNvSpPr/>
          <p:nvPr/>
        </p:nvSpPr>
        <p:spPr>
          <a:xfrm>
            <a:off x="469650" y="683663"/>
            <a:ext cx="8204700" cy="724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D1B2A"/>
              </a:buClr>
              <a:buSzPts val="2400"/>
              <a:buFont typeface="Calibri"/>
              <a:buNone/>
            </a:pPr>
            <a:r>
              <a:rPr b="0" i="0" lang="en" sz="2800" u="none" cap="none" strike="noStrike">
                <a:solidFill>
                  <a:schemeClr val="dk1"/>
                </a:solidFill>
                <a:latin typeface="Arial"/>
                <a:ea typeface="Arial"/>
                <a:cs typeface="Arial"/>
                <a:sym typeface="Arial"/>
              </a:rPr>
              <a:t>Thank you</a:t>
            </a:r>
            <a:endParaRPr b="0" i="0" sz="2800" u="none" cap="none" strike="noStrike">
              <a:solidFill>
                <a:schemeClr val="dk1"/>
              </a:solidFill>
              <a:latin typeface="Arial"/>
              <a:ea typeface="Arial"/>
              <a:cs typeface="Arial"/>
              <a:sym typeface="Arial"/>
            </a:endParaRPr>
          </a:p>
        </p:txBody>
      </p:sp>
      <p:sp>
        <p:nvSpPr>
          <p:cNvPr id="2624" name="Google Shape;2624;p65"/>
          <p:cNvSpPr/>
          <p:nvPr/>
        </p:nvSpPr>
        <p:spPr>
          <a:xfrm>
            <a:off x="603650" y="1649350"/>
            <a:ext cx="1591500" cy="515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D1B2A"/>
              </a:buClr>
              <a:buSzPts val="2400"/>
              <a:buFont typeface="Calibri"/>
              <a:buNone/>
            </a:pPr>
            <a:r>
              <a:rPr b="0" i="0" lang="en" sz="2000" u="none" cap="none" strike="noStrike">
                <a:solidFill>
                  <a:schemeClr val="dk1"/>
                </a:solidFill>
                <a:latin typeface="Arial"/>
                <a:ea typeface="Arial"/>
                <a:cs typeface="Arial"/>
                <a:sym typeface="Arial"/>
              </a:rPr>
              <a:t>Instructor</a:t>
            </a:r>
            <a:endParaRPr b="0" i="0" sz="2000" u="none" cap="none" strike="noStrike">
              <a:solidFill>
                <a:schemeClr val="dk1"/>
              </a:solidFill>
              <a:latin typeface="Arial"/>
              <a:ea typeface="Arial"/>
              <a:cs typeface="Arial"/>
              <a:sym typeface="Arial"/>
            </a:endParaRPr>
          </a:p>
        </p:txBody>
      </p:sp>
      <p:sp>
        <p:nvSpPr>
          <p:cNvPr id="2625" name="Google Shape;2625;p65"/>
          <p:cNvSpPr/>
          <p:nvPr/>
        </p:nvSpPr>
        <p:spPr>
          <a:xfrm>
            <a:off x="3640950" y="1554800"/>
            <a:ext cx="3755700" cy="515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D1B2A"/>
              </a:buClr>
              <a:buSzPts val="2400"/>
              <a:buFont typeface="Calibri"/>
              <a:buNone/>
            </a:pPr>
            <a:r>
              <a:rPr b="0" i="0" lang="en" sz="2000" u="none" cap="none" strike="noStrike">
                <a:solidFill>
                  <a:schemeClr val="dk1"/>
                </a:solidFill>
                <a:latin typeface="Arial"/>
                <a:ea typeface="Arial"/>
                <a:cs typeface="Arial"/>
                <a:sym typeface="Arial"/>
              </a:rPr>
              <a:t>Teaching Assistants (IITKGP)</a:t>
            </a:r>
            <a:endParaRPr b="0" i="0" sz="2000" u="none" cap="none" strike="noStrike">
              <a:solidFill>
                <a:schemeClr val="dk1"/>
              </a:solidFill>
              <a:latin typeface="Arial"/>
              <a:ea typeface="Arial"/>
              <a:cs typeface="Arial"/>
              <a:sym typeface="Arial"/>
            </a:endParaRPr>
          </a:p>
        </p:txBody>
      </p:sp>
      <p:sp>
        <p:nvSpPr>
          <p:cNvPr id="2626" name="Google Shape;2626;p65"/>
          <p:cNvSpPr/>
          <p:nvPr/>
        </p:nvSpPr>
        <p:spPr>
          <a:xfrm>
            <a:off x="558800" y="3413025"/>
            <a:ext cx="1591500" cy="515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D1B2A"/>
              </a:buClr>
              <a:buSzPts val="2400"/>
              <a:buFont typeface="Calibri"/>
              <a:buNone/>
            </a:pPr>
            <a:r>
              <a:rPr b="0" i="0" lang="en" sz="1600" u="none" cap="none" strike="noStrike">
                <a:solidFill>
                  <a:schemeClr val="dk1"/>
                </a:solidFill>
                <a:latin typeface="Arial"/>
                <a:ea typeface="Arial"/>
                <a:cs typeface="Arial"/>
                <a:sym typeface="Arial"/>
              </a:rPr>
              <a:t>Niloy Ganguly</a:t>
            </a:r>
            <a:endParaRPr b="0" i="0" sz="16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D1B2A"/>
              </a:buClr>
              <a:buSzPts val="2400"/>
              <a:buFont typeface="Calibri"/>
              <a:buNone/>
            </a:pPr>
            <a:r>
              <a:rPr b="0" i="0" lang="en" sz="1050" u="none" cap="none" strike="noStrike">
                <a:solidFill>
                  <a:srgbClr val="222222"/>
                </a:solidFill>
                <a:highlight>
                  <a:srgbClr val="FFFFFF"/>
                </a:highlight>
                <a:latin typeface="Roboto"/>
                <a:ea typeface="Roboto"/>
                <a:cs typeface="Roboto"/>
                <a:sym typeface="Roboto"/>
              </a:rPr>
              <a:t>niloy@cse.iitkgp.ac.in</a:t>
            </a:r>
            <a:endParaRPr b="0" i="0" sz="1600" u="none" cap="none" strike="noStrike">
              <a:solidFill>
                <a:schemeClr val="dk1"/>
              </a:solidFill>
              <a:latin typeface="Arial"/>
              <a:ea typeface="Arial"/>
              <a:cs typeface="Arial"/>
              <a:sym typeface="Arial"/>
            </a:endParaRPr>
          </a:p>
        </p:txBody>
      </p:sp>
      <p:sp>
        <p:nvSpPr>
          <p:cNvPr id="2627" name="Google Shape;2627;p65"/>
          <p:cNvSpPr/>
          <p:nvPr/>
        </p:nvSpPr>
        <p:spPr>
          <a:xfrm>
            <a:off x="2406788" y="3392751"/>
            <a:ext cx="1794600" cy="490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D1B2A"/>
              </a:buClr>
              <a:buSzPts val="2283"/>
              <a:buFont typeface="Calibri"/>
              <a:buNone/>
            </a:pPr>
            <a:r>
              <a:rPr b="0" i="0" lang="en" sz="1522" u="none" cap="none" strike="noStrike">
                <a:solidFill>
                  <a:schemeClr val="dk1"/>
                </a:solidFill>
                <a:latin typeface="Arial"/>
                <a:ea typeface="Arial"/>
                <a:cs typeface="Arial"/>
                <a:sym typeface="Arial"/>
              </a:rPr>
              <a:t>Sombit Bose</a:t>
            </a:r>
            <a:endParaRPr b="0" i="0" sz="1522"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D1B2A"/>
              </a:buClr>
              <a:buSzPts val="2283"/>
              <a:buFont typeface="Calibri"/>
              <a:buNone/>
            </a:pPr>
            <a:r>
              <a:t/>
            </a:r>
            <a:endParaRPr b="0" i="0" sz="1522" u="none" cap="none" strike="noStrike">
              <a:solidFill>
                <a:schemeClr val="dk1"/>
              </a:solidFill>
              <a:latin typeface="Arial"/>
              <a:ea typeface="Arial"/>
              <a:cs typeface="Arial"/>
              <a:sym typeface="Arial"/>
            </a:endParaRPr>
          </a:p>
        </p:txBody>
      </p:sp>
      <p:sp>
        <p:nvSpPr>
          <p:cNvPr id="2628" name="Google Shape;2628;p65"/>
          <p:cNvSpPr/>
          <p:nvPr/>
        </p:nvSpPr>
        <p:spPr>
          <a:xfrm>
            <a:off x="7117275" y="3425625"/>
            <a:ext cx="1715100" cy="498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D1B2A"/>
              </a:buClr>
              <a:buSzPts val="2318"/>
              <a:buFont typeface="Calibri"/>
              <a:buNone/>
            </a:pPr>
            <a:r>
              <a:rPr b="0" i="0" lang="en" sz="1546" u="none" cap="none" strike="noStrike">
                <a:solidFill>
                  <a:schemeClr val="dk1"/>
                </a:solidFill>
                <a:latin typeface="Arial"/>
                <a:ea typeface="Arial"/>
                <a:cs typeface="Arial"/>
                <a:sym typeface="Arial"/>
              </a:rPr>
              <a:t>Shrimon </a:t>
            </a:r>
            <a:endParaRPr b="0" i="0" sz="1546"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D1B2A"/>
              </a:buClr>
              <a:buSzPts val="2318"/>
              <a:buFont typeface="Calibri"/>
              <a:buNone/>
            </a:pPr>
            <a:r>
              <a:rPr b="0" i="0" lang="en" sz="1546" u="none" cap="none" strike="noStrike">
                <a:solidFill>
                  <a:schemeClr val="dk1"/>
                </a:solidFill>
                <a:latin typeface="Arial"/>
                <a:ea typeface="Arial"/>
                <a:cs typeface="Arial"/>
                <a:sym typeface="Arial"/>
              </a:rPr>
              <a:t>Mukherjee</a:t>
            </a:r>
            <a:endParaRPr b="0" i="0" sz="1546" u="none" cap="none" strike="noStrike">
              <a:solidFill>
                <a:schemeClr val="dk1"/>
              </a:solidFill>
              <a:latin typeface="Arial"/>
              <a:ea typeface="Arial"/>
              <a:cs typeface="Arial"/>
              <a:sym typeface="Arial"/>
            </a:endParaRPr>
          </a:p>
        </p:txBody>
      </p:sp>
      <p:pic>
        <p:nvPicPr>
          <p:cNvPr id="2629" name="Google Shape;2629;p65" title="1000247300.jpeg"/>
          <p:cNvPicPr preferRelativeResize="0"/>
          <p:nvPr/>
        </p:nvPicPr>
        <p:blipFill rotWithShape="1">
          <a:blip r:embed="rId5">
            <a:alphaModFix/>
          </a:blip>
          <a:srcRect b="9408" l="22153" r="21045" t="5839"/>
          <a:stretch/>
        </p:blipFill>
        <p:spPr>
          <a:xfrm>
            <a:off x="2758400" y="2028463"/>
            <a:ext cx="1091400" cy="1394270"/>
          </a:xfrm>
          <a:prstGeom prst="rect">
            <a:avLst/>
          </a:prstGeom>
          <a:solidFill>
            <a:schemeClr val="dk2"/>
          </a:solidFill>
          <a:ln cap="flat" cmpd="sng" w="9525">
            <a:solidFill>
              <a:schemeClr val="lt1"/>
            </a:solidFill>
            <a:prstDash val="solid"/>
            <a:round/>
            <a:headEnd len="sm" w="sm" type="none"/>
            <a:tailEnd len="sm" w="sm" type="none"/>
          </a:ln>
        </p:spPr>
      </p:pic>
      <p:pic>
        <p:nvPicPr>
          <p:cNvPr id="2630" name="Google Shape;2630;p65"/>
          <p:cNvPicPr preferRelativeResize="0"/>
          <p:nvPr/>
        </p:nvPicPr>
        <p:blipFill rotWithShape="1">
          <a:blip r:embed="rId6">
            <a:alphaModFix/>
          </a:blip>
          <a:srcRect b="0" l="0" r="0" t="0"/>
          <a:stretch/>
        </p:blipFill>
        <p:spPr>
          <a:xfrm>
            <a:off x="689300" y="2051637"/>
            <a:ext cx="1420200" cy="1334825"/>
          </a:xfrm>
          <a:prstGeom prst="rect">
            <a:avLst/>
          </a:prstGeom>
          <a:noFill/>
          <a:ln>
            <a:noFill/>
          </a:ln>
        </p:spPr>
      </p:pic>
      <p:pic>
        <p:nvPicPr>
          <p:cNvPr id="2631" name="Google Shape;2631;p65" title="IMG_1088.jpeg"/>
          <p:cNvPicPr preferRelativeResize="0"/>
          <p:nvPr/>
        </p:nvPicPr>
        <p:blipFill rotWithShape="1">
          <a:blip r:embed="rId7">
            <a:alphaModFix/>
          </a:blip>
          <a:srcRect b="0" l="25019" r="15848" t="0"/>
          <a:stretch/>
        </p:blipFill>
        <p:spPr>
          <a:xfrm>
            <a:off x="7314300" y="2027300"/>
            <a:ext cx="1321060" cy="1383475"/>
          </a:xfrm>
          <a:prstGeom prst="rect">
            <a:avLst/>
          </a:prstGeom>
          <a:noFill/>
          <a:ln>
            <a:noFill/>
          </a:ln>
        </p:spPr>
      </p:pic>
      <p:pic>
        <p:nvPicPr>
          <p:cNvPr id="2632" name="Google Shape;2632;p65"/>
          <p:cNvPicPr preferRelativeResize="0"/>
          <p:nvPr/>
        </p:nvPicPr>
        <p:blipFill rotWithShape="1">
          <a:blip r:embed="rId8">
            <a:alphaModFix/>
          </a:blip>
          <a:srcRect b="5038" l="9646" r="9638" t="19535"/>
          <a:stretch/>
        </p:blipFill>
        <p:spPr>
          <a:xfrm>
            <a:off x="4106775" y="2031688"/>
            <a:ext cx="1152399" cy="1387800"/>
          </a:xfrm>
          <a:prstGeom prst="rect">
            <a:avLst/>
          </a:prstGeom>
          <a:noFill/>
          <a:ln>
            <a:noFill/>
          </a:ln>
        </p:spPr>
      </p:pic>
      <p:sp>
        <p:nvSpPr>
          <p:cNvPr id="2633" name="Google Shape;2633;p65"/>
          <p:cNvSpPr/>
          <p:nvPr/>
        </p:nvSpPr>
        <p:spPr>
          <a:xfrm>
            <a:off x="3752825" y="3302429"/>
            <a:ext cx="1860300" cy="490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D1B2A"/>
              </a:buClr>
              <a:buSzPts val="2283"/>
              <a:buFont typeface="Calibri"/>
              <a:buNone/>
            </a:pPr>
            <a:r>
              <a:rPr b="0" i="0" lang="en" sz="1522" u="none" cap="none" strike="noStrike">
                <a:solidFill>
                  <a:schemeClr val="dk1"/>
                </a:solidFill>
                <a:latin typeface="Arial"/>
                <a:ea typeface="Arial"/>
                <a:cs typeface="Arial"/>
                <a:sym typeface="Arial"/>
              </a:rPr>
              <a:t>Anurup Naskar</a:t>
            </a:r>
            <a:endParaRPr b="0" i="0" sz="1522" u="none" cap="none" strike="noStrike">
              <a:solidFill>
                <a:schemeClr val="dk1"/>
              </a:solidFill>
              <a:latin typeface="Arial"/>
              <a:ea typeface="Arial"/>
              <a:cs typeface="Arial"/>
              <a:sym typeface="Arial"/>
            </a:endParaRPr>
          </a:p>
        </p:txBody>
      </p:sp>
      <p:pic>
        <p:nvPicPr>
          <p:cNvPr id="2634" name="Google Shape;2634;p65"/>
          <p:cNvPicPr preferRelativeResize="0"/>
          <p:nvPr/>
        </p:nvPicPr>
        <p:blipFill rotWithShape="1">
          <a:blip r:embed="rId9">
            <a:alphaModFix/>
          </a:blip>
          <a:srcRect b="0" l="0" r="0" t="0"/>
          <a:stretch/>
        </p:blipFill>
        <p:spPr>
          <a:xfrm>
            <a:off x="5546150" y="2027312"/>
            <a:ext cx="1420200" cy="1383471"/>
          </a:xfrm>
          <a:prstGeom prst="rect">
            <a:avLst/>
          </a:prstGeom>
          <a:noFill/>
          <a:ln>
            <a:noFill/>
          </a:ln>
        </p:spPr>
      </p:pic>
      <p:sp>
        <p:nvSpPr>
          <p:cNvPr id="2635" name="Google Shape;2635;p65"/>
          <p:cNvSpPr/>
          <p:nvPr/>
        </p:nvSpPr>
        <p:spPr>
          <a:xfrm>
            <a:off x="5326100" y="3425629"/>
            <a:ext cx="1860300" cy="490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D1B2A"/>
              </a:buClr>
              <a:buSzPts val="2283"/>
              <a:buFont typeface="Calibri"/>
              <a:buNone/>
            </a:pPr>
            <a:r>
              <a:rPr b="0" i="0" lang="en" sz="1522" u="none" cap="none" strike="noStrike">
                <a:solidFill>
                  <a:schemeClr val="dk1"/>
                </a:solidFill>
                <a:latin typeface="Arial"/>
                <a:ea typeface="Arial"/>
                <a:cs typeface="Arial"/>
                <a:sym typeface="Arial"/>
              </a:rPr>
              <a:t>Sabyasachi</a:t>
            </a:r>
            <a:endParaRPr b="0" i="0" sz="1522"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D1B2A"/>
              </a:buClr>
              <a:buSzPts val="2283"/>
              <a:buFont typeface="Calibri"/>
              <a:buNone/>
            </a:pPr>
            <a:r>
              <a:rPr b="0" i="0" lang="en" sz="1522" u="none" cap="none" strike="noStrike">
                <a:solidFill>
                  <a:schemeClr val="dk1"/>
                </a:solidFill>
                <a:latin typeface="Arial"/>
                <a:ea typeface="Arial"/>
                <a:cs typeface="Arial"/>
                <a:sym typeface="Arial"/>
              </a:rPr>
              <a:t>Mukhopadhyay</a:t>
            </a:r>
            <a:endParaRPr b="0" i="0" sz="1522" u="none" cap="none" strike="noStrik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
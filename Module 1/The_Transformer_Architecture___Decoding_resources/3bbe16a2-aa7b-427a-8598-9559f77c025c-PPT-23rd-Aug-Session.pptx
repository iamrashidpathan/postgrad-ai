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5143500" cx="9144000"/>
  <p:notesSz cx="6858000" cy="9144000"/>
  <p:embeddedFontLst>
    <p:embeddedFont>
      <p:font typeface="Roboto"/>
      <p:regular r:id="rId70"/>
      <p:bold r:id="rId71"/>
      <p:italic r:id="rId72"/>
      <p:boldItalic r:id="rId73"/>
    </p:embeddedFont>
    <p:embeddedFont>
      <p:font typeface="Roboto Mono"/>
      <p:regular r:id="rId74"/>
      <p:bold r:id="rId75"/>
      <p:italic r:id="rId76"/>
      <p:boldItalic r:id="rId77"/>
    </p:embeddedFont>
    <p:embeddedFont>
      <p:font typeface="Cambria Math"/>
      <p:regular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D8C2A5-8C76-43A2-B524-913EB85D0711}">
  <a:tblStyle styleId="{58D8C2A5-8C76-43A2-B524-913EB85D071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5.xml"/><Relationship Id="rId75" Type="http://schemas.openxmlformats.org/officeDocument/2006/relationships/font" Target="fonts/RobotoMono-bold.fntdata"/><Relationship Id="rId30" Type="http://schemas.openxmlformats.org/officeDocument/2006/relationships/slide" Target="slides/slide24.xml"/><Relationship Id="rId74" Type="http://schemas.openxmlformats.org/officeDocument/2006/relationships/font" Target="fonts/RobotoMono-regular.fntdata"/><Relationship Id="rId33" Type="http://schemas.openxmlformats.org/officeDocument/2006/relationships/slide" Target="slides/slide27.xml"/><Relationship Id="rId77" Type="http://schemas.openxmlformats.org/officeDocument/2006/relationships/font" Target="fonts/RobotoMono-boldItalic.fntdata"/><Relationship Id="rId32" Type="http://schemas.openxmlformats.org/officeDocument/2006/relationships/slide" Target="slides/slide26.xml"/><Relationship Id="rId76" Type="http://schemas.openxmlformats.org/officeDocument/2006/relationships/font" Target="fonts/RobotoMono-italic.fntdata"/><Relationship Id="rId35" Type="http://schemas.openxmlformats.org/officeDocument/2006/relationships/slide" Target="slides/slide29.xml"/><Relationship Id="rId34" Type="http://schemas.openxmlformats.org/officeDocument/2006/relationships/slide" Target="slides/slide28.xml"/><Relationship Id="rId78" Type="http://schemas.openxmlformats.org/officeDocument/2006/relationships/font" Target="fonts/CambriaMath-regular.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7337e18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7337e18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158a3ff3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g3f158a3ff3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158a3ff39_0_6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f158a3ff39_0_6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5" name="Google Shape;85;g3f158a3ff39_0_6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158a3ff39_0_284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f158a3ff39_0_284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Q is what each token is currently looking for — a query vector encoding the kind of information that token needs from the rest of the sequence. K is what each token offers to be found by — a key vector describing that token's content in terms other tokens can match against, and the QKᵀ dot product is what turns "what I want" and "what I offer" into an attention score. V is what actually gets passed along once a match is found — the content vector that gets blended into the output, weighted by how well each key matched the query.</a:t>
            </a:r>
            <a:endParaRPr/>
          </a:p>
        </p:txBody>
      </p:sp>
      <p:sp>
        <p:nvSpPr>
          <p:cNvPr id="117" name="Google Shape;117;g3f158a3ff39_0_284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158a3ff39_0_5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f158a3ff39_0_5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158a3ff39_0_56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f158a3ff39_0_56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
              <a:t>In the multi-head attention formula, W^o is the output projection matrix.</a:t>
            </a:r>
            <a:endParaRPr/>
          </a:p>
          <a:p>
            <a:pPr indent="0" lvl="0" marL="0" rtl="0" algn="l">
              <a:lnSpc>
                <a:spcPct val="115000"/>
              </a:lnSpc>
              <a:spcBef>
                <a:spcPts val="0"/>
              </a:spcBef>
              <a:spcAft>
                <a:spcPts val="0"/>
              </a:spcAft>
              <a:buSzPts val="1100"/>
              <a:buNone/>
            </a:pPr>
            <a:r>
              <a:rPr lang="en"/>
              <a:t>Here's what it does:</a:t>
            </a:r>
            <a:endParaRPr/>
          </a:p>
          <a:p>
            <a:pPr indent="0" lvl="0" marL="0" rtl="0" algn="l">
              <a:lnSpc>
                <a:spcPct val="115000"/>
              </a:lnSpc>
              <a:spcBef>
                <a:spcPts val="0"/>
              </a:spcBef>
              <a:spcAft>
                <a:spcPts val="0"/>
              </a:spcAft>
              <a:buSzPts val="1100"/>
              <a:buNone/>
            </a:pPr>
            <a:r>
              <a:rPr lang="en"/>
              <a:t>When you concatenate the outputs of all the heads — Concat(head₁ ... headₕ) — you get one big vector (combining the separate "views" from H1, H2, H3, H4 in your slide: coreference, verb-object, semantic similarity, positional). This concatenated vector is just heads stitched side-by-side; the model hasn't yet learned how to combine/blend the information across those heads.</a:t>
            </a:r>
            <a:endParaRPr/>
          </a:p>
          <a:p>
            <a:pPr indent="0" lvl="0" marL="0" rtl="0" algn="l">
              <a:lnSpc>
                <a:spcPct val="100000"/>
              </a:lnSpc>
              <a:spcBef>
                <a:spcPts val="0"/>
              </a:spcBef>
              <a:spcAft>
                <a:spcPts val="0"/>
              </a:spcAft>
              <a:buSzPts val="1100"/>
              <a:buNone/>
            </a:pPr>
            <a:r>
              <a:t/>
            </a:r>
            <a:endParaRPr/>
          </a:p>
        </p:txBody>
      </p:sp>
      <p:sp>
        <p:nvSpPr>
          <p:cNvPr id="158" name="Google Shape;158;g3f158a3ff39_0_56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158a3ff39_0_5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f158a3ff39_0_59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92" name="Google Shape;192;g3f158a3ff39_0_59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158a3ff39_0_81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g3f158a3ff39_0_81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22" name="Google Shape;222;g3f158a3ff39_0_81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158a3ff39_0_87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f158a3ff39_0_87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86" name="Google Shape;286;g3f158a3ff39_0_87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16fcae083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f16fcae083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1" name="Google Shape;331;g3f16fcae083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16fcae083_0_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f16fcae083_0_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40" name="Google Shape;340;g3f16fcae083_0_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16fcae083_0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f16fcae083_0_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3f16fcae083_0_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158a3ff39_0_15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g3f158a3ff39_0_15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f158a3ff39_0_1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f158a3ff39_0_1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158a3ff39_0_16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g3f158a3ff39_0_16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158a3ff39_0_1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g3f158a3ff39_0_16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f158a3ff39_0_1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f158a3ff39_0_1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8327e108a_1_2: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g3f8327e108a_1_2: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g3f8327e108a_1_2: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8327e108a_1_115: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g3f8327e108a_1_115: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3f8327e108a_1_115: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f176bf1a78_0_13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f176bf1a78_0_13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48" name="Google Shape;748;g3f176bf1a78_0_13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f176bf1a78_0_1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f176bf1a78_0_13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57" name="Google Shape;757;g3f176bf1a78_0_1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f176bf1a78_0_14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f176bf1a78_0_14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67" name="Google Shape;767;g3f176bf1a78_0_14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f158a3ff39_0_173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g3f158a3ff39_0_173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10" name="Google Shape;810;g3f158a3ff39_0_173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f158a3ff39_0_17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g3f158a3ff39_0_173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19" name="Google Shape;819;g3f158a3ff39_0_17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f158a3ff39_0_17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g3f158a3ff39_0_174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g3f158a3ff39_0_174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158a3ff39_0_18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5" name="Google Shape;855;g3f158a3ff39_0_18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f158a3ff39_0_17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g3f158a3ff39_0_17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g3f158a3ff39_0_17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158a3ff39_0_15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0" name="Google Shape;920;g3f158a3ff39_0_155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That sentence packs three separate facts together — let's unpack them in order: why scores grow with dimension, why that causes saturation, and why saturation is a problem worth preventing.</a:t>
            </a:r>
            <a:endParaRPr/>
          </a:p>
          <a:p>
            <a:pPr indent="0" lvl="0" marL="0" rtl="0" algn="l">
              <a:lnSpc>
                <a:spcPct val="115000"/>
              </a:lnSpc>
              <a:spcBef>
                <a:spcPts val="1200"/>
              </a:spcBef>
              <a:spcAft>
                <a:spcPts val="0"/>
              </a:spcAft>
              <a:buClr>
                <a:schemeClr val="dk1"/>
              </a:buClr>
              <a:buSzPts val="1100"/>
              <a:buFont typeface="Arial"/>
              <a:buNone/>
            </a:pPr>
            <a:r>
              <a:rPr lang="en"/>
              <a:t>Start with why the raw dot product QKᵀ grows with dimension in the first place. Say each component of a query vector q and a key vector k is roughly independent, with mean 0 and variance 1 — a reasonable assumption right after initialization or with normalized activations. The dot product is q·k = Σᵢ qᵢkᵢ, a sum of d_k such terms. Each individual term qᵢkᵢ has mean 0 and variance 1, and since the terms are independent, variances add rather than staying flat — so the variance of the whole sum is d_k, meaning its standard deviation is √d_k. In plain terms: even for two vectors with no special relationship, just summing over more dimensions makes the dot product swing further from zero, purely as an artifact of dimensionality, not because the vectors are more "aligned" or semantically relevant to each other.</a:t>
            </a:r>
            <a:endParaRPr/>
          </a:p>
          <a:p>
            <a:pPr indent="0" lvl="0" marL="0" rtl="0" algn="l">
              <a:lnSpc>
                <a:spcPct val="115000"/>
              </a:lnSpc>
              <a:spcBef>
                <a:spcPts val="1200"/>
              </a:spcBef>
              <a:spcAft>
                <a:spcPts val="0"/>
              </a:spcAft>
              <a:buClr>
                <a:schemeClr val="dk1"/>
              </a:buClr>
              <a:buSzPts val="1100"/>
              <a:buFont typeface="Arial"/>
              <a:buNone/>
            </a:pPr>
            <a:r>
              <a:rPr lang="en"/>
              <a:t>Now trace what that does to softmax. Softmax's sharpness depends on how far apart its input scores are (as I mentioned last message — the gaps between scores get exponentially amplified). If d_k is large — say 64 or 128, as in real transformer heads — the scores QKᵀ can end up spread across a wide range purely from that √d_k growth, well before any of it reflects genuine semantic similarity. Feed a wide spread into softmax and it saturates hard: one score dominates, its probability shoots toward 1, and all the others get crushed toward 0 — regardless of whether that dominance was semantically warranted or just noise amplified by dimensionality.</a:t>
            </a:r>
            <a:endParaRPr/>
          </a:p>
          <a:p>
            <a:pPr indent="0" lvl="0" marL="0" rtl="0" algn="l">
              <a:lnSpc>
                <a:spcPct val="115000"/>
              </a:lnSpc>
              <a:spcBef>
                <a:spcPts val="1200"/>
              </a:spcBef>
              <a:spcAft>
                <a:spcPts val="0"/>
              </a:spcAft>
              <a:buClr>
                <a:schemeClr val="dk1"/>
              </a:buClr>
              <a:buSzPts val="1100"/>
              <a:buFont typeface="Arial"/>
              <a:buNone/>
            </a:pPr>
            <a:r>
              <a:rPr lang="en"/>
              <a:t>That saturation is the actual problem, and it bites in two ways. First, representationally: attention becomes an almost all-or-nothing pick of a single token rather than a genuine weighted blend, even in cases where several tokens are legitimately relevant. Second, and more damaging for training: deep in the saturated region, softmax's gradient (which involves terms like pᵢ(1−pᵢ)) goes to nearly zero. So the model gets stuck with an attention pattern that's both premature and hard to correct, because the gradient signal needed to correct it has vanished.</a:t>
            </a:r>
            <a:endParaRPr/>
          </a:p>
          <a:p>
            <a:pPr indent="0" lvl="0" marL="0" rtl="0" algn="l">
              <a:lnSpc>
                <a:spcPct val="115000"/>
              </a:lnSpc>
              <a:spcBef>
                <a:spcPts val="1200"/>
              </a:spcBef>
              <a:spcAft>
                <a:spcPts val="0"/>
              </a:spcAft>
              <a:buClr>
                <a:schemeClr val="dk1"/>
              </a:buClr>
              <a:buSzPts val="1100"/>
              <a:buFont typeface="Arial"/>
              <a:buNone/>
            </a:pPr>
            <a:r>
              <a:rPr lang="en"/>
              <a:t>Dividing by √d_k is the fix, and it directly cancels the growth you just derived: since the score's standard deviation scales as √d_k, dividing by that same √d_k brings the variance back down to roughly 1 regardless of how large d_k is. So a 64-dimensional head and a 128-dimensional head end up with scores of comparable, well-behaved spread — softmax stays in that sensitive middle region where it can meaningfully discriminate between tokens without collapsing to a hard argmax, and gradients keep flowing. It's not preventing softmax from ever sharpening on a genuinely dominant match — it's preventing sharpening that happens purely as a side effect of dimensionality rather than actual relevance.</a:t>
            </a:r>
            <a:endParaRPr/>
          </a:p>
          <a:p>
            <a:pPr indent="0" lvl="0" marL="0" rtl="0" algn="l">
              <a:spcBef>
                <a:spcPts val="1200"/>
              </a:spcBef>
              <a:spcAft>
                <a:spcPts val="0"/>
              </a:spcAft>
              <a:buNone/>
            </a:pPr>
            <a:r>
              <a:t/>
            </a:r>
            <a:endParaRPr/>
          </a:p>
        </p:txBody>
      </p:sp>
      <p:sp>
        <p:nvSpPr>
          <p:cNvPr id="921" name="Google Shape;921;g3f158a3ff39_0_155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f1469f7f11_0_2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g3f1469f7f11_0_2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g3f1469f7f11_0_2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158a3ff39_0_18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6" name="Google Shape;966;g3f158a3ff39_0_18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f158a3ff39_0_2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g3f158a3ff39_0_25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4" name="Google Shape;974;g3f158a3ff39_0_25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158a3ff39_0_4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9" name="Google Shape;1129;g3f158a3ff39_0_4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0" name="Google Shape;1130;g3f158a3ff39_0_4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f158a3ff39_0_1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3f158a3ff39_0_1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g3f158a3ff39_0_1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f158a3ff39_0_1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g3f158a3ff39_0_18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3" name="Google Shape;1233;g3f158a3ff39_0_18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f176bf1a78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g3f176bf1a78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01" name="Google Shape;1301;g3f176bf1a78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f176bf1a78_0_4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9" name="Google Shape;1309;g3f176bf1a78_0_4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10" name="Google Shape;1310;g3f176bf1a78_0_4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f176bf1a78_0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9" name="Google Shape;1319;g3f176bf1a78_0_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g3f176bf1a78_0_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f158a3ff39_0_4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0" name="Google Shape;1350;g3f158a3ff39_0_49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1" name="Google Shape;1351;g3f158a3ff39_0_49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3d7337e18ce_0_16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4" name="Google Shape;1414;g3d7337e18ce_0_16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3d7337e18ce_0_16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g3d7337e18ce_0_16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2" name="Google Shape;1422;g3d7337e18ce_0_16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d7337e18ce_0_16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6" name="Google Shape;1446;g3d7337e18ce_0_164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7" name="Google Shape;1447;g3d7337e18ce_0_164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3f158a3ff39_0_23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1" name="Google Shape;1471;g3f158a3ff39_0_231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g3f158a3ff39_0_231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3f158a3ff39_0_24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0" name="Google Shape;1570;g3f158a3ff39_0_241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Now the code, line by line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def</a:t>
            </a:r>
            <a:r>
              <a:rPr lang="en">
                <a:solidFill>
                  <a:srgbClr val="14181F"/>
                </a:solidFill>
              </a:rPr>
              <a:t> </a:t>
            </a:r>
            <a:r>
              <a:rPr lang="en">
                <a:solidFill>
                  <a:srgbClr val="0051C2"/>
                </a:solidFill>
              </a:rPr>
              <a:t>generate</a:t>
            </a:r>
            <a:r>
              <a:rPr lang="en">
                <a:solidFill>
                  <a:srgbClr val="2B303B"/>
                </a:solidFill>
              </a:rPr>
              <a:t>(</a:t>
            </a:r>
            <a:r>
              <a:rPr lang="en">
                <a:solidFill>
                  <a:srgbClr val="14181F"/>
                </a:solidFill>
              </a:rPr>
              <a:t>model</a:t>
            </a:r>
            <a:r>
              <a:rPr lang="en">
                <a:solidFill>
                  <a:srgbClr val="2B303B"/>
                </a:solidFill>
              </a:rPr>
              <a:t>,</a:t>
            </a:r>
            <a:r>
              <a:rPr lang="en">
                <a:solidFill>
                  <a:srgbClr val="14181F"/>
                </a:solidFill>
              </a:rPr>
              <a:t> src</a:t>
            </a:r>
            <a:r>
              <a:rPr lang="en">
                <a:solidFill>
                  <a:srgbClr val="2B303B"/>
                </a:solidFill>
              </a:rPr>
              <a:t>,</a:t>
            </a:r>
            <a:r>
              <a:rPr lang="en">
                <a:solidFill>
                  <a:srgbClr val="14181F"/>
                </a:solidFill>
              </a:rPr>
              <a:t> max_len=</a:t>
            </a:r>
            <a:r>
              <a:rPr lang="en">
                <a:solidFill>
                  <a:srgbClr val="008080"/>
                </a:solidFill>
              </a:rPr>
              <a:t>50</a:t>
            </a:r>
            <a:r>
              <a:rPr lang="en">
                <a:solidFill>
                  <a:srgbClr val="2B303B"/>
                </a:solidFill>
              </a:rPr>
              <a:t>,</a:t>
            </a:r>
            <a:r>
              <a:rPr lang="en">
                <a:solidFill>
                  <a:srgbClr val="14181F"/>
                </a:solidFill>
              </a:rPr>
              <a:t> bos=</a:t>
            </a:r>
            <a:r>
              <a:rPr lang="en">
                <a:solidFill>
                  <a:srgbClr val="008080"/>
                </a:solidFill>
              </a:rPr>
              <a:t>1</a:t>
            </a:r>
            <a:r>
              <a:rPr lang="en">
                <a:solidFill>
                  <a:srgbClr val="2B303B"/>
                </a:solidFill>
              </a:rPr>
              <a:t>,</a:t>
            </a:r>
            <a:r>
              <a:rPr lang="en">
                <a:solidFill>
                  <a:srgbClr val="14181F"/>
                </a:solidFill>
              </a:rPr>
              <a:t> eos=</a:t>
            </a:r>
            <a:r>
              <a:rPr lang="en">
                <a:solidFill>
                  <a:srgbClr val="008080"/>
                </a:solidFill>
              </a:rPr>
              <a:t>2</a:t>
            </a:r>
            <a:r>
              <a:rPr lang="en">
                <a:solidFill>
                  <a:srgbClr val="2B303B"/>
                </a:solidFill>
              </a:rPr>
              <a:t>):</a:t>
            </a:r>
            <a:endParaRPr>
              <a:solidFill>
                <a:srgbClr val="2B303B"/>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src</a:t>
            </a:r>
            <a:r>
              <a:rPr lang="en">
                <a:solidFill>
                  <a:schemeClr val="dk1"/>
                </a:solidFill>
              </a:rPr>
              <a:t> = the source sentence (e.g. English, if translating to French). </a:t>
            </a:r>
            <a:r>
              <a:rPr lang="en">
                <a:solidFill>
                  <a:srgbClr val="188038"/>
                </a:solidFill>
                <a:latin typeface="Roboto Mono"/>
                <a:ea typeface="Roboto Mono"/>
                <a:cs typeface="Roboto Mono"/>
                <a:sym typeface="Roboto Mono"/>
              </a:rPr>
              <a:t>bos</a:t>
            </a:r>
            <a:r>
              <a:rPr lang="en">
                <a:solidFill>
                  <a:schemeClr val="dk1"/>
                </a:solidFill>
              </a:rPr>
              <a:t>/</a:t>
            </a:r>
            <a:r>
              <a:rPr lang="en">
                <a:solidFill>
                  <a:srgbClr val="188038"/>
                </a:solidFill>
                <a:latin typeface="Roboto Mono"/>
                <a:ea typeface="Roboto Mono"/>
                <a:cs typeface="Roboto Mono"/>
                <a:sym typeface="Roboto Mono"/>
              </a:rPr>
              <a:t>eos</a:t>
            </a:r>
            <a:r>
              <a:rPr lang="en">
                <a:solidFill>
                  <a:schemeClr val="dk1"/>
                </a:solidFill>
              </a:rPr>
              <a:t> are just their token IDs (1 and 2 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enc_out = model</a:t>
            </a:r>
            <a:r>
              <a:rPr lang="en">
                <a:solidFill>
                  <a:srgbClr val="2B303B"/>
                </a:solidFill>
              </a:rPr>
              <a:t>.</a:t>
            </a:r>
            <a:r>
              <a:rPr lang="en">
                <a:solidFill>
                  <a:srgbClr val="14181F"/>
                </a:solidFill>
              </a:rPr>
              <a:t>encoder</a:t>
            </a:r>
            <a:r>
              <a:rPr lang="en">
                <a:solidFill>
                  <a:srgbClr val="2B303B"/>
                </a:solidFill>
              </a:rPr>
              <a:t>(</a:t>
            </a:r>
            <a:r>
              <a:rPr lang="en">
                <a:solidFill>
                  <a:srgbClr val="14181F"/>
                </a:solidFill>
              </a:rPr>
              <a:t>src</a:t>
            </a:r>
            <a:r>
              <a:rPr lang="en">
                <a:solidFill>
                  <a:srgbClr val="2B303B"/>
                </a:solidFill>
              </a:rPr>
              <a:t>)</a:t>
            </a:r>
            <a:r>
              <a:rPr lang="en">
                <a:solidFill>
                  <a:srgbClr val="14181F"/>
                </a:solidFill>
              </a:rPr>
              <a:t>   </a:t>
            </a:r>
            <a:r>
              <a:rPr lang="en">
                <a:solidFill>
                  <a:srgbClr val="6E7687"/>
                </a:solidFill>
              </a:rPr>
              <a:t># encode source once</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Crucial detail</a:t>
            </a:r>
            <a:r>
              <a:rPr lang="en">
                <a:solidFill>
                  <a:schemeClr val="dk1"/>
                </a:solidFill>
              </a:rPr>
              <a:t>: the encoder runs </a:t>
            </a:r>
            <a:r>
              <a:rPr b="1" lang="en">
                <a:solidFill>
                  <a:schemeClr val="dk1"/>
                </a:solidFill>
              </a:rPr>
              <a:t>only once</a:t>
            </a:r>
            <a:r>
              <a:rPr lang="en">
                <a:solidFill>
                  <a:schemeClr val="dk1"/>
                </a:solidFill>
              </a:rPr>
              <a:t>, before the loop even starts. Recall cross-attention from our earlier slide — the decoder needs K, V from the encoder at every single step, but since the source sentence never changes, there's no need to recompute </a:t>
            </a:r>
            <a:r>
              <a:rPr lang="en">
                <a:solidFill>
                  <a:srgbClr val="188038"/>
                </a:solidFill>
                <a:latin typeface="Roboto Mono"/>
                <a:ea typeface="Roboto Mono"/>
                <a:cs typeface="Roboto Mono"/>
                <a:sym typeface="Roboto Mono"/>
              </a:rPr>
              <a:t>enc_out</a:t>
            </a:r>
            <a:r>
              <a:rPr lang="en">
                <a:solidFill>
                  <a:schemeClr val="dk1"/>
                </a:solidFill>
              </a:rPr>
              <a:t> repeatedly. This is a major efficiency win.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tgt = torch</a:t>
            </a:r>
            <a:r>
              <a:rPr lang="en">
                <a:solidFill>
                  <a:srgbClr val="2B303B"/>
                </a:solidFill>
              </a:rPr>
              <a:t>.</a:t>
            </a:r>
            <a:r>
              <a:rPr lang="en">
                <a:solidFill>
                  <a:srgbClr val="14181F"/>
                </a:solidFill>
              </a:rPr>
              <a:t>tensor</a:t>
            </a:r>
            <a:r>
              <a:rPr lang="en">
                <a:solidFill>
                  <a:srgbClr val="2B303B"/>
                </a:solidFill>
              </a:rPr>
              <a:t>([[</a:t>
            </a:r>
            <a:r>
              <a:rPr lang="en">
                <a:solidFill>
                  <a:srgbClr val="14181F"/>
                </a:solidFill>
              </a:rPr>
              <a:t>bos</a:t>
            </a:r>
            <a:r>
              <a:rPr lang="en">
                <a:solidFill>
                  <a:srgbClr val="2B303B"/>
                </a:solidFill>
              </a:rPr>
              <a:t>]])</a:t>
            </a:r>
            <a:r>
              <a:rPr lang="en">
                <a:solidFill>
                  <a:srgbClr val="14181F"/>
                </a:solidFill>
              </a:rPr>
              <a:t>   </a:t>
            </a:r>
            <a:r>
              <a:rPr lang="en">
                <a:solidFill>
                  <a:srgbClr val="6E7687"/>
                </a:solidFill>
              </a:rPr>
              <a:t># start with &lt;BOS&gt;</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Step 1 — the target sequence starts as just </a:t>
            </a:r>
            <a:r>
              <a:rPr lang="en">
                <a:solidFill>
                  <a:srgbClr val="188038"/>
                </a:solidFill>
                <a:latin typeface="Roboto Mono"/>
                <a:ea typeface="Roboto Mono"/>
                <a:cs typeface="Roboto Mono"/>
                <a:sym typeface="Roboto Mono"/>
              </a:rPr>
              <a:t>[&lt;BOS&gt;]</a:t>
            </a:r>
            <a:r>
              <a:rPr lang="en">
                <a:solidFill>
                  <a:schemeClr val="dk1"/>
                </a:solidFill>
              </a:rPr>
              <a:t>, a tensor of length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for</a:t>
            </a:r>
            <a:r>
              <a:rPr lang="en">
                <a:solidFill>
                  <a:srgbClr val="14181F"/>
                </a:solidFill>
              </a:rPr>
              <a:t> _ </a:t>
            </a:r>
            <a:r>
              <a:rPr lang="en">
                <a:solidFill>
                  <a:srgbClr val="8100C2"/>
                </a:solidFill>
              </a:rPr>
              <a:t>in</a:t>
            </a:r>
            <a:r>
              <a:rPr lang="en">
                <a:solidFill>
                  <a:srgbClr val="14181F"/>
                </a:solidFill>
              </a:rPr>
              <a:t> </a:t>
            </a:r>
            <a:r>
              <a:rPr lang="en">
                <a:solidFill>
                  <a:srgbClr val="B34A00"/>
                </a:solidFill>
              </a:rPr>
              <a:t>range</a:t>
            </a:r>
            <a:r>
              <a:rPr lang="en">
                <a:solidFill>
                  <a:srgbClr val="2B303B"/>
                </a:solidFill>
              </a:rPr>
              <a:t>(</a:t>
            </a:r>
            <a:r>
              <a:rPr lang="en">
                <a:solidFill>
                  <a:srgbClr val="14181F"/>
                </a:solidFill>
              </a:rPr>
              <a:t>max_len</a:t>
            </a:r>
            <a:r>
              <a:rPr lang="en">
                <a:solidFill>
                  <a:srgbClr val="2B303B"/>
                </a:solidFill>
              </a:rPr>
              <a:t>):</a:t>
            </a:r>
            <a:endParaRPr>
              <a:solidFill>
                <a:srgbClr val="2B303B"/>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a:t>
            </a:r>
            <a:r>
              <a:rPr b="1" lang="en">
                <a:solidFill>
                  <a:schemeClr val="dk1"/>
                </a:solidFill>
              </a:rPr>
              <a:t>autoregressive loop</a:t>
            </a:r>
            <a:r>
              <a:rPr lang="en">
                <a:solidFill>
                  <a:schemeClr val="dk1"/>
                </a:solidFill>
              </a:rPr>
              <a:t> — runs once per generated token, up to </a:t>
            </a:r>
            <a:r>
              <a:rPr lang="en">
                <a:solidFill>
                  <a:srgbClr val="188038"/>
                </a:solidFill>
                <a:latin typeface="Roboto Mono"/>
                <a:ea typeface="Roboto Mono"/>
                <a:cs typeface="Roboto Mono"/>
                <a:sym typeface="Roboto Mono"/>
              </a:rPr>
              <a:t>max_len</a:t>
            </a:r>
            <a:r>
              <a:rPr lang="en">
                <a:solidFill>
                  <a:schemeClr val="dk1"/>
                </a:solidFill>
              </a:rPr>
              <a:t> times.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mask = causal_mask</a:t>
            </a:r>
            <a:r>
              <a:rPr lang="en">
                <a:solidFill>
                  <a:srgbClr val="2B303B"/>
                </a:solidFill>
              </a:rPr>
              <a:t>(</a:t>
            </a:r>
            <a:r>
              <a:rPr lang="en">
                <a:solidFill>
                  <a:srgbClr val="14181F"/>
                </a:solidFill>
              </a:rPr>
              <a:t>tgt</a:t>
            </a:r>
            <a:r>
              <a:rPr lang="en">
                <a:solidFill>
                  <a:srgbClr val="2B303B"/>
                </a:solidFill>
              </a:rPr>
              <a:t>.</a:t>
            </a:r>
            <a:r>
              <a:rPr lang="en">
                <a:solidFill>
                  <a:srgbClr val="14181F"/>
                </a:solidFill>
              </a:rPr>
              <a:t>size</a:t>
            </a:r>
            <a:r>
              <a:rPr lang="en">
                <a:solidFill>
                  <a:srgbClr val="2B303B"/>
                </a:solidFill>
              </a:rPr>
              <a:t>(</a:t>
            </a:r>
            <a:r>
              <a:rPr lang="en">
                <a:solidFill>
                  <a:srgbClr val="008080"/>
                </a:solidFill>
              </a:rPr>
              <a:t>1</a:t>
            </a:r>
            <a:r>
              <a:rPr lang="en">
                <a:solidFill>
                  <a:srgbClr val="2B303B"/>
                </a:solidFill>
              </a:rPr>
              <a:t>))</a:t>
            </a:r>
            <a:r>
              <a:rPr lang="en">
                <a:solidFill>
                  <a:srgbClr val="14181F"/>
                </a:solidFill>
              </a:rPr>
              <a:t>   </a:t>
            </a:r>
            <a:r>
              <a:rPr lang="en">
                <a:solidFill>
                  <a:srgbClr val="6E7687"/>
                </a:solidFill>
              </a:rPr>
              <a:t># rebuild mask each step</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Since </a:t>
            </a:r>
            <a:r>
              <a:rPr lang="en">
                <a:solidFill>
                  <a:srgbClr val="188038"/>
                </a:solidFill>
                <a:latin typeface="Roboto Mono"/>
                <a:ea typeface="Roboto Mono"/>
                <a:cs typeface="Roboto Mono"/>
                <a:sym typeface="Roboto Mono"/>
              </a:rPr>
              <a:t>tgt</a:t>
            </a:r>
            <a:r>
              <a:rPr lang="en">
                <a:solidFill>
                  <a:schemeClr val="dk1"/>
                </a:solidFill>
              </a:rPr>
              <a:t> grows by one token each iteration, the causal mask (which prevents looking ahead) must be </a:t>
            </a:r>
            <a:r>
              <a:rPr b="1" lang="en">
                <a:solidFill>
                  <a:schemeClr val="dk1"/>
                </a:solidFill>
              </a:rPr>
              <a:t>rebuilt</a:t>
            </a:r>
            <a:r>
              <a:rPr lang="en">
                <a:solidFill>
                  <a:schemeClr val="dk1"/>
                </a:solidFill>
              </a:rPr>
              <a:t> at the new, larger size each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logits = model</a:t>
            </a:r>
            <a:r>
              <a:rPr lang="en">
                <a:solidFill>
                  <a:srgbClr val="2B303B"/>
                </a:solidFill>
              </a:rPr>
              <a:t>.</a:t>
            </a:r>
            <a:r>
              <a:rPr lang="en">
                <a:solidFill>
                  <a:srgbClr val="14181F"/>
                </a:solidFill>
              </a:rPr>
              <a:t>decoder</a:t>
            </a:r>
            <a:r>
              <a:rPr lang="en">
                <a:solidFill>
                  <a:srgbClr val="2B303B"/>
                </a:solidFill>
              </a:rPr>
              <a:t>(</a:t>
            </a:r>
            <a:r>
              <a:rPr lang="en">
                <a:solidFill>
                  <a:srgbClr val="14181F"/>
                </a:solidFill>
              </a:rPr>
              <a:t>tgt</a:t>
            </a:r>
            <a:r>
              <a:rPr lang="en">
                <a:solidFill>
                  <a:srgbClr val="2B303B"/>
                </a:solidFill>
              </a:rPr>
              <a:t>,</a:t>
            </a:r>
            <a:r>
              <a:rPr lang="en">
                <a:solidFill>
                  <a:srgbClr val="14181F"/>
                </a:solidFill>
              </a:rPr>
              <a:t> enc_out</a:t>
            </a:r>
            <a:r>
              <a:rPr lang="en">
                <a:solidFill>
                  <a:srgbClr val="2B303B"/>
                </a:solidFill>
              </a:rPr>
              <a:t>,</a:t>
            </a:r>
            <a:r>
              <a:rPr lang="en">
                <a:solidFill>
                  <a:srgbClr val="14181F"/>
                </a:solidFill>
              </a:rPr>
              <a:t> mask</a:t>
            </a:r>
            <a:r>
              <a:rPr lang="en">
                <a:solidFill>
                  <a:srgbClr val="2B303B"/>
                </a:solidFill>
              </a:rPr>
              <a:t>)[:,</a:t>
            </a:r>
            <a:r>
              <a:rPr lang="en">
                <a:solidFill>
                  <a:srgbClr val="14181F"/>
                </a:solidFill>
              </a:rPr>
              <a:t> -</a:t>
            </a:r>
            <a:r>
              <a:rPr lang="en">
                <a:solidFill>
                  <a:srgbClr val="008080"/>
                </a:solidFill>
              </a:rPr>
              <a:t>1</a:t>
            </a:r>
            <a:r>
              <a:rPr lang="en">
                <a:solidFill>
                  <a:srgbClr val="2B303B"/>
                </a:solidFill>
              </a:rPr>
              <a:t>,</a:t>
            </a:r>
            <a:r>
              <a:rPr lang="en">
                <a:solidFill>
                  <a:srgbClr val="14181F"/>
                </a:solidFill>
              </a:rPr>
              <a:t> </a:t>
            </a:r>
            <a:r>
              <a:rPr lang="en">
                <a:solidFill>
                  <a:srgbClr val="2B303B"/>
                </a:solidFill>
              </a:rPr>
              <a:t>:]</a:t>
            </a:r>
            <a:endParaRPr>
              <a:solidFill>
                <a:srgbClr val="2B303B"/>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runs </a:t>
            </a:r>
            <a:r>
              <a:rPr b="1" lang="en">
                <a:solidFill>
                  <a:schemeClr val="dk1"/>
                </a:solidFill>
              </a:rPr>
              <a:t>Step 2 (forward pass)</a:t>
            </a:r>
            <a:r>
              <a:rPr lang="en">
                <a:solidFill>
                  <a:schemeClr val="dk1"/>
                </a:solidFill>
              </a:rPr>
              <a:t>. The decoder takes the current </a:t>
            </a:r>
            <a:r>
              <a:rPr lang="en">
                <a:solidFill>
                  <a:srgbClr val="188038"/>
                </a:solidFill>
                <a:latin typeface="Roboto Mono"/>
                <a:ea typeface="Roboto Mono"/>
                <a:cs typeface="Roboto Mono"/>
                <a:sym typeface="Roboto Mono"/>
              </a:rPr>
              <a:t>tgt</a:t>
            </a:r>
            <a:r>
              <a:rPr lang="en">
                <a:solidFill>
                  <a:schemeClr val="dk1"/>
                </a:solidFill>
              </a:rPr>
              <a:t> sequence-so-far plus the encoder output, and produces logits for </a:t>
            </a:r>
            <a:r>
              <a:rPr i="1" lang="en">
                <a:solidFill>
                  <a:schemeClr val="dk1"/>
                </a:solidFill>
              </a:rPr>
              <a:t>every</a:t>
            </a:r>
            <a:r>
              <a:rPr lang="en">
                <a:solidFill>
                  <a:schemeClr val="dk1"/>
                </a:solidFill>
              </a:rPr>
              <a:t> position. </a:t>
            </a:r>
            <a:r>
              <a:rPr lang="en">
                <a:solidFill>
                  <a:srgbClr val="188038"/>
                </a:solidFill>
                <a:latin typeface="Roboto Mono"/>
                <a:ea typeface="Roboto Mono"/>
                <a:cs typeface="Roboto Mono"/>
                <a:sym typeface="Roboto Mono"/>
              </a:rPr>
              <a:t>[:, -1, :]</a:t>
            </a:r>
            <a:r>
              <a:rPr lang="en">
                <a:solidFill>
                  <a:schemeClr val="dk1"/>
                </a:solidFill>
              </a:rPr>
              <a:t> slices out </a:t>
            </a:r>
            <a:r>
              <a:rPr b="1" lang="en">
                <a:solidFill>
                  <a:schemeClr val="dk1"/>
                </a:solidFill>
              </a:rPr>
              <a:t>only the last position</a:t>
            </a:r>
            <a:r>
              <a:rPr lang="en">
                <a:solidFill>
                  <a:schemeClr val="dk1"/>
                </a:solidFill>
              </a:rPr>
              <a:t> — because that's the one representing "what comes next," the rest are already-generated tokens we don't need new predictions for.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next_tok = logits</a:t>
            </a:r>
            <a:r>
              <a:rPr lang="en">
                <a:solidFill>
                  <a:srgbClr val="2B303B"/>
                </a:solidFill>
              </a:rPr>
              <a:t>.</a:t>
            </a:r>
            <a:r>
              <a:rPr lang="en">
                <a:solidFill>
                  <a:srgbClr val="14181F"/>
                </a:solidFill>
              </a:rPr>
              <a:t>argmax</a:t>
            </a:r>
            <a:r>
              <a:rPr lang="en">
                <a:solidFill>
                  <a:srgbClr val="2B303B"/>
                </a:solidFill>
              </a:rPr>
              <a:t>(</a:t>
            </a:r>
            <a:r>
              <a:rPr lang="en">
                <a:solidFill>
                  <a:srgbClr val="14181F"/>
                </a:solidFill>
              </a:rPr>
              <a:t>dim=-</a:t>
            </a:r>
            <a:r>
              <a:rPr lang="en">
                <a:solidFill>
                  <a:srgbClr val="008080"/>
                </a:solidFill>
              </a:rPr>
              <a:t>1</a:t>
            </a:r>
            <a:r>
              <a:rPr lang="en">
                <a:solidFill>
                  <a:srgbClr val="2B303B"/>
                </a:solidFill>
              </a:rPr>
              <a:t>).</a:t>
            </a:r>
            <a:r>
              <a:rPr lang="en">
                <a:solidFill>
                  <a:srgbClr val="14181F"/>
                </a:solidFill>
              </a:rPr>
              <a:t>unsqueeze</a:t>
            </a:r>
            <a:r>
              <a:rPr lang="en">
                <a:solidFill>
                  <a:srgbClr val="2B303B"/>
                </a:solidFill>
              </a:rPr>
              <a:t>(</a:t>
            </a:r>
            <a:r>
              <a:rPr lang="en">
                <a:solidFill>
                  <a:srgbClr val="008080"/>
                </a:solidFill>
              </a:rPr>
              <a:t>0</a:t>
            </a:r>
            <a:r>
              <a:rPr lang="en">
                <a:solidFill>
                  <a:srgbClr val="2B303B"/>
                </a:solidFill>
              </a:rPr>
              <a:t>)</a:t>
            </a:r>
            <a:r>
              <a:rPr lang="en">
                <a:solidFill>
                  <a:srgbClr val="14181F"/>
                </a:solidFill>
              </a:rPr>
              <a:t>   </a:t>
            </a:r>
            <a:r>
              <a:rPr lang="en">
                <a:solidFill>
                  <a:srgbClr val="6E7687"/>
                </a:solidFill>
              </a:rPr>
              <a:t># greedy decode</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a:t>
            </a:r>
            <a:r>
              <a:rPr b="1" lang="en">
                <a:solidFill>
                  <a:schemeClr val="dk1"/>
                </a:solidFill>
              </a:rPr>
              <a:t>Steps 3 &amp; 4 combined</a:t>
            </a:r>
            <a:r>
              <a:rPr lang="en">
                <a:solidFill>
                  <a:schemeClr val="dk1"/>
                </a:solidFill>
              </a:rPr>
              <a:t> — implicitly applies softmax's ranking (argmax of logits = argmax of softmax, since softmax is monotonic) and picks the single most likely next token, greedily.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4181F"/>
                </a:solidFill>
              </a:rPr>
              <a:t>tgt = torch</a:t>
            </a:r>
            <a:r>
              <a:rPr lang="en">
                <a:solidFill>
                  <a:srgbClr val="2B303B"/>
                </a:solidFill>
              </a:rPr>
              <a:t>.</a:t>
            </a:r>
            <a:r>
              <a:rPr lang="en">
                <a:solidFill>
                  <a:srgbClr val="14181F"/>
                </a:solidFill>
              </a:rPr>
              <a:t>cat</a:t>
            </a:r>
            <a:r>
              <a:rPr lang="en">
                <a:solidFill>
                  <a:srgbClr val="2B303B"/>
                </a:solidFill>
              </a:rPr>
              <a:t>([</a:t>
            </a:r>
            <a:r>
              <a:rPr lang="en">
                <a:solidFill>
                  <a:srgbClr val="14181F"/>
                </a:solidFill>
              </a:rPr>
              <a:t>tgt</a:t>
            </a:r>
            <a:r>
              <a:rPr lang="en">
                <a:solidFill>
                  <a:srgbClr val="2B303B"/>
                </a:solidFill>
              </a:rPr>
              <a:t>,</a:t>
            </a:r>
            <a:r>
              <a:rPr lang="en">
                <a:solidFill>
                  <a:srgbClr val="14181F"/>
                </a:solidFill>
              </a:rPr>
              <a:t> next_tok</a:t>
            </a:r>
            <a:r>
              <a:rPr lang="en">
                <a:solidFill>
                  <a:srgbClr val="2B303B"/>
                </a:solidFill>
              </a:rPr>
              <a:t>],</a:t>
            </a:r>
            <a:r>
              <a:rPr lang="en">
                <a:solidFill>
                  <a:srgbClr val="14181F"/>
                </a:solidFill>
              </a:rPr>
              <a:t> dim=-</a:t>
            </a:r>
            <a:r>
              <a:rPr lang="en">
                <a:solidFill>
                  <a:srgbClr val="008080"/>
                </a:solidFill>
              </a:rPr>
              <a:t>1</a:t>
            </a:r>
            <a:r>
              <a:rPr lang="en">
                <a:solidFill>
                  <a:srgbClr val="2B303B"/>
                </a:solidFill>
              </a:rPr>
              <a:t>)</a:t>
            </a:r>
            <a:r>
              <a:rPr lang="en">
                <a:solidFill>
                  <a:srgbClr val="14181F"/>
                </a:solidFill>
              </a:rPr>
              <a:t>   </a:t>
            </a:r>
            <a:r>
              <a:rPr lang="en">
                <a:solidFill>
                  <a:srgbClr val="6E7687"/>
                </a:solidFill>
              </a:rPr>
              <a:t># append token</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a:t>
            </a:r>
            <a:r>
              <a:rPr b="1" lang="en">
                <a:solidFill>
                  <a:schemeClr val="dk1"/>
                </a:solidFill>
              </a:rPr>
              <a:t>Step 5</a:t>
            </a:r>
            <a:r>
              <a:rPr lang="en">
                <a:solidFill>
                  <a:schemeClr val="dk1"/>
                </a:solidFill>
              </a:rPr>
              <a:t> — the new token gets concatenated onto </a:t>
            </a:r>
            <a:r>
              <a:rPr lang="en">
                <a:solidFill>
                  <a:srgbClr val="188038"/>
                </a:solidFill>
                <a:latin typeface="Roboto Mono"/>
                <a:ea typeface="Roboto Mono"/>
                <a:cs typeface="Roboto Mono"/>
                <a:sym typeface="Roboto Mono"/>
              </a:rPr>
              <a:t>tgt</a:t>
            </a:r>
            <a:r>
              <a:rPr lang="en">
                <a:solidFill>
                  <a:schemeClr val="dk1"/>
                </a:solidFill>
              </a:rPr>
              <a:t>, growing the sequence by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if</a:t>
            </a:r>
            <a:r>
              <a:rPr lang="en">
                <a:solidFill>
                  <a:srgbClr val="14181F"/>
                </a:solidFill>
              </a:rPr>
              <a:t> next_tok</a:t>
            </a:r>
            <a:r>
              <a:rPr lang="en">
                <a:solidFill>
                  <a:srgbClr val="2B303B"/>
                </a:solidFill>
              </a:rPr>
              <a:t>.</a:t>
            </a:r>
            <a:r>
              <a:rPr lang="en">
                <a:solidFill>
                  <a:srgbClr val="14181F"/>
                </a:solidFill>
              </a:rPr>
              <a:t>item</a:t>
            </a:r>
            <a:r>
              <a:rPr lang="en">
                <a:solidFill>
                  <a:srgbClr val="2B303B"/>
                </a:solidFill>
              </a:rPr>
              <a:t>()</a:t>
            </a:r>
            <a:r>
              <a:rPr lang="en">
                <a:solidFill>
                  <a:srgbClr val="14181F"/>
                </a:solidFill>
              </a:rPr>
              <a:t> == eos</a:t>
            </a:r>
            <a:r>
              <a:rPr lang="en">
                <a:solidFill>
                  <a:srgbClr val="2B303B"/>
                </a:solidFill>
              </a:rPr>
              <a:t>:</a:t>
            </a:r>
            <a:r>
              <a:rPr lang="en">
                <a:solidFill>
                  <a:srgbClr val="14181F"/>
                </a:solidFill>
              </a:rPr>
              <a:t> </a:t>
            </a:r>
            <a:r>
              <a:rPr lang="en">
                <a:solidFill>
                  <a:srgbClr val="8100C2"/>
                </a:solidFill>
              </a:rPr>
              <a:t>break</a:t>
            </a:r>
            <a:r>
              <a:rPr lang="en">
                <a:solidFill>
                  <a:srgbClr val="14181F"/>
                </a:solidFill>
              </a:rPr>
              <a:t>   </a:t>
            </a:r>
            <a:r>
              <a:rPr lang="en">
                <a:solidFill>
                  <a:srgbClr val="6E7687"/>
                </a:solidFill>
              </a:rPr>
              <a:t># stop at &lt;EOS&gt;</a:t>
            </a:r>
            <a:endParaRPr>
              <a:solidFill>
                <a:srgbClr val="6E7687"/>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a:t>
            </a:r>
            <a:r>
              <a:rPr b="1" lang="en">
                <a:solidFill>
                  <a:schemeClr val="dk1"/>
                </a:solidFill>
              </a:rPr>
              <a:t>Step 6</a:t>
            </a:r>
            <a:r>
              <a:rPr lang="en">
                <a:solidFill>
                  <a:schemeClr val="dk1"/>
                </a:solidFill>
              </a:rPr>
              <a:t> — if the model just generated the </a:t>
            </a:r>
            <a:r>
              <a:rPr lang="en">
                <a:solidFill>
                  <a:srgbClr val="188038"/>
                </a:solidFill>
                <a:latin typeface="Roboto Mono"/>
                <a:ea typeface="Roboto Mono"/>
                <a:cs typeface="Roboto Mono"/>
                <a:sym typeface="Roboto Mono"/>
              </a:rPr>
              <a:t>&lt;EOS&gt;</a:t>
            </a:r>
            <a:r>
              <a:rPr lang="en">
                <a:solidFill>
                  <a:schemeClr val="dk1"/>
                </a:solidFill>
              </a:rPr>
              <a:t> token, stop early instead of running all </a:t>
            </a:r>
            <a:r>
              <a:rPr lang="en">
                <a:solidFill>
                  <a:srgbClr val="188038"/>
                </a:solidFill>
                <a:latin typeface="Roboto Mono"/>
                <a:ea typeface="Roboto Mono"/>
                <a:cs typeface="Roboto Mono"/>
                <a:sym typeface="Roboto Mono"/>
              </a:rPr>
              <a:t>max_len</a:t>
            </a:r>
            <a:r>
              <a:rPr lang="en">
                <a:solidFill>
                  <a:schemeClr val="dk1"/>
                </a:solidFill>
              </a:rPr>
              <a:t> iterations.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python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8100C2"/>
                </a:solidFill>
              </a:rPr>
              <a:t>return</a:t>
            </a:r>
            <a:r>
              <a:rPr lang="en">
                <a:solidFill>
                  <a:srgbClr val="14181F"/>
                </a:solidFill>
              </a:rPr>
              <a:t> tgt</a:t>
            </a:r>
            <a:endParaRPr>
              <a:solidFill>
                <a:srgbClr val="14181F"/>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the loop ends (either by </a:t>
            </a:r>
            <a:r>
              <a:rPr lang="en">
                <a:solidFill>
                  <a:srgbClr val="188038"/>
                </a:solidFill>
                <a:latin typeface="Roboto Mono"/>
                <a:ea typeface="Roboto Mono"/>
                <a:cs typeface="Roboto Mono"/>
                <a:sym typeface="Roboto Mono"/>
              </a:rPr>
              <a:t>&lt;EOS&gt;</a:t>
            </a:r>
            <a:r>
              <a:rPr lang="en">
                <a:solidFill>
                  <a:schemeClr val="dk1"/>
                </a:solidFill>
              </a:rPr>
              <a:t> or hitting </a:t>
            </a:r>
            <a:r>
              <a:rPr lang="en">
                <a:solidFill>
                  <a:srgbClr val="188038"/>
                </a:solidFill>
                <a:latin typeface="Roboto Mono"/>
                <a:ea typeface="Roboto Mono"/>
                <a:cs typeface="Roboto Mono"/>
                <a:sym typeface="Roboto Mono"/>
              </a:rPr>
              <a:t>max_len</a:t>
            </a:r>
            <a:r>
              <a:rPr lang="en">
                <a:solidFill>
                  <a:schemeClr val="dk1"/>
                </a:solidFill>
              </a:rPr>
              <a:t>), return the full generated sequence.</a:t>
            </a:r>
            <a:endParaRPr>
              <a:solidFill>
                <a:schemeClr val="dk1"/>
              </a:solidFill>
            </a:endParaRPr>
          </a:p>
          <a:p>
            <a:pPr indent="0" lvl="0" marL="0" rtl="0" algn="l">
              <a:spcBef>
                <a:spcPts val="1200"/>
              </a:spcBef>
              <a:spcAft>
                <a:spcPts val="0"/>
              </a:spcAft>
              <a:buNone/>
            </a:pPr>
            <a:r>
              <a:t/>
            </a:r>
            <a:endParaRPr/>
          </a:p>
        </p:txBody>
      </p:sp>
      <p:sp>
        <p:nvSpPr>
          <p:cNvPr id="1571" name="Google Shape;1571;g3f158a3ff39_0_241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3d7337e18ce_0_16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5" name="Google Shape;1605;g3d7337e18ce_0_167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6" name="Google Shape;1606;g3d7337e18ce_0_167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3d7337e18ce_0_17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g3d7337e18ce_0_17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6" name="Google Shape;1626;g3d7337e18ce_0_17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3d7337e18ce_0_17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6" name="Google Shape;1646;g3d7337e18ce_0_178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647" name="Google Shape;1647;g3d7337e18ce_0_178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g3f158a3ff39_0_28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8" name="Google Shape;1678;g3f158a3ff39_0_288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9" name="Google Shape;1679;g3f158a3ff39_0_288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g3f158a3ff39_0_24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1" name="Google Shape;1711;g3f158a3ff39_0_245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2" name="Google Shape;1712;g3f158a3ff39_0_245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f158a3ff39_0_25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7" name="Google Shape;1757;g3f158a3ff39_0_250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8" name="Google Shape;1758;g3f158a3ff39_0_250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g3f14d486b0b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4" name="Google Shape;1804;g3f14d486b0b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5" name="Google Shape;1805;g3f14d486b0b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3f14d486b0b_0_3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5" name="Google Shape;1835;g3f14d486b0b_0_3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6" name="Google Shape;1836;g3f14d486b0b_0_3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g3f14d486b0b_0_11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0" name="Google Shape;1860;g3f14d486b0b_0_11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1" name="Google Shape;1861;g3f14d486b0b_0_11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g3f14d486b0b_0_15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g3f14d486b0b_0_15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g3f14d486b0b_0_15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3f158a3ff39_0_28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1" name="Google Shape;1921;g3f158a3ff39_0_28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2" name="Google Shape;1922;g3f158a3ff39_0_28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3f14d486b0b_0_5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8" name="Google Shape;1968;g3f14d486b0b_0_5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9" name="Google Shape;1969;g3f14d486b0b_0_5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3f14d486b0b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g3f14d486b0b_0_9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0" name="Google Shape;2000;g3f14d486b0b_0_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3f14d486b0b_0_17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4" name="Google Shape;2024;g3f14d486b0b_0_17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5" name="Google Shape;2025;g3f14d486b0b_0_17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g3f176bf1a78_0_19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4" name="Google Shape;2034;g3f176bf1a78_0_19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35" name="Google Shape;2035;g3f176bf1a78_0_19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g3f176bf1a78_0_24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3" name="Google Shape;2043;g3f176bf1a78_0_24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44" name="Google Shape;2044;g3f176bf1a78_0_24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g3f176bf1a78_0_2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3" name="Google Shape;2053;g3f176bf1a78_0_21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4" name="Google Shape;2054;g3f176bf1a78_0_21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2" name="Shape 2082"/>
        <p:cNvGrpSpPr/>
        <p:nvPr/>
      </p:nvGrpSpPr>
      <p:grpSpPr>
        <a:xfrm>
          <a:off x="0" y="0"/>
          <a:ext cx="0" cy="0"/>
          <a:chOff x="0" y="0"/>
          <a:chExt cx="0" cy="0"/>
        </a:xfrm>
      </p:grpSpPr>
      <p:sp>
        <p:nvSpPr>
          <p:cNvPr id="2083" name="Google Shape;2083;g3f158a3ff39_0_25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4" name="Google Shape;2084;g3f158a3ff39_0_254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5" name="Google Shape;2085;g3f158a3ff39_0_254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g3f158a3ff39_0_258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1" name="Google Shape;2121;g3f158a3ff39_0_258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Their practical rule of thumb was close to 20 training tokens per model parameter for compute-optimal training.</a:t>
            </a:r>
            <a:endParaRPr/>
          </a:p>
          <a:p>
            <a:pPr indent="0" lvl="0" marL="0" rtl="0" algn="l">
              <a:lnSpc>
                <a:spcPct val="115000"/>
              </a:lnSpc>
              <a:spcBef>
                <a:spcPts val="1200"/>
              </a:spcBef>
              <a:spcAft>
                <a:spcPts val="0"/>
              </a:spcAft>
              <a:buClr>
                <a:schemeClr val="dk1"/>
              </a:buClr>
              <a:buSzPts val="1100"/>
              <a:buFont typeface="Arial"/>
              <a:buNone/>
            </a:pPr>
            <a:r>
              <a:rPr lang="en"/>
              <a:t>The result that made this famous: their own Chinchilla model, 70B parameters trained on 1.4 trillion tokens, outperformed DeepMind's own earlier Gopher model (280B parameters, ~300B tokens) — a 4x smaller model beating a much larger one, using the same total training compute, simply by giving it proportionally far more data instead.</a:t>
            </a:r>
            <a:endParaRPr/>
          </a:p>
          <a:p>
            <a:pPr indent="0" lvl="0" marL="0" rtl="0" algn="l">
              <a:spcBef>
                <a:spcPts val="1200"/>
              </a:spcBef>
              <a:spcAft>
                <a:spcPts val="0"/>
              </a:spcAft>
              <a:buNone/>
            </a:pPr>
            <a:r>
              <a:t/>
            </a:r>
            <a:endParaRPr/>
          </a:p>
        </p:txBody>
      </p:sp>
      <p:sp>
        <p:nvSpPr>
          <p:cNvPr id="2122" name="Google Shape;2122;g3f158a3ff39_0_258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g3d7337e18ce_0_2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3" name="Google Shape;2153;g3d7337e18ce_0_2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0" name="Shape 50"/>
        <p:cNvGrpSpPr/>
        <p:nvPr/>
      </p:nvGrpSpPr>
      <p:grpSpPr>
        <a:xfrm>
          <a:off x="0" y="0"/>
          <a:ext cx="0" cy="0"/>
          <a:chOff x="0" y="0"/>
          <a:chExt cx="0" cy="0"/>
        </a:xfrm>
      </p:grpSpPr>
      <p:sp>
        <p:nvSpPr>
          <p:cNvPr id="51" name="Google Shape;51;p13"/>
          <p:cNvSpPr txBox="1"/>
          <p:nvPr>
            <p:ph type="title"/>
          </p:nvPr>
        </p:nvSpPr>
        <p:spPr>
          <a:xfrm>
            <a:off x="700118" y="443102"/>
            <a:ext cx="7318500" cy="567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600">
                <a:solidFill>
                  <a:srgbClr val="002060"/>
                </a:solidFill>
                <a:latin typeface="Times New Roman"/>
                <a:ea typeface="Times New Roman"/>
                <a:cs typeface="Times New Roman"/>
                <a:sym typeface="Times New Rom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9" name="Google Shape;59;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62" name="Shape 6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
    <p:bg>
      <p:bgPr>
        <a:solidFill>
          <a:schemeClr val="lt1"/>
        </a:solidFill>
      </p:bgPr>
    </p:bg>
    <p:spTree>
      <p:nvGrpSpPr>
        <p:cNvPr id="63" name="Shape 63"/>
        <p:cNvGrpSpPr/>
        <p:nvPr/>
      </p:nvGrpSpPr>
      <p:grpSpPr>
        <a:xfrm>
          <a:off x="0" y="0"/>
          <a:ext cx="0" cy="0"/>
          <a:chOff x="0" y="0"/>
          <a:chExt cx="0" cy="0"/>
        </a:xfrm>
      </p:grpSpPr>
      <p:sp>
        <p:nvSpPr>
          <p:cNvPr id="64" name="Google Shape;64;p1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7"/>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4.jpg"/><Relationship Id="rId5" Type="http://schemas.openxmlformats.org/officeDocument/2006/relationships/image" Target="../media/image6.jp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0.jp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11.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38.png"/><Relationship Id="rId6"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2.jpg"/><Relationship Id="rId4" Type="http://schemas.openxmlformats.org/officeDocument/2006/relationships/image" Target="../media/image10.jpg"/><Relationship Id="rId5"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2.jp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jpg"/><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2.jpg"/><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4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2.jp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2.jp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1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2.jpg"/><Relationship Id="rId4" Type="http://schemas.openxmlformats.org/officeDocument/2006/relationships/image" Target="../media/image9.png"/><Relationship Id="rId9" Type="http://schemas.openxmlformats.org/officeDocument/2006/relationships/image" Target="../media/image41.png"/><Relationship Id="rId5" Type="http://schemas.openxmlformats.org/officeDocument/2006/relationships/image" Target="../media/image35.jpg"/><Relationship Id="rId6" Type="http://schemas.openxmlformats.org/officeDocument/2006/relationships/image" Target="../media/image37.png"/><Relationship Id="rId7" Type="http://schemas.openxmlformats.org/officeDocument/2006/relationships/image" Target="../media/image34.jpg"/><Relationship Id="rId8"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
        <p:nvSpPr>
          <p:cNvPr id="71" name="Google Shape;71;p18"/>
          <p:cNvSpPr txBox="1"/>
          <p:nvPr/>
        </p:nvSpPr>
        <p:spPr>
          <a:xfrm>
            <a:off x="685800" y="82600"/>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b="1" lang="en" sz="4400">
                <a:solidFill>
                  <a:srgbClr val="C00000"/>
                </a:solidFill>
                <a:latin typeface="Calibri"/>
                <a:ea typeface="Calibri"/>
                <a:cs typeface="Calibri"/>
                <a:sym typeface="Calibri"/>
              </a:rPr>
              <a:t>The Transformer Architecture &amp; Decoding</a:t>
            </a:r>
            <a:endParaRPr b="1" sz="4400">
              <a:solidFill>
                <a:srgbClr val="C00000"/>
              </a:solidFill>
              <a:latin typeface="Calibri"/>
              <a:ea typeface="Calibri"/>
              <a:cs typeface="Calibri"/>
              <a:sym typeface="Calibri"/>
            </a:endParaRPr>
          </a:p>
        </p:txBody>
      </p:sp>
      <p:sp>
        <p:nvSpPr>
          <p:cNvPr id="72" name="Google Shape;72;p18"/>
          <p:cNvSpPr txBox="1"/>
          <p:nvPr/>
        </p:nvSpPr>
        <p:spPr>
          <a:xfrm>
            <a:off x="1371600" y="1552600"/>
            <a:ext cx="6400800" cy="1470000"/>
          </a:xfrm>
          <a:prstGeom prst="rect">
            <a:avLst/>
          </a:prstGeom>
          <a:noFill/>
          <a:ln>
            <a:noFill/>
          </a:ln>
        </p:spPr>
        <p:txBody>
          <a:bodyPr anchorCtr="0" anchor="t" bIns="45700" lIns="91425" spcFirstLastPara="1" rIns="91425" wrap="square" tIns="45700">
            <a:normAutofit lnSpcReduction="10000"/>
          </a:bodyPr>
          <a:lstStyle/>
          <a:p>
            <a:pPr indent="0" lvl="0" marL="0" rtl="0" algn="ctr">
              <a:spcBef>
                <a:spcPts val="448"/>
              </a:spcBef>
              <a:spcAft>
                <a:spcPts val="0"/>
              </a:spcAft>
              <a:buNone/>
            </a:pPr>
            <a:r>
              <a:rPr b="1" lang="en" sz="2900">
                <a:solidFill>
                  <a:srgbClr val="002060"/>
                </a:solidFill>
                <a:latin typeface="Calibri"/>
                <a:ea typeface="Calibri"/>
                <a:cs typeface="Calibri"/>
                <a:sym typeface="Calibri"/>
              </a:rPr>
              <a:t>Niloy Ganguly</a:t>
            </a:r>
            <a:endParaRPr b="1" sz="2900">
              <a:solidFill>
                <a:schemeClr val="dk1"/>
              </a:solidFill>
              <a:latin typeface="Calibri"/>
              <a:ea typeface="Calibri"/>
              <a:cs typeface="Calibri"/>
              <a:sym typeface="Calibri"/>
            </a:endParaRPr>
          </a:p>
          <a:p>
            <a:pPr indent="0" lvl="0" marL="0" rtl="0" algn="ctr">
              <a:spcBef>
                <a:spcPts val="448"/>
              </a:spcBef>
              <a:spcAft>
                <a:spcPts val="0"/>
              </a:spcAft>
              <a:buClr>
                <a:schemeClr val="dk1"/>
              </a:buClr>
              <a:buSzPts val="1100"/>
              <a:buFont typeface="Arial"/>
              <a:buNone/>
            </a:pPr>
            <a:r>
              <a:rPr b="1" lang="en" sz="2900">
                <a:solidFill>
                  <a:srgbClr val="002060"/>
                </a:solidFill>
                <a:latin typeface="Calibri"/>
                <a:ea typeface="Calibri"/>
                <a:cs typeface="Calibri"/>
                <a:sym typeface="Calibri"/>
              </a:rPr>
              <a:t>Professor</a:t>
            </a:r>
            <a:endParaRPr b="1" sz="2900">
              <a:solidFill>
                <a:schemeClr val="dk1"/>
              </a:solidFill>
              <a:latin typeface="Calibri"/>
              <a:ea typeface="Calibri"/>
              <a:cs typeface="Calibri"/>
              <a:sym typeface="Calibri"/>
            </a:endParaRPr>
          </a:p>
          <a:p>
            <a:pPr indent="0" lvl="0" marL="0" rtl="0" algn="ctr">
              <a:spcBef>
                <a:spcPts val="448"/>
              </a:spcBef>
              <a:spcAft>
                <a:spcPts val="0"/>
              </a:spcAft>
              <a:buNone/>
            </a:pPr>
            <a:r>
              <a:rPr b="1" lang="en" sz="2900">
                <a:solidFill>
                  <a:schemeClr val="dk1"/>
                </a:solidFill>
                <a:latin typeface="Calibri"/>
                <a:ea typeface="Calibri"/>
                <a:cs typeface="Calibri"/>
                <a:sym typeface="Calibri"/>
              </a:rPr>
              <a:t>IIT Kharagpur</a:t>
            </a:r>
            <a:endParaRPr b="1" sz="2900">
              <a:solidFill>
                <a:schemeClr val="dk1"/>
              </a:solidFill>
              <a:latin typeface="Calibri"/>
              <a:ea typeface="Calibri"/>
              <a:cs typeface="Calibri"/>
              <a:sym typeface="Calibri"/>
            </a:endParaRPr>
          </a:p>
        </p:txBody>
      </p:sp>
      <p:pic>
        <p:nvPicPr>
          <p:cNvPr id="73" name="Google Shape;73;p18"/>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74" name="Google Shape;74;p18"/>
          <p:cNvPicPr preferRelativeResize="0"/>
          <p:nvPr/>
        </p:nvPicPr>
        <p:blipFill rotWithShape="1">
          <a:blip r:embed="rId5">
            <a:alphaModFix/>
          </a:blip>
          <a:srcRect b="5553" l="22319" r="21419" t="0"/>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descr="$PPTXTitle" id="79" name="Google Shape;79;p19"/>
          <p:cNvSpPr txBox="1"/>
          <p:nvPr>
            <p:ph type="title"/>
          </p:nvPr>
        </p:nvSpPr>
        <p:spPr>
          <a:xfrm>
            <a:off x="1825493" y="385952"/>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p:txBody>
      </p:sp>
      <p:pic>
        <p:nvPicPr>
          <p:cNvPr id="80" name="Google Shape;80;p19"/>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81" name="Google Shape;81;p19"/>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20"/>
          <p:cNvSpPr/>
          <p:nvPr/>
        </p:nvSpPr>
        <p:spPr>
          <a:xfrm>
            <a:off x="2974448" y="33370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Self-Attention?</a:t>
            </a:r>
            <a:endParaRPr b="0" i="0" sz="2800" u="none" cap="none" strike="noStrike">
              <a:solidFill>
                <a:schemeClr val="dk1"/>
              </a:solidFill>
              <a:latin typeface="Calibri"/>
              <a:ea typeface="Calibri"/>
              <a:cs typeface="Calibri"/>
              <a:sym typeface="Calibri"/>
            </a:endParaRPr>
          </a:p>
        </p:txBody>
      </p:sp>
      <p:sp>
        <p:nvSpPr>
          <p:cNvPr id="88" name="Google Shape;88;p20"/>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Each element looks at all others and decides how much to focus on each.</a:t>
            </a:r>
            <a:endParaRPr b="0" i="0" sz="1000" u="none" cap="none" strike="noStrike">
              <a:solidFill>
                <a:schemeClr val="dk1"/>
              </a:solidFill>
              <a:latin typeface="Calibri"/>
              <a:ea typeface="Calibri"/>
              <a:cs typeface="Calibri"/>
              <a:sym typeface="Calibri"/>
            </a:endParaRPr>
          </a:p>
        </p:txBody>
      </p:sp>
      <p:sp>
        <p:nvSpPr>
          <p:cNvPr id="89" name="Google Shape;89;p20"/>
          <p:cNvSpPr/>
          <p:nvPr/>
        </p:nvSpPr>
        <p:spPr>
          <a:xfrm>
            <a:off x="308610" y="1289304"/>
            <a:ext cx="8503800" cy="493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0"/>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91" name="Google Shape;91;p20"/>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What does  "it"  refer to?</a:t>
            </a:r>
            <a:endParaRPr b="0" i="0" sz="1200" u="none" cap="none" strike="noStrike">
              <a:solidFill>
                <a:schemeClr val="dk1"/>
              </a:solidFill>
              <a:latin typeface="Calibri"/>
              <a:ea typeface="Calibri"/>
              <a:cs typeface="Calibri"/>
              <a:sym typeface="Calibri"/>
            </a:endParaRPr>
          </a:p>
        </p:txBody>
      </p:sp>
      <p:sp>
        <p:nvSpPr>
          <p:cNvPr id="92" name="Google Shape;92;p20"/>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0"/>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1</a:t>
            </a:r>
            <a:endParaRPr b="0" i="0" u="none" cap="none" strike="noStrike">
              <a:solidFill>
                <a:schemeClr val="dk1"/>
              </a:solidFill>
              <a:latin typeface="Calibri"/>
              <a:ea typeface="Calibri"/>
              <a:cs typeface="Calibri"/>
              <a:sym typeface="Calibri"/>
            </a:endParaRPr>
          </a:p>
        </p:txBody>
      </p:sp>
      <p:sp>
        <p:nvSpPr>
          <p:cNvPr id="94" name="Google Shape;94;p20"/>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Compare</a:t>
            </a:r>
            <a:endParaRPr b="0" i="0" u="none" cap="none" strike="noStrike">
              <a:solidFill>
                <a:schemeClr val="dk1"/>
              </a:solidFill>
              <a:latin typeface="Calibri"/>
              <a:ea typeface="Calibri"/>
              <a:cs typeface="Calibri"/>
              <a:sym typeface="Calibri"/>
            </a:endParaRPr>
          </a:p>
        </p:txBody>
      </p:sp>
      <p:sp>
        <p:nvSpPr>
          <p:cNvPr id="95" name="Google Shape;95;p20"/>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Compare it with every other word</a:t>
            </a:r>
            <a:endParaRPr b="0" i="0" sz="900" u="none" cap="none" strike="noStrike">
              <a:solidFill>
                <a:schemeClr val="dk1"/>
              </a:solidFill>
              <a:latin typeface="Calibri"/>
              <a:ea typeface="Calibri"/>
              <a:cs typeface="Calibri"/>
              <a:sym typeface="Calibri"/>
            </a:endParaRPr>
          </a:p>
        </p:txBody>
      </p:sp>
      <p:sp>
        <p:nvSpPr>
          <p:cNvPr id="96" name="Google Shape;96;p20"/>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0"/>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2</a:t>
            </a:r>
            <a:endParaRPr b="0" i="0" u="none" cap="none" strike="noStrike">
              <a:solidFill>
                <a:schemeClr val="dk1"/>
              </a:solidFill>
              <a:latin typeface="Calibri"/>
              <a:ea typeface="Calibri"/>
              <a:cs typeface="Calibri"/>
              <a:sym typeface="Calibri"/>
            </a:endParaRPr>
          </a:p>
        </p:txBody>
      </p:sp>
      <p:sp>
        <p:nvSpPr>
          <p:cNvPr id="98" name="Google Shape;98;p20"/>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Weight</a:t>
            </a:r>
            <a:endParaRPr b="0" i="0" u="none" cap="none" strike="noStrike">
              <a:solidFill>
                <a:schemeClr val="dk1"/>
              </a:solidFill>
              <a:latin typeface="Calibri"/>
              <a:ea typeface="Calibri"/>
              <a:cs typeface="Calibri"/>
              <a:sym typeface="Calibri"/>
            </a:endParaRPr>
          </a:p>
        </p:txBody>
      </p:sp>
      <p:sp>
        <p:nvSpPr>
          <p:cNvPr id="99" name="Google Shape;99;p20"/>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Assign higher weight to animal</a:t>
            </a:r>
            <a:endParaRPr b="0" i="0" sz="900" u="none" cap="none" strike="noStrike">
              <a:solidFill>
                <a:schemeClr val="dk1"/>
              </a:solidFill>
              <a:latin typeface="Calibri"/>
              <a:ea typeface="Calibri"/>
              <a:cs typeface="Calibri"/>
              <a:sym typeface="Calibri"/>
            </a:endParaRPr>
          </a:p>
        </p:txBody>
      </p:sp>
      <p:sp>
        <p:nvSpPr>
          <p:cNvPr id="100" name="Google Shape;100;p20"/>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0"/>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3</a:t>
            </a:r>
            <a:endParaRPr b="0" i="0" u="none" cap="none" strike="noStrike">
              <a:solidFill>
                <a:schemeClr val="dk1"/>
              </a:solidFill>
              <a:latin typeface="Calibri"/>
              <a:ea typeface="Calibri"/>
              <a:cs typeface="Calibri"/>
              <a:sym typeface="Calibri"/>
            </a:endParaRPr>
          </a:p>
        </p:txBody>
      </p:sp>
      <p:sp>
        <p:nvSpPr>
          <p:cNvPr id="102" name="Google Shape;102;p20"/>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Understand</a:t>
            </a:r>
            <a:endParaRPr b="0" i="0" u="none" cap="none" strike="noStrike">
              <a:solidFill>
                <a:schemeClr val="dk1"/>
              </a:solidFill>
              <a:latin typeface="Calibri"/>
              <a:ea typeface="Calibri"/>
              <a:cs typeface="Calibri"/>
              <a:sym typeface="Calibri"/>
            </a:endParaRPr>
          </a:p>
        </p:txBody>
      </p:sp>
      <p:sp>
        <p:nvSpPr>
          <p:cNvPr id="103" name="Google Shape;103;p20"/>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Use weights to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contextual meaning</a:t>
            </a:r>
            <a:endParaRPr b="0" i="0" sz="900" u="none" cap="none" strike="noStrike">
              <a:solidFill>
                <a:schemeClr val="dk1"/>
              </a:solidFill>
              <a:latin typeface="Calibri"/>
              <a:ea typeface="Calibri"/>
              <a:cs typeface="Calibri"/>
              <a:sym typeface="Calibri"/>
            </a:endParaRPr>
          </a:p>
        </p:txBody>
      </p:sp>
      <p:sp>
        <p:nvSpPr>
          <p:cNvPr id="104" name="Google Shape;104;p20"/>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0"/>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Property</a:t>
            </a:r>
            <a:endParaRPr b="0" i="0" sz="1100" u="none" cap="none" strike="noStrike">
              <a:solidFill>
                <a:schemeClr val="dk1"/>
              </a:solidFill>
              <a:latin typeface="Calibri"/>
              <a:ea typeface="Calibri"/>
              <a:cs typeface="Calibri"/>
              <a:sym typeface="Calibri"/>
            </a:endParaRPr>
          </a:p>
        </p:txBody>
      </p:sp>
      <p:sp>
        <p:nvSpPr>
          <p:cNvPr id="106" name="Google Shape;106;p20"/>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Every token can directly interact with every other token — no sequential propagation needed (unlike RNNs).</a:t>
            </a:r>
            <a:endParaRPr b="0" i="0" sz="1200" u="none" cap="none" strike="noStrike">
              <a:solidFill>
                <a:schemeClr val="dk1"/>
              </a:solidFill>
              <a:latin typeface="Calibri"/>
              <a:ea typeface="Calibri"/>
              <a:cs typeface="Calibri"/>
              <a:sym typeface="Calibri"/>
            </a:endParaRPr>
          </a:p>
        </p:txBody>
      </p:sp>
      <p:sp>
        <p:nvSpPr>
          <p:cNvPr id="107" name="Google Shape;107;p20"/>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0"/>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Long-range dependencies</a:t>
            </a:r>
            <a:endParaRPr b="0" i="0" sz="1200" u="none" cap="none" strike="noStrike">
              <a:solidFill>
                <a:schemeClr val="dk1"/>
              </a:solidFill>
              <a:latin typeface="Calibri"/>
              <a:ea typeface="Calibri"/>
              <a:cs typeface="Calibri"/>
              <a:sym typeface="Calibri"/>
            </a:endParaRPr>
          </a:p>
        </p:txBody>
      </p:sp>
      <p:sp>
        <p:nvSpPr>
          <p:cNvPr id="109" name="Google Shape;109;p20"/>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0"/>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Parallel computation</a:t>
            </a:r>
            <a:endParaRPr b="0" i="0" sz="1200" u="none" cap="none" strike="noStrike">
              <a:solidFill>
                <a:schemeClr val="dk1"/>
              </a:solidFill>
              <a:latin typeface="Calibri"/>
              <a:ea typeface="Calibri"/>
              <a:cs typeface="Calibri"/>
              <a:sym typeface="Calibri"/>
            </a:endParaRPr>
          </a:p>
        </p:txBody>
      </p:sp>
      <p:sp>
        <p:nvSpPr>
          <p:cNvPr id="111" name="Google Shape;111;p20"/>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0"/>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Dynamic context understanding</a:t>
            </a:r>
            <a:endParaRPr b="0" i="0" sz="900" u="none" cap="none" strike="noStrike">
              <a:solidFill>
                <a:schemeClr val="dk1"/>
              </a:solidFill>
              <a:latin typeface="Calibri"/>
              <a:ea typeface="Calibri"/>
              <a:cs typeface="Calibri"/>
              <a:sym typeface="Calibri"/>
            </a:endParaRPr>
          </a:p>
        </p:txBody>
      </p:sp>
      <p:pic>
        <p:nvPicPr>
          <p:cNvPr id="113" name="Google Shape;113;p20"/>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1"/>
          <p:cNvSpPr/>
          <p:nvPr/>
        </p:nvSpPr>
        <p:spPr>
          <a:xfrm>
            <a:off x="2974448" y="33370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Self-Attention?</a:t>
            </a:r>
            <a:endParaRPr b="0" i="0" sz="2800" u="none" cap="none" strike="noStrike">
              <a:solidFill>
                <a:schemeClr val="dk1"/>
              </a:solidFill>
              <a:latin typeface="Calibri"/>
              <a:ea typeface="Calibri"/>
              <a:cs typeface="Calibri"/>
              <a:sym typeface="Calibri"/>
            </a:endParaRPr>
          </a:p>
        </p:txBody>
      </p:sp>
      <p:sp>
        <p:nvSpPr>
          <p:cNvPr id="120" name="Google Shape;120;p21"/>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Each element looks at all others and decides how much to focus on each.</a:t>
            </a:r>
            <a:endParaRPr b="0" i="0" sz="1000" u="none" cap="none" strike="noStrike">
              <a:solidFill>
                <a:schemeClr val="dk1"/>
              </a:solidFill>
              <a:latin typeface="Calibri"/>
              <a:ea typeface="Calibri"/>
              <a:cs typeface="Calibri"/>
              <a:sym typeface="Calibri"/>
            </a:endParaRPr>
          </a:p>
        </p:txBody>
      </p:sp>
      <p:sp>
        <p:nvSpPr>
          <p:cNvPr id="121" name="Google Shape;121;p21"/>
          <p:cNvSpPr/>
          <p:nvPr/>
        </p:nvSpPr>
        <p:spPr>
          <a:xfrm>
            <a:off x="308610" y="1289304"/>
            <a:ext cx="8503800" cy="493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1"/>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23" name="Google Shape;123;p21"/>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What does  "it"  refer to?</a:t>
            </a:r>
            <a:endParaRPr b="0" i="0" sz="1200" u="none" cap="none" strike="noStrike">
              <a:solidFill>
                <a:schemeClr val="dk1"/>
              </a:solidFill>
              <a:latin typeface="Calibri"/>
              <a:ea typeface="Calibri"/>
              <a:cs typeface="Calibri"/>
              <a:sym typeface="Calibri"/>
            </a:endParaRPr>
          </a:p>
        </p:txBody>
      </p:sp>
      <p:sp>
        <p:nvSpPr>
          <p:cNvPr id="124" name="Google Shape;124;p21"/>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1"/>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1</a:t>
            </a:r>
            <a:endParaRPr b="0" i="0" u="none" cap="none" strike="noStrike">
              <a:solidFill>
                <a:schemeClr val="dk1"/>
              </a:solidFill>
              <a:latin typeface="Calibri"/>
              <a:ea typeface="Calibri"/>
              <a:cs typeface="Calibri"/>
              <a:sym typeface="Calibri"/>
            </a:endParaRPr>
          </a:p>
        </p:txBody>
      </p:sp>
      <p:sp>
        <p:nvSpPr>
          <p:cNvPr id="126" name="Google Shape;126;p21"/>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Compare</a:t>
            </a:r>
            <a:endParaRPr b="0" i="0" u="none" cap="none" strike="noStrike">
              <a:solidFill>
                <a:schemeClr val="dk1"/>
              </a:solidFill>
              <a:latin typeface="Calibri"/>
              <a:ea typeface="Calibri"/>
              <a:cs typeface="Calibri"/>
              <a:sym typeface="Calibri"/>
            </a:endParaRPr>
          </a:p>
        </p:txBody>
      </p:sp>
      <p:sp>
        <p:nvSpPr>
          <p:cNvPr id="127" name="Google Shape;127;p21"/>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Compare it with every other word</a:t>
            </a:r>
            <a:endParaRPr b="0" i="0" sz="900" u="none" cap="none" strike="noStrike">
              <a:solidFill>
                <a:schemeClr val="dk1"/>
              </a:solidFill>
              <a:latin typeface="Calibri"/>
              <a:ea typeface="Calibri"/>
              <a:cs typeface="Calibri"/>
              <a:sym typeface="Calibri"/>
            </a:endParaRPr>
          </a:p>
        </p:txBody>
      </p:sp>
      <p:sp>
        <p:nvSpPr>
          <p:cNvPr id="128" name="Google Shape;128;p21"/>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1"/>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2</a:t>
            </a:r>
            <a:endParaRPr b="0" i="0" u="none" cap="none" strike="noStrike">
              <a:solidFill>
                <a:schemeClr val="dk1"/>
              </a:solidFill>
              <a:latin typeface="Calibri"/>
              <a:ea typeface="Calibri"/>
              <a:cs typeface="Calibri"/>
              <a:sym typeface="Calibri"/>
            </a:endParaRPr>
          </a:p>
        </p:txBody>
      </p:sp>
      <p:sp>
        <p:nvSpPr>
          <p:cNvPr id="130" name="Google Shape;130;p21"/>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Weight</a:t>
            </a:r>
            <a:endParaRPr b="0" i="0" u="none" cap="none" strike="noStrike">
              <a:solidFill>
                <a:schemeClr val="dk1"/>
              </a:solidFill>
              <a:latin typeface="Calibri"/>
              <a:ea typeface="Calibri"/>
              <a:cs typeface="Calibri"/>
              <a:sym typeface="Calibri"/>
            </a:endParaRPr>
          </a:p>
        </p:txBody>
      </p:sp>
      <p:sp>
        <p:nvSpPr>
          <p:cNvPr id="131" name="Google Shape;131;p21"/>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Assign higher weight to animal</a:t>
            </a:r>
            <a:endParaRPr b="0" i="0" sz="900" u="none" cap="none" strike="noStrike">
              <a:solidFill>
                <a:schemeClr val="dk1"/>
              </a:solidFill>
              <a:latin typeface="Calibri"/>
              <a:ea typeface="Calibri"/>
              <a:cs typeface="Calibri"/>
              <a:sym typeface="Calibri"/>
            </a:endParaRPr>
          </a:p>
        </p:txBody>
      </p:sp>
      <p:sp>
        <p:nvSpPr>
          <p:cNvPr id="132" name="Google Shape;132;p21"/>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1"/>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3</a:t>
            </a:r>
            <a:endParaRPr b="0" i="0" u="none" cap="none" strike="noStrike">
              <a:solidFill>
                <a:schemeClr val="dk1"/>
              </a:solidFill>
              <a:latin typeface="Calibri"/>
              <a:ea typeface="Calibri"/>
              <a:cs typeface="Calibri"/>
              <a:sym typeface="Calibri"/>
            </a:endParaRPr>
          </a:p>
        </p:txBody>
      </p:sp>
      <p:sp>
        <p:nvSpPr>
          <p:cNvPr id="134" name="Google Shape;134;p21"/>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Understand</a:t>
            </a:r>
            <a:endParaRPr b="0" i="0" u="none" cap="none" strike="noStrike">
              <a:solidFill>
                <a:schemeClr val="dk1"/>
              </a:solidFill>
              <a:latin typeface="Calibri"/>
              <a:ea typeface="Calibri"/>
              <a:cs typeface="Calibri"/>
              <a:sym typeface="Calibri"/>
            </a:endParaRPr>
          </a:p>
        </p:txBody>
      </p:sp>
      <p:sp>
        <p:nvSpPr>
          <p:cNvPr id="135" name="Google Shape;135;p21"/>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Use weights to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contextual meaning</a:t>
            </a:r>
            <a:endParaRPr b="0" i="0" sz="900" u="none" cap="none" strike="noStrike">
              <a:solidFill>
                <a:schemeClr val="dk1"/>
              </a:solidFill>
              <a:latin typeface="Calibri"/>
              <a:ea typeface="Calibri"/>
              <a:cs typeface="Calibri"/>
              <a:sym typeface="Calibri"/>
            </a:endParaRPr>
          </a:p>
        </p:txBody>
      </p:sp>
      <p:sp>
        <p:nvSpPr>
          <p:cNvPr id="136" name="Google Shape;136;p21"/>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1"/>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Property</a:t>
            </a:r>
            <a:endParaRPr b="0" i="0" sz="1100" u="none" cap="none" strike="noStrike">
              <a:solidFill>
                <a:schemeClr val="dk1"/>
              </a:solidFill>
              <a:latin typeface="Calibri"/>
              <a:ea typeface="Calibri"/>
              <a:cs typeface="Calibri"/>
              <a:sym typeface="Calibri"/>
            </a:endParaRPr>
          </a:p>
        </p:txBody>
      </p:sp>
      <p:sp>
        <p:nvSpPr>
          <p:cNvPr id="138" name="Google Shape;138;p21"/>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Every token can directly interact with every other token — no sequential propagation needed (unlike RNNs).</a:t>
            </a:r>
            <a:endParaRPr b="0" i="0" sz="1200" u="none" cap="none" strike="noStrike">
              <a:solidFill>
                <a:schemeClr val="dk1"/>
              </a:solidFill>
              <a:latin typeface="Calibri"/>
              <a:ea typeface="Calibri"/>
              <a:cs typeface="Calibri"/>
              <a:sym typeface="Calibri"/>
            </a:endParaRPr>
          </a:p>
        </p:txBody>
      </p:sp>
      <p:sp>
        <p:nvSpPr>
          <p:cNvPr id="139" name="Google Shape;139;p21"/>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1"/>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Long-range dependencies</a:t>
            </a:r>
            <a:endParaRPr b="0" i="0" sz="1200" u="none" cap="none" strike="noStrike">
              <a:solidFill>
                <a:schemeClr val="dk1"/>
              </a:solidFill>
              <a:latin typeface="Calibri"/>
              <a:ea typeface="Calibri"/>
              <a:cs typeface="Calibri"/>
              <a:sym typeface="Calibri"/>
            </a:endParaRPr>
          </a:p>
        </p:txBody>
      </p:sp>
      <p:sp>
        <p:nvSpPr>
          <p:cNvPr id="141" name="Google Shape;141;p21"/>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1"/>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Parallel computation</a:t>
            </a:r>
            <a:endParaRPr b="0" i="0" sz="1200" u="none" cap="none" strike="noStrike">
              <a:solidFill>
                <a:schemeClr val="dk1"/>
              </a:solidFill>
              <a:latin typeface="Calibri"/>
              <a:ea typeface="Calibri"/>
              <a:cs typeface="Calibri"/>
              <a:sym typeface="Calibri"/>
            </a:endParaRPr>
          </a:p>
        </p:txBody>
      </p:sp>
      <p:sp>
        <p:nvSpPr>
          <p:cNvPr id="143" name="Google Shape;143;p21"/>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1"/>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Dynamic context understanding</a:t>
            </a:r>
            <a:endParaRPr b="0" i="0" sz="900" u="none" cap="none" strike="noStrike">
              <a:solidFill>
                <a:schemeClr val="dk1"/>
              </a:solidFill>
              <a:latin typeface="Calibri"/>
              <a:ea typeface="Calibri"/>
              <a:cs typeface="Calibri"/>
              <a:sym typeface="Calibri"/>
            </a:endParaRPr>
          </a:p>
        </p:txBody>
      </p:sp>
      <p:pic>
        <p:nvPicPr>
          <p:cNvPr id="145" name="Google Shape;145;p21"/>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146" name="Google Shape;146;p21" title="Screenshot 2026-08-22 at 9.56.30 PM.png"/>
          <p:cNvPicPr preferRelativeResize="0"/>
          <p:nvPr/>
        </p:nvPicPr>
        <p:blipFill>
          <a:blip r:embed="rId5">
            <a:alphaModFix/>
          </a:blip>
          <a:stretch>
            <a:fillRect/>
          </a:stretch>
        </p:blipFill>
        <p:spPr>
          <a:xfrm>
            <a:off x="3603525" y="885175"/>
            <a:ext cx="5829899" cy="4216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descr="$PPTXTitle" id="151" name="Google Shape;151;p22"/>
          <p:cNvSpPr txBox="1"/>
          <p:nvPr>
            <p:ph type="title"/>
          </p:nvPr>
        </p:nvSpPr>
        <p:spPr>
          <a:xfrm>
            <a:off x="28622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t>Multi-Head Attention</a:t>
            </a:r>
            <a:endParaRPr sz="2800"/>
          </a:p>
        </p:txBody>
      </p:sp>
      <p:pic>
        <p:nvPicPr>
          <p:cNvPr id="152" name="Google Shape;152;p22"/>
          <p:cNvPicPr preferRelativeResize="0"/>
          <p:nvPr/>
        </p:nvPicPr>
        <p:blipFill rotWithShape="1">
          <a:blip r:embed="rId4">
            <a:alphaModFix/>
          </a:blip>
          <a:srcRect b="0" l="0" r="0" t="0"/>
          <a:stretch/>
        </p:blipFill>
        <p:spPr>
          <a:xfrm>
            <a:off x="1483965" y="1580837"/>
            <a:ext cx="1691786" cy="2377646"/>
          </a:xfrm>
          <a:prstGeom prst="rect">
            <a:avLst/>
          </a:prstGeom>
          <a:noFill/>
          <a:ln>
            <a:noFill/>
          </a:ln>
        </p:spPr>
      </p:pic>
      <p:pic>
        <p:nvPicPr>
          <p:cNvPr id="153" name="Google Shape;153;p22"/>
          <p:cNvPicPr preferRelativeResize="0"/>
          <p:nvPr/>
        </p:nvPicPr>
        <p:blipFill rotWithShape="1">
          <a:blip r:embed="rId5">
            <a:alphaModFix/>
          </a:blip>
          <a:srcRect b="0" l="0" r="0" t="0"/>
          <a:stretch/>
        </p:blipFill>
        <p:spPr>
          <a:xfrm>
            <a:off x="3998728" y="1269342"/>
            <a:ext cx="3669348" cy="3132091"/>
          </a:xfrm>
          <a:prstGeom prst="rect">
            <a:avLst/>
          </a:prstGeom>
          <a:noFill/>
          <a:ln>
            <a:noFill/>
          </a:ln>
        </p:spPr>
      </p:pic>
      <p:pic>
        <p:nvPicPr>
          <p:cNvPr id="154" name="Google Shape;154;p22"/>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23"/>
          <p:cNvSpPr/>
          <p:nvPr/>
        </p:nvSpPr>
        <p:spPr>
          <a:xfrm>
            <a:off x="3005811" y="40688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Why Multiple Heads?</a:t>
            </a:r>
            <a:endParaRPr b="0" i="0" sz="2800" u="none" cap="none" strike="noStrike">
              <a:solidFill>
                <a:schemeClr val="dk1"/>
              </a:solidFill>
              <a:latin typeface="Calibri"/>
              <a:ea typeface="Calibri"/>
              <a:cs typeface="Calibri"/>
              <a:sym typeface="Calibri"/>
            </a:endParaRPr>
          </a:p>
        </p:txBody>
      </p:sp>
      <p:sp>
        <p:nvSpPr>
          <p:cNvPr id="161" name="Google Shape;161;p23"/>
          <p:cNvSpPr/>
          <p:nvPr/>
        </p:nvSpPr>
        <p:spPr>
          <a:xfrm>
            <a:off x="308610" y="932019"/>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u="none" cap="none" strike="noStrike">
                <a:solidFill>
                  <a:schemeClr val="dk1"/>
                </a:solidFill>
                <a:latin typeface="Calibri"/>
                <a:ea typeface="Calibri"/>
                <a:cs typeface="Calibri"/>
                <a:sym typeface="Calibri"/>
              </a:rPr>
              <a:t>One attention head captures one type of relationship. Language has many.</a:t>
            </a:r>
            <a:endParaRPr b="0" i="0" u="none" cap="none" strike="noStrike">
              <a:solidFill>
                <a:schemeClr val="dk1"/>
              </a:solidFill>
              <a:latin typeface="Calibri"/>
              <a:ea typeface="Calibri"/>
              <a:cs typeface="Calibri"/>
              <a:sym typeface="Calibri"/>
            </a:endParaRPr>
          </a:p>
        </p:txBody>
      </p:sp>
      <p:sp>
        <p:nvSpPr>
          <p:cNvPr id="162" name="Google Shape;162;p23"/>
          <p:cNvSpPr/>
          <p:nvPr/>
        </p:nvSpPr>
        <p:spPr>
          <a:xfrm>
            <a:off x="308610" y="1289304"/>
            <a:ext cx="3840600" cy="788700"/>
          </a:xfrm>
          <a:prstGeom prst="rect">
            <a:avLst/>
          </a:prstGeom>
          <a:noFill/>
          <a:ln cap="flat" cmpd="sng" w="12700">
            <a:solidFill>
              <a:srgbClr val="10B98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3"/>
          <p:cNvSpPr/>
          <p:nvPr/>
        </p:nvSpPr>
        <p:spPr>
          <a:xfrm>
            <a:off x="445770" y="1344168"/>
            <a:ext cx="35661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1" i="0" lang="en" sz="1100" u="none" cap="none" strike="noStrike">
                <a:solidFill>
                  <a:schemeClr val="dk1"/>
                </a:solidFill>
                <a:latin typeface="Calibri"/>
                <a:ea typeface="Calibri"/>
                <a:cs typeface="Calibri"/>
                <a:sym typeface="Calibri"/>
              </a:rPr>
              <a:t>Single Attention Head</a:t>
            </a:r>
            <a:endParaRPr b="0" i="0" sz="1100" u="none" cap="none" strike="noStrike">
              <a:solidFill>
                <a:schemeClr val="dk1"/>
              </a:solidFill>
              <a:latin typeface="Calibri"/>
              <a:ea typeface="Calibri"/>
              <a:cs typeface="Calibri"/>
              <a:sym typeface="Calibri"/>
            </a:endParaRPr>
          </a:p>
        </p:txBody>
      </p:sp>
      <p:sp>
        <p:nvSpPr>
          <p:cNvPr id="164" name="Google Shape;164;p23"/>
          <p:cNvSpPr/>
          <p:nvPr/>
        </p:nvSpPr>
        <p:spPr>
          <a:xfrm>
            <a:off x="445770" y="1632204"/>
            <a:ext cx="3566100" cy="35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One Q,K,V → captures only one type of relationship</a:t>
            </a:r>
            <a:endParaRPr b="0" i="0" sz="1100" u="none" cap="none" strike="noStrike">
              <a:solidFill>
                <a:schemeClr val="dk1"/>
              </a:solidFill>
              <a:latin typeface="Calibri"/>
              <a:ea typeface="Calibri"/>
              <a:cs typeface="Calibri"/>
              <a:sym typeface="Calibri"/>
            </a:endParaRPr>
          </a:p>
        </p:txBody>
      </p:sp>
      <p:sp>
        <p:nvSpPr>
          <p:cNvPr id="165" name="Google Shape;165;p23"/>
          <p:cNvSpPr/>
          <p:nvPr/>
        </p:nvSpPr>
        <p:spPr>
          <a:xfrm>
            <a:off x="4251960" y="1495044"/>
            <a:ext cx="3429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700"/>
              <a:buFont typeface="Calibri"/>
              <a:buNone/>
            </a:pPr>
            <a:r>
              <a:rPr b="0" i="0" lang="en" sz="1700" u="none" cap="none" strike="noStrike">
                <a:solidFill>
                  <a:srgbClr val="5B21B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66" name="Google Shape;166;p23"/>
          <p:cNvSpPr/>
          <p:nvPr/>
        </p:nvSpPr>
        <p:spPr>
          <a:xfrm>
            <a:off x="4697730" y="1289304"/>
            <a:ext cx="4114800" cy="788700"/>
          </a:xfrm>
          <a:prstGeom prst="rect">
            <a:avLst/>
          </a:prstGeom>
          <a:no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3"/>
          <p:cNvSpPr/>
          <p:nvPr/>
        </p:nvSpPr>
        <p:spPr>
          <a:xfrm>
            <a:off x="4834890" y="1344168"/>
            <a:ext cx="38406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Multi-Head Attention</a:t>
            </a:r>
            <a:endParaRPr b="0" i="0" sz="1100" u="none" cap="none" strike="noStrike">
              <a:solidFill>
                <a:schemeClr val="dk1"/>
              </a:solidFill>
              <a:latin typeface="Calibri"/>
              <a:ea typeface="Calibri"/>
              <a:cs typeface="Calibri"/>
              <a:sym typeface="Calibri"/>
            </a:endParaRPr>
          </a:p>
        </p:txBody>
      </p:sp>
      <p:sp>
        <p:nvSpPr>
          <p:cNvPr id="168" name="Google Shape;168;p23"/>
          <p:cNvSpPr/>
          <p:nvPr/>
        </p:nvSpPr>
        <p:spPr>
          <a:xfrm>
            <a:off x="4834890" y="1632204"/>
            <a:ext cx="3840600" cy="35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0" i="0" lang="en" sz="1100" u="none" cap="none" strike="noStrike">
                <a:solidFill>
                  <a:schemeClr val="dk1"/>
                </a:solidFill>
                <a:latin typeface="Calibri"/>
                <a:ea typeface="Calibri"/>
                <a:cs typeface="Calibri"/>
                <a:sym typeface="Calibri"/>
              </a:rPr>
              <a:t>h independent heads → captures h different relationship types</a:t>
            </a:r>
            <a:endParaRPr b="0" i="0" sz="1100" u="none" cap="none" strike="noStrike">
              <a:solidFill>
                <a:schemeClr val="dk1"/>
              </a:solidFill>
              <a:latin typeface="Calibri"/>
              <a:ea typeface="Calibri"/>
              <a:cs typeface="Calibri"/>
              <a:sym typeface="Calibri"/>
            </a:endParaRPr>
          </a:p>
        </p:txBody>
      </p:sp>
      <p:sp>
        <p:nvSpPr>
          <p:cNvPr id="169" name="Google Shape;169;p23"/>
          <p:cNvSpPr/>
          <p:nvPr/>
        </p:nvSpPr>
        <p:spPr>
          <a:xfrm>
            <a:off x="308610" y="219456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3"/>
          <p:cNvSpPr/>
          <p:nvPr/>
        </p:nvSpPr>
        <p:spPr>
          <a:xfrm>
            <a:off x="445786" y="2468705"/>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H1</a:t>
            </a:r>
            <a:endParaRPr b="0" i="0" sz="1500" u="none" cap="none" strike="noStrike">
              <a:solidFill>
                <a:schemeClr val="dk1"/>
              </a:solidFill>
              <a:latin typeface="Calibri"/>
              <a:ea typeface="Calibri"/>
              <a:cs typeface="Calibri"/>
              <a:sym typeface="Calibri"/>
            </a:endParaRPr>
          </a:p>
        </p:txBody>
      </p:sp>
      <p:sp>
        <p:nvSpPr>
          <p:cNvPr id="171" name="Google Shape;171;p23"/>
          <p:cNvSpPr/>
          <p:nvPr/>
        </p:nvSpPr>
        <p:spPr>
          <a:xfrm>
            <a:off x="1008126" y="229057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Coreference</a:t>
            </a:r>
            <a:endParaRPr b="0" i="0" sz="1100" u="none" cap="none" strike="noStrike">
              <a:solidFill>
                <a:schemeClr val="dk1"/>
              </a:solidFill>
              <a:latin typeface="Calibri"/>
              <a:ea typeface="Calibri"/>
              <a:cs typeface="Calibri"/>
              <a:sym typeface="Calibri"/>
            </a:endParaRPr>
          </a:p>
        </p:txBody>
      </p:sp>
      <p:sp>
        <p:nvSpPr>
          <p:cNvPr id="172" name="Google Shape;172;p23"/>
          <p:cNvSpPr/>
          <p:nvPr/>
        </p:nvSpPr>
        <p:spPr>
          <a:xfrm>
            <a:off x="1008126" y="261975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"it" → "animal"</a:t>
            </a:r>
            <a:endParaRPr b="0" i="0" sz="1100" u="none" cap="none" strike="noStrike">
              <a:solidFill>
                <a:schemeClr val="dk1"/>
              </a:solidFill>
              <a:latin typeface="Calibri"/>
              <a:ea typeface="Calibri"/>
              <a:cs typeface="Calibri"/>
              <a:sym typeface="Calibri"/>
            </a:endParaRPr>
          </a:p>
        </p:txBody>
      </p:sp>
      <p:sp>
        <p:nvSpPr>
          <p:cNvPr id="173" name="Google Shape;173;p23"/>
          <p:cNvSpPr/>
          <p:nvPr/>
        </p:nvSpPr>
        <p:spPr>
          <a:xfrm>
            <a:off x="4711446" y="219456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3"/>
          <p:cNvSpPr/>
          <p:nvPr/>
        </p:nvSpPr>
        <p:spPr>
          <a:xfrm>
            <a:off x="4778672" y="2434609"/>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H2</a:t>
            </a:r>
            <a:endParaRPr b="0" i="0" sz="1500" u="none" cap="none" strike="noStrike">
              <a:solidFill>
                <a:schemeClr val="dk1"/>
              </a:solidFill>
              <a:latin typeface="Calibri"/>
              <a:ea typeface="Calibri"/>
              <a:cs typeface="Calibri"/>
              <a:sym typeface="Calibri"/>
            </a:endParaRPr>
          </a:p>
        </p:txBody>
      </p:sp>
      <p:sp>
        <p:nvSpPr>
          <p:cNvPr id="175" name="Google Shape;175;p23"/>
          <p:cNvSpPr/>
          <p:nvPr/>
        </p:nvSpPr>
        <p:spPr>
          <a:xfrm>
            <a:off x="5410962" y="229057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Verb–Object</a:t>
            </a:r>
            <a:endParaRPr b="0" i="0" sz="1100" u="none" cap="none" strike="noStrike">
              <a:solidFill>
                <a:schemeClr val="dk1"/>
              </a:solidFill>
              <a:latin typeface="Calibri"/>
              <a:ea typeface="Calibri"/>
              <a:cs typeface="Calibri"/>
              <a:sym typeface="Calibri"/>
            </a:endParaRPr>
          </a:p>
        </p:txBody>
      </p:sp>
      <p:sp>
        <p:nvSpPr>
          <p:cNvPr id="176" name="Google Shape;176;p23"/>
          <p:cNvSpPr/>
          <p:nvPr/>
        </p:nvSpPr>
        <p:spPr>
          <a:xfrm>
            <a:off x="5410962" y="261975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"cross" → "street"</a:t>
            </a:r>
            <a:endParaRPr b="0" i="0" sz="1100" u="none" cap="none" strike="noStrike">
              <a:solidFill>
                <a:schemeClr val="dk1"/>
              </a:solidFill>
              <a:latin typeface="Calibri"/>
              <a:ea typeface="Calibri"/>
              <a:cs typeface="Calibri"/>
              <a:sym typeface="Calibri"/>
            </a:endParaRPr>
          </a:p>
        </p:txBody>
      </p:sp>
      <p:sp>
        <p:nvSpPr>
          <p:cNvPr id="177" name="Google Shape;177;p23"/>
          <p:cNvSpPr/>
          <p:nvPr/>
        </p:nvSpPr>
        <p:spPr>
          <a:xfrm>
            <a:off x="308610" y="332613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3"/>
          <p:cNvSpPr/>
          <p:nvPr/>
        </p:nvSpPr>
        <p:spPr>
          <a:xfrm>
            <a:off x="435332" y="3617629"/>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H3</a:t>
            </a:r>
            <a:endParaRPr b="0" i="0" sz="1500" u="none" cap="none" strike="noStrike">
              <a:solidFill>
                <a:schemeClr val="dk1"/>
              </a:solidFill>
              <a:latin typeface="Calibri"/>
              <a:ea typeface="Calibri"/>
              <a:cs typeface="Calibri"/>
              <a:sym typeface="Calibri"/>
            </a:endParaRPr>
          </a:p>
        </p:txBody>
      </p:sp>
      <p:sp>
        <p:nvSpPr>
          <p:cNvPr id="179" name="Google Shape;179;p23"/>
          <p:cNvSpPr/>
          <p:nvPr/>
        </p:nvSpPr>
        <p:spPr>
          <a:xfrm>
            <a:off x="1008126" y="342214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Semantic sim.</a:t>
            </a:r>
            <a:endParaRPr b="0" i="0" sz="1100" u="none" cap="none" strike="noStrike">
              <a:solidFill>
                <a:schemeClr val="dk1"/>
              </a:solidFill>
              <a:latin typeface="Calibri"/>
              <a:ea typeface="Calibri"/>
              <a:cs typeface="Calibri"/>
              <a:sym typeface="Calibri"/>
            </a:endParaRPr>
          </a:p>
        </p:txBody>
      </p:sp>
      <p:sp>
        <p:nvSpPr>
          <p:cNvPr id="180" name="Google Shape;180;p23"/>
          <p:cNvSpPr/>
          <p:nvPr/>
        </p:nvSpPr>
        <p:spPr>
          <a:xfrm>
            <a:off x="1008126" y="375132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"tired" → "animal"</a:t>
            </a:r>
            <a:endParaRPr b="0" i="0" sz="1100" u="none" cap="none" strike="noStrike">
              <a:solidFill>
                <a:schemeClr val="dk1"/>
              </a:solidFill>
              <a:latin typeface="Calibri"/>
              <a:ea typeface="Calibri"/>
              <a:cs typeface="Calibri"/>
              <a:sym typeface="Calibri"/>
            </a:endParaRPr>
          </a:p>
        </p:txBody>
      </p:sp>
      <p:sp>
        <p:nvSpPr>
          <p:cNvPr id="181" name="Google Shape;181;p23"/>
          <p:cNvSpPr/>
          <p:nvPr/>
        </p:nvSpPr>
        <p:spPr>
          <a:xfrm>
            <a:off x="4711446" y="332613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3"/>
          <p:cNvSpPr/>
          <p:nvPr/>
        </p:nvSpPr>
        <p:spPr>
          <a:xfrm>
            <a:off x="4778672" y="3580004"/>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H4</a:t>
            </a:r>
            <a:endParaRPr b="0" i="0" sz="1500" u="none" cap="none" strike="noStrike">
              <a:solidFill>
                <a:schemeClr val="dk1"/>
              </a:solidFill>
              <a:latin typeface="Calibri"/>
              <a:ea typeface="Calibri"/>
              <a:cs typeface="Calibri"/>
              <a:sym typeface="Calibri"/>
            </a:endParaRPr>
          </a:p>
        </p:txBody>
      </p:sp>
      <p:sp>
        <p:nvSpPr>
          <p:cNvPr id="183" name="Google Shape;183;p23"/>
          <p:cNvSpPr/>
          <p:nvPr/>
        </p:nvSpPr>
        <p:spPr>
          <a:xfrm>
            <a:off x="5410962" y="342214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Positional</a:t>
            </a:r>
            <a:endParaRPr b="0" i="0" sz="1100" u="none" cap="none" strike="noStrike">
              <a:solidFill>
                <a:schemeClr val="dk1"/>
              </a:solidFill>
              <a:latin typeface="Calibri"/>
              <a:ea typeface="Calibri"/>
              <a:cs typeface="Calibri"/>
              <a:sym typeface="Calibri"/>
            </a:endParaRPr>
          </a:p>
        </p:txBody>
      </p:sp>
      <p:sp>
        <p:nvSpPr>
          <p:cNvPr id="184" name="Google Shape;184;p23"/>
          <p:cNvSpPr/>
          <p:nvPr/>
        </p:nvSpPr>
        <p:spPr>
          <a:xfrm>
            <a:off x="5410962" y="375132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nearby tokens</a:t>
            </a:r>
            <a:endParaRPr b="0" i="0" sz="1100" u="none" cap="none" strike="noStrike">
              <a:solidFill>
                <a:schemeClr val="dk1"/>
              </a:solidFill>
              <a:latin typeface="Calibri"/>
              <a:ea typeface="Calibri"/>
              <a:cs typeface="Calibri"/>
              <a:sym typeface="Calibri"/>
            </a:endParaRPr>
          </a:p>
        </p:txBody>
      </p:sp>
      <p:sp>
        <p:nvSpPr>
          <p:cNvPr id="185" name="Google Shape;185;p23"/>
          <p:cNvSpPr/>
          <p:nvPr/>
        </p:nvSpPr>
        <p:spPr>
          <a:xfrm>
            <a:off x="308610" y="4491990"/>
            <a:ext cx="8503800" cy="480000"/>
          </a:xfrm>
          <a:prstGeom prst="rect">
            <a:avLst/>
          </a:prstGeom>
          <a:noFill/>
          <a:ln cap="flat" cmpd="sng" w="12700">
            <a:solidFill>
              <a:srgbClr val="5B21B6">
                <a:alpha val="502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3"/>
          <p:cNvSpPr/>
          <p:nvPr/>
        </p:nvSpPr>
        <p:spPr>
          <a:xfrm>
            <a:off x="308610" y="4491990"/>
            <a:ext cx="8503800" cy="4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000"/>
              <a:buFont typeface="Calibri"/>
              <a:buNone/>
            </a:pPr>
            <a:r>
              <a:rPr b="0" i="0" lang="en" u="none" cap="none" strike="noStrike">
                <a:solidFill>
                  <a:schemeClr val="dk1"/>
                </a:solidFill>
                <a:latin typeface="Calibri"/>
                <a:ea typeface="Calibri"/>
                <a:cs typeface="Calibri"/>
                <a:sym typeface="Calibri"/>
              </a:rPr>
              <a:t>MultiHead(X)  =  Concat( head₁ … headₕ ) · </a:t>
            </a:r>
            <a:r>
              <a:rPr b="1" i="0" lang="en" sz="1500" u="none" cap="none" strike="noStrike">
                <a:solidFill>
                  <a:schemeClr val="dk1"/>
                </a:solidFill>
                <a:latin typeface="Calibri"/>
                <a:ea typeface="Calibri"/>
                <a:cs typeface="Calibri"/>
                <a:sym typeface="Calibri"/>
              </a:rPr>
              <a:t>Wᴼ</a:t>
            </a:r>
            <a:r>
              <a:rPr b="0" i="0" lang="en" u="none" cap="none" strike="noStrike">
                <a:solidFill>
                  <a:schemeClr val="dk1"/>
                </a:solidFill>
                <a:latin typeface="Calibri"/>
                <a:ea typeface="Calibri"/>
                <a:cs typeface="Calibri"/>
                <a:sym typeface="Calibri"/>
              </a:rPr>
              <a:t>       headᵢ = softmax( QᵢKᵢᵀ / √dₖ ) Vᵢ</a:t>
            </a:r>
            <a:endParaRPr b="0" i="0" u="none" cap="none" strike="noStrike">
              <a:solidFill>
                <a:schemeClr val="dk1"/>
              </a:solidFill>
              <a:latin typeface="Calibri"/>
              <a:ea typeface="Calibri"/>
              <a:cs typeface="Calibri"/>
              <a:sym typeface="Calibri"/>
            </a:endParaRPr>
          </a:p>
        </p:txBody>
      </p:sp>
      <p:pic>
        <p:nvPicPr>
          <p:cNvPr id="187" name="Google Shape;187;p2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88" name="Google Shape;188;p23"/>
          <p:cNvSpPr/>
          <p:nvPr/>
        </p:nvSpPr>
        <p:spPr>
          <a:xfrm>
            <a:off x="339133" y="18847"/>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24"/>
          <p:cNvSpPr/>
          <p:nvPr/>
        </p:nvSpPr>
        <p:spPr>
          <a:xfrm>
            <a:off x="2368107" y="260573"/>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700" u="none" cap="none" strike="noStrike">
                <a:solidFill>
                  <a:srgbClr val="1A1F26"/>
                </a:solidFill>
                <a:latin typeface="Calibri"/>
                <a:ea typeface="Calibri"/>
                <a:cs typeface="Calibri"/>
                <a:sym typeface="Calibri"/>
              </a:rPr>
              <a:t>2-Head Attention — Concrete Calculation</a:t>
            </a:r>
            <a:endParaRPr b="0" i="0" sz="2700" u="none" cap="none" strike="noStrike">
              <a:solidFill>
                <a:schemeClr val="dk1"/>
              </a:solidFill>
              <a:latin typeface="Calibri"/>
              <a:ea typeface="Calibri"/>
              <a:cs typeface="Calibri"/>
              <a:sym typeface="Calibri"/>
            </a:endParaRPr>
          </a:p>
        </p:txBody>
      </p:sp>
      <p:sp>
        <p:nvSpPr>
          <p:cNvPr id="195" name="Google Shape;195;p24"/>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x₁="animal"  x₂="it"  ·  X = [[1,0],[0,1]]  ·  Each head dim = 1</a:t>
            </a:r>
            <a:endParaRPr b="0" i="0" sz="1200" u="none" cap="none" strike="noStrike">
              <a:solidFill>
                <a:schemeClr val="dk1"/>
              </a:solidFill>
              <a:latin typeface="Calibri"/>
              <a:ea typeface="Calibri"/>
              <a:cs typeface="Calibri"/>
              <a:sym typeface="Calibri"/>
            </a:endParaRPr>
          </a:p>
        </p:txBody>
      </p:sp>
      <p:sp>
        <p:nvSpPr>
          <p:cNvPr id="196" name="Google Shape;196;p24"/>
          <p:cNvSpPr/>
          <p:nvPr/>
        </p:nvSpPr>
        <p:spPr>
          <a:xfrm>
            <a:off x="308600" y="1248151"/>
            <a:ext cx="4080600" cy="2776800"/>
          </a:xfrm>
          <a:prstGeom prst="rect">
            <a:avLst/>
          </a:prstGeom>
          <a:solidFill>
            <a:schemeClr val="lt1"/>
          </a:solidFill>
          <a:ln cap="flat" cmpd="sng" w="12700">
            <a:solidFill>
              <a:srgbClr val="0077A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4"/>
          <p:cNvSpPr/>
          <p:nvPr/>
        </p:nvSpPr>
        <p:spPr>
          <a:xfrm>
            <a:off x="445770" y="1248156"/>
            <a:ext cx="3806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300" u="none" cap="none" strike="noStrike">
                <a:solidFill>
                  <a:schemeClr val="dk1"/>
                </a:solidFill>
                <a:latin typeface="Calibri"/>
                <a:ea typeface="Calibri"/>
                <a:cs typeface="Calibri"/>
                <a:sym typeface="Calibri"/>
              </a:rPr>
              <a:t>HEAD 1</a:t>
            </a:r>
            <a:endParaRPr b="0" i="0" sz="1300" u="none" cap="none" strike="noStrike">
              <a:solidFill>
                <a:schemeClr val="dk1"/>
              </a:solidFill>
              <a:latin typeface="Calibri"/>
              <a:ea typeface="Calibri"/>
              <a:cs typeface="Calibri"/>
              <a:sym typeface="Calibri"/>
            </a:endParaRPr>
          </a:p>
        </p:txBody>
      </p:sp>
      <p:sp>
        <p:nvSpPr>
          <p:cNvPr id="198" name="Google Shape;198;p24"/>
          <p:cNvSpPr/>
          <p:nvPr/>
        </p:nvSpPr>
        <p:spPr>
          <a:xfrm>
            <a:off x="445770" y="1625346"/>
            <a:ext cx="3806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0" i="1" lang="en" sz="1000" u="none" cap="none" strike="noStrike">
                <a:solidFill>
                  <a:schemeClr val="dk1"/>
                </a:solidFill>
                <a:latin typeface="Calibri"/>
                <a:ea typeface="Calibri"/>
                <a:cs typeface="Calibri"/>
                <a:sym typeface="Calibri"/>
              </a:rPr>
              <a:t>→ focuses on "animal" (coreference)</a:t>
            </a:r>
            <a:endParaRPr b="0" i="0" sz="1000" u="none" cap="none" strike="noStrike">
              <a:solidFill>
                <a:schemeClr val="dk1"/>
              </a:solidFill>
              <a:latin typeface="Calibri"/>
              <a:ea typeface="Calibri"/>
              <a:cs typeface="Calibri"/>
              <a:sym typeface="Calibri"/>
            </a:endParaRPr>
          </a:p>
        </p:txBody>
      </p:sp>
      <p:sp>
        <p:nvSpPr>
          <p:cNvPr id="199" name="Google Shape;199;p24"/>
          <p:cNvSpPr/>
          <p:nvPr/>
        </p:nvSpPr>
        <p:spPr>
          <a:xfrm>
            <a:off x="445770" y="1879092"/>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ourier New"/>
              <a:buNone/>
            </a:pPr>
            <a:r>
              <a:rPr i="0" lang="en" sz="1200" u="none" cap="none" strike="noStrike">
                <a:solidFill>
                  <a:schemeClr val="dk1"/>
                </a:solidFill>
                <a:latin typeface="Calibri"/>
                <a:ea typeface="Calibri"/>
                <a:cs typeface="Calibri"/>
                <a:sym typeface="Calibri"/>
              </a:rPr>
              <a:t>W</a:t>
            </a:r>
            <a:r>
              <a:rPr baseline="-25000" i="0" lang="en" sz="1200" u="none" cap="none" strike="noStrike">
                <a:solidFill>
                  <a:schemeClr val="dk1"/>
                </a:solidFill>
                <a:latin typeface="Calibri"/>
                <a:ea typeface="Calibri"/>
                <a:cs typeface="Calibri"/>
                <a:sym typeface="Calibri"/>
              </a:rPr>
              <a:t>Q</a:t>
            </a:r>
            <a:r>
              <a:rPr i="0" lang="en" sz="1200" u="none" cap="none" strike="noStrike">
                <a:solidFill>
                  <a:schemeClr val="dk1"/>
                </a:solidFill>
                <a:latin typeface="Calibri"/>
                <a:ea typeface="Calibri"/>
                <a:cs typeface="Calibri"/>
                <a:sym typeface="Calibri"/>
              </a:rPr>
              <a:t>=[[1,1]ᵀ]  W</a:t>
            </a:r>
            <a:r>
              <a:rPr baseline="-25000" i="0" lang="en" sz="1200" u="none" cap="none" strike="noStrike">
                <a:solidFill>
                  <a:schemeClr val="dk1"/>
                </a:solidFill>
                <a:latin typeface="Calibri"/>
                <a:ea typeface="Calibri"/>
                <a:cs typeface="Calibri"/>
                <a:sym typeface="Calibri"/>
              </a:rPr>
              <a:t>K</a:t>
            </a:r>
            <a:r>
              <a:rPr i="0" lang="en" sz="1200" u="none" cap="none" strike="noStrike">
                <a:solidFill>
                  <a:schemeClr val="dk1"/>
                </a:solidFill>
                <a:latin typeface="Calibri"/>
                <a:ea typeface="Calibri"/>
                <a:cs typeface="Calibri"/>
                <a:sym typeface="Calibri"/>
              </a:rPr>
              <a:t>=[[1,0]ᵀ]  W</a:t>
            </a:r>
            <a:r>
              <a:rPr baseline="-25000" i="0" lang="en" sz="1200" u="none" cap="none" strike="noStrike">
                <a:solidFill>
                  <a:schemeClr val="dk1"/>
                </a:solidFill>
                <a:latin typeface="Calibri"/>
                <a:ea typeface="Calibri"/>
                <a:cs typeface="Calibri"/>
                <a:sym typeface="Calibri"/>
              </a:rPr>
              <a:t>V</a:t>
            </a:r>
            <a:r>
              <a:rPr i="0" lang="en" sz="1200" u="none" cap="none" strike="noStrike">
                <a:solidFill>
                  <a:schemeClr val="dk1"/>
                </a:solidFill>
                <a:latin typeface="Calibri"/>
                <a:ea typeface="Calibri"/>
                <a:cs typeface="Calibri"/>
                <a:sym typeface="Calibri"/>
              </a:rPr>
              <a:t>=[[2,0]ᵀ]</a:t>
            </a:r>
            <a:endParaRPr i="0" sz="1200" u="none" cap="none" strike="noStrike">
              <a:solidFill>
                <a:schemeClr val="dk1"/>
              </a:solidFill>
              <a:latin typeface="Calibri"/>
              <a:ea typeface="Calibri"/>
              <a:cs typeface="Calibri"/>
              <a:sym typeface="Calibri"/>
            </a:endParaRPr>
          </a:p>
        </p:txBody>
      </p:sp>
      <p:sp>
        <p:nvSpPr>
          <p:cNvPr id="200" name="Google Shape;200;p24"/>
          <p:cNvSpPr/>
          <p:nvPr/>
        </p:nvSpPr>
        <p:spPr>
          <a:xfrm>
            <a:off x="445770" y="2125980"/>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ourier New"/>
              <a:buNone/>
            </a:pPr>
            <a:r>
              <a:rPr i="0" lang="en" sz="1200" u="none" cap="none" strike="noStrike">
                <a:solidFill>
                  <a:schemeClr val="dk1"/>
                </a:solidFill>
                <a:latin typeface="Calibri"/>
                <a:ea typeface="Calibri"/>
                <a:cs typeface="Calibri"/>
                <a:sym typeface="Calibri"/>
              </a:rPr>
              <a:t>Q=[1,1]ᵀ  K=[1,0]ᵀ  V=[2,0]ᵀ</a:t>
            </a:r>
            <a:endParaRPr i="0" sz="1200" u="none" cap="none" strike="noStrike">
              <a:solidFill>
                <a:schemeClr val="dk1"/>
              </a:solidFill>
              <a:latin typeface="Calibri"/>
              <a:ea typeface="Calibri"/>
              <a:cs typeface="Calibri"/>
              <a:sym typeface="Calibri"/>
            </a:endParaRPr>
          </a:p>
        </p:txBody>
      </p:sp>
      <p:sp>
        <p:nvSpPr>
          <p:cNvPr id="201" name="Google Shape;201;p24"/>
          <p:cNvSpPr/>
          <p:nvPr/>
        </p:nvSpPr>
        <p:spPr>
          <a:xfrm>
            <a:off x="445770" y="2372868"/>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ourier New"/>
              <a:buNone/>
            </a:pPr>
            <a:r>
              <a:rPr i="0" lang="en" sz="1200" u="none" cap="none" strike="noStrike">
                <a:solidFill>
                  <a:schemeClr val="dk1"/>
                </a:solidFill>
                <a:latin typeface="Calibri"/>
                <a:ea typeface="Calibri"/>
                <a:cs typeface="Calibri"/>
                <a:sym typeface="Calibri"/>
              </a:rPr>
              <a:t>QKᵀ = [[1,0],[1,0]]</a:t>
            </a:r>
            <a:endParaRPr i="0" sz="1200" u="none" cap="none" strike="noStrike">
              <a:solidFill>
                <a:schemeClr val="dk1"/>
              </a:solidFill>
              <a:latin typeface="Calibri"/>
              <a:ea typeface="Calibri"/>
              <a:cs typeface="Calibri"/>
              <a:sym typeface="Calibri"/>
            </a:endParaRPr>
          </a:p>
        </p:txBody>
      </p:sp>
      <p:sp>
        <p:nvSpPr>
          <p:cNvPr id="202" name="Google Shape;202;p24"/>
          <p:cNvSpPr/>
          <p:nvPr/>
        </p:nvSpPr>
        <p:spPr>
          <a:xfrm>
            <a:off x="445770" y="2647188"/>
            <a:ext cx="3771900" cy="425100"/>
          </a:xfrm>
          <a:prstGeom prst="rect">
            <a:avLst/>
          </a:prstGeom>
          <a:solidFill>
            <a:srgbClr val="D0D7DE"/>
          </a:solid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4"/>
          <p:cNvSpPr/>
          <p:nvPr/>
        </p:nvSpPr>
        <p:spPr>
          <a:xfrm>
            <a:off x="445770" y="2647188"/>
            <a:ext cx="3771900" cy="4251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047857"/>
              </a:buClr>
              <a:buSzPts val="800"/>
              <a:buFont typeface="Courier New"/>
              <a:buNone/>
            </a:pPr>
            <a:r>
              <a:rPr lang="en" sz="1000">
                <a:solidFill>
                  <a:schemeClr val="dk1"/>
                </a:solidFill>
                <a:latin typeface="Calibri"/>
                <a:ea typeface="Calibri"/>
                <a:cs typeface="Calibri"/>
                <a:sym typeface="Calibri"/>
              </a:rPr>
              <a:t>                 </a:t>
            </a:r>
            <a:r>
              <a:rPr i="0" lang="en" sz="1300" u="none" cap="none" strike="noStrike">
                <a:solidFill>
                  <a:schemeClr val="dk1"/>
                </a:solidFill>
                <a:latin typeface="Calibri"/>
                <a:ea typeface="Calibri"/>
                <a:cs typeface="Calibri"/>
                <a:sym typeface="Calibri"/>
              </a:rPr>
              <a:t>A = softmax → [[0.73,0.27],[0.73,0.27]]</a:t>
            </a:r>
            <a:endParaRPr i="0" sz="1300" u="none" cap="none" strike="noStrike">
              <a:solidFill>
                <a:schemeClr val="dk1"/>
              </a:solidFill>
              <a:latin typeface="Calibri"/>
              <a:ea typeface="Calibri"/>
              <a:cs typeface="Calibri"/>
              <a:sym typeface="Calibri"/>
            </a:endParaRPr>
          </a:p>
        </p:txBody>
      </p:sp>
      <p:sp>
        <p:nvSpPr>
          <p:cNvPr id="204" name="Google Shape;204;p24"/>
          <p:cNvSpPr/>
          <p:nvPr/>
        </p:nvSpPr>
        <p:spPr>
          <a:xfrm>
            <a:off x="445770" y="3154680"/>
            <a:ext cx="3771900" cy="720000"/>
          </a:xfrm>
          <a:prstGeom prst="rect">
            <a:avLst/>
          </a:prstGeom>
          <a:solidFill>
            <a:srgbClr val="D0D7DE"/>
          </a:solidFill>
          <a:ln cap="flat" cmpd="sng" w="12700">
            <a:solidFill>
              <a:srgbClr val="0077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4"/>
          <p:cNvSpPr/>
          <p:nvPr/>
        </p:nvSpPr>
        <p:spPr>
          <a:xfrm>
            <a:off x="445770" y="3154680"/>
            <a:ext cx="3771900" cy="720000"/>
          </a:xfrm>
          <a:prstGeom prst="rect">
            <a:avLst/>
          </a:prstGeom>
          <a:solidFill>
            <a:schemeClr val="lt1"/>
          </a:solidFill>
          <a:ln>
            <a:noFill/>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0077AA"/>
              </a:buClr>
              <a:buSzPts val="800"/>
              <a:buFont typeface="Courier New"/>
              <a:buNone/>
            </a:pPr>
            <a:r>
              <a:rPr lang="en" sz="800">
                <a:solidFill>
                  <a:srgbClr val="0077AA"/>
                </a:solidFill>
                <a:latin typeface="Courier New"/>
                <a:ea typeface="Courier New"/>
                <a:cs typeface="Courier New"/>
                <a:sym typeface="Courier New"/>
              </a:rPr>
              <a:t>    </a:t>
            </a:r>
            <a:r>
              <a:rPr i="0" lang="en" sz="1200" u="none" cap="none" strike="noStrike">
                <a:solidFill>
                  <a:schemeClr val="dk1"/>
                </a:solidFill>
                <a:latin typeface="Calibri"/>
                <a:ea typeface="Calibri"/>
                <a:cs typeface="Calibri"/>
                <a:sym typeface="Calibri"/>
              </a:rPr>
              <a:t>Output:</a:t>
            </a:r>
            <a:r>
              <a:rPr lang="en" sz="1200">
                <a:solidFill>
                  <a:schemeClr val="dk1"/>
                </a:solidFill>
                <a:latin typeface="Calibri"/>
                <a:ea typeface="Calibri"/>
                <a:cs typeface="Calibri"/>
                <a:sym typeface="Calibri"/>
              </a:rPr>
              <a:t>   </a:t>
            </a:r>
            <a:r>
              <a:rPr i="0" lang="en" sz="1200" u="none" cap="none" strike="noStrike">
                <a:solidFill>
                  <a:schemeClr val="dk1"/>
                </a:solidFill>
                <a:latin typeface="Calibri"/>
                <a:ea typeface="Calibri"/>
                <a:cs typeface="Calibri"/>
                <a:sym typeface="Calibri"/>
              </a:rPr>
              <a:t>animal=[1.46]  it=[1.46]</a:t>
            </a:r>
            <a:endParaRPr i="0" sz="1200" u="none" cap="none" strike="noStrike">
              <a:solidFill>
                <a:schemeClr val="dk1"/>
              </a:solidFill>
              <a:latin typeface="Calibri"/>
              <a:ea typeface="Calibri"/>
              <a:cs typeface="Calibri"/>
              <a:sym typeface="Calibri"/>
            </a:endParaRPr>
          </a:p>
        </p:txBody>
      </p:sp>
      <p:sp>
        <p:nvSpPr>
          <p:cNvPr id="206" name="Google Shape;206;p24"/>
          <p:cNvSpPr/>
          <p:nvPr/>
        </p:nvSpPr>
        <p:spPr>
          <a:xfrm>
            <a:off x="4718300" y="1248151"/>
            <a:ext cx="4080600" cy="2839500"/>
          </a:xfrm>
          <a:prstGeom prst="rect">
            <a:avLst/>
          </a:prstGeom>
          <a:solidFill>
            <a:schemeClr val="lt1"/>
          </a:solidFill>
          <a:ln cap="flat" cmpd="sng" w="12700">
            <a:solidFill>
              <a:srgbClr val="B45309"/>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4"/>
          <p:cNvSpPr/>
          <p:nvPr/>
        </p:nvSpPr>
        <p:spPr>
          <a:xfrm>
            <a:off x="4855464" y="1248156"/>
            <a:ext cx="3806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300" u="none" cap="none" strike="noStrike">
                <a:solidFill>
                  <a:srgbClr val="1A1F26"/>
                </a:solidFill>
                <a:latin typeface="Calibri"/>
                <a:ea typeface="Calibri"/>
                <a:cs typeface="Calibri"/>
                <a:sym typeface="Calibri"/>
              </a:rPr>
              <a:t>HEAD 2</a:t>
            </a:r>
            <a:endParaRPr b="0" i="0" sz="1300" u="none" cap="none" strike="noStrike">
              <a:solidFill>
                <a:schemeClr val="dk1"/>
              </a:solidFill>
              <a:latin typeface="Calibri"/>
              <a:ea typeface="Calibri"/>
              <a:cs typeface="Calibri"/>
              <a:sym typeface="Calibri"/>
            </a:endParaRPr>
          </a:p>
        </p:txBody>
      </p:sp>
      <p:sp>
        <p:nvSpPr>
          <p:cNvPr id="208" name="Google Shape;208;p24"/>
          <p:cNvSpPr/>
          <p:nvPr/>
        </p:nvSpPr>
        <p:spPr>
          <a:xfrm>
            <a:off x="4855464" y="1625346"/>
            <a:ext cx="3806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0" i="1" lang="en" sz="1000" u="none" cap="none" strike="noStrike">
                <a:solidFill>
                  <a:schemeClr val="dk1"/>
                </a:solidFill>
                <a:latin typeface="Calibri"/>
                <a:ea typeface="Calibri"/>
                <a:cs typeface="Calibri"/>
                <a:sym typeface="Calibri"/>
              </a:rPr>
              <a:t>→ focuses on self / context</a:t>
            </a:r>
            <a:endParaRPr b="0" i="0" sz="1000" u="none" cap="none" strike="noStrike">
              <a:solidFill>
                <a:schemeClr val="dk1"/>
              </a:solidFill>
              <a:latin typeface="Calibri"/>
              <a:ea typeface="Calibri"/>
              <a:cs typeface="Calibri"/>
              <a:sym typeface="Calibri"/>
            </a:endParaRPr>
          </a:p>
        </p:txBody>
      </p:sp>
      <p:sp>
        <p:nvSpPr>
          <p:cNvPr id="209" name="Google Shape;209;p24"/>
          <p:cNvSpPr/>
          <p:nvPr/>
        </p:nvSpPr>
        <p:spPr>
          <a:xfrm>
            <a:off x="4855464" y="1879092"/>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ourier New"/>
              <a:buNone/>
            </a:pPr>
            <a:r>
              <a:rPr i="0" lang="en" sz="1100" u="none" cap="none" strike="noStrike">
                <a:solidFill>
                  <a:schemeClr val="dk1"/>
                </a:solidFill>
                <a:latin typeface="Calibri"/>
                <a:ea typeface="Calibri"/>
                <a:cs typeface="Calibri"/>
                <a:sym typeface="Calibri"/>
              </a:rPr>
              <a:t>W</a:t>
            </a:r>
            <a:r>
              <a:rPr baseline="-25000" i="0" lang="en" sz="1100" u="none" cap="none" strike="noStrike">
                <a:solidFill>
                  <a:schemeClr val="dk1"/>
                </a:solidFill>
                <a:latin typeface="Calibri"/>
                <a:ea typeface="Calibri"/>
                <a:cs typeface="Calibri"/>
                <a:sym typeface="Calibri"/>
              </a:rPr>
              <a:t>Q</a:t>
            </a:r>
            <a:r>
              <a:rPr i="0" lang="en" sz="1100" u="none" cap="none" strike="noStrike">
                <a:solidFill>
                  <a:schemeClr val="dk1"/>
                </a:solidFill>
                <a:latin typeface="Calibri"/>
                <a:ea typeface="Calibri"/>
                <a:cs typeface="Calibri"/>
                <a:sym typeface="Calibri"/>
              </a:rPr>
              <a:t>=[[0,1]ᵀ]  W</a:t>
            </a:r>
            <a:r>
              <a:rPr baseline="-25000" i="0" lang="en" sz="1100" u="none" cap="none" strike="noStrike">
                <a:solidFill>
                  <a:schemeClr val="dk1"/>
                </a:solidFill>
                <a:latin typeface="Calibri"/>
                <a:ea typeface="Calibri"/>
                <a:cs typeface="Calibri"/>
                <a:sym typeface="Calibri"/>
              </a:rPr>
              <a:t>K</a:t>
            </a:r>
            <a:r>
              <a:rPr i="0" lang="en" sz="1100" u="none" cap="none" strike="noStrike">
                <a:solidFill>
                  <a:schemeClr val="dk1"/>
                </a:solidFill>
                <a:latin typeface="Calibri"/>
                <a:ea typeface="Calibri"/>
                <a:cs typeface="Calibri"/>
                <a:sym typeface="Calibri"/>
              </a:rPr>
              <a:t>=[[0,1]ᵀ]  W</a:t>
            </a:r>
            <a:r>
              <a:rPr baseline="-25000" i="0" lang="en" sz="1100" u="none" cap="none" strike="noStrike">
                <a:solidFill>
                  <a:schemeClr val="dk1"/>
                </a:solidFill>
                <a:latin typeface="Calibri"/>
                <a:ea typeface="Calibri"/>
                <a:cs typeface="Calibri"/>
                <a:sym typeface="Calibri"/>
              </a:rPr>
              <a:t>V</a:t>
            </a:r>
            <a:r>
              <a:rPr i="0" lang="en" sz="1100" u="none" cap="none" strike="noStrike">
                <a:solidFill>
                  <a:schemeClr val="dk1"/>
                </a:solidFill>
                <a:latin typeface="Calibri"/>
                <a:ea typeface="Calibri"/>
                <a:cs typeface="Calibri"/>
                <a:sym typeface="Calibri"/>
              </a:rPr>
              <a:t>=[[0,3]ᵀ]</a:t>
            </a:r>
            <a:endParaRPr i="0" sz="1100" u="none" cap="none" strike="noStrike">
              <a:solidFill>
                <a:schemeClr val="dk1"/>
              </a:solidFill>
              <a:latin typeface="Calibri"/>
              <a:ea typeface="Calibri"/>
              <a:cs typeface="Calibri"/>
              <a:sym typeface="Calibri"/>
            </a:endParaRPr>
          </a:p>
        </p:txBody>
      </p:sp>
      <p:sp>
        <p:nvSpPr>
          <p:cNvPr id="210" name="Google Shape;210;p24"/>
          <p:cNvSpPr/>
          <p:nvPr/>
        </p:nvSpPr>
        <p:spPr>
          <a:xfrm>
            <a:off x="4855464" y="2125980"/>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ourier New"/>
              <a:buNone/>
            </a:pPr>
            <a:r>
              <a:rPr i="0" lang="en" sz="1100" u="none" cap="none" strike="noStrike">
                <a:solidFill>
                  <a:schemeClr val="dk1"/>
                </a:solidFill>
                <a:latin typeface="Calibri"/>
                <a:ea typeface="Calibri"/>
                <a:cs typeface="Calibri"/>
                <a:sym typeface="Calibri"/>
              </a:rPr>
              <a:t>Q=[0,1]ᵀ  K=[0,1]ᵀ  V=[0,3]ᵀ</a:t>
            </a:r>
            <a:endParaRPr i="0" sz="1100" u="none" cap="none" strike="noStrike">
              <a:solidFill>
                <a:schemeClr val="dk1"/>
              </a:solidFill>
              <a:latin typeface="Calibri"/>
              <a:ea typeface="Calibri"/>
              <a:cs typeface="Calibri"/>
              <a:sym typeface="Calibri"/>
            </a:endParaRPr>
          </a:p>
        </p:txBody>
      </p:sp>
      <p:sp>
        <p:nvSpPr>
          <p:cNvPr id="211" name="Google Shape;211;p24"/>
          <p:cNvSpPr/>
          <p:nvPr/>
        </p:nvSpPr>
        <p:spPr>
          <a:xfrm>
            <a:off x="4855464" y="2372868"/>
            <a:ext cx="3771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ourier New"/>
              <a:buNone/>
            </a:pPr>
            <a:r>
              <a:rPr i="0" lang="en" sz="1100" u="none" cap="none" strike="noStrike">
                <a:solidFill>
                  <a:schemeClr val="dk1"/>
                </a:solidFill>
                <a:latin typeface="Calibri"/>
                <a:ea typeface="Calibri"/>
                <a:cs typeface="Calibri"/>
                <a:sym typeface="Calibri"/>
              </a:rPr>
              <a:t>QKᵀ = [[0,0],[0,1]]</a:t>
            </a:r>
            <a:endParaRPr i="0" sz="1100" u="none" cap="none" strike="noStrike">
              <a:solidFill>
                <a:schemeClr val="dk1"/>
              </a:solidFill>
              <a:latin typeface="Calibri"/>
              <a:ea typeface="Calibri"/>
              <a:cs typeface="Calibri"/>
              <a:sym typeface="Calibri"/>
            </a:endParaRPr>
          </a:p>
        </p:txBody>
      </p:sp>
      <p:sp>
        <p:nvSpPr>
          <p:cNvPr id="212" name="Google Shape;212;p24"/>
          <p:cNvSpPr/>
          <p:nvPr/>
        </p:nvSpPr>
        <p:spPr>
          <a:xfrm>
            <a:off x="4855464" y="2647188"/>
            <a:ext cx="3771900" cy="425100"/>
          </a:xfrm>
          <a:prstGeom prst="rect">
            <a:avLst/>
          </a:prstGeom>
          <a:solidFill>
            <a:schemeClr val="lt1"/>
          </a:solid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4"/>
          <p:cNvSpPr/>
          <p:nvPr/>
        </p:nvSpPr>
        <p:spPr>
          <a:xfrm>
            <a:off x="4872639" y="2661026"/>
            <a:ext cx="3771900" cy="425100"/>
          </a:xfrm>
          <a:prstGeom prst="rect">
            <a:avLst/>
          </a:prstGeom>
          <a:noFill/>
          <a:ln>
            <a:noFill/>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047857"/>
              </a:buClr>
              <a:buSzPts val="800"/>
              <a:buFont typeface="Courier New"/>
              <a:buNone/>
            </a:pPr>
            <a:r>
              <a:rPr lang="en" sz="1300">
                <a:solidFill>
                  <a:schemeClr val="dk1"/>
                </a:solidFill>
                <a:latin typeface="Calibri"/>
                <a:ea typeface="Calibri"/>
                <a:cs typeface="Calibri"/>
                <a:sym typeface="Calibri"/>
              </a:rPr>
              <a:t>                </a:t>
            </a:r>
            <a:r>
              <a:rPr i="0" lang="en" sz="1300" u="none" cap="none" strike="noStrike">
                <a:solidFill>
                  <a:schemeClr val="dk1"/>
                </a:solidFill>
                <a:latin typeface="Calibri"/>
                <a:ea typeface="Calibri"/>
                <a:cs typeface="Calibri"/>
                <a:sym typeface="Calibri"/>
              </a:rPr>
              <a:t>A = softmax → [[0.5,0.5],[0.27,0.73]]</a:t>
            </a:r>
            <a:endParaRPr i="0" sz="1300" u="none" cap="none" strike="noStrike">
              <a:solidFill>
                <a:schemeClr val="dk1"/>
              </a:solidFill>
              <a:latin typeface="Calibri"/>
              <a:ea typeface="Calibri"/>
              <a:cs typeface="Calibri"/>
              <a:sym typeface="Calibri"/>
            </a:endParaRPr>
          </a:p>
        </p:txBody>
      </p:sp>
      <p:sp>
        <p:nvSpPr>
          <p:cNvPr id="214" name="Google Shape;214;p24"/>
          <p:cNvSpPr/>
          <p:nvPr/>
        </p:nvSpPr>
        <p:spPr>
          <a:xfrm>
            <a:off x="4855464" y="3154680"/>
            <a:ext cx="3771900" cy="720000"/>
          </a:xfrm>
          <a:prstGeom prst="rect">
            <a:avLst/>
          </a:prstGeom>
          <a:no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4"/>
          <p:cNvSpPr/>
          <p:nvPr/>
        </p:nvSpPr>
        <p:spPr>
          <a:xfrm>
            <a:off x="4855464" y="3183993"/>
            <a:ext cx="3771900" cy="720000"/>
          </a:xfrm>
          <a:prstGeom prst="rect">
            <a:avLst/>
          </a:prstGeom>
          <a:noFill/>
          <a:ln>
            <a:noFill/>
          </a:ln>
        </p:spPr>
        <p:txBody>
          <a:bodyPr anchorCtr="0" anchor="ctr" bIns="0" lIns="0" spcFirstLastPara="1" rIns="0" wrap="square" tIns="76200">
            <a:noAutofit/>
          </a:bodyPr>
          <a:lstStyle/>
          <a:p>
            <a:pPr indent="0" lvl="0" marL="0" marR="0" rtl="0" algn="l">
              <a:lnSpc>
                <a:spcPct val="100000"/>
              </a:lnSpc>
              <a:spcBef>
                <a:spcPts val="0"/>
              </a:spcBef>
              <a:spcAft>
                <a:spcPts val="0"/>
              </a:spcAft>
              <a:buClr>
                <a:srgbClr val="B45309"/>
              </a:buClr>
              <a:buSzPts val="800"/>
              <a:buFont typeface="Courier New"/>
              <a:buNone/>
            </a:pPr>
            <a:r>
              <a:rPr lang="en" sz="1200">
                <a:solidFill>
                  <a:schemeClr val="dk1"/>
                </a:solidFill>
                <a:latin typeface="Calibri"/>
                <a:ea typeface="Calibri"/>
                <a:cs typeface="Calibri"/>
                <a:sym typeface="Calibri"/>
              </a:rPr>
              <a:t>                           </a:t>
            </a:r>
            <a:r>
              <a:rPr i="0" lang="en" sz="1200" u="none" cap="none" strike="noStrike">
                <a:solidFill>
                  <a:schemeClr val="dk1"/>
                </a:solidFill>
                <a:latin typeface="Calibri"/>
                <a:ea typeface="Calibri"/>
                <a:cs typeface="Calibri"/>
                <a:sym typeface="Calibri"/>
              </a:rPr>
              <a:t>Output:</a:t>
            </a:r>
            <a:r>
              <a:rPr lang="en" sz="1200">
                <a:solidFill>
                  <a:schemeClr val="dk1"/>
                </a:solidFill>
                <a:latin typeface="Calibri"/>
                <a:ea typeface="Calibri"/>
                <a:cs typeface="Calibri"/>
                <a:sym typeface="Calibri"/>
              </a:rPr>
              <a:t> </a:t>
            </a:r>
            <a:r>
              <a:rPr i="0" lang="en" sz="1200" u="none" cap="none" strike="noStrike">
                <a:solidFill>
                  <a:schemeClr val="dk1"/>
                </a:solidFill>
                <a:latin typeface="Calibri"/>
                <a:ea typeface="Calibri"/>
                <a:cs typeface="Calibri"/>
                <a:sym typeface="Calibri"/>
              </a:rPr>
              <a:t>animal=[1.5]   it=[2.19]</a:t>
            </a:r>
            <a:endParaRPr i="0" sz="1200" u="none" cap="none" strike="noStrike">
              <a:solidFill>
                <a:schemeClr val="dk1"/>
              </a:solidFill>
              <a:latin typeface="Calibri"/>
              <a:ea typeface="Calibri"/>
              <a:cs typeface="Calibri"/>
              <a:sym typeface="Calibri"/>
            </a:endParaRPr>
          </a:p>
        </p:txBody>
      </p:sp>
      <p:sp>
        <p:nvSpPr>
          <p:cNvPr id="216" name="Google Shape;216;p24"/>
          <p:cNvSpPr/>
          <p:nvPr/>
        </p:nvSpPr>
        <p:spPr>
          <a:xfrm>
            <a:off x="308600" y="4615667"/>
            <a:ext cx="8503800" cy="425100"/>
          </a:xfrm>
          <a:prstGeom prst="rect">
            <a:avLst/>
          </a:prstGeom>
          <a:solidFill>
            <a:schemeClr val="lt1"/>
          </a:solidFill>
          <a:ln cap="flat" cmpd="sng" w="12700">
            <a:solidFill>
              <a:srgbClr val="3B6D1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4"/>
          <p:cNvSpPr/>
          <p:nvPr/>
        </p:nvSpPr>
        <p:spPr>
          <a:xfrm>
            <a:off x="320110" y="4742430"/>
            <a:ext cx="8503800" cy="1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800"/>
              <a:buFont typeface="Calibri"/>
              <a:buNone/>
            </a:pPr>
            <a:r>
              <a:rPr b="0" i="0" lang="en" sz="1300" u="none" cap="none" strike="noStrike">
                <a:solidFill>
                  <a:schemeClr val="dk1"/>
                </a:solidFill>
                <a:latin typeface="Calibri"/>
                <a:ea typeface="Calibri"/>
                <a:cs typeface="Calibri"/>
                <a:sym typeface="Calibri"/>
              </a:rPr>
              <a:t>Concat → </a:t>
            </a:r>
            <a:r>
              <a:rPr b="1" i="0" lang="en" sz="1300" u="none" cap="none" strike="noStrike">
                <a:solidFill>
                  <a:schemeClr val="dk1"/>
                </a:solidFill>
                <a:latin typeface="Calibri"/>
                <a:ea typeface="Calibri"/>
                <a:cs typeface="Calibri"/>
                <a:sym typeface="Calibri"/>
              </a:rPr>
              <a:t>"animal":[1.46, 1.5]</a:t>
            </a:r>
            <a:r>
              <a:rPr b="0" i="0" lang="en" sz="1300" u="none" cap="none" strike="noStrike">
                <a:solidFill>
                  <a:schemeClr val="dk1"/>
                </a:solidFill>
                <a:latin typeface="Calibri"/>
                <a:ea typeface="Calibri"/>
                <a:cs typeface="Calibri"/>
                <a:sym typeface="Calibri"/>
              </a:rPr>
              <a:t>   |   </a:t>
            </a:r>
            <a:r>
              <a:rPr b="1" i="0" lang="en" sz="1300" u="none" cap="none" strike="noStrike">
                <a:solidFill>
                  <a:schemeClr val="dk1"/>
                </a:solidFill>
                <a:latin typeface="Calibri"/>
                <a:ea typeface="Calibri"/>
                <a:cs typeface="Calibri"/>
                <a:sym typeface="Calibri"/>
              </a:rPr>
              <a:t>"it":[1.46, 2.19]</a:t>
            </a:r>
            <a:r>
              <a:rPr b="0" i="0" lang="en" sz="1300" u="none" cap="none" strike="noStrike">
                <a:solidFill>
                  <a:schemeClr val="dk1"/>
                </a:solidFill>
                <a:latin typeface="Calibri"/>
                <a:ea typeface="Calibri"/>
                <a:cs typeface="Calibri"/>
                <a:sym typeface="Calibri"/>
              </a:rPr>
              <a:t>   →  multiply by Wᴼ for final output</a:t>
            </a:r>
            <a:endParaRPr b="0" i="0" sz="1300" u="none" cap="none" strike="noStrike">
              <a:solidFill>
                <a:schemeClr val="dk1"/>
              </a:solidFill>
              <a:latin typeface="Calibri"/>
              <a:ea typeface="Calibri"/>
              <a:cs typeface="Calibri"/>
              <a:sym typeface="Calibri"/>
            </a:endParaRPr>
          </a:p>
        </p:txBody>
      </p:sp>
      <p:pic>
        <p:nvPicPr>
          <p:cNvPr id="218" name="Google Shape;218;p24"/>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25"/>
          <p:cNvSpPr/>
          <p:nvPr/>
        </p:nvSpPr>
        <p:spPr>
          <a:xfrm>
            <a:off x="1618290" y="174292"/>
            <a:ext cx="63792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000"/>
              <a:buFont typeface="Calibri"/>
              <a:buNone/>
            </a:pPr>
            <a:r>
              <a:rPr b="1" i="0" lang="en" sz="2600" u="none" cap="none" strike="noStrike">
                <a:solidFill>
                  <a:srgbClr val="1A1F26"/>
                </a:solidFill>
                <a:latin typeface="Calibri"/>
                <a:ea typeface="Calibri"/>
                <a:cs typeface="Calibri"/>
                <a:sym typeface="Calibri"/>
              </a:rPr>
              <a:t>Head 1 vs Head 2 — Side-by-Side Comparison</a:t>
            </a:r>
            <a:endParaRPr b="0" i="0" sz="2600" u="none" cap="none" strike="noStrike">
              <a:solidFill>
                <a:schemeClr val="dk1"/>
              </a:solidFill>
              <a:latin typeface="Calibri"/>
              <a:ea typeface="Calibri"/>
              <a:cs typeface="Calibri"/>
              <a:sym typeface="Calibri"/>
            </a:endParaRPr>
          </a:p>
        </p:txBody>
      </p:sp>
      <p:sp>
        <p:nvSpPr>
          <p:cNvPr id="225" name="Google Shape;225;p25"/>
          <p:cNvSpPr/>
          <p:nvPr/>
        </p:nvSpPr>
        <p:spPr>
          <a:xfrm>
            <a:off x="319073" y="598825"/>
            <a:ext cx="672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i="0" lang="en" sz="1200" u="none" cap="none" strike="noStrike">
                <a:solidFill>
                  <a:schemeClr val="dk1"/>
                </a:solidFill>
                <a:latin typeface="Calibri"/>
                <a:ea typeface="Calibri"/>
                <a:cs typeface="Calibri"/>
                <a:sym typeface="Calibri"/>
              </a:rPr>
              <a:t>Same input X, different projection matrices → different attention patterns → complementary information</a:t>
            </a:r>
            <a:endParaRPr i="0" sz="1200" u="none" cap="none" strike="noStrike">
              <a:solidFill>
                <a:schemeClr val="dk1"/>
              </a:solidFill>
              <a:latin typeface="Calibri"/>
              <a:ea typeface="Calibri"/>
              <a:cs typeface="Calibri"/>
              <a:sym typeface="Calibri"/>
            </a:endParaRPr>
          </a:p>
        </p:txBody>
      </p:sp>
      <p:sp>
        <p:nvSpPr>
          <p:cNvPr id="226" name="Google Shape;226;p25"/>
          <p:cNvSpPr/>
          <p:nvPr/>
        </p:nvSpPr>
        <p:spPr>
          <a:xfrm>
            <a:off x="308610" y="850559"/>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27" name="Google Shape;227;p25"/>
          <p:cNvSpPr/>
          <p:nvPr/>
        </p:nvSpPr>
        <p:spPr>
          <a:xfrm>
            <a:off x="1337310" y="85055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28" name="Google Shape;228;p25"/>
          <p:cNvSpPr/>
          <p:nvPr/>
        </p:nvSpPr>
        <p:spPr>
          <a:xfrm>
            <a:off x="1405890" y="85055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1" i="0" lang="en" sz="1100" u="none" cap="none" strike="noStrike">
                <a:solidFill>
                  <a:schemeClr val="dk1"/>
                </a:solidFill>
                <a:latin typeface="Calibri"/>
                <a:ea typeface="Calibri"/>
                <a:cs typeface="Calibri"/>
                <a:sym typeface="Calibri"/>
              </a:rPr>
              <a:t>HEAD 1  (Coreference)</a:t>
            </a:r>
            <a:endParaRPr i="0" sz="1100" u="none" cap="none" strike="noStrike">
              <a:solidFill>
                <a:schemeClr val="dk1"/>
              </a:solidFill>
              <a:latin typeface="Calibri"/>
              <a:ea typeface="Calibri"/>
              <a:cs typeface="Calibri"/>
              <a:sym typeface="Calibri"/>
            </a:endParaRPr>
          </a:p>
        </p:txBody>
      </p:sp>
      <p:sp>
        <p:nvSpPr>
          <p:cNvPr id="229" name="Google Shape;229;p25"/>
          <p:cNvSpPr/>
          <p:nvPr/>
        </p:nvSpPr>
        <p:spPr>
          <a:xfrm>
            <a:off x="5177790" y="85055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0" name="Google Shape;230;p25"/>
          <p:cNvSpPr/>
          <p:nvPr/>
        </p:nvSpPr>
        <p:spPr>
          <a:xfrm>
            <a:off x="5246370" y="85055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1" i="0" lang="en" sz="1100" u="none" cap="none" strike="noStrike">
                <a:solidFill>
                  <a:schemeClr val="dk1"/>
                </a:solidFill>
                <a:latin typeface="Calibri"/>
                <a:ea typeface="Calibri"/>
                <a:cs typeface="Calibri"/>
                <a:sym typeface="Calibri"/>
              </a:rPr>
              <a:t>HEAD 2  (Self/Context)</a:t>
            </a:r>
            <a:endParaRPr i="0" sz="1100" u="none" cap="none" strike="noStrike">
              <a:solidFill>
                <a:schemeClr val="dk1"/>
              </a:solidFill>
              <a:latin typeface="Calibri"/>
              <a:ea typeface="Calibri"/>
              <a:cs typeface="Calibri"/>
              <a:sym typeface="Calibri"/>
            </a:endParaRPr>
          </a:p>
        </p:txBody>
      </p:sp>
      <p:sp>
        <p:nvSpPr>
          <p:cNvPr id="231" name="Google Shape;231;p25"/>
          <p:cNvSpPr/>
          <p:nvPr/>
        </p:nvSpPr>
        <p:spPr>
          <a:xfrm>
            <a:off x="308610" y="1234607"/>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2" name="Google Shape;232;p25"/>
          <p:cNvSpPr/>
          <p:nvPr/>
        </p:nvSpPr>
        <p:spPr>
          <a:xfrm>
            <a:off x="377190" y="1234607"/>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W</a:t>
            </a:r>
            <a:r>
              <a:rPr b="1" baseline="-25000" i="0" lang="en" sz="1100" u="none" cap="none" strike="noStrike">
                <a:solidFill>
                  <a:schemeClr val="dk1"/>
                </a:solidFill>
                <a:latin typeface="Calibri"/>
                <a:ea typeface="Calibri"/>
                <a:cs typeface="Calibri"/>
                <a:sym typeface="Calibri"/>
              </a:rPr>
              <a:t>Q</a:t>
            </a:r>
            <a:endParaRPr baseline="-25000" i="0" sz="1100" u="none" cap="none" strike="noStrike">
              <a:solidFill>
                <a:schemeClr val="dk1"/>
              </a:solidFill>
              <a:latin typeface="Calibri"/>
              <a:ea typeface="Calibri"/>
              <a:cs typeface="Calibri"/>
              <a:sym typeface="Calibri"/>
            </a:endParaRPr>
          </a:p>
        </p:txBody>
      </p:sp>
      <p:sp>
        <p:nvSpPr>
          <p:cNvPr id="233" name="Google Shape;233;p25"/>
          <p:cNvSpPr/>
          <p:nvPr/>
        </p:nvSpPr>
        <p:spPr>
          <a:xfrm>
            <a:off x="1337310" y="123460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4" name="Google Shape;234;p25"/>
          <p:cNvSpPr/>
          <p:nvPr/>
        </p:nvSpPr>
        <p:spPr>
          <a:xfrm>
            <a:off x="1405890" y="123460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alibri"/>
              <a:buNone/>
            </a:pPr>
            <a:r>
              <a:rPr i="0" lang="en" sz="1100" u="none" cap="none" strike="noStrike">
                <a:solidFill>
                  <a:schemeClr val="dk1"/>
                </a:solidFill>
                <a:latin typeface="Calibri"/>
                <a:ea typeface="Calibri"/>
                <a:cs typeface="Calibri"/>
                <a:sym typeface="Calibri"/>
              </a:rPr>
              <a:t>[1,1]ᵀ  —  both dims equally</a:t>
            </a:r>
            <a:endParaRPr i="0" sz="1100" u="none" cap="none" strike="noStrike">
              <a:solidFill>
                <a:schemeClr val="dk1"/>
              </a:solidFill>
              <a:latin typeface="Calibri"/>
              <a:ea typeface="Calibri"/>
              <a:cs typeface="Calibri"/>
              <a:sym typeface="Calibri"/>
            </a:endParaRPr>
          </a:p>
        </p:txBody>
      </p:sp>
      <p:sp>
        <p:nvSpPr>
          <p:cNvPr id="235" name="Google Shape;235;p25"/>
          <p:cNvSpPr/>
          <p:nvPr/>
        </p:nvSpPr>
        <p:spPr>
          <a:xfrm>
            <a:off x="5177790" y="123460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6" name="Google Shape;236;p25"/>
          <p:cNvSpPr/>
          <p:nvPr/>
        </p:nvSpPr>
        <p:spPr>
          <a:xfrm>
            <a:off x="5246370" y="123460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alibri"/>
              <a:buNone/>
            </a:pPr>
            <a:r>
              <a:rPr i="0" lang="en" sz="1100" u="none" cap="none" strike="noStrike">
                <a:solidFill>
                  <a:schemeClr val="dk1"/>
                </a:solidFill>
                <a:latin typeface="Calibri"/>
                <a:ea typeface="Calibri"/>
                <a:cs typeface="Calibri"/>
                <a:sym typeface="Calibri"/>
              </a:rPr>
              <a:t>[0,1]ᵀ  —  2nd dim only</a:t>
            </a:r>
            <a:endParaRPr i="0" sz="1100" u="none" cap="none" strike="noStrike">
              <a:solidFill>
                <a:schemeClr val="dk1"/>
              </a:solidFill>
              <a:latin typeface="Calibri"/>
              <a:ea typeface="Calibri"/>
              <a:cs typeface="Calibri"/>
              <a:sym typeface="Calibri"/>
            </a:endParaRPr>
          </a:p>
        </p:txBody>
      </p:sp>
      <p:sp>
        <p:nvSpPr>
          <p:cNvPr id="237" name="Google Shape;237;p25"/>
          <p:cNvSpPr/>
          <p:nvPr/>
        </p:nvSpPr>
        <p:spPr>
          <a:xfrm>
            <a:off x="308610" y="1618655"/>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38" name="Google Shape;238;p25"/>
          <p:cNvSpPr/>
          <p:nvPr/>
        </p:nvSpPr>
        <p:spPr>
          <a:xfrm>
            <a:off x="377190" y="1618655"/>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W</a:t>
            </a:r>
            <a:r>
              <a:rPr b="1" baseline="-25000" i="0" lang="en" sz="1100" u="none" cap="none" strike="noStrike">
                <a:solidFill>
                  <a:schemeClr val="dk1"/>
                </a:solidFill>
                <a:latin typeface="Calibri"/>
                <a:ea typeface="Calibri"/>
                <a:cs typeface="Calibri"/>
                <a:sym typeface="Calibri"/>
              </a:rPr>
              <a:t>K</a:t>
            </a:r>
            <a:endParaRPr baseline="-25000" i="0" sz="1100" u="none" cap="none" strike="noStrike">
              <a:solidFill>
                <a:schemeClr val="dk1"/>
              </a:solidFill>
              <a:latin typeface="Calibri"/>
              <a:ea typeface="Calibri"/>
              <a:cs typeface="Calibri"/>
              <a:sym typeface="Calibri"/>
            </a:endParaRPr>
          </a:p>
        </p:txBody>
      </p:sp>
      <p:sp>
        <p:nvSpPr>
          <p:cNvPr id="239" name="Google Shape;239;p25"/>
          <p:cNvSpPr/>
          <p:nvPr/>
        </p:nvSpPr>
        <p:spPr>
          <a:xfrm>
            <a:off x="1337310" y="161865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0" name="Google Shape;240;p25"/>
          <p:cNvSpPr/>
          <p:nvPr/>
        </p:nvSpPr>
        <p:spPr>
          <a:xfrm>
            <a:off x="1405890" y="161865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alibri"/>
              <a:buNone/>
            </a:pPr>
            <a:r>
              <a:rPr i="0" lang="en" sz="1100" u="none" cap="none" strike="noStrike">
                <a:solidFill>
                  <a:schemeClr val="dk1"/>
                </a:solidFill>
                <a:latin typeface="Calibri"/>
                <a:ea typeface="Calibri"/>
                <a:cs typeface="Calibri"/>
                <a:sym typeface="Calibri"/>
              </a:rPr>
              <a:t>[1,0]ᵀ  —  1st dim only</a:t>
            </a:r>
            <a:endParaRPr i="0" sz="1100" u="none" cap="none" strike="noStrike">
              <a:solidFill>
                <a:schemeClr val="dk1"/>
              </a:solidFill>
              <a:latin typeface="Calibri"/>
              <a:ea typeface="Calibri"/>
              <a:cs typeface="Calibri"/>
              <a:sym typeface="Calibri"/>
            </a:endParaRPr>
          </a:p>
        </p:txBody>
      </p:sp>
      <p:sp>
        <p:nvSpPr>
          <p:cNvPr id="241" name="Google Shape;241;p25"/>
          <p:cNvSpPr/>
          <p:nvPr/>
        </p:nvSpPr>
        <p:spPr>
          <a:xfrm>
            <a:off x="5177790" y="161865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2" name="Google Shape;242;p25"/>
          <p:cNvSpPr/>
          <p:nvPr/>
        </p:nvSpPr>
        <p:spPr>
          <a:xfrm>
            <a:off x="5246370" y="161865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alibri"/>
              <a:buNone/>
            </a:pPr>
            <a:r>
              <a:rPr i="0" lang="en" sz="1100" u="none" cap="none" strike="noStrike">
                <a:solidFill>
                  <a:schemeClr val="dk1"/>
                </a:solidFill>
                <a:latin typeface="Calibri"/>
                <a:ea typeface="Calibri"/>
                <a:cs typeface="Calibri"/>
                <a:sym typeface="Calibri"/>
              </a:rPr>
              <a:t>[0,1]ᵀ  —  2nd dim only</a:t>
            </a:r>
            <a:endParaRPr i="0" sz="1100" u="none" cap="none" strike="noStrike">
              <a:solidFill>
                <a:schemeClr val="dk1"/>
              </a:solidFill>
              <a:latin typeface="Calibri"/>
              <a:ea typeface="Calibri"/>
              <a:cs typeface="Calibri"/>
              <a:sym typeface="Calibri"/>
            </a:endParaRPr>
          </a:p>
        </p:txBody>
      </p:sp>
      <p:sp>
        <p:nvSpPr>
          <p:cNvPr id="243" name="Google Shape;243;p25"/>
          <p:cNvSpPr/>
          <p:nvPr/>
        </p:nvSpPr>
        <p:spPr>
          <a:xfrm>
            <a:off x="308610" y="2002703"/>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4" name="Google Shape;244;p25"/>
          <p:cNvSpPr/>
          <p:nvPr/>
        </p:nvSpPr>
        <p:spPr>
          <a:xfrm>
            <a:off x="377190" y="2002703"/>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W</a:t>
            </a:r>
            <a:r>
              <a:rPr b="1" baseline="-25000" i="0" lang="en" sz="1100" u="none" cap="none" strike="noStrike">
                <a:solidFill>
                  <a:schemeClr val="dk1"/>
                </a:solidFill>
                <a:latin typeface="Calibri"/>
                <a:ea typeface="Calibri"/>
                <a:cs typeface="Calibri"/>
                <a:sym typeface="Calibri"/>
              </a:rPr>
              <a:t>V</a:t>
            </a:r>
            <a:endParaRPr baseline="-25000" i="0" sz="1100" u="none" cap="none" strike="noStrike">
              <a:solidFill>
                <a:schemeClr val="dk1"/>
              </a:solidFill>
              <a:latin typeface="Calibri"/>
              <a:ea typeface="Calibri"/>
              <a:cs typeface="Calibri"/>
              <a:sym typeface="Calibri"/>
            </a:endParaRPr>
          </a:p>
        </p:txBody>
      </p:sp>
      <p:sp>
        <p:nvSpPr>
          <p:cNvPr id="245" name="Google Shape;245;p25"/>
          <p:cNvSpPr/>
          <p:nvPr/>
        </p:nvSpPr>
        <p:spPr>
          <a:xfrm>
            <a:off x="1337310" y="2002703"/>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6" name="Google Shape;246;p25"/>
          <p:cNvSpPr/>
          <p:nvPr/>
        </p:nvSpPr>
        <p:spPr>
          <a:xfrm>
            <a:off x="1405890" y="2002703"/>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alibri"/>
              <a:buNone/>
            </a:pPr>
            <a:r>
              <a:rPr i="0" lang="en" sz="1100" u="none" cap="none" strike="noStrike">
                <a:solidFill>
                  <a:schemeClr val="dk1"/>
                </a:solidFill>
                <a:latin typeface="Calibri"/>
                <a:ea typeface="Calibri"/>
                <a:cs typeface="Calibri"/>
                <a:sym typeface="Calibri"/>
              </a:rPr>
              <a:t>[2,0]ᵀ  —  amplify 1st dim</a:t>
            </a:r>
            <a:endParaRPr i="0" sz="1100" u="none" cap="none" strike="noStrike">
              <a:solidFill>
                <a:schemeClr val="dk1"/>
              </a:solidFill>
              <a:latin typeface="Calibri"/>
              <a:ea typeface="Calibri"/>
              <a:cs typeface="Calibri"/>
              <a:sym typeface="Calibri"/>
            </a:endParaRPr>
          </a:p>
        </p:txBody>
      </p:sp>
      <p:sp>
        <p:nvSpPr>
          <p:cNvPr id="247" name="Google Shape;247;p25"/>
          <p:cNvSpPr/>
          <p:nvPr/>
        </p:nvSpPr>
        <p:spPr>
          <a:xfrm>
            <a:off x="5177790" y="2002703"/>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48" name="Google Shape;248;p25"/>
          <p:cNvSpPr/>
          <p:nvPr/>
        </p:nvSpPr>
        <p:spPr>
          <a:xfrm>
            <a:off x="5246370" y="2002703"/>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alibri"/>
              <a:buNone/>
            </a:pPr>
            <a:r>
              <a:rPr i="0" lang="en" sz="1100" u="none" cap="none" strike="noStrike">
                <a:solidFill>
                  <a:schemeClr val="dk1"/>
                </a:solidFill>
                <a:latin typeface="Calibri"/>
                <a:ea typeface="Calibri"/>
                <a:cs typeface="Calibri"/>
                <a:sym typeface="Calibri"/>
              </a:rPr>
              <a:t>[0,3]ᵀ  —  amplify 2nd dim</a:t>
            </a:r>
            <a:endParaRPr i="0" sz="1100" u="none" cap="none" strike="noStrike">
              <a:solidFill>
                <a:schemeClr val="dk1"/>
              </a:solidFill>
              <a:latin typeface="Calibri"/>
              <a:ea typeface="Calibri"/>
              <a:cs typeface="Calibri"/>
              <a:sym typeface="Calibri"/>
            </a:endParaRPr>
          </a:p>
        </p:txBody>
      </p:sp>
      <p:sp>
        <p:nvSpPr>
          <p:cNvPr id="249" name="Google Shape;249;p25"/>
          <p:cNvSpPr/>
          <p:nvPr/>
        </p:nvSpPr>
        <p:spPr>
          <a:xfrm>
            <a:off x="308610" y="2386751"/>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0" name="Google Shape;250;p25"/>
          <p:cNvSpPr/>
          <p:nvPr/>
        </p:nvSpPr>
        <p:spPr>
          <a:xfrm>
            <a:off x="377190" y="2386751"/>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Scores</a:t>
            </a:r>
            <a:endParaRPr i="0" sz="1100" u="none" cap="none" strike="noStrike">
              <a:solidFill>
                <a:schemeClr val="dk1"/>
              </a:solidFill>
              <a:latin typeface="Calibri"/>
              <a:ea typeface="Calibri"/>
              <a:cs typeface="Calibri"/>
              <a:sym typeface="Calibri"/>
            </a:endParaRPr>
          </a:p>
        </p:txBody>
      </p:sp>
      <p:sp>
        <p:nvSpPr>
          <p:cNvPr id="251" name="Google Shape;251;p25"/>
          <p:cNvSpPr/>
          <p:nvPr/>
        </p:nvSpPr>
        <p:spPr>
          <a:xfrm>
            <a:off x="1337310" y="2386751"/>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2" name="Google Shape;252;p25"/>
          <p:cNvSpPr/>
          <p:nvPr/>
        </p:nvSpPr>
        <p:spPr>
          <a:xfrm>
            <a:off x="1405890" y="2386751"/>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QKᵀ = [[1,0],[1,0]]  (both rows same)</a:t>
            </a:r>
            <a:endParaRPr i="0" sz="1100" u="none" cap="none" strike="noStrike">
              <a:solidFill>
                <a:schemeClr val="dk1"/>
              </a:solidFill>
              <a:latin typeface="Calibri"/>
              <a:ea typeface="Calibri"/>
              <a:cs typeface="Calibri"/>
              <a:sym typeface="Calibri"/>
            </a:endParaRPr>
          </a:p>
        </p:txBody>
      </p:sp>
      <p:sp>
        <p:nvSpPr>
          <p:cNvPr id="253" name="Google Shape;253;p25"/>
          <p:cNvSpPr/>
          <p:nvPr/>
        </p:nvSpPr>
        <p:spPr>
          <a:xfrm>
            <a:off x="5177790" y="2386751"/>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4" name="Google Shape;254;p25"/>
          <p:cNvSpPr/>
          <p:nvPr/>
        </p:nvSpPr>
        <p:spPr>
          <a:xfrm>
            <a:off x="5246370" y="2386751"/>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QKᵀ = [[0,0],[0,1]]  (rows differ)</a:t>
            </a:r>
            <a:endParaRPr i="0" sz="1100" u="none" cap="none" strike="noStrike">
              <a:solidFill>
                <a:schemeClr val="dk1"/>
              </a:solidFill>
              <a:latin typeface="Calibri"/>
              <a:ea typeface="Calibri"/>
              <a:cs typeface="Calibri"/>
              <a:sym typeface="Calibri"/>
            </a:endParaRPr>
          </a:p>
        </p:txBody>
      </p:sp>
      <p:sp>
        <p:nvSpPr>
          <p:cNvPr id="255" name="Google Shape;255;p25"/>
          <p:cNvSpPr/>
          <p:nvPr/>
        </p:nvSpPr>
        <p:spPr>
          <a:xfrm>
            <a:off x="308610" y="2770799"/>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6" name="Google Shape;256;p25"/>
          <p:cNvSpPr/>
          <p:nvPr/>
        </p:nvSpPr>
        <p:spPr>
          <a:xfrm>
            <a:off x="377190" y="2770799"/>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Attn A</a:t>
            </a:r>
            <a:endParaRPr i="0" sz="1100" u="none" cap="none" strike="noStrike">
              <a:solidFill>
                <a:schemeClr val="dk1"/>
              </a:solidFill>
              <a:latin typeface="Calibri"/>
              <a:ea typeface="Calibri"/>
              <a:cs typeface="Calibri"/>
              <a:sym typeface="Calibri"/>
            </a:endParaRPr>
          </a:p>
        </p:txBody>
      </p:sp>
      <p:sp>
        <p:nvSpPr>
          <p:cNvPr id="257" name="Google Shape;257;p25"/>
          <p:cNvSpPr/>
          <p:nvPr/>
        </p:nvSpPr>
        <p:spPr>
          <a:xfrm>
            <a:off x="1337310" y="277079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58" name="Google Shape;258;p25"/>
          <p:cNvSpPr/>
          <p:nvPr/>
        </p:nvSpPr>
        <p:spPr>
          <a:xfrm>
            <a:off x="1405890" y="277079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[[0.73,0.27],[0.73,0.27]]  (rows identical)</a:t>
            </a:r>
            <a:endParaRPr i="0" sz="1100" u="none" cap="none" strike="noStrike">
              <a:solidFill>
                <a:schemeClr val="dk1"/>
              </a:solidFill>
              <a:latin typeface="Calibri"/>
              <a:ea typeface="Calibri"/>
              <a:cs typeface="Calibri"/>
              <a:sym typeface="Calibri"/>
            </a:endParaRPr>
          </a:p>
        </p:txBody>
      </p:sp>
      <p:sp>
        <p:nvSpPr>
          <p:cNvPr id="259" name="Google Shape;259;p25"/>
          <p:cNvSpPr/>
          <p:nvPr/>
        </p:nvSpPr>
        <p:spPr>
          <a:xfrm>
            <a:off x="5177790" y="2770799"/>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0" name="Google Shape;260;p25"/>
          <p:cNvSpPr/>
          <p:nvPr/>
        </p:nvSpPr>
        <p:spPr>
          <a:xfrm>
            <a:off x="5246370" y="2770799"/>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[[0.50,0.50],[0.27,0.73]]  (rows differ)</a:t>
            </a:r>
            <a:endParaRPr i="0" sz="1100" u="none" cap="none" strike="noStrike">
              <a:solidFill>
                <a:schemeClr val="dk1"/>
              </a:solidFill>
              <a:latin typeface="Calibri"/>
              <a:ea typeface="Calibri"/>
              <a:cs typeface="Calibri"/>
              <a:sym typeface="Calibri"/>
            </a:endParaRPr>
          </a:p>
        </p:txBody>
      </p:sp>
      <p:sp>
        <p:nvSpPr>
          <p:cNvPr id="261" name="Google Shape;261;p25"/>
          <p:cNvSpPr/>
          <p:nvPr/>
        </p:nvSpPr>
        <p:spPr>
          <a:xfrm>
            <a:off x="308610" y="3154847"/>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2" name="Google Shape;262;p25"/>
          <p:cNvSpPr/>
          <p:nvPr/>
        </p:nvSpPr>
        <p:spPr>
          <a:xfrm>
            <a:off x="377190" y="3154847"/>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Output</a:t>
            </a:r>
            <a:endParaRPr i="0" sz="1100" u="none" cap="none" strike="noStrike">
              <a:solidFill>
                <a:schemeClr val="dk1"/>
              </a:solidFill>
              <a:latin typeface="Calibri"/>
              <a:ea typeface="Calibri"/>
              <a:cs typeface="Calibri"/>
              <a:sym typeface="Calibri"/>
            </a:endParaRPr>
          </a:p>
        </p:txBody>
      </p:sp>
      <p:sp>
        <p:nvSpPr>
          <p:cNvPr id="263" name="Google Shape;263;p25"/>
          <p:cNvSpPr/>
          <p:nvPr/>
        </p:nvSpPr>
        <p:spPr>
          <a:xfrm>
            <a:off x="1337310" y="315484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4" name="Google Shape;264;p25"/>
          <p:cNvSpPr/>
          <p:nvPr/>
        </p:nvSpPr>
        <p:spPr>
          <a:xfrm>
            <a:off x="1405890" y="315484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animal=[1.46]   it=[1.46]  (same!)</a:t>
            </a:r>
            <a:endParaRPr i="0" sz="1100" u="none" cap="none" strike="noStrike">
              <a:solidFill>
                <a:schemeClr val="dk1"/>
              </a:solidFill>
              <a:latin typeface="Calibri"/>
              <a:ea typeface="Calibri"/>
              <a:cs typeface="Calibri"/>
              <a:sym typeface="Calibri"/>
            </a:endParaRPr>
          </a:p>
        </p:txBody>
      </p:sp>
      <p:sp>
        <p:nvSpPr>
          <p:cNvPr id="265" name="Google Shape;265;p25"/>
          <p:cNvSpPr/>
          <p:nvPr/>
        </p:nvSpPr>
        <p:spPr>
          <a:xfrm>
            <a:off x="5177790" y="3154847"/>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6" name="Google Shape;266;p25"/>
          <p:cNvSpPr/>
          <p:nvPr/>
        </p:nvSpPr>
        <p:spPr>
          <a:xfrm>
            <a:off x="5246370" y="3154847"/>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animal=[1.50]   it=[2.19]  (differ)</a:t>
            </a:r>
            <a:endParaRPr i="0" sz="1100" u="none" cap="none" strike="noStrike">
              <a:solidFill>
                <a:schemeClr val="dk1"/>
              </a:solidFill>
              <a:latin typeface="Calibri"/>
              <a:ea typeface="Calibri"/>
              <a:cs typeface="Calibri"/>
              <a:sym typeface="Calibri"/>
            </a:endParaRPr>
          </a:p>
        </p:txBody>
      </p:sp>
      <p:sp>
        <p:nvSpPr>
          <p:cNvPr id="267" name="Google Shape;267;p25"/>
          <p:cNvSpPr/>
          <p:nvPr/>
        </p:nvSpPr>
        <p:spPr>
          <a:xfrm>
            <a:off x="308610" y="3538895"/>
            <a:ext cx="9600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68" name="Google Shape;268;p25"/>
          <p:cNvSpPr/>
          <p:nvPr/>
        </p:nvSpPr>
        <p:spPr>
          <a:xfrm>
            <a:off x="377190" y="3538895"/>
            <a:ext cx="8229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Learns</a:t>
            </a:r>
            <a:endParaRPr i="0" sz="1100" u="none" cap="none" strike="noStrike">
              <a:solidFill>
                <a:schemeClr val="dk1"/>
              </a:solidFill>
              <a:latin typeface="Calibri"/>
              <a:ea typeface="Calibri"/>
              <a:cs typeface="Calibri"/>
              <a:sym typeface="Calibri"/>
            </a:endParaRPr>
          </a:p>
        </p:txBody>
      </p:sp>
      <p:sp>
        <p:nvSpPr>
          <p:cNvPr id="269" name="Google Shape;269;p25"/>
          <p:cNvSpPr/>
          <p:nvPr/>
        </p:nvSpPr>
        <p:spPr>
          <a:xfrm>
            <a:off x="1337310" y="353889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70" name="Google Shape;270;p25"/>
          <p:cNvSpPr/>
          <p:nvPr/>
        </p:nvSpPr>
        <p:spPr>
          <a:xfrm>
            <a:off x="1405890" y="353889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FAFE"/>
              </a:buClr>
              <a:buSzPts val="800"/>
              <a:buFont typeface="Courier New"/>
              <a:buNone/>
            </a:pPr>
            <a:r>
              <a:rPr i="0" lang="en" sz="1100" u="none" cap="none" strike="noStrike">
                <a:solidFill>
                  <a:schemeClr val="dk1"/>
                </a:solidFill>
                <a:latin typeface="Calibri"/>
                <a:ea typeface="Calibri"/>
                <a:cs typeface="Calibri"/>
                <a:sym typeface="Calibri"/>
              </a:rPr>
              <a:t>Coreference: it → animal</a:t>
            </a:r>
            <a:endParaRPr i="0" sz="1100" u="none" cap="none" strike="noStrike">
              <a:solidFill>
                <a:schemeClr val="dk1"/>
              </a:solidFill>
              <a:latin typeface="Calibri"/>
              <a:ea typeface="Calibri"/>
              <a:cs typeface="Calibri"/>
              <a:sym typeface="Calibri"/>
            </a:endParaRPr>
          </a:p>
        </p:txBody>
      </p:sp>
      <p:sp>
        <p:nvSpPr>
          <p:cNvPr id="271" name="Google Shape;271;p25"/>
          <p:cNvSpPr/>
          <p:nvPr/>
        </p:nvSpPr>
        <p:spPr>
          <a:xfrm>
            <a:off x="5177790" y="3538895"/>
            <a:ext cx="3771900" cy="384000"/>
          </a:xfrm>
          <a:prstGeom prst="rect">
            <a:avLst/>
          </a:prstGeom>
          <a:noFill/>
          <a:ln cap="flat" cmpd="sng" w="12700">
            <a:solidFill>
              <a:srgbClr val="C8D0D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700" u="none" cap="none" strike="noStrike">
              <a:solidFill>
                <a:schemeClr val="dk1"/>
              </a:solidFill>
              <a:latin typeface="Calibri"/>
              <a:ea typeface="Calibri"/>
              <a:cs typeface="Calibri"/>
              <a:sym typeface="Calibri"/>
            </a:endParaRPr>
          </a:p>
        </p:txBody>
      </p:sp>
      <p:sp>
        <p:nvSpPr>
          <p:cNvPr id="272" name="Google Shape;272;p25"/>
          <p:cNvSpPr/>
          <p:nvPr/>
        </p:nvSpPr>
        <p:spPr>
          <a:xfrm>
            <a:off x="5246370" y="3538895"/>
            <a:ext cx="3634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F3C7"/>
              </a:buClr>
              <a:buSzPts val="800"/>
              <a:buFont typeface="Courier New"/>
              <a:buNone/>
            </a:pPr>
            <a:r>
              <a:rPr i="0" lang="en" sz="1100" u="none" cap="none" strike="noStrike">
                <a:solidFill>
                  <a:schemeClr val="dk1"/>
                </a:solidFill>
                <a:latin typeface="Calibri"/>
                <a:ea typeface="Calibri"/>
                <a:cs typeface="Calibri"/>
                <a:sym typeface="Calibri"/>
              </a:rPr>
              <a:t>Self-awareness: it → itself</a:t>
            </a:r>
            <a:endParaRPr i="0" sz="1100" u="none" cap="none" strike="noStrike">
              <a:solidFill>
                <a:schemeClr val="dk1"/>
              </a:solidFill>
              <a:latin typeface="Calibri"/>
              <a:ea typeface="Calibri"/>
              <a:cs typeface="Calibri"/>
              <a:sym typeface="Calibri"/>
            </a:endParaRPr>
          </a:p>
        </p:txBody>
      </p:sp>
      <p:sp>
        <p:nvSpPr>
          <p:cNvPr id="273" name="Google Shape;273;p25"/>
          <p:cNvSpPr/>
          <p:nvPr/>
        </p:nvSpPr>
        <p:spPr>
          <a:xfrm>
            <a:off x="308610" y="4011094"/>
            <a:ext cx="2743200" cy="1062900"/>
          </a:xfrm>
          <a:prstGeom prst="rect">
            <a:avLst/>
          </a:prstGeom>
          <a:noFill/>
          <a:ln cap="flat" cmpd="sng" w="12700">
            <a:solidFill>
              <a:srgbClr val="0077AA"/>
            </a:solidFill>
            <a:prstDash val="solid"/>
            <a:round/>
            <a:headEnd len="sm" w="sm" type="none"/>
            <a:tailEnd len="sm" w="sm" type="none"/>
          </a:ln>
          <a:effectLst>
            <a:outerShdw blurRad="127000" rotWithShape="0" algn="bl" dir="8100000" dist="38100">
              <a:srgbClr val="000000">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5"/>
          <p:cNvSpPr/>
          <p:nvPr/>
        </p:nvSpPr>
        <p:spPr>
          <a:xfrm>
            <a:off x="529909" y="4061752"/>
            <a:ext cx="2084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1" i="0" lang="en" sz="1000" u="none" cap="none" strike="noStrike">
                <a:solidFill>
                  <a:schemeClr val="dk1"/>
                </a:solidFill>
                <a:latin typeface="Calibri"/>
                <a:ea typeface="Calibri"/>
                <a:cs typeface="Calibri"/>
                <a:sym typeface="Calibri"/>
              </a:rPr>
              <a:t>Identical Attention (Head 1)</a:t>
            </a:r>
            <a:endParaRPr b="0" i="0" sz="1000" u="none" cap="none" strike="noStrike">
              <a:solidFill>
                <a:schemeClr val="dk1"/>
              </a:solidFill>
              <a:latin typeface="Calibri"/>
              <a:ea typeface="Calibri"/>
              <a:cs typeface="Calibri"/>
              <a:sym typeface="Calibri"/>
            </a:endParaRPr>
          </a:p>
        </p:txBody>
      </p:sp>
      <p:sp>
        <p:nvSpPr>
          <p:cNvPr id="275" name="Google Shape;275;p25"/>
          <p:cNvSpPr/>
          <p:nvPr/>
        </p:nvSpPr>
        <p:spPr>
          <a:xfrm>
            <a:off x="445770" y="4477438"/>
            <a:ext cx="24690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000" u="none" cap="none" strike="noStrike">
                <a:solidFill>
                  <a:schemeClr val="dk1"/>
                </a:solidFill>
                <a:latin typeface="Calibri"/>
                <a:ea typeface="Calibri"/>
                <a:cs typeface="Calibri"/>
                <a:sym typeface="Calibri"/>
              </a:rPr>
              <a:t>When projection matrices create equal scores for all tokens, every token attends with the same pattern → enforces group-level coreference.</a:t>
            </a:r>
            <a:endParaRPr b="0" i="0" sz="1000" u="none" cap="none" strike="noStrike">
              <a:solidFill>
                <a:schemeClr val="dk1"/>
              </a:solidFill>
              <a:latin typeface="Calibri"/>
              <a:ea typeface="Calibri"/>
              <a:cs typeface="Calibri"/>
              <a:sym typeface="Calibri"/>
            </a:endParaRPr>
          </a:p>
        </p:txBody>
      </p:sp>
      <p:sp>
        <p:nvSpPr>
          <p:cNvPr id="276" name="Google Shape;276;p25"/>
          <p:cNvSpPr/>
          <p:nvPr/>
        </p:nvSpPr>
        <p:spPr>
          <a:xfrm>
            <a:off x="3254288" y="4052911"/>
            <a:ext cx="2743200" cy="1062900"/>
          </a:xfrm>
          <a:prstGeom prst="rect">
            <a:avLst/>
          </a:prstGeom>
          <a:noFill/>
          <a:ln cap="flat" cmpd="sng" w="12700">
            <a:solidFill>
              <a:srgbClr val="B45309"/>
            </a:solidFill>
            <a:prstDash val="solid"/>
            <a:round/>
            <a:headEnd len="sm" w="sm" type="none"/>
            <a:tailEnd len="sm" w="sm" type="none"/>
          </a:ln>
          <a:effectLst>
            <a:outerShdw blurRad="127000" rotWithShape="0" algn="bl" dir="8100000" dist="38100">
              <a:srgbClr val="000000">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5"/>
          <p:cNvSpPr/>
          <p:nvPr/>
        </p:nvSpPr>
        <p:spPr>
          <a:xfrm>
            <a:off x="3740364" y="4103569"/>
            <a:ext cx="2084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000" u="none" cap="none" strike="noStrike">
                <a:solidFill>
                  <a:schemeClr val="dk1"/>
                </a:solidFill>
                <a:latin typeface="Calibri"/>
                <a:ea typeface="Calibri"/>
                <a:cs typeface="Calibri"/>
                <a:sym typeface="Calibri"/>
              </a:rPr>
              <a:t>Differential Attention (Head 2)</a:t>
            </a:r>
            <a:endParaRPr b="0" i="0" sz="1000" u="none" cap="none" strike="noStrike">
              <a:solidFill>
                <a:schemeClr val="dk1"/>
              </a:solidFill>
              <a:latin typeface="Calibri"/>
              <a:ea typeface="Calibri"/>
              <a:cs typeface="Calibri"/>
              <a:sym typeface="Calibri"/>
            </a:endParaRPr>
          </a:p>
        </p:txBody>
      </p:sp>
      <p:sp>
        <p:nvSpPr>
          <p:cNvPr id="278" name="Google Shape;278;p25"/>
          <p:cNvSpPr/>
          <p:nvPr/>
        </p:nvSpPr>
        <p:spPr>
          <a:xfrm>
            <a:off x="3391448" y="4519255"/>
            <a:ext cx="24690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000" u="none" cap="none" strike="noStrike">
                <a:solidFill>
                  <a:schemeClr val="dk1"/>
                </a:solidFill>
                <a:latin typeface="Calibri"/>
                <a:ea typeface="Calibri"/>
                <a:cs typeface="Calibri"/>
                <a:sym typeface="Calibri"/>
              </a:rPr>
              <a:t>When projection matrices separate tokens, each attends differently → preserves individual identity while tracking context.</a:t>
            </a:r>
            <a:endParaRPr b="0" i="0" sz="1000" u="none" cap="none" strike="noStrike">
              <a:solidFill>
                <a:schemeClr val="dk1"/>
              </a:solidFill>
              <a:latin typeface="Calibri"/>
              <a:ea typeface="Calibri"/>
              <a:cs typeface="Calibri"/>
              <a:sym typeface="Calibri"/>
            </a:endParaRPr>
          </a:p>
        </p:txBody>
      </p:sp>
      <p:sp>
        <p:nvSpPr>
          <p:cNvPr id="279" name="Google Shape;279;p25"/>
          <p:cNvSpPr/>
          <p:nvPr/>
        </p:nvSpPr>
        <p:spPr>
          <a:xfrm>
            <a:off x="6189512" y="4052911"/>
            <a:ext cx="2743200" cy="1062900"/>
          </a:xfrm>
          <a:prstGeom prst="rect">
            <a:avLst/>
          </a:prstGeom>
          <a:noFill/>
          <a:ln cap="flat" cmpd="sng" w="12700">
            <a:solidFill>
              <a:srgbClr val="5B21B6"/>
            </a:solidFill>
            <a:prstDash val="solid"/>
            <a:round/>
            <a:headEnd len="sm" w="sm" type="none"/>
            <a:tailEnd len="sm" w="sm" type="none"/>
          </a:ln>
          <a:effectLst>
            <a:outerShdw blurRad="127000" rotWithShape="0" algn="bl" dir="8100000" dist="38100">
              <a:srgbClr val="000000">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5"/>
          <p:cNvSpPr/>
          <p:nvPr/>
        </p:nvSpPr>
        <p:spPr>
          <a:xfrm>
            <a:off x="6766253" y="4135207"/>
            <a:ext cx="2084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800"/>
              <a:buFont typeface="Calibri"/>
              <a:buNone/>
            </a:pPr>
            <a:r>
              <a:rPr b="1" i="0" lang="en" sz="1000" u="none" cap="none" strike="noStrike">
                <a:solidFill>
                  <a:schemeClr val="dk1"/>
                </a:solidFill>
                <a:latin typeface="Calibri"/>
                <a:ea typeface="Calibri"/>
                <a:cs typeface="Calibri"/>
                <a:sym typeface="Calibri"/>
              </a:rPr>
              <a:t>Why Both Together Are Powerful</a:t>
            </a:r>
            <a:endParaRPr b="0" i="0" sz="1000" u="none" cap="none" strike="noStrike">
              <a:solidFill>
                <a:schemeClr val="dk1"/>
              </a:solidFill>
              <a:latin typeface="Calibri"/>
              <a:ea typeface="Calibri"/>
              <a:cs typeface="Calibri"/>
              <a:sym typeface="Calibri"/>
            </a:endParaRPr>
          </a:p>
        </p:txBody>
      </p:sp>
      <p:sp>
        <p:nvSpPr>
          <p:cNvPr id="281" name="Google Shape;281;p25"/>
          <p:cNvSpPr/>
          <p:nvPr/>
        </p:nvSpPr>
        <p:spPr>
          <a:xfrm>
            <a:off x="6326672" y="4519255"/>
            <a:ext cx="24690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000" u="none" cap="none" strike="noStrike">
                <a:solidFill>
                  <a:schemeClr val="dk1"/>
                </a:solidFill>
                <a:latin typeface="Calibri"/>
                <a:ea typeface="Calibri"/>
                <a:cs typeface="Calibri"/>
                <a:sym typeface="Calibri"/>
              </a:rPr>
              <a:t>Head 1 links 'it' to 'animal' (coreference). Head 2 preserves 'it' as a separate entity. Together: 'it' = 'animal' + distinct context.</a:t>
            </a:r>
            <a:endParaRPr b="0" i="0" sz="1000" u="none" cap="none" strike="noStrike">
              <a:solidFill>
                <a:schemeClr val="dk1"/>
              </a:solidFill>
              <a:latin typeface="Calibri"/>
              <a:ea typeface="Calibri"/>
              <a:cs typeface="Calibri"/>
              <a:sym typeface="Calibri"/>
            </a:endParaRPr>
          </a:p>
        </p:txBody>
      </p:sp>
      <p:pic>
        <p:nvPicPr>
          <p:cNvPr id="282" name="Google Shape;282;p25"/>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26"/>
          <p:cNvSpPr/>
          <p:nvPr/>
        </p:nvSpPr>
        <p:spPr>
          <a:xfrm>
            <a:off x="2002207" y="243421"/>
            <a:ext cx="8503800" cy="44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000"/>
              <a:buFont typeface="Calibri"/>
              <a:buNone/>
            </a:pPr>
            <a:r>
              <a:rPr b="1" i="0" lang="en" sz="2800" u="none" cap="none" strike="noStrike">
                <a:solidFill>
                  <a:srgbClr val="1A1F26"/>
                </a:solidFill>
                <a:latin typeface="Calibri"/>
                <a:ea typeface="Calibri"/>
                <a:cs typeface="Calibri"/>
                <a:sym typeface="Calibri"/>
              </a:rPr>
              <a:t>2-Head Attention — Full Walkthrough</a:t>
            </a:r>
            <a:endParaRPr b="0" i="0" sz="2800" u="none" cap="none" strike="noStrike">
              <a:solidFill>
                <a:schemeClr val="dk1"/>
              </a:solidFill>
              <a:latin typeface="Calibri"/>
              <a:ea typeface="Calibri"/>
              <a:cs typeface="Calibri"/>
              <a:sym typeface="Calibri"/>
            </a:endParaRPr>
          </a:p>
        </p:txBody>
      </p:sp>
      <p:sp>
        <p:nvSpPr>
          <p:cNvPr id="289" name="Google Shape;289;p26"/>
          <p:cNvSpPr/>
          <p:nvPr/>
        </p:nvSpPr>
        <p:spPr>
          <a:xfrm>
            <a:off x="320110" y="724015"/>
            <a:ext cx="8503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i="0" lang="en" sz="1300" u="none" cap="none" strike="noStrike">
                <a:solidFill>
                  <a:schemeClr val="dk1"/>
                </a:solidFill>
                <a:latin typeface="Calibri"/>
                <a:ea typeface="Calibri"/>
                <a:cs typeface="Calibri"/>
                <a:sym typeface="Calibri"/>
              </a:rPr>
              <a:t>x₁ = "animal"  ·  x₂ = "it"  ·  Embedding dim d = 2  ·  2 heads, each dim = 1</a:t>
            </a:r>
            <a:endParaRPr i="0" sz="1300" u="none" cap="none" strike="noStrike">
              <a:solidFill>
                <a:schemeClr val="dk1"/>
              </a:solidFill>
              <a:latin typeface="Calibri"/>
              <a:ea typeface="Calibri"/>
              <a:cs typeface="Calibri"/>
              <a:sym typeface="Calibri"/>
            </a:endParaRPr>
          </a:p>
        </p:txBody>
      </p:sp>
      <p:sp>
        <p:nvSpPr>
          <p:cNvPr id="290" name="Google Shape;290;p26"/>
          <p:cNvSpPr/>
          <p:nvPr/>
        </p:nvSpPr>
        <p:spPr>
          <a:xfrm>
            <a:off x="308610" y="1179576"/>
            <a:ext cx="2194500" cy="1110900"/>
          </a:xfrm>
          <a:prstGeom prst="rect">
            <a:avLst/>
          </a:prstGeom>
          <a:noFill/>
          <a:ln cap="flat" cmpd="sng" w="12700">
            <a:solidFill>
              <a:srgbClr val="00B050"/>
            </a:solidFill>
            <a:prstDash val="solid"/>
            <a:round/>
            <a:headEnd len="sm" w="sm" type="none"/>
            <a:tailEnd len="sm" w="sm" type="none"/>
          </a:ln>
          <a:effectLst>
            <a:outerShdw blurRad="127000" rotWithShape="0" algn="bl" dir="8100000" dist="38100">
              <a:srgbClr val="000000">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6"/>
          <p:cNvSpPr/>
          <p:nvPr/>
        </p:nvSpPr>
        <p:spPr>
          <a:xfrm>
            <a:off x="288460" y="1273866"/>
            <a:ext cx="2194500" cy="246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800"/>
              <a:buFont typeface="Calibri"/>
              <a:buNone/>
            </a:pPr>
            <a:r>
              <a:rPr b="1" i="0" lang="en" sz="1100" u="none" cap="none" strike="noStrike">
                <a:solidFill>
                  <a:schemeClr val="dk1"/>
                </a:solidFill>
                <a:latin typeface="Calibri"/>
                <a:ea typeface="Calibri"/>
                <a:cs typeface="Calibri"/>
                <a:sym typeface="Calibri"/>
              </a:rPr>
              <a:t>INPUT  X</a:t>
            </a:r>
            <a:endParaRPr b="0" i="0" sz="1100" u="none" cap="none" strike="noStrike">
              <a:solidFill>
                <a:schemeClr val="dk1"/>
              </a:solidFill>
              <a:latin typeface="Calibri"/>
              <a:ea typeface="Calibri"/>
              <a:cs typeface="Calibri"/>
              <a:sym typeface="Calibri"/>
            </a:endParaRPr>
          </a:p>
        </p:txBody>
      </p:sp>
      <p:sp>
        <p:nvSpPr>
          <p:cNvPr id="292" name="Google Shape;292;p26"/>
          <p:cNvSpPr/>
          <p:nvPr/>
        </p:nvSpPr>
        <p:spPr>
          <a:xfrm>
            <a:off x="308610" y="1386571"/>
            <a:ext cx="21945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ourier New"/>
              <a:buNone/>
            </a:pPr>
            <a:r>
              <a:rPr b="0" i="0" lang="en" u="none" cap="none" strike="noStrike">
                <a:solidFill>
                  <a:schemeClr val="dk1"/>
                </a:solidFill>
                <a:latin typeface="Courier New"/>
                <a:ea typeface="Courier New"/>
                <a:cs typeface="Courier New"/>
                <a:sym typeface="Courier New"/>
              </a:rPr>
              <a:t>[ 1  0 ]</a:t>
            </a:r>
            <a:endParaRPr b="0" i="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F26"/>
              </a:buClr>
              <a:buSzPts val="1100"/>
              <a:buFont typeface="Courier New"/>
              <a:buNone/>
            </a:pPr>
            <a:r>
              <a:rPr b="0" i="0" lang="en" u="none" cap="none" strike="noStrike">
                <a:solidFill>
                  <a:schemeClr val="dk1"/>
                </a:solidFill>
                <a:latin typeface="Courier New"/>
                <a:ea typeface="Courier New"/>
                <a:cs typeface="Courier New"/>
                <a:sym typeface="Courier New"/>
              </a:rPr>
              <a:t>[ 0  1 ]</a:t>
            </a:r>
            <a:endParaRPr b="0" i="0" u="none" cap="none" strike="noStrike">
              <a:solidFill>
                <a:schemeClr val="dk1"/>
              </a:solidFill>
              <a:latin typeface="Calibri"/>
              <a:ea typeface="Calibri"/>
              <a:cs typeface="Calibri"/>
              <a:sym typeface="Calibri"/>
            </a:endParaRPr>
          </a:p>
        </p:txBody>
      </p:sp>
      <p:sp>
        <p:nvSpPr>
          <p:cNvPr id="293" name="Google Shape;293;p26"/>
          <p:cNvSpPr/>
          <p:nvPr/>
        </p:nvSpPr>
        <p:spPr>
          <a:xfrm>
            <a:off x="308610" y="2042680"/>
            <a:ext cx="2194500" cy="150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700"/>
              <a:buFont typeface="Calibri"/>
              <a:buNone/>
            </a:pPr>
            <a:r>
              <a:rPr i="0" lang="en" sz="1000" u="none" cap="none" strike="noStrike">
                <a:solidFill>
                  <a:schemeClr val="dk1"/>
                </a:solidFill>
                <a:latin typeface="Calibri"/>
                <a:ea typeface="Calibri"/>
                <a:cs typeface="Calibri"/>
                <a:sym typeface="Calibri"/>
              </a:rPr>
              <a:t>x₁="animal" → [1,0]</a:t>
            </a:r>
            <a:endParaRPr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700"/>
              <a:buFont typeface="Calibri"/>
              <a:buNone/>
            </a:pPr>
            <a:r>
              <a:rPr i="0" lang="en" sz="1000" u="none" cap="none" strike="noStrike">
                <a:solidFill>
                  <a:schemeClr val="dk1"/>
                </a:solidFill>
                <a:latin typeface="Calibri"/>
                <a:ea typeface="Calibri"/>
                <a:cs typeface="Calibri"/>
                <a:sym typeface="Calibri"/>
              </a:rPr>
              <a:t>x₂="it" → [0,1]</a:t>
            </a:r>
            <a:endParaRPr i="0" sz="1000" u="none" cap="none" strike="noStrike">
              <a:solidFill>
                <a:schemeClr val="dk1"/>
              </a:solidFill>
              <a:latin typeface="Calibri"/>
              <a:ea typeface="Calibri"/>
              <a:cs typeface="Calibri"/>
              <a:sym typeface="Calibri"/>
            </a:endParaRPr>
          </a:p>
        </p:txBody>
      </p:sp>
      <p:cxnSp>
        <p:nvCxnSpPr>
          <p:cNvPr id="294" name="Google Shape;294;p26"/>
          <p:cNvCxnSpPr/>
          <p:nvPr/>
        </p:nvCxnSpPr>
        <p:spPr>
          <a:xfrm>
            <a:off x="2571750" y="1680210"/>
            <a:ext cx="342900" cy="0"/>
          </a:xfrm>
          <a:prstGeom prst="straightConnector1">
            <a:avLst/>
          </a:prstGeom>
          <a:noFill/>
          <a:ln cap="flat" cmpd="sng" w="25400">
            <a:solidFill>
              <a:srgbClr val="5A6270"/>
            </a:solidFill>
            <a:prstDash val="solid"/>
            <a:round/>
            <a:headEnd len="sm" w="sm" type="none"/>
            <a:tailEnd len="sm" w="sm" type="none"/>
          </a:ln>
        </p:spPr>
      </p:cxnSp>
      <p:cxnSp>
        <p:nvCxnSpPr>
          <p:cNvPr id="295" name="Google Shape;295;p26"/>
          <p:cNvCxnSpPr/>
          <p:nvPr/>
        </p:nvCxnSpPr>
        <p:spPr>
          <a:xfrm>
            <a:off x="2914650" y="1680210"/>
            <a:ext cx="0" cy="0"/>
          </a:xfrm>
          <a:prstGeom prst="straightConnector1">
            <a:avLst/>
          </a:prstGeom>
          <a:noFill/>
          <a:ln cap="flat" cmpd="sng" w="25400">
            <a:solidFill>
              <a:srgbClr val="0077AA"/>
            </a:solidFill>
            <a:prstDash val="solid"/>
            <a:round/>
            <a:headEnd len="sm" w="sm" type="none"/>
            <a:tailEnd len="sm" w="sm" type="none"/>
          </a:ln>
        </p:spPr>
      </p:cxnSp>
      <p:cxnSp>
        <p:nvCxnSpPr>
          <p:cNvPr id="296" name="Google Shape;296;p26"/>
          <p:cNvCxnSpPr/>
          <p:nvPr/>
        </p:nvCxnSpPr>
        <p:spPr>
          <a:xfrm>
            <a:off x="2914650" y="1680210"/>
            <a:ext cx="0" cy="514500"/>
          </a:xfrm>
          <a:prstGeom prst="straightConnector1">
            <a:avLst/>
          </a:prstGeom>
          <a:noFill/>
          <a:ln cap="flat" cmpd="sng" w="25400">
            <a:solidFill>
              <a:srgbClr val="B45309"/>
            </a:solidFill>
            <a:prstDash val="solid"/>
            <a:round/>
            <a:headEnd len="sm" w="sm" type="none"/>
            <a:tailEnd len="sm" w="sm" type="none"/>
          </a:ln>
        </p:spPr>
      </p:cxnSp>
      <p:cxnSp>
        <p:nvCxnSpPr>
          <p:cNvPr id="297" name="Google Shape;297;p26"/>
          <p:cNvCxnSpPr/>
          <p:nvPr/>
        </p:nvCxnSpPr>
        <p:spPr>
          <a:xfrm>
            <a:off x="2531476" y="1333135"/>
            <a:ext cx="411600" cy="0"/>
          </a:xfrm>
          <a:prstGeom prst="straightConnector1">
            <a:avLst/>
          </a:prstGeom>
          <a:noFill/>
          <a:ln cap="flat" cmpd="sng" w="25400">
            <a:solidFill>
              <a:srgbClr val="0077AA"/>
            </a:solidFill>
            <a:prstDash val="solid"/>
            <a:round/>
            <a:headEnd len="sm" w="sm" type="none"/>
            <a:tailEnd len="sm" w="sm" type="none"/>
          </a:ln>
        </p:spPr>
      </p:cxnSp>
      <p:cxnSp>
        <p:nvCxnSpPr>
          <p:cNvPr id="298" name="Google Shape;298;p26"/>
          <p:cNvCxnSpPr/>
          <p:nvPr/>
        </p:nvCxnSpPr>
        <p:spPr>
          <a:xfrm>
            <a:off x="2914650" y="2194560"/>
            <a:ext cx="411600" cy="0"/>
          </a:xfrm>
          <a:prstGeom prst="straightConnector1">
            <a:avLst/>
          </a:prstGeom>
          <a:noFill/>
          <a:ln cap="flat" cmpd="sng" w="25400">
            <a:solidFill>
              <a:srgbClr val="B45309"/>
            </a:solidFill>
            <a:prstDash val="solid"/>
            <a:round/>
            <a:headEnd len="sm" w="sm" type="none"/>
            <a:tailEnd len="sm" w="sm" type="none"/>
          </a:ln>
        </p:spPr>
      </p:cxnSp>
      <p:sp>
        <p:nvSpPr>
          <p:cNvPr id="299" name="Google Shape;299;p26"/>
          <p:cNvSpPr/>
          <p:nvPr/>
        </p:nvSpPr>
        <p:spPr>
          <a:xfrm>
            <a:off x="2991593" y="1041161"/>
            <a:ext cx="2400300" cy="521100"/>
          </a:xfrm>
          <a:prstGeom prst="rect">
            <a:avLst/>
          </a:prstGeom>
          <a:noFill/>
          <a:ln cap="flat" cmpd="sng" w="12700">
            <a:solidFill>
              <a:srgbClr val="0077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6"/>
          <p:cNvSpPr/>
          <p:nvPr/>
        </p:nvSpPr>
        <p:spPr>
          <a:xfrm>
            <a:off x="2991593" y="1051049"/>
            <a:ext cx="2400300" cy="521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800"/>
              <a:buFont typeface="Calibri"/>
              <a:buNone/>
            </a:pPr>
            <a:r>
              <a:rPr b="1" i="0" lang="en" sz="1100" u="none" cap="none" strike="noStrike">
                <a:solidFill>
                  <a:schemeClr val="dk1"/>
                </a:solidFill>
                <a:latin typeface="Calibri"/>
                <a:ea typeface="Calibri"/>
                <a:cs typeface="Calibri"/>
                <a:sym typeface="Calibri"/>
              </a:rPr>
              <a:t>HEAD 1  (coreference: it → animal)</a:t>
            </a:r>
            <a:endParaRPr b="0" i="0" sz="1100" u="none" cap="none" strike="noStrike">
              <a:solidFill>
                <a:schemeClr val="dk1"/>
              </a:solidFill>
              <a:latin typeface="Calibri"/>
              <a:ea typeface="Calibri"/>
              <a:cs typeface="Calibri"/>
              <a:sym typeface="Calibri"/>
            </a:endParaRPr>
          </a:p>
        </p:txBody>
      </p:sp>
      <p:sp>
        <p:nvSpPr>
          <p:cNvPr id="301" name="Google Shape;301;p26"/>
          <p:cNvSpPr/>
          <p:nvPr/>
        </p:nvSpPr>
        <p:spPr>
          <a:xfrm>
            <a:off x="3326130" y="1933956"/>
            <a:ext cx="2400300" cy="521100"/>
          </a:xfrm>
          <a:prstGeom prst="rect">
            <a:avLst/>
          </a:prstGeom>
          <a:no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6"/>
          <p:cNvSpPr/>
          <p:nvPr/>
        </p:nvSpPr>
        <p:spPr>
          <a:xfrm>
            <a:off x="3326130" y="1938281"/>
            <a:ext cx="2400300" cy="521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800"/>
              <a:buFont typeface="Calibri"/>
              <a:buNone/>
            </a:pPr>
            <a:r>
              <a:rPr b="1" i="0" lang="en" sz="1100" u="none" cap="none" strike="noStrike">
                <a:solidFill>
                  <a:schemeClr val="dk1"/>
                </a:solidFill>
                <a:latin typeface="Calibri"/>
                <a:ea typeface="Calibri"/>
                <a:cs typeface="Calibri"/>
                <a:sym typeface="Calibri"/>
              </a:rPr>
              <a:t>HEAD 2  (self/context: it → itself)</a:t>
            </a:r>
            <a:endParaRPr b="0" i="0" sz="1100" u="none" cap="none" strike="noStrike">
              <a:solidFill>
                <a:schemeClr val="dk1"/>
              </a:solidFill>
              <a:latin typeface="Calibri"/>
              <a:ea typeface="Calibri"/>
              <a:cs typeface="Calibri"/>
              <a:sym typeface="Calibri"/>
            </a:endParaRPr>
          </a:p>
        </p:txBody>
      </p:sp>
      <p:cxnSp>
        <p:nvCxnSpPr>
          <p:cNvPr id="303" name="Google Shape;303;p26"/>
          <p:cNvCxnSpPr/>
          <p:nvPr/>
        </p:nvCxnSpPr>
        <p:spPr>
          <a:xfrm>
            <a:off x="5423273" y="1280835"/>
            <a:ext cx="377100" cy="0"/>
          </a:xfrm>
          <a:prstGeom prst="straightConnector1">
            <a:avLst/>
          </a:prstGeom>
          <a:noFill/>
          <a:ln cap="flat" cmpd="sng" w="25400">
            <a:solidFill>
              <a:srgbClr val="0077AA"/>
            </a:solidFill>
            <a:prstDash val="solid"/>
            <a:round/>
            <a:headEnd len="sm" w="sm" type="none"/>
            <a:tailEnd len="sm" w="sm" type="none"/>
          </a:ln>
        </p:spPr>
      </p:cxnSp>
      <p:cxnSp>
        <p:nvCxnSpPr>
          <p:cNvPr id="304" name="Google Shape;304;p26"/>
          <p:cNvCxnSpPr/>
          <p:nvPr/>
        </p:nvCxnSpPr>
        <p:spPr>
          <a:xfrm>
            <a:off x="5795010" y="2194560"/>
            <a:ext cx="377100" cy="0"/>
          </a:xfrm>
          <a:prstGeom prst="straightConnector1">
            <a:avLst/>
          </a:prstGeom>
          <a:noFill/>
          <a:ln cap="flat" cmpd="sng" w="25400">
            <a:solidFill>
              <a:srgbClr val="B45309"/>
            </a:solidFill>
            <a:prstDash val="solid"/>
            <a:round/>
            <a:headEnd len="sm" w="sm" type="none"/>
            <a:tailEnd len="sm" w="sm" type="none"/>
          </a:ln>
        </p:spPr>
      </p:cxnSp>
      <p:sp>
        <p:nvSpPr>
          <p:cNvPr id="305" name="Google Shape;305;p26"/>
          <p:cNvSpPr/>
          <p:nvPr/>
        </p:nvSpPr>
        <p:spPr>
          <a:xfrm>
            <a:off x="5858572" y="1067924"/>
            <a:ext cx="1028700" cy="384000"/>
          </a:xfrm>
          <a:prstGeom prst="rect">
            <a:avLst/>
          </a:prstGeom>
          <a:noFill/>
          <a:ln cap="flat" cmpd="sng" w="12700">
            <a:solidFill>
              <a:srgbClr val="0077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i="0" sz="1800" u="none" cap="none" strike="noStrike">
              <a:solidFill>
                <a:schemeClr val="dk1"/>
              </a:solidFill>
              <a:latin typeface="Calibri"/>
              <a:ea typeface="Calibri"/>
              <a:cs typeface="Calibri"/>
              <a:sym typeface="Calibri"/>
            </a:endParaRPr>
          </a:p>
        </p:txBody>
      </p:sp>
      <p:sp>
        <p:nvSpPr>
          <p:cNvPr id="306" name="Google Shape;306;p26"/>
          <p:cNvSpPr/>
          <p:nvPr/>
        </p:nvSpPr>
        <p:spPr>
          <a:xfrm>
            <a:off x="5869943" y="1078370"/>
            <a:ext cx="10287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1100"/>
              <a:buFont typeface="Calibri"/>
              <a:buNone/>
            </a:pPr>
            <a:r>
              <a:rPr b="1" i="0" lang="en" sz="1500" u="none" cap="none" strike="noStrike">
                <a:solidFill>
                  <a:schemeClr val="dk1"/>
                </a:solidFill>
                <a:latin typeface="Calibri"/>
                <a:ea typeface="Calibri"/>
                <a:cs typeface="Calibri"/>
                <a:sym typeface="Calibri"/>
              </a:rPr>
              <a:t>O⁽¹⁾</a:t>
            </a:r>
            <a:endParaRPr i="0" sz="1500" u="none" cap="none" strike="noStrike">
              <a:solidFill>
                <a:schemeClr val="dk1"/>
              </a:solidFill>
              <a:latin typeface="Calibri"/>
              <a:ea typeface="Calibri"/>
              <a:cs typeface="Calibri"/>
              <a:sym typeface="Calibri"/>
            </a:endParaRPr>
          </a:p>
        </p:txBody>
      </p:sp>
      <p:sp>
        <p:nvSpPr>
          <p:cNvPr id="307" name="Google Shape;307;p26"/>
          <p:cNvSpPr/>
          <p:nvPr/>
        </p:nvSpPr>
        <p:spPr>
          <a:xfrm>
            <a:off x="6172200" y="2002536"/>
            <a:ext cx="1028700" cy="384000"/>
          </a:xfrm>
          <a:prstGeom prst="rect">
            <a:avLst/>
          </a:prstGeom>
          <a:noFill/>
          <a:ln cap="flat" cmpd="sng" w="12700">
            <a:solidFill>
              <a:srgbClr val="B4530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6"/>
          <p:cNvSpPr/>
          <p:nvPr/>
        </p:nvSpPr>
        <p:spPr>
          <a:xfrm>
            <a:off x="6172188" y="2009257"/>
            <a:ext cx="10287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1100"/>
              <a:buFont typeface="Calibri"/>
              <a:buNone/>
            </a:pPr>
            <a:r>
              <a:rPr b="1" i="0" lang="en" sz="1500" u="none" cap="none" strike="noStrike">
                <a:solidFill>
                  <a:schemeClr val="dk1"/>
                </a:solidFill>
                <a:latin typeface="Calibri"/>
                <a:ea typeface="Calibri"/>
                <a:cs typeface="Calibri"/>
                <a:sym typeface="Calibri"/>
              </a:rPr>
              <a:t>O⁽²⁾</a:t>
            </a:r>
            <a:endParaRPr b="0" i="0" sz="1500" u="none" cap="none" strike="noStrike">
              <a:solidFill>
                <a:schemeClr val="dk1"/>
              </a:solidFill>
              <a:latin typeface="Calibri"/>
              <a:ea typeface="Calibri"/>
              <a:cs typeface="Calibri"/>
              <a:sym typeface="Calibri"/>
            </a:endParaRPr>
          </a:p>
        </p:txBody>
      </p:sp>
      <p:sp>
        <p:nvSpPr>
          <p:cNvPr id="309" name="Google Shape;309;p26"/>
          <p:cNvSpPr/>
          <p:nvPr/>
        </p:nvSpPr>
        <p:spPr>
          <a:xfrm>
            <a:off x="7110575" y="1398363"/>
            <a:ext cx="1302900" cy="480000"/>
          </a:xfrm>
          <a:prstGeom prst="rect">
            <a:avLst/>
          </a:prstGeom>
          <a:noFill/>
          <a:ln cap="flat" cmpd="sng" w="12700">
            <a:solidFill>
              <a:srgbClr val="5B21B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6"/>
          <p:cNvSpPr/>
          <p:nvPr/>
        </p:nvSpPr>
        <p:spPr>
          <a:xfrm>
            <a:off x="7110575" y="1419600"/>
            <a:ext cx="1302900" cy="4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800"/>
              <a:buFont typeface="Calibri"/>
              <a:buNone/>
            </a:pPr>
            <a:r>
              <a:rPr b="1" i="0" lang="en" sz="1300" u="none" cap="none" strike="noStrike">
                <a:solidFill>
                  <a:srgbClr val="1A1F26"/>
                </a:solidFill>
                <a:latin typeface="Calibri"/>
                <a:ea typeface="Calibri"/>
                <a:cs typeface="Calibri"/>
                <a:sym typeface="Calibri"/>
              </a:rPr>
              <a:t>Concat</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F26"/>
              </a:buClr>
              <a:buSzPts val="800"/>
              <a:buFont typeface="Calibri"/>
              <a:buNone/>
            </a:pPr>
            <a:r>
              <a:rPr b="1" i="0" lang="en" sz="1300" u="none" cap="none" strike="noStrike">
                <a:solidFill>
                  <a:srgbClr val="1A1F26"/>
                </a:solidFill>
                <a:latin typeface="Calibri"/>
                <a:ea typeface="Calibri"/>
                <a:cs typeface="Calibri"/>
                <a:sym typeface="Calibri"/>
              </a:rPr>
              <a:t>× Wᴼ</a:t>
            </a:r>
            <a:endParaRPr b="0" i="0" sz="1300" u="none" cap="none" strike="noStrike">
              <a:solidFill>
                <a:schemeClr val="dk1"/>
              </a:solidFill>
              <a:latin typeface="Calibri"/>
              <a:ea typeface="Calibri"/>
              <a:cs typeface="Calibri"/>
              <a:sym typeface="Calibri"/>
            </a:endParaRPr>
          </a:p>
        </p:txBody>
      </p:sp>
      <p:cxnSp>
        <p:nvCxnSpPr>
          <p:cNvPr id="311" name="Google Shape;311;p26"/>
          <p:cNvCxnSpPr/>
          <p:nvPr/>
        </p:nvCxnSpPr>
        <p:spPr>
          <a:xfrm>
            <a:off x="8413595" y="1638393"/>
            <a:ext cx="171600" cy="0"/>
          </a:xfrm>
          <a:prstGeom prst="straightConnector1">
            <a:avLst/>
          </a:prstGeom>
          <a:noFill/>
          <a:ln cap="flat" cmpd="sng" w="25400">
            <a:solidFill>
              <a:srgbClr val="5B21B6"/>
            </a:solidFill>
            <a:prstDash val="solid"/>
            <a:round/>
            <a:headEnd len="sm" w="sm" type="none"/>
            <a:tailEnd len="sm" w="sm" type="none"/>
          </a:ln>
        </p:spPr>
      </p:cxnSp>
      <p:sp>
        <p:nvSpPr>
          <p:cNvPr id="312" name="Google Shape;312;p26"/>
          <p:cNvSpPr/>
          <p:nvPr/>
        </p:nvSpPr>
        <p:spPr>
          <a:xfrm>
            <a:off x="8574746" y="1436596"/>
            <a:ext cx="536100" cy="42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8BFA"/>
              </a:buClr>
              <a:buSzPts val="600"/>
              <a:buFont typeface="Calibri"/>
              <a:buNone/>
            </a:pPr>
            <a:r>
              <a:rPr b="0" i="0" lang="en" sz="1300" u="none" cap="none" strike="noStrike">
                <a:solidFill>
                  <a:schemeClr val="dk1"/>
                </a:solidFill>
                <a:latin typeface="Calibri"/>
                <a:ea typeface="Calibri"/>
                <a:cs typeface="Calibri"/>
                <a:sym typeface="Calibri"/>
              </a:rPr>
              <a:t>Final</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A78BFA"/>
              </a:buClr>
              <a:buSzPts val="600"/>
              <a:buFont typeface="Calibri"/>
              <a:buNone/>
            </a:pPr>
            <a:r>
              <a:rPr b="0" i="0" lang="en" sz="1300" u="none" cap="none" strike="noStrike">
                <a:solidFill>
                  <a:schemeClr val="dk1"/>
                </a:solidFill>
                <a:latin typeface="Calibri"/>
                <a:ea typeface="Calibri"/>
                <a:cs typeface="Calibri"/>
                <a:sym typeface="Calibri"/>
              </a:rPr>
              <a:t>Output</a:t>
            </a:r>
            <a:endParaRPr b="0" i="0" sz="1300" u="none" cap="none" strike="noStrike">
              <a:solidFill>
                <a:schemeClr val="dk1"/>
              </a:solidFill>
              <a:latin typeface="Calibri"/>
              <a:ea typeface="Calibri"/>
              <a:cs typeface="Calibri"/>
              <a:sym typeface="Calibri"/>
            </a:endParaRPr>
          </a:p>
        </p:txBody>
      </p:sp>
      <p:sp>
        <p:nvSpPr>
          <p:cNvPr id="313" name="Google Shape;313;p26"/>
          <p:cNvSpPr/>
          <p:nvPr/>
        </p:nvSpPr>
        <p:spPr>
          <a:xfrm>
            <a:off x="308610" y="2743200"/>
            <a:ext cx="4217700" cy="2139600"/>
          </a:xfrm>
          <a:prstGeom prst="rect">
            <a:avLst/>
          </a:prstGeom>
          <a:noFill/>
          <a:ln cap="flat" cmpd="sng" w="12700">
            <a:solidFill>
              <a:srgbClr val="0077AA"/>
            </a:solidFill>
            <a:prstDash val="solid"/>
            <a:round/>
            <a:headEnd len="sm" w="sm" type="none"/>
            <a:tailEnd len="sm" w="sm" type="none"/>
          </a:ln>
          <a:effectLst>
            <a:outerShdw blurRad="127000" rotWithShape="0" algn="bl" dir="8100000" dist="38100">
              <a:srgbClr val="000000">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6"/>
          <p:cNvSpPr/>
          <p:nvPr/>
        </p:nvSpPr>
        <p:spPr>
          <a:xfrm>
            <a:off x="409070" y="284331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600" u="none" cap="none" strike="noStrike">
                <a:solidFill>
                  <a:schemeClr val="dk1"/>
                </a:solidFill>
                <a:latin typeface="Calibri"/>
                <a:ea typeface="Calibri"/>
                <a:cs typeface="Calibri"/>
                <a:sym typeface="Calibri"/>
              </a:rPr>
              <a:t>H1</a:t>
            </a:r>
            <a:endParaRPr b="0" i="0" sz="1600" u="none" cap="none" strike="noStrike">
              <a:solidFill>
                <a:schemeClr val="dk1"/>
              </a:solidFill>
              <a:latin typeface="Calibri"/>
              <a:ea typeface="Calibri"/>
              <a:cs typeface="Calibri"/>
              <a:sym typeface="Calibri"/>
            </a:endParaRPr>
          </a:p>
        </p:txBody>
      </p:sp>
      <p:sp>
        <p:nvSpPr>
          <p:cNvPr id="315" name="Google Shape;315;p26"/>
          <p:cNvSpPr/>
          <p:nvPr/>
        </p:nvSpPr>
        <p:spPr>
          <a:xfrm>
            <a:off x="891205" y="2856859"/>
            <a:ext cx="34977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900"/>
              <a:buFont typeface="Calibri"/>
              <a:buNone/>
            </a:pPr>
            <a:r>
              <a:rPr b="1" i="0" lang="en" sz="1300" u="none" cap="none" strike="noStrike">
                <a:solidFill>
                  <a:schemeClr val="dk1"/>
                </a:solidFill>
                <a:latin typeface="Calibri"/>
                <a:ea typeface="Calibri"/>
                <a:cs typeface="Calibri"/>
                <a:sym typeface="Calibri"/>
              </a:rPr>
              <a:t>What Head 1 learns</a:t>
            </a:r>
            <a:endParaRPr b="0" i="0" sz="1300" u="none" cap="none" strike="noStrike">
              <a:solidFill>
                <a:schemeClr val="dk1"/>
              </a:solidFill>
              <a:latin typeface="Calibri"/>
              <a:ea typeface="Calibri"/>
              <a:cs typeface="Calibri"/>
              <a:sym typeface="Calibri"/>
            </a:endParaRPr>
          </a:p>
        </p:txBody>
      </p:sp>
      <p:sp>
        <p:nvSpPr>
          <p:cNvPr id="316" name="Google Shape;316;p26"/>
          <p:cNvSpPr/>
          <p:nvPr/>
        </p:nvSpPr>
        <p:spPr>
          <a:xfrm>
            <a:off x="480060" y="3278124"/>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WQ projects both tokens to same space [1,1]ᵀ</a:t>
            </a:r>
            <a:endParaRPr b="0" i="0" sz="1100" u="none" cap="none" strike="noStrike">
              <a:solidFill>
                <a:schemeClr val="dk1"/>
              </a:solidFill>
              <a:latin typeface="Calibri"/>
              <a:ea typeface="Calibri"/>
              <a:cs typeface="Calibri"/>
              <a:sym typeface="Calibri"/>
            </a:endParaRPr>
          </a:p>
        </p:txBody>
      </p:sp>
      <p:sp>
        <p:nvSpPr>
          <p:cNvPr id="317" name="Google Shape;317;p26"/>
          <p:cNvSpPr/>
          <p:nvPr/>
        </p:nvSpPr>
        <p:spPr>
          <a:xfrm>
            <a:off x="480060" y="3634740"/>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WK focuses only on first dimension [1,0]ᵀ</a:t>
            </a:r>
            <a:endParaRPr b="0" i="0" sz="1100" u="none" cap="none" strike="noStrike">
              <a:solidFill>
                <a:schemeClr val="dk1"/>
              </a:solidFill>
              <a:latin typeface="Calibri"/>
              <a:ea typeface="Calibri"/>
              <a:cs typeface="Calibri"/>
              <a:sym typeface="Calibri"/>
            </a:endParaRPr>
          </a:p>
        </p:txBody>
      </p:sp>
      <p:sp>
        <p:nvSpPr>
          <p:cNvPr id="318" name="Google Shape;318;p26"/>
          <p:cNvSpPr/>
          <p:nvPr/>
        </p:nvSpPr>
        <p:spPr>
          <a:xfrm>
            <a:off x="480060" y="3991356"/>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 animal gets score 1, it gets score 1</a:t>
            </a:r>
            <a:endParaRPr b="0" i="0" sz="1100" u="none" cap="none" strike="noStrike">
              <a:solidFill>
                <a:schemeClr val="dk1"/>
              </a:solidFill>
              <a:latin typeface="Calibri"/>
              <a:ea typeface="Calibri"/>
              <a:cs typeface="Calibri"/>
              <a:sym typeface="Calibri"/>
            </a:endParaRPr>
          </a:p>
        </p:txBody>
      </p:sp>
      <p:sp>
        <p:nvSpPr>
          <p:cNvPr id="319" name="Google Shape;319;p26"/>
          <p:cNvSpPr/>
          <p:nvPr/>
        </p:nvSpPr>
        <p:spPr>
          <a:xfrm>
            <a:off x="480060" y="4347972"/>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1" i="0" lang="en" sz="1100" u="none" cap="none" strike="noStrike">
                <a:solidFill>
                  <a:schemeClr val="dk1"/>
                </a:solidFill>
                <a:latin typeface="Calibri"/>
                <a:ea typeface="Calibri"/>
                <a:cs typeface="Calibri"/>
                <a:sym typeface="Calibri"/>
              </a:rPr>
              <a:t>→ Both attend to animal (coreference)</a:t>
            </a:r>
            <a:endParaRPr b="0" i="0" sz="1100" u="none" cap="none" strike="noStrike">
              <a:solidFill>
                <a:schemeClr val="dk1"/>
              </a:solidFill>
              <a:latin typeface="Calibri"/>
              <a:ea typeface="Calibri"/>
              <a:cs typeface="Calibri"/>
              <a:sym typeface="Calibri"/>
            </a:endParaRPr>
          </a:p>
        </p:txBody>
      </p:sp>
      <p:sp>
        <p:nvSpPr>
          <p:cNvPr id="320" name="Google Shape;320;p26"/>
          <p:cNvSpPr/>
          <p:nvPr/>
        </p:nvSpPr>
        <p:spPr>
          <a:xfrm>
            <a:off x="4732020" y="2743200"/>
            <a:ext cx="4217700" cy="2139600"/>
          </a:xfrm>
          <a:prstGeom prst="rect">
            <a:avLst/>
          </a:prstGeom>
          <a:noFill/>
          <a:ln cap="flat" cmpd="sng" w="12700">
            <a:solidFill>
              <a:srgbClr val="B45309"/>
            </a:solidFill>
            <a:prstDash val="solid"/>
            <a:round/>
            <a:headEnd len="sm" w="sm" type="none"/>
            <a:tailEnd len="sm" w="sm" type="none"/>
          </a:ln>
          <a:effectLst>
            <a:outerShdw blurRad="127000" rotWithShape="0" algn="bl" dir="8100000" dist="38100">
              <a:srgbClr val="000000">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6"/>
          <p:cNvSpPr/>
          <p:nvPr/>
        </p:nvSpPr>
        <p:spPr>
          <a:xfrm>
            <a:off x="4872117" y="283921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600" u="none" cap="none" strike="noStrike">
                <a:solidFill>
                  <a:srgbClr val="1A1F26"/>
                </a:solidFill>
                <a:latin typeface="Calibri"/>
                <a:ea typeface="Calibri"/>
                <a:cs typeface="Calibri"/>
                <a:sym typeface="Calibri"/>
              </a:rPr>
              <a:t>H2</a:t>
            </a:r>
            <a:endParaRPr b="0" i="0" sz="1600" u="none" cap="none" strike="noStrike">
              <a:solidFill>
                <a:schemeClr val="dk1"/>
              </a:solidFill>
              <a:latin typeface="Calibri"/>
              <a:ea typeface="Calibri"/>
              <a:cs typeface="Calibri"/>
              <a:sym typeface="Calibri"/>
            </a:endParaRPr>
          </a:p>
        </p:txBody>
      </p:sp>
      <p:sp>
        <p:nvSpPr>
          <p:cNvPr id="322" name="Google Shape;322;p26"/>
          <p:cNvSpPr/>
          <p:nvPr/>
        </p:nvSpPr>
        <p:spPr>
          <a:xfrm>
            <a:off x="5335524" y="2846405"/>
            <a:ext cx="34977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900"/>
              <a:buFont typeface="Calibri"/>
              <a:buNone/>
            </a:pPr>
            <a:r>
              <a:rPr b="1" i="0" lang="en" sz="1300" u="none" cap="none" strike="noStrike">
                <a:solidFill>
                  <a:schemeClr val="dk1"/>
                </a:solidFill>
                <a:latin typeface="Calibri"/>
                <a:ea typeface="Calibri"/>
                <a:cs typeface="Calibri"/>
                <a:sym typeface="Calibri"/>
              </a:rPr>
              <a:t>What Head 2 learns</a:t>
            </a:r>
            <a:endParaRPr b="0" i="0" sz="1300" u="none" cap="none" strike="noStrike">
              <a:solidFill>
                <a:schemeClr val="dk1"/>
              </a:solidFill>
              <a:latin typeface="Calibri"/>
              <a:ea typeface="Calibri"/>
              <a:cs typeface="Calibri"/>
              <a:sym typeface="Calibri"/>
            </a:endParaRPr>
          </a:p>
        </p:txBody>
      </p:sp>
      <p:sp>
        <p:nvSpPr>
          <p:cNvPr id="323" name="Google Shape;323;p26"/>
          <p:cNvSpPr/>
          <p:nvPr/>
        </p:nvSpPr>
        <p:spPr>
          <a:xfrm>
            <a:off x="4903470" y="3278124"/>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WQ focuses on second dimension [0,1]ᵀ</a:t>
            </a:r>
            <a:endParaRPr b="0" i="0" sz="1100" u="none" cap="none" strike="noStrike">
              <a:solidFill>
                <a:schemeClr val="dk1"/>
              </a:solidFill>
              <a:latin typeface="Calibri"/>
              <a:ea typeface="Calibri"/>
              <a:cs typeface="Calibri"/>
              <a:sym typeface="Calibri"/>
            </a:endParaRPr>
          </a:p>
        </p:txBody>
      </p:sp>
      <p:sp>
        <p:nvSpPr>
          <p:cNvPr id="324" name="Google Shape;324;p26"/>
          <p:cNvSpPr/>
          <p:nvPr/>
        </p:nvSpPr>
        <p:spPr>
          <a:xfrm>
            <a:off x="4903470" y="3634740"/>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WK same projection [0,1]ᵀ</a:t>
            </a:r>
            <a:endParaRPr b="0" i="0" sz="1100" u="none" cap="none" strike="noStrike">
              <a:solidFill>
                <a:schemeClr val="dk1"/>
              </a:solidFill>
              <a:latin typeface="Calibri"/>
              <a:ea typeface="Calibri"/>
              <a:cs typeface="Calibri"/>
              <a:sym typeface="Calibri"/>
            </a:endParaRPr>
          </a:p>
        </p:txBody>
      </p:sp>
      <p:sp>
        <p:nvSpPr>
          <p:cNvPr id="325" name="Google Shape;325;p26"/>
          <p:cNvSpPr/>
          <p:nvPr/>
        </p:nvSpPr>
        <p:spPr>
          <a:xfrm>
            <a:off x="4903470" y="3991356"/>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 animal gets score 0, it gets score 1</a:t>
            </a:r>
            <a:endParaRPr b="0" i="0" sz="1100" u="none" cap="none" strike="noStrike">
              <a:solidFill>
                <a:schemeClr val="dk1"/>
              </a:solidFill>
              <a:latin typeface="Calibri"/>
              <a:ea typeface="Calibri"/>
              <a:cs typeface="Calibri"/>
              <a:sym typeface="Calibri"/>
            </a:endParaRPr>
          </a:p>
        </p:txBody>
      </p:sp>
      <p:sp>
        <p:nvSpPr>
          <p:cNvPr id="326" name="Google Shape;326;p26"/>
          <p:cNvSpPr/>
          <p:nvPr/>
        </p:nvSpPr>
        <p:spPr>
          <a:xfrm>
            <a:off x="4903470" y="4347972"/>
            <a:ext cx="39777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100" u="none" cap="none" strike="noStrike">
                <a:solidFill>
                  <a:schemeClr val="dk1"/>
                </a:solidFill>
                <a:latin typeface="Calibri"/>
                <a:ea typeface="Calibri"/>
                <a:cs typeface="Calibri"/>
                <a:sym typeface="Calibri"/>
              </a:rPr>
              <a:t>→ it attends to itself (context-aware)</a:t>
            </a:r>
            <a:endParaRPr b="0" i="0" sz="1100" u="none" cap="none" strike="noStrike">
              <a:solidFill>
                <a:schemeClr val="dk1"/>
              </a:solidFill>
              <a:latin typeface="Calibri"/>
              <a:ea typeface="Calibri"/>
              <a:cs typeface="Calibri"/>
              <a:sym typeface="Calibri"/>
            </a:endParaRPr>
          </a:p>
        </p:txBody>
      </p:sp>
      <p:pic>
        <p:nvPicPr>
          <p:cNvPr id="327" name="Google Shape;327;p26"/>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2" name="Shape 332"/>
        <p:cNvGrpSpPr/>
        <p:nvPr/>
      </p:nvGrpSpPr>
      <p:grpSpPr>
        <a:xfrm>
          <a:off x="0" y="0"/>
          <a:ext cx="0" cy="0"/>
          <a:chOff x="0" y="0"/>
          <a:chExt cx="0" cy="0"/>
        </a:xfrm>
      </p:grpSpPr>
      <p:sp>
        <p:nvSpPr>
          <p:cNvPr id="333" name="Google Shape;333;p27"/>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1</a:t>
            </a:r>
            <a:endParaRPr b="0" i="0" sz="2600" u="none" cap="none" strike="noStrike">
              <a:solidFill>
                <a:schemeClr val="dk1"/>
              </a:solidFill>
              <a:latin typeface="Calibri"/>
              <a:ea typeface="Calibri"/>
              <a:cs typeface="Calibri"/>
              <a:sym typeface="Calibri"/>
            </a:endParaRPr>
          </a:p>
        </p:txBody>
      </p:sp>
      <p:pic>
        <p:nvPicPr>
          <p:cNvPr id="334" name="Google Shape;334;p27"/>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35" name="Google Shape;335;p27"/>
          <p:cNvSpPr txBox="1"/>
          <p:nvPr/>
        </p:nvSpPr>
        <p:spPr>
          <a:xfrm>
            <a:off x="354350" y="1187800"/>
            <a:ext cx="71337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designing a sequence model from scratch and need to choose between an RNN-based architecture and a self-attention-based one. Your training corpus is enormous (billions of tokens) and you have access to large GPU clusters, but your sequences are relatively short (under 100 tokens). Which architecture should you pick, and why?</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RNN — short sequences don't need attention's long-range modeling strength, so it's a better fit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B) </a:t>
            </a:r>
            <a:r>
              <a:rPr lang="en" sz="1300">
                <a:solidFill>
                  <a:schemeClr val="dk1"/>
                </a:solidFill>
                <a:latin typeface="Calibri"/>
                <a:ea typeface="Calibri"/>
                <a:cs typeface="Calibri"/>
                <a:sym typeface="Calibri"/>
              </a:rPr>
              <a:t>Self-attention — because it captures long-range dependencies RNNs structurally cannot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C) </a:t>
            </a:r>
            <a:r>
              <a:rPr lang="en" sz="1300">
                <a:solidFill>
                  <a:schemeClr val="dk1"/>
                </a:solidFill>
                <a:latin typeface="Calibri"/>
                <a:ea typeface="Calibri"/>
                <a:cs typeface="Calibri"/>
                <a:sym typeface="Calibri"/>
              </a:rPr>
              <a:t>Self-attention — because it parallelizes across the GPU cluster, letting you actually use the compute you have</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Either works equally well; the real bottleneck will be model size, not architecture</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pic>
        <p:nvPicPr>
          <p:cNvPr id="336" name="Google Shape;336;p27"/>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p28"/>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1</a:t>
            </a:r>
            <a:endParaRPr b="0" i="0" sz="2600" u="none" cap="none" strike="noStrike">
              <a:solidFill>
                <a:schemeClr val="dk1"/>
              </a:solidFill>
              <a:latin typeface="Calibri"/>
              <a:ea typeface="Calibri"/>
              <a:cs typeface="Calibri"/>
              <a:sym typeface="Calibri"/>
            </a:endParaRPr>
          </a:p>
        </p:txBody>
      </p:sp>
      <p:pic>
        <p:nvPicPr>
          <p:cNvPr id="343" name="Google Shape;343;p28"/>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44" name="Google Shape;344;p28"/>
          <p:cNvSpPr txBox="1"/>
          <p:nvPr/>
        </p:nvSpPr>
        <p:spPr>
          <a:xfrm>
            <a:off x="354350" y="1187800"/>
            <a:ext cx="71337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designing a sequence model from scratch and need to choose between an RNN-based architecture and a self-attention-based one. Your training corpus is enormous (billions of tokens) and you have access to large GPU clusters, but your sequences are relatively short (under 100 tokens). Which architecture should you pick, and why?</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RNN — short sequences don't need attention's long-range modeling strength, so it's a better fit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 </a:t>
            </a:r>
            <a:r>
              <a:rPr lang="en" sz="1300">
                <a:solidFill>
                  <a:schemeClr val="dk1"/>
                </a:solidFill>
                <a:latin typeface="Calibri"/>
                <a:ea typeface="Calibri"/>
                <a:cs typeface="Calibri"/>
                <a:sym typeface="Calibri"/>
              </a:rPr>
              <a:t>Self-attention — because it captures long-range dependencies RNNs structurally cannot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 </a:t>
            </a:r>
            <a:r>
              <a:rPr lang="en" sz="1300">
                <a:solidFill>
                  <a:schemeClr val="dk1"/>
                </a:solidFill>
                <a:latin typeface="Calibri"/>
                <a:ea typeface="Calibri"/>
                <a:cs typeface="Calibri"/>
                <a:sym typeface="Calibri"/>
              </a:rPr>
              <a:t>Self-attention — because it parallelizes across the GPU cluster, letting you actually use the compute you have</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Either works equally well; the real bottleneck will be model size, not architecture</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sp>
        <p:nvSpPr>
          <p:cNvPr id="345" name="Google Shape;345;p28"/>
          <p:cNvSpPr txBox="1"/>
          <p:nvPr/>
        </p:nvSpPr>
        <p:spPr>
          <a:xfrm>
            <a:off x="470975" y="334752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346" name="Google Shape;346;p28"/>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29"/>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1 — Solution</a:t>
            </a:r>
            <a:endParaRPr b="0" i="0" sz="1800" u="none" cap="none" strike="noStrike">
              <a:solidFill>
                <a:schemeClr val="dk1"/>
              </a:solidFill>
              <a:latin typeface="Calibri"/>
              <a:ea typeface="Calibri"/>
              <a:cs typeface="Calibri"/>
              <a:sym typeface="Calibri"/>
            </a:endParaRPr>
          </a:p>
        </p:txBody>
      </p:sp>
      <p:sp>
        <p:nvSpPr>
          <p:cNvPr id="353" name="Google Shape;353;p29"/>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365760" y="621792"/>
            <a:ext cx="8412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Which architecture should you pick, and why?</a:t>
            </a:r>
            <a:endParaRPr b="0" i="0" sz="1050" u="none" cap="none" strike="noStrike">
              <a:solidFill>
                <a:schemeClr val="dk1"/>
              </a:solidFill>
              <a:latin typeface="Calibri"/>
              <a:ea typeface="Calibri"/>
              <a:cs typeface="Calibri"/>
              <a:sym typeface="Calibri"/>
            </a:endParaRPr>
          </a:p>
        </p:txBody>
      </p:sp>
      <p:sp>
        <p:nvSpPr>
          <p:cNvPr id="355" name="Google Shape;355;p29"/>
          <p:cNvSpPr/>
          <p:nvPr/>
        </p:nvSpPr>
        <p:spPr>
          <a:xfrm>
            <a:off x="365760" y="960120"/>
            <a:ext cx="8412600" cy="567000"/>
          </a:xfrm>
          <a:prstGeom prst="roundRect">
            <a:avLst>
              <a:gd fmla="val 9677"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9"/>
          <p:cNvSpPr/>
          <p:nvPr/>
        </p:nvSpPr>
        <p:spPr>
          <a:xfrm>
            <a:off x="475488" y="1033272"/>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
          <p:cNvSpPr/>
          <p:nvPr/>
        </p:nvSpPr>
        <p:spPr>
          <a:xfrm>
            <a:off x="475488" y="103327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a:t>
            </a:r>
            <a:endParaRPr b="0" i="0" sz="1000" u="none" cap="none" strike="noStrike">
              <a:solidFill>
                <a:schemeClr val="dk1"/>
              </a:solidFill>
              <a:latin typeface="Calibri"/>
              <a:ea typeface="Calibri"/>
              <a:cs typeface="Calibri"/>
              <a:sym typeface="Calibri"/>
            </a:endParaRPr>
          </a:p>
        </p:txBody>
      </p:sp>
      <p:sp>
        <p:nvSpPr>
          <p:cNvPr id="358" name="Google Shape;358;p29"/>
          <p:cNvSpPr/>
          <p:nvPr/>
        </p:nvSpPr>
        <p:spPr>
          <a:xfrm>
            <a:off x="877824" y="1005840"/>
            <a:ext cx="78180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RNN — short sequences don't need attention's long-range modeling strength, so it's a better fit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Reasonable instinct, but it optimizes for the wrong constraint. With a huge corpus and idle GPU clusters, training speed — not modeling capacity — is what determines whether the project finishes on time.</a:t>
            </a:r>
            <a:endParaRPr b="0" i="0" sz="950" u="none" cap="none" strike="noStrike">
              <a:solidFill>
                <a:schemeClr val="dk1"/>
              </a:solidFill>
              <a:latin typeface="Calibri"/>
              <a:ea typeface="Calibri"/>
              <a:cs typeface="Calibri"/>
              <a:sym typeface="Calibri"/>
            </a:endParaRPr>
          </a:p>
        </p:txBody>
      </p:sp>
      <p:sp>
        <p:nvSpPr>
          <p:cNvPr id="359" name="Google Shape;359;p29"/>
          <p:cNvSpPr/>
          <p:nvPr/>
        </p:nvSpPr>
        <p:spPr>
          <a:xfrm>
            <a:off x="365760" y="1581912"/>
            <a:ext cx="8412600" cy="567000"/>
          </a:xfrm>
          <a:prstGeom prst="roundRect">
            <a:avLst>
              <a:gd fmla="val 9677"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9"/>
          <p:cNvSpPr/>
          <p:nvPr/>
        </p:nvSpPr>
        <p:spPr>
          <a:xfrm>
            <a:off x="475488" y="1655064"/>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9"/>
          <p:cNvSpPr/>
          <p:nvPr/>
        </p:nvSpPr>
        <p:spPr>
          <a:xfrm>
            <a:off x="475488" y="165506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a:t>
            </a:r>
            <a:endParaRPr b="0" i="0" sz="1000" u="none" cap="none" strike="noStrike">
              <a:solidFill>
                <a:schemeClr val="dk1"/>
              </a:solidFill>
              <a:latin typeface="Calibri"/>
              <a:ea typeface="Calibri"/>
              <a:cs typeface="Calibri"/>
              <a:sym typeface="Calibri"/>
            </a:endParaRPr>
          </a:p>
        </p:txBody>
      </p:sp>
      <p:sp>
        <p:nvSpPr>
          <p:cNvPr id="362" name="Google Shape;362;p29"/>
          <p:cNvSpPr/>
          <p:nvPr/>
        </p:nvSpPr>
        <p:spPr>
          <a:xfrm>
            <a:off x="877824" y="1627632"/>
            <a:ext cx="78180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Self-attention — because it captures long-range dependencies RNNs structurally cannot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This is true of self-attention in general, but it's not the deciding factor here. Sequences are under 100 tokens, so an RNN's long-range weaknesses barely come into play in this scenario.</a:t>
            </a:r>
            <a:endParaRPr b="0" i="0" sz="950" u="none" cap="none" strike="noStrike">
              <a:solidFill>
                <a:schemeClr val="dk1"/>
              </a:solidFill>
              <a:latin typeface="Calibri"/>
              <a:ea typeface="Calibri"/>
              <a:cs typeface="Calibri"/>
              <a:sym typeface="Calibri"/>
            </a:endParaRPr>
          </a:p>
        </p:txBody>
      </p:sp>
      <p:sp>
        <p:nvSpPr>
          <p:cNvPr id="363" name="Google Shape;363;p29"/>
          <p:cNvSpPr/>
          <p:nvPr/>
        </p:nvSpPr>
        <p:spPr>
          <a:xfrm>
            <a:off x="365760" y="2203704"/>
            <a:ext cx="8412600" cy="676800"/>
          </a:xfrm>
          <a:prstGeom prst="roundRect">
            <a:avLst>
              <a:gd fmla="val 8108" name="adj"/>
            </a:avLst>
          </a:prstGeom>
          <a:solidFill>
            <a:srgbClr val="E6F7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9"/>
          <p:cNvSpPr/>
          <p:nvPr/>
        </p:nvSpPr>
        <p:spPr>
          <a:xfrm>
            <a:off x="475488" y="2276856"/>
            <a:ext cx="292500" cy="292500"/>
          </a:xfrm>
          <a:prstGeom prst="ellipse">
            <a:avLst/>
          </a:prstGeom>
          <a:solidFill>
            <a:srgbClr val="0F7A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a:off x="475488" y="227685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366" name="Google Shape;366;p29"/>
          <p:cNvSpPr/>
          <p:nvPr/>
        </p:nvSpPr>
        <p:spPr>
          <a:xfrm>
            <a:off x="877824" y="2249424"/>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Self-attention — because it parallelizes across the GPU cluster, letting you actually use the compute you have  </a:t>
            </a:r>
            <a:r>
              <a:rPr b="1" i="0" lang="en" sz="950" u="none" cap="none" strike="noStrike">
                <a:solidFill>
                  <a:srgbClr val="0F7A53"/>
                </a:solidFill>
                <a:latin typeface="Calibri"/>
                <a:ea typeface="Calibri"/>
                <a:cs typeface="Calibri"/>
                <a:sym typeface="Calibri"/>
              </a:rPr>
              <a:t>— 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With billions of tokens and large GPU clusters, an RNN's sequential, step-by-step processing leaves most of that compute idle. Self-attention processes the whole sequence in parallel, turning available hardware into actual training speed.</a:t>
            </a:r>
            <a:endParaRPr b="0" i="0" sz="950" u="none" cap="none" strike="noStrike">
              <a:solidFill>
                <a:schemeClr val="dk1"/>
              </a:solidFill>
              <a:latin typeface="Calibri"/>
              <a:ea typeface="Calibri"/>
              <a:cs typeface="Calibri"/>
              <a:sym typeface="Calibri"/>
            </a:endParaRPr>
          </a:p>
        </p:txBody>
      </p:sp>
      <p:sp>
        <p:nvSpPr>
          <p:cNvPr id="367" name="Google Shape;367;p29"/>
          <p:cNvSpPr/>
          <p:nvPr/>
        </p:nvSpPr>
        <p:spPr>
          <a:xfrm>
            <a:off x="365760" y="2935224"/>
            <a:ext cx="8412600" cy="567000"/>
          </a:xfrm>
          <a:prstGeom prst="roundRect">
            <a:avLst>
              <a:gd fmla="val 9677"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9"/>
          <p:cNvSpPr/>
          <p:nvPr/>
        </p:nvSpPr>
        <p:spPr>
          <a:xfrm>
            <a:off x="475488" y="3008376"/>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9"/>
          <p:cNvSpPr/>
          <p:nvPr/>
        </p:nvSpPr>
        <p:spPr>
          <a:xfrm>
            <a:off x="475488" y="300837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D</a:t>
            </a:r>
            <a:endParaRPr b="0" i="0" sz="1000" u="none" cap="none" strike="noStrike">
              <a:solidFill>
                <a:schemeClr val="dk1"/>
              </a:solidFill>
              <a:latin typeface="Calibri"/>
              <a:ea typeface="Calibri"/>
              <a:cs typeface="Calibri"/>
              <a:sym typeface="Calibri"/>
            </a:endParaRPr>
          </a:p>
        </p:txBody>
      </p:sp>
      <p:sp>
        <p:nvSpPr>
          <p:cNvPr id="370" name="Google Shape;370;p29"/>
          <p:cNvSpPr/>
          <p:nvPr/>
        </p:nvSpPr>
        <p:spPr>
          <a:xfrm>
            <a:off x="877824" y="2980944"/>
            <a:ext cx="78180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Either works equally well; the real bottleneck will be model size, not architecture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Architecture choice still matters a great deal here — at this data and compute scale, an RNN's sequential bottleneck would dominate training time regardless of model size.</a:t>
            </a:r>
            <a:endParaRPr b="0" i="0" sz="950" u="none" cap="none" strike="noStrike">
              <a:solidFill>
                <a:schemeClr val="dk1"/>
              </a:solidFill>
              <a:latin typeface="Calibri"/>
              <a:ea typeface="Calibri"/>
              <a:cs typeface="Calibri"/>
              <a:sym typeface="Calibri"/>
            </a:endParaRPr>
          </a:p>
        </p:txBody>
      </p:sp>
      <p:sp>
        <p:nvSpPr>
          <p:cNvPr id="371" name="Google Shape;371;p29"/>
          <p:cNvSpPr/>
          <p:nvPr/>
        </p:nvSpPr>
        <p:spPr>
          <a:xfrm>
            <a:off x="365750" y="3575301"/>
            <a:ext cx="8412600" cy="915900"/>
          </a:xfrm>
          <a:prstGeom prst="roundRect">
            <a:avLst>
              <a:gd fmla="val 5195" name="adj"/>
            </a:avLst>
          </a:prstGeom>
          <a:solidFill>
            <a:srgbClr val="0B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9"/>
          <p:cNvSpPr/>
          <p:nvPr/>
        </p:nvSpPr>
        <p:spPr>
          <a:xfrm>
            <a:off x="548640" y="3630168"/>
            <a:ext cx="804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mbria"/>
              <a:buNone/>
            </a:pPr>
            <a:r>
              <a:rPr b="1" i="0" lang="en" sz="1100" u="none" cap="none" strike="noStrike">
                <a:solidFill>
                  <a:srgbClr val="02C39A"/>
                </a:solidFill>
                <a:latin typeface="Cambria"/>
                <a:ea typeface="Cambria"/>
                <a:cs typeface="Cambria"/>
                <a:sym typeface="Cambria"/>
              </a:rPr>
              <a:t>Key Insight</a:t>
            </a:r>
            <a:endParaRPr b="0" i="0" sz="1100" u="none" cap="none" strike="noStrike">
              <a:solidFill>
                <a:schemeClr val="dk1"/>
              </a:solidFill>
              <a:latin typeface="Calibri"/>
              <a:ea typeface="Calibri"/>
              <a:cs typeface="Calibri"/>
              <a:sym typeface="Calibri"/>
            </a:endParaRPr>
          </a:p>
        </p:txBody>
      </p:sp>
      <p:sp>
        <p:nvSpPr>
          <p:cNvPr id="373" name="Google Shape;373;p29"/>
          <p:cNvSpPr/>
          <p:nvPr/>
        </p:nvSpPr>
        <p:spPr>
          <a:xfrm>
            <a:off x="548650" y="3867906"/>
            <a:ext cx="80466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950"/>
              <a:buFont typeface="Calibri"/>
              <a:buNone/>
            </a:pPr>
            <a:r>
              <a:rPr b="0" i="0" lang="en" sz="950" u="none" cap="none" strike="noStrike">
                <a:solidFill>
                  <a:srgbClr val="EAF7F5"/>
                </a:solidFill>
                <a:latin typeface="Calibri"/>
                <a:ea typeface="Calibri"/>
                <a:cs typeface="Calibri"/>
                <a:sym typeface="Calibri"/>
              </a:rPr>
              <a:t>Self-attention's headline advantage is usually framed as 'long-range dependencies' — but in this scenario that strength is irrelevant, since sequences are short. The advantage that actually decides the outcome is parallelization: with massive data and GPU clusters, the architecture that can use the hardware wins. Attention's real-world edge is often about hardware utilization, not just modeling capacity.</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sp>
        <p:nvSpPr>
          <p:cNvPr descr="$PPTXTitle" id="378" name="Google Shape;378;p30"/>
          <p:cNvSpPr txBox="1"/>
          <p:nvPr>
            <p:ph type="title"/>
          </p:nvPr>
        </p:nvSpPr>
        <p:spPr>
          <a:xfrm>
            <a:off x="33956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The Transformer (Decoder)</a:t>
            </a:r>
            <a:endParaRPr sz="2800">
              <a:solidFill>
                <a:schemeClr val="dk1"/>
              </a:solidFill>
            </a:endParaRPr>
          </a:p>
        </p:txBody>
      </p:sp>
      <p:pic>
        <p:nvPicPr>
          <p:cNvPr id="379" name="Google Shape;379;p30"/>
          <p:cNvPicPr preferRelativeResize="0"/>
          <p:nvPr/>
        </p:nvPicPr>
        <p:blipFill rotWithShape="1">
          <a:blip r:embed="rId4">
            <a:alphaModFix/>
          </a:blip>
          <a:srcRect b="0" l="0" r="0" t="0"/>
          <a:stretch/>
        </p:blipFill>
        <p:spPr>
          <a:xfrm>
            <a:off x="974425" y="925100"/>
            <a:ext cx="6734649" cy="4218400"/>
          </a:xfrm>
          <a:prstGeom prst="rect">
            <a:avLst/>
          </a:prstGeom>
          <a:noFill/>
          <a:ln>
            <a:noFill/>
          </a:ln>
        </p:spPr>
      </p:pic>
      <p:pic>
        <p:nvPicPr>
          <p:cNvPr id="380" name="Google Shape;380;p30"/>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4" name="Shape 384"/>
        <p:cNvGrpSpPr/>
        <p:nvPr/>
      </p:nvGrpSpPr>
      <p:grpSpPr>
        <a:xfrm>
          <a:off x="0" y="0"/>
          <a:ext cx="0" cy="0"/>
          <a:chOff x="0" y="0"/>
          <a:chExt cx="0" cy="0"/>
        </a:xfrm>
      </p:grpSpPr>
      <p:sp>
        <p:nvSpPr>
          <p:cNvPr descr="$PPTXTitle" id="385" name="Google Shape;385;p31"/>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grpSp>
        <p:nvGrpSpPr>
          <p:cNvPr id="386" name="Google Shape;386;p31"/>
          <p:cNvGrpSpPr/>
          <p:nvPr/>
        </p:nvGrpSpPr>
        <p:grpSpPr>
          <a:xfrm>
            <a:off x="572760" y="1407997"/>
            <a:ext cx="3675063" cy="3132090"/>
            <a:chOff x="763680" y="1877329"/>
            <a:chExt cx="4900084" cy="4176120"/>
          </a:xfrm>
        </p:grpSpPr>
        <p:pic>
          <p:nvPicPr>
            <p:cNvPr id="387" name="Google Shape;387;p31"/>
            <p:cNvPicPr preferRelativeResize="0"/>
            <p:nvPr/>
          </p:nvPicPr>
          <p:blipFill rotWithShape="1">
            <a:blip r:embed="rId4">
              <a:alphaModFix/>
            </a:blip>
            <a:srcRect b="0" l="0" r="0" t="0"/>
            <a:stretch/>
          </p:blipFill>
          <p:spPr>
            <a:xfrm>
              <a:off x="763680" y="1877329"/>
              <a:ext cx="4900084" cy="4176120"/>
            </a:xfrm>
            <a:prstGeom prst="rect">
              <a:avLst/>
            </a:prstGeom>
            <a:noFill/>
            <a:ln>
              <a:noFill/>
            </a:ln>
          </p:spPr>
        </p:pic>
        <p:sp>
          <p:nvSpPr>
            <p:cNvPr id="388" name="Google Shape;388;p31"/>
            <p:cNvSpPr/>
            <p:nvPr/>
          </p:nvSpPr>
          <p:spPr>
            <a:xfrm>
              <a:off x="3454919" y="4125959"/>
              <a:ext cx="885189" cy="425450"/>
            </a:xfrm>
            <a:custGeom>
              <a:rect b="b" l="l" r="r" t="t"/>
              <a:pathLst>
                <a:path extrusionOk="0" h="425450" w="885189">
                  <a:moveTo>
                    <a:pt x="139679" y="0"/>
                  </a:moveTo>
                  <a:lnTo>
                    <a:pt x="31680" y="0"/>
                  </a:lnTo>
                  <a:lnTo>
                    <a:pt x="0" y="360"/>
                  </a:lnTo>
                  <a:lnTo>
                    <a:pt x="0" y="216359"/>
                  </a:lnTo>
                  <a:lnTo>
                    <a:pt x="56160" y="216359"/>
                  </a:lnTo>
                  <a:lnTo>
                    <a:pt x="56160" y="371880"/>
                  </a:lnTo>
                  <a:lnTo>
                    <a:pt x="71640" y="417959"/>
                  </a:lnTo>
                  <a:lnTo>
                    <a:pt x="99359" y="425160"/>
                  </a:lnTo>
                  <a:lnTo>
                    <a:pt x="278279" y="425160"/>
                  </a:lnTo>
                  <a:lnTo>
                    <a:pt x="478800" y="420480"/>
                  </a:lnTo>
                  <a:lnTo>
                    <a:pt x="611280" y="406079"/>
                  </a:lnTo>
                  <a:lnTo>
                    <a:pt x="743760" y="381599"/>
                  </a:lnTo>
                  <a:lnTo>
                    <a:pt x="863279" y="353160"/>
                  </a:lnTo>
                  <a:lnTo>
                    <a:pt x="879120" y="344879"/>
                  </a:lnTo>
                  <a:lnTo>
                    <a:pt x="879480" y="344879"/>
                  </a:lnTo>
                  <a:lnTo>
                    <a:pt x="879463" y="334595"/>
                  </a:lnTo>
                  <a:lnTo>
                    <a:pt x="884880" y="334079"/>
                  </a:lnTo>
                  <a:lnTo>
                    <a:pt x="884880" y="118079"/>
                  </a:lnTo>
                  <a:lnTo>
                    <a:pt x="884520" y="118113"/>
                  </a:lnTo>
                  <a:lnTo>
                    <a:pt x="884520" y="115920"/>
                  </a:lnTo>
                  <a:lnTo>
                    <a:pt x="884161" y="115924"/>
                  </a:lnTo>
                  <a:lnTo>
                    <a:pt x="884160" y="114839"/>
                  </a:lnTo>
                  <a:lnTo>
                    <a:pt x="883800" y="114842"/>
                  </a:lnTo>
                  <a:lnTo>
                    <a:pt x="883800" y="114119"/>
                  </a:lnTo>
                  <a:lnTo>
                    <a:pt x="883083" y="114122"/>
                  </a:lnTo>
                  <a:lnTo>
                    <a:pt x="883080" y="112679"/>
                  </a:lnTo>
                  <a:lnTo>
                    <a:pt x="879887" y="112690"/>
                  </a:lnTo>
                  <a:lnTo>
                    <a:pt x="879839" y="109439"/>
                  </a:lnTo>
                  <a:lnTo>
                    <a:pt x="879480" y="109439"/>
                  </a:lnTo>
                  <a:lnTo>
                    <a:pt x="863640" y="99000"/>
                  </a:lnTo>
                  <a:lnTo>
                    <a:pt x="855719" y="95457"/>
                  </a:lnTo>
                  <a:lnTo>
                    <a:pt x="855719" y="19800"/>
                  </a:lnTo>
                  <a:lnTo>
                    <a:pt x="747720" y="19800"/>
                  </a:lnTo>
                  <a:lnTo>
                    <a:pt x="724679" y="20159"/>
                  </a:lnTo>
                  <a:lnTo>
                    <a:pt x="691200" y="25200"/>
                  </a:lnTo>
                  <a:lnTo>
                    <a:pt x="670680" y="28799"/>
                  </a:lnTo>
                  <a:lnTo>
                    <a:pt x="655289" y="29723"/>
                  </a:lnTo>
                  <a:lnTo>
                    <a:pt x="410400" y="29519"/>
                  </a:lnTo>
                  <a:lnTo>
                    <a:pt x="351346" y="29960"/>
                  </a:lnTo>
                  <a:lnTo>
                    <a:pt x="330840" y="26639"/>
                  </a:lnTo>
                  <a:lnTo>
                    <a:pt x="303480" y="20159"/>
                  </a:lnTo>
                  <a:lnTo>
                    <a:pt x="267840" y="9720"/>
                  </a:lnTo>
                  <a:lnTo>
                    <a:pt x="230399" y="2519"/>
                  </a:lnTo>
                  <a:lnTo>
                    <a:pt x="217440" y="1079"/>
                  </a:lnTo>
                  <a:lnTo>
                    <a:pt x="204480" y="360"/>
                  </a:lnTo>
                  <a:lnTo>
                    <a:pt x="139679" y="0"/>
                  </a:lnTo>
                  <a:close/>
                </a:path>
              </a:pathLst>
            </a:custGeom>
            <a:solidFill>
              <a:srgbClr val="FFFC00">
                <a:alpha val="502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389" name="Google Shape;389;p31"/>
            <p:cNvPicPr preferRelativeResize="0"/>
            <p:nvPr/>
          </p:nvPicPr>
          <p:blipFill rotWithShape="1">
            <a:blip r:embed="rId5">
              <a:alphaModFix/>
            </a:blip>
            <a:srcRect b="0" l="0" r="0" t="0"/>
            <a:stretch/>
          </p:blipFill>
          <p:spPr>
            <a:xfrm>
              <a:off x="1095854" y="2065284"/>
              <a:ext cx="2019475" cy="777306"/>
            </a:xfrm>
            <a:prstGeom prst="rect">
              <a:avLst/>
            </a:prstGeom>
            <a:noFill/>
            <a:ln>
              <a:noFill/>
            </a:ln>
          </p:spPr>
        </p:pic>
      </p:grpSp>
      <p:pic>
        <p:nvPicPr>
          <p:cNvPr id="390" name="Google Shape;390;p31"/>
          <p:cNvPicPr preferRelativeResize="0"/>
          <p:nvPr/>
        </p:nvPicPr>
        <p:blipFill rotWithShape="1">
          <a:blip r:embed="rId6">
            <a:alphaModFix/>
          </a:blip>
          <a:srcRect b="0" l="0" r="0" t="0"/>
          <a:stretch/>
        </p:blipFill>
        <p:spPr>
          <a:xfrm>
            <a:off x="4595605" y="1405744"/>
            <a:ext cx="3703641" cy="3177814"/>
          </a:xfrm>
          <a:prstGeom prst="rect">
            <a:avLst/>
          </a:prstGeom>
          <a:noFill/>
          <a:ln>
            <a:noFill/>
          </a:ln>
        </p:spPr>
      </p:pic>
      <p:sp>
        <p:nvSpPr>
          <p:cNvPr id="391" name="Google Shape;391;p31"/>
          <p:cNvSpPr txBox="1"/>
          <p:nvPr/>
        </p:nvSpPr>
        <p:spPr>
          <a:xfrm>
            <a:off x="1602103" y="4692015"/>
            <a:ext cx="17040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Masked Multi-head Attention</a:t>
            </a:r>
            <a:endParaRPr b="0" i="0" sz="1100" u="none" cap="none" strike="noStrike">
              <a:solidFill>
                <a:srgbClr val="000000"/>
              </a:solidFill>
              <a:latin typeface="Arial"/>
              <a:ea typeface="Arial"/>
              <a:cs typeface="Arial"/>
              <a:sym typeface="Arial"/>
            </a:endParaRPr>
          </a:p>
        </p:txBody>
      </p:sp>
      <p:sp>
        <p:nvSpPr>
          <p:cNvPr id="392" name="Google Shape;392;p31"/>
          <p:cNvSpPr txBox="1"/>
          <p:nvPr/>
        </p:nvSpPr>
        <p:spPr>
          <a:xfrm>
            <a:off x="5555392" y="4692015"/>
            <a:ext cx="22803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Encoder-Decoder Multi-head Attention</a:t>
            </a:r>
            <a:endParaRPr b="0" i="0" sz="1100" u="none" cap="none" strike="noStrike">
              <a:solidFill>
                <a:srgbClr val="000000"/>
              </a:solidFill>
              <a:latin typeface="Arial"/>
              <a:ea typeface="Arial"/>
              <a:cs typeface="Arial"/>
              <a:sym typeface="Arial"/>
            </a:endParaRPr>
          </a:p>
        </p:txBody>
      </p:sp>
      <p:sp>
        <p:nvSpPr>
          <p:cNvPr id="393" name="Google Shape;393;p31"/>
          <p:cNvSpPr txBox="1"/>
          <p:nvPr/>
        </p:nvSpPr>
        <p:spPr>
          <a:xfrm>
            <a:off x="6096191" y="2122550"/>
            <a:ext cx="2496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𝑉, 𝐾</a:t>
            </a:r>
            <a:endParaRPr b="0" i="0" sz="1100" u="none" cap="none" strike="noStrike">
              <a:solidFill>
                <a:srgbClr val="000000"/>
              </a:solidFill>
              <a:latin typeface="Cambria Math"/>
              <a:ea typeface="Cambria Math"/>
              <a:cs typeface="Cambria Math"/>
              <a:sym typeface="Cambria Math"/>
            </a:endParaRPr>
          </a:p>
        </p:txBody>
      </p:sp>
      <p:sp>
        <p:nvSpPr>
          <p:cNvPr id="394" name="Google Shape;394;p31"/>
          <p:cNvSpPr txBox="1"/>
          <p:nvPr/>
        </p:nvSpPr>
        <p:spPr>
          <a:xfrm>
            <a:off x="6888183" y="2865500"/>
            <a:ext cx="1095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𝑄</a:t>
            </a:r>
            <a:endParaRPr b="0" i="0" sz="1100" u="none" cap="none" strike="noStrike">
              <a:solidFill>
                <a:srgbClr val="000000"/>
              </a:solidFill>
              <a:latin typeface="Cambria Math"/>
              <a:ea typeface="Cambria Math"/>
              <a:cs typeface="Cambria Math"/>
              <a:sym typeface="Cambria Math"/>
            </a:endParaRPr>
          </a:p>
        </p:txBody>
      </p:sp>
      <p:sp>
        <p:nvSpPr>
          <p:cNvPr id="395" name="Google Shape;395;p31"/>
          <p:cNvSpPr/>
          <p:nvPr/>
        </p:nvSpPr>
        <p:spPr>
          <a:xfrm>
            <a:off x="6645779" y="2609550"/>
            <a:ext cx="681038" cy="304800"/>
          </a:xfrm>
          <a:custGeom>
            <a:rect b="b" l="l" r="r" t="t"/>
            <a:pathLst>
              <a:path extrusionOk="0" h="406400" w="908050">
                <a:moveTo>
                  <a:pt x="659519" y="0"/>
                </a:moveTo>
                <a:lnTo>
                  <a:pt x="551520" y="0"/>
                </a:lnTo>
                <a:lnTo>
                  <a:pt x="429479" y="359"/>
                </a:lnTo>
                <a:lnTo>
                  <a:pt x="368640" y="4679"/>
                </a:lnTo>
                <a:lnTo>
                  <a:pt x="303895" y="8663"/>
                </a:lnTo>
                <a:lnTo>
                  <a:pt x="268560" y="7559"/>
                </a:lnTo>
                <a:lnTo>
                  <a:pt x="160559" y="7559"/>
                </a:lnTo>
                <a:lnTo>
                  <a:pt x="134640" y="10439"/>
                </a:lnTo>
                <a:lnTo>
                  <a:pt x="116640" y="15119"/>
                </a:lnTo>
                <a:lnTo>
                  <a:pt x="110421" y="18481"/>
                </a:lnTo>
                <a:lnTo>
                  <a:pt x="107999" y="3239"/>
                </a:lnTo>
                <a:lnTo>
                  <a:pt x="0" y="3239"/>
                </a:lnTo>
                <a:lnTo>
                  <a:pt x="1079" y="229679"/>
                </a:lnTo>
                <a:lnTo>
                  <a:pt x="9359" y="269279"/>
                </a:lnTo>
                <a:lnTo>
                  <a:pt x="16200" y="291959"/>
                </a:lnTo>
                <a:lnTo>
                  <a:pt x="20159" y="314639"/>
                </a:lnTo>
                <a:lnTo>
                  <a:pt x="24839" y="361439"/>
                </a:lnTo>
                <a:lnTo>
                  <a:pt x="51120" y="400319"/>
                </a:lnTo>
                <a:lnTo>
                  <a:pt x="698040" y="406079"/>
                </a:lnTo>
                <a:lnTo>
                  <a:pt x="846720" y="397799"/>
                </a:lnTo>
                <a:lnTo>
                  <a:pt x="855719" y="397799"/>
                </a:lnTo>
                <a:lnTo>
                  <a:pt x="897840" y="373679"/>
                </a:lnTo>
                <a:lnTo>
                  <a:pt x="907200" y="325799"/>
                </a:lnTo>
                <a:lnTo>
                  <a:pt x="907559" y="304919"/>
                </a:lnTo>
                <a:lnTo>
                  <a:pt x="907559" y="88919"/>
                </a:lnTo>
                <a:lnTo>
                  <a:pt x="902879" y="48239"/>
                </a:lnTo>
                <a:lnTo>
                  <a:pt x="873719" y="10800"/>
                </a:lnTo>
                <a:lnTo>
                  <a:pt x="845639" y="1440"/>
                </a:lnTo>
                <a:lnTo>
                  <a:pt x="839165" y="1440"/>
                </a:lnTo>
                <a:lnTo>
                  <a:pt x="839160" y="1079"/>
                </a:lnTo>
                <a:lnTo>
                  <a:pt x="762480" y="359"/>
                </a:lnTo>
                <a:lnTo>
                  <a:pt x="693360" y="359"/>
                </a:lnTo>
                <a:lnTo>
                  <a:pt x="659519" y="0"/>
                </a:lnTo>
                <a:close/>
              </a:path>
            </a:pathLst>
          </a:custGeom>
          <a:solidFill>
            <a:srgbClr val="FFFC00">
              <a:alpha val="502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396" name="Google Shape;396;p31"/>
          <p:cNvPicPr preferRelativeResize="0"/>
          <p:nvPr/>
        </p:nvPicPr>
        <p:blipFill>
          <a:blip r:embed="rId7">
            <a:alphaModFix/>
          </a:blip>
          <a:stretch>
            <a:fillRect/>
          </a:stretch>
        </p:blipFill>
        <p:spPr>
          <a:xfrm>
            <a:off x="8369125" y="0"/>
            <a:ext cx="774877" cy="867174"/>
          </a:xfrm>
          <a:prstGeom prst="rect">
            <a:avLst/>
          </a:prstGeom>
          <a:noFill/>
          <a:ln>
            <a:noFill/>
          </a:ln>
        </p:spPr>
      </p:pic>
      <p:pic>
        <p:nvPicPr>
          <p:cNvPr id="397" name="Google Shape;397;p31" title="Screenshot 2026-06-19 at 10.40.48 AM.png"/>
          <p:cNvPicPr preferRelativeResize="0"/>
          <p:nvPr/>
        </p:nvPicPr>
        <p:blipFill>
          <a:blip r:embed="rId8">
            <a:alphaModFix/>
          </a:blip>
          <a:stretch>
            <a:fillRect/>
          </a:stretch>
        </p:blipFill>
        <p:spPr>
          <a:xfrm>
            <a:off x="4378750" y="1405750"/>
            <a:ext cx="4835151" cy="3735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sp>
        <p:nvSpPr>
          <p:cNvPr descr="$PPTXTitle" id="402" name="Google Shape;402;p32"/>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grpSp>
        <p:nvGrpSpPr>
          <p:cNvPr id="403" name="Google Shape;403;p32"/>
          <p:cNvGrpSpPr/>
          <p:nvPr/>
        </p:nvGrpSpPr>
        <p:grpSpPr>
          <a:xfrm>
            <a:off x="585095" y="1407997"/>
            <a:ext cx="3675063" cy="3132090"/>
            <a:chOff x="763680" y="1877329"/>
            <a:chExt cx="4900084" cy="4176120"/>
          </a:xfrm>
        </p:grpSpPr>
        <p:pic>
          <p:nvPicPr>
            <p:cNvPr id="404" name="Google Shape;404;p32"/>
            <p:cNvPicPr preferRelativeResize="0"/>
            <p:nvPr/>
          </p:nvPicPr>
          <p:blipFill rotWithShape="1">
            <a:blip r:embed="rId4">
              <a:alphaModFix/>
            </a:blip>
            <a:srcRect b="0" l="0" r="0" t="0"/>
            <a:stretch/>
          </p:blipFill>
          <p:spPr>
            <a:xfrm>
              <a:off x="763680" y="1877329"/>
              <a:ext cx="4900084" cy="4176120"/>
            </a:xfrm>
            <a:prstGeom prst="rect">
              <a:avLst/>
            </a:prstGeom>
            <a:noFill/>
            <a:ln>
              <a:noFill/>
            </a:ln>
          </p:spPr>
        </p:pic>
        <p:sp>
          <p:nvSpPr>
            <p:cNvPr id="405" name="Google Shape;405;p32"/>
            <p:cNvSpPr/>
            <p:nvPr/>
          </p:nvSpPr>
          <p:spPr>
            <a:xfrm>
              <a:off x="3454919" y="4125959"/>
              <a:ext cx="885189" cy="425450"/>
            </a:xfrm>
            <a:custGeom>
              <a:rect b="b" l="l" r="r" t="t"/>
              <a:pathLst>
                <a:path extrusionOk="0" h="425450" w="885189">
                  <a:moveTo>
                    <a:pt x="139679" y="0"/>
                  </a:moveTo>
                  <a:lnTo>
                    <a:pt x="31680" y="0"/>
                  </a:lnTo>
                  <a:lnTo>
                    <a:pt x="0" y="360"/>
                  </a:lnTo>
                  <a:lnTo>
                    <a:pt x="0" y="216359"/>
                  </a:lnTo>
                  <a:lnTo>
                    <a:pt x="56160" y="216359"/>
                  </a:lnTo>
                  <a:lnTo>
                    <a:pt x="56160" y="371880"/>
                  </a:lnTo>
                  <a:lnTo>
                    <a:pt x="71640" y="417959"/>
                  </a:lnTo>
                  <a:lnTo>
                    <a:pt x="99359" y="425160"/>
                  </a:lnTo>
                  <a:lnTo>
                    <a:pt x="278279" y="425160"/>
                  </a:lnTo>
                  <a:lnTo>
                    <a:pt x="478800" y="420480"/>
                  </a:lnTo>
                  <a:lnTo>
                    <a:pt x="611280" y="406079"/>
                  </a:lnTo>
                  <a:lnTo>
                    <a:pt x="743760" y="381599"/>
                  </a:lnTo>
                  <a:lnTo>
                    <a:pt x="863279" y="353160"/>
                  </a:lnTo>
                  <a:lnTo>
                    <a:pt x="879120" y="344879"/>
                  </a:lnTo>
                  <a:lnTo>
                    <a:pt x="879480" y="344879"/>
                  </a:lnTo>
                  <a:lnTo>
                    <a:pt x="879463" y="334595"/>
                  </a:lnTo>
                  <a:lnTo>
                    <a:pt x="884880" y="334079"/>
                  </a:lnTo>
                  <a:lnTo>
                    <a:pt x="884880" y="118079"/>
                  </a:lnTo>
                  <a:lnTo>
                    <a:pt x="884520" y="118113"/>
                  </a:lnTo>
                  <a:lnTo>
                    <a:pt x="884520" y="115920"/>
                  </a:lnTo>
                  <a:lnTo>
                    <a:pt x="884161" y="115924"/>
                  </a:lnTo>
                  <a:lnTo>
                    <a:pt x="884160" y="114839"/>
                  </a:lnTo>
                  <a:lnTo>
                    <a:pt x="883800" y="114842"/>
                  </a:lnTo>
                  <a:lnTo>
                    <a:pt x="883800" y="114119"/>
                  </a:lnTo>
                  <a:lnTo>
                    <a:pt x="883083" y="114122"/>
                  </a:lnTo>
                  <a:lnTo>
                    <a:pt x="883080" y="112679"/>
                  </a:lnTo>
                  <a:lnTo>
                    <a:pt x="879887" y="112690"/>
                  </a:lnTo>
                  <a:lnTo>
                    <a:pt x="879839" y="109439"/>
                  </a:lnTo>
                  <a:lnTo>
                    <a:pt x="879480" y="109439"/>
                  </a:lnTo>
                  <a:lnTo>
                    <a:pt x="863640" y="99000"/>
                  </a:lnTo>
                  <a:lnTo>
                    <a:pt x="855719" y="95457"/>
                  </a:lnTo>
                  <a:lnTo>
                    <a:pt x="855719" y="19800"/>
                  </a:lnTo>
                  <a:lnTo>
                    <a:pt x="747720" y="19800"/>
                  </a:lnTo>
                  <a:lnTo>
                    <a:pt x="724679" y="20159"/>
                  </a:lnTo>
                  <a:lnTo>
                    <a:pt x="691200" y="25200"/>
                  </a:lnTo>
                  <a:lnTo>
                    <a:pt x="670680" y="28799"/>
                  </a:lnTo>
                  <a:lnTo>
                    <a:pt x="655289" y="29723"/>
                  </a:lnTo>
                  <a:lnTo>
                    <a:pt x="410400" y="29519"/>
                  </a:lnTo>
                  <a:lnTo>
                    <a:pt x="351346" y="29960"/>
                  </a:lnTo>
                  <a:lnTo>
                    <a:pt x="330840" y="26639"/>
                  </a:lnTo>
                  <a:lnTo>
                    <a:pt x="303480" y="20159"/>
                  </a:lnTo>
                  <a:lnTo>
                    <a:pt x="267840" y="9720"/>
                  </a:lnTo>
                  <a:lnTo>
                    <a:pt x="230399" y="2519"/>
                  </a:lnTo>
                  <a:lnTo>
                    <a:pt x="217440" y="1079"/>
                  </a:lnTo>
                  <a:lnTo>
                    <a:pt x="204480" y="360"/>
                  </a:lnTo>
                  <a:lnTo>
                    <a:pt x="139679" y="0"/>
                  </a:lnTo>
                  <a:close/>
                </a:path>
              </a:pathLst>
            </a:custGeom>
            <a:solidFill>
              <a:srgbClr val="FFFC00">
                <a:alpha val="502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406" name="Google Shape;406;p32"/>
            <p:cNvPicPr preferRelativeResize="0"/>
            <p:nvPr/>
          </p:nvPicPr>
          <p:blipFill rotWithShape="1">
            <a:blip r:embed="rId5">
              <a:alphaModFix/>
            </a:blip>
            <a:srcRect b="0" l="0" r="0" t="0"/>
            <a:stretch/>
          </p:blipFill>
          <p:spPr>
            <a:xfrm>
              <a:off x="1095854" y="2065284"/>
              <a:ext cx="2019475" cy="777306"/>
            </a:xfrm>
            <a:prstGeom prst="rect">
              <a:avLst/>
            </a:prstGeom>
            <a:noFill/>
            <a:ln>
              <a:noFill/>
            </a:ln>
          </p:spPr>
        </p:pic>
      </p:grpSp>
      <p:sp>
        <p:nvSpPr>
          <p:cNvPr id="407" name="Google Shape;407;p32"/>
          <p:cNvSpPr txBox="1"/>
          <p:nvPr/>
        </p:nvSpPr>
        <p:spPr>
          <a:xfrm>
            <a:off x="1602103" y="4692015"/>
            <a:ext cx="17040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Masked Multi-head Attention</a:t>
            </a:r>
            <a:endParaRPr b="0" i="0" sz="1100" u="none" cap="none" strike="noStrike">
              <a:solidFill>
                <a:srgbClr val="000000"/>
              </a:solidFill>
              <a:latin typeface="Arial"/>
              <a:ea typeface="Arial"/>
              <a:cs typeface="Arial"/>
              <a:sym typeface="Arial"/>
            </a:endParaRPr>
          </a:p>
        </p:txBody>
      </p:sp>
      <p:pic>
        <p:nvPicPr>
          <p:cNvPr id="408" name="Google Shape;408;p32"/>
          <p:cNvPicPr preferRelativeResize="0"/>
          <p:nvPr/>
        </p:nvPicPr>
        <p:blipFill>
          <a:blip r:embed="rId6">
            <a:alphaModFix/>
          </a:blip>
          <a:stretch>
            <a:fillRect/>
          </a:stretch>
        </p:blipFill>
        <p:spPr>
          <a:xfrm>
            <a:off x="8369125" y="0"/>
            <a:ext cx="774877" cy="867174"/>
          </a:xfrm>
          <a:prstGeom prst="rect">
            <a:avLst/>
          </a:prstGeom>
          <a:noFill/>
          <a:ln>
            <a:noFill/>
          </a:ln>
        </p:spPr>
      </p:pic>
      <p:sp>
        <p:nvSpPr>
          <p:cNvPr id="409" name="Google Shape;409;p32"/>
          <p:cNvSpPr/>
          <p:nvPr/>
        </p:nvSpPr>
        <p:spPr>
          <a:xfrm>
            <a:off x="5224813" y="1233450"/>
            <a:ext cx="3707400" cy="3033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1180"/>
              <a:buFont typeface="Calibri"/>
              <a:buNone/>
            </a:pPr>
            <a:r>
              <a:rPr b="1" i="0" lang="en" sz="1325" u="none" cap="none" strike="noStrike">
                <a:solidFill>
                  <a:srgbClr val="1A1A2E"/>
                </a:solidFill>
                <a:latin typeface="Calibri"/>
                <a:ea typeface="Calibri"/>
                <a:cs typeface="Calibri"/>
                <a:sym typeface="Calibri"/>
              </a:rPr>
              <a:t>Attention Mask Matrix</a:t>
            </a:r>
            <a:endParaRPr b="0" i="0" sz="1325" u="none" cap="none" strike="noStrike">
              <a:solidFill>
                <a:srgbClr val="000000"/>
              </a:solidFill>
              <a:latin typeface="Calibri"/>
              <a:ea typeface="Calibri"/>
              <a:cs typeface="Calibri"/>
              <a:sym typeface="Calibri"/>
            </a:endParaRPr>
          </a:p>
        </p:txBody>
      </p:sp>
      <p:sp>
        <p:nvSpPr>
          <p:cNvPr id="410" name="Google Shape;410;p32"/>
          <p:cNvSpPr/>
          <p:nvPr/>
        </p:nvSpPr>
        <p:spPr>
          <a:xfrm>
            <a:off x="4869501" y="1684615"/>
            <a:ext cx="842700" cy="458400"/>
          </a:xfrm>
          <a:prstGeom prst="rect">
            <a:avLst/>
          </a:prstGeom>
          <a:noFill/>
          <a:ln>
            <a:noFill/>
          </a:ln>
        </p:spPr>
        <p:txBody>
          <a:bodyPr anchorCtr="0" anchor="ctr" bIns="33675" lIns="67400" spcFirstLastPara="1" rIns="67400" wrap="square" tIns="33675">
            <a:noAutofit/>
          </a:bodyPr>
          <a:lstStyle/>
          <a:p>
            <a:pPr indent="0" lvl="0" marL="0" marR="0" rtl="0" algn="l">
              <a:spcBef>
                <a:spcPts val="0"/>
              </a:spcBef>
              <a:spcAft>
                <a:spcPts val="0"/>
              </a:spcAft>
              <a:buClr>
                <a:srgbClr val="555555"/>
              </a:buClr>
              <a:buSzPts val="664"/>
              <a:buFont typeface="Calibri"/>
              <a:buNone/>
            </a:pPr>
            <a:r>
              <a:rPr i="1" lang="en" sz="1325" u="none" cap="none" strike="noStrike">
                <a:solidFill>
                  <a:srgbClr val="555555"/>
                </a:solidFill>
                <a:latin typeface="Calibri"/>
                <a:ea typeface="Calibri"/>
                <a:cs typeface="Calibri"/>
                <a:sym typeface="Calibri"/>
              </a:rPr>
              <a:t>QUERY ↓</a:t>
            </a:r>
            <a:endParaRPr i="0" sz="1325" u="none" cap="none" strike="noStrike">
              <a:solidFill>
                <a:srgbClr val="000000"/>
              </a:solidFill>
              <a:latin typeface="Calibri"/>
              <a:ea typeface="Calibri"/>
              <a:cs typeface="Calibri"/>
              <a:sym typeface="Calibri"/>
            </a:endParaRPr>
          </a:p>
        </p:txBody>
      </p:sp>
      <p:sp>
        <p:nvSpPr>
          <p:cNvPr id="411" name="Google Shape;411;p32"/>
          <p:cNvSpPr/>
          <p:nvPr/>
        </p:nvSpPr>
        <p:spPr>
          <a:xfrm>
            <a:off x="4953732" y="1543148"/>
            <a:ext cx="674100" cy="201900"/>
          </a:xfrm>
          <a:prstGeom prst="rect">
            <a:avLst/>
          </a:prstGeom>
          <a:noFill/>
          <a:ln>
            <a:noFill/>
          </a:ln>
        </p:spPr>
        <p:txBody>
          <a:bodyPr anchorCtr="0" anchor="ctr" bIns="33675" lIns="67400" spcFirstLastPara="1" rIns="67400" wrap="square" tIns="33675">
            <a:noAutofit/>
          </a:bodyPr>
          <a:lstStyle/>
          <a:p>
            <a:pPr indent="0" lvl="0" marL="0" marR="0" rtl="0" algn="l">
              <a:spcBef>
                <a:spcPts val="0"/>
              </a:spcBef>
              <a:spcAft>
                <a:spcPts val="0"/>
              </a:spcAft>
              <a:buClr>
                <a:srgbClr val="555555"/>
              </a:buClr>
              <a:buSzPts val="664"/>
              <a:buFont typeface="Calibri"/>
              <a:buNone/>
            </a:pPr>
            <a:r>
              <a:rPr i="1" lang="en" sz="1325" u="none" cap="none" strike="noStrike">
                <a:solidFill>
                  <a:srgbClr val="555555"/>
                </a:solidFill>
                <a:latin typeface="Calibri"/>
                <a:ea typeface="Calibri"/>
                <a:cs typeface="Calibri"/>
                <a:sym typeface="Calibri"/>
              </a:rPr>
              <a:t>KEY →</a:t>
            </a:r>
            <a:endParaRPr i="0" sz="1325" u="none" cap="none" strike="noStrike">
              <a:solidFill>
                <a:srgbClr val="000000"/>
              </a:solidFill>
              <a:latin typeface="Calibri"/>
              <a:ea typeface="Calibri"/>
              <a:cs typeface="Calibri"/>
              <a:sym typeface="Calibri"/>
            </a:endParaRPr>
          </a:p>
        </p:txBody>
      </p:sp>
      <p:sp>
        <p:nvSpPr>
          <p:cNvPr id="412" name="Google Shape;412;p32"/>
          <p:cNvSpPr/>
          <p:nvPr/>
        </p:nvSpPr>
        <p:spPr>
          <a:xfrm>
            <a:off x="5745958" y="1742014"/>
            <a:ext cx="6741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&lt;start&gt;</a:t>
            </a:r>
            <a:endParaRPr i="0" sz="1325" u="none" cap="none" strike="noStrike">
              <a:solidFill>
                <a:srgbClr val="000000"/>
              </a:solidFill>
              <a:latin typeface="Calibri"/>
              <a:ea typeface="Calibri"/>
              <a:cs typeface="Calibri"/>
              <a:sym typeface="Calibri"/>
            </a:endParaRPr>
          </a:p>
        </p:txBody>
      </p:sp>
      <p:sp>
        <p:nvSpPr>
          <p:cNvPr id="413" name="Google Shape;413;p32"/>
          <p:cNvSpPr/>
          <p:nvPr/>
        </p:nvSpPr>
        <p:spPr>
          <a:xfrm>
            <a:off x="6453964" y="1742025"/>
            <a:ext cx="6063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Je</a:t>
            </a:r>
            <a:endParaRPr i="0" sz="1325" u="none" cap="none" strike="noStrike">
              <a:solidFill>
                <a:srgbClr val="000000"/>
              </a:solidFill>
              <a:latin typeface="Calibri"/>
              <a:ea typeface="Calibri"/>
              <a:cs typeface="Calibri"/>
              <a:sym typeface="Calibri"/>
            </a:endParaRPr>
          </a:p>
        </p:txBody>
      </p:sp>
      <p:sp>
        <p:nvSpPr>
          <p:cNvPr id="414" name="Google Shape;414;p32"/>
          <p:cNvSpPr/>
          <p:nvPr/>
        </p:nvSpPr>
        <p:spPr>
          <a:xfrm>
            <a:off x="7094376" y="1742025"/>
            <a:ext cx="6063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t'aime</a:t>
            </a:r>
            <a:endParaRPr i="0" sz="1325" u="none" cap="none" strike="noStrike">
              <a:solidFill>
                <a:srgbClr val="000000"/>
              </a:solidFill>
              <a:latin typeface="Calibri"/>
              <a:ea typeface="Calibri"/>
              <a:cs typeface="Calibri"/>
              <a:sym typeface="Calibri"/>
            </a:endParaRPr>
          </a:p>
        </p:txBody>
      </p:sp>
      <p:sp>
        <p:nvSpPr>
          <p:cNvPr id="415" name="Google Shape;415;p32"/>
          <p:cNvSpPr/>
          <p:nvPr/>
        </p:nvSpPr>
        <p:spPr>
          <a:xfrm>
            <a:off x="7734788" y="1742025"/>
            <a:ext cx="606300" cy="201900"/>
          </a:xfrm>
          <a:prstGeom prst="rect">
            <a:avLst/>
          </a:prstGeom>
          <a:noFill/>
          <a:ln>
            <a:noFill/>
          </a:ln>
        </p:spPr>
        <p:txBody>
          <a:bodyPr anchorCtr="0" anchor="ctr" bIns="33675" lIns="67400" spcFirstLastPara="1" rIns="67400" wrap="square" tIns="33675">
            <a:noAutofit/>
          </a:bodyPr>
          <a:lstStyle/>
          <a:p>
            <a:pPr indent="0" lvl="0" marL="0" marR="0" rtl="0" algn="ct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&lt;EOS&gt;</a:t>
            </a:r>
            <a:endParaRPr i="0" sz="1325" u="none" cap="none" strike="noStrike">
              <a:solidFill>
                <a:srgbClr val="000000"/>
              </a:solidFill>
              <a:latin typeface="Calibri"/>
              <a:ea typeface="Calibri"/>
              <a:cs typeface="Calibri"/>
              <a:sym typeface="Calibri"/>
            </a:endParaRPr>
          </a:p>
        </p:txBody>
      </p:sp>
      <p:sp>
        <p:nvSpPr>
          <p:cNvPr id="416" name="Google Shape;416;p32"/>
          <p:cNvSpPr/>
          <p:nvPr/>
        </p:nvSpPr>
        <p:spPr>
          <a:xfrm>
            <a:off x="4667550" y="2079086"/>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&lt;start&gt;</a:t>
            </a:r>
            <a:endParaRPr i="0" sz="1325" u="none" cap="none" strike="noStrike">
              <a:solidFill>
                <a:srgbClr val="000000"/>
              </a:solidFill>
              <a:latin typeface="Calibri"/>
              <a:ea typeface="Calibri"/>
              <a:cs typeface="Calibri"/>
              <a:sym typeface="Calibri"/>
            </a:endParaRPr>
          </a:p>
        </p:txBody>
      </p:sp>
      <p:sp>
        <p:nvSpPr>
          <p:cNvPr id="417" name="Google Shape;417;p32"/>
          <p:cNvSpPr/>
          <p:nvPr/>
        </p:nvSpPr>
        <p:spPr>
          <a:xfrm>
            <a:off x="4667550" y="2618383"/>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Je</a:t>
            </a:r>
            <a:endParaRPr i="0" sz="1325" u="none" cap="none" strike="noStrike">
              <a:solidFill>
                <a:srgbClr val="000000"/>
              </a:solidFill>
              <a:latin typeface="Calibri"/>
              <a:ea typeface="Calibri"/>
              <a:cs typeface="Calibri"/>
              <a:sym typeface="Calibri"/>
            </a:endParaRPr>
          </a:p>
        </p:txBody>
      </p:sp>
      <p:sp>
        <p:nvSpPr>
          <p:cNvPr id="418" name="Google Shape;418;p32"/>
          <p:cNvSpPr/>
          <p:nvPr/>
        </p:nvSpPr>
        <p:spPr>
          <a:xfrm>
            <a:off x="4667550" y="3157680"/>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t'aime</a:t>
            </a:r>
            <a:endParaRPr i="0" sz="1325" u="none" cap="none" strike="noStrike">
              <a:solidFill>
                <a:srgbClr val="000000"/>
              </a:solidFill>
              <a:latin typeface="Calibri"/>
              <a:ea typeface="Calibri"/>
              <a:cs typeface="Calibri"/>
              <a:sym typeface="Calibri"/>
            </a:endParaRPr>
          </a:p>
        </p:txBody>
      </p:sp>
      <p:sp>
        <p:nvSpPr>
          <p:cNvPr id="419" name="Google Shape;419;p32"/>
          <p:cNvSpPr/>
          <p:nvPr/>
        </p:nvSpPr>
        <p:spPr>
          <a:xfrm>
            <a:off x="4667550" y="3696977"/>
            <a:ext cx="1078800" cy="472200"/>
          </a:xfrm>
          <a:prstGeom prst="rect">
            <a:avLst/>
          </a:prstGeom>
          <a:noFill/>
          <a:ln>
            <a:noFill/>
          </a:ln>
        </p:spPr>
        <p:txBody>
          <a:bodyPr anchorCtr="0" anchor="ctr" bIns="33675" lIns="67400" spcFirstLastPara="1" rIns="67400" wrap="square" tIns="33675">
            <a:noAutofit/>
          </a:bodyPr>
          <a:lstStyle/>
          <a:p>
            <a:pPr indent="0" lvl="0" marL="0" marR="0" rtl="0" algn="r">
              <a:spcBef>
                <a:spcPts val="0"/>
              </a:spcBef>
              <a:spcAft>
                <a:spcPts val="0"/>
              </a:spcAft>
              <a:buClr>
                <a:srgbClr val="1A1A2E"/>
              </a:buClr>
              <a:buSzPts val="664"/>
              <a:buFont typeface="Calibri"/>
              <a:buNone/>
            </a:pPr>
            <a:r>
              <a:rPr b="1" i="0" lang="en" sz="1325" u="none" cap="none" strike="noStrike">
                <a:solidFill>
                  <a:srgbClr val="1A1A2E"/>
                </a:solidFill>
                <a:latin typeface="Calibri"/>
                <a:ea typeface="Calibri"/>
                <a:cs typeface="Calibri"/>
                <a:sym typeface="Calibri"/>
              </a:rPr>
              <a:t>&lt;EOS&gt;</a:t>
            </a:r>
            <a:endParaRPr i="0" sz="1325" u="none" cap="none" strike="noStrike">
              <a:solidFill>
                <a:srgbClr val="000000"/>
              </a:solidFill>
              <a:latin typeface="Calibri"/>
              <a:ea typeface="Calibri"/>
              <a:cs typeface="Calibri"/>
              <a:sym typeface="Calibri"/>
            </a:endParaRPr>
          </a:p>
        </p:txBody>
      </p:sp>
      <p:sp>
        <p:nvSpPr>
          <p:cNvPr id="420" name="Google Shape;420;p32"/>
          <p:cNvSpPr/>
          <p:nvPr/>
        </p:nvSpPr>
        <p:spPr>
          <a:xfrm>
            <a:off x="5840516" y="2079086"/>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21" name="Google Shape;421;p32"/>
          <p:cNvSpPr/>
          <p:nvPr/>
        </p:nvSpPr>
        <p:spPr>
          <a:xfrm>
            <a:off x="5840516"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22" name="Google Shape;422;p32"/>
          <p:cNvSpPr/>
          <p:nvPr/>
        </p:nvSpPr>
        <p:spPr>
          <a:xfrm>
            <a:off x="5840516"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23" name="Google Shape;423;p32"/>
          <p:cNvSpPr/>
          <p:nvPr/>
        </p:nvSpPr>
        <p:spPr>
          <a:xfrm>
            <a:off x="6480928" y="2079086"/>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24" name="Google Shape;424;p32"/>
          <p:cNvSpPr/>
          <p:nvPr/>
        </p:nvSpPr>
        <p:spPr>
          <a:xfrm>
            <a:off x="6480928"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25" name="Google Shape;425;p32"/>
          <p:cNvSpPr/>
          <p:nvPr/>
        </p:nvSpPr>
        <p:spPr>
          <a:xfrm>
            <a:off x="6480928"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26" name="Google Shape;426;p32"/>
          <p:cNvSpPr/>
          <p:nvPr/>
        </p:nvSpPr>
        <p:spPr>
          <a:xfrm>
            <a:off x="7121341" y="2079086"/>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27" name="Google Shape;427;p32"/>
          <p:cNvSpPr/>
          <p:nvPr/>
        </p:nvSpPr>
        <p:spPr>
          <a:xfrm>
            <a:off x="7121341"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28" name="Google Shape;428;p32"/>
          <p:cNvSpPr/>
          <p:nvPr/>
        </p:nvSpPr>
        <p:spPr>
          <a:xfrm>
            <a:off x="7121341"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29" name="Google Shape;429;p32"/>
          <p:cNvSpPr/>
          <p:nvPr/>
        </p:nvSpPr>
        <p:spPr>
          <a:xfrm>
            <a:off x="7761753" y="2079086"/>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0" name="Google Shape;430;p32"/>
          <p:cNvSpPr/>
          <p:nvPr/>
        </p:nvSpPr>
        <p:spPr>
          <a:xfrm>
            <a:off x="7761753" y="2112792"/>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31" name="Google Shape;431;p32"/>
          <p:cNvSpPr/>
          <p:nvPr/>
        </p:nvSpPr>
        <p:spPr>
          <a:xfrm>
            <a:off x="7761753" y="2294805"/>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32" name="Google Shape;432;p32"/>
          <p:cNvSpPr/>
          <p:nvPr/>
        </p:nvSpPr>
        <p:spPr>
          <a:xfrm>
            <a:off x="5840516" y="2618383"/>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3" name="Google Shape;433;p32"/>
          <p:cNvSpPr/>
          <p:nvPr/>
        </p:nvSpPr>
        <p:spPr>
          <a:xfrm>
            <a:off x="5840516"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34" name="Google Shape;434;p32"/>
          <p:cNvSpPr/>
          <p:nvPr/>
        </p:nvSpPr>
        <p:spPr>
          <a:xfrm>
            <a:off x="5840516"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35" name="Google Shape;435;p32"/>
          <p:cNvSpPr/>
          <p:nvPr/>
        </p:nvSpPr>
        <p:spPr>
          <a:xfrm>
            <a:off x="6480928" y="2618383"/>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6" name="Google Shape;436;p32"/>
          <p:cNvSpPr/>
          <p:nvPr/>
        </p:nvSpPr>
        <p:spPr>
          <a:xfrm>
            <a:off x="6480928"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37" name="Google Shape;437;p32"/>
          <p:cNvSpPr/>
          <p:nvPr/>
        </p:nvSpPr>
        <p:spPr>
          <a:xfrm>
            <a:off x="6480928"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38" name="Google Shape;438;p32"/>
          <p:cNvSpPr/>
          <p:nvPr/>
        </p:nvSpPr>
        <p:spPr>
          <a:xfrm>
            <a:off x="7121341" y="2618383"/>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39" name="Google Shape;439;p32"/>
          <p:cNvSpPr/>
          <p:nvPr/>
        </p:nvSpPr>
        <p:spPr>
          <a:xfrm>
            <a:off x="7121341"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40" name="Google Shape;440;p32"/>
          <p:cNvSpPr/>
          <p:nvPr/>
        </p:nvSpPr>
        <p:spPr>
          <a:xfrm>
            <a:off x="7121341"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41" name="Google Shape;441;p32"/>
          <p:cNvSpPr/>
          <p:nvPr/>
        </p:nvSpPr>
        <p:spPr>
          <a:xfrm>
            <a:off x="7761753" y="2618383"/>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42" name="Google Shape;442;p32"/>
          <p:cNvSpPr/>
          <p:nvPr/>
        </p:nvSpPr>
        <p:spPr>
          <a:xfrm>
            <a:off x="7761753" y="2652089"/>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43" name="Google Shape;443;p32"/>
          <p:cNvSpPr/>
          <p:nvPr/>
        </p:nvSpPr>
        <p:spPr>
          <a:xfrm>
            <a:off x="7761753" y="2834102"/>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44" name="Google Shape;444;p32"/>
          <p:cNvSpPr/>
          <p:nvPr/>
        </p:nvSpPr>
        <p:spPr>
          <a:xfrm>
            <a:off x="5840516" y="3157680"/>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45" name="Google Shape;445;p32"/>
          <p:cNvSpPr/>
          <p:nvPr/>
        </p:nvSpPr>
        <p:spPr>
          <a:xfrm>
            <a:off x="5840516"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46" name="Google Shape;446;p32"/>
          <p:cNvSpPr/>
          <p:nvPr/>
        </p:nvSpPr>
        <p:spPr>
          <a:xfrm>
            <a:off x="5840516"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47" name="Google Shape;447;p32"/>
          <p:cNvSpPr/>
          <p:nvPr/>
        </p:nvSpPr>
        <p:spPr>
          <a:xfrm>
            <a:off x="6480928" y="3157680"/>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48" name="Google Shape;448;p32"/>
          <p:cNvSpPr/>
          <p:nvPr/>
        </p:nvSpPr>
        <p:spPr>
          <a:xfrm>
            <a:off x="6480928"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49" name="Google Shape;449;p32"/>
          <p:cNvSpPr/>
          <p:nvPr/>
        </p:nvSpPr>
        <p:spPr>
          <a:xfrm>
            <a:off x="6480928"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0" name="Google Shape;450;p32"/>
          <p:cNvSpPr/>
          <p:nvPr/>
        </p:nvSpPr>
        <p:spPr>
          <a:xfrm>
            <a:off x="7121341" y="3157680"/>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51" name="Google Shape;451;p32"/>
          <p:cNvSpPr/>
          <p:nvPr/>
        </p:nvSpPr>
        <p:spPr>
          <a:xfrm>
            <a:off x="7121341"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52" name="Google Shape;452;p32"/>
          <p:cNvSpPr/>
          <p:nvPr/>
        </p:nvSpPr>
        <p:spPr>
          <a:xfrm>
            <a:off x="7121341"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3" name="Google Shape;453;p32"/>
          <p:cNvSpPr/>
          <p:nvPr/>
        </p:nvSpPr>
        <p:spPr>
          <a:xfrm>
            <a:off x="7761753" y="3157680"/>
            <a:ext cx="552300" cy="458400"/>
          </a:xfrm>
          <a:prstGeom prst="roundRect">
            <a:avLst>
              <a:gd fmla="val 7353" name="adj"/>
            </a:avLst>
          </a:prstGeom>
          <a:solidFill>
            <a:srgbClr val="E8A0A0"/>
          </a:solidFill>
          <a:ln cap="flat" cmpd="sng" w="9325">
            <a:solidFill>
              <a:srgbClr val="C0504D"/>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54" name="Google Shape;454;p32"/>
          <p:cNvSpPr/>
          <p:nvPr/>
        </p:nvSpPr>
        <p:spPr>
          <a:xfrm>
            <a:off x="7761753" y="3191386"/>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masked</a:t>
            </a:r>
            <a:endParaRPr i="0" sz="1325" u="none" cap="none" strike="noStrike">
              <a:solidFill>
                <a:srgbClr val="000000"/>
              </a:solidFill>
              <a:latin typeface="Calibri"/>
              <a:ea typeface="Calibri"/>
              <a:cs typeface="Calibri"/>
              <a:sym typeface="Calibri"/>
            </a:endParaRPr>
          </a:p>
        </p:txBody>
      </p:sp>
      <p:sp>
        <p:nvSpPr>
          <p:cNvPr id="455" name="Google Shape;455;p32"/>
          <p:cNvSpPr/>
          <p:nvPr/>
        </p:nvSpPr>
        <p:spPr>
          <a:xfrm>
            <a:off x="7761753" y="3373399"/>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6" name="Google Shape;456;p32"/>
          <p:cNvSpPr/>
          <p:nvPr/>
        </p:nvSpPr>
        <p:spPr>
          <a:xfrm>
            <a:off x="5840516"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57" name="Google Shape;457;p32"/>
          <p:cNvSpPr/>
          <p:nvPr/>
        </p:nvSpPr>
        <p:spPr>
          <a:xfrm>
            <a:off x="5840516"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58" name="Google Shape;458;p32"/>
          <p:cNvSpPr/>
          <p:nvPr/>
        </p:nvSpPr>
        <p:spPr>
          <a:xfrm>
            <a:off x="5840516"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59" name="Google Shape;459;p32"/>
          <p:cNvSpPr/>
          <p:nvPr/>
        </p:nvSpPr>
        <p:spPr>
          <a:xfrm>
            <a:off x="6480928"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60" name="Google Shape;460;p32"/>
          <p:cNvSpPr/>
          <p:nvPr/>
        </p:nvSpPr>
        <p:spPr>
          <a:xfrm>
            <a:off x="6480928"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61" name="Google Shape;461;p32"/>
          <p:cNvSpPr/>
          <p:nvPr/>
        </p:nvSpPr>
        <p:spPr>
          <a:xfrm>
            <a:off x="6480928"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62" name="Google Shape;462;p32"/>
          <p:cNvSpPr/>
          <p:nvPr/>
        </p:nvSpPr>
        <p:spPr>
          <a:xfrm>
            <a:off x="7121341"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63" name="Google Shape;463;p32"/>
          <p:cNvSpPr/>
          <p:nvPr/>
        </p:nvSpPr>
        <p:spPr>
          <a:xfrm>
            <a:off x="7121341"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64" name="Google Shape;464;p32"/>
          <p:cNvSpPr/>
          <p:nvPr/>
        </p:nvSpPr>
        <p:spPr>
          <a:xfrm>
            <a:off x="7121341"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65" name="Google Shape;465;p32"/>
          <p:cNvSpPr/>
          <p:nvPr/>
        </p:nvSpPr>
        <p:spPr>
          <a:xfrm>
            <a:off x="7761753" y="3696977"/>
            <a:ext cx="552300" cy="458400"/>
          </a:xfrm>
          <a:prstGeom prst="roundRect">
            <a:avLst>
              <a:gd fmla="val 7353" name="adj"/>
            </a:avLst>
          </a:prstGeom>
          <a:solidFill>
            <a:srgbClr val="4A90D9"/>
          </a:solidFill>
          <a:ln cap="flat" cmpd="sng" w="9325">
            <a:solidFill>
              <a:srgbClr val="2D6BA8"/>
            </a:solidFill>
            <a:prstDash val="solid"/>
            <a:round/>
            <a:headEnd len="sm" w="sm" type="none"/>
            <a:tailEnd len="sm" w="sm" type="none"/>
          </a:ln>
        </p:spPr>
        <p:txBody>
          <a:bodyPr anchorCtr="0" anchor="ctr" bIns="67400" lIns="67400" spcFirstLastPara="1" rIns="67400" wrap="square" tIns="67400">
            <a:noAutofit/>
          </a:bodyPr>
          <a:lstStyle/>
          <a:p>
            <a:pPr indent="0" lvl="0" marL="0" rtl="0" algn="l">
              <a:spcBef>
                <a:spcPts val="0"/>
              </a:spcBef>
              <a:spcAft>
                <a:spcPts val="0"/>
              </a:spcAft>
              <a:buNone/>
            </a:pPr>
            <a:r>
              <a:t/>
            </a:r>
            <a:endParaRPr sz="1325">
              <a:latin typeface="Calibri"/>
              <a:ea typeface="Calibri"/>
              <a:cs typeface="Calibri"/>
              <a:sym typeface="Calibri"/>
            </a:endParaRPr>
          </a:p>
        </p:txBody>
      </p:sp>
      <p:sp>
        <p:nvSpPr>
          <p:cNvPr id="466" name="Google Shape;466;p32"/>
          <p:cNvSpPr/>
          <p:nvPr/>
        </p:nvSpPr>
        <p:spPr>
          <a:xfrm>
            <a:off x="7761753" y="3730683"/>
            <a:ext cx="552300" cy="18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90"/>
              <a:buFont typeface="Calibri"/>
              <a:buNone/>
            </a:pPr>
            <a:r>
              <a:rPr b="1" i="0" lang="en" sz="1325" u="none" cap="none" strike="noStrike">
                <a:solidFill>
                  <a:srgbClr val="FFFFFF"/>
                </a:solidFill>
                <a:latin typeface="Calibri"/>
                <a:ea typeface="Calibri"/>
                <a:cs typeface="Calibri"/>
                <a:sym typeface="Calibri"/>
              </a:rPr>
              <a:t>attend</a:t>
            </a:r>
            <a:endParaRPr i="0" sz="1325" u="none" cap="none" strike="noStrike">
              <a:solidFill>
                <a:srgbClr val="000000"/>
              </a:solidFill>
              <a:latin typeface="Calibri"/>
              <a:ea typeface="Calibri"/>
              <a:cs typeface="Calibri"/>
              <a:sym typeface="Calibri"/>
            </a:endParaRPr>
          </a:p>
        </p:txBody>
      </p:sp>
      <p:sp>
        <p:nvSpPr>
          <p:cNvPr id="467" name="Google Shape;467;p32"/>
          <p:cNvSpPr/>
          <p:nvPr/>
        </p:nvSpPr>
        <p:spPr>
          <a:xfrm>
            <a:off x="7761753" y="3912696"/>
            <a:ext cx="552300" cy="201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2"/>
              <a:buFont typeface="Calibri"/>
              <a:buNone/>
            </a:pPr>
            <a:r>
              <a:rPr b="1" i="0" lang="en" sz="1325" u="none" cap="none" strike="noStrike">
                <a:solidFill>
                  <a:srgbClr val="FFFFFF"/>
                </a:solidFill>
                <a:latin typeface="Calibri"/>
                <a:ea typeface="Calibri"/>
                <a:cs typeface="Calibri"/>
                <a:sym typeface="Calibri"/>
              </a:rPr>
              <a:t>✓</a:t>
            </a:r>
            <a:endParaRPr i="0" sz="1325" u="none" cap="none" strike="noStrike">
              <a:solidFill>
                <a:srgbClr val="000000"/>
              </a:solidFill>
              <a:latin typeface="Calibri"/>
              <a:ea typeface="Calibri"/>
              <a:cs typeface="Calibri"/>
              <a:sym typeface="Calibri"/>
            </a:endParaRPr>
          </a:p>
        </p:txBody>
      </p:sp>
      <p:sp>
        <p:nvSpPr>
          <p:cNvPr id="468" name="Google Shape;468;p32"/>
          <p:cNvSpPr/>
          <p:nvPr/>
        </p:nvSpPr>
        <p:spPr>
          <a:xfrm>
            <a:off x="5840525" y="4255575"/>
            <a:ext cx="2596500" cy="440700"/>
          </a:xfrm>
          <a:prstGeom prst="roundRect">
            <a:avLst>
              <a:gd fmla="val 0" name="adj"/>
            </a:avLst>
          </a:prstGeom>
          <a:solidFill>
            <a:srgbClr val="4A90D9"/>
          </a:solidFill>
          <a:ln cap="flat" cmpd="sng" w="7750">
            <a:solidFill>
              <a:srgbClr val="2D6BA8"/>
            </a:solidFill>
            <a:prstDash val="solid"/>
            <a:round/>
            <a:headEnd len="sm" w="sm" type="none"/>
            <a:tailEnd len="sm" w="sm" type="none"/>
          </a:ln>
        </p:spPr>
        <p:txBody>
          <a:bodyPr anchorCtr="0" anchor="ctr" bIns="55925" lIns="55925" spcFirstLastPara="1" rIns="55925" wrap="square" tIns="55925">
            <a:noAutofit/>
          </a:bodyPr>
          <a:lstStyle/>
          <a:p>
            <a:pPr indent="0" lvl="0" marL="0" rtl="0" algn="ctr">
              <a:spcBef>
                <a:spcPts val="0"/>
              </a:spcBef>
              <a:spcAft>
                <a:spcPts val="0"/>
              </a:spcAft>
              <a:buClr>
                <a:schemeClr val="lt1"/>
              </a:buClr>
              <a:buSzPts val="734"/>
              <a:buFont typeface="Calibri"/>
              <a:buNone/>
            </a:pPr>
            <a:r>
              <a:rPr b="1" lang="en" sz="1300">
                <a:solidFill>
                  <a:schemeClr val="lt1"/>
                </a:solidFill>
                <a:latin typeface="Calibri"/>
                <a:ea typeface="Calibri"/>
                <a:cs typeface="Calibri"/>
                <a:sym typeface="Calibri"/>
              </a:rPr>
              <a:t>✓ Can attend (past + self)</a:t>
            </a:r>
            <a:endParaRPr sz="1300">
              <a:solidFill>
                <a:schemeClr val="dk1"/>
              </a:solidFill>
              <a:latin typeface="Calibri"/>
              <a:ea typeface="Calibri"/>
              <a:cs typeface="Calibri"/>
              <a:sym typeface="Calibri"/>
            </a:endParaRPr>
          </a:p>
          <a:p>
            <a:pPr indent="0" lvl="0" marL="0" rtl="0" algn="ctr">
              <a:spcBef>
                <a:spcPts val="0"/>
              </a:spcBef>
              <a:spcAft>
                <a:spcPts val="0"/>
              </a:spcAft>
              <a:buNone/>
            </a:pPr>
            <a:r>
              <a:rPr lang="en" sz="1300">
                <a:solidFill>
                  <a:schemeClr val="lt1"/>
                </a:solidFill>
                <a:latin typeface="Calibri"/>
                <a:ea typeface="Calibri"/>
                <a:cs typeface="Calibri"/>
                <a:sym typeface="Calibri"/>
              </a:rPr>
              <a:t>Score computed normally</a:t>
            </a:r>
            <a:endParaRPr sz="13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 name="Shape 472"/>
        <p:cNvGrpSpPr/>
        <p:nvPr/>
      </p:nvGrpSpPr>
      <p:grpSpPr>
        <a:xfrm>
          <a:off x="0" y="0"/>
          <a:ext cx="0" cy="0"/>
          <a:chOff x="0" y="0"/>
          <a:chExt cx="0" cy="0"/>
        </a:xfrm>
      </p:grpSpPr>
      <p:sp>
        <p:nvSpPr>
          <p:cNvPr descr="$PPTXTitle" id="473" name="Google Shape;473;p33"/>
          <p:cNvSpPr txBox="1"/>
          <p:nvPr>
            <p:ph type="title"/>
          </p:nvPr>
        </p:nvSpPr>
        <p:spPr>
          <a:xfrm>
            <a:off x="3572550"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Decoder Design</a:t>
            </a:r>
            <a:endParaRPr/>
          </a:p>
        </p:txBody>
      </p:sp>
      <p:pic>
        <p:nvPicPr>
          <p:cNvPr id="474" name="Google Shape;474;p33"/>
          <p:cNvPicPr preferRelativeResize="0"/>
          <p:nvPr/>
        </p:nvPicPr>
        <p:blipFill rotWithShape="1">
          <a:blip r:embed="rId4">
            <a:alphaModFix/>
          </a:blip>
          <a:srcRect b="0" l="0" r="0" t="0"/>
          <a:stretch/>
        </p:blipFill>
        <p:spPr>
          <a:xfrm>
            <a:off x="4595605" y="1405744"/>
            <a:ext cx="3703641" cy="3177814"/>
          </a:xfrm>
          <a:prstGeom prst="rect">
            <a:avLst/>
          </a:prstGeom>
          <a:noFill/>
          <a:ln>
            <a:noFill/>
          </a:ln>
        </p:spPr>
      </p:pic>
      <p:sp>
        <p:nvSpPr>
          <p:cNvPr id="475" name="Google Shape;475;p33"/>
          <p:cNvSpPr txBox="1"/>
          <p:nvPr/>
        </p:nvSpPr>
        <p:spPr>
          <a:xfrm>
            <a:off x="5555392" y="4692015"/>
            <a:ext cx="22803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Encoder-Decoder Multi-head Attention</a:t>
            </a:r>
            <a:endParaRPr b="0" i="0" sz="1100" u="none" cap="none" strike="noStrike">
              <a:solidFill>
                <a:srgbClr val="000000"/>
              </a:solidFill>
              <a:latin typeface="Arial"/>
              <a:ea typeface="Arial"/>
              <a:cs typeface="Arial"/>
              <a:sym typeface="Arial"/>
            </a:endParaRPr>
          </a:p>
        </p:txBody>
      </p:sp>
      <p:sp>
        <p:nvSpPr>
          <p:cNvPr id="476" name="Google Shape;476;p33"/>
          <p:cNvSpPr txBox="1"/>
          <p:nvPr/>
        </p:nvSpPr>
        <p:spPr>
          <a:xfrm>
            <a:off x="6096191" y="2122550"/>
            <a:ext cx="2496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𝑉, 𝐾</a:t>
            </a:r>
            <a:endParaRPr b="0" i="0" sz="1100" u="none" cap="none" strike="noStrike">
              <a:solidFill>
                <a:srgbClr val="000000"/>
              </a:solidFill>
              <a:latin typeface="Cambria Math"/>
              <a:ea typeface="Cambria Math"/>
              <a:cs typeface="Cambria Math"/>
              <a:sym typeface="Cambria Math"/>
            </a:endParaRPr>
          </a:p>
        </p:txBody>
      </p:sp>
      <p:sp>
        <p:nvSpPr>
          <p:cNvPr id="477" name="Google Shape;477;p33"/>
          <p:cNvSpPr txBox="1"/>
          <p:nvPr/>
        </p:nvSpPr>
        <p:spPr>
          <a:xfrm>
            <a:off x="6888183" y="2865500"/>
            <a:ext cx="1095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C00000"/>
                </a:solidFill>
                <a:latin typeface="Cambria Math"/>
                <a:ea typeface="Cambria Math"/>
                <a:cs typeface="Cambria Math"/>
                <a:sym typeface="Cambria Math"/>
              </a:rPr>
              <a:t>𝑄</a:t>
            </a:r>
            <a:endParaRPr b="0" i="0" sz="1100" u="none" cap="none" strike="noStrike">
              <a:solidFill>
                <a:srgbClr val="000000"/>
              </a:solidFill>
              <a:latin typeface="Cambria Math"/>
              <a:ea typeface="Cambria Math"/>
              <a:cs typeface="Cambria Math"/>
              <a:sym typeface="Cambria Math"/>
            </a:endParaRPr>
          </a:p>
        </p:txBody>
      </p:sp>
      <p:sp>
        <p:nvSpPr>
          <p:cNvPr id="478" name="Google Shape;478;p33"/>
          <p:cNvSpPr/>
          <p:nvPr/>
        </p:nvSpPr>
        <p:spPr>
          <a:xfrm>
            <a:off x="6645779" y="2609550"/>
            <a:ext cx="681038" cy="304800"/>
          </a:xfrm>
          <a:custGeom>
            <a:rect b="b" l="l" r="r" t="t"/>
            <a:pathLst>
              <a:path extrusionOk="0" h="406400" w="908050">
                <a:moveTo>
                  <a:pt x="659519" y="0"/>
                </a:moveTo>
                <a:lnTo>
                  <a:pt x="551520" y="0"/>
                </a:lnTo>
                <a:lnTo>
                  <a:pt x="429479" y="359"/>
                </a:lnTo>
                <a:lnTo>
                  <a:pt x="368640" y="4679"/>
                </a:lnTo>
                <a:lnTo>
                  <a:pt x="303895" y="8663"/>
                </a:lnTo>
                <a:lnTo>
                  <a:pt x="268560" y="7559"/>
                </a:lnTo>
                <a:lnTo>
                  <a:pt x="160559" y="7559"/>
                </a:lnTo>
                <a:lnTo>
                  <a:pt x="134640" y="10439"/>
                </a:lnTo>
                <a:lnTo>
                  <a:pt x="116640" y="15119"/>
                </a:lnTo>
                <a:lnTo>
                  <a:pt x="110421" y="18481"/>
                </a:lnTo>
                <a:lnTo>
                  <a:pt x="107999" y="3239"/>
                </a:lnTo>
                <a:lnTo>
                  <a:pt x="0" y="3239"/>
                </a:lnTo>
                <a:lnTo>
                  <a:pt x="1079" y="229679"/>
                </a:lnTo>
                <a:lnTo>
                  <a:pt x="9359" y="269279"/>
                </a:lnTo>
                <a:lnTo>
                  <a:pt x="16200" y="291959"/>
                </a:lnTo>
                <a:lnTo>
                  <a:pt x="20159" y="314639"/>
                </a:lnTo>
                <a:lnTo>
                  <a:pt x="24839" y="361439"/>
                </a:lnTo>
                <a:lnTo>
                  <a:pt x="51120" y="400319"/>
                </a:lnTo>
                <a:lnTo>
                  <a:pt x="698040" y="406079"/>
                </a:lnTo>
                <a:lnTo>
                  <a:pt x="846720" y="397799"/>
                </a:lnTo>
                <a:lnTo>
                  <a:pt x="855719" y="397799"/>
                </a:lnTo>
                <a:lnTo>
                  <a:pt x="897840" y="373679"/>
                </a:lnTo>
                <a:lnTo>
                  <a:pt x="907200" y="325799"/>
                </a:lnTo>
                <a:lnTo>
                  <a:pt x="907559" y="304919"/>
                </a:lnTo>
                <a:lnTo>
                  <a:pt x="907559" y="88919"/>
                </a:lnTo>
                <a:lnTo>
                  <a:pt x="902879" y="48239"/>
                </a:lnTo>
                <a:lnTo>
                  <a:pt x="873719" y="10800"/>
                </a:lnTo>
                <a:lnTo>
                  <a:pt x="845639" y="1440"/>
                </a:lnTo>
                <a:lnTo>
                  <a:pt x="839165" y="1440"/>
                </a:lnTo>
                <a:lnTo>
                  <a:pt x="839160" y="1079"/>
                </a:lnTo>
                <a:lnTo>
                  <a:pt x="762480" y="359"/>
                </a:lnTo>
                <a:lnTo>
                  <a:pt x="693360" y="359"/>
                </a:lnTo>
                <a:lnTo>
                  <a:pt x="659519" y="0"/>
                </a:lnTo>
                <a:close/>
              </a:path>
            </a:pathLst>
          </a:custGeom>
          <a:solidFill>
            <a:srgbClr val="FFFC00">
              <a:alpha val="502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479" name="Google Shape;479;p33"/>
          <p:cNvPicPr preferRelativeResize="0"/>
          <p:nvPr/>
        </p:nvPicPr>
        <p:blipFill>
          <a:blip r:embed="rId5">
            <a:alphaModFix/>
          </a:blip>
          <a:stretch>
            <a:fillRect/>
          </a:stretch>
        </p:blipFill>
        <p:spPr>
          <a:xfrm>
            <a:off x="8369125" y="0"/>
            <a:ext cx="774877" cy="867174"/>
          </a:xfrm>
          <a:prstGeom prst="rect">
            <a:avLst/>
          </a:prstGeom>
          <a:noFill/>
          <a:ln>
            <a:noFill/>
          </a:ln>
        </p:spPr>
      </p:pic>
      <p:sp>
        <p:nvSpPr>
          <p:cNvPr id="480" name="Google Shape;480;p33"/>
          <p:cNvSpPr/>
          <p:nvPr/>
        </p:nvSpPr>
        <p:spPr>
          <a:xfrm>
            <a:off x="3413760" y="1722120"/>
            <a:ext cx="13716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C3AED"/>
              </a:buClr>
              <a:buSzPts val="2600"/>
              <a:buFont typeface="Calibri"/>
              <a:buNone/>
            </a:pPr>
            <a:r>
              <a:rPr b="1" i="0" lang="en" sz="2600" u="none" cap="none" strike="noStrike">
                <a:solidFill>
                  <a:schemeClr val="dk1"/>
                </a:solidFill>
                <a:latin typeface="Calibri"/>
                <a:ea typeface="Calibri"/>
                <a:cs typeface="Calibri"/>
                <a:sym typeface="Calibri"/>
              </a:rPr>
              <a:t>V</a:t>
            </a:r>
            <a:endParaRPr b="0" i="0" sz="2600" u="none" cap="none" strike="noStrike">
              <a:solidFill>
                <a:schemeClr val="dk1"/>
              </a:solidFill>
              <a:latin typeface="Calibri"/>
              <a:ea typeface="Calibri"/>
              <a:cs typeface="Calibri"/>
              <a:sym typeface="Calibri"/>
            </a:endParaRPr>
          </a:p>
        </p:txBody>
      </p:sp>
      <p:sp>
        <p:nvSpPr>
          <p:cNvPr id="481" name="Google Shape;481;p33"/>
          <p:cNvSpPr/>
          <p:nvPr/>
        </p:nvSpPr>
        <p:spPr>
          <a:xfrm>
            <a:off x="1676400" y="1722120"/>
            <a:ext cx="1371600" cy="914400"/>
          </a:xfrm>
          <a:prstGeom prst="ellipse">
            <a:avLst/>
          </a:prstGeom>
          <a:noFill/>
          <a:ln cap="flat" cmpd="sng" w="254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33"/>
          <p:cNvSpPr/>
          <p:nvPr/>
        </p:nvSpPr>
        <p:spPr>
          <a:xfrm>
            <a:off x="-60960" y="1722120"/>
            <a:ext cx="1371600" cy="914400"/>
          </a:xfrm>
          <a:prstGeom prst="ellipse">
            <a:avLst/>
          </a:prstGeom>
          <a:solidFill>
            <a:schemeClr val="lt1"/>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3"/>
          <p:cNvSpPr/>
          <p:nvPr/>
        </p:nvSpPr>
        <p:spPr>
          <a:xfrm>
            <a:off x="228236" y="9448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Cross-Attention: Q, K, V</a:t>
            </a:r>
            <a:endParaRPr b="0" i="0" sz="2800" u="none" cap="none" strike="noStrike">
              <a:solidFill>
                <a:schemeClr val="dk1"/>
              </a:solidFill>
              <a:latin typeface="Calibri"/>
              <a:ea typeface="Calibri"/>
              <a:cs typeface="Calibri"/>
              <a:sym typeface="Calibri"/>
            </a:endParaRPr>
          </a:p>
        </p:txBody>
      </p:sp>
      <p:sp>
        <p:nvSpPr>
          <p:cNvPr id="484" name="Google Shape;484;p33"/>
          <p:cNvSpPr/>
          <p:nvPr/>
        </p:nvSpPr>
        <p:spPr>
          <a:xfrm>
            <a:off x="-60960" y="1734455"/>
            <a:ext cx="13716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2600"/>
              <a:buFont typeface="Calibri"/>
              <a:buNone/>
            </a:pPr>
            <a:r>
              <a:rPr b="1" i="0" lang="en" sz="2600" u="none" cap="none" strike="noStrike">
                <a:solidFill>
                  <a:schemeClr val="dk1"/>
                </a:solidFill>
                <a:latin typeface="Calibri"/>
                <a:ea typeface="Calibri"/>
                <a:cs typeface="Calibri"/>
                <a:sym typeface="Calibri"/>
              </a:rPr>
              <a:t>Q</a:t>
            </a:r>
            <a:endParaRPr b="0" i="0" sz="2600" u="none" cap="none" strike="noStrike">
              <a:solidFill>
                <a:schemeClr val="dk1"/>
              </a:solidFill>
              <a:latin typeface="Calibri"/>
              <a:ea typeface="Calibri"/>
              <a:cs typeface="Calibri"/>
              <a:sym typeface="Calibri"/>
            </a:endParaRPr>
          </a:p>
        </p:txBody>
      </p:sp>
      <p:sp>
        <p:nvSpPr>
          <p:cNvPr id="485" name="Google Shape;485;p33"/>
          <p:cNvSpPr/>
          <p:nvPr/>
        </p:nvSpPr>
        <p:spPr>
          <a:xfrm>
            <a:off x="-60960" y="2648827"/>
            <a:ext cx="1371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Query</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(Decoder)</a:t>
            </a:r>
            <a:endParaRPr b="0" i="0" sz="1200" u="none" cap="none" strike="noStrike">
              <a:solidFill>
                <a:schemeClr val="dk1"/>
              </a:solidFill>
              <a:latin typeface="Calibri"/>
              <a:ea typeface="Calibri"/>
              <a:cs typeface="Calibri"/>
              <a:sym typeface="Calibri"/>
            </a:endParaRPr>
          </a:p>
        </p:txBody>
      </p:sp>
      <p:sp>
        <p:nvSpPr>
          <p:cNvPr id="486" name="Google Shape;486;p33"/>
          <p:cNvSpPr/>
          <p:nvPr/>
        </p:nvSpPr>
        <p:spPr>
          <a:xfrm>
            <a:off x="1676400" y="1734455"/>
            <a:ext cx="13716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2600"/>
              <a:buFont typeface="Calibri"/>
              <a:buNone/>
            </a:pPr>
            <a:r>
              <a:rPr b="1" i="0" lang="en" sz="2600" u="none" cap="none" strike="noStrike">
                <a:solidFill>
                  <a:schemeClr val="dk1"/>
                </a:solidFill>
                <a:latin typeface="Calibri"/>
                <a:ea typeface="Calibri"/>
                <a:cs typeface="Calibri"/>
                <a:sym typeface="Calibri"/>
              </a:rPr>
              <a:t>K</a:t>
            </a:r>
            <a:endParaRPr b="0" i="0" sz="2600" u="none" cap="none" strike="noStrike">
              <a:solidFill>
                <a:schemeClr val="dk1"/>
              </a:solidFill>
              <a:latin typeface="Calibri"/>
              <a:ea typeface="Calibri"/>
              <a:cs typeface="Calibri"/>
              <a:sym typeface="Calibri"/>
            </a:endParaRPr>
          </a:p>
        </p:txBody>
      </p:sp>
      <p:sp>
        <p:nvSpPr>
          <p:cNvPr id="487" name="Google Shape;487;p33"/>
          <p:cNvSpPr/>
          <p:nvPr/>
        </p:nvSpPr>
        <p:spPr>
          <a:xfrm>
            <a:off x="1676400" y="2648827"/>
            <a:ext cx="1371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Key</a:t>
            </a:r>
            <a:endParaRPr b="0" i="0" sz="1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900"/>
              <a:buFont typeface="Calibri"/>
              <a:buNone/>
            </a:pPr>
            <a:r>
              <a:rPr b="0" i="0" lang="en" sz="1200" u="none" cap="none" strike="noStrike">
                <a:solidFill>
                  <a:schemeClr val="dk1"/>
                </a:solidFill>
                <a:latin typeface="Calibri"/>
                <a:ea typeface="Calibri"/>
                <a:cs typeface="Calibri"/>
                <a:sym typeface="Calibri"/>
              </a:rPr>
              <a:t>(Encoder)</a:t>
            </a:r>
            <a:endParaRPr b="0" i="0" sz="1200" u="none" cap="none" strike="noStrike">
              <a:solidFill>
                <a:schemeClr val="dk1"/>
              </a:solidFill>
              <a:latin typeface="Calibri"/>
              <a:ea typeface="Calibri"/>
              <a:cs typeface="Calibri"/>
              <a:sym typeface="Calibri"/>
            </a:endParaRPr>
          </a:p>
        </p:txBody>
      </p:sp>
      <p:sp>
        <p:nvSpPr>
          <p:cNvPr id="488" name="Google Shape;488;p33"/>
          <p:cNvSpPr/>
          <p:nvPr/>
        </p:nvSpPr>
        <p:spPr>
          <a:xfrm>
            <a:off x="3413760" y="1734455"/>
            <a:ext cx="1371600" cy="914400"/>
          </a:xfrm>
          <a:prstGeom prst="ellipse">
            <a:avLst/>
          </a:prstGeom>
          <a:noFill/>
          <a:ln cap="flat" cmpd="sng" w="254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33"/>
          <p:cNvSpPr/>
          <p:nvPr/>
        </p:nvSpPr>
        <p:spPr>
          <a:xfrm>
            <a:off x="3413760" y="2680189"/>
            <a:ext cx="1371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Value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(Encoder)</a:t>
            </a:r>
            <a:endParaRPr b="0" i="0" sz="1100" u="none" cap="none" strike="noStrike">
              <a:solidFill>
                <a:schemeClr val="dk1"/>
              </a:solidFill>
              <a:latin typeface="Calibri"/>
              <a:ea typeface="Calibri"/>
              <a:cs typeface="Calibri"/>
              <a:sym typeface="Calibri"/>
            </a:endParaRPr>
          </a:p>
        </p:txBody>
      </p:sp>
      <p:sp>
        <p:nvSpPr>
          <p:cNvPr id="490" name="Google Shape;490;p33"/>
          <p:cNvSpPr/>
          <p:nvPr/>
        </p:nvSpPr>
        <p:spPr>
          <a:xfrm>
            <a:off x="1082040" y="3429000"/>
            <a:ext cx="3200400" cy="960000"/>
          </a:xfrm>
          <a:prstGeom prst="rect">
            <a:avLst/>
          </a:prstGeom>
          <a:solidFill>
            <a:schemeClr val="lt1"/>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3"/>
          <p:cNvSpPr/>
          <p:nvPr/>
        </p:nvSpPr>
        <p:spPr>
          <a:xfrm>
            <a:off x="946360" y="3420603"/>
            <a:ext cx="3200400" cy="96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59E0B"/>
              </a:buClr>
              <a:buSzPts val="1600"/>
              <a:buFont typeface="Consolas"/>
              <a:buNone/>
            </a:pPr>
            <a:r>
              <a:rPr b="1" i="0" lang="en" sz="1900" u="none" cap="none" strike="noStrike">
                <a:solidFill>
                  <a:schemeClr val="dk1"/>
                </a:solidFill>
                <a:latin typeface="Calibri"/>
                <a:ea typeface="Calibri"/>
                <a:cs typeface="Calibri"/>
                <a:sym typeface="Calibri"/>
              </a:rPr>
              <a:t>softmax(Q·Kᵀ / √dₖ) · V</a:t>
            </a:r>
            <a:endParaRPr i="0" sz="1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5" name="Shape 495"/>
        <p:cNvGrpSpPr/>
        <p:nvPr/>
      </p:nvGrpSpPr>
      <p:grpSpPr>
        <a:xfrm>
          <a:off x="0" y="0"/>
          <a:ext cx="0" cy="0"/>
          <a:chOff x="0" y="0"/>
          <a:chExt cx="0" cy="0"/>
        </a:xfrm>
      </p:grpSpPr>
      <p:sp>
        <p:nvSpPr>
          <p:cNvPr id="496" name="Google Shape;496;p34"/>
          <p:cNvSpPr/>
          <p:nvPr/>
        </p:nvSpPr>
        <p:spPr>
          <a:xfrm>
            <a:off x="2288949" y="285350"/>
            <a:ext cx="38901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Cross-Attention?</a:t>
            </a:r>
            <a:endParaRPr b="0" i="0" sz="2800" u="none" cap="none" strike="noStrike">
              <a:solidFill>
                <a:schemeClr val="dk1"/>
              </a:solidFill>
              <a:latin typeface="Calibri"/>
              <a:ea typeface="Calibri"/>
              <a:cs typeface="Calibri"/>
              <a:sym typeface="Calibri"/>
            </a:endParaRPr>
          </a:p>
        </p:txBody>
      </p:sp>
      <p:sp>
        <p:nvSpPr>
          <p:cNvPr id="497" name="Google Shape;497;p34"/>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The decoder looks at encoder outputs to decide what source information to use.</a:t>
            </a:r>
            <a:endParaRPr b="0" i="0" sz="1000" u="none" cap="none" strike="noStrike">
              <a:solidFill>
                <a:schemeClr val="dk1"/>
              </a:solidFill>
              <a:latin typeface="Calibri"/>
              <a:ea typeface="Calibri"/>
              <a:cs typeface="Calibri"/>
              <a:sym typeface="Calibri"/>
            </a:endParaRPr>
          </a:p>
        </p:txBody>
      </p:sp>
      <p:sp>
        <p:nvSpPr>
          <p:cNvPr id="498" name="Google Shape;498;p34"/>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EN: "The cat sat on the mat."  →  FR: "</a:t>
            </a:r>
            <a:r>
              <a:rPr b="1" i="0" lang="en" sz="1600" u="none" cap="none" strike="noStrike">
                <a:solidFill>
                  <a:schemeClr val="dk1"/>
                </a:solidFill>
                <a:latin typeface="Calibri"/>
                <a:ea typeface="Calibri"/>
                <a:cs typeface="Calibri"/>
                <a:sym typeface="Calibri"/>
              </a:rPr>
              <a:t>Le chat</a:t>
            </a:r>
            <a:r>
              <a:rPr b="0" i="0" lang="en" sz="1500" u="none" cap="none" strike="noStrike">
                <a:solidFill>
                  <a:schemeClr val="dk1"/>
                </a:solidFill>
                <a:latin typeface="Calibri"/>
                <a:ea typeface="Calibri"/>
                <a:cs typeface="Calibri"/>
                <a:sym typeface="Calibri"/>
              </a:rPr>
              <a:t> s'est assis sur le tapis."</a:t>
            </a:r>
            <a:endParaRPr b="0" i="0" sz="1500" u="none" cap="none" strike="noStrike">
              <a:solidFill>
                <a:schemeClr val="dk1"/>
              </a:solidFill>
              <a:latin typeface="Calibri"/>
              <a:ea typeface="Calibri"/>
              <a:cs typeface="Calibri"/>
              <a:sym typeface="Calibri"/>
            </a:endParaRPr>
          </a:p>
        </p:txBody>
      </p:sp>
      <p:sp>
        <p:nvSpPr>
          <p:cNvPr id="499" name="Google Shape;499;p34"/>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Which English words should "chat" attend to?</a:t>
            </a:r>
            <a:endParaRPr b="0" i="0" sz="1200" u="none" cap="none" strike="noStrike">
              <a:solidFill>
                <a:schemeClr val="dk1"/>
              </a:solidFill>
              <a:latin typeface="Calibri"/>
              <a:ea typeface="Calibri"/>
              <a:cs typeface="Calibri"/>
              <a:sym typeface="Calibri"/>
            </a:endParaRPr>
          </a:p>
        </p:txBody>
      </p:sp>
      <p:sp>
        <p:nvSpPr>
          <p:cNvPr id="500" name="Google Shape;500;p34"/>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34"/>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02" name="Google Shape;502;p34"/>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Query</a:t>
            </a:r>
            <a:endParaRPr b="0" i="0" sz="1400" u="none" cap="none" strike="noStrike">
              <a:solidFill>
                <a:schemeClr val="dk1"/>
              </a:solidFill>
              <a:latin typeface="Calibri"/>
              <a:ea typeface="Calibri"/>
              <a:cs typeface="Calibri"/>
              <a:sym typeface="Calibri"/>
            </a:endParaRPr>
          </a:p>
        </p:txBody>
      </p:sp>
      <p:sp>
        <p:nvSpPr>
          <p:cNvPr id="503" name="Google Shape;503;p34"/>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Decoder token asks: what source info do I need?</a:t>
            </a:r>
            <a:endParaRPr b="0" i="0" sz="900" u="none" cap="none" strike="noStrike">
              <a:solidFill>
                <a:schemeClr val="dk1"/>
              </a:solidFill>
              <a:latin typeface="Calibri"/>
              <a:ea typeface="Calibri"/>
              <a:cs typeface="Calibri"/>
              <a:sym typeface="Calibri"/>
            </a:endParaRPr>
          </a:p>
        </p:txBody>
      </p:sp>
      <p:sp>
        <p:nvSpPr>
          <p:cNvPr id="504" name="Google Shape;504;p34"/>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4"/>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06" name="Google Shape;506;p34"/>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Match</a:t>
            </a:r>
            <a:endParaRPr b="0" i="0" sz="1400" u="none" cap="none" strike="noStrike">
              <a:solidFill>
                <a:schemeClr val="dk1"/>
              </a:solidFill>
              <a:latin typeface="Calibri"/>
              <a:ea typeface="Calibri"/>
              <a:cs typeface="Calibri"/>
              <a:sym typeface="Calibri"/>
            </a:endParaRPr>
          </a:p>
        </p:txBody>
      </p:sp>
      <p:sp>
        <p:nvSpPr>
          <p:cNvPr id="507" name="Google Shape;507;p34"/>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Score query against each encoder key</a:t>
            </a:r>
            <a:endParaRPr b="0" i="0" sz="900" u="none" cap="none" strike="noStrike">
              <a:solidFill>
                <a:schemeClr val="dk1"/>
              </a:solidFill>
              <a:latin typeface="Calibri"/>
              <a:ea typeface="Calibri"/>
              <a:cs typeface="Calibri"/>
              <a:sym typeface="Calibri"/>
            </a:endParaRPr>
          </a:p>
        </p:txBody>
      </p:sp>
      <p:sp>
        <p:nvSpPr>
          <p:cNvPr id="508" name="Google Shape;508;p34"/>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34"/>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10" name="Google Shape;510;p34"/>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400" u="none" cap="none" strike="noStrike">
                <a:solidFill>
                  <a:srgbClr val="1A1F26"/>
                </a:solidFill>
                <a:latin typeface="Calibri"/>
                <a:ea typeface="Calibri"/>
                <a:cs typeface="Calibri"/>
                <a:sym typeface="Calibri"/>
              </a:rPr>
              <a:t>Aggregate</a:t>
            </a:r>
            <a:endParaRPr b="0" i="0" sz="1400" u="none" cap="none" strike="noStrike">
              <a:solidFill>
                <a:schemeClr val="dk1"/>
              </a:solidFill>
              <a:latin typeface="Calibri"/>
              <a:ea typeface="Calibri"/>
              <a:cs typeface="Calibri"/>
              <a:sym typeface="Calibri"/>
            </a:endParaRPr>
          </a:p>
        </p:txBody>
      </p:sp>
      <p:sp>
        <p:nvSpPr>
          <p:cNvPr id="511" name="Google Shape;511;p34"/>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Weighted sum of encoder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values for the decoder</a:t>
            </a:r>
            <a:endParaRPr b="0" i="0" sz="900" u="none" cap="none" strike="noStrike">
              <a:solidFill>
                <a:schemeClr val="dk1"/>
              </a:solidFill>
              <a:latin typeface="Calibri"/>
              <a:ea typeface="Calibri"/>
              <a:cs typeface="Calibri"/>
              <a:sym typeface="Calibri"/>
            </a:endParaRPr>
          </a:p>
        </p:txBody>
      </p:sp>
      <p:sp>
        <p:nvSpPr>
          <p:cNvPr id="512" name="Google Shape;512;p34"/>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4"/>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Difference from Self-Attention</a:t>
            </a:r>
            <a:endParaRPr b="0" i="0" sz="1100" u="none" cap="none" strike="noStrike">
              <a:solidFill>
                <a:schemeClr val="dk1"/>
              </a:solidFill>
              <a:latin typeface="Calibri"/>
              <a:ea typeface="Calibri"/>
              <a:cs typeface="Calibri"/>
              <a:sym typeface="Calibri"/>
            </a:endParaRPr>
          </a:p>
        </p:txBody>
      </p:sp>
      <p:sp>
        <p:nvSpPr>
          <p:cNvPr id="514" name="Google Shape;514;p34"/>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Q comes from the DECODER, while K and V come from the ENCODER — two different sequences interact, unlike self-attention where all three come from the same sequence.</a:t>
            </a:r>
            <a:endParaRPr b="0" i="0" sz="1200" u="none" cap="none" strike="noStrike">
              <a:solidFill>
                <a:schemeClr val="dk1"/>
              </a:solidFill>
              <a:latin typeface="Calibri"/>
              <a:ea typeface="Calibri"/>
              <a:cs typeface="Calibri"/>
              <a:sym typeface="Calibri"/>
            </a:endParaRPr>
          </a:p>
        </p:txBody>
      </p:sp>
      <p:sp>
        <p:nvSpPr>
          <p:cNvPr id="515" name="Google Shape;515;p34"/>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4"/>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Two-sequence bridging</a:t>
            </a:r>
            <a:endParaRPr b="0" i="0" sz="1200" u="none" cap="none" strike="noStrike">
              <a:solidFill>
                <a:schemeClr val="dk1"/>
              </a:solidFill>
              <a:latin typeface="Calibri"/>
              <a:ea typeface="Calibri"/>
              <a:cs typeface="Calibri"/>
              <a:sym typeface="Calibri"/>
            </a:endParaRPr>
          </a:p>
        </p:txBody>
      </p:sp>
      <p:sp>
        <p:nvSpPr>
          <p:cNvPr id="517" name="Google Shape;517;p34"/>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4"/>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Encoder-decoder alignment</a:t>
            </a:r>
            <a:endParaRPr b="0" i="0" sz="1200" u="none" cap="none" strike="noStrike">
              <a:solidFill>
                <a:schemeClr val="dk1"/>
              </a:solidFill>
              <a:latin typeface="Calibri"/>
              <a:ea typeface="Calibri"/>
              <a:cs typeface="Calibri"/>
              <a:sym typeface="Calibri"/>
            </a:endParaRPr>
          </a:p>
        </p:txBody>
      </p:sp>
      <p:sp>
        <p:nvSpPr>
          <p:cNvPr id="519" name="Google Shape;519;p34"/>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4"/>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Used in translation &amp; generation</a:t>
            </a:r>
            <a:endParaRPr b="0" i="0" sz="900" u="none" cap="none" strike="noStrike">
              <a:solidFill>
                <a:schemeClr val="dk1"/>
              </a:solidFill>
              <a:latin typeface="Calibri"/>
              <a:ea typeface="Calibri"/>
              <a:cs typeface="Calibri"/>
              <a:sym typeface="Calibri"/>
            </a:endParaRPr>
          </a:p>
        </p:txBody>
      </p:sp>
      <p:pic>
        <p:nvPicPr>
          <p:cNvPr id="521" name="Google Shape;521;p34"/>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35"/>
          <p:cNvSpPr/>
          <p:nvPr/>
        </p:nvSpPr>
        <p:spPr>
          <a:xfrm>
            <a:off x="274327" y="150876"/>
            <a:ext cx="7201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 sz="2300" u="none" cap="none" strike="noStrike">
                <a:solidFill>
                  <a:srgbClr val="1A1A1A"/>
                </a:solidFill>
                <a:latin typeface="Calibri"/>
                <a:ea typeface="Calibri"/>
                <a:cs typeface="Calibri"/>
                <a:sym typeface="Calibri"/>
              </a:rPr>
              <a:t>Cross-Attention as Matrix Operations</a:t>
            </a:r>
            <a:endParaRPr b="0" i="0" sz="2300" u="none" cap="none" strike="noStrike">
              <a:solidFill>
                <a:schemeClr val="dk1"/>
              </a:solidFill>
              <a:latin typeface="Calibri"/>
              <a:ea typeface="Calibri"/>
              <a:cs typeface="Calibri"/>
              <a:sym typeface="Calibri"/>
            </a:endParaRPr>
          </a:p>
        </p:txBody>
      </p:sp>
      <p:sp>
        <p:nvSpPr>
          <p:cNvPr id="528" name="Google Shape;528;p35"/>
          <p:cNvSpPr/>
          <p:nvPr/>
        </p:nvSpPr>
        <p:spPr>
          <a:xfrm>
            <a:off x="274327" y="582930"/>
            <a:ext cx="4800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Calibri"/>
              <a:buNone/>
            </a:pPr>
            <a:r>
              <a:rPr b="0" i="0" lang="en" sz="1000" u="none" cap="none" strike="noStrike">
                <a:solidFill>
                  <a:srgbClr val="333333"/>
                </a:solidFill>
                <a:latin typeface="Calibri"/>
                <a:ea typeface="Calibri"/>
                <a:cs typeface="Calibri"/>
                <a:sym typeface="Calibri"/>
              </a:rPr>
              <a:t>Decoder queries attend over all encoder positions in parallel.</a:t>
            </a:r>
            <a:endParaRPr b="0" i="0" sz="1000" u="none" cap="none" strike="noStrike">
              <a:solidFill>
                <a:schemeClr val="dk1"/>
              </a:solidFill>
              <a:latin typeface="Calibri"/>
              <a:ea typeface="Calibri"/>
              <a:cs typeface="Calibri"/>
              <a:sym typeface="Calibri"/>
            </a:endParaRPr>
          </a:p>
        </p:txBody>
      </p:sp>
      <p:sp>
        <p:nvSpPr>
          <p:cNvPr id="529" name="Google Shape;529;p35"/>
          <p:cNvSpPr/>
          <p:nvPr/>
        </p:nvSpPr>
        <p:spPr>
          <a:xfrm>
            <a:off x="274327" y="973836"/>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0" name="Google Shape;530;p35"/>
          <p:cNvSpPr/>
          <p:nvPr/>
        </p:nvSpPr>
        <p:spPr>
          <a:xfrm>
            <a:off x="370342" y="1097280"/>
            <a:ext cx="315600" cy="315600"/>
          </a:xfrm>
          <a:prstGeom prst="ellipse">
            <a:avLst/>
          </a:prstGeom>
          <a:solidFill>
            <a:srgbClr val="D9D9D9"/>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1" name="Google Shape;531;p35"/>
          <p:cNvSpPr/>
          <p:nvPr/>
        </p:nvSpPr>
        <p:spPr>
          <a:xfrm>
            <a:off x="370342" y="109728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532" name="Google Shape;532;p35"/>
          <p:cNvSpPr/>
          <p:nvPr/>
        </p:nvSpPr>
        <p:spPr>
          <a:xfrm>
            <a:off x="768116" y="1014984"/>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Two Input Matrices</a:t>
            </a:r>
            <a:endParaRPr b="0" i="0" sz="1000" u="none" cap="none" strike="noStrike">
              <a:solidFill>
                <a:schemeClr val="dk1"/>
              </a:solidFill>
              <a:latin typeface="Calibri"/>
              <a:ea typeface="Calibri"/>
              <a:cs typeface="Calibri"/>
              <a:sym typeface="Calibri"/>
            </a:endParaRPr>
          </a:p>
        </p:txBody>
      </p:sp>
      <p:sp>
        <p:nvSpPr>
          <p:cNvPr id="533" name="Google Shape;533;p35"/>
          <p:cNvSpPr/>
          <p:nvPr/>
        </p:nvSpPr>
        <p:spPr>
          <a:xfrm>
            <a:off x="2537528" y="1014984"/>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mbria"/>
              <a:buNone/>
            </a:pPr>
            <a:r>
              <a:rPr b="0" i="0" lang="en" sz="900" u="none" cap="none" strike="noStrike">
                <a:solidFill>
                  <a:srgbClr val="C0392B"/>
                </a:solidFill>
                <a:latin typeface="Cambria"/>
                <a:ea typeface="Cambria"/>
                <a:cs typeface="Cambria"/>
                <a:sym typeface="Cambria"/>
              </a:rPr>
              <a:t>X</a:t>
            </a:r>
            <a:r>
              <a:rPr b="0" baseline="-25000" i="0" lang="en" sz="800" u="none" cap="none" strike="noStrike">
                <a:solidFill>
                  <a:srgbClr val="C0392B"/>
                </a:solidFill>
                <a:latin typeface="Cambria"/>
                <a:ea typeface="Cambria"/>
                <a:cs typeface="Cambria"/>
                <a:sym typeface="Cambria"/>
              </a:rPr>
              <a:t>enc</a:t>
            </a:r>
            <a:r>
              <a:rPr b="0" i="0" lang="en" sz="900" u="none" cap="none" strike="noStrike">
                <a:solidFill>
                  <a:srgbClr val="1A1A1A"/>
                </a:solidFill>
                <a:latin typeface="Cambria"/>
                <a:ea typeface="Cambria"/>
                <a:cs typeface="Cambria"/>
                <a:sym typeface="Cambria"/>
              </a:rPr>
              <a:t> ∈ ℝ</a:t>
            </a:r>
            <a:r>
              <a:rPr b="0" baseline="30000" i="0" lang="en" sz="700" u="none" cap="none" strike="noStrike">
                <a:solidFill>
                  <a:srgbClr val="1A1A1A"/>
                </a:solidFill>
                <a:latin typeface="Cambria"/>
                <a:ea typeface="Cambria"/>
                <a:cs typeface="Cambria"/>
                <a:sym typeface="Cambria"/>
              </a:rPr>
              <a:t>s×d</a:t>
            </a:r>
            <a:r>
              <a:rPr b="0" i="0" lang="en" sz="900" u="none" cap="none" strike="noStrike">
                <a:solidFill>
                  <a:srgbClr val="1A1A1A"/>
                </a:solidFill>
                <a:latin typeface="Cambria"/>
                <a:ea typeface="Cambria"/>
                <a:cs typeface="Cambria"/>
                <a:sym typeface="Cambria"/>
              </a:rPr>
              <a:t>,  X</a:t>
            </a:r>
            <a:r>
              <a:rPr b="0" baseline="-25000" i="0" lang="en" sz="800" u="none" cap="none" strike="noStrike">
                <a:solidFill>
                  <a:srgbClr val="1A1A1A"/>
                </a:solidFill>
                <a:latin typeface="Cambria"/>
                <a:ea typeface="Cambria"/>
                <a:cs typeface="Cambria"/>
                <a:sym typeface="Cambria"/>
              </a:rPr>
              <a:t>dec</a:t>
            </a:r>
            <a:r>
              <a:rPr b="0" i="0" lang="en" sz="900" u="none" cap="none" strike="noStrike">
                <a:solidFill>
                  <a:srgbClr val="1A1A1A"/>
                </a:solidFill>
                <a:latin typeface="Cambria"/>
                <a:ea typeface="Cambria"/>
                <a:cs typeface="Cambria"/>
                <a:sym typeface="Cambria"/>
              </a:rPr>
              <a:t> ∈ ℝ</a:t>
            </a:r>
            <a:r>
              <a:rPr b="0" baseline="30000" i="0" lang="en" sz="700" u="none" cap="none" strike="noStrike">
                <a:solidFill>
                  <a:srgbClr val="1A1A1A"/>
                </a:solidFill>
                <a:latin typeface="Cambria"/>
                <a:ea typeface="Cambria"/>
                <a:cs typeface="Cambria"/>
                <a:sym typeface="Cambria"/>
              </a:rPr>
              <a:t>t×d</a:t>
            </a:r>
            <a:endParaRPr b="0" i="0" sz="900" u="none" cap="none" strike="noStrike">
              <a:solidFill>
                <a:schemeClr val="dk1"/>
              </a:solidFill>
              <a:latin typeface="Calibri"/>
              <a:ea typeface="Calibri"/>
              <a:cs typeface="Calibri"/>
              <a:sym typeface="Calibri"/>
            </a:endParaRPr>
          </a:p>
        </p:txBody>
      </p:sp>
      <p:sp>
        <p:nvSpPr>
          <p:cNvPr id="534" name="Google Shape;534;p35"/>
          <p:cNvSpPr/>
          <p:nvPr/>
        </p:nvSpPr>
        <p:spPr>
          <a:xfrm>
            <a:off x="768116" y="1275588"/>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s = src length, t = tgt length, d = embedding dim</a:t>
            </a:r>
            <a:endParaRPr b="0" i="0" sz="700" u="none" cap="none" strike="noStrike">
              <a:solidFill>
                <a:schemeClr val="dk1"/>
              </a:solidFill>
              <a:latin typeface="Calibri"/>
              <a:ea typeface="Calibri"/>
              <a:cs typeface="Calibri"/>
              <a:sym typeface="Calibri"/>
            </a:endParaRPr>
          </a:p>
        </p:txBody>
      </p:sp>
      <p:sp>
        <p:nvSpPr>
          <p:cNvPr id="535" name="Google Shape;535;p35"/>
          <p:cNvSpPr/>
          <p:nvPr/>
        </p:nvSpPr>
        <p:spPr>
          <a:xfrm>
            <a:off x="274327" y="1639062"/>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6" name="Google Shape;536;p35"/>
          <p:cNvSpPr/>
          <p:nvPr/>
        </p:nvSpPr>
        <p:spPr>
          <a:xfrm>
            <a:off x="370342" y="1762506"/>
            <a:ext cx="315600" cy="315600"/>
          </a:xfrm>
          <a:prstGeom prst="ellipse">
            <a:avLst/>
          </a:prstGeom>
          <a:solidFill>
            <a:srgbClr val="BFD9F2"/>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7" name="Google Shape;537;p35"/>
          <p:cNvSpPr/>
          <p:nvPr/>
        </p:nvSpPr>
        <p:spPr>
          <a:xfrm>
            <a:off x="370342" y="1762506"/>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538" name="Google Shape;538;p35"/>
          <p:cNvSpPr/>
          <p:nvPr/>
        </p:nvSpPr>
        <p:spPr>
          <a:xfrm>
            <a:off x="768116" y="1680210"/>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Project Q (decoder), K, V (encoder)</a:t>
            </a:r>
            <a:endParaRPr b="0" i="0" sz="1000" u="none" cap="none" strike="noStrike">
              <a:solidFill>
                <a:schemeClr val="dk1"/>
              </a:solidFill>
              <a:latin typeface="Calibri"/>
              <a:ea typeface="Calibri"/>
              <a:cs typeface="Calibri"/>
              <a:sym typeface="Calibri"/>
            </a:endParaRPr>
          </a:p>
        </p:txBody>
      </p:sp>
      <p:sp>
        <p:nvSpPr>
          <p:cNvPr id="539" name="Google Shape;539;p35"/>
          <p:cNvSpPr/>
          <p:nvPr/>
        </p:nvSpPr>
        <p:spPr>
          <a:xfrm>
            <a:off x="2537528" y="1680210"/>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Q=X</a:t>
            </a:r>
            <a:r>
              <a:rPr b="0" baseline="-25000" i="0" lang="en" sz="800" u="none" cap="none" strike="noStrike">
                <a:solidFill>
                  <a:srgbClr val="1A1A1A"/>
                </a:solidFill>
                <a:latin typeface="Cambria"/>
                <a:ea typeface="Cambria"/>
                <a:cs typeface="Cambria"/>
                <a:sym typeface="Cambria"/>
              </a:rPr>
              <a:t>dec</a:t>
            </a:r>
            <a:r>
              <a:rPr b="0" i="0" lang="en" sz="900" u="none" cap="none" strike="noStrike">
                <a:solidFill>
                  <a:srgbClr val="1A1A1A"/>
                </a:solidFill>
                <a:latin typeface="Cambria"/>
                <a:ea typeface="Cambria"/>
                <a:cs typeface="Cambria"/>
                <a:sym typeface="Cambria"/>
              </a:rPr>
              <a:t>·W</a:t>
            </a:r>
            <a:r>
              <a:rPr b="0" baseline="-25000" i="0" lang="en" sz="800" u="none" cap="none" strike="noStrike">
                <a:solidFill>
                  <a:srgbClr val="1A1A1A"/>
                </a:solidFill>
                <a:latin typeface="Cambria"/>
                <a:ea typeface="Cambria"/>
                <a:cs typeface="Cambria"/>
                <a:sym typeface="Cambria"/>
              </a:rPr>
              <a:t>Q</a:t>
            </a:r>
            <a:r>
              <a:rPr b="0" i="0" lang="en" sz="900" u="none" cap="none" strike="noStrike">
                <a:solidFill>
                  <a:srgbClr val="1A1A1A"/>
                </a:solidFill>
                <a:latin typeface="Cambria"/>
                <a:ea typeface="Cambria"/>
                <a:cs typeface="Cambria"/>
                <a:sym typeface="Cambria"/>
              </a:rPr>
              <a:t>,  K=</a:t>
            </a:r>
            <a:r>
              <a:rPr b="0" i="0" lang="en" sz="900" u="none" cap="none" strike="noStrike">
                <a:solidFill>
                  <a:srgbClr val="C0392B"/>
                </a:solidFill>
                <a:latin typeface="Cambria"/>
                <a:ea typeface="Cambria"/>
                <a:cs typeface="Cambria"/>
                <a:sym typeface="Cambria"/>
              </a:rPr>
              <a:t>X</a:t>
            </a:r>
            <a:r>
              <a:rPr b="0" baseline="-25000" i="0" lang="en" sz="800" u="none" cap="none" strike="noStrike">
                <a:solidFill>
                  <a:srgbClr val="C0392B"/>
                </a:solidFill>
                <a:latin typeface="Cambria"/>
                <a:ea typeface="Cambria"/>
                <a:cs typeface="Cambria"/>
                <a:sym typeface="Cambria"/>
              </a:rPr>
              <a:t>enc</a:t>
            </a:r>
            <a:r>
              <a:rPr b="0" i="0" lang="en" sz="900" u="none" cap="none" strike="noStrike">
                <a:solidFill>
                  <a:srgbClr val="1A1A1A"/>
                </a:solidFill>
                <a:latin typeface="Cambria"/>
                <a:ea typeface="Cambria"/>
                <a:cs typeface="Cambria"/>
                <a:sym typeface="Cambria"/>
              </a:rPr>
              <a:t>·W</a:t>
            </a:r>
            <a:r>
              <a:rPr b="0" baseline="-25000" i="0" lang="en" sz="800" u="none" cap="none" strike="noStrike">
                <a:solidFill>
                  <a:srgbClr val="1A1A1A"/>
                </a:solidFill>
                <a:latin typeface="Cambria"/>
                <a:ea typeface="Cambria"/>
                <a:cs typeface="Cambria"/>
                <a:sym typeface="Cambria"/>
              </a:rPr>
              <a:t>K</a:t>
            </a:r>
            <a:r>
              <a:rPr b="0" i="0" lang="en" sz="900" u="none" cap="none" strike="noStrike">
                <a:solidFill>
                  <a:srgbClr val="1A1A1A"/>
                </a:solidFill>
                <a:latin typeface="Cambria"/>
                <a:ea typeface="Cambria"/>
                <a:cs typeface="Cambria"/>
                <a:sym typeface="Cambria"/>
              </a:rPr>
              <a:t>,  V=</a:t>
            </a:r>
            <a:r>
              <a:rPr b="0" i="0" lang="en" sz="900" u="none" cap="none" strike="noStrike">
                <a:solidFill>
                  <a:srgbClr val="C0392B"/>
                </a:solidFill>
                <a:latin typeface="Cambria"/>
                <a:ea typeface="Cambria"/>
                <a:cs typeface="Cambria"/>
                <a:sym typeface="Cambria"/>
              </a:rPr>
              <a:t>X</a:t>
            </a:r>
            <a:r>
              <a:rPr b="0" baseline="-25000" i="0" lang="en" sz="800" u="none" cap="none" strike="noStrike">
                <a:solidFill>
                  <a:srgbClr val="C0392B"/>
                </a:solidFill>
                <a:latin typeface="Cambria"/>
                <a:ea typeface="Cambria"/>
                <a:cs typeface="Cambria"/>
                <a:sym typeface="Cambria"/>
              </a:rPr>
              <a:t>enc</a:t>
            </a:r>
            <a:r>
              <a:rPr b="0" i="0" lang="en" sz="900" u="none" cap="none" strike="noStrike">
                <a:solidFill>
                  <a:srgbClr val="1A1A1A"/>
                </a:solidFill>
                <a:latin typeface="Cambria"/>
                <a:ea typeface="Cambria"/>
                <a:cs typeface="Cambria"/>
                <a:sym typeface="Cambria"/>
              </a:rPr>
              <a:t>·W</a:t>
            </a:r>
            <a:r>
              <a:rPr b="0" baseline="-25000" i="0" lang="en" sz="800" u="none" cap="none" strike="noStrike">
                <a:solidFill>
                  <a:srgbClr val="1A1A1A"/>
                </a:solidFill>
                <a:latin typeface="Cambria"/>
                <a:ea typeface="Cambria"/>
                <a:cs typeface="Cambria"/>
                <a:sym typeface="Cambria"/>
              </a:rPr>
              <a:t>V</a:t>
            </a:r>
            <a:endParaRPr b="0" i="0" sz="900" u="none" cap="none" strike="noStrike">
              <a:solidFill>
                <a:schemeClr val="dk1"/>
              </a:solidFill>
              <a:latin typeface="Calibri"/>
              <a:ea typeface="Calibri"/>
              <a:cs typeface="Calibri"/>
              <a:sym typeface="Calibri"/>
            </a:endParaRPr>
          </a:p>
        </p:txBody>
      </p:sp>
      <p:sp>
        <p:nvSpPr>
          <p:cNvPr id="540" name="Google Shape;540;p35"/>
          <p:cNvSpPr/>
          <p:nvPr/>
        </p:nvSpPr>
        <p:spPr>
          <a:xfrm>
            <a:off x="768116" y="1940814"/>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Q from decoder; K, V from encoder</a:t>
            </a:r>
            <a:endParaRPr b="0" i="0" sz="700" u="none" cap="none" strike="noStrike">
              <a:solidFill>
                <a:schemeClr val="dk1"/>
              </a:solidFill>
              <a:latin typeface="Calibri"/>
              <a:ea typeface="Calibri"/>
              <a:cs typeface="Calibri"/>
              <a:sym typeface="Calibri"/>
            </a:endParaRPr>
          </a:p>
        </p:txBody>
      </p:sp>
      <p:sp>
        <p:nvSpPr>
          <p:cNvPr id="541" name="Google Shape;541;p35"/>
          <p:cNvSpPr/>
          <p:nvPr/>
        </p:nvSpPr>
        <p:spPr>
          <a:xfrm>
            <a:off x="274327" y="2304288"/>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2" name="Google Shape;542;p35"/>
          <p:cNvSpPr/>
          <p:nvPr/>
        </p:nvSpPr>
        <p:spPr>
          <a:xfrm>
            <a:off x="370342" y="2427732"/>
            <a:ext cx="315600" cy="315600"/>
          </a:xfrm>
          <a:prstGeom prst="ellipse">
            <a:avLst/>
          </a:prstGeom>
          <a:solidFill>
            <a:srgbClr val="D9CCF2"/>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3" name="Google Shape;543;p35"/>
          <p:cNvSpPr/>
          <p:nvPr/>
        </p:nvSpPr>
        <p:spPr>
          <a:xfrm>
            <a:off x="370342" y="2427732"/>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544" name="Google Shape;544;p35"/>
          <p:cNvSpPr/>
          <p:nvPr/>
        </p:nvSpPr>
        <p:spPr>
          <a:xfrm>
            <a:off x="768116" y="2345436"/>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Cross-Score Matrix</a:t>
            </a:r>
            <a:endParaRPr b="0" i="0" sz="1000" u="none" cap="none" strike="noStrike">
              <a:solidFill>
                <a:schemeClr val="dk1"/>
              </a:solidFill>
              <a:latin typeface="Calibri"/>
              <a:ea typeface="Calibri"/>
              <a:cs typeface="Calibri"/>
              <a:sym typeface="Calibri"/>
            </a:endParaRPr>
          </a:p>
        </p:txBody>
      </p:sp>
      <p:sp>
        <p:nvSpPr>
          <p:cNvPr id="545" name="Google Shape;545;p35"/>
          <p:cNvSpPr/>
          <p:nvPr/>
        </p:nvSpPr>
        <p:spPr>
          <a:xfrm>
            <a:off x="2537528" y="2345436"/>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Scores = QK</a:t>
            </a:r>
            <a:r>
              <a:rPr b="0" baseline="30000" i="0" lang="en" sz="700" u="none" cap="none" strike="noStrike">
                <a:solidFill>
                  <a:srgbClr val="1A1A1A"/>
                </a:solidFill>
                <a:latin typeface="Cambria"/>
                <a:ea typeface="Cambria"/>
                <a:cs typeface="Cambria"/>
                <a:sym typeface="Cambria"/>
              </a:rPr>
              <a:t>T</a:t>
            </a:r>
            <a:r>
              <a:rPr b="0" i="0" lang="en" sz="900" u="none" cap="none" strike="noStrike">
                <a:solidFill>
                  <a:srgbClr val="1A1A1A"/>
                </a:solidFill>
                <a:latin typeface="Cambria"/>
                <a:ea typeface="Cambria"/>
                <a:cs typeface="Cambria"/>
                <a:sym typeface="Cambria"/>
              </a:rPr>
              <a:t>   shape: t×s</a:t>
            </a:r>
            <a:endParaRPr b="0" i="0" sz="900" u="none" cap="none" strike="noStrike">
              <a:solidFill>
                <a:schemeClr val="dk1"/>
              </a:solidFill>
              <a:latin typeface="Calibri"/>
              <a:ea typeface="Calibri"/>
              <a:cs typeface="Calibri"/>
              <a:sym typeface="Calibri"/>
            </a:endParaRPr>
          </a:p>
        </p:txBody>
      </p:sp>
      <p:sp>
        <p:nvSpPr>
          <p:cNvPr id="546" name="Google Shape;546;p35"/>
          <p:cNvSpPr/>
          <p:nvPr/>
        </p:nvSpPr>
        <p:spPr>
          <a:xfrm>
            <a:off x="768116" y="2606040"/>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Entry (i,j): how much decoder token i attends to encoder token j</a:t>
            </a:r>
            <a:endParaRPr b="0" i="0" sz="700" u="none" cap="none" strike="noStrike">
              <a:solidFill>
                <a:schemeClr val="dk1"/>
              </a:solidFill>
              <a:latin typeface="Calibri"/>
              <a:ea typeface="Calibri"/>
              <a:cs typeface="Calibri"/>
              <a:sym typeface="Calibri"/>
            </a:endParaRPr>
          </a:p>
        </p:txBody>
      </p:sp>
      <p:sp>
        <p:nvSpPr>
          <p:cNvPr id="547" name="Google Shape;547;p35"/>
          <p:cNvSpPr/>
          <p:nvPr/>
        </p:nvSpPr>
        <p:spPr>
          <a:xfrm>
            <a:off x="274327" y="2969514"/>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8" name="Google Shape;548;p35"/>
          <p:cNvSpPr/>
          <p:nvPr/>
        </p:nvSpPr>
        <p:spPr>
          <a:xfrm>
            <a:off x="370342" y="3092958"/>
            <a:ext cx="315600" cy="315600"/>
          </a:xfrm>
          <a:prstGeom prst="ellipse">
            <a:avLst/>
          </a:prstGeom>
          <a:solidFill>
            <a:srgbClr val="F5D6B8"/>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9" name="Google Shape;549;p35"/>
          <p:cNvSpPr/>
          <p:nvPr/>
        </p:nvSpPr>
        <p:spPr>
          <a:xfrm>
            <a:off x="370342" y="3092958"/>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550" name="Google Shape;550;p35"/>
          <p:cNvSpPr/>
          <p:nvPr/>
        </p:nvSpPr>
        <p:spPr>
          <a:xfrm>
            <a:off x="768116" y="3010662"/>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Scale + Softmax</a:t>
            </a:r>
            <a:endParaRPr b="0" i="0" sz="1000" u="none" cap="none" strike="noStrike">
              <a:solidFill>
                <a:schemeClr val="dk1"/>
              </a:solidFill>
              <a:latin typeface="Calibri"/>
              <a:ea typeface="Calibri"/>
              <a:cs typeface="Calibri"/>
              <a:sym typeface="Calibri"/>
            </a:endParaRPr>
          </a:p>
        </p:txBody>
      </p:sp>
      <p:sp>
        <p:nvSpPr>
          <p:cNvPr id="551" name="Google Shape;551;p35"/>
          <p:cNvSpPr/>
          <p:nvPr/>
        </p:nvSpPr>
        <p:spPr>
          <a:xfrm>
            <a:off x="2537528" y="3010662"/>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A = softmax( QK</a:t>
            </a:r>
            <a:r>
              <a:rPr b="0" baseline="30000" i="0" lang="en" sz="700" u="none" cap="none" strike="noStrike">
                <a:solidFill>
                  <a:srgbClr val="1A1A1A"/>
                </a:solidFill>
                <a:latin typeface="Cambria"/>
                <a:ea typeface="Cambria"/>
                <a:cs typeface="Cambria"/>
                <a:sym typeface="Cambria"/>
              </a:rPr>
              <a:t>T</a:t>
            </a:r>
            <a:r>
              <a:rPr b="0" i="0" lang="en" sz="900" u="none" cap="none" strike="noStrike">
                <a:solidFill>
                  <a:srgbClr val="1A1A1A"/>
                </a:solidFill>
                <a:latin typeface="Cambria"/>
                <a:ea typeface="Cambria"/>
                <a:cs typeface="Cambria"/>
                <a:sym typeface="Cambria"/>
              </a:rPr>
              <a:t> / √d</a:t>
            </a:r>
            <a:r>
              <a:rPr b="0" baseline="-25000" i="0" lang="en" sz="800" u="none" cap="none" strike="noStrike">
                <a:solidFill>
                  <a:srgbClr val="1A1A1A"/>
                </a:solidFill>
                <a:latin typeface="Cambria"/>
                <a:ea typeface="Cambria"/>
                <a:cs typeface="Cambria"/>
                <a:sym typeface="Cambria"/>
              </a:rPr>
              <a:t>k</a:t>
            </a:r>
            <a:r>
              <a:rPr b="0" i="0" lang="en" sz="900" u="none" cap="none" strike="noStrike">
                <a:solidFill>
                  <a:srgbClr val="1A1A1A"/>
                </a:solidFill>
                <a:latin typeface="Cambria"/>
                <a:ea typeface="Cambria"/>
                <a:cs typeface="Cambria"/>
                <a:sym typeface="Cambria"/>
              </a:rPr>
              <a:t> )</a:t>
            </a:r>
            <a:endParaRPr b="0" i="0" sz="900" u="none" cap="none" strike="noStrike">
              <a:solidFill>
                <a:schemeClr val="dk1"/>
              </a:solidFill>
              <a:latin typeface="Calibri"/>
              <a:ea typeface="Calibri"/>
              <a:cs typeface="Calibri"/>
              <a:sym typeface="Calibri"/>
            </a:endParaRPr>
          </a:p>
        </p:txBody>
      </p:sp>
      <p:sp>
        <p:nvSpPr>
          <p:cNvPr id="552" name="Google Shape;552;p35"/>
          <p:cNvSpPr/>
          <p:nvPr/>
        </p:nvSpPr>
        <p:spPr>
          <a:xfrm>
            <a:off x="768116" y="3271266"/>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Each row: distribution over ALL encoder positions</a:t>
            </a:r>
            <a:endParaRPr b="0" i="0" sz="700" u="none" cap="none" strike="noStrike">
              <a:solidFill>
                <a:schemeClr val="dk1"/>
              </a:solidFill>
              <a:latin typeface="Calibri"/>
              <a:ea typeface="Calibri"/>
              <a:cs typeface="Calibri"/>
              <a:sym typeface="Calibri"/>
            </a:endParaRPr>
          </a:p>
        </p:txBody>
      </p:sp>
      <p:sp>
        <p:nvSpPr>
          <p:cNvPr id="553" name="Google Shape;553;p35"/>
          <p:cNvSpPr/>
          <p:nvPr/>
        </p:nvSpPr>
        <p:spPr>
          <a:xfrm>
            <a:off x="274327" y="3634740"/>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4" name="Google Shape;554;p35"/>
          <p:cNvSpPr/>
          <p:nvPr/>
        </p:nvSpPr>
        <p:spPr>
          <a:xfrm>
            <a:off x="370342" y="3758184"/>
            <a:ext cx="315600" cy="315600"/>
          </a:xfrm>
          <a:prstGeom prst="ellipse">
            <a:avLst/>
          </a:prstGeom>
          <a:solidFill>
            <a:srgbClr val="C9E4D3"/>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5" name="Google Shape;555;p35"/>
          <p:cNvSpPr/>
          <p:nvPr/>
        </p:nvSpPr>
        <p:spPr>
          <a:xfrm>
            <a:off x="370342" y="3758184"/>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556" name="Google Shape;556;p35"/>
          <p:cNvSpPr/>
          <p:nvPr/>
        </p:nvSpPr>
        <p:spPr>
          <a:xfrm>
            <a:off x="768116" y="3675888"/>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Output</a:t>
            </a:r>
            <a:endParaRPr b="0" i="0" sz="1000" u="none" cap="none" strike="noStrike">
              <a:solidFill>
                <a:schemeClr val="dk1"/>
              </a:solidFill>
              <a:latin typeface="Calibri"/>
              <a:ea typeface="Calibri"/>
              <a:cs typeface="Calibri"/>
              <a:sym typeface="Calibri"/>
            </a:endParaRPr>
          </a:p>
        </p:txBody>
      </p:sp>
      <p:sp>
        <p:nvSpPr>
          <p:cNvPr id="557" name="Google Shape;557;p35"/>
          <p:cNvSpPr/>
          <p:nvPr/>
        </p:nvSpPr>
        <p:spPr>
          <a:xfrm>
            <a:off x="2537528" y="3675888"/>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Output = A · V</a:t>
            </a:r>
            <a:r>
              <a:rPr b="0" baseline="-25000" i="0" lang="en" sz="800" u="none" cap="none" strike="noStrike">
                <a:solidFill>
                  <a:srgbClr val="1A1A1A"/>
                </a:solidFill>
                <a:latin typeface="Cambria"/>
                <a:ea typeface="Cambria"/>
                <a:cs typeface="Cambria"/>
                <a:sym typeface="Cambria"/>
              </a:rPr>
              <a:t>enc</a:t>
            </a:r>
            <a:endParaRPr b="0" i="0" sz="900" u="none" cap="none" strike="noStrike">
              <a:solidFill>
                <a:schemeClr val="dk1"/>
              </a:solidFill>
              <a:latin typeface="Calibri"/>
              <a:ea typeface="Calibri"/>
              <a:cs typeface="Calibri"/>
              <a:sym typeface="Calibri"/>
            </a:endParaRPr>
          </a:p>
        </p:txBody>
      </p:sp>
      <p:sp>
        <p:nvSpPr>
          <p:cNvPr id="558" name="Google Shape;558;p35"/>
          <p:cNvSpPr/>
          <p:nvPr/>
        </p:nvSpPr>
        <p:spPr>
          <a:xfrm>
            <a:off x="768116" y="3936492"/>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Each decoder token: weighted blend of encoder values</a:t>
            </a:r>
            <a:endParaRPr b="0" i="0" sz="700" u="none" cap="none" strike="noStrike">
              <a:solidFill>
                <a:schemeClr val="dk1"/>
              </a:solidFill>
              <a:latin typeface="Calibri"/>
              <a:ea typeface="Calibri"/>
              <a:cs typeface="Calibri"/>
              <a:sym typeface="Calibri"/>
            </a:endParaRPr>
          </a:p>
        </p:txBody>
      </p:sp>
      <p:sp>
        <p:nvSpPr>
          <p:cNvPr id="559" name="Google Shape;559;p35"/>
          <p:cNvSpPr/>
          <p:nvPr/>
        </p:nvSpPr>
        <p:spPr>
          <a:xfrm>
            <a:off x="5246510" y="651510"/>
            <a:ext cx="3634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Cross-Attention Matrix A  (t × s)</a:t>
            </a:r>
            <a:endParaRPr b="0" i="0" sz="1100" u="none" cap="none" strike="noStrike">
              <a:solidFill>
                <a:schemeClr val="dk1"/>
              </a:solidFill>
              <a:latin typeface="Calibri"/>
              <a:ea typeface="Calibri"/>
              <a:cs typeface="Calibri"/>
              <a:sym typeface="Calibri"/>
            </a:endParaRPr>
          </a:p>
        </p:txBody>
      </p:sp>
      <p:sp>
        <p:nvSpPr>
          <p:cNvPr id="560" name="Google Shape;560;p35"/>
          <p:cNvSpPr/>
          <p:nvPr/>
        </p:nvSpPr>
        <p:spPr>
          <a:xfrm>
            <a:off x="5246510" y="864108"/>
            <a:ext cx="3634800" cy="3429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6B4FA0"/>
              </a:buClr>
              <a:buSzPts val="800"/>
              <a:buFont typeface="Calibri"/>
              <a:buNone/>
            </a:pPr>
            <a:r>
              <a:rPr b="1" i="0" lang="en" sz="800" u="none" cap="none" strike="noStrike">
                <a:solidFill>
                  <a:srgbClr val="6B4FA0"/>
                </a:solidFill>
                <a:latin typeface="Calibri"/>
                <a:ea typeface="Calibri"/>
                <a:cs typeface="Calibri"/>
                <a:sym typeface="Calibri"/>
              </a:rPr>
              <a:t>Decoder</a:t>
            </a:r>
            <a:r>
              <a:rPr b="0" i="0" lang="en" sz="800" u="none" cap="none" strike="noStrike">
                <a:solidFill>
                  <a:srgbClr val="333333"/>
                </a:solidFill>
                <a:latin typeface="Calibri"/>
                <a:ea typeface="Calibri"/>
                <a:cs typeface="Calibri"/>
                <a:sym typeface="Calibri"/>
              </a:rPr>
              <a:t> (French, target — rows)   →  attends over  →   </a:t>
            </a:r>
            <a:r>
              <a:rPr b="1" i="0" lang="en" sz="800" u="none" cap="none" strike="noStrike">
                <a:solidFill>
                  <a:srgbClr val="2E6B9E"/>
                </a:solidFill>
                <a:latin typeface="Calibri"/>
                <a:ea typeface="Calibri"/>
                <a:cs typeface="Calibri"/>
                <a:sym typeface="Calibri"/>
              </a:rPr>
              <a:t>Encoder</a:t>
            </a:r>
            <a:r>
              <a:rPr b="0" i="0" lang="en" sz="800" u="none" cap="none" strike="noStrike">
                <a:solidFill>
                  <a:srgbClr val="333333"/>
                </a:solidFill>
                <a:latin typeface="Calibri"/>
                <a:ea typeface="Calibri"/>
                <a:cs typeface="Calibri"/>
                <a:sym typeface="Calibri"/>
              </a:rPr>
              <a:t> (English, source — columns)</a:t>
            </a:r>
            <a:endParaRPr b="0" i="0" sz="800" u="none" cap="none" strike="noStrike">
              <a:solidFill>
                <a:schemeClr val="dk1"/>
              </a:solidFill>
              <a:latin typeface="Calibri"/>
              <a:ea typeface="Calibri"/>
              <a:cs typeface="Calibri"/>
              <a:sym typeface="Calibri"/>
            </a:endParaRPr>
          </a:p>
        </p:txBody>
      </p:sp>
      <p:sp>
        <p:nvSpPr>
          <p:cNvPr id="561" name="Google Shape;561;p35"/>
          <p:cNvSpPr/>
          <p:nvPr/>
        </p:nvSpPr>
        <p:spPr>
          <a:xfrm>
            <a:off x="5246510"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2" name="Google Shape;562;p35"/>
          <p:cNvSpPr/>
          <p:nvPr/>
        </p:nvSpPr>
        <p:spPr>
          <a:xfrm>
            <a:off x="5852316"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3" name="Google Shape;563;p35"/>
          <p:cNvSpPr/>
          <p:nvPr/>
        </p:nvSpPr>
        <p:spPr>
          <a:xfrm>
            <a:off x="5852316"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cat</a:t>
            </a:r>
            <a:endParaRPr b="0" i="0" sz="800" u="none" cap="none" strike="noStrike">
              <a:solidFill>
                <a:schemeClr val="dk1"/>
              </a:solidFill>
              <a:latin typeface="Calibri"/>
              <a:ea typeface="Calibri"/>
              <a:cs typeface="Calibri"/>
              <a:sym typeface="Calibri"/>
            </a:endParaRPr>
          </a:p>
        </p:txBody>
      </p:sp>
      <p:sp>
        <p:nvSpPr>
          <p:cNvPr id="564" name="Google Shape;564;p35"/>
          <p:cNvSpPr/>
          <p:nvPr/>
        </p:nvSpPr>
        <p:spPr>
          <a:xfrm>
            <a:off x="6458122"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5" name="Google Shape;565;p35"/>
          <p:cNvSpPr/>
          <p:nvPr/>
        </p:nvSpPr>
        <p:spPr>
          <a:xfrm>
            <a:off x="6458122"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sat</a:t>
            </a:r>
            <a:endParaRPr b="0" i="0" sz="800" u="none" cap="none" strike="noStrike">
              <a:solidFill>
                <a:schemeClr val="dk1"/>
              </a:solidFill>
              <a:latin typeface="Calibri"/>
              <a:ea typeface="Calibri"/>
              <a:cs typeface="Calibri"/>
              <a:sym typeface="Calibri"/>
            </a:endParaRPr>
          </a:p>
        </p:txBody>
      </p:sp>
      <p:sp>
        <p:nvSpPr>
          <p:cNvPr id="566" name="Google Shape;566;p35"/>
          <p:cNvSpPr/>
          <p:nvPr/>
        </p:nvSpPr>
        <p:spPr>
          <a:xfrm>
            <a:off x="7063928"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7" name="Google Shape;567;p35"/>
          <p:cNvSpPr/>
          <p:nvPr/>
        </p:nvSpPr>
        <p:spPr>
          <a:xfrm>
            <a:off x="7063928"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on</a:t>
            </a:r>
            <a:endParaRPr b="0" i="0" sz="800" u="none" cap="none" strike="noStrike">
              <a:solidFill>
                <a:schemeClr val="dk1"/>
              </a:solidFill>
              <a:latin typeface="Calibri"/>
              <a:ea typeface="Calibri"/>
              <a:cs typeface="Calibri"/>
              <a:sym typeface="Calibri"/>
            </a:endParaRPr>
          </a:p>
        </p:txBody>
      </p:sp>
      <p:sp>
        <p:nvSpPr>
          <p:cNvPr id="568" name="Google Shape;568;p35"/>
          <p:cNvSpPr/>
          <p:nvPr/>
        </p:nvSpPr>
        <p:spPr>
          <a:xfrm>
            <a:off x="7669734"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9" name="Google Shape;569;p35"/>
          <p:cNvSpPr/>
          <p:nvPr/>
        </p:nvSpPr>
        <p:spPr>
          <a:xfrm>
            <a:off x="7669734"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the</a:t>
            </a:r>
            <a:endParaRPr b="0" i="0" sz="800" u="none" cap="none" strike="noStrike">
              <a:solidFill>
                <a:schemeClr val="dk1"/>
              </a:solidFill>
              <a:latin typeface="Calibri"/>
              <a:ea typeface="Calibri"/>
              <a:cs typeface="Calibri"/>
              <a:sym typeface="Calibri"/>
            </a:endParaRPr>
          </a:p>
        </p:txBody>
      </p:sp>
      <p:sp>
        <p:nvSpPr>
          <p:cNvPr id="570" name="Google Shape;570;p35"/>
          <p:cNvSpPr/>
          <p:nvPr/>
        </p:nvSpPr>
        <p:spPr>
          <a:xfrm>
            <a:off x="8275541"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1" name="Google Shape;571;p35"/>
          <p:cNvSpPr/>
          <p:nvPr/>
        </p:nvSpPr>
        <p:spPr>
          <a:xfrm>
            <a:off x="8275541"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mat</a:t>
            </a:r>
            <a:endParaRPr b="0" i="0" sz="800" u="none" cap="none" strike="noStrike">
              <a:solidFill>
                <a:schemeClr val="dk1"/>
              </a:solidFill>
              <a:latin typeface="Calibri"/>
              <a:ea typeface="Calibri"/>
              <a:cs typeface="Calibri"/>
              <a:sym typeface="Calibri"/>
            </a:endParaRPr>
          </a:p>
        </p:txBody>
      </p:sp>
      <p:sp>
        <p:nvSpPr>
          <p:cNvPr id="572" name="Google Shape;572;p35"/>
          <p:cNvSpPr/>
          <p:nvPr/>
        </p:nvSpPr>
        <p:spPr>
          <a:xfrm>
            <a:off x="5246510" y="163677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3" name="Google Shape;573;p35"/>
          <p:cNvSpPr/>
          <p:nvPr/>
        </p:nvSpPr>
        <p:spPr>
          <a:xfrm>
            <a:off x="5246510"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chat</a:t>
            </a:r>
            <a:endParaRPr b="0" i="0" sz="800" u="none" cap="none" strike="noStrike">
              <a:solidFill>
                <a:schemeClr val="dk1"/>
              </a:solidFill>
              <a:latin typeface="Calibri"/>
              <a:ea typeface="Calibri"/>
              <a:cs typeface="Calibri"/>
              <a:sym typeface="Calibri"/>
            </a:endParaRPr>
          </a:p>
        </p:txBody>
      </p:sp>
      <p:sp>
        <p:nvSpPr>
          <p:cNvPr id="574" name="Google Shape;574;p35"/>
          <p:cNvSpPr/>
          <p:nvPr/>
        </p:nvSpPr>
        <p:spPr>
          <a:xfrm>
            <a:off x="5852316" y="163677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5" name="Google Shape;575;p35"/>
          <p:cNvSpPr/>
          <p:nvPr/>
        </p:nvSpPr>
        <p:spPr>
          <a:xfrm>
            <a:off x="5852316"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0.60</a:t>
            </a:r>
            <a:endParaRPr b="0" i="0" sz="800" u="none" cap="none" strike="noStrike">
              <a:solidFill>
                <a:schemeClr val="dk1"/>
              </a:solidFill>
              <a:latin typeface="Calibri"/>
              <a:ea typeface="Calibri"/>
              <a:cs typeface="Calibri"/>
              <a:sym typeface="Calibri"/>
            </a:endParaRPr>
          </a:p>
        </p:txBody>
      </p:sp>
      <p:sp>
        <p:nvSpPr>
          <p:cNvPr id="576" name="Google Shape;576;p35"/>
          <p:cNvSpPr/>
          <p:nvPr/>
        </p:nvSpPr>
        <p:spPr>
          <a:xfrm>
            <a:off x="6458122"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7" name="Google Shape;577;p35"/>
          <p:cNvSpPr/>
          <p:nvPr/>
        </p:nvSpPr>
        <p:spPr>
          <a:xfrm>
            <a:off x="6458122"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578" name="Google Shape;578;p35"/>
          <p:cNvSpPr/>
          <p:nvPr/>
        </p:nvSpPr>
        <p:spPr>
          <a:xfrm>
            <a:off x="7063928"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9" name="Google Shape;579;p35"/>
          <p:cNvSpPr/>
          <p:nvPr/>
        </p:nvSpPr>
        <p:spPr>
          <a:xfrm>
            <a:off x="7063928"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580" name="Google Shape;580;p35"/>
          <p:cNvSpPr/>
          <p:nvPr/>
        </p:nvSpPr>
        <p:spPr>
          <a:xfrm>
            <a:off x="7669734"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1" name="Google Shape;581;p35"/>
          <p:cNvSpPr/>
          <p:nvPr/>
        </p:nvSpPr>
        <p:spPr>
          <a:xfrm>
            <a:off x="7669734"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582" name="Google Shape;582;p35"/>
          <p:cNvSpPr/>
          <p:nvPr/>
        </p:nvSpPr>
        <p:spPr>
          <a:xfrm>
            <a:off x="8275541"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3" name="Google Shape;583;p35"/>
          <p:cNvSpPr/>
          <p:nvPr/>
        </p:nvSpPr>
        <p:spPr>
          <a:xfrm>
            <a:off x="8275541"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584" name="Google Shape;584;p35"/>
          <p:cNvSpPr/>
          <p:nvPr/>
        </p:nvSpPr>
        <p:spPr>
          <a:xfrm>
            <a:off x="5246510" y="202539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5" name="Google Shape;585;p35"/>
          <p:cNvSpPr/>
          <p:nvPr/>
        </p:nvSpPr>
        <p:spPr>
          <a:xfrm>
            <a:off x="5246510"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assis</a:t>
            </a:r>
            <a:endParaRPr b="0" i="0" sz="800" u="none" cap="none" strike="noStrike">
              <a:solidFill>
                <a:schemeClr val="dk1"/>
              </a:solidFill>
              <a:latin typeface="Calibri"/>
              <a:ea typeface="Calibri"/>
              <a:cs typeface="Calibri"/>
              <a:sym typeface="Calibri"/>
            </a:endParaRPr>
          </a:p>
        </p:txBody>
      </p:sp>
      <p:sp>
        <p:nvSpPr>
          <p:cNvPr id="586" name="Google Shape;586;p35"/>
          <p:cNvSpPr/>
          <p:nvPr/>
        </p:nvSpPr>
        <p:spPr>
          <a:xfrm>
            <a:off x="5852316"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7" name="Google Shape;587;p35"/>
          <p:cNvSpPr/>
          <p:nvPr/>
        </p:nvSpPr>
        <p:spPr>
          <a:xfrm>
            <a:off x="5852316"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588" name="Google Shape;588;p35"/>
          <p:cNvSpPr/>
          <p:nvPr/>
        </p:nvSpPr>
        <p:spPr>
          <a:xfrm>
            <a:off x="6458122" y="202539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9" name="Google Shape;589;p35"/>
          <p:cNvSpPr/>
          <p:nvPr/>
        </p:nvSpPr>
        <p:spPr>
          <a:xfrm>
            <a:off x="6458122"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0.70</a:t>
            </a:r>
            <a:endParaRPr b="0" i="0" sz="800" u="none" cap="none" strike="noStrike">
              <a:solidFill>
                <a:schemeClr val="dk1"/>
              </a:solidFill>
              <a:latin typeface="Calibri"/>
              <a:ea typeface="Calibri"/>
              <a:cs typeface="Calibri"/>
              <a:sym typeface="Calibri"/>
            </a:endParaRPr>
          </a:p>
        </p:txBody>
      </p:sp>
      <p:sp>
        <p:nvSpPr>
          <p:cNvPr id="590" name="Google Shape;590;p35"/>
          <p:cNvSpPr/>
          <p:nvPr/>
        </p:nvSpPr>
        <p:spPr>
          <a:xfrm>
            <a:off x="7063928"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1" name="Google Shape;591;p35"/>
          <p:cNvSpPr/>
          <p:nvPr/>
        </p:nvSpPr>
        <p:spPr>
          <a:xfrm>
            <a:off x="7063928"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592" name="Google Shape;592;p35"/>
          <p:cNvSpPr/>
          <p:nvPr/>
        </p:nvSpPr>
        <p:spPr>
          <a:xfrm>
            <a:off x="7669734"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3" name="Google Shape;593;p35"/>
          <p:cNvSpPr/>
          <p:nvPr/>
        </p:nvSpPr>
        <p:spPr>
          <a:xfrm>
            <a:off x="7669734"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594" name="Google Shape;594;p35"/>
          <p:cNvSpPr/>
          <p:nvPr/>
        </p:nvSpPr>
        <p:spPr>
          <a:xfrm>
            <a:off x="8275541"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5" name="Google Shape;595;p35"/>
          <p:cNvSpPr/>
          <p:nvPr/>
        </p:nvSpPr>
        <p:spPr>
          <a:xfrm>
            <a:off x="8275541"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596" name="Google Shape;596;p35"/>
          <p:cNvSpPr/>
          <p:nvPr/>
        </p:nvSpPr>
        <p:spPr>
          <a:xfrm>
            <a:off x="5246510" y="241401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7" name="Google Shape;597;p35"/>
          <p:cNvSpPr/>
          <p:nvPr/>
        </p:nvSpPr>
        <p:spPr>
          <a:xfrm>
            <a:off x="5246510"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sur</a:t>
            </a:r>
            <a:endParaRPr b="0" i="0" sz="800" u="none" cap="none" strike="noStrike">
              <a:solidFill>
                <a:schemeClr val="dk1"/>
              </a:solidFill>
              <a:latin typeface="Calibri"/>
              <a:ea typeface="Calibri"/>
              <a:cs typeface="Calibri"/>
              <a:sym typeface="Calibri"/>
            </a:endParaRPr>
          </a:p>
        </p:txBody>
      </p:sp>
      <p:sp>
        <p:nvSpPr>
          <p:cNvPr id="598" name="Google Shape;598;p35"/>
          <p:cNvSpPr/>
          <p:nvPr/>
        </p:nvSpPr>
        <p:spPr>
          <a:xfrm>
            <a:off x="5852316"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9" name="Google Shape;599;p35"/>
          <p:cNvSpPr/>
          <p:nvPr/>
        </p:nvSpPr>
        <p:spPr>
          <a:xfrm>
            <a:off x="5852316"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00" name="Google Shape;600;p35"/>
          <p:cNvSpPr/>
          <p:nvPr/>
        </p:nvSpPr>
        <p:spPr>
          <a:xfrm>
            <a:off x="6458122"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1" name="Google Shape;601;p35"/>
          <p:cNvSpPr/>
          <p:nvPr/>
        </p:nvSpPr>
        <p:spPr>
          <a:xfrm>
            <a:off x="6458122"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02" name="Google Shape;602;p35"/>
          <p:cNvSpPr/>
          <p:nvPr/>
        </p:nvSpPr>
        <p:spPr>
          <a:xfrm>
            <a:off x="7063928" y="241401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3" name="Google Shape;603;p35"/>
          <p:cNvSpPr/>
          <p:nvPr/>
        </p:nvSpPr>
        <p:spPr>
          <a:xfrm>
            <a:off x="7063928"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0.60</a:t>
            </a:r>
            <a:endParaRPr b="0" i="0" sz="800" u="none" cap="none" strike="noStrike">
              <a:solidFill>
                <a:schemeClr val="dk1"/>
              </a:solidFill>
              <a:latin typeface="Calibri"/>
              <a:ea typeface="Calibri"/>
              <a:cs typeface="Calibri"/>
              <a:sym typeface="Calibri"/>
            </a:endParaRPr>
          </a:p>
        </p:txBody>
      </p:sp>
      <p:sp>
        <p:nvSpPr>
          <p:cNvPr id="604" name="Google Shape;604;p35"/>
          <p:cNvSpPr/>
          <p:nvPr/>
        </p:nvSpPr>
        <p:spPr>
          <a:xfrm>
            <a:off x="7669734"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5" name="Google Shape;605;p35"/>
          <p:cNvSpPr/>
          <p:nvPr/>
        </p:nvSpPr>
        <p:spPr>
          <a:xfrm>
            <a:off x="7669734"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06" name="Google Shape;606;p35"/>
          <p:cNvSpPr/>
          <p:nvPr/>
        </p:nvSpPr>
        <p:spPr>
          <a:xfrm>
            <a:off x="8275541"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7" name="Google Shape;607;p35"/>
          <p:cNvSpPr/>
          <p:nvPr/>
        </p:nvSpPr>
        <p:spPr>
          <a:xfrm>
            <a:off x="8275541"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08" name="Google Shape;608;p35"/>
          <p:cNvSpPr/>
          <p:nvPr/>
        </p:nvSpPr>
        <p:spPr>
          <a:xfrm>
            <a:off x="5246510" y="280263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9" name="Google Shape;609;p35"/>
          <p:cNvSpPr/>
          <p:nvPr/>
        </p:nvSpPr>
        <p:spPr>
          <a:xfrm>
            <a:off x="5246510"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le</a:t>
            </a:r>
            <a:endParaRPr b="0" i="0" sz="800" u="none" cap="none" strike="noStrike">
              <a:solidFill>
                <a:schemeClr val="dk1"/>
              </a:solidFill>
              <a:latin typeface="Calibri"/>
              <a:ea typeface="Calibri"/>
              <a:cs typeface="Calibri"/>
              <a:sym typeface="Calibri"/>
            </a:endParaRPr>
          </a:p>
        </p:txBody>
      </p:sp>
      <p:sp>
        <p:nvSpPr>
          <p:cNvPr id="610" name="Google Shape;610;p35"/>
          <p:cNvSpPr/>
          <p:nvPr/>
        </p:nvSpPr>
        <p:spPr>
          <a:xfrm>
            <a:off x="5852316" y="280263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1" name="Google Shape;611;p35"/>
          <p:cNvSpPr/>
          <p:nvPr/>
        </p:nvSpPr>
        <p:spPr>
          <a:xfrm>
            <a:off x="5852316"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612" name="Google Shape;612;p35"/>
          <p:cNvSpPr/>
          <p:nvPr/>
        </p:nvSpPr>
        <p:spPr>
          <a:xfrm>
            <a:off x="6458122" y="280263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3" name="Google Shape;613;p35"/>
          <p:cNvSpPr/>
          <p:nvPr/>
        </p:nvSpPr>
        <p:spPr>
          <a:xfrm>
            <a:off x="6458122"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614" name="Google Shape;614;p35"/>
          <p:cNvSpPr/>
          <p:nvPr/>
        </p:nvSpPr>
        <p:spPr>
          <a:xfrm>
            <a:off x="7063928" y="280263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5" name="Google Shape;615;p35"/>
          <p:cNvSpPr/>
          <p:nvPr/>
        </p:nvSpPr>
        <p:spPr>
          <a:xfrm>
            <a:off x="7063928"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16" name="Google Shape;616;p35"/>
          <p:cNvSpPr/>
          <p:nvPr/>
        </p:nvSpPr>
        <p:spPr>
          <a:xfrm>
            <a:off x="7669734" y="280263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7" name="Google Shape;617;p35"/>
          <p:cNvSpPr/>
          <p:nvPr/>
        </p:nvSpPr>
        <p:spPr>
          <a:xfrm>
            <a:off x="7669734"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0.65</a:t>
            </a:r>
            <a:endParaRPr b="0" i="0" sz="800" u="none" cap="none" strike="noStrike">
              <a:solidFill>
                <a:schemeClr val="dk1"/>
              </a:solidFill>
              <a:latin typeface="Calibri"/>
              <a:ea typeface="Calibri"/>
              <a:cs typeface="Calibri"/>
              <a:sym typeface="Calibri"/>
            </a:endParaRPr>
          </a:p>
        </p:txBody>
      </p:sp>
      <p:sp>
        <p:nvSpPr>
          <p:cNvPr id="618" name="Google Shape;618;p35"/>
          <p:cNvSpPr/>
          <p:nvPr/>
        </p:nvSpPr>
        <p:spPr>
          <a:xfrm>
            <a:off x="8275541" y="2802636"/>
            <a:ext cx="605700" cy="388500"/>
          </a:xfrm>
          <a:prstGeom prst="rect">
            <a:avLst/>
          </a:prstGeom>
          <a:solidFill>
            <a:srgbClr val="E4DEF5"/>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9" name="Google Shape;619;p35"/>
          <p:cNvSpPr/>
          <p:nvPr/>
        </p:nvSpPr>
        <p:spPr>
          <a:xfrm>
            <a:off x="8275541"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0.15</a:t>
            </a:r>
            <a:endParaRPr b="0" i="0" sz="800" u="none" cap="none" strike="noStrike">
              <a:solidFill>
                <a:schemeClr val="dk1"/>
              </a:solidFill>
              <a:latin typeface="Calibri"/>
              <a:ea typeface="Calibri"/>
              <a:cs typeface="Calibri"/>
              <a:sym typeface="Calibri"/>
            </a:endParaRPr>
          </a:p>
        </p:txBody>
      </p:sp>
      <p:sp>
        <p:nvSpPr>
          <p:cNvPr id="620" name="Google Shape;620;p35"/>
          <p:cNvSpPr/>
          <p:nvPr/>
        </p:nvSpPr>
        <p:spPr>
          <a:xfrm>
            <a:off x="5246510" y="31912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1" name="Google Shape;621;p35"/>
          <p:cNvSpPr/>
          <p:nvPr/>
        </p:nvSpPr>
        <p:spPr>
          <a:xfrm>
            <a:off x="5246510"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tapis</a:t>
            </a:r>
            <a:endParaRPr b="0" i="0" sz="800" u="none" cap="none" strike="noStrike">
              <a:solidFill>
                <a:schemeClr val="dk1"/>
              </a:solidFill>
              <a:latin typeface="Calibri"/>
              <a:ea typeface="Calibri"/>
              <a:cs typeface="Calibri"/>
              <a:sym typeface="Calibri"/>
            </a:endParaRPr>
          </a:p>
        </p:txBody>
      </p:sp>
      <p:sp>
        <p:nvSpPr>
          <p:cNvPr id="622" name="Google Shape;622;p35"/>
          <p:cNvSpPr/>
          <p:nvPr/>
        </p:nvSpPr>
        <p:spPr>
          <a:xfrm>
            <a:off x="5852316" y="319125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3" name="Google Shape;623;p35"/>
          <p:cNvSpPr/>
          <p:nvPr/>
        </p:nvSpPr>
        <p:spPr>
          <a:xfrm>
            <a:off x="5852316"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624" name="Google Shape;624;p35"/>
          <p:cNvSpPr/>
          <p:nvPr/>
        </p:nvSpPr>
        <p:spPr>
          <a:xfrm>
            <a:off x="6458122" y="3191256"/>
            <a:ext cx="605700" cy="388500"/>
          </a:xfrm>
          <a:prstGeom prst="rect">
            <a:avLst/>
          </a:prstGeom>
          <a:solidFill>
            <a:srgbClr val="E4DEF5"/>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5" name="Google Shape;625;p35"/>
          <p:cNvSpPr/>
          <p:nvPr/>
        </p:nvSpPr>
        <p:spPr>
          <a:xfrm>
            <a:off x="6458122"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0.20</a:t>
            </a:r>
            <a:endParaRPr b="0" i="0" sz="800" u="none" cap="none" strike="noStrike">
              <a:solidFill>
                <a:schemeClr val="dk1"/>
              </a:solidFill>
              <a:latin typeface="Calibri"/>
              <a:ea typeface="Calibri"/>
              <a:cs typeface="Calibri"/>
              <a:sym typeface="Calibri"/>
            </a:endParaRPr>
          </a:p>
        </p:txBody>
      </p:sp>
      <p:sp>
        <p:nvSpPr>
          <p:cNvPr id="626" name="Google Shape;626;p35"/>
          <p:cNvSpPr/>
          <p:nvPr/>
        </p:nvSpPr>
        <p:spPr>
          <a:xfrm>
            <a:off x="7063928" y="319125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7" name="Google Shape;627;p35"/>
          <p:cNvSpPr/>
          <p:nvPr/>
        </p:nvSpPr>
        <p:spPr>
          <a:xfrm>
            <a:off x="7063928"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628" name="Google Shape;628;p35"/>
          <p:cNvSpPr/>
          <p:nvPr/>
        </p:nvSpPr>
        <p:spPr>
          <a:xfrm>
            <a:off x="7669734" y="319125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9" name="Google Shape;629;p35"/>
          <p:cNvSpPr/>
          <p:nvPr/>
        </p:nvSpPr>
        <p:spPr>
          <a:xfrm>
            <a:off x="7669734"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630" name="Google Shape;630;p35"/>
          <p:cNvSpPr/>
          <p:nvPr/>
        </p:nvSpPr>
        <p:spPr>
          <a:xfrm>
            <a:off x="8275541" y="319125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1" name="Google Shape;631;p35"/>
          <p:cNvSpPr/>
          <p:nvPr/>
        </p:nvSpPr>
        <p:spPr>
          <a:xfrm>
            <a:off x="8275541"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0.65</a:t>
            </a:r>
            <a:endParaRPr b="0" i="0" sz="800" u="none" cap="none" strike="noStrike">
              <a:solidFill>
                <a:schemeClr val="dk1"/>
              </a:solidFill>
              <a:latin typeface="Calibri"/>
              <a:ea typeface="Calibri"/>
              <a:cs typeface="Calibri"/>
              <a:sym typeface="Calibri"/>
            </a:endParaRPr>
          </a:p>
        </p:txBody>
      </p:sp>
      <p:sp>
        <p:nvSpPr>
          <p:cNvPr id="632" name="Google Shape;632;p35"/>
          <p:cNvSpPr/>
          <p:nvPr/>
        </p:nvSpPr>
        <p:spPr>
          <a:xfrm>
            <a:off x="5246510" y="3717036"/>
            <a:ext cx="363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Calibri"/>
              <a:buNone/>
            </a:pPr>
            <a:r>
              <a:rPr b="0" i="1" lang="en" sz="900" u="none" cap="none" strike="noStrike">
                <a:solidFill>
                  <a:srgbClr val="333333"/>
                </a:solidFill>
                <a:latin typeface="Calibri"/>
                <a:ea typeface="Calibri"/>
                <a:cs typeface="Calibri"/>
                <a:sym typeface="Calibri"/>
              </a:rPr>
              <a:t>"chat" row → high attention on "cat" (source noun)</a:t>
            </a:r>
            <a:endParaRPr b="0" i="0" sz="900" u="none" cap="none" strike="noStrike">
              <a:solidFill>
                <a:schemeClr val="dk1"/>
              </a:solidFill>
              <a:latin typeface="Calibri"/>
              <a:ea typeface="Calibri"/>
              <a:cs typeface="Calibri"/>
              <a:sym typeface="Calibri"/>
            </a:endParaRPr>
          </a:p>
        </p:txBody>
      </p:sp>
      <p:pic>
        <p:nvPicPr>
          <p:cNvPr id="633" name="Google Shape;633;p35" title="Screenshot 2026-08-22 at 9.56.30 PM.png"/>
          <p:cNvPicPr preferRelativeResize="0"/>
          <p:nvPr/>
        </p:nvPicPr>
        <p:blipFill>
          <a:blip r:embed="rId3">
            <a:alphaModFix/>
          </a:blip>
          <a:stretch>
            <a:fillRect/>
          </a:stretch>
        </p:blipFill>
        <p:spPr>
          <a:xfrm>
            <a:off x="4451825" y="607400"/>
            <a:ext cx="5829899" cy="4216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8" name="Shape 638"/>
        <p:cNvGrpSpPr/>
        <p:nvPr/>
      </p:nvGrpSpPr>
      <p:grpSpPr>
        <a:xfrm>
          <a:off x="0" y="0"/>
          <a:ext cx="0" cy="0"/>
          <a:chOff x="0" y="0"/>
          <a:chExt cx="0" cy="0"/>
        </a:xfrm>
      </p:grpSpPr>
      <p:sp>
        <p:nvSpPr>
          <p:cNvPr id="639" name="Google Shape;639;p36"/>
          <p:cNvSpPr/>
          <p:nvPr/>
        </p:nvSpPr>
        <p:spPr>
          <a:xfrm>
            <a:off x="274327" y="150876"/>
            <a:ext cx="7201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300"/>
              <a:buFont typeface="Calibri"/>
              <a:buNone/>
            </a:pPr>
            <a:r>
              <a:rPr b="1" i="0" lang="en" sz="2300" u="none" cap="none" strike="noStrike">
                <a:solidFill>
                  <a:srgbClr val="1A1A1A"/>
                </a:solidFill>
                <a:latin typeface="Calibri"/>
                <a:ea typeface="Calibri"/>
                <a:cs typeface="Calibri"/>
                <a:sym typeface="Calibri"/>
              </a:rPr>
              <a:t>Cross-Attention as Matrix Operations</a:t>
            </a:r>
            <a:endParaRPr b="0" i="0" sz="2300" u="none" cap="none" strike="noStrike">
              <a:solidFill>
                <a:schemeClr val="dk1"/>
              </a:solidFill>
              <a:latin typeface="Calibri"/>
              <a:ea typeface="Calibri"/>
              <a:cs typeface="Calibri"/>
              <a:sym typeface="Calibri"/>
            </a:endParaRPr>
          </a:p>
        </p:txBody>
      </p:sp>
      <p:sp>
        <p:nvSpPr>
          <p:cNvPr id="640" name="Google Shape;640;p36"/>
          <p:cNvSpPr/>
          <p:nvPr/>
        </p:nvSpPr>
        <p:spPr>
          <a:xfrm>
            <a:off x="274327" y="582930"/>
            <a:ext cx="4800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Calibri"/>
              <a:buNone/>
            </a:pPr>
            <a:r>
              <a:rPr b="0" i="0" lang="en" sz="1000" u="none" cap="none" strike="noStrike">
                <a:solidFill>
                  <a:srgbClr val="333333"/>
                </a:solidFill>
                <a:latin typeface="Calibri"/>
                <a:ea typeface="Calibri"/>
                <a:cs typeface="Calibri"/>
                <a:sym typeface="Calibri"/>
              </a:rPr>
              <a:t>Decoder queries attend over all encoder positions in parallel.</a:t>
            </a:r>
            <a:endParaRPr b="0" i="0" sz="1000" u="none" cap="none" strike="noStrike">
              <a:solidFill>
                <a:schemeClr val="dk1"/>
              </a:solidFill>
              <a:latin typeface="Calibri"/>
              <a:ea typeface="Calibri"/>
              <a:cs typeface="Calibri"/>
              <a:sym typeface="Calibri"/>
            </a:endParaRPr>
          </a:p>
        </p:txBody>
      </p:sp>
      <p:sp>
        <p:nvSpPr>
          <p:cNvPr id="641" name="Google Shape;641;p36"/>
          <p:cNvSpPr/>
          <p:nvPr/>
        </p:nvSpPr>
        <p:spPr>
          <a:xfrm>
            <a:off x="274327" y="973836"/>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2" name="Google Shape;642;p36"/>
          <p:cNvSpPr/>
          <p:nvPr/>
        </p:nvSpPr>
        <p:spPr>
          <a:xfrm>
            <a:off x="370342" y="1097280"/>
            <a:ext cx="315600" cy="315600"/>
          </a:xfrm>
          <a:prstGeom prst="ellipse">
            <a:avLst/>
          </a:prstGeom>
          <a:solidFill>
            <a:srgbClr val="D9D9D9"/>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3" name="Google Shape;643;p36"/>
          <p:cNvSpPr/>
          <p:nvPr/>
        </p:nvSpPr>
        <p:spPr>
          <a:xfrm>
            <a:off x="370342" y="109728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644" name="Google Shape;644;p36"/>
          <p:cNvSpPr/>
          <p:nvPr/>
        </p:nvSpPr>
        <p:spPr>
          <a:xfrm>
            <a:off x="768116" y="1014984"/>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Two Input Matrices</a:t>
            </a:r>
            <a:endParaRPr b="0" i="0" sz="1000" u="none" cap="none" strike="noStrike">
              <a:solidFill>
                <a:schemeClr val="dk1"/>
              </a:solidFill>
              <a:latin typeface="Calibri"/>
              <a:ea typeface="Calibri"/>
              <a:cs typeface="Calibri"/>
              <a:sym typeface="Calibri"/>
            </a:endParaRPr>
          </a:p>
        </p:txBody>
      </p:sp>
      <p:sp>
        <p:nvSpPr>
          <p:cNvPr id="645" name="Google Shape;645;p36"/>
          <p:cNvSpPr/>
          <p:nvPr/>
        </p:nvSpPr>
        <p:spPr>
          <a:xfrm>
            <a:off x="2537528" y="1014984"/>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mbria"/>
              <a:buNone/>
            </a:pPr>
            <a:r>
              <a:rPr b="0" i="0" lang="en" sz="900" u="none" cap="none" strike="noStrike">
                <a:solidFill>
                  <a:srgbClr val="C0392B"/>
                </a:solidFill>
                <a:latin typeface="Cambria"/>
                <a:ea typeface="Cambria"/>
                <a:cs typeface="Cambria"/>
                <a:sym typeface="Cambria"/>
              </a:rPr>
              <a:t>X</a:t>
            </a:r>
            <a:r>
              <a:rPr b="0" baseline="-25000" i="0" lang="en" sz="800" u="none" cap="none" strike="noStrike">
                <a:solidFill>
                  <a:srgbClr val="C0392B"/>
                </a:solidFill>
                <a:latin typeface="Cambria"/>
                <a:ea typeface="Cambria"/>
                <a:cs typeface="Cambria"/>
                <a:sym typeface="Cambria"/>
              </a:rPr>
              <a:t>enc</a:t>
            </a:r>
            <a:r>
              <a:rPr b="0" i="0" lang="en" sz="900" u="none" cap="none" strike="noStrike">
                <a:solidFill>
                  <a:srgbClr val="1A1A1A"/>
                </a:solidFill>
                <a:latin typeface="Cambria"/>
                <a:ea typeface="Cambria"/>
                <a:cs typeface="Cambria"/>
                <a:sym typeface="Cambria"/>
              </a:rPr>
              <a:t> ∈ ℝ</a:t>
            </a:r>
            <a:r>
              <a:rPr b="0" baseline="30000" i="0" lang="en" sz="700" u="none" cap="none" strike="noStrike">
                <a:solidFill>
                  <a:srgbClr val="1A1A1A"/>
                </a:solidFill>
                <a:latin typeface="Cambria"/>
                <a:ea typeface="Cambria"/>
                <a:cs typeface="Cambria"/>
                <a:sym typeface="Cambria"/>
              </a:rPr>
              <a:t>s×d</a:t>
            </a:r>
            <a:r>
              <a:rPr b="0" i="0" lang="en" sz="900" u="none" cap="none" strike="noStrike">
                <a:solidFill>
                  <a:srgbClr val="1A1A1A"/>
                </a:solidFill>
                <a:latin typeface="Cambria"/>
                <a:ea typeface="Cambria"/>
                <a:cs typeface="Cambria"/>
                <a:sym typeface="Cambria"/>
              </a:rPr>
              <a:t>,  X</a:t>
            </a:r>
            <a:r>
              <a:rPr b="0" baseline="-25000" i="0" lang="en" sz="800" u="none" cap="none" strike="noStrike">
                <a:solidFill>
                  <a:srgbClr val="1A1A1A"/>
                </a:solidFill>
                <a:latin typeface="Cambria"/>
                <a:ea typeface="Cambria"/>
                <a:cs typeface="Cambria"/>
                <a:sym typeface="Cambria"/>
              </a:rPr>
              <a:t>dec</a:t>
            </a:r>
            <a:r>
              <a:rPr b="0" i="0" lang="en" sz="900" u="none" cap="none" strike="noStrike">
                <a:solidFill>
                  <a:srgbClr val="1A1A1A"/>
                </a:solidFill>
                <a:latin typeface="Cambria"/>
                <a:ea typeface="Cambria"/>
                <a:cs typeface="Cambria"/>
                <a:sym typeface="Cambria"/>
              </a:rPr>
              <a:t> ∈ ℝ</a:t>
            </a:r>
            <a:r>
              <a:rPr b="0" baseline="30000" i="0" lang="en" sz="700" u="none" cap="none" strike="noStrike">
                <a:solidFill>
                  <a:srgbClr val="1A1A1A"/>
                </a:solidFill>
                <a:latin typeface="Cambria"/>
                <a:ea typeface="Cambria"/>
                <a:cs typeface="Cambria"/>
                <a:sym typeface="Cambria"/>
              </a:rPr>
              <a:t>t×d</a:t>
            </a:r>
            <a:endParaRPr b="0" i="0" sz="900" u="none" cap="none" strike="noStrike">
              <a:solidFill>
                <a:schemeClr val="dk1"/>
              </a:solidFill>
              <a:latin typeface="Calibri"/>
              <a:ea typeface="Calibri"/>
              <a:cs typeface="Calibri"/>
              <a:sym typeface="Calibri"/>
            </a:endParaRPr>
          </a:p>
        </p:txBody>
      </p:sp>
      <p:sp>
        <p:nvSpPr>
          <p:cNvPr id="646" name="Google Shape;646;p36"/>
          <p:cNvSpPr/>
          <p:nvPr/>
        </p:nvSpPr>
        <p:spPr>
          <a:xfrm>
            <a:off x="768116" y="1275588"/>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s = src length, t = tgt length, d = embedding dim</a:t>
            </a:r>
            <a:endParaRPr b="0" i="0" sz="700" u="none" cap="none" strike="noStrike">
              <a:solidFill>
                <a:schemeClr val="dk1"/>
              </a:solidFill>
              <a:latin typeface="Calibri"/>
              <a:ea typeface="Calibri"/>
              <a:cs typeface="Calibri"/>
              <a:sym typeface="Calibri"/>
            </a:endParaRPr>
          </a:p>
        </p:txBody>
      </p:sp>
      <p:sp>
        <p:nvSpPr>
          <p:cNvPr id="647" name="Google Shape;647;p36"/>
          <p:cNvSpPr/>
          <p:nvPr/>
        </p:nvSpPr>
        <p:spPr>
          <a:xfrm>
            <a:off x="274327" y="1639062"/>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8" name="Google Shape;648;p36"/>
          <p:cNvSpPr/>
          <p:nvPr/>
        </p:nvSpPr>
        <p:spPr>
          <a:xfrm>
            <a:off x="370342" y="1762506"/>
            <a:ext cx="315600" cy="315600"/>
          </a:xfrm>
          <a:prstGeom prst="ellipse">
            <a:avLst/>
          </a:prstGeom>
          <a:solidFill>
            <a:srgbClr val="BFD9F2"/>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9" name="Google Shape;649;p36"/>
          <p:cNvSpPr/>
          <p:nvPr/>
        </p:nvSpPr>
        <p:spPr>
          <a:xfrm>
            <a:off x="370342" y="1762506"/>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650" name="Google Shape;650;p36"/>
          <p:cNvSpPr/>
          <p:nvPr/>
        </p:nvSpPr>
        <p:spPr>
          <a:xfrm>
            <a:off x="768116" y="1680210"/>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Project Q (decoder), K, V (encoder)</a:t>
            </a:r>
            <a:endParaRPr b="0" i="0" sz="1000" u="none" cap="none" strike="noStrike">
              <a:solidFill>
                <a:schemeClr val="dk1"/>
              </a:solidFill>
              <a:latin typeface="Calibri"/>
              <a:ea typeface="Calibri"/>
              <a:cs typeface="Calibri"/>
              <a:sym typeface="Calibri"/>
            </a:endParaRPr>
          </a:p>
        </p:txBody>
      </p:sp>
      <p:sp>
        <p:nvSpPr>
          <p:cNvPr id="651" name="Google Shape;651;p36"/>
          <p:cNvSpPr/>
          <p:nvPr/>
        </p:nvSpPr>
        <p:spPr>
          <a:xfrm>
            <a:off x="2537528" y="1680210"/>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Q=X</a:t>
            </a:r>
            <a:r>
              <a:rPr b="0" baseline="-25000" i="0" lang="en" sz="800" u="none" cap="none" strike="noStrike">
                <a:solidFill>
                  <a:srgbClr val="1A1A1A"/>
                </a:solidFill>
                <a:latin typeface="Cambria"/>
                <a:ea typeface="Cambria"/>
                <a:cs typeface="Cambria"/>
                <a:sym typeface="Cambria"/>
              </a:rPr>
              <a:t>dec</a:t>
            </a:r>
            <a:r>
              <a:rPr b="0" i="0" lang="en" sz="900" u="none" cap="none" strike="noStrike">
                <a:solidFill>
                  <a:srgbClr val="1A1A1A"/>
                </a:solidFill>
                <a:latin typeface="Cambria"/>
                <a:ea typeface="Cambria"/>
                <a:cs typeface="Cambria"/>
                <a:sym typeface="Cambria"/>
              </a:rPr>
              <a:t>·W</a:t>
            </a:r>
            <a:r>
              <a:rPr b="0" baseline="-25000" i="0" lang="en" sz="800" u="none" cap="none" strike="noStrike">
                <a:solidFill>
                  <a:srgbClr val="1A1A1A"/>
                </a:solidFill>
                <a:latin typeface="Cambria"/>
                <a:ea typeface="Cambria"/>
                <a:cs typeface="Cambria"/>
                <a:sym typeface="Cambria"/>
              </a:rPr>
              <a:t>Q</a:t>
            </a:r>
            <a:r>
              <a:rPr b="0" i="0" lang="en" sz="900" u="none" cap="none" strike="noStrike">
                <a:solidFill>
                  <a:srgbClr val="1A1A1A"/>
                </a:solidFill>
                <a:latin typeface="Cambria"/>
                <a:ea typeface="Cambria"/>
                <a:cs typeface="Cambria"/>
                <a:sym typeface="Cambria"/>
              </a:rPr>
              <a:t>,  K=</a:t>
            </a:r>
            <a:r>
              <a:rPr b="0" i="0" lang="en" sz="900" u="none" cap="none" strike="noStrike">
                <a:solidFill>
                  <a:srgbClr val="C0392B"/>
                </a:solidFill>
                <a:latin typeface="Cambria"/>
                <a:ea typeface="Cambria"/>
                <a:cs typeface="Cambria"/>
                <a:sym typeface="Cambria"/>
              </a:rPr>
              <a:t>X</a:t>
            </a:r>
            <a:r>
              <a:rPr b="0" baseline="-25000" i="0" lang="en" sz="800" u="none" cap="none" strike="noStrike">
                <a:solidFill>
                  <a:srgbClr val="C0392B"/>
                </a:solidFill>
                <a:latin typeface="Cambria"/>
                <a:ea typeface="Cambria"/>
                <a:cs typeface="Cambria"/>
                <a:sym typeface="Cambria"/>
              </a:rPr>
              <a:t>enc</a:t>
            </a:r>
            <a:r>
              <a:rPr b="0" i="0" lang="en" sz="900" u="none" cap="none" strike="noStrike">
                <a:solidFill>
                  <a:srgbClr val="1A1A1A"/>
                </a:solidFill>
                <a:latin typeface="Cambria"/>
                <a:ea typeface="Cambria"/>
                <a:cs typeface="Cambria"/>
                <a:sym typeface="Cambria"/>
              </a:rPr>
              <a:t>·W</a:t>
            </a:r>
            <a:r>
              <a:rPr b="0" baseline="-25000" i="0" lang="en" sz="800" u="none" cap="none" strike="noStrike">
                <a:solidFill>
                  <a:srgbClr val="1A1A1A"/>
                </a:solidFill>
                <a:latin typeface="Cambria"/>
                <a:ea typeface="Cambria"/>
                <a:cs typeface="Cambria"/>
                <a:sym typeface="Cambria"/>
              </a:rPr>
              <a:t>K</a:t>
            </a:r>
            <a:r>
              <a:rPr b="0" i="0" lang="en" sz="900" u="none" cap="none" strike="noStrike">
                <a:solidFill>
                  <a:srgbClr val="1A1A1A"/>
                </a:solidFill>
                <a:latin typeface="Cambria"/>
                <a:ea typeface="Cambria"/>
                <a:cs typeface="Cambria"/>
                <a:sym typeface="Cambria"/>
              </a:rPr>
              <a:t>,  V=</a:t>
            </a:r>
            <a:r>
              <a:rPr b="0" i="0" lang="en" sz="900" u="none" cap="none" strike="noStrike">
                <a:solidFill>
                  <a:srgbClr val="C0392B"/>
                </a:solidFill>
                <a:latin typeface="Cambria"/>
                <a:ea typeface="Cambria"/>
                <a:cs typeface="Cambria"/>
                <a:sym typeface="Cambria"/>
              </a:rPr>
              <a:t>X</a:t>
            </a:r>
            <a:r>
              <a:rPr b="0" baseline="-25000" i="0" lang="en" sz="800" u="none" cap="none" strike="noStrike">
                <a:solidFill>
                  <a:srgbClr val="C0392B"/>
                </a:solidFill>
                <a:latin typeface="Cambria"/>
                <a:ea typeface="Cambria"/>
                <a:cs typeface="Cambria"/>
                <a:sym typeface="Cambria"/>
              </a:rPr>
              <a:t>enc</a:t>
            </a:r>
            <a:r>
              <a:rPr b="0" i="0" lang="en" sz="900" u="none" cap="none" strike="noStrike">
                <a:solidFill>
                  <a:srgbClr val="1A1A1A"/>
                </a:solidFill>
                <a:latin typeface="Cambria"/>
                <a:ea typeface="Cambria"/>
                <a:cs typeface="Cambria"/>
                <a:sym typeface="Cambria"/>
              </a:rPr>
              <a:t>·W</a:t>
            </a:r>
            <a:r>
              <a:rPr b="0" baseline="-25000" i="0" lang="en" sz="800" u="none" cap="none" strike="noStrike">
                <a:solidFill>
                  <a:srgbClr val="1A1A1A"/>
                </a:solidFill>
                <a:latin typeface="Cambria"/>
                <a:ea typeface="Cambria"/>
                <a:cs typeface="Cambria"/>
                <a:sym typeface="Cambria"/>
              </a:rPr>
              <a:t>V</a:t>
            </a:r>
            <a:endParaRPr b="0" i="0" sz="900" u="none" cap="none" strike="noStrike">
              <a:solidFill>
                <a:schemeClr val="dk1"/>
              </a:solidFill>
              <a:latin typeface="Calibri"/>
              <a:ea typeface="Calibri"/>
              <a:cs typeface="Calibri"/>
              <a:sym typeface="Calibri"/>
            </a:endParaRPr>
          </a:p>
        </p:txBody>
      </p:sp>
      <p:sp>
        <p:nvSpPr>
          <p:cNvPr id="652" name="Google Shape;652;p36"/>
          <p:cNvSpPr/>
          <p:nvPr/>
        </p:nvSpPr>
        <p:spPr>
          <a:xfrm>
            <a:off x="768116" y="1940814"/>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Q from decoder; K, V from encoder</a:t>
            </a:r>
            <a:endParaRPr b="0" i="0" sz="700" u="none" cap="none" strike="noStrike">
              <a:solidFill>
                <a:schemeClr val="dk1"/>
              </a:solidFill>
              <a:latin typeface="Calibri"/>
              <a:ea typeface="Calibri"/>
              <a:cs typeface="Calibri"/>
              <a:sym typeface="Calibri"/>
            </a:endParaRPr>
          </a:p>
        </p:txBody>
      </p:sp>
      <p:sp>
        <p:nvSpPr>
          <p:cNvPr id="653" name="Google Shape;653;p36"/>
          <p:cNvSpPr/>
          <p:nvPr/>
        </p:nvSpPr>
        <p:spPr>
          <a:xfrm>
            <a:off x="274327" y="2304288"/>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4" name="Google Shape;654;p36"/>
          <p:cNvSpPr/>
          <p:nvPr/>
        </p:nvSpPr>
        <p:spPr>
          <a:xfrm>
            <a:off x="370342" y="2427732"/>
            <a:ext cx="315600" cy="315600"/>
          </a:xfrm>
          <a:prstGeom prst="ellipse">
            <a:avLst/>
          </a:prstGeom>
          <a:solidFill>
            <a:srgbClr val="D9CCF2"/>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5" name="Google Shape;655;p36"/>
          <p:cNvSpPr/>
          <p:nvPr/>
        </p:nvSpPr>
        <p:spPr>
          <a:xfrm>
            <a:off x="370342" y="2427732"/>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656" name="Google Shape;656;p36"/>
          <p:cNvSpPr/>
          <p:nvPr/>
        </p:nvSpPr>
        <p:spPr>
          <a:xfrm>
            <a:off x="768116" y="2345436"/>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Cross-Score Matrix</a:t>
            </a:r>
            <a:endParaRPr b="0" i="0" sz="1000" u="none" cap="none" strike="noStrike">
              <a:solidFill>
                <a:schemeClr val="dk1"/>
              </a:solidFill>
              <a:latin typeface="Calibri"/>
              <a:ea typeface="Calibri"/>
              <a:cs typeface="Calibri"/>
              <a:sym typeface="Calibri"/>
            </a:endParaRPr>
          </a:p>
        </p:txBody>
      </p:sp>
      <p:sp>
        <p:nvSpPr>
          <p:cNvPr id="657" name="Google Shape;657;p36"/>
          <p:cNvSpPr/>
          <p:nvPr/>
        </p:nvSpPr>
        <p:spPr>
          <a:xfrm>
            <a:off x="2537528" y="2345436"/>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Scores = QK</a:t>
            </a:r>
            <a:r>
              <a:rPr b="0" baseline="30000" i="0" lang="en" sz="700" u="none" cap="none" strike="noStrike">
                <a:solidFill>
                  <a:srgbClr val="1A1A1A"/>
                </a:solidFill>
                <a:latin typeface="Cambria"/>
                <a:ea typeface="Cambria"/>
                <a:cs typeface="Cambria"/>
                <a:sym typeface="Cambria"/>
              </a:rPr>
              <a:t>T</a:t>
            </a:r>
            <a:r>
              <a:rPr b="0" i="0" lang="en" sz="900" u="none" cap="none" strike="noStrike">
                <a:solidFill>
                  <a:srgbClr val="1A1A1A"/>
                </a:solidFill>
                <a:latin typeface="Cambria"/>
                <a:ea typeface="Cambria"/>
                <a:cs typeface="Cambria"/>
                <a:sym typeface="Cambria"/>
              </a:rPr>
              <a:t>   shape: t×s</a:t>
            </a:r>
            <a:endParaRPr b="0" i="0" sz="900" u="none" cap="none" strike="noStrike">
              <a:solidFill>
                <a:schemeClr val="dk1"/>
              </a:solidFill>
              <a:latin typeface="Calibri"/>
              <a:ea typeface="Calibri"/>
              <a:cs typeface="Calibri"/>
              <a:sym typeface="Calibri"/>
            </a:endParaRPr>
          </a:p>
        </p:txBody>
      </p:sp>
      <p:sp>
        <p:nvSpPr>
          <p:cNvPr id="658" name="Google Shape;658;p36"/>
          <p:cNvSpPr/>
          <p:nvPr/>
        </p:nvSpPr>
        <p:spPr>
          <a:xfrm>
            <a:off x="768116" y="2606040"/>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Entry (i,j): how much decoder token i attends to encoder token j</a:t>
            </a:r>
            <a:endParaRPr b="0" i="0" sz="700" u="none" cap="none" strike="noStrike">
              <a:solidFill>
                <a:schemeClr val="dk1"/>
              </a:solidFill>
              <a:latin typeface="Calibri"/>
              <a:ea typeface="Calibri"/>
              <a:cs typeface="Calibri"/>
              <a:sym typeface="Calibri"/>
            </a:endParaRPr>
          </a:p>
        </p:txBody>
      </p:sp>
      <p:sp>
        <p:nvSpPr>
          <p:cNvPr id="659" name="Google Shape;659;p36"/>
          <p:cNvSpPr/>
          <p:nvPr/>
        </p:nvSpPr>
        <p:spPr>
          <a:xfrm>
            <a:off x="274327" y="2969514"/>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0" name="Google Shape;660;p36"/>
          <p:cNvSpPr/>
          <p:nvPr/>
        </p:nvSpPr>
        <p:spPr>
          <a:xfrm>
            <a:off x="370342" y="3092958"/>
            <a:ext cx="315600" cy="315600"/>
          </a:xfrm>
          <a:prstGeom prst="ellipse">
            <a:avLst/>
          </a:prstGeom>
          <a:solidFill>
            <a:srgbClr val="F5D6B8"/>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1" name="Google Shape;661;p36"/>
          <p:cNvSpPr/>
          <p:nvPr/>
        </p:nvSpPr>
        <p:spPr>
          <a:xfrm>
            <a:off x="370342" y="3092958"/>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662" name="Google Shape;662;p36"/>
          <p:cNvSpPr/>
          <p:nvPr/>
        </p:nvSpPr>
        <p:spPr>
          <a:xfrm>
            <a:off x="768116" y="3010662"/>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Scale + Softmax</a:t>
            </a:r>
            <a:endParaRPr b="0" i="0" sz="1000" u="none" cap="none" strike="noStrike">
              <a:solidFill>
                <a:schemeClr val="dk1"/>
              </a:solidFill>
              <a:latin typeface="Calibri"/>
              <a:ea typeface="Calibri"/>
              <a:cs typeface="Calibri"/>
              <a:sym typeface="Calibri"/>
            </a:endParaRPr>
          </a:p>
        </p:txBody>
      </p:sp>
      <p:sp>
        <p:nvSpPr>
          <p:cNvPr id="663" name="Google Shape;663;p36"/>
          <p:cNvSpPr/>
          <p:nvPr/>
        </p:nvSpPr>
        <p:spPr>
          <a:xfrm>
            <a:off x="2537528" y="3010662"/>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A = softmax( QK</a:t>
            </a:r>
            <a:r>
              <a:rPr b="0" baseline="30000" i="0" lang="en" sz="700" u="none" cap="none" strike="noStrike">
                <a:solidFill>
                  <a:srgbClr val="1A1A1A"/>
                </a:solidFill>
                <a:latin typeface="Cambria"/>
                <a:ea typeface="Cambria"/>
                <a:cs typeface="Cambria"/>
                <a:sym typeface="Cambria"/>
              </a:rPr>
              <a:t>T</a:t>
            </a:r>
            <a:r>
              <a:rPr b="0" i="0" lang="en" sz="900" u="none" cap="none" strike="noStrike">
                <a:solidFill>
                  <a:srgbClr val="1A1A1A"/>
                </a:solidFill>
                <a:latin typeface="Cambria"/>
                <a:ea typeface="Cambria"/>
                <a:cs typeface="Cambria"/>
                <a:sym typeface="Cambria"/>
              </a:rPr>
              <a:t> / √d</a:t>
            </a:r>
            <a:r>
              <a:rPr b="0" baseline="-25000" i="0" lang="en" sz="800" u="none" cap="none" strike="noStrike">
                <a:solidFill>
                  <a:srgbClr val="1A1A1A"/>
                </a:solidFill>
                <a:latin typeface="Cambria"/>
                <a:ea typeface="Cambria"/>
                <a:cs typeface="Cambria"/>
                <a:sym typeface="Cambria"/>
              </a:rPr>
              <a:t>k</a:t>
            </a:r>
            <a:r>
              <a:rPr b="0" i="0" lang="en" sz="900" u="none" cap="none" strike="noStrike">
                <a:solidFill>
                  <a:srgbClr val="1A1A1A"/>
                </a:solidFill>
                <a:latin typeface="Cambria"/>
                <a:ea typeface="Cambria"/>
                <a:cs typeface="Cambria"/>
                <a:sym typeface="Cambria"/>
              </a:rPr>
              <a:t> )</a:t>
            </a:r>
            <a:endParaRPr b="0" i="0" sz="900" u="none" cap="none" strike="noStrike">
              <a:solidFill>
                <a:schemeClr val="dk1"/>
              </a:solidFill>
              <a:latin typeface="Calibri"/>
              <a:ea typeface="Calibri"/>
              <a:cs typeface="Calibri"/>
              <a:sym typeface="Calibri"/>
            </a:endParaRPr>
          </a:p>
        </p:txBody>
      </p:sp>
      <p:sp>
        <p:nvSpPr>
          <p:cNvPr id="664" name="Google Shape;664;p36"/>
          <p:cNvSpPr/>
          <p:nvPr/>
        </p:nvSpPr>
        <p:spPr>
          <a:xfrm>
            <a:off x="768116" y="3271266"/>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Each row: distribution over ALL encoder positions</a:t>
            </a:r>
            <a:endParaRPr b="0" i="0" sz="700" u="none" cap="none" strike="noStrike">
              <a:solidFill>
                <a:schemeClr val="dk1"/>
              </a:solidFill>
              <a:latin typeface="Calibri"/>
              <a:ea typeface="Calibri"/>
              <a:cs typeface="Calibri"/>
              <a:sym typeface="Calibri"/>
            </a:endParaRPr>
          </a:p>
        </p:txBody>
      </p:sp>
      <p:sp>
        <p:nvSpPr>
          <p:cNvPr id="665" name="Google Shape;665;p36"/>
          <p:cNvSpPr/>
          <p:nvPr/>
        </p:nvSpPr>
        <p:spPr>
          <a:xfrm>
            <a:off x="274327" y="3634740"/>
            <a:ext cx="4732200" cy="562200"/>
          </a:xfrm>
          <a:prstGeom prst="rect">
            <a:avLst/>
          </a:prstGeom>
          <a:solidFill>
            <a:srgbClr val="FFFFFF"/>
          </a:solidFill>
          <a:ln cap="flat" cmpd="sng" w="11900">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6" name="Google Shape;666;p36"/>
          <p:cNvSpPr/>
          <p:nvPr/>
        </p:nvSpPr>
        <p:spPr>
          <a:xfrm>
            <a:off x="370342" y="3758184"/>
            <a:ext cx="315600" cy="315600"/>
          </a:xfrm>
          <a:prstGeom prst="ellipse">
            <a:avLst/>
          </a:prstGeom>
          <a:solidFill>
            <a:srgbClr val="C9E4D3"/>
          </a:solidFill>
          <a:ln cap="flat" cmpd="sng" w="9525">
            <a:solidFill>
              <a:srgbClr val="2222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7" name="Google Shape;667;p36"/>
          <p:cNvSpPr/>
          <p:nvPr/>
        </p:nvSpPr>
        <p:spPr>
          <a:xfrm>
            <a:off x="370342" y="3758184"/>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668" name="Google Shape;668;p36"/>
          <p:cNvSpPr/>
          <p:nvPr/>
        </p:nvSpPr>
        <p:spPr>
          <a:xfrm>
            <a:off x="768116" y="3675888"/>
            <a:ext cx="174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Calibri"/>
              <a:buNone/>
            </a:pPr>
            <a:r>
              <a:rPr b="1" i="0" lang="en" sz="1000" u="none" cap="none" strike="noStrike">
                <a:solidFill>
                  <a:srgbClr val="1A1A1A"/>
                </a:solidFill>
                <a:latin typeface="Calibri"/>
                <a:ea typeface="Calibri"/>
                <a:cs typeface="Calibri"/>
                <a:sym typeface="Calibri"/>
              </a:rPr>
              <a:t>Output</a:t>
            </a:r>
            <a:endParaRPr b="0" i="0" sz="1000" u="none" cap="none" strike="noStrike">
              <a:solidFill>
                <a:schemeClr val="dk1"/>
              </a:solidFill>
              <a:latin typeface="Calibri"/>
              <a:ea typeface="Calibri"/>
              <a:cs typeface="Calibri"/>
              <a:sym typeface="Calibri"/>
            </a:endParaRPr>
          </a:p>
        </p:txBody>
      </p:sp>
      <p:sp>
        <p:nvSpPr>
          <p:cNvPr id="669" name="Google Shape;669;p36"/>
          <p:cNvSpPr/>
          <p:nvPr/>
        </p:nvSpPr>
        <p:spPr>
          <a:xfrm>
            <a:off x="2537528" y="3675888"/>
            <a:ext cx="2366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00"/>
              <a:buFont typeface="Cambria"/>
              <a:buNone/>
            </a:pPr>
            <a:r>
              <a:rPr b="0" i="0" lang="en" sz="900" u="none" cap="none" strike="noStrike">
                <a:solidFill>
                  <a:srgbClr val="1A1A1A"/>
                </a:solidFill>
                <a:latin typeface="Cambria"/>
                <a:ea typeface="Cambria"/>
                <a:cs typeface="Cambria"/>
                <a:sym typeface="Cambria"/>
              </a:rPr>
              <a:t>Output = A · V</a:t>
            </a:r>
            <a:r>
              <a:rPr b="0" baseline="-25000" i="0" lang="en" sz="800" u="none" cap="none" strike="noStrike">
                <a:solidFill>
                  <a:srgbClr val="1A1A1A"/>
                </a:solidFill>
                <a:latin typeface="Cambria"/>
                <a:ea typeface="Cambria"/>
                <a:cs typeface="Cambria"/>
                <a:sym typeface="Cambria"/>
              </a:rPr>
              <a:t>enc</a:t>
            </a:r>
            <a:endParaRPr b="0" i="0" sz="900" u="none" cap="none" strike="noStrike">
              <a:solidFill>
                <a:schemeClr val="dk1"/>
              </a:solidFill>
              <a:latin typeface="Calibri"/>
              <a:ea typeface="Calibri"/>
              <a:cs typeface="Calibri"/>
              <a:sym typeface="Calibri"/>
            </a:endParaRPr>
          </a:p>
        </p:txBody>
      </p:sp>
      <p:sp>
        <p:nvSpPr>
          <p:cNvPr id="670" name="Google Shape;670;p36"/>
          <p:cNvSpPr/>
          <p:nvPr/>
        </p:nvSpPr>
        <p:spPr>
          <a:xfrm>
            <a:off x="768116" y="3936492"/>
            <a:ext cx="4135500" cy="21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5B5B"/>
              </a:buClr>
              <a:buSzPts val="700"/>
              <a:buFont typeface="Calibri"/>
              <a:buNone/>
            </a:pPr>
            <a:r>
              <a:rPr b="0" i="0" lang="en" sz="700" u="none" cap="none" strike="noStrike">
                <a:solidFill>
                  <a:srgbClr val="5B5B5B"/>
                </a:solidFill>
                <a:latin typeface="Calibri"/>
                <a:ea typeface="Calibri"/>
                <a:cs typeface="Calibri"/>
                <a:sym typeface="Calibri"/>
              </a:rPr>
              <a:t>Each decoder token: weighted blend of encoder values</a:t>
            </a:r>
            <a:endParaRPr b="0" i="0" sz="700" u="none" cap="none" strike="noStrike">
              <a:solidFill>
                <a:schemeClr val="dk1"/>
              </a:solidFill>
              <a:latin typeface="Calibri"/>
              <a:ea typeface="Calibri"/>
              <a:cs typeface="Calibri"/>
              <a:sym typeface="Calibri"/>
            </a:endParaRPr>
          </a:p>
        </p:txBody>
      </p:sp>
      <p:sp>
        <p:nvSpPr>
          <p:cNvPr id="671" name="Google Shape;671;p36"/>
          <p:cNvSpPr/>
          <p:nvPr/>
        </p:nvSpPr>
        <p:spPr>
          <a:xfrm>
            <a:off x="5246510" y="651510"/>
            <a:ext cx="3634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Cross-Attention Matrix A  (t × s)</a:t>
            </a:r>
            <a:endParaRPr b="0" i="0" sz="1100" u="none" cap="none" strike="noStrike">
              <a:solidFill>
                <a:schemeClr val="dk1"/>
              </a:solidFill>
              <a:latin typeface="Calibri"/>
              <a:ea typeface="Calibri"/>
              <a:cs typeface="Calibri"/>
              <a:sym typeface="Calibri"/>
            </a:endParaRPr>
          </a:p>
        </p:txBody>
      </p:sp>
      <p:sp>
        <p:nvSpPr>
          <p:cNvPr id="672" name="Google Shape;672;p36"/>
          <p:cNvSpPr/>
          <p:nvPr/>
        </p:nvSpPr>
        <p:spPr>
          <a:xfrm>
            <a:off x="5246510" y="864108"/>
            <a:ext cx="3634800" cy="3429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6B4FA0"/>
              </a:buClr>
              <a:buSzPts val="800"/>
              <a:buFont typeface="Calibri"/>
              <a:buNone/>
            </a:pPr>
            <a:r>
              <a:rPr b="1" i="0" lang="en" sz="800" u="none" cap="none" strike="noStrike">
                <a:solidFill>
                  <a:srgbClr val="6B4FA0"/>
                </a:solidFill>
                <a:latin typeface="Calibri"/>
                <a:ea typeface="Calibri"/>
                <a:cs typeface="Calibri"/>
                <a:sym typeface="Calibri"/>
              </a:rPr>
              <a:t>Decoder</a:t>
            </a:r>
            <a:r>
              <a:rPr b="0" i="0" lang="en" sz="800" u="none" cap="none" strike="noStrike">
                <a:solidFill>
                  <a:srgbClr val="333333"/>
                </a:solidFill>
                <a:latin typeface="Calibri"/>
                <a:ea typeface="Calibri"/>
                <a:cs typeface="Calibri"/>
                <a:sym typeface="Calibri"/>
              </a:rPr>
              <a:t> (French, target — rows)   →  attends over  →   </a:t>
            </a:r>
            <a:r>
              <a:rPr b="1" i="0" lang="en" sz="800" u="none" cap="none" strike="noStrike">
                <a:solidFill>
                  <a:srgbClr val="2E6B9E"/>
                </a:solidFill>
                <a:latin typeface="Calibri"/>
                <a:ea typeface="Calibri"/>
                <a:cs typeface="Calibri"/>
                <a:sym typeface="Calibri"/>
              </a:rPr>
              <a:t>Encoder</a:t>
            </a:r>
            <a:r>
              <a:rPr b="0" i="0" lang="en" sz="800" u="none" cap="none" strike="noStrike">
                <a:solidFill>
                  <a:srgbClr val="333333"/>
                </a:solidFill>
                <a:latin typeface="Calibri"/>
                <a:ea typeface="Calibri"/>
                <a:cs typeface="Calibri"/>
                <a:sym typeface="Calibri"/>
              </a:rPr>
              <a:t> (English, source — columns)</a:t>
            </a:r>
            <a:endParaRPr b="0" i="0" sz="800" u="none" cap="none" strike="noStrike">
              <a:solidFill>
                <a:schemeClr val="dk1"/>
              </a:solidFill>
              <a:latin typeface="Calibri"/>
              <a:ea typeface="Calibri"/>
              <a:cs typeface="Calibri"/>
              <a:sym typeface="Calibri"/>
            </a:endParaRPr>
          </a:p>
        </p:txBody>
      </p:sp>
      <p:sp>
        <p:nvSpPr>
          <p:cNvPr id="673" name="Google Shape;673;p36"/>
          <p:cNvSpPr/>
          <p:nvPr/>
        </p:nvSpPr>
        <p:spPr>
          <a:xfrm>
            <a:off x="5246510"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4" name="Google Shape;674;p36"/>
          <p:cNvSpPr/>
          <p:nvPr/>
        </p:nvSpPr>
        <p:spPr>
          <a:xfrm>
            <a:off x="5852316"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5" name="Google Shape;675;p36"/>
          <p:cNvSpPr/>
          <p:nvPr/>
        </p:nvSpPr>
        <p:spPr>
          <a:xfrm>
            <a:off x="5852316"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cat</a:t>
            </a:r>
            <a:endParaRPr b="0" i="0" sz="800" u="none" cap="none" strike="noStrike">
              <a:solidFill>
                <a:schemeClr val="dk1"/>
              </a:solidFill>
              <a:latin typeface="Calibri"/>
              <a:ea typeface="Calibri"/>
              <a:cs typeface="Calibri"/>
              <a:sym typeface="Calibri"/>
            </a:endParaRPr>
          </a:p>
        </p:txBody>
      </p:sp>
      <p:sp>
        <p:nvSpPr>
          <p:cNvPr id="676" name="Google Shape;676;p36"/>
          <p:cNvSpPr/>
          <p:nvPr/>
        </p:nvSpPr>
        <p:spPr>
          <a:xfrm>
            <a:off x="6458122"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7" name="Google Shape;677;p36"/>
          <p:cNvSpPr/>
          <p:nvPr/>
        </p:nvSpPr>
        <p:spPr>
          <a:xfrm>
            <a:off x="6458122"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sat</a:t>
            </a:r>
            <a:endParaRPr b="0" i="0" sz="800" u="none" cap="none" strike="noStrike">
              <a:solidFill>
                <a:schemeClr val="dk1"/>
              </a:solidFill>
              <a:latin typeface="Calibri"/>
              <a:ea typeface="Calibri"/>
              <a:cs typeface="Calibri"/>
              <a:sym typeface="Calibri"/>
            </a:endParaRPr>
          </a:p>
        </p:txBody>
      </p:sp>
      <p:sp>
        <p:nvSpPr>
          <p:cNvPr id="678" name="Google Shape;678;p36"/>
          <p:cNvSpPr/>
          <p:nvPr/>
        </p:nvSpPr>
        <p:spPr>
          <a:xfrm>
            <a:off x="7063928"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9" name="Google Shape;679;p36"/>
          <p:cNvSpPr/>
          <p:nvPr/>
        </p:nvSpPr>
        <p:spPr>
          <a:xfrm>
            <a:off x="7063928"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on</a:t>
            </a:r>
            <a:endParaRPr b="0" i="0" sz="800" u="none" cap="none" strike="noStrike">
              <a:solidFill>
                <a:schemeClr val="dk1"/>
              </a:solidFill>
              <a:latin typeface="Calibri"/>
              <a:ea typeface="Calibri"/>
              <a:cs typeface="Calibri"/>
              <a:sym typeface="Calibri"/>
            </a:endParaRPr>
          </a:p>
        </p:txBody>
      </p:sp>
      <p:sp>
        <p:nvSpPr>
          <p:cNvPr id="680" name="Google Shape;680;p36"/>
          <p:cNvSpPr/>
          <p:nvPr/>
        </p:nvSpPr>
        <p:spPr>
          <a:xfrm>
            <a:off x="7669734"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1" name="Google Shape;681;p36"/>
          <p:cNvSpPr/>
          <p:nvPr/>
        </p:nvSpPr>
        <p:spPr>
          <a:xfrm>
            <a:off x="7669734"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the</a:t>
            </a:r>
            <a:endParaRPr b="0" i="0" sz="800" u="none" cap="none" strike="noStrike">
              <a:solidFill>
                <a:schemeClr val="dk1"/>
              </a:solidFill>
              <a:latin typeface="Calibri"/>
              <a:ea typeface="Calibri"/>
              <a:cs typeface="Calibri"/>
              <a:sym typeface="Calibri"/>
            </a:endParaRPr>
          </a:p>
        </p:txBody>
      </p:sp>
      <p:sp>
        <p:nvSpPr>
          <p:cNvPr id="682" name="Google Shape;682;p36"/>
          <p:cNvSpPr/>
          <p:nvPr/>
        </p:nvSpPr>
        <p:spPr>
          <a:xfrm>
            <a:off x="8275541" y="12481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3" name="Google Shape;683;p36"/>
          <p:cNvSpPr/>
          <p:nvPr/>
        </p:nvSpPr>
        <p:spPr>
          <a:xfrm>
            <a:off x="8275541" y="12481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mat</a:t>
            </a:r>
            <a:endParaRPr b="0" i="0" sz="800" u="none" cap="none" strike="noStrike">
              <a:solidFill>
                <a:schemeClr val="dk1"/>
              </a:solidFill>
              <a:latin typeface="Calibri"/>
              <a:ea typeface="Calibri"/>
              <a:cs typeface="Calibri"/>
              <a:sym typeface="Calibri"/>
            </a:endParaRPr>
          </a:p>
        </p:txBody>
      </p:sp>
      <p:sp>
        <p:nvSpPr>
          <p:cNvPr id="684" name="Google Shape;684;p36"/>
          <p:cNvSpPr/>
          <p:nvPr/>
        </p:nvSpPr>
        <p:spPr>
          <a:xfrm>
            <a:off x="5246510" y="163677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5" name="Google Shape;685;p36"/>
          <p:cNvSpPr/>
          <p:nvPr/>
        </p:nvSpPr>
        <p:spPr>
          <a:xfrm>
            <a:off x="5246510"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chat</a:t>
            </a:r>
            <a:endParaRPr b="0" i="0" sz="800" u="none" cap="none" strike="noStrike">
              <a:solidFill>
                <a:schemeClr val="dk1"/>
              </a:solidFill>
              <a:latin typeface="Calibri"/>
              <a:ea typeface="Calibri"/>
              <a:cs typeface="Calibri"/>
              <a:sym typeface="Calibri"/>
            </a:endParaRPr>
          </a:p>
        </p:txBody>
      </p:sp>
      <p:sp>
        <p:nvSpPr>
          <p:cNvPr id="686" name="Google Shape;686;p36"/>
          <p:cNvSpPr/>
          <p:nvPr/>
        </p:nvSpPr>
        <p:spPr>
          <a:xfrm>
            <a:off x="5852316" y="163677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7" name="Google Shape;687;p36"/>
          <p:cNvSpPr/>
          <p:nvPr/>
        </p:nvSpPr>
        <p:spPr>
          <a:xfrm>
            <a:off x="5852316"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0.60</a:t>
            </a:r>
            <a:endParaRPr b="0" i="0" sz="800" u="none" cap="none" strike="noStrike">
              <a:solidFill>
                <a:schemeClr val="dk1"/>
              </a:solidFill>
              <a:latin typeface="Calibri"/>
              <a:ea typeface="Calibri"/>
              <a:cs typeface="Calibri"/>
              <a:sym typeface="Calibri"/>
            </a:endParaRPr>
          </a:p>
        </p:txBody>
      </p:sp>
      <p:sp>
        <p:nvSpPr>
          <p:cNvPr id="688" name="Google Shape;688;p36"/>
          <p:cNvSpPr/>
          <p:nvPr/>
        </p:nvSpPr>
        <p:spPr>
          <a:xfrm>
            <a:off x="6458122"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9" name="Google Shape;689;p36"/>
          <p:cNvSpPr/>
          <p:nvPr/>
        </p:nvSpPr>
        <p:spPr>
          <a:xfrm>
            <a:off x="6458122"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90" name="Google Shape;690;p36"/>
          <p:cNvSpPr/>
          <p:nvPr/>
        </p:nvSpPr>
        <p:spPr>
          <a:xfrm>
            <a:off x="7063928"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1" name="Google Shape;691;p36"/>
          <p:cNvSpPr/>
          <p:nvPr/>
        </p:nvSpPr>
        <p:spPr>
          <a:xfrm>
            <a:off x="7063928"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92" name="Google Shape;692;p36"/>
          <p:cNvSpPr/>
          <p:nvPr/>
        </p:nvSpPr>
        <p:spPr>
          <a:xfrm>
            <a:off x="7669734"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3" name="Google Shape;693;p36"/>
          <p:cNvSpPr/>
          <p:nvPr/>
        </p:nvSpPr>
        <p:spPr>
          <a:xfrm>
            <a:off x="7669734"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94" name="Google Shape;694;p36"/>
          <p:cNvSpPr/>
          <p:nvPr/>
        </p:nvSpPr>
        <p:spPr>
          <a:xfrm>
            <a:off x="8275541" y="163677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5" name="Google Shape;695;p36"/>
          <p:cNvSpPr/>
          <p:nvPr/>
        </p:nvSpPr>
        <p:spPr>
          <a:xfrm>
            <a:off x="8275541" y="163677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696" name="Google Shape;696;p36"/>
          <p:cNvSpPr/>
          <p:nvPr/>
        </p:nvSpPr>
        <p:spPr>
          <a:xfrm>
            <a:off x="5246510" y="202539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7" name="Google Shape;697;p36"/>
          <p:cNvSpPr/>
          <p:nvPr/>
        </p:nvSpPr>
        <p:spPr>
          <a:xfrm>
            <a:off x="5246510"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assis</a:t>
            </a:r>
            <a:endParaRPr b="0" i="0" sz="800" u="none" cap="none" strike="noStrike">
              <a:solidFill>
                <a:schemeClr val="dk1"/>
              </a:solidFill>
              <a:latin typeface="Calibri"/>
              <a:ea typeface="Calibri"/>
              <a:cs typeface="Calibri"/>
              <a:sym typeface="Calibri"/>
            </a:endParaRPr>
          </a:p>
        </p:txBody>
      </p:sp>
      <p:sp>
        <p:nvSpPr>
          <p:cNvPr id="698" name="Google Shape;698;p36"/>
          <p:cNvSpPr/>
          <p:nvPr/>
        </p:nvSpPr>
        <p:spPr>
          <a:xfrm>
            <a:off x="5852316"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9" name="Google Shape;699;p36"/>
          <p:cNvSpPr/>
          <p:nvPr/>
        </p:nvSpPr>
        <p:spPr>
          <a:xfrm>
            <a:off x="5852316"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00" name="Google Shape;700;p36"/>
          <p:cNvSpPr/>
          <p:nvPr/>
        </p:nvSpPr>
        <p:spPr>
          <a:xfrm>
            <a:off x="6458122" y="202539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1" name="Google Shape;701;p36"/>
          <p:cNvSpPr/>
          <p:nvPr/>
        </p:nvSpPr>
        <p:spPr>
          <a:xfrm>
            <a:off x="6458122"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0.70</a:t>
            </a:r>
            <a:endParaRPr b="0" i="0" sz="800" u="none" cap="none" strike="noStrike">
              <a:solidFill>
                <a:schemeClr val="dk1"/>
              </a:solidFill>
              <a:latin typeface="Calibri"/>
              <a:ea typeface="Calibri"/>
              <a:cs typeface="Calibri"/>
              <a:sym typeface="Calibri"/>
            </a:endParaRPr>
          </a:p>
        </p:txBody>
      </p:sp>
      <p:sp>
        <p:nvSpPr>
          <p:cNvPr id="702" name="Google Shape;702;p36"/>
          <p:cNvSpPr/>
          <p:nvPr/>
        </p:nvSpPr>
        <p:spPr>
          <a:xfrm>
            <a:off x="7063928"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3" name="Google Shape;703;p36"/>
          <p:cNvSpPr/>
          <p:nvPr/>
        </p:nvSpPr>
        <p:spPr>
          <a:xfrm>
            <a:off x="7063928"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04" name="Google Shape;704;p36"/>
          <p:cNvSpPr/>
          <p:nvPr/>
        </p:nvSpPr>
        <p:spPr>
          <a:xfrm>
            <a:off x="7669734"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5" name="Google Shape;705;p36"/>
          <p:cNvSpPr/>
          <p:nvPr/>
        </p:nvSpPr>
        <p:spPr>
          <a:xfrm>
            <a:off x="7669734"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06" name="Google Shape;706;p36"/>
          <p:cNvSpPr/>
          <p:nvPr/>
        </p:nvSpPr>
        <p:spPr>
          <a:xfrm>
            <a:off x="8275541" y="202539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7" name="Google Shape;707;p36"/>
          <p:cNvSpPr/>
          <p:nvPr/>
        </p:nvSpPr>
        <p:spPr>
          <a:xfrm>
            <a:off x="8275541" y="202539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08" name="Google Shape;708;p36"/>
          <p:cNvSpPr/>
          <p:nvPr/>
        </p:nvSpPr>
        <p:spPr>
          <a:xfrm>
            <a:off x="5246510" y="241401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9" name="Google Shape;709;p36"/>
          <p:cNvSpPr/>
          <p:nvPr/>
        </p:nvSpPr>
        <p:spPr>
          <a:xfrm>
            <a:off x="5246510"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sur</a:t>
            </a:r>
            <a:endParaRPr b="0" i="0" sz="800" u="none" cap="none" strike="noStrike">
              <a:solidFill>
                <a:schemeClr val="dk1"/>
              </a:solidFill>
              <a:latin typeface="Calibri"/>
              <a:ea typeface="Calibri"/>
              <a:cs typeface="Calibri"/>
              <a:sym typeface="Calibri"/>
            </a:endParaRPr>
          </a:p>
        </p:txBody>
      </p:sp>
      <p:sp>
        <p:nvSpPr>
          <p:cNvPr id="710" name="Google Shape;710;p36"/>
          <p:cNvSpPr/>
          <p:nvPr/>
        </p:nvSpPr>
        <p:spPr>
          <a:xfrm>
            <a:off x="5852316"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1" name="Google Shape;711;p36"/>
          <p:cNvSpPr/>
          <p:nvPr/>
        </p:nvSpPr>
        <p:spPr>
          <a:xfrm>
            <a:off x="5852316"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12" name="Google Shape;712;p36"/>
          <p:cNvSpPr/>
          <p:nvPr/>
        </p:nvSpPr>
        <p:spPr>
          <a:xfrm>
            <a:off x="6458122"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3" name="Google Shape;713;p36"/>
          <p:cNvSpPr/>
          <p:nvPr/>
        </p:nvSpPr>
        <p:spPr>
          <a:xfrm>
            <a:off x="6458122"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14" name="Google Shape;714;p36"/>
          <p:cNvSpPr/>
          <p:nvPr/>
        </p:nvSpPr>
        <p:spPr>
          <a:xfrm>
            <a:off x="7063928" y="241401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5" name="Google Shape;715;p36"/>
          <p:cNvSpPr/>
          <p:nvPr/>
        </p:nvSpPr>
        <p:spPr>
          <a:xfrm>
            <a:off x="7063928"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0.60</a:t>
            </a:r>
            <a:endParaRPr b="0" i="0" sz="800" u="none" cap="none" strike="noStrike">
              <a:solidFill>
                <a:schemeClr val="dk1"/>
              </a:solidFill>
              <a:latin typeface="Calibri"/>
              <a:ea typeface="Calibri"/>
              <a:cs typeface="Calibri"/>
              <a:sym typeface="Calibri"/>
            </a:endParaRPr>
          </a:p>
        </p:txBody>
      </p:sp>
      <p:sp>
        <p:nvSpPr>
          <p:cNvPr id="716" name="Google Shape;716;p36"/>
          <p:cNvSpPr/>
          <p:nvPr/>
        </p:nvSpPr>
        <p:spPr>
          <a:xfrm>
            <a:off x="7669734"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7" name="Google Shape;717;p36"/>
          <p:cNvSpPr/>
          <p:nvPr/>
        </p:nvSpPr>
        <p:spPr>
          <a:xfrm>
            <a:off x="7669734"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18" name="Google Shape;718;p36"/>
          <p:cNvSpPr/>
          <p:nvPr/>
        </p:nvSpPr>
        <p:spPr>
          <a:xfrm>
            <a:off x="8275541" y="241401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9" name="Google Shape;719;p36"/>
          <p:cNvSpPr/>
          <p:nvPr/>
        </p:nvSpPr>
        <p:spPr>
          <a:xfrm>
            <a:off x="8275541" y="241401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20" name="Google Shape;720;p36"/>
          <p:cNvSpPr/>
          <p:nvPr/>
        </p:nvSpPr>
        <p:spPr>
          <a:xfrm>
            <a:off x="5246510" y="280263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1" name="Google Shape;721;p36"/>
          <p:cNvSpPr/>
          <p:nvPr/>
        </p:nvSpPr>
        <p:spPr>
          <a:xfrm>
            <a:off x="5246510"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le</a:t>
            </a:r>
            <a:endParaRPr b="0" i="0" sz="800" u="none" cap="none" strike="noStrike">
              <a:solidFill>
                <a:schemeClr val="dk1"/>
              </a:solidFill>
              <a:latin typeface="Calibri"/>
              <a:ea typeface="Calibri"/>
              <a:cs typeface="Calibri"/>
              <a:sym typeface="Calibri"/>
            </a:endParaRPr>
          </a:p>
        </p:txBody>
      </p:sp>
      <p:sp>
        <p:nvSpPr>
          <p:cNvPr id="722" name="Google Shape;722;p36"/>
          <p:cNvSpPr/>
          <p:nvPr/>
        </p:nvSpPr>
        <p:spPr>
          <a:xfrm>
            <a:off x="5852316" y="280263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3" name="Google Shape;723;p36"/>
          <p:cNvSpPr/>
          <p:nvPr/>
        </p:nvSpPr>
        <p:spPr>
          <a:xfrm>
            <a:off x="5852316"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24" name="Google Shape;724;p36"/>
          <p:cNvSpPr/>
          <p:nvPr/>
        </p:nvSpPr>
        <p:spPr>
          <a:xfrm>
            <a:off x="6458122" y="280263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5" name="Google Shape;725;p36"/>
          <p:cNvSpPr/>
          <p:nvPr/>
        </p:nvSpPr>
        <p:spPr>
          <a:xfrm>
            <a:off x="6458122"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26" name="Google Shape;726;p36"/>
          <p:cNvSpPr/>
          <p:nvPr/>
        </p:nvSpPr>
        <p:spPr>
          <a:xfrm>
            <a:off x="7063928" y="280263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7" name="Google Shape;727;p36"/>
          <p:cNvSpPr/>
          <p:nvPr/>
        </p:nvSpPr>
        <p:spPr>
          <a:xfrm>
            <a:off x="7063928"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0.10</a:t>
            </a:r>
            <a:endParaRPr b="0" i="0" sz="800" u="none" cap="none" strike="noStrike">
              <a:solidFill>
                <a:schemeClr val="dk1"/>
              </a:solidFill>
              <a:latin typeface="Calibri"/>
              <a:ea typeface="Calibri"/>
              <a:cs typeface="Calibri"/>
              <a:sym typeface="Calibri"/>
            </a:endParaRPr>
          </a:p>
        </p:txBody>
      </p:sp>
      <p:sp>
        <p:nvSpPr>
          <p:cNvPr id="728" name="Google Shape;728;p36"/>
          <p:cNvSpPr/>
          <p:nvPr/>
        </p:nvSpPr>
        <p:spPr>
          <a:xfrm>
            <a:off x="7669734" y="280263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9" name="Google Shape;729;p36"/>
          <p:cNvSpPr/>
          <p:nvPr/>
        </p:nvSpPr>
        <p:spPr>
          <a:xfrm>
            <a:off x="7669734"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0.65</a:t>
            </a:r>
            <a:endParaRPr b="0" i="0" sz="800" u="none" cap="none" strike="noStrike">
              <a:solidFill>
                <a:schemeClr val="dk1"/>
              </a:solidFill>
              <a:latin typeface="Calibri"/>
              <a:ea typeface="Calibri"/>
              <a:cs typeface="Calibri"/>
              <a:sym typeface="Calibri"/>
            </a:endParaRPr>
          </a:p>
        </p:txBody>
      </p:sp>
      <p:sp>
        <p:nvSpPr>
          <p:cNvPr id="730" name="Google Shape;730;p36"/>
          <p:cNvSpPr/>
          <p:nvPr/>
        </p:nvSpPr>
        <p:spPr>
          <a:xfrm>
            <a:off x="8275541" y="2802636"/>
            <a:ext cx="605700" cy="388500"/>
          </a:xfrm>
          <a:prstGeom prst="rect">
            <a:avLst/>
          </a:prstGeom>
          <a:solidFill>
            <a:srgbClr val="E4DEF5"/>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1" name="Google Shape;731;p36"/>
          <p:cNvSpPr/>
          <p:nvPr/>
        </p:nvSpPr>
        <p:spPr>
          <a:xfrm>
            <a:off x="8275541" y="280263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0.15</a:t>
            </a:r>
            <a:endParaRPr b="0" i="0" sz="800" u="none" cap="none" strike="noStrike">
              <a:solidFill>
                <a:schemeClr val="dk1"/>
              </a:solidFill>
              <a:latin typeface="Calibri"/>
              <a:ea typeface="Calibri"/>
              <a:cs typeface="Calibri"/>
              <a:sym typeface="Calibri"/>
            </a:endParaRPr>
          </a:p>
        </p:txBody>
      </p:sp>
      <p:sp>
        <p:nvSpPr>
          <p:cNvPr id="732" name="Google Shape;732;p36"/>
          <p:cNvSpPr/>
          <p:nvPr/>
        </p:nvSpPr>
        <p:spPr>
          <a:xfrm>
            <a:off x="5246510" y="3191256"/>
            <a:ext cx="605700" cy="388500"/>
          </a:xfrm>
          <a:prstGeom prst="rect">
            <a:avLst/>
          </a:prstGeom>
          <a:solidFill>
            <a:srgbClr val="FFFFFF"/>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3" name="Google Shape;733;p36"/>
          <p:cNvSpPr/>
          <p:nvPr/>
        </p:nvSpPr>
        <p:spPr>
          <a:xfrm>
            <a:off x="5246510"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tapis</a:t>
            </a:r>
            <a:endParaRPr b="0" i="0" sz="800" u="none" cap="none" strike="noStrike">
              <a:solidFill>
                <a:schemeClr val="dk1"/>
              </a:solidFill>
              <a:latin typeface="Calibri"/>
              <a:ea typeface="Calibri"/>
              <a:cs typeface="Calibri"/>
              <a:sym typeface="Calibri"/>
            </a:endParaRPr>
          </a:p>
        </p:txBody>
      </p:sp>
      <p:sp>
        <p:nvSpPr>
          <p:cNvPr id="734" name="Google Shape;734;p36"/>
          <p:cNvSpPr/>
          <p:nvPr/>
        </p:nvSpPr>
        <p:spPr>
          <a:xfrm>
            <a:off x="5852316" y="319125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5" name="Google Shape;735;p36"/>
          <p:cNvSpPr/>
          <p:nvPr/>
        </p:nvSpPr>
        <p:spPr>
          <a:xfrm>
            <a:off x="5852316"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36" name="Google Shape;736;p36"/>
          <p:cNvSpPr/>
          <p:nvPr/>
        </p:nvSpPr>
        <p:spPr>
          <a:xfrm>
            <a:off x="6458122" y="3191256"/>
            <a:ext cx="605700" cy="388500"/>
          </a:xfrm>
          <a:prstGeom prst="rect">
            <a:avLst/>
          </a:prstGeom>
          <a:solidFill>
            <a:srgbClr val="E4DEF5"/>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7" name="Google Shape;737;p36"/>
          <p:cNvSpPr/>
          <p:nvPr/>
        </p:nvSpPr>
        <p:spPr>
          <a:xfrm>
            <a:off x="6458122"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0.20</a:t>
            </a:r>
            <a:endParaRPr b="0" i="0" sz="800" u="none" cap="none" strike="noStrike">
              <a:solidFill>
                <a:schemeClr val="dk1"/>
              </a:solidFill>
              <a:latin typeface="Calibri"/>
              <a:ea typeface="Calibri"/>
              <a:cs typeface="Calibri"/>
              <a:sym typeface="Calibri"/>
            </a:endParaRPr>
          </a:p>
        </p:txBody>
      </p:sp>
      <p:sp>
        <p:nvSpPr>
          <p:cNvPr id="738" name="Google Shape;738;p36"/>
          <p:cNvSpPr/>
          <p:nvPr/>
        </p:nvSpPr>
        <p:spPr>
          <a:xfrm>
            <a:off x="7063928" y="319125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9" name="Google Shape;739;p36"/>
          <p:cNvSpPr/>
          <p:nvPr/>
        </p:nvSpPr>
        <p:spPr>
          <a:xfrm>
            <a:off x="7063928"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40" name="Google Shape;740;p36"/>
          <p:cNvSpPr/>
          <p:nvPr/>
        </p:nvSpPr>
        <p:spPr>
          <a:xfrm>
            <a:off x="7669734" y="3191256"/>
            <a:ext cx="605700" cy="388500"/>
          </a:xfrm>
          <a:prstGeom prst="rect">
            <a:avLst/>
          </a:prstGeom>
          <a:solidFill>
            <a:srgbClr val="F7F5FC"/>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1" name="Google Shape;741;p36"/>
          <p:cNvSpPr/>
          <p:nvPr/>
        </p:nvSpPr>
        <p:spPr>
          <a:xfrm>
            <a:off x="7669734"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0" i="0" lang="en" sz="800" u="none" cap="none" strike="noStrike">
                <a:solidFill>
                  <a:srgbClr val="1A1A1A"/>
                </a:solidFill>
                <a:latin typeface="Calibri"/>
                <a:ea typeface="Calibri"/>
                <a:cs typeface="Calibri"/>
                <a:sym typeface="Calibri"/>
              </a:rPr>
              <a:t>0.05</a:t>
            </a:r>
            <a:endParaRPr b="0" i="0" sz="800" u="none" cap="none" strike="noStrike">
              <a:solidFill>
                <a:schemeClr val="dk1"/>
              </a:solidFill>
              <a:latin typeface="Calibri"/>
              <a:ea typeface="Calibri"/>
              <a:cs typeface="Calibri"/>
              <a:sym typeface="Calibri"/>
            </a:endParaRPr>
          </a:p>
        </p:txBody>
      </p:sp>
      <p:sp>
        <p:nvSpPr>
          <p:cNvPr id="742" name="Google Shape;742;p36"/>
          <p:cNvSpPr/>
          <p:nvPr/>
        </p:nvSpPr>
        <p:spPr>
          <a:xfrm>
            <a:off x="8275541" y="3191256"/>
            <a:ext cx="605700" cy="388500"/>
          </a:xfrm>
          <a:prstGeom prst="rect">
            <a:avLst/>
          </a:prstGeom>
          <a:solidFill>
            <a:srgbClr val="B7A6E0"/>
          </a:solidFill>
          <a:ln cap="flat" cmpd="sng" w="7150">
            <a:solidFill>
              <a:srgbClr val="CCCC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3" name="Google Shape;743;p36"/>
          <p:cNvSpPr/>
          <p:nvPr/>
        </p:nvSpPr>
        <p:spPr>
          <a:xfrm>
            <a:off x="8275541" y="3191256"/>
            <a:ext cx="605700" cy="38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00"/>
              <a:buFont typeface="Calibri"/>
              <a:buNone/>
            </a:pPr>
            <a:r>
              <a:rPr b="1" i="0" lang="en" sz="800" u="none" cap="none" strike="noStrike">
                <a:solidFill>
                  <a:srgbClr val="1A1A1A"/>
                </a:solidFill>
                <a:latin typeface="Calibri"/>
                <a:ea typeface="Calibri"/>
                <a:cs typeface="Calibri"/>
                <a:sym typeface="Calibri"/>
              </a:rPr>
              <a:t>0.65</a:t>
            </a:r>
            <a:endParaRPr b="0" i="0" sz="800" u="none" cap="none" strike="noStrike">
              <a:solidFill>
                <a:schemeClr val="dk1"/>
              </a:solidFill>
              <a:latin typeface="Calibri"/>
              <a:ea typeface="Calibri"/>
              <a:cs typeface="Calibri"/>
              <a:sym typeface="Calibri"/>
            </a:endParaRPr>
          </a:p>
        </p:txBody>
      </p:sp>
      <p:sp>
        <p:nvSpPr>
          <p:cNvPr id="744" name="Google Shape;744;p36"/>
          <p:cNvSpPr/>
          <p:nvPr/>
        </p:nvSpPr>
        <p:spPr>
          <a:xfrm>
            <a:off x="5246510" y="3717036"/>
            <a:ext cx="363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Calibri"/>
              <a:buNone/>
            </a:pPr>
            <a:r>
              <a:rPr b="0" i="1" lang="en" sz="900" u="none" cap="none" strike="noStrike">
                <a:solidFill>
                  <a:srgbClr val="333333"/>
                </a:solidFill>
                <a:latin typeface="Calibri"/>
                <a:ea typeface="Calibri"/>
                <a:cs typeface="Calibri"/>
                <a:sym typeface="Calibri"/>
              </a:rPr>
              <a:t>"chat" row → high attention on "cat" (source noun)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9" name="Shape 749"/>
        <p:cNvGrpSpPr/>
        <p:nvPr/>
      </p:nvGrpSpPr>
      <p:grpSpPr>
        <a:xfrm>
          <a:off x="0" y="0"/>
          <a:ext cx="0" cy="0"/>
          <a:chOff x="0" y="0"/>
          <a:chExt cx="0" cy="0"/>
        </a:xfrm>
      </p:grpSpPr>
      <p:sp>
        <p:nvSpPr>
          <p:cNvPr id="750" name="Google Shape;750;p37"/>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2</a:t>
            </a:r>
            <a:endParaRPr b="0" i="0" sz="2600" u="none" cap="none" strike="noStrike">
              <a:solidFill>
                <a:schemeClr val="dk1"/>
              </a:solidFill>
              <a:latin typeface="Calibri"/>
              <a:ea typeface="Calibri"/>
              <a:cs typeface="Calibri"/>
              <a:sym typeface="Calibri"/>
            </a:endParaRPr>
          </a:p>
        </p:txBody>
      </p:sp>
      <p:pic>
        <p:nvPicPr>
          <p:cNvPr id="751" name="Google Shape;751;p37"/>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752" name="Google Shape;752;p37"/>
          <p:cNvSpPr txBox="1"/>
          <p:nvPr/>
        </p:nvSpPr>
        <p:spPr>
          <a:xfrm>
            <a:off x="354350" y="1187800"/>
            <a:ext cx="7133700" cy="299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In a Transformer model, what is the primary difference between </a:t>
            </a:r>
            <a:r>
              <a:rPr b="1" lang="en" sz="1300">
                <a:solidFill>
                  <a:schemeClr val="dk1"/>
                </a:solidFill>
                <a:latin typeface="Calibri"/>
                <a:ea typeface="Calibri"/>
                <a:cs typeface="Calibri"/>
                <a:sym typeface="Calibri"/>
              </a:rPr>
              <a:t>Self-Attention</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Cross-Attention</a:t>
            </a:r>
            <a:r>
              <a:rPr lang="en" sz="1300">
                <a:solidFill>
                  <a:schemeClr val="dk1"/>
                </a:solidFill>
                <a:latin typeface="Calibri"/>
                <a:ea typeface="Calibri"/>
                <a:cs typeface="Calibri"/>
                <a:sym typeface="Calibri"/>
              </a:rPr>
              <a:t> in terms of where the "Queries"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"Keys"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"Values"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all come from the same input sequence, whereas in Cross-Attention,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comes from the decoder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 the encoder.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come from the encoder, while in Cross-Attention, they come from the decoder.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There is no difference; both mechanisms use the same sources for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Self-Attention is only used in the decoder, while Cross-Attention is only used in the encoder.</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pic>
        <p:nvPicPr>
          <p:cNvPr id="753" name="Google Shape;753;p37"/>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8" name="Shape 758"/>
        <p:cNvGrpSpPr/>
        <p:nvPr/>
      </p:nvGrpSpPr>
      <p:grpSpPr>
        <a:xfrm>
          <a:off x="0" y="0"/>
          <a:ext cx="0" cy="0"/>
          <a:chOff x="0" y="0"/>
          <a:chExt cx="0" cy="0"/>
        </a:xfrm>
      </p:grpSpPr>
      <p:sp>
        <p:nvSpPr>
          <p:cNvPr id="759" name="Google Shape;759;p38"/>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2</a:t>
            </a:r>
            <a:endParaRPr b="0" i="0" sz="2600" u="none" cap="none" strike="noStrike">
              <a:solidFill>
                <a:schemeClr val="dk1"/>
              </a:solidFill>
              <a:latin typeface="Calibri"/>
              <a:ea typeface="Calibri"/>
              <a:cs typeface="Calibri"/>
              <a:sym typeface="Calibri"/>
            </a:endParaRPr>
          </a:p>
        </p:txBody>
      </p:sp>
      <p:pic>
        <p:nvPicPr>
          <p:cNvPr id="760" name="Google Shape;760;p38"/>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761" name="Google Shape;761;p38"/>
          <p:cNvSpPr txBox="1"/>
          <p:nvPr/>
        </p:nvSpPr>
        <p:spPr>
          <a:xfrm>
            <a:off x="320100" y="1063750"/>
            <a:ext cx="6563400" cy="382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Calibri"/>
                <a:ea typeface="Calibri"/>
                <a:cs typeface="Calibri"/>
                <a:sym typeface="Calibri"/>
              </a:rPr>
              <a:t>In a Transformer model, what is the primary difference between </a:t>
            </a:r>
            <a:r>
              <a:rPr b="1" lang="en" sz="1300">
                <a:solidFill>
                  <a:schemeClr val="dk1"/>
                </a:solidFill>
                <a:latin typeface="Calibri"/>
                <a:ea typeface="Calibri"/>
                <a:cs typeface="Calibri"/>
                <a:sym typeface="Calibri"/>
              </a:rPr>
              <a:t>Self-Attention</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Cross-Attention</a:t>
            </a:r>
            <a:r>
              <a:rPr lang="en" sz="1300">
                <a:solidFill>
                  <a:schemeClr val="dk1"/>
                </a:solidFill>
                <a:latin typeface="Calibri"/>
                <a:ea typeface="Calibri"/>
                <a:cs typeface="Calibri"/>
                <a:sym typeface="Calibri"/>
              </a:rPr>
              <a:t> in terms of where the "Queries"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"Keys"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"Values"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all come from the same input sequence, whereas in Cross-Attention,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comes from the decoder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 come from the encoder.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In Self-Attention, </a:t>
            </a:r>
            <a:r>
              <a:rPr b="1" lang="en" sz="1300">
                <a:solidFill>
                  <a:schemeClr val="dk1"/>
                </a:solidFill>
                <a:latin typeface="Calibri"/>
                <a:ea typeface="Calibri"/>
                <a:cs typeface="Calibri"/>
                <a:sym typeface="Calibri"/>
              </a:rPr>
              <a:t>Q</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K</a:t>
            </a:r>
            <a:r>
              <a:rPr lang="en" sz="1300">
                <a:solidFill>
                  <a:schemeClr val="dk1"/>
                </a:solidFill>
                <a:latin typeface="Calibri"/>
                <a:ea typeface="Calibri"/>
                <a:cs typeface="Calibri"/>
                <a:sym typeface="Calibri"/>
              </a:rPr>
              <a:t> come from the encoder, while in Cross-Attention, they come from the decoder.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There is no difference; both mechanisms use the same sources for </a:t>
            </a:r>
            <a:r>
              <a:rPr b="1" lang="en" sz="1300">
                <a:solidFill>
                  <a:schemeClr val="dk1"/>
                </a:solidFill>
                <a:latin typeface="Calibri"/>
                <a:ea typeface="Calibri"/>
                <a:cs typeface="Calibri"/>
                <a:sym typeface="Calibri"/>
              </a:rPr>
              <a:t>Q, K</a:t>
            </a:r>
            <a:r>
              <a:rPr lang="en" sz="1300">
                <a:solidFill>
                  <a:schemeClr val="dk1"/>
                </a:solidFill>
                <a:latin typeface="Calibri"/>
                <a:ea typeface="Calibri"/>
                <a:cs typeface="Calibri"/>
                <a:sym typeface="Calibri"/>
              </a:rPr>
              <a:t> and </a:t>
            </a:r>
            <a:r>
              <a:rPr b="1" lang="en" sz="1300">
                <a:solidFill>
                  <a:schemeClr val="dk1"/>
                </a:solidFill>
                <a:latin typeface="Calibri"/>
                <a:ea typeface="Calibri"/>
                <a:cs typeface="Calibri"/>
                <a:sym typeface="Calibri"/>
              </a:rPr>
              <a:t>V</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Self-Attention is only used in the decoder, while Cross-Attention is only used in the encoder.</a:t>
            </a:r>
            <a:endParaRPr sz="1300">
              <a:solidFill>
                <a:schemeClr val="dk2"/>
              </a:solidFill>
              <a:latin typeface="Calibri"/>
              <a:ea typeface="Calibri"/>
              <a:cs typeface="Calibri"/>
              <a:sym typeface="Calibri"/>
            </a:endParaRPr>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 sz="1300">
                <a:solidFill>
                  <a:schemeClr val="dk2"/>
                </a:solidFill>
                <a:latin typeface="Calibri"/>
                <a:ea typeface="Calibri"/>
                <a:cs typeface="Calibri"/>
                <a:sym typeface="Calibri"/>
              </a:rPr>
              <a:t>Explanation :  Self-Attention allows a sequence to look at itself to find correlations between its own tokens. Cross-Attention is the "bridge" that allows the decoder to focus on relevant parts of the original input sequence (the encoder's output).</a:t>
            </a:r>
            <a:endParaRPr sz="1300">
              <a:solidFill>
                <a:schemeClr val="dk2"/>
              </a:solidFill>
              <a:latin typeface="Calibri"/>
              <a:ea typeface="Calibri"/>
              <a:cs typeface="Calibri"/>
              <a:sym typeface="Calibri"/>
            </a:endParaRPr>
          </a:p>
        </p:txBody>
      </p:sp>
      <p:sp>
        <p:nvSpPr>
          <p:cNvPr id="762" name="Google Shape;762;p38"/>
          <p:cNvSpPr txBox="1"/>
          <p:nvPr/>
        </p:nvSpPr>
        <p:spPr>
          <a:xfrm>
            <a:off x="443925" y="177807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763" name="Google Shape;763;p38"/>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8" name="Shape 768"/>
        <p:cNvGrpSpPr/>
        <p:nvPr/>
      </p:nvGrpSpPr>
      <p:grpSpPr>
        <a:xfrm>
          <a:off x="0" y="0"/>
          <a:ext cx="0" cy="0"/>
          <a:chOff x="0" y="0"/>
          <a:chExt cx="0" cy="0"/>
        </a:xfrm>
      </p:grpSpPr>
      <p:sp>
        <p:nvSpPr>
          <p:cNvPr id="769" name="Google Shape;769;p39"/>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2 (Explanation )</a:t>
            </a:r>
            <a:endParaRPr b="0" i="0" sz="2600" u="none" cap="none" strike="noStrike">
              <a:solidFill>
                <a:schemeClr val="dk1"/>
              </a:solidFill>
              <a:latin typeface="Calibri"/>
              <a:ea typeface="Calibri"/>
              <a:cs typeface="Calibri"/>
              <a:sym typeface="Calibri"/>
            </a:endParaRPr>
          </a:p>
        </p:txBody>
      </p:sp>
      <p:pic>
        <p:nvPicPr>
          <p:cNvPr id="770" name="Google Shape;770;p3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771" name="Google Shape;771;p39"/>
          <p:cNvSpPr/>
          <p:nvPr/>
        </p:nvSpPr>
        <p:spPr>
          <a:xfrm>
            <a:off x="411480" y="1133856"/>
            <a:ext cx="8321100" cy="612600"/>
          </a:xfrm>
          <a:prstGeom prst="roundRect">
            <a:avLst>
              <a:gd fmla="val 11940" name="adj"/>
            </a:avLst>
          </a:prstGeom>
          <a:solidFill>
            <a:srgbClr val="E8F6EE"/>
          </a:solidFill>
          <a:ln cap="flat" cmpd="sng" w="12700">
            <a:solidFill>
              <a:srgbClr val="97C459"/>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9"/>
          <p:cNvSpPr/>
          <p:nvPr/>
        </p:nvSpPr>
        <p:spPr>
          <a:xfrm>
            <a:off x="530352" y="1312164"/>
            <a:ext cx="255900" cy="255900"/>
          </a:xfrm>
          <a:prstGeom prst="roundRect">
            <a:avLst>
              <a:gd fmla="val 14286" name="adj"/>
            </a:avLst>
          </a:prstGeom>
          <a:solidFill>
            <a:srgbClr val="1A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9"/>
          <p:cNvSpPr/>
          <p:nvPr/>
        </p:nvSpPr>
        <p:spPr>
          <a:xfrm>
            <a:off x="530352" y="1312164"/>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A</a:t>
            </a:r>
            <a:endParaRPr b="0" i="0" sz="1100" u="none" cap="none" strike="noStrike">
              <a:solidFill>
                <a:srgbClr val="000000"/>
              </a:solidFill>
              <a:latin typeface="Calibri"/>
              <a:ea typeface="Calibri"/>
              <a:cs typeface="Calibri"/>
              <a:sym typeface="Calibri"/>
            </a:endParaRPr>
          </a:p>
        </p:txBody>
      </p:sp>
      <p:sp>
        <p:nvSpPr>
          <p:cNvPr id="774" name="Google Shape;774;p39"/>
          <p:cNvSpPr/>
          <p:nvPr/>
        </p:nvSpPr>
        <p:spPr>
          <a:xfrm>
            <a:off x="914400" y="1188720"/>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150"/>
              <a:buFont typeface="Calibri"/>
              <a:buNone/>
            </a:pPr>
            <a:r>
              <a:rPr b="1" i="0" lang="en" sz="1150" u="none" cap="none" strike="noStrike">
                <a:solidFill>
                  <a:srgbClr val="1A6B3C"/>
                </a:solidFill>
                <a:latin typeface="Calibri"/>
                <a:ea typeface="Calibri"/>
                <a:cs typeface="Calibri"/>
                <a:sym typeface="Calibri"/>
              </a:rPr>
              <a:t>In Self-Attention, Q, K, and V all come from the same sequence. In Cross-Attention, Q comes from the decoder while K and V come from the encoder.</a:t>
            </a:r>
            <a:endParaRPr b="0" i="0" sz="1150" u="none" cap="none" strike="noStrike">
              <a:solidFill>
                <a:srgbClr val="000000"/>
              </a:solidFill>
              <a:latin typeface="Calibri"/>
              <a:ea typeface="Calibri"/>
              <a:cs typeface="Calibri"/>
              <a:sym typeface="Calibri"/>
            </a:endParaRPr>
          </a:p>
        </p:txBody>
      </p:sp>
      <p:cxnSp>
        <p:nvCxnSpPr>
          <p:cNvPr id="775" name="Google Shape;775;p39"/>
          <p:cNvCxnSpPr/>
          <p:nvPr/>
        </p:nvCxnSpPr>
        <p:spPr>
          <a:xfrm>
            <a:off x="5102352" y="1234440"/>
            <a:ext cx="0" cy="411600"/>
          </a:xfrm>
          <a:prstGeom prst="straightConnector1">
            <a:avLst/>
          </a:prstGeom>
          <a:noFill/>
          <a:ln cap="flat" cmpd="sng" w="9525">
            <a:solidFill>
              <a:srgbClr val="97C459"/>
            </a:solidFill>
            <a:prstDash val="solid"/>
            <a:round/>
            <a:headEnd len="sm" w="sm" type="none"/>
            <a:tailEnd len="sm" w="sm" type="none"/>
          </a:ln>
        </p:spPr>
      </p:cxnSp>
      <p:sp>
        <p:nvSpPr>
          <p:cNvPr id="776" name="Google Shape;776;p39"/>
          <p:cNvSpPr/>
          <p:nvPr/>
        </p:nvSpPr>
        <p:spPr>
          <a:xfrm>
            <a:off x="5221224" y="1188720"/>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050"/>
              <a:buFont typeface="Calibri"/>
              <a:buNone/>
            </a:pPr>
            <a:r>
              <a:rPr b="0" i="0" lang="en" sz="1050" u="none" cap="none" strike="noStrike">
                <a:solidFill>
                  <a:srgbClr val="1A6B3C"/>
                </a:solidFill>
                <a:latin typeface="Calibri"/>
                <a:ea typeface="Calibri"/>
                <a:cs typeface="Calibri"/>
                <a:sym typeface="Calibri"/>
              </a:rPr>
              <a:t>Correct. Self-Attention lets a sequence attend to itself. Cross-Attention is the bridge: the decoder forms queries, but looks up keys and values from the </a:t>
            </a:r>
            <a:r>
              <a:rPr lang="en" sz="1050">
                <a:solidFill>
                  <a:srgbClr val="1A6B3C"/>
                </a:solidFill>
                <a:latin typeface="Calibri"/>
                <a:ea typeface="Calibri"/>
                <a:cs typeface="Calibri"/>
                <a:sym typeface="Calibri"/>
              </a:rPr>
              <a:t>encoder</a:t>
            </a:r>
            <a:r>
              <a:rPr b="0" i="0" lang="en" sz="1050" u="none" cap="none" strike="noStrike">
                <a:solidFill>
                  <a:srgbClr val="1A6B3C"/>
                </a:solidFill>
                <a:latin typeface="Calibri"/>
                <a:ea typeface="Calibri"/>
                <a:cs typeface="Calibri"/>
                <a:sym typeface="Calibri"/>
              </a:rPr>
              <a:t> output.</a:t>
            </a:r>
            <a:endParaRPr b="0" i="0" sz="1050" u="none" cap="none" strike="noStrike">
              <a:solidFill>
                <a:srgbClr val="000000"/>
              </a:solidFill>
              <a:latin typeface="Calibri"/>
              <a:ea typeface="Calibri"/>
              <a:cs typeface="Calibri"/>
              <a:sym typeface="Calibri"/>
            </a:endParaRPr>
          </a:p>
        </p:txBody>
      </p:sp>
      <p:pic>
        <p:nvPicPr>
          <p:cNvPr descr="preencoded.png" id="777" name="Google Shape;777;p39"/>
          <p:cNvPicPr preferRelativeResize="0"/>
          <p:nvPr/>
        </p:nvPicPr>
        <p:blipFill rotWithShape="1">
          <a:blip r:embed="rId5">
            <a:alphaModFix/>
          </a:blip>
          <a:srcRect b="0" l="0" r="0" t="0"/>
          <a:stretch/>
        </p:blipFill>
        <p:spPr>
          <a:xfrm>
            <a:off x="8430768" y="1321308"/>
            <a:ext cx="237744" cy="237744"/>
          </a:xfrm>
          <a:prstGeom prst="rect">
            <a:avLst/>
          </a:prstGeom>
          <a:noFill/>
          <a:ln>
            <a:noFill/>
          </a:ln>
        </p:spPr>
      </p:pic>
      <p:sp>
        <p:nvSpPr>
          <p:cNvPr id="778" name="Google Shape;778;p39"/>
          <p:cNvSpPr/>
          <p:nvPr/>
        </p:nvSpPr>
        <p:spPr>
          <a:xfrm>
            <a:off x="411480" y="1801368"/>
            <a:ext cx="8321100" cy="612600"/>
          </a:xfrm>
          <a:prstGeom prst="roundRect">
            <a:avLst>
              <a:gd fmla="val 11940"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9"/>
          <p:cNvSpPr/>
          <p:nvPr/>
        </p:nvSpPr>
        <p:spPr>
          <a:xfrm>
            <a:off x="530352" y="1979676"/>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9"/>
          <p:cNvSpPr/>
          <p:nvPr/>
        </p:nvSpPr>
        <p:spPr>
          <a:xfrm>
            <a:off x="530352" y="1979676"/>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a:t>
            </a:r>
            <a:endParaRPr b="0" i="0" sz="1100" u="none" cap="none" strike="noStrike">
              <a:solidFill>
                <a:srgbClr val="000000"/>
              </a:solidFill>
              <a:latin typeface="Calibri"/>
              <a:ea typeface="Calibri"/>
              <a:cs typeface="Calibri"/>
              <a:sym typeface="Calibri"/>
            </a:endParaRPr>
          </a:p>
        </p:txBody>
      </p:sp>
      <p:sp>
        <p:nvSpPr>
          <p:cNvPr id="781" name="Google Shape;781;p39"/>
          <p:cNvSpPr/>
          <p:nvPr/>
        </p:nvSpPr>
        <p:spPr>
          <a:xfrm>
            <a:off x="914400" y="1856232"/>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In Self-Attention, Q and K come from the encoder; in Cross-Attention, Q and K come from the decoder.</a:t>
            </a:r>
            <a:endParaRPr b="0" i="0" sz="1150" u="none" cap="none" strike="noStrike">
              <a:solidFill>
                <a:srgbClr val="000000"/>
              </a:solidFill>
              <a:latin typeface="Calibri"/>
              <a:ea typeface="Calibri"/>
              <a:cs typeface="Calibri"/>
              <a:sym typeface="Calibri"/>
            </a:endParaRPr>
          </a:p>
        </p:txBody>
      </p:sp>
      <p:cxnSp>
        <p:nvCxnSpPr>
          <p:cNvPr id="782" name="Google Shape;782;p39"/>
          <p:cNvCxnSpPr/>
          <p:nvPr/>
        </p:nvCxnSpPr>
        <p:spPr>
          <a:xfrm>
            <a:off x="5102352" y="1901952"/>
            <a:ext cx="0" cy="411600"/>
          </a:xfrm>
          <a:prstGeom prst="straightConnector1">
            <a:avLst/>
          </a:prstGeom>
          <a:noFill/>
          <a:ln cap="flat" cmpd="sng" w="9525">
            <a:solidFill>
              <a:srgbClr val="E2E8F0"/>
            </a:solidFill>
            <a:prstDash val="solid"/>
            <a:round/>
            <a:headEnd len="sm" w="sm" type="none"/>
            <a:tailEnd len="sm" w="sm" type="none"/>
          </a:ln>
        </p:spPr>
      </p:cxnSp>
      <p:sp>
        <p:nvSpPr>
          <p:cNvPr id="783" name="Google Shape;783;p39"/>
          <p:cNvSpPr/>
          <p:nvPr/>
        </p:nvSpPr>
        <p:spPr>
          <a:xfrm>
            <a:off x="5221224" y="1856232"/>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Wrong source assignment. In Self-Attention, Q, K, and V all come from the same sequence — not just Q and K from the encoder.</a:t>
            </a:r>
            <a:endParaRPr b="0" i="0" sz="1050" u="none" cap="none" strike="noStrike">
              <a:solidFill>
                <a:srgbClr val="000000"/>
              </a:solidFill>
              <a:latin typeface="Calibri"/>
              <a:ea typeface="Calibri"/>
              <a:cs typeface="Calibri"/>
              <a:sym typeface="Calibri"/>
            </a:endParaRPr>
          </a:p>
        </p:txBody>
      </p:sp>
      <p:pic>
        <p:nvPicPr>
          <p:cNvPr descr="preencoded.png" id="784" name="Google Shape;784;p39"/>
          <p:cNvPicPr preferRelativeResize="0"/>
          <p:nvPr/>
        </p:nvPicPr>
        <p:blipFill rotWithShape="1">
          <a:blip r:embed="rId6">
            <a:alphaModFix/>
          </a:blip>
          <a:srcRect b="0" l="0" r="0" t="0"/>
          <a:stretch/>
        </p:blipFill>
        <p:spPr>
          <a:xfrm>
            <a:off x="8430768" y="1988820"/>
            <a:ext cx="237744" cy="237744"/>
          </a:xfrm>
          <a:prstGeom prst="rect">
            <a:avLst/>
          </a:prstGeom>
          <a:noFill/>
          <a:ln>
            <a:noFill/>
          </a:ln>
        </p:spPr>
      </p:pic>
      <p:sp>
        <p:nvSpPr>
          <p:cNvPr id="785" name="Google Shape;785;p39"/>
          <p:cNvSpPr/>
          <p:nvPr/>
        </p:nvSpPr>
        <p:spPr>
          <a:xfrm>
            <a:off x="411480" y="2468880"/>
            <a:ext cx="8321100" cy="612600"/>
          </a:xfrm>
          <a:prstGeom prst="roundRect">
            <a:avLst>
              <a:gd fmla="val 11940"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9"/>
          <p:cNvSpPr/>
          <p:nvPr/>
        </p:nvSpPr>
        <p:spPr>
          <a:xfrm>
            <a:off x="530352" y="2647188"/>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9"/>
          <p:cNvSpPr/>
          <p:nvPr/>
        </p:nvSpPr>
        <p:spPr>
          <a:xfrm>
            <a:off x="530352" y="264718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C</a:t>
            </a:r>
            <a:endParaRPr b="0" i="0" sz="1100" u="none" cap="none" strike="noStrike">
              <a:solidFill>
                <a:srgbClr val="000000"/>
              </a:solidFill>
              <a:latin typeface="Calibri"/>
              <a:ea typeface="Calibri"/>
              <a:cs typeface="Calibri"/>
              <a:sym typeface="Calibri"/>
            </a:endParaRPr>
          </a:p>
        </p:txBody>
      </p:sp>
      <p:sp>
        <p:nvSpPr>
          <p:cNvPr id="788" name="Google Shape;788;p39"/>
          <p:cNvSpPr/>
          <p:nvPr/>
        </p:nvSpPr>
        <p:spPr>
          <a:xfrm>
            <a:off x="914400" y="2523744"/>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There is no difference — both Self-Attention and Cross-Attention use the same sources for Q, K, and V.</a:t>
            </a:r>
            <a:endParaRPr b="0" i="0" sz="1150" u="none" cap="none" strike="noStrike">
              <a:solidFill>
                <a:srgbClr val="000000"/>
              </a:solidFill>
              <a:latin typeface="Calibri"/>
              <a:ea typeface="Calibri"/>
              <a:cs typeface="Calibri"/>
              <a:sym typeface="Calibri"/>
            </a:endParaRPr>
          </a:p>
        </p:txBody>
      </p:sp>
      <p:cxnSp>
        <p:nvCxnSpPr>
          <p:cNvPr id="789" name="Google Shape;789;p39"/>
          <p:cNvCxnSpPr/>
          <p:nvPr/>
        </p:nvCxnSpPr>
        <p:spPr>
          <a:xfrm>
            <a:off x="5102352" y="2569464"/>
            <a:ext cx="0" cy="411600"/>
          </a:xfrm>
          <a:prstGeom prst="straightConnector1">
            <a:avLst/>
          </a:prstGeom>
          <a:noFill/>
          <a:ln cap="flat" cmpd="sng" w="9525">
            <a:solidFill>
              <a:srgbClr val="E2E8F0"/>
            </a:solidFill>
            <a:prstDash val="solid"/>
            <a:round/>
            <a:headEnd len="sm" w="sm" type="none"/>
            <a:tailEnd len="sm" w="sm" type="none"/>
          </a:ln>
        </p:spPr>
      </p:cxnSp>
      <p:sp>
        <p:nvSpPr>
          <p:cNvPr id="790" name="Google Shape;790;p39"/>
          <p:cNvSpPr/>
          <p:nvPr/>
        </p:nvSpPr>
        <p:spPr>
          <a:xfrm>
            <a:off x="5221224" y="2523744"/>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Incorrect. The defining distinction is exactly where Q, K, V originate. Cross-Attention deliberately mixes sources — decoder for Q, encoder for K and V.</a:t>
            </a:r>
            <a:endParaRPr b="0" i="0" sz="1050" u="none" cap="none" strike="noStrike">
              <a:solidFill>
                <a:srgbClr val="000000"/>
              </a:solidFill>
              <a:latin typeface="Calibri"/>
              <a:ea typeface="Calibri"/>
              <a:cs typeface="Calibri"/>
              <a:sym typeface="Calibri"/>
            </a:endParaRPr>
          </a:p>
        </p:txBody>
      </p:sp>
      <p:pic>
        <p:nvPicPr>
          <p:cNvPr descr="preencoded.png" id="791" name="Google Shape;791;p39"/>
          <p:cNvPicPr preferRelativeResize="0"/>
          <p:nvPr/>
        </p:nvPicPr>
        <p:blipFill rotWithShape="1">
          <a:blip r:embed="rId6">
            <a:alphaModFix/>
          </a:blip>
          <a:srcRect b="0" l="0" r="0" t="0"/>
          <a:stretch/>
        </p:blipFill>
        <p:spPr>
          <a:xfrm>
            <a:off x="8430768" y="2656332"/>
            <a:ext cx="237744" cy="237744"/>
          </a:xfrm>
          <a:prstGeom prst="rect">
            <a:avLst/>
          </a:prstGeom>
          <a:noFill/>
          <a:ln>
            <a:noFill/>
          </a:ln>
        </p:spPr>
      </p:pic>
      <p:sp>
        <p:nvSpPr>
          <p:cNvPr id="792" name="Google Shape;792;p39"/>
          <p:cNvSpPr/>
          <p:nvPr/>
        </p:nvSpPr>
        <p:spPr>
          <a:xfrm>
            <a:off x="411480" y="3136392"/>
            <a:ext cx="8321100" cy="612600"/>
          </a:xfrm>
          <a:prstGeom prst="roundRect">
            <a:avLst>
              <a:gd fmla="val 11940"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9"/>
          <p:cNvSpPr/>
          <p:nvPr/>
        </p:nvSpPr>
        <p:spPr>
          <a:xfrm>
            <a:off x="530352" y="3314700"/>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9"/>
          <p:cNvSpPr/>
          <p:nvPr/>
        </p:nvSpPr>
        <p:spPr>
          <a:xfrm>
            <a:off x="530352" y="331470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D</a:t>
            </a:r>
            <a:endParaRPr b="0" i="0" sz="1100" u="none" cap="none" strike="noStrike">
              <a:solidFill>
                <a:srgbClr val="000000"/>
              </a:solidFill>
              <a:latin typeface="Calibri"/>
              <a:ea typeface="Calibri"/>
              <a:cs typeface="Calibri"/>
              <a:sym typeface="Calibri"/>
            </a:endParaRPr>
          </a:p>
        </p:txBody>
      </p:sp>
      <p:sp>
        <p:nvSpPr>
          <p:cNvPr id="795" name="Google Shape;795;p39"/>
          <p:cNvSpPr/>
          <p:nvPr/>
        </p:nvSpPr>
        <p:spPr>
          <a:xfrm>
            <a:off x="914400" y="3191256"/>
            <a:ext cx="40599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Self-Attention is only used in the decoder, while Cross-Attention is only used in the encoder.</a:t>
            </a:r>
            <a:endParaRPr b="0" i="0" sz="1150" u="none" cap="none" strike="noStrike">
              <a:solidFill>
                <a:srgbClr val="000000"/>
              </a:solidFill>
              <a:latin typeface="Calibri"/>
              <a:ea typeface="Calibri"/>
              <a:cs typeface="Calibri"/>
              <a:sym typeface="Calibri"/>
            </a:endParaRPr>
          </a:p>
        </p:txBody>
      </p:sp>
      <p:cxnSp>
        <p:nvCxnSpPr>
          <p:cNvPr id="796" name="Google Shape;796;p39"/>
          <p:cNvCxnSpPr/>
          <p:nvPr/>
        </p:nvCxnSpPr>
        <p:spPr>
          <a:xfrm>
            <a:off x="5102352" y="3236976"/>
            <a:ext cx="0" cy="411600"/>
          </a:xfrm>
          <a:prstGeom prst="straightConnector1">
            <a:avLst/>
          </a:prstGeom>
          <a:noFill/>
          <a:ln cap="flat" cmpd="sng" w="9525">
            <a:solidFill>
              <a:srgbClr val="E2E8F0"/>
            </a:solidFill>
            <a:prstDash val="solid"/>
            <a:round/>
            <a:headEnd len="sm" w="sm" type="none"/>
            <a:tailEnd len="sm" w="sm" type="none"/>
          </a:ln>
        </p:spPr>
      </p:cxnSp>
      <p:sp>
        <p:nvSpPr>
          <p:cNvPr id="797" name="Google Shape;797;p39"/>
          <p:cNvSpPr/>
          <p:nvPr/>
        </p:nvSpPr>
        <p:spPr>
          <a:xfrm>
            <a:off x="5221224" y="3191256"/>
            <a:ext cx="3090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Reversed and wrong. Self-Attention appears in both encoder and decoder. Cross-Attention appears only in the decoder, bridging it to encoder outputs.</a:t>
            </a:r>
            <a:endParaRPr b="0" i="0" sz="1050" u="none" cap="none" strike="noStrike">
              <a:solidFill>
                <a:srgbClr val="000000"/>
              </a:solidFill>
              <a:latin typeface="Calibri"/>
              <a:ea typeface="Calibri"/>
              <a:cs typeface="Calibri"/>
              <a:sym typeface="Calibri"/>
            </a:endParaRPr>
          </a:p>
        </p:txBody>
      </p:sp>
      <p:pic>
        <p:nvPicPr>
          <p:cNvPr descr="preencoded.png" id="798" name="Google Shape;798;p39"/>
          <p:cNvPicPr preferRelativeResize="0"/>
          <p:nvPr/>
        </p:nvPicPr>
        <p:blipFill rotWithShape="1">
          <a:blip r:embed="rId6">
            <a:alphaModFix/>
          </a:blip>
          <a:srcRect b="0" l="0" r="0" t="0"/>
          <a:stretch/>
        </p:blipFill>
        <p:spPr>
          <a:xfrm>
            <a:off x="8430768" y="3323844"/>
            <a:ext cx="237744" cy="237744"/>
          </a:xfrm>
          <a:prstGeom prst="rect">
            <a:avLst/>
          </a:prstGeom>
          <a:noFill/>
          <a:ln>
            <a:noFill/>
          </a:ln>
        </p:spPr>
      </p:pic>
      <p:sp>
        <p:nvSpPr>
          <p:cNvPr id="799" name="Google Shape;799;p39"/>
          <p:cNvSpPr/>
          <p:nvPr/>
        </p:nvSpPr>
        <p:spPr>
          <a:xfrm>
            <a:off x="411480" y="3875346"/>
            <a:ext cx="4069200" cy="713100"/>
          </a:xfrm>
          <a:prstGeom prst="roundRect">
            <a:avLst>
              <a:gd fmla="val 10256"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9"/>
          <p:cNvSpPr/>
          <p:nvPr/>
        </p:nvSpPr>
        <p:spPr>
          <a:xfrm>
            <a:off x="530352" y="3930210"/>
            <a:ext cx="38223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D6B"/>
              </a:buClr>
              <a:buSzPts val="1100"/>
              <a:buFont typeface="Calibri"/>
              <a:buNone/>
            </a:pPr>
            <a:r>
              <a:rPr b="1" i="0" lang="en" sz="1100" u="none" cap="none" strike="noStrike">
                <a:solidFill>
                  <a:srgbClr val="1E2D6B"/>
                </a:solidFill>
                <a:latin typeface="Calibri"/>
                <a:ea typeface="Calibri"/>
                <a:cs typeface="Calibri"/>
                <a:sym typeface="Calibri"/>
              </a:rPr>
              <a:t>Self-Attention</a:t>
            </a:r>
            <a:endParaRPr b="0" i="0" sz="1100" u="none" cap="none" strike="noStrike">
              <a:solidFill>
                <a:srgbClr val="000000"/>
              </a:solidFill>
              <a:latin typeface="Calibri"/>
              <a:ea typeface="Calibri"/>
              <a:cs typeface="Calibri"/>
              <a:sym typeface="Calibri"/>
            </a:endParaRPr>
          </a:p>
        </p:txBody>
      </p:sp>
      <p:sp>
        <p:nvSpPr>
          <p:cNvPr id="801" name="Google Shape;801;p39"/>
          <p:cNvSpPr/>
          <p:nvPr/>
        </p:nvSpPr>
        <p:spPr>
          <a:xfrm>
            <a:off x="530352" y="4186242"/>
            <a:ext cx="3840600" cy="32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56A8"/>
              </a:buClr>
              <a:buSzPts val="1150"/>
              <a:buFont typeface="Calibri"/>
              <a:buNone/>
            </a:pPr>
            <a:r>
              <a:rPr b="1" i="0" lang="en" sz="1150" u="none" cap="none" strike="noStrike">
                <a:solidFill>
                  <a:srgbClr val="2356A8"/>
                </a:solidFill>
                <a:latin typeface="Calibri"/>
                <a:ea typeface="Calibri"/>
                <a:cs typeface="Calibri"/>
                <a:sym typeface="Calibri"/>
              </a:rPr>
              <a:t>Q  </a:t>
            </a:r>
            <a:r>
              <a:rPr b="0" i="0" lang="en" sz="1150" u="none" cap="none" strike="noStrike">
                <a:solidFill>
                  <a:srgbClr val="1E293B"/>
                </a:solidFill>
                <a:latin typeface="Calibri"/>
                <a:ea typeface="Calibri"/>
                <a:cs typeface="Calibri"/>
                <a:sym typeface="Calibri"/>
              </a:rPr>
              <a:t>← same sequence    </a:t>
            </a:r>
            <a:r>
              <a:rPr b="1" i="0" lang="en" sz="1150" u="none" cap="none" strike="noStrike">
                <a:solidFill>
                  <a:srgbClr val="2356A8"/>
                </a:solidFill>
                <a:latin typeface="Calibri"/>
                <a:ea typeface="Calibri"/>
                <a:cs typeface="Calibri"/>
                <a:sym typeface="Calibri"/>
              </a:rPr>
              <a:t>K  </a:t>
            </a:r>
            <a:r>
              <a:rPr b="0" i="0" lang="en" sz="1150" u="none" cap="none" strike="noStrike">
                <a:solidFill>
                  <a:srgbClr val="1E293B"/>
                </a:solidFill>
                <a:latin typeface="Calibri"/>
                <a:ea typeface="Calibri"/>
                <a:cs typeface="Calibri"/>
                <a:sym typeface="Calibri"/>
              </a:rPr>
              <a:t>← same sequence    </a:t>
            </a:r>
            <a:r>
              <a:rPr b="1" i="0" lang="en" sz="1150" u="none" cap="none" strike="noStrike">
                <a:solidFill>
                  <a:srgbClr val="2356A8"/>
                </a:solidFill>
                <a:latin typeface="Calibri"/>
                <a:ea typeface="Calibri"/>
                <a:cs typeface="Calibri"/>
                <a:sym typeface="Calibri"/>
              </a:rPr>
              <a:t>V  </a:t>
            </a:r>
            <a:r>
              <a:rPr b="0" i="0" lang="en" sz="1150" u="none" cap="none" strike="noStrike">
                <a:solidFill>
                  <a:srgbClr val="1E293B"/>
                </a:solidFill>
                <a:latin typeface="Calibri"/>
                <a:ea typeface="Calibri"/>
                <a:cs typeface="Calibri"/>
                <a:sym typeface="Calibri"/>
              </a:rPr>
              <a:t>← same sequence</a:t>
            </a:r>
            <a:endParaRPr b="0" i="0" sz="1150" u="none" cap="none" strike="noStrike">
              <a:solidFill>
                <a:srgbClr val="000000"/>
              </a:solidFill>
              <a:latin typeface="Calibri"/>
              <a:ea typeface="Calibri"/>
              <a:cs typeface="Calibri"/>
              <a:sym typeface="Calibri"/>
            </a:endParaRPr>
          </a:p>
        </p:txBody>
      </p:sp>
      <p:sp>
        <p:nvSpPr>
          <p:cNvPr id="802" name="Google Shape;802;p39"/>
          <p:cNvSpPr/>
          <p:nvPr/>
        </p:nvSpPr>
        <p:spPr>
          <a:xfrm>
            <a:off x="4663440" y="3875346"/>
            <a:ext cx="4069200" cy="713100"/>
          </a:xfrm>
          <a:prstGeom prst="roundRect">
            <a:avLst>
              <a:gd fmla="val 10256" name="adj"/>
            </a:avLst>
          </a:prstGeom>
          <a:solidFill>
            <a:srgbClr val="E8F6EE"/>
          </a:solidFill>
          <a:ln cap="flat" cmpd="sng" w="9525">
            <a:solidFill>
              <a:srgbClr val="97C4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9"/>
          <p:cNvSpPr/>
          <p:nvPr/>
        </p:nvSpPr>
        <p:spPr>
          <a:xfrm>
            <a:off x="4782312" y="3930210"/>
            <a:ext cx="38223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100"/>
              <a:buFont typeface="Calibri"/>
              <a:buNone/>
            </a:pPr>
            <a:r>
              <a:rPr b="1" i="0" lang="en" sz="1100" u="none" cap="none" strike="noStrike">
                <a:solidFill>
                  <a:srgbClr val="1A6B3C"/>
                </a:solidFill>
                <a:latin typeface="Calibri"/>
                <a:ea typeface="Calibri"/>
                <a:cs typeface="Calibri"/>
                <a:sym typeface="Calibri"/>
              </a:rPr>
              <a:t>Cross-Attention</a:t>
            </a:r>
            <a:endParaRPr b="0" i="0" sz="1100" u="none" cap="none" strike="noStrike">
              <a:solidFill>
                <a:srgbClr val="000000"/>
              </a:solidFill>
              <a:latin typeface="Calibri"/>
              <a:ea typeface="Calibri"/>
              <a:cs typeface="Calibri"/>
              <a:sym typeface="Calibri"/>
            </a:endParaRPr>
          </a:p>
        </p:txBody>
      </p:sp>
      <p:sp>
        <p:nvSpPr>
          <p:cNvPr id="804" name="Google Shape;804;p39"/>
          <p:cNvSpPr/>
          <p:nvPr/>
        </p:nvSpPr>
        <p:spPr>
          <a:xfrm>
            <a:off x="4782312" y="4186242"/>
            <a:ext cx="3840600" cy="32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56A8"/>
              </a:buClr>
              <a:buSzPts val="1150"/>
              <a:buFont typeface="Calibri"/>
              <a:buNone/>
            </a:pPr>
            <a:r>
              <a:rPr b="1" i="0" lang="en" sz="1150" u="none" cap="none" strike="noStrike">
                <a:solidFill>
                  <a:srgbClr val="2356A8"/>
                </a:solidFill>
                <a:latin typeface="Calibri"/>
                <a:ea typeface="Calibri"/>
                <a:cs typeface="Calibri"/>
                <a:sym typeface="Calibri"/>
              </a:rPr>
              <a:t>Q  </a:t>
            </a:r>
            <a:r>
              <a:rPr b="0" i="0" lang="en" sz="1150" u="none" cap="none" strike="noStrike">
                <a:solidFill>
                  <a:srgbClr val="1E293B"/>
                </a:solidFill>
                <a:latin typeface="Calibri"/>
                <a:ea typeface="Calibri"/>
                <a:cs typeface="Calibri"/>
                <a:sym typeface="Calibri"/>
              </a:rPr>
              <a:t>← decoder           </a:t>
            </a:r>
            <a:r>
              <a:rPr b="1" i="0" lang="en" sz="1150" u="none" cap="none" strike="noStrike">
                <a:solidFill>
                  <a:srgbClr val="2356A8"/>
                </a:solidFill>
                <a:latin typeface="Calibri"/>
                <a:ea typeface="Calibri"/>
                <a:cs typeface="Calibri"/>
                <a:sym typeface="Calibri"/>
              </a:rPr>
              <a:t>K  </a:t>
            </a:r>
            <a:r>
              <a:rPr b="0" i="0" lang="en" sz="1150" u="none" cap="none" strike="noStrike">
                <a:solidFill>
                  <a:srgbClr val="1E293B"/>
                </a:solidFill>
                <a:latin typeface="Calibri"/>
                <a:ea typeface="Calibri"/>
                <a:cs typeface="Calibri"/>
                <a:sym typeface="Calibri"/>
              </a:rPr>
              <a:t>← encoder           </a:t>
            </a:r>
            <a:r>
              <a:rPr b="1" i="0" lang="en" sz="1150" u="none" cap="none" strike="noStrike">
                <a:solidFill>
                  <a:srgbClr val="2356A8"/>
                </a:solidFill>
                <a:latin typeface="Calibri"/>
                <a:ea typeface="Calibri"/>
                <a:cs typeface="Calibri"/>
                <a:sym typeface="Calibri"/>
              </a:rPr>
              <a:t>V  </a:t>
            </a:r>
            <a:r>
              <a:rPr b="0" i="0" lang="en" sz="1150" u="none" cap="none" strike="noStrike">
                <a:solidFill>
                  <a:srgbClr val="1E293B"/>
                </a:solidFill>
                <a:latin typeface="Calibri"/>
                <a:ea typeface="Calibri"/>
                <a:cs typeface="Calibri"/>
                <a:sym typeface="Calibri"/>
              </a:rPr>
              <a:t>← encoder</a:t>
            </a:r>
            <a:endParaRPr b="0" i="0" sz="1150" u="none" cap="none" strike="noStrike">
              <a:solidFill>
                <a:srgbClr val="000000"/>
              </a:solidFill>
              <a:latin typeface="Calibri"/>
              <a:ea typeface="Calibri"/>
              <a:cs typeface="Calibri"/>
              <a:sym typeface="Calibri"/>
            </a:endParaRPr>
          </a:p>
        </p:txBody>
      </p:sp>
      <p:sp>
        <p:nvSpPr>
          <p:cNvPr id="805" name="Google Shape;805;p39"/>
          <p:cNvSpPr/>
          <p:nvPr/>
        </p:nvSpPr>
        <p:spPr>
          <a:xfrm>
            <a:off x="411480" y="4680018"/>
            <a:ext cx="8321100" cy="274200"/>
          </a:xfrm>
          <a:prstGeom prst="roundRect">
            <a:avLst>
              <a:gd fmla="val 20000" name="adj"/>
            </a:avLst>
          </a:prstGeom>
          <a:solidFill>
            <a:srgbClr val="FEF3C7"/>
          </a:solidFill>
          <a:ln cap="flat" cmpd="sng" w="9525">
            <a:solidFill>
              <a:srgbClr val="FCD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9"/>
          <p:cNvSpPr/>
          <p:nvPr/>
        </p:nvSpPr>
        <p:spPr>
          <a:xfrm>
            <a:off x="566928" y="4689162"/>
            <a:ext cx="8010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50"/>
              <a:buFont typeface="Calibri"/>
              <a:buNone/>
            </a:pPr>
            <a:r>
              <a:rPr b="0" i="0" lang="en" sz="1050" u="none" cap="none" strike="noStrike">
                <a:solidFill>
                  <a:srgbClr val="B45309"/>
                </a:solidFill>
                <a:latin typeface="Calibri"/>
                <a:ea typeface="Calibri"/>
                <a:cs typeface="Calibri"/>
                <a:sym typeface="Calibri"/>
              </a:rPr>
              <a:t>Key insight — Cross-Attention is the bridge between encoder and decoder: the decoder asks questions (Q) about what to generate next, and the encoder provides the context (K, V) from the source sequence.</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1" name="Shape 811"/>
        <p:cNvGrpSpPr/>
        <p:nvPr/>
      </p:nvGrpSpPr>
      <p:grpSpPr>
        <a:xfrm>
          <a:off x="0" y="0"/>
          <a:ext cx="0" cy="0"/>
          <a:chOff x="0" y="0"/>
          <a:chExt cx="0" cy="0"/>
        </a:xfrm>
      </p:grpSpPr>
      <p:sp>
        <p:nvSpPr>
          <p:cNvPr id="812" name="Google Shape;812;p40"/>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3</a:t>
            </a:r>
            <a:endParaRPr b="0" i="0" sz="2600" u="none" cap="none" strike="noStrike">
              <a:solidFill>
                <a:schemeClr val="dk1"/>
              </a:solidFill>
              <a:latin typeface="Calibri"/>
              <a:ea typeface="Calibri"/>
              <a:cs typeface="Calibri"/>
              <a:sym typeface="Calibri"/>
            </a:endParaRPr>
          </a:p>
        </p:txBody>
      </p:sp>
      <p:pic>
        <p:nvPicPr>
          <p:cNvPr id="813" name="Google Shape;813;p4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814" name="Google Shape;814;p40"/>
          <p:cNvSpPr txBox="1"/>
          <p:nvPr/>
        </p:nvSpPr>
        <p:spPr>
          <a:xfrm>
            <a:off x="354350" y="1187800"/>
            <a:ext cx="7133700" cy="33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building a translation system. A colleague suggests reusing the same self-attention block for both "the decoder looking at its own partial output" and "the decoder looking at the source sentence" — just feed it different inputs. Will this design work?</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Yes — self-attention is generic, so as long as you feed it the right inputs, one block can do both jobs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No — the decoder needs a causal mask for its own output, but full access to the encoder's output, so these need different mechanisms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Clr>
                <a:schemeClr val="dk1"/>
              </a:buClr>
              <a:buSzPts val="1100"/>
              <a:buFont typeface="Arial"/>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No — self-attention can only ever look at one sequence at a time, full stop, regardless of masking</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Yes — both cases are just softmax(QKᵀ/√d)·V, masking is an optional add-on that doesn't fundamentally change anything</a:t>
            </a:r>
            <a:endParaRPr sz="1300">
              <a:solidFill>
                <a:schemeClr val="dk1"/>
              </a:solidFill>
              <a:latin typeface="Calibri"/>
              <a:ea typeface="Calibri"/>
              <a:cs typeface="Calibri"/>
              <a:sym typeface="Calibri"/>
            </a:endParaRPr>
          </a:p>
        </p:txBody>
      </p:sp>
      <p:pic>
        <p:nvPicPr>
          <p:cNvPr id="815" name="Google Shape;815;p40"/>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0" name="Shape 820"/>
        <p:cNvGrpSpPr/>
        <p:nvPr/>
      </p:nvGrpSpPr>
      <p:grpSpPr>
        <a:xfrm>
          <a:off x="0" y="0"/>
          <a:ext cx="0" cy="0"/>
          <a:chOff x="0" y="0"/>
          <a:chExt cx="0" cy="0"/>
        </a:xfrm>
      </p:grpSpPr>
      <p:sp>
        <p:nvSpPr>
          <p:cNvPr id="821" name="Google Shape;821;p41"/>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3</a:t>
            </a:r>
            <a:endParaRPr b="0" i="0" sz="2600" u="none" cap="none" strike="noStrike">
              <a:solidFill>
                <a:schemeClr val="dk1"/>
              </a:solidFill>
              <a:latin typeface="Calibri"/>
              <a:ea typeface="Calibri"/>
              <a:cs typeface="Calibri"/>
              <a:sym typeface="Calibri"/>
            </a:endParaRPr>
          </a:p>
        </p:txBody>
      </p:sp>
      <p:pic>
        <p:nvPicPr>
          <p:cNvPr id="822" name="Google Shape;822;p4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823" name="Google Shape;823;p41"/>
          <p:cNvSpPr txBox="1"/>
          <p:nvPr/>
        </p:nvSpPr>
        <p:spPr>
          <a:xfrm>
            <a:off x="354350" y="1187800"/>
            <a:ext cx="7133700" cy="33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You're building a translation system. A colleague suggests reusing the same self-attention block for both "the decoder looking at its own partial output" and "the decoder looking at the source sentence" — just feed it different inputs. Will this design work?</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Yes — self-attention is generic, so as long as you feed it the right inputs, one block can do both jobs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No — the decoder needs a causal mask for its own output, but full access to the encoder's output, so these need different mechanisms</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No — self-attention can only ever look at one sequence at a time, full stop, regardless of masking</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Yes — both cases are just softmax(QKᵀ/√d)·V, masking is an optional add-on that doesn't fundamentally change anything</a:t>
            </a:r>
            <a:endParaRPr sz="1300">
              <a:solidFill>
                <a:schemeClr val="dk1"/>
              </a:solidFill>
              <a:latin typeface="Calibri"/>
              <a:ea typeface="Calibri"/>
              <a:cs typeface="Calibri"/>
              <a:sym typeface="Calibri"/>
            </a:endParaRPr>
          </a:p>
        </p:txBody>
      </p:sp>
      <p:sp>
        <p:nvSpPr>
          <p:cNvPr id="824" name="Google Shape;824;p41"/>
          <p:cNvSpPr txBox="1"/>
          <p:nvPr/>
        </p:nvSpPr>
        <p:spPr>
          <a:xfrm>
            <a:off x="459725" y="2729500"/>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825" name="Google Shape;825;p41"/>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0" name="Shape 830"/>
        <p:cNvGrpSpPr/>
        <p:nvPr/>
      </p:nvGrpSpPr>
      <p:grpSpPr>
        <a:xfrm>
          <a:off x="0" y="0"/>
          <a:ext cx="0" cy="0"/>
          <a:chOff x="0" y="0"/>
          <a:chExt cx="0" cy="0"/>
        </a:xfrm>
      </p:grpSpPr>
      <p:sp>
        <p:nvSpPr>
          <p:cNvPr id="831" name="Google Shape;831;p42"/>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a:t>
            </a:r>
            <a:r>
              <a:rPr b="1" lang="en" sz="1800">
                <a:solidFill>
                  <a:srgbClr val="0B2A3D"/>
                </a:solidFill>
                <a:latin typeface="Cambria"/>
                <a:ea typeface="Cambria"/>
                <a:cs typeface="Cambria"/>
                <a:sym typeface="Cambria"/>
              </a:rPr>
              <a:t>3</a:t>
            </a:r>
            <a:r>
              <a:rPr b="1" i="0" lang="en" sz="1800" u="none" cap="none" strike="noStrike">
                <a:solidFill>
                  <a:srgbClr val="0B2A3D"/>
                </a:solidFill>
                <a:latin typeface="Cambria"/>
                <a:ea typeface="Cambria"/>
                <a:cs typeface="Cambria"/>
                <a:sym typeface="Cambria"/>
              </a:rPr>
              <a:t> — Solution</a:t>
            </a:r>
            <a:endParaRPr b="0" i="0" sz="1800" u="none" cap="none" strike="noStrike">
              <a:solidFill>
                <a:schemeClr val="dk1"/>
              </a:solidFill>
              <a:latin typeface="Calibri"/>
              <a:ea typeface="Calibri"/>
              <a:cs typeface="Calibri"/>
              <a:sym typeface="Calibri"/>
            </a:endParaRPr>
          </a:p>
        </p:txBody>
      </p:sp>
      <p:sp>
        <p:nvSpPr>
          <p:cNvPr id="832" name="Google Shape;832;p42"/>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2"/>
          <p:cNvSpPr/>
          <p:nvPr/>
        </p:nvSpPr>
        <p:spPr>
          <a:xfrm>
            <a:off x="365760" y="621792"/>
            <a:ext cx="84126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Will this design work?</a:t>
            </a:r>
            <a:endParaRPr b="0" i="0" sz="1050" u="none" cap="none" strike="noStrike">
              <a:solidFill>
                <a:schemeClr val="dk1"/>
              </a:solidFill>
              <a:latin typeface="Calibri"/>
              <a:ea typeface="Calibri"/>
              <a:cs typeface="Calibri"/>
              <a:sym typeface="Calibri"/>
            </a:endParaRPr>
          </a:p>
        </p:txBody>
      </p:sp>
      <p:sp>
        <p:nvSpPr>
          <p:cNvPr id="834" name="Google Shape;834;p42"/>
          <p:cNvSpPr/>
          <p:nvPr/>
        </p:nvSpPr>
        <p:spPr>
          <a:xfrm>
            <a:off x="365760" y="960120"/>
            <a:ext cx="8412600" cy="676800"/>
          </a:xfrm>
          <a:prstGeom prst="roundRect">
            <a:avLst>
              <a:gd fmla="val 8108"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2"/>
          <p:cNvSpPr/>
          <p:nvPr/>
        </p:nvSpPr>
        <p:spPr>
          <a:xfrm>
            <a:off x="475488" y="1033272"/>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2"/>
          <p:cNvSpPr/>
          <p:nvPr/>
        </p:nvSpPr>
        <p:spPr>
          <a:xfrm>
            <a:off x="475488" y="103327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a:t>
            </a:r>
            <a:endParaRPr b="0" i="0" sz="1000" u="none" cap="none" strike="noStrike">
              <a:solidFill>
                <a:schemeClr val="dk1"/>
              </a:solidFill>
              <a:latin typeface="Calibri"/>
              <a:ea typeface="Calibri"/>
              <a:cs typeface="Calibri"/>
              <a:sym typeface="Calibri"/>
            </a:endParaRPr>
          </a:p>
        </p:txBody>
      </p:sp>
      <p:sp>
        <p:nvSpPr>
          <p:cNvPr id="837" name="Google Shape;837;p42"/>
          <p:cNvSpPr/>
          <p:nvPr/>
        </p:nvSpPr>
        <p:spPr>
          <a:xfrm>
            <a:off x="877824" y="1005840"/>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Yes — self-attention is generic, so as long as you feed it the right inputs, one block can do both jobs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Underselling how much the details matter. The formula being generic doesn't mean the masking behavior and the source of Q, K, V are interchangeable — they define two genuinely different jobs.</a:t>
            </a:r>
            <a:endParaRPr b="0" i="0" sz="950" u="none" cap="none" strike="noStrike">
              <a:solidFill>
                <a:schemeClr val="dk1"/>
              </a:solidFill>
              <a:latin typeface="Calibri"/>
              <a:ea typeface="Calibri"/>
              <a:cs typeface="Calibri"/>
              <a:sym typeface="Calibri"/>
            </a:endParaRPr>
          </a:p>
        </p:txBody>
      </p:sp>
      <p:sp>
        <p:nvSpPr>
          <p:cNvPr id="838" name="Google Shape;838;p42"/>
          <p:cNvSpPr/>
          <p:nvPr/>
        </p:nvSpPr>
        <p:spPr>
          <a:xfrm>
            <a:off x="365760" y="1691640"/>
            <a:ext cx="8412600" cy="841200"/>
          </a:xfrm>
          <a:prstGeom prst="roundRect">
            <a:avLst>
              <a:gd fmla="val 6522" name="adj"/>
            </a:avLst>
          </a:prstGeom>
          <a:solidFill>
            <a:srgbClr val="E6F7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2"/>
          <p:cNvSpPr/>
          <p:nvPr/>
        </p:nvSpPr>
        <p:spPr>
          <a:xfrm>
            <a:off x="475488" y="1764792"/>
            <a:ext cx="292500" cy="292500"/>
          </a:xfrm>
          <a:prstGeom prst="ellipse">
            <a:avLst/>
          </a:prstGeom>
          <a:solidFill>
            <a:srgbClr val="0F7A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2"/>
          <p:cNvSpPr/>
          <p:nvPr/>
        </p:nvSpPr>
        <p:spPr>
          <a:xfrm>
            <a:off x="475488" y="176479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a:t>
            </a:r>
            <a:endParaRPr b="0" i="0" sz="1000" u="none" cap="none" strike="noStrike">
              <a:solidFill>
                <a:schemeClr val="dk1"/>
              </a:solidFill>
              <a:latin typeface="Calibri"/>
              <a:ea typeface="Calibri"/>
              <a:cs typeface="Calibri"/>
              <a:sym typeface="Calibri"/>
            </a:endParaRPr>
          </a:p>
        </p:txBody>
      </p:sp>
      <p:sp>
        <p:nvSpPr>
          <p:cNvPr id="841" name="Google Shape;841;p42"/>
          <p:cNvSpPr/>
          <p:nvPr/>
        </p:nvSpPr>
        <p:spPr>
          <a:xfrm>
            <a:off x="877824" y="1737360"/>
            <a:ext cx="7818000" cy="749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No — the decoder needs a causal mask for its own output, but full access to the encoder's output, so these need different mechanisms (masked self-attention vs. cross-attention)  </a:t>
            </a:r>
            <a:r>
              <a:rPr b="1" i="0" lang="en" sz="950" u="none" cap="none" strike="noStrike">
                <a:solidFill>
                  <a:srgbClr val="0F7A53"/>
                </a:solidFill>
                <a:latin typeface="Calibri"/>
                <a:ea typeface="Calibri"/>
                <a:cs typeface="Calibri"/>
                <a:sym typeface="Calibri"/>
              </a:rPr>
              <a:t>— 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The decoder's own output needs a causal mask (can't see the future), while reading the encoder's output needs full, unmasked access to a separate sequence entirely. One mechanism can't satisfy both requirements at once.</a:t>
            </a:r>
            <a:endParaRPr b="0" i="0" sz="950" u="none" cap="none" strike="noStrike">
              <a:solidFill>
                <a:schemeClr val="dk1"/>
              </a:solidFill>
              <a:latin typeface="Calibri"/>
              <a:ea typeface="Calibri"/>
              <a:cs typeface="Calibri"/>
              <a:sym typeface="Calibri"/>
            </a:endParaRPr>
          </a:p>
        </p:txBody>
      </p:sp>
      <p:sp>
        <p:nvSpPr>
          <p:cNvPr id="842" name="Google Shape;842;p42"/>
          <p:cNvSpPr/>
          <p:nvPr/>
        </p:nvSpPr>
        <p:spPr>
          <a:xfrm>
            <a:off x="365760" y="2587752"/>
            <a:ext cx="8412600" cy="676800"/>
          </a:xfrm>
          <a:prstGeom prst="roundRect">
            <a:avLst>
              <a:gd fmla="val 8108"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2"/>
          <p:cNvSpPr/>
          <p:nvPr/>
        </p:nvSpPr>
        <p:spPr>
          <a:xfrm>
            <a:off x="475488" y="2660904"/>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2"/>
          <p:cNvSpPr/>
          <p:nvPr/>
        </p:nvSpPr>
        <p:spPr>
          <a:xfrm>
            <a:off x="475488" y="266090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845" name="Google Shape;845;p42"/>
          <p:cNvSpPr/>
          <p:nvPr/>
        </p:nvSpPr>
        <p:spPr>
          <a:xfrm>
            <a:off x="877824" y="2633472"/>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No — self-attention can only ever look at one sequence at a time, full stop, regardless of masking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This overcorrects. Self-attention itself is single-sequence, but cross-attention solves exactly this limitation by design — Q from one sequence, K/V from another — so 'never' is too strong a claim.</a:t>
            </a:r>
            <a:endParaRPr b="0" i="0" sz="950" u="none" cap="none" strike="noStrike">
              <a:solidFill>
                <a:schemeClr val="dk1"/>
              </a:solidFill>
              <a:latin typeface="Calibri"/>
              <a:ea typeface="Calibri"/>
              <a:cs typeface="Calibri"/>
              <a:sym typeface="Calibri"/>
            </a:endParaRPr>
          </a:p>
        </p:txBody>
      </p:sp>
      <p:sp>
        <p:nvSpPr>
          <p:cNvPr id="846" name="Google Shape;846;p42"/>
          <p:cNvSpPr/>
          <p:nvPr/>
        </p:nvSpPr>
        <p:spPr>
          <a:xfrm>
            <a:off x="365760" y="3319272"/>
            <a:ext cx="8412600" cy="676800"/>
          </a:xfrm>
          <a:prstGeom prst="roundRect">
            <a:avLst>
              <a:gd fmla="val 8108" name="adj"/>
            </a:avLst>
          </a:prstGeom>
          <a:solidFill>
            <a:srgbClr val="FCE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2"/>
          <p:cNvSpPr/>
          <p:nvPr/>
        </p:nvSpPr>
        <p:spPr>
          <a:xfrm>
            <a:off x="475488" y="3392424"/>
            <a:ext cx="292500" cy="292500"/>
          </a:xfrm>
          <a:prstGeom prst="ellipse">
            <a:avLst/>
          </a:prstGeom>
          <a:solidFill>
            <a:srgbClr val="B0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2"/>
          <p:cNvSpPr/>
          <p:nvPr/>
        </p:nvSpPr>
        <p:spPr>
          <a:xfrm>
            <a:off x="475488" y="339242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D</a:t>
            </a:r>
            <a:endParaRPr b="0" i="0" sz="1000" u="none" cap="none" strike="noStrike">
              <a:solidFill>
                <a:schemeClr val="dk1"/>
              </a:solidFill>
              <a:latin typeface="Calibri"/>
              <a:ea typeface="Calibri"/>
              <a:cs typeface="Calibri"/>
              <a:sym typeface="Calibri"/>
            </a:endParaRPr>
          </a:p>
        </p:txBody>
      </p:sp>
      <p:sp>
        <p:nvSpPr>
          <p:cNvPr id="849" name="Google Shape;849;p42"/>
          <p:cNvSpPr/>
          <p:nvPr/>
        </p:nvSpPr>
        <p:spPr>
          <a:xfrm>
            <a:off x="877824" y="3364992"/>
            <a:ext cx="7818000" cy="58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B2A3D"/>
              </a:buClr>
              <a:buSzPts val="950"/>
              <a:buFont typeface="Calibri"/>
              <a:buNone/>
            </a:pPr>
            <a:r>
              <a:rPr b="1" i="0" lang="en" sz="950" u="none" cap="none" strike="noStrike">
                <a:solidFill>
                  <a:srgbClr val="0B2A3D"/>
                </a:solidFill>
                <a:latin typeface="Calibri"/>
                <a:ea typeface="Calibri"/>
                <a:cs typeface="Calibri"/>
                <a:sym typeface="Calibri"/>
              </a:rPr>
              <a:t>Yes — both cases are just softmax(QKᵀ/√d)·V, masking is an optional add-on that doesn't fundamentally change anything  </a:t>
            </a:r>
            <a:r>
              <a:rPr b="1" i="0" lang="en" sz="950" u="none" cap="none" strike="noStrike">
                <a:solidFill>
                  <a:srgbClr val="B0432B"/>
                </a:solidFill>
                <a:latin typeface="Calibri"/>
                <a:ea typeface="Calibri"/>
                <a:cs typeface="Calibri"/>
                <a:sym typeface="Calibri"/>
              </a:rPr>
              <a:t>— Incorrect.</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3D5A66"/>
              </a:buClr>
              <a:buSzPts val="900"/>
              <a:buFont typeface="Calibri"/>
              <a:buNone/>
            </a:pPr>
            <a:r>
              <a:rPr b="0" i="0" lang="en" sz="900" u="none" cap="none" strike="noStrike">
                <a:solidFill>
                  <a:srgbClr val="3D5A66"/>
                </a:solidFill>
                <a:latin typeface="Calibri"/>
                <a:ea typeface="Calibri"/>
                <a:cs typeface="Calibri"/>
                <a:sym typeface="Calibri"/>
              </a:rPr>
              <a:t>Masking isn't a cosmetic add-on here — it's the mechanism that determines whether the model can cheat by seeing future tokens during training. Treating it as optional misses why two separate blocks exist.</a:t>
            </a:r>
            <a:endParaRPr b="0" i="0" sz="950" u="none" cap="none" strike="noStrike">
              <a:solidFill>
                <a:schemeClr val="dk1"/>
              </a:solidFill>
              <a:latin typeface="Calibri"/>
              <a:ea typeface="Calibri"/>
              <a:cs typeface="Calibri"/>
              <a:sym typeface="Calibri"/>
            </a:endParaRPr>
          </a:p>
        </p:txBody>
      </p:sp>
      <p:sp>
        <p:nvSpPr>
          <p:cNvPr id="850" name="Google Shape;850;p42"/>
          <p:cNvSpPr/>
          <p:nvPr/>
        </p:nvSpPr>
        <p:spPr>
          <a:xfrm>
            <a:off x="365760" y="4069080"/>
            <a:ext cx="8412600" cy="914400"/>
          </a:xfrm>
          <a:prstGeom prst="roundRect">
            <a:avLst>
              <a:gd fmla="val 8000" name="adj"/>
            </a:avLst>
          </a:prstGeom>
          <a:solidFill>
            <a:srgbClr val="0B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2"/>
          <p:cNvSpPr/>
          <p:nvPr/>
        </p:nvSpPr>
        <p:spPr>
          <a:xfrm>
            <a:off x="548640" y="4123944"/>
            <a:ext cx="8046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mbria"/>
              <a:buNone/>
            </a:pPr>
            <a:r>
              <a:rPr b="1" i="0" lang="en" sz="1100" u="none" cap="none" strike="noStrike">
                <a:solidFill>
                  <a:srgbClr val="02C39A"/>
                </a:solidFill>
                <a:latin typeface="Cambria"/>
                <a:ea typeface="Cambria"/>
                <a:cs typeface="Cambria"/>
                <a:sym typeface="Cambria"/>
              </a:rPr>
              <a:t>Key Insight</a:t>
            </a:r>
            <a:endParaRPr b="0" i="0" sz="1100" u="none" cap="none" strike="noStrike">
              <a:solidFill>
                <a:schemeClr val="dk1"/>
              </a:solidFill>
              <a:latin typeface="Calibri"/>
              <a:ea typeface="Calibri"/>
              <a:cs typeface="Calibri"/>
              <a:sym typeface="Calibri"/>
            </a:endParaRPr>
          </a:p>
        </p:txBody>
      </p:sp>
      <p:sp>
        <p:nvSpPr>
          <p:cNvPr id="852" name="Google Shape;852;p42"/>
          <p:cNvSpPr/>
          <p:nvPr/>
        </p:nvSpPr>
        <p:spPr>
          <a:xfrm>
            <a:off x="548640" y="4361688"/>
            <a:ext cx="8046600" cy="58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950"/>
              <a:buFont typeface="Calibri"/>
              <a:buNone/>
            </a:pPr>
            <a:r>
              <a:rPr b="0" i="0" lang="en" sz="950" u="none" cap="none" strike="noStrike">
                <a:solidFill>
                  <a:srgbClr val="EAF7F5"/>
                </a:solidFill>
                <a:latin typeface="Calibri"/>
                <a:ea typeface="Calibri"/>
                <a:cs typeface="Calibri"/>
                <a:sym typeface="Calibri"/>
              </a:rPr>
              <a:t>Same formula, two different jobs. Masked self-attention prevents the decoder from peeking at its own future tokens; cross-attention deliberately reads a different sequence (the encoder's output) in full. The architecture needs both because masking and the source of K/V are doing fundamentally different work, even though the underlying math looks identical.</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6" name="Shape 856"/>
        <p:cNvGrpSpPr/>
        <p:nvPr/>
      </p:nvGrpSpPr>
      <p:grpSpPr>
        <a:xfrm>
          <a:off x="0" y="0"/>
          <a:ext cx="0" cy="0"/>
          <a:chOff x="0" y="0"/>
          <a:chExt cx="0" cy="0"/>
        </a:xfrm>
      </p:grpSpPr>
      <p:sp>
        <p:nvSpPr>
          <p:cNvPr descr="$PPTXTitle" id="857" name="Google Shape;857;p43"/>
          <p:cNvSpPr txBox="1"/>
          <p:nvPr>
            <p:ph type="title"/>
          </p:nvPr>
        </p:nvSpPr>
        <p:spPr>
          <a:xfrm>
            <a:off x="1825493" y="385952"/>
            <a:ext cx="7318500" cy="8715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a:p>
            <a:pPr indent="0" lvl="0" marL="12700" rtl="0" algn="ctr">
              <a:lnSpc>
                <a:spcPct val="100000"/>
              </a:lnSpc>
              <a:spcBef>
                <a:spcPts val="0"/>
              </a:spcBef>
              <a:spcAft>
                <a:spcPts val="0"/>
              </a:spcAft>
              <a:buSzPts val="2800"/>
              <a:buNone/>
            </a:pPr>
            <a:r>
              <a:rPr lang="en" sz="2800">
                <a:solidFill>
                  <a:schemeClr val="dk1"/>
                </a:solidFill>
              </a:rPr>
              <a:t>Non-Linearity</a:t>
            </a:r>
            <a:endParaRPr sz="2800">
              <a:solidFill>
                <a:schemeClr val="dk1"/>
              </a:solidFill>
            </a:endParaRPr>
          </a:p>
        </p:txBody>
      </p:sp>
      <p:pic>
        <p:nvPicPr>
          <p:cNvPr id="858" name="Google Shape;858;p43"/>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859" name="Google Shape;859;p43"/>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864" name="Shape 864"/>
        <p:cNvGrpSpPr/>
        <p:nvPr/>
      </p:nvGrpSpPr>
      <p:grpSpPr>
        <a:xfrm>
          <a:off x="0" y="0"/>
          <a:ext cx="0" cy="0"/>
          <a:chOff x="0" y="0"/>
          <a:chExt cx="0" cy="0"/>
        </a:xfrm>
      </p:grpSpPr>
      <p:sp>
        <p:nvSpPr>
          <p:cNvPr id="865" name="Google Shape;865;p44"/>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4"/>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Where Is The Non-Linearity In A Transformer?</a:t>
            </a:r>
            <a:endParaRPr b="0" i="0" sz="2300" u="none" cap="none" strike="noStrike">
              <a:solidFill>
                <a:schemeClr val="dk1"/>
              </a:solidFill>
              <a:latin typeface="Calibri"/>
              <a:ea typeface="Calibri"/>
              <a:cs typeface="Calibri"/>
              <a:sym typeface="Calibri"/>
            </a:endParaRPr>
          </a:p>
        </p:txBody>
      </p:sp>
      <p:sp>
        <p:nvSpPr>
          <p:cNvPr id="867" name="Google Shape;867;p44"/>
          <p:cNvSpPr/>
          <p:nvPr/>
        </p:nvSpPr>
        <p:spPr>
          <a:xfrm>
            <a:off x="274320" y="438912"/>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Most of the architecture is linear (matrix multiplies) — only a few spots actually bend the function</a:t>
            </a:r>
            <a:endParaRPr b="0" i="0" sz="1100" u="none" cap="none" strike="noStrike">
              <a:solidFill>
                <a:schemeClr val="dk1"/>
              </a:solidFill>
              <a:latin typeface="Calibri"/>
              <a:ea typeface="Calibri"/>
              <a:cs typeface="Calibri"/>
              <a:sym typeface="Calibri"/>
            </a:endParaRPr>
          </a:p>
        </p:txBody>
      </p:sp>
      <p:sp>
        <p:nvSpPr>
          <p:cNvPr id="868" name="Google Shape;868;p44"/>
          <p:cNvSpPr/>
          <p:nvPr/>
        </p:nvSpPr>
        <p:spPr>
          <a:xfrm>
            <a:off x="228600" y="914400"/>
            <a:ext cx="868800" cy="567000"/>
          </a:xfrm>
          <a:prstGeom prst="roundRect">
            <a:avLst>
              <a:gd fmla="val 11290" name="adj"/>
            </a:avLst>
          </a:prstGeom>
          <a:solidFill>
            <a:srgbClr val="FFFFFF"/>
          </a:solidFill>
          <a:ln cap="flat" cmpd="sng" w="12700">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4"/>
          <p:cNvSpPr/>
          <p:nvPr/>
        </p:nvSpPr>
        <p:spPr>
          <a:xfrm>
            <a:off x="228600" y="914400"/>
            <a:ext cx="8688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860"/>
              <a:buFont typeface="Calibri"/>
              <a:buNone/>
            </a:pPr>
            <a:r>
              <a:rPr b="0" i="0" lang="en" sz="860" u="none" cap="none" strike="noStrike">
                <a:solidFill>
                  <a:srgbClr val="1A1A2E"/>
                </a:solidFill>
                <a:latin typeface="Calibri"/>
                <a:ea typeface="Calibri"/>
                <a:cs typeface="Calibri"/>
                <a:sym typeface="Calibri"/>
              </a:rPr>
              <a:t>Input</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860"/>
              <a:buFont typeface="Calibri"/>
              <a:buNone/>
            </a:pPr>
            <a:r>
              <a:rPr b="0" i="0" lang="en" sz="860" u="none" cap="none" strike="noStrike">
                <a:solidFill>
                  <a:srgbClr val="1A1A2E"/>
                </a:solidFill>
                <a:latin typeface="Calibri"/>
                <a:ea typeface="Calibri"/>
                <a:cs typeface="Calibri"/>
                <a:sym typeface="Calibri"/>
              </a:rPr>
              <a:t>x</a:t>
            </a:r>
            <a:endParaRPr b="0" i="0" sz="860" u="none" cap="none" strike="noStrike">
              <a:solidFill>
                <a:schemeClr val="dk1"/>
              </a:solidFill>
              <a:latin typeface="Calibri"/>
              <a:ea typeface="Calibri"/>
              <a:cs typeface="Calibri"/>
              <a:sym typeface="Calibri"/>
            </a:endParaRPr>
          </a:p>
        </p:txBody>
      </p:sp>
      <p:cxnSp>
        <p:nvCxnSpPr>
          <p:cNvPr id="870" name="Google Shape;870;p44"/>
          <p:cNvCxnSpPr/>
          <p:nvPr/>
        </p:nvCxnSpPr>
        <p:spPr>
          <a:xfrm>
            <a:off x="1097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71" name="Google Shape;871;p44"/>
          <p:cNvSpPr/>
          <p:nvPr/>
        </p:nvSpPr>
        <p:spPr>
          <a:xfrm>
            <a:off x="1234440" y="914400"/>
            <a:ext cx="1005900" cy="567000"/>
          </a:xfrm>
          <a:prstGeom prst="roundRect">
            <a:avLst>
              <a:gd fmla="val 11290" name="adj"/>
            </a:avLst>
          </a:prstGeom>
          <a:solidFill>
            <a:srgbClr val="EBF2FB"/>
          </a:solidFill>
          <a:ln cap="flat" cmpd="sng" w="127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4"/>
          <p:cNvSpPr/>
          <p:nvPr/>
        </p:nvSpPr>
        <p:spPr>
          <a:xfrm>
            <a:off x="1234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Q,K,V</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Projection</a:t>
            </a:r>
            <a:endParaRPr b="0" i="0" sz="860" u="none" cap="none" strike="noStrike">
              <a:solidFill>
                <a:schemeClr val="dk1"/>
              </a:solidFill>
              <a:latin typeface="Calibri"/>
              <a:ea typeface="Calibri"/>
              <a:cs typeface="Calibri"/>
              <a:sym typeface="Calibri"/>
            </a:endParaRPr>
          </a:p>
        </p:txBody>
      </p:sp>
      <p:cxnSp>
        <p:nvCxnSpPr>
          <p:cNvPr id="873" name="Google Shape;873;p44"/>
          <p:cNvCxnSpPr/>
          <p:nvPr/>
        </p:nvCxnSpPr>
        <p:spPr>
          <a:xfrm>
            <a:off x="2240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74" name="Google Shape;874;p44"/>
          <p:cNvSpPr/>
          <p:nvPr/>
        </p:nvSpPr>
        <p:spPr>
          <a:xfrm>
            <a:off x="2377440" y="914400"/>
            <a:ext cx="10059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4"/>
          <p:cNvSpPr/>
          <p:nvPr/>
        </p:nvSpPr>
        <p:spPr>
          <a:xfrm>
            <a:off x="2377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Softmax</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(QKᵀ/√d)</a:t>
            </a:r>
            <a:endParaRPr b="0" i="0" sz="860" u="none" cap="none" strike="noStrike">
              <a:solidFill>
                <a:schemeClr val="dk1"/>
              </a:solidFill>
              <a:latin typeface="Calibri"/>
              <a:ea typeface="Calibri"/>
              <a:cs typeface="Calibri"/>
              <a:sym typeface="Calibri"/>
            </a:endParaRPr>
          </a:p>
        </p:txBody>
      </p:sp>
      <p:cxnSp>
        <p:nvCxnSpPr>
          <p:cNvPr id="876" name="Google Shape;876;p44"/>
          <p:cNvCxnSpPr/>
          <p:nvPr/>
        </p:nvCxnSpPr>
        <p:spPr>
          <a:xfrm>
            <a:off x="3383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77" name="Google Shape;877;p44"/>
          <p:cNvSpPr/>
          <p:nvPr/>
        </p:nvSpPr>
        <p:spPr>
          <a:xfrm>
            <a:off x="3520440" y="914400"/>
            <a:ext cx="1005900" cy="567000"/>
          </a:xfrm>
          <a:prstGeom prst="roundRect">
            <a:avLst>
              <a:gd fmla="val 11290" name="adj"/>
            </a:avLst>
          </a:prstGeom>
          <a:solidFill>
            <a:srgbClr val="EBF2FB"/>
          </a:solidFill>
          <a:ln cap="flat" cmpd="sng" w="127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4"/>
          <p:cNvSpPr/>
          <p:nvPr/>
        </p:nvSpPr>
        <p:spPr>
          <a:xfrm>
            <a:off x="3520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Weighted</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Sum ·V</a:t>
            </a:r>
            <a:endParaRPr b="0" i="0" sz="860" u="none" cap="none" strike="noStrike">
              <a:solidFill>
                <a:schemeClr val="dk1"/>
              </a:solidFill>
              <a:latin typeface="Calibri"/>
              <a:ea typeface="Calibri"/>
              <a:cs typeface="Calibri"/>
              <a:sym typeface="Calibri"/>
            </a:endParaRPr>
          </a:p>
        </p:txBody>
      </p:sp>
      <p:cxnSp>
        <p:nvCxnSpPr>
          <p:cNvPr id="879" name="Google Shape;879;p44"/>
          <p:cNvCxnSpPr/>
          <p:nvPr/>
        </p:nvCxnSpPr>
        <p:spPr>
          <a:xfrm>
            <a:off x="4526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80" name="Google Shape;880;p44"/>
          <p:cNvSpPr/>
          <p:nvPr/>
        </p:nvSpPr>
        <p:spPr>
          <a:xfrm>
            <a:off x="4663440" y="914400"/>
            <a:ext cx="1005900" cy="567000"/>
          </a:xfrm>
          <a:prstGeom prst="roundRect">
            <a:avLst>
              <a:gd fmla="val 11290" name="adj"/>
            </a:avLst>
          </a:prstGeom>
          <a:solidFill>
            <a:srgbClr val="EBF2FB"/>
          </a:solidFill>
          <a:ln cap="flat" cmpd="sng" w="127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4"/>
          <p:cNvSpPr/>
          <p:nvPr/>
        </p:nvSpPr>
        <p:spPr>
          <a:xfrm>
            <a:off x="4663440" y="914400"/>
            <a:ext cx="10059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Output</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565C0"/>
              </a:buClr>
              <a:buSzPts val="860"/>
              <a:buFont typeface="Calibri"/>
              <a:buNone/>
            </a:pPr>
            <a:r>
              <a:rPr b="0" i="0" lang="en" sz="860" u="none" cap="none" strike="noStrike">
                <a:solidFill>
                  <a:srgbClr val="1565C0"/>
                </a:solidFill>
                <a:latin typeface="Calibri"/>
                <a:ea typeface="Calibri"/>
                <a:cs typeface="Calibri"/>
                <a:sym typeface="Calibri"/>
              </a:rPr>
              <a:t>Proj. Wₒ</a:t>
            </a:r>
            <a:endParaRPr b="0" i="0" sz="860" u="none" cap="none" strike="noStrike">
              <a:solidFill>
                <a:schemeClr val="dk1"/>
              </a:solidFill>
              <a:latin typeface="Calibri"/>
              <a:ea typeface="Calibri"/>
              <a:cs typeface="Calibri"/>
              <a:sym typeface="Calibri"/>
            </a:endParaRPr>
          </a:p>
        </p:txBody>
      </p:sp>
      <p:cxnSp>
        <p:nvCxnSpPr>
          <p:cNvPr id="882" name="Google Shape;882;p44"/>
          <p:cNvCxnSpPr/>
          <p:nvPr/>
        </p:nvCxnSpPr>
        <p:spPr>
          <a:xfrm>
            <a:off x="566928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83" name="Google Shape;883;p44"/>
          <p:cNvSpPr/>
          <p:nvPr/>
        </p:nvSpPr>
        <p:spPr>
          <a:xfrm>
            <a:off x="5806440" y="914400"/>
            <a:ext cx="9600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4"/>
          <p:cNvSpPr/>
          <p:nvPr/>
        </p:nvSpPr>
        <p:spPr>
          <a:xfrm>
            <a:off x="5806440" y="914400"/>
            <a:ext cx="9600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Add &amp;</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Norm</a:t>
            </a:r>
            <a:endParaRPr b="0" i="0" sz="860" u="none" cap="none" strike="noStrike">
              <a:solidFill>
                <a:schemeClr val="dk1"/>
              </a:solidFill>
              <a:latin typeface="Calibri"/>
              <a:ea typeface="Calibri"/>
              <a:cs typeface="Calibri"/>
              <a:sym typeface="Calibri"/>
            </a:endParaRPr>
          </a:p>
        </p:txBody>
      </p:sp>
      <p:cxnSp>
        <p:nvCxnSpPr>
          <p:cNvPr id="885" name="Google Shape;885;p44"/>
          <p:cNvCxnSpPr/>
          <p:nvPr/>
        </p:nvCxnSpPr>
        <p:spPr>
          <a:xfrm>
            <a:off x="676656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86" name="Google Shape;886;p44"/>
          <p:cNvSpPr/>
          <p:nvPr/>
        </p:nvSpPr>
        <p:spPr>
          <a:xfrm>
            <a:off x="6903720" y="914400"/>
            <a:ext cx="11886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4"/>
          <p:cNvSpPr/>
          <p:nvPr/>
        </p:nvSpPr>
        <p:spPr>
          <a:xfrm>
            <a:off x="6903720" y="914400"/>
            <a:ext cx="11886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FFN</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W₁→ReLU→W₂</a:t>
            </a:r>
            <a:endParaRPr b="0" i="0" sz="860" u="none" cap="none" strike="noStrike">
              <a:solidFill>
                <a:schemeClr val="dk1"/>
              </a:solidFill>
              <a:latin typeface="Calibri"/>
              <a:ea typeface="Calibri"/>
              <a:cs typeface="Calibri"/>
              <a:sym typeface="Calibri"/>
            </a:endParaRPr>
          </a:p>
        </p:txBody>
      </p:sp>
      <p:cxnSp>
        <p:nvCxnSpPr>
          <p:cNvPr id="888" name="Google Shape;888;p44"/>
          <p:cNvCxnSpPr/>
          <p:nvPr/>
        </p:nvCxnSpPr>
        <p:spPr>
          <a:xfrm>
            <a:off x="8092440" y="1197864"/>
            <a:ext cx="137100" cy="0"/>
          </a:xfrm>
          <a:prstGeom prst="straightConnector1">
            <a:avLst/>
          </a:prstGeom>
          <a:noFill/>
          <a:ln cap="flat" cmpd="sng" w="12700">
            <a:solidFill>
              <a:srgbClr val="5A6472"/>
            </a:solidFill>
            <a:prstDash val="solid"/>
            <a:round/>
            <a:headEnd len="sm" w="sm" type="none"/>
            <a:tailEnd len="sm" w="sm" type="none"/>
          </a:ln>
        </p:spPr>
      </p:cxnSp>
      <p:sp>
        <p:nvSpPr>
          <p:cNvPr id="889" name="Google Shape;889;p44"/>
          <p:cNvSpPr/>
          <p:nvPr/>
        </p:nvSpPr>
        <p:spPr>
          <a:xfrm>
            <a:off x="8229600" y="914400"/>
            <a:ext cx="713100" cy="567000"/>
          </a:xfrm>
          <a:prstGeom prst="roundRect">
            <a:avLst>
              <a:gd fmla="val 11290" name="adj"/>
            </a:avLst>
          </a:prstGeom>
          <a:solidFill>
            <a:srgbClr val="FFF3E0"/>
          </a:solidFill>
          <a:ln cap="flat" cmpd="sng" w="203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4"/>
          <p:cNvSpPr/>
          <p:nvPr/>
        </p:nvSpPr>
        <p:spPr>
          <a:xfrm>
            <a:off x="8229600" y="914400"/>
            <a:ext cx="7131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Add &amp;</a:t>
            </a:r>
            <a:endParaRPr b="0" i="0" sz="8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60"/>
              <a:buFont typeface="Calibri"/>
              <a:buNone/>
            </a:pPr>
            <a:r>
              <a:rPr b="1" i="0" lang="en" sz="860" u="none" cap="none" strike="noStrike">
                <a:solidFill>
                  <a:srgbClr val="E65100"/>
                </a:solidFill>
                <a:latin typeface="Calibri"/>
                <a:ea typeface="Calibri"/>
                <a:cs typeface="Calibri"/>
                <a:sym typeface="Calibri"/>
              </a:rPr>
              <a:t>Norm</a:t>
            </a:r>
            <a:endParaRPr b="0" i="0" sz="860" u="none" cap="none" strike="noStrike">
              <a:solidFill>
                <a:schemeClr val="dk1"/>
              </a:solidFill>
              <a:latin typeface="Calibri"/>
              <a:ea typeface="Calibri"/>
              <a:cs typeface="Calibri"/>
              <a:sym typeface="Calibri"/>
            </a:endParaRPr>
          </a:p>
        </p:txBody>
      </p:sp>
      <p:sp>
        <p:nvSpPr>
          <p:cNvPr id="891" name="Google Shape;891;p44"/>
          <p:cNvSpPr/>
          <p:nvPr/>
        </p:nvSpPr>
        <p:spPr>
          <a:xfrm>
            <a:off x="228600" y="1572768"/>
            <a:ext cx="201300" cy="146400"/>
          </a:xfrm>
          <a:prstGeom prst="roundRect">
            <a:avLst>
              <a:gd fmla="val 18750" name="adj"/>
            </a:avLst>
          </a:prstGeom>
          <a:solidFill>
            <a:srgbClr val="EBF2FB"/>
          </a:solidFill>
          <a:ln cap="flat" cmpd="sng" w="1015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4"/>
          <p:cNvSpPr/>
          <p:nvPr/>
        </p:nvSpPr>
        <p:spPr>
          <a:xfrm>
            <a:off x="475488" y="1545336"/>
            <a:ext cx="21945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50"/>
              <a:buFont typeface="Calibri"/>
              <a:buNone/>
            </a:pPr>
            <a:r>
              <a:rPr b="0" i="0" lang="en" sz="850" u="none" cap="none" strike="noStrike">
                <a:solidFill>
                  <a:srgbClr val="1565C0"/>
                </a:solidFill>
                <a:latin typeface="Calibri"/>
                <a:ea typeface="Calibri"/>
                <a:cs typeface="Calibri"/>
                <a:sym typeface="Calibri"/>
              </a:rPr>
              <a:t>linear (matrix multiply only)</a:t>
            </a:r>
            <a:endParaRPr b="0" i="0" sz="850" u="none" cap="none" strike="noStrike">
              <a:solidFill>
                <a:schemeClr val="dk1"/>
              </a:solidFill>
              <a:latin typeface="Calibri"/>
              <a:ea typeface="Calibri"/>
              <a:cs typeface="Calibri"/>
              <a:sym typeface="Calibri"/>
            </a:endParaRPr>
          </a:p>
        </p:txBody>
      </p:sp>
      <p:sp>
        <p:nvSpPr>
          <p:cNvPr id="893" name="Google Shape;893;p44"/>
          <p:cNvSpPr/>
          <p:nvPr/>
        </p:nvSpPr>
        <p:spPr>
          <a:xfrm>
            <a:off x="2743200" y="1572768"/>
            <a:ext cx="201300" cy="146400"/>
          </a:xfrm>
          <a:prstGeom prst="roundRect">
            <a:avLst>
              <a:gd fmla="val 18750" name="adj"/>
            </a:avLst>
          </a:prstGeom>
          <a:solidFill>
            <a:srgbClr val="FFF3E0"/>
          </a:solidFill>
          <a:ln cap="flat" cmpd="sng" w="1015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4"/>
          <p:cNvSpPr/>
          <p:nvPr/>
        </p:nvSpPr>
        <p:spPr>
          <a:xfrm>
            <a:off x="2990088" y="1545336"/>
            <a:ext cx="21945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850"/>
              <a:buFont typeface="Calibri"/>
              <a:buNone/>
            </a:pPr>
            <a:r>
              <a:rPr b="0" i="0" lang="en" sz="850" u="none" cap="none" strike="noStrike">
                <a:solidFill>
                  <a:srgbClr val="E65100"/>
                </a:solidFill>
                <a:latin typeface="Calibri"/>
                <a:ea typeface="Calibri"/>
                <a:cs typeface="Calibri"/>
                <a:sym typeface="Calibri"/>
              </a:rPr>
              <a:t>contains a non-linearity</a:t>
            </a:r>
            <a:endParaRPr b="0" i="0" sz="850" u="none" cap="none" strike="noStrike">
              <a:solidFill>
                <a:schemeClr val="dk1"/>
              </a:solidFill>
              <a:latin typeface="Calibri"/>
              <a:ea typeface="Calibri"/>
              <a:cs typeface="Calibri"/>
              <a:sym typeface="Calibri"/>
            </a:endParaRPr>
          </a:p>
        </p:txBody>
      </p:sp>
      <p:sp>
        <p:nvSpPr>
          <p:cNvPr id="895" name="Google Shape;895;p44"/>
          <p:cNvSpPr/>
          <p:nvPr/>
        </p:nvSpPr>
        <p:spPr>
          <a:xfrm>
            <a:off x="228600" y="1993392"/>
            <a:ext cx="2788800" cy="2331600"/>
          </a:xfrm>
          <a:prstGeom prst="roundRect">
            <a:avLst>
              <a:gd fmla="val 392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4"/>
          <p:cNvSpPr/>
          <p:nvPr/>
        </p:nvSpPr>
        <p:spPr>
          <a:xfrm>
            <a:off x="365760" y="2066544"/>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1. Softmax</a:t>
            </a:r>
            <a:endParaRPr b="0" i="0" sz="1300" u="none" cap="none" strike="noStrike">
              <a:solidFill>
                <a:schemeClr val="dk1"/>
              </a:solidFill>
              <a:latin typeface="Calibri"/>
              <a:ea typeface="Calibri"/>
              <a:cs typeface="Calibri"/>
              <a:sym typeface="Calibri"/>
            </a:endParaRPr>
          </a:p>
        </p:txBody>
      </p:sp>
      <p:sp>
        <p:nvSpPr>
          <p:cNvPr id="897" name="Google Shape;897;p44"/>
          <p:cNvSpPr/>
          <p:nvPr/>
        </p:nvSpPr>
        <p:spPr>
          <a:xfrm>
            <a:off x="365760" y="2377440"/>
            <a:ext cx="2514600" cy="420600"/>
          </a:xfrm>
          <a:prstGeom prst="roundRect">
            <a:avLst>
              <a:gd fmla="val 13043"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4"/>
          <p:cNvSpPr/>
          <p:nvPr/>
        </p:nvSpPr>
        <p:spPr>
          <a:xfrm>
            <a:off x="411480" y="2386584"/>
            <a:ext cx="2423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αᵢⱼ = exp(eᵢⱼ) / Σₖ exp(eᵢₖ)</a:t>
            </a:r>
            <a:endParaRPr b="0" i="0" sz="1000" u="none" cap="none" strike="noStrike">
              <a:solidFill>
                <a:schemeClr val="dk1"/>
              </a:solidFill>
              <a:latin typeface="Calibri"/>
              <a:ea typeface="Calibri"/>
              <a:cs typeface="Calibri"/>
              <a:sym typeface="Calibri"/>
            </a:endParaRPr>
          </a:p>
        </p:txBody>
      </p:sp>
      <p:sp>
        <p:nvSpPr>
          <p:cNvPr id="899" name="Google Shape;899;p44"/>
          <p:cNvSpPr/>
          <p:nvPr/>
        </p:nvSpPr>
        <p:spPr>
          <a:xfrm>
            <a:off x="365760" y="2871216"/>
            <a:ext cx="25146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00"/>
              <a:buFont typeface="Calibri"/>
              <a:buNone/>
            </a:pPr>
            <a:r>
              <a:rPr b="0" i="0" lang="en" sz="900" u="none" cap="none" strike="noStrike">
                <a:solidFill>
                  <a:srgbClr val="1A1A2E"/>
                </a:solidFill>
                <a:latin typeface="Calibri"/>
                <a:ea typeface="Calibri"/>
                <a:cs typeface="Calibri"/>
                <a:sym typeface="Calibri"/>
              </a:rPr>
              <a:t>Converts raw attention scores into a probability distribution. Without it, attention would just be a linear weighted combination — softmax is what lets the model sharply focus on a few tokens instead of averaging all of them equally.</a:t>
            </a:r>
            <a:endParaRPr b="0" i="0" sz="900" u="none" cap="none" strike="noStrike">
              <a:solidFill>
                <a:schemeClr val="dk1"/>
              </a:solidFill>
              <a:latin typeface="Calibri"/>
              <a:ea typeface="Calibri"/>
              <a:cs typeface="Calibri"/>
              <a:sym typeface="Calibri"/>
            </a:endParaRPr>
          </a:p>
        </p:txBody>
      </p:sp>
      <p:cxnSp>
        <p:nvCxnSpPr>
          <p:cNvPr id="900" name="Google Shape;900;p44"/>
          <p:cNvCxnSpPr/>
          <p:nvPr/>
        </p:nvCxnSpPr>
        <p:spPr>
          <a:xfrm>
            <a:off x="365760" y="3986784"/>
            <a:ext cx="2514600" cy="0"/>
          </a:xfrm>
          <a:prstGeom prst="straightConnector1">
            <a:avLst/>
          </a:prstGeom>
          <a:noFill/>
          <a:ln cap="flat" cmpd="sng" w="9525">
            <a:solidFill>
              <a:srgbClr val="B0C8D8"/>
            </a:solidFill>
            <a:prstDash val="solid"/>
            <a:round/>
            <a:headEnd len="sm" w="sm" type="none"/>
            <a:tailEnd len="sm" w="sm" type="none"/>
          </a:ln>
        </p:spPr>
      </p:cxnSp>
      <p:sp>
        <p:nvSpPr>
          <p:cNvPr id="901" name="Google Shape;901;p44"/>
          <p:cNvSpPr/>
          <p:nvPr/>
        </p:nvSpPr>
        <p:spPr>
          <a:xfrm>
            <a:off x="365760" y="4023360"/>
            <a:ext cx="2514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Inside every attention head, before multiplying by V</a:t>
            </a:r>
            <a:endParaRPr b="0" i="0" sz="800" u="none" cap="none" strike="noStrike">
              <a:solidFill>
                <a:schemeClr val="dk1"/>
              </a:solidFill>
              <a:latin typeface="Calibri"/>
              <a:ea typeface="Calibri"/>
              <a:cs typeface="Calibri"/>
              <a:sym typeface="Calibri"/>
            </a:endParaRPr>
          </a:p>
        </p:txBody>
      </p:sp>
      <p:sp>
        <p:nvSpPr>
          <p:cNvPr id="902" name="Google Shape;902;p44"/>
          <p:cNvSpPr/>
          <p:nvPr/>
        </p:nvSpPr>
        <p:spPr>
          <a:xfrm>
            <a:off x="3136392" y="1993392"/>
            <a:ext cx="2788800" cy="2331600"/>
          </a:xfrm>
          <a:prstGeom prst="roundRect">
            <a:avLst>
              <a:gd fmla="val 392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4"/>
          <p:cNvSpPr/>
          <p:nvPr/>
        </p:nvSpPr>
        <p:spPr>
          <a:xfrm>
            <a:off x="3273552" y="2066544"/>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2. ReLU (inside FFN)</a:t>
            </a:r>
            <a:endParaRPr b="0" i="0" sz="1300" u="none" cap="none" strike="noStrike">
              <a:solidFill>
                <a:schemeClr val="dk1"/>
              </a:solidFill>
              <a:latin typeface="Calibri"/>
              <a:ea typeface="Calibri"/>
              <a:cs typeface="Calibri"/>
              <a:sym typeface="Calibri"/>
            </a:endParaRPr>
          </a:p>
        </p:txBody>
      </p:sp>
      <p:sp>
        <p:nvSpPr>
          <p:cNvPr id="904" name="Google Shape;904;p44"/>
          <p:cNvSpPr/>
          <p:nvPr/>
        </p:nvSpPr>
        <p:spPr>
          <a:xfrm>
            <a:off x="3273552" y="2377440"/>
            <a:ext cx="2514600" cy="420600"/>
          </a:xfrm>
          <a:prstGeom prst="roundRect">
            <a:avLst>
              <a:gd fmla="val 13043"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4"/>
          <p:cNvSpPr/>
          <p:nvPr/>
        </p:nvSpPr>
        <p:spPr>
          <a:xfrm>
            <a:off x="3319272" y="2386584"/>
            <a:ext cx="2423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FFN(x) = ReLU(xW₁+b₁)W₂+b₂</a:t>
            </a:r>
            <a:endParaRPr b="0" i="0" sz="1000" u="none" cap="none" strike="noStrike">
              <a:solidFill>
                <a:schemeClr val="dk1"/>
              </a:solidFill>
              <a:latin typeface="Calibri"/>
              <a:ea typeface="Calibri"/>
              <a:cs typeface="Calibri"/>
              <a:sym typeface="Calibri"/>
            </a:endParaRPr>
          </a:p>
        </p:txBody>
      </p:sp>
      <p:sp>
        <p:nvSpPr>
          <p:cNvPr id="906" name="Google Shape;906;p44"/>
          <p:cNvSpPr/>
          <p:nvPr/>
        </p:nvSpPr>
        <p:spPr>
          <a:xfrm>
            <a:off x="3273552" y="2871216"/>
            <a:ext cx="25146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00"/>
              <a:buFont typeface="Calibri"/>
              <a:buNone/>
            </a:pPr>
            <a:r>
              <a:rPr b="0" i="0" lang="en" sz="900" u="none" cap="none" strike="noStrike">
                <a:solidFill>
                  <a:srgbClr val="1A1A2E"/>
                </a:solidFill>
                <a:latin typeface="Calibri"/>
                <a:ea typeface="Calibri"/>
                <a:cs typeface="Calibri"/>
                <a:sym typeface="Calibri"/>
              </a:rPr>
              <a:t>The only true elementwise non-linearity in the whole block. Fires independently on each of the 4d hidden units — this is what lets the FFN act as a pattern detector / feature recombiner, not just a linear remap.</a:t>
            </a:r>
            <a:endParaRPr b="0" i="0" sz="900" u="none" cap="none" strike="noStrike">
              <a:solidFill>
                <a:schemeClr val="dk1"/>
              </a:solidFill>
              <a:latin typeface="Calibri"/>
              <a:ea typeface="Calibri"/>
              <a:cs typeface="Calibri"/>
              <a:sym typeface="Calibri"/>
            </a:endParaRPr>
          </a:p>
        </p:txBody>
      </p:sp>
      <p:cxnSp>
        <p:nvCxnSpPr>
          <p:cNvPr id="907" name="Google Shape;907;p44"/>
          <p:cNvCxnSpPr/>
          <p:nvPr/>
        </p:nvCxnSpPr>
        <p:spPr>
          <a:xfrm>
            <a:off x="3273552" y="3986784"/>
            <a:ext cx="2514600" cy="0"/>
          </a:xfrm>
          <a:prstGeom prst="straightConnector1">
            <a:avLst/>
          </a:prstGeom>
          <a:noFill/>
          <a:ln cap="flat" cmpd="sng" w="9525">
            <a:solidFill>
              <a:srgbClr val="B0C8D8"/>
            </a:solidFill>
            <a:prstDash val="solid"/>
            <a:round/>
            <a:headEnd len="sm" w="sm" type="none"/>
            <a:tailEnd len="sm" w="sm" type="none"/>
          </a:ln>
        </p:spPr>
      </p:cxnSp>
      <p:sp>
        <p:nvSpPr>
          <p:cNvPr id="908" name="Google Shape;908;p44"/>
          <p:cNvSpPr/>
          <p:nvPr/>
        </p:nvSpPr>
        <p:spPr>
          <a:xfrm>
            <a:off x="3273552" y="4023360"/>
            <a:ext cx="2514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Inside the feed-forward sublayer, between W₁ and W₂</a:t>
            </a:r>
            <a:endParaRPr b="0" i="0" sz="800" u="none" cap="none" strike="noStrike">
              <a:solidFill>
                <a:schemeClr val="dk1"/>
              </a:solidFill>
              <a:latin typeface="Calibri"/>
              <a:ea typeface="Calibri"/>
              <a:cs typeface="Calibri"/>
              <a:sym typeface="Calibri"/>
            </a:endParaRPr>
          </a:p>
        </p:txBody>
      </p:sp>
      <p:sp>
        <p:nvSpPr>
          <p:cNvPr id="909" name="Google Shape;909;p44"/>
          <p:cNvSpPr/>
          <p:nvPr/>
        </p:nvSpPr>
        <p:spPr>
          <a:xfrm>
            <a:off x="6044184" y="1993392"/>
            <a:ext cx="2788800" cy="2331600"/>
          </a:xfrm>
          <a:prstGeom prst="roundRect">
            <a:avLst>
              <a:gd fmla="val 392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4"/>
          <p:cNvSpPr/>
          <p:nvPr/>
        </p:nvSpPr>
        <p:spPr>
          <a:xfrm>
            <a:off x="6181344" y="2066544"/>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3. LayerNorm</a:t>
            </a:r>
            <a:endParaRPr b="0" i="0" sz="1300" u="none" cap="none" strike="noStrike">
              <a:solidFill>
                <a:schemeClr val="dk1"/>
              </a:solidFill>
              <a:latin typeface="Calibri"/>
              <a:ea typeface="Calibri"/>
              <a:cs typeface="Calibri"/>
              <a:sym typeface="Calibri"/>
            </a:endParaRPr>
          </a:p>
        </p:txBody>
      </p:sp>
      <p:sp>
        <p:nvSpPr>
          <p:cNvPr id="911" name="Google Shape;911;p44"/>
          <p:cNvSpPr/>
          <p:nvPr/>
        </p:nvSpPr>
        <p:spPr>
          <a:xfrm>
            <a:off x="6181344" y="2377440"/>
            <a:ext cx="2514600" cy="420600"/>
          </a:xfrm>
          <a:prstGeom prst="roundRect">
            <a:avLst>
              <a:gd fmla="val 13043"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4"/>
          <p:cNvSpPr/>
          <p:nvPr/>
        </p:nvSpPr>
        <p:spPr>
          <a:xfrm>
            <a:off x="6227064" y="2386584"/>
            <a:ext cx="2423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LN(x) = γ·(x−μ)/σ + β</a:t>
            </a:r>
            <a:endParaRPr b="0" i="0" sz="1000" u="none" cap="none" strike="noStrike">
              <a:solidFill>
                <a:schemeClr val="dk1"/>
              </a:solidFill>
              <a:latin typeface="Calibri"/>
              <a:ea typeface="Calibri"/>
              <a:cs typeface="Calibri"/>
              <a:sym typeface="Calibri"/>
            </a:endParaRPr>
          </a:p>
        </p:txBody>
      </p:sp>
      <p:sp>
        <p:nvSpPr>
          <p:cNvPr id="913" name="Google Shape;913;p44"/>
          <p:cNvSpPr/>
          <p:nvPr/>
        </p:nvSpPr>
        <p:spPr>
          <a:xfrm>
            <a:off x="6181344" y="2871216"/>
            <a:ext cx="25146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00"/>
              <a:buFont typeface="Calibri"/>
              <a:buNone/>
            </a:pPr>
            <a:r>
              <a:rPr b="0" i="0" lang="en" sz="900" u="none" cap="none" strike="noStrike">
                <a:solidFill>
                  <a:srgbClr val="1A1A2E"/>
                </a:solidFill>
                <a:latin typeface="Calibri"/>
                <a:ea typeface="Calibri"/>
                <a:cs typeface="Calibri"/>
                <a:sym typeface="Calibri"/>
              </a:rPr>
              <a:t>Technically non-linear (division by a data-dependent σ), though its job is normalization, not feature transformation. It stabilizes scale rather than adding expressive power — included here for completeness.</a:t>
            </a:r>
            <a:endParaRPr b="0" i="0" sz="900" u="none" cap="none" strike="noStrike">
              <a:solidFill>
                <a:schemeClr val="dk1"/>
              </a:solidFill>
              <a:latin typeface="Calibri"/>
              <a:ea typeface="Calibri"/>
              <a:cs typeface="Calibri"/>
              <a:sym typeface="Calibri"/>
            </a:endParaRPr>
          </a:p>
        </p:txBody>
      </p:sp>
      <p:cxnSp>
        <p:nvCxnSpPr>
          <p:cNvPr id="914" name="Google Shape;914;p44"/>
          <p:cNvCxnSpPr/>
          <p:nvPr/>
        </p:nvCxnSpPr>
        <p:spPr>
          <a:xfrm>
            <a:off x="6181344" y="3986784"/>
            <a:ext cx="2514600" cy="0"/>
          </a:xfrm>
          <a:prstGeom prst="straightConnector1">
            <a:avLst/>
          </a:prstGeom>
          <a:noFill/>
          <a:ln cap="flat" cmpd="sng" w="9525">
            <a:solidFill>
              <a:srgbClr val="B0C8D8"/>
            </a:solidFill>
            <a:prstDash val="solid"/>
            <a:round/>
            <a:headEnd len="sm" w="sm" type="none"/>
            <a:tailEnd len="sm" w="sm" type="none"/>
          </a:ln>
        </p:spPr>
      </p:cxnSp>
      <p:sp>
        <p:nvSpPr>
          <p:cNvPr id="915" name="Google Shape;915;p44"/>
          <p:cNvSpPr/>
          <p:nvPr/>
        </p:nvSpPr>
        <p:spPr>
          <a:xfrm>
            <a:off x="6181344" y="4023360"/>
            <a:ext cx="25146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After every attention and FFN sublayer (Add &amp; Norm)</a:t>
            </a:r>
            <a:endParaRPr b="0" i="0" sz="800" u="none" cap="none" strike="noStrike">
              <a:solidFill>
                <a:schemeClr val="dk1"/>
              </a:solidFill>
              <a:latin typeface="Calibri"/>
              <a:ea typeface="Calibri"/>
              <a:cs typeface="Calibri"/>
              <a:sym typeface="Calibri"/>
            </a:endParaRPr>
          </a:p>
        </p:txBody>
      </p:sp>
      <p:sp>
        <p:nvSpPr>
          <p:cNvPr id="916" name="Google Shape;916;p44"/>
          <p:cNvSpPr/>
          <p:nvPr/>
        </p:nvSpPr>
        <p:spPr>
          <a:xfrm>
            <a:off x="228600" y="4462272"/>
            <a:ext cx="8686800" cy="567000"/>
          </a:xfrm>
          <a:prstGeom prst="roundRect">
            <a:avLst>
              <a:gd fmla="val 12903" name="adj"/>
            </a:avLst>
          </a:prstGeom>
          <a:solidFill>
            <a:srgbClr val="F3E5F5"/>
          </a:solidFill>
          <a:ln cap="flat" cmpd="sng" w="152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4"/>
          <p:cNvSpPr/>
          <p:nvPr/>
        </p:nvSpPr>
        <p:spPr>
          <a:xfrm>
            <a:off x="384048" y="4462272"/>
            <a:ext cx="83760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070"/>
              <a:buFont typeface="Calibri"/>
              <a:buNone/>
            </a:pPr>
            <a:r>
              <a:rPr b="1" i="0" lang="en" sz="1070" u="none" cap="none" strike="noStrike">
                <a:solidFill>
                  <a:srgbClr val="6A1B9A"/>
                </a:solidFill>
                <a:latin typeface="Calibri"/>
                <a:ea typeface="Calibri"/>
                <a:cs typeface="Calibri"/>
                <a:sym typeface="Calibri"/>
              </a:rPr>
              <a:t>Key takeaway:  </a:t>
            </a:r>
            <a:r>
              <a:rPr b="0" i="0" lang="en" sz="1070" u="none" cap="none" strike="noStrike">
                <a:solidFill>
                  <a:srgbClr val="1A1A2E"/>
                </a:solidFill>
                <a:latin typeface="Calibri"/>
                <a:ea typeface="Calibri"/>
                <a:cs typeface="Calibri"/>
                <a:sym typeface="Calibri"/>
              </a:rPr>
              <a:t>Everything else — Q/K/V projections, the weighted sum by V, output projections, residual adds — is </a:t>
            </a:r>
            <a:r>
              <a:rPr b="1" i="0" lang="en" sz="1070" u="none" cap="none" strike="noStrike">
                <a:solidFill>
                  <a:srgbClr val="1565C0"/>
                </a:solidFill>
                <a:latin typeface="Calibri"/>
                <a:ea typeface="Calibri"/>
                <a:cs typeface="Calibri"/>
                <a:sym typeface="Calibri"/>
              </a:rPr>
              <a:t>purely linear</a:t>
            </a:r>
            <a:r>
              <a:rPr b="0" i="0" lang="en" sz="1070" u="none" cap="none" strike="noStrike">
                <a:solidFill>
                  <a:srgbClr val="1A1A2E"/>
                </a:solidFill>
                <a:latin typeface="Calibri"/>
                <a:ea typeface="Calibri"/>
                <a:cs typeface="Calibri"/>
                <a:sym typeface="Calibri"/>
              </a:rPr>
              <a:t>. Only softmax and ReLU give the model genuine non-linear expressive power; LayerNorm mainly stabilizes scale.</a:t>
            </a:r>
            <a:endParaRPr b="0" i="0" sz="107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2" name="Shape 922"/>
        <p:cNvGrpSpPr/>
        <p:nvPr/>
      </p:nvGrpSpPr>
      <p:grpSpPr>
        <a:xfrm>
          <a:off x="0" y="0"/>
          <a:ext cx="0" cy="0"/>
          <a:chOff x="0" y="0"/>
          <a:chExt cx="0" cy="0"/>
        </a:xfrm>
      </p:grpSpPr>
      <p:sp>
        <p:nvSpPr>
          <p:cNvPr id="923" name="Google Shape;923;p45"/>
          <p:cNvSpPr/>
          <p:nvPr/>
        </p:nvSpPr>
        <p:spPr>
          <a:xfrm>
            <a:off x="457200" y="27432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3600"/>
              <a:buFont typeface="Cambria"/>
              <a:buNone/>
            </a:pPr>
            <a:r>
              <a:rPr b="1" i="0" lang="en" sz="3600" u="none" cap="none" strike="noStrike">
                <a:solidFill>
                  <a:srgbClr val="0B2A3D"/>
                </a:solidFill>
                <a:latin typeface="Cambria"/>
                <a:ea typeface="Cambria"/>
                <a:cs typeface="Cambria"/>
                <a:sym typeface="Cambria"/>
              </a:rPr>
              <a:t>Making Deep Transformers Work</a:t>
            </a:r>
            <a:endParaRPr b="0" i="0" sz="3600" u="none" cap="none" strike="noStrike">
              <a:solidFill>
                <a:schemeClr val="dk1"/>
              </a:solidFill>
              <a:latin typeface="Calibri"/>
              <a:ea typeface="Calibri"/>
              <a:cs typeface="Calibri"/>
              <a:sym typeface="Calibri"/>
            </a:endParaRPr>
          </a:p>
        </p:txBody>
      </p:sp>
      <p:sp>
        <p:nvSpPr>
          <p:cNvPr id="924" name="Google Shape;924;p45"/>
          <p:cNvSpPr/>
          <p:nvPr/>
        </p:nvSpPr>
        <p:spPr>
          <a:xfrm>
            <a:off x="457200" y="914400"/>
            <a:ext cx="8229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8A94"/>
              </a:buClr>
              <a:buSzPts val="1500"/>
              <a:buFont typeface="Calibri"/>
              <a:buNone/>
            </a:pPr>
            <a:r>
              <a:rPr b="0" i="0" lang="en" sz="1500" u="none" cap="none" strike="noStrike">
                <a:solidFill>
                  <a:srgbClr val="6B8A94"/>
                </a:solidFill>
                <a:latin typeface="Calibri"/>
                <a:ea typeface="Calibri"/>
                <a:cs typeface="Calibri"/>
                <a:sym typeface="Calibri"/>
              </a:rPr>
              <a:t>Three training tricks that enable stable, deep attention networks</a:t>
            </a:r>
            <a:endParaRPr b="0" i="0" sz="1500" u="none" cap="none" strike="noStrike">
              <a:solidFill>
                <a:schemeClr val="dk1"/>
              </a:solidFill>
              <a:latin typeface="Calibri"/>
              <a:ea typeface="Calibri"/>
              <a:cs typeface="Calibri"/>
              <a:sym typeface="Calibri"/>
            </a:endParaRPr>
          </a:p>
        </p:txBody>
      </p:sp>
      <p:sp>
        <p:nvSpPr>
          <p:cNvPr id="925" name="Google Shape;925;p45"/>
          <p:cNvSpPr/>
          <p:nvPr/>
        </p:nvSpPr>
        <p:spPr>
          <a:xfrm>
            <a:off x="457200" y="1371600"/>
            <a:ext cx="5486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b="0" i="1" lang="en" sz="1200" u="none" cap="none" strike="noStrike">
                <a:solidFill>
                  <a:srgbClr val="028090"/>
                </a:solidFill>
                <a:latin typeface="Calibri"/>
                <a:ea typeface="Calibri"/>
                <a:cs typeface="Calibri"/>
                <a:sym typeface="Calibri"/>
              </a:rPr>
              <a:t>Architecture: Feed-forward block repeated × 6</a:t>
            </a:r>
            <a:endParaRPr b="0" i="0" sz="1200" u="none" cap="none" strike="noStrike">
              <a:solidFill>
                <a:schemeClr val="dk1"/>
              </a:solidFill>
              <a:latin typeface="Calibri"/>
              <a:ea typeface="Calibri"/>
              <a:cs typeface="Calibri"/>
              <a:sym typeface="Calibri"/>
            </a:endParaRPr>
          </a:p>
        </p:txBody>
      </p:sp>
      <p:sp>
        <p:nvSpPr>
          <p:cNvPr id="926" name="Google Shape;926;p45"/>
          <p:cNvSpPr/>
          <p:nvPr/>
        </p:nvSpPr>
        <p:spPr>
          <a:xfrm>
            <a:off x="457200" y="1920240"/>
            <a:ext cx="2606100" cy="2743200"/>
          </a:xfrm>
          <a:prstGeom prst="roundRect">
            <a:avLst>
              <a:gd fmla="val 4211" name="adj"/>
            </a:avLst>
          </a:prstGeom>
          <a:solidFill>
            <a:srgbClr val="028090"/>
          </a:solidFill>
          <a:ln>
            <a:noFill/>
          </a:ln>
          <a:effectLst>
            <a:outerShdw blurRad="101600" rotWithShape="0" algn="bl" dir="27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5"/>
          <p:cNvSpPr/>
          <p:nvPr/>
        </p:nvSpPr>
        <p:spPr>
          <a:xfrm>
            <a:off x="594360" y="2057400"/>
            <a:ext cx="502800" cy="411600"/>
          </a:xfrm>
          <a:prstGeom prst="ellipse">
            <a:avLst/>
          </a:prstGeom>
          <a:solidFill>
            <a:srgbClr val="FFFFFF">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5"/>
          <p:cNvSpPr/>
          <p:nvPr/>
        </p:nvSpPr>
        <p:spPr>
          <a:xfrm>
            <a:off x="594360" y="2057400"/>
            <a:ext cx="502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929" name="Google Shape;929;p45"/>
          <p:cNvSpPr/>
          <p:nvPr/>
        </p:nvSpPr>
        <p:spPr>
          <a:xfrm>
            <a:off x="566928" y="2560320"/>
            <a:ext cx="23775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Residual</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Connections</a:t>
            </a:r>
            <a:endParaRPr b="0" i="0" sz="1700" u="none" cap="none" strike="noStrike">
              <a:solidFill>
                <a:schemeClr val="dk1"/>
              </a:solidFill>
              <a:latin typeface="Calibri"/>
              <a:ea typeface="Calibri"/>
              <a:cs typeface="Calibri"/>
              <a:sym typeface="Calibri"/>
            </a:endParaRPr>
          </a:p>
        </p:txBody>
      </p:sp>
      <p:sp>
        <p:nvSpPr>
          <p:cNvPr id="930" name="Google Shape;930;p45"/>
          <p:cNvSpPr/>
          <p:nvPr/>
        </p:nvSpPr>
        <p:spPr>
          <a:xfrm>
            <a:off x="566928" y="3337560"/>
            <a:ext cx="23775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1200"/>
              <a:buFont typeface="Calibri"/>
              <a:buNone/>
            </a:pPr>
            <a:r>
              <a:rPr b="0" i="0" lang="en" sz="1200" u="none" cap="none" strike="noStrike">
                <a:solidFill>
                  <a:srgbClr val="EAF7F5"/>
                </a:solidFill>
                <a:latin typeface="Calibri"/>
                <a:ea typeface="Calibri"/>
                <a:cs typeface="Calibri"/>
                <a:sym typeface="Calibri"/>
              </a:rPr>
              <a:t>Skip connections that add the input directly to the output, preventing vanishing gradients in deep stacks.</a:t>
            </a:r>
            <a:endParaRPr b="0" i="0" sz="1200" u="none" cap="none" strike="noStrike">
              <a:solidFill>
                <a:schemeClr val="dk1"/>
              </a:solidFill>
              <a:latin typeface="Calibri"/>
              <a:ea typeface="Calibri"/>
              <a:cs typeface="Calibri"/>
              <a:sym typeface="Calibri"/>
            </a:endParaRPr>
          </a:p>
        </p:txBody>
      </p:sp>
      <p:sp>
        <p:nvSpPr>
          <p:cNvPr id="931" name="Google Shape;931;p45"/>
          <p:cNvSpPr/>
          <p:nvPr/>
        </p:nvSpPr>
        <p:spPr>
          <a:xfrm>
            <a:off x="3291840" y="1920240"/>
            <a:ext cx="2606100" cy="2743200"/>
          </a:xfrm>
          <a:prstGeom prst="roundRect">
            <a:avLst>
              <a:gd fmla="val 4211" name="adj"/>
            </a:avLst>
          </a:prstGeom>
          <a:solidFill>
            <a:srgbClr val="00A896"/>
          </a:solidFill>
          <a:ln>
            <a:noFill/>
          </a:ln>
          <a:effectLst>
            <a:outerShdw blurRad="101600" rotWithShape="0" algn="bl" dir="27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5"/>
          <p:cNvSpPr/>
          <p:nvPr/>
        </p:nvSpPr>
        <p:spPr>
          <a:xfrm>
            <a:off x="3429000" y="2057400"/>
            <a:ext cx="502800" cy="411600"/>
          </a:xfrm>
          <a:prstGeom prst="ellipse">
            <a:avLst/>
          </a:prstGeom>
          <a:solidFill>
            <a:srgbClr val="FFFFFF">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5"/>
          <p:cNvSpPr/>
          <p:nvPr/>
        </p:nvSpPr>
        <p:spPr>
          <a:xfrm>
            <a:off x="3429000" y="2057400"/>
            <a:ext cx="502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934" name="Google Shape;934;p45"/>
          <p:cNvSpPr/>
          <p:nvPr/>
        </p:nvSpPr>
        <p:spPr>
          <a:xfrm>
            <a:off x="3401568" y="2560320"/>
            <a:ext cx="23775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Layer</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Normalization</a:t>
            </a:r>
            <a:endParaRPr b="0" i="0" sz="1700" u="none" cap="none" strike="noStrike">
              <a:solidFill>
                <a:schemeClr val="dk1"/>
              </a:solidFill>
              <a:latin typeface="Calibri"/>
              <a:ea typeface="Calibri"/>
              <a:cs typeface="Calibri"/>
              <a:sym typeface="Calibri"/>
            </a:endParaRPr>
          </a:p>
        </p:txBody>
      </p:sp>
      <p:sp>
        <p:nvSpPr>
          <p:cNvPr id="935" name="Google Shape;935;p45"/>
          <p:cNvSpPr/>
          <p:nvPr/>
        </p:nvSpPr>
        <p:spPr>
          <a:xfrm>
            <a:off x="3401568" y="3337560"/>
            <a:ext cx="23775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1200"/>
              <a:buFont typeface="Calibri"/>
              <a:buNone/>
            </a:pPr>
            <a:r>
              <a:rPr b="0" i="0" lang="en" sz="1200" u="none" cap="none" strike="noStrike">
                <a:solidFill>
                  <a:srgbClr val="EAF7F5"/>
                </a:solidFill>
                <a:latin typeface="Calibri"/>
                <a:ea typeface="Calibri"/>
                <a:cs typeface="Calibri"/>
                <a:sym typeface="Calibri"/>
              </a:rPr>
              <a:t>Normalises activations across the feature dimension, stabilising training and enabling faster convergence.</a:t>
            </a:r>
            <a:endParaRPr b="0" i="0" sz="1200" u="none" cap="none" strike="noStrike">
              <a:solidFill>
                <a:schemeClr val="dk1"/>
              </a:solidFill>
              <a:latin typeface="Calibri"/>
              <a:ea typeface="Calibri"/>
              <a:cs typeface="Calibri"/>
              <a:sym typeface="Calibri"/>
            </a:endParaRPr>
          </a:p>
        </p:txBody>
      </p:sp>
      <p:sp>
        <p:nvSpPr>
          <p:cNvPr id="936" name="Google Shape;936;p45"/>
          <p:cNvSpPr/>
          <p:nvPr/>
        </p:nvSpPr>
        <p:spPr>
          <a:xfrm>
            <a:off x="6126480" y="1920240"/>
            <a:ext cx="2606100" cy="2743200"/>
          </a:xfrm>
          <a:prstGeom prst="roundRect">
            <a:avLst>
              <a:gd fmla="val 4211" name="adj"/>
            </a:avLst>
          </a:prstGeom>
          <a:solidFill>
            <a:srgbClr val="1B7A6B"/>
          </a:solidFill>
          <a:ln>
            <a:noFill/>
          </a:ln>
          <a:effectLst>
            <a:outerShdw blurRad="101600" rotWithShape="0" algn="bl" dir="27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5"/>
          <p:cNvSpPr/>
          <p:nvPr/>
        </p:nvSpPr>
        <p:spPr>
          <a:xfrm>
            <a:off x="6263640" y="2057400"/>
            <a:ext cx="502800" cy="411600"/>
          </a:xfrm>
          <a:prstGeom prst="ellipse">
            <a:avLst/>
          </a:prstGeom>
          <a:solidFill>
            <a:srgbClr val="FFFFFF">
              <a:alpha val="2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45"/>
          <p:cNvSpPr/>
          <p:nvPr/>
        </p:nvSpPr>
        <p:spPr>
          <a:xfrm>
            <a:off x="6263640" y="2057400"/>
            <a:ext cx="502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939" name="Google Shape;939;p45"/>
          <p:cNvSpPr/>
          <p:nvPr/>
        </p:nvSpPr>
        <p:spPr>
          <a:xfrm>
            <a:off x="6236208" y="2560320"/>
            <a:ext cx="23775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Scaled Dot</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Product Attention</a:t>
            </a:r>
            <a:endParaRPr b="0" i="0" sz="1700" u="none" cap="none" strike="noStrike">
              <a:solidFill>
                <a:schemeClr val="dk1"/>
              </a:solidFill>
              <a:latin typeface="Calibri"/>
              <a:ea typeface="Calibri"/>
              <a:cs typeface="Calibri"/>
              <a:sym typeface="Calibri"/>
            </a:endParaRPr>
          </a:p>
        </p:txBody>
      </p:sp>
      <p:sp>
        <p:nvSpPr>
          <p:cNvPr id="940" name="Google Shape;940;p45"/>
          <p:cNvSpPr/>
          <p:nvPr/>
        </p:nvSpPr>
        <p:spPr>
          <a:xfrm>
            <a:off x="6236208" y="3337560"/>
            <a:ext cx="23775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F7F5"/>
              </a:buClr>
              <a:buSzPts val="1200"/>
              <a:buFont typeface="Calibri"/>
              <a:buNone/>
            </a:pPr>
            <a:r>
              <a:rPr b="0" i="0" lang="en" sz="1200" u="none" cap="none" strike="noStrike">
                <a:solidFill>
                  <a:srgbClr val="EAF7F5"/>
                </a:solidFill>
                <a:latin typeface="Calibri"/>
                <a:ea typeface="Calibri"/>
                <a:cs typeface="Calibri"/>
                <a:sym typeface="Calibri"/>
              </a:rPr>
              <a:t>Scales attention scores down to prevent extreme softmax saturation in high-dimensional spaces.</a:t>
            </a:r>
            <a:endParaRPr b="0" i="0" sz="1200" u="none" cap="none" strike="noStrike">
              <a:solidFill>
                <a:schemeClr val="dk1"/>
              </a:solidFill>
              <a:latin typeface="Calibri"/>
              <a:ea typeface="Calibri"/>
              <a:cs typeface="Calibri"/>
              <a:sym typeface="Calibri"/>
            </a:endParaRPr>
          </a:p>
        </p:txBody>
      </p:sp>
      <p:sp>
        <p:nvSpPr>
          <p:cNvPr id="941" name="Google Shape;941;p45"/>
          <p:cNvSpPr/>
          <p:nvPr/>
        </p:nvSpPr>
        <p:spPr>
          <a:xfrm>
            <a:off x="457200" y="4800600"/>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8A94"/>
              </a:buClr>
              <a:buSzPts val="900"/>
              <a:buFont typeface="Calibri"/>
              <a:buNone/>
            </a:pPr>
            <a:r>
              <a:rPr b="0" i="0" lang="en" sz="900" u="none" cap="none" strike="noStrike">
                <a:solidFill>
                  <a:srgbClr val="6B8A94"/>
                </a:solidFill>
                <a:latin typeface="Calibri"/>
                <a:ea typeface="Calibri"/>
                <a:cs typeface="Calibri"/>
                <a:sym typeface="Calibri"/>
              </a:rPr>
              <a:t>Source: Stanford CS224N / DeepMind Deep Learning Series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AFA"/>
        </a:solidFill>
      </p:bgPr>
    </p:bg>
    <p:spTree>
      <p:nvGrpSpPr>
        <p:cNvPr id="946" name="Shape 946"/>
        <p:cNvGrpSpPr/>
        <p:nvPr/>
      </p:nvGrpSpPr>
      <p:grpSpPr>
        <a:xfrm>
          <a:off x="0" y="0"/>
          <a:ext cx="0" cy="0"/>
          <a:chOff x="0" y="0"/>
          <a:chExt cx="0" cy="0"/>
        </a:xfrm>
      </p:grpSpPr>
      <p:sp>
        <p:nvSpPr>
          <p:cNvPr id="947" name="Google Shape;947;p46"/>
          <p:cNvSpPr/>
          <p:nvPr/>
        </p:nvSpPr>
        <p:spPr>
          <a:xfrm>
            <a:off x="457200" y="2286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3000"/>
              <a:buFont typeface="Cambria"/>
              <a:buNone/>
            </a:pPr>
            <a:r>
              <a:rPr b="1" i="0" lang="en" sz="3000" u="none" cap="none" strike="noStrike">
                <a:solidFill>
                  <a:srgbClr val="0B2A3D"/>
                </a:solidFill>
                <a:latin typeface="Cambria"/>
                <a:ea typeface="Cambria"/>
                <a:cs typeface="Cambria"/>
                <a:sym typeface="Cambria"/>
              </a:rPr>
              <a:t>The Three Training Tricks — In Detail</a:t>
            </a:r>
            <a:endParaRPr b="0" i="0" sz="3000" u="none" cap="none" strike="noStrike">
              <a:solidFill>
                <a:schemeClr val="dk1"/>
              </a:solidFill>
              <a:latin typeface="Calibri"/>
              <a:ea typeface="Calibri"/>
              <a:cs typeface="Calibri"/>
              <a:sym typeface="Calibri"/>
            </a:endParaRPr>
          </a:p>
        </p:txBody>
      </p:sp>
      <p:sp>
        <p:nvSpPr>
          <p:cNvPr id="948" name="Google Shape;948;p46"/>
          <p:cNvSpPr/>
          <p:nvPr/>
        </p:nvSpPr>
        <p:spPr>
          <a:xfrm>
            <a:off x="457200" y="822960"/>
            <a:ext cx="8229600" cy="366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6"/>
          <p:cNvSpPr/>
          <p:nvPr/>
        </p:nvSpPr>
        <p:spPr>
          <a:xfrm>
            <a:off x="457200" y="1005840"/>
            <a:ext cx="8229600" cy="1188600"/>
          </a:xfrm>
          <a:prstGeom prst="roundRect">
            <a:avLst>
              <a:gd fmla="val 7692" name="adj"/>
            </a:avLst>
          </a:prstGeom>
          <a:solidFill>
            <a:srgbClr val="FFFFFF"/>
          </a:solidFill>
          <a:ln>
            <a:noFill/>
          </a:ln>
          <a:effectLst>
            <a:outerShdw blurRad="101600" rotWithShape="0" algn="bl" dir="27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6"/>
          <p:cNvSpPr/>
          <p:nvPr/>
        </p:nvSpPr>
        <p:spPr>
          <a:xfrm>
            <a:off x="594360" y="1298448"/>
            <a:ext cx="502800" cy="502800"/>
          </a:xfrm>
          <a:prstGeom prst="ellipse">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46"/>
          <p:cNvSpPr/>
          <p:nvPr/>
        </p:nvSpPr>
        <p:spPr>
          <a:xfrm>
            <a:off x="594360" y="129844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952" name="Google Shape;952;p46"/>
          <p:cNvSpPr/>
          <p:nvPr/>
        </p:nvSpPr>
        <p:spPr>
          <a:xfrm>
            <a:off x="1234440" y="109728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500"/>
              <a:buFont typeface="Cambria"/>
              <a:buNone/>
            </a:pPr>
            <a:r>
              <a:rPr b="1" i="0" lang="en" sz="1500" u="none" cap="none" strike="noStrike">
                <a:solidFill>
                  <a:srgbClr val="0B2A3D"/>
                </a:solidFill>
                <a:latin typeface="Cambria"/>
                <a:ea typeface="Cambria"/>
                <a:cs typeface="Cambria"/>
                <a:sym typeface="Cambria"/>
              </a:rPr>
              <a:t>Trick #1 — Residual Connections</a:t>
            </a:r>
            <a:endParaRPr b="0" i="0" sz="1500" u="none" cap="none" strike="noStrike">
              <a:solidFill>
                <a:schemeClr val="dk1"/>
              </a:solidFill>
              <a:latin typeface="Calibri"/>
              <a:ea typeface="Calibri"/>
              <a:cs typeface="Calibri"/>
              <a:sym typeface="Calibri"/>
            </a:endParaRPr>
          </a:p>
        </p:txBody>
      </p:sp>
      <p:sp>
        <p:nvSpPr>
          <p:cNvPr id="953" name="Google Shape;953;p46"/>
          <p:cNvSpPr/>
          <p:nvPr/>
        </p:nvSpPr>
        <p:spPr>
          <a:xfrm>
            <a:off x="1234440" y="1444752"/>
            <a:ext cx="73152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The input is added directly to the output of each sub-layer, creating a shortcut path.</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This allows gradients to flow unimpeded through the entire depth of the network.</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Each sub-layer (attention and feed-forward) is wrapped with its own residual connection.</a:t>
            </a:r>
            <a:endParaRPr b="0" i="0" sz="1200" u="none" cap="none" strike="noStrike">
              <a:solidFill>
                <a:schemeClr val="dk1"/>
              </a:solidFill>
              <a:latin typeface="Calibri"/>
              <a:ea typeface="Calibri"/>
              <a:cs typeface="Calibri"/>
              <a:sym typeface="Calibri"/>
            </a:endParaRPr>
          </a:p>
        </p:txBody>
      </p:sp>
      <p:sp>
        <p:nvSpPr>
          <p:cNvPr id="954" name="Google Shape;954;p46"/>
          <p:cNvSpPr/>
          <p:nvPr/>
        </p:nvSpPr>
        <p:spPr>
          <a:xfrm>
            <a:off x="457200" y="2331720"/>
            <a:ext cx="8229600" cy="1188600"/>
          </a:xfrm>
          <a:prstGeom prst="roundRect">
            <a:avLst>
              <a:gd fmla="val 7692" name="adj"/>
            </a:avLst>
          </a:prstGeom>
          <a:solidFill>
            <a:srgbClr val="FFFFFF"/>
          </a:solidFill>
          <a:ln>
            <a:noFill/>
          </a:ln>
          <a:effectLst>
            <a:outerShdw blurRad="101600" rotWithShape="0" algn="bl" dir="27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6"/>
          <p:cNvSpPr/>
          <p:nvPr/>
        </p:nvSpPr>
        <p:spPr>
          <a:xfrm>
            <a:off x="594360" y="2624328"/>
            <a:ext cx="502800" cy="502800"/>
          </a:xfrm>
          <a:prstGeom prst="ellipse">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6"/>
          <p:cNvSpPr/>
          <p:nvPr/>
        </p:nvSpPr>
        <p:spPr>
          <a:xfrm>
            <a:off x="594360" y="262432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957" name="Google Shape;957;p46"/>
          <p:cNvSpPr/>
          <p:nvPr/>
        </p:nvSpPr>
        <p:spPr>
          <a:xfrm>
            <a:off x="1234440" y="242316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500"/>
              <a:buFont typeface="Cambria"/>
              <a:buNone/>
            </a:pPr>
            <a:r>
              <a:rPr b="1" i="0" lang="en" sz="1500" u="none" cap="none" strike="noStrike">
                <a:solidFill>
                  <a:srgbClr val="0B2A3D"/>
                </a:solidFill>
                <a:latin typeface="Cambria"/>
                <a:ea typeface="Cambria"/>
                <a:cs typeface="Cambria"/>
                <a:sym typeface="Cambria"/>
              </a:rPr>
              <a:t>Trick #2 — Layer Normalization</a:t>
            </a:r>
            <a:endParaRPr b="0" i="0" sz="1500" u="none" cap="none" strike="noStrike">
              <a:solidFill>
                <a:schemeClr val="dk1"/>
              </a:solidFill>
              <a:latin typeface="Calibri"/>
              <a:ea typeface="Calibri"/>
              <a:cs typeface="Calibri"/>
              <a:sym typeface="Calibri"/>
            </a:endParaRPr>
          </a:p>
        </p:txBody>
      </p:sp>
      <p:sp>
        <p:nvSpPr>
          <p:cNvPr id="958" name="Google Shape;958;p46"/>
          <p:cNvSpPr/>
          <p:nvPr/>
        </p:nvSpPr>
        <p:spPr>
          <a:xfrm>
            <a:off x="1234440" y="2770632"/>
            <a:ext cx="73152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Normalises the mean and variance of activations across the feature dimension for each token.</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Applied after the residual addition at every sub-layer, keeping activations well-scaled.</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Stabilises training and allows the network to converge reliably regardless of depth.</a:t>
            </a:r>
            <a:endParaRPr b="0" i="0" sz="1200" u="none" cap="none" strike="noStrike">
              <a:solidFill>
                <a:schemeClr val="dk1"/>
              </a:solidFill>
              <a:latin typeface="Calibri"/>
              <a:ea typeface="Calibri"/>
              <a:cs typeface="Calibri"/>
              <a:sym typeface="Calibri"/>
            </a:endParaRPr>
          </a:p>
        </p:txBody>
      </p:sp>
      <p:sp>
        <p:nvSpPr>
          <p:cNvPr id="959" name="Google Shape;959;p46"/>
          <p:cNvSpPr/>
          <p:nvPr/>
        </p:nvSpPr>
        <p:spPr>
          <a:xfrm>
            <a:off x="457200" y="3657600"/>
            <a:ext cx="8229600" cy="1188600"/>
          </a:xfrm>
          <a:prstGeom prst="roundRect">
            <a:avLst>
              <a:gd fmla="val 7692" name="adj"/>
            </a:avLst>
          </a:prstGeom>
          <a:solidFill>
            <a:srgbClr val="FFFFFF"/>
          </a:solidFill>
          <a:ln>
            <a:noFill/>
          </a:ln>
          <a:effectLst>
            <a:outerShdw blurRad="101600" rotWithShape="0" algn="bl" dir="27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46"/>
          <p:cNvSpPr/>
          <p:nvPr/>
        </p:nvSpPr>
        <p:spPr>
          <a:xfrm>
            <a:off x="594360" y="3950208"/>
            <a:ext cx="502800" cy="502800"/>
          </a:xfrm>
          <a:prstGeom prst="ellipse">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6"/>
          <p:cNvSpPr/>
          <p:nvPr/>
        </p:nvSpPr>
        <p:spPr>
          <a:xfrm>
            <a:off x="594360" y="395020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962" name="Google Shape;962;p46"/>
          <p:cNvSpPr/>
          <p:nvPr/>
        </p:nvSpPr>
        <p:spPr>
          <a:xfrm>
            <a:off x="1234440" y="374904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500"/>
              <a:buFont typeface="Cambria"/>
              <a:buNone/>
            </a:pPr>
            <a:r>
              <a:rPr b="1" i="0" lang="en" sz="1500" u="none" cap="none" strike="noStrike">
                <a:solidFill>
                  <a:srgbClr val="0B2A3D"/>
                </a:solidFill>
                <a:latin typeface="Cambria"/>
                <a:ea typeface="Cambria"/>
                <a:cs typeface="Cambria"/>
                <a:sym typeface="Cambria"/>
              </a:rPr>
              <a:t>Trick #3 — Scaled Dot Product Attention</a:t>
            </a:r>
            <a:endParaRPr b="0" i="0" sz="1500" u="none" cap="none" strike="noStrike">
              <a:solidFill>
                <a:schemeClr val="dk1"/>
              </a:solidFill>
              <a:latin typeface="Calibri"/>
              <a:ea typeface="Calibri"/>
              <a:cs typeface="Calibri"/>
              <a:sym typeface="Calibri"/>
            </a:endParaRPr>
          </a:p>
        </p:txBody>
      </p:sp>
      <p:sp>
        <p:nvSpPr>
          <p:cNvPr id="963" name="Google Shape;963;p46"/>
          <p:cNvSpPr/>
          <p:nvPr/>
        </p:nvSpPr>
        <p:spPr>
          <a:xfrm>
            <a:off x="1234440" y="4096512"/>
            <a:ext cx="73152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Attention scores are scaled down before the softmax step, based on the size of the key vectors.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Without scaling, large dimensions push scores into saturation regions with near-zero gradients.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3D5A66"/>
              </a:buClr>
              <a:buSzPts val="1200"/>
              <a:buFont typeface="Calibri"/>
              <a:buChar char="•"/>
            </a:pPr>
            <a:r>
              <a:rPr b="0" i="0" lang="en" sz="1200" u="none" cap="none" strike="noStrike">
                <a:solidFill>
                  <a:srgbClr val="3D5A66"/>
                </a:solidFill>
                <a:latin typeface="Calibri"/>
                <a:ea typeface="Calibri"/>
                <a:cs typeface="Calibri"/>
                <a:sym typeface="Calibri"/>
              </a:rPr>
              <a:t>Scaling keeps score variance in a healthy range, maintaining stable gradient flow.</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7" name="Shape 967"/>
        <p:cNvGrpSpPr/>
        <p:nvPr/>
      </p:nvGrpSpPr>
      <p:grpSpPr>
        <a:xfrm>
          <a:off x="0" y="0"/>
          <a:ext cx="0" cy="0"/>
          <a:chOff x="0" y="0"/>
          <a:chExt cx="0" cy="0"/>
        </a:xfrm>
      </p:grpSpPr>
      <p:sp>
        <p:nvSpPr>
          <p:cNvPr descr="$PPTXTitle" id="968" name="Google Shape;968;p47"/>
          <p:cNvSpPr txBox="1"/>
          <p:nvPr>
            <p:ph type="title"/>
          </p:nvPr>
        </p:nvSpPr>
        <p:spPr>
          <a:xfrm>
            <a:off x="1581049" y="284101"/>
            <a:ext cx="7318500" cy="871500"/>
          </a:xfrm>
          <a:prstGeom prst="rect">
            <a:avLst/>
          </a:prstGeom>
          <a:noFill/>
          <a:ln>
            <a:noFill/>
          </a:ln>
        </p:spPr>
        <p:txBody>
          <a:bodyPr anchorCtr="0" anchor="t" bIns="0" lIns="0" spcFirstLastPara="1" rIns="0" wrap="square" tIns="9525">
            <a:spAutoFit/>
          </a:bodyPr>
          <a:lstStyle/>
          <a:p>
            <a:pPr indent="0" lvl="0" marL="12700" rtl="0" algn="ctr">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a:p>
            <a:pPr indent="0" lvl="0" marL="12700" rtl="0" algn="ctr">
              <a:lnSpc>
                <a:spcPct val="100000"/>
              </a:lnSpc>
              <a:spcBef>
                <a:spcPts val="0"/>
              </a:spcBef>
              <a:spcAft>
                <a:spcPts val="0"/>
              </a:spcAft>
              <a:buSzPts val="2800"/>
              <a:buNone/>
            </a:pPr>
            <a:r>
              <a:rPr lang="en" sz="2800">
                <a:solidFill>
                  <a:schemeClr val="dk1"/>
                </a:solidFill>
              </a:rPr>
              <a:t>Positional Encoding</a:t>
            </a:r>
            <a:endParaRPr sz="2800">
              <a:solidFill>
                <a:schemeClr val="dk1"/>
              </a:solidFill>
            </a:endParaRPr>
          </a:p>
        </p:txBody>
      </p:sp>
      <p:pic>
        <p:nvPicPr>
          <p:cNvPr id="969" name="Google Shape;969;p47"/>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970" name="Google Shape;970;p47"/>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75" name="Shape 975"/>
        <p:cNvGrpSpPr/>
        <p:nvPr/>
      </p:nvGrpSpPr>
      <p:grpSpPr>
        <a:xfrm>
          <a:off x="0" y="0"/>
          <a:ext cx="0" cy="0"/>
          <a:chOff x="0" y="0"/>
          <a:chExt cx="0" cy="0"/>
        </a:xfrm>
      </p:grpSpPr>
      <p:sp>
        <p:nvSpPr>
          <p:cNvPr id="976" name="Google Shape;976;p48"/>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8"/>
          <p:cNvSpPr/>
          <p:nvPr/>
        </p:nvSpPr>
        <p:spPr>
          <a:xfrm>
            <a:off x="274320" y="73152"/>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Positional Encoding: Why &amp; How</a:t>
            </a:r>
            <a:endParaRPr b="0" i="0" sz="2500" u="none" cap="none" strike="noStrike">
              <a:solidFill>
                <a:schemeClr val="dk1"/>
              </a:solidFill>
              <a:latin typeface="Calibri"/>
              <a:ea typeface="Calibri"/>
              <a:cs typeface="Calibri"/>
              <a:sym typeface="Calibri"/>
            </a:endParaRPr>
          </a:p>
        </p:txBody>
      </p:sp>
      <p:sp>
        <p:nvSpPr>
          <p:cNvPr id="978" name="Google Shape;978;p48"/>
          <p:cNvSpPr/>
          <p:nvPr/>
        </p:nvSpPr>
        <p:spPr>
          <a:xfrm>
            <a:off x="228600" y="749808"/>
            <a:ext cx="8686800" cy="868800"/>
          </a:xfrm>
          <a:prstGeom prst="roundRect">
            <a:avLst>
              <a:gd fmla="val 10526" name="adj"/>
            </a:avLst>
          </a:prstGeom>
          <a:solidFill>
            <a:srgbClr val="FFFFFF"/>
          </a:solidFill>
          <a:ln cap="flat" cmpd="sng" w="16500">
            <a:solidFill>
              <a:srgbClr val="C6282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8"/>
          <p:cNvSpPr/>
          <p:nvPr/>
        </p:nvSpPr>
        <p:spPr>
          <a:xfrm>
            <a:off x="411480" y="804672"/>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300"/>
              <a:buFont typeface="Calibri"/>
              <a:buNone/>
            </a:pPr>
            <a:r>
              <a:rPr b="1" i="0" lang="en" sz="1300" u="none" cap="none" strike="noStrike">
                <a:solidFill>
                  <a:srgbClr val="C62828"/>
                </a:solidFill>
                <a:latin typeface="Calibri"/>
                <a:ea typeface="Calibri"/>
                <a:cs typeface="Calibri"/>
                <a:sym typeface="Calibri"/>
              </a:rPr>
              <a:t>The Problem — Self-Attention Has No Sense Of Order</a:t>
            </a:r>
            <a:endParaRPr b="0" i="0" sz="1300" u="none" cap="none" strike="noStrike">
              <a:solidFill>
                <a:schemeClr val="dk1"/>
              </a:solidFill>
              <a:latin typeface="Calibri"/>
              <a:ea typeface="Calibri"/>
              <a:cs typeface="Calibri"/>
              <a:sym typeface="Calibri"/>
            </a:endParaRPr>
          </a:p>
        </p:txBody>
      </p:sp>
      <p:sp>
        <p:nvSpPr>
          <p:cNvPr id="980" name="Google Shape;980;p48"/>
          <p:cNvSpPr/>
          <p:nvPr/>
        </p:nvSpPr>
        <p:spPr>
          <a:xfrm>
            <a:off x="411480" y="1078992"/>
            <a:ext cx="82296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200"/>
              <a:buFont typeface="Courier New"/>
              <a:buNone/>
            </a:pPr>
            <a:r>
              <a:rPr b="1" i="0" lang="en" sz="1200" u="none" cap="none" strike="noStrike">
                <a:solidFill>
                  <a:srgbClr val="1A1A2E"/>
                </a:solidFill>
                <a:latin typeface="Courier New"/>
                <a:ea typeface="Courier New"/>
                <a:cs typeface="Courier New"/>
                <a:sym typeface="Courier New"/>
              </a:rPr>
              <a:t>"cat sat on mat"  and  "mat on sat cat"</a:t>
            </a:r>
            <a:r>
              <a:rPr b="0" i="0" lang="en" sz="1200" u="none" cap="none" strike="noStrike">
                <a:solidFill>
                  <a:srgbClr val="5A6472"/>
                </a:solidFill>
                <a:latin typeface="Calibri"/>
                <a:ea typeface="Calibri"/>
                <a:cs typeface="Calibri"/>
                <a:sym typeface="Calibri"/>
              </a:rPr>
              <a:t>  →  produce identical attention scores without positional info</a:t>
            </a:r>
            <a:endParaRPr b="0" i="0" sz="1200" u="none" cap="none" strike="noStrike">
              <a:solidFill>
                <a:schemeClr val="dk1"/>
              </a:solidFill>
              <a:latin typeface="Calibri"/>
              <a:ea typeface="Calibri"/>
              <a:cs typeface="Calibri"/>
              <a:sym typeface="Calibri"/>
            </a:endParaRPr>
          </a:p>
        </p:txBody>
      </p:sp>
      <p:sp>
        <p:nvSpPr>
          <p:cNvPr id="981" name="Google Shape;981;p48"/>
          <p:cNvSpPr/>
          <p:nvPr/>
        </p:nvSpPr>
        <p:spPr>
          <a:xfrm>
            <a:off x="228600" y="1719072"/>
            <a:ext cx="8686800" cy="1051500"/>
          </a:xfrm>
          <a:prstGeom prst="roundRect">
            <a:avLst>
              <a:gd fmla="val 8696" name="adj"/>
            </a:avLst>
          </a:prstGeom>
          <a:solidFill>
            <a:srgbClr val="FFFFFF"/>
          </a:solidFill>
          <a:ln cap="flat" cmpd="sng" w="165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8"/>
          <p:cNvSpPr/>
          <p:nvPr/>
        </p:nvSpPr>
        <p:spPr>
          <a:xfrm>
            <a:off x="411480" y="1773936"/>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300"/>
              <a:buFont typeface="Calibri"/>
              <a:buNone/>
            </a:pPr>
            <a:r>
              <a:rPr b="1" i="0" lang="en" sz="1300" u="none" cap="none" strike="noStrike">
                <a:solidFill>
                  <a:srgbClr val="1565C0"/>
                </a:solidFill>
                <a:latin typeface="Calibri"/>
                <a:ea typeface="Calibri"/>
                <a:cs typeface="Calibri"/>
                <a:sym typeface="Calibri"/>
              </a:rPr>
              <a:t>The Fix — Add A Unique Position Vector To Each Token</a:t>
            </a:r>
            <a:endParaRPr b="0" i="0" sz="1300" u="none" cap="none" strike="noStrike">
              <a:solidFill>
                <a:schemeClr val="dk1"/>
              </a:solidFill>
              <a:latin typeface="Calibri"/>
              <a:ea typeface="Calibri"/>
              <a:cs typeface="Calibri"/>
              <a:sym typeface="Calibri"/>
            </a:endParaRPr>
          </a:p>
        </p:txBody>
      </p:sp>
      <p:sp>
        <p:nvSpPr>
          <p:cNvPr id="983" name="Google Shape;983;p48"/>
          <p:cNvSpPr/>
          <p:nvPr/>
        </p:nvSpPr>
        <p:spPr>
          <a:xfrm>
            <a:off x="411480" y="2066544"/>
            <a:ext cx="3931800" cy="292500"/>
          </a:xfrm>
          <a:prstGeom prst="roundRect">
            <a:avLst>
              <a:gd fmla="val 15625"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8"/>
          <p:cNvSpPr/>
          <p:nvPr/>
        </p:nvSpPr>
        <p:spPr>
          <a:xfrm>
            <a:off x="411480" y="2066544"/>
            <a:ext cx="39318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200"/>
              <a:buFont typeface="Courier New"/>
              <a:buNone/>
            </a:pPr>
            <a:r>
              <a:rPr b="1" i="0" lang="en" sz="1200" u="none" cap="none" strike="noStrike">
                <a:solidFill>
                  <a:srgbClr val="1565C0"/>
                </a:solidFill>
                <a:latin typeface="Courier New"/>
                <a:ea typeface="Courier New"/>
                <a:cs typeface="Courier New"/>
                <a:sym typeface="Courier New"/>
              </a:rPr>
              <a:t>xᵢ  =  word_embedding(tokenᵢ)  +  pᵢ</a:t>
            </a:r>
            <a:endParaRPr b="0" i="0" sz="1200" u="none" cap="none" strike="noStrike">
              <a:solidFill>
                <a:schemeClr val="dk1"/>
              </a:solidFill>
              <a:latin typeface="Calibri"/>
              <a:ea typeface="Calibri"/>
              <a:cs typeface="Calibri"/>
              <a:sym typeface="Calibri"/>
            </a:endParaRPr>
          </a:p>
        </p:txBody>
      </p:sp>
      <p:sp>
        <p:nvSpPr>
          <p:cNvPr id="985" name="Google Shape;985;p48"/>
          <p:cNvSpPr/>
          <p:nvPr/>
        </p:nvSpPr>
        <p:spPr>
          <a:xfrm>
            <a:off x="4526280" y="1993392"/>
            <a:ext cx="4389000" cy="420600"/>
          </a:xfrm>
          <a:prstGeom prst="roundRect">
            <a:avLst>
              <a:gd fmla="val 10870"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8"/>
          <p:cNvSpPr/>
          <p:nvPr/>
        </p:nvSpPr>
        <p:spPr>
          <a:xfrm>
            <a:off x="4572000" y="2002536"/>
            <a:ext cx="4297800" cy="19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000"/>
              <a:buFont typeface="Courier New"/>
              <a:buNone/>
            </a:pPr>
            <a:r>
              <a:rPr b="0" i="0" lang="en" sz="1000" u="none" cap="none" strike="noStrike">
                <a:solidFill>
                  <a:srgbClr val="1565C0"/>
                </a:solidFill>
                <a:latin typeface="Courier New"/>
                <a:ea typeface="Courier New"/>
                <a:cs typeface="Courier New"/>
                <a:sym typeface="Courier New"/>
              </a:rPr>
              <a:t>PE(pos,2j)  = sin(pos / 10000^(2j/d))</a:t>
            </a:r>
            <a:endParaRPr b="0" i="0" sz="1000" u="none" cap="none" strike="noStrike">
              <a:solidFill>
                <a:schemeClr val="dk1"/>
              </a:solidFill>
              <a:latin typeface="Calibri"/>
              <a:ea typeface="Calibri"/>
              <a:cs typeface="Calibri"/>
              <a:sym typeface="Calibri"/>
            </a:endParaRPr>
          </a:p>
        </p:txBody>
      </p:sp>
      <p:sp>
        <p:nvSpPr>
          <p:cNvPr id="987" name="Google Shape;987;p48"/>
          <p:cNvSpPr/>
          <p:nvPr/>
        </p:nvSpPr>
        <p:spPr>
          <a:xfrm>
            <a:off x="4572000" y="2203704"/>
            <a:ext cx="4297800" cy="19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000"/>
              <a:buFont typeface="Courier New"/>
              <a:buNone/>
            </a:pPr>
            <a:r>
              <a:rPr b="0" i="0" lang="en" sz="1000" u="none" cap="none" strike="noStrike">
                <a:solidFill>
                  <a:srgbClr val="1565C0"/>
                </a:solidFill>
                <a:latin typeface="Courier New"/>
                <a:ea typeface="Courier New"/>
                <a:cs typeface="Courier New"/>
                <a:sym typeface="Courier New"/>
              </a:rPr>
              <a:t>PE(pos,2j+1) = cos(pos / 10000^(2j/d))</a:t>
            </a:r>
            <a:endParaRPr b="0" i="0" sz="1000" u="none" cap="none" strike="noStrike">
              <a:solidFill>
                <a:schemeClr val="dk1"/>
              </a:solidFill>
              <a:latin typeface="Calibri"/>
              <a:ea typeface="Calibri"/>
              <a:cs typeface="Calibri"/>
              <a:sym typeface="Calibri"/>
            </a:endParaRPr>
          </a:p>
        </p:txBody>
      </p:sp>
      <p:sp>
        <p:nvSpPr>
          <p:cNvPr id="988" name="Google Shape;988;p48"/>
          <p:cNvSpPr/>
          <p:nvPr/>
        </p:nvSpPr>
        <p:spPr>
          <a:xfrm>
            <a:off x="411480" y="2450592"/>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50"/>
              <a:buFont typeface="Calibri"/>
              <a:buNone/>
            </a:pPr>
            <a:r>
              <a:rPr b="0" i="1" lang="en" sz="1050" u="none" cap="none" strike="noStrike">
                <a:solidFill>
                  <a:srgbClr val="5A6472"/>
                </a:solidFill>
                <a:latin typeface="Calibri"/>
                <a:ea typeface="Calibri"/>
                <a:cs typeface="Calibri"/>
                <a:sym typeface="Calibri"/>
              </a:rPr>
              <a:t>pos = position in sequence,  j = dimension pair index,  d = embedding size</a:t>
            </a:r>
            <a:endParaRPr b="0" i="0" sz="1050" u="none" cap="none" strike="noStrike">
              <a:solidFill>
                <a:schemeClr val="dk1"/>
              </a:solidFill>
              <a:latin typeface="Calibri"/>
              <a:ea typeface="Calibri"/>
              <a:cs typeface="Calibri"/>
              <a:sym typeface="Calibri"/>
            </a:endParaRPr>
          </a:p>
        </p:txBody>
      </p:sp>
      <p:sp>
        <p:nvSpPr>
          <p:cNvPr id="989" name="Google Shape;989;p48"/>
          <p:cNvSpPr/>
          <p:nvPr/>
        </p:nvSpPr>
        <p:spPr>
          <a:xfrm>
            <a:off x="228600" y="2907792"/>
            <a:ext cx="8686800" cy="1920300"/>
          </a:xfrm>
          <a:prstGeom prst="roundRect">
            <a:avLst>
              <a:gd fmla="val 4762"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8"/>
          <p:cNvSpPr/>
          <p:nvPr/>
        </p:nvSpPr>
        <p:spPr>
          <a:xfrm>
            <a:off x="411480" y="2962656"/>
            <a:ext cx="8229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300"/>
              <a:buFont typeface="Calibri"/>
              <a:buNone/>
            </a:pPr>
            <a:r>
              <a:rPr b="1" i="0" lang="en" sz="1300" u="none" cap="none" strike="noStrike">
                <a:solidFill>
                  <a:srgbClr val="00796B"/>
                </a:solidFill>
                <a:latin typeface="Calibri"/>
                <a:ea typeface="Calibri"/>
                <a:cs typeface="Calibri"/>
                <a:sym typeface="Calibri"/>
              </a:rPr>
              <a:t>Intuition — Each Dimension Pair Is A Clock Hand At A Different Speed</a:t>
            </a:r>
            <a:endParaRPr b="0" i="0" sz="1300" u="none" cap="none" strike="noStrike">
              <a:solidFill>
                <a:schemeClr val="dk1"/>
              </a:solidFill>
              <a:latin typeface="Calibri"/>
              <a:ea typeface="Calibri"/>
              <a:cs typeface="Calibri"/>
              <a:sym typeface="Calibri"/>
            </a:endParaRPr>
          </a:p>
        </p:txBody>
      </p:sp>
      <p:sp>
        <p:nvSpPr>
          <p:cNvPr id="991" name="Google Shape;991;p48"/>
          <p:cNvSpPr/>
          <p:nvPr/>
        </p:nvSpPr>
        <p:spPr>
          <a:xfrm>
            <a:off x="411480" y="3273552"/>
            <a:ext cx="1188600" cy="347400"/>
          </a:xfrm>
          <a:prstGeom prst="roundRect">
            <a:avLst>
              <a:gd fmla="val 15789" name="adj"/>
            </a:avLst>
          </a:prstGeom>
          <a:solidFill>
            <a:srgbClr val="EBF2FB"/>
          </a:solidFill>
          <a:ln cap="flat" cmpd="sng" w="1015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8"/>
          <p:cNvSpPr/>
          <p:nvPr/>
        </p:nvSpPr>
        <p:spPr>
          <a:xfrm>
            <a:off x="411480" y="3273552"/>
            <a:ext cx="11886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00"/>
              <a:buFont typeface="Courier New"/>
              <a:buNone/>
            </a:pPr>
            <a:r>
              <a:rPr b="1" i="0" lang="en" sz="1000" u="none" cap="none" strike="noStrike">
                <a:solidFill>
                  <a:srgbClr val="1565C0"/>
                </a:solidFill>
                <a:latin typeface="Courier New"/>
                <a:ea typeface="Courier New"/>
                <a:cs typeface="Courier New"/>
                <a:sym typeface="Courier New"/>
              </a:rPr>
              <a:t>dim 0-1</a:t>
            </a:r>
            <a:endParaRPr b="0" i="0" sz="1000" u="none" cap="none" strike="noStrike">
              <a:solidFill>
                <a:schemeClr val="dk1"/>
              </a:solidFill>
              <a:latin typeface="Calibri"/>
              <a:ea typeface="Calibri"/>
              <a:cs typeface="Calibri"/>
              <a:sym typeface="Calibri"/>
            </a:endParaRPr>
          </a:p>
        </p:txBody>
      </p:sp>
      <p:cxnSp>
        <p:nvCxnSpPr>
          <p:cNvPr id="993" name="Google Shape;993;p48"/>
          <p:cNvCxnSpPr/>
          <p:nvPr/>
        </p:nvCxnSpPr>
        <p:spPr>
          <a:xfrm flipH="1" rot="10800000">
            <a:off x="178308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994" name="Google Shape;994;p48"/>
          <p:cNvCxnSpPr/>
          <p:nvPr/>
        </p:nvCxnSpPr>
        <p:spPr>
          <a:xfrm flipH="1" rot="10800000">
            <a:off x="190652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995" name="Google Shape;995;p48"/>
          <p:cNvCxnSpPr/>
          <p:nvPr/>
        </p:nvCxnSpPr>
        <p:spPr>
          <a:xfrm>
            <a:off x="202996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996" name="Google Shape;996;p48"/>
          <p:cNvCxnSpPr/>
          <p:nvPr/>
        </p:nvCxnSpPr>
        <p:spPr>
          <a:xfrm>
            <a:off x="215341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997" name="Google Shape;997;p48"/>
          <p:cNvCxnSpPr/>
          <p:nvPr/>
        </p:nvCxnSpPr>
        <p:spPr>
          <a:xfrm>
            <a:off x="227685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998" name="Google Shape;998;p48"/>
          <p:cNvCxnSpPr/>
          <p:nvPr/>
        </p:nvCxnSpPr>
        <p:spPr>
          <a:xfrm>
            <a:off x="240030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999" name="Google Shape;999;p48"/>
          <p:cNvCxnSpPr/>
          <p:nvPr/>
        </p:nvCxnSpPr>
        <p:spPr>
          <a:xfrm>
            <a:off x="252374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00" name="Google Shape;1000;p48"/>
          <p:cNvCxnSpPr/>
          <p:nvPr/>
        </p:nvCxnSpPr>
        <p:spPr>
          <a:xfrm>
            <a:off x="264718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1001" name="Google Shape;1001;p48"/>
          <p:cNvCxnSpPr/>
          <p:nvPr/>
        </p:nvCxnSpPr>
        <p:spPr>
          <a:xfrm flipH="1" rot="10800000">
            <a:off x="277063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02" name="Google Shape;1002;p48"/>
          <p:cNvCxnSpPr/>
          <p:nvPr/>
        </p:nvCxnSpPr>
        <p:spPr>
          <a:xfrm flipH="1" rot="10800000">
            <a:off x="2894076" y="3447259"/>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03" name="Google Shape;1003;p48"/>
          <p:cNvCxnSpPr/>
          <p:nvPr/>
        </p:nvCxnSpPr>
        <p:spPr>
          <a:xfrm flipH="1" rot="10800000">
            <a:off x="301752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04" name="Google Shape;1004;p48"/>
          <p:cNvCxnSpPr/>
          <p:nvPr/>
        </p:nvCxnSpPr>
        <p:spPr>
          <a:xfrm flipH="1" rot="10800000">
            <a:off x="314096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05" name="Google Shape;1005;p48"/>
          <p:cNvCxnSpPr/>
          <p:nvPr/>
        </p:nvCxnSpPr>
        <p:spPr>
          <a:xfrm>
            <a:off x="326440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1006" name="Google Shape;1006;p48"/>
          <p:cNvCxnSpPr/>
          <p:nvPr/>
        </p:nvCxnSpPr>
        <p:spPr>
          <a:xfrm>
            <a:off x="338785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07" name="Google Shape;1007;p48"/>
          <p:cNvCxnSpPr/>
          <p:nvPr/>
        </p:nvCxnSpPr>
        <p:spPr>
          <a:xfrm>
            <a:off x="351129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08" name="Google Shape;1008;p48"/>
          <p:cNvCxnSpPr/>
          <p:nvPr/>
        </p:nvCxnSpPr>
        <p:spPr>
          <a:xfrm>
            <a:off x="363474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09" name="Google Shape;1009;p48"/>
          <p:cNvCxnSpPr/>
          <p:nvPr/>
        </p:nvCxnSpPr>
        <p:spPr>
          <a:xfrm>
            <a:off x="375818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10" name="Google Shape;1010;p48"/>
          <p:cNvCxnSpPr/>
          <p:nvPr/>
        </p:nvCxnSpPr>
        <p:spPr>
          <a:xfrm>
            <a:off x="388162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1011" name="Google Shape;1011;p48"/>
          <p:cNvCxnSpPr/>
          <p:nvPr/>
        </p:nvCxnSpPr>
        <p:spPr>
          <a:xfrm flipH="1" rot="10800000">
            <a:off x="400507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12" name="Google Shape;1012;p48"/>
          <p:cNvCxnSpPr/>
          <p:nvPr/>
        </p:nvCxnSpPr>
        <p:spPr>
          <a:xfrm flipH="1" rot="10800000">
            <a:off x="4128516" y="3447259"/>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13" name="Google Shape;1013;p48"/>
          <p:cNvCxnSpPr/>
          <p:nvPr/>
        </p:nvCxnSpPr>
        <p:spPr>
          <a:xfrm flipH="1" rot="10800000">
            <a:off x="425196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14" name="Google Shape;1014;p48"/>
          <p:cNvCxnSpPr/>
          <p:nvPr/>
        </p:nvCxnSpPr>
        <p:spPr>
          <a:xfrm flipH="1" rot="10800000">
            <a:off x="437540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15" name="Google Shape;1015;p48"/>
          <p:cNvCxnSpPr/>
          <p:nvPr/>
        </p:nvCxnSpPr>
        <p:spPr>
          <a:xfrm>
            <a:off x="449884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1016" name="Google Shape;1016;p48"/>
          <p:cNvCxnSpPr/>
          <p:nvPr/>
        </p:nvCxnSpPr>
        <p:spPr>
          <a:xfrm>
            <a:off x="462229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17" name="Google Shape;1017;p48"/>
          <p:cNvCxnSpPr/>
          <p:nvPr/>
        </p:nvCxnSpPr>
        <p:spPr>
          <a:xfrm>
            <a:off x="474573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18" name="Google Shape;1018;p48"/>
          <p:cNvCxnSpPr/>
          <p:nvPr/>
        </p:nvCxnSpPr>
        <p:spPr>
          <a:xfrm>
            <a:off x="486918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19" name="Google Shape;1019;p48"/>
          <p:cNvCxnSpPr/>
          <p:nvPr/>
        </p:nvCxnSpPr>
        <p:spPr>
          <a:xfrm>
            <a:off x="499262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20" name="Google Shape;1020;p48"/>
          <p:cNvCxnSpPr/>
          <p:nvPr/>
        </p:nvCxnSpPr>
        <p:spPr>
          <a:xfrm>
            <a:off x="511606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1021" name="Google Shape;1021;p48"/>
          <p:cNvCxnSpPr/>
          <p:nvPr/>
        </p:nvCxnSpPr>
        <p:spPr>
          <a:xfrm flipH="1" rot="10800000">
            <a:off x="523951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22" name="Google Shape;1022;p48"/>
          <p:cNvCxnSpPr/>
          <p:nvPr/>
        </p:nvCxnSpPr>
        <p:spPr>
          <a:xfrm flipH="1" rot="10800000">
            <a:off x="5362956" y="3447259"/>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23" name="Google Shape;1023;p48"/>
          <p:cNvCxnSpPr/>
          <p:nvPr/>
        </p:nvCxnSpPr>
        <p:spPr>
          <a:xfrm flipH="1" rot="10800000">
            <a:off x="5486400" y="33773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24" name="Google Shape;1024;p48"/>
          <p:cNvCxnSpPr/>
          <p:nvPr/>
        </p:nvCxnSpPr>
        <p:spPr>
          <a:xfrm flipH="1" rot="10800000">
            <a:off x="5609844" y="3334217"/>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25" name="Google Shape;1025;p48"/>
          <p:cNvCxnSpPr/>
          <p:nvPr/>
        </p:nvCxnSpPr>
        <p:spPr>
          <a:xfrm>
            <a:off x="5733288" y="3334234"/>
            <a:ext cx="123300" cy="0"/>
          </a:xfrm>
          <a:prstGeom prst="straightConnector1">
            <a:avLst/>
          </a:prstGeom>
          <a:noFill/>
          <a:ln cap="flat" cmpd="sng" w="19050">
            <a:solidFill>
              <a:srgbClr val="1565C0"/>
            </a:solidFill>
            <a:prstDash val="solid"/>
            <a:round/>
            <a:headEnd len="sm" w="sm" type="none"/>
            <a:tailEnd len="sm" w="sm" type="none"/>
          </a:ln>
        </p:spPr>
      </p:cxnSp>
      <p:cxnSp>
        <p:nvCxnSpPr>
          <p:cNvPr id="1026" name="Google Shape;1026;p48"/>
          <p:cNvCxnSpPr/>
          <p:nvPr/>
        </p:nvCxnSpPr>
        <p:spPr>
          <a:xfrm>
            <a:off x="5856732" y="3334234"/>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27" name="Google Shape;1027;p48"/>
          <p:cNvCxnSpPr/>
          <p:nvPr/>
        </p:nvCxnSpPr>
        <p:spPr>
          <a:xfrm>
            <a:off x="5980176" y="3377417"/>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28" name="Google Shape;1028;p48"/>
          <p:cNvCxnSpPr/>
          <p:nvPr/>
        </p:nvCxnSpPr>
        <p:spPr>
          <a:xfrm>
            <a:off x="6103620" y="3447288"/>
            <a:ext cx="123300" cy="69900"/>
          </a:xfrm>
          <a:prstGeom prst="straightConnector1">
            <a:avLst/>
          </a:prstGeom>
          <a:noFill/>
          <a:ln cap="flat" cmpd="sng" w="19050">
            <a:solidFill>
              <a:srgbClr val="1565C0"/>
            </a:solidFill>
            <a:prstDash val="solid"/>
            <a:round/>
            <a:headEnd len="sm" w="sm" type="none"/>
            <a:tailEnd len="sm" w="sm" type="none"/>
          </a:ln>
        </p:spPr>
      </p:cxnSp>
      <p:cxnSp>
        <p:nvCxnSpPr>
          <p:cNvPr id="1029" name="Google Shape;1029;p48"/>
          <p:cNvCxnSpPr/>
          <p:nvPr/>
        </p:nvCxnSpPr>
        <p:spPr>
          <a:xfrm>
            <a:off x="6227064" y="3517159"/>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30" name="Google Shape;1030;p48"/>
          <p:cNvCxnSpPr/>
          <p:nvPr/>
        </p:nvCxnSpPr>
        <p:spPr>
          <a:xfrm>
            <a:off x="6350508" y="3560342"/>
            <a:ext cx="123300" cy="0"/>
          </a:xfrm>
          <a:prstGeom prst="straightConnector1">
            <a:avLst/>
          </a:prstGeom>
          <a:noFill/>
          <a:ln cap="flat" cmpd="sng" w="19050">
            <a:solidFill>
              <a:srgbClr val="1565C0"/>
            </a:solidFill>
            <a:prstDash val="solid"/>
            <a:round/>
            <a:headEnd len="sm" w="sm" type="none"/>
            <a:tailEnd len="sm" w="sm" type="none"/>
          </a:ln>
        </p:spPr>
      </p:cxnSp>
      <p:cxnSp>
        <p:nvCxnSpPr>
          <p:cNvPr id="1031" name="Google Shape;1031;p48"/>
          <p:cNvCxnSpPr/>
          <p:nvPr/>
        </p:nvCxnSpPr>
        <p:spPr>
          <a:xfrm flipH="1" rot="10800000">
            <a:off x="6473952" y="3517142"/>
            <a:ext cx="123300" cy="43200"/>
          </a:xfrm>
          <a:prstGeom prst="straightConnector1">
            <a:avLst/>
          </a:prstGeom>
          <a:noFill/>
          <a:ln cap="flat" cmpd="sng" w="19050">
            <a:solidFill>
              <a:srgbClr val="1565C0"/>
            </a:solidFill>
            <a:prstDash val="solid"/>
            <a:round/>
            <a:headEnd len="sm" w="sm" type="none"/>
            <a:tailEnd len="sm" w="sm" type="none"/>
          </a:ln>
        </p:spPr>
      </p:cxnSp>
      <p:cxnSp>
        <p:nvCxnSpPr>
          <p:cNvPr id="1032" name="Google Shape;1032;p48"/>
          <p:cNvCxnSpPr/>
          <p:nvPr/>
        </p:nvCxnSpPr>
        <p:spPr>
          <a:xfrm flipH="1" rot="10800000">
            <a:off x="6597396" y="3447259"/>
            <a:ext cx="123300" cy="69900"/>
          </a:xfrm>
          <a:prstGeom prst="straightConnector1">
            <a:avLst/>
          </a:prstGeom>
          <a:noFill/>
          <a:ln cap="flat" cmpd="sng" w="19050">
            <a:solidFill>
              <a:srgbClr val="1565C0"/>
            </a:solidFill>
            <a:prstDash val="solid"/>
            <a:round/>
            <a:headEnd len="sm" w="sm" type="none"/>
            <a:tailEnd len="sm" w="sm" type="none"/>
          </a:ln>
        </p:spPr>
      </p:cxnSp>
      <p:sp>
        <p:nvSpPr>
          <p:cNvPr id="1033" name="Google Shape;1033;p48"/>
          <p:cNvSpPr/>
          <p:nvPr/>
        </p:nvSpPr>
        <p:spPr>
          <a:xfrm>
            <a:off x="411480" y="3657600"/>
            <a:ext cx="1188600" cy="347400"/>
          </a:xfrm>
          <a:prstGeom prst="roundRect">
            <a:avLst>
              <a:gd fmla="val 15789" name="adj"/>
            </a:avLst>
          </a:prstGeom>
          <a:solidFill>
            <a:srgbClr val="E8F5F0"/>
          </a:solidFill>
          <a:ln cap="flat" cmpd="sng" w="1015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8"/>
          <p:cNvSpPr/>
          <p:nvPr/>
        </p:nvSpPr>
        <p:spPr>
          <a:xfrm>
            <a:off x="411480" y="3657600"/>
            <a:ext cx="11886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00"/>
              <a:buFont typeface="Courier New"/>
              <a:buNone/>
            </a:pPr>
            <a:r>
              <a:rPr b="1" i="0" lang="en" sz="1000" u="none" cap="none" strike="noStrike">
                <a:solidFill>
                  <a:srgbClr val="00796B"/>
                </a:solidFill>
                <a:latin typeface="Courier New"/>
                <a:ea typeface="Courier New"/>
                <a:cs typeface="Courier New"/>
                <a:sym typeface="Courier New"/>
              </a:rPr>
              <a:t>dim 100-101</a:t>
            </a:r>
            <a:endParaRPr b="0" i="0" sz="1000" u="none" cap="none" strike="noStrike">
              <a:solidFill>
                <a:schemeClr val="dk1"/>
              </a:solidFill>
              <a:latin typeface="Calibri"/>
              <a:ea typeface="Calibri"/>
              <a:cs typeface="Calibri"/>
              <a:sym typeface="Calibri"/>
            </a:endParaRPr>
          </a:p>
        </p:txBody>
      </p:sp>
      <p:cxnSp>
        <p:nvCxnSpPr>
          <p:cNvPr id="1035" name="Google Shape;1035;p48"/>
          <p:cNvCxnSpPr/>
          <p:nvPr/>
        </p:nvCxnSpPr>
        <p:spPr>
          <a:xfrm flipH="1" rot="10800000">
            <a:off x="1783080" y="38058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36" name="Google Shape;1036;p48"/>
          <p:cNvCxnSpPr/>
          <p:nvPr/>
        </p:nvCxnSpPr>
        <p:spPr>
          <a:xfrm flipH="1" rot="10800000">
            <a:off x="1906524" y="3783105"/>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37" name="Google Shape;1037;p48"/>
          <p:cNvCxnSpPr/>
          <p:nvPr/>
        </p:nvCxnSpPr>
        <p:spPr>
          <a:xfrm flipH="1" rot="10800000">
            <a:off x="2029968" y="3764664"/>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38" name="Google Shape;1038;p48"/>
          <p:cNvCxnSpPr/>
          <p:nvPr/>
        </p:nvCxnSpPr>
        <p:spPr>
          <a:xfrm flipH="1" rot="10800000">
            <a:off x="2153412" y="3753057"/>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39" name="Google Shape;1039;p48"/>
          <p:cNvCxnSpPr/>
          <p:nvPr/>
        </p:nvCxnSpPr>
        <p:spPr>
          <a:xfrm flipH="1" rot="10800000">
            <a:off x="2276856" y="3749168"/>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40" name="Google Shape;1040;p48"/>
          <p:cNvCxnSpPr/>
          <p:nvPr/>
        </p:nvCxnSpPr>
        <p:spPr>
          <a:xfrm>
            <a:off x="2400300" y="3749040"/>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41" name="Google Shape;1041;p48"/>
          <p:cNvCxnSpPr/>
          <p:nvPr/>
        </p:nvCxnSpPr>
        <p:spPr>
          <a:xfrm>
            <a:off x="2523744" y="3753068"/>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42" name="Google Shape;1042;p48"/>
          <p:cNvCxnSpPr/>
          <p:nvPr/>
        </p:nvCxnSpPr>
        <p:spPr>
          <a:xfrm>
            <a:off x="2647188" y="3764757"/>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43" name="Google Shape;1043;p48"/>
          <p:cNvCxnSpPr/>
          <p:nvPr/>
        </p:nvCxnSpPr>
        <p:spPr>
          <a:xfrm>
            <a:off x="2770632" y="3782964"/>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44" name="Google Shape;1044;p48"/>
          <p:cNvCxnSpPr/>
          <p:nvPr/>
        </p:nvCxnSpPr>
        <p:spPr>
          <a:xfrm>
            <a:off x="2894076" y="3805905"/>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45" name="Google Shape;1045;p48"/>
          <p:cNvCxnSpPr/>
          <p:nvPr/>
        </p:nvCxnSpPr>
        <p:spPr>
          <a:xfrm>
            <a:off x="3017520" y="38313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46" name="Google Shape;1046;p48"/>
          <p:cNvCxnSpPr/>
          <p:nvPr/>
        </p:nvCxnSpPr>
        <p:spPr>
          <a:xfrm>
            <a:off x="3140964" y="3856767"/>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47" name="Google Shape;1047;p48"/>
          <p:cNvCxnSpPr/>
          <p:nvPr/>
        </p:nvCxnSpPr>
        <p:spPr>
          <a:xfrm>
            <a:off x="3264408" y="3879708"/>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48" name="Google Shape;1048;p48"/>
          <p:cNvCxnSpPr/>
          <p:nvPr/>
        </p:nvCxnSpPr>
        <p:spPr>
          <a:xfrm>
            <a:off x="3387852" y="3897915"/>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49" name="Google Shape;1049;p48"/>
          <p:cNvCxnSpPr/>
          <p:nvPr/>
        </p:nvCxnSpPr>
        <p:spPr>
          <a:xfrm>
            <a:off x="3511296" y="3909604"/>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50" name="Google Shape;1050;p48"/>
          <p:cNvCxnSpPr/>
          <p:nvPr/>
        </p:nvCxnSpPr>
        <p:spPr>
          <a:xfrm flipH="1" rot="10800000">
            <a:off x="3634740" y="3909732"/>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51" name="Google Shape;1051;p48"/>
          <p:cNvCxnSpPr/>
          <p:nvPr/>
        </p:nvCxnSpPr>
        <p:spPr>
          <a:xfrm flipH="1" rot="10800000">
            <a:off x="3758184" y="3897904"/>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52" name="Google Shape;1052;p48"/>
          <p:cNvCxnSpPr/>
          <p:nvPr/>
        </p:nvCxnSpPr>
        <p:spPr>
          <a:xfrm flipH="1" rot="10800000">
            <a:off x="3881628" y="3879615"/>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53" name="Google Shape;1053;p48"/>
          <p:cNvCxnSpPr/>
          <p:nvPr/>
        </p:nvCxnSpPr>
        <p:spPr>
          <a:xfrm flipH="1" rot="10800000">
            <a:off x="4005072" y="3856908"/>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54" name="Google Shape;1054;p48"/>
          <p:cNvCxnSpPr/>
          <p:nvPr/>
        </p:nvCxnSpPr>
        <p:spPr>
          <a:xfrm flipH="1" rot="10800000">
            <a:off x="4128516" y="3831267"/>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55" name="Google Shape;1055;p48"/>
          <p:cNvCxnSpPr/>
          <p:nvPr/>
        </p:nvCxnSpPr>
        <p:spPr>
          <a:xfrm flipH="1" rot="10800000">
            <a:off x="4251960" y="38058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56" name="Google Shape;1056;p48"/>
          <p:cNvCxnSpPr/>
          <p:nvPr/>
        </p:nvCxnSpPr>
        <p:spPr>
          <a:xfrm flipH="1" rot="10800000">
            <a:off x="4375404" y="3783105"/>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57" name="Google Shape;1057;p48"/>
          <p:cNvCxnSpPr/>
          <p:nvPr/>
        </p:nvCxnSpPr>
        <p:spPr>
          <a:xfrm flipH="1" rot="10800000">
            <a:off x="4498848" y="3764664"/>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58" name="Google Shape;1058;p48"/>
          <p:cNvCxnSpPr/>
          <p:nvPr/>
        </p:nvCxnSpPr>
        <p:spPr>
          <a:xfrm flipH="1" rot="10800000">
            <a:off x="4622292" y="3753057"/>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59" name="Google Shape;1059;p48"/>
          <p:cNvCxnSpPr/>
          <p:nvPr/>
        </p:nvCxnSpPr>
        <p:spPr>
          <a:xfrm flipH="1" rot="10800000">
            <a:off x="4745736" y="3749168"/>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60" name="Google Shape;1060;p48"/>
          <p:cNvCxnSpPr/>
          <p:nvPr/>
        </p:nvCxnSpPr>
        <p:spPr>
          <a:xfrm>
            <a:off x="4869180" y="3749040"/>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61" name="Google Shape;1061;p48"/>
          <p:cNvCxnSpPr/>
          <p:nvPr/>
        </p:nvCxnSpPr>
        <p:spPr>
          <a:xfrm>
            <a:off x="4992624" y="3753068"/>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62" name="Google Shape;1062;p48"/>
          <p:cNvCxnSpPr/>
          <p:nvPr/>
        </p:nvCxnSpPr>
        <p:spPr>
          <a:xfrm>
            <a:off x="5116068" y="3764757"/>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63" name="Google Shape;1063;p48"/>
          <p:cNvCxnSpPr/>
          <p:nvPr/>
        </p:nvCxnSpPr>
        <p:spPr>
          <a:xfrm>
            <a:off x="5239512" y="3782964"/>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64" name="Google Shape;1064;p48"/>
          <p:cNvCxnSpPr/>
          <p:nvPr/>
        </p:nvCxnSpPr>
        <p:spPr>
          <a:xfrm>
            <a:off x="5362956" y="3805905"/>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65" name="Google Shape;1065;p48"/>
          <p:cNvCxnSpPr/>
          <p:nvPr/>
        </p:nvCxnSpPr>
        <p:spPr>
          <a:xfrm>
            <a:off x="5486400" y="3831336"/>
            <a:ext cx="123300" cy="25500"/>
          </a:xfrm>
          <a:prstGeom prst="straightConnector1">
            <a:avLst/>
          </a:prstGeom>
          <a:noFill/>
          <a:ln cap="flat" cmpd="sng" w="19050">
            <a:solidFill>
              <a:srgbClr val="00796B"/>
            </a:solidFill>
            <a:prstDash val="solid"/>
            <a:round/>
            <a:headEnd len="sm" w="sm" type="none"/>
            <a:tailEnd len="sm" w="sm" type="none"/>
          </a:ln>
        </p:spPr>
      </p:cxnSp>
      <p:cxnSp>
        <p:nvCxnSpPr>
          <p:cNvPr id="1066" name="Google Shape;1066;p48"/>
          <p:cNvCxnSpPr/>
          <p:nvPr/>
        </p:nvCxnSpPr>
        <p:spPr>
          <a:xfrm>
            <a:off x="5609844" y="3856767"/>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67" name="Google Shape;1067;p48"/>
          <p:cNvCxnSpPr/>
          <p:nvPr/>
        </p:nvCxnSpPr>
        <p:spPr>
          <a:xfrm>
            <a:off x="5733288" y="3879708"/>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68" name="Google Shape;1068;p48"/>
          <p:cNvCxnSpPr/>
          <p:nvPr/>
        </p:nvCxnSpPr>
        <p:spPr>
          <a:xfrm>
            <a:off x="5856732" y="3897915"/>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69" name="Google Shape;1069;p48"/>
          <p:cNvCxnSpPr/>
          <p:nvPr/>
        </p:nvCxnSpPr>
        <p:spPr>
          <a:xfrm>
            <a:off x="5980176" y="3909604"/>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70" name="Google Shape;1070;p48"/>
          <p:cNvCxnSpPr/>
          <p:nvPr/>
        </p:nvCxnSpPr>
        <p:spPr>
          <a:xfrm flipH="1" rot="10800000">
            <a:off x="6103620" y="3909732"/>
            <a:ext cx="123300" cy="3900"/>
          </a:xfrm>
          <a:prstGeom prst="straightConnector1">
            <a:avLst/>
          </a:prstGeom>
          <a:noFill/>
          <a:ln cap="flat" cmpd="sng" w="19050">
            <a:solidFill>
              <a:srgbClr val="00796B"/>
            </a:solidFill>
            <a:prstDash val="solid"/>
            <a:round/>
            <a:headEnd len="sm" w="sm" type="none"/>
            <a:tailEnd len="sm" w="sm" type="none"/>
          </a:ln>
        </p:spPr>
      </p:cxnSp>
      <p:cxnSp>
        <p:nvCxnSpPr>
          <p:cNvPr id="1071" name="Google Shape;1071;p48"/>
          <p:cNvCxnSpPr/>
          <p:nvPr/>
        </p:nvCxnSpPr>
        <p:spPr>
          <a:xfrm flipH="1" rot="10800000">
            <a:off x="6227064" y="3897904"/>
            <a:ext cx="123300" cy="11700"/>
          </a:xfrm>
          <a:prstGeom prst="straightConnector1">
            <a:avLst/>
          </a:prstGeom>
          <a:noFill/>
          <a:ln cap="flat" cmpd="sng" w="19050">
            <a:solidFill>
              <a:srgbClr val="00796B"/>
            </a:solidFill>
            <a:prstDash val="solid"/>
            <a:round/>
            <a:headEnd len="sm" w="sm" type="none"/>
            <a:tailEnd len="sm" w="sm" type="none"/>
          </a:ln>
        </p:spPr>
      </p:cxnSp>
      <p:cxnSp>
        <p:nvCxnSpPr>
          <p:cNvPr id="1072" name="Google Shape;1072;p48"/>
          <p:cNvCxnSpPr/>
          <p:nvPr/>
        </p:nvCxnSpPr>
        <p:spPr>
          <a:xfrm flipH="1" rot="10800000">
            <a:off x="6350508" y="3879615"/>
            <a:ext cx="123300" cy="18300"/>
          </a:xfrm>
          <a:prstGeom prst="straightConnector1">
            <a:avLst/>
          </a:prstGeom>
          <a:noFill/>
          <a:ln cap="flat" cmpd="sng" w="19050">
            <a:solidFill>
              <a:srgbClr val="00796B"/>
            </a:solidFill>
            <a:prstDash val="solid"/>
            <a:round/>
            <a:headEnd len="sm" w="sm" type="none"/>
            <a:tailEnd len="sm" w="sm" type="none"/>
          </a:ln>
        </p:spPr>
      </p:cxnSp>
      <p:cxnSp>
        <p:nvCxnSpPr>
          <p:cNvPr id="1073" name="Google Shape;1073;p48"/>
          <p:cNvCxnSpPr/>
          <p:nvPr/>
        </p:nvCxnSpPr>
        <p:spPr>
          <a:xfrm flipH="1" rot="10800000">
            <a:off x="6473952" y="3856908"/>
            <a:ext cx="123300" cy="22800"/>
          </a:xfrm>
          <a:prstGeom prst="straightConnector1">
            <a:avLst/>
          </a:prstGeom>
          <a:noFill/>
          <a:ln cap="flat" cmpd="sng" w="19050">
            <a:solidFill>
              <a:srgbClr val="00796B"/>
            </a:solidFill>
            <a:prstDash val="solid"/>
            <a:round/>
            <a:headEnd len="sm" w="sm" type="none"/>
            <a:tailEnd len="sm" w="sm" type="none"/>
          </a:ln>
        </p:spPr>
      </p:cxnSp>
      <p:cxnSp>
        <p:nvCxnSpPr>
          <p:cNvPr id="1074" name="Google Shape;1074;p48"/>
          <p:cNvCxnSpPr/>
          <p:nvPr/>
        </p:nvCxnSpPr>
        <p:spPr>
          <a:xfrm flipH="1" rot="10800000">
            <a:off x="6597396" y="3831267"/>
            <a:ext cx="123300" cy="25500"/>
          </a:xfrm>
          <a:prstGeom prst="straightConnector1">
            <a:avLst/>
          </a:prstGeom>
          <a:noFill/>
          <a:ln cap="flat" cmpd="sng" w="19050">
            <a:solidFill>
              <a:srgbClr val="00796B"/>
            </a:solidFill>
            <a:prstDash val="solid"/>
            <a:round/>
            <a:headEnd len="sm" w="sm" type="none"/>
            <a:tailEnd len="sm" w="sm" type="none"/>
          </a:ln>
        </p:spPr>
      </p:cxnSp>
      <p:sp>
        <p:nvSpPr>
          <p:cNvPr id="1075" name="Google Shape;1075;p48"/>
          <p:cNvSpPr/>
          <p:nvPr/>
        </p:nvSpPr>
        <p:spPr>
          <a:xfrm>
            <a:off x="411480" y="4041648"/>
            <a:ext cx="1188600" cy="347400"/>
          </a:xfrm>
          <a:prstGeom prst="roundRect">
            <a:avLst>
              <a:gd fmla="val 15789" name="adj"/>
            </a:avLst>
          </a:prstGeom>
          <a:solidFill>
            <a:srgbClr val="FFF3E0"/>
          </a:solidFill>
          <a:ln cap="flat" cmpd="sng" w="1015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8"/>
          <p:cNvSpPr/>
          <p:nvPr/>
        </p:nvSpPr>
        <p:spPr>
          <a:xfrm>
            <a:off x="411480" y="4041648"/>
            <a:ext cx="11886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000"/>
              <a:buFont typeface="Courier New"/>
              <a:buNone/>
            </a:pPr>
            <a:r>
              <a:rPr b="1" i="0" lang="en" sz="1000" u="none" cap="none" strike="noStrike">
                <a:solidFill>
                  <a:srgbClr val="E65100"/>
                </a:solidFill>
                <a:latin typeface="Courier New"/>
                <a:ea typeface="Courier New"/>
                <a:cs typeface="Courier New"/>
                <a:sym typeface="Courier New"/>
              </a:rPr>
              <a:t>dim 510-511</a:t>
            </a:r>
            <a:endParaRPr b="0" i="0" sz="1000" u="none" cap="none" strike="noStrike">
              <a:solidFill>
                <a:schemeClr val="dk1"/>
              </a:solidFill>
              <a:latin typeface="Calibri"/>
              <a:ea typeface="Calibri"/>
              <a:cs typeface="Calibri"/>
              <a:sym typeface="Calibri"/>
            </a:endParaRPr>
          </a:p>
        </p:txBody>
      </p:sp>
      <p:cxnSp>
        <p:nvCxnSpPr>
          <p:cNvPr id="1077" name="Google Shape;1077;p48"/>
          <p:cNvCxnSpPr/>
          <p:nvPr/>
        </p:nvCxnSpPr>
        <p:spPr>
          <a:xfrm flipH="1" rot="10800000">
            <a:off x="1783080" y="4211184"/>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078" name="Google Shape;1078;p48"/>
          <p:cNvCxnSpPr/>
          <p:nvPr/>
        </p:nvCxnSpPr>
        <p:spPr>
          <a:xfrm flipH="1" rot="10800000">
            <a:off x="1906524" y="4206885"/>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079" name="Google Shape;1079;p48"/>
          <p:cNvCxnSpPr/>
          <p:nvPr/>
        </p:nvCxnSpPr>
        <p:spPr>
          <a:xfrm flipH="1" rot="10800000">
            <a:off x="2029968" y="4202646"/>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080" name="Google Shape;1080;p48"/>
          <p:cNvCxnSpPr/>
          <p:nvPr/>
        </p:nvCxnSpPr>
        <p:spPr>
          <a:xfrm flipH="1" rot="10800000">
            <a:off x="2153412" y="4198824"/>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1081" name="Google Shape;1081;p48"/>
          <p:cNvCxnSpPr/>
          <p:nvPr/>
        </p:nvCxnSpPr>
        <p:spPr>
          <a:xfrm flipH="1" rot="10800000">
            <a:off x="2276856" y="4195179"/>
            <a:ext cx="123300" cy="3600"/>
          </a:xfrm>
          <a:prstGeom prst="straightConnector1">
            <a:avLst/>
          </a:prstGeom>
          <a:noFill/>
          <a:ln cap="flat" cmpd="sng" w="19050">
            <a:solidFill>
              <a:srgbClr val="E65100"/>
            </a:solidFill>
            <a:prstDash val="solid"/>
            <a:round/>
            <a:headEnd len="sm" w="sm" type="none"/>
            <a:tailEnd len="sm" w="sm" type="none"/>
          </a:ln>
        </p:spPr>
      </p:cxnSp>
      <p:cxnSp>
        <p:nvCxnSpPr>
          <p:cNvPr id="1082" name="Google Shape;1082;p48"/>
          <p:cNvCxnSpPr/>
          <p:nvPr/>
        </p:nvCxnSpPr>
        <p:spPr>
          <a:xfrm flipH="1" rot="10800000">
            <a:off x="2400300" y="4191763"/>
            <a:ext cx="123300" cy="3300"/>
          </a:xfrm>
          <a:prstGeom prst="straightConnector1">
            <a:avLst/>
          </a:prstGeom>
          <a:noFill/>
          <a:ln cap="flat" cmpd="sng" w="19050">
            <a:solidFill>
              <a:srgbClr val="E65100"/>
            </a:solidFill>
            <a:prstDash val="solid"/>
            <a:round/>
            <a:headEnd len="sm" w="sm" type="none"/>
            <a:tailEnd len="sm" w="sm" type="none"/>
          </a:ln>
        </p:spPr>
      </p:cxnSp>
      <p:cxnSp>
        <p:nvCxnSpPr>
          <p:cNvPr id="1083" name="Google Shape;1083;p48"/>
          <p:cNvCxnSpPr/>
          <p:nvPr/>
        </p:nvCxnSpPr>
        <p:spPr>
          <a:xfrm flipH="1" rot="10800000">
            <a:off x="2523744" y="4188630"/>
            <a:ext cx="123300" cy="3000"/>
          </a:xfrm>
          <a:prstGeom prst="straightConnector1">
            <a:avLst/>
          </a:prstGeom>
          <a:noFill/>
          <a:ln cap="flat" cmpd="sng" w="19050">
            <a:solidFill>
              <a:srgbClr val="E65100"/>
            </a:solidFill>
            <a:prstDash val="solid"/>
            <a:round/>
            <a:headEnd len="sm" w="sm" type="none"/>
            <a:tailEnd len="sm" w="sm" type="none"/>
          </a:ln>
        </p:spPr>
      </p:cxnSp>
      <p:cxnSp>
        <p:nvCxnSpPr>
          <p:cNvPr id="1084" name="Google Shape;1084;p48"/>
          <p:cNvCxnSpPr/>
          <p:nvPr/>
        </p:nvCxnSpPr>
        <p:spPr>
          <a:xfrm flipH="1" rot="10800000">
            <a:off x="2647188" y="4185825"/>
            <a:ext cx="123300" cy="2700"/>
          </a:xfrm>
          <a:prstGeom prst="straightConnector1">
            <a:avLst/>
          </a:prstGeom>
          <a:noFill/>
          <a:ln cap="flat" cmpd="sng" w="19050">
            <a:solidFill>
              <a:srgbClr val="E65100"/>
            </a:solidFill>
            <a:prstDash val="solid"/>
            <a:round/>
            <a:headEnd len="sm" w="sm" type="none"/>
            <a:tailEnd len="sm" w="sm" type="none"/>
          </a:ln>
        </p:spPr>
      </p:cxnSp>
      <p:cxnSp>
        <p:nvCxnSpPr>
          <p:cNvPr id="1085" name="Google Shape;1085;p48"/>
          <p:cNvCxnSpPr/>
          <p:nvPr/>
        </p:nvCxnSpPr>
        <p:spPr>
          <a:xfrm flipH="1" rot="10800000">
            <a:off x="2770632" y="4183393"/>
            <a:ext cx="123300" cy="2400"/>
          </a:xfrm>
          <a:prstGeom prst="straightConnector1">
            <a:avLst/>
          </a:prstGeom>
          <a:noFill/>
          <a:ln cap="flat" cmpd="sng" w="19050">
            <a:solidFill>
              <a:srgbClr val="E65100"/>
            </a:solidFill>
            <a:prstDash val="solid"/>
            <a:round/>
            <a:headEnd len="sm" w="sm" type="none"/>
            <a:tailEnd len="sm" w="sm" type="none"/>
          </a:ln>
        </p:spPr>
      </p:cxnSp>
      <p:cxnSp>
        <p:nvCxnSpPr>
          <p:cNvPr id="1086" name="Google Shape;1086;p48"/>
          <p:cNvCxnSpPr/>
          <p:nvPr/>
        </p:nvCxnSpPr>
        <p:spPr>
          <a:xfrm flipH="1" rot="10800000">
            <a:off x="2894076" y="4181672"/>
            <a:ext cx="123300" cy="1800"/>
          </a:xfrm>
          <a:prstGeom prst="straightConnector1">
            <a:avLst/>
          </a:prstGeom>
          <a:noFill/>
          <a:ln cap="flat" cmpd="sng" w="19050">
            <a:solidFill>
              <a:srgbClr val="E65100"/>
            </a:solidFill>
            <a:prstDash val="solid"/>
            <a:round/>
            <a:headEnd len="sm" w="sm" type="none"/>
            <a:tailEnd len="sm" w="sm" type="none"/>
          </a:ln>
        </p:spPr>
      </p:cxnSp>
      <p:cxnSp>
        <p:nvCxnSpPr>
          <p:cNvPr id="1087" name="Google Shape;1087;p48"/>
          <p:cNvCxnSpPr/>
          <p:nvPr/>
        </p:nvCxnSpPr>
        <p:spPr>
          <a:xfrm flipH="1" rot="10800000">
            <a:off x="3017520" y="4180092"/>
            <a:ext cx="123300" cy="1500"/>
          </a:xfrm>
          <a:prstGeom prst="straightConnector1">
            <a:avLst/>
          </a:prstGeom>
          <a:noFill/>
          <a:ln cap="flat" cmpd="sng" w="19050">
            <a:solidFill>
              <a:srgbClr val="E65100"/>
            </a:solidFill>
            <a:prstDash val="solid"/>
            <a:round/>
            <a:headEnd len="sm" w="sm" type="none"/>
            <a:tailEnd len="sm" w="sm" type="none"/>
          </a:ln>
        </p:spPr>
      </p:cxnSp>
      <p:cxnSp>
        <p:nvCxnSpPr>
          <p:cNvPr id="1088" name="Google Shape;1088;p48"/>
          <p:cNvCxnSpPr/>
          <p:nvPr/>
        </p:nvCxnSpPr>
        <p:spPr>
          <a:xfrm flipH="1" rot="10800000">
            <a:off x="3140964" y="4179281"/>
            <a:ext cx="123300" cy="900"/>
          </a:xfrm>
          <a:prstGeom prst="straightConnector1">
            <a:avLst/>
          </a:prstGeom>
          <a:noFill/>
          <a:ln cap="flat" cmpd="sng" w="19050">
            <a:solidFill>
              <a:srgbClr val="E65100"/>
            </a:solidFill>
            <a:prstDash val="solid"/>
            <a:round/>
            <a:headEnd len="sm" w="sm" type="none"/>
            <a:tailEnd len="sm" w="sm" type="none"/>
          </a:ln>
        </p:spPr>
      </p:cxnSp>
      <p:cxnSp>
        <p:nvCxnSpPr>
          <p:cNvPr id="1089" name="Google Shape;1089;p48"/>
          <p:cNvCxnSpPr/>
          <p:nvPr/>
        </p:nvCxnSpPr>
        <p:spPr>
          <a:xfrm flipH="1" rot="10800000">
            <a:off x="3264408" y="4178958"/>
            <a:ext cx="123300" cy="300"/>
          </a:xfrm>
          <a:prstGeom prst="straightConnector1">
            <a:avLst/>
          </a:prstGeom>
          <a:noFill/>
          <a:ln cap="flat" cmpd="sng" w="19050">
            <a:solidFill>
              <a:srgbClr val="E65100"/>
            </a:solidFill>
            <a:prstDash val="solid"/>
            <a:round/>
            <a:headEnd len="sm" w="sm" type="none"/>
            <a:tailEnd len="sm" w="sm" type="none"/>
          </a:ln>
        </p:spPr>
      </p:cxnSp>
      <p:cxnSp>
        <p:nvCxnSpPr>
          <p:cNvPr id="1090" name="Google Shape;1090;p48"/>
          <p:cNvCxnSpPr/>
          <p:nvPr/>
        </p:nvCxnSpPr>
        <p:spPr>
          <a:xfrm>
            <a:off x="3387852" y="4178836"/>
            <a:ext cx="123300" cy="0"/>
          </a:xfrm>
          <a:prstGeom prst="straightConnector1">
            <a:avLst/>
          </a:prstGeom>
          <a:noFill/>
          <a:ln cap="flat" cmpd="sng" w="19050">
            <a:solidFill>
              <a:srgbClr val="E65100"/>
            </a:solidFill>
            <a:prstDash val="solid"/>
            <a:round/>
            <a:headEnd len="sm" w="sm" type="none"/>
            <a:tailEnd len="sm" w="sm" type="none"/>
          </a:ln>
        </p:spPr>
      </p:cxnSp>
      <p:cxnSp>
        <p:nvCxnSpPr>
          <p:cNvPr id="1091" name="Google Shape;1091;p48"/>
          <p:cNvCxnSpPr/>
          <p:nvPr/>
        </p:nvCxnSpPr>
        <p:spPr>
          <a:xfrm>
            <a:off x="3511296" y="4178921"/>
            <a:ext cx="123300" cy="600"/>
          </a:xfrm>
          <a:prstGeom prst="straightConnector1">
            <a:avLst/>
          </a:prstGeom>
          <a:noFill/>
          <a:ln cap="flat" cmpd="sng" w="19050">
            <a:solidFill>
              <a:srgbClr val="E65100"/>
            </a:solidFill>
            <a:prstDash val="solid"/>
            <a:round/>
            <a:headEnd len="sm" w="sm" type="none"/>
            <a:tailEnd len="sm" w="sm" type="none"/>
          </a:ln>
        </p:spPr>
      </p:cxnSp>
      <p:cxnSp>
        <p:nvCxnSpPr>
          <p:cNvPr id="1092" name="Google Shape;1092;p48"/>
          <p:cNvCxnSpPr/>
          <p:nvPr/>
        </p:nvCxnSpPr>
        <p:spPr>
          <a:xfrm>
            <a:off x="3634740" y="4179511"/>
            <a:ext cx="123300" cy="1200"/>
          </a:xfrm>
          <a:prstGeom prst="straightConnector1">
            <a:avLst/>
          </a:prstGeom>
          <a:noFill/>
          <a:ln cap="flat" cmpd="sng" w="19050">
            <a:solidFill>
              <a:srgbClr val="E65100"/>
            </a:solidFill>
            <a:prstDash val="solid"/>
            <a:round/>
            <a:headEnd len="sm" w="sm" type="none"/>
            <a:tailEnd len="sm" w="sm" type="none"/>
          </a:ln>
        </p:spPr>
      </p:cxnSp>
      <p:cxnSp>
        <p:nvCxnSpPr>
          <p:cNvPr id="1093" name="Google Shape;1093;p48"/>
          <p:cNvCxnSpPr/>
          <p:nvPr/>
        </p:nvCxnSpPr>
        <p:spPr>
          <a:xfrm>
            <a:off x="3758184" y="4180598"/>
            <a:ext cx="123300" cy="1500"/>
          </a:xfrm>
          <a:prstGeom prst="straightConnector1">
            <a:avLst/>
          </a:prstGeom>
          <a:noFill/>
          <a:ln cap="flat" cmpd="sng" w="19050">
            <a:solidFill>
              <a:srgbClr val="E65100"/>
            </a:solidFill>
            <a:prstDash val="solid"/>
            <a:round/>
            <a:headEnd len="sm" w="sm" type="none"/>
            <a:tailEnd len="sm" w="sm" type="none"/>
          </a:ln>
        </p:spPr>
      </p:cxnSp>
      <p:cxnSp>
        <p:nvCxnSpPr>
          <p:cNvPr id="1094" name="Google Shape;1094;p48"/>
          <p:cNvCxnSpPr/>
          <p:nvPr/>
        </p:nvCxnSpPr>
        <p:spPr>
          <a:xfrm>
            <a:off x="3881628" y="4182168"/>
            <a:ext cx="123300" cy="2100"/>
          </a:xfrm>
          <a:prstGeom prst="straightConnector1">
            <a:avLst/>
          </a:prstGeom>
          <a:noFill/>
          <a:ln cap="flat" cmpd="sng" w="19050">
            <a:solidFill>
              <a:srgbClr val="E65100"/>
            </a:solidFill>
            <a:prstDash val="solid"/>
            <a:round/>
            <a:headEnd len="sm" w="sm" type="none"/>
            <a:tailEnd len="sm" w="sm" type="none"/>
          </a:ln>
        </p:spPr>
      </p:cxnSp>
      <p:cxnSp>
        <p:nvCxnSpPr>
          <p:cNvPr id="1095" name="Google Shape;1095;p48"/>
          <p:cNvCxnSpPr/>
          <p:nvPr/>
        </p:nvCxnSpPr>
        <p:spPr>
          <a:xfrm>
            <a:off x="4005072" y="4184198"/>
            <a:ext cx="123300" cy="2400"/>
          </a:xfrm>
          <a:prstGeom prst="straightConnector1">
            <a:avLst/>
          </a:prstGeom>
          <a:noFill/>
          <a:ln cap="flat" cmpd="sng" w="19050">
            <a:solidFill>
              <a:srgbClr val="E65100"/>
            </a:solidFill>
            <a:prstDash val="solid"/>
            <a:round/>
            <a:headEnd len="sm" w="sm" type="none"/>
            <a:tailEnd len="sm" w="sm" type="none"/>
          </a:ln>
        </p:spPr>
      </p:cxnSp>
      <p:cxnSp>
        <p:nvCxnSpPr>
          <p:cNvPr id="1096" name="Google Shape;1096;p48"/>
          <p:cNvCxnSpPr/>
          <p:nvPr/>
        </p:nvCxnSpPr>
        <p:spPr>
          <a:xfrm>
            <a:off x="4128516" y="4186660"/>
            <a:ext cx="123300" cy="3000"/>
          </a:xfrm>
          <a:prstGeom prst="straightConnector1">
            <a:avLst/>
          </a:prstGeom>
          <a:noFill/>
          <a:ln cap="flat" cmpd="sng" w="19050">
            <a:solidFill>
              <a:srgbClr val="E65100"/>
            </a:solidFill>
            <a:prstDash val="solid"/>
            <a:round/>
            <a:headEnd len="sm" w="sm" type="none"/>
            <a:tailEnd len="sm" w="sm" type="none"/>
          </a:ln>
        </p:spPr>
      </p:cxnSp>
      <p:cxnSp>
        <p:nvCxnSpPr>
          <p:cNvPr id="1097" name="Google Shape;1097;p48"/>
          <p:cNvCxnSpPr/>
          <p:nvPr/>
        </p:nvCxnSpPr>
        <p:spPr>
          <a:xfrm>
            <a:off x="4251960" y="4189521"/>
            <a:ext cx="123300" cy="3300"/>
          </a:xfrm>
          <a:prstGeom prst="straightConnector1">
            <a:avLst/>
          </a:prstGeom>
          <a:noFill/>
          <a:ln cap="flat" cmpd="sng" w="19050">
            <a:solidFill>
              <a:srgbClr val="E65100"/>
            </a:solidFill>
            <a:prstDash val="solid"/>
            <a:round/>
            <a:headEnd len="sm" w="sm" type="none"/>
            <a:tailEnd len="sm" w="sm" type="none"/>
          </a:ln>
        </p:spPr>
      </p:cxnSp>
      <p:cxnSp>
        <p:nvCxnSpPr>
          <p:cNvPr id="1098" name="Google Shape;1098;p48"/>
          <p:cNvCxnSpPr/>
          <p:nvPr/>
        </p:nvCxnSpPr>
        <p:spPr>
          <a:xfrm>
            <a:off x="4375404" y="4192740"/>
            <a:ext cx="123300" cy="3600"/>
          </a:xfrm>
          <a:prstGeom prst="straightConnector1">
            <a:avLst/>
          </a:prstGeom>
          <a:noFill/>
          <a:ln cap="flat" cmpd="sng" w="19050">
            <a:solidFill>
              <a:srgbClr val="E65100"/>
            </a:solidFill>
            <a:prstDash val="solid"/>
            <a:round/>
            <a:headEnd len="sm" w="sm" type="none"/>
            <a:tailEnd len="sm" w="sm" type="none"/>
          </a:ln>
        </p:spPr>
      </p:cxnSp>
      <p:cxnSp>
        <p:nvCxnSpPr>
          <p:cNvPr id="1099" name="Google Shape;1099;p48"/>
          <p:cNvCxnSpPr/>
          <p:nvPr/>
        </p:nvCxnSpPr>
        <p:spPr>
          <a:xfrm>
            <a:off x="4498848" y="4196273"/>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1100" name="Google Shape;1100;p48"/>
          <p:cNvCxnSpPr/>
          <p:nvPr/>
        </p:nvCxnSpPr>
        <p:spPr>
          <a:xfrm>
            <a:off x="4622292" y="4200071"/>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1101" name="Google Shape;1101;p48"/>
          <p:cNvCxnSpPr/>
          <p:nvPr/>
        </p:nvCxnSpPr>
        <p:spPr>
          <a:xfrm>
            <a:off x="4745736" y="4204081"/>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102" name="Google Shape;1102;p48"/>
          <p:cNvCxnSpPr/>
          <p:nvPr/>
        </p:nvCxnSpPr>
        <p:spPr>
          <a:xfrm>
            <a:off x="4869180" y="4208248"/>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103" name="Google Shape;1103;p48"/>
          <p:cNvCxnSpPr/>
          <p:nvPr/>
        </p:nvCxnSpPr>
        <p:spPr>
          <a:xfrm>
            <a:off x="4992624" y="4212514"/>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104" name="Google Shape;1104;p48"/>
          <p:cNvCxnSpPr/>
          <p:nvPr/>
        </p:nvCxnSpPr>
        <p:spPr>
          <a:xfrm>
            <a:off x="5116068" y="4216820"/>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105" name="Google Shape;1105;p48"/>
          <p:cNvCxnSpPr/>
          <p:nvPr/>
        </p:nvCxnSpPr>
        <p:spPr>
          <a:xfrm>
            <a:off x="5239512" y="4221106"/>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106" name="Google Shape;1106;p48"/>
          <p:cNvCxnSpPr/>
          <p:nvPr/>
        </p:nvCxnSpPr>
        <p:spPr>
          <a:xfrm>
            <a:off x="5362956" y="4225312"/>
            <a:ext cx="123300" cy="4200"/>
          </a:xfrm>
          <a:prstGeom prst="straightConnector1">
            <a:avLst/>
          </a:prstGeom>
          <a:noFill/>
          <a:ln cap="flat" cmpd="sng" w="19050">
            <a:solidFill>
              <a:srgbClr val="E65100"/>
            </a:solidFill>
            <a:prstDash val="solid"/>
            <a:round/>
            <a:headEnd len="sm" w="sm" type="none"/>
            <a:tailEnd len="sm" w="sm" type="none"/>
          </a:ln>
        </p:spPr>
      </p:cxnSp>
      <p:cxnSp>
        <p:nvCxnSpPr>
          <p:cNvPr id="1107" name="Google Shape;1107;p48"/>
          <p:cNvCxnSpPr/>
          <p:nvPr/>
        </p:nvCxnSpPr>
        <p:spPr>
          <a:xfrm>
            <a:off x="5486400" y="4229381"/>
            <a:ext cx="123300" cy="3900"/>
          </a:xfrm>
          <a:prstGeom prst="straightConnector1">
            <a:avLst/>
          </a:prstGeom>
          <a:noFill/>
          <a:ln cap="flat" cmpd="sng" w="19050">
            <a:solidFill>
              <a:srgbClr val="E65100"/>
            </a:solidFill>
            <a:prstDash val="solid"/>
            <a:round/>
            <a:headEnd len="sm" w="sm" type="none"/>
            <a:tailEnd len="sm" w="sm" type="none"/>
          </a:ln>
        </p:spPr>
      </p:cxnSp>
      <p:cxnSp>
        <p:nvCxnSpPr>
          <p:cNvPr id="1108" name="Google Shape;1108;p48"/>
          <p:cNvCxnSpPr/>
          <p:nvPr/>
        </p:nvCxnSpPr>
        <p:spPr>
          <a:xfrm>
            <a:off x="5609844" y="4233256"/>
            <a:ext cx="123300" cy="3600"/>
          </a:xfrm>
          <a:prstGeom prst="straightConnector1">
            <a:avLst/>
          </a:prstGeom>
          <a:noFill/>
          <a:ln cap="flat" cmpd="sng" w="19050">
            <a:solidFill>
              <a:srgbClr val="E65100"/>
            </a:solidFill>
            <a:prstDash val="solid"/>
            <a:round/>
            <a:headEnd len="sm" w="sm" type="none"/>
            <a:tailEnd len="sm" w="sm" type="none"/>
          </a:ln>
        </p:spPr>
      </p:cxnSp>
      <p:cxnSp>
        <p:nvCxnSpPr>
          <p:cNvPr id="1109" name="Google Shape;1109;p48"/>
          <p:cNvCxnSpPr/>
          <p:nvPr/>
        </p:nvCxnSpPr>
        <p:spPr>
          <a:xfrm>
            <a:off x="5733288" y="4236883"/>
            <a:ext cx="123300" cy="3300"/>
          </a:xfrm>
          <a:prstGeom prst="straightConnector1">
            <a:avLst/>
          </a:prstGeom>
          <a:noFill/>
          <a:ln cap="flat" cmpd="sng" w="19050">
            <a:solidFill>
              <a:srgbClr val="E65100"/>
            </a:solidFill>
            <a:prstDash val="solid"/>
            <a:round/>
            <a:headEnd len="sm" w="sm" type="none"/>
            <a:tailEnd len="sm" w="sm" type="none"/>
          </a:ln>
        </p:spPr>
      </p:cxnSp>
      <p:cxnSp>
        <p:nvCxnSpPr>
          <p:cNvPr id="1110" name="Google Shape;1110;p48"/>
          <p:cNvCxnSpPr/>
          <p:nvPr/>
        </p:nvCxnSpPr>
        <p:spPr>
          <a:xfrm>
            <a:off x="5856732" y="4240212"/>
            <a:ext cx="123300" cy="3000"/>
          </a:xfrm>
          <a:prstGeom prst="straightConnector1">
            <a:avLst/>
          </a:prstGeom>
          <a:noFill/>
          <a:ln cap="flat" cmpd="sng" w="19050">
            <a:solidFill>
              <a:srgbClr val="E65100"/>
            </a:solidFill>
            <a:prstDash val="solid"/>
            <a:round/>
            <a:headEnd len="sm" w="sm" type="none"/>
            <a:tailEnd len="sm" w="sm" type="none"/>
          </a:ln>
        </p:spPr>
      </p:cxnSp>
      <p:cxnSp>
        <p:nvCxnSpPr>
          <p:cNvPr id="1111" name="Google Shape;1111;p48"/>
          <p:cNvCxnSpPr/>
          <p:nvPr/>
        </p:nvCxnSpPr>
        <p:spPr>
          <a:xfrm>
            <a:off x="5980176" y="4243197"/>
            <a:ext cx="123300" cy="2700"/>
          </a:xfrm>
          <a:prstGeom prst="straightConnector1">
            <a:avLst/>
          </a:prstGeom>
          <a:noFill/>
          <a:ln cap="flat" cmpd="sng" w="19050">
            <a:solidFill>
              <a:srgbClr val="E65100"/>
            </a:solidFill>
            <a:prstDash val="solid"/>
            <a:round/>
            <a:headEnd len="sm" w="sm" type="none"/>
            <a:tailEnd len="sm" w="sm" type="none"/>
          </a:ln>
        </p:spPr>
      </p:cxnSp>
      <p:cxnSp>
        <p:nvCxnSpPr>
          <p:cNvPr id="1112" name="Google Shape;1112;p48"/>
          <p:cNvCxnSpPr/>
          <p:nvPr/>
        </p:nvCxnSpPr>
        <p:spPr>
          <a:xfrm>
            <a:off x="6103620" y="4245796"/>
            <a:ext cx="123300" cy="2100"/>
          </a:xfrm>
          <a:prstGeom prst="straightConnector1">
            <a:avLst/>
          </a:prstGeom>
          <a:noFill/>
          <a:ln cap="flat" cmpd="sng" w="19050">
            <a:solidFill>
              <a:srgbClr val="E65100"/>
            </a:solidFill>
            <a:prstDash val="solid"/>
            <a:round/>
            <a:headEnd len="sm" w="sm" type="none"/>
            <a:tailEnd len="sm" w="sm" type="none"/>
          </a:ln>
        </p:spPr>
      </p:cxnSp>
      <p:cxnSp>
        <p:nvCxnSpPr>
          <p:cNvPr id="1113" name="Google Shape;1113;p48"/>
          <p:cNvCxnSpPr/>
          <p:nvPr/>
        </p:nvCxnSpPr>
        <p:spPr>
          <a:xfrm>
            <a:off x="6227064" y="4247973"/>
            <a:ext cx="123300" cy="1800"/>
          </a:xfrm>
          <a:prstGeom prst="straightConnector1">
            <a:avLst/>
          </a:prstGeom>
          <a:noFill/>
          <a:ln cap="flat" cmpd="sng" w="19050">
            <a:solidFill>
              <a:srgbClr val="E65100"/>
            </a:solidFill>
            <a:prstDash val="solid"/>
            <a:round/>
            <a:headEnd len="sm" w="sm" type="none"/>
            <a:tailEnd len="sm" w="sm" type="none"/>
          </a:ln>
        </p:spPr>
      </p:cxnSp>
      <p:cxnSp>
        <p:nvCxnSpPr>
          <p:cNvPr id="1114" name="Google Shape;1114;p48"/>
          <p:cNvCxnSpPr/>
          <p:nvPr/>
        </p:nvCxnSpPr>
        <p:spPr>
          <a:xfrm>
            <a:off x="6350508" y="4249699"/>
            <a:ext cx="123300" cy="1200"/>
          </a:xfrm>
          <a:prstGeom prst="straightConnector1">
            <a:avLst/>
          </a:prstGeom>
          <a:noFill/>
          <a:ln cap="flat" cmpd="sng" w="19050">
            <a:solidFill>
              <a:srgbClr val="E65100"/>
            </a:solidFill>
            <a:prstDash val="solid"/>
            <a:round/>
            <a:headEnd len="sm" w="sm" type="none"/>
            <a:tailEnd len="sm" w="sm" type="none"/>
          </a:ln>
        </p:spPr>
      </p:cxnSp>
      <p:cxnSp>
        <p:nvCxnSpPr>
          <p:cNvPr id="1115" name="Google Shape;1115;p48"/>
          <p:cNvCxnSpPr/>
          <p:nvPr/>
        </p:nvCxnSpPr>
        <p:spPr>
          <a:xfrm>
            <a:off x="6473952" y="4250949"/>
            <a:ext cx="123300" cy="900"/>
          </a:xfrm>
          <a:prstGeom prst="straightConnector1">
            <a:avLst/>
          </a:prstGeom>
          <a:noFill/>
          <a:ln cap="flat" cmpd="sng" w="19050">
            <a:solidFill>
              <a:srgbClr val="E65100"/>
            </a:solidFill>
            <a:prstDash val="solid"/>
            <a:round/>
            <a:headEnd len="sm" w="sm" type="none"/>
            <a:tailEnd len="sm" w="sm" type="none"/>
          </a:ln>
        </p:spPr>
      </p:cxnSp>
      <p:cxnSp>
        <p:nvCxnSpPr>
          <p:cNvPr id="1116" name="Google Shape;1116;p48"/>
          <p:cNvCxnSpPr/>
          <p:nvPr/>
        </p:nvCxnSpPr>
        <p:spPr>
          <a:xfrm>
            <a:off x="6597396" y="4251706"/>
            <a:ext cx="123300" cy="300"/>
          </a:xfrm>
          <a:prstGeom prst="straightConnector1">
            <a:avLst/>
          </a:prstGeom>
          <a:noFill/>
          <a:ln cap="flat" cmpd="sng" w="19050">
            <a:solidFill>
              <a:srgbClr val="E65100"/>
            </a:solidFill>
            <a:prstDash val="solid"/>
            <a:round/>
            <a:headEnd len="sm" w="sm" type="none"/>
            <a:tailEnd len="sm" w="sm" type="none"/>
          </a:ln>
        </p:spPr>
      </p:cxnSp>
      <p:sp>
        <p:nvSpPr>
          <p:cNvPr id="1117" name="Google Shape;1117;p48"/>
          <p:cNvSpPr/>
          <p:nvPr/>
        </p:nvSpPr>
        <p:spPr>
          <a:xfrm>
            <a:off x="6903720" y="3273552"/>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900"/>
              <a:buFont typeface="Calibri"/>
              <a:buNone/>
            </a:pPr>
            <a:r>
              <a:rPr b="0" i="1" lang="en" sz="900" u="none" cap="none" strike="noStrike">
                <a:solidFill>
                  <a:srgbClr val="1565C0"/>
                </a:solidFill>
                <a:latin typeface="Calibri"/>
                <a:ea typeface="Calibri"/>
                <a:cs typeface="Calibri"/>
                <a:sym typeface="Calibri"/>
              </a:rPr>
              <a:t>fast — tells apart nearby positions</a:t>
            </a:r>
            <a:endParaRPr b="0" i="0" sz="900" u="none" cap="none" strike="noStrike">
              <a:solidFill>
                <a:schemeClr val="dk1"/>
              </a:solidFill>
              <a:latin typeface="Calibri"/>
              <a:ea typeface="Calibri"/>
              <a:cs typeface="Calibri"/>
              <a:sym typeface="Calibri"/>
            </a:endParaRPr>
          </a:p>
        </p:txBody>
      </p:sp>
      <p:sp>
        <p:nvSpPr>
          <p:cNvPr id="1118" name="Google Shape;1118;p48"/>
          <p:cNvSpPr/>
          <p:nvPr/>
        </p:nvSpPr>
        <p:spPr>
          <a:xfrm>
            <a:off x="6903720" y="3657600"/>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900"/>
              <a:buFont typeface="Calibri"/>
              <a:buNone/>
            </a:pPr>
            <a:r>
              <a:rPr b="0" i="1" lang="en" sz="900" u="none" cap="none" strike="noStrike">
                <a:solidFill>
                  <a:srgbClr val="00796B"/>
                </a:solidFill>
                <a:latin typeface="Calibri"/>
                <a:ea typeface="Calibri"/>
                <a:cs typeface="Calibri"/>
                <a:sym typeface="Calibri"/>
              </a:rPr>
              <a:t>medium — mid-range positions</a:t>
            </a:r>
            <a:endParaRPr b="0" i="0" sz="900" u="none" cap="none" strike="noStrike">
              <a:solidFill>
                <a:schemeClr val="dk1"/>
              </a:solidFill>
              <a:latin typeface="Calibri"/>
              <a:ea typeface="Calibri"/>
              <a:cs typeface="Calibri"/>
              <a:sym typeface="Calibri"/>
            </a:endParaRPr>
          </a:p>
        </p:txBody>
      </p:sp>
      <p:sp>
        <p:nvSpPr>
          <p:cNvPr id="1119" name="Google Shape;1119;p48"/>
          <p:cNvSpPr/>
          <p:nvPr/>
        </p:nvSpPr>
        <p:spPr>
          <a:xfrm>
            <a:off x="6903720" y="4041648"/>
            <a:ext cx="1828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900"/>
              <a:buFont typeface="Calibri"/>
              <a:buNone/>
            </a:pPr>
            <a:r>
              <a:rPr b="0" i="1" lang="en" sz="900" u="none" cap="none" strike="noStrike">
                <a:solidFill>
                  <a:srgbClr val="E65100"/>
                </a:solidFill>
                <a:latin typeface="Calibri"/>
                <a:ea typeface="Calibri"/>
                <a:cs typeface="Calibri"/>
                <a:sym typeface="Calibri"/>
              </a:rPr>
              <a:t>slow — far-apart positions</a:t>
            </a:r>
            <a:endParaRPr b="0" i="0" sz="900" u="none" cap="none" strike="noStrike">
              <a:solidFill>
                <a:schemeClr val="dk1"/>
              </a:solidFill>
              <a:latin typeface="Calibri"/>
              <a:ea typeface="Calibri"/>
              <a:cs typeface="Calibri"/>
              <a:sym typeface="Calibri"/>
            </a:endParaRPr>
          </a:p>
        </p:txBody>
      </p:sp>
      <p:sp>
        <p:nvSpPr>
          <p:cNvPr id="1120" name="Google Shape;1120;p48"/>
          <p:cNvSpPr/>
          <p:nvPr/>
        </p:nvSpPr>
        <p:spPr>
          <a:xfrm>
            <a:off x="411480" y="4498848"/>
            <a:ext cx="83211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Fast-oscillating dims tell apart nearby positions; slow ones preserve coarse long-range order.</a:t>
            </a:r>
            <a:endParaRPr b="0" i="0" sz="1100" u="none" cap="none" strike="noStrike">
              <a:solidFill>
                <a:schemeClr val="dk1"/>
              </a:solidFill>
              <a:latin typeface="Calibri"/>
              <a:ea typeface="Calibri"/>
              <a:cs typeface="Calibri"/>
              <a:sym typeface="Calibri"/>
            </a:endParaRPr>
          </a:p>
        </p:txBody>
      </p:sp>
      <p:sp>
        <p:nvSpPr>
          <p:cNvPr id="1121" name="Google Shape;1121;p48"/>
          <p:cNvSpPr/>
          <p:nvPr/>
        </p:nvSpPr>
        <p:spPr>
          <a:xfrm>
            <a:off x="411480" y="4791456"/>
            <a:ext cx="2743200" cy="310800"/>
          </a:xfrm>
          <a:prstGeom prst="roundRect">
            <a:avLst>
              <a:gd fmla="val 17647" name="adj"/>
            </a:avLst>
          </a:prstGeom>
          <a:solidFill>
            <a:srgbClr val="FFFFFF"/>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8"/>
          <p:cNvSpPr/>
          <p:nvPr/>
        </p:nvSpPr>
        <p:spPr>
          <a:xfrm>
            <a:off x="411480" y="4791456"/>
            <a:ext cx="27432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Unique per position</a:t>
            </a:r>
            <a:endParaRPr b="0" i="0" sz="1050" u="none" cap="none" strike="noStrike">
              <a:solidFill>
                <a:schemeClr val="dk1"/>
              </a:solidFill>
              <a:latin typeface="Calibri"/>
              <a:ea typeface="Calibri"/>
              <a:cs typeface="Calibri"/>
              <a:sym typeface="Calibri"/>
            </a:endParaRPr>
          </a:p>
        </p:txBody>
      </p:sp>
      <p:sp>
        <p:nvSpPr>
          <p:cNvPr id="1123" name="Google Shape;1123;p48"/>
          <p:cNvSpPr/>
          <p:nvPr/>
        </p:nvSpPr>
        <p:spPr>
          <a:xfrm>
            <a:off x="3291840" y="4791456"/>
            <a:ext cx="2743200" cy="310800"/>
          </a:xfrm>
          <a:prstGeom prst="roundRect">
            <a:avLst>
              <a:gd fmla="val 17647" name="adj"/>
            </a:avLst>
          </a:prstGeom>
          <a:solidFill>
            <a:srgbClr val="FFFFFF"/>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8"/>
          <p:cNvSpPr/>
          <p:nvPr/>
        </p:nvSpPr>
        <p:spPr>
          <a:xfrm>
            <a:off x="3291840" y="4791456"/>
            <a:ext cx="27432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Bounded in [-1, 1]</a:t>
            </a:r>
            <a:endParaRPr b="0" i="0" sz="1050" u="none" cap="none" strike="noStrike">
              <a:solidFill>
                <a:schemeClr val="dk1"/>
              </a:solidFill>
              <a:latin typeface="Calibri"/>
              <a:ea typeface="Calibri"/>
              <a:cs typeface="Calibri"/>
              <a:sym typeface="Calibri"/>
            </a:endParaRPr>
          </a:p>
        </p:txBody>
      </p:sp>
      <p:sp>
        <p:nvSpPr>
          <p:cNvPr id="1125" name="Google Shape;1125;p48"/>
          <p:cNvSpPr/>
          <p:nvPr/>
        </p:nvSpPr>
        <p:spPr>
          <a:xfrm>
            <a:off x="6172200" y="4791456"/>
            <a:ext cx="2743200" cy="310800"/>
          </a:xfrm>
          <a:prstGeom prst="roundRect">
            <a:avLst>
              <a:gd fmla="val 17647" name="adj"/>
            </a:avLst>
          </a:prstGeom>
          <a:solidFill>
            <a:srgbClr val="FFFFFF"/>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8"/>
          <p:cNvSpPr/>
          <p:nvPr/>
        </p:nvSpPr>
        <p:spPr>
          <a:xfrm>
            <a:off x="6172200" y="4791456"/>
            <a:ext cx="27432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Relative offsets are linear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131" name="Shape 1131"/>
        <p:cNvGrpSpPr/>
        <p:nvPr/>
      </p:nvGrpSpPr>
      <p:grpSpPr>
        <a:xfrm>
          <a:off x="0" y="0"/>
          <a:ext cx="0" cy="0"/>
          <a:chOff x="0" y="0"/>
          <a:chExt cx="0" cy="0"/>
        </a:xfrm>
      </p:grpSpPr>
      <p:sp>
        <p:nvSpPr>
          <p:cNvPr id="1132" name="Google Shape;1132;p49"/>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9"/>
          <p:cNvSpPr/>
          <p:nvPr/>
        </p:nvSpPr>
        <p:spPr>
          <a:xfrm>
            <a:off x="274320" y="73152"/>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Worked Example — "bank" at Position 3 vs Position 7</a:t>
            </a:r>
            <a:endParaRPr b="0" i="0" sz="2300" u="none" cap="none" strike="noStrike">
              <a:solidFill>
                <a:schemeClr val="dk1"/>
              </a:solidFill>
              <a:latin typeface="Calibri"/>
              <a:ea typeface="Calibri"/>
              <a:cs typeface="Calibri"/>
              <a:sym typeface="Calibri"/>
            </a:endParaRPr>
          </a:p>
        </p:txBody>
      </p:sp>
      <p:sp>
        <p:nvSpPr>
          <p:cNvPr id="1134" name="Google Shape;1134;p49"/>
          <p:cNvSpPr/>
          <p:nvPr/>
        </p:nvSpPr>
        <p:spPr>
          <a:xfrm>
            <a:off x="274320" y="713232"/>
            <a:ext cx="8595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250"/>
              <a:buFont typeface="Courier New"/>
              <a:buNone/>
            </a:pPr>
            <a:r>
              <a:rPr b="1" i="0" lang="en" sz="1250" u="none" cap="none" strike="noStrike">
                <a:solidFill>
                  <a:srgbClr val="1A1A2E"/>
                </a:solidFill>
                <a:latin typeface="Courier New"/>
                <a:ea typeface="Courier New"/>
                <a:cs typeface="Courier New"/>
                <a:sym typeface="Courier New"/>
              </a:rPr>
              <a:t>word_embedding("bank")  =  [0.8, 0.9, 0.2, 0.4, 0.6]      (using d = 5 for clarity)</a:t>
            </a:r>
            <a:endParaRPr b="0" i="0" sz="1250" u="none" cap="none" strike="noStrike">
              <a:solidFill>
                <a:schemeClr val="dk1"/>
              </a:solidFill>
              <a:latin typeface="Calibri"/>
              <a:ea typeface="Calibri"/>
              <a:cs typeface="Calibri"/>
              <a:sym typeface="Calibri"/>
            </a:endParaRPr>
          </a:p>
        </p:txBody>
      </p:sp>
      <p:sp>
        <p:nvSpPr>
          <p:cNvPr id="1135" name="Google Shape;1135;p49"/>
          <p:cNvSpPr/>
          <p:nvPr/>
        </p:nvSpPr>
        <p:spPr>
          <a:xfrm>
            <a:off x="228600" y="1078992"/>
            <a:ext cx="4206300" cy="2331600"/>
          </a:xfrm>
          <a:prstGeom prst="roundRect">
            <a:avLst>
              <a:gd fmla="val 3922" name="adj"/>
            </a:avLst>
          </a:prstGeom>
          <a:solidFill>
            <a:srgbClr val="FFFFFF"/>
          </a:solidFill>
          <a:ln cap="flat" cmpd="sng" w="17775">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49"/>
          <p:cNvSpPr/>
          <p:nvPr/>
        </p:nvSpPr>
        <p:spPr>
          <a:xfrm>
            <a:off x="365760" y="1133856"/>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400"/>
              <a:buFont typeface="Calibri"/>
              <a:buNone/>
            </a:pPr>
            <a:r>
              <a:rPr b="1" i="0" lang="en" sz="1400" u="none" cap="none" strike="noStrike">
                <a:solidFill>
                  <a:srgbClr val="00796B"/>
                </a:solidFill>
                <a:latin typeface="Calibri"/>
                <a:ea typeface="Calibri"/>
                <a:cs typeface="Calibri"/>
                <a:sym typeface="Calibri"/>
              </a:rPr>
              <a:t>Position 3</a:t>
            </a:r>
            <a:endParaRPr b="0" i="0" sz="1400" u="none" cap="none" strike="noStrike">
              <a:solidFill>
                <a:schemeClr val="dk1"/>
              </a:solidFill>
              <a:latin typeface="Calibri"/>
              <a:ea typeface="Calibri"/>
              <a:cs typeface="Calibri"/>
              <a:sym typeface="Calibri"/>
            </a:endParaRPr>
          </a:p>
        </p:txBody>
      </p:sp>
      <p:sp>
        <p:nvSpPr>
          <p:cNvPr id="1137" name="Google Shape;1137;p49"/>
          <p:cNvSpPr/>
          <p:nvPr/>
        </p:nvSpPr>
        <p:spPr>
          <a:xfrm>
            <a:off x="365760" y="1444752"/>
            <a:ext cx="457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ourier New"/>
              <a:buNone/>
            </a:pPr>
            <a:r>
              <a:rPr b="0" i="0" lang="en" sz="1100" u="none" cap="none" strike="noStrike">
                <a:solidFill>
                  <a:srgbClr val="5A6472"/>
                </a:solidFill>
                <a:latin typeface="Courier New"/>
                <a:ea typeface="Courier New"/>
                <a:cs typeface="Courier New"/>
                <a:sym typeface="Courier New"/>
              </a:rPr>
              <a:t>p  =</a:t>
            </a:r>
            <a:endParaRPr b="0" i="0" sz="1100" u="none" cap="none" strike="noStrike">
              <a:solidFill>
                <a:schemeClr val="dk1"/>
              </a:solidFill>
              <a:latin typeface="Calibri"/>
              <a:ea typeface="Calibri"/>
              <a:cs typeface="Calibri"/>
              <a:sym typeface="Calibri"/>
            </a:endParaRPr>
          </a:p>
        </p:txBody>
      </p:sp>
      <p:sp>
        <p:nvSpPr>
          <p:cNvPr id="1138" name="Google Shape;1138;p49"/>
          <p:cNvSpPr/>
          <p:nvPr/>
        </p:nvSpPr>
        <p:spPr>
          <a:xfrm>
            <a:off x="795528"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9"/>
          <p:cNvSpPr/>
          <p:nvPr/>
        </p:nvSpPr>
        <p:spPr>
          <a:xfrm>
            <a:off x="795528"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0.1411</a:t>
            </a:r>
            <a:endParaRPr b="0" i="0" sz="850" u="none" cap="none" strike="noStrike">
              <a:solidFill>
                <a:schemeClr val="dk1"/>
              </a:solidFill>
              <a:latin typeface="Calibri"/>
              <a:ea typeface="Calibri"/>
              <a:cs typeface="Calibri"/>
              <a:sym typeface="Calibri"/>
            </a:endParaRPr>
          </a:p>
        </p:txBody>
      </p:sp>
      <p:sp>
        <p:nvSpPr>
          <p:cNvPr id="1140" name="Google Shape;1140;p49"/>
          <p:cNvSpPr/>
          <p:nvPr/>
        </p:nvSpPr>
        <p:spPr>
          <a:xfrm>
            <a:off x="1517904"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9"/>
          <p:cNvSpPr/>
          <p:nvPr/>
        </p:nvSpPr>
        <p:spPr>
          <a:xfrm>
            <a:off x="1517904"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-0.9900</a:t>
            </a:r>
            <a:endParaRPr b="0" i="0" sz="850" u="none" cap="none" strike="noStrike">
              <a:solidFill>
                <a:schemeClr val="dk1"/>
              </a:solidFill>
              <a:latin typeface="Calibri"/>
              <a:ea typeface="Calibri"/>
              <a:cs typeface="Calibri"/>
              <a:sym typeface="Calibri"/>
            </a:endParaRPr>
          </a:p>
        </p:txBody>
      </p:sp>
      <p:sp>
        <p:nvSpPr>
          <p:cNvPr id="1142" name="Google Shape;1142;p49"/>
          <p:cNvSpPr/>
          <p:nvPr/>
        </p:nvSpPr>
        <p:spPr>
          <a:xfrm>
            <a:off x="2240280"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9"/>
          <p:cNvSpPr/>
          <p:nvPr/>
        </p:nvSpPr>
        <p:spPr>
          <a:xfrm>
            <a:off x="2240280"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0.0753</a:t>
            </a:r>
            <a:endParaRPr b="0" i="0" sz="850" u="none" cap="none" strike="noStrike">
              <a:solidFill>
                <a:schemeClr val="dk1"/>
              </a:solidFill>
              <a:latin typeface="Calibri"/>
              <a:ea typeface="Calibri"/>
              <a:cs typeface="Calibri"/>
              <a:sym typeface="Calibri"/>
            </a:endParaRPr>
          </a:p>
        </p:txBody>
      </p:sp>
      <p:sp>
        <p:nvSpPr>
          <p:cNvPr id="1144" name="Google Shape;1144;p49"/>
          <p:cNvSpPr/>
          <p:nvPr/>
        </p:nvSpPr>
        <p:spPr>
          <a:xfrm>
            <a:off x="2962656"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9"/>
          <p:cNvSpPr/>
          <p:nvPr/>
        </p:nvSpPr>
        <p:spPr>
          <a:xfrm>
            <a:off x="2962656"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0.9972</a:t>
            </a:r>
            <a:endParaRPr b="0" i="0" sz="850" u="none" cap="none" strike="noStrike">
              <a:solidFill>
                <a:schemeClr val="dk1"/>
              </a:solidFill>
              <a:latin typeface="Calibri"/>
              <a:ea typeface="Calibri"/>
              <a:cs typeface="Calibri"/>
              <a:sym typeface="Calibri"/>
            </a:endParaRPr>
          </a:p>
        </p:txBody>
      </p:sp>
      <p:sp>
        <p:nvSpPr>
          <p:cNvPr id="1146" name="Google Shape;1146;p49"/>
          <p:cNvSpPr/>
          <p:nvPr/>
        </p:nvSpPr>
        <p:spPr>
          <a:xfrm>
            <a:off x="3685032" y="1444752"/>
            <a:ext cx="676800" cy="2559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9"/>
          <p:cNvSpPr/>
          <p:nvPr/>
        </p:nvSpPr>
        <p:spPr>
          <a:xfrm>
            <a:off x="3685032"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0.0019</a:t>
            </a:r>
            <a:endParaRPr b="0" i="0" sz="850" u="none" cap="none" strike="noStrike">
              <a:solidFill>
                <a:schemeClr val="dk1"/>
              </a:solidFill>
              <a:latin typeface="Calibri"/>
              <a:ea typeface="Calibri"/>
              <a:cs typeface="Calibri"/>
              <a:sym typeface="Calibri"/>
            </a:endParaRPr>
          </a:p>
        </p:txBody>
      </p:sp>
      <p:sp>
        <p:nvSpPr>
          <p:cNvPr id="1148" name="Google Shape;1148;p49"/>
          <p:cNvSpPr/>
          <p:nvPr/>
        </p:nvSpPr>
        <p:spPr>
          <a:xfrm>
            <a:off x="365760" y="17556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  word embedding [0.8, 0.9, 0.2, 0.4, 0.6]</a:t>
            </a:r>
            <a:endParaRPr b="0" i="0" sz="950" u="none" cap="none" strike="noStrike">
              <a:solidFill>
                <a:schemeClr val="dk1"/>
              </a:solidFill>
              <a:latin typeface="Calibri"/>
              <a:ea typeface="Calibri"/>
              <a:cs typeface="Calibri"/>
              <a:sym typeface="Calibri"/>
            </a:endParaRPr>
          </a:p>
        </p:txBody>
      </p:sp>
      <p:cxnSp>
        <p:nvCxnSpPr>
          <p:cNvPr id="1149" name="Google Shape;1149;p49"/>
          <p:cNvCxnSpPr/>
          <p:nvPr/>
        </p:nvCxnSpPr>
        <p:spPr>
          <a:xfrm>
            <a:off x="365760" y="2048256"/>
            <a:ext cx="3931800" cy="0"/>
          </a:xfrm>
          <a:prstGeom prst="straightConnector1">
            <a:avLst/>
          </a:prstGeom>
          <a:noFill/>
          <a:ln cap="flat" cmpd="sng" w="10150">
            <a:solidFill>
              <a:srgbClr val="B0C8D8"/>
            </a:solidFill>
            <a:prstDash val="solid"/>
            <a:round/>
            <a:headEnd len="sm" w="sm" type="none"/>
            <a:tailEnd len="sm" w="sm" type="none"/>
          </a:ln>
        </p:spPr>
      </p:cxnSp>
      <p:sp>
        <p:nvSpPr>
          <p:cNvPr id="1150" name="Google Shape;1150;p49"/>
          <p:cNvSpPr/>
          <p:nvPr/>
        </p:nvSpPr>
        <p:spPr>
          <a:xfrm>
            <a:off x="365760" y="2121408"/>
            <a:ext cx="457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ourier New"/>
              <a:buNone/>
            </a:pPr>
            <a:r>
              <a:rPr b="1" i="0" lang="en" sz="1100" u="none" cap="none" strike="noStrike">
                <a:solidFill>
                  <a:srgbClr val="1A1A2E"/>
                </a:solidFill>
                <a:latin typeface="Courier New"/>
                <a:ea typeface="Courier New"/>
                <a:cs typeface="Courier New"/>
                <a:sym typeface="Courier New"/>
              </a:rPr>
              <a:t>x  =</a:t>
            </a:r>
            <a:endParaRPr b="0" i="0" sz="1100" u="none" cap="none" strike="noStrike">
              <a:solidFill>
                <a:schemeClr val="dk1"/>
              </a:solidFill>
              <a:latin typeface="Calibri"/>
              <a:ea typeface="Calibri"/>
              <a:cs typeface="Calibri"/>
              <a:sym typeface="Calibri"/>
            </a:endParaRPr>
          </a:p>
        </p:txBody>
      </p:sp>
      <p:sp>
        <p:nvSpPr>
          <p:cNvPr id="1151" name="Google Shape;1151;p49"/>
          <p:cNvSpPr/>
          <p:nvPr/>
        </p:nvSpPr>
        <p:spPr>
          <a:xfrm>
            <a:off x="795528"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9"/>
          <p:cNvSpPr/>
          <p:nvPr/>
        </p:nvSpPr>
        <p:spPr>
          <a:xfrm>
            <a:off x="795528"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0.9411</a:t>
            </a:r>
            <a:endParaRPr b="0" i="0" sz="850" u="none" cap="none" strike="noStrike">
              <a:solidFill>
                <a:schemeClr val="dk1"/>
              </a:solidFill>
              <a:latin typeface="Calibri"/>
              <a:ea typeface="Calibri"/>
              <a:cs typeface="Calibri"/>
              <a:sym typeface="Calibri"/>
            </a:endParaRPr>
          </a:p>
        </p:txBody>
      </p:sp>
      <p:sp>
        <p:nvSpPr>
          <p:cNvPr id="1153" name="Google Shape;1153;p49"/>
          <p:cNvSpPr/>
          <p:nvPr/>
        </p:nvSpPr>
        <p:spPr>
          <a:xfrm>
            <a:off x="1517904"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9"/>
          <p:cNvSpPr/>
          <p:nvPr/>
        </p:nvSpPr>
        <p:spPr>
          <a:xfrm>
            <a:off x="1517904"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-0.0900</a:t>
            </a:r>
            <a:endParaRPr b="0" i="0" sz="850" u="none" cap="none" strike="noStrike">
              <a:solidFill>
                <a:schemeClr val="dk1"/>
              </a:solidFill>
              <a:latin typeface="Calibri"/>
              <a:ea typeface="Calibri"/>
              <a:cs typeface="Calibri"/>
              <a:sym typeface="Calibri"/>
            </a:endParaRPr>
          </a:p>
        </p:txBody>
      </p:sp>
      <p:sp>
        <p:nvSpPr>
          <p:cNvPr id="1155" name="Google Shape;1155;p49"/>
          <p:cNvSpPr/>
          <p:nvPr/>
        </p:nvSpPr>
        <p:spPr>
          <a:xfrm>
            <a:off x="2240280"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9"/>
          <p:cNvSpPr/>
          <p:nvPr/>
        </p:nvSpPr>
        <p:spPr>
          <a:xfrm>
            <a:off x="2240280"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0.2753</a:t>
            </a:r>
            <a:endParaRPr b="0" i="0" sz="850" u="none" cap="none" strike="noStrike">
              <a:solidFill>
                <a:schemeClr val="dk1"/>
              </a:solidFill>
              <a:latin typeface="Calibri"/>
              <a:ea typeface="Calibri"/>
              <a:cs typeface="Calibri"/>
              <a:sym typeface="Calibri"/>
            </a:endParaRPr>
          </a:p>
        </p:txBody>
      </p:sp>
      <p:sp>
        <p:nvSpPr>
          <p:cNvPr id="1157" name="Google Shape;1157;p49"/>
          <p:cNvSpPr/>
          <p:nvPr/>
        </p:nvSpPr>
        <p:spPr>
          <a:xfrm>
            <a:off x="2962656"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9"/>
          <p:cNvSpPr/>
          <p:nvPr/>
        </p:nvSpPr>
        <p:spPr>
          <a:xfrm>
            <a:off x="2962656"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1.3972</a:t>
            </a:r>
            <a:endParaRPr b="0" i="0" sz="850" u="none" cap="none" strike="noStrike">
              <a:solidFill>
                <a:schemeClr val="dk1"/>
              </a:solidFill>
              <a:latin typeface="Calibri"/>
              <a:ea typeface="Calibri"/>
              <a:cs typeface="Calibri"/>
              <a:sym typeface="Calibri"/>
            </a:endParaRPr>
          </a:p>
        </p:txBody>
      </p:sp>
      <p:sp>
        <p:nvSpPr>
          <p:cNvPr id="1159" name="Google Shape;1159;p49"/>
          <p:cNvSpPr/>
          <p:nvPr/>
        </p:nvSpPr>
        <p:spPr>
          <a:xfrm>
            <a:off x="3685032" y="2121408"/>
            <a:ext cx="676800" cy="274200"/>
          </a:xfrm>
          <a:prstGeom prst="roundRect">
            <a:avLst>
              <a:gd fmla="val 13333" name="adj"/>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9"/>
          <p:cNvSpPr/>
          <p:nvPr/>
        </p:nvSpPr>
        <p:spPr>
          <a:xfrm>
            <a:off x="3685032"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0.6019</a:t>
            </a:r>
            <a:endParaRPr b="0" i="0" sz="850" u="none" cap="none" strike="noStrike">
              <a:solidFill>
                <a:schemeClr val="dk1"/>
              </a:solidFill>
              <a:latin typeface="Calibri"/>
              <a:ea typeface="Calibri"/>
              <a:cs typeface="Calibri"/>
              <a:sym typeface="Calibri"/>
            </a:endParaRPr>
          </a:p>
        </p:txBody>
      </p:sp>
      <p:sp>
        <p:nvSpPr>
          <p:cNvPr id="1161" name="Google Shape;1161;p49"/>
          <p:cNvSpPr/>
          <p:nvPr/>
        </p:nvSpPr>
        <p:spPr>
          <a:xfrm>
            <a:off x="795528"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1162" name="Google Shape;1162;p49"/>
          <p:cNvSpPr/>
          <p:nvPr/>
        </p:nvSpPr>
        <p:spPr>
          <a:xfrm>
            <a:off x="1517904"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1163" name="Google Shape;1163;p49"/>
          <p:cNvSpPr/>
          <p:nvPr/>
        </p:nvSpPr>
        <p:spPr>
          <a:xfrm>
            <a:off x="2240280"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1164" name="Google Shape;1164;p49"/>
          <p:cNvSpPr/>
          <p:nvPr/>
        </p:nvSpPr>
        <p:spPr>
          <a:xfrm>
            <a:off x="2962656"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1165" name="Google Shape;1165;p49"/>
          <p:cNvSpPr/>
          <p:nvPr/>
        </p:nvSpPr>
        <p:spPr>
          <a:xfrm>
            <a:off x="3685032"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slow</a:t>
            </a:r>
            <a:endParaRPr b="0" i="0" sz="750" u="none" cap="none" strike="noStrike">
              <a:solidFill>
                <a:schemeClr val="dk1"/>
              </a:solidFill>
              <a:latin typeface="Calibri"/>
              <a:ea typeface="Calibri"/>
              <a:cs typeface="Calibri"/>
              <a:sym typeface="Calibri"/>
            </a:endParaRPr>
          </a:p>
        </p:txBody>
      </p:sp>
      <p:sp>
        <p:nvSpPr>
          <p:cNvPr id="1166" name="Google Shape;1166;p49"/>
          <p:cNvSpPr/>
          <p:nvPr/>
        </p:nvSpPr>
        <p:spPr>
          <a:xfrm>
            <a:off x="365760" y="26700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Final vector for "bank" at position 3</a:t>
            </a:r>
            <a:endParaRPr b="0" i="0" sz="1000" u="none" cap="none" strike="noStrike">
              <a:solidFill>
                <a:schemeClr val="dk1"/>
              </a:solidFill>
              <a:latin typeface="Calibri"/>
              <a:ea typeface="Calibri"/>
              <a:cs typeface="Calibri"/>
              <a:sym typeface="Calibri"/>
            </a:endParaRPr>
          </a:p>
        </p:txBody>
      </p:sp>
      <p:sp>
        <p:nvSpPr>
          <p:cNvPr id="1167" name="Google Shape;1167;p49"/>
          <p:cNvSpPr/>
          <p:nvPr/>
        </p:nvSpPr>
        <p:spPr>
          <a:xfrm>
            <a:off x="365760" y="2907792"/>
            <a:ext cx="39318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d = 5 dims shown (real models use d = 512)</a:t>
            </a:r>
            <a:endParaRPr b="0" i="0" sz="900" u="none" cap="none" strike="noStrike">
              <a:solidFill>
                <a:schemeClr val="dk1"/>
              </a:solidFill>
              <a:latin typeface="Calibri"/>
              <a:ea typeface="Calibri"/>
              <a:cs typeface="Calibri"/>
              <a:sym typeface="Calibri"/>
            </a:endParaRPr>
          </a:p>
        </p:txBody>
      </p:sp>
      <p:sp>
        <p:nvSpPr>
          <p:cNvPr id="1168" name="Google Shape;1168;p49"/>
          <p:cNvSpPr/>
          <p:nvPr/>
        </p:nvSpPr>
        <p:spPr>
          <a:xfrm>
            <a:off x="4709160" y="1078992"/>
            <a:ext cx="4206300" cy="2331600"/>
          </a:xfrm>
          <a:prstGeom prst="roundRect">
            <a:avLst>
              <a:gd fmla="val 3922" name="adj"/>
            </a:avLst>
          </a:prstGeom>
          <a:solidFill>
            <a:srgbClr val="FFFFFF"/>
          </a:solidFill>
          <a:ln cap="flat" cmpd="sng" w="17775">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9"/>
          <p:cNvSpPr/>
          <p:nvPr/>
        </p:nvSpPr>
        <p:spPr>
          <a:xfrm>
            <a:off x="4846320" y="1133856"/>
            <a:ext cx="3931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400"/>
              <a:buFont typeface="Calibri"/>
              <a:buNone/>
            </a:pPr>
            <a:r>
              <a:rPr b="1" i="0" lang="en" sz="1400" u="none" cap="none" strike="noStrike">
                <a:solidFill>
                  <a:srgbClr val="E65100"/>
                </a:solidFill>
                <a:latin typeface="Calibri"/>
                <a:ea typeface="Calibri"/>
                <a:cs typeface="Calibri"/>
                <a:sym typeface="Calibri"/>
              </a:rPr>
              <a:t>Position 7</a:t>
            </a:r>
            <a:endParaRPr b="0" i="0" sz="1400" u="none" cap="none" strike="noStrike">
              <a:solidFill>
                <a:schemeClr val="dk1"/>
              </a:solidFill>
              <a:latin typeface="Calibri"/>
              <a:ea typeface="Calibri"/>
              <a:cs typeface="Calibri"/>
              <a:sym typeface="Calibri"/>
            </a:endParaRPr>
          </a:p>
        </p:txBody>
      </p:sp>
      <p:sp>
        <p:nvSpPr>
          <p:cNvPr id="1170" name="Google Shape;1170;p49"/>
          <p:cNvSpPr/>
          <p:nvPr/>
        </p:nvSpPr>
        <p:spPr>
          <a:xfrm>
            <a:off x="4846320" y="1444752"/>
            <a:ext cx="457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ourier New"/>
              <a:buNone/>
            </a:pPr>
            <a:r>
              <a:rPr b="0" i="0" lang="en" sz="1100" u="none" cap="none" strike="noStrike">
                <a:solidFill>
                  <a:srgbClr val="5A6472"/>
                </a:solidFill>
                <a:latin typeface="Courier New"/>
                <a:ea typeface="Courier New"/>
                <a:cs typeface="Courier New"/>
                <a:sym typeface="Courier New"/>
              </a:rPr>
              <a:t>p  =</a:t>
            </a:r>
            <a:endParaRPr b="0" i="0" sz="1100" u="none" cap="none" strike="noStrike">
              <a:solidFill>
                <a:schemeClr val="dk1"/>
              </a:solidFill>
              <a:latin typeface="Calibri"/>
              <a:ea typeface="Calibri"/>
              <a:cs typeface="Calibri"/>
              <a:sym typeface="Calibri"/>
            </a:endParaRPr>
          </a:p>
        </p:txBody>
      </p:sp>
      <p:sp>
        <p:nvSpPr>
          <p:cNvPr id="1171" name="Google Shape;1171;p49"/>
          <p:cNvSpPr/>
          <p:nvPr/>
        </p:nvSpPr>
        <p:spPr>
          <a:xfrm>
            <a:off x="5276088"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9"/>
          <p:cNvSpPr/>
          <p:nvPr/>
        </p:nvSpPr>
        <p:spPr>
          <a:xfrm>
            <a:off x="5276088"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0.6570</a:t>
            </a:r>
            <a:endParaRPr b="0" i="0" sz="850" u="none" cap="none" strike="noStrike">
              <a:solidFill>
                <a:schemeClr val="dk1"/>
              </a:solidFill>
              <a:latin typeface="Calibri"/>
              <a:ea typeface="Calibri"/>
              <a:cs typeface="Calibri"/>
              <a:sym typeface="Calibri"/>
            </a:endParaRPr>
          </a:p>
        </p:txBody>
      </p:sp>
      <p:sp>
        <p:nvSpPr>
          <p:cNvPr id="1173" name="Google Shape;1173;p49"/>
          <p:cNvSpPr/>
          <p:nvPr/>
        </p:nvSpPr>
        <p:spPr>
          <a:xfrm>
            <a:off x="5998464"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9"/>
          <p:cNvSpPr/>
          <p:nvPr/>
        </p:nvSpPr>
        <p:spPr>
          <a:xfrm>
            <a:off x="5998464"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0.7539</a:t>
            </a:r>
            <a:endParaRPr b="0" i="0" sz="850" u="none" cap="none" strike="noStrike">
              <a:solidFill>
                <a:schemeClr val="dk1"/>
              </a:solidFill>
              <a:latin typeface="Calibri"/>
              <a:ea typeface="Calibri"/>
              <a:cs typeface="Calibri"/>
              <a:sym typeface="Calibri"/>
            </a:endParaRPr>
          </a:p>
        </p:txBody>
      </p:sp>
      <p:sp>
        <p:nvSpPr>
          <p:cNvPr id="1175" name="Google Shape;1175;p49"/>
          <p:cNvSpPr/>
          <p:nvPr/>
        </p:nvSpPr>
        <p:spPr>
          <a:xfrm>
            <a:off x="6720840"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9"/>
          <p:cNvSpPr/>
          <p:nvPr/>
        </p:nvSpPr>
        <p:spPr>
          <a:xfrm>
            <a:off x="6720840"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0.1749</a:t>
            </a:r>
            <a:endParaRPr b="0" i="0" sz="850" u="none" cap="none" strike="noStrike">
              <a:solidFill>
                <a:schemeClr val="dk1"/>
              </a:solidFill>
              <a:latin typeface="Calibri"/>
              <a:ea typeface="Calibri"/>
              <a:cs typeface="Calibri"/>
              <a:sym typeface="Calibri"/>
            </a:endParaRPr>
          </a:p>
        </p:txBody>
      </p:sp>
      <p:sp>
        <p:nvSpPr>
          <p:cNvPr id="1177" name="Google Shape;1177;p49"/>
          <p:cNvSpPr/>
          <p:nvPr/>
        </p:nvSpPr>
        <p:spPr>
          <a:xfrm>
            <a:off x="7443216"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9"/>
          <p:cNvSpPr/>
          <p:nvPr/>
        </p:nvSpPr>
        <p:spPr>
          <a:xfrm>
            <a:off x="7443216"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0.9846</a:t>
            </a:r>
            <a:endParaRPr b="0" i="0" sz="850" u="none" cap="none" strike="noStrike">
              <a:solidFill>
                <a:schemeClr val="dk1"/>
              </a:solidFill>
              <a:latin typeface="Calibri"/>
              <a:ea typeface="Calibri"/>
              <a:cs typeface="Calibri"/>
              <a:sym typeface="Calibri"/>
            </a:endParaRPr>
          </a:p>
        </p:txBody>
      </p:sp>
      <p:sp>
        <p:nvSpPr>
          <p:cNvPr id="1179" name="Google Shape;1179;p49"/>
          <p:cNvSpPr/>
          <p:nvPr/>
        </p:nvSpPr>
        <p:spPr>
          <a:xfrm>
            <a:off x="8165592" y="1444752"/>
            <a:ext cx="676800" cy="255900"/>
          </a:xfrm>
          <a:prstGeom prst="roundRect">
            <a:avLst>
              <a:gd fmla="val 14286"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9"/>
          <p:cNvSpPr/>
          <p:nvPr/>
        </p:nvSpPr>
        <p:spPr>
          <a:xfrm>
            <a:off x="8165592" y="1444752"/>
            <a:ext cx="67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0.0044</a:t>
            </a:r>
            <a:endParaRPr b="0" i="0" sz="850" u="none" cap="none" strike="noStrike">
              <a:solidFill>
                <a:schemeClr val="dk1"/>
              </a:solidFill>
              <a:latin typeface="Calibri"/>
              <a:ea typeface="Calibri"/>
              <a:cs typeface="Calibri"/>
              <a:sym typeface="Calibri"/>
            </a:endParaRPr>
          </a:p>
        </p:txBody>
      </p:sp>
      <p:sp>
        <p:nvSpPr>
          <p:cNvPr id="1181" name="Google Shape;1181;p49"/>
          <p:cNvSpPr/>
          <p:nvPr/>
        </p:nvSpPr>
        <p:spPr>
          <a:xfrm>
            <a:off x="4846320" y="17556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  word embedding [0.8, 0.9, 0.2, 0.4, 0.6]</a:t>
            </a:r>
            <a:endParaRPr b="0" i="0" sz="950" u="none" cap="none" strike="noStrike">
              <a:solidFill>
                <a:schemeClr val="dk1"/>
              </a:solidFill>
              <a:latin typeface="Calibri"/>
              <a:ea typeface="Calibri"/>
              <a:cs typeface="Calibri"/>
              <a:sym typeface="Calibri"/>
            </a:endParaRPr>
          </a:p>
        </p:txBody>
      </p:sp>
      <p:cxnSp>
        <p:nvCxnSpPr>
          <p:cNvPr id="1182" name="Google Shape;1182;p49"/>
          <p:cNvCxnSpPr/>
          <p:nvPr/>
        </p:nvCxnSpPr>
        <p:spPr>
          <a:xfrm>
            <a:off x="4846320" y="2048256"/>
            <a:ext cx="3931800" cy="0"/>
          </a:xfrm>
          <a:prstGeom prst="straightConnector1">
            <a:avLst/>
          </a:prstGeom>
          <a:noFill/>
          <a:ln cap="flat" cmpd="sng" w="10150">
            <a:solidFill>
              <a:srgbClr val="B0C8D8"/>
            </a:solidFill>
            <a:prstDash val="solid"/>
            <a:round/>
            <a:headEnd len="sm" w="sm" type="none"/>
            <a:tailEnd len="sm" w="sm" type="none"/>
          </a:ln>
        </p:spPr>
      </p:cxnSp>
      <p:sp>
        <p:nvSpPr>
          <p:cNvPr id="1183" name="Google Shape;1183;p49"/>
          <p:cNvSpPr/>
          <p:nvPr/>
        </p:nvSpPr>
        <p:spPr>
          <a:xfrm>
            <a:off x="4846320" y="2121408"/>
            <a:ext cx="457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ourier New"/>
              <a:buNone/>
            </a:pPr>
            <a:r>
              <a:rPr b="1" i="0" lang="en" sz="1100" u="none" cap="none" strike="noStrike">
                <a:solidFill>
                  <a:srgbClr val="1A1A2E"/>
                </a:solidFill>
                <a:latin typeface="Courier New"/>
                <a:ea typeface="Courier New"/>
                <a:cs typeface="Courier New"/>
                <a:sym typeface="Courier New"/>
              </a:rPr>
              <a:t>x  =</a:t>
            </a:r>
            <a:endParaRPr b="0" i="0" sz="1100" u="none" cap="none" strike="noStrike">
              <a:solidFill>
                <a:schemeClr val="dk1"/>
              </a:solidFill>
              <a:latin typeface="Calibri"/>
              <a:ea typeface="Calibri"/>
              <a:cs typeface="Calibri"/>
              <a:sym typeface="Calibri"/>
            </a:endParaRPr>
          </a:p>
        </p:txBody>
      </p:sp>
      <p:sp>
        <p:nvSpPr>
          <p:cNvPr id="1184" name="Google Shape;1184;p49"/>
          <p:cNvSpPr/>
          <p:nvPr/>
        </p:nvSpPr>
        <p:spPr>
          <a:xfrm>
            <a:off x="5276088"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9"/>
          <p:cNvSpPr/>
          <p:nvPr/>
        </p:nvSpPr>
        <p:spPr>
          <a:xfrm>
            <a:off x="5276088"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1.4570</a:t>
            </a:r>
            <a:endParaRPr b="0" i="0" sz="850" u="none" cap="none" strike="noStrike">
              <a:solidFill>
                <a:schemeClr val="dk1"/>
              </a:solidFill>
              <a:latin typeface="Calibri"/>
              <a:ea typeface="Calibri"/>
              <a:cs typeface="Calibri"/>
              <a:sym typeface="Calibri"/>
            </a:endParaRPr>
          </a:p>
        </p:txBody>
      </p:sp>
      <p:sp>
        <p:nvSpPr>
          <p:cNvPr id="1186" name="Google Shape;1186;p49"/>
          <p:cNvSpPr/>
          <p:nvPr/>
        </p:nvSpPr>
        <p:spPr>
          <a:xfrm>
            <a:off x="5998464"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9"/>
          <p:cNvSpPr/>
          <p:nvPr/>
        </p:nvSpPr>
        <p:spPr>
          <a:xfrm>
            <a:off x="5998464"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1.6539</a:t>
            </a:r>
            <a:endParaRPr b="0" i="0" sz="850" u="none" cap="none" strike="noStrike">
              <a:solidFill>
                <a:schemeClr val="dk1"/>
              </a:solidFill>
              <a:latin typeface="Calibri"/>
              <a:ea typeface="Calibri"/>
              <a:cs typeface="Calibri"/>
              <a:sym typeface="Calibri"/>
            </a:endParaRPr>
          </a:p>
        </p:txBody>
      </p:sp>
      <p:sp>
        <p:nvSpPr>
          <p:cNvPr id="1188" name="Google Shape;1188;p49"/>
          <p:cNvSpPr/>
          <p:nvPr/>
        </p:nvSpPr>
        <p:spPr>
          <a:xfrm>
            <a:off x="6720840"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9"/>
          <p:cNvSpPr/>
          <p:nvPr/>
        </p:nvSpPr>
        <p:spPr>
          <a:xfrm>
            <a:off x="6720840"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0.3749</a:t>
            </a:r>
            <a:endParaRPr b="0" i="0" sz="850" u="none" cap="none" strike="noStrike">
              <a:solidFill>
                <a:schemeClr val="dk1"/>
              </a:solidFill>
              <a:latin typeface="Calibri"/>
              <a:ea typeface="Calibri"/>
              <a:cs typeface="Calibri"/>
              <a:sym typeface="Calibri"/>
            </a:endParaRPr>
          </a:p>
        </p:txBody>
      </p:sp>
      <p:sp>
        <p:nvSpPr>
          <p:cNvPr id="1190" name="Google Shape;1190;p49"/>
          <p:cNvSpPr/>
          <p:nvPr/>
        </p:nvSpPr>
        <p:spPr>
          <a:xfrm>
            <a:off x="7443216"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9"/>
          <p:cNvSpPr/>
          <p:nvPr/>
        </p:nvSpPr>
        <p:spPr>
          <a:xfrm>
            <a:off x="7443216"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1.3846</a:t>
            </a:r>
            <a:endParaRPr b="0" i="0" sz="850" u="none" cap="none" strike="noStrike">
              <a:solidFill>
                <a:schemeClr val="dk1"/>
              </a:solidFill>
              <a:latin typeface="Calibri"/>
              <a:ea typeface="Calibri"/>
              <a:cs typeface="Calibri"/>
              <a:sym typeface="Calibri"/>
            </a:endParaRPr>
          </a:p>
        </p:txBody>
      </p:sp>
      <p:sp>
        <p:nvSpPr>
          <p:cNvPr id="1192" name="Google Shape;1192;p49"/>
          <p:cNvSpPr/>
          <p:nvPr/>
        </p:nvSpPr>
        <p:spPr>
          <a:xfrm>
            <a:off x="8165592" y="2121408"/>
            <a:ext cx="676800" cy="274200"/>
          </a:xfrm>
          <a:prstGeom prst="roundRect">
            <a:avLst>
              <a:gd fmla="val 13333" name="adj"/>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9"/>
          <p:cNvSpPr/>
          <p:nvPr/>
        </p:nvSpPr>
        <p:spPr>
          <a:xfrm>
            <a:off x="8165592" y="2121408"/>
            <a:ext cx="676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0.6044</a:t>
            </a:r>
            <a:endParaRPr b="0" i="0" sz="850" u="none" cap="none" strike="noStrike">
              <a:solidFill>
                <a:schemeClr val="dk1"/>
              </a:solidFill>
              <a:latin typeface="Calibri"/>
              <a:ea typeface="Calibri"/>
              <a:cs typeface="Calibri"/>
              <a:sym typeface="Calibri"/>
            </a:endParaRPr>
          </a:p>
        </p:txBody>
      </p:sp>
      <p:sp>
        <p:nvSpPr>
          <p:cNvPr id="1194" name="Google Shape;1194;p49"/>
          <p:cNvSpPr/>
          <p:nvPr/>
        </p:nvSpPr>
        <p:spPr>
          <a:xfrm>
            <a:off x="5276088"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1195" name="Google Shape;1195;p49"/>
          <p:cNvSpPr/>
          <p:nvPr/>
        </p:nvSpPr>
        <p:spPr>
          <a:xfrm>
            <a:off x="5998464"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fast</a:t>
            </a:r>
            <a:endParaRPr b="0" i="0" sz="750" u="none" cap="none" strike="noStrike">
              <a:solidFill>
                <a:schemeClr val="dk1"/>
              </a:solidFill>
              <a:latin typeface="Calibri"/>
              <a:ea typeface="Calibri"/>
              <a:cs typeface="Calibri"/>
              <a:sym typeface="Calibri"/>
            </a:endParaRPr>
          </a:p>
        </p:txBody>
      </p:sp>
      <p:sp>
        <p:nvSpPr>
          <p:cNvPr id="1196" name="Google Shape;1196;p49"/>
          <p:cNvSpPr/>
          <p:nvPr/>
        </p:nvSpPr>
        <p:spPr>
          <a:xfrm>
            <a:off x="6720840"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1197" name="Google Shape;1197;p49"/>
          <p:cNvSpPr/>
          <p:nvPr/>
        </p:nvSpPr>
        <p:spPr>
          <a:xfrm>
            <a:off x="7443216"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med</a:t>
            </a:r>
            <a:endParaRPr b="0" i="0" sz="750" u="none" cap="none" strike="noStrike">
              <a:solidFill>
                <a:schemeClr val="dk1"/>
              </a:solidFill>
              <a:latin typeface="Calibri"/>
              <a:ea typeface="Calibri"/>
              <a:cs typeface="Calibri"/>
              <a:sym typeface="Calibri"/>
            </a:endParaRPr>
          </a:p>
        </p:txBody>
      </p:sp>
      <p:sp>
        <p:nvSpPr>
          <p:cNvPr id="1198" name="Google Shape;1198;p49"/>
          <p:cNvSpPr/>
          <p:nvPr/>
        </p:nvSpPr>
        <p:spPr>
          <a:xfrm>
            <a:off x="8165592" y="2414016"/>
            <a:ext cx="676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750"/>
              <a:buFont typeface="Calibri"/>
              <a:buNone/>
            </a:pPr>
            <a:r>
              <a:rPr b="0" i="1" lang="en" sz="750" u="none" cap="none" strike="noStrike">
                <a:solidFill>
                  <a:srgbClr val="5A6472"/>
                </a:solidFill>
                <a:latin typeface="Calibri"/>
                <a:ea typeface="Calibri"/>
                <a:cs typeface="Calibri"/>
                <a:sym typeface="Calibri"/>
              </a:rPr>
              <a:t>slow</a:t>
            </a:r>
            <a:endParaRPr b="0" i="0" sz="750" u="none" cap="none" strike="noStrike">
              <a:solidFill>
                <a:schemeClr val="dk1"/>
              </a:solidFill>
              <a:latin typeface="Calibri"/>
              <a:ea typeface="Calibri"/>
              <a:cs typeface="Calibri"/>
              <a:sym typeface="Calibri"/>
            </a:endParaRPr>
          </a:p>
        </p:txBody>
      </p:sp>
      <p:sp>
        <p:nvSpPr>
          <p:cNvPr id="1199" name="Google Shape;1199;p49"/>
          <p:cNvSpPr/>
          <p:nvPr/>
        </p:nvSpPr>
        <p:spPr>
          <a:xfrm>
            <a:off x="4846320" y="2670048"/>
            <a:ext cx="3931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Final vector for "bank" at position 7</a:t>
            </a:r>
            <a:endParaRPr b="0" i="0" sz="1000" u="none" cap="none" strike="noStrike">
              <a:solidFill>
                <a:schemeClr val="dk1"/>
              </a:solidFill>
              <a:latin typeface="Calibri"/>
              <a:ea typeface="Calibri"/>
              <a:cs typeface="Calibri"/>
              <a:sym typeface="Calibri"/>
            </a:endParaRPr>
          </a:p>
        </p:txBody>
      </p:sp>
      <p:sp>
        <p:nvSpPr>
          <p:cNvPr id="1200" name="Google Shape;1200;p49"/>
          <p:cNvSpPr/>
          <p:nvPr/>
        </p:nvSpPr>
        <p:spPr>
          <a:xfrm>
            <a:off x="4846320" y="2907792"/>
            <a:ext cx="39318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d = 5 dims shown (real models use d = 512)</a:t>
            </a:r>
            <a:endParaRPr b="0" i="0" sz="900" u="none" cap="none" strike="noStrike">
              <a:solidFill>
                <a:schemeClr val="dk1"/>
              </a:solidFill>
              <a:latin typeface="Calibri"/>
              <a:ea typeface="Calibri"/>
              <a:cs typeface="Calibri"/>
              <a:sym typeface="Calibri"/>
            </a:endParaRPr>
          </a:p>
        </p:txBody>
      </p:sp>
      <p:sp>
        <p:nvSpPr>
          <p:cNvPr id="1201" name="Google Shape;1201;p49"/>
          <p:cNvSpPr/>
          <p:nvPr/>
        </p:nvSpPr>
        <p:spPr>
          <a:xfrm>
            <a:off x="228600" y="3611880"/>
            <a:ext cx="8686800" cy="777300"/>
          </a:xfrm>
          <a:prstGeom prst="roundRect">
            <a:avLst>
              <a:gd fmla="val 11765" name="adj"/>
            </a:avLst>
          </a:prstGeom>
          <a:solidFill>
            <a:srgbClr val="F3E5F5"/>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9"/>
          <p:cNvSpPr/>
          <p:nvPr/>
        </p:nvSpPr>
        <p:spPr>
          <a:xfrm>
            <a:off x="411480" y="3657600"/>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300"/>
              <a:buFont typeface="Calibri"/>
              <a:buNone/>
            </a:pPr>
            <a:r>
              <a:rPr b="1" i="0" lang="en" sz="1300" u="none" cap="none" strike="noStrike">
                <a:solidFill>
                  <a:srgbClr val="6A1B9A"/>
                </a:solidFill>
                <a:latin typeface="Calibri"/>
                <a:ea typeface="Calibri"/>
                <a:cs typeface="Calibri"/>
                <a:sym typeface="Calibri"/>
              </a:rPr>
              <a:t>Same word, same embedding — but two completely different final vectors</a:t>
            </a:r>
            <a:endParaRPr b="0" i="0" sz="1300" u="none" cap="none" strike="noStrike">
              <a:solidFill>
                <a:schemeClr val="dk1"/>
              </a:solidFill>
              <a:latin typeface="Calibri"/>
              <a:ea typeface="Calibri"/>
              <a:cs typeface="Calibri"/>
              <a:sym typeface="Calibri"/>
            </a:endParaRPr>
          </a:p>
        </p:txBody>
      </p:sp>
      <p:sp>
        <p:nvSpPr>
          <p:cNvPr id="1203" name="Google Shape;1203;p49"/>
          <p:cNvSpPr/>
          <p:nvPr/>
        </p:nvSpPr>
        <p:spPr>
          <a:xfrm>
            <a:off x="411480" y="3931920"/>
            <a:ext cx="8321100" cy="42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050"/>
              <a:buFont typeface="Calibri"/>
              <a:buNone/>
            </a:pPr>
            <a:r>
              <a:rPr b="0" i="0" lang="en" sz="1050" u="none" cap="none" strike="noStrike">
                <a:solidFill>
                  <a:srgbClr val="1A1A2E"/>
                </a:solidFill>
                <a:latin typeface="Calibri"/>
                <a:ea typeface="Calibri"/>
                <a:cs typeface="Calibri"/>
                <a:sym typeface="Calibri"/>
              </a:rPr>
              <a:t>Dim 1 swings from -0.09 → 1.65 (huge change) while dim 4 barely moves (0.602 → 0.604). Fast dimensions encode fine position; slow dimensions stay nearly constant across nearby positions.</a:t>
            </a:r>
            <a:endParaRPr b="0" i="0" sz="1050" u="none" cap="none" strike="noStrike">
              <a:solidFill>
                <a:schemeClr val="dk1"/>
              </a:solidFill>
              <a:latin typeface="Calibri"/>
              <a:ea typeface="Calibri"/>
              <a:cs typeface="Calibri"/>
              <a:sym typeface="Calibri"/>
            </a:endParaRPr>
          </a:p>
        </p:txBody>
      </p:sp>
      <p:sp>
        <p:nvSpPr>
          <p:cNvPr id="1204" name="Google Shape;1204;p49"/>
          <p:cNvSpPr/>
          <p:nvPr/>
        </p:nvSpPr>
        <p:spPr>
          <a:xfrm>
            <a:off x="228600" y="4498848"/>
            <a:ext cx="8686800" cy="457200"/>
          </a:xfrm>
          <a:prstGeom prst="roundRect">
            <a:avLst>
              <a:gd fmla="val 16000" name="adj"/>
            </a:avLst>
          </a:prstGeom>
          <a:solidFill>
            <a:srgbClr val="E8F5E9"/>
          </a:solidFill>
          <a:ln cap="flat" cmpd="sng" w="152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9"/>
          <p:cNvSpPr/>
          <p:nvPr/>
        </p:nvSpPr>
        <p:spPr>
          <a:xfrm>
            <a:off x="411480" y="4498848"/>
            <a:ext cx="83211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Key takeaway:  </a:t>
            </a:r>
            <a:r>
              <a:rPr b="0" i="0" lang="en" sz="1100" u="none" cap="none" strike="noStrike">
                <a:solidFill>
                  <a:srgbClr val="1A1A2E"/>
                </a:solidFill>
                <a:latin typeface="Calibri"/>
                <a:ea typeface="Calibri"/>
                <a:cs typeface="Calibri"/>
                <a:sym typeface="Calibri"/>
              </a:rPr>
              <a:t>Attention now sees </a:t>
            </a:r>
            <a:r>
              <a:rPr b="0" i="1" lang="en" sz="1100" u="none" cap="none" strike="noStrike">
                <a:solidFill>
                  <a:srgbClr val="1A1A2E"/>
                </a:solidFill>
                <a:latin typeface="Calibri"/>
                <a:ea typeface="Calibri"/>
                <a:cs typeface="Calibri"/>
                <a:sym typeface="Calibri"/>
              </a:rPr>
              <a:t>where</a:t>
            </a:r>
            <a:r>
              <a:rPr b="0" i="0" lang="en" sz="1100" u="none" cap="none" strike="noStrike">
                <a:solidFill>
                  <a:srgbClr val="1A1A2E"/>
                </a:solidFill>
                <a:latin typeface="Calibri"/>
                <a:ea typeface="Calibri"/>
                <a:cs typeface="Calibri"/>
                <a:sym typeface="Calibri"/>
              </a:rPr>
              <a:t> each token sits — the position signal is baked directly into the vector before Q, K, V are even computed.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210" name="Shape 1210"/>
        <p:cNvGrpSpPr/>
        <p:nvPr/>
      </p:nvGrpSpPr>
      <p:grpSpPr>
        <a:xfrm>
          <a:off x="0" y="0"/>
          <a:ext cx="0" cy="0"/>
          <a:chOff x="0" y="0"/>
          <a:chExt cx="0" cy="0"/>
        </a:xfrm>
      </p:grpSpPr>
      <p:sp>
        <p:nvSpPr>
          <p:cNvPr id="1211" name="Google Shape;1211;p50"/>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50"/>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500"/>
              <a:buFont typeface="Calibri"/>
              <a:buNone/>
            </a:pPr>
            <a:r>
              <a:rPr b="1" i="0" lang="en" sz="2500" u="none" cap="none" strike="noStrike">
                <a:solidFill>
                  <a:srgbClr val="FFFFFF"/>
                </a:solidFill>
                <a:latin typeface="Calibri"/>
                <a:ea typeface="Calibri"/>
                <a:cs typeface="Calibri"/>
                <a:sym typeface="Calibri"/>
              </a:rPr>
              <a:t>Why Relative Offsets Are Linear</a:t>
            </a:r>
            <a:endParaRPr b="0" i="0" sz="2500" u="none" cap="none" strike="noStrike">
              <a:solidFill>
                <a:schemeClr val="dk1"/>
              </a:solidFill>
              <a:latin typeface="Calibri"/>
              <a:ea typeface="Calibri"/>
              <a:cs typeface="Calibri"/>
              <a:sym typeface="Calibri"/>
            </a:endParaRPr>
          </a:p>
        </p:txBody>
      </p:sp>
      <p:sp>
        <p:nvSpPr>
          <p:cNvPr id="1213" name="Google Shape;1213;p50"/>
          <p:cNvSpPr/>
          <p:nvPr/>
        </p:nvSpPr>
        <p:spPr>
          <a:xfrm>
            <a:off x="274320" y="457200"/>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PE(pos+k) is a fixed rotation of PE(pos) — independent of pos itself</a:t>
            </a:r>
            <a:endParaRPr b="0" i="0" sz="1100" u="none" cap="none" strike="noStrike">
              <a:solidFill>
                <a:schemeClr val="dk1"/>
              </a:solidFill>
              <a:latin typeface="Calibri"/>
              <a:ea typeface="Calibri"/>
              <a:cs typeface="Calibri"/>
              <a:sym typeface="Calibri"/>
            </a:endParaRPr>
          </a:p>
        </p:txBody>
      </p:sp>
      <p:sp>
        <p:nvSpPr>
          <p:cNvPr id="1214" name="Google Shape;1214;p50"/>
          <p:cNvSpPr/>
          <p:nvPr/>
        </p:nvSpPr>
        <p:spPr>
          <a:xfrm>
            <a:off x="228600" y="868680"/>
            <a:ext cx="8686800" cy="502800"/>
          </a:xfrm>
          <a:prstGeom prst="roundRect">
            <a:avLst>
              <a:gd fmla="val 14545" name="adj"/>
            </a:avLst>
          </a:prstGeom>
          <a:solidFill>
            <a:srgbClr val="EBF2FB"/>
          </a:solidFill>
          <a:ln cap="flat" cmpd="sng" w="152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50"/>
          <p:cNvSpPr/>
          <p:nvPr/>
        </p:nvSpPr>
        <p:spPr>
          <a:xfrm>
            <a:off x="365760" y="868680"/>
            <a:ext cx="84126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300"/>
              <a:buFont typeface="Courier New"/>
              <a:buNone/>
            </a:pPr>
            <a:r>
              <a:rPr b="1" i="0" lang="en" sz="1300" u="none" cap="none" strike="noStrike">
                <a:solidFill>
                  <a:srgbClr val="1565C0"/>
                </a:solidFill>
                <a:latin typeface="Courier New"/>
                <a:ea typeface="Courier New"/>
                <a:cs typeface="Courier New"/>
                <a:sym typeface="Courier New"/>
              </a:rPr>
              <a:t>PE(pos + k)  =  M(k) · PE(pos)         where M(k) depends ONLY on offset k, never on pos</a:t>
            </a:r>
            <a:endParaRPr b="0" i="0" sz="1300" u="none" cap="none" strike="noStrike">
              <a:solidFill>
                <a:schemeClr val="dk1"/>
              </a:solidFill>
              <a:latin typeface="Calibri"/>
              <a:ea typeface="Calibri"/>
              <a:cs typeface="Calibri"/>
              <a:sym typeface="Calibri"/>
            </a:endParaRPr>
          </a:p>
        </p:txBody>
      </p:sp>
      <p:sp>
        <p:nvSpPr>
          <p:cNvPr id="1216" name="Google Shape;1216;p50"/>
          <p:cNvSpPr/>
          <p:nvPr/>
        </p:nvSpPr>
        <p:spPr>
          <a:xfrm>
            <a:off x="228600" y="1481328"/>
            <a:ext cx="4251900" cy="2011800"/>
          </a:xfrm>
          <a:prstGeom prst="roundRect">
            <a:avLst>
              <a:gd fmla="val 4545"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0"/>
          <p:cNvSpPr/>
          <p:nvPr/>
        </p:nvSpPr>
        <p:spPr>
          <a:xfrm>
            <a:off x="384048" y="1536192"/>
            <a:ext cx="39777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250"/>
              <a:buFont typeface="Calibri"/>
              <a:buNone/>
            </a:pPr>
            <a:r>
              <a:rPr b="1" i="0" lang="en" sz="1250" u="none" cap="none" strike="noStrike">
                <a:solidFill>
                  <a:srgbClr val="00796B"/>
                </a:solidFill>
                <a:latin typeface="Calibri"/>
                <a:ea typeface="Calibri"/>
                <a:cs typeface="Calibri"/>
                <a:sym typeface="Calibri"/>
              </a:rPr>
              <a:t>Derivation — angle addition formulas</a:t>
            </a:r>
            <a:endParaRPr b="0" i="0" sz="1250" u="none" cap="none" strike="noStrike">
              <a:solidFill>
                <a:schemeClr val="dk1"/>
              </a:solidFill>
              <a:latin typeface="Calibri"/>
              <a:ea typeface="Calibri"/>
              <a:cs typeface="Calibri"/>
              <a:sym typeface="Calibri"/>
            </a:endParaRPr>
          </a:p>
        </p:txBody>
      </p:sp>
      <p:sp>
        <p:nvSpPr>
          <p:cNvPr id="1218" name="Google Shape;1218;p50"/>
          <p:cNvSpPr/>
          <p:nvPr/>
        </p:nvSpPr>
        <p:spPr>
          <a:xfrm>
            <a:off x="384048" y="1792224"/>
            <a:ext cx="3977700" cy="162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050"/>
              <a:buFont typeface="Courier New"/>
              <a:buNone/>
            </a:pPr>
            <a:r>
              <a:rPr b="0" i="0" lang="en" sz="1050" u="none" cap="none" strike="noStrike">
                <a:solidFill>
                  <a:srgbClr val="1A1A2E"/>
                </a:solidFill>
                <a:latin typeface="Courier New"/>
                <a:ea typeface="Courier New"/>
                <a:cs typeface="Courier New"/>
                <a:sym typeface="Courier New"/>
              </a:rPr>
              <a:t>sin(A+B) = sin(A)cos(B) + cos(A)sin(B)</a:t>
            </a:r>
            <a:br>
              <a:rPr b="0" i="0" lang="en" sz="1050" u="none" cap="none" strike="noStrike">
                <a:solidFill>
                  <a:srgbClr val="1A1A2E"/>
                </a:solidFill>
                <a:latin typeface="Courier New"/>
                <a:ea typeface="Courier New"/>
                <a:cs typeface="Courier New"/>
                <a:sym typeface="Courier New"/>
              </a:rPr>
            </a:br>
            <a:r>
              <a:rPr b="0" i="0" lang="en" sz="1050" u="none" cap="none" strike="noStrike">
                <a:solidFill>
                  <a:srgbClr val="1A1A2E"/>
                </a:solidFill>
                <a:latin typeface="Courier New"/>
                <a:ea typeface="Courier New"/>
                <a:cs typeface="Courier New"/>
                <a:sym typeface="Courier New"/>
              </a:rPr>
              <a:t>cos(A+B) = cos(A)cos(B) − sin(A)sin(B)</a:t>
            </a:r>
            <a:br>
              <a:rPr b="0" i="0" lang="en" sz="1050" u="none" cap="none" strike="noStrike">
                <a:solidFill>
                  <a:srgbClr val="1A1A2E"/>
                </a:solidFill>
                <a:latin typeface="Courier New"/>
                <a:ea typeface="Courier New"/>
                <a:cs typeface="Courier New"/>
                <a:sym typeface="Courier New"/>
              </a:rPr>
            </a:br>
            <a:br>
              <a:rPr b="0" i="0" lang="en" sz="1050" u="none" cap="none" strike="noStrike">
                <a:solidFill>
                  <a:srgbClr val="1A1A2E"/>
                </a:solidFill>
                <a:latin typeface="Courier New"/>
                <a:ea typeface="Courier New"/>
                <a:cs typeface="Courier New"/>
                <a:sym typeface="Courier New"/>
              </a:rPr>
            </a:br>
            <a:r>
              <a:rPr b="0" i="0" lang="en" sz="1050" u="none" cap="none" strike="noStrike">
                <a:solidFill>
                  <a:srgbClr val="5A6472"/>
                </a:solidFill>
                <a:latin typeface="Courier New"/>
                <a:ea typeface="Courier New"/>
                <a:cs typeface="Courier New"/>
                <a:sym typeface="Courier New"/>
              </a:rPr>
              <a:t>Let A = pos·ω,  B = k·ω</a:t>
            </a:r>
            <a:br>
              <a:rPr b="0" i="0" lang="en" sz="1050" u="none" cap="none" strike="noStrike">
                <a:solidFill>
                  <a:srgbClr val="5A6472"/>
                </a:solidFill>
                <a:latin typeface="Courier New"/>
                <a:ea typeface="Courier New"/>
                <a:cs typeface="Courier New"/>
                <a:sym typeface="Courier New"/>
              </a:rPr>
            </a:br>
            <a:br>
              <a:rPr b="0" i="0" lang="en" sz="1050" u="none" cap="none" strike="noStrike">
                <a:solidFill>
                  <a:srgbClr val="5A6472"/>
                </a:solidFill>
                <a:latin typeface="Courier New"/>
                <a:ea typeface="Courier New"/>
                <a:cs typeface="Courier New"/>
                <a:sym typeface="Courier New"/>
              </a:rPr>
            </a:br>
            <a:r>
              <a:rPr b="0" i="1" lang="en" sz="1050" u="none" cap="none" strike="noStrike">
                <a:solidFill>
                  <a:srgbClr val="5A6472"/>
                </a:solidFill>
                <a:latin typeface="Calibri"/>
                <a:ea typeface="Calibri"/>
                <a:cs typeface="Calibri"/>
                <a:sym typeface="Calibri"/>
              </a:rPr>
              <a:t>Substituting PE(pos,2j)=sin(A), PE(pos,2j+1)=cos(A) gives a clean linear system in k only.</a:t>
            </a:r>
            <a:endParaRPr b="0" i="0" sz="1050" u="none" cap="none" strike="noStrike">
              <a:solidFill>
                <a:schemeClr val="dk1"/>
              </a:solidFill>
              <a:latin typeface="Calibri"/>
              <a:ea typeface="Calibri"/>
              <a:cs typeface="Calibri"/>
              <a:sym typeface="Calibri"/>
            </a:endParaRPr>
          </a:p>
        </p:txBody>
      </p:sp>
      <p:sp>
        <p:nvSpPr>
          <p:cNvPr id="1219" name="Google Shape;1219;p50"/>
          <p:cNvSpPr/>
          <p:nvPr/>
        </p:nvSpPr>
        <p:spPr>
          <a:xfrm>
            <a:off x="4663440" y="1481328"/>
            <a:ext cx="4251900" cy="2011800"/>
          </a:xfrm>
          <a:prstGeom prst="roundRect">
            <a:avLst>
              <a:gd fmla="val 4545" name="adj"/>
            </a:avLst>
          </a:prstGeom>
          <a:solidFill>
            <a:srgbClr val="FFFFFF"/>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0"/>
          <p:cNvSpPr/>
          <p:nvPr/>
        </p:nvSpPr>
        <p:spPr>
          <a:xfrm>
            <a:off x="4818888" y="1536192"/>
            <a:ext cx="39777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50"/>
              <a:buFont typeface="Calibri"/>
              <a:buNone/>
            </a:pPr>
            <a:r>
              <a:rPr b="1" i="0" lang="en" sz="1250" u="none" cap="none" strike="noStrike">
                <a:solidFill>
                  <a:srgbClr val="6A1B9A"/>
                </a:solidFill>
                <a:latin typeface="Calibri"/>
                <a:ea typeface="Calibri"/>
                <a:cs typeface="Calibri"/>
                <a:sym typeface="Calibri"/>
              </a:rPr>
              <a:t>Result — a 2D rotation matrix</a:t>
            </a:r>
            <a:endParaRPr b="0" i="0" sz="1250" u="none" cap="none" strike="noStrike">
              <a:solidFill>
                <a:schemeClr val="dk1"/>
              </a:solidFill>
              <a:latin typeface="Calibri"/>
              <a:ea typeface="Calibri"/>
              <a:cs typeface="Calibri"/>
              <a:sym typeface="Calibri"/>
            </a:endParaRPr>
          </a:p>
        </p:txBody>
      </p:sp>
      <p:sp>
        <p:nvSpPr>
          <p:cNvPr id="1221" name="Google Shape;1221;p50"/>
          <p:cNvSpPr/>
          <p:nvPr/>
        </p:nvSpPr>
        <p:spPr>
          <a:xfrm>
            <a:off x="4846320" y="1828800"/>
            <a:ext cx="3931800" cy="777300"/>
          </a:xfrm>
          <a:prstGeom prst="roundRect">
            <a:avLst>
              <a:gd fmla="val 7059"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0"/>
          <p:cNvSpPr/>
          <p:nvPr/>
        </p:nvSpPr>
        <p:spPr>
          <a:xfrm>
            <a:off x="4892040" y="1847088"/>
            <a:ext cx="38406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00"/>
              <a:buFont typeface="Courier New"/>
              <a:buNone/>
            </a:pPr>
            <a:r>
              <a:rPr b="1" i="0" lang="en" sz="1200" u="none" cap="none" strike="noStrike">
                <a:solidFill>
                  <a:srgbClr val="6A1B9A"/>
                </a:solidFill>
                <a:latin typeface="Courier New"/>
                <a:ea typeface="Courier New"/>
                <a:cs typeface="Courier New"/>
                <a:sym typeface="Courier New"/>
              </a:rPr>
              <a:t>M(k) = [ cos(kω)   sin(kω)]</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A1B9A"/>
              </a:buClr>
              <a:buSzPts val="1200"/>
              <a:buFont typeface="Courier New"/>
              <a:buNone/>
            </a:pPr>
            <a:r>
              <a:rPr b="1" i="0" lang="en" sz="1200" u="none" cap="none" strike="noStrike">
                <a:solidFill>
                  <a:srgbClr val="6A1B9A"/>
                </a:solidFill>
                <a:latin typeface="Courier New"/>
                <a:ea typeface="Courier New"/>
                <a:cs typeface="Courier New"/>
                <a:sym typeface="Courier New"/>
              </a:rPr>
              <a:t>       [-sin(kω)   cos(kω)]</a:t>
            </a:r>
            <a:endParaRPr b="0" i="0" sz="1200" u="none" cap="none" strike="noStrike">
              <a:solidFill>
                <a:schemeClr val="dk1"/>
              </a:solidFill>
              <a:latin typeface="Calibri"/>
              <a:ea typeface="Calibri"/>
              <a:cs typeface="Calibri"/>
              <a:sym typeface="Calibri"/>
            </a:endParaRPr>
          </a:p>
        </p:txBody>
      </p:sp>
      <p:sp>
        <p:nvSpPr>
          <p:cNvPr id="1223" name="Google Shape;1223;p50"/>
          <p:cNvSpPr/>
          <p:nvPr/>
        </p:nvSpPr>
        <p:spPr>
          <a:xfrm>
            <a:off x="4818888" y="2670048"/>
            <a:ext cx="39777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Geometric picture: each dimension pair is a point on a circle. Moving forward k positions = rotating that point by a fixed angle k·ω — like a clock hand advancing the same amount no matter what time it currently shows.</a:t>
            </a:r>
            <a:endParaRPr b="0" i="0" sz="1000" u="none" cap="none" strike="noStrike">
              <a:solidFill>
                <a:schemeClr val="dk1"/>
              </a:solidFill>
              <a:latin typeface="Calibri"/>
              <a:ea typeface="Calibri"/>
              <a:cs typeface="Calibri"/>
              <a:sym typeface="Calibri"/>
            </a:endParaRPr>
          </a:p>
        </p:txBody>
      </p:sp>
      <p:sp>
        <p:nvSpPr>
          <p:cNvPr id="1224" name="Google Shape;1224;p50"/>
          <p:cNvSpPr/>
          <p:nvPr/>
        </p:nvSpPr>
        <p:spPr>
          <a:xfrm>
            <a:off x="228600" y="3584448"/>
            <a:ext cx="8686800" cy="914400"/>
          </a:xfrm>
          <a:prstGeom prst="roundRect">
            <a:avLst>
              <a:gd fmla="val 10000" name="adj"/>
            </a:avLst>
          </a:prstGeom>
          <a:solidFill>
            <a:srgbClr val="E8F5E9"/>
          </a:solidFill>
          <a:ln cap="flat" cmpd="sng" w="16500">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0"/>
          <p:cNvSpPr/>
          <p:nvPr/>
        </p:nvSpPr>
        <p:spPr>
          <a:xfrm>
            <a:off x="384048" y="3639312"/>
            <a:ext cx="8412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250"/>
              <a:buFont typeface="Calibri"/>
              <a:buNone/>
            </a:pPr>
            <a:r>
              <a:rPr b="1" i="0" lang="en" sz="1250" u="none" cap="none" strike="noStrike">
                <a:solidFill>
                  <a:srgbClr val="2E7D32"/>
                </a:solidFill>
                <a:latin typeface="Calibri"/>
                <a:ea typeface="Calibri"/>
                <a:cs typeface="Calibri"/>
                <a:sym typeface="Calibri"/>
              </a:rPr>
              <a:t>Verified numerically — same M(4) works at completely different positions</a:t>
            </a:r>
            <a:endParaRPr b="0" i="0" sz="1250" u="none" cap="none" strike="noStrike">
              <a:solidFill>
                <a:schemeClr val="dk1"/>
              </a:solidFill>
              <a:latin typeface="Calibri"/>
              <a:ea typeface="Calibri"/>
              <a:cs typeface="Calibri"/>
              <a:sym typeface="Calibri"/>
            </a:endParaRPr>
          </a:p>
        </p:txBody>
      </p:sp>
      <p:sp>
        <p:nvSpPr>
          <p:cNvPr id="1226" name="Google Shape;1226;p50"/>
          <p:cNvSpPr/>
          <p:nvPr/>
        </p:nvSpPr>
        <p:spPr>
          <a:xfrm>
            <a:off x="384048" y="3895344"/>
            <a:ext cx="8412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250"/>
              <a:buFont typeface="Courier New"/>
              <a:buNone/>
            </a:pPr>
            <a:r>
              <a:rPr b="1" i="0" lang="en" sz="1250" u="none" cap="none" strike="noStrike">
                <a:solidFill>
                  <a:srgbClr val="1A1A2E"/>
                </a:solidFill>
                <a:latin typeface="Courier New"/>
                <a:ea typeface="Courier New"/>
                <a:cs typeface="Courier New"/>
                <a:sym typeface="Courier New"/>
              </a:rPr>
              <a:t>M(4) · PE(3)  =  PE(7)          and          M(4) · PE(50)  =  PE(54)</a:t>
            </a:r>
            <a:endParaRPr b="0" i="0" sz="1250" u="none" cap="none" strike="noStrike">
              <a:solidFill>
                <a:schemeClr val="dk1"/>
              </a:solidFill>
              <a:latin typeface="Calibri"/>
              <a:ea typeface="Calibri"/>
              <a:cs typeface="Calibri"/>
              <a:sym typeface="Calibri"/>
            </a:endParaRPr>
          </a:p>
        </p:txBody>
      </p:sp>
      <p:sp>
        <p:nvSpPr>
          <p:cNvPr id="1227" name="Google Shape;1227;p50"/>
          <p:cNvSpPr/>
          <p:nvPr/>
        </p:nvSpPr>
        <p:spPr>
          <a:xfrm>
            <a:off x="384048" y="4187952"/>
            <a:ext cx="8412600" cy="237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1050"/>
              <a:buFont typeface="Calibri"/>
              <a:buNone/>
            </a:pPr>
            <a:r>
              <a:rPr b="0" i="1" lang="en" sz="1050" u="none" cap="none" strike="noStrike">
                <a:solidFill>
                  <a:srgbClr val="5A6472"/>
                </a:solidFill>
                <a:latin typeface="Calibri"/>
                <a:ea typeface="Calibri"/>
                <a:cs typeface="Calibri"/>
                <a:sym typeface="Calibri"/>
              </a:rPr>
              <a:t>Same offset (k=4) → same rotation matrix, regardless of starting position</a:t>
            </a:r>
            <a:endParaRPr b="0" i="0" sz="1050" u="none" cap="none" strike="noStrike">
              <a:solidFill>
                <a:schemeClr val="dk1"/>
              </a:solidFill>
              <a:latin typeface="Calibri"/>
              <a:ea typeface="Calibri"/>
              <a:cs typeface="Calibri"/>
              <a:sym typeface="Calibri"/>
            </a:endParaRPr>
          </a:p>
        </p:txBody>
      </p:sp>
      <p:sp>
        <p:nvSpPr>
          <p:cNvPr id="1228" name="Google Shape;1228;p50"/>
          <p:cNvSpPr/>
          <p:nvPr/>
        </p:nvSpPr>
        <p:spPr>
          <a:xfrm>
            <a:off x="228600" y="4590288"/>
            <a:ext cx="8686800" cy="457200"/>
          </a:xfrm>
          <a:prstGeom prst="roundRect">
            <a:avLst>
              <a:gd fmla="val 16000" name="adj"/>
            </a:avLst>
          </a:prstGeom>
          <a:solidFill>
            <a:srgbClr val="FFF3E0"/>
          </a:solidFill>
          <a:ln cap="flat" cmpd="sng" w="152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0"/>
          <p:cNvSpPr/>
          <p:nvPr/>
        </p:nvSpPr>
        <p:spPr>
          <a:xfrm>
            <a:off x="384048" y="4590288"/>
            <a:ext cx="8412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Why it matters:  </a:t>
            </a:r>
            <a:r>
              <a:rPr b="0" i="0" lang="en" sz="1100" u="none" cap="none" strike="noStrike">
                <a:solidFill>
                  <a:srgbClr val="1A1A2E"/>
                </a:solidFill>
                <a:latin typeface="Calibri"/>
                <a:ea typeface="Calibri"/>
                <a:cs typeface="Calibri"/>
                <a:sym typeface="Calibri"/>
              </a:rPr>
              <a:t>an attention head can learn </a:t>
            </a:r>
            <a:r>
              <a:rPr b="0" i="1" lang="en" sz="1100" u="none" cap="none" strike="noStrike">
                <a:solidFill>
                  <a:srgbClr val="1A1A2E"/>
                </a:solidFill>
                <a:latin typeface="Calibri"/>
                <a:ea typeface="Calibri"/>
                <a:cs typeface="Calibri"/>
                <a:sym typeface="Calibri"/>
              </a:rPr>
              <a:t>"look 4 tokens back"</a:t>
            </a:r>
            <a:r>
              <a:rPr b="0" i="0" lang="en" sz="1100" u="none" cap="none" strike="noStrike">
                <a:solidFill>
                  <a:srgbClr val="1A1A2E"/>
                </a:solidFill>
                <a:latin typeface="Calibri"/>
                <a:ea typeface="Calibri"/>
                <a:cs typeface="Calibri"/>
                <a:sym typeface="Calibri"/>
              </a:rPr>
              <a:t> once — that single learned rule works at every position in the sequence.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234" name="Shape 1234"/>
        <p:cNvGrpSpPr/>
        <p:nvPr/>
      </p:nvGrpSpPr>
      <p:grpSpPr>
        <a:xfrm>
          <a:off x="0" y="0"/>
          <a:ext cx="0" cy="0"/>
          <a:chOff x="0" y="0"/>
          <a:chExt cx="0" cy="0"/>
        </a:xfrm>
      </p:grpSpPr>
      <p:sp>
        <p:nvSpPr>
          <p:cNvPr id="1235" name="Google Shape;1235;p51"/>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1"/>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Beyond Sin/Cos — Competing Positional Schemes</a:t>
            </a:r>
            <a:endParaRPr b="0" i="0" sz="2300" u="none" cap="none" strike="noStrike">
              <a:solidFill>
                <a:schemeClr val="dk1"/>
              </a:solidFill>
              <a:latin typeface="Calibri"/>
              <a:ea typeface="Calibri"/>
              <a:cs typeface="Calibri"/>
              <a:sym typeface="Calibri"/>
            </a:endParaRPr>
          </a:p>
        </p:txBody>
      </p:sp>
      <p:sp>
        <p:nvSpPr>
          <p:cNvPr id="1237" name="Google Shape;1237;p51"/>
          <p:cNvSpPr/>
          <p:nvPr/>
        </p:nvSpPr>
        <p:spPr>
          <a:xfrm>
            <a:off x="274320" y="457200"/>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Different ways to inject position — and who inherits the linear-offset property</a:t>
            </a:r>
            <a:endParaRPr b="0" i="0" sz="1100" u="none" cap="none" strike="noStrike">
              <a:solidFill>
                <a:schemeClr val="dk1"/>
              </a:solidFill>
              <a:latin typeface="Calibri"/>
              <a:ea typeface="Calibri"/>
              <a:cs typeface="Calibri"/>
              <a:sym typeface="Calibri"/>
            </a:endParaRPr>
          </a:p>
        </p:txBody>
      </p:sp>
      <p:sp>
        <p:nvSpPr>
          <p:cNvPr id="1238" name="Google Shape;1238;p51"/>
          <p:cNvSpPr/>
          <p:nvPr/>
        </p:nvSpPr>
        <p:spPr>
          <a:xfrm>
            <a:off x="228600" y="868680"/>
            <a:ext cx="4206300" cy="1371600"/>
          </a:xfrm>
          <a:prstGeom prst="roundRect">
            <a:avLst>
              <a:gd fmla="val 6667" name="adj"/>
            </a:avLst>
          </a:prstGeom>
          <a:solidFill>
            <a:srgbClr val="FFFFFF"/>
          </a:solidFill>
          <a:ln cap="flat" cmpd="sng" w="16500">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1"/>
          <p:cNvSpPr/>
          <p:nvPr/>
        </p:nvSpPr>
        <p:spPr>
          <a:xfrm>
            <a:off x="393192" y="92354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50"/>
              <a:buFont typeface="Calibri"/>
              <a:buNone/>
            </a:pPr>
            <a:r>
              <a:rPr b="1" i="0" lang="en" sz="1150" u="none" cap="none" strike="noStrike">
                <a:solidFill>
                  <a:srgbClr val="2E7D32"/>
                </a:solidFill>
                <a:latin typeface="Calibri"/>
                <a:ea typeface="Calibri"/>
                <a:cs typeface="Calibri"/>
                <a:sym typeface="Calibri"/>
              </a:rPr>
              <a:t>RoPE — Rotary Position Embedding</a:t>
            </a:r>
            <a:endParaRPr b="0" i="0" sz="1150" u="none" cap="none" strike="noStrike">
              <a:solidFill>
                <a:schemeClr val="dk1"/>
              </a:solidFill>
              <a:latin typeface="Calibri"/>
              <a:ea typeface="Calibri"/>
              <a:cs typeface="Calibri"/>
              <a:sym typeface="Calibri"/>
            </a:endParaRPr>
          </a:p>
        </p:txBody>
      </p:sp>
      <p:sp>
        <p:nvSpPr>
          <p:cNvPr id="1240" name="Google Shape;1240;p51"/>
          <p:cNvSpPr/>
          <p:nvPr/>
        </p:nvSpPr>
        <p:spPr>
          <a:xfrm>
            <a:off x="393192" y="114300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LLaMA, Mistral, Qwen, Gemma</a:t>
            </a:r>
            <a:endParaRPr b="0" i="0" sz="900" u="none" cap="none" strike="noStrike">
              <a:solidFill>
                <a:schemeClr val="dk1"/>
              </a:solidFill>
              <a:latin typeface="Calibri"/>
              <a:ea typeface="Calibri"/>
              <a:cs typeface="Calibri"/>
              <a:sym typeface="Calibri"/>
            </a:endParaRPr>
          </a:p>
        </p:txBody>
      </p:sp>
      <p:sp>
        <p:nvSpPr>
          <p:cNvPr id="1241" name="Google Shape;1241;p51"/>
          <p:cNvSpPr/>
          <p:nvPr/>
        </p:nvSpPr>
        <p:spPr>
          <a:xfrm>
            <a:off x="393192" y="1344168"/>
            <a:ext cx="3886200" cy="384000"/>
          </a:xfrm>
          <a:prstGeom prst="roundRect">
            <a:avLst>
              <a:gd fmla="val 11905"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1"/>
          <p:cNvSpPr/>
          <p:nvPr/>
        </p:nvSpPr>
        <p:spPr>
          <a:xfrm>
            <a:off x="438912" y="135331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850"/>
              <a:buFont typeface="Courier New"/>
              <a:buNone/>
            </a:pPr>
            <a:r>
              <a:rPr b="0" i="0" lang="en" sz="850" u="none" cap="none" strike="noStrike">
                <a:solidFill>
                  <a:srgbClr val="2E7D32"/>
                </a:solidFill>
                <a:latin typeface="Courier New"/>
                <a:ea typeface="Courier New"/>
                <a:cs typeface="Courier New"/>
                <a:sym typeface="Courier New"/>
              </a:rPr>
              <a:t>q'ᵢ = R(i·θ)·qᵢ   k'ⱼ = R(j·θ)·kⱼ</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E7D32"/>
              </a:buClr>
              <a:buSzPts val="850"/>
              <a:buFont typeface="Courier New"/>
              <a:buNone/>
            </a:pPr>
            <a:r>
              <a:rPr b="0" i="0" lang="en" sz="850" u="none" cap="none" strike="noStrike">
                <a:solidFill>
                  <a:srgbClr val="2E7D32"/>
                </a:solidFill>
                <a:latin typeface="Courier New"/>
                <a:ea typeface="Courier New"/>
                <a:cs typeface="Courier New"/>
                <a:sym typeface="Courier New"/>
              </a:rPr>
              <a:t>q'ᵢ·k'ⱼ depends only on (i−j)</a:t>
            </a:r>
            <a:endParaRPr b="0" i="0" sz="850" u="none" cap="none" strike="noStrike">
              <a:solidFill>
                <a:schemeClr val="dk1"/>
              </a:solidFill>
              <a:latin typeface="Calibri"/>
              <a:ea typeface="Calibri"/>
              <a:cs typeface="Calibri"/>
              <a:sym typeface="Calibri"/>
            </a:endParaRPr>
          </a:p>
        </p:txBody>
      </p:sp>
      <p:sp>
        <p:nvSpPr>
          <p:cNvPr id="1243" name="Google Shape;1243;p51"/>
          <p:cNvSpPr/>
          <p:nvPr/>
        </p:nvSpPr>
        <p:spPr>
          <a:xfrm>
            <a:off x="393192" y="175564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Same rotation idea as sin/cos, but applied directly to Q,K inside attention. Relative position is baked straight into the dot product.</a:t>
            </a:r>
            <a:endParaRPr b="0" i="0" sz="870" u="none" cap="none" strike="noStrike">
              <a:solidFill>
                <a:schemeClr val="dk1"/>
              </a:solidFill>
              <a:latin typeface="Calibri"/>
              <a:ea typeface="Calibri"/>
              <a:cs typeface="Calibri"/>
              <a:sym typeface="Calibri"/>
            </a:endParaRPr>
          </a:p>
        </p:txBody>
      </p:sp>
      <p:sp>
        <p:nvSpPr>
          <p:cNvPr id="1244" name="Google Shape;1244;p51"/>
          <p:cNvSpPr/>
          <p:nvPr/>
        </p:nvSpPr>
        <p:spPr>
          <a:xfrm>
            <a:off x="393192" y="2075688"/>
            <a:ext cx="2377500" cy="146400"/>
          </a:xfrm>
          <a:prstGeom prst="roundRect">
            <a:avLst>
              <a:gd fmla="val 93750"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1"/>
          <p:cNvSpPr/>
          <p:nvPr/>
        </p:nvSpPr>
        <p:spPr>
          <a:xfrm>
            <a:off x="393192" y="207568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750"/>
              <a:buFont typeface="Calibri"/>
              <a:buNone/>
            </a:pPr>
            <a:r>
              <a:rPr b="1" i="0" lang="en" sz="750" u="none" cap="none" strike="noStrike">
                <a:solidFill>
                  <a:srgbClr val="2E7D32"/>
                </a:solidFill>
                <a:latin typeface="Calibri"/>
                <a:ea typeface="Calibri"/>
                <a:cs typeface="Calibri"/>
                <a:sym typeface="Calibri"/>
              </a:rPr>
              <a:t>Strongest inheritance</a:t>
            </a:r>
            <a:endParaRPr b="0" i="0" sz="750" u="none" cap="none" strike="noStrike">
              <a:solidFill>
                <a:schemeClr val="dk1"/>
              </a:solidFill>
              <a:latin typeface="Calibri"/>
              <a:ea typeface="Calibri"/>
              <a:cs typeface="Calibri"/>
              <a:sym typeface="Calibri"/>
            </a:endParaRPr>
          </a:p>
        </p:txBody>
      </p:sp>
      <p:sp>
        <p:nvSpPr>
          <p:cNvPr id="1246" name="Google Shape;1246;p51"/>
          <p:cNvSpPr/>
          <p:nvPr/>
        </p:nvSpPr>
        <p:spPr>
          <a:xfrm>
            <a:off x="4709160" y="868680"/>
            <a:ext cx="4206300" cy="1371600"/>
          </a:xfrm>
          <a:prstGeom prst="roundRect">
            <a:avLst>
              <a:gd fmla="val 6667"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51"/>
          <p:cNvSpPr/>
          <p:nvPr/>
        </p:nvSpPr>
        <p:spPr>
          <a:xfrm>
            <a:off x="4873752" y="92354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150"/>
              <a:buFont typeface="Calibri"/>
              <a:buNone/>
            </a:pPr>
            <a:r>
              <a:rPr b="1" i="0" lang="en" sz="1150" u="none" cap="none" strike="noStrike">
                <a:solidFill>
                  <a:srgbClr val="00796B"/>
                </a:solidFill>
                <a:latin typeface="Calibri"/>
                <a:ea typeface="Calibri"/>
                <a:cs typeface="Calibri"/>
                <a:sym typeface="Calibri"/>
              </a:rPr>
              <a:t>ALiBi — Attention with Linear Biases</a:t>
            </a:r>
            <a:endParaRPr b="0" i="0" sz="1150" u="none" cap="none" strike="noStrike">
              <a:solidFill>
                <a:schemeClr val="dk1"/>
              </a:solidFill>
              <a:latin typeface="Calibri"/>
              <a:ea typeface="Calibri"/>
              <a:cs typeface="Calibri"/>
              <a:sym typeface="Calibri"/>
            </a:endParaRPr>
          </a:p>
        </p:txBody>
      </p:sp>
      <p:sp>
        <p:nvSpPr>
          <p:cNvPr id="1248" name="Google Shape;1248;p51"/>
          <p:cNvSpPr/>
          <p:nvPr/>
        </p:nvSpPr>
        <p:spPr>
          <a:xfrm>
            <a:off x="4873752" y="114300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BLOOM, MPT</a:t>
            </a:r>
            <a:endParaRPr b="0" i="0" sz="900" u="none" cap="none" strike="noStrike">
              <a:solidFill>
                <a:schemeClr val="dk1"/>
              </a:solidFill>
              <a:latin typeface="Calibri"/>
              <a:ea typeface="Calibri"/>
              <a:cs typeface="Calibri"/>
              <a:sym typeface="Calibri"/>
            </a:endParaRPr>
          </a:p>
        </p:txBody>
      </p:sp>
      <p:sp>
        <p:nvSpPr>
          <p:cNvPr id="1249" name="Google Shape;1249;p51"/>
          <p:cNvSpPr/>
          <p:nvPr/>
        </p:nvSpPr>
        <p:spPr>
          <a:xfrm>
            <a:off x="4873752" y="1344168"/>
            <a:ext cx="3886200" cy="384000"/>
          </a:xfrm>
          <a:prstGeom prst="roundRect">
            <a:avLst>
              <a:gd fmla="val 11905"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1"/>
          <p:cNvSpPr/>
          <p:nvPr/>
        </p:nvSpPr>
        <p:spPr>
          <a:xfrm>
            <a:off x="4919472" y="135331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50"/>
              <a:buFont typeface="Courier New"/>
              <a:buNone/>
            </a:pPr>
            <a:r>
              <a:rPr b="0" i="0" lang="en" sz="850" u="none" cap="none" strike="noStrike">
                <a:solidFill>
                  <a:srgbClr val="00796B"/>
                </a:solidFill>
                <a:latin typeface="Courier New"/>
                <a:ea typeface="Courier New"/>
                <a:cs typeface="Courier New"/>
                <a:sym typeface="Courier New"/>
              </a:rPr>
              <a:t>score(i,j) = qᵢ·kⱼ − m·|i−j|</a:t>
            </a:r>
            <a:endParaRPr b="0" i="0" sz="850" u="none" cap="none" strike="noStrike">
              <a:solidFill>
                <a:schemeClr val="dk1"/>
              </a:solidFill>
              <a:latin typeface="Calibri"/>
              <a:ea typeface="Calibri"/>
              <a:cs typeface="Calibri"/>
              <a:sym typeface="Calibri"/>
            </a:endParaRPr>
          </a:p>
        </p:txBody>
      </p:sp>
      <p:sp>
        <p:nvSpPr>
          <p:cNvPr id="1251" name="Google Shape;1251;p51"/>
          <p:cNvSpPr/>
          <p:nvPr/>
        </p:nvSpPr>
        <p:spPr>
          <a:xfrm>
            <a:off x="4873752" y="175564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No rotation, no sin/cos at all. Just subtracts a distance penalty straight from the attention score. Simple, but loses frequency structure.</a:t>
            </a:r>
            <a:endParaRPr b="0" i="0" sz="870" u="none" cap="none" strike="noStrike">
              <a:solidFill>
                <a:schemeClr val="dk1"/>
              </a:solidFill>
              <a:latin typeface="Calibri"/>
              <a:ea typeface="Calibri"/>
              <a:cs typeface="Calibri"/>
              <a:sym typeface="Calibri"/>
            </a:endParaRPr>
          </a:p>
        </p:txBody>
      </p:sp>
      <p:sp>
        <p:nvSpPr>
          <p:cNvPr id="1252" name="Google Shape;1252;p51"/>
          <p:cNvSpPr/>
          <p:nvPr/>
        </p:nvSpPr>
        <p:spPr>
          <a:xfrm>
            <a:off x="4873752" y="2075688"/>
            <a:ext cx="2377500" cy="146400"/>
          </a:xfrm>
          <a:prstGeom prst="roundRect">
            <a:avLst>
              <a:gd fmla="val 93750"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1"/>
          <p:cNvSpPr/>
          <p:nvPr/>
        </p:nvSpPr>
        <p:spPr>
          <a:xfrm>
            <a:off x="4873752" y="207568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750"/>
              <a:buFont typeface="Calibri"/>
              <a:buNone/>
            </a:pPr>
            <a:r>
              <a:rPr b="1" i="0" lang="en" sz="750" u="none" cap="none" strike="noStrike">
                <a:solidFill>
                  <a:srgbClr val="00796B"/>
                </a:solidFill>
                <a:latin typeface="Calibri"/>
                <a:ea typeface="Calibri"/>
                <a:cs typeface="Calibri"/>
                <a:sym typeface="Calibri"/>
              </a:rPr>
              <a:t>Linear, but not rotational</a:t>
            </a:r>
            <a:endParaRPr b="0" i="0" sz="750" u="none" cap="none" strike="noStrike">
              <a:solidFill>
                <a:schemeClr val="dk1"/>
              </a:solidFill>
              <a:latin typeface="Calibri"/>
              <a:ea typeface="Calibri"/>
              <a:cs typeface="Calibri"/>
              <a:sym typeface="Calibri"/>
            </a:endParaRPr>
          </a:p>
        </p:txBody>
      </p:sp>
      <p:sp>
        <p:nvSpPr>
          <p:cNvPr id="1254" name="Google Shape;1254;p51"/>
          <p:cNvSpPr/>
          <p:nvPr/>
        </p:nvSpPr>
        <p:spPr>
          <a:xfrm>
            <a:off x="228600" y="2331720"/>
            <a:ext cx="4206300" cy="1371600"/>
          </a:xfrm>
          <a:prstGeom prst="roundRect">
            <a:avLst>
              <a:gd fmla="val 6667" name="adj"/>
            </a:avLst>
          </a:prstGeom>
          <a:solidFill>
            <a:srgbClr val="FFFFFF"/>
          </a:solidFill>
          <a:ln cap="flat" cmpd="sng" w="16500">
            <a:solidFill>
              <a:srgbClr val="C6282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1"/>
          <p:cNvSpPr/>
          <p:nvPr/>
        </p:nvSpPr>
        <p:spPr>
          <a:xfrm>
            <a:off x="393192" y="238658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1150"/>
              <a:buFont typeface="Calibri"/>
              <a:buNone/>
            </a:pPr>
            <a:r>
              <a:rPr b="1" i="0" lang="en" sz="1150" u="none" cap="none" strike="noStrike">
                <a:solidFill>
                  <a:srgbClr val="C62828"/>
                </a:solidFill>
                <a:latin typeface="Calibri"/>
                <a:ea typeface="Calibri"/>
                <a:cs typeface="Calibri"/>
                <a:sym typeface="Calibri"/>
              </a:rPr>
              <a:t>Learned Positional Embeddings</a:t>
            </a:r>
            <a:endParaRPr b="0" i="0" sz="1150" u="none" cap="none" strike="noStrike">
              <a:solidFill>
                <a:schemeClr val="dk1"/>
              </a:solidFill>
              <a:latin typeface="Calibri"/>
              <a:ea typeface="Calibri"/>
              <a:cs typeface="Calibri"/>
              <a:sym typeface="Calibri"/>
            </a:endParaRPr>
          </a:p>
        </p:txBody>
      </p:sp>
      <p:sp>
        <p:nvSpPr>
          <p:cNvPr id="1256" name="Google Shape;1256;p51"/>
          <p:cNvSpPr/>
          <p:nvPr/>
        </p:nvSpPr>
        <p:spPr>
          <a:xfrm>
            <a:off x="393192" y="260604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Original BERT, GPT-2</a:t>
            </a:r>
            <a:endParaRPr b="0" i="0" sz="900" u="none" cap="none" strike="noStrike">
              <a:solidFill>
                <a:schemeClr val="dk1"/>
              </a:solidFill>
              <a:latin typeface="Calibri"/>
              <a:ea typeface="Calibri"/>
              <a:cs typeface="Calibri"/>
              <a:sym typeface="Calibri"/>
            </a:endParaRPr>
          </a:p>
        </p:txBody>
      </p:sp>
      <p:sp>
        <p:nvSpPr>
          <p:cNvPr id="1257" name="Google Shape;1257;p51"/>
          <p:cNvSpPr/>
          <p:nvPr/>
        </p:nvSpPr>
        <p:spPr>
          <a:xfrm>
            <a:off x="393192" y="2807208"/>
            <a:ext cx="3886200" cy="384000"/>
          </a:xfrm>
          <a:prstGeom prst="roundRect">
            <a:avLst>
              <a:gd fmla="val 11905" name="adj"/>
            </a:avLst>
          </a:prstGeom>
          <a:solidFill>
            <a:srgbClr val="FCEBEB"/>
          </a:solidFill>
          <a:ln cap="flat" cmpd="sng" w="9525">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1"/>
          <p:cNvSpPr/>
          <p:nvPr/>
        </p:nvSpPr>
        <p:spPr>
          <a:xfrm>
            <a:off x="438912" y="281635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850"/>
              <a:buFont typeface="Courier New"/>
              <a:buNone/>
            </a:pPr>
            <a:r>
              <a:rPr b="0" i="0" lang="en" sz="850" u="none" cap="none" strike="noStrike">
                <a:solidFill>
                  <a:srgbClr val="C62828"/>
                </a:solidFill>
                <a:latin typeface="Courier New"/>
                <a:ea typeface="Courier New"/>
                <a:cs typeface="Courier New"/>
                <a:sym typeface="Courier New"/>
              </a:rPr>
              <a:t>PE(pos) = lookup_table[pos]</a:t>
            </a:r>
            <a:endParaRPr b="0" i="0" sz="850" u="none" cap="none" strike="noStrike">
              <a:solidFill>
                <a:schemeClr val="dk1"/>
              </a:solidFill>
              <a:latin typeface="Calibri"/>
              <a:ea typeface="Calibri"/>
              <a:cs typeface="Calibri"/>
              <a:sym typeface="Calibri"/>
            </a:endParaRPr>
          </a:p>
        </p:txBody>
      </p:sp>
      <p:sp>
        <p:nvSpPr>
          <p:cNvPr id="1259" name="Google Shape;1259;p51"/>
          <p:cNvSpPr/>
          <p:nvPr/>
        </p:nvSpPr>
        <p:spPr>
          <a:xfrm>
            <a:off x="393192" y="321868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A trainable vector per position slot, no formula. No built-in linearity — model must learn relative patterns from scratch, per position.</a:t>
            </a:r>
            <a:endParaRPr b="0" i="0" sz="870" u="none" cap="none" strike="noStrike">
              <a:solidFill>
                <a:schemeClr val="dk1"/>
              </a:solidFill>
              <a:latin typeface="Calibri"/>
              <a:ea typeface="Calibri"/>
              <a:cs typeface="Calibri"/>
              <a:sym typeface="Calibri"/>
            </a:endParaRPr>
          </a:p>
        </p:txBody>
      </p:sp>
      <p:sp>
        <p:nvSpPr>
          <p:cNvPr id="1260" name="Google Shape;1260;p51"/>
          <p:cNvSpPr/>
          <p:nvPr/>
        </p:nvSpPr>
        <p:spPr>
          <a:xfrm>
            <a:off x="393192" y="3538728"/>
            <a:ext cx="2377500" cy="146400"/>
          </a:xfrm>
          <a:prstGeom prst="roundRect">
            <a:avLst>
              <a:gd fmla="val 93750" name="adj"/>
            </a:avLst>
          </a:prstGeom>
          <a:solidFill>
            <a:srgbClr val="FCEBEB"/>
          </a:solidFill>
          <a:ln cap="flat" cmpd="sng" w="9525">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1"/>
          <p:cNvSpPr/>
          <p:nvPr/>
        </p:nvSpPr>
        <p:spPr>
          <a:xfrm>
            <a:off x="393192" y="353872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750"/>
              <a:buFont typeface="Calibri"/>
              <a:buNone/>
            </a:pPr>
            <a:r>
              <a:rPr b="1" i="0" lang="en" sz="750" u="none" cap="none" strike="noStrike">
                <a:solidFill>
                  <a:srgbClr val="C62828"/>
                </a:solidFill>
                <a:latin typeface="Calibri"/>
                <a:ea typeface="Calibri"/>
                <a:cs typeface="Calibri"/>
                <a:sym typeface="Calibri"/>
              </a:rPr>
              <a:t>No linear-offset property</a:t>
            </a:r>
            <a:endParaRPr b="0" i="0" sz="750" u="none" cap="none" strike="noStrike">
              <a:solidFill>
                <a:schemeClr val="dk1"/>
              </a:solidFill>
              <a:latin typeface="Calibri"/>
              <a:ea typeface="Calibri"/>
              <a:cs typeface="Calibri"/>
              <a:sym typeface="Calibri"/>
            </a:endParaRPr>
          </a:p>
        </p:txBody>
      </p:sp>
      <p:sp>
        <p:nvSpPr>
          <p:cNvPr id="1262" name="Google Shape;1262;p51"/>
          <p:cNvSpPr/>
          <p:nvPr/>
        </p:nvSpPr>
        <p:spPr>
          <a:xfrm>
            <a:off x="4709160" y="2331720"/>
            <a:ext cx="4206300" cy="1371600"/>
          </a:xfrm>
          <a:prstGeom prst="roundRect">
            <a:avLst>
              <a:gd fmla="val 6667" name="adj"/>
            </a:avLst>
          </a:prstGeom>
          <a:solidFill>
            <a:srgbClr val="FFFFFF"/>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1"/>
          <p:cNvSpPr/>
          <p:nvPr/>
        </p:nvSpPr>
        <p:spPr>
          <a:xfrm>
            <a:off x="4873752" y="2386584"/>
            <a:ext cx="3886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150"/>
              <a:buFont typeface="Calibri"/>
              <a:buNone/>
            </a:pPr>
            <a:r>
              <a:rPr b="1" i="0" lang="en" sz="1150" u="none" cap="none" strike="noStrike">
                <a:solidFill>
                  <a:srgbClr val="6A1B9A"/>
                </a:solidFill>
                <a:latin typeface="Calibri"/>
                <a:ea typeface="Calibri"/>
                <a:cs typeface="Calibri"/>
                <a:sym typeface="Calibri"/>
              </a:rPr>
              <a:t>Complex Exponential (Euler form)</a:t>
            </a:r>
            <a:endParaRPr b="0" i="0" sz="1150" u="none" cap="none" strike="noStrike">
              <a:solidFill>
                <a:schemeClr val="dk1"/>
              </a:solidFill>
              <a:latin typeface="Calibri"/>
              <a:ea typeface="Calibri"/>
              <a:cs typeface="Calibri"/>
              <a:sym typeface="Calibri"/>
            </a:endParaRPr>
          </a:p>
        </p:txBody>
      </p:sp>
      <p:sp>
        <p:nvSpPr>
          <p:cNvPr id="1264" name="Google Shape;1264;p51"/>
          <p:cNvSpPr/>
          <p:nvPr/>
        </p:nvSpPr>
        <p:spPr>
          <a:xfrm>
            <a:off x="4873752" y="2606040"/>
            <a:ext cx="3886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Mathematically = sin/cos</a:t>
            </a:r>
            <a:endParaRPr b="0" i="0" sz="900" u="none" cap="none" strike="noStrike">
              <a:solidFill>
                <a:schemeClr val="dk1"/>
              </a:solidFill>
              <a:latin typeface="Calibri"/>
              <a:ea typeface="Calibri"/>
              <a:cs typeface="Calibri"/>
              <a:sym typeface="Calibri"/>
            </a:endParaRPr>
          </a:p>
        </p:txBody>
      </p:sp>
      <p:sp>
        <p:nvSpPr>
          <p:cNvPr id="1265" name="Google Shape;1265;p51"/>
          <p:cNvSpPr/>
          <p:nvPr/>
        </p:nvSpPr>
        <p:spPr>
          <a:xfrm>
            <a:off x="4873752" y="2807208"/>
            <a:ext cx="3886200" cy="384000"/>
          </a:xfrm>
          <a:prstGeom prst="roundRect">
            <a:avLst>
              <a:gd fmla="val 11905"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1"/>
          <p:cNvSpPr/>
          <p:nvPr/>
        </p:nvSpPr>
        <p:spPr>
          <a:xfrm>
            <a:off x="4919472" y="2816352"/>
            <a:ext cx="379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50"/>
              <a:buFont typeface="Courier New"/>
              <a:buNone/>
            </a:pPr>
            <a:r>
              <a:rPr b="0" i="0" lang="en" sz="850" u="none" cap="none" strike="noStrike">
                <a:solidFill>
                  <a:srgbClr val="6A1B9A"/>
                </a:solidFill>
                <a:latin typeface="Courier New"/>
                <a:ea typeface="Courier New"/>
                <a:cs typeface="Courier New"/>
                <a:sym typeface="Courier New"/>
              </a:rPr>
              <a:t>PE(pos) = e^(i·pos·ω)</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A1B9A"/>
              </a:buClr>
              <a:buSzPts val="850"/>
              <a:buFont typeface="Courier New"/>
              <a:buNone/>
            </a:pPr>
            <a:r>
              <a:rPr b="0" i="0" lang="en" sz="850" u="none" cap="none" strike="noStrike">
                <a:solidFill>
                  <a:srgbClr val="6A1B9A"/>
                </a:solidFill>
                <a:latin typeface="Courier New"/>
                <a:ea typeface="Courier New"/>
                <a:cs typeface="Courier New"/>
                <a:sym typeface="Courier New"/>
              </a:rPr>
              <a:t> = cos(posω) + i·sin(posω)</a:t>
            </a:r>
            <a:endParaRPr b="0" i="0" sz="850" u="none" cap="none" strike="noStrike">
              <a:solidFill>
                <a:schemeClr val="dk1"/>
              </a:solidFill>
              <a:latin typeface="Calibri"/>
              <a:ea typeface="Calibri"/>
              <a:cs typeface="Calibri"/>
              <a:sym typeface="Calibri"/>
            </a:endParaRPr>
          </a:p>
        </p:txBody>
      </p:sp>
      <p:sp>
        <p:nvSpPr>
          <p:cNvPr id="1267" name="Google Shape;1267;p51"/>
          <p:cNvSpPr/>
          <p:nvPr/>
        </p:nvSpPr>
        <p:spPr>
          <a:xfrm>
            <a:off x="4873752" y="3218688"/>
            <a:ext cx="38862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Just notation — identical math to sin/cos, expressed as complex rotation. Same linear-offset guarantee, different symbol set.</a:t>
            </a:r>
            <a:endParaRPr b="0" i="0" sz="870" u="none" cap="none" strike="noStrike">
              <a:solidFill>
                <a:schemeClr val="dk1"/>
              </a:solidFill>
              <a:latin typeface="Calibri"/>
              <a:ea typeface="Calibri"/>
              <a:cs typeface="Calibri"/>
              <a:sym typeface="Calibri"/>
            </a:endParaRPr>
          </a:p>
        </p:txBody>
      </p:sp>
      <p:sp>
        <p:nvSpPr>
          <p:cNvPr id="1268" name="Google Shape;1268;p51"/>
          <p:cNvSpPr/>
          <p:nvPr/>
        </p:nvSpPr>
        <p:spPr>
          <a:xfrm>
            <a:off x="4873752" y="3538728"/>
            <a:ext cx="2377500" cy="146400"/>
          </a:xfrm>
          <a:prstGeom prst="roundRect">
            <a:avLst>
              <a:gd fmla="val 93750"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1"/>
          <p:cNvSpPr/>
          <p:nvPr/>
        </p:nvSpPr>
        <p:spPr>
          <a:xfrm>
            <a:off x="4873752" y="3538728"/>
            <a:ext cx="2377500" cy="14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750"/>
              <a:buFont typeface="Calibri"/>
              <a:buNone/>
            </a:pPr>
            <a:r>
              <a:rPr b="1" i="0" lang="en" sz="750" u="none" cap="none" strike="noStrike">
                <a:solidFill>
                  <a:srgbClr val="6A1B9A"/>
                </a:solidFill>
                <a:latin typeface="Calibri"/>
                <a:ea typeface="Calibri"/>
                <a:cs typeface="Calibri"/>
                <a:sym typeface="Calibri"/>
              </a:rPr>
              <a:t>Identical to sin/cos</a:t>
            </a:r>
            <a:endParaRPr b="0" i="0" sz="750" u="none" cap="none" strike="noStrike">
              <a:solidFill>
                <a:schemeClr val="dk1"/>
              </a:solidFill>
              <a:latin typeface="Calibri"/>
              <a:ea typeface="Calibri"/>
              <a:cs typeface="Calibri"/>
              <a:sym typeface="Calibri"/>
            </a:endParaRPr>
          </a:p>
        </p:txBody>
      </p:sp>
      <p:sp>
        <p:nvSpPr>
          <p:cNvPr id="1270" name="Google Shape;1270;p51"/>
          <p:cNvSpPr/>
          <p:nvPr/>
        </p:nvSpPr>
        <p:spPr>
          <a:xfrm>
            <a:off x="228600" y="3749040"/>
            <a:ext cx="8686800" cy="1417200"/>
          </a:xfrm>
          <a:prstGeom prst="roundRect">
            <a:avLst>
              <a:gd fmla="val 6452"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1"/>
          <p:cNvSpPr/>
          <p:nvPr/>
        </p:nvSpPr>
        <p:spPr>
          <a:xfrm>
            <a:off x="384048" y="3877056"/>
            <a:ext cx="3657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250"/>
              <a:buFont typeface="Calibri"/>
              <a:buNone/>
            </a:pPr>
            <a:r>
              <a:rPr b="1" i="0" lang="en" sz="1250" u="none" cap="none" strike="noStrike">
                <a:solidFill>
                  <a:srgbClr val="1A1A2E"/>
                </a:solidFill>
                <a:latin typeface="Calibri"/>
                <a:ea typeface="Calibri"/>
                <a:cs typeface="Calibri"/>
                <a:sym typeface="Calibri"/>
              </a:rPr>
              <a:t>Property comparison</a:t>
            </a:r>
            <a:endParaRPr b="0" i="0" sz="1250" u="none" cap="none" strike="noStrike">
              <a:solidFill>
                <a:schemeClr val="dk1"/>
              </a:solidFill>
              <a:latin typeface="Calibri"/>
              <a:ea typeface="Calibri"/>
              <a:cs typeface="Calibri"/>
              <a:sym typeface="Calibri"/>
            </a:endParaRPr>
          </a:p>
        </p:txBody>
      </p:sp>
      <p:sp>
        <p:nvSpPr>
          <p:cNvPr id="1272" name="Google Shape;1272;p51"/>
          <p:cNvSpPr/>
          <p:nvPr/>
        </p:nvSpPr>
        <p:spPr>
          <a:xfrm>
            <a:off x="384048" y="4078224"/>
            <a:ext cx="26517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Property</a:t>
            </a:r>
            <a:endParaRPr b="0" i="0" sz="950" u="none" cap="none" strike="noStrike">
              <a:solidFill>
                <a:schemeClr val="dk1"/>
              </a:solidFill>
              <a:latin typeface="Calibri"/>
              <a:ea typeface="Calibri"/>
              <a:cs typeface="Calibri"/>
              <a:sym typeface="Calibri"/>
            </a:endParaRPr>
          </a:p>
        </p:txBody>
      </p:sp>
      <p:sp>
        <p:nvSpPr>
          <p:cNvPr id="1273" name="Google Shape;1273;p51"/>
          <p:cNvSpPr/>
          <p:nvPr/>
        </p:nvSpPr>
        <p:spPr>
          <a:xfrm>
            <a:off x="3108960" y="4078224"/>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sin/cos</a:t>
            </a:r>
            <a:endParaRPr b="0" i="0" sz="950" u="none" cap="none" strike="noStrike">
              <a:solidFill>
                <a:schemeClr val="dk1"/>
              </a:solidFill>
              <a:latin typeface="Calibri"/>
              <a:ea typeface="Calibri"/>
              <a:cs typeface="Calibri"/>
              <a:sym typeface="Calibri"/>
            </a:endParaRPr>
          </a:p>
        </p:txBody>
      </p:sp>
      <p:sp>
        <p:nvSpPr>
          <p:cNvPr id="1274" name="Google Shape;1274;p51"/>
          <p:cNvSpPr/>
          <p:nvPr/>
        </p:nvSpPr>
        <p:spPr>
          <a:xfrm>
            <a:off x="4572000" y="4078224"/>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ALiBi</a:t>
            </a:r>
            <a:endParaRPr b="0" i="0" sz="950" u="none" cap="none" strike="noStrike">
              <a:solidFill>
                <a:schemeClr val="dk1"/>
              </a:solidFill>
              <a:latin typeface="Calibri"/>
              <a:ea typeface="Calibri"/>
              <a:cs typeface="Calibri"/>
              <a:sym typeface="Calibri"/>
            </a:endParaRPr>
          </a:p>
        </p:txBody>
      </p:sp>
      <p:sp>
        <p:nvSpPr>
          <p:cNvPr id="1275" name="Google Shape;1275;p51"/>
          <p:cNvSpPr/>
          <p:nvPr/>
        </p:nvSpPr>
        <p:spPr>
          <a:xfrm>
            <a:off x="6035040" y="4078224"/>
            <a:ext cx="13716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Learned</a:t>
            </a:r>
            <a:endParaRPr b="0" i="0" sz="950" u="none" cap="none" strike="noStrike">
              <a:solidFill>
                <a:schemeClr val="dk1"/>
              </a:solidFill>
              <a:latin typeface="Calibri"/>
              <a:ea typeface="Calibri"/>
              <a:cs typeface="Calibri"/>
              <a:sym typeface="Calibri"/>
            </a:endParaRPr>
          </a:p>
        </p:txBody>
      </p:sp>
      <p:sp>
        <p:nvSpPr>
          <p:cNvPr id="1276" name="Google Shape;1276;p51"/>
          <p:cNvSpPr/>
          <p:nvPr/>
        </p:nvSpPr>
        <p:spPr>
          <a:xfrm>
            <a:off x="7498080" y="4078224"/>
            <a:ext cx="12801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50"/>
              <a:buFont typeface="Calibri"/>
              <a:buNone/>
            </a:pPr>
            <a:r>
              <a:rPr b="1" i="0" lang="en" sz="950" u="none" cap="none" strike="noStrike">
                <a:solidFill>
                  <a:srgbClr val="5A6472"/>
                </a:solidFill>
                <a:latin typeface="Calibri"/>
                <a:ea typeface="Calibri"/>
                <a:cs typeface="Calibri"/>
                <a:sym typeface="Calibri"/>
              </a:rPr>
              <a:t>RoPE</a:t>
            </a:r>
            <a:endParaRPr b="0" i="0" sz="950" u="none" cap="none" strike="noStrike">
              <a:solidFill>
                <a:schemeClr val="dk1"/>
              </a:solidFill>
              <a:latin typeface="Calibri"/>
              <a:ea typeface="Calibri"/>
              <a:cs typeface="Calibri"/>
              <a:sym typeface="Calibri"/>
            </a:endParaRPr>
          </a:p>
        </p:txBody>
      </p:sp>
      <p:cxnSp>
        <p:nvCxnSpPr>
          <p:cNvPr id="1277" name="Google Shape;1277;p51"/>
          <p:cNvCxnSpPr/>
          <p:nvPr/>
        </p:nvCxnSpPr>
        <p:spPr>
          <a:xfrm>
            <a:off x="384048" y="4297680"/>
            <a:ext cx="8394300" cy="0"/>
          </a:xfrm>
          <a:prstGeom prst="straightConnector1">
            <a:avLst/>
          </a:prstGeom>
          <a:noFill/>
          <a:ln cap="flat" cmpd="sng" w="9525">
            <a:solidFill>
              <a:srgbClr val="B0C8D8"/>
            </a:solidFill>
            <a:prstDash val="solid"/>
            <a:round/>
            <a:headEnd len="sm" w="sm" type="none"/>
            <a:tailEnd len="sm" w="sm" type="none"/>
          </a:ln>
        </p:spPr>
      </p:cxnSp>
      <p:sp>
        <p:nvSpPr>
          <p:cNvPr id="1278" name="Google Shape;1278;p51"/>
          <p:cNvSpPr/>
          <p:nvPr/>
        </p:nvSpPr>
        <p:spPr>
          <a:xfrm>
            <a:off x="384048" y="4352544"/>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Bounded</a:t>
            </a:r>
            <a:endParaRPr b="0" i="0" sz="950" u="none" cap="none" strike="noStrike">
              <a:solidFill>
                <a:schemeClr val="dk1"/>
              </a:solidFill>
              <a:latin typeface="Calibri"/>
              <a:ea typeface="Calibri"/>
              <a:cs typeface="Calibri"/>
              <a:sym typeface="Calibri"/>
            </a:endParaRPr>
          </a:p>
        </p:txBody>
      </p:sp>
      <p:sp>
        <p:nvSpPr>
          <p:cNvPr id="1279" name="Google Shape;1279;p51"/>
          <p:cNvSpPr/>
          <p:nvPr/>
        </p:nvSpPr>
        <p:spPr>
          <a:xfrm>
            <a:off x="3108960" y="4352544"/>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0" name="Google Shape;1280;p51"/>
          <p:cNvSpPr/>
          <p:nvPr/>
        </p:nvSpPr>
        <p:spPr>
          <a:xfrm>
            <a:off x="4572000" y="4352544"/>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1" name="Google Shape;1281;p51"/>
          <p:cNvSpPr/>
          <p:nvPr/>
        </p:nvSpPr>
        <p:spPr>
          <a:xfrm>
            <a:off x="6035040" y="4352544"/>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950"/>
              <a:buFont typeface="Calibri"/>
              <a:buNone/>
            </a:pPr>
            <a:r>
              <a:rPr b="0" i="0" lang="en" sz="950" u="none" cap="none" strike="noStrike">
                <a:solidFill>
                  <a:srgbClr val="C6282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2" name="Google Shape;1282;p51"/>
          <p:cNvSpPr/>
          <p:nvPr/>
        </p:nvSpPr>
        <p:spPr>
          <a:xfrm>
            <a:off x="7498080" y="4352544"/>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3" name="Google Shape;1283;p51"/>
          <p:cNvSpPr/>
          <p:nvPr/>
        </p:nvSpPr>
        <p:spPr>
          <a:xfrm>
            <a:off x="384048" y="4549140"/>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Unique per position</a:t>
            </a:r>
            <a:endParaRPr b="0" i="0" sz="950" u="none" cap="none" strike="noStrike">
              <a:solidFill>
                <a:schemeClr val="dk1"/>
              </a:solidFill>
              <a:latin typeface="Calibri"/>
              <a:ea typeface="Calibri"/>
              <a:cs typeface="Calibri"/>
              <a:sym typeface="Calibri"/>
            </a:endParaRPr>
          </a:p>
        </p:txBody>
      </p:sp>
      <p:sp>
        <p:nvSpPr>
          <p:cNvPr id="1284" name="Google Shape;1284;p51"/>
          <p:cNvSpPr/>
          <p:nvPr/>
        </p:nvSpPr>
        <p:spPr>
          <a:xfrm>
            <a:off x="3108960" y="4549140"/>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5" name="Google Shape;1285;p51"/>
          <p:cNvSpPr/>
          <p:nvPr/>
        </p:nvSpPr>
        <p:spPr>
          <a:xfrm>
            <a:off x="4572000" y="4549140"/>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6" name="Google Shape;1286;p51"/>
          <p:cNvSpPr/>
          <p:nvPr/>
        </p:nvSpPr>
        <p:spPr>
          <a:xfrm>
            <a:off x="6035040" y="4549140"/>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7" name="Google Shape;1287;p51"/>
          <p:cNvSpPr/>
          <p:nvPr/>
        </p:nvSpPr>
        <p:spPr>
          <a:xfrm>
            <a:off x="7498080" y="4549140"/>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88" name="Google Shape;1288;p51"/>
          <p:cNvSpPr/>
          <p:nvPr/>
        </p:nvSpPr>
        <p:spPr>
          <a:xfrm>
            <a:off x="384048" y="4745736"/>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Relative offset linear</a:t>
            </a:r>
            <a:endParaRPr b="0" i="0" sz="950" u="none" cap="none" strike="noStrike">
              <a:solidFill>
                <a:schemeClr val="dk1"/>
              </a:solidFill>
              <a:latin typeface="Calibri"/>
              <a:ea typeface="Calibri"/>
              <a:cs typeface="Calibri"/>
              <a:sym typeface="Calibri"/>
            </a:endParaRPr>
          </a:p>
        </p:txBody>
      </p:sp>
      <p:sp>
        <p:nvSpPr>
          <p:cNvPr id="1289" name="Google Shape;1289;p51"/>
          <p:cNvSpPr/>
          <p:nvPr/>
        </p:nvSpPr>
        <p:spPr>
          <a:xfrm>
            <a:off x="3108960" y="4745736"/>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0" name="Google Shape;1290;p51"/>
          <p:cNvSpPr/>
          <p:nvPr/>
        </p:nvSpPr>
        <p:spPr>
          <a:xfrm>
            <a:off x="4572000" y="4745736"/>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950"/>
              <a:buFont typeface="Calibri"/>
              <a:buNone/>
            </a:pPr>
            <a:r>
              <a:rPr b="0" i="0" lang="en" sz="950" u="none" cap="none" strike="noStrike">
                <a:solidFill>
                  <a:srgbClr val="E65100"/>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1" name="Google Shape;1291;p51"/>
          <p:cNvSpPr/>
          <p:nvPr/>
        </p:nvSpPr>
        <p:spPr>
          <a:xfrm>
            <a:off x="6035040" y="4745736"/>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950"/>
              <a:buFont typeface="Calibri"/>
              <a:buNone/>
            </a:pPr>
            <a:r>
              <a:rPr b="0" i="0" lang="en" sz="950" u="none" cap="none" strike="noStrike">
                <a:solidFill>
                  <a:srgbClr val="C6282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2" name="Google Shape;1292;p51"/>
          <p:cNvSpPr/>
          <p:nvPr/>
        </p:nvSpPr>
        <p:spPr>
          <a:xfrm>
            <a:off x="7498080" y="4745736"/>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1"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3" name="Google Shape;1293;p51"/>
          <p:cNvSpPr/>
          <p:nvPr/>
        </p:nvSpPr>
        <p:spPr>
          <a:xfrm>
            <a:off x="384048" y="4942332"/>
            <a:ext cx="2651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1" i="0" lang="en" sz="950" u="none" cap="none" strike="noStrike">
                <a:solidFill>
                  <a:srgbClr val="1A1A2E"/>
                </a:solidFill>
                <a:latin typeface="Calibri"/>
                <a:ea typeface="Calibri"/>
                <a:cs typeface="Calibri"/>
                <a:sym typeface="Calibri"/>
              </a:rPr>
              <a:t>Extrapolates beyond train len</a:t>
            </a:r>
            <a:endParaRPr b="0" i="0" sz="950" u="none" cap="none" strike="noStrike">
              <a:solidFill>
                <a:schemeClr val="dk1"/>
              </a:solidFill>
              <a:latin typeface="Calibri"/>
              <a:ea typeface="Calibri"/>
              <a:cs typeface="Calibri"/>
              <a:sym typeface="Calibri"/>
            </a:endParaRPr>
          </a:p>
        </p:txBody>
      </p:sp>
      <p:sp>
        <p:nvSpPr>
          <p:cNvPr id="1294" name="Google Shape;1294;p51"/>
          <p:cNvSpPr/>
          <p:nvPr/>
        </p:nvSpPr>
        <p:spPr>
          <a:xfrm>
            <a:off x="3108960" y="4942332"/>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5" name="Google Shape;1295;p51"/>
          <p:cNvSpPr/>
          <p:nvPr/>
        </p:nvSpPr>
        <p:spPr>
          <a:xfrm>
            <a:off x="4572000" y="4942332"/>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6" name="Google Shape;1296;p51"/>
          <p:cNvSpPr/>
          <p:nvPr/>
        </p:nvSpPr>
        <p:spPr>
          <a:xfrm>
            <a:off x="6035040" y="4942332"/>
            <a:ext cx="1371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62828"/>
              </a:buClr>
              <a:buSzPts val="950"/>
              <a:buFont typeface="Calibri"/>
              <a:buNone/>
            </a:pPr>
            <a:r>
              <a:rPr b="0" i="0" lang="en" sz="950" u="none" cap="none" strike="noStrike">
                <a:solidFill>
                  <a:srgbClr val="C62828"/>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1297" name="Google Shape;1297;p51"/>
          <p:cNvSpPr/>
          <p:nvPr/>
        </p:nvSpPr>
        <p:spPr>
          <a:xfrm>
            <a:off x="7498080" y="4942332"/>
            <a:ext cx="1280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50"/>
              <a:buFont typeface="Calibri"/>
              <a:buNone/>
            </a:pPr>
            <a:r>
              <a:rPr b="0" i="0" lang="en" sz="950" u="none" cap="none" strike="noStrike">
                <a:solidFill>
                  <a:srgbClr val="2E7D32"/>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2" name="Shape 1302"/>
        <p:cNvGrpSpPr/>
        <p:nvPr/>
      </p:nvGrpSpPr>
      <p:grpSpPr>
        <a:xfrm>
          <a:off x="0" y="0"/>
          <a:ext cx="0" cy="0"/>
          <a:chOff x="0" y="0"/>
          <a:chExt cx="0" cy="0"/>
        </a:xfrm>
      </p:grpSpPr>
      <p:sp>
        <p:nvSpPr>
          <p:cNvPr id="1303" name="Google Shape;1303;p52"/>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a:t>
            </a:r>
            <a:endParaRPr b="0" i="0" sz="2600" u="none" cap="none" strike="noStrike">
              <a:solidFill>
                <a:schemeClr val="dk1"/>
              </a:solidFill>
              <a:latin typeface="Calibri"/>
              <a:ea typeface="Calibri"/>
              <a:cs typeface="Calibri"/>
              <a:sym typeface="Calibri"/>
            </a:endParaRPr>
          </a:p>
        </p:txBody>
      </p:sp>
      <p:pic>
        <p:nvPicPr>
          <p:cNvPr id="1304" name="Google Shape;1304;p52"/>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305" name="Google Shape;1305;p52"/>
          <p:cNvSpPr txBox="1"/>
          <p:nvPr/>
        </p:nvSpPr>
        <p:spPr>
          <a:xfrm>
            <a:off x="320100" y="867175"/>
            <a:ext cx="7133700" cy="39327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Clr>
                <a:schemeClr val="dk1"/>
              </a:buClr>
              <a:buSzPts val="1100"/>
              <a:buFont typeface="Arial"/>
              <a:buNone/>
            </a:pPr>
            <a:r>
              <a:rPr lang="en" sz="1100">
                <a:solidFill>
                  <a:schemeClr val="dk1"/>
                </a:solidFill>
              </a:rPr>
              <a:t>You're designing a retrieval-style attention head for long-document QA. Requirement: </a:t>
            </a:r>
            <a:r>
              <a:rPr b="1" lang="en" sz="1100">
                <a:solidFill>
                  <a:schemeClr val="dk1"/>
                </a:solidFill>
              </a:rPr>
              <a:t>V vectors must stay pure, position-untouched semantic content</a:t>
            </a:r>
            <a:r>
              <a:rPr lang="en" sz="1100">
                <a:solidFill>
                  <a:schemeClr val="dk1"/>
                </a:solidFill>
              </a:rPr>
              <a:t> — position should only decide </a:t>
            </a:r>
            <a:r>
              <a:rPr i="1" lang="en" sz="1100">
                <a:solidFill>
                  <a:schemeClr val="dk1"/>
                </a:solidFill>
              </a:rPr>
              <a:t>which</a:t>
            </a:r>
            <a:r>
              <a:rPr lang="en" sz="1100">
                <a:solidFill>
                  <a:schemeClr val="dk1"/>
                </a:solidFill>
              </a:rPr>
              <a:t> tokens get attended to (via Q·K), never </a:t>
            </a:r>
            <a:r>
              <a:rPr i="1" lang="en" sz="1100">
                <a:solidFill>
                  <a:schemeClr val="dk1"/>
                </a:solidFill>
              </a:rPr>
              <a:t>what</a:t>
            </a:r>
            <a:r>
              <a:rPr lang="en" sz="1100">
                <a:solidFill>
                  <a:schemeClr val="dk1"/>
                </a:solidFill>
              </a:rPr>
              <a:t> gets copied (via V).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Recall how each scheme injects position: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sin/cos &amp; Learned PE:</a:t>
            </a:r>
            <a:r>
              <a:rPr lang="en" sz="1100">
                <a:solidFill>
                  <a:schemeClr val="dk1"/>
                </a:solidFill>
              </a:rPr>
              <a:t> position is added directly to the token embedding (</a:t>
            </a:r>
            <a:r>
              <a:rPr lang="en" sz="1100">
                <a:solidFill>
                  <a:schemeClr val="dk1"/>
                </a:solidFill>
                <a:latin typeface="Roboto Mono"/>
                <a:ea typeface="Roboto Mono"/>
                <a:cs typeface="Roboto Mono"/>
                <a:sym typeface="Roboto Mono"/>
              </a:rPr>
              <a:t>x = word_emb + PE(pos)</a:t>
            </a:r>
            <a:r>
              <a:rPr lang="en" sz="1100">
                <a:solidFill>
                  <a:schemeClr val="dk1"/>
                </a:solidFill>
              </a:rPr>
              <a:t>) </a:t>
            </a:r>
            <a:r>
              <a:rPr i="1" lang="en" sz="1100">
                <a:solidFill>
                  <a:schemeClr val="dk1"/>
                </a:solidFill>
              </a:rPr>
              <a:t>before</a:t>
            </a:r>
            <a:r>
              <a:rPr lang="en" sz="1100">
                <a:solidFill>
                  <a:schemeClr val="dk1"/>
                </a:solidFill>
              </a:rPr>
              <a:t> Q, K, and V are all computed from that same blended vector.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RoPE:</a:t>
            </a:r>
            <a:r>
              <a:rPr lang="en" sz="1100">
                <a:solidFill>
                  <a:schemeClr val="dk1"/>
                </a:solidFill>
              </a:rPr>
              <a:t> embedding and V untouched; only Q and K get rotated before the dot product.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ALiBi:</a:t>
            </a:r>
            <a:r>
              <a:rPr lang="en" sz="1100">
                <a:solidFill>
                  <a:schemeClr val="dk1"/>
                </a:solidFill>
              </a:rPr>
              <a:t> Q, K, V all computed normally; only the final attention score gets a distance penalty subtracted, before softmax.</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Which scheme(s) satisfy the requirement above?</a:t>
            </a:r>
            <a:endParaRPr sz="1100">
              <a:solidFill>
                <a:schemeClr val="dk1"/>
              </a:solidFill>
            </a:endParaRPr>
          </a:p>
          <a:p>
            <a:pPr indent="457200" lvl="0" marL="0" rtl="0" algn="l">
              <a:spcBef>
                <a:spcPts val="1200"/>
              </a:spcBef>
              <a:spcAft>
                <a:spcPts val="0"/>
              </a:spcAft>
              <a:buNone/>
            </a:pPr>
            <a:r>
              <a:rPr b="1" lang="en" sz="1100">
                <a:solidFill>
                  <a:schemeClr val="dk1"/>
                </a:solidFill>
              </a:rPr>
              <a:t>A)</a:t>
            </a:r>
            <a:r>
              <a:rPr lang="en" sz="1100">
                <a:solidFill>
                  <a:schemeClr val="dk1"/>
                </a:solidFill>
              </a:rPr>
              <a:t> sin/cos and Learned PE</a:t>
            </a:r>
            <a:endParaRPr sz="1100">
              <a:solidFill>
                <a:schemeClr val="dk1"/>
              </a:solidFill>
            </a:endParaRPr>
          </a:p>
          <a:p>
            <a:pPr indent="457200" lvl="0" marL="0" rtl="0" algn="l">
              <a:spcBef>
                <a:spcPts val="0"/>
              </a:spcBef>
              <a:spcAft>
                <a:spcPts val="0"/>
              </a:spcAft>
              <a:buClr>
                <a:schemeClr val="dk1"/>
              </a:buClr>
              <a:buSzPts val="1100"/>
              <a:buFont typeface="Arial"/>
              <a:buNone/>
            </a:pPr>
            <a:r>
              <a:t/>
            </a:r>
            <a:endParaRPr sz="1100">
              <a:solidFill>
                <a:schemeClr val="dk1"/>
              </a:solidFill>
            </a:endParaRPr>
          </a:p>
          <a:p>
            <a:pPr indent="457200" lvl="0" marL="0" rtl="0" algn="l">
              <a:spcBef>
                <a:spcPts val="0"/>
              </a:spcBef>
              <a:spcAft>
                <a:spcPts val="0"/>
              </a:spcAft>
              <a:buClr>
                <a:schemeClr val="dk1"/>
              </a:buClr>
              <a:buSzPts val="1100"/>
              <a:buFont typeface="Arial"/>
              <a:buNone/>
            </a:pPr>
            <a:r>
              <a:rPr b="1" lang="en" sz="1100">
                <a:solidFill>
                  <a:schemeClr val="dk1"/>
                </a:solidFill>
              </a:rPr>
              <a:t>B)</a:t>
            </a:r>
            <a:r>
              <a:rPr lang="en" sz="1100">
                <a:solidFill>
                  <a:schemeClr val="dk1"/>
                </a:solidFill>
              </a:rPr>
              <a:t> RoPE only</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Clr>
                <a:schemeClr val="dk1"/>
              </a:buClr>
              <a:buSzPts val="1100"/>
              <a:buFont typeface="Arial"/>
              <a:buNone/>
            </a:pPr>
            <a:r>
              <a:rPr b="1" lang="en" sz="1100">
                <a:solidFill>
                  <a:schemeClr val="dk1"/>
                </a:solidFill>
              </a:rPr>
              <a:t>C)</a:t>
            </a:r>
            <a:r>
              <a:rPr lang="en" sz="1100">
                <a:solidFill>
                  <a:schemeClr val="dk1"/>
                </a:solidFill>
              </a:rPr>
              <a:t> ALiBi only</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None/>
            </a:pPr>
            <a:r>
              <a:rPr b="1" lang="en" sz="1100">
                <a:solidFill>
                  <a:schemeClr val="dk1"/>
                </a:solidFill>
              </a:rPr>
              <a:t>D)</a:t>
            </a:r>
            <a:r>
              <a:rPr lang="en" sz="1100">
                <a:solidFill>
                  <a:schemeClr val="dk1"/>
                </a:solidFill>
              </a:rPr>
              <a:t> Both RoPE and ALiBi </a:t>
            </a:r>
            <a:endParaRPr sz="1100">
              <a:solidFill>
                <a:schemeClr val="dk1"/>
              </a:solidFill>
            </a:endParaRPr>
          </a:p>
        </p:txBody>
      </p:sp>
      <p:pic>
        <p:nvPicPr>
          <p:cNvPr id="1306" name="Google Shape;1306;p52"/>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1" name="Shape 1311"/>
        <p:cNvGrpSpPr/>
        <p:nvPr/>
      </p:nvGrpSpPr>
      <p:grpSpPr>
        <a:xfrm>
          <a:off x="0" y="0"/>
          <a:ext cx="0" cy="0"/>
          <a:chOff x="0" y="0"/>
          <a:chExt cx="0" cy="0"/>
        </a:xfrm>
      </p:grpSpPr>
      <p:sp>
        <p:nvSpPr>
          <p:cNvPr id="1312" name="Google Shape;1312;p53"/>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a:t>
            </a:r>
            <a:endParaRPr b="0" i="0" sz="2600" u="none" cap="none" strike="noStrike">
              <a:solidFill>
                <a:schemeClr val="dk1"/>
              </a:solidFill>
              <a:latin typeface="Calibri"/>
              <a:ea typeface="Calibri"/>
              <a:cs typeface="Calibri"/>
              <a:sym typeface="Calibri"/>
            </a:endParaRPr>
          </a:p>
        </p:txBody>
      </p:sp>
      <p:pic>
        <p:nvPicPr>
          <p:cNvPr id="1313" name="Google Shape;1313;p5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314" name="Google Shape;1314;p53"/>
          <p:cNvSpPr txBox="1"/>
          <p:nvPr/>
        </p:nvSpPr>
        <p:spPr>
          <a:xfrm>
            <a:off x="320100" y="867175"/>
            <a:ext cx="7133700" cy="39327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Clr>
                <a:schemeClr val="dk1"/>
              </a:buClr>
              <a:buSzPts val="1100"/>
              <a:buFont typeface="Arial"/>
              <a:buNone/>
            </a:pPr>
            <a:r>
              <a:rPr lang="en" sz="1100">
                <a:solidFill>
                  <a:schemeClr val="dk1"/>
                </a:solidFill>
              </a:rPr>
              <a:t>You're designing a retrieval-style attention head for long-document QA. Requirement: </a:t>
            </a:r>
            <a:r>
              <a:rPr b="1" lang="en" sz="1100">
                <a:solidFill>
                  <a:schemeClr val="dk1"/>
                </a:solidFill>
              </a:rPr>
              <a:t>V vectors must stay pure, position-untouched semantic content</a:t>
            </a:r>
            <a:r>
              <a:rPr lang="en" sz="1100">
                <a:solidFill>
                  <a:schemeClr val="dk1"/>
                </a:solidFill>
              </a:rPr>
              <a:t> — position should only decide </a:t>
            </a:r>
            <a:r>
              <a:rPr i="1" lang="en" sz="1100">
                <a:solidFill>
                  <a:schemeClr val="dk1"/>
                </a:solidFill>
              </a:rPr>
              <a:t>which</a:t>
            </a:r>
            <a:r>
              <a:rPr lang="en" sz="1100">
                <a:solidFill>
                  <a:schemeClr val="dk1"/>
                </a:solidFill>
              </a:rPr>
              <a:t> tokens get attended to (via Q·K), never </a:t>
            </a:r>
            <a:r>
              <a:rPr i="1" lang="en" sz="1100">
                <a:solidFill>
                  <a:schemeClr val="dk1"/>
                </a:solidFill>
              </a:rPr>
              <a:t>what</a:t>
            </a:r>
            <a:r>
              <a:rPr lang="en" sz="1100">
                <a:solidFill>
                  <a:schemeClr val="dk1"/>
                </a:solidFill>
              </a:rPr>
              <a:t> gets copied (via V).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Recall how each scheme injects position: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sin/cos &amp; Learned PE:</a:t>
            </a:r>
            <a:r>
              <a:rPr lang="en" sz="1100">
                <a:solidFill>
                  <a:schemeClr val="dk1"/>
                </a:solidFill>
              </a:rPr>
              <a:t> position is added directly to the token embedding (</a:t>
            </a:r>
            <a:r>
              <a:rPr lang="en" sz="1100">
                <a:solidFill>
                  <a:schemeClr val="dk1"/>
                </a:solidFill>
                <a:latin typeface="Roboto Mono"/>
                <a:ea typeface="Roboto Mono"/>
                <a:cs typeface="Roboto Mono"/>
                <a:sym typeface="Roboto Mono"/>
              </a:rPr>
              <a:t>x = word_emb + PE(pos)</a:t>
            </a:r>
            <a:r>
              <a:rPr lang="en" sz="1100">
                <a:solidFill>
                  <a:schemeClr val="dk1"/>
                </a:solidFill>
              </a:rPr>
              <a:t>) </a:t>
            </a:r>
            <a:r>
              <a:rPr i="1" lang="en" sz="1100">
                <a:solidFill>
                  <a:schemeClr val="dk1"/>
                </a:solidFill>
              </a:rPr>
              <a:t>before</a:t>
            </a:r>
            <a:r>
              <a:rPr lang="en" sz="1100">
                <a:solidFill>
                  <a:schemeClr val="dk1"/>
                </a:solidFill>
              </a:rPr>
              <a:t> Q, K, and V are all computed from that same blended vector.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RoPE:</a:t>
            </a:r>
            <a:r>
              <a:rPr lang="en" sz="1100">
                <a:solidFill>
                  <a:schemeClr val="dk1"/>
                </a:solidFill>
              </a:rPr>
              <a:t> embedding and V untouched; only Q and K get rotated before the dot product.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ALiBi:</a:t>
            </a:r>
            <a:r>
              <a:rPr lang="en" sz="1100">
                <a:solidFill>
                  <a:schemeClr val="dk1"/>
                </a:solidFill>
              </a:rPr>
              <a:t> Q, K, V all computed normally; only the final attention score gets a distance penalty subtracted, before softmax.</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Which scheme(s) satisfy the requirement above?</a:t>
            </a:r>
            <a:endParaRPr sz="1100">
              <a:solidFill>
                <a:schemeClr val="dk1"/>
              </a:solidFill>
            </a:endParaRPr>
          </a:p>
          <a:p>
            <a:pPr indent="457200" lvl="0" marL="0" rtl="0" algn="l">
              <a:spcBef>
                <a:spcPts val="1200"/>
              </a:spcBef>
              <a:spcAft>
                <a:spcPts val="0"/>
              </a:spcAft>
              <a:buNone/>
            </a:pPr>
            <a:r>
              <a:rPr b="1" lang="en" sz="1100">
                <a:solidFill>
                  <a:schemeClr val="dk1"/>
                </a:solidFill>
              </a:rPr>
              <a:t>A)</a:t>
            </a:r>
            <a:r>
              <a:rPr lang="en" sz="1100">
                <a:solidFill>
                  <a:schemeClr val="dk1"/>
                </a:solidFill>
              </a:rPr>
              <a:t> sin/cos and Learned PE</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None/>
            </a:pPr>
            <a:r>
              <a:rPr b="1" lang="en" sz="1100">
                <a:solidFill>
                  <a:schemeClr val="dk1"/>
                </a:solidFill>
              </a:rPr>
              <a:t>B)</a:t>
            </a:r>
            <a:r>
              <a:rPr lang="en" sz="1100">
                <a:solidFill>
                  <a:schemeClr val="dk1"/>
                </a:solidFill>
              </a:rPr>
              <a:t> RoPE only</a:t>
            </a:r>
            <a:endParaRPr sz="1100">
              <a:solidFill>
                <a:schemeClr val="dk1"/>
              </a:solidFill>
            </a:endParaRPr>
          </a:p>
          <a:p>
            <a:pPr indent="457200" lvl="0" marL="0" rtl="0" algn="l">
              <a:spcBef>
                <a:spcPts val="0"/>
              </a:spcBef>
              <a:spcAft>
                <a:spcPts val="0"/>
              </a:spcAft>
              <a:buNone/>
            </a:pPr>
            <a:r>
              <a:t/>
            </a:r>
            <a:endParaRPr sz="1100">
              <a:solidFill>
                <a:schemeClr val="dk1"/>
              </a:solidFill>
            </a:endParaRPr>
          </a:p>
          <a:p>
            <a:pPr indent="457200" lvl="0" marL="0" rtl="0" algn="l">
              <a:spcBef>
                <a:spcPts val="0"/>
              </a:spcBef>
              <a:spcAft>
                <a:spcPts val="0"/>
              </a:spcAft>
              <a:buNone/>
            </a:pPr>
            <a:r>
              <a:rPr b="1" lang="en" sz="1100">
                <a:solidFill>
                  <a:schemeClr val="dk1"/>
                </a:solidFill>
              </a:rPr>
              <a:t>C)</a:t>
            </a:r>
            <a:r>
              <a:rPr lang="en" sz="1100">
                <a:solidFill>
                  <a:schemeClr val="dk1"/>
                </a:solidFill>
              </a:rPr>
              <a:t> ALiBi only</a:t>
            </a:r>
            <a:endParaRPr sz="1100">
              <a:solidFill>
                <a:schemeClr val="dk1"/>
              </a:solidFill>
            </a:endParaRPr>
          </a:p>
          <a:p>
            <a:pPr indent="457200" lvl="0" marL="0" rtl="0" algn="l">
              <a:spcBef>
                <a:spcPts val="0"/>
              </a:spcBef>
              <a:spcAft>
                <a:spcPts val="0"/>
              </a:spcAft>
              <a:buNone/>
            </a:pPr>
            <a:r>
              <a:t/>
            </a:r>
            <a:endParaRPr b="1" sz="1100">
              <a:solidFill>
                <a:schemeClr val="dk1"/>
              </a:solidFill>
            </a:endParaRPr>
          </a:p>
          <a:p>
            <a:pPr indent="457200" lvl="0" marL="0" rtl="0" algn="l">
              <a:spcBef>
                <a:spcPts val="0"/>
              </a:spcBef>
              <a:spcAft>
                <a:spcPts val="0"/>
              </a:spcAft>
              <a:buNone/>
            </a:pPr>
            <a:r>
              <a:rPr b="1" lang="en" sz="1100">
                <a:solidFill>
                  <a:schemeClr val="dk1"/>
                </a:solidFill>
              </a:rPr>
              <a:t>D)</a:t>
            </a:r>
            <a:r>
              <a:rPr lang="en" sz="1100">
                <a:solidFill>
                  <a:schemeClr val="dk1"/>
                </a:solidFill>
              </a:rPr>
              <a:t> Both RoPE and ALiBi </a:t>
            </a:r>
            <a:endParaRPr sz="1100">
              <a:solidFill>
                <a:schemeClr val="dk1"/>
              </a:solidFill>
            </a:endParaRPr>
          </a:p>
        </p:txBody>
      </p:sp>
      <p:sp>
        <p:nvSpPr>
          <p:cNvPr id="1315" name="Google Shape;1315;p53"/>
          <p:cNvSpPr txBox="1"/>
          <p:nvPr/>
        </p:nvSpPr>
        <p:spPr>
          <a:xfrm>
            <a:off x="447725" y="439967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1316" name="Google Shape;1316;p53"/>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1" name="Shape 1321"/>
        <p:cNvGrpSpPr/>
        <p:nvPr/>
      </p:nvGrpSpPr>
      <p:grpSpPr>
        <a:xfrm>
          <a:off x="0" y="0"/>
          <a:ext cx="0" cy="0"/>
          <a:chOff x="0" y="0"/>
          <a:chExt cx="0" cy="0"/>
        </a:xfrm>
      </p:grpSpPr>
      <p:sp>
        <p:nvSpPr>
          <p:cNvPr id="1322" name="Google Shape;1322;p54"/>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a:t>
            </a:r>
            <a:r>
              <a:rPr b="1" lang="en" sz="1800">
                <a:solidFill>
                  <a:srgbClr val="0B2A3D"/>
                </a:solidFill>
                <a:latin typeface="Cambria"/>
                <a:ea typeface="Cambria"/>
                <a:cs typeface="Cambria"/>
                <a:sym typeface="Cambria"/>
              </a:rPr>
              <a:t>4</a:t>
            </a:r>
            <a:r>
              <a:rPr b="1" i="0" lang="en" sz="1800" u="none" cap="none" strike="noStrike">
                <a:solidFill>
                  <a:srgbClr val="0B2A3D"/>
                </a:solidFill>
                <a:latin typeface="Cambria"/>
                <a:ea typeface="Cambria"/>
                <a:cs typeface="Cambria"/>
                <a:sym typeface="Cambria"/>
              </a:rPr>
              <a:t> — Solution</a:t>
            </a:r>
            <a:endParaRPr b="0" i="0" sz="1800" u="none" cap="none" strike="noStrike">
              <a:solidFill>
                <a:schemeClr val="dk1"/>
              </a:solidFill>
              <a:latin typeface="Calibri"/>
              <a:ea typeface="Calibri"/>
              <a:cs typeface="Calibri"/>
              <a:sym typeface="Calibri"/>
            </a:endParaRPr>
          </a:p>
        </p:txBody>
      </p:sp>
      <p:sp>
        <p:nvSpPr>
          <p:cNvPr id="1323" name="Google Shape;1323;p54"/>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4"/>
          <p:cNvSpPr/>
          <p:nvPr/>
        </p:nvSpPr>
        <p:spPr>
          <a:xfrm>
            <a:off x="365760" y="607025"/>
            <a:ext cx="8412600" cy="27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Which </a:t>
            </a:r>
            <a:r>
              <a:rPr i="1" lang="en" sz="1050">
                <a:solidFill>
                  <a:srgbClr val="6B8A94"/>
                </a:solidFill>
                <a:latin typeface="Calibri"/>
                <a:ea typeface="Calibri"/>
                <a:cs typeface="Calibri"/>
                <a:sym typeface="Calibri"/>
              </a:rPr>
              <a:t>scheme</a:t>
            </a:r>
            <a:r>
              <a:rPr b="0" i="1" lang="en" sz="1050" u="none" cap="none" strike="noStrike">
                <a:solidFill>
                  <a:srgbClr val="6B8A94"/>
                </a:solidFill>
                <a:latin typeface="Calibri"/>
                <a:ea typeface="Calibri"/>
                <a:cs typeface="Calibri"/>
                <a:sym typeface="Calibri"/>
              </a:rPr>
              <a:t> should you pick, and why?</a:t>
            </a:r>
            <a:endParaRPr b="0" i="0" sz="1050" u="none" cap="none" strike="noStrike">
              <a:solidFill>
                <a:schemeClr val="dk1"/>
              </a:solidFill>
              <a:latin typeface="Calibri"/>
              <a:ea typeface="Calibri"/>
              <a:cs typeface="Calibri"/>
              <a:sym typeface="Calibri"/>
            </a:endParaRPr>
          </a:p>
        </p:txBody>
      </p:sp>
      <p:sp>
        <p:nvSpPr>
          <p:cNvPr id="1325" name="Google Shape;1325;p54"/>
          <p:cNvSpPr/>
          <p:nvPr/>
        </p:nvSpPr>
        <p:spPr>
          <a:xfrm>
            <a:off x="365750" y="912001"/>
            <a:ext cx="8632500" cy="718500"/>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6" name="Google Shape;1326;p54"/>
          <p:cNvPicPr preferRelativeResize="0"/>
          <p:nvPr/>
        </p:nvPicPr>
        <p:blipFill rotWithShape="1">
          <a:blip r:embed="rId3">
            <a:alphaModFix/>
          </a:blip>
          <a:srcRect b="0" l="0" r="0" t="0"/>
          <a:stretch/>
        </p:blipFill>
        <p:spPr>
          <a:xfrm>
            <a:off x="520152" y="1117306"/>
            <a:ext cx="252657" cy="307958"/>
          </a:xfrm>
          <a:prstGeom prst="rect">
            <a:avLst/>
          </a:prstGeom>
          <a:noFill/>
          <a:ln>
            <a:noFill/>
          </a:ln>
        </p:spPr>
      </p:pic>
      <p:sp>
        <p:nvSpPr>
          <p:cNvPr id="1327" name="Google Shape;1327;p54"/>
          <p:cNvSpPr/>
          <p:nvPr/>
        </p:nvSpPr>
        <p:spPr>
          <a:xfrm>
            <a:off x="892120" y="997545"/>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A  </a:t>
            </a:r>
            <a:r>
              <a:rPr b="1" i="0" lang="en" sz="1400" u="none" cap="none" strike="noStrike">
                <a:solidFill>
                  <a:srgbClr val="1E293B"/>
                </a:solidFill>
                <a:latin typeface="Calibri"/>
                <a:ea typeface="Calibri"/>
                <a:cs typeface="Calibri"/>
                <a:sym typeface="Calibri"/>
              </a:rPr>
              <a:t>sin/cos and Learned PE</a:t>
            </a:r>
            <a:endParaRPr b="0" i="0" sz="1400" u="none" cap="none" strike="noStrike">
              <a:solidFill>
                <a:srgbClr val="000000"/>
              </a:solidFill>
              <a:latin typeface="Calibri"/>
              <a:ea typeface="Calibri"/>
              <a:cs typeface="Calibri"/>
              <a:sym typeface="Calibri"/>
            </a:endParaRPr>
          </a:p>
        </p:txBody>
      </p:sp>
      <p:sp>
        <p:nvSpPr>
          <p:cNvPr id="1328" name="Google Shape;1328;p54"/>
          <p:cNvSpPr/>
          <p:nvPr/>
        </p:nvSpPr>
        <p:spPr>
          <a:xfrm>
            <a:off x="892120" y="997545"/>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329" name="Google Shape;1329;p54"/>
          <p:cNvSpPr/>
          <p:nvPr/>
        </p:nvSpPr>
        <p:spPr>
          <a:xfrm>
            <a:off x="892120" y="1271286"/>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Position is added to the embedding before Q, K, and V are all computed from it — so V is derived from an already position-blended vector, never pure content.</a:t>
            </a:r>
            <a:endParaRPr b="0" i="0" sz="1150" u="none" cap="none" strike="noStrike">
              <a:solidFill>
                <a:srgbClr val="000000"/>
              </a:solidFill>
              <a:latin typeface="Calibri"/>
              <a:ea typeface="Calibri"/>
              <a:cs typeface="Calibri"/>
              <a:sym typeface="Calibri"/>
            </a:endParaRPr>
          </a:p>
        </p:txBody>
      </p:sp>
      <p:sp>
        <p:nvSpPr>
          <p:cNvPr id="1330" name="Google Shape;1330;p54"/>
          <p:cNvSpPr/>
          <p:nvPr/>
        </p:nvSpPr>
        <p:spPr>
          <a:xfrm>
            <a:off x="365750" y="1699006"/>
            <a:ext cx="8632500" cy="718500"/>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1" name="Google Shape;1331;p54"/>
          <p:cNvPicPr preferRelativeResize="0"/>
          <p:nvPr/>
        </p:nvPicPr>
        <p:blipFill rotWithShape="1">
          <a:blip r:embed="rId3">
            <a:alphaModFix/>
          </a:blip>
          <a:srcRect b="0" l="0" r="0" t="0"/>
          <a:stretch/>
        </p:blipFill>
        <p:spPr>
          <a:xfrm>
            <a:off x="520152" y="1904311"/>
            <a:ext cx="252657" cy="307958"/>
          </a:xfrm>
          <a:prstGeom prst="rect">
            <a:avLst/>
          </a:prstGeom>
          <a:noFill/>
          <a:ln>
            <a:noFill/>
          </a:ln>
        </p:spPr>
      </p:pic>
      <p:sp>
        <p:nvSpPr>
          <p:cNvPr id="1332" name="Google Shape;1332;p54"/>
          <p:cNvSpPr/>
          <p:nvPr/>
        </p:nvSpPr>
        <p:spPr>
          <a:xfrm>
            <a:off x="892120" y="1784550"/>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B  </a:t>
            </a:r>
            <a:r>
              <a:rPr b="1" i="0" lang="en" sz="1400" u="none" cap="none" strike="noStrike">
                <a:solidFill>
                  <a:srgbClr val="1E293B"/>
                </a:solidFill>
                <a:latin typeface="Calibri"/>
                <a:ea typeface="Calibri"/>
                <a:cs typeface="Calibri"/>
                <a:sym typeface="Calibri"/>
              </a:rPr>
              <a:t>RoPE only</a:t>
            </a:r>
            <a:endParaRPr b="0" i="0" sz="1400" u="none" cap="none" strike="noStrike">
              <a:solidFill>
                <a:srgbClr val="000000"/>
              </a:solidFill>
              <a:latin typeface="Calibri"/>
              <a:ea typeface="Calibri"/>
              <a:cs typeface="Calibri"/>
              <a:sym typeface="Calibri"/>
            </a:endParaRPr>
          </a:p>
        </p:txBody>
      </p:sp>
      <p:sp>
        <p:nvSpPr>
          <p:cNvPr id="1333" name="Google Shape;1333;p54"/>
          <p:cNvSpPr/>
          <p:nvPr/>
        </p:nvSpPr>
        <p:spPr>
          <a:xfrm>
            <a:off x="892120" y="1784550"/>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334" name="Google Shape;1334;p54"/>
          <p:cNvSpPr/>
          <p:nvPr/>
        </p:nvSpPr>
        <p:spPr>
          <a:xfrm>
            <a:off x="892120" y="2058291"/>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True that RoPE leaves V untouched — but stopping here misses that ALiBi satisfies the same requirement, just through a different mechanism.</a:t>
            </a:r>
            <a:endParaRPr b="0" i="0" sz="1150" u="none" cap="none" strike="noStrike">
              <a:solidFill>
                <a:srgbClr val="000000"/>
              </a:solidFill>
              <a:latin typeface="Calibri"/>
              <a:ea typeface="Calibri"/>
              <a:cs typeface="Calibri"/>
              <a:sym typeface="Calibri"/>
            </a:endParaRPr>
          </a:p>
        </p:txBody>
      </p:sp>
      <p:sp>
        <p:nvSpPr>
          <p:cNvPr id="1335" name="Google Shape;1335;p54"/>
          <p:cNvSpPr/>
          <p:nvPr/>
        </p:nvSpPr>
        <p:spPr>
          <a:xfrm>
            <a:off x="365750" y="2486011"/>
            <a:ext cx="8632500" cy="718500"/>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6" name="Google Shape;1336;p54"/>
          <p:cNvPicPr preferRelativeResize="0"/>
          <p:nvPr/>
        </p:nvPicPr>
        <p:blipFill rotWithShape="1">
          <a:blip r:embed="rId3">
            <a:alphaModFix/>
          </a:blip>
          <a:srcRect b="0" l="0" r="0" t="0"/>
          <a:stretch/>
        </p:blipFill>
        <p:spPr>
          <a:xfrm>
            <a:off x="520152" y="2691316"/>
            <a:ext cx="252657" cy="307958"/>
          </a:xfrm>
          <a:prstGeom prst="rect">
            <a:avLst/>
          </a:prstGeom>
          <a:noFill/>
          <a:ln>
            <a:noFill/>
          </a:ln>
        </p:spPr>
      </p:pic>
      <p:sp>
        <p:nvSpPr>
          <p:cNvPr id="1337" name="Google Shape;1337;p54"/>
          <p:cNvSpPr/>
          <p:nvPr/>
        </p:nvSpPr>
        <p:spPr>
          <a:xfrm>
            <a:off x="892120" y="2571555"/>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C  </a:t>
            </a:r>
            <a:r>
              <a:rPr b="1" i="0" lang="en" sz="1400" u="none" cap="none" strike="noStrike">
                <a:solidFill>
                  <a:srgbClr val="1E293B"/>
                </a:solidFill>
                <a:latin typeface="Calibri"/>
                <a:ea typeface="Calibri"/>
                <a:cs typeface="Calibri"/>
                <a:sym typeface="Calibri"/>
              </a:rPr>
              <a:t>ALiBi only</a:t>
            </a:r>
            <a:endParaRPr b="0" i="0" sz="1400" u="none" cap="none" strike="noStrike">
              <a:solidFill>
                <a:srgbClr val="000000"/>
              </a:solidFill>
              <a:latin typeface="Calibri"/>
              <a:ea typeface="Calibri"/>
              <a:cs typeface="Calibri"/>
              <a:sym typeface="Calibri"/>
            </a:endParaRPr>
          </a:p>
        </p:txBody>
      </p:sp>
      <p:sp>
        <p:nvSpPr>
          <p:cNvPr id="1338" name="Google Shape;1338;p54"/>
          <p:cNvSpPr/>
          <p:nvPr/>
        </p:nvSpPr>
        <p:spPr>
          <a:xfrm>
            <a:off x="892120" y="2571555"/>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1339" name="Google Shape;1339;p54"/>
          <p:cNvSpPr/>
          <p:nvPr/>
        </p:nvSpPr>
        <p:spPr>
          <a:xfrm>
            <a:off x="892120" y="2845296"/>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True that ALiBi leaves V untouched — but stopping here misses that RoPE satisfies the same requirement too, via rotating Q/K instead.</a:t>
            </a:r>
            <a:endParaRPr b="0" i="0" sz="1150" u="none" cap="none" strike="noStrike">
              <a:solidFill>
                <a:srgbClr val="000000"/>
              </a:solidFill>
              <a:latin typeface="Calibri"/>
              <a:ea typeface="Calibri"/>
              <a:cs typeface="Calibri"/>
              <a:sym typeface="Calibri"/>
            </a:endParaRPr>
          </a:p>
        </p:txBody>
      </p:sp>
      <p:sp>
        <p:nvSpPr>
          <p:cNvPr id="1340" name="Google Shape;1340;p54"/>
          <p:cNvSpPr/>
          <p:nvPr/>
        </p:nvSpPr>
        <p:spPr>
          <a:xfrm>
            <a:off x="365750" y="3273016"/>
            <a:ext cx="8632500" cy="718500"/>
          </a:xfrm>
          <a:prstGeom prst="roundRect">
            <a:avLst>
              <a:gd fmla="val 8333" name="adj"/>
            </a:avLst>
          </a:prstGeom>
          <a:solidFill>
            <a:srgbClr val="EAF7F2"/>
          </a:solidFill>
          <a:ln cap="flat" cmpd="sng" w="15875">
            <a:solidFill>
              <a:srgbClr val="02C39A"/>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1" name="Google Shape;1341;p54"/>
          <p:cNvPicPr preferRelativeResize="0"/>
          <p:nvPr/>
        </p:nvPicPr>
        <p:blipFill rotWithShape="1">
          <a:blip r:embed="rId4">
            <a:alphaModFix/>
          </a:blip>
          <a:srcRect b="0" l="0" r="0" t="0"/>
          <a:stretch/>
        </p:blipFill>
        <p:spPr>
          <a:xfrm>
            <a:off x="520152" y="3478321"/>
            <a:ext cx="252657" cy="307958"/>
          </a:xfrm>
          <a:prstGeom prst="rect">
            <a:avLst/>
          </a:prstGeom>
          <a:noFill/>
          <a:ln>
            <a:noFill/>
          </a:ln>
        </p:spPr>
      </p:pic>
      <p:sp>
        <p:nvSpPr>
          <p:cNvPr id="1342" name="Google Shape;1342;p54"/>
          <p:cNvSpPr/>
          <p:nvPr/>
        </p:nvSpPr>
        <p:spPr>
          <a:xfrm>
            <a:off x="892120" y="3358560"/>
            <a:ext cx="3228300" cy="27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D  </a:t>
            </a:r>
            <a:r>
              <a:rPr b="1" i="0" lang="en" sz="1400" u="none" cap="none" strike="noStrike">
                <a:solidFill>
                  <a:srgbClr val="1E293B"/>
                </a:solidFill>
                <a:latin typeface="Calibri"/>
                <a:ea typeface="Calibri"/>
                <a:cs typeface="Calibri"/>
                <a:sym typeface="Calibri"/>
              </a:rPr>
              <a:t>Both RoPE and ALiBi</a:t>
            </a:r>
            <a:endParaRPr b="0" i="0" sz="1400" u="none" cap="none" strike="noStrike">
              <a:solidFill>
                <a:srgbClr val="000000"/>
              </a:solidFill>
              <a:latin typeface="Calibri"/>
              <a:ea typeface="Calibri"/>
              <a:cs typeface="Calibri"/>
              <a:sym typeface="Calibri"/>
            </a:endParaRPr>
          </a:p>
        </p:txBody>
      </p:sp>
      <p:sp>
        <p:nvSpPr>
          <p:cNvPr id="1343" name="Google Shape;1343;p54"/>
          <p:cNvSpPr/>
          <p:nvPr/>
        </p:nvSpPr>
        <p:spPr>
          <a:xfrm>
            <a:off x="892120" y="3358560"/>
            <a:ext cx="3228300" cy="273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A896"/>
              </a:buClr>
              <a:buSzPts val="1200"/>
              <a:buFont typeface="Calibri"/>
              <a:buNone/>
            </a:pPr>
            <a:r>
              <a:rPr b="1" i="1" lang="en" sz="1200" u="none" cap="none" strike="noStrike">
                <a:solidFill>
                  <a:srgbClr val="00A896"/>
                </a:solidFill>
                <a:latin typeface="Calibri"/>
                <a:ea typeface="Calibri"/>
                <a:cs typeface="Calibri"/>
                <a:sym typeface="Calibri"/>
              </a:rPr>
              <a:t>Correct</a:t>
            </a:r>
            <a:endParaRPr b="0" i="0" sz="1200" u="none" cap="none" strike="noStrike">
              <a:solidFill>
                <a:srgbClr val="000000"/>
              </a:solidFill>
              <a:latin typeface="Calibri"/>
              <a:ea typeface="Calibri"/>
              <a:cs typeface="Calibri"/>
              <a:sym typeface="Calibri"/>
            </a:endParaRPr>
          </a:p>
        </p:txBody>
      </p:sp>
      <p:sp>
        <p:nvSpPr>
          <p:cNvPr id="1344" name="Google Shape;1344;p54"/>
          <p:cNvSpPr/>
          <p:nvPr/>
        </p:nvSpPr>
        <p:spPr>
          <a:xfrm>
            <a:off x="892120" y="3632301"/>
            <a:ext cx="7965900" cy="29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RoPE rotates Q/K before the dot product; ALiBi biases the score after it. Neither ever touches V — both satisfy the requirement.</a:t>
            </a:r>
            <a:endParaRPr b="0" i="0" sz="1150" u="none" cap="none" strike="noStrike">
              <a:solidFill>
                <a:srgbClr val="000000"/>
              </a:solidFill>
              <a:latin typeface="Calibri"/>
              <a:ea typeface="Calibri"/>
              <a:cs typeface="Calibri"/>
              <a:sym typeface="Calibri"/>
            </a:endParaRPr>
          </a:p>
        </p:txBody>
      </p:sp>
      <p:sp>
        <p:nvSpPr>
          <p:cNvPr id="1345" name="Google Shape;1345;p54"/>
          <p:cNvSpPr/>
          <p:nvPr/>
        </p:nvSpPr>
        <p:spPr>
          <a:xfrm>
            <a:off x="365750" y="4128456"/>
            <a:ext cx="8632500" cy="855300"/>
          </a:xfrm>
          <a:prstGeom prst="roundRect">
            <a:avLst>
              <a:gd fmla="val 8000"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6" name="Google Shape;1346;p54"/>
          <p:cNvPicPr preferRelativeResize="0"/>
          <p:nvPr/>
        </p:nvPicPr>
        <p:blipFill rotWithShape="1">
          <a:blip r:embed="rId5">
            <a:alphaModFix/>
          </a:blip>
          <a:srcRect b="0" l="0" r="0" t="0"/>
          <a:stretch/>
        </p:blipFill>
        <p:spPr>
          <a:xfrm>
            <a:off x="562261" y="4402197"/>
            <a:ext cx="252657" cy="307958"/>
          </a:xfrm>
          <a:prstGeom prst="rect">
            <a:avLst/>
          </a:prstGeom>
          <a:noFill/>
          <a:ln>
            <a:noFill/>
          </a:ln>
        </p:spPr>
      </p:pic>
      <p:sp>
        <p:nvSpPr>
          <p:cNvPr id="1347" name="Google Shape;1347;p54"/>
          <p:cNvSpPr/>
          <p:nvPr/>
        </p:nvSpPr>
        <p:spPr>
          <a:xfrm>
            <a:off x="941248" y="4162673"/>
            <a:ext cx="7930500" cy="78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 sz="1250" u="none" cap="none" strike="noStrike">
                <a:solidFill>
                  <a:srgbClr val="FFFFFF"/>
                </a:solidFill>
                <a:latin typeface="Calibri"/>
                <a:ea typeface="Calibri"/>
                <a:cs typeface="Calibri"/>
                <a:sym typeface="Calibri"/>
              </a:rPr>
              <a:t>Key Insight   </a:t>
            </a:r>
            <a:r>
              <a:rPr b="0" i="0" lang="en" sz="1250" u="none" cap="none" strike="noStrike">
                <a:solidFill>
                  <a:srgbClr val="EAF7F2"/>
                </a:solidFill>
                <a:latin typeface="Calibri"/>
                <a:ea typeface="Calibri"/>
                <a:cs typeface="Calibri"/>
                <a:sym typeface="Calibri"/>
              </a:rPr>
              <a:t>The trap isn't a misconception about any single scheme — it's assuming options written as single schemes must have a single-scheme answer. Where position enters (embedding, Q/K, or the score) decides whether V stays clean, not which scheme is “better.”</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352" name="Shape 1352"/>
        <p:cNvGrpSpPr/>
        <p:nvPr/>
      </p:nvGrpSpPr>
      <p:grpSpPr>
        <a:xfrm>
          <a:off x="0" y="0"/>
          <a:ext cx="0" cy="0"/>
          <a:chOff x="0" y="0"/>
          <a:chExt cx="0" cy="0"/>
        </a:xfrm>
      </p:grpSpPr>
      <p:sp>
        <p:nvSpPr>
          <p:cNvPr id="1353" name="Google Shape;1353;p55"/>
          <p:cNvSpPr/>
          <p:nvPr/>
        </p:nvSpPr>
        <p:spPr>
          <a:xfrm>
            <a:off x="0" y="0"/>
            <a:ext cx="9144000" cy="6585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5"/>
          <p:cNvSpPr/>
          <p:nvPr/>
        </p:nvSpPr>
        <p:spPr>
          <a:xfrm>
            <a:off x="274320" y="54864"/>
            <a:ext cx="8595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i="0" lang="en" sz="2400" u="none" cap="none" strike="noStrike">
                <a:solidFill>
                  <a:srgbClr val="FFFFFF"/>
                </a:solidFill>
                <a:latin typeface="Calibri"/>
                <a:ea typeface="Calibri"/>
                <a:cs typeface="Calibri"/>
                <a:sym typeface="Calibri"/>
              </a:rPr>
              <a:t>Where Each Scheme Injects Position</a:t>
            </a:r>
            <a:endParaRPr b="0" i="0" sz="2400" u="none" cap="none" strike="noStrike">
              <a:solidFill>
                <a:schemeClr val="dk1"/>
              </a:solidFill>
              <a:latin typeface="Calibri"/>
              <a:ea typeface="Calibri"/>
              <a:cs typeface="Calibri"/>
              <a:sym typeface="Calibri"/>
            </a:endParaRPr>
          </a:p>
        </p:txBody>
      </p:sp>
      <p:sp>
        <p:nvSpPr>
          <p:cNvPr id="1355" name="Google Shape;1355;p55"/>
          <p:cNvSpPr/>
          <p:nvPr/>
        </p:nvSpPr>
        <p:spPr>
          <a:xfrm>
            <a:off x="274320" y="438912"/>
            <a:ext cx="85953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100"/>
              <a:buFont typeface="Calibri"/>
              <a:buNone/>
            </a:pPr>
            <a:r>
              <a:rPr b="0" i="1" lang="en" sz="1100" u="none" cap="none" strike="noStrike">
                <a:solidFill>
                  <a:srgbClr val="D6E4F5"/>
                </a:solidFill>
                <a:latin typeface="Calibri"/>
                <a:ea typeface="Calibri"/>
                <a:cs typeface="Calibri"/>
                <a:sym typeface="Calibri"/>
              </a:rPr>
              <a:t>Three different injection points in the same forward pass — not all schemes act in the same place</a:t>
            </a:r>
            <a:endParaRPr b="0" i="0" sz="1100" u="none" cap="none" strike="noStrike">
              <a:solidFill>
                <a:schemeClr val="dk1"/>
              </a:solidFill>
              <a:latin typeface="Calibri"/>
              <a:ea typeface="Calibri"/>
              <a:cs typeface="Calibri"/>
              <a:sym typeface="Calibri"/>
            </a:endParaRPr>
          </a:p>
        </p:txBody>
      </p:sp>
      <p:sp>
        <p:nvSpPr>
          <p:cNvPr id="1356" name="Google Shape;1356;p55"/>
          <p:cNvSpPr/>
          <p:nvPr/>
        </p:nvSpPr>
        <p:spPr>
          <a:xfrm>
            <a:off x="228600" y="868680"/>
            <a:ext cx="14172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5"/>
          <p:cNvSpPr/>
          <p:nvPr/>
        </p:nvSpPr>
        <p:spPr>
          <a:xfrm>
            <a:off x="228600" y="868680"/>
            <a:ext cx="1417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Token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Embedding</a:t>
            </a:r>
            <a:endParaRPr b="0" i="0" sz="1050" u="none" cap="none" strike="noStrike">
              <a:solidFill>
                <a:schemeClr val="dk1"/>
              </a:solidFill>
              <a:latin typeface="Calibri"/>
              <a:ea typeface="Calibri"/>
              <a:cs typeface="Calibri"/>
              <a:sym typeface="Calibri"/>
            </a:endParaRPr>
          </a:p>
        </p:txBody>
      </p:sp>
      <p:cxnSp>
        <p:nvCxnSpPr>
          <p:cNvPr id="1358" name="Google Shape;1358;p55"/>
          <p:cNvCxnSpPr/>
          <p:nvPr/>
        </p:nvCxnSpPr>
        <p:spPr>
          <a:xfrm>
            <a:off x="164592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359" name="Google Shape;1359;p55"/>
          <p:cNvSpPr/>
          <p:nvPr/>
        </p:nvSpPr>
        <p:spPr>
          <a:xfrm>
            <a:off x="166878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60" name="Google Shape;1360;p55"/>
          <p:cNvSpPr/>
          <p:nvPr/>
        </p:nvSpPr>
        <p:spPr>
          <a:xfrm>
            <a:off x="1874520" y="868680"/>
            <a:ext cx="14172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55"/>
          <p:cNvSpPr/>
          <p:nvPr/>
        </p:nvSpPr>
        <p:spPr>
          <a:xfrm>
            <a:off x="1874520" y="868680"/>
            <a:ext cx="1417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Compute</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Q, K, V</a:t>
            </a:r>
            <a:endParaRPr b="0" i="0" sz="1050" u="none" cap="none" strike="noStrike">
              <a:solidFill>
                <a:schemeClr val="dk1"/>
              </a:solidFill>
              <a:latin typeface="Calibri"/>
              <a:ea typeface="Calibri"/>
              <a:cs typeface="Calibri"/>
              <a:sym typeface="Calibri"/>
            </a:endParaRPr>
          </a:p>
        </p:txBody>
      </p:sp>
      <p:cxnSp>
        <p:nvCxnSpPr>
          <p:cNvPr id="1362" name="Google Shape;1362;p55"/>
          <p:cNvCxnSpPr/>
          <p:nvPr/>
        </p:nvCxnSpPr>
        <p:spPr>
          <a:xfrm>
            <a:off x="329184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363" name="Google Shape;1363;p55"/>
          <p:cNvSpPr/>
          <p:nvPr/>
        </p:nvSpPr>
        <p:spPr>
          <a:xfrm>
            <a:off x="331470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64" name="Google Shape;1364;p55"/>
          <p:cNvSpPr/>
          <p:nvPr/>
        </p:nvSpPr>
        <p:spPr>
          <a:xfrm>
            <a:off x="3520440" y="868680"/>
            <a:ext cx="15546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5"/>
          <p:cNvSpPr/>
          <p:nvPr/>
        </p:nvSpPr>
        <p:spPr>
          <a:xfrm>
            <a:off x="3520440" y="868680"/>
            <a:ext cx="15546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Q · Kᵀ</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(dot product)</a:t>
            </a:r>
            <a:endParaRPr b="0" i="0" sz="1050" u="none" cap="none" strike="noStrike">
              <a:solidFill>
                <a:schemeClr val="dk1"/>
              </a:solidFill>
              <a:latin typeface="Calibri"/>
              <a:ea typeface="Calibri"/>
              <a:cs typeface="Calibri"/>
              <a:sym typeface="Calibri"/>
            </a:endParaRPr>
          </a:p>
        </p:txBody>
      </p:sp>
      <p:cxnSp>
        <p:nvCxnSpPr>
          <p:cNvPr id="1366" name="Google Shape;1366;p55"/>
          <p:cNvCxnSpPr/>
          <p:nvPr/>
        </p:nvCxnSpPr>
        <p:spPr>
          <a:xfrm>
            <a:off x="507492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367" name="Google Shape;1367;p55"/>
          <p:cNvSpPr/>
          <p:nvPr/>
        </p:nvSpPr>
        <p:spPr>
          <a:xfrm>
            <a:off x="509778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68" name="Google Shape;1368;p55"/>
          <p:cNvSpPr/>
          <p:nvPr/>
        </p:nvSpPr>
        <p:spPr>
          <a:xfrm>
            <a:off x="5303520" y="868680"/>
            <a:ext cx="12801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55"/>
          <p:cNvSpPr/>
          <p:nvPr/>
        </p:nvSpPr>
        <p:spPr>
          <a:xfrm>
            <a:off x="5303520" y="868680"/>
            <a:ext cx="12801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Softmax</a:t>
            </a:r>
            <a:endParaRPr b="0" i="0" sz="1050" u="none" cap="none" strike="noStrike">
              <a:solidFill>
                <a:schemeClr val="dk1"/>
              </a:solidFill>
              <a:latin typeface="Calibri"/>
              <a:ea typeface="Calibri"/>
              <a:cs typeface="Calibri"/>
              <a:sym typeface="Calibri"/>
            </a:endParaRPr>
          </a:p>
        </p:txBody>
      </p:sp>
      <p:cxnSp>
        <p:nvCxnSpPr>
          <p:cNvPr id="1370" name="Google Shape;1370;p55"/>
          <p:cNvCxnSpPr/>
          <p:nvPr/>
        </p:nvCxnSpPr>
        <p:spPr>
          <a:xfrm>
            <a:off x="6583680" y="1120140"/>
            <a:ext cx="228600" cy="0"/>
          </a:xfrm>
          <a:prstGeom prst="straightConnector1">
            <a:avLst/>
          </a:prstGeom>
          <a:noFill/>
          <a:ln cap="flat" cmpd="sng" w="16500">
            <a:solidFill>
              <a:srgbClr val="5A6472"/>
            </a:solidFill>
            <a:prstDash val="solid"/>
            <a:round/>
            <a:headEnd len="sm" w="sm" type="none"/>
            <a:tailEnd len="sm" w="sm" type="none"/>
          </a:ln>
        </p:spPr>
      </p:cxnSp>
      <p:sp>
        <p:nvSpPr>
          <p:cNvPr id="1371" name="Google Shape;1371;p55"/>
          <p:cNvSpPr/>
          <p:nvPr/>
        </p:nvSpPr>
        <p:spPr>
          <a:xfrm>
            <a:off x="6606540" y="987552"/>
            <a:ext cx="183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72" name="Google Shape;1372;p55"/>
          <p:cNvSpPr/>
          <p:nvPr/>
        </p:nvSpPr>
        <p:spPr>
          <a:xfrm>
            <a:off x="6812280" y="868680"/>
            <a:ext cx="1463100" cy="502800"/>
          </a:xfrm>
          <a:prstGeom prst="roundRect">
            <a:avLst>
              <a:gd fmla="val 14545"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55"/>
          <p:cNvSpPr/>
          <p:nvPr/>
        </p:nvSpPr>
        <p:spPr>
          <a:xfrm>
            <a:off x="6812280" y="868680"/>
            <a:ext cx="14631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Attention</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A1A2E"/>
              </a:buClr>
              <a:buSzPts val="1050"/>
              <a:buFont typeface="Calibri"/>
              <a:buNone/>
            </a:pPr>
            <a:r>
              <a:rPr b="1" i="0" lang="en" sz="1050" u="none" cap="none" strike="noStrike">
                <a:solidFill>
                  <a:srgbClr val="1A1A2E"/>
                </a:solidFill>
                <a:latin typeface="Calibri"/>
                <a:ea typeface="Calibri"/>
                <a:cs typeface="Calibri"/>
                <a:sym typeface="Calibri"/>
              </a:rPr>
              <a:t>Output</a:t>
            </a:r>
            <a:endParaRPr b="0" i="0" sz="1050" u="none" cap="none" strike="noStrike">
              <a:solidFill>
                <a:schemeClr val="dk1"/>
              </a:solidFill>
              <a:latin typeface="Calibri"/>
              <a:ea typeface="Calibri"/>
              <a:cs typeface="Calibri"/>
              <a:sym typeface="Calibri"/>
            </a:endParaRPr>
          </a:p>
        </p:txBody>
      </p:sp>
      <p:cxnSp>
        <p:nvCxnSpPr>
          <p:cNvPr id="1374" name="Google Shape;1374;p55"/>
          <p:cNvCxnSpPr/>
          <p:nvPr/>
        </p:nvCxnSpPr>
        <p:spPr>
          <a:xfrm>
            <a:off x="914400" y="1481328"/>
            <a:ext cx="0" cy="274200"/>
          </a:xfrm>
          <a:prstGeom prst="straightConnector1">
            <a:avLst/>
          </a:prstGeom>
          <a:noFill/>
          <a:ln cap="flat" cmpd="sng" w="25400">
            <a:solidFill>
              <a:srgbClr val="00796B"/>
            </a:solidFill>
            <a:prstDash val="solid"/>
            <a:round/>
            <a:headEnd len="sm" w="sm" type="none"/>
            <a:tailEnd len="sm" w="sm" type="none"/>
          </a:ln>
        </p:spPr>
      </p:cxnSp>
      <p:sp>
        <p:nvSpPr>
          <p:cNvPr id="1375" name="Google Shape;1375;p55"/>
          <p:cNvSpPr/>
          <p:nvPr/>
        </p:nvSpPr>
        <p:spPr>
          <a:xfrm>
            <a:off x="785956" y="1419655"/>
            <a:ext cx="183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76" name="Google Shape;1376;p55"/>
          <p:cNvSpPr/>
          <p:nvPr/>
        </p:nvSpPr>
        <p:spPr>
          <a:xfrm>
            <a:off x="320040" y="1755648"/>
            <a:ext cx="1188600" cy="365700"/>
          </a:xfrm>
          <a:prstGeom prst="roundRect">
            <a:avLst>
              <a:gd fmla="val 15000" name="adj"/>
            </a:avLst>
          </a:prstGeom>
          <a:solidFill>
            <a:srgbClr val="E8F5F0"/>
          </a:solidFill>
          <a:ln cap="flat" cmpd="sng" w="152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55"/>
          <p:cNvSpPr/>
          <p:nvPr/>
        </p:nvSpPr>
        <p:spPr>
          <a:xfrm>
            <a:off x="320040" y="1755648"/>
            <a:ext cx="1188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00"/>
              <a:buFont typeface="Calibri"/>
              <a:buNone/>
            </a:pPr>
            <a:r>
              <a:rPr b="1" i="0" lang="en" sz="1000" u="none" cap="none" strike="noStrike">
                <a:solidFill>
                  <a:srgbClr val="00796B"/>
                </a:solidFill>
                <a:latin typeface="Calibri"/>
                <a:ea typeface="Calibri"/>
                <a:cs typeface="Calibri"/>
                <a:sym typeface="Calibri"/>
              </a:rPr>
              <a:t>sin/cos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796B"/>
              </a:buClr>
              <a:buSzPts val="1000"/>
              <a:buFont typeface="Calibri"/>
              <a:buNone/>
            </a:pPr>
            <a:r>
              <a:rPr b="1" i="0" lang="en" sz="1000" u="none" cap="none" strike="noStrike">
                <a:solidFill>
                  <a:srgbClr val="00796B"/>
                </a:solidFill>
                <a:latin typeface="Calibri"/>
                <a:ea typeface="Calibri"/>
                <a:cs typeface="Calibri"/>
                <a:sym typeface="Calibri"/>
              </a:rPr>
              <a:t>Learned PE</a:t>
            </a:r>
            <a:endParaRPr b="0" i="0" sz="1000" u="none" cap="none" strike="noStrike">
              <a:solidFill>
                <a:schemeClr val="dk1"/>
              </a:solidFill>
              <a:latin typeface="Calibri"/>
              <a:ea typeface="Calibri"/>
              <a:cs typeface="Calibri"/>
              <a:sym typeface="Calibri"/>
            </a:endParaRPr>
          </a:p>
        </p:txBody>
      </p:sp>
      <p:cxnSp>
        <p:nvCxnSpPr>
          <p:cNvPr id="1378" name="Google Shape;1378;p55"/>
          <p:cNvCxnSpPr/>
          <p:nvPr/>
        </p:nvCxnSpPr>
        <p:spPr>
          <a:xfrm>
            <a:off x="3398575" y="1481328"/>
            <a:ext cx="0" cy="274200"/>
          </a:xfrm>
          <a:prstGeom prst="straightConnector1">
            <a:avLst/>
          </a:prstGeom>
          <a:noFill/>
          <a:ln cap="flat" cmpd="sng" w="25400">
            <a:solidFill>
              <a:srgbClr val="2E7D32"/>
            </a:solidFill>
            <a:prstDash val="solid"/>
            <a:round/>
            <a:headEnd len="sm" w="sm" type="none"/>
            <a:tailEnd len="sm" w="sm" type="none"/>
          </a:ln>
        </p:spPr>
      </p:cxnSp>
      <p:sp>
        <p:nvSpPr>
          <p:cNvPr id="1379" name="Google Shape;1379;p55"/>
          <p:cNvSpPr/>
          <p:nvPr/>
        </p:nvSpPr>
        <p:spPr>
          <a:xfrm>
            <a:off x="3270131" y="1481328"/>
            <a:ext cx="183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900"/>
              <a:buFont typeface="Calibri"/>
              <a:buNone/>
            </a:pPr>
            <a:r>
              <a:rPr b="0" i="0" lang="en" sz="900" u="none" cap="none" strike="noStrike">
                <a:solidFill>
                  <a:srgbClr val="2E7D32"/>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80" name="Google Shape;1380;p55"/>
          <p:cNvSpPr/>
          <p:nvPr/>
        </p:nvSpPr>
        <p:spPr>
          <a:xfrm>
            <a:off x="2804215" y="1755648"/>
            <a:ext cx="1188600" cy="365700"/>
          </a:xfrm>
          <a:prstGeom prst="roundRect">
            <a:avLst>
              <a:gd fmla="val 15000" name="adj"/>
            </a:avLst>
          </a:prstGeom>
          <a:solidFill>
            <a:srgbClr val="E8F5E9"/>
          </a:solidFill>
          <a:ln cap="flat" cmpd="sng" w="152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55"/>
          <p:cNvSpPr/>
          <p:nvPr/>
        </p:nvSpPr>
        <p:spPr>
          <a:xfrm>
            <a:off x="2804215" y="1755648"/>
            <a:ext cx="1188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000"/>
              <a:buFont typeface="Calibri"/>
              <a:buNone/>
            </a:pPr>
            <a:r>
              <a:rPr b="1" i="0" lang="en" sz="1000" u="none" cap="none" strike="noStrike">
                <a:solidFill>
                  <a:srgbClr val="2E7D32"/>
                </a:solidFill>
                <a:latin typeface="Calibri"/>
                <a:ea typeface="Calibri"/>
                <a:cs typeface="Calibri"/>
                <a:sym typeface="Calibri"/>
              </a:rPr>
              <a:t>RoPE</a:t>
            </a:r>
            <a:endParaRPr b="0" i="0" sz="1000" u="none" cap="none" strike="noStrike">
              <a:solidFill>
                <a:schemeClr val="dk1"/>
              </a:solidFill>
              <a:latin typeface="Calibri"/>
              <a:ea typeface="Calibri"/>
              <a:cs typeface="Calibri"/>
              <a:sym typeface="Calibri"/>
            </a:endParaRPr>
          </a:p>
        </p:txBody>
      </p:sp>
      <p:cxnSp>
        <p:nvCxnSpPr>
          <p:cNvPr id="1382" name="Google Shape;1382;p55"/>
          <p:cNvCxnSpPr/>
          <p:nvPr/>
        </p:nvCxnSpPr>
        <p:spPr>
          <a:xfrm>
            <a:off x="5215863" y="1481328"/>
            <a:ext cx="0" cy="274200"/>
          </a:xfrm>
          <a:prstGeom prst="straightConnector1">
            <a:avLst/>
          </a:prstGeom>
          <a:noFill/>
          <a:ln cap="flat" cmpd="sng" w="25400">
            <a:solidFill>
              <a:srgbClr val="E65100"/>
            </a:solidFill>
            <a:prstDash val="solid"/>
            <a:round/>
            <a:headEnd len="sm" w="sm" type="none"/>
            <a:tailEnd len="sm" w="sm" type="none"/>
          </a:ln>
        </p:spPr>
      </p:cxnSp>
      <p:sp>
        <p:nvSpPr>
          <p:cNvPr id="1383" name="Google Shape;1383;p55"/>
          <p:cNvSpPr/>
          <p:nvPr/>
        </p:nvSpPr>
        <p:spPr>
          <a:xfrm>
            <a:off x="5087419" y="1481328"/>
            <a:ext cx="1830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900"/>
              <a:buFont typeface="Calibri"/>
              <a:buNone/>
            </a:pPr>
            <a:r>
              <a:rPr b="0" i="0" lang="en" sz="900" u="none" cap="none" strike="noStrike">
                <a:solidFill>
                  <a:srgbClr val="E6510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84" name="Google Shape;1384;p55"/>
          <p:cNvSpPr/>
          <p:nvPr/>
        </p:nvSpPr>
        <p:spPr>
          <a:xfrm>
            <a:off x="4621503" y="1755648"/>
            <a:ext cx="1188600" cy="365700"/>
          </a:xfrm>
          <a:prstGeom prst="roundRect">
            <a:avLst>
              <a:gd fmla="val 15000" name="adj"/>
            </a:avLst>
          </a:prstGeom>
          <a:solidFill>
            <a:srgbClr val="FFF3E0"/>
          </a:solidFill>
          <a:ln cap="flat" cmpd="sng" w="152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5"/>
          <p:cNvSpPr/>
          <p:nvPr/>
        </p:nvSpPr>
        <p:spPr>
          <a:xfrm>
            <a:off x="4621503" y="1755648"/>
            <a:ext cx="1188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000"/>
              <a:buFont typeface="Calibri"/>
              <a:buNone/>
            </a:pPr>
            <a:r>
              <a:rPr b="1" i="0" lang="en" sz="1000" u="none" cap="none" strike="noStrike">
                <a:solidFill>
                  <a:srgbClr val="E65100"/>
                </a:solidFill>
                <a:latin typeface="Calibri"/>
                <a:ea typeface="Calibri"/>
                <a:cs typeface="Calibri"/>
                <a:sym typeface="Calibri"/>
              </a:rPr>
              <a:t>ALiBi</a:t>
            </a:r>
            <a:endParaRPr b="0" i="0" sz="1000" u="none" cap="none" strike="noStrike">
              <a:solidFill>
                <a:schemeClr val="dk1"/>
              </a:solidFill>
              <a:latin typeface="Calibri"/>
              <a:ea typeface="Calibri"/>
              <a:cs typeface="Calibri"/>
              <a:sym typeface="Calibri"/>
            </a:endParaRPr>
          </a:p>
        </p:txBody>
      </p:sp>
      <p:sp>
        <p:nvSpPr>
          <p:cNvPr id="1386" name="Google Shape;1386;p55"/>
          <p:cNvSpPr/>
          <p:nvPr/>
        </p:nvSpPr>
        <p:spPr>
          <a:xfrm>
            <a:off x="228600" y="2240280"/>
            <a:ext cx="2788800" cy="2359200"/>
          </a:xfrm>
          <a:prstGeom prst="roundRect">
            <a:avLst>
              <a:gd fmla="val 3876" name="adj"/>
            </a:avLst>
          </a:prstGeom>
          <a:solidFill>
            <a:srgbClr val="FFFFFF"/>
          </a:solidFill>
          <a:ln cap="flat" cmpd="sng" w="17775">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5"/>
          <p:cNvSpPr/>
          <p:nvPr/>
        </p:nvSpPr>
        <p:spPr>
          <a:xfrm>
            <a:off x="365760" y="2313432"/>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300"/>
              <a:buFont typeface="Calibri"/>
              <a:buNone/>
            </a:pPr>
            <a:r>
              <a:rPr b="1" i="0" lang="en" sz="1300" u="none" cap="none" strike="noStrike">
                <a:solidFill>
                  <a:srgbClr val="00796B"/>
                </a:solidFill>
                <a:latin typeface="Calibri"/>
                <a:ea typeface="Calibri"/>
                <a:cs typeface="Calibri"/>
                <a:sym typeface="Calibri"/>
              </a:rPr>
              <a:t>sin/cos &amp; Learned PE</a:t>
            </a:r>
            <a:endParaRPr b="0" i="0" sz="1300" u="none" cap="none" strike="noStrike">
              <a:solidFill>
                <a:schemeClr val="dk1"/>
              </a:solidFill>
              <a:latin typeface="Calibri"/>
              <a:ea typeface="Calibri"/>
              <a:cs typeface="Calibri"/>
              <a:sym typeface="Calibri"/>
            </a:endParaRPr>
          </a:p>
        </p:txBody>
      </p:sp>
      <p:sp>
        <p:nvSpPr>
          <p:cNvPr id="1388" name="Google Shape;1388;p55"/>
          <p:cNvSpPr/>
          <p:nvPr/>
        </p:nvSpPr>
        <p:spPr>
          <a:xfrm>
            <a:off x="365760" y="2569464"/>
            <a:ext cx="2514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Injected at: Token Embedding</a:t>
            </a:r>
            <a:endParaRPr b="0" i="0" sz="900" u="none" cap="none" strike="noStrike">
              <a:solidFill>
                <a:schemeClr val="dk1"/>
              </a:solidFill>
              <a:latin typeface="Calibri"/>
              <a:ea typeface="Calibri"/>
              <a:cs typeface="Calibri"/>
              <a:sym typeface="Calibri"/>
            </a:endParaRPr>
          </a:p>
        </p:txBody>
      </p:sp>
      <p:sp>
        <p:nvSpPr>
          <p:cNvPr id="1389" name="Google Shape;1389;p55"/>
          <p:cNvSpPr/>
          <p:nvPr/>
        </p:nvSpPr>
        <p:spPr>
          <a:xfrm>
            <a:off x="365760" y="2935224"/>
            <a:ext cx="2514600" cy="457200"/>
          </a:xfrm>
          <a:prstGeom prst="roundRect">
            <a:avLst>
              <a:gd fmla="val 12000"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55"/>
          <p:cNvSpPr/>
          <p:nvPr/>
        </p:nvSpPr>
        <p:spPr>
          <a:xfrm>
            <a:off x="411480" y="2944368"/>
            <a:ext cx="24231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50"/>
              <a:buFont typeface="Courier New"/>
              <a:buNone/>
            </a:pPr>
            <a:r>
              <a:rPr b="1" i="0" lang="en" sz="850" u="none" cap="none" strike="noStrike">
                <a:solidFill>
                  <a:srgbClr val="00796B"/>
                </a:solidFill>
                <a:latin typeface="Courier New"/>
                <a:ea typeface="Courier New"/>
                <a:cs typeface="Courier New"/>
                <a:sym typeface="Courier New"/>
              </a:rPr>
              <a:t>x = word_emb + PE(pos)</a:t>
            </a:r>
            <a:endParaRPr b="0" i="0" sz="850" u="none" cap="none" strike="noStrike">
              <a:solidFill>
                <a:schemeClr val="dk1"/>
              </a:solidFill>
              <a:latin typeface="Calibri"/>
              <a:ea typeface="Calibri"/>
              <a:cs typeface="Calibri"/>
              <a:sym typeface="Calibri"/>
            </a:endParaRPr>
          </a:p>
        </p:txBody>
      </p:sp>
      <p:sp>
        <p:nvSpPr>
          <p:cNvPr id="1391" name="Google Shape;1391;p55"/>
          <p:cNvSpPr/>
          <p:nvPr/>
        </p:nvSpPr>
        <p:spPr>
          <a:xfrm>
            <a:off x="365760" y="3465576"/>
            <a:ext cx="2514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Position is mixed into the input vector itself. Everything downstream — Q, K, V, attention, FFN — only ever sees one blended vector. The model must carry position information through the entire forward pass inside the content vector.</a:t>
            </a:r>
            <a:endParaRPr b="0" i="0" sz="870" u="none" cap="none" strike="noStrike">
              <a:solidFill>
                <a:schemeClr val="dk1"/>
              </a:solidFill>
              <a:latin typeface="Calibri"/>
              <a:ea typeface="Calibri"/>
              <a:cs typeface="Calibri"/>
              <a:sym typeface="Calibri"/>
            </a:endParaRPr>
          </a:p>
        </p:txBody>
      </p:sp>
      <p:sp>
        <p:nvSpPr>
          <p:cNvPr id="1392" name="Google Shape;1392;p55"/>
          <p:cNvSpPr/>
          <p:nvPr/>
        </p:nvSpPr>
        <p:spPr>
          <a:xfrm>
            <a:off x="365760" y="4343400"/>
            <a:ext cx="2514600" cy="183000"/>
          </a:xfrm>
          <a:prstGeom prst="roundRect">
            <a:avLst>
              <a:gd fmla="val 50000"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55"/>
          <p:cNvSpPr/>
          <p:nvPr/>
        </p:nvSpPr>
        <p:spPr>
          <a:xfrm>
            <a:off x="365760" y="4343400"/>
            <a:ext cx="2514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850"/>
              <a:buFont typeface="Calibri"/>
              <a:buNone/>
            </a:pPr>
            <a:r>
              <a:rPr b="1" i="0" lang="en" sz="850" u="none" cap="none" strike="noStrike">
                <a:solidFill>
                  <a:srgbClr val="00796B"/>
                </a:solidFill>
                <a:latin typeface="Calibri"/>
                <a:ea typeface="Calibri"/>
                <a:cs typeface="Calibri"/>
                <a:sym typeface="Calibri"/>
              </a:rPr>
              <a:t>Earliest — most indirect</a:t>
            </a:r>
            <a:endParaRPr b="0" i="0" sz="850" u="none" cap="none" strike="noStrike">
              <a:solidFill>
                <a:schemeClr val="dk1"/>
              </a:solidFill>
              <a:latin typeface="Calibri"/>
              <a:ea typeface="Calibri"/>
              <a:cs typeface="Calibri"/>
              <a:sym typeface="Calibri"/>
            </a:endParaRPr>
          </a:p>
        </p:txBody>
      </p:sp>
      <p:sp>
        <p:nvSpPr>
          <p:cNvPr id="1394" name="Google Shape;1394;p55"/>
          <p:cNvSpPr/>
          <p:nvPr/>
        </p:nvSpPr>
        <p:spPr>
          <a:xfrm>
            <a:off x="3136392" y="2240280"/>
            <a:ext cx="2788800" cy="2359200"/>
          </a:xfrm>
          <a:prstGeom prst="roundRect">
            <a:avLst>
              <a:gd fmla="val 3876" name="adj"/>
            </a:avLst>
          </a:prstGeom>
          <a:solidFill>
            <a:srgbClr val="FFFFFF"/>
          </a:solidFill>
          <a:ln cap="flat" cmpd="sng" w="17775">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5"/>
          <p:cNvSpPr/>
          <p:nvPr/>
        </p:nvSpPr>
        <p:spPr>
          <a:xfrm>
            <a:off x="3273552" y="2313432"/>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300"/>
              <a:buFont typeface="Calibri"/>
              <a:buNone/>
            </a:pPr>
            <a:r>
              <a:rPr b="1" i="0" lang="en" sz="1300" u="none" cap="none" strike="noStrike">
                <a:solidFill>
                  <a:srgbClr val="2E7D32"/>
                </a:solidFill>
                <a:latin typeface="Calibri"/>
                <a:ea typeface="Calibri"/>
                <a:cs typeface="Calibri"/>
                <a:sym typeface="Calibri"/>
              </a:rPr>
              <a:t>RoPE</a:t>
            </a:r>
            <a:endParaRPr b="0" i="0" sz="1300" u="none" cap="none" strike="noStrike">
              <a:solidFill>
                <a:schemeClr val="dk1"/>
              </a:solidFill>
              <a:latin typeface="Calibri"/>
              <a:ea typeface="Calibri"/>
              <a:cs typeface="Calibri"/>
              <a:sym typeface="Calibri"/>
            </a:endParaRPr>
          </a:p>
        </p:txBody>
      </p:sp>
      <p:sp>
        <p:nvSpPr>
          <p:cNvPr id="1396" name="Google Shape;1396;p55"/>
          <p:cNvSpPr/>
          <p:nvPr/>
        </p:nvSpPr>
        <p:spPr>
          <a:xfrm>
            <a:off x="3273552" y="2569464"/>
            <a:ext cx="2514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Injected at: Q and K (before dot product)</a:t>
            </a:r>
            <a:endParaRPr b="0" i="0" sz="900" u="none" cap="none" strike="noStrike">
              <a:solidFill>
                <a:schemeClr val="dk1"/>
              </a:solidFill>
              <a:latin typeface="Calibri"/>
              <a:ea typeface="Calibri"/>
              <a:cs typeface="Calibri"/>
              <a:sym typeface="Calibri"/>
            </a:endParaRPr>
          </a:p>
        </p:txBody>
      </p:sp>
      <p:sp>
        <p:nvSpPr>
          <p:cNvPr id="1397" name="Google Shape;1397;p55"/>
          <p:cNvSpPr/>
          <p:nvPr/>
        </p:nvSpPr>
        <p:spPr>
          <a:xfrm>
            <a:off x="3273552" y="2935224"/>
            <a:ext cx="2514600" cy="457200"/>
          </a:xfrm>
          <a:prstGeom prst="roundRect">
            <a:avLst>
              <a:gd fmla="val 12000"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5"/>
          <p:cNvSpPr/>
          <p:nvPr/>
        </p:nvSpPr>
        <p:spPr>
          <a:xfrm>
            <a:off x="3319272" y="2944368"/>
            <a:ext cx="24231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850"/>
              <a:buFont typeface="Courier New"/>
              <a:buNone/>
            </a:pPr>
            <a:r>
              <a:rPr b="1" i="0" lang="en" sz="850" u="none" cap="none" strike="noStrike">
                <a:solidFill>
                  <a:srgbClr val="2E7D32"/>
                </a:solidFill>
                <a:latin typeface="Courier New"/>
                <a:ea typeface="Courier New"/>
                <a:cs typeface="Courier New"/>
                <a:sym typeface="Courier New"/>
              </a:rPr>
              <a:t>q'ᵢ = R(i·θ)·qᵢ      k'ⱼ = R(j·θ)·kⱼ</a:t>
            </a:r>
            <a:endParaRPr b="0" i="0" sz="850" u="none" cap="none" strike="noStrike">
              <a:solidFill>
                <a:schemeClr val="dk1"/>
              </a:solidFill>
              <a:latin typeface="Calibri"/>
              <a:ea typeface="Calibri"/>
              <a:cs typeface="Calibri"/>
              <a:sym typeface="Calibri"/>
            </a:endParaRPr>
          </a:p>
        </p:txBody>
      </p:sp>
      <p:sp>
        <p:nvSpPr>
          <p:cNvPr id="1399" name="Google Shape;1399;p55"/>
          <p:cNvSpPr/>
          <p:nvPr/>
        </p:nvSpPr>
        <p:spPr>
          <a:xfrm>
            <a:off x="3273552" y="3465576"/>
            <a:ext cx="2514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Embeddings and V are untouched. Only Q and K get rotated by their position right before being compared. The relative position (i−j) emerges directly inside the dot product q'ᵢ·k'ⱼ.</a:t>
            </a:r>
            <a:endParaRPr b="0" i="0" sz="870" u="none" cap="none" strike="noStrike">
              <a:solidFill>
                <a:schemeClr val="dk1"/>
              </a:solidFill>
              <a:latin typeface="Calibri"/>
              <a:ea typeface="Calibri"/>
              <a:cs typeface="Calibri"/>
              <a:sym typeface="Calibri"/>
            </a:endParaRPr>
          </a:p>
        </p:txBody>
      </p:sp>
      <p:sp>
        <p:nvSpPr>
          <p:cNvPr id="1400" name="Google Shape;1400;p55"/>
          <p:cNvSpPr/>
          <p:nvPr/>
        </p:nvSpPr>
        <p:spPr>
          <a:xfrm>
            <a:off x="3273552" y="4343400"/>
            <a:ext cx="2514600" cy="183000"/>
          </a:xfrm>
          <a:prstGeom prst="roundRect">
            <a:avLst>
              <a:gd fmla="val 50000"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5"/>
          <p:cNvSpPr/>
          <p:nvPr/>
        </p:nvSpPr>
        <p:spPr>
          <a:xfrm>
            <a:off x="3273552" y="4343400"/>
            <a:ext cx="2514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850"/>
              <a:buFont typeface="Calibri"/>
              <a:buNone/>
            </a:pPr>
            <a:r>
              <a:rPr b="1" i="0" lang="en" sz="850" u="none" cap="none" strike="noStrike">
                <a:solidFill>
                  <a:srgbClr val="2E7D32"/>
                </a:solidFill>
                <a:latin typeface="Calibri"/>
                <a:ea typeface="Calibri"/>
                <a:cs typeface="Calibri"/>
                <a:sym typeface="Calibri"/>
              </a:rPr>
              <a:t>Middle — most elegant</a:t>
            </a:r>
            <a:endParaRPr b="0" i="0" sz="850" u="none" cap="none" strike="noStrike">
              <a:solidFill>
                <a:schemeClr val="dk1"/>
              </a:solidFill>
              <a:latin typeface="Calibri"/>
              <a:ea typeface="Calibri"/>
              <a:cs typeface="Calibri"/>
              <a:sym typeface="Calibri"/>
            </a:endParaRPr>
          </a:p>
        </p:txBody>
      </p:sp>
      <p:sp>
        <p:nvSpPr>
          <p:cNvPr id="1402" name="Google Shape;1402;p55"/>
          <p:cNvSpPr/>
          <p:nvPr/>
        </p:nvSpPr>
        <p:spPr>
          <a:xfrm>
            <a:off x="6044184" y="2240280"/>
            <a:ext cx="2788800" cy="2359200"/>
          </a:xfrm>
          <a:prstGeom prst="roundRect">
            <a:avLst>
              <a:gd fmla="val 3876" name="adj"/>
            </a:avLst>
          </a:prstGeom>
          <a:solidFill>
            <a:srgbClr val="FFFFFF"/>
          </a:solidFill>
          <a:ln cap="flat" cmpd="sng" w="17775">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5"/>
          <p:cNvSpPr/>
          <p:nvPr/>
        </p:nvSpPr>
        <p:spPr>
          <a:xfrm>
            <a:off x="6181344" y="2313432"/>
            <a:ext cx="251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00"/>
              <a:buFont typeface="Calibri"/>
              <a:buNone/>
            </a:pPr>
            <a:r>
              <a:rPr b="1" i="0" lang="en" sz="1300" u="none" cap="none" strike="noStrike">
                <a:solidFill>
                  <a:srgbClr val="E65100"/>
                </a:solidFill>
                <a:latin typeface="Calibri"/>
                <a:ea typeface="Calibri"/>
                <a:cs typeface="Calibri"/>
                <a:sym typeface="Calibri"/>
              </a:rPr>
              <a:t>ALiBi</a:t>
            </a:r>
            <a:endParaRPr b="0" i="0" sz="1300" u="none" cap="none" strike="noStrike">
              <a:solidFill>
                <a:schemeClr val="dk1"/>
              </a:solidFill>
              <a:latin typeface="Calibri"/>
              <a:ea typeface="Calibri"/>
              <a:cs typeface="Calibri"/>
              <a:sym typeface="Calibri"/>
            </a:endParaRPr>
          </a:p>
        </p:txBody>
      </p:sp>
      <p:sp>
        <p:nvSpPr>
          <p:cNvPr id="1404" name="Google Shape;1404;p55"/>
          <p:cNvSpPr/>
          <p:nvPr/>
        </p:nvSpPr>
        <p:spPr>
          <a:xfrm>
            <a:off x="6181344" y="2569464"/>
            <a:ext cx="2514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Injected at: Attention score (after dot product)</a:t>
            </a:r>
            <a:endParaRPr b="0" i="0" sz="900" u="none" cap="none" strike="noStrike">
              <a:solidFill>
                <a:schemeClr val="dk1"/>
              </a:solidFill>
              <a:latin typeface="Calibri"/>
              <a:ea typeface="Calibri"/>
              <a:cs typeface="Calibri"/>
              <a:sym typeface="Calibri"/>
            </a:endParaRPr>
          </a:p>
        </p:txBody>
      </p:sp>
      <p:sp>
        <p:nvSpPr>
          <p:cNvPr id="1405" name="Google Shape;1405;p55"/>
          <p:cNvSpPr/>
          <p:nvPr/>
        </p:nvSpPr>
        <p:spPr>
          <a:xfrm>
            <a:off x="6181344" y="2935224"/>
            <a:ext cx="2514600" cy="457200"/>
          </a:xfrm>
          <a:prstGeom prst="roundRect">
            <a:avLst>
              <a:gd fmla="val 12000"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55"/>
          <p:cNvSpPr/>
          <p:nvPr/>
        </p:nvSpPr>
        <p:spPr>
          <a:xfrm>
            <a:off x="6227064" y="2944368"/>
            <a:ext cx="24231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850"/>
              <a:buFont typeface="Courier New"/>
              <a:buNone/>
            </a:pPr>
            <a:r>
              <a:rPr b="1" i="0" lang="en" sz="850" u="none" cap="none" strike="noStrike">
                <a:solidFill>
                  <a:srgbClr val="E65100"/>
                </a:solidFill>
                <a:latin typeface="Courier New"/>
                <a:ea typeface="Courier New"/>
                <a:cs typeface="Courier New"/>
                <a:sym typeface="Courier New"/>
              </a:rPr>
              <a:t>score(i,j) = qᵢ·kⱼ − m·|i−j|</a:t>
            </a:r>
            <a:endParaRPr b="0" i="0" sz="850" u="none" cap="none" strike="noStrike">
              <a:solidFill>
                <a:schemeClr val="dk1"/>
              </a:solidFill>
              <a:latin typeface="Calibri"/>
              <a:ea typeface="Calibri"/>
              <a:cs typeface="Calibri"/>
              <a:sym typeface="Calibri"/>
            </a:endParaRPr>
          </a:p>
        </p:txBody>
      </p:sp>
      <p:sp>
        <p:nvSpPr>
          <p:cNvPr id="1407" name="Google Shape;1407;p55"/>
          <p:cNvSpPr/>
          <p:nvPr/>
        </p:nvSpPr>
        <p:spPr>
          <a:xfrm>
            <a:off x="6181344" y="3465576"/>
            <a:ext cx="2514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870"/>
              <a:buFont typeface="Calibri"/>
              <a:buNone/>
            </a:pPr>
            <a:r>
              <a:rPr b="0" i="0" lang="en" sz="870" u="none" cap="none" strike="noStrike">
                <a:solidFill>
                  <a:srgbClr val="1A1A2E"/>
                </a:solidFill>
                <a:latin typeface="Calibri"/>
                <a:ea typeface="Calibri"/>
                <a:cs typeface="Calibri"/>
                <a:sym typeface="Calibri"/>
              </a:rPr>
              <a:t>Q, K, V are computed completely normally — no rotation, no embedding change. Only the final scalar attention score gets a distance penalty subtracted, right before softmax.</a:t>
            </a:r>
            <a:endParaRPr b="0" i="0" sz="870" u="none" cap="none" strike="noStrike">
              <a:solidFill>
                <a:schemeClr val="dk1"/>
              </a:solidFill>
              <a:latin typeface="Calibri"/>
              <a:ea typeface="Calibri"/>
              <a:cs typeface="Calibri"/>
              <a:sym typeface="Calibri"/>
            </a:endParaRPr>
          </a:p>
        </p:txBody>
      </p:sp>
      <p:sp>
        <p:nvSpPr>
          <p:cNvPr id="1408" name="Google Shape;1408;p55"/>
          <p:cNvSpPr/>
          <p:nvPr/>
        </p:nvSpPr>
        <p:spPr>
          <a:xfrm>
            <a:off x="6181344" y="4343400"/>
            <a:ext cx="2514600" cy="183000"/>
          </a:xfrm>
          <a:prstGeom prst="roundRect">
            <a:avLst>
              <a:gd fmla="val 50000"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5"/>
          <p:cNvSpPr/>
          <p:nvPr/>
        </p:nvSpPr>
        <p:spPr>
          <a:xfrm>
            <a:off x="6181344" y="4343400"/>
            <a:ext cx="25146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50"/>
              <a:buFont typeface="Calibri"/>
              <a:buNone/>
            </a:pPr>
            <a:r>
              <a:rPr b="1" i="0" lang="en" sz="850" u="none" cap="none" strike="noStrike">
                <a:solidFill>
                  <a:srgbClr val="E65100"/>
                </a:solidFill>
                <a:latin typeface="Calibri"/>
                <a:ea typeface="Calibri"/>
                <a:cs typeface="Calibri"/>
                <a:sym typeface="Calibri"/>
              </a:rPr>
              <a:t>Latest — simplest</a:t>
            </a:r>
            <a:endParaRPr b="0" i="0" sz="850" u="none" cap="none" strike="noStrike">
              <a:solidFill>
                <a:schemeClr val="dk1"/>
              </a:solidFill>
              <a:latin typeface="Calibri"/>
              <a:ea typeface="Calibri"/>
              <a:cs typeface="Calibri"/>
              <a:sym typeface="Calibri"/>
            </a:endParaRPr>
          </a:p>
        </p:txBody>
      </p:sp>
      <p:sp>
        <p:nvSpPr>
          <p:cNvPr id="1410" name="Google Shape;1410;p55"/>
          <p:cNvSpPr/>
          <p:nvPr/>
        </p:nvSpPr>
        <p:spPr>
          <a:xfrm>
            <a:off x="228600" y="4718304"/>
            <a:ext cx="8686800" cy="530400"/>
          </a:xfrm>
          <a:prstGeom prst="roundRect">
            <a:avLst>
              <a:gd fmla="val 13793" name="adj"/>
            </a:avLst>
          </a:prstGeom>
          <a:solidFill>
            <a:srgbClr val="F3E5F5"/>
          </a:solidFill>
          <a:ln cap="flat" cmpd="sng" w="152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5"/>
          <p:cNvSpPr/>
          <p:nvPr/>
        </p:nvSpPr>
        <p:spPr>
          <a:xfrm>
            <a:off x="411480" y="4718304"/>
            <a:ext cx="83211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Key distinction:  </a:t>
            </a:r>
            <a:r>
              <a:rPr b="0" i="0" lang="en" sz="1100" u="none" cap="none" strike="noStrike">
                <a:solidFill>
                  <a:srgbClr val="1A1A2E"/>
                </a:solidFill>
                <a:latin typeface="Calibri"/>
                <a:ea typeface="Calibri"/>
                <a:cs typeface="Calibri"/>
                <a:sym typeface="Calibri"/>
              </a:rPr>
              <a:t>RoPE rotates </a:t>
            </a:r>
            <a:r>
              <a:rPr b="1" i="0" lang="en" sz="1100" u="none" cap="none" strike="noStrike">
                <a:solidFill>
                  <a:srgbClr val="2E7D32"/>
                </a:solidFill>
                <a:latin typeface="Calibri"/>
                <a:ea typeface="Calibri"/>
                <a:cs typeface="Calibri"/>
                <a:sym typeface="Calibri"/>
              </a:rPr>
              <a:t>Q and K</a:t>
            </a:r>
            <a:r>
              <a:rPr b="0" i="0" lang="en" sz="1100" u="none" cap="none" strike="noStrike">
                <a:solidFill>
                  <a:srgbClr val="1A1A2E"/>
                </a:solidFill>
                <a:latin typeface="Calibri"/>
                <a:ea typeface="Calibri"/>
                <a:cs typeface="Calibri"/>
                <a:sym typeface="Calibri"/>
              </a:rPr>
              <a:t> before the dot product — it never touches the embedding or V. ALiBi only touches the </a:t>
            </a:r>
            <a:r>
              <a:rPr b="1" i="0" lang="en" sz="1100" u="none" cap="none" strike="noStrike">
                <a:solidFill>
                  <a:srgbClr val="E65100"/>
                </a:solidFill>
                <a:latin typeface="Calibri"/>
                <a:ea typeface="Calibri"/>
                <a:cs typeface="Calibri"/>
                <a:sym typeface="Calibri"/>
              </a:rPr>
              <a:t>final score</a:t>
            </a:r>
            <a:r>
              <a:rPr b="0" i="0" lang="en" sz="1100" u="none" cap="none" strike="noStrike">
                <a:solidFill>
                  <a:srgbClr val="1A1A2E"/>
                </a:solidFill>
                <a:latin typeface="Calibri"/>
                <a:ea typeface="Calibri"/>
                <a:cs typeface="Calibri"/>
                <a:sym typeface="Calibri"/>
              </a:rPr>
              <a:t>, after the dot product.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5" name="Shape 1415"/>
        <p:cNvGrpSpPr/>
        <p:nvPr/>
      </p:nvGrpSpPr>
      <p:grpSpPr>
        <a:xfrm>
          <a:off x="0" y="0"/>
          <a:ext cx="0" cy="0"/>
          <a:chOff x="0" y="0"/>
          <a:chExt cx="0" cy="0"/>
        </a:xfrm>
      </p:grpSpPr>
      <p:sp>
        <p:nvSpPr>
          <p:cNvPr descr="$PPTXTitle" id="1416" name="Google Shape;1416;p56"/>
          <p:cNvSpPr txBox="1"/>
          <p:nvPr>
            <p:ph type="title"/>
          </p:nvPr>
        </p:nvSpPr>
        <p:spPr>
          <a:xfrm>
            <a:off x="33956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The Transformer (Decoder)</a:t>
            </a:r>
            <a:endParaRPr sz="2800">
              <a:solidFill>
                <a:schemeClr val="dk1"/>
              </a:solidFill>
            </a:endParaRPr>
          </a:p>
        </p:txBody>
      </p:sp>
      <p:pic>
        <p:nvPicPr>
          <p:cNvPr id="1417" name="Google Shape;1417;p56"/>
          <p:cNvPicPr preferRelativeResize="0"/>
          <p:nvPr/>
        </p:nvPicPr>
        <p:blipFill rotWithShape="1">
          <a:blip r:embed="rId4">
            <a:alphaModFix/>
          </a:blip>
          <a:srcRect b="0" l="0" r="0" t="0"/>
          <a:stretch/>
        </p:blipFill>
        <p:spPr>
          <a:xfrm>
            <a:off x="974425" y="925100"/>
            <a:ext cx="6734649" cy="4218400"/>
          </a:xfrm>
          <a:prstGeom prst="rect">
            <a:avLst/>
          </a:prstGeom>
          <a:noFill/>
          <a:ln>
            <a:noFill/>
          </a:ln>
        </p:spPr>
      </p:pic>
      <p:pic>
        <p:nvPicPr>
          <p:cNvPr id="1418" name="Google Shape;1418;p56"/>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3" name="Shape 1423"/>
        <p:cNvGrpSpPr/>
        <p:nvPr/>
      </p:nvGrpSpPr>
      <p:grpSpPr>
        <a:xfrm>
          <a:off x="0" y="0"/>
          <a:ext cx="0" cy="0"/>
          <a:chOff x="0" y="0"/>
          <a:chExt cx="0" cy="0"/>
        </a:xfrm>
      </p:grpSpPr>
      <p:sp>
        <p:nvSpPr>
          <p:cNvPr id="1424" name="Google Shape;1424;p57"/>
          <p:cNvSpPr/>
          <p:nvPr/>
        </p:nvSpPr>
        <p:spPr>
          <a:xfrm>
            <a:off x="320040" y="128016"/>
            <a:ext cx="8138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600" u="none" cap="none" strike="noStrike">
                <a:solidFill>
                  <a:srgbClr val="1B3A6B"/>
                </a:solidFill>
                <a:latin typeface="Calibri"/>
                <a:ea typeface="Calibri"/>
                <a:cs typeface="Calibri"/>
                <a:sym typeface="Calibri"/>
              </a:rPr>
              <a:t>The Complete Transformer Decoder — Summary</a:t>
            </a:r>
            <a:endParaRPr b="0" i="0" sz="2600" u="none" cap="none" strike="noStrike">
              <a:solidFill>
                <a:schemeClr val="dk1"/>
              </a:solidFill>
              <a:latin typeface="Calibri"/>
              <a:ea typeface="Calibri"/>
              <a:cs typeface="Calibri"/>
              <a:sym typeface="Calibri"/>
            </a:endParaRPr>
          </a:p>
        </p:txBody>
      </p:sp>
      <p:sp>
        <p:nvSpPr>
          <p:cNvPr id="1425" name="Google Shape;1425;p57"/>
          <p:cNvSpPr/>
          <p:nvPr/>
        </p:nvSpPr>
        <p:spPr>
          <a:xfrm>
            <a:off x="63175" y="1371600"/>
            <a:ext cx="2882700" cy="1453500"/>
          </a:xfrm>
          <a:prstGeom prst="rect">
            <a:avLst/>
          </a:prstGeom>
          <a:noFill/>
          <a:ln cap="flat" cmpd="sng" w="9525">
            <a:solidFill>
              <a:srgbClr val="C55A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7"/>
          <p:cNvSpPr/>
          <p:nvPr/>
        </p:nvSpPr>
        <p:spPr>
          <a:xfrm>
            <a:off x="554664" y="144135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Masked Self-Attention</a:t>
            </a:r>
            <a:endParaRPr b="0" i="0" sz="1000" u="none" cap="none" strike="noStrike">
              <a:solidFill>
                <a:schemeClr val="dk1"/>
              </a:solidFill>
              <a:latin typeface="Calibri"/>
              <a:ea typeface="Calibri"/>
              <a:cs typeface="Calibri"/>
              <a:sym typeface="Calibri"/>
            </a:endParaRPr>
          </a:p>
        </p:txBody>
      </p:sp>
      <p:sp>
        <p:nvSpPr>
          <p:cNvPr id="1427" name="Google Shape;1427;p57"/>
          <p:cNvSpPr/>
          <p:nvPr/>
        </p:nvSpPr>
        <p:spPr>
          <a:xfrm>
            <a:off x="157692" y="1929662"/>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Causal mask: attend only to past tokens. Prevents future leakage during training.</a:t>
            </a:r>
            <a:endParaRPr b="0" i="0" sz="900" u="none" cap="none" strike="noStrike">
              <a:solidFill>
                <a:schemeClr val="dk1"/>
              </a:solidFill>
              <a:latin typeface="Calibri"/>
              <a:ea typeface="Calibri"/>
              <a:cs typeface="Calibri"/>
              <a:sym typeface="Calibri"/>
            </a:endParaRPr>
          </a:p>
        </p:txBody>
      </p:sp>
      <p:sp>
        <p:nvSpPr>
          <p:cNvPr id="1428" name="Google Shape;1428;p57"/>
          <p:cNvSpPr/>
          <p:nvPr/>
        </p:nvSpPr>
        <p:spPr>
          <a:xfrm>
            <a:off x="3106622" y="1371600"/>
            <a:ext cx="2882700" cy="1453500"/>
          </a:xfrm>
          <a:prstGeom prst="rect">
            <a:avLst/>
          </a:prstGeom>
          <a:noFill/>
          <a:ln cap="flat" cmpd="sng" w="9525">
            <a:solidFill>
              <a:srgbClr val="70A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57"/>
          <p:cNvSpPr/>
          <p:nvPr/>
        </p:nvSpPr>
        <p:spPr>
          <a:xfrm>
            <a:off x="3598111" y="144135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Cross-Attention</a:t>
            </a:r>
            <a:endParaRPr b="0" i="0" sz="1000" u="none" cap="none" strike="noStrike">
              <a:solidFill>
                <a:schemeClr val="dk1"/>
              </a:solidFill>
              <a:latin typeface="Calibri"/>
              <a:ea typeface="Calibri"/>
              <a:cs typeface="Calibri"/>
              <a:sym typeface="Calibri"/>
            </a:endParaRPr>
          </a:p>
        </p:txBody>
      </p:sp>
      <p:sp>
        <p:nvSpPr>
          <p:cNvPr id="1430" name="Google Shape;1430;p57"/>
          <p:cNvSpPr/>
          <p:nvPr/>
        </p:nvSpPr>
        <p:spPr>
          <a:xfrm>
            <a:off x="3201139" y="1929662"/>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Q from decoder, K/V from encoder. Dynamically reads source context.</a:t>
            </a:r>
            <a:endParaRPr b="0" i="0" sz="900" u="none" cap="none" strike="noStrike">
              <a:solidFill>
                <a:schemeClr val="dk1"/>
              </a:solidFill>
              <a:latin typeface="Calibri"/>
              <a:ea typeface="Calibri"/>
              <a:cs typeface="Calibri"/>
              <a:sym typeface="Calibri"/>
            </a:endParaRPr>
          </a:p>
        </p:txBody>
      </p:sp>
      <p:sp>
        <p:nvSpPr>
          <p:cNvPr id="1431" name="Google Shape;1431;p57"/>
          <p:cNvSpPr/>
          <p:nvPr/>
        </p:nvSpPr>
        <p:spPr>
          <a:xfrm>
            <a:off x="6150070" y="1371600"/>
            <a:ext cx="2882700" cy="1453500"/>
          </a:xfrm>
          <a:prstGeom prst="rect">
            <a:avLst/>
          </a:prstGeom>
          <a:no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7"/>
          <p:cNvSpPr/>
          <p:nvPr/>
        </p:nvSpPr>
        <p:spPr>
          <a:xfrm>
            <a:off x="6641558" y="144135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Feed-Forward (FFN)</a:t>
            </a:r>
            <a:endParaRPr b="0" i="0" sz="1000" u="none" cap="none" strike="noStrike">
              <a:solidFill>
                <a:schemeClr val="dk1"/>
              </a:solidFill>
              <a:latin typeface="Calibri"/>
              <a:ea typeface="Calibri"/>
              <a:cs typeface="Calibri"/>
              <a:sym typeface="Calibri"/>
            </a:endParaRPr>
          </a:p>
        </p:txBody>
      </p:sp>
      <p:sp>
        <p:nvSpPr>
          <p:cNvPr id="1433" name="Google Shape;1433;p57"/>
          <p:cNvSpPr/>
          <p:nvPr/>
        </p:nvSpPr>
        <p:spPr>
          <a:xfrm>
            <a:off x="6244587" y="1929662"/>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Two-layer MLP with ReLU, applied per token. d_ff = 4 x d_model.</a:t>
            </a:r>
            <a:endParaRPr b="0" i="0" sz="900" u="none" cap="none" strike="noStrike">
              <a:solidFill>
                <a:schemeClr val="dk1"/>
              </a:solidFill>
              <a:latin typeface="Calibri"/>
              <a:ea typeface="Calibri"/>
              <a:cs typeface="Calibri"/>
              <a:sym typeface="Calibri"/>
            </a:endParaRPr>
          </a:p>
        </p:txBody>
      </p:sp>
      <p:sp>
        <p:nvSpPr>
          <p:cNvPr id="1434" name="Google Shape;1434;p57"/>
          <p:cNvSpPr/>
          <p:nvPr/>
        </p:nvSpPr>
        <p:spPr>
          <a:xfrm>
            <a:off x="63175" y="2941151"/>
            <a:ext cx="2882700" cy="1453500"/>
          </a:xfrm>
          <a:prstGeom prst="rect">
            <a:avLst/>
          </a:prstGeom>
          <a:noFill/>
          <a:ln cap="flat" cmpd="sng" w="9525">
            <a:solidFill>
              <a:srgbClr val="F0C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7"/>
          <p:cNvSpPr/>
          <p:nvPr/>
        </p:nvSpPr>
        <p:spPr>
          <a:xfrm>
            <a:off x="554664" y="301090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Add &amp; Norm</a:t>
            </a:r>
            <a:endParaRPr b="0" i="0" sz="1000" u="none" cap="none" strike="noStrike">
              <a:solidFill>
                <a:schemeClr val="dk1"/>
              </a:solidFill>
              <a:latin typeface="Calibri"/>
              <a:ea typeface="Calibri"/>
              <a:cs typeface="Calibri"/>
              <a:sym typeface="Calibri"/>
            </a:endParaRPr>
          </a:p>
        </p:txBody>
      </p:sp>
      <p:sp>
        <p:nvSpPr>
          <p:cNvPr id="1436" name="Google Shape;1436;p57"/>
          <p:cNvSpPr/>
          <p:nvPr/>
        </p:nvSpPr>
        <p:spPr>
          <a:xfrm>
            <a:off x="157692" y="3499213"/>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Residual + LayerNorm after every sub-layer. Stabilises training.</a:t>
            </a:r>
            <a:endParaRPr b="0" i="0" sz="900" u="none" cap="none" strike="noStrike">
              <a:solidFill>
                <a:schemeClr val="dk1"/>
              </a:solidFill>
              <a:latin typeface="Calibri"/>
              <a:ea typeface="Calibri"/>
              <a:cs typeface="Calibri"/>
              <a:sym typeface="Calibri"/>
            </a:endParaRPr>
          </a:p>
        </p:txBody>
      </p:sp>
      <p:sp>
        <p:nvSpPr>
          <p:cNvPr id="1437" name="Google Shape;1437;p57"/>
          <p:cNvSpPr/>
          <p:nvPr/>
        </p:nvSpPr>
        <p:spPr>
          <a:xfrm>
            <a:off x="3106622" y="2941151"/>
            <a:ext cx="2882700" cy="1453500"/>
          </a:xfrm>
          <a:prstGeom prst="rect">
            <a:avLst/>
          </a:prstGeom>
          <a:noFill/>
          <a:ln cap="flat" cmpd="sng" w="9525">
            <a:solidFill>
              <a:srgbClr val="9966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7"/>
          <p:cNvSpPr/>
          <p:nvPr/>
        </p:nvSpPr>
        <p:spPr>
          <a:xfrm>
            <a:off x="3598111" y="301090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Positional Encoding</a:t>
            </a:r>
            <a:endParaRPr b="0" i="0" sz="1000" u="none" cap="none" strike="noStrike">
              <a:solidFill>
                <a:schemeClr val="dk1"/>
              </a:solidFill>
              <a:latin typeface="Calibri"/>
              <a:ea typeface="Calibri"/>
              <a:cs typeface="Calibri"/>
              <a:sym typeface="Calibri"/>
            </a:endParaRPr>
          </a:p>
        </p:txBody>
      </p:sp>
      <p:sp>
        <p:nvSpPr>
          <p:cNvPr id="1439" name="Google Shape;1439;p57"/>
          <p:cNvSpPr/>
          <p:nvPr/>
        </p:nvSpPr>
        <p:spPr>
          <a:xfrm>
            <a:off x="3201139" y="3499213"/>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Sine/cosine vectors injected into embeddings. Order-aware attention.</a:t>
            </a:r>
            <a:endParaRPr b="0" i="0" sz="900" u="none" cap="none" strike="noStrike">
              <a:solidFill>
                <a:schemeClr val="dk1"/>
              </a:solidFill>
              <a:latin typeface="Calibri"/>
              <a:ea typeface="Calibri"/>
              <a:cs typeface="Calibri"/>
              <a:sym typeface="Calibri"/>
            </a:endParaRPr>
          </a:p>
        </p:txBody>
      </p:sp>
      <p:sp>
        <p:nvSpPr>
          <p:cNvPr id="1440" name="Google Shape;1440;p57"/>
          <p:cNvSpPr/>
          <p:nvPr/>
        </p:nvSpPr>
        <p:spPr>
          <a:xfrm>
            <a:off x="6150070" y="2941151"/>
            <a:ext cx="2882700" cy="1453500"/>
          </a:xfrm>
          <a:prstGeom prst="rect">
            <a:avLst/>
          </a:prstGeom>
          <a:noFill/>
          <a:ln cap="flat" cmpd="sng" w="9525">
            <a:solidFill>
              <a:srgbClr val="70A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7"/>
          <p:cNvSpPr/>
          <p:nvPr/>
        </p:nvSpPr>
        <p:spPr>
          <a:xfrm>
            <a:off x="6641558" y="3010908"/>
            <a:ext cx="2315700" cy="41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00"/>
              <a:buFont typeface="Calibri"/>
              <a:buNone/>
            </a:pPr>
            <a:r>
              <a:rPr b="1" i="0" lang="en" sz="1000" u="none" cap="none" strike="noStrike">
                <a:solidFill>
                  <a:schemeClr val="dk1"/>
                </a:solidFill>
                <a:latin typeface="Calibri"/>
                <a:ea typeface="Calibri"/>
                <a:cs typeface="Calibri"/>
                <a:sym typeface="Calibri"/>
              </a:rPr>
              <a:t>Autoregressive Loop</a:t>
            </a:r>
            <a:endParaRPr b="0" i="0" sz="1000" u="none" cap="none" strike="noStrike">
              <a:solidFill>
                <a:schemeClr val="dk1"/>
              </a:solidFill>
              <a:latin typeface="Calibri"/>
              <a:ea typeface="Calibri"/>
              <a:cs typeface="Calibri"/>
              <a:sym typeface="Calibri"/>
            </a:endParaRPr>
          </a:p>
        </p:txBody>
      </p:sp>
      <p:sp>
        <p:nvSpPr>
          <p:cNvPr id="1442" name="Google Shape;1442;p57"/>
          <p:cNvSpPr/>
          <p:nvPr/>
        </p:nvSpPr>
        <p:spPr>
          <a:xfrm>
            <a:off x="6244587" y="3499213"/>
            <a:ext cx="2684400" cy="83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900"/>
              <a:buFont typeface="Calibri"/>
              <a:buNone/>
            </a:pPr>
            <a:r>
              <a:rPr b="0" i="0" lang="en" sz="900" u="none" cap="none" strike="noStrike">
                <a:solidFill>
                  <a:srgbClr val="333333"/>
                </a:solidFill>
                <a:latin typeface="Calibri"/>
                <a:ea typeface="Calibri"/>
                <a:cs typeface="Calibri"/>
                <a:sym typeface="Calibri"/>
              </a:rPr>
              <a:t>One token per step. Append and repeat until &lt;EOS&gt; or max length.</a:t>
            </a:r>
            <a:endParaRPr b="0" i="0" sz="900" u="none" cap="none" strike="noStrike">
              <a:solidFill>
                <a:schemeClr val="dk1"/>
              </a:solidFill>
              <a:latin typeface="Calibri"/>
              <a:ea typeface="Calibri"/>
              <a:cs typeface="Calibri"/>
              <a:sym typeface="Calibri"/>
            </a:endParaRPr>
          </a:p>
        </p:txBody>
      </p:sp>
      <p:pic>
        <p:nvPicPr>
          <p:cNvPr id="1443" name="Google Shape;1443;p57"/>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8" name="Shape 1448"/>
        <p:cNvGrpSpPr/>
        <p:nvPr/>
      </p:nvGrpSpPr>
      <p:grpSpPr>
        <a:xfrm>
          <a:off x="0" y="0"/>
          <a:ext cx="0" cy="0"/>
          <a:chOff x="0" y="0"/>
          <a:chExt cx="0" cy="0"/>
        </a:xfrm>
      </p:grpSpPr>
      <p:sp>
        <p:nvSpPr>
          <p:cNvPr id="1449" name="Google Shape;1449;p58"/>
          <p:cNvSpPr/>
          <p:nvPr/>
        </p:nvSpPr>
        <p:spPr>
          <a:xfrm>
            <a:off x="1325873" y="109625"/>
            <a:ext cx="6882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800" u="none" cap="none" strike="noStrike">
                <a:solidFill>
                  <a:schemeClr val="dk1"/>
                </a:solidFill>
                <a:latin typeface="Calibri"/>
                <a:ea typeface="Calibri"/>
                <a:cs typeface="Calibri"/>
                <a:sym typeface="Calibri"/>
              </a:rPr>
              <a:t>Autoregressive Generation: The Decoder Loop</a:t>
            </a:r>
            <a:endParaRPr b="0" i="0" sz="2800" u="none" cap="none" strike="noStrike">
              <a:solidFill>
                <a:schemeClr val="dk1"/>
              </a:solidFill>
              <a:latin typeface="Calibri"/>
              <a:ea typeface="Calibri"/>
              <a:cs typeface="Calibri"/>
              <a:sym typeface="Calibri"/>
            </a:endParaRPr>
          </a:p>
        </p:txBody>
      </p:sp>
      <p:sp>
        <p:nvSpPr>
          <p:cNvPr id="1450" name="Google Shape;1450;p58"/>
          <p:cNvSpPr/>
          <p:nvPr/>
        </p:nvSpPr>
        <p:spPr>
          <a:xfrm>
            <a:off x="1185000" y="832188"/>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451" name="Google Shape;1451;p58"/>
          <p:cNvSpPr/>
          <p:nvPr/>
        </p:nvSpPr>
        <p:spPr>
          <a:xfrm>
            <a:off x="1592874" y="875888"/>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Start Token</a:t>
            </a:r>
            <a:endParaRPr b="0" i="0" sz="876" u="none" cap="none" strike="noStrike">
              <a:solidFill>
                <a:schemeClr val="dk1"/>
              </a:solidFill>
              <a:latin typeface="Calibri"/>
              <a:ea typeface="Calibri"/>
              <a:cs typeface="Calibri"/>
              <a:sym typeface="Calibri"/>
            </a:endParaRPr>
          </a:p>
        </p:txBody>
      </p:sp>
      <p:sp>
        <p:nvSpPr>
          <p:cNvPr id="1452" name="Google Shape;1452;p58"/>
          <p:cNvSpPr/>
          <p:nvPr/>
        </p:nvSpPr>
        <p:spPr>
          <a:xfrm>
            <a:off x="1592874"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Feed &lt;BOS&gt; as the first decoder input.</a:t>
            </a:r>
            <a:endParaRPr b="0" i="0" sz="757" u="none" cap="none" strike="noStrike">
              <a:solidFill>
                <a:schemeClr val="dk1"/>
              </a:solidFill>
              <a:latin typeface="Calibri"/>
              <a:ea typeface="Calibri"/>
              <a:cs typeface="Calibri"/>
              <a:sym typeface="Calibri"/>
            </a:endParaRPr>
          </a:p>
        </p:txBody>
      </p:sp>
      <p:sp>
        <p:nvSpPr>
          <p:cNvPr id="1453" name="Google Shape;1453;p58"/>
          <p:cNvSpPr/>
          <p:nvPr/>
        </p:nvSpPr>
        <p:spPr>
          <a:xfrm>
            <a:off x="4717481" y="832188"/>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454" name="Google Shape;1454;p58"/>
          <p:cNvSpPr/>
          <p:nvPr/>
        </p:nvSpPr>
        <p:spPr>
          <a:xfrm>
            <a:off x="5125353" y="875900"/>
            <a:ext cx="1209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Forward Pass</a:t>
            </a:r>
            <a:endParaRPr b="0" i="0" sz="876" u="none" cap="none" strike="noStrike">
              <a:solidFill>
                <a:schemeClr val="dk1"/>
              </a:solidFill>
              <a:latin typeface="Calibri"/>
              <a:ea typeface="Calibri"/>
              <a:cs typeface="Calibri"/>
              <a:sym typeface="Calibri"/>
            </a:endParaRPr>
          </a:p>
        </p:txBody>
      </p:sp>
      <p:sp>
        <p:nvSpPr>
          <p:cNvPr id="1455" name="Google Shape;1455;p58"/>
          <p:cNvSpPr/>
          <p:nvPr/>
        </p:nvSpPr>
        <p:spPr>
          <a:xfrm>
            <a:off x="5125355"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Masked Self-Attn -&gt; Cross-Attn -&gt; FFN.</a:t>
            </a:r>
            <a:endParaRPr b="0" i="0" sz="757" u="none" cap="none" strike="noStrike">
              <a:solidFill>
                <a:schemeClr val="dk1"/>
              </a:solidFill>
              <a:latin typeface="Calibri"/>
              <a:ea typeface="Calibri"/>
              <a:cs typeface="Calibri"/>
              <a:sym typeface="Calibri"/>
            </a:endParaRPr>
          </a:p>
        </p:txBody>
      </p:sp>
      <p:sp>
        <p:nvSpPr>
          <p:cNvPr id="1456" name="Google Shape;1456;p58"/>
          <p:cNvSpPr/>
          <p:nvPr/>
        </p:nvSpPr>
        <p:spPr>
          <a:xfrm>
            <a:off x="1185000" y="1618796"/>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457" name="Google Shape;1457;p58"/>
          <p:cNvSpPr/>
          <p:nvPr/>
        </p:nvSpPr>
        <p:spPr>
          <a:xfrm>
            <a:off x="1592874" y="1662497"/>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Linear + Softmax</a:t>
            </a:r>
            <a:endParaRPr b="0" i="0" sz="876" u="none" cap="none" strike="noStrike">
              <a:solidFill>
                <a:schemeClr val="dk1"/>
              </a:solidFill>
              <a:latin typeface="Calibri"/>
              <a:ea typeface="Calibri"/>
              <a:cs typeface="Calibri"/>
              <a:sym typeface="Calibri"/>
            </a:endParaRPr>
          </a:p>
        </p:txBody>
      </p:sp>
      <p:sp>
        <p:nvSpPr>
          <p:cNvPr id="1458" name="Google Shape;1458;p58"/>
          <p:cNvSpPr/>
          <p:nvPr/>
        </p:nvSpPr>
        <p:spPr>
          <a:xfrm>
            <a:off x="1592874"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Project to vocab; get probability dist.</a:t>
            </a:r>
            <a:endParaRPr b="0" i="0" sz="757" u="none" cap="none" strike="noStrike">
              <a:solidFill>
                <a:schemeClr val="dk1"/>
              </a:solidFill>
              <a:latin typeface="Calibri"/>
              <a:ea typeface="Calibri"/>
              <a:cs typeface="Calibri"/>
              <a:sym typeface="Calibri"/>
            </a:endParaRPr>
          </a:p>
        </p:txBody>
      </p:sp>
      <p:sp>
        <p:nvSpPr>
          <p:cNvPr id="1459" name="Google Shape;1459;p58"/>
          <p:cNvSpPr/>
          <p:nvPr/>
        </p:nvSpPr>
        <p:spPr>
          <a:xfrm>
            <a:off x="4717481" y="1618796"/>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460" name="Google Shape;1460;p58"/>
          <p:cNvSpPr/>
          <p:nvPr/>
        </p:nvSpPr>
        <p:spPr>
          <a:xfrm>
            <a:off x="5125353" y="1662500"/>
            <a:ext cx="13446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Sample / Argmax</a:t>
            </a:r>
            <a:endParaRPr b="0" i="0" sz="876" u="none" cap="none" strike="noStrike">
              <a:solidFill>
                <a:schemeClr val="dk1"/>
              </a:solidFill>
              <a:latin typeface="Calibri"/>
              <a:ea typeface="Calibri"/>
              <a:cs typeface="Calibri"/>
              <a:sym typeface="Calibri"/>
            </a:endParaRPr>
          </a:p>
        </p:txBody>
      </p:sp>
      <p:sp>
        <p:nvSpPr>
          <p:cNvPr id="1461" name="Google Shape;1461;p58"/>
          <p:cNvSpPr/>
          <p:nvPr/>
        </p:nvSpPr>
        <p:spPr>
          <a:xfrm>
            <a:off x="5125355"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Greedy, beam search, or temperature sampling.</a:t>
            </a:r>
            <a:endParaRPr b="0" i="0" sz="757" u="none" cap="none" strike="noStrike">
              <a:solidFill>
                <a:schemeClr val="dk1"/>
              </a:solidFill>
              <a:latin typeface="Calibri"/>
              <a:ea typeface="Calibri"/>
              <a:cs typeface="Calibri"/>
              <a:sym typeface="Calibri"/>
            </a:endParaRPr>
          </a:p>
        </p:txBody>
      </p:sp>
      <p:sp>
        <p:nvSpPr>
          <p:cNvPr id="1462" name="Google Shape;1462;p58"/>
          <p:cNvSpPr/>
          <p:nvPr/>
        </p:nvSpPr>
        <p:spPr>
          <a:xfrm>
            <a:off x="1185000" y="2405405"/>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463" name="Google Shape;1463;p58"/>
          <p:cNvSpPr/>
          <p:nvPr/>
        </p:nvSpPr>
        <p:spPr>
          <a:xfrm>
            <a:off x="1592874"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Append &amp; Repeat</a:t>
            </a:r>
            <a:endParaRPr b="0" i="0" sz="876" u="none" cap="none" strike="noStrike">
              <a:solidFill>
                <a:schemeClr val="dk1"/>
              </a:solidFill>
              <a:latin typeface="Calibri"/>
              <a:ea typeface="Calibri"/>
              <a:cs typeface="Calibri"/>
              <a:sym typeface="Calibri"/>
            </a:endParaRPr>
          </a:p>
        </p:txBody>
      </p:sp>
      <p:sp>
        <p:nvSpPr>
          <p:cNvPr id="1464" name="Google Shape;1464;p58"/>
          <p:cNvSpPr/>
          <p:nvPr/>
        </p:nvSpPr>
        <p:spPr>
          <a:xfrm>
            <a:off x="1592874"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Append token; repeat from Step 2.</a:t>
            </a:r>
            <a:endParaRPr b="0" i="0" sz="757" u="none" cap="none" strike="noStrike">
              <a:solidFill>
                <a:schemeClr val="dk1"/>
              </a:solidFill>
              <a:latin typeface="Calibri"/>
              <a:ea typeface="Calibri"/>
              <a:cs typeface="Calibri"/>
              <a:sym typeface="Calibri"/>
            </a:endParaRPr>
          </a:p>
        </p:txBody>
      </p:sp>
      <p:sp>
        <p:nvSpPr>
          <p:cNvPr id="1465" name="Google Shape;1465;p58"/>
          <p:cNvSpPr/>
          <p:nvPr/>
        </p:nvSpPr>
        <p:spPr>
          <a:xfrm>
            <a:off x="4717481" y="2405405"/>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466" name="Google Shape;1466;p58"/>
          <p:cNvSpPr/>
          <p:nvPr/>
        </p:nvSpPr>
        <p:spPr>
          <a:xfrm>
            <a:off x="5125355"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Stop Condition</a:t>
            </a:r>
            <a:endParaRPr b="0" i="0" sz="876" u="none" cap="none" strike="noStrike">
              <a:solidFill>
                <a:schemeClr val="dk1"/>
              </a:solidFill>
              <a:latin typeface="Calibri"/>
              <a:ea typeface="Calibri"/>
              <a:cs typeface="Calibri"/>
              <a:sym typeface="Calibri"/>
            </a:endParaRPr>
          </a:p>
        </p:txBody>
      </p:sp>
      <p:sp>
        <p:nvSpPr>
          <p:cNvPr id="1467" name="Google Shape;1467;p58"/>
          <p:cNvSpPr/>
          <p:nvPr/>
        </p:nvSpPr>
        <p:spPr>
          <a:xfrm>
            <a:off x="5125355"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Halt at &lt;EOS&gt; or max sequence length.</a:t>
            </a:r>
            <a:endParaRPr b="0" i="0" sz="757" u="none" cap="none" strike="noStrike">
              <a:solidFill>
                <a:schemeClr val="dk1"/>
              </a:solidFill>
              <a:latin typeface="Calibri"/>
              <a:ea typeface="Calibri"/>
              <a:cs typeface="Calibri"/>
              <a:sym typeface="Calibri"/>
            </a:endParaRPr>
          </a:p>
        </p:txBody>
      </p:sp>
      <p:pic>
        <p:nvPicPr>
          <p:cNvPr id="1468" name="Google Shape;1468;p58"/>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473" name="Shape 1473"/>
        <p:cNvGrpSpPr/>
        <p:nvPr/>
      </p:nvGrpSpPr>
      <p:grpSpPr>
        <a:xfrm>
          <a:off x="0" y="0"/>
          <a:ext cx="0" cy="0"/>
          <a:chOff x="0" y="0"/>
          <a:chExt cx="0" cy="0"/>
        </a:xfrm>
      </p:grpSpPr>
      <p:sp>
        <p:nvSpPr>
          <p:cNvPr id="1474" name="Google Shape;1474;p59"/>
          <p:cNvSpPr/>
          <p:nvPr/>
        </p:nvSpPr>
        <p:spPr>
          <a:xfrm>
            <a:off x="0" y="0"/>
            <a:ext cx="9144000" cy="5943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9"/>
          <p:cNvSpPr/>
          <p:nvPr/>
        </p:nvSpPr>
        <p:spPr>
          <a:xfrm>
            <a:off x="274320" y="54864"/>
            <a:ext cx="85953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Linear + Softmax — Worked Example</a:t>
            </a:r>
            <a:endParaRPr b="0" i="0" sz="2300" u="none" cap="none" strike="noStrike">
              <a:solidFill>
                <a:schemeClr val="dk1"/>
              </a:solidFill>
              <a:latin typeface="Calibri"/>
              <a:ea typeface="Calibri"/>
              <a:cs typeface="Calibri"/>
              <a:sym typeface="Calibri"/>
            </a:endParaRPr>
          </a:p>
        </p:txBody>
      </p:sp>
      <p:sp>
        <p:nvSpPr>
          <p:cNvPr id="1476" name="Google Shape;1476;p59"/>
          <p:cNvSpPr/>
          <p:nvPr/>
        </p:nvSpPr>
        <p:spPr>
          <a:xfrm>
            <a:off x="274320" y="384048"/>
            <a:ext cx="85953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5"/>
              </a:buClr>
              <a:buSzPts val="1050"/>
              <a:buFont typeface="Calibri"/>
              <a:buNone/>
            </a:pPr>
            <a:r>
              <a:rPr b="0" i="1" lang="en" sz="1050" u="none" cap="none" strike="noStrike">
                <a:solidFill>
                  <a:srgbClr val="D6E4F5"/>
                </a:solidFill>
                <a:latin typeface="Calibri"/>
                <a:ea typeface="Calibri"/>
                <a:cs typeface="Calibri"/>
                <a:sym typeface="Calibri"/>
              </a:rPr>
              <a:t>hidden_dim = 4  →  vocab_size = 5</a:t>
            </a:r>
            <a:endParaRPr b="0" i="0" sz="1050" u="none" cap="none" strike="noStrike">
              <a:solidFill>
                <a:schemeClr val="dk1"/>
              </a:solidFill>
              <a:latin typeface="Calibri"/>
              <a:ea typeface="Calibri"/>
              <a:cs typeface="Calibri"/>
              <a:sym typeface="Calibri"/>
            </a:endParaRPr>
          </a:p>
        </p:txBody>
      </p:sp>
      <p:sp>
        <p:nvSpPr>
          <p:cNvPr id="1477" name="Google Shape;1477;p59"/>
          <p:cNvSpPr/>
          <p:nvPr/>
        </p:nvSpPr>
        <p:spPr>
          <a:xfrm>
            <a:off x="228600" y="749808"/>
            <a:ext cx="8686800" cy="2331600"/>
          </a:xfrm>
          <a:prstGeom prst="roundRect">
            <a:avLst>
              <a:gd fmla="val 3922" name="adj"/>
            </a:avLst>
          </a:prstGeom>
          <a:solidFill>
            <a:srgbClr val="FFFFFF"/>
          </a:solidFill>
          <a:ln cap="flat" cmpd="sng" w="165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9"/>
          <p:cNvSpPr/>
          <p:nvPr/>
        </p:nvSpPr>
        <p:spPr>
          <a:xfrm>
            <a:off x="384048" y="822960"/>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300"/>
              <a:buFont typeface="Calibri"/>
              <a:buNone/>
            </a:pPr>
            <a:r>
              <a:rPr b="1" i="0" lang="en" sz="1300" u="none" cap="none" strike="noStrike">
                <a:solidFill>
                  <a:srgbClr val="1565C0"/>
                </a:solidFill>
                <a:latin typeface="Calibri"/>
                <a:ea typeface="Calibri"/>
                <a:cs typeface="Calibri"/>
                <a:sym typeface="Calibri"/>
              </a:rPr>
              <a:t>Step 1 — Linear Projection:  logits = h · W_vocab + b</a:t>
            </a:r>
            <a:endParaRPr b="0" i="0" sz="1300" u="none" cap="none" strike="noStrike">
              <a:solidFill>
                <a:schemeClr val="dk1"/>
              </a:solidFill>
              <a:latin typeface="Calibri"/>
              <a:ea typeface="Calibri"/>
              <a:cs typeface="Calibri"/>
              <a:sym typeface="Calibri"/>
            </a:endParaRPr>
          </a:p>
        </p:txBody>
      </p:sp>
      <p:sp>
        <p:nvSpPr>
          <p:cNvPr id="1479" name="Google Shape;1479;p59"/>
          <p:cNvSpPr/>
          <p:nvPr/>
        </p:nvSpPr>
        <p:spPr>
          <a:xfrm>
            <a:off x="384048" y="1783080"/>
            <a:ext cx="457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200"/>
              <a:buFont typeface="Courier New"/>
              <a:buNone/>
            </a:pPr>
            <a:r>
              <a:rPr b="1" i="0" lang="en" sz="1200" u="none" cap="none" strike="noStrike">
                <a:solidFill>
                  <a:srgbClr val="1A1A2E"/>
                </a:solidFill>
                <a:latin typeface="Courier New"/>
                <a:ea typeface="Courier New"/>
                <a:cs typeface="Courier New"/>
                <a:sym typeface="Courier New"/>
              </a:rPr>
              <a:t>h =</a:t>
            </a:r>
            <a:endParaRPr b="0" i="0" sz="1200" u="none" cap="none" strike="noStrike">
              <a:solidFill>
                <a:schemeClr val="dk1"/>
              </a:solidFill>
              <a:latin typeface="Calibri"/>
              <a:ea typeface="Calibri"/>
              <a:cs typeface="Calibri"/>
              <a:sym typeface="Calibri"/>
            </a:endParaRPr>
          </a:p>
        </p:txBody>
      </p:sp>
      <p:sp>
        <p:nvSpPr>
          <p:cNvPr id="1480" name="Google Shape;1480;p59"/>
          <p:cNvSpPr/>
          <p:nvPr/>
        </p:nvSpPr>
        <p:spPr>
          <a:xfrm>
            <a:off x="86868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9"/>
          <p:cNvSpPr/>
          <p:nvPr/>
        </p:nvSpPr>
        <p:spPr>
          <a:xfrm>
            <a:off x="86868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0.8</a:t>
            </a:r>
            <a:endParaRPr b="0" i="0" sz="1050" u="none" cap="none" strike="noStrike">
              <a:solidFill>
                <a:schemeClr val="dk1"/>
              </a:solidFill>
              <a:latin typeface="Calibri"/>
              <a:ea typeface="Calibri"/>
              <a:cs typeface="Calibri"/>
              <a:sym typeface="Calibri"/>
            </a:endParaRPr>
          </a:p>
        </p:txBody>
      </p:sp>
      <p:sp>
        <p:nvSpPr>
          <p:cNvPr id="1482" name="Google Shape;1482;p59"/>
          <p:cNvSpPr/>
          <p:nvPr/>
        </p:nvSpPr>
        <p:spPr>
          <a:xfrm>
            <a:off x="141732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9"/>
          <p:cNvSpPr/>
          <p:nvPr/>
        </p:nvSpPr>
        <p:spPr>
          <a:xfrm>
            <a:off x="141732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950" u="none" cap="none" strike="noStrike">
                <a:solidFill>
                  <a:srgbClr val="1565C0"/>
                </a:solidFill>
                <a:latin typeface="Courier New"/>
                <a:ea typeface="Courier New"/>
                <a:cs typeface="Courier New"/>
                <a:sym typeface="Courier New"/>
              </a:rPr>
              <a:t>-0.3</a:t>
            </a:r>
            <a:endParaRPr b="0" i="0" sz="950" u="none" cap="none" strike="noStrike">
              <a:solidFill>
                <a:schemeClr val="dk1"/>
              </a:solidFill>
              <a:latin typeface="Calibri"/>
              <a:ea typeface="Calibri"/>
              <a:cs typeface="Calibri"/>
              <a:sym typeface="Calibri"/>
            </a:endParaRPr>
          </a:p>
        </p:txBody>
      </p:sp>
      <p:sp>
        <p:nvSpPr>
          <p:cNvPr id="1484" name="Google Shape;1484;p59"/>
          <p:cNvSpPr/>
          <p:nvPr/>
        </p:nvSpPr>
        <p:spPr>
          <a:xfrm>
            <a:off x="196596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9"/>
          <p:cNvSpPr/>
          <p:nvPr/>
        </p:nvSpPr>
        <p:spPr>
          <a:xfrm>
            <a:off x="196596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1.2</a:t>
            </a:r>
            <a:endParaRPr b="0" i="0" sz="1050" u="none" cap="none" strike="noStrike">
              <a:solidFill>
                <a:schemeClr val="dk1"/>
              </a:solidFill>
              <a:latin typeface="Calibri"/>
              <a:ea typeface="Calibri"/>
              <a:cs typeface="Calibri"/>
              <a:sym typeface="Calibri"/>
            </a:endParaRPr>
          </a:p>
        </p:txBody>
      </p:sp>
      <p:sp>
        <p:nvSpPr>
          <p:cNvPr id="1486" name="Google Shape;1486;p59"/>
          <p:cNvSpPr/>
          <p:nvPr/>
        </p:nvSpPr>
        <p:spPr>
          <a:xfrm>
            <a:off x="2514600" y="1783080"/>
            <a:ext cx="502800" cy="329100"/>
          </a:xfrm>
          <a:prstGeom prst="roundRect">
            <a:avLst>
              <a:gd fmla="val 11111"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59"/>
          <p:cNvSpPr/>
          <p:nvPr/>
        </p:nvSpPr>
        <p:spPr>
          <a:xfrm>
            <a:off x="2514600" y="1783080"/>
            <a:ext cx="5028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ourier New"/>
              <a:buNone/>
            </a:pPr>
            <a:r>
              <a:rPr b="0" i="0" lang="en" sz="1050" u="none" cap="none" strike="noStrike">
                <a:solidFill>
                  <a:srgbClr val="1565C0"/>
                </a:solidFill>
                <a:latin typeface="Courier New"/>
                <a:ea typeface="Courier New"/>
                <a:cs typeface="Courier New"/>
                <a:sym typeface="Courier New"/>
              </a:rPr>
              <a:t>0.5</a:t>
            </a:r>
            <a:endParaRPr b="0" i="0" sz="1050" u="none" cap="none" strike="noStrike">
              <a:solidFill>
                <a:schemeClr val="dk1"/>
              </a:solidFill>
              <a:latin typeface="Calibri"/>
              <a:ea typeface="Calibri"/>
              <a:cs typeface="Calibri"/>
              <a:sym typeface="Calibri"/>
            </a:endParaRPr>
          </a:p>
        </p:txBody>
      </p:sp>
      <p:sp>
        <p:nvSpPr>
          <p:cNvPr id="1488" name="Google Shape;1488;p59"/>
          <p:cNvSpPr/>
          <p:nvPr/>
        </p:nvSpPr>
        <p:spPr>
          <a:xfrm>
            <a:off x="384048" y="2148840"/>
            <a:ext cx="9144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(1×4)</a:t>
            </a:r>
            <a:endParaRPr b="0" i="0" sz="800" u="none" cap="none" strike="noStrike">
              <a:solidFill>
                <a:schemeClr val="dk1"/>
              </a:solidFill>
              <a:latin typeface="Calibri"/>
              <a:ea typeface="Calibri"/>
              <a:cs typeface="Calibri"/>
              <a:sym typeface="Calibri"/>
            </a:endParaRPr>
          </a:p>
        </p:txBody>
      </p:sp>
      <p:sp>
        <p:nvSpPr>
          <p:cNvPr id="1489" name="Google Shape;1489;p59"/>
          <p:cNvSpPr/>
          <p:nvPr/>
        </p:nvSpPr>
        <p:spPr>
          <a:xfrm>
            <a:off x="3337560" y="1783080"/>
            <a:ext cx="2742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1400"/>
              <a:buFont typeface="Calibri"/>
              <a:buNone/>
            </a:pPr>
            <a:r>
              <a:rPr b="0" i="0" lang="en" sz="1400" u="none" cap="none" strike="noStrike">
                <a:solidFill>
                  <a:srgbClr val="5A6472"/>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90" name="Google Shape;1490;p59"/>
          <p:cNvSpPr/>
          <p:nvPr/>
        </p:nvSpPr>
        <p:spPr>
          <a:xfrm>
            <a:off x="3703320" y="1106424"/>
            <a:ext cx="1371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50"/>
              <a:buFont typeface="Courier New"/>
              <a:buNone/>
            </a:pPr>
            <a:r>
              <a:rPr b="1" i="0" lang="en" sz="1050" u="none" cap="none" strike="noStrike">
                <a:solidFill>
                  <a:srgbClr val="E65100"/>
                </a:solidFill>
                <a:latin typeface="Courier New"/>
                <a:ea typeface="Courier New"/>
                <a:cs typeface="Courier New"/>
                <a:sym typeface="Courier New"/>
              </a:rPr>
              <a:t>W_vocab =</a:t>
            </a:r>
            <a:endParaRPr b="0" i="0" sz="1050" u="none" cap="none" strike="noStrike">
              <a:solidFill>
                <a:schemeClr val="dk1"/>
              </a:solidFill>
              <a:latin typeface="Calibri"/>
              <a:ea typeface="Calibri"/>
              <a:cs typeface="Calibri"/>
              <a:sym typeface="Calibri"/>
            </a:endParaRPr>
          </a:p>
        </p:txBody>
      </p:sp>
      <p:sp>
        <p:nvSpPr>
          <p:cNvPr id="1491" name="Google Shape;1491;p59"/>
          <p:cNvSpPr/>
          <p:nvPr/>
        </p:nvSpPr>
        <p:spPr>
          <a:xfrm>
            <a:off x="3703320"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9"/>
          <p:cNvSpPr/>
          <p:nvPr/>
        </p:nvSpPr>
        <p:spPr>
          <a:xfrm>
            <a:off x="3703320"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493" name="Google Shape;1493;p59"/>
          <p:cNvSpPr/>
          <p:nvPr/>
        </p:nvSpPr>
        <p:spPr>
          <a:xfrm>
            <a:off x="4215384"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9"/>
          <p:cNvSpPr/>
          <p:nvPr/>
        </p:nvSpPr>
        <p:spPr>
          <a:xfrm>
            <a:off x="4215384"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0.4</a:t>
            </a:r>
            <a:endParaRPr b="0" i="0" sz="800" u="none" cap="none" strike="noStrike">
              <a:solidFill>
                <a:schemeClr val="dk1"/>
              </a:solidFill>
              <a:latin typeface="Calibri"/>
              <a:ea typeface="Calibri"/>
              <a:cs typeface="Calibri"/>
              <a:sym typeface="Calibri"/>
            </a:endParaRPr>
          </a:p>
        </p:txBody>
      </p:sp>
      <p:sp>
        <p:nvSpPr>
          <p:cNvPr id="1495" name="Google Shape;1495;p59"/>
          <p:cNvSpPr/>
          <p:nvPr/>
        </p:nvSpPr>
        <p:spPr>
          <a:xfrm>
            <a:off x="4727448"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9"/>
          <p:cNvSpPr/>
          <p:nvPr/>
        </p:nvSpPr>
        <p:spPr>
          <a:xfrm>
            <a:off x="4727448"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497" name="Google Shape;1497;p59"/>
          <p:cNvSpPr/>
          <p:nvPr/>
        </p:nvSpPr>
        <p:spPr>
          <a:xfrm>
            <a:off x="5239512"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9"/>
          <p:cNvSpPr/>
          <p:nvPr/>
        </p:nvSpPr>
        <p:spPr>
          <a:xfrm>
            <a:off x="5239512"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1499" name="Google Shape;1499;p59"/>
          <p:cNvSpPr/>
          <p:nvPr/>
        </p:nvSpPr>
        <p:spPr>
          <a:xfrm>
            <a:off x="5751576" y="141732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9"/>
          <p:cNvSpPr/>
          <p:nvPr/>
        </p:nvSpPr>
        <p:spPr>
          <a:xfrm>
            <a:off x="5751576" y="141732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0.0</a:t>
            </a:r>
            <a:endParaRPr b="0" i="0" sz="800" u="none" cap="none" strike="noStrike">
              <a:solidFill>
                <a:schemeClr val="dk1"/>
              </a:solidFill>
              <a:latin typeface="Calibri"/>
              <a:ea typeface="Calibri"/>
              <a:cs typeface="Calibri"/>
              <a:sym typeface="Calibri"/>
            </a:endParaRPr>
          </a:p>
        </p:txBody>
      </p:sp>
      <p:sp>
        <p:nvSpPr>
          <p:cNvPr id="1501" name="Google Shape;1501;p59"/>
          <p:cNvSpPr/>
          <p:nvPr/>
        </p:nvSpPr>
        <p:spPr>
          <a:xfrm>
            <a:off x="3703320"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9"/>
          <p:cNvSpPr/>
          <p:nvPr/>
        </p:nvSpPr>
        <p:spPr>
          <a:xfrm>
            <a:off x="3703320"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503" name="Google Shape;1503;p59"/>
          <p:cNvSpPr/>
          <p:nvPr/>
        </p:nvSpPr>
        <p:spPr>
          <a:xfrm>
            <a:off x="4215384"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9"/>
          <p:cNvSpPr/>
          <p:nvPr/>
        </p:nvSpPr>
        <p:spPr>
          <a:xfrm>
            <a:off x="4215384"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505" name="Google Shape;1505;p59"/>
          <p:cNvSpPr/>
          <p:nvPr/>
        </p:nvSpPr>
        <p:spPr>
          <a:xfrm>
            <a:off x="4727448"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9"/>
          <p:cNvSpPr/>
          <p:nvPr/>
        </p:nvSpPr>
        <p:spPr>
          <a:xfrm>
            <a:off x="4727448"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0.5</a:t>
            </a:r>
            <a:endParaRPr b="0" i="0" sz="800" u="none" cap="none" strike="noStrike">
              <a:solidFill>
                <a:schemeClr val="dk1"/>
              </a:solidFill>
              <a:latin typeface="Calibri"/>
              <a:ea typeface="Calibri"/>
              <a:cs typeface="Calibri"/>
              <a:sym typeface="Calibri"/>
            </a:endParaRPr>
          </a:p>
        </p:txBody>
      </p:sp>
      <p:sp>
        <p:nvSpPr>
          <p:cNvPr id="1507" name="Google Shape;1507;p59"/>
          <p:cNvSpPr/>
          <p:nvPr/>
        </p:nvSpPr>
        <p:spPr>
          <a:xfrm>
            <a:off x="5239512"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59"/>
          <p:cNvSpPr/>
          <p:nvPr/>
        </p:nvSpPr>
        <p:spPr>
          <a:xfrm>
            <a:off x="5239512"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509" name="Google Shape;1509;p59"/>
          <p:cNvSpPr/>
          <p:nvPr/>
        </p:nvSpPr>
        <p:spPr>
          <a:xfrm>
            <a:off x="5751576" y="169164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59"/>
          <p:cNvSpPr/>
          <p:nvPr/>
        </p:nvSpPr>
        <p:spPr>
          <a:xfrm>
            <a:off x="5751576" y="169164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511" name="Google Shape;1511;p59"/>
          <p:cNvSpPr/>
          <p:nvPr/>
        </p:nvSpPr>
        <p:spPr>
          <a:xfrm>
            <a:off x="3703320"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59"/>
          <p:cNvSpPr/>
          <p:nvPr/>
        </p:nvSpPr>
        <p:spPr>
          <a:xfrm>
            <a:off x="3703320"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1513" name="Google Shape;1513;p59"/>
          <p:cNvSpPr/>
          <p:nvPr/>
        </p:nvSpPr>
        <p:spPr>
          <a:xfrm>
            <a:off x="4215384"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9"/>
          <p:cNvSpPr/>
          <p:nvPr/>
        </p:nvSpPr>
        <p:spPr>
          <a:xfrm>
            <a:off x="4215384"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0.6</a:t>
            </a:r>
            <a:endParaRPr b="0" i="0" sz="800" u="none" cap="none" strike="noStrike">
              <a:solidFill>
                <a:schemeClr val="dk1"/>
              </a:solidFill>
              <a:latin typeface="Calibri"/>
              <a:ea typeface="Calibri"/>
              <a:cs typeface="Calibri"/>
              <a:sym typeface="Calibri"/>
            </a:endParaRPr>
          </a:p>
        </p:txBody>
      </p:sp>
      <p:sp>
        <p:nvSpPr>
          <p:cNvPr id="1515" name="Google Shape;1515;p59"/>
          <p:cNvSpPr/>
          <p:nvPr/>
        </p:nvSpPr>
        <p:spPr>
          <a:xfrm>
            <a:off x="4727448"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9"/>
          <p:cNvSpPr/>
          <p:nvPr/>
        </p:nvSpPr>
        <p:spPr>
          <a:xfrm>
            <a:off x="4727448"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517" name="Google Shape;1517;p59"/>
          <p:cNvSpPr/>
          <p:nvPr/>
        </p:nvSpPr>
        <p:spPr>
          <a:xfrm>
            <a:off x="5239512"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59"/>
          <p:cNvSpPr/>
          <p:nvPr/>
        </p:nvSpPr>
        <p:spPr>
          <a:xfrm>
            <a:off x="5239512"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0.4</a:t>
            </a:r>
            <a:endParaRPr b="0" i="0" sz="800" u="none" cap="none" strike="noStrike">
              <a:solidFill>
                <a:schemeClr val="dk1"/>
              </a:solidFill>
              <a:latin typeface="Calibri"/>
              <a:ea typeface="Calibri"/>
              <a:cs typeface="Calibri"/>
              <a:sym typeface="Calibri"/>
            </a:endParaRPr>
          </a:p>
        </p:txBody>
      </p:sp>
      <p:sp>
        <p:nvSpPr>
          <p:cNvPr id="1519" name="Google Shape;1519;p59"/>
          <p:cNvSpPr/>
          <p:nvPr/>
        </p:nvSpPr>
        <p:spPr>
          <a:xfrm>
            <a:off x="5751576" y="196596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9"/>
          <p:cNvSpPr/>
          <p:nvPr/>
        </p:nvSpPr>
        <p:spPr>
          <a:xfrm>
            <a:off x="5751576" y="196596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-0.1</a:t>
            </a:r>
            <a:endParaRPr b="0" i="0" sz="800" u="none" cap="none" strike="noStrike">
              <a:solidFill>
                <a:schemeClr val="dk1"/>
              </a:solidFill>
              <a:latin typeface="Calibri"/>
              <a:ea typeface="Calibri"/>
              <a:cs typeface="Calibri"/>
              <a:sym typeface="Calibri"/>
            </a:endParaRPr>
          </a:p>
        </p:txBody>
      </p:sp>
      <p:sp>
        <p:nvSpPr>
          <p:cNvPr id="1521" name="Google Shape;1521;p59"/>
          <p:cNvSpPr/>
          <p:nvPr/>
        </p:nvSpPr>
        <p:spPr>
          <a:xfrm>
            <a:off x="3703320"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59"/>
          <p:cNvSpPr/>
          <p:nvPr/>
        </p:nvSpPr>
        <p:spPr>
          <a:xfrm>
            <a:off x="3703320"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0.5</a:t>
            </a:r>
            <a:endParaRPr b="0" i="0" sz="800" u="none" cap="none" strike="noStrike">
              <a:solidFill>
                <a:schemeClr val="dk1"/>
              </a:solidFill>
              <a:latin typeface="Calibri"/>
              <a:ea typeface="Calibri"/>
              <a:cs typeface="Calibri"/>
              <a:sym typeface="Calibri"/>
            </a:endParaRPr>
          </a:p>
        </p:txBody>
      </p:sp>
      <p:sp>
        <p:nvSpPr>
          <p:cNvPr id="1523" name="Google Shape;1523;p59"/>
          <p:cNvSpPr/>
          <p:nvPr/>
        </p:nvSpPr>
        <p:spPr>
          <a:xfrm>
            <a:off x="4215384"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9"/>
          <p:cNvSpPr/>
          <p:nvPr/>
        </p:nvSpPr>
        <p:spPr>
          <a:xfrm>
            <a:off x="4215384"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525" name="Google Shape;1525;p59"/>
          <p:cNvSpPr/>
          <p:nvPr/>
        </p:nvSpPr>
        <p:spPr>
          <a:xfrm>
            <a:off x="4727448"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9"/>
          <p:cNvSpPr/>
          <p:nvPr/>
        </p:nvSpPr>
        <p:spPr>
          <a:xfrm>
            <a:off x="4727448"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0.3</a:t>
            </a:r>
            <a:endParaRPr b="0" i="0" sz="800" u="none" cap="none" strike="noStrike">
              <a:solidFill>
                <a:schemeClr val="dk1"/>
              </a:solidFill>
              <a:latin typeface="Calibri"/>
              <a:ea typeface="Calibri"/>
              <a:cs typeface="Calibri"/>
              <a:sym typeface="Calibri"/>
            </a:endParaRPr>
          </a:p>
        </p:txBody>
      </p:sp>
      <p:sp>
        <p:nvSpPr>
          <p:cNvPr id="1527" name="Google Shape;1527;p59"/>
          <p:cNvSpPr/>
          <p:nvPr/>
        </p:nvSpPr>
        <p:spPr>
          <a:xfrm>
            <a:off x="5239512"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9"/>
          <p:cNvSpPr/>
          <p:nvPr/>
        </p:nvSpPr>
        <p:spPr>
          <a:xfrm>
            <a:off x="5239512"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-0.2</a:t>
            </a:r>
            <a:endParaRPr b="0" i="0" sz="800" u="none" cap="none" strike="noStrike">
              <a:solidFill>
                <a:schemeClr val="dk1"/>
              </a:solidFill>
              <a:latin typeface="Calibri"/>
              <a:ea typeface="Calibri"/>
              <a:cs typeface="Calibri"/>
              <a:sym typeface="Calibri"/>
            </a:endParaRPr>
          </a:p>
        </p:txBody>
      </p:sp>
      <p:sp>
        <p:nvSpPr>
          <p:cNvPr id="1529" name="Google Shape;1529;p59"/>
          <p:cNvSpPr/>
          <p:nvPr/>
        </p:nvSpPr>
        <p:spPr>
          <a:xfrm>
            <a:off x="5751576" y="2240280"/>
            <a:ext cx="475500" cy="246900"/>
          </a:xfrm>
          <a:prstGeom prst="roundRect">
            <a:avLst>
              <a:gd fmla="val 11111" name="adj"/>
            </a:avLst>
          </a:prstGeom>
          <a:solidFill>
            <a:srgbClr val="FFF8F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9"/>
          <p:cNvSpPr/>
          <p:nvPr/>
        </p:nvSpPr>
        <p:spPr>
          <a:xfrm>
            <a:off x="5751576" y="2240280"/>
            <a:ext cx="4755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ourier New"/>
              <a:buNone/>
            </a:pPr>
            <a:r>
              <a:rPr b="0" i="0" lang="en" sz="800" u="none" cap="none" strike="noStrike">
                <a:solidFill>
                  <a:srgbClr val="E65100"/>
                </a:solidFill>
                <a:latin typeface="Courier New"/>
                <a:ea typeface="Courier New"/>
                <a:cs typeface="Courier New"/>
                <a:sym typeface="Courier New"/>
              </a:rPr>
              <a:t>0.6</a:t>
            </a:r>
            <a:endParaRPr b="0" i="0" sz="800" u="none" cap="none" strike="noStrike">
              <a:solidFill>
                <a:schemeClr val="dk1"/>
              </a:solidFill>
              <a:latin typeface="Calibri"/>
              <a:ea typeface="Calibri"/>
              <a:cs typeface="Calibri"/>
              <a:sym typeface="Calibri"/>
            </a:endParaRPr>
          </a:p>
        </p:txBody>
      </p:sp>
      <p:sp>
        <p:nvSpPr>
          <p:cNvPr id="1531" name="Google Shape;1531;p59"/>
          <p:cNvSpPr/>
          <p:nvPr/>
        </p:nvSpPr>
        <p:spPr>
          <a:xfrm>
            <a:off x="3703320" y="2532888"/>
            <a:ext cx="9144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(4×5)</a:t>
            </a:r>
            <a:endParaRPr b="0" i="0" sz="800" u="none" cap="none" strike="noStrike">
              <a:solidFill>
                <a:schemeClr val="dk1"/>
              </a:solidFill>
              <a:latin typeface="Calibri"/>
              <a:ea typeface="Calibri"/>
              <a:cs typeface="Calibri"/>
              <a:sym typeface="Calibri"/>
            </a:endParaRPr>
          </a:p>
        </p:txBody>
      </p:sp>
      <p:sp>
        <p:nvSpPr>
          <p:cNvPr id="1532" name="Google Shape;1532;p59"/>
          <p:cNvSpPr/>
          <p:nvPr/>
        </p:nvSpPr>
        <p:spPr>
          <a:xfrm>
            <a:off x="6446520" y="1783080"/>
            <a:ext cx="274200" cy="32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1400"/>
              <a:buFont typeface="Calibri"/>
              <a:buNone/>
            </a:pPr>
            <a:r>
              <a:rPr b="0" i="0" lang="en" sz="1400" u="none" cap="none" strike="noStrike">
                <a:solidFill>
                  <a:srgbClr val="5A6472"/>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533" name="Google Shape;1533;p59"/>
          <p:cNvSpPr/>
          <p:nvPr/>
        </p:nvSpPr>
        <p:spPr>
          <a:xfrm>
            <a:off x="6812280" y="1106424"/>
            <a:ext cx="10974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00"/>
              <a:buFont typeface="Courier New"/>
              <a:buNone/>
            </a:pPr>
            <a:r>
              <a:rPr b="1" i="0" lang="en" sz="1100" u="none" cap="none" strike="noStrike">
                <a:solidFill>
                  <a:srgbClr val="2E7D32"/>
                </a:solidFill>
                <a:latin typeface="Courier New"/>
                <a:ea typeface="Courier New"/>
                <a:cs typeface="Courier New"/>
                <a:sym typeface="Courier New"/>
              </a:rPr>
              <a:t>logits =</a:t>
            </a:r>
            <a:endParaRPr b="0" i="0" sz="1100" u="none" cap="none" strike="noStrike">
              <a:solidFill>
                <a:schemeClr val="dk1"/>
              </a:solidFill>
              <a:latin typeface="Calibri"/>
              <a:ea typeface="Calibri"/>
              <a:cs typeface="Calibri"/>
              <a:sym typeface="Calibri"/>
            </a:endParaRPr>
          </a:p>
        </p:txBody>
      </p:sp>
      <p:sp>
        <p:nvSpPr>
          <p:cNvPr id="1534" name="Google Shape;1534;p59"/>
          <p:cNvSpPr/>
          <p:nvPr/>
        </p:nvSpPr>
        <p:spPr>
          <a:xfrm>
            <a:off x="6812280" y="1371600"/>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9"/>
          <p:cNvSpPr/>
          <p:nvPr/>
        </p:nvSpPr>
        <p:spPr>
          <a:xfrm>
            <a:off x="6858000" y="1371600"/>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the</a:t>
            </a:r>
            <a:endParaRPr b="0" i="0" sz="850" u="none" cap="none" strike="noStrike">
              <a:solidFill>
                <a:schemeClr val="dk1"/>
              </a:solidFill>
              <a:latin typeface="Calibri"/>
              <a:ea typeface="Calibri"/>
              <a:cs typeface="Calibri"/>
              <a:sym typeface="Calibri"/>
            </a:endParaRPr>
          </a:p>
        </p:txBody>
      </p:sp>
      <p:sp>
        <p:nvSpPr>
          <p:cNvPr id="1536" name="Google Shape;1536;p59"/>
          <p:cNvSpPr/>
          <p:nvPr/>
        </p:nvSpPr>
        <p:spPr>
          <a:xfrm>
            <a:off x="7589520" y="1371600"/>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-0.09</a:t>
            </a:r>
            <a:endParaRPr b="0" i="0" sz="900" u="none" cap="none" strike="noStrike">
              <a:solidFill>
                <a:schemeClr val="dk1"/>
              </a:solidFill>
              <a:latin typeface="Calibri"/>
              <a:ea typeface="Calibri"/>
              <a:cs typeface="Calibri"/>
              <a:sym typeface="Calibri"/>
            </a:endParaRPr>
          </a:p>
        </p:txBody>
      </p:sp>
      <p:sp>
        <p:nvSpPr>
          <p:cNvPr id="1537" name="Google Shape;1537;p59"/>
          <p:cNvSpPr/>
          <p:nvPr/>
        </p:nvSpPr>
        <p:spPr>
          <a:xfrm>
            <a:off x="6812280" y="1664208"/>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59"/>
          <p:cNvSpPr/>
          <p:nvPr/>
        </p:nvSpPr>
        <p:spPr>
          <a:xfrm>
            <a:off x="6858000" y="1664208"/>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cat</a:t>
            </a:r>
            <a:endParaRPr b="0" i="0" sz="850" u="none" cap="none" strike="noStrike">
              <a:solidFill>
                <a:schemeClr val="dk1"/>
              </a:solidFill>
              <a:latin typeface="Calibri"/>
              <a:ea typeface="Calibri"/>
              <a:cs typeface="Calibri"/>
              <a:sym typeface="Calibri"/>
            </a:endParaRPr>
          </a:p>
        </p:txBody>
      </p:sp>
      <p:sp>
        <p:nvSpPr>
          <p:cNvPr id="1539" name="Google Shape;1539;p59"/>
          <p:cNvSpPr/>
          <p:nvPr/>
        </p:nvSpPr>
        <p:spPr>
          <a:xfrm>
            <a:off x="7589520" y="1664208"/>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1.17</a:t>
            </a:r>
            <a:endParaRPr b="0" i="0" sz="900" u="none" cap="none" strike="noStrike">
              <a:solidFill>
                <a:schemeClr val="dk1"/>
              </a:solidFill>
              <a:latin typeface="Calibri"/>
              <a:ea typeface="Calibri"/>
              <a:cs typeface="Calibri"/>
              <a:sym typeface="Calibri"/>
            </a:endParaRPr>
          </a:p>
        </p:txBody>
      </p:sp>
      <p:sp>
        <p:nvSpPr>
          <p:cNvPr id="1540" name="Google Shape;1540;p59"/>
          <p:cNvSpPr/>
          <p:nvPr/>
        </p:nvSpPr>
        <p:spPr>
          <a:xfrm>
            <a:off x="6812280" y="1956816"/>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9"/>
          <p:cNvSpPr/>
          <p:nvPr/>
        </p:nvSpPr>
        <p:spPr>
          <a:xfrm>
            <a:off x="6858000" y="1956816"/>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sat</a:t>
            </a:r>
            <a:endParaRPr b="0" i="0" sz="850" u="none" cap="none" strike="noStrike">
              <a:solidFill>
                <a:schemeClr val="dk1"/>
              </a:solidFill>
              <a:latin typeface="Calibri"/>
              <a:ea typeface="Calibri"/>
              <a:cs typeface="Calibri"/>
              <a:sym typeface="Calibri"/>
            </a:endParaRPr>
          </a:p>
        </p:txBody>
      </p:sp>
      <p:sp>
        <p:nvSpPr>
          <p:cNvPr id="1542" name="Google Shape;1542;p59"/>
          <p:cNvSpPr/>
          <p:nvPr/>
        </p:nvSpPr>
        <p:spPr>
          <a:xfrm>
            <a:off x="7589520" y="1956816"/>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-0.04</a:t>
            </a:r>
            <a:endParaRPr b="0" i="0" sz="900" u="none" cap="none" strike="noStrike">
              <a:solidFill>
                <a:schemeClr val="dk1"/>
              </a:solidFill>
              <a:latin typeface="Calibri"/>
              <a:ea typeface="Calibri"/>
              <a:cs typeface="Calibri"/>
              <a:sym typeface="Calibri"/>
            </a:endParaRPr>
          </a:p>
        </p:txBody>
      </p:sp>
      <p:sp>
        <p:nvSpPr>
          <p:cNvPr id="1543" name="Google Shape;1543;p59"/>
          <p:cNvSpPr/>
          <p:nvPr/>
        </p:nvSpPr>
        <p:spPr>
          <a:xfrm>
            <a:off x="6812280" y="2249424"/>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9"/>
          <p:cNvSpPr/>
          <p:nvPr/>
        </p:nvSpPr>
        <p:spPr>
          <a:xfrm>
            <a:off x="6858000" y="2249424"/>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bank</a:t>
            </a:r>
            <a:endParaRPr b="0" i="0" sz="850" u="none" cap="none" strike="noStrike">
              <a:solidFill>
                <a:schemeClr val="dk1"/>
              </a:solidFill>
              <a:latin typeface="Calibri"/>
              <a:ea typeface="Calibri"/>
              <a:cs typeface="Calibri"/>
              <a:sym typeface="Calibri"/>
            </a:endParaRPr>
          </a:p>
        </p:txBody>
      </p:sp>
      <p:sp>
        <p:nvSpPr>
          <p:cNvPr id="1545" name="Google Shape;1545;p59"/>
          <p:cNvSpPr/>
          <p:nvPr/>
        </p:nvSpPr>
        <p:spPr>
          <a:xfrm>
            <a:off x="7589520" y="2249424"/>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0.59</a:t>
            </a:r>
            <a:endParaRPr b="0" i="0" sz="900" u="none" cap="none" strike="noStrike">
              <a:solidFill>
                <a:schemeClr val="dk1"/>
              </a:solidFill>
              <a:latin typeface="Calibri"/>
              <a:ea typeface="Calibri"/>
              <a:cs typeface="Calibri"/>
              <a:sym typeface="Calibri"/>
            </a:endParaRPr>
          </a:p>
        </p:txBody>
      </p:sp>
      <p:sp>
        <p:nvSpPr>
          <p:cNvPr id="1546" name="Google Shape;1546;p59"/>
          <p:cNvSpPr/>
          <p:nvPr/>
        </p:nvSpPr>
        <p:spPr>
          <a:xfrm>
            <a:off x="6812280" y="2542032"/>
            <a:ext cx="1691700" cy="255900"/>
          </a:xfrm>
          <a:prstGeom prst="roundRect">
            <a:avLst>
              <a:gd fmla="val 14286"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9"/>
          <p:cNvSpPr/>
          <p:nvPr/>
        </p:nvSpPr>
        <p:spPr>
          <a:xfrm>
            <a:off x="6858000" y="2542032"/>
            <a:ext cx="77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850"/>
              <a:buFont typeface="Calibri"/>
              <a:buNone/>
            </a:pPr>
            <a:r>
              <a:rPr b="0" i="1" lang="en" sz="850" u="none" cap="none" strike="noStrike">
                <a:solidFill>
                  <a:srgbClr val="5A6472"/>
                </a:solidFill>
                <a:latin typeface="Calibri"/>
                <a:ea typeface="Calibri"/>
                <a:cs typeface="Calibri"/>
                <a:sym typeface="Calibri"/>
              </a:rPr>
              <a:t>&lt;EOS&gt;</a:t>
            </a:r>
            <a:endParaRPr b="0" i="0" sz="850" u="none" cap="none" strike="noStrike">
              <a:solidFill>
                <a:schemeClr val="dk1"/>
              </a:solidFill>
              <a:latin typeface="Calibri"/>
              <a:ea typeface="Calibri"/>
              <a:cs typeface="Calibri"/>
              <a:sym typeface="Calibri"/>
            </a:endParaRPr>
          </a:p>
        </p:txBody>
      </p:sp>
      <p:sp>
        <p:nvSpPr>
          <p:cNvPr id="1548" name="Google Shape;1548;p59"/>
          <p:cNvSpPr/>
          <p:nvPr/>
        </p:nvSpPr>
        <p:spPr>
          <a:xfrm>
            <a:off x="7589520" y="2542032"/>
            <a:ext cx="8688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7D32"/>
              </a:buClr>
              <a:buSzPts val="900"/>
              <a:buFont typeface="Courier New"/>
              <a:buNone/>
            </a:pPr>
            <a:r>
              <a:rPr b="1" i="0" lang="en" sz="900" u="none" cap="none" strike="noStrike">
                <a:solidFill>
                  <a:srgbClr val="2E7D32"/>
                </a:solidFill>
                <a:latin typeface="Courier New"/>
                <a:ea typeface="Courier New"/>
                <a:cs typeface="Courier New"/>
                <a:sym typeface="Courier New"/>
              </a:rPr>
              <a:t>0.12</a:t>
            </a:r>
            <a:endParaRPr b="0" i="0" sz="900" u="none" cap="none" strike="noStrike">
              <a:solidFill>
                <a:schemeClr val="dk1"/>
              </a:solidFill>
              <a:latin typeface="Calibri"/>
              <a:ea typeface="Calibri"/>
              <a:cs typeface="Calibri"/>
              <a:sym typeface="Calibri"/>
            </a:endParaRPr>
          </a:p>
        </p:txBody>
      </p:sp>
      <p:sp>
        <p:nvSpPr>
          <p:cNvPr id="1549" name="Google Shape;1549;p59"/>
          <p:cNvSpPr/>
          <p:nvPr/>
        </p:nvSpPr>
        <p:spPr>
          <a:xfrm>
            <a:off x="384048" y="2423160"/>
            <a:ext cx="5943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raw, unbounded scores — one per vocabulary word</a:t>
            </a:r>
            <a:endParaRPr b="0" i="0" sz="900" u="none" cap="none" strike="noStrike">
              <a:solidFill>
                <a:schemeClr val="dk1"/>
              </a:solidFill>
              <a:latin typeface="Calibri"/>
              <a:ea typeface="Calibri"/>
              <a:cs typeface="Calibri"/>
              <a:sym typeface="Calibri"/>
            </a:endParaRPr>
          </a:p>
        </p:txBody>
      </p:sp>
      <p:sp>
        <p:nvSpPr>
          <p:cNvPr id="1550" name="Google Shape;1550;p59"/>
          <p:cNvSpPr/>
          <p:nvPr/>
        </p:nvSpPr>
        <p:spPr>
          <a:xfrm>
            <a:off x="228600" y="3200400"/>
            <a:ext cx="8686800" cy="1691700"/>
          </a:xfrm>
          <a:prstGeom prst="roundRect">
            <a:avLst>
              <a:gd fmla="val 5405"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9"/>
          <p:cNvSpPr/>
          <p:nvPr/>
        </p:nvSpPr>
        <p:spPr>
          <a:xfrm>
            <a:off x="384048" y="3273552"/>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300"/>
              <a:buFont typeface="Calibri"/>
              <a:buNone/>
            </a:pPr>
            <a:r>
              <a:rPr b="1" i="0" lang="en" sz="1300" u="none" cap="none" strike="noStrike">
                <a:solidFill>
                  <a:srgbClr val="00796B"/>
                </a:solidFill>
                <a:latin typeface="Calibri"/>
                <a:ea typeface="Calibri"/>
                <a:cs typeface="Calibri"/>
                <a:sym typeface="Calibri"/>
              </a:rPr>
              <a:t>Step 2 — Softmax:  P(word) = exp(logit) / Σ exp(all logits)</a:t>
            </a:r>
            <a:endParaRPr b="0" i="0" sz="1300" u="none" cap="none" strike="noStrike">
              <a:solidFill>
                <a:schemeClr val="dk1"/>
              </a:solidFill>
              <a:latin typeface="Calibri"/>
              <a:ea typeface="Calibri"/>
              <a:cs typeface="Calibri"/>
              <a:sym typeface="Calibri"/>
            </a:endParaRPr>
          </a:p>
        </p:txBody>
      </p:sp>
      <p:sp>
        <p:nvSpPr>
          <p:cNvPr id="1552" name="Google Shape;1552;p59"/>
          <p:cNvSpPr/>
          <p:nvPr/>
        </p:nvSpPr>
        <p:spPr>
          <a:xfrm>
            <a:off x="457200"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the</a:t>
            </a:r>
            <a:endParaRPr b="0" i="0" sz="1100" u="none" cap="none" strike="noStrike">
              <a:solidFill>
                <a:schemeClr val="dk1"/>
              </a:solidFill>
              <a:latin typeface="Calibri"/>
              <a:ea typeface="Calibri"/>
              <a:cs typeface="Calibri"/>
              <a:sym typeface="Calibri"/>
            </a:endParaRPr>
          </a:p>
        </p:txBody>
      </p:sp>
      <p:sp>
        <p:nvSpPr>
          <p:cNvPr id="1553" name="Google Shape;1553;p59"/>
          <p:cNvSpPr/>
          <p:nvPr/>
        </p:nvSpPr>
        <p:spPr>
          <a:xfrm>
            <a:off x="1011509" y="3822192"/>
            <a:ext cx="3543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9"/>
          <p:cNvSpPr/>
          <p:nvPr/>
        </p:nvSpPr>
        <p:spPr>
          <a:xfrm>
            <a:off x="457200"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0.114</a:t>
            </a:r>
            <a:endParaRPr b="0" i="0" sz="1050" u="none" cap="none" strike="noStrike">
              <a:solidFill>
                <a:schemeClr val="dk1"/>
              </a:solidFill>
              <a:latin typeface="Calibri"/>
              <a:ea typeface="Calibri"/>
              <a:cs typeface="Calibri"/>
              <a:sym typeface="Calibri"/>
            </a:endParaRPr>
          </a:p>
        </p:txBody>
      </p:sp>
      <p:sp>
        <p:nvSpPr>
          <p:cNvPr id="1555" name="Google Shape;1555;p59"/>
          <p:cNvSpPr/>
          <p:nvPr/>
        </p:nvSpPr>
        <p:spPr>
          <a:xfrm>
            <a:off x="2157984"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cat</a:t>
            </a:r>
            <a:endParaRPr b="0" i="0" sz="1100" u="none" cap="none" strike="noStrike">
              <a:solidFill>
                <a:schemeClr val="dk1"/>
              </a:solidFill>
              <a:latin typeface="Calibri"/>
              <a:ea typeface="Calibri"/>
              <a:cs typeface="Calibri"/>
              <a:sym typeface="Calibri"/>
            </a:endParaRPr>
          </a:p>
        </p:txBody>
      </p:sp>
      <p:sp>
        <p:nvSpPr>
          <p:cNvPr id="1556" name="Google Shape;1556;p59"/>
          <p:cNvSpPr/>
          <p:nvPr/>
        </p:nvSpPr>
        <p:spPr>
          <a:xfrm>
            <a:off x="2266158" y="3822192"/>
            <a:ext cx="1246800" cy="640200"/>
          </a:xfrm>
          <a:prstGeom prst="rect">
            <a:avLst/>
          </a:prstGeom>
          <a:solidFill>
            <a:srgbClr val="C8E6C9"/>
          </a:solidFill>
          <a:ln cap="flat" cmpd="sng" w="1777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9"/>
          <p:cNvSpPr/>
          <p:nvPr/>
        </p:nvSpPr>
        <p:spPr>
          <a:xfrm>
            <a:off x="2157984"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050"/>
              <a:buFont typeface="Courier New"/>
              <a:buNone/>
            </a:pPr>
            <a:r>
              <a:rPr b="1" i="0" lang="en" sz="1050" u="none" cap="none" strike="noStrike">
                <a:solidFill>
                  <a:srgbClr val="2E7D32"/>
                </a:solidFill>
                <a:latin typeface="Courier New"/>
                <a:ea typeface="Courier New"/>
                <a:cs typeface="Courier New"/>
                <a:sym typeface="Courier New"/>
              </a:rPr>
              <a:t>0.401</a:t>
            </a:r>
            <a:endParaRPr b="0" i="0" sz="1050" u="none" cap="none" strike="noStrike">
              <a:solidFill>
                <a:schemeClr val="dk1"/>
              </a:solidFill>
              <a:latin typeface="Calibri"/>
              <a:ea typeface="Calibri"/>
              <a:cs typeface="Calibri"/>
              <a:sym typeface="Calibri"/>
            </a:endParaRPr>
          </a:p>
        </p:txBody>
      </p:sp>
      <p:sp>
        <p:nvSpPr>
          <p:cNvPr id="1558" name="Google Shape;1558;p59"/>
          <p:cNvSpPr/>
          <p:nvPr/>
        </p:nvSpPr>
        <p:spPr>
          <a:xfrm>
            <a:off x="3858768"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sat</a:t>
            </a:r>
            <a:endParaRPr b="0" i="0" sz="1100" u="none" cap="none" strike="noStrike">
              <a:solidFill>
                <a:schemeClr val="dk1"/>
              </a:solidFill>
              <a:latin typeface="Calibri"/>
              <a:ea typeface="Calibri"/>
              <a:cs typeface="Calibri"/>
              <a:sym typeface="Calibri"/>
            </a:endParaRPr>
          </a:p>
        </p:txBody>
      </p:sp>
      <p:sp>
        <p:nvSpPr>
          <p:cNvPr id="1559" name="Google Shape;1559;p59"/>
          <p:cNvSpPr/>
          <p:nvPr/>
        </p:nvSpPr>
        <p:spPr>
          <a:xfrm>
            <a:off x="4403750" y="3822192"/>
            <a:ext cx="3732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59"/>
          <p:cNvSpPr/>
          <p:nvPr/>
        </p:nvSpPr>
        <p:spPr>
          <a:xfrm>
            <a:off x="3858768"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0.120</a:t>
            </a:r>
            <a:endParaRPr b="0" i="0" sz="1050" u="none" cap="none" strike="noStrike">
              <a:solidFill>
                <a:schemeClr val="dk1"/>
              </a:solidFill>
              <a:latin typeface="Calibri"/>
              <a:ea typeface="Calibri"/>
              <a:cs typeface="Calibri"/>
              <a:sym typeface="Calibri"/>
            </a:endParaRPr>
          </a:p>
        </p:txBody>
      </p:sp>
      <p:sp>
        <p:nvSpPr>
          <p:cNvPr id="1561" name="Google Shape;1561;p59"/>
          <p:cNvSpPr/>
          <p:nvPr/>
        </p:nvSpPr>
        <p:spPr>
          <a:xfrm>
            <a:off x="5559552"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bank</a:t>
            </a:r>
            <a:endParaRPr b="0" i="0" sz="1100" u="none" cap="none" strike="noStrike">
              <a:solidFill>
                <a:schemeClr val="dk1"/>
              </a:solidFill>
              <a:latin typeface="Calibri"/>
              <a:ea typeface="Calibri"/>
              <a:cs typeface="Calibri"/>
              <a:sym typeface="Calibri"/>
            </a:endParaRPr>
          </a:p>
        </p:txBody>
      </p:sp>
      <p:sp>
        <p:nvSpPr>
          <p:cNvPr id="1562" name="Google Shape;1562;p59"/>
          <p:cNvSpPr/>
          <p:nvPr/>
        </p:nvSpPr>
        <p:spPr>
          <a:xfrm>
            <a:off x="5941314" y="3822192"/>
            <a:ext cx="6996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59"/>
          <p:cNvSpPr/>
          <p:nvPr/>
        </p:nvSpPr>
        <p:spPr>
          <a:xfrm>
            <a:off x="5559552"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0.225</a:t>
            </a:r>
            <a:endParaRPr b="0" i="0" sz="1050" u="none" cap="none" strike="noStrike">
              <a:solidFill>
                <a:schemeClr val="dk1"/>
              </a:solidFill>
              <a:latin typeface="Calibri"/>
              <a:ea typeface="Calibri"/>
              <a:cs typeface="Calibri"/>
              <a:sym typeface="Calibri"/>
            </a:endParaRPr>
          </a:p>
        </p:txBody>
      </p:sp>
      <p:sp>
        <p:nvSpPr>
          <p:cNvPr id="1564" name="Google Shape;1564;p59"/>
          <p:cNvSpPr/>
          <p:nvPr/>
        </p:nvSpPr>
        <p:spPr>
          <a:xfrm>
            <a:off x="7260336" y="35844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1100"/>
              <a:buFont typeface="Calibri"/>
              <a:buNone/>
            </a:pPr>
            <a:r>
              <a:rPr b="0" i="0" lang="en" sz="1100" u="none" cap="none" strike="noStrike">
                <a:solidFill>
                  <a:srgbClr val="1A1A2E"/>
                </a:solidFill>
                <a:latin typeface="Calibri"/>
                <a:ea typeface="Calibri"/>
                <a:cs typeface="Calibri"/>
                <a:sym typeface="Calibri"/>
              </a:rPr>
              <a:t>&lt;EOS&gt;</a:t>
            </a:r>
            <a:endParaRPr b="0" i="0" sz="1100" u="none" cap="none" strike="noStrike">
              <a:solidFill>
                <a:schemeClr val="dk1"/>
              </a:solidFill>
              <a:latin typeface="Calibri"/>
              <a:ea typeface="Calibri"/>
              <a:cs typeface="Calibri"/>
              <a:sym typeface="Calibri"/>
            </a:endParaRPr>
          </a:p>
        </p:txBody>
      </p:sp>
      <p:sp>
        <p:nvSpPr>
          <p:cNvPr id="1565" name="Google Shape;1565;p59"/>
          <p:cNvSpPr/>
          <p:nvPr/>
        </p:nvSpPr>
        <p:spPr>
          <a:xfrm>
            <a:off x="7774229" y="3822192"/>
            <a:ext cx="435300" cy="640200"/>
          </a:xfrm>
          <a:prstGeom prst="rect">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59"/>
          <p:cNvSpPr/>
          <p:nvPr/>
        </p:nvSpPr>
        <p:spPr>
          <a:xfrm>
            <a:off x="7260336" y="4498848"/>
            <a:ext cx="14631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ourier New"/>
              <a:buNone/>
            </a:pPr>
            <a:r>
              <a:rPr b="0" i="0" lang="en" sz="1050" u="none" cap="none" strike="noStrike">
                <a:solidFill>
                  <a:srgbClr val="00796B"/>
                </a:solidFill>
                <a:latin typeface="Courier New"/>
                <a:ea typeface="Courier New"/>
                <a:cs typeface="Courier New"/>
                <a:sym typeface="Courier New"/>
              </a:rPr>
              <a:t>0.140</a:t>
            </a:r>
            <a:endParaRPr b="0" i="0" sz="1050" u="none" cap="none" strike="noStrike">
              <a:solidFill>
                <a:schemeClr val="dk1"/>
              </a:solidFill>
              <a:latin typeface="Calibri"/>
              <a:ea typeface="Calibri"/>
              <a:cs typeface="Calibri"/>
              <a:sym typeface="Calibri"/>
            </a:endParaRPr>
          </a:p>
        </p:txBody>
      </p:sp>
      <p:sp>
        <p:nvSpPr>
          <p:cNvPr id="1567" name="Google Shape;1567;p59"/>
          <p:cNvSpPr/>
          <p:nvPr/>
        </p:nvSpPr>
        <p:spPr>
          <a:xfrm>
            <a:off x="384048" y="4736592"/>
            <a:ext cx="8229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(probabilities sum to 1.0)  →  highest probability: "cat" at 40.1%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2" name="Shape 1572"/>
        <p:cNvGrpSpPr/>
        <p:nvPr/>
      </p:nvGrpSpPr>
      <p:grpSpPr>
        <a:xfrm>
          <a:off x="0" y="0"/>
          <a:ext cx="0" cy="0"/>
          <a:chOff x="0" y="0"/>
          <a:chExt cx="0" cy="0"/>
        </a:xfrm>
      </p:grpSpPr>
      <p:sp>
        <p:nvSpPr>
          <p:cNvPr id="1573" name="Google Shape;1573;p60"/>
          <p:cNvSpPr/>
          <p:nvPr/>
        </p:nvSpPr>
        <p:spPr>
          <a:xfrm>
            <a:off x="1325873" y="109625"/>
            <a:ext cx="68829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800" u="none" cap="none" strike="noStrike">
                <a:solidFill>
                  <a:schemeClr val="dk1"/>
                </a:solidFill>
                <a:latin typeface="Calibri"/>
                <a:ea typeface="Calibri"/>
                <a:cs typeface="Calibri"/>
                <a:sym typeface="Calibri"/>
              </a:rPr>
              <a:t>Autoregressive Generation: The Decoder Loop</a:t>
            </a:r>
            <a:endParaRPr b="0" i="0" sz="2800" u="none" cap="none" strike="noStrike">
              <a:solidFill>
                <a:schemeClr val="dk1"/>
              </a:solidFill>
              <a:latin typeface="Calibri"/>
              <a:ea typeface="Calibri"/>
              <a:cs typeface="Calibri"/>
              <a:sym typeface="Calibri"/>
            </a:endParaRPr>
          </a:p>
        </p:txBody>
      </p:sp>
      <p:sp>
        <p:nvSpPr>
          <p:cNvPr id="1574" name="Google Shape;1574;p60"/>
          <p:cNvSpPr/>
          <p:nvPr/>
        </p:nvSpPr>
        <p:spPr>
          <a:xfrm>
            <a:off x="1185000" y="832188"/>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575" name="Google Shape;1575;p60"/>
          <p:cNvSpPr/>
          <p:nvPr/>
        </p:nvSpPr>
        <p:spPr>
          <a:xfrm>
            <a:off x="1592874" y="875888"/>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Start Token</a:t>
            </a:r>
            <a:endParaRPr b="0" i="0" sz="876" u="none" cap="none" strike="noStrike">
              <a:solidFill>
                <a:schemeClr val="dk1"/>
              </a:solidFill>
              <a:latin typeface="Calibri"/>
              <a:ea typeface="Calibri"/>
              <a:cs typeface="Calibri"/>
              <a:sym typeface="Calibri"/>
            </a:endParaRPr>
          </a:p>
        </p:txBody>
      </p:sp>
      <p:sp>
        <p:nvSpPr>
          <p:cNvPr id="1576" name="Google Shape;1576;p60"/>
          <p:cNvSpPr/>
          <p:nvPr/>
        </p:nvSpPr>
        <p:spPr>
          <a:xfrm>
            <a:off x="1592874"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Feed &lt;BOS&gt; as the first decoder input.</a:t>
            </a:r>
            <a:endParaRPr b="0" i="0" sz="757" u="none" cap="none" strike="noStrike">
              <a:solidFill>
                <a:schemeClr val="dk1"/>
              </a:solidFill>
              <a:latin typeface="Calibri"/>
              <a:ea typeface="Calibri"/>
              <a:cs typeface="Calibri"/>
              <a:sym typeface="Calibri"/>
            </a:endParaRPr>
          </a:p>
        </p:txBody>
      </p:sp>
      <p:sp>
        <p:nvSpPr>
          <p:cNvPr id="1577" name="Google Shape;1577;p60"/>
          <p:cNvSpPr/>
          <p:nvPr/>
        </p:nvSpPr>
        <p:spPr>
          <a:xfrm>
            <a:off x="4717481" y="832188"/>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578" name="Google Shape;1578;p60"/>
          <p:cNvSpPr/>
          <p:nvPr/>
        </p:nvSpPr>
        <p:spPr>
          <a:xfrm>
            <a:off x="5125353" y="875900"/>
            <a:ext cx="1209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Forward Pass</a:t>
            </a:r>
            <a:endParaRPr b="0" i="0" sz="876" u="none" cap="none" strike="noStrike">
              <a:solidFill>
                <a:schemeClr val="dk1"/>
              </a:solidFill>
              <a:latin typeface="Calibri"/>
              <a:ea typeface="Calibri"/>
              <a:cs typeface="Calibri"/>
              <a:sym typeface="Calibri"/>
            </a:endParaRPr>
          </a:p>
        </p:txBody>
      </p:sp>
      <p:sp>
        <p:nvSpPr>
          <p:cNvPr id="1579" name="Google Shape;1579;p60"/>
          <p:cNvSpPr/>
          <p:nvPr/>
        </p:nvSpPr>
        <p:spPr>
          <a:xfrm>
            <a:off x="5125355" y="1094390"/>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Masked Self-Attn -&gt; Cross-Attn -&gt; FFN.</a:t>
            </a:r>
            <a:endParaRPr b="0" i="0" sz="757" u="none" cap="none" strike="noStrike">
              <a:solidFill>
                <a:schemeClr val="dk1"/>
              </a:solidFill>
              <a:latin typeface="Calibri"/>
              <a:ea typeface="Calibri"/>
              <a:cs typeface="Calibri"/>
              <a:sym typeface="Calibri"/>
            </a:endParaRPr>
          </a:p>
        </p:txBody>
      </p:sp>
      <p:sp>
        <p:nvSpPr>
          <p:cNvPr id="1580" name="Google Shape;1580;p60"/>
          <p:cNvSpPr/>
          <p:nvPr/>
        </p:nvSpPr>
        <p:spPr>
          <a:xfrm>
            <a:off x="1185000" y="1618796"/>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581" name="Google Shape;1581;p60"/>
          <p:cNvSpPr/>
          <p:nvPr/>
        </p:nvSpPr>
        <p:spPr>
          <a:xfrm>
            <a:off x="1592874" y="1662497"/>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Linear + Softmax</a:t>
            </a:r>
            <a:endParaRPr b="0" i="0" sz="876" u="none" cap="none" strike="noStrike">
              <a:solidFill>
                <a:schemeClr val="dk1"/>
              </a:solidFill>
              <a:latin typeface="Calibri"/>
              <a:ea typeface="Calibri"/>
              <a:cs typeface="Calibri"/>
              <a:sym typeface="Calibri"/>
            </a:endParaRPr>
          </a:p>
        </p:txBody>
      </p:sp>
      <p:sp>
        <p:nvSpPr>
          <p:cNvPr id="1582" name="Google Shape;1582;p60"/>
          <p:cNvSpPr/>
          <p:nvPr/>
        </p:nvSpPr>
        <p:spPr>
          <a:xfrm>
            <a:off x="1592874"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Project to vocab; get probability dist.</a:t>
            </a:r>
            <a:endParaRPr b="0" i="0" sz="757" u="none" cap="none" strike="noStrike">
              <a:solidFill>
                <a:schemeClr val="dk1"/>
              </a:solidFill>
              <a:latin typeface="Calibri"/>
              <a:ea typeface="Calibri"/>
              <a:cs typeface="Calibri"/>
              <a:sym typeface="Calibri"/>
            </a:endParaRPr>
          </a:p>
        </p:txBody>
      </p:sp>
      <p:sp>
        <p:nvSpPr>
          <p:cNvPr id="1583" name="Google Shape;1583;p60"/>
          <p:cNvSpPr/>
          <p:nvPr/>
        </p:nvSpPr>
        <p:spPr>
          <a:xfrm>
            <a:off x="4717481" y="1618796"/>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584" name="Google Shape;1584;p60"/>
          <p:cNvSpPr/>
          <p:nvPr/>
        </p:nvSpPr>
        <p:spPr>
          <a:xfrm>
            <a:off x="5125353" y="1662500"/>
            <a:ext cx="13446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chemeClr val="dk1"/>
                </a:solidFill>
                <a:latin typeface="Calibri"/>
                <a:ea typeface="Calibri"/>
                <a:cs typeface="Calibri"/>
                <a:sym typeface="Calibri"/>
              </a:rPr>
              <a:t>Sample / Argmax</a:t>
            </a:r>
            <a:endParaRPr b="0" i="0" sz="876" u="none" cap="none" strike="noStrike">
              <a:solidFill>
                <a:schemeClr val="dk1"/>
              </a:solidFill>
              <a:latin typeface="Calibri"/>
              <a:ea typeface="Calibri"/>
              <a:cs typeface="Calibri"/>
              <a:sym typeface="Calibri"/>
            </a:endParaRPr>
          </a:p>
        </p:txBody>
      </p:sp>
      <p:sp>
        <p:nvSpPr>
          <p:cNvPr id="1585" name="Google Shape;1585;p60"/>
          <p:cNvSpPr/>
          <p:nvPr/>
        </p:nvSpPr>
        <p:spPr>
          <a:xfrm>
            <a:off x="5125355" y="1880999"/>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chemeClr val="dk1"/>
                </a:solidFill>
                <a:latin typeface="Calibri"/>
                <a:ea typeface="Calibri"/>
                <a:cs typeface="Calibri"/>
                <a:sym typeface="Calibri"/>
              </a:rPr>
              <a:t>Greedy, beam search, or temperature sampling.</a:t>
            </a:r>
            <a:endParaRPr b="0" i="0" sz="757" u="none" cap="none" strike="noStrike">
              <a:solidFill>
                <a:schemeClr val="dk1"/>
              </a:solidFill>
              <a:latin typeface="Calibri"/>
              <a:ea typeface="Calibri"/>
              <a:cs typeface="Calibri"/>
              <a:sym typeface="Calibri"/>
            </a:endParaRPr>
          </a:p>
        </p:txBody>
      </p:sp>
      <p:sp>
        <p:nvSpPr>
          <p:cNvPr id="1586" name="Google Shape;1586;p60"/>
          <p:cNvSpPr/>
          <p:nvPr/>
        </p:nvSpPr>
        <p:spPr>
          <a:xfrm>
            <a:off x="1185000" y="2405405"/>
            <a:ext cx="3350400" cy="714000"/>
          </a:xfrm>
          <a:prstGeom prst="rect">
            <a:avLst/>
          </a:prstGeom>
          <a:noFill/>
          <a:ln cap="flat" cmpd="sng" w="7575">
            <a:solidFill>
              <a:schemeClr val="dk1"/>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587" name="Google Shape;1587;p60"/>
          <p:cNvSpPr/>
          <p:nvPr/>
        </p:nvSpPr>
        <p:spPr>
          <a:xfrm>
            <a:off x="1592874"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Append &amp; Repeat</a:t>
            </a:r>
            <a:endParaRPr b="0" i="0" sz="876" u="none" cap="none" strike="noStrike">
              <a:solidFill>
                <a:schemeClr val="dk1"/>
              </a:solidFill>
              <a:latin typeface="Calibri"/>
              <a:ea typeface="Calibri"/>
              <a:cs typeface="Calibri"/>
              <a:sym typeface="Calibri"/>
            </a:endParaRPr>
          </a:p>
        </p:txBody>
      </p:sp>
      <p:sp>
        <p:nvSpPr>
          <p:cNvPr id="1588" name="Google Shape;1588;p60"/>
          <p:cNvSpPr/>
          <p:nvPr/>
        </p:nvSpPr>
        <p:spPr>
          <a:xfrm>
            <a:off x="1592874"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Append token; repeat from Step 2.</a:t>
            </a:r>
            <a:endParaRPr b="0" i="0" sz="757" u="none" cap="none" strike="noStrike">
              <a:solidFill>
                <a:schemeClr val="dk1"/>
              </a:solidFill>
              <a:latin typeface="Calibri"/>
              <a:ea typeface="Calibri"/>
              <a:cs typeface="Calibri"/>
              <a:sym typeface="Calibri"/>
            </a:endParaRPr>
          </a:p>
        </p:txBody>
      </p:sp>
      <p:sp>
        <p:nvSpPr>
          <p:cNvPr id="1589" name="Google Shape;1589;p60"/>
          <p:cNvSpPr/>
          <p:nvPr/>
        </p:nvSpPr>
        <p:spPr>
          <a:xfrm>
            <a:off x="4717481" y="2405405"/>
            <a:ext cx="3350400" cy="714000"/>
          </a:xfrm>
          <a:prstGeom prst="rect">
            <a:avLst/>
          </a:prstGeom>
          <a:noFill/>
          <a:ln cap="flat" cmpd="sng" w="7575">
            <a:solidFill>
              <a:srgbClr val="222222"/>
            </a:solidFill>
            <a:prstDash val="solid"/>
            <a:round/>
            <a:headEnd len="sm" w="sm" type="none"/>
            <a:tailEnd len="sm" w="sm" type="none"/>
          </a:ln>
        </p:spPr>
        <p:txBody>
          <a:bodyPr anchorCtr="0" anchor="ctr" bIns="72825" lIns="72825" spcFirstLastPara="1" rIns="72825" wrap="square" tIns="72825">
            <a:noAutofit/>
          </a:bodyPr>
          <a:lstStyle/>
          <a:p>
            <a:pPr indent="0" lvl="0" marL="0" rtl="0" algn="l">
              <a:spcBef>
                <a:spcPts val="0"/>
              </a:spcBef>
              <a:spcAft>
                <a:spcPts val="0"/>
              </a:spcAft>
              <a:buNone/>
            </a:pPr>
            <a:r>
              <a:t/>
            </a:r>
            <a:endParaRPr/>
          </a:p>
        </p:txBody>
      </p:sp>
      <p:sp>
        <p:nvSpPr>
          <p:cNvPr id="1590" name="Google Shape;1590;p60"/>
          <p:cNvSpPr/>
          <p:nvPr/>
        </p:nvSpPr>
        <p:spPr>
          <a:xfrm>
            <a:off x="5125355" y="2449105"/>
            <a:ext cx="2877300" cy="20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876"/>
              <a:buFont typeface="Calibri"/>
              <a:buNone/>
            </a:pPr>
            <a:r>
              <a:rPr b="1" i="0" lang="en" sz="876" u="none" cap="none" strike="noStrike">
                <a:solidFill>
                  <a:srgbClr val="1B3A6B"/>
                </a:solidFill>
                <a:latin typeface="Calibri"/>
                <a:ea typeface="Calibri"/>
                <a:cs typeface="Calibri"/>
                <a:sym typeface="Calibri"/>
              </a:rPr>
              <a:t>Stop Condition</a:t>
            </a:r>
            <a:endParaRPr b="0" i="0" sz="876" u="none" cap="none" strike="noStrike">
              <a:solidFill>
                <a:schemeClr val="dk1"/>
              </a:solidFill>
              <a:latin typeface="Calibri"/>
              <a:ea typeface="Calibri"/>
              <a:cs typeface="Calibri"/>
              <a:sym typeface="Calibri"/>
            </a:endParaRPr>
          </a:p>
        </p:txBody>
      </p:sp>
      <p:sp>
        <p:nvSpPr>
          <p:cNvPr id="1591" name="Google Shape;1591;p60"/>
          <p:cNvSpPr/>
          <p:nvPr/>
        </p:nvSpPr>
        <p:spPr>
          <a:xfrm>
            <a:off x="5125355" y="2667608"/>
            <a:ext cx="28773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757"/>
              <a:buFont typeface="Calibri"/>
              <a:buNone/>
            </a:pPr>
            <a:r>
              <a:rPr b="0" i="0" lang="en" sz="757" u="none" cap="none" strike="noStrike">
                <a:solidFill>
                  <a:srgbClr val="333333"/>
                </a:solidFill>
                <a:latin typeface="Calibri"/>
                <a:ea typeface="Calibri"/>
                <a:cs typeface="Calibri"/>
                <a:sym typeface="Calibri"/>
              </a:rPr>
              <a:t>Halt at &lt;EOS&gt; or max sequence length.</a:t>
            </a:r>
            <a:endParaRPr b="0" i="0" sz="757" u="none" cap="none" strike="noStrike">
              <a:solidFill>
                <a:schemeClr val="dk1"/>
              </a:solidFill>
              <a:latin typeface="Calibri"/>
              <a:ea typeface="Calibri"/>
              <a:cs typeface="Calibri"/>
              <a:sym typeface="Calibri"/>
            </a:endParaRPr>
          </a:p>
        </p:txBody>
      </p:sp>
      <p:sp>
        <p:nvSpPr>
          <p:cNvPr id="1592" name="Google Shape;1592;p60"/>
          <p:cNvSpPr/>
          <p:nvPr/>
        </p:nvSpPr>
        <p:spPr>
          <a:xfrm>
            <a:off x="1185000" y="3119400"/>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def generate(model, src, max_len=50, bos=1, eos=2):</a:t>
            </a:r>
            <a:endParaRPr b="1" i="0" sz="1000" u="none" cap="none" strike="noStrike">
              <a:solidFill>
                <a:schemeClr val="dk1"/>
              </a:solidFill>
              <a:latin typeface="Calibri"/>
              <a:ea typeface="Calibri"/>
              <a:cs typeface="Calibri"/>
              <a:sym typeface="Calibri"/>
            </a:endParaRPr>
          </a:p>
        </p:txBody>
      </p:sp>
      <p:sp>
        <p:nvSpPr>
          <p:cNvPr id="1593" name="Google Shape;1593;p60"/>
          <p:cNvSpPr/>
          <p:nvPr/>
        </p:nvSpPr>
        <p:spPr>
          <a:xfrm>
            <a:off x="1185000" y="3315997"/>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enc_out = model.encoder(src)         # encode source once</a:t>
            </a:r>
            <a:endParaRPr b="1" i="0" sz="1000" u="none" cap="none" strike="noStrike">
              <a:solidFill>
                <a:schemeClr val="dk1"/>
              </a:solidFill>
              <a:latin typeface="Calibri"/>
              <a:ea typeface="Calibri"/>
              <a:cs typeface="Calibri"/>
              <a:sym typeface="Calibri"/>
            </a:endParaRPr>
          </a:p>
        </p:txBody>
      </p:sp>
      <p:sp>
        <p:nvSpPr>
          <p:cNvPr id="1594" name="Google Shape;1594;p60"/>
          <p:cNvSpPr/>
          <p:nvPr/>
        </p:nvSpPr>
        <p:spPr>
          <a:xfrm>
            <a:off x="1185000" y="3512594"/>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tgt = torch.tensor([[bos]])              # start with &lt;BOS&gt;</a:t>
            </a:r>
            <a:endParaRPr b="1" i="0" sz="1000" u="none" cap="none" strike="noStrike">
              <a:solidFill>
                <a:schemeClr val="dk1"/>
              </a:solidFill>
              <a:latin typeface="Calibri"/>
              <a:ea typeface="Calibri"/>
              <a:cs typeface="Calibri"/>
              <a:sym typeface="Calibri"/>
            </a:endParaRPr>
          </a:p>
        </p:txBody>
      </p:sp>
      <p:sp>
        <p:nvSpPr>
          <p:cNvPr id="1595" name="Google Shape;1595;p60"/>
          <p:cNvSpPr/>
          <p:nvPr/>
        </p:nvSpPr>
        <p:spPr>
          <a:xfrm>
            <a:off x="1185000" y="3709192"/>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    for _ in range(max_len):</a:t>
            </a:r>
            <a:endParaRPr b="1" i="0" sz="1000" u="none" cap="none" strike="noStrike">
              <a:solidFill>
                <a:schemeClr val="dk1"/>
              </a:solidFill>
              <a:latin typeface="Calibri"/>
              <a:ea typeface="Calibri"/>
              <a:cs typeface="Calibri"/>
              <a:sym typeface="Calibri"/>
            </a:endParaRPr>
          </a:p>
        </p:txBody>
      </p:sp>
      <p:sp>
        <p:nvSpPr>
          <p:cNvPr id="1596" name="Google Shape;1596;p60"/>
          <p:cNvSpPr/>
          <p:nvPr/>
        </p:nvSpPr>
        <p:spPr>
          <a:xfrm>
            <a:off x="1185000" y="3905789"/>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mask = causal_mask(tgt.size(1))   # rebuild mask each step</a:t>
            </a:r>
            <a:endParaRPr b="1" i="0" sz="1000" u="none" cap="none" strike="noStrike">
              <a:solidFill>
                <a:schemeClr val="dk1"/>
              </a:solidFill>
              <a:latin typeface="Calibri"/>
              <a:ea typeface="Calibri"/>
              <a:cs typeface="Calibri"/>
              <a:sym typeface="Calibri"/>
            </a:endParaRPr>
          </a:p>
        </p:txBody>
      </p:sp>
      <p:sp>
        <p:nvSpPr>
          <p:cNvPr id="1597" name="Google Shape;1597;p60"/>
          <p:cNvSpPr/>
          <p:nvPr/>
        </p:nvSpPr>
        <p:spPr>
          <a:xfrm>
            <a:off x="1185000" y="4102386"/>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logits = model.decoder(tgt, enc_out, mask)[:, -1, :]</a:t>
            </a:r>
            <a:endParaRPr b="1" i="0" sz="1000" u="none" cap="none" strike="noStrike">
              <a:solidFill>
                <a:schemeClr val="dk1"/>
              </a:solidFill>
              <a:latin typeface="Calibri"/>
              <a:ea typeface="Calibri"/>
              <a:cs typeface="Calibri"/>
              <a:sym typeface="Calibri"/>
            </a:endParaRPr>
          </a:p>
        </p:txBody>
      </p:sp>
      <p:sp>
        <p:nvSpPr>
          <p:cNvPr id="1598" name="Google Shape;1598;p60"/>
          <p:cNvSpPr/>
          <p:nvPr/>
        </p:nvSpPr>
        <p:spPr>
          <a:xfrm>
            <a:off x="1185000" y="4298983"/>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next_tok = logits.argmax(dim=-1).unsqueeze(0)  # greedy decode</a:t>
            </a:r>
            <a:endParaRPr b="1" i="0" sz="1000" u="none" cap="none" strike="noStrike">
              <a:solidFill>
                <a:schemeClr val="dk1"/>
              </a:solidFill>
              <a:latin typeface="Calibri"/>
              <a:ea typeface="Calibri"/>
              <a:cs typeface="Calibri"/>
              <a:sym typeface="Calibri"/>
            </a:endParaRPr>
          </a:p>
        </p:txBody>
      </p:sp>
      <p:sp>
        <p:nvSpPr>
          <p:cNvPr id="1599" name="Google Shape;1599;p60"/>
          <p:cNvSpPr/>
          <p:nvPr/>
        </p:nvSpPr>
        <p:spPr>
          <a:xfrm>
            <a:off x="1185000" y="4495580"/>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00" u="none" cap="none" strike="noStrike">
                <a:solidFill>
                  <a:schemeClr val="dk1"/>
                </a:solidFill>
                <a:latin typeface="Courier New"/>
                <a:ea typeface="Courier New"/>
                <a:cs typeface="Courier New"/>
                <a:sym typeface="Courier New"/>
              </a:rPr>
              <a:t>        tgt = torch.cat([tgt, next_tok], dim=-1)  # append token</a:t>
            </a:r>
            <a:endParaRPr b="1" i="0" sz="1000" u="none" cap="none" strike="noStrike">
              <a:solidFill>
                <a:schemeClr val="dk1"/>
              </a:solidFill>
              <a:latin typeface="Calibri"/>
              <a:ea typeface="Calibri"/>
              <a:cs typeface="Calibri"/>
              <a:sym typeface="Calibri"/>
            </a:endParaRPr>
          </a:p>
        </p:txBody>
      </p:sp>
      <p:sp>
        <p:nvSpPr>
          <p:cNvPr id="1600" name="Google Shape;1600;p60"/>
          <p:cNvSpPr/>
          <p:nvPr/>
        </p:nvSpPr>
        <p:spPr>
          <a:xfrm>
            <a:off x="1185000" y="4692178"/>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        if next_tok.item() == eos: break  # stop at &lt;EOS&gt;</a:t>
            </a:r>
            <a:endParaRPr b="1" i="0" sz="1000" u="none" cap="none" strike="noStrike">
              <a:solidFill>
                <a:schemeClr val="dk1"/>
              </a:solidFill>
              <a:latin typeface="Calibri"/>
              <a:ea typeface="Calibri"/>
              <a:cs typeface="Calibri"/>
              <a:sym typeface="Calibri"/>
            </a:endParaRPr>
          </a:p>
        </p:txBody>
      </p:sp>
      <p:sp>
        <p:nvSpPr>
          <p:cNvPr id="1601" name="Google Shape;1601;p60"/>
          <p:cNvSpPr/>
          <p:nvPr/>
        </p:nvSpPr>
        <p:spPr>
          <a:xfrm>
            <a:off x="1185000" y="4888775"/>
            <a:ext cx="6004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00" u="none" cap="none" strike="noStrike">
                <a:solidFill>
                  <a:schemeClr val="dk1"/>
                </a:solidFill>
                <a:latin typeface="Courier New"/>
                <a:ea typeface="Courier New"/>
                <a:cs typeface="Courier New"/>
                <a:sym typeface="Courier New"/>
              </a:rPr>
              <a:t>    return tgt</a:t>
            </a:r>
            <a:endParaRPr b="1" i="0" sz="1000" u="none" cap="none" strike="noStrike">
              <a:solidFill>
                <a:schemeClr val="dk1"/>
              </a:solidFill>
              <a:latin typeface="Calibri"/>
              <a:ea typeface="Calibri"/>
              <a:cs typeface="Calibri"/>
              <a:sym typeface="Calibri"/>
            </a:endParaRPr>
          </a:p>
        </p:txBody>
      </p:sp>
      <p:pic>
        <p:nvPicPr>
          <p:cNvPr id="1602" name="Google Shape;1602;p60"/>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07" name="Shape 1607"/>
        <p:cNvGrpSpPr/>
        <p:nvPr/>
      </p:nvGrpSpPr>
      <p:grpSpPr>
        <a:xfrm>
          <a:off x="0" y="0"/>
          <a:ext cx="0" cy="0"/>
          <a:chOff x="0" y="0"/>
          <a:chExt cx="0" cy="0"/>
        </a:xfrm>
      </p:grpSpPr>
      <p:sp>
        <p:nvSpPr>
          <p:cNvPr id="1608" name="Google Shape;1608;p61"/>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700"/>
              <a:buFont typeface="Calibri"/>
              <a:buNone/>
            </a:pPr>
            <a:r>
              <a:rPr b="1" i="0" lang="en" sz="2700" u="none" cap="none" strike="noStrike">
                <a:solidFill>
                  <a:srgbClr val="1A1A2E"/>
                </a:solidFill>
                <a:latin typeface="Calibri"/>
                <a:ea typeface="Calibri"/>
                <a:cs typeface="Calibri"/>
                <a:sym typeface="Calibri"/>
              </a:rPr>
              <a:t>Autoregressive Generation — Step by Step Example</a:t>
            </a:r>
            <a:endParaRPr b="0" i="0" sz="2700" u="none" cap="none" strike="noStrike">
              <a:solidFill>
                <a:schemeClr val="dk1"/>
              </a:solidFill>
              <a:latin typeface="Calibri"/>
              <a:ea typeface="Calibri"/>
              <a:cs typeface="Calibri"/>
              <a:sym typeface="Calibri"/>
            </a:endParaRPr>
          </a:p>
        </p:txBody>
      </p:sp>
      <p:sp>
        <p:nvSpPr>
          <p:cNvPr id="1609" name="Google Shape;1609;p61"/>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Translating "I love you" → "Je t'aime" : how the decoder loop runs token by token</a:t>
            </a:r>
            <a:endParaRPr b="0" i="0" sz="1200" u="none" cap="none" strike="noStrike">
              <a:solidFill>
                <a:schemeClr val="dk1"/>
              </a:solidFill>
              <a:latin typeface="Calibri"/>
              <a:ea typeface="Calibri"/>
              <a:cs typeface="Calibri"/>
              <a:sym typeface="Calibri"/>
            </a:endParaRPr>
          </a:p>
        </p:txBody>
      </p:sp>
      <p:sp>
        <p:nvSpPr>
          <p:cNvPr id="1610" name="Google Shape;1610;p61"/>
          <p:cNvSpPr/>
          <p:nvPr/>
        </p:nvSpPr>
        <p:spPr>
          <a:xfrm>
            <a:off x="365760"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61"/>
          <p:cNvSpPr/>
          <p:nvPr/>
        </p:nvSpPr>
        <p:spPr>
          <a:xfrm>
            <a:off x="365760" y="3822192"/>
            <a:ext cx="19659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61"/>
          <p:cNvSpPr/>
          <p:nvPr/>
        </p:nvSpPr>
        <p:spPr>
          <a:xfrm>
            <a:off x="475488"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①  </a:t>
            </a:r>
            <a:r>
              <a:rPr b="1" i="0" lang="en" sz="950" u="none" cap="none" strike="noStrike">
                <a:solidFill>
                  <a:srgbClr val="1A1A2E"/>
                </a:solidFill>
                <a:latin typeface="Calibri"/>
                <a:ea typeface="Calibri"/>
                <a:cs typeface="Calibri"/>
                <a:sym typeface="Calibri"/>
              </a:rPr>
              <a:t>Encoder runs ONCE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Source sentence is encoded into enc_out and held fixed. The decoder re-reads it at every step via cross-attention.</a:t>
            </a:r>
            <a:endParaRPr b="0" i="0" sz="1100" u="none" cap="none" strike="noStrike">
              <a:solidFill>
                <a:schemeClr val="dk1"/>
              </a:solidFill>
              <a:latin typeface="Calibri"/>
              <a:ea typeface="Calibri"/>
              <a:cs typeface="Calibri"/>
              <a:sym typeface="Calibri"/>
            </a:endParaRPr>
          </a:p>
        </p:txBody>
      </p:sp>
      <p:sp>
        <p:nvSpPr>
          <p:cNvPr id="1613" name="Google Shape;1613;p61"/>
          <p:cNvSpPr/>
          <p:nvPr/>
        </p:nvSpPr>
        <p:spPr>
          <a:xfrm>
            <a:off x="2395728"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61"/>
          <p:cNvSpPr/>
          <p:nvPr/>
        </p:nvSpPr>
        <p:spPr>
          <a:xfrm>
            <a:off x="2395728" y="3822192"/>
            <a:ext cx="1965900" cy="3660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1"/>
          <p:cNvSpPr/>
          <p:nvPr/>
        </p:nvSpPr>
        <p:spPr>
          <a:xfrm>
            <a:off x="2505456"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②  </a:t>
            </a:r>
            <a:r>
              <a:rPr b="1" i="0" lang="en" sz="950" u="none" cap="none" strike="noStrike">
                <a:solidFill>
                  <a:srgbClr val="1A1A2E"/>
                </a:solidFill>
                <a:latin typeface="Calibri"/>
                <a:ea typeface="Calibri"/>
                <a:cs typeface="Calibri"/>
                <a:sym typeface="Calibri"/>
              </a:rPr>
              <a:t>Mask grows each step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Step 1: mask is 1×1. Step 2: 2×2. Step 3: 3×3. Rebuilt every iteration as the target sequence lengthens.</a:t>
            </a:r>
            <a:endParaRPr b="0" i="0" sz="1100" u="none" cap="none" strike="noStrike">
              <a:solidFill>
                <a:schemeClr val="dk1"/>
              </a:solidFill>
              <a:latin typeface="Calibri"/>
              <a:ea typeface="Calibri"/>
              <a:cs typeface="Calibri"/>
              <a:sym typeface="Calibri"/>
            </a:endParaRPr>
          </a:p>
        </p:txBody>
      </p:sp>
      <p:sp>
        <p:nvSpPr>
          <p:cNvPr id="1616" name="Google Shape;1616;p61"/>
          <p:cNvSpPr/>
          <p:nvPr/>
        </p:nvSpPr>
        <p:spPr>
          <a:xfrm>
            <a:off x="4425696"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61"/>
          <p:cNvSpPr/>
          <p:nvPr/>
        </p:nvSpPr>
        <p:spPr>
          <a:xfrm>
            <a:off x="4425696" y="3822192"/>
            <a:ext cx="1965900" cy="366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1"/>
          <p:cNvSpPr/>
          <p:nvPr/>
        </p:nvSpPr>
        <p:spPr>
          <a:xfrm>
            <a:off x="4535424"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③  </a:t>
            </a:r>
            <a:r>
              <a:rPr b="1" i="0" lang="en" sz="950" u="none" cap="none" strike="noStrike">
                <a:solidFill>
                  <a:srgbClr val="1A1A2E"/>
                </a:solidFill>
                <a:latin typeface="Calibri"/>
                <a:ea typeface="Calibri"/>
                <a:cs typeface="Calibri"/>
                <a:sym typeface="Calibri"/>
              </a:rPr>
              <a:t>Append &amp; repeat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Each predicted token is concatenated to the input and fed back in. The decoder sees its own growing output.</a:t>
            </a:r>
            <a:endParaRPr b="0" i="0" sz="1100" u="none" cap="none" strike="noStrike">
              <a:solidFill>
                <a:schemeClr val="dk1"/>
              </a:solidFill>
              <a:latin typeface="Calibri"/>
              <a:ea typeface="Calibri"/>
              <a:cs typeface="Calibri"/>
              <a:sym typeface="Calibri"/>
            </a:endParaRPr>
          </a:p>
        </p:txBody>
      </p:sp>
      <p:sp>
        <p:nvSpPr>
          <p:cNvPr id="1619" name="Google Shape;1619;p61"/>
          <p:cNvSpPr/>
          <p:nvPr/>
        </p:nvSpPr>
        <p:spPr>
          <a:xfrm>
            <a:off x="6455664" y="3822192"/>
            <a:ext cx="1965900" cy="896100"/>
          </a:xfrm>
          <a:prstGeom prst="rect">
            <a:avLst/>
          </a:prstGeom>
          <a:solidFill>
            <a:srgbClr val="F0FDF4"/>
          </a:solidFill>
          <a:ln cap="flat" cmpd="sng" w="254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61"/>
          <p:cNvSpPr/>
          <p:nvPr/>
        </p:nvSpPr>
        <p:spPr>
          <a:xfrm>
            <a:off x="6455664" y="3822192"/>
            <a:ext cx="1965900" cy="366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61"/>
          <p:cNvSpPr/>
          <p:nvPr/>
        </p:nvSpPr>
        <p:spPr>
          <a:xfrm>
            <a:off x="6565392"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&lt;EOS&gt; stops the loop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When the model predicts &lt;EOS&gt;, or max_len is reached, generation halts. Output is everything between &lt;BOS&gt; and &lt;EOS&gt;.</a:t>
            </a:r>
            <a:endParaRPr b="0" i="0" sz="1100" u="none" cap="none" strike="noStrike">
              <a:solidFill>
                <a:schemeClr val="dk1"/>
              </a:solidFill>
              <a:latin typeface="Calibri"/>
              <a:ea typeface="Calibri"/>
              <a:cs typeface="Calibri"/>
              <a:sym typeface="Calibri"/>
            </a:endParaRPr>
          </a:p>
        </p:txBody>
      </p:sp>
      <p:pic>
        <p:nvPicPr>
          <p:cNvPr descr="please beutify the image " id="1622" name="Google Shape;1622;p61"/>
          <p:cNvPicPr preferRelativeResize="0"/>
          <p:nvPr/>
        </p:nvPicPr>
        <p:blipFill>
          <a:blip r:embed="rId3">
            <a:alphaModFix/>
          </a:blip>
          <a:stretch>
            <a:fillRect/>
          </a:stretch>
        </p:blipFill>
        <p:spPr>
          <a:xfrm>
            <a:off x="651051" y="1023538"/>
            <a:ext cx="7770525" cy="26711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27" name="Shape 1627"/>
        <p:cNvGrpSpPr/>
        <p:nvPr/>
      </p:nvGrpSpPr>
      <p:grpSpPr>
        <a:xfrm>
          <a:off x="0" y="0"/>
          <a:ext cx="0" cy="0"/>
          <a:chOff x="0" y="0"/>
          <a:chExt cx="0" cy="0"/>
        </a:xfrm>
      </p:grpSpPr>
      <p:sp>
        <p:nvSpPr>
          <p:cNvPr id="1628" name="Google Shape;1628;p62"/>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700"/>
              <a:buFont typeface="Calibri"/>
              <a:buNone/>
            </a:pPr>
            <a:r>
              <a:rPr b="1" i="0" lang="en" sz="2700" u="none" cap="none" strike="noStrike">
                <a:solidFill>
                  <a:srgbClr val="1A1A2E"/>
                </a:solidFill>
                <a:latin typeface="Calibri"/>
                <a:ea typeface="Calibri"/>
                <a:cs typeface="Calibri"/>
                <a:sym typeface="Calibri"/>
              </a:rPr>
              <a:t>From Attention to Pretrained Models</a:t>
            </a:r>
            <a:endParaRPr b="0" i="0" sz="2700" u="none" cap="none" strike="noStrike">
              <a:solidFill>
                <a:schemeClr val="dk1"/>
              </a:solidFill>
              <a:latin typeface="Calibri"/>
              <a:ea typeface="Calibri"/>
              <a:cs typeface="Calibri"/>
              <a:sym typeface="Calibri"/>
            </a:endParaRPr>
          </a:p>
        </p:txBody>
      </p:sp>
      <p:sp>
        <p:nvSpPr>
          <p:cNvPr id="1629" name="Google Shape;1629;p62"/>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Why the Transformer's attention mechanism makes pretraining not just possible — but inevitable</a:t>
            </a:r>
            <a:endParaRPr b="0" i="0" sz="1200" u="none" cap="none" strike="noStrike">
              <a:solidFill>
                <a:schemeClr val="dk1"/>
              </a:solidFill>
              <a:latin typeface="Calibri"/>
              <a:ea typeface="Calibri"/>
              <a:cs typeface="Calibri"/>
              <a:sym typeface="Calibri"/>
            </a:endParaRPr>
          </a:p>
        </p:txBody>
      </p:sp>
      <p:sp>
        <p:nvSpPr>
          <p:cNvPr id="1630" name="Google Shape;1630;p62"/>
          <p:cNvSpPr/>
          <p:nvPr/>
        </p:nvSpPr>
        <p:spPr>
          <a:xfrm>
            <a:off x="457200" y="896112"/>
            <a:ext cx="82296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1" name="Google Shape;1631;p62"/>
          <p:cNvPicPr preferRelativeResize="0"/>
          <p:nvPr/>
        </p:nvPicPr>
        <p:blipFill rotWithShape="1">
          <a:blip r:embed="rId3">
            <a:alphaModFix/>
          </a:blip>
          <a:srcRect b="0" l="0" r="0" t="0"/>
          <a:stretch/>
        </p:blipFill>
        <p:spPr>
          <a:xfrm>
            <a:off x="137160" y="960120"/>
            <a:ext cx="8869681" cy="2834639"/>
          </a:xfrm>
          <a:prstGeom prst="rect">
            <a:avLst/>
          </a:prstGeom>
          <a:noFill/>
          <a:ln>
            <a:noFill/>
          </a:ln>
        </p:spPr>
      </p:pic>
      <p:sp>
        <p:nvSpPr>
          <p:cNvPr id="1632" name="Google Shape;1632;p62"/>
          <p:cNvSpPr/>
          <p:nvPr/>
        </p:nvSpPr>
        <p:spPr>
          <a:xfrm>
            <a:off x="365760"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62"/>
          <p:cNvSpPr/>
          <p:nvPr/>
        </p:nvSpPr>
        <p:spPr>
          <a:xfrm>
            <a:off x="365760" y="3822192"/>
            <a:ext cx="19659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62"/>
          <p:cNvSpPr/>
          <p:nvPr/>
        </p:nvSpPr>
        <p:spPr>
          <a:xfrm>
            <a:off x="475488"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Attention = general representations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Q, K, V weight matrices learn universal patterns of language — syntax, semantics, coreference — not task-specific features.</a:t>
            </a:r>
            <a:endParaRPr b="0" i="0" sz="1100" u="none" cap="none" strike="noStrike">
              <a:solidFill>
                <a:schemeClr val="dk1"/>
              </a:solidFill>
              <a:latin typeface="Calibri"/>
              <a:ea typeface="Calibri"/>
              <a:cs typeface="Calibri"/>
              <a:sym typeface="Calibri"/>
            </a:endParaRPr>
          </a:p>
        </p:txBody>
      </p:sp>
      <p:sp>
        <p:nvSpPr>
          <p:cNvPr id="1635" name="Google Shape;1635;p62"/>
          <p:cNvSpPr/>
          <p:nvPr/>
        </p:nvSpPr>
        <p:spPr>
          <a:xfrm>
            <a:off x="2395728"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62"/>
          <p:cNvSpPr/>
          <p:nvPr/>
        </p:nvSpPr>
        <p:spPr>
          <a:xfrm>
            <a:off x="2395728" y="3822192"/>
            <a:ext cx="1965900" cy="366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62"/>
          <p:cNvSpPr/>
          <p:nvPr/>
        </p:nvSpPr>
        <p:spPr>
          <a:xfrm>
            <a:off x="2505456"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97706"/>
              </a:buClr>
              <a:buSzPts val="1100"/>
              <a:buFont typeface="Calibri"/>
              <a:buNone/>
            </a:pPr>
            <a:r>
              <a:rPr b="1" i="0" lang="en" sz="1100" u="none" cap="none" strike="noStrike">
                <a:solidFill>
                  <a:srgbClr val="D97706"/>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The key insight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General representations trained once on massive data transfer to any downstream task. Task-specific labels steer, not rebuild.</a:t>
            </a:r>
            <a:endParaRPr b="0" i="0" sz="1100" u="none" cap="none" strike="noStrike">
              <a:solidFill>
                <a:schemeClr val="dk1"/>
              </a:solidFill>
              <a:latin typeface="Calibri"/>
              <a:ea typeface="Calibri"/>
              <a:cs typeface="Calibri"/>
              <a:sym typeface="Calibri"/>
            </a:endParaRPr>
          </a:p>
        </p:txBody>
      </p:sp>
      <p:sp>
        <p:nvSpPr>
          <p:cNvPr id="1638" name="Google Shape;1638;p62"/>
          <p:cNvSpPr/>
          <p:nvPr/>
        </p:nvSpPr>
        <p:spPr>
          <a:xfrm>
            <a:off x="4425696" y="3822192"/>
            <a:ext cx="1965900" cy="8961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2"/>
          <p:cNvSpPr/>
          <p:nvPr/>
        </p:nvSpPr>
        <p:spPr>
          <a:xfrm>
            <a:off x="4425696" y="3822192"/>
            <a:ext cx="1965900" cy="366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62"/>
          <p:cNvSpPr/>
          <p:nvPr/>
        </p:nvSpPr>
        <p:spPr>
          <a:xfrm>
            <a:off x="4535424"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Pretraining = learning attention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BERT/GPT pretraining IS learning the Q, K, V projections. Fine-tuning adjusts them. PEFT injects tiny changes (LoRA Δ).</a:t>
            </a:r>
            <a:endParaRPr b="0" i="0" sz="1100" u="none" cap="none" strike="noStrike">
              <a:solidFill>
                <a:schemeClr val="dk1"/>
              </a:solidFill>
              <a:latin typeface="Calibri"/>
              <a:ea typeface="Calibri"/>
              <a:cs typeface="Calibri"/>
              <a:sym typeface="Calibri"/>
            </a:endParaRPr>
          </a:p>
        </p:txBody>
      </p:sp>
      <p:sp>
        <p:nvSpPr>
          <p:cNvPr id="1641" name="Google Shape;1641;p62"/>
          <p:cNvSpPr/>
          <p:nvPr/>
        </p:nvSpPr>
        <p:spPr>
          <a:xfrm>
            <a:off x="6455664" y="3822192"/>
            <a:ext cx="1965900" cy="896100"/>
          </a:xfrm>
          <a:prstGeom prst="rect">
            <a:avLst/>
          </a:prstGeom>
          <a:solidFill>
            <a:srgbClr val="F0FDF4"/>
          </a:solidFill>
          <a:ln cap="flat" cmpd="sng" w="254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62"/>
          <p:cNvSpPr/>
          <p:nvPr/>
        </p:nvSpPr>
        <p:spPr>
          <a:xfrm>
            <a:off x="6455664" y="3822192"/>
            <a:ext cx="1965900" cy="366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62"/>
          <p:cNvSpPr/>
          <p:nvPr/>
        </p:nvSpPr>
        <p:spPr>
          <a:xfrm>
            <a:off x="6565392" y="3886200"/>
            <a:ext cx="1783200" cy="786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Unified view</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80"/>
              <a:buFont typeface="Calibri"/>
              <a:buNone/>
            </a:pPr>
            <a:r>
              <a:rPr b="0" i="0" lang="en" sz="880" u="none" cap="none" strike="noStrike">
                <a:solidFill>
                  <a:srgbClr val="546E7A"/>
                </a:solidFill>
                <a:latin typeface="Calibri"/>
                <a:ea typeface="Calibri"/>
                <a:cs typeface="Calibri"/>
                <a:sym typeface="Calibri"/>
              </a:rPr>
              <a:t>Every model from BERT to GPT-4 to LLaMA is the same idea: Transformer attention pretrained at scale, steered at fine-tune time.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8" name="Shape 1648"/>
        <p:cNvGrpSpPr/>
        <p:nvPr/>
      </p:nvGrpSpPr>
      <p:grpSpPr>
        <a:xfrm>
          <a:off x="0" y="0"/>
          <a:ext cx="0" cy="0"/>
          <a:chOff x="0" y="0"/>
          <a:chExt cx="0" cy="0"/>
        </a:xfrm>
      </p:grpSpPr>
      <p:sp>
        <p:nvSpPr>
          <p:cNvPr id="1649" name="Google Shape;1649;p63"/>
          <p:cNvSpPr/>
          <p:nvPr/>
        </p:nvSpPr>
        <p:spPr>
          <a:xfrm>
            <a:off x="2446152" y="228525"/>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The Modern Transformer Zoo</a:t>
            </a:r>
            <a:endParaRPr b="0" i="0" sz="2800" u="none" cap="none" strike="noStrike">
              <a:solidFill>
                <a:schemeClr val="dk1"/>
              </a:solidFill>
              <a:latin typeface="Calibri"/>
              <a:ea typeface="Calibri"/>
              <a:cs typeface="Calibri"/>
              <a:sym typeface="Calibri"/>
            </a:endParaRPr>
          </a:p>
        </p:txBody>
      </p:sp>
      <p:sp>
        <p:nvSpPr>
          <p:cNvPr id="1650" name="Google Shape;1650;p63"/>
          <p:cNvSpPr/>
          <p:nvPr/>
        </p:nvSpPr>
        <p:spPr>
          <a:xfrm>
            <a:off x="320040" y="1188720"/>
            <a:ext cx="2651700" cy="1463100"/>
          </a:xfrm>
          <a:prstGeom prst="rect">
            <a:avLst/>
          </a:prstGeom>
          <a:noFill/>
          <a:ln cap="flat" cmpd="sng" w="15225">
            <a:solidFill>
              <a:srgbClr val="0077AA"/>
            </a:solidFill>
            <a:prstDash val="solid"/>
            <a:round/>
            <a:headEnd len="sm" w="sm" type="none"/>
            <a:tailEnd len="sm" w="sm" type="none"/>
          </a:ln>
          <a:effectLst>
            <a:outerShdw blurRad="101600" rotWithShape="0" algn="bl" dir="8100000" dist="38100">
              <a:srgbClr val="000000">
                <a:alpha val="3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63"/>
          <p:cNvSpPr/>
          <p:nvPr/>
        </p:nvSpPr>
        <p:spPr>
          <a:xfrm>
            <a:off x="411480" y="129844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77AA"/>
              </a:buClr>
              <a:buSzPts val="2200"/>
              <a:buFont typeface="Calibri"/>
              <a:buNone/>
            </a:pPr>
            <a:r>
              <a:rPr b="1" i="0" lang="en" sz="2200" u="none" cap="none" strike="noStrike">
                <a:solidFill>
                  <a:schemeClr val="dk1"/>
                </a:solidFill>
                <a:latin typeface="Calibri"/>
                <a:ea typeface="Calibri"/>
                <a:cs typeface="Calibri"/>
                <a:sym typeface="Calibri"/>
              </a:rPr>
              <a:t>BERT</a:t>
            </a:r>
            <a:endParaRPr b="0" i="0" sz="2200" u="none" cap="none" strike="noStrike">
              <a:solidFill>
                <a:schemeClr val="dk1"/>
              </a:solidFill>
              <a:latin typeface="Calibri"/>
              <a:ea typeface="Calibri"/>
              <a:cs typeface="Calibri"/>
              <a:sym typeface="Calibri"/>
            </a:endParaRPr>
          </a:p>
        </p:txBody>
      </p:sp>
      <p:sp>
        <p:nvSpPr>
          <p:cNvPr id="1652" name="Google Shape;1652;p63"/>
          <p:cNvSpPr/>
          <p:nvPr/>
        </p:nvSpPr>
        <p:spPr>
          <a:xfrm>
            <a:off x="411480" y="173736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Encoder only</a:t>
            </a:r>
            <a:endParaRPr b="0" i="0" sz="1200" u="none" cap="none" strike="noStrike">
              <a:solidFill>
                <a:schemeClr val="dk1"/>
              </a:solidFill>
              <a:latin typeface="Calibri"/>
              <a:ea typeface="Calibri"/>
              <a:cs typeface="Calibri"/>
              <a:sym typeface="Calibri"/>
            </a:endParaRPr>
          </a:p>
        </p:txBody>
      </p:sp>
      <p:sp>
        <p:nvSpPr>
          <p:cNvPr id="1653" name="Google Shape;1653;p63"/>
          <p:cNvSpPr/>
          <p:nvPr/>
        </p:nvSpPr>
        <p:spPr>
          <a:xfrm>
            <a:off x="365755" y="2043755"/>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Classification, NER, QA</a:t>
            </a:r>
            <a:endParaRPr b="0" i="0" sz="1200" u="none" cap="none" strike="noStrike">
              <a:solidFill>
                <a:schemeClr val="dk1"/>
              </a:solidFill>
              <a:latin typeface="Calibri"/>
              <a:ea typeface="Calibri"/>
              <a:cs typeface="Calibri"/>
              <a:sym typeface="Calibri"/>
            </a:endParaRPr>
          </a:p>
        </p:txBody>
      </p:sp>
      <p:sp>
        <p:nvSpPr>
          <p:cNvPr id="1654" name="Google Shape;1654;p63"/>
          <p:cNvSpPr/>
          <p:nvPr/>
        </p:nvSpPr>
        <p:spPr>
          <a:xfrm>
            <a:off x="3246120" y="1188720"/>
            <a:ext cx="2651700" cy="1463100"/>
          </a:xfrm>
          <a:prstGeom prst="rect">
            <a:avLst/>
          </a:prstGeom>
          <a:noFill/>
          <a:ln cap="flat" cmpd="sng" w="15225">
            <a:solidFill>
              <a:srgbClr val="7C3AED"/>
            </a:solidFill>
            <a:prstDash val="solid"/>
            <a:round/>
            <a:headEnd len="sm" w="sm" type="none"/>
            <a:tailEnd len="sm" w="sm" type="none"/>
          </a:ln>
          <a:effectLst>
            <a:outerShdw blurRad="101600" rotWithShape="0" algn="bl" dir="8100000" dist="38100">
              <a:srgbClr val="000000">
                <a:alpha val="3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63"/>
          <p:cNvSpPr/>
          <p:nvPr/>
        </p:nvSpPr>
        <p:spPr>
          <a:xfrm>
            <a:off x="3337560" y="129844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C3AED"/>
              </a:buClr>
              <a:buSzPts val="2200"/>
              <a:buFont typeface="Calibri"/>
              <a:buNone/>
            </a:pPr>
            <a:r>
              <a:rPr b="1" i="0" lang="en" sz="2200" u="none" cap="none" strike="noStrike">
                <a:solidFill>
                  <a:schemeClr val="dk1"/>
                </a:solidFill>
                <a:latin typeface="Calibri"/>
                <a:ea typeface="Calibri"/>
                <a:cs typeface="Calibri"/>
                <a:sym typeface="Calibri"/>
              </a:rPr>
              <a:t>GPT-4</a:t>
            </a:r>
            <a:endParaRPr b="0" i="0" sz="2200" u="none" cap="none" strike="noStrike">
              <a:solidFill>
                <a:schemeClr val="dk1"/>
              </a:solidFill>
              <a:latin typeface="Calibri"/>
              <a:ea typeface="Calibri"/>
              <a:cs typeface="Calibri"/>
              <a:sym typeface="Calibri"/>
            </a:endParaRPr>
          </a:p>
        </p:txBody>
      </p:sp>
      <p:sp>
        <p:nvSpPr>
          <p:cNvPr id="1656" name="Google Shape;1656;p63"/>
          <p:cNvSpPr/>
          <p:nvPr/>
        </p:nvSpPr>
        <p:spPr>
          <a:xfrm>
            <a:off x="3337560" y="173736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Decoder only</a:t>
            </a:r>
            <a:endParaRPr b="0" i="0" sz="1200" u="none" cap="none" strike="noStrike">
              <a:solidFill>
                <a:schemeClr val="dk1"/>
              </a:solidFill>
              <a:latin typeface="Calibri"/>
              <a:ea typeface="Calibri"/>
              <a:cs typeface="Calibri"/>
              <a:sym typeface="Calibri"/>
            </a:endParaRPr>
          </a:p>
        </p:txBody>
      </p:sp>
      <p:sp>
        <p:nvSpPr>
          <p:cNvPr id="1657" name="Google Shape;1657;p63"/>
          <p:cNvSpPr/>
          <p:nvPr/>
        </p:nvSpPr>
        <p:spPr>
          <a:xfrm>
            <a:off x="3337560" y="201168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Generation, chat, code</a:t>
            </a:r>
            <a:endParaRPr b="0" i="0" sz="1200" u="none" cap="none" strike="noStrike">
              <a:solidFill>
                <a:schemeClr val="dk1"/>
              </a:solidFill>
              <a:latin typeface="Calibri"/>
              <a:ea typeface="Calibri"/>
              <a:cs typeface="Calibri"/>
              <a:sym typeface="Calibri"/>
            </a:endParaRPr>
          </a:p>
        </p:txBody>
      </p:sp>
      <p:sp>
        <p:nvSpPr>
          <p:cNvPr id="1658" name="Google Shape;1658;p63"/>
          <p:cNvSpPr/>
          <p:nvPr/>
        </p:nvSpPr>
        <p:spPr>
          <a:xfrm>
            <a:off x="6172200" y="1188720"/>
            <a:ext cx="2651700" cy="1463100"/>
          </a:xfrm>
          <a:prstGeom prst="rect">
            <a:avLst/>
          </a:prstGeom>
          <a:noFill/>
          <a:ln cap="flat" cmpd="sng" w="15225">
            <a:solidFill>
              <a:srgbClr val="F59E0B"/>
            </a:solidFill>
            <a:prstDash val="solid"/>
            <a:round/>
            <a:headEnd len="sm" w="sm" type="none"/>
            <a:tailEnd len="sm" w="sm" type="none"/>
          </a:ln>
          <a:effectLst>
            <a:outerShdw blurRad="101600" rotWithShape="0" algn="bl" dir="8100000" dist="38100">
              <a:srgbClr val="000000">
                <a:alpha val="3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63"/>
          <p:cNvSpPr/>
          <p:nvPr/>
        </p:nvSpPr>
        <p:spPr>
          <a:xfrm>
            <a:off x="6263640" y="129844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2200"/>
              <a:buFont typeface="Calibri"/>
              <a:buNone/>
            </a:pPr>
            <a:r>
              <a:rPr b="1" i="0" lang="en" sz="2200" u="none" cap="none" strike="noStrike">
                <a:solidFill>
                  <a:schemeClr val="dk1"/>
                </a:solidFill>
                <a:latin typeface="Calibri"/>
                <a:ea typeface="Calibri"/>
                <a:cs typeface="Calibri"/>
                <a:sym typeface="Calibri"/>
              </a:rPr>
              <a:t>T5 / BART</a:t>
            </a:r>
            <a:endParaRPr b="0" i="0" sz="2200" u="none" cap="none" strike="noStrike">
              <a:solidFill>
                <a:schemeClr val="dk1"/>
              </a:solidFill>
              <a:latin typeface="Calibri"/>
              <a:ea typeface="Calibri"/>
              <a:cs typeface="Calibri"/>
              <a:sym typeface="Calibri"/>
            </a:endParaRPr>
          </a:p>
        </p:txBody>
      </p:sp>
      <p:sp>
        <p:nvSpPr>
          <p:cNvPr id="1660" name="Google Shape;1660;p63"/>
          <p:cNvSpPr/>
          <p:nvPr/>
        </p:nvSpPr>
        <p:spPr>
          <a:xfrm>
            <a:off x="6263640" y="173736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Encoder-Decoder</a:t>
            </a:r>
            <a:endParaRPr b="0" i="0" sz="1200" u="none" cap="none" strike="noStrike">
              <a:solidFill>
                <a:schemeClr val="dk1"/>
              </a:solidFill>
              <a:latin typeface="Calibri"/>
              <a:ea typeface="Calibri"/>
              <a:cs typeface="Calibri"/>
              <a:sym typeface="Calibri"/>
            </a:endParaRPr>
          </a:p>
        </p:txBody>
      </p:sp>
      <p:sp>
        <p:nvSpPr>
          <p:cNvPr id="1661" name="Google Shape;1661;p63"/>
          <p:cNvSpPr/>
          <p:nvPr/>
        </p:nvSpPr>
        <p:spPr>
          <a:xfrm>
            <a:off x="6263640" y="201168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Translation, summarization</a:t>
            </a:r>
            <a:endParaRPr b="0" i="0" sz="1200" u="none" cap="none" strike="noStrike">
              <a:solidFill>
                <a:schemeClr val="dk1"/>
              </a:solidFill>
              <a:latin typeface="Calibri"/>
              <a:ea typeface="Calibri"/>
              <a:cs typeface="Calibri"/>
              <a:sym typeface="Calibri"/>
            </a:endParaRPr>
          </a:p>
        </p:txBody>
      </p:sp>
      <p:sp>
        <p:nvSpPr>
          <p:cNvPr id="1662" name="Google Shape;1662;p63"/>
          <p:cNvSpPr/>
          <p:nvPr/>
        </p:nvSpPr>
        <p:spPr>
          <a:xfrm>
            <a:off x="320040" y="2834640"/>
            <a:ext cx="2651700" cy="1463100"/>
          </a:xfrm>
          <a:prstGeom prst="rect">
            <a:avLst/>
          </a:prstGeom>
          <a:noFill/>
          <a:ln cap="flat" cmpd="sng" w="15225">
            <a:solidFill>
              <a:srgbClr val="10B981"/>
            </a:solidFill>
            <a:prstDash val="solid"/>
            <a:round/>
            <a:headEnd len="sm" w="sm" type="none"/>
            <a:tailEnd len="sm" w="sm" type="none"/>
          </a:ln>
          <a:effectLst>
            <a:outerShdw blurRad="101600" rotWithShape="0" algn="bl" dir="8100000" dist="38100">
              <a:srgbClr val="000000">
                <a:alpha val="3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63"/>
          <p:cNvSpPr/>
          <p:nvPr/>
        </p:nvSpPr>
        <p:spPr>
          <a:xfrm>
            <a:off x="411480" y="294436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2200"/>
              <a:buFont typeface="Calibri"/>
              <a:buNone/>
            </a:pPr>
            <a:r>
              <a:rPr b="1" i="0" lang="en" sz="2200" u="none" cap="none" strike="noStrike">
                <a:solidFill>
                  <a:schemeClr val="dk1"/>
                </a:solidFill>
                <a:latin typeface="Calibri"/>
                <a:ea typeface="Calibri"/>
                <a:cs typeface="Calibri"/>
                <a:sym typeface="Calibri"/>
              </a:rPr>
              <a:t>ViT</a:t>
            </a:r>
            <a:endParaRPr b="0" i="0" sz="2200" u="none" cap="none" strike="noStrike">
              <a:solidFill>
                <a:schemeClr val="dk1"/>
              </a:solidFill>
              <a:latin typeface="Calibri"/>
              <a:ea typeface="Calibri"/>
              <a:cs typeface="Calibri"/>
              <a:sym typeface="Calibri"/>
            </a:endParaRPr>
          </a:p>
        </p:txBody>
      </p:sp>
      <p:sp>
        <p:nvSpPr>
          <p:cNvPr id="1664" name="Google Shape;1664;p63"/>
          <p:cNvSpPr/>
          <p:nvPr/>
        </p:nvSpPr>
        <p:spPr>
          <a:xfrm>
            <a:off x="411480" y="338328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Vision Transformer</a:t>
            </a:r>
            <a:endParaRPr b="0" i="0" sz="1200" u="none" cap="none" strike="noStrike">
              <a:solidFill>
                <a:schemeClr val="dk1"/>
              </a:solidFill>
              <a:latin typeface="Calibri"/>
              <a:ea typeface="Calibri"/>
              <a:cs typeface="Calibri"/>
              <a:sym typeface="Calibri"/>
            </a:endParaRPr>
          </a:p>
        </p:txBody>
      </p:sp>
      <p:sp>
        <p:nvSpPr>
          <p:cNvPr id="1665" name="Google Shape;1665;p63"/>
          <p:cNvSpPr/>
          <p:nvPr/>
        </p:nvSpPr>
        <p:spPr>
          <a:xfrm>
            <a:off x="411480" y="365760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Image classification</a:t>
            </a:r>
            <a:endParaRPr b="0" i="0" sz="1200" u="none" cap="none" strike="noStrike">
              <a:solidFill>
                <a:schemeClr val="dk1"/>
              </a:solidFill>
              <a:latin typeface="Calibri"/>
              <a:ea typeface="Calibri"/>
              <a:cs typeface="Calibri"/>
              <a:sym typeface="Calibri"/>
            </a:endParaRPr>
          </a:p>
        </p:txBody>
      </p:sp>
      <p:sp>
        <p:nvSpPr>
          <p:cNvPr id="1666" name="Google Shape;1666;p63"/>
          <p:cNvSpPr/>
          <p:nvPr/>
        </p:nvSpPr>
        <p:spPr>
          <a:xfrm>
            <a:off x="3246120" y="2834640"/>
            <a:ext cx="2651700" cy="1463100"/>
          </a:xfrm>
          <a:prstGeom prst="rect">
            <a:avLst/>
          </a:prstGeom>
          <a:noFill/>
          <a:ln cap="flat" cmpd="sng" w="15225">
            <a:solidFill>
              <a:srgbClr val="90E0EF"/>
            </a:solidFill>
            <a:prstDash val="solid"/>
            <a:round/>
            <a:headEnd len="sm" w="sm" type="none"/>
            <a:tailEnd len="sm" w="sm" type="none"/>
          </a:ln>
          <a:effectLst>
            <a:outerShdw blurRad="101600" rotWithShape="0" algn="bl" dir="8100000" dist="38100">
              <a:srgbClr val="000000">
                <a:alpha val="3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63"/>
          <p:cNvSpPr/>
          <p:nvPr/>
        </p:nvSpPr>
        <p:spPr>
          <a:xfrm>
            <a:off x="3337560" y="294436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0E0EF"/>
              </a:buClr>
              <a:buSzPts val="2200"/>
              <a:buFont typeface="Calibri"/>
              <a:buNone/>
            </a:pPr>
            <a:r>
              <a:rPr b="1" i="0" lang="en" sz="2200" u="none" cap="none" strike="noStrike">
                <a:solidFill>
                  <a:schemeClr val="dk1"/>
                </a:solidFill>
                <a:latin typeface="Calibri"/>
                <a:ea typeface="Calibri"/>
                <a:cs typeface="Calibri"/>
                <a:sym typeface="Calibri"/>
              </a:rPr>
              <a:t>Whisper</a:t>
            </a:r>
            <a:endParaRPr b="0" i="0" sz="2200" u="none" cap="none" strike="noStrike">
              <a:solidFill>
                <a:schemeClr val="dk1"/>
              </a:solidFill>
              <a:latin typeface="Calibri"/>
              <a:ea typeface="Calibri"/>
              <a:cs typeface="Calibri"/>
              <a:sym typeface="Calibri"/>
            </a:endParaRPr>
          </a:p>
        </p:txBody>
      </p:sp>
      <p:sp>
        <p:nvSpPr>
          <p:cNvPr id="1668" name="Google Shape;1668;p63"/>
          <p:cNvSpPr/>
          <p:nvPr/>
        </p:nvSpPr>
        <p:spPr>
          <a:xfrm>
            <a:off x="3337560" y="338328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Speech → Text</a:t>
            </a:r>
            <a:endParaRPr b="0" i="0" sz="1200" u="none" cap="none" strike="noStrike">
              <a:solidFill>
                <a:schemeClr val="dk1"/>
              </a:solidFill>
              <a:latin typeface="Calibri"/>
              <a:ea typeface="Calibri"/>
              <a:cs typeface="Calibri"/>
              <a:sym typeface="Calibri"/>
            </a:endParaRPr>
          </a:p>
        </p:txBody>
      </p:sp>
      <p:sp>
        <p:nvSpPr>
          <p:cNvPr id="1669" name="Google Shape;1669;p63"/>
          <p:cNvSpPr/>
          <p:nvPr/>
        </p:nvSpPr>
        <p:spPr>
          <a:xfrm>
            <a:off x="3337560" y="365760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ASR, multilingual</a:t>
            </a:r>
            <a:endParaRPr b="0" i="0" sz="1200" u="none" cap="none" strike="noStrike">
              <a:solidFill>
                <a:schemeClr val="dk1"/>
              </a:solidFill>
              <a:latin typeface="Calibri"/>
              <a:ea typeface="Calibri"/>
              <a:cs typeface="Calibri"/>
              <a:sym typeface="Calibri"/>
            </a:endParaRPr>
          </a:p>
        </p:txBody>
      </p:sp>
      <p:sp>
        <p:nvSpPr>
          <p:cNvPr id="1670" name="Google Shape;1670;p63"/>
          <p:cNvSpPr/>
          <p:nvPr/>
        </p:nvSpPr>
        <p:spPr>
          <a:xfrm>
            <a:off x="6172200" y="2834640"/>
            <a:ext cx="2651700" cy="1463100"/>
          </a:xfrm>
          <a:prstGeom prst="rect">
            <a:avLst/>
          </a:prstGeom>
          <a:noFill/>
          <a:ln cap="flat" cmpd="sng" w="15225">
            <a:solidFill>
              <a:srgbClr val="EF4444"/>
            </a:solidFill>
            <a:prstDash val="solid"/>
            <a:round/>
            <a:headEnd len="sm" w="sm" type="none"/>
            <a:tailEnd len="sm" w="sm" type="none"/>
          </a:ln>
          <a:effectLst>
            <a:outerShdw blurRad="101600" rotWithShape="0" algn="bl" dir="8100000" dist="38100">
              <a:srgbClr val="000000">
                <a:alpha val="3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63"/>
          <p:cNvSpPr/>
          <p:nvPr/>
        </p:nvSpPr>
        <p:spPr>
          <a:xfrm>
            <a:off x="6263640" y="2944368"/>
            <a:ext cx="2469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4444"/>
              </a:buClr>
              <a:buSzPts val="2200"/>
              <a:buFont typeface="Calibri"/>
              <a:buNone/>
            </a:pPr>
            <a:r>
              <a:rPr b="1" i="0" lang="en" sz="2200" u="none" cap="none" strike="noStrike">
                <a:solidFill>
                  <a:schemeClr val="dk1"/>
                </a:solidFill>
                <a:latin typeface="Calibri"/>
                <a:ea typeface="Calibri"/>
                <a:cs typeface="Calibri"/>
                <a:sym typeface="Calibri"/>
              </a:rPr>
              <a:t>CLIP</a:t>
            </a:r>
            <a:endParaRPr b="0" i="0" sz="2200" u="none" cap="none" strike="noStrike">
              <a:solidFill>
                <a:schemeClr val="dk1"/>
              </a:solidFill>
              <a:latin typeface="Calibri"/>
              <a:ea typeface="Calibri"/>
              <a:cs typeface="Calibri"/>
              <a:sym typeface="Calibri"/>
            </a:endParaRPr>
          </a:p>
        </p:txBody>
      </p:sp>
      <p:sp>
        <p:nvSpPr>
          <p:cNvPr id="1672" name="Google Shape;1672;p63"/>
          <p:cNvSpPr/>
          <p:nvPr/>
        </p:nvSpPr>
        <p:spPr>
          <a:xfrm>
            <a:off x="6263640" y="3383280"/>
            <a:ext cx="24690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Vision-Language</a:t>
            </a:r>
            <a:endParaRPr b="0" i="0" sz="1200" u="none" cap="none" strike="noStrike">
              <a:solidFill>
                <a:schemeClr val="dk1"/>
              </a:solidFill>
              <a:latin typeface="Calibri"/>
              <a:ea typeface="Calibri"/>
              <a:cs typeface="Calibri"/>
              <a:sym typeface="Calibri"/>
            </a:endParaRPr>
          </a:p>
        </p:txBody>
      </p:sp>
      <p:sp>
        <p:nvSpPr>
          <p:cNvPr id="1673" name="Google Shape;1673;p63"/>
          <p:cNvSpPr/>
          <p:nvPr/>
        </p:nvSpPr>
        <p:spPr>
          <a:xfrm>
            <a:off x="6263640" y="3657600"/>
            <a:ext cx="2469000" cy="50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000"/>
              <a:buFont typeface="Calibri"/>
              <a:buNone/>
            </a:pPr>
            <a:r>
              <a:rPr b="0" i="0" lang="en" sz="1200" u="none" cap="none" strike="noStrike">
                <a:solidFill>
                  <a:schemeClr val="dk1"/>
                </a:solidFill>
                <a:latin typeface="Calibri"/>
                <a:ea typeface="Calibri"/>
                <a:cs typeface="Calibri"/>
                <a:sym typeface="Calibri"/>
              </a:rPr>
              <a:t>→ Image-text matching</a:t>
            </a:r>
            <a:endParaRPr b="0" i="0" sz="1200" u="none" cap="none" strike="noStrike">
              <a:solidFill>
                <a:schemeClr val="dk1"/>
              </a:solidFill>
              <a:latin typeface="Calibri"/>
              <a:ea typeface="Calibri"/>
              <a:cs typeface="Calibri"/>
              <a:sym typeface="Calibri"/>
            </a:endParaRPr>
          </a:p>
        </p:txBody>
      </p:sp>
      <p:sp>
        <p:nvSpPr>
          <p:cNvPr id="1674" name="Google Shape;1674;p63"/>
          <p:cNvSpPr/>
          <p:nvPr/>
        </p:nvSpPr>
        <p:spPr>
          <a:xfrm>
            <a:off x="365760" y="4617720"/>
            <a:ext cx="84126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59E0B"/>
              </a:buClr>
              <a:buSzPts val="1200"/>
              <a:buFont typeface="Calibri"/>
              <a:buNone/>
            </a:pPr>
            <a:r>
              <a:rPr i="1" lang="en" u="none" cap="none" strike="noStrike">
                <a:solidFill>
                  <a:schemeClr val="dk1"/>
                </a:solidFill>
                <a:latin typeface="Calibri"/>
                <a:ea typeface="Calibri"/>
                <a:cs typeface="Calibri"/>
                <a:sym typeface="Calibri"/>
              </a:rPr>
              <a:t>All of these are just: Embeddings + Positional Encoding + Self-Attention + FFN, stacked.</a:t>
            </a:r>
            <a:endParaRPr i="0" u="none" cap="none" strike="noStrike">
              <a:solidFill>
                <a:schemeClr val="dk1"/>
              </a:solidFill>
              <a:latin typeface="Calibri"/>
              <a:ea typeface="Calibri"/>
              <a:cs typeface="Calibri"/>
              <a:sym typeface="Calibri"/>
            </a:endParaRPr>
          </a:p>
        </p:txBody>
      </p:sp>
      <p:pic>
        <p:nvPicPr>
          <p:cNvPr id="1675" name="Google Shape;1675;p63"/>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0" name="Shape 1680"/>
        <p:cNvGrpSpPr/>
        <p:nvPr/>
      </p:nvGrpSpPr>
      <p:grpSpPr>
        <a:xfrm>
          <a:off x="0" y="0"/>
          <a:ext cx="0" cy="0"/>
          <a:chOff x="0" y="0"/>
          <a:chExt cx="0" cy="0"/>
        </a:xfrm>
      </p:grpSpPr>
      <p:sp>
        <p:nvSpPr>
          <p:cNvPr id="1681" name="Google Shape;1681;p64"/>
          <p:cNvSpPr/>
          <p:nvPr/>
        </p:nvSpPr>
        <p:spPr>
          <a:xfrm>
            <a:off x="1704400" y="119000"/>
            <a:ext cx="5653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700"/>
              <a:buFont typeface="Calibri"/>
              <a:buNone/>
            </a:pPr>
            <a:r>
              <a:rPr b="1" i="0" lang="en" sz="2800" u="none" cap="none" strike="noStrike">
                <a:solidFill>
                  <a:srgbClr val="1A1A2E"/>
                </a:solidFill>
                <a:latin typeface="Calibri"/>
                <a:ea typeface="Calibri"/>
                <a:cs typeface="Calibri"/>
                <a:sym typeface="Calibri"/>
              </a:rPr>
              <a:t>The Pretrain → Fine-Tune Paradigm</a:t>
            </a:r>
            <a:endParaRPr b="0" i="0" sz="2800" u="none" cap="none" strike="noStrike">
              <a:solidFill>
                <a:schemeClr val="dk1"/>
              </a:solidFill>
              <a:latin typeface="Calibri"/>
              <a:ea typeface="Calibri"/>
              <a:cs typeface="Calibri"/>
              <a:sym typeface="Calibri"/>
            </a:endParaRPr>
          </a:p>
        </p:txBody>
      </p:sp>
      <p:sp>
        <p:nvSpPr>
          <p:cNvPr id="1682" name="Google Shape;1682;p64"/>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Why training from scratch is dead — and what replaced it</a:t>
            </a:r>
            <a:endParaRPr b="0" i="0" sz="1200" u="none" cap="none" strike="noStrike">
              <a:solidFill>
                <a:schemeClr val="dk1"/>
              </a:solidFill>
              <a:latin typeface="Calibri"/>
              <a:ea typeface="Calibri"/>
              <a:cs typeface="Calibri"/>
              <a:sym typeface="Calibri"/>
            </a:endParaRPr>
          </a:p>
        </p:txBody>
      </p:sp>
      <p:sp>
        <p:nvSpPr>
          <p:cNvPr id="1683" name="Google Shape;1683;p64"/>
          <p:cNvSpPr/>
          <p:nvPr/>
        </p:nvSpPr>
        <p:spPr>
          <a:xfrm>
            <a:off x="327650" y="2817575"/>
            <a:ext cx="2071500" cy="1194600"/>
          </a:xfrm>
          <a:prstGeom prst="rect">
            <a:avLst/>
          </a:prstGeom>
          <a:solidFill>
            <a:srgbClr val="EFF6FF"/>
          </a:solidFill>
          <a:ln cap="flat" cmpd="sng" w="13375">
            <a:solidFill>
              <a:srgbClr val="BFDBFE"/>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84" name="Google Shape;1684;p64"/>
          <p:cNvSpPr/>
          <p:nvPr/>
        </p:nvSpPr>
        <p:spPr>
          <a:xfrm>
            <a:off x="327650" y="2817575"/>
            <a:ext cx="2071500" cy="50700"/>
          </a:xfrm>
          <a:prstGeom prst="rect">
            <a:avLst/>
          </a:prstGeom>
          <a:solidFill>
            <a:srgbClr val="C62828"/>
          </a:solidFill>
          <a:ln cap="flat" cmpd="sng" w="13375">
            <a:solidFill>
              <a:srgbClr val="C62828"/>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85" name="Google Shape;1685;p64"/>
          <p:cNvSpPr/>
          <p:nvPr/>
        </p:nvSpPr>
        <p:spPr>
          <a:xfrm>
            <a:off x="443275"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C62828"/>
              </a:buClr>
              <a:buSzPts val="1159"/>
              <a:buFont typeface="Calibri"/>
              <a:buNone/>
            </a:pPr>
            <a:r>
              <a:rPr b="1" i="0" lang="en" sz="1359" u="none" cap="none" strike="noStrike">
                <a:solidFill>
                  <a:srgbClr val="C62828"/>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Training from Scratch</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Needs millions of labelled examples per task. Expensive, brittle, doesn't generalise.</a:t>
            </a:r>
            <a:endParaRPr b="0" i="0" sz="1359" u="none" cap="none" strike="noStrike">
              <a:solidFill>
                <a:schemeClr val="dk1"/>
              </a:solidFill>
              <a:latin typeface="Calibri"/>
              <a:ea typeface="Calibri"/>
              <a:cs typeface="Calibri"/>
              <a:sym typeface="Calibri"/>
            </a:endParaRPr>
          </a:p>
        </p:txBody>
      </p:sp>
      <p:sp>
        <p:nvSpPr>
          <p:cNvPr id="1686" name="Google Shape;1686;p64"/>
          <p:cNvSpPr/>
          <p:nvPr/>
        </p:nvSpPr>
        <p:spPr>
          <a:xfrm>
            <a:off x="2466716" y="2817575"/>
            <a:ext cx="2071500" cy="1194600"/>
          </a:xfrm>
          <a:prstGeom prst="rect">
            <a:avLst/>
          </a:prstGeom>
          <a:solidFill>
            <a:srgbClr val="EFF6FF"/>
          </a:solidFill>
          <a:ln cap="flat" cmpd="sng" w="13375">
            <a:solidFill>
              <a:srgbClr val="BFDBFE"/>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87" name="Google Shape;1687;p64"/>
          <p:cNvSpPr/>
          <p:nvPr/>
        </p:nvSpPr>
        <p:spPr>
          <a:xfrm>
            <a:off x="2466716" y="2817575"/>
            <a:ext cx="2071500" cy="50700"/>
          </a:xfrm>
          <a:prstGeom prst="rect">
            <a:avLst/>
          </a:prstGeom>
          <a:solidFill>
            <a:srgbClr val="2E7D32"/>
          </a:solidFill>
          <a:ln cap="flat" cmpd="sng" w="13375">
            <a:solidFill>
              <a:srgbClr val="2E7D32"/>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88" name="Google Shape;1688;p64"/>
          <p:cNvSpPr/>
          <p:nvPr/>
        </p:nvSpPr>
        <p:spPr>
          <a:xfrm>
            <a:off x="2582341"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2E7D32"/>
              </a:buClr>
              <a:buSzPts val="1159"/>
              <a:buFont typeface="Calibri"/>
              <a:buNone/>
            </a:pPr>
            <a:r>
              <a:rPr b="1" i="0" lang="en" sz="1359" u="none" cap="none" strike="noStrike">
                <a:solidFill>
                  <a:srgbClr val="2E7D32"/>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Pretrain Once, Reuse</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Learn universal language structure once on massive data. Adapt cheaply to any task.</a:t>
            </a:r>
            <a:endParaRPr b="0" i="0" sz="1359" u="none" cap="none" strike="noStrike">
              <a:solidFill>
                <a:schemeClr val="dk1"/>
              </a:solidFill>
              <a:latin typeface="Calibri"/>
              <a:ea typeface="Calibri"/>
              <a:cs typeface="Calibri"/>
              <a:sym typeface="Calibri"/>
            </a:endParaRPr>
          </a:p>
        </p:txBody>
      </p:sp>
      <p:sp>
        <p:nvSpPr>
          <p:cNvPr id="1689" name="Google Shape;1689;p64"/>
          <p:cNvSpPr/>
          <p:nvPr/>
        </p:nvSpPr>
        <p:spPr>
          <a:xfrm>
            <a:off x="4605782" y="2817575"/>
            <a:ext cx="2071500" cy="1194600"/>
          </a:xfrm>
          <a:prstGeom prst="rect">
            <a:avLst/>
          </a:prstGeom>
          <a:solidFill>
            <a:srgbClr val="EFF6FF"/>
          </a:solidFill>
          <a:ln cap="flat" cmpd="sng" w="13375">
            <a:solidFill>
              <a:srgbClr val="BFDBFE"/>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90" name="Google Shape;1690;p64"/>
          <p:cNvSpPr/>
          <p:nvPr/>
        </p:nvSpPr>
        <p:spPr>
          <a:xfrm>
            <a:off x="4605782" y="2817575"/>
            <a:ext cx="2071500" cy="50700"/>
          </a:xfrm>
          <a:prstGeom prst="rect">
            <a:avLst/>
          </a:prstGeom>
          <a:solidFill>
            <a:srgbClr val="1565C0"/>
          </a:solidFill>
          <a:ln cap="flat" cmpd="sng" w="13375">
            <a:solidFill>
              <a:srgbClr val="1565C0"/>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91" name="Google Shape;1691;p64"/>
          <p:cNvSpPr/>
          <p:nvPr/>
        </p:nvSpPr>
        <p:spPr>
          <a:xfrm>
            <a:off x="4721408"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1565C0"/>
              </a:buClr>
              <a:buSzPts val="1159"/>
              <a:buFont typeface="Calibri"/>
              <a:buNone/>
            </a:pPr>
            <a:r>
              <a:rPr b="1" i="0" lang="en" sz="1359" u="none" cap="none" strike="noStrike">
                <a:solidFill>
                  <a:srgbClr val="1565C0"/>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Why It Works</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Language has shared structure — grammar, facts, reasoning — that transfers across tasks.</a:t>
            </a:r>
            <a:endParaRPr b="0" i="0" sz="1359" u="none" cap="none" strike="noStrike">
              <a:solidFill>
                <a:schemeClr val="dk1"/>
              </a:solidFill>
              <a:latin typeface="Calibri"/>
              <a:ea typeface="Calibri"/>
              <a:cs typeface="Calibri"/>
              <a:sym typeface="Calibri"/>
            </a:endParaRPr>
          </a:p>
        </p:txBody>
      </p:sp>
      <p:sp>
        <p:nvSpPr>
          <p:cNvPr id="1692" name="Google Shape;1692;p64"/>
          <p:cNvSpPr/>
          <p:nvPr/>
        </p:nvSpPr>
        <p:spPr>
          <a:xfrm>
            <a:off x="6744849" y="2817575"/>
            <a:ext cx="2071500" cy="1194600"/>
          </a:xfrm>
          <a:prstGeom prst="rect">
            <a:avLst/>
          </a:prstGeom>
          <a:solidFill>
            <a:srgbClr val="F0FDF4"/>
          </a:solidFill>
          <a:ln cap="flat" cmpd="sng" w="26775">
            <a:solidFill>
              <a:srgbClr val="16A34A"/>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93" name="Google Shape;1693;p64"/>
          <p:cNvSpPr/>
          <p:nvPr/>
        </p:nvSpPr>
        <p:spPr>
          <a:xfrm>
            <a:off x="6744849" y="2817575"/>
            <a:ext cx="2071500" cy="50700"/>
          </a:xfrm>
          <a:prstGeom prst="rect">
            <a:avLst/>
          </a:prstGeom>
          <a:solidFill>
            <a:srgbClr val="E65100"/>
          </a:solidFill>
          <a:ln cap="flat" cmpd="sng" w="13375">
            <a:solidFill>
              <a:srgbClr val="E65100"/>
            </a:solidFill>
            <a:prstDash val="solid"/>
            <a:round/>
            <a:headEnd len="sm" w="sm" type="none"/>
            <a:tailEnd len="sm" w="sm" type="none"/>
          </a:ln>
        </p:spPr>
        <p:txBody>
          <a:bodyPr anchorCtr="0" anchor="ctr" bIns="96350" lIns="96350" spcFirstLastPara="1" rIns="96350" wrap="square" tIns="96350">
            <a:noAutofit/>
          </a:bodyPr>
          <a:lstStyle/>
          <a:p>
            <a:pPr indent="0" lvl="0" marL="0" rtl="0" algn="l">
              <a:spcBef>
                <a:spcPts val="0"/>
              </a:spcBef>
              <a:spcAft>
                <a:spcPts val="0"/>
              </a:spcAft>
              <a:buNone/>
            </a:pPr>
            <a:r>
              <a:t/>
            </a:r>
            <a:endParaRPr sz="1600"/>
          </a:p>
        </p:txBody>
      </p:sp>
      <p:sp>
        <p:nvSpPr>
          <p:cNvPr id="1694" name="Google Shape;1694;p64"/>
          <p:cNvSpPr/>
          <p:nvPr/>
        </p:nvSpPr>
        <p:spPr>
          <a:xfrm>
            <a:off x="6860474" y="2905573"/>
            <a:ext cx="1878900" cy="1043700"/>
          </a:xfrm>
          <a:prstGeom prst="rect">
            <a:avLst/>
          </a:prstGeom>
          <a:noFill/>
          <a:ln>
            <a:noFill/>
          </a:ln>
        </p:spPr>
        <p:txBody>
          <a:bodyPr anchorCtr="0" anchor="t" bIns="48150" lIns="96350" spcFirstLastPara="1" rIns="96350" wrap="square" tIns="48150">
            <a:noAutofit/>
          </a:bodyPr>
          <a:lstStyle/>
          <a:p>
            <a:pPr indent="0" lvl="0" marL="0" marR="0" rtl="0" algn="l">
              <a:spcBef>
                <a:spcPts val="0"/>
              </a:spcBef>
              <a:spcAft>
                <a:spcPts val="0"/>
              </a:spcAft>
              <a:buClr>
                <a:srgbClr val="E65100"/>
              </a:buClr>
              <a:buSzPts val="1159"/>
              <a:buFont typeface="Calibri"/>
              <a:buNone/>
            </a:pPr>
            <a:r>
              <a:rPr b="1" i="0" lang="en" sz="1359" u="none" cap="none" strike="noStrike">
                <a:solidFill>
                  <a:srgbClr val="E65100"/>
                </a:solidFill>
                <a:latin typeface="Calibri"/>
                <a:ea typeface="Calibri"/>
                <a:cs typeface="Calibri"/>
                <a:sym typeface="Calibri"/>
              </a:rPr>
              <a:t>★  </a:t>
            </a:r>
            <a:r>
              <a:rPr b="1" i="0" lang="en" sz="1201" u="none" cap="none" strike="noStrike">
                <a:solidFill>
                  <a:srgbClr val="1A1A2E"/>
                </a:solidFill>
                <a:latin typeface="Calibri"/>
                <a:ea typeface="Calibri"/>
                <a:cs typeface="Calibri"/>
                <a:sym typeface="Calibri"/>
              </a:rPr>
              <a:t>Industry Impact</a:t>
            </a:r>
            <a:endParaRPr b="0" i="0" sz="135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27"/>
              <a:buFont typeface="Calibri"/>
              <a:buNone/>
            </a:pPr>
            <a:r>
              <a:rPr b="0" i="0" lang="en" sz="1127" u="none" cap="none" strike="noStrike">
                <a:solidFill>
                  <a:srgbClr val="546E7A"/>
                </a:solidFill>
                <a:latin typeface="Calibri"/>
                <a:ea typeface="Calibri"/>
                <a:cs typeface="Calibri"/>
                <a:sym typeface="Calibri"/>
              </a:rPr>
              <a:t>GPT-4, BERT, LLaMA all follow this paradigm. It is the foundation of modern NLP.</a:t>
            </a:r>
            <a:endParaRPr b="0" i="0" sz="1359" u="none" cap="none" strike="noStrike">
              <a:solidFill>
                <a:schemeClr val="dk1"/>
              </a:solidFill>
              <a:latin typeface="Calibri"/>
              <a:ea typeface="Calibri"/>
              <a:cs typeface="Calibri"/>
              <a:sym typeface="Calibri"/>
            </a:endParaRPr>
          </a:p>
        </p:txBody>
      </p:sp>
      <p:pic>
        <p:nvPicPr>
          <p:cNvPr id="1695" name="Google Shape;1695;p64"/>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696" name="Google Shape;1696;p64"/>
          <p:cNvSpPr/>
          <p:nvPr/>
        </p:nvSpPr>
        <p:spPr>
          <a:xfrm>
            <a:off x="409301" y="1117174"/>
            <a:ext cx="1551600" cy="1061400"/>
          </a:xfrm>
          <a:prstGeom prst="roundRect">
            <a:avLst>
              <a:gd fmla="val 5385" name="adj"/>
            </a:avLst>
          </a:prstGeom>
          <a:solidFill>
            <a:srgbClr val="FEF0E6"/>
          </a:solidFill>
          <a:ln cap="flat" cmpd="sng" w="22675">
            <a:solidFill>
              <a:srgbClr val="E67E22"/>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C05C00"/>
                </a:solidFill>
                <a:latin typeface="Calibri"/>
                <a:ea typeface="Calibri"/>
                <a:cs typeface="Calibri"/>
                <a:sym typeface="Calibri"/>
              </a:rPr>
              <a:t>Raw Text</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C05C00"/>
                </a:solidFill>
                <a:latin typeface="Calibri"/>
                <a:ea typeface="Calibri"/>
                <a:cs typeface="Calibri"/>
                <a:sym typeface="Calibri"/>
              </a:rPr>
              <a:t>(Unlabelled / Labelled)</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C05C00"/>
                </a:solidFill>
                <a:latin typeface="Calibri"/>
                <a:ea typeface="Calibri"/>
                <a:cs typeface="Calibri"/>
                <a:sym typeface="Calibri"/>
              </a:rPr>
              <a:t>Billions of tokens</a:t>
            </a:r>
            <a:endParaRPr sz="1550"/>
          </a:p>
        </p:txBody>
      </p:sp>
      <p:sp>
        <p:nvSpPr>
          <p:cNvPr id="1697" name="Google Shape;1697;p64"/>
          <p:cNvSpPr/>
          <p:nvPr/>
        </p:nvSpPr>
        <p:spPr>
          <a:xfrm>
            <a:off x="409301" y="2301312"/>
            <a:ext cx="15516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E67E22"/>
              </a:buClr>
              <a:buSzPts val="759"/>
              <a:buFont typeface="Calibri"/>
              <a:buNone/>
            </a:pPr>
            <a:r>
              <a:rPr b="1" i="1" lang="en" sz="1059" u="none" cap="none" strike="noStrike">
                <a:solidFill>
                  <a:srgbClr val="E67E22"/>
                </a:solidFill>
                <a:latin typeface="Calibri"/>
                <a:ea typeface="Calibri"/>
                <a:cs typeface="Calibri"/>
                <a:sym typeface="Calibri"/>
              </a:rPr>
              <a:t>STAGE 1</a:t>
            </a:r>
            <a:endParaRPr b="0" i="0" sz="1059" u="none" cap="none" strike="noStrike">
              <a:solidFill>
                <a:srgbClr val="000000"/>
              </a:solidFill>
              <a:latin typeface="Calibri"/>
              <a:ea typeface="Calibri"/>
              <a:cs typeface="Calibri"/>
              <a:sym typeface="Calibri"/>
            </a:endParaRPr>
          </a:p>
        </p:txBody>
      </p:sp>
      <p:cxnSp>
        <p:nvCxnSpPr>
          <p:cNvPr id="1698" name="Google Shape;1698;p64"/>
          <p:cNvCxnSpPr/>
          <p:nvPr/>
        </p:nvCxnSpPr>
        <p:spPr>
          <a:xfrm>
            <a:off x="1993599" y="1647995"/>
            <a:ext cx="138900" cy="0"/>
          </a:xfrm>
          <a:prstGeom prst="straightConnector1">
            <a:avLst/>
          </a:prstGeom>
          <a:noFill/>
          <a:ln cap="flat" cmpd="sng" w="22675">
            <a:solidFill>
              <a:srgbClr val="E67E22"/>
            </a:solidFill>
            <a:prstDash val="solid"/>
            <a:round/>
            <a:headEnd len="sm" w="sm" type="none"/>
            <a:tailEnd len="med" w="med" type="stealth"/>
          </a:ln>
        </p:spPr>
      </p:cxnSp>
      <p:sp>
        <p:nvSpPr>
          <p:cNvPr id="1699" name="Google Shape;1699;p64"/>
          <p:cNvSpPr/>
          <p:nvPr/>
        </p:nvSpPr>
        <p:spPr>
          <a:xfrm>
            <a:off x="2165095" y="1117174"/>
            <a:ext cx="1633200" cy="1061400"/>
          </a:xfrm>
          <a:prstGeom prst="roundRect">
            <a:avLst>
              <a:gd fmla="val 5385" name="adj"/>
            </a:avLst>
          </a:prstGeom>
          <a:solidFill>
            <a:srgbClr val="EAF3FD"/>
          </a:solidFill>
          <a:ln cap="flat" cmpd="sng" w="22675">
            <a:solidFill>
              <a:srgbClr val="3B82C4"/>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1A4F7A"/>
                </a:solidFill>
                <a:latin typeface="Calibri"/>
                <a:ea typeface="Calibri"/>
                <a:cs typeface="Calibri"/>
                <a:sym typeface="Calibri"/>
              </a:rPr>
              <a:t>Pretraining</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4F7A"/>
                </a:solidFill>
                <a:latin typeface="Calibri"/>
                <a:ea typeface="Calibri"/>
                <a:cs typeface="Calibri"/>
                <a:sym typeface="Calibri"/>
              </a:rPr>
              <a:t>(Self-supervised or</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4F7A"/>
                </a:solidFill>
                <a:latin typeface="Calibri"/>
                <a:ea typeface="Calibri"/>
                <a:cs typeface="Calibri"/>
                <a:sym typeface="Calibri"/>
              </a:rPr>
              <a:t>Supervised objective)</a:t>
            </a:r>
            <a:endParaRPr sz="1550"/>
          </a:p>
        </p:txBody>
      </p:sp>
      <p:sp>
        <p:nvSpPr>
          <p:cNvPr id="1700" name="Google Shape;1700;p64"/>
          <p:cNvSpPr/>
          <p:nvPr/>
        </p:nvSpPr>
        <p:spPr>
          <a:xfrm>
            <a:off x="2165095" y="2301312"/>
            <a:ext cx="16332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3B82C4"/>
              </a:buClr>
              <a:buSzPts val="759"/>
              <a:buFont typeface="Calibri"/>
              <a:buNone/>
            </a:pPr>
            <a:r>
              <a:rPr b="1" i="1" lang="en" sz="1059" u="none" cap="none" strike="noStrike">
                <a:solidFill>
                  <a:srgbClr val="3B82C4"/>
                </a:solidFill>
                <a:latin typeface="Calibri"/>
                <a:ea typeface="Calibri"/>
                <a:cs typeface="Calibri"/>
                <a:sym typeface="Calibri"/>
              </a:rPr>
              <a:t>STAGE 2</a:t>
            </a:r>
            <a:endParaRPr b="0" i="0" sz="1059" u="none" cap="none" strike="noStrike">
              <a:solidFill>
                <a:srgbClr val="000000"/>
              </a:solidFill>
              <a:latin typeface="Calibri"/>
              <a:ea typeface="Calibri"/>
              <a:cs typeface="Calibri"/>
              <a:sym typeface="Calibri"/>
            </a:endParaRPr>
          </a:p>
        </p:txBody>
      </p:sp>
      <p:cxnSp>
        <p:nvCxnSpPr>
          <p:cNvPr id="1701" name="Google Shape;1701;p64"/>
          <p:cNvCxnSpPr/>
          <p:nvPr/>
        </p:nvCxnSpPr>
        <p:spPr>
          <a:xfrm>
            <a:off x="3831058" y="1647995"/>
            <a:ext cx="138900" cy="0"/>
          </a:xfrm>
          <a:prstGeom prst="straightConnector1">
            <a:avLst/>
          </a:prstGeom>
          <a:noFill/>
          <a:ln cap="flat" cmpd="sng" w="22675">
            <a:solidFill>
              <a:srgbClr val="3B82C4"/>
            </a:solidFill>
            <a:prstDash val="solid"/>
            <a:round/>
            <a:headEnd len="sm" w="sm" type="none"/>
            <a:tailEnd len="med" w="med" type="stealth"/>
          </a:ln>
        </p:spPr>
      </p:cxnSp>
      <p:sp>
        <p:nvSpPr>
          <p:cNvPr id="1702" name="Google Shape;1702;p64"/>
          <p:cNvSpPr/>
          <p:nvPr/>
        </p:nvSpPr>
        <p:spPr>
          <a:xfrm>
            <a:off x="4002554" y="1117174"/>
            <a:ext cx="1633200" cy="1061400"/>
          </a:xfrm>
          <a:prstGeom prst="roundRect">
            <a:avLst>
              <a:gd fmla="val 5385" name="adj"/>
            </a:avLst>
          </a:prstGeom>
          <a:solidFill>
            <a:srgbClr val="EDE0F8"/>
          </a:solidFill>
          <a:ln cap="flat" cmpd="sng" w="22675">
            <a:solidFill>
              <a:srgbClr val="7B2FBE"/>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5B2390"/>
                </a:solidFill>
                <a:latin typeface="Calibri"/>
                <a:ea typeface="Calibri"/>
                <a:cs typeface="Calibri"/>
                <a:sym typeface="Calibri"/>
              </a:rPr>
              <a:t>Pretrained Model</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5B2390"/>
                </a:solidFill>
                <a:latin typeface="Calibri"/>
                <a:ea typeface="Calibri"/>
                <a:cs typeface="Calibri"/>
                <a:sym typeface="Calibri"/>
              </a:rPr>
              <a:t>(General language</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5B2390"/>
                </a:solidFill>
                <a:latin typeface="Calibri"/>
                <a:ea typeface="Calibri"/>
                <a:cs typeface="Calibri"/>
                <a:sym typeface="Calibri"/>
              </a:rPr>
              <a:t>representations)</a:t>
            </a:r>
            <a:endParaRPr sz="1550"/>
          </a:p>
        </p:txBody>
      </p:sp>
      <p:sp>
        <p:nvSpPr>
          <p:cNvPr id="1703" name="Google Shape;1703;p64"/>
          <p:cNvSpPr/>
          <p:nvPr/>
        </p:nvSpPr>
        <p:spPr>
          <a:xfrm>
            <a:off x="4002554" y="2301312"/>
            <a:ext cx="16332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7B2FBE"/>
              </a:buClr>
              <a:buSzPts val="759"/>
              <a:buFont typeface="Calibri"/>
              <a:buNone/>
            </a:pPr>
            <a:r>
              <a:rPr b="1" i="1" lang="en" sz="1059" u="none" cap="none" strike="noStrike">
                <a:solidFill>
                  <a:srgbClr val="7B2FBE"/>
                </a:solidFill>
                <a:latin typeface="Calibri"/>
                <a:ea typeface="Calibri"/>
                <a:cs typeface="Calibri"/>
                <a:sym typeface="Calibri"/>
              </a:rPr>
              <a:t>OUTPUT</a:t>
            </a:r>
            <a:endParaRPr b="0" i="0" sz="1059" u="none" cap="none" strike="noStrike">
              <a:solidFill>
                <a:srgbClr val="000000"/>
              </a:solidFill>
              <a:latin typeface="Calibri"/>
              <a:ea typeface="Calibri"/>
              <a:cs typeface="Calibri"/>
              <a:sym typeface="Calibri"/>
            </a:endParaRPr>
          </a:p>
        </p:txBody>
      </p:sp>
      <p:cxnSp>
        <p:nvCxnSpPr>
          <p:cNvPr id="1704" name="Google Shape;1704;p64"/>
          <p:cNvCxnSpPr/>
          <p:nvPr/>
        </p:nvCxnSpPr>
        <p:spPr>
          <a:xfrm>
            <a:off x="5668518" y="1647995"/>
            <a:ext cx="138900" cy="0"/>
          </a:xfrm>
          <a:prstGeom prst="straightConnector1">
            <a:avLst/>
          </a:prstGeom>
          <a:noFill/>
          <a:ln cap="flat" cmpd="sng" w="22675">
            <a:solidFill>
              <a:srgbClr val="7B2FBE"/>
            </a:solidFill>
            <a:prstDash val="solid"/>
            <a:round/>
            <a:headEnd len="sm" w="sm" type="none"/>
            <a:tailEnd len="med" w="med" type="stealth"/>
          </a:ln>
        </p:spPr>
      </p:cxnSp>
      <p:sp>
        <p:nvSpPr>
          <p:cNvPr id="1705" name="Google Shape;1705;p64"/>
          <p:cNvSpPr/>
          <p:nvPr/>
        </p:nvSpPr>
        <p:spPr>
          <a:xfrm>
            <a:off x="5840014" y="1117174"/>
            <a:ext cx="1551600" cy="1061400"/>
          </a:xfrm>
          <a:prstGeom prst="roundRect">
            <a:avLst>
              <a:gd fmla="val 5385" name="adj"/>
            </a:avLst>
          </a:prstGeom>
          <a:solidFill>
            <a:srgbClr val="E2F5E9"/>
          </a:solidFill>
          <a:ln cap="flat" cmpd="sng" w="22675">
            <a:solidFill>
              <a:srgbClr val="27AE60"/>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1A6B3C"/>
                </a:solidFill>
                <a:latin typeface="Calibri"/>
                <a:ea typeface="Calibri"/>
                <a:cs typeface="Calibri"/>
                <a:sym typeface="Calibri"/>
              </a:rPr>
              <a:t>Fine-tuning</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6B3C"/>
                </a:solidFill>
                <a:latin typeface="Calibri"/>
                <a:ea typeface="Calibri"/>
                <a:cs typeface="Calibri"/>
                <a:sym typeface="Calibri"/>
              </a:rPr>
              <a:t>(Small labelled</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6B3C"/>
                </a:solidFill>
                <a:latin typeface="Calibri"/>
                <a:ea typeface="Calibri"/>
                <a:cs typeface="Calibri"/>
                <a:sym typeface="Calibri"/>
              </a:rPr>
              <a:t>task dataset)</a:t>
            </a:r>
            <a:endParaRPr sz="1550"/>
          </a:p>
        </p:txBody>
      </p:sp>
      <p:sp>
        <p:nvSpPr>
          <p:cNvPr id="1706" name="Google Shape;1706;p64"/>
          <p:cNvSpPr/>
          <p:nvPr/>
        </p:nvSpPr>
        <p:spPr>
          <a:xfrm>
            <a:off x="5840014" y="2301312"/>
            <a:ext cx="1551600" cy="204300"/>
          </a:xfrm>
          <a:prstGeom prst="rect">
            <a:avLst/>
          </a:prstGeom>
          <a:noFill/>
          <a:ln>
            <a:noFill/>
          </a:ln>
        </p:spPr>
        <p:txBody>
          <a:bodyPr anchorCtr="0" anchor="ctr" bIns="40825" lIns="81650" spcFirstLastPara="1" rIns="81650" wrap="square" tIns="40825">
            <a:noAutofit/>
          </a:bodyPr>
          <a:lstStyle/>
          <a:p>
            <a:pPr indent="0" lvl="0" marL="0" marR="0" rtl="0" algn="ctr">
              <a:spcBef>
                <a:spcPts val="0"/>
              </a:spcBef>
              <a:spcAft>
                <a:spcPts val="0"/>
              </a:spcAft>
              <a:buClr>
                <a:srgbClr val="27AE60"/>
              </a:buClr>
              <a:buSzPts val="759"/>
              <a:buFont typeface="Calibri"/>
              <a:buNone/>
            </a:pPr>
            <a:r>
              <a:rPr b="1" i="1" lang="en" sz="1059" u="none" cap="none" strike="noStrike">
                <a:solidFill>
                  <a:srgbClr val="27AE60"/>
                </a:solidFill>
                <a:latin typeface="Calibri"/>
                <a:ea typeface="Calibri"/>
                <a:cs typeface="Calibri"/>
                <a:sym typeface="Calibri"/>
              </a:rPr>
              <a:t>STAGE 3</a:t>
            </a:r>
            <a:endParaRPr b="0" i="0" sz="1059" u="none" cap="none" strike="noStrike">
              <a:solidFill>
                <a:srgbClr val="000000"/>
              </a:solidFill>
              <a:latin typeface="Calibri"/>
              <a:ea typeface="Calibri"/>
              <a:cs typeface="Calibri"/>
              <a:sym typeface="Calibri"/>
            </a:endParaRPr>
          </a:p>
        </p:txBody>
      </p:sp>
      <p:cxnSp>
        <p:nvCxnSpPr>
          <p:cNvPr id="1707" name="Google Shape;1707;p64"/>
          <p:cNvCxnSpPr/>
          <p:nvPr/>
        </p:nvCxnSpPr>
        <p:spPr>
          <a:xfrm>
            <a:off x="7424312" y="1647995"/>
            <a:ext cx="138900" cy="0"/>
          </a:xfrm>
          <a:prstGeom prst="straightConnector1">
            <a:avLst/>
          </a:prstGeom>
          <a:noFill/>
          <a:ln cap="flat" cmpd="sng" w="22675">
            <a:solidFill>
              <a:srgbClr val="27AE60"/>
            </a:solidFill>
            <a:prstDash val="solid"/>
            <a:round/>
            <a:headEnd len="sm" w="sm" type="none"/>
            <a:tailEnd len="med" w="med" type="stealth"/>
          </a:ln>
        </p:spPr>
      </p:cxnSp>
      <p:sp>
        <p:nvSpPr>
          <p:cNvPr id="1708" name="Google Shape;1708;p64"/>
          <p:cNvSpPr/>
          <p:nvPr/>
        </p:nvSpPr>
        <p:spPr>
          <a:xfrm>
            <a:off x="7595808" y="1117174"/>
            <a:ext cx="898500" cy="1061400"/>
          </a:xfrm>
          <a:prstGeom prst="roundRect">
            <a:avLst>
              <a:gd fmla="val 6364" name="adj"/>
            </a:avLst>
          </a:prstGeom>
          <a:solidFill>
            <a:srgbClr val="E2F5E9"/>
          </a:solidFill>
          <a:ln cap="flat" cmpd="sng" w="22675">
            <a:solidFill>
              <a:srgbClr val="27AE60"/>
            </a:solidFill>
            <a:prstDash val="solid"/>
            <a:round/>
            <a:headEnd len="sm" w="sm" type="none"/>
            <a:tailEnd len="sm" w="sm" type="none"/>
          </a:ln>
        </p:spPr>
        <p:txBody>
          <a:bodyPr anchorCtr="0" anchor="ctr" bIns="81650" lIns="81650" spcFirstLastPara="1" rIns="81650" wrap="square" tIns="81650">
            <a:noAutofit/>
          </a:bodyPr>
          <a:lstStyle/>
          <a:p>
            <a:pPr indent="0" lvl="0" marL="0" rtl="0" algn="ctr">
              <a:spcBef>
                <a:spcPts val="0"/>
              </a:spcBef>
              <a:spcAft>
                <a:spcPts val="0"/>
              </a:spcAft>
              <a:buNone/>
            </a:pPr>
            <a:r>
              <a:rPr b="1" lang="en" sz="1104">
                <a:solidFill>
                  <a:srgbClr val="1A6B3C"/>
                </a:solidFill>
                <a:latin typeface="Calibri"/>
                <a:ea typeface="Calibri"/>
                <a:cs typeface="Calibri"/>
                <a:sym typeface="Calibri"/>
              </a:rPr>
              <a:t>Task</a:t>
            </a:r>
            <a:endParaRPr sz="1104">
              <a:solidFill>
                <a:srgbClr val="000000"/>
              </a:solidFill>
              <a:latin typeface="Calibri"/>
              <a:ea typeface="Calibri"/>
              <a:cs typeface="Calibri"/>
              <a:sym typeface="Calibri"/>
            </a:endParaRPr>
          </a:p>
          <a:p>
            <a:pPr indent="0" lvl="0" marL="0" rtl="0" algn="ctr">
              <a:spcBef>
                <a:spcPts val="0"/>
              </a:spcBef>
              <a:spcAft>
                <a:spcPts val="0"/>
              </a:spcAft>
              <a:buNone/>
            </a:pPr>
            <a:r>
              <a:rPr b="1" lang="en" sz="1104">
                <a:solidFill>
                  <a:srgbClr val="1A6B3C"/>
                </a:solidFill>
                <a:latin typeface="Calibri"/>
                <a:ea typeface="Calibri"/>
                <a:cs typeface="Calibri"/>
                <a:sym typeface="Calibri"/>
              </a:rPr>
              <a:t>Model</a:t>
            </a:r>
            <a:endParaRPr sz="155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713" name="Shape 1713"/>
        <p:cNvGrpSpPr/>
        <p:nvPr/>
      </p:nvGrpSpPr>
      <p:grpSpPr>
        <a:xfrm>
          <a:off x="0" y="0"/>
          <a:ext cx="0" cy="0"/>
          <a:chOff x="0" y="0"/>
          <a:chExt cx="0" cy="0"/>
        </a:xfrm>
      </p:grpSpPr>
      <p:sp>
        <p:nvSpPr>
          <p:cNvPr id="1714" name="Google Shape;1714;p65"/>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65"/>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Three Types of Pretrained Transformer Models</a:t>
            </a:r>
            <a:endParaRPr b="0" i="0" sz="2300" u="none" cap="none" strike="noStrike">
              <a:solidFill>
                <a:schemeClr val="dk1"/>
              </a:solidFill>
              <a:latin typeface="Calibri"/>
              <a:ea typeface="Calibri"/>
              <a:cs typeface="Calibri"/>
              <a:sym typeface="Calibri"/>
            </a:endParaRPr>
          </a:p>
        </p:txBody>
      </p:sp>
      <p:sp>
        <p:nvSpPr>
          <p:cNvPr id="1716" name="Google Shape;1716;p65"/>
          <p:cNvSpPr/>
          <p:nvPr/>
        </p:nvSpPr>
        <p:spPr>
          <a:xfrm>
            <a:off x="228600" y="868680"/>
            <a:ext cx="2788800" cy="3657600"/>
          </a:xfrm>
          <a:prstGeom prst="roundRect">
            <a:avLst>
              <a:gd fmla="val 3279" name="adj"/>
            </a:avLst>
          </a:prstGeom>
          <a:solidFill>
            <a:srgbClr val="FFFFFF"/>
          </a:solidFill>
          <a:ln cap="flat" cmpd="sng" w="1905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65"/>
          <p:cNvSpPr/>
          <p:nvPr/>
        </p:nvSpPr>
        <p:spPr>
          <a:xfrm>
            <a:off x="393192"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500"/>
              <a:buFont typeface="Calibri"/>
              <a:buNone/>
            </a:pPr>
            <a:r>
              <a:rPr b="1" i="0" lang="en" sz="1500" u="none" cap="none" strike="noStrike">
                <a:solidFill>
                  <a:srgbClr val="00796B"/>
                </a:solidFill>
                <a:latin typeface="Calibri"/>
                <a:ea typeface="Calibri"/>
                <a:cs typeface="Calibri"/>
                <a:sym typeface="Calibri"/>
              </a:rPr>
              <a:t>Encoder-only</a:t>
            </a:r>
            <a:endParaRPr b="0" i="0" sz="1500" u="none" cap="none" strike="noStrike">
              <a:solidFill>
                <a:schemeClr val="dk1"/>
              </a:solidFill>
              <a:latin typeface="Calibri"/>
              <a:ea typeface="Calibri"/>
              <a:cs typeface="Calibri"/>
              <a:sym typeface="Calibri"/>
            </a:endParaRPr>
          </a:p>
        </p:txBody>
      </p:sp>
      <p:sp>
        <p:nvSpPr>
          <p:cNvPr id="1718" name="Google Shape;1718;p65"/>
          <p:cNvSpPr/>
          <p:nvPr/>
        </p:nvSpPr>
        <p:spPr>
          <a:xfrm>
            <a:off x="393192"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BERT, RoBERTa</a:t>
            </a:r>
            <a:endParaRPr b="0" i="0" sz="950" u="none" cap="none" strike="noStrike">
              <a:solidFill>
                <a:schemeClr val="dk1"/>
              </a:solidFill>
              <a:latin typeface="Calibri"/>
              <a:ea typeface="Calibri"/>
              <a:cs typeface="Calibri"/>
              <a:sym typeface="Calibri"/>
            </a:endParaRPr>
          </a:p>
        </p:txBody>
      </p:sp>
      <p:sp>
        <p:nvSpPr>
          <p:cNvPr id="1719" name="Google Shape;1719;p65"/>
          <p:cNvSpPr/>
          <p:nvPr/>
        </p:nvSpPr>
        <p:spPr>
          <a:xfrm>
            <a:off x="502920" y="1581912"/>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65"/>
          <p:cNvSpPr/>
          <p:nvPr/>
        </p:nvSpPr>
        <p:spPr>
          <a:xfrm>
            <a:off x="502920"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Self-Attn</a:t>
            </a:r>
            <a:endParaRPr b="0" i="0" sz="1050" u="none" cap="none" strike="noStrike">
              <a:solidFill>
                <a:schemeClr val="dk1"/>
              </a:solidFill>
              <a:latin typeface="Calibri"/>
              <a:ea typeface="Calibri"/>
              <a:cs typeface="Calibri"/>
              <a:sym typeface="Calibri"/>
            </a:endParaRPr>
          </a:p>
        </p:txBody>
      </p:sp>
      <p:sp>
        <p:nvSpPr>
          <p:cNvPr id="1721" name="Google Shape;1721;p65"/>
          <p:cNvSpPr/>
          <p:nvPr/>
        </p:nvSpPr>
        <p:spPr>
          <a:xfrm>
            <a:off x="502920"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22" name="Google Shape;1722;p65"/>
          <p:cNvSpPr/>
          <p:nvPr/>
        </p:nvSpPr>
        <p:spPr>
          <a:xfrm>
            <a:off x="502920" y="2020824"/>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65"/>
          <p:cNvSpPr/>
          <p:nvPr/>
        </p:nvSpPr>
        <p:spPr>
          <a:xfrm>
            <a:off x="502920"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24" name="Google Shape;1724;p65"/>
          <p:cNvCxnSpPr/>
          <p:nvPr/>
        </p:nvCxnSpPr>
        <p:spPr>
          <a:xfrm>
            <a:off x="393192"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725" name="Google Shape;1725;p65"/>
          <p:cNvSpPr/>
          <p:nvPr/>
        </p:nvSpPr>
        <p:spPr>
          <a:xfrm>
            <a:off x="393192"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Bidirectional self-attention — every token sees every other token, both directions. No causal mask.</a:t>
            </a:r>
            <a:endParaRPr b="0" i="0" sz="950" u="none" cap="none" strike="noStrike">
              <a:solidFill>
                <a:schemeClr val="dk1"/>
              </a:solidFill>
              <a:latin typeface="Calibri"/>
              <a:ea typeface="Calibri"/>
              <a:cs typeface="Calibri"/>
              <a:sym typeface="Calibri"/>
            </a:endParaRPr>
          </a:p>
        </p:txBody>
      </p:sp>
      <p:sp>
        <p:nvSpPr>
          <p:cNvPr id="1726" name="Google Shape;1726;p65"/>
          <p:cNvSpPr/>
          <p:nvPr/>
        </p:nvSpPr>
        <p:spPr>
          <a:xfrm>
            <a:off x="393192" y="4023360"/>
            <a:ext cx="2469000" cy="3840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65"/>
          <p:cNvSpPr/>
          <p:nvPr/>
        </p:nvSpPr>
        <p:spPr>
          <a:xfrm>
            <a:off x="457200"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70"/>
              <a:buFont typeface="Calibri"/>
              <a:buNone/>
            </a:pPr>
            <a:r>
              <a:rPr b="1" i="0" lang="en" sz="870" u="none" cap="none" strike="noStrike">
                <a:solidFill>
                  <a:srgbClr val="00796B"/>
                </a:solidFill>
                <a:latin typeface="Calibri"/>
                <a:ea typeface="Calibri"/>
                <a:cs typeface="Calibri"/>
                <a:sym typeface="Calibri"/>
              </a:rPr>
              <a:t>Classification, NER, embeddings, understanding tasks</a:t>
            </a:r>
            <a:endParaRPr b="0" i="0" sz="870" u="none" cap="none" strike="noStrike">
              <a:solidFill>
                <a:schemeClr val="dk1"/>
              </a:solidFill>
              <a:latin typeface="Calibri"/>
              <a:ea typeface="Calibri"/>
              <a:cs typeface="Calibri"/>
              <a:sym typeface="Calibri"/>
            </a:endParaRPr>
          </a:p>
        </p:txBody>
      </p:sp>
      <p:sp>
        <p:nvSpPr>
          <p:cNvPr id="1728" name="Google Shape;1728;p65"/>
          <p:cNvSpPr/>
          <p:nvPr/>
        </p:nvSpPr>
        <p:spPr>
          <a:xfrm>
            <a:off x="3136392" y="868680"/>
            <a:ext cx="2788800" cy="3657600"/>
          </a:xfrm>
          <a:prstGeom prst="roundRect">
            <a:avLst>
              <a:gd fmla="val 3279" name="adj"/>
            </a:avLst>
          </a:prstGeom>
          <a:solidFill>
            <a:srgbClr val="FFFFFF"/>
          </a:solidFill>
          <a:ln cap="flat" cmpd="sng" w="1905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65"/>
          <p:cNvSpPr/>
          <p:nvPr/>
        </p:nvSpPr>
        <p:spPr>
          <a:xfrm>
            <a:off x="3300984"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500"/>
              <a:buFont typeface="Calibri"/>
              <a:buNone/>
            </a:pPr>
            <a:r>
              <a:rPr b="1" i="0" lang="en" sz="1500" u="none" cap="none" strike="noStrike">
                <a:solidFill>
                  <a:srgbClr val="6A1B9A"/>
                </a:solidFill>
                <a:latin typeface="Calibri"/>
                <a:ea typeface="Calibri"/>
                <a:cs typeface="Calibri"/>
                <a:sym typeface="Calibri"/>
              </a:rPr>
              <a:t>Decoder-only</a:t>
            </a:r>
            <a:endParaRPr b="0" i="0" sz="1500" u="none" cap="none" strike="noStrike">
              <a:solidFill>
                <a:schemeClr val="dk1"/>
              </a:solidFill>
              <a:latin typeface="Calibri"/>
              <a:ea typeface="Calibri"/>
              <a:cs typeface="Calibri"/>
              <a:sym typeface="Calibri"/>
            </a:endParaRPr>
          </a:p>
        </p:txBody>
      </p:sp>
      <p:sp>
        <p:nvSpPr>
          <p:cNvPr id="1730" name="Google Shape;1730;p65"/>
          <p:cNvSpPr/>
          <p:nvPr/>
        </p:nvSpPr>
        <p:spPr>
          <a:xfrm>
            <a:off x="3300984"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GPT, LLaMA, Claude</a:t>
            </a:r>
            <a:endParaRPr b="0" i="0" sz="950" u="none" cap="none" strike="noStrike">
              <a:solidFill>
                <a:schemeClr val="dk1"/>
              </a:solidFill>
              <a:latin typeface="Calibri"/>
              <a:ea typeface="Calibri"/>
              <a:cs typeface="Calibri"/>
              <a:sym typeface="Calibri"/>
            </a:endParaRPr>
          </a:p>
        </p:txBody>
      </p:sp>
      <p:sp>
        <p:nvSpPr>
          <p:cNvPr id="1731" name="Google Shape;1731;p65"/>
          <p:cNvSpPr/>
          <p:nvPr/>
        </p:nvSpPr>
        <p:spPr>
          <a:xfrm>
            <a:off x="3410712" y="1581912"/>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65"/>
          <p:cNvSpPr/>
          <p:nvPr/>
        </p:nvSpPr>
        <p:spPr>
          <a:xfrm>
            <a:off x="3410712"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733" name="Google Shape;1733;p65"/>
          <p:cNvSpPr/>
          <p:nvPr/>
        </p:nvSpPr>
        <p:spPr>
          <a:xfrm>
            <a:off x="3410712"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900"/>
              <a:buFont typeface="Calibri"/>
              <a:buNone/>
            </a:pPr>
            <a:r>
              <a:rPr b="0" i="0" lang="en" sz="900" u="none" cap="none" strike="noStrike">
                <a:solidFill>
                  <a:srgbClr val="6A1B9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34" name="Google Shape;1734;p65"/>
          <p:cNvSpPr/>
          <p:nvPr/>
        </p:nvSpPr>
        <p:spPr>
          <a:xfrm>
            <a:off x="3410712" y="2020824"/>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65"/>
          <p:cNvSpPr/>
          <p:nvPr/>
        </p:nvSpPr>
        <p:spPr>
          <a:xfrm>
            <a:off x="3410712"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36" name="Google Shape;1736;p65"/>
          <p:cNvCxnSpPr/>
          <p:nvPr/>
        </p:nvCxnSpPr>
        <p:spPr>
          <a:xfrm>
            <a:off x="3300984"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737" name="Google Shape;1737;p65"/>
          <p:cNvSpPr/>
          <p:nvPr/>
        </p:nvSpPr>
        <p:spPr>
          <a:xfrm>
            <a:off x="3300984"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Causal (masked) self-attention only — each token sees only itself and earlier tokens. No encoder, no cross-attention.</a:t>
            </a:r>
            <a:endParaRPr b="0" i="0" sz="950" u="none" cap="none" strike="noStrike">
              <a:solidFill>
                <a:schemeClr val="dk1"/>
              </a:solidFill>
              <a:latin typeface="Calibri"/>
              <a:ea typeface="Calibri"/>
              <a:cs typeface="Calibri"/>
              <a:sym typeface="Calibri"/>
            </a:endParaRPr>
          </a:p>
        </p:txBody>
      </p:sp>
      <p:sp>
        <p:nvSpPr>
          <p:cNvPr id="1738" name="Google Shape;1738;p65"/>
          <p:cNvSpPr/>
          <p:nvPr/>
        </p:nvSpPr>
        <p:spPr>
          <a:xfrm>
            <a:off x="3300984" y="4023360"/>
            <a:ext cx="2469000" cy="384000"/>
          </a:xfrm>
          <a:prstGeom prst="roundRect">
            <a:avLst>
              <a:gd fmla="val 14286"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65"/>
          <p:cNvSpPr/>
          <p:nvPr/>
        </p:nvSpPr>
        <p:spPr>
          <a:xfrm>
            <a:off x="3364992"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70"/>
              <a:buFont typeface="Calibri"/>
              <a:buNone/>
            </a:pPr>
            <a:r>
              <a:rPr b="1" i="0" lang="en" sz="870" u="none" cap="none" strike="noStrike">
                <a:solidFill>
                  <a:srgbClr val="6A1B9A"/>
                </a:solidFill>
                <a:latin typeface="Calibri"/>
                <a:ea typeface="Calibri"/>
                <a:cs typeface="Calibri"/>
                <a:sym typeface="Calibri"/>
              </a:rPr>
              <a:t>Open-ended generation, chat, completion</a:t>
            </a:r>
            <a:endParaRPr b="0" i="0" sz="870" u="none" cap="none" strike="noStrike">
              <a:solidFill>
                <a:schemeClr val="dk1"/>
              </a:solidFill>
              <a:latin typeface="Calibri"/>
              <a:ea typeface="Calibri"/>
              <a:cs typeface="Calibri"/>
              <a:sym typeface="Calibri"/>
            </a:endParaRPr>
          </a:p>
        </p:txBody>
      </p:sp>
      <p:sp>
        <p:nvSpPr>
          <p:cNvPr id="1740" name="Google Shape;1740;p65"/>
          <p:cNvSpPr/>
          <p:nvPr/>
        </p:nvSpPr>
        <p:spPr>
          <a:xfrm>
            <a:off x="6044184" y="868680"/>
            <a:ext cx="2788800" cy="3657600"/>
          </a:xfrm>
          <a:prstGeom prst="roundRect">
            <a:avLst>
              <a:gd fmla="val 3279" name="adj"/>
            </a:avLst>
          </a:prstGeom>
          <a:solidFill>
            <a:srgbClr val="FFFFFF"/>
          </a:solidFill>
          <a:ln cap="flat" cmpd="sng" w="1905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65"/>
          <p:cNvSpPr/>
          <p:nvPr/>
        </p:nvSpPr>
        <p:spPr>
          <a:xfrm>
            <a:off x="6208776"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500"/>
              <a:buFont typeface="Calibri"/>
              <a:buNone/>
            </a:pPr>
            <a:r>
              <a:rPr b="1" i="0" lang="en" sz="1500" u="none" cap="none" strike="noStrike">
                <a:solidFill>
                  <a:srgbClr val="1565C0"/>
                </a:solidFill>
                <a:latin typeface="Calibri"/>
                <a:ea typeface="Calibri"/>
                <a:cs typeface="Calibri"/>
                <a:sym typeface="Calibri"/>
              </a:rPr>
              <a:t>Encoder-Decoder</a:t>
            </a:r>
            <a:endParaRPr b="0" i="0" sz="1500" u="none" cap="none" strike="noStrike">
              <a:solidFill>
                <a:schemeClr val="dk1"/>
              </a:solidFill>
              <a:latin typeface="Calibri"/>
              <a:ea typeface="Calibri"/>
              <a:cs typeface="Calibri"/>
              <a:sym typeface="Calibri"/>
            </a:endParaRPr>
          </a:p>
        </p:txBody>
      </p:sp>
      <p:sp>
        <p:nvSpPr>
          <p:cNvPr id="1742" name="Google Shape;1742;p65"/>
          <p:cNvSpPr/>
          <p:nvPr/>
        </p:nvSpPr>
        <p:spPr>
          <a:xfrm>
            <a:off x="6208776"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T5, original Transformer</a:t>
            </a:r>
            <a:endParaRPr b="0" i="0" sz="950" u="none" cap="none" strike="noStrike">
              <a:solidFill>
                <a:schemeClr val="dk1"/>
              </a:solidFill>
              <a:latin typeface="Calibri"/>
              <a:ea typeface="Calibri"/>
              <a:cs typeface="Calibri"/>
              <a:sym typeface="Calibri"/>
            </a:endParaRPr>
          </a:p>
        </p:txBody>
      </p:sp>
      <p:sp>
        <p:nvSpPr>
          <p:cNvPr id="1743" name="Google Shape;1743;p65"/>
          <p:cNvSpPr/>
          <p:nvPr/>
        </p:nvSpPr>
        <p:spPr>
          <a:xfrm>
            <a:off x="6318504" y="1581912"/>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65"/>
          <p:cNvSpPr/>
          <p:nvPr/>
        </p:nvSpPr>
        <p:spPr>
          <a:xfrm>
            <a:off x="6318504"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745" name="Google Shape;1745;p65"/>
          <p:cNvSpPr/>
          <p:nvPr/>
        </p:nvSpPr>
        <p:spPr>
          <a:xfrm>
            <a:off x="6318504"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46" name="Google Shape;1746;p65"/>
          <p:cNvSpPr/>
          <p:nvPr/>
        </p:nvSpPr>
        <p:spPr>
          <a:xfrm>
            <a:off x="6318504" y="2020824"/>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65"/>
          <p:cNvSpPr/>
          <p:nvPr/>
        </p:nvSpPr>
        <p:spPr>
          <a:xfrm>
            <a:off x="6318504"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Cross-Attn</a:t>
            </a:r>
            <a:endParaRPr b="0" i="0" sz="1050" u="none" cap="none" strike="noStrike">
              <a:solidFill>
                <a:schemeClr val="dk1"/>
              </a:solidFill>
              <a:latin typeface="Calibri"/>
              <a:ea typeface="Calibri"/>
              <a:cs typeface="Calibri"/>
              <a:sym typeface="Calibri"/>
            </a:endParaRPr>
          </a:p>
        </p:txBody>
      </p:sp>
      <p:sp>
        <p:nvSpPr>
          <p:cNvPr id="1748" name="Google Shape;1748;p65"/>
          <p:cNvSpPr/>
          <p:nvPr/>
        </p:nvSpPr>
        <p:spPr>
          <a:xfrm>
            <a:off x="6318504" y="2350008"/>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49" name="Google Shape;1749;p65"/>
          <p:cNvSpPr/>
          <p:nvPr/>
        </p:nvSpPr>
        <p:spPr>
          <a:xfrm>
            <a:off x="6318504" y="2459736"/>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65"/>
          <p:cNvSpPr/>
          <p:nvPr/>
        </p:nvSpPr>
        <p:spPr>
          <a:xfrm>
            <a:off x="6318504" y="2459736"/>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51" name="Google Shape;1751;p65"/>
          <p:cNvCxnSpPr/>
          <p:nvPr/>
        </p:nvCxnSpPr>
        <p:spPr>
          <a:xfrm>
            <a:off x="6208776" y="3035808"/>
            <a:ext cx="2469000" cy="0"/>
          </a:xfrm>
          <a:prstGeom prst="straightConnector1">
            <a:avLst/>
          </a:prstGeom>
          <a:noFill/>
          <a:ln cap="flat" cmpd="sng" w="9525">
            <a:solidFill>
              <a:srgbClr val="B0C8D8"/>
            </a:solidFill>
            <a:prstDash val="solid"/>
            <a:round/>
            <a:headEnd len="sm" w="sm" type="none"/>
            <a:tailEnd len="sm" w="sm" type="none"/>
          </a:ln>
        </p:spPr>
      </p:cxnSp>
      <p:sp>
        <p:nvSpPr>
          <p:cNvPr id="1752" name="Google Shape;1752;p65"/>
          <p:cNvSpPr/>
          <p:nvPr/>
        </p:nvSpPr>
        <p:spPr>
          <a:xfrm>
            <a:off x="6208776" y="3127248"/>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Decoder block adds cross-attention to a separately encoded source sequence, on top of masked self-attention.</a:t>
            </a:r>
            <a:endParaRPr b="0" i="0" sz="950" u="none" cap="none" strike="noStrike">
              <a:solidFill>
                <a:schemeClr val="dk1"/>
              </a:solidFill>
              <a:latin typeface="Calibri"/>
              <a:ea typeface="Calibri"/>
              <a:cs typeface="Calibri"/>
              <a:sym typeface="Calibri"/>
            </a:endParaRPr>
          </a:p>
        </p:txBody>
      </p:sp>
      <p:sp>
        <p:nvSpPr>
          <p:cNvPr id="1753" name="Google Shape;1753;p65"/>
          <p:cNvSpPr/>
          <p:nvPr/>
        </p:nvSpPr>
        <p:spPr>
          <a:xfrm>
            <a:off x="6208776" y="4023360"/>
            <a:ext cx="2469000" cy="384000"/>
          </a:xfrm>
          <a:prstGeom prst="roundRect">
            <a:avLst>
              <a:gd fmla="val 14286"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65"/>
          <p:cNvSpPr/>
          <p:nvPr/>
        </p:nvSpPr>
        <p:spPr>
          <a:xfrm>
            <a:off x="6272784"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70"/>
              <a:buFont typeface="Calibri"/>
              <a:buNone/>
            </a:pPr>
            <a:r>
              <a:rPr b="1" i="0" lang="en" sz="870" u="none" cap="none" strike="noStrike">
                <a:solidFill>
                  <a:srgbClr val="1565C0"/>
                </a:solidFill>
                <a:latin typeface="Calibri"/>
                <a:ea typeface="Calibri"/>
                <a:cs typeface="Calibri"/>
                <a:sym typeface="Calibri"/>
              </a:rPr>
              <a:t>Translation, summarization — fixed input → output mapping</a:t>
            </a:r>
            <a:endParaRPr b="0" i="0" sz="87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759" name="Shape 1759"/>
        <p:cNvGrpSpPr/>
        <p:nvPr/>
      </p:nvGrpSpPr>
      <p:grpSpPr>
        <a:xfrm>
          <a:off x="0" y="0"/>
          <a:ext cx="0" cy="0"/>
          <a:chOff x="0" y="0"/>
          <a:chExt cx="0" cy="0"/>
        </a:xfrm>
      </p:grpSpPr>
      <p:sp>
        <p:nvSpPr>
          <p:cNvPr id="1760" name="Google Shape;1760;p66"/>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66"/>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Three Types of Pretrained Transformer Models</a:t>
            </a:r>
            <a:endParaRPr b="0" i="0" sz="2300" u="none" cap="none" strike="noStrike">
              <a:solidFill>
                <a:schemeClr val="dk1"/>
              </a:solidFill>
              <a:latin typeface="Calibri"/>
              <a:ea typeface="Calibri"/>
              <a:cs typeface="Calibri"/>
              <a:sym typeface="Calibri"/>
            </a:endParaRPr>
          </a:p>
        </p:txBody>
      </p:sp>
      <p:sp>
        <p:nvSpPr>
          <p:cNvPr id="1762" name="Google Shape;1762;p66"/>
          <p:cNvSpPr/>
          <p:nvPr/>
        </p:nvSpPr>
        <p:spPr>
          <a:xfrm>
            <a:off x="228600" y="868680"/>
            <a:ext cx="2788800" cy="3657600"/>
          </a:xfrm>
          <a:prstGeom prst="roundRect">
            <a:avLst>
              <a:gd fmla="val 3279" name="adj"/>
            </a:avLst>
          </a:prstGeom>
          <a:solidFill>
            <a:srgbClr val="FFFFFF"/>
          </a:solidFill>
          <a:ln cap="flat" cmpd="sng" w="1905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66"/>
          <p:cNvSpPr/>
          <p:nvPr/>
        </p:nvSpPr>
        <p:spPr>
          <a:xfrm>
            <a:off x="393192"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500"/>
              <a:buFont typeface="Calibri"/>
              <a:buNone/>
            </a:pPr>
            <a:r>
              <a:rPr b="1" i="0" lang="en" sz="1500" u="none" cap="none" strike="noStrike">
                <a:solidFill>
                  <a:srgbClr val="00796B"/>
                </a:solidFill>
                <a:latin typeface="Calibri"/>
                <a:ea typeface="Calibri"/>
                <a:cs typeface="Calibri"/>
                <a:sym typeface="Calibri"/>
              </a:rPr>
              <a:t>Encoder-only</a:t>
            </a:r>
            <a:endParaRPr b="0" i="0" sz="1500" u="none" cap="none" strike="noStrike">
              <a:solidFill>
                <a:schemeClr val="dk1"/>
              </a:solidFill>
              <a:latin typeface="Calibri"/>
              <a:ea typeface="Calibri"/>
              <a:cs typeface="Calibri"/>
              <a:sym typeface="Calibri"/>
            </a:endParaRPr>
          </a:p>
        </p:txBody>
      </p:sp>
      <p:sp>
        <p:nvSpPr>
          <p:cNvPr id="1764" name="Google Shape;1764;p66"/>
          <p:cNvSpPr/>
          <p:nvPr/>
        </p:nvSpPr>
        <p:spPr>
          <a:xfrm>
            <a:off x="393192"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BERT, RoBERTa</a:t>
            </a:r>
            <a:endParaRPr b="0" i="0" sz="950" u="none" cap="none" strike="noStrike">
              <a:solidFill>
                <a:schemeClr val="dk1"/>
              </a:solidFill>
              <a:latin typeface="Calibri"/>
              <a:ea typeface="Calibri"/>
              <a:cs typeface="Calibri"/>
              <a:sym typeface="Calibri"/>
            </a:endParaRPr>
          </a:p>
        </p:txBody>
      </p:sp>
      <p:sp>
        <p:nvSpPr>
          <p:cNvPr id="1765" name="Google Shape;1765;p66"/>
          <p:cNvSpPr/>
          <p:nvPr/>
        </p:nvSpPr>
        <p:spPr>
          <a:xfrm>
            <a:off x="502920" y="1581912"/>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66"/>
          <p:cNvSpPr/>
          <p:nvPr/>
        </p:nvSpPr>
        <p:spPr>
          <a:xfrm>
            <a:off x="502920"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Self-Attn</a:t>
            </a:r>
            <a:endParaRPr b="0" i="0" sz="1050" u="none" cap="none" strike="noStrike">
              <a:solidFill>
                <a:schemeClr val="dk1"/>
              </a:solidFill>
              <a:latin typeface="Calibri"/>
              <a:ea typeface="Calibri"/>
              <a:cs typeface="Calibri"/>
              <a:sym typeface="Calibri"/>
            </a:endParaRPr>
          </a:p>
        </p:txBody>
      </p:sp>
      <p:sp>
        <p:nvSpPr>
          <p:cNvPr id="1767" name="Google Shape;1767;p66"/>
          <p:cNvSpPr/>
          <p:nvPr/>
        </p:nvSpPr>
        <p:spPr>
          <a:xfrm>
            <a:off x="502920"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68" name="Google Shape;1768;p66"/>
          <p:cNvSpPr/>
          <p:nvPr/>
        </p:nvSpPr>
        <p:spPr>
          <a:xfrm>
            <a:off x="502920" y="2020824"/>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66"/>
          <p:cNvSpPr/>
          <p:nvPr/>
        </p:nvSpPr>
        <p:spPr>
          <a:xfrm>
            <a:off x="502920"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70" name="Google Shape;1770;p66"/>
          <p:cNvCxnSpPr/>
          <p:nvPr/>
        </p:nvCxnSpPr>
        <p:spPr>
          <a:xfrm>
            <a:off x="393192"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771" name="Google Shape;1771;p66"/>
          <p:cNvSpPr/>
          <p:nvPr/>
        </p:nvSpPr>
        <p:spPr>
          <a:xfrm>
            <a:off x="393192"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Bidirectional self-attention — every token sees every other token, both directions. No causal mask.</a:t>
            </a:r>
            <a:endParaRPr b="0" i="0" sz="950" u="none" cap="none" strike="noStrike">
              <a:solidFill>
                <a:schemeClr val="dk1"/>
              </a:solidFill>
              <a:latin typeface="Calibri"/>
              <a:ea typeface="Calibri"/>
              <a:cs typeface="Calibri"/>
              <a:sym typeface="Calibri"/>
            </a:endParaRPr>
          </a:p>
        </p:txBody>
      </p:sp>
      <p:sp>
        <p:nvSpPr>
          <p:cNvPr id="1772" name="Google Shape;1772;p66"/>
          <p:cNvSpPr/>
          <p:nvPr/>
        </p:nvSpPr>
        <p:spPr>
          <a:xfrm>
            <a:off x="393192" y="4023360"/>
            <a:ext cx="2469000" cy="3840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6"/>
          <p:cNvSpPr/>
          <p:nvPr/>
        </p:nvSpPr>
        <p:spPr>
          <a:xfrm>
            <a:off x="457200"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70"/>
              <a:buFont typeface="Calibri"/>
              <a:buNone/>
            </a:pPr>
            <a:r>
              <a:rPr b="1" i="0" lang="en" sz="870" u="none" cap="none" strike="noStrike">
                <a:solidFill>
                  <a:srgbClr val="00796B"/>
                </a:solidFill>
                <a:latin typeface="Calibri"/>
                <a:ea typeface="Calibri"/>
                <a:cs typeface="Calibri"/>
                <a:sym typeface="Calibri"/>
              </a:rPr>
              <a:t>Classification, NER, embeddings, understanding tasks</a:t>
            </a:r>
            <a:endParaRPr b="0" i="0" sz="870" u="none" cap="none" strike="noStrike">
              <a:solidFill>
                <a:schemeClr val="dk1"/>
              </a:solidFill>
              <a:latin typeface="Calibri"/>
              <a:ea typeface="Calibri"/>
              <a:cs typeface="Calibri"/>
              <a:sym typeface="Calibri"/>
            </a:endParaRPr>
          </a:p>
        </p:txBody>
      </p:sp>
      <p:sp>
        <p:nvSpPr>
          <p:cNvPr id="1774" name="Google Shape;1774;p66"/>
          <p:cNvSpPr/>
          <p:nvPr/>
        </p:nvSpPr>
        <p:spPr>
          <a:xfrm>
            <a:off x="3136392" y="868680"/>
            <a:ext cx="2788800" cy="3657600"/>
          </a:xfrm>
          <a:prstGeom prst="roundRect">
            <a:avLst>
              <a:gd fmla="val 3279" name="adj"/>
            </a:avLst>
          </a:prstGeom>
          <a:solidFill>
            <a:srgbClr val="FFFFFF"/>
          </a:solidFill>
          <a:ln cap="flat" cmpd="sng" w="1905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66"/>
          <p:cNvSpPr/>
          <p:nvPr/>
        </p:nvSpPr>
        <p:spPr>
          <a:xfrm>
            <a:off x="3300984"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500"/>
              <a:buFont typeface="Calibri"/>
              <a:buNone/>
            </a:pPr>
            <a:r>
              <a:rPr b="1" i="0" lang="en" sz="1500" u="none" cap="none" strike="noStrike">
                <a:solidFill>
                  <a:srgbClr val="6A1B9A"/>
                </a:solidFill>
                <a:latin typeface="Calibri"/>
                <a:ea typeface="Calibri"/>
                <a:cs typeface="Calibri"/>
                <a:sym typeface="Calibri"/>
              </a:rPr>
              <a:t>Decoder-only</a:t>
            </a:r>
            <a:endParaRPr b="0" i="0" sz="1500" u="none" cap="none" strike="noStrike">
              <a:solidFill>
                <a:schemeClr val="dk1"/>
              </a:solidFill>
              <a:latin typeface="Calibri"/>
              <a:ea typeface="Calibri"/>
              <a:cs typeface="Calibri"/>
              <a:sym typeface="Calibri"/>
            </a:endParaRPr>
          </a:p>
        </p:txBody>
      </p:sp>
      <p:sp>
        <p:nvSpPr>
          <p:cNvPr id="1776" name="Google Shape;1776;p66"/>
          <p:cNvSpPr/>
          <p:nvPr/>
        </p:nvSpPr>
        <p:spPr>
          <a:xfrm>
            <a:off x="3300984"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GPT, LLaMA, Claude</a:t>
            </a:r>
            <a:endParaRPr b="0" i="0" sz="950" u="none" cap="none" strike="noStrike">
              <a:solidFill>
                <a:schemeClr val="dk1"/>
              </a:solidFill>
              <a:latin typeface="Calibri"/>
              <a:ea typeface="Calibri"/>
              <a:cs typeface="Calibri"/>
              <a:sym typeface="Calibri"/>
            </a:endParaRPr>
          </a:p>
        </p:txBody>
      </p:sp>
      <p:sp>
        <p:nvSpPr>
          <p:cNvPr id="1777" name="Google Shape;1777;p66"/>
          <p:cNvSpPr/>
          <p:nvPr/>
        </p:nvSpPr>
        <p:spPr>
          <a:xfrm>
            <a:off x="3410712" y="1581912"/>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66"/>
          <p:cNvSpPr/>
          <p:nvPr/>
        </p:nvSpPr>
        <p:spPr>
          <a:xfrm>
            <a:off x="3410712"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779" name="Google Shape;1779;p66"/>
          <p:cNvSpPr/>
          <p:nvPr/>
        </p:nvSpPr>
        <p:spPr>
          <a:xfrm>
            <a:off x="3410712"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900"/>
              <a:buFont typeface="Calibri"/>
              <a:buNone/>
            </a:pPr>
            <a:r>
              <a:rPr b="0" i="0" lang="en" sz="900" u="none" cap="none" strike="noStrike">
                <a:solidFill>
                  <a:srgbClr val="6A1B9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80" name="Google Shape;1780;p66"/>
          <p:cNvSpPr/>
          <p:nvPr/>
        </p:nvSpPr>
        <p:spPr>
          <a:xfrm>
            <a:off x="3410712" y="2020824"/>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6"/>
          <p:cNvSpPr/>
          <p:nvPr/>
        </p:nvSpPr>
        <p:spPr>
          <a:xfrm>
            <a:off x="3410712"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82" name="Google Shape;1782;p66"/>
          <p:cNvCxnSpPr/>
          <p:nvPr/>
        </p:nvCxnSpPr>
        <p:spPr>
          <a:xfrm>
            <a:off x="3300984"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783" name="Google Shape;1783;p66"/>
          <p:cNvSpPr/>
          <p:nvPr/>
        </p:nvSpPr>
        <p:spPr>
          <a:xfrm>
            <a:off x="3300984"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Causal (masked) self-attention only — each token sees only itself and earlier tokens. No encoder, no cross-attention.</a:t>
            </a:r>
            <a:endParaRPr b="0" i="0" sz="950" u="none" cap="none" strike="noStrike">
              <a:solidFill>
                <a:schemeClr val="dk1"/>
              </a:solidFill>
              <a:latin typeface="Calibri"/>
              <a:ea typeface="Calibri"/>
              <a:cs typeface="Calibri"/>
              <a:sym typeface="Calibri"/>
            </a:endParaRPr>
          </a:p>
        </p:txBody>
      </p:sp>
      <p:sp>
        <p:nvSpPr>
          <p:cNvPr id="1784" name="Google Shape;1784;p66"/>
          <p:cNvSpPr/>
          <p:nvPr/>
        </p:nvSpPr>
        <p:spPr>
          <a:xfrm>
            <a:off x="3300984" y="4023360"/>
            <a:ext cx="2469000" cy="384000"/>
          </a:xfrm>
          <a:prstGeom prst="roundRect">
            <a:avLst>
              <a:gd fmla="val 14286"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66"/>
          <p:cNvSpPr/>
          <p:nvPr/>
        </p:nvSpPr>
        <p:spPr>
          <a:xfrm>
            <a:off x="3364992"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70"/>
              <a:buFont typeface="Calibri"/>
              <a:buNone/>
            </a:pPr>
            <a:r>
              <a:rPr b="1" i="0" lang="en" sz="870" u="none" cap="none" strike="noStrike">
                <a:solidFill>
                  <a:srgbClr val="6A1B9A"/>
                </a:solidFill>
                <a:latin typeface="Calibri"/>
                <a:ea typeface="Calibri"/>
                <a:cs typeface="Calibri"/>
                <a:sym typeface="Calibri"/>
              </a:rPr>
              <a:t>Open-ended generation, chat, completion</a:t>
            </a:r>
            <a:endParaRPr b="0" i="0" sz="870" u="none" cap="none" strike="noStrike">
              <a:solidFill>
                <a:schemeClr val="dk1"/>
              </a:solidFill>
              <a:latin typeface="Calibri"/>
              <a:ea typeface="Calibri"/>
              <a:cs typeface="Calibri"/>
              <a:sym typeface="Calibri"/>
            </a:endParaRPr>
          </a:p>
        </p:txBody>
      </p:sp>
      <p:sp>
        <p:nvSpPr>
          <p:cNvPr id="1786" name="Google Shape;1786;p66"/>
          <p:cNvSpPr/>
          <p:nvPr/>
        </p:nvSpPr>
        <p:spPr>
          <a:xfrm>
            <a:off x="6044184" y="868680"/>
            <a:ext cx="2788800" cy="3657600"/>
          </a:xfrm>
          <a:prstGeom prst="roundRect">
            <a:avLst>
              <a:gd fmla="val 3279" name="adj"/>
            </a:avLst>
          </a:prstGeom>
          <a:solidFill>
            <a:srgbClr val="FFFFFF"/>
          </a:solidFill>
          <a:ln cap="flat" cmpd="sng" w="1905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66"/>
          <p:cNvSpPr/>
          <p:nvPr/>
        </p:nvSpPr>
        <p:spPr>
          <a:xfrm>
            <a:off x="6208776"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500"/>
              <a:buFont typeface="Calibri"/>
              <a:buNone/>
            </a:pPr>
            <a:r>
              <a:rPr b="1" i="0" lang="en" sz="1500" u="none" cap="none" strike="noStrike">
                <a:solidFill>
                  <a:srgbClr val="1565C0"/>
                </a:solidFill>
                <a:latin typeface="Calibri"/>
                <a:ea typeface="Calibri"/>
                <a:cs typeface="Calibri"/>
                <a:sym typeface="Calibri"/>
              </a:rPr>
              <a:t>Encoder-Decoder</a:t>
            </a:r>
            <a:endParaRPr b="0" i="0" sz="1500" u="none" cap="none" strike="noStrike">
              <a:solidFill>
                <a:schemeClr val="dk1"/>
              </a:solidFill>
              <a:latin typeface="Calibri"/>
              <a:ea typeface="Calibri"/>
              <a:cs typeface="Calibri"/>
              <a:sym typeface="Calibri"/>
            </a:endParaRPr>
          </a:p>
        </p:txBody>
      </p:sp>
      <p:sp>
        <p:nvSpPr>
          <p:cNvPr id="1788" name="Google Shape;1788;p66"/>
          <p:cNvSpPr/>
          <p:nvPr/>
        </p:nvSpPr>
        <p:spPr>
          <a:xfrm>
            <a:off x="6208776"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T5, original Transformer</a:t>
            </a:r>
            <a:endParaRPr b="0" i="0" sz="950" u="none" cap="none" strike="noStrike">
              <a:solidFill>
                <a:schemeClr val="dk1"/>
              </a:solidFill>
              <a:latin typeface="Calibri"/>
              <a:ea typeface="Calibri"/>
              <a:cs typeface="Calibri"/>
              <a:sym typeface="Calibri"/>
            </a:endParaRPr>
          </a:p>
        </p:txBody>
      </p:sp>
      <p:sp>
        <p:nvSpPr>
          <p:cNvPr id="1789" name="Google Shape;1789;p66"/>
          <p:cNvSpPr/>
          <p:nvPr/>
        </p:nvSpPr>
        <p:spPr>
          <a:xfrm>
            <a:off x="6318504" y="1581912"/>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66"/>
          <p:cNvSpPr/>
          <p:nvPr/>
        </p:nvSpPr>
        <p:spPr>
          <a:xfrm>
            <a:off x="6318504"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791" name="Google Shape;1791;p66"/>
          <p:cNvSpPr/>
          <p:nvPr/>
        </p:nvSpPr>
        <p:spPr>
          <a:xfrm>
            <a:off x="6318504"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92" name="Google Shape;1792;p66"/>
          <p:cNvSpPr/>
          <p:nvPr/>
        </p:nvSpPr>
        <p:spPr>
          <a:xfrm>
            <a:off x="6318504" y="2020824"/>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66"/>
          <p:cNvSpPr/>
          <p:nvPr/>
        </p:nvSpPr>
        <p:spPr>
          <a:xfrm>
            <a:off x="6318504"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Cross-Attn</a:t>
            </a:r>
            <a:endParaRPr b="0" i="0" sz="1050" u="none" cap="none" strike="noStrike">
              <a:solidFill>
                <a:schemeClr val="dk1"/>
              </a:solidFill>
              <a:latin typeface="Calibri"/>
              <a:ea typeface="Calibri"/>
              <a:cs typeface="Calibri"/>
              <a:sym typeface="Calibri"/>
            </a:endParaRPr>
          </a:p>
        </p:txBody>
      </p:sp>
      <p:sp>
        <p:nvSpPr>
          <p:cNvPr id="1794" name="Google Shape;1794;p66"/>
          <p:cNvSpPr/>
          <p:nvPr/>
        </p:nvSpPr>
        <p:spPr>
          <a:xfrm>
            <a:off x="6318504" y="2350008"/>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95" name="Google Shape;1795;p66"/>
          <p:cNvSpPr/>
          <p:nvPr/>
        </p:nvSpPr>
        <p:spPr>
          <a:xfrm>
            <a:off x="6318504" y="2459736"/>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66"/>
          <p:cNvSpPr/>
          <p:nvPr/>
        </p:nvSpPr>
        <p:spPr>
          <a:xfrm>
            <a:off x="6318504" y="2459736"/>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797" name="Google Shape;1797;p66"/>
          <p:cNvCxnSpPr/>
          <p:nvPr/>
        </p:nvCxnSpPr>
        <p:spPr>
          <a:xfrm>
            <a:off x="6208776" y="3035808"/>
            <a:ext cx="2469000" cy="0"/>
          </a:xfrm>
          <a:prstGeom prst="straightConnector1">
            <a:avLst/>
          </a:prstGeom>
          <a:noFill/>
          <a:ln cap="flat" cmpd="sng" w="9525">
            <a:solidFill>
              <a:srgbClr val="B0C8D8"/>
            </a:solidFill>
            <a:prstDash val="solid"/>
            <a:round/>
            <a:headEnd len="sm" w="sm" type="none"/>
            <a:tailEnd len="sm" w="sm" type="none"/>
          </a:ln>
        </p:spPr>
      </p:cxnSp>
      <p:sp>
        <p:nvSpPr>
          <p:cNvPr id="1798" name="Google Shape;1798;p66"/>
          <p:cNvSpPr/>
          <p:nvPr/>
        </p:nvSpPr>
        <p:spPr>
          <a:xfrm>
            <a:off x="6208776" y="3127248"/>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Decoder block adds cross-attention to a separately encoded source sequence, on top of masked self-attention.</a:t>
            </a:r>
            <a:endParaRPr b="0" i="0" sz="950" u="none" cap="none" strike="noStrike">
              <a:solidFill>
                <a:schemeClr val="dk1"/>
              </a:solidFill>
              <a:latin typeface="Calibri"/>
              <a:ea typeface="Calibri"/>
              <a:cs typeface="Calibri"/>
              <a:sym typeface="Calibri"/>
            </a:endParaRPr>
          </a:p>
        </p:txBody>
      </p:sp>
      <p:sp>
        <p:nvSpPr>
          <p:cNvPr id="1799" name="Google Shape;1799;p66"/>
          <p:cNvSpPr/>
          <p:nvPr/>
        </p:nvSpPr>
        <p:spPr>
          <a:xfrm>
            <a:off x="6208776" y="4023360"/>
            <a:ext cx="2469000" cy="384000"/>
          </a:xfrm>
          <a:prstGeom prst="roundRect">
            <a:avLst>
              <a:gd fmla="val 14286"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66"/>
          <p:cNvSpPr/>
          <p:nvPr/>
        </p:nvSpPr>
        <p:spPr>
          <a:xfrm>
            <a:off x="6272784"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70"/>
              <a:buFont typeface="Calibri"/>
              <a:buNone/>
            </a:pPr>
            <a:r>
              <a:rPr b="1" i="0" lang="en" sz="870" u="none" cap="none" strike="noStrike">
                <a:solidFill>
                  <a:srgbClr val="1565C0"/>
                </a:solidFill>
                <a:latin typeface="Calibri"/>
                <a:ea typeface="Calibri"/>
                <a:cs typeface="Calibri"/>
                <a:sym typeface="Calibri"/>
              </a:rPr>
              <a:t>Translation, summarization — fixed input → output mapping</a:t>
            </a:r>
            <a:endParaRPr b="0" i="0" sz="870" u="none" cap="none" strike="noStrike">
              <a:solidFill>
                <a:schemeClr val="dk1"/>
              </a:solidFill>
              <a:latin typeface="Calibri"/>
              <a:ea typeface="Calibri"/>
              <a:cs typeface="Calibri"/>
              <a:sym typeface="Calibri"/>
            </a:endParaRPr>
          </a:p>
        </p:txBody>
      </p:sp>
      <p:pic>
        <p:nvPicPr>
          <p:cNvPr id="1801" name="Google Shape;1801;p66"/>
          <p:cNvPicPr preferRelativeResize="0"/>
          <p:nvPr/>
        </p:nvPicPr>
        <p:blipFill rotWithShape="1">
          <a:blip r:embed="rId3">
            <a:alphaModFix/>
          </a:blip>
          <a:srcRect b="0" l="0" r="0" t="0"/>
          <a:stretch/>
        </p:blipFill>
        <p:spPr>
          <a:xfrm>
            <a:off x="974425" y="826187"/>
            <a:ext cx="6734649" cy="42184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6" name="Shape 1806"/>
        <p:cNvGrpSpPr/>
        <p:nvPr/>
      </p:nvGrpSpPr>
      <p:grpSpPr>
        <a:xfrm>
          <a:off x="0" y="0"/>
          <a:ext cx="0" cy="0"/>
          <a:chOff x="0" y="0"/>
          <a:chExt cx="0" cy="0"/>
        </a:xfrm>
      </p:grpSpPr>
      <p:sp>
        <p:nvSpPr>
          <p:cNvPr id="1807" name="Google Shape;1807;p67"/>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Encoder-only Models</a:t>
            </a:r>
            <a:endParaRPr b="0" i="0" sz="2300" u="none" cap="none" strike="noStrike">
              <a:solidFill>
                <a:schemeClr val="dk1"/>
              </a:solidFill>
              <a:latin typeface="Calibri"/>
              <a:ea typeface="Calibri"/>
              <a:cs typeface="Calibri"/>
              <a:sym typeface="Calibri"/>
            </a:endParaRPr>
          </a:p>
        </p:txBody>
      </p:sp>
      <p:sp>
        <p:nvSpPr>
          <p:cNvPr id="1808" name="Google Shape;1808;p67"/>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Bidirectional context - Built for understanding, not generation</a:t>
            </a:r>
            <a:endParaRPr b="0" i="0" sz="1100" u="none" cap="none" strike="noStrike">
              <a:solidFill>
                <a:schemeClr val="dk1"/>
              </a:solidFill>
              <a:latin typeface="Calibri"/>
              <a:ea typeface="Calibri"/>
              <a:cs typeface="Calibri"/>
              <a:sym typeface="Calibri"/>
            </a:endParaRPr>
          </a:p>
        </p:txBody>
      </p:sp>
      <p:sp>
        <p:nvSpPr>
          <p:cNvPr id="1809" name="Google Shape;1809;p67"/>
          <p:cNvSpPr/>
          <p:nvPr/>
        </p:nvSpPr>
        <p:spPr>
          <a:xfrm>
            <a:off x="617220" y="1268730"/>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0" name="Google Shape;1810;p67"/>
          <p:cNvSpPr/>
          <p:nvPr/>
        </p:nvSpPr>
        <p:spPr>
          <a:xfrm>
            <a:off x="617220" y="1268730"/>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Input Tokens</a:t>
            </a:r>
            <a:endParaRPr b="0" i="0" sz="900" u="none" cap="none" strike="noStrike">
              <a:solidFill>
                <a:schemeClr val="dk1"/>
              </a:solidFill>
              <a:latin typeface="Calibri"/>
              <a:ea typeface="Calibri"/>
              <a:cs typeface="Calibri"/>
              <a:sym typeface="Calibri"/>
            </a:endParaRPr>
          </a:p>
        </p:txBody>
      </p:sp>
      <p:cxnSp>
        <p:nvCxnSpPr>
          <p:cNvPr id="1811" name="Google Shape;1811;p67"/>
          <p:cNvCxnSpPr/>
          <p:nvPr/>
        </p:nvCxnSpPr>
        <p:spPr>
          <a:xfrm>
            <a:off x="1817370" y="1611630"/>
            <a:ext cx="0" cy="192000"/>
          </a:xfrm>
          <a:prstGeom prst="straightConnector1">
            <a:avLst/>
          </a:prstGeom>
          <a:noFill/>
          <a:ln cap="flat" cmpd="sng" w="14300">
            <a:solidFill>
              <a:srgbClr val="8A94A3"/>
            </a:solidFill>
            <a:prstDash val="solid"/>
            <a:round/>
            <a:headEnd len="sm" w="sm" type="none"/>
            <a:tailEnd len="med" w="med" type="triangle"/>
          </a:ln>
        </p:spPr>
      </p:cxnSp>
      <p:sp>
        <p:nvSpPr>
          <p:cNvPr id="1812" name="Google Shape;1812;p67"/>
          <p:cNvSpPr/>
          <p:nvPr/>
        </p:nvSpPr>
        <p:spPr>
          <a:xfrm>
            <a:off x="514350" y="1803654"/>
            <a:ext cx="2606100" cy="1152300"/>
          </a:xfrm>
          <a:prstGeom prst="roundRect">
            <a:avLst>
              <a:gd fmla="val 4762"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3" name="Google Shape;1813;p67"/>
          <p:cNvSpPr/>
          <p:nvPr/>
        </p:nvSpPr>
        <p:spPr>
          <a:xfrm>
            <a:off x="617220" y="1927098"/>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4" name="Google Shape;1814;p67"/>
          <p:cNvSpPr/>
          <p:nvPr/>
        </p:nvSpPr>
        <p:spPr>
          <a:xfrm>
            <a:off x="617220" y="1927098"/>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Multi-Head Self-Attention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(bidirectional)</a:t>
            </a:r>
            <a:endParaRPr b="0" i="0" sz="800" u="none" cap="none" strike="noStrike">
              <a:solidFill>
                <a:schemeClr val="dk1"/>
              </a:solidFill>
              <a:latin typeface="Calibri"/>
              <a:ea typeface="Calibri"/>
              <a:cs typeface="Calibri"/>
              <a:sym typeface="Calibri"/>
            </a:endParaRPr>
          </a:p>
        </p:txBody>
      </p:sp>
      <p:sp>
        <p:nvSpPr>
          <p:cNvPr id="1815" name="Google Shape;1815;p67"/>
          <p:cNvSpPr/>
          <p:nvPr/>
        </p:nvSpPr>
        <p:spPr>
          <a:xfrm>
            <a:off x="617220" y="2434590"/>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6" name="Google Shape;1816;p67"/>
          <p:cNvSpPr/>
          <p:nvPr/>
        </p:nvSpPr>
        <p:spPr>
          <a:xfrm>
            <a:off x="617220" y="2434590"/>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Feed Forward Network</a:t>
            </a:r>
            <a:endParaRPr b="0" i="0" sz="800" u="none" cap="none" strike="noStrike">
              <a:solidFill>
                <a:schemeClr val="dk1"/>
              </a:solidFill>
              <a:latin typeface="Calibri"/>
              <a:ea typeface="Calibri"/>
              <a:cs typeface="Calibri"/>
              <a:sym typeface="Calibri"/>
            </a:endParaRPr>
          </a:p>
        </p:txBody>
      </p:sp>
      <p:sp>
        <p:nvSpPr>
          <p:cNvPr id="1817" name="Google Shape;1817;p67"/>
          <p:cNvSpPr/>
          <p:nvPr/>
        </p:nvSpPr>
        <p:spPr>
          <a:xfrm>
            <a:off x="3120459" y="2263056"/>
            <a:ext cx="342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900"/>
              <a:buFont typeface="Calibri"/>
              <a:buNone/>
            </a:pPr>
            <a:r>
              <a:rPr b="1" i="0" lang="en" sz="900" u="none" cap="none" strike="noStrike">
                <a:solidFill>
                  <a:srgbClr val="0E7C86"/>
                </a:solidFill>
                <a:latin typeface="Calibri"/>
                <a:ea typeface="Calibri"/>
                <a:cs typeface="Calibri"/>
                <a:sym typeface="Calibri"/>
              </a:rPr>
              <a:t>x N</a:t>
            </a:r>
            <a:endParaRPr b="0" i="0" sz="900" u="none" cap="none" strike="noStrike">
              <a:solidFill>
                <a:schemeClr val="dk1"/>
              </a:solidFill>
              <a:latin typeface="Calibri"/>
              <a:ea typeface="Calibri"/>
              <a:cs typeface="Calibri"/>
              <a:sym typeface="Calibri"/>
            </a:endParaRPr>
          </a:p>
        </p:txBody>
      </p:sp>
      <p:cxnSp>
        <p:nvCxnSpPr>
          <p:cNvPr id="1818" name="Google Shape;1818;p67"/>
          <p:cNvCxnSpPr/>
          <p:nvPr/>
        </p:nvCxnSpPr>
        <p:spPr>
          <a:xfrm>
            <a:off x="1817370" y="2955798"/>
            <a:ext cx="0" cy="150900"/>
          </a:xfrm>
          <a:prstGeom prst="straightConnector1">
            <a:avLst/>
          </a:prstGeom>
          <a:noFill/>
          <a:ln cap="flat" cmpd="sng" w="14300">
            <a:solidFill>
              <a:srgbClr val="8A94A3"/>
            </a:solidFill>
            <a:prstDash val="solid"/>
            <a:round/>
            <a:headEnd len="sm" w="sm" type="none"/>
            <a:tailEnd len="med" w="med" type="triangle"/>
          </a:ln>
        </p:spPr>
      </p:cxnSp>
      <p:sp>
        <p:nvSpPr>
          <p:cNvPr id="1819" name="Google Shape;1819;p67"/>
          <p:cNvSpPr/>
          <p:nvPr/>
        </p:nvSpPr>
        <p:spPr>
          <a:xfrm>
            <a:off x="617220" y="3106674"/>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0" name="Google Shape;1820;p67"/>
          <p:cNvSpPr/>
          <p:nvPr/>
        </p:nvSpPr>
        <p:spPr>
          <a:xfrm>
            <a:off x="617220" y="3106674"/>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Contextual Embeddings</a:t>
            </a:r>
            <a:endParaRPr b="0" i="0" sz="900" u="none" cap="none" strike="noStrike">
              <a:solidFill>
                <a:schemeClr val="dk1"/>
              </a:solidFill>
              <a:latin typeface="Calibri"/>
              <a:ea typeface="Calibri"/>
              <a:cs typeface="Calibri"/>
              <a:sym typeface="Calibri"/>
            </a:endParaRPr>
          </a:p>
        </p:txBody>
      </p:sp>
      <p:sp>
        <p:nvSpPr>
          <p:cNvPr id="1821" name="Google Shape;1821;p67"/>
          <p:cNvSpPr/>
          <p:nvPr/>
        </p:nvSpPr>
        <p:spPr>
          <a:xfrm>
            <a:off x="3429000" y="908755"/>
            <a:ext cx="507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1200"/>
              <a:buFont typeface="Calibri"/>
              <a:buNone/>
            </a:pPr>
            <a:r>
              <a:rPr b="1" i="0" lang="en" u="none" cap="none" strike="noStrike">
                <a:solidFill>
                  <a:srgbClr val="0E7C86"/>
                </a:solidFill>
                <a:latin typeface="Calibri"/>
                <a:ea typeface="Calibri"/>
                <a:cs typeface="Calibri"/>
                <a:sym typeface="Calibri"/>
              </a:rPr>
              <a:t>How it works</a:t>
            </a:r>
            <a:endParaRPr b="0" i="0" u="none" cap="none" strike="noStrike">
              <a:solidFill>
                <a:schemeClr val="dk1"/>
              </a:solidFill>
              <a:latin typeface="Calibri"/>
              <a:ea typeface="Calibri"/>
              <a:cs typeface="Calibri"/>
              <a:sym typeface="Calibri"/>
            </a:endParaRPr>
          </a:p>
        </p:txBody>
      </p:sp>
      <p:sp>
        <p:nvSpPr>
          <p:cNvPr id="1822" name="Google Shape;1822;p67"/>
          <p:cNvSpPr/>
          <p:nvPr/>
        </p:nvSpPr>
        <p:spPr>
          <a:xfrm>
            <a:off x="3429000" y="1268725"/>
            <a:ext cx="5074800" cy="1920300"/>
          </a:xfrm>
          <a:prstGeom prst="rect">
            <a:avLst/>
          </a:prstGeom>
          <a:noFill/>
          <a:ln>
            <a:noFill/>
          </a:ln>
        </p:spPr>
        <p:txBody>
          <a:bodyPr anchorCtr="0" anchor="ctr" bIns="34275" lIns="68575" spcFirstLastPara="1" rIns="68575" wrap="square" tIns="34275">
            <a:noAutofit/>
          </a:bodyPr>
          <a:lstStyle/>
          <a:p>
            <a:pPr indent="-266700" lvl="0" marL="254000" marR="0" rtl="0" algn="l">
              <a:lnSpc>
                <a:spcPct val="115000"/>
              </a:lnSpc>
              <a:spcBef>
                <a:spcPts val="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Every token attends to every other token in both directions - full bidirectional context, no causal mask.</a:t>
            </a:r>
            <a:endParaRPr b="0" i="0" sz="1200" u="none" cap="none" strike="noStrike">
              <a:solidFill>
                <a:schemeClr val="dk1"/>
              </a:solidFill>
              <a:latin typeface="Calibri"/>
              <a:ea typeface="Calibri"/>
              <a:cs typeface="Calibri"/>
              <a:sym typeface="Calibri"/>
            </a:endParaRPr>
          </a:p>
          <a:p>
            <a:pPr indent="-266700" lvl="0" marL="254000" marR="0" rtl="0" algn="l">
              <a:lnSpc>
                <a:spcPct val="115000"/>
              </a:lnSpc>
              <a:spcBef>
                <a:spcPts val="70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Pre-trained with masked language modeling: the model learns by predicting deliberately hidden tokens.</a:t>
            </a:r>
            <a:endParaRPr b="0" i="0" sz="1200" u="none" cap="none" strike="noStrike">
              <a:solidFill>
                <a:schemeClr val="dk1"/>
              </a:solidFill>
              <a:latin typeface="Calibri"/>
              <a:ea typeface="Calibri"/>
              <a:cs typeface="Calibri"/>
              <a:sym typeface="Calibri"/>
            </a:endParaRPr>
          </a:p>
          <a:p>
            <a:pPr indent="-266700" lvl="0" marL="254000" marR="0" rtl="0" algn="l">
              <a:lnSpc>
                <a:spcPct val="115000"/>
              </a:lnSpc>
              <a:spcBef>
                <a:spcPts val="70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Outputs dense vector representations of meaning, not generated text - the model understands, it doesn't write.</a:t>
            </a:r>
            <a:endParaRPr b="0" i="0" sz="1200" u="none" cap="none" strike="noStrike">
              <a:solidFill>
                <a:schemeClr val="dk1"/>
              </a:solidFill>
              <a:latin typeface="Calibri"/>
              <a:ea typeface="Calibri"/>
              <a:cs typeface="Calibri"/>
              <a:sym typeface="Calibri"/>
            </a:endParaRPr>
          </a:p>
          <a:p>
            <a:pPr indent="-266700" lvl="0" marL="254000" marR="0" rtl="0" algn="l">
              <a:lnSpc>
                <a:spcPct val="115000"/>
              </a:lnSpc>
              <a:spcBef>
                <a:spcPts val="700"/>
              </a:spcBef>
              <a:spcAft>
                <a:spcPts val="0"/>
              </a:spcAft>
              <a:buClr>
                <a:srgbClr val="475569"/>
              </a:buClr>
              <a:buSzPts val="1200"/>
              <a:buFont typeface="Calibri"/>
              <a:buChar char="•"/>
            </a:pPr>
            <a:r>
              <a:rPr b="0" i="0" lang="en" sz="1200" u="none" cap="none" strike="noStrike">
                <a:solidFill>
                  <a:srgbClr val="475569"/>
                </a:solidFill>
                <a:latin typeface="Calibri"/>
                <a:ea typeface="Calibri"/>
                <a:cs typeface="Calibri"/>
                <a:sym typeface="Calibri"/>
              </a:rPr>
              <a:t>Typically smaller and cheaper to run than generative models with comparable language understanding.</a:t>
            </a:r>
            <a:endParaRPr b="0" i="0" sz="1200" u="none" cap="none" strike="noStrike">
              <a:solidFill>
                <a:schemeClr val="dk1"/>
              </a:solidFill>
              <a:latin typeface="Calibri"/>
              <a:ea typeface="Calibri"/>
              <a:cs typeface="Calibri"/>
              <a:sym typeface="Calibri"/>
            </a:endParaRPr>
          </a:p>
        </p:txBody>
      </p:sp>
      <p:sp>
        <p:nvSpPr>
          <p:cNvPr id="1823" name="Google Shape;1823;p67"/>
          <p:cNvSpPr/>
          <p:nvPr/>
        </p:nvSpPr>
        <p:spPr>
          <a:xfrm>
            <a:off x="3429000" y="3284957"/>
            <a:ext cx="2331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100" u="none" cap="none" strike="noStrike">
                <a:solidFill>
                  <a:srgbClr val="1E2A4A"/>
                </a:solidFill>
                <a:latin typeface="Calibri"/>
                <a:ea typeface="Calibri"/>
                <a:cs typeface="Calibri"/>
                <a:sym typeface="Calibri"/>
              </a:rPr>
              <a:t>Industry examples</a:t>
            </a:r>
            <a:endParaRPr b="0" i="0" sz="1100" u="none" cap="none" strike="noStrike">
              <a:solidFill>
                <a:schemeClr val="dk1"/>
              </a:solidFill>
              <a:latin typeface="Calibri"/>
              <a:ea typeface="Calibri"/>
              <a:cs typeface="Calibri"/>
              <a:sym typeface="Calibri"/>
            </a:endParaRPr>
          </a:p>
        </p:txBody>
      </p:sp>
      <p:sp>
        <p:nvSpPr>
          <p:cNvPr id="1824" name="Google Shape;1824;p67"/>
          <p:cNvSpPr/>
          <p:nvPr/>
        </p:nvSpPr>
        <p:spPr>
          <a:xfrm>
            <a:off x="3429000"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5" name="Google Shape;1825;p67"/>
          <p:cNvSpPr/>
          <p:nvPr/>
        </p:nvSpPr>
        <p:spPr>
          <a:xfrm>
            <a:off x="3429000"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BERT</a:t>
            </a:r>
            <a:endParaRPr b="0" i="0" sz="900" u="none" cap="none" strike="noStrike">
              <a:solidFill>
                <a:schemeClr val="dk1"/>
              </a:solidFill>
              <a:latin typeface="Calibri"/>
              <a:ea typeface="Calibri"/>
              <a:cs typeface="Calibri"/>
              <a:sym typeface="Calibri"/>
            </a:endParaRPr>
          </a:p>
        </p:txBody>
      </p:sp>
      <p:sp>
        <p:nvSpPr>
          <p:cNvPr id="1826" name="Google Shape;1826;p67"/>
          <p:cNvSpPr/>
          <p:nvPr/>
        </p:nvSpPr>
        <p:spPr>
          <a:xfrm>
            <a:off x="4615434"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7" name="Google Shape;1827;p67"/>
          <p:cNvSpPr/>
          <p:nvPr/>
        </p:nvSpPr>
        <p:spPr>
          <a:xfrm>
            <a:off x="4615434"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RoBERTa</a:t>
            </a:r>
            <a:endParaRPr b="0" i="0" sz="900" u="none" cap="none" strike="noStrike">
              <a:solidFill>
                <a:schemeClr val="dk1"/>
              </a:solidFill>
              <a:latin typeface="Calibri"/>
              <a:ea typeface="Calibri"/>
              <a:cs typeface="Calibri"/>
              <a:sym typeface="Calibri"/>
            </a:endParaRPr>
          </a:p>
        </p:txBody>
      </p:sp>
      <p:sp>
        <p:nvSpPr>
          <p:cNvPr id="1828" name="Google Shape;1828;p67"/>
          <p:cNvSpPr/>
          <p:nvPr/>
        </p:nvSpPr>
        <p:spPr>
          <a:xfrm>
            <a:off x="5801868"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9" name="Google Shape;1829;p67"/>
          <p:cNvSpPr/>
          <p:nvPr/>
        </p:nvSpPr>
        <p:spPr>
          <a:xfrm>
            <a:off x="5801868"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ALBERT</a:t>
            </a:r>
            <a:endParaRPr b="0" i="0" sz="900" u="none" cap="none" strike="noStrike">
              <a:solidFill>
                <a:schemeClr val="dk1"/>
              </a:solidFill>
              <a:latin typeface="Calibri"/>
              <a:ea typeface="Calibri"/>
              <a:cs typeface="Calibri"/>
              <a:sym typeface="Calibri"/>
            </a:endParaRPr>
          </a:p>
        </p:txBody>
      </p:sp>
      <p:sp>
        <p:nvSpPr>
          <p:cNvPr id="1830" name="Google Shape;1830;p67"/>
          <p:cNvSpPr/>
          <p:nvPr/>
        </p:nvSpPr>
        <p:spPr>
          <a:xfrm>
            <a:off x="6988302" y="3538704"/>
            <a:ext cx="1062900" cy="308700"/>
          </a:xfrm>
          <a:prstGeom prst="roundRect">
            <a:avLst>
              <a:gd fmla="val 48889"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1" name="Google Shape;1831;p67"/>
          <p:cNvSpPr/>
          <p:nvPr/>
        </p:nvSpPr>
        <p:spPr>
          <a:xfrm>
            <a:off x="6988302" y="3538704"/>
            <a:ext cx="10629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900"/>
              <a:buFont typeface="Calibri"/>
              <a:buNone/>
            </a:pPr>
            <a:r>
              <a:rPr b="1" i="0" lang="en" sz="900" u="none" cap="none" strike="noStrike">
                <a:solidFill>
                  <a:srgbClr val="1E2A4A"/>
                </a:solidFill>
                <a:latin typeface="Calibri"/>
                <a:ea typeface="Calibri"/>
                <a:cs typeface="Calibri"/>
                <a:sym typeface="Calibri"/>
              </a:rPr>
              <a:t>DistilBERT</a:t>
            </a:r>
            <a:endParaRPr b="0" i="0" sz="900" u="none" cap="none" strike="noStrike">
              <a:solidFill>
                <a:schemeClr val="dk1"/>
              </a:solidFill>
              <a:latin typeface="Calibri"/>
              <a:ea typeface="Calibri"/>
              <a:cs typeface="Calibri"/>
              <a:sym typeface="Calibri"/>
            </a:endParaRPr>
          </a:p>
        </p:txBody>
      </p:sp>
      <p:sp>
        <p:nvSpPr>
          <p:cNvPr id="1832" name="Google Shape;1832;p67"/>
          <p:cNvSpPr/>
          <p:nvPr/>
        </p:nvSpPr>
        <p:spPr>
          <a:xfrm>
            <a:off x="3429000" y="3943350"/>
            <a:ext cx="5074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00"/>
              <a:buFont typeface="Calibri"/>
              <a:buNone/>
            </a:pPr>
            <a:r>
              <a:rPr b="0" i="1" lang="en" sz="1200" u="none" cap="none" strike="noStrike">
                <a:solidFill>
                  <a:srgbClr val="475569"/>
                </a:solidFill>
                <a:latin typeface="Calibri"/>
                <a:ea typeface="Calibri"/>
                <a:cs typeface="Calibri"/>
                <a:sym typeface="Calibri"/>
              </a:rPr>
              <a:t>Why teams choose it: </a:t>
            </a:r>
            <a:r>
              <a:rPr i="1" lang="en" sz="1200">
                <a:solidFill>
                  <a:srgbClr val="475569"/>
                </a:solidFill>
                <a:latin typeface="Calibri"/>
                <a:ea typeface="Calibri"/>
                <a:cs typeface="Calibri"/>
                <a:sym typeface="Calibri"/>
              </a:rPr>
              <a:t>low cost</a:t>
            </a:r>
            <a:r>
              <a:rPr b="0" i="1" lang="en" sz="1200" u="none" cap="none" strike="noStrike">
                <a:solidFill>
                  <a:srgbClr val="475569"/>
                </a:solidFill>
                <a:latin typeface="Calibri"/>
                <a:ea typeface="Calibri"/>
                <a:cs typeface="Calibri"/>
                <a:sym typeface="Calibri"/>
              </a:rPr>
              <a:t> to fine-tune, fast at inference, and purpose-built for scoring, ranking, and classifying text at high volume.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7" name="Shape 1837"/>
        <p:cNvGrpSpPr/>
        <p:nvPr/>
      </p:nvGrpSpPr>
      <p:grpSpPr>
        <a:xfrm>
          <a:off x="0" y="0"/>
          <a:ext cx="0" cy="0"/>
          <a:chOff x="0" y="0"/>
          <a:chExt cx="0" cy="0"/>
        </a:xfrm>
      </p:grpSpPr>
      <p:sp>
        <p:nvSpPr>
          <p:cNvPr id="1838" name="Google Shape;1838;p68"/>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Encoder-only in Production</a:t>
            </a:r>
            <a:endParaRPr b="0" i="0" sz="2300" u="none" cap="none" strike="noStrike">
              <a:solidFill>
                <a:schemeClr val="dk1"/>
              </a:solidFill>
              <a:latin typeface="Calibri"/>
              <a:ea typeface="Calibri"/>
              <a:cs typeface="Calibri"/>
              <a:sym typeface="Calibri"/>
            </a:endParaRPr>
          </a:p>
        </p:txBody>
      </p:sp>
      <p:sp>
        <p:nvSpPr>
          <p:cNvPr id="1839" name="Google Shape;1839;p68"/>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Where bidirectional understanding earns its keep at industry scale</a:t>
            </a:r>
            <a:endParaRPr b="0" i="0" sz="1100" u="none" cap="none" strike="noStrike">
              <a:solidFill>
                <a:schemeClr val="dk1"/>
              </a:solidFill>
              <a:latin typeface="Calibri"/>
              <a:ea typeface="Calibri"/>
              <a:cs typeface="Calibri"/>
              <a:sym typeface="Calibri"/>
            </a:endParaRPr>
          </a:p>
        </p:txBody>
      </p:sp>
      <p:sp>
        <p:nvSpPr>
          <p:cNvPr id="1840" name="Google Shape;1840;p68"/>
          <p:cNvSpPr/>
          <p:nvPr/>
        </p:nvSpPr>
        <p:spPr>
          <a:xfrm>
            <a:off x="480060" y="1268730"/>
            <a:ext cx="2640300" cy="1166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41" name="Google Shape;1841;p68"/>
          <p:cNvSpPr/>
          <p:nvPr/>
        </p:nvSpPr>
        <p:spPr>
          <a:xfrm>
            <a:off x="651535" y="1385290"/>
            <a:ext cx="22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u="none" cap="none" strike="noStrike">
                <a:solidFill>
                  <a:srgbClr val="1E2A4A"/>
                </a:solidFill>
                <a:latin typeface="Calibri"/>
                <a:ea typeface="Calibri"/>
                <a:cs typeface="Calibri"/>
                <a:sym typeface="Calibri"/>
              </a:rPr>
              <a:t>Search &amp; Retrieval</a:t>
            </a:r>
            <a:endParaRPr b="0" i="0" u="none" cap="none" strike="noStrike">
              <a:solidFill>
                <a:schemeClr val="dk1"/>
              </a:solidFill>
              <a:latin typeface="Calibri"/>
              <a:ea typeface="Calibri"/>
              <a:cs typeface="Calibri"/>
              <a:sym typeface="Calibri"/>
            </a:endParaRPr>
          </a:p>
        </p:txBody>
      </p:sp>
      <p:sp>
        <p:nvSpPr>
          <p:cNvPr id="1842" name="Google Shape;1842;p68"/>
          <p:cNvSpPr/>
          <p:nvPr/>
        </p:nvSpPr>
        <p:spPr>
          <a:xfrm>
            <a:off x="651510" y="1714500"/>
            <a:ext cx="22974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200" u="none" cap="none" strike="noStrike">
                <a:solidFill>
                  <a:srgbClr val="475569"/>
                </a:solidFill>
                <a:latin typeface="Calibri"/>
                <a:ea typeface="Calibri"/>
                <a:cs typeface="Calibri"/>
                <a:sym typeface="Calibri"/>
              </a:rPr>
              <a:t>Dense embeddings rank documents by semantic similarity rather than keyword match - the backbone of modern enterprise search.</a:t>
            </a:r>
            <a:endParaRPr b="0" i="0" sz="1200" u="none" cap="none" strike="noStrike">
              <a:solidFill>
                <a:schemeClr val="dk1"/>
              </a:solidFill>
              <a:latin typeface="Calibri"/>
              <a:ea typeface="Calibri"/>
              <a:cs typeface="Calibri"/>
              <a:sym typeface="Calibri"/>
            </a:endParaRPr>
          </a:p>
        </p:txBody>
      </p:sp>
      <p:sp>
        <p:nvSpPr>
          <p:cNvPr id="1843" name="Google Shape;1843;p68"/>
          <p:cNvSpPr/>
          <p:nvPr/>
        </p:nvSpPr>
        <p:spPr>
          <a:xfrm>
            <a:off x="3360420" y="1268730"/>
            <a:ext cx="2640300" cy="1166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44" name="Google Shape;1844;p68"/>
          <p:cNvSpPr/>
          <p:nvPr/>
        </p:nvSpPr>
        <p:spPr>
          <a:xfrm>
            <a:off x="3531870" y="1405890"/>
            <a:ext cx="22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u="none" cap="none" strike="noStrike">
                <a:solidFill>
                  <a:srgbClr val="1E2A4A"/>
                </a:solidFill>
                <a:latin typeface="Calibri"/>
                <a:ea typeface="Calibri"/>
                <a:cs typeface="Calibri"/>
                <a:sym typeface="Calibri"/>
              </a:rPr>
              <a:t>Content Moderation</a:t>
            </a:r>
            <a:endParaRPr b="0" i="0" u="none" cap="none" strike="noStrike">
              <a:solidFill>
                <a:schemeClr val="dk1"/>
              </a:solidFill>
              <a:latin typeface="Calibri"/>
              <a:ea typeface="Calibri"/>
              <a:cs typeface="Calibri"/>
              <a:sym typeface="Calibri"/>
            </a:endParaRPr>
          </a:p>
        </p:txBody>
      </p:sp>
      <p:sp>
        <p:nvSpPr>
          <p:cNvPr id="1845" name="Google Shape;1845;p68"/>
          <p:cNvSpPr/>
          <p:nvPr/>
        </p:nvSpPr>
        <p:spPr>
          <a:xfrm>
            <a:off x="3531870" y="1714500"/>
            <a:ext cx="22974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200" u="none" cap="none" strike="noStrike">
                <a:solidFill>
                  <a:srgbClr val="475569"/>
                </a:solidFill>
                <a:latin typeface="Calibri"/>
                <a:ea typeface="Calibri"/>
                <a:cs typeface="Calibri"/>
                <a:sym typeface="Calibri"/>
              </a:rPr>
              <a:t>Real-time classification of toxicity, spam, and policy violations across millions of posts per day.</a:t>
            </a:r>
            <a:endParaRPr b="0" i="0" sz="1200" u="none" cap="none" strike="noStrike">
              <a:solidFill>
                <a:schemeClr val="dk1"/>
              </a:solidFill>
              <a:latin typeface="Calibri"/>
              <a:ea typeface="Calibri"/>
              <a:cs typeface="Calibri"/>
              <a:sym typeface="Calibri"/>
            </a:endParaRPr>
          </a:p>
        </p:txBody>
      </p:sp>
      <p:sp>
        <p:nvSpPr>
          <p:cNvPr id="1846" name="Google Shape;1846;p68"/>
          <p:cNvSpPr/>
          <p:nvPr/>
        </p:nvSpPr>
        <p:spPr>
          <a:xfrm>
            <a:off x="6240780" y="1268730"/>
            <a:ext cx="2640300" cy="1166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847" name="Google Shape;1847;p68"/>
          <p:cNvSpPr/>
          <p:nvPr/>
        </p:nvSpPr>
        <p:spPr>
          <a:xfrm>
            <a:off x="6412230" y="1405890"/>
            <a:ext cx="22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u="none" cap="none" strike="noStrike">
                <a:solidFill>
                  <a:srgbClr val="1E2A4A"/>
                </a:solidFill>
                <a:latin typeface="Calibri"/>
                <a:ea typeface="Calibri"/>
                <a:cs typeface="Calibri"/>
                <a:sym typeface="Calibri"/>
              </a:rPr>
              <a:t>Document Intelligence</a:t>
            </a:r>
            <a:endParaRPr b="0" i="0" u="none" cap="none" strike="noStrike">
              <a:solidFill>
                <a:schemeClr val="dk1"/>
              </a:solidFill>
              <a:latin typeface="Calibri"/>
              <a:ea typeface="Calibri"/>
              <a:cs typeface="Calibri"/>
              <a:sym typeface="Calibri"/>
            </a:endParaRPr>
          </a:p>
        </p:txBody>
      </p:sp>
      <p:sp>
        <p:nvSpPr>
          <p:cNvPr id="1848" name="Google Shape;1848;p68"/>
          <p:cNvSpPr/>
          <p:nvPr/>
        </p:nvSpPr>
        <p:spPr>
          <a:xfrm>
            <a:off x="6412230" y="1714500"/>
            <a:ext cx="22974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200" u="none" cap="none" strike="noStrike">
                <a:solidFill>
                  <a:srgbClr val="475569"/>
                </a:solidFill>
                <a:latin typeface="Calibri"/>
                <a:ea typeface="Calibri"/>
                <a:cs typeface="Calibri"/>
                <a:sym typeface="Calibri"/>
              </a:rPr>
              <a:t>Named-entity extraction and clause classification in contracts, claims, and compliance review.</a:t>
            </a:r>
            <a:endParaRPr b="0" i="0" sz="1200" u="none" cap="none" strike="noStrike">
              <a:solidFill>
                <a:schemeClr val="dk1"/>
              </a:solidFill>
              <a:latin typeface="Calibri"/>
              <a:ea typeface="Calibri"/>
              <a:cs typeface="Calibri"/>
              <a:sym typeface="Calibri"/>
            </a:endParaRPr>
          </a:p>
        </p:txBody>
      </p:sp>
      <p:sp>
        <p:nvSpPr>
          <p:cNvPr id="1849" name="Google Shape;1849;p68"/>
          <p:cNvSpPr/>
          <p:nvPr/>
        </p:nvSpPr>
        <p:spPr>
          <a:xfrm>
            <a:off x="480060" y="2640330"/>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600" u="none" cap="none" strike="noStrike">
                <a:solidFill>
                  <a:srgbClr val="0E7C86"/>
                </a:solidFill>
                <a:latin typeface="Calibri"/>
                <a:ea typeface="Calibri"/>
                <a:cs typeface="Calibri"/>
                <a:sym typeface="Calibri"/>
              </a:rPr>
              <a:t>Deployment considerations</a:t>
            </a:r>
            <a:endParaRPr b="0" i="0" sz="1600" u="none" cap="none" strike="noStrike">
              <a:solidFill>
                <a:schemeClr val="dk1"/>
              </a:solidFill>
              <a:latin typeface="Calibri"/>
              <a:ea typeface="Calibri"/>
              <a:cs typeface="Calibri"/>
              <a:sym typeface="Calibri"/>
            </a:endParaRPr>
          </a:p>
        </p:txBody>
      </p:sp>
      <p:sp>
        <p:nvSpPr>
          <p:cNvPr id="1850" name="Google Shape;1850;p68"/>
          <p:cNvSpPr/>
          <p:nvPr/>
        </p:nvSpPr>
        <p:spPr>
          <a:xfrm>
            <a:off x="480060" y="3038094"/>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851" name="Google Shape;1851;p68"/>
          <p:cNvSpPr/>
          <p:nvPr/>
        </p:nvSpPr>
        <p:spPr>
          <a:xfrm>
            <a:off x="651510" y="2948940"/>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Latency:  </a:t>
            </a:r>
            <a:r>
              <a:rPr b="0" i="0" lang="en" sz="1300" u="none" cap="none" strike="noStrike">
                <a:solidFill>
                  <a:srgbClr val="475569"/>
                </a:solidFill>
                <a:latin typeface="Calibri"/>
                <a:ea typeface="Calibri"/>
                <a:cs typeface="Calibri"/>
                <a:sym typeface="Calibri"/>
              </a:rPr>
              <a:t>Single forward pass - typically 5-50 ms per request, ideal for synchronous APIs</a:t>
            </a:r>
            <a:endParaRPr b="0" i="0" sz="1300" u="none" cap="none" strike="noStrike">
              <a:solidFill>
                <a:schemeClr val="dk1"/>
              </a:solidFill>
              <a:latin typeface="Calibri"/>
              <a:ea typeface="Calibri"/>
              <a:cs typeface="Calibri"/>
              <a:sym typeface="Calibri"/>
            </a:endParaRPr>
          </a:p>
        </p:txBody>
      </p:sp>
      <p:sp>
        <p:nvSpPr>
          <p:cNvPr id="1852" name="Google Shape;1852;p68"/>
          <p:cNvSpPr/>
          <p:nvPr/>
        </p:nvSpPr>
        <p:spPr>
          <a:xfrm>
            <a:off x="480060" y="3353562"/>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853" name="Google Shape;1853;p68"/>
          <p:cNvSpPr/>
          <p:nvPr/>
        </p:nvSpPr>
        <p:spPr>
          <a:xfrm>
            <a:off x="651510" y="3264408"/>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Cost:  </a:t>
            </a:r>
            <a:r>
              <a:rPr b="0" i="0" lang="en" sz="1300" u="none" cap="none" strike="noStrike">
                <a:solidFill>
                  <a:srgbClr val="475569"/>
                </a:solidFill>
                <a:latin typeface="Calibri"/>
                <a:ea typeface="Calibri"/>
                <a:cs typeface="Calibri"/>
                <a:sym typeface="Calibri"/>
              </a:rPr>
              <a:t>Lowest cost per inference among transformer families; no autoregressive decoding loop</a:t>
            </a:r>
            <a:endParaRPr b="0" i="0" sz="1300" u="none" cap="none" strike="noStrike">
              <a:solidFill>
                <a:schemeClr val="dk1"/>
              </a:solidFill>
              <a:latin typeface="Calibri"/>
              <a:ea typeface="Calibri"/>
              <a:cs typeface="Calibri"/>
              <a:sym typeface="Calibri"/>
            </a:endParaRPr>
          </a:p>
        </p:txBody>
      </p:sp>
      <p:sp>
        <p:nvSpPr>
          <p:cNvPr id="1854" name="Google Shape;1854;p68"/>
          <p:cNvSpPr/>
          <p:nvPr/>
        </p:nvSpPr>
        <p:spPr>
          <a:xfrm>
            <a:off x="480060" y="3669030"/>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855" name="Google Shape;1855;p68"/>
          <p:cNvSpPr/>
          <p:nvPr/>
        </p:nvSpPr>
        <p:spPr>
          <a:xfrm>
            <a:off x="651510" y="3579876"/>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Scaling pattern:  </a:t>
            </a:r>
            <a:r>
              <a:rPr b="0" i="0" lang="en" sz="1300" u="none" cap="none" strike="noStrike">
                <a:solidFill>
                  <a:srgbClr val="475569"/>
                </a:solidFill>
                <a:latin typeface="Calibri"/>
                <a:ea typeface="Calibri"/>
                <a:cs typeface="Calibri"/>
                <a:sym typeface="Calibri"/>
              </a:rPr>
              <a:t>Horizontally scalable behind a load balancer; embeddings can be precomputed and cached</a:t>
            </a:r>
            <a:endParaRPr b="0" i="0" sz="1300" u="none" cap="none" strike="noStrike">
              <a:solidFill>
                <a:schemeClr val="dk1"/>
              </a:solidFill>
              <a:latin typeface="Calibri"/>
              <a:ea typeface="Calibri"/>
              <a:cs typeface="Calibri"/>
              <a:sym typeface="Calibri"/>
            </a:endParaRPr>
          </a:p>
        </p:txBody>
      </p:sp>
      <p:sp>
        <p:nvSpPr>
          <p:cNvPr id="1856" name="Google Shape;1856;p68"/>
          <p:cNvSpPr/>
          <p:nvPr/>
        </p:nvSpPr>
        <p:spPr>
          <a:xfrm>
            <a:off x="480060" y="3984498"/>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857" name="Google Shape;1857;p68"/>
          <p:cNvSpPr/>
          <p:nvPr/>
        </p:nvSpPr>
        <p:spPr>
          <a:xfrm>
            <a:off x="651510" y="3895344"/>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300" u="none" cap="none" strike="noStrike">
                <a:solidFill>
                  <a:srgbClr val="1E2A4A"/>
                </a:solidFill>
                <a:latin typeface="Calibri"/>
                <a:ea typeface="Calibri"/>
                <a:cs typeface="Calibri"/>
                <a:sym typeface="Calibri"/>
              </a:rPr>
              <a:t>Common pitfall:  </a:t>
            </a:r>
            <a:r>
              <a:rPr b="0" i="0" lang="en" sz="1300" u="none" cap="none" strike="noStrike">
                <a:solidFill>
                  <a:srgbClr val="475569"/>
                </a:solidFill>
                <a:latin typeface="Calibri"/>
                <a:ea typeface="Calibri"/>
                <a:cs typeface="Calibri"/>
                <a:sym typeface="Calibri"/>
              </a:rPr>
              <a:t>Fixed input length limits (often 512 tokens) require chunking strategies for long documents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2" name="Shape 1862"/>
        <p:cNvGrpSpPr/>
        <p:nvPr/>
      </p:nvGrpSpPr>
      <p:grpSpPr>
        <a:xfrm>
          <a:off x="0" y="0"/>
          <a:ext cx="0" cy="0"/>
          <a:chOff x="0" y="0"/>
          <a:chExt cx="0" cy="0"/>
        </a:xfrm>
      </p:grpSpPr>
      <p:sp>
        <p:nvSpPr>
          <p:cNvPr id="1863" name="Google Shape;1863;p69"/>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Encoder-Decoder Models</a:t>
            </a:r>
            <a:endParaRPr b="0" i="0" sz="2300" u="none" cap="none" strike="noStrike">
              <a:solidFill>
                <a:schemeClr val="dk1"/>
              </a:solidFill>
              <a:latin typeface="Calibri"/>
              <a:ea typeface="Calibri"/>
              <a:cs typeface="Calibri"/>
              <a:sym typeface="Calibri"/>
            </a:endParaRPr>
          </a:p>
        </p:txBody>
      </p:sp>
      <p:sp>
        <p:nvSpPr>
          <p:cNvPr id="1864" name="Google Shape;1864;p69"/>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Two stacks linked by cross-attention - Built for sequence-to-sequence transformation</a:t>
            </a:r>
            <a:endParaRPr b="0" i="0" sz="1100" u="none" cap="none" strike="noStrike">
              <a:solidFill>
                <a:schemeClr val="dk1"/>
              </a:solidFill>
              <a:latin typeface="Calibri"/>
              <a:ea typeface="Calibri"/>
              <a:cs typeface="Calibri"/>
              <a:sym typeface="Calibri"/>
            </a:endParaRPr>
          </a:p>
        </p:txBody>
      </p:sp>
      <p:sp>
        <p:nvSpPr>
          <p:cNvPr id="1865" name="Google Shape;1865;p69"/>
          <p:cNvSpPr/>
          <p:nvPr/>
        </p:nvSpPr>
        <p:spPr>
          <a:xfrm>
            <a:off x="548640" y="1268730"/>
            <a:ext cx="1988700" cy="308700"/>
          </a:xfrm>
          <a:prstGeom prst="roundRect">
            <a:avLst>
              <a:gd fmla="val 13333"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6" name="Google Shape;1866;p69"/>
          <p:cNvSpPr/>
          <p:nvPr/>
        </p:nvSpPr>
        <p:spPr>
          <a:xfrm>
            <a:off x="548640" y="1268730"/>
            <a:ext cx="198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Source Input</a:t>
            </a:r>
            <a:endParaRPr b="0" i="0" sz="900" u="none" cap="none" strike="noStrike">
              <a:solidFill>
                <a:schemeClr val="dk1"/>
              </a:solidFill>
              <a:latin typeface="Calibri"/>
              <a:ea typeface="Calibri"/>
              <a:cs typeface="Calibri"/>
              <a:sym typeface="Calibri"/>
            </a:endParaRPr>
          </a:p>
        </p:txBody>
      </p:sp>
      <p:cxnSp>
        <p:nvCxnSpPr>
          <p:cNvPr id="1867" name="Google Shape;1867;p69"/>
          <p:cNvCxnSpPr/>
          <p:nvPr/>
        </p:nvCxnSpPr>
        <p:spPr>
          <a:xfrm>
            <a:off x="1543050" y="1577340"/>
            <a:ext cx="0" cy="150900"/>
          </a:xfrm>
          <a:prstGeom prst="straightConnector1">
            <a:avLst/>
          </a:prstGeom>
          <a:noFill/>
          <a:ln cap="flat" cmpd="sng" w="14300">
            <a:solidFill>
              <a:srgbClr val="8A94A3"/>
            </a:solidFill>
            <a:prstDash val="solid"/>
            <a:round/>
            <a:headEnd len="sm" w="sm" type="none"/>
            <a:tailEnd len="med" w="med" type="triangle"/>
          </a:ln>
        </p:spPr>
      </p:cxnSp>
      <p:sp>
        <p:nvSpPr>
          <p:cNvPr id="1868" name="Google Shape;1868;p69"/>
          <p:cNvSpPr/>
          <p:nvPr/>
        </p:nvSpPr>
        <p:spPr>
          <a:xfrm>
            <a:off x="445770" y="1728216"/>
            <a:ext cx="2194800" cy="1097400"/>
          </a:xfrm>
          <a:prstGeom prst="roundRect">
            <a:avLst>
              <a:gd fmla="val 5000"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9" name="Google Shape;1869;p69"/>
          <p:cNvSpPr/>
          <p:nvPr/>
        </p:nvSpPr>
        <p:spPr>
          <a:xfrm>
            <a:off x="548640" y="1844802"/>
            <a:ext cx="1988700" cy="377100"/>
          </a:xfrm>
          <a:prstGeom prst="roundRect">
            <a:avLst>
              <a:gd fmla="val 10909"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0" name="Google Shape;1870;p69"/>
          <p:cNvSpPr/>
          <p:nvPr/>
        </p:nvSpPr>
        <p:spPr>
          <a:xfrm>
            <a:off x="548640" y="1844802"/>
            <a:ext cx="1988700" cy="3771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Self-Attention</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(bidirectional)</a:t>
            </a:r>
            <a:endParaRPr b="0" i="0" sz="700" u="none" cap="none" strike="noStrike">
              <a:solidFill>
                <a:schemeClr val="dk1"/>
              </a:solidFill>
              <a:latin typeface="Calibri"/>
              <a:ea typeface="Calibri"/>
              <a:cs typeface="Calibri"/>
              <a:sym typeface="Calibri"/>
            </a:endParaRPr>
          </a:p>
        </p:txBody>
      </p:sp>
      <p:sp>
        <p:nvSpPr>
          <p:cNvPr id="1871" name="Google Shape;1871;p69"/>
          <p:cNvSpPr/>
          <p:nvPr/>
        </p:nvSpPr>
        <p:spPr>
          <a:xfrm>
            <a:off x="548640" y="2324862"/>
            <a:ext cx="1988700" cy="377100"/>
          </a:xfrm>
          <a:prstGeom prst="roundRect">
            <a:avLst>
              <a:gd fmla="val 10909"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2" name="Google Shape;1872;p69"/>
          <p:cNvSpPr/>
          <p:nvPr/>
        </p:nvSpPr>
        <p:spPr>
          <a:xfrm>
            <a:off x="548640" y="2324862"/>
            <a:ext cx="1988700" cy="3771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Feed Forward</a:t>
            </a:r>
            <a:endParaRPr b="0" i="0" sz="700" u="none" cap="none" strike="noStrike">
              <a:solidFill>
                <a:schemeClr val="dk1"/>
              </a:solidFill>
              <a:latin typeface="Calibri"/>
              <a:ea typeface="Calibri"/>
              <a:cs typeface="Calibri"/>
              <a:sym typeface="Calibri"/>
            </a:endParaRPr>
          </a:p>
        </p:txBody>
      </p:sp>
      <p:sp>
        <p:nvSpPr>
          <p:cNvPr id="1873" name="Google Shape;1873;p69"/>
          <p:cNvSpPr/>
          <p:nvPr/>
        </p:nvSpPr>
        <p:spPr>
          <a:xfrm>
            <a:off x="548640" y="2866644"/>
            <a:ext cx="19887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800"/>
              <a:buFont typeface="Calibri"/>
              <a:buNone/>
            </a:pPr>
            <a:r>
              <a:rPr b="1" i="0" lang="en" sz="800" u="none" cap="none" strike="noStrike">
                <a:solidFill>
                  <a:srgbClr val="0E7C86"/>
                </a:solidFill>
                <a:latin typeface="Calibri"/>
                <a:ea typeface="Calibri"/>
                <a:cs typeface="Calibri"/>
                <a:sym typeface="Calibri"/>
              </a:rPr>
              <a:t>ENCODER  x N</a:t>
            </a:r>
            <a:endParaRPr b="0" i="0" sz="800" u="none" cap="none" strike="noStrike">
              <a:solidFill>
                <a:schemeClr val="dk1"/>
              </a:solidFill>
              <a:latin typeface="Calibri"/>
              <a:ea typeface="Calibri"/>
              <a:cs typeface="Calibri"/>
              <a:sym typeface="Calibri"/>
            </a:endParaRPr>
          </a:p>
        </p:txBody>
      </p:sp>
      <p:sp>
        <p:nvSpPr>
          <p:cNvPr id="1874" name="Google Shape;1874;p69"/>
          <p:cNvSpPr/>
          <p:nvPr/>
        </p:nvSpPr>
        <p:spPr>
          <a:xfrm>
            <a:off x="6583680" y="1268730"/>
            <a:ext cx="1988700" cy="308700"/>
          </a:xfrm>
          <a:prstGeom prst="roundRect">
            <a:avLst>
              <a:gd fmla="val 13333"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5" name="Google Shape;1875;p69"/>
          <p:cNvSpPr/>
          <p:nvPr/>
        </p:nvSpPr>
        <p:spPr>
          <a:xfrm>
            <a:off x="6583680" y="1268730"/>
            <a:ext cx="198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Target Input (so far)</a:t>
            </a:r>
            <a:endParaRPr b="0" i="0" sz="900" u="none" cap="none" strike="noStrike">
              <a:solidFill>
                <a:schemeClr val="dk1"/>
              </a:solidFill>
              <a:latin typeface="Calibri"/>
              <a:ea typeface="Calibri"/>
              <a:cs typeface="Calibri"/>
              <a:sym typeface="Calibri"/>
            </a:endParaRPr>
          </a:p>
        </p:txBody>
      </p:sp>
      <p:cxnSp>
        <p:nvCxnSpPr>
          <p:cNvPr id="1876" name="Google Shape;1876;p69"/>
          <p:cNvCxnSpPr/>
          <p:nvPr/>
        </p:nvCxnSpPr>
        <p:spPr>
          <a:xfrm>
            <a:off x="7578090" y="1577340"/>
            <a:ext cx="0" cy="150900"/>
          </a:xfrm>
          <a:prstGeom prst="straightConnector1">
            <a:avLst/>
          </a:prstGeom>
          <a:noFill/>
          <a:ln cap="flat" cmpd="sng" w="14300">
            <a:solidFill>
              <a:srgbClr val="8A94A3"/>
            </a:solidFill>
            <a:prstDash val="solid"/>
            <a:round/>
            <a:headEnd len="sm" w="sm" type="none"/>
            <a:tailEnd len="med" w="med" type="triangle"/>
          </a:ln>
        </p:spPr>
      </p:cxnSp>
      <p:sp>
        <p:nvSpPr>
          <p:cNvPr id="1877" name="Google Shape;1877;p69"/>
          <p:cNvSpPr/>
          <p:nvPr/>
        </p:nvSpPr>
        <p:spPr>
          <a:xfrm>
            <a:off x="6480810" y="1728216"/>
            <a:ext cx="2194800" cy="1446900"/>
          </a:xfrm>
          <a:prstGeom prst="roundRect">
            <a:avLst>
              <a:gd fmla="val 3791"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8" name="Google Shape;1878;p69"/>
          <p:cNvSpPr/>
          <p:nvPr/>
        </p:nvSpPr>
        <p:spPr>
          <a:xfrm>
            <a:off x="6583680" y="1844802"/>
            <a:ext cx="1988700" cy="342900"/>
          </a:xfrm>
          <a:prstGeom prst="roundRect">
            <a:avLst>
              <a:gd fmla="val 12000"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9" name="Google Shape;1879;p69"/>
          <p:cNvSpPr/>
          <p:nvPr/>
        </p:nvSpPr>
        <p:spPr>
          <a:xfrm>
            <a:off x="6583680" y="1844802"/>
            <a:ext cx="1988700"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Masked Self-Attention</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(causal)</a:t>
            </a:r>
            <a:endParaRPr b="0" i="0" sz="700" u="none" cap="none" strike="noStrike">
              <a:solidFill>
                <a:schemeClr val="dk1"/>
              </a:solidFill>
              <a:latin typeface="Calibri"/>
              <a:ea typeface="Calibri"/>
              <a:cs typeface="Calibri"/>
              <a:sym typeface="Calibri"/>
            </a:endParaRPr>
          </a:p>
        </p:txBody>
      </p:sp>
      <p:sp>
        <p:nvSpPr>
          <p:cNvPr id="1880" name="Google Shape;1880;p69"/>
          <p:cNvSpPr/>
          <p:nvPr/>
        </p:nvSpPr>
        <p:spPr>
          <a:xfrm>
            <a:off x="6583680" y="2276856"/>
            <a:ext cx="1988700" cy="342900"/>
          </a:xfrm>
          <a:prstGeom prst="roundRect">
            <a:avLst>
              <a:gd fmla="val 12000" name="adj"/>
            </a:avLst>
          </a:prstGeom>
          <a:solidFill>
            <a:srgbClr val="0E7C86"/>
          </a:solidFill>
          <a:ln cap="flat" cmpd="sng" w="9525">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1" name="Google Shape;1881;p69"/>
          <p:cNvSpPr/>
          <p:nvPr/>
        </p:nvSpPr>
        <p:spPr>
          <a:xfrm>
            <a:off x="6583680" y="2276856"/>
            <a:ext cx="1988700"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Cross-Attention</a:t>
            </a:r>
            <a:endParaRPr b="0" i="0" sz="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(to encoder output)</a:t>
            </a:r>
            <a:endParaRPr b="0" i="0" sz="700" u="none" cap="none" strike="noStrike">
              <a:solidFill>
                <a:schemeClr val="dk1"/>
              </a:solidFill>
              <a:latin typeface="Calibri"/>
              <a:ea typeface="Calibri"/>
              <a:cs typeface="Calibri"/>
              <a:sym typeface="Calibri"/>
            </a:endParaRPr>
          </a:p>
        </p:txBody>
      </p:sp>
      <p:sp>
        <p:nvSpPr>
          <p:cNvPr id="1882" name="Google Shape;1882;p69"/>
          <p:cNvSpPr/>
          <p:nvPr/>
        </p:nvSpPr>
        <p:spPr>
          <a:xfrm>
            <a:off x="6583680" y="2708910"/>
            <a:ext cx="1988700" cy="342900"/>
          </a:xfrm>
          <a:prstGeom prst="roundRect">
            <a:avLst>
              <a:gd fmla="val 12000"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3" name="Google Shape;1883;p69"/>
          <p:cNvSpPr/>
          <p:nvPr/>
        </p:nvSpPr>
        <p:spPr>
          <a:xfrm>
            <a:off x="6583680" y="2708910"/>
            <a:ext cx="1988700"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FFFFFF"/>
              </a:buClr>
              <a:buSzPts val="700"/>
              <a:buFont typeface="Calibri"/>
              <a:buNone/>
            </a:pPr>
            <a:r>
              <a:rPr b="0" i="0" lang="en" sz="700" u="none" cap="none" strike="noStrike">
                <a:solidFill>
                  <a:srgbClr val="FFFFFF"/>
                </a:solidFill>
                <a:latin typeface="Calibri"/>
                <a:ea typeface="Calibri"/>
                <a:cs typeface="Calibri"/>
                <a:sym typeface="Calibri"/>
              </a:rPr>
              <a:t>Feed Forward</a:t>
            </a:r>
            <a:endParaRPr b="0" i="0" sz="700" u="none" cap="none" strike="noStrike">
              <a:solidFill>
                <a:schemeClr val="dk1"/>
              </a:solidFill>
              <a:latin typeface="Calibri"/>
              <a:ea typeface="Calibri"/>
              <a:cs typeface="Calibri"/>
              <a:sym typeface="Calibri"/>
            </a:endParaRPr>
          </a:p>
        </p:txBody>
      </p:sp>
      <p:cxnSp>
        <p:nvCxnSpPr>
          <p:cNvPr id="1884" name="Google Shape;1884;p69"/>
          <p:cNvCxnSpPr/>
          <p:nvPr/>
        </p:nvCxnSpPr>
        <p:spPr>
          <a:xfrm>
            <a:off x="2640330" y="2156841"/>
            <a:ext cx="3840600" cy="291300"/>
          </a:xfrm>
          <a:prstGeom prst="straightConnector1">
            <a:avLst/>
          </a:prstGeom>
          <a:noFill/>
          <a:ln cap="flat" cmpd="sng" w="14300">
            <a:solidFill>
              <a:srgbClr val="0E7C86"/>
            </a:solidFill>
            <a:prstDash val="dash"/>
            <a:round/>
            <a:headEnd len="sm" w="sm" type="none"/>
            <a:tailEnd len="med" w="med" type="triangle"/>
          </a:ln>
        </p:spPr>
      </p:cxnSp>
      <p:sp>
        <p:nvSpPr>
          <p:cNvPr id="1885" name="Google Shape;1885;p69"/>
          <p:cNvSpPr/>
          <p:nvPr/>
        </p:nvSpPr>
        <p:spPr>
          <a:xfrm>
            <a:off x="6583680" y="3216402"/>
            <a:ext cx="19887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800"/>
              <a:buFont typeface="Calibri"/>
              <a:buNone/>
            </a:pPr>
            <a:r>
              <a:rPr b="1" i="0" lang="en" sz="800" u="none" cap="none" strike="noStrike">
                <a:solidFill>
                  <a:srgbClr val="0E7C86"/>
                </a:solidFill>
                <a:latin typeface="Calibri"/>
                <a:ea typeface="Calibri"/>
                <a:cs typeface="Calibri"/>
                <a:sym typeface="Calibri"/>
              </a:rPr>
              <a:t>DECODER  x N</a:t>
            </a:r>
            <a:endParaRPr b="0" i="0" sz="800" u="none" cap="none" strike="noStrike">
              <a:solidFill>
                <a:schemeClr val="dk1"/>
              </a:solidFill>
              <a:latin typeface="Calibri"/>
              <a:ea typeface="Calibri"/>
              <a:cs typeface="Calibri"/>
              <a:sym typeface="Calibri"/>
            </a:endParaRPr>
          </a:p>
        </p:txBody>
      </p:sp>
      <p:cxnSp>
        <p:nvCxnSpPr>
          <p:cNvPr id="1886" name="Google Shape;1886;p69"/>
          <p:cNvCxnSpPr/>
          <p:nvPr/>
        </p:nvCxnSpPr>
        <p:spPr>
          <a:xfrm>
            <a:off x="7578090" y="3449574"/>
            <a:ext cx="0" cy="178200"/>
          </a:xfrm>
          <a:prstGeom prst="straightConnector1">
            <a:avLst/>
          </a:prstGeom>
          <a:noFill/>
          <a:ln cap="flat" cmpd="sng" w="14300">
            <a:solidFill>
              <a:srgbClr val="8A94A3"/>
            </a:solidFill>
            <a:prstDash val="solid"/>
            <a:round/>
            <a:headEnd len="sm" w="sm" type="none"/>
            <a:tailEnd len="med" w="med" type="triangle"/>
          </a:ln>
        </p:spPr>
      </p:cxnSp>
      <p:sp>
        <p:nvSpPr>
          <p:cNvPr id="1887" name="Google Shape;1887;p69"/>
          <p:cNvSpPr/>
          <p:nvPr/>
        </p:nvSpPr>
        <p:spPr>
          <a:xfrm>
            <a:off x="6583680" y="3627882"/>
            <a:ext cx="1988700" cy="308700"/>
          </a:xfrm>
          <a:prstGeom prst="roundRect">
            <a:avLst>
              <a:gd fmla="val 13333"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8" name="Google Shape;1888;p69"/>
          <p:cNvSpPr/>
          <p:nvPr/>
        </p:nvSpPr>
        <p:spPr>
          <a:xfrm>
            <a:off x="6583680" y="3627882"/>
            <a:ext cx="198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Generated Output</a:t>
            </a:r>
            <a:endParaRPr b="0" i="0" sz="900" u="none" cap="none" strike="noStrike">
              <a:solidFill>
                <a:schemeClr val="dk1"/>
              </a:solidFill>
              <a:latin typeface="Calibri"/>
              <a:ea typeface="Calibri"/>
              <a:cs typeface="Calibri"/>
              <a:sym typeface="Calibri"/>
            </a:endParaRPr>
          </a:p>
        </p:txBody>
      </p:sp>
      <p:sp>
        <p:nvSpPr>
          <p:cNvPr id="1889" name="Google Shape;1889;p69"/>
          <p:cNvSpPr/>
          <p:nvPr/>
        </p:nvSpPr>
        <p:spPr>
          <a:xfrm>
            <a:off x="2811780" y="1268730"/>
            <a:ext cx="34632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1000"/>
              <a:buFont typeface="Calibri"/>
              <a:buNone/>
            </a:pPr>
            <a:r>
              <a:rPr b="1" i="0" lang="en" sz="1200" u="none" cap="none" strike="noStrike">
                <a:solidFill>
                  <a:srgbClr val="0E7C86"/>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1890" name="Google Shape;1890;p69"/>
          <p:cNvSpPr/>
          <p:nvPr/>
        </p:nvSpPr>
        <p:spPr>
          <a:xfrm>
            <a:off x="2829080" y="2571753"/>
            <a:ext cx="3463200" cy="1062900"/>
          </a:xfrm>
          <a:prstGeom prst="rect">
            <a:avLst/>
          </a:prstGeom>
          <a:noFill/>
          <a:ln>
            <a:noFill/>
          </a:ln>
        </p:spPr>
        <p:txBody>
          <a:bodyPr anchorCtr="0" anchor="t" bIns="34275" lIns="68575" spcFirstLastPara="1" rIns="68575" wrap="square" tIns="34275">
            <a:noAutofit/>
          </a:bodyPr>
          <a:lstStyle/>
          <a:p>
            <a:pPr indent="-266700" lvl="0" marL="254000" marR="0" rtl="0" algn="l">
              <a:lnSpc>
                <a:spcPct val="112000"/>
              </a:lnSpc>
              <a:spcBef>
                <a:spcPts val="0"/>
              </a:spcBef>
              <a:spcAft>
                <a:spcPts val="0"/>
              </a:spcAft>
              <a:buClr>
                <a:srgbClr val="475569"/>
              </a:buClr>
              <a:buSzPts val="1000"/>
              <a:buFont typeface="Calibri"/>
              <a:buChar char="•"/>
            </a:pPr>
            <a:r>
              <a:rPr b="0" i="0" lang="en" sz="1000" u="none" cap="none" strike="noStrike">
                <a:solidFill>
                  <a:srgbClr val="475569"/>
                </a:solidFill>
                <a:latin typeface="Calibri"/>
                <a:ea typeface="Calibri"/>
                <a:cs typeface="Calibri"/>
                <a:sym typeface="Calibri"/>
              </a:rPr>
              <a:t>Encoder reads the source sequence bidirectionally, building a contextual representation.</a:t>
            </a:r>
            <a:endParaRPr b="0" i="0" sz="1000" u="none" cap="none" strike="noStrike">
              <a:solidFill>
                <a:schemeClr val="dk1"/>
              </a:solidFill>
              <a:latin typeface="Calibri"/>
              <a:ea typeface="Calibri"/>
              <a:cs typeface="Calibri"/>
              <a:sym typeface="Calibri"/>
            </a:endParaRPr>
          </a:p>
          <a:p>
            <a:pPr indent="-266700" lvl="0" marL="254000" marR="0" rtl="0" algn="l">
              <a:lnSpc>
                <a:spcPct val="112000"/>
              </a:lnSpc>
              <a:spcBef>
                <a:spcPts val="500"/>
              </a:spcBef>
              <a:spcAft>
                <a:spcPts val="0"/>
              </a:spcAft>
              <a:buClr>
                <a:srgbClr val="475569"/>
              </a:buClr>
              <a:buSzPts val="1000"/>
              <a:buFont typeface="Calibri"/>
              <a:buChar char="•"/>
            </a:pPr>
            <a:r>
              <a:rPr b="0" i="0" lang="en" sz="1000" u="none" cap="none" strike="noStrike">
                <a:solidFill>
                  <a:srgbClr val="475569"/>
                </a:solidFill>
                <a:latin typeface="Calibri"/>
                <a:ea typeface="Calibri"/>
                <a:cs typeface="Calibri"/>
                <a:sym typeface="Calibri"/>
              </a:rPr>
              <a:t>That representation feeds every decoder layer via cross-attention (dashed line).</a:t>
            </a:r>
            <a:endParaRPr b="0" i="0" sz="1000" u="none" cap="none" strike="noStrike">
              <a:solidFill>
                <a:schemeClr val="dk1"/>
              </a:solidFill>
              <a:latin typeface="Calibri"/>
              <a:ea typeface="Calibri"/>
              <a:cs typeface="Calibri"/>
              <a:sym typeface="Calibri"/>
            </a:endParaRPr>
          </a:p>
          <a:p>
            <a:pPr indent="-266700" lvl="0" marL="254000" marR="0" rtl="0" algn="l">
              <a:lnSpc>
                <a:spcPct val="112000"/>
              </a:lnSpc>
              <a:spcBef>
                <a:spcPts val="500"/>
              </a:spcBef>
              <a:spcAft>
                <a:spcPts val="0"/>
              </a:spcAft>
              <a:buClr>
                <a:srgbClr val="475569"/>
              </a:buClr>
              <a:buSzPts val="1000"/>
              <a:buFont typeface="Calibri"/>
              <a:buChar char="•"/>
            </a:pPr>
            <a:r>
              <a:rPr b="0" i="0" lang="en" sz="1000" u="none" cap="none" strike="noStrike">
                <a:solidFill>
                  <a:srgbClr val="475569"/>
                </a:solidFill>
                <a:latin typeface="Calibri"/>
                <a:ea typeface="Calibri"/>
                <a:cs typeface="Calibri"/>
                <a:sym typeface="Calibri"/>
              </a:rPr>
              <a:t>Decoder generates the target sequence autoregressively, attending back to it at each step.</a:t>
            </a:r>
            <a:endParaRPr b="0" i="0" sz="1000" u="none" cap="none" strike="noStrike">
              <a:solidFill>
                <a:schemeClr val="dk1"/>
              </a:solidFill>
              <a:latin typeface="Calibri"/>
              <a:ea typeface="Calibri"/>
              <a:cs typeface="Calibri"/>
              <a:sym typeface="Calibri"/>
            </a:endParaRPr>
          </a:p>
        </p:txBody>
      </p:sp>
      <p:sp>
        <p:nvSpPr>
          <p:cNvPr id="1891" name="Google Shape;1891;p69"/>
          <p:cNvSpPr/>
          <p:nvPr/>
        </p:nvSpPr>
        <p:spPr>
          <a:xfrm>
            <a:off x="480060" y="3840480"/>
            <a:ext cx="157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000"/>
              <a:buFont typeface="Calibri"/>
              <a:buNone/>
            </a:pPr>
            <a:r>
              <a:rPr b="1" i="0" lang="en" sz="1000" u="none" cap="none" strike="noStrike">
                <a:solidFill>
                  <a:srgbClr val="1E2A4A"/>
                </a:solidFill>
                <a:latin typeface="Calibri"/>
                <a:ea typeface="Calibri"/>
                <a:cs typeface="Calibri"/>
                <a:sym typeface="Calibri"/>
              </a:rPr>
              <a:t>Industry examples:  </a:t>
            </a:r>
            <a:endParaRPr b="0" i="0" sz="1000" u="none" cap="none" strike="noStrike">
              <a:solidFill>
                <a:schemeClr val="dk1"/>
              </a:solidFill>
              <a:latin typeface="Calibri"/>
              <a:ea typeface="Calibri"/>
              <a:cs typeface="Calibri"/>
              <a:sym typeface="Calibri"/>
            </a:endParaRPr>
          </a:p>
        </p:txBody>
      </p:sp>
      <p:sp>
        <p:nvSpPr>
          <p:cNvPr id="1892" name="Google Shape;1892;p69"/>
          <p:cNvSpPr/>
          <p:nvPr/>
        </p:nvSpPr>
        <p:spPr>
          <a:xfrm>
            <a:off x="1988820" y="3840480"/>
            <a:ext cx="6515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0" lang="en" sz="1000" u="none" cap="none" strike="noStrike">
                <a:solidFill>
                  <a:srgbClr val="475569"/>
                </a:solidFill>
                <a:latin typeface="Calibri"/>
                <a:ea typeface="Calibri"/>
                <a:cs typeface="Calibri"/>
                <a:sym typeface="Calibri"/>
              </a:rPr>
              <a:t>T5  -  BART  -  mT5  -  the original Transformer (Vaswani et al., 2017)</a:t>
            </a:r>
            <a:endParaRPr b="0" i="0" sz="1000" u="none" cap="none" strike="noStrike">
              <a:solidFill>
                <a:schemeClr val="dk1"/>
              </a:solidFill>
              <a:latin typeface="Calibri"/>
              <a:ea typeface="Calibri"/>
              <a:cs typeface="Calibri"/>
              <a:sym typeface="Calibri"/>
            </a:endParaRPr>
          </a:p>
        </p:txBody>
      </p:sp>
      <p:sp>
        <p:nvSpPr>
          <p:cNvPr id="1893" name="Google Shape;1893;p69"/>
          <p:cNvSpPr/>
          <p:nvPr/>
        </p:nvSpPr>
        <p:spPr>
          <a:xfrm>
            <a:off x="480060" y="4183380"/>
            <a:ext cx="8160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00"/>
              <a:buFont typeface="Calibri"/>
              <a:buNone/>
            </a:pPr>
            <a:r>
              <a:rPr b="0" i="1" lang="en" sz="1100" u="none" cap="none" strike="noStrike">
                <a:solidFill>
                  <a:srgbClr val="475569"/>
                </a:solidFill>
                <a:latin typeface="Calibri"/>
                <a:ea typeface="Calibri"/>
                <a:cs typeface="Calibri"/>
                <a:sym typeface="Calibri"/>
              </a:rPr>
              <a:t>Why teams choose it: when input and output are genuinely different sequences (a sentence in French, a paragraph to summarize), separating "read" from "write" is more efficient than forcing one stack to do both.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8" name="Shape 1898"/>
        <p:cNvGrpSpPr/>
        <p:nvPr/>
      </p:nvGrpSpPr>
      <p:grpSpPr>
        <a:xfrm>
          <a:off x="0" y="0"/>
          <a:ext cx="0" cy="0"/>
          <a:chOff x="0" y="0"/>
          <a:chExt cx="0" cy="0"/>
        </a:xfrm>
      </p:grpSpPr>
      <p:sp>
        <p:nvSpPr>
          <p:cNvPr id="1899" name="Google Shape;1899;p70"/>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Encoder-Decoder in Production</a:t>
            </a:r>
            <a:endParaRPr b="0" i="0" sz="2300" u="none" cap="none" strike="noStrike">
              <a:solidFill>
                <a:schemeClr val="dk1"/>
              </a:solidFill>
              <a:latin typeface="Calibri"/>
              <a:ea typeface="Calibri"/>
              <a:cs typeface="Calibri"/>
              <a:sym typeface="Calibri"/>
            </a:endParaRPr>
          </a:p>
        </p:txBody>
      </p:sp>
      <p:sp>
        <p:nvSpPr>
          <p:cNvPr id="1900" name="Google Shape;1900;p70"/>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Where transforming one sequence into another is the core task</a:t>
            </a:r>
            <a:endParaRPr b="0" i="0" sz="1100" u="none" cap="none" strike="noStrike">
              <a:solidFill>
                <a:schemeClr val="dk1"/>
              </a:solidFill>
              <a:latin typeface="Calibri"/>
              <a:ea typeface="Calibri"/>
              <a:cs typeface="Calibri"/>
              <a:sym typeface="Calibri"/>
            </a:endParaRPr>
          </a:p>
        </p:txBody>
      </p:sp>
      <p:sp>
        <p:nvSpPr>
          <p:cNvPr id="1901" name="Google Shape;1901;p70"/>
          <p:cNvSpPr/>
          <p:nvPr/>
        </p:nvSpPr>
        <p:spPr>
          <a:xfrm>
            <a:off x="480050" y="1268724"/>
            <a:ext cx="2640300" cy="1424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902" name="Google Shape;1902;p70"/>
          <p:cNvSpPr/>
          <p:nvPr/>
        </p:nvSpPr>
        <p:spPr>
          <a:xfrm>
            <a:off x="651500" y="1436219"/>
            <a:ext cx="2297400" cy="33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Machine Translation</a:t>
            </a:r>
            <a:endParaRPr b="0" i="0" sz="1500" u="none" cap="none" strike="noStrike">
              <a:solidFill>
                <a:schemeClr val="dk1"/>
              </a:solidFill>
              <a:latin typeface="Calibri"/>
              <a:ea typeface="Calibri"/>
              <a:cs typeface="Calibri"/>
              <a:sym typeface="Calibri"/>
            </a:endParaRPr>
          </a:p>
        </p:txBody>
      </p:sp>
      <p:sp>
        <p:nvSpPr>
          <p:cNvPr id="1903" name="Google Shape;1903;p70"/>
          <p:cNvSpPr/>
          <p:nvPr/>
        </p:nvSpPr>
        <p:spPr>
          <a:xfrm>
            <a:off x="651500" y="1813082"/>
            <a:ext cx="2297400" cy="79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Production translation systems handling dozens of language pairs at enterprise scale.</a:t>
            </a:r>
            <a:endParaRPr b="0" i="0" sz="1300" u="none" cap="none" strike="noStrike">
              <a:solidFill>
                <a:schemeClr val="dk1"/>
              </a:solidFill>
              <a:latin typeface="Calibri"/>
              <a:ea typeface="Calibri"/>
              <a:cs typeface="Calibri"/>
              <a:sym typeface="Calibri"/>
            </a:endParaRPr>
          </a:p>
        </p:txBody>
      </p:sp>
      <p:sp>
        <p:nvSpPr>
          <p:cNvPr id="1904" name="Google Shape;1904;p70"/>
          <p:cNvSpPr/>
          <p:nvPr/>
        </p:nvSpPr>
        <p:spPr>
          <a:xfrm>
            <a:off x="3360412" y="1268724"/>
            <a:ext cx="2640300" cy="1424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905" name="Google Shape;1905;p70"/>
          <p:cNvSpPr/>
          <p:nvPr/>
        </p:nvSpPr>
        <p:spPr>
          <a:xfrm>
            <a:off x="3531862" y="1436219"/>
            <a:ext cx="2297400" cy="33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Summarization</a:t>
            </a:r>
            <a:endParaRPr b="0" i="0" sz="1500" u="none" cap="none" strike="noStrike">
              <a:solidFill>
                <a:schemeClr val="dk1"/>
              </a:solidFill>
              <a:latin typeface="Calibri"/>
              <a:ea typeface="Calibri"/>
              <a:cs typeface="Calibri"/>
              <a:sym typeface="Calibri"/>
            </a:endParaRPr>
          </a:p>
        </p:txBody>
      </p:sp>
      <p:sp>
        <p:nvSpPr>
          <p:cNvPr id="1906" name="Google Shape;1906;p70"/>
          <p:cNvSpPr/>
          <p:nvPr/>
        </p:nvSpPr>
        <p:spPr>
          <a:xfrm>
            <a:off x="3531862" y="1813082"/>
            <a:ext cx="2297400" cy="79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Condensing long reports, transcripts, or support tickets into structured, faithful summaries.</a:t>
            </a:r>
            <a:endParaRPr b="0" i="0" sz="1300" u="none" cap="none" strike="noStrike">
              <a:solidFill>
                <a:schemeClr val="dk1"/>
              </a:solidFill>
              <a:latin typeface="Calibri"/>
              <a:ea typeface="Calibri"/>
              <a:cs typeface="Calibri"/>
              <a:sym typeface="Calibri"/>
            </a:endParaRPr>
          </a:p>
        </p:txBody>
      </p:sp>
      <p:sp>
        <p:nvSpPr>
          <p:cNvPr id="1907" name="Google Shape;1907;p70"/>
          <p:cNvSpPr/>
          <p:nvPr/>
        </p:nvSpPr>
        <p:spPr>
          <a:xfrm>
            <a:off x="6240773" y="1268724"/>
            <a:ext cx="2640300" cy="14241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908" name="Google Shape;1908;p70"/>
          <p:cNvSpPr/>
          <p:nvPr/>
        </p:nvSpPr>
        <p:spPr>
          <a:xfrm>
            <a:off x="6412224" y="1436219"/>
            <a:ext cx="2297400" cy="33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Retrieval-Augmented QA</a:t>
            </a:r>
            <a:endParaRPr b="0" i="0" sz="1500" u="none" cap="none" strike="noStrike">
              <a:solidFill>
                <a:schemeClr val="dk1"/>
              </a:solidFill>
              <a:latin typeface="Calibri"/>
              <a:ea typeface="Calibri"/>
              <a:cs typeface="Calibri"/>
              <a:sym typeface="Calibri"/>
            </a:endParaRPr>
          </a:p>
        </p:txBody>
      </p:sp>
      <p:sp>
        <p:nvSpPr>
          <p:cNvPr id="1909" name="Google Shape;1909;p70"/>
          <p:cNvSpPr/>
          <p:nvPr/>
        </p:nvSpPr>
        <p:spPr>
          <a:xfrm>
            <a:off x="6412224" y="1813082"/>
            <a:ext cx="2297400" cy="79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Grounded question-answering pipelines that transform retrieved context into precise answers.</a:t>
            </a:r>
            <a:endParaRPr b="0" i="0" sz="1300" u="none" cap="none" strike="noStrike">
              <a:solidFill>
                <a:schemeClr val="dk1"/>
              </a:solidFill>
              <a:latin typeface="Calibri"/>
              <a:ea typeface="Calibri"/>
              <a:cs typeface="Calibri"/>
              <a:sym typeface="Calibri"/>
            </a:endParaRPr>
          </a:p>
        </p:txBody>
      </p:sp>
      <p:sp>
        <p:nvSpPr>
          <p:cNvPr id="1910" name="Google Shape;1910;p70"/>
          <p:cNvSpPr/>
          <p:nvPr/>
        </p:nvSpPr>
        <p:spPr>
          <a:xfrm>
            <a:off x="480060" y="3017630"/>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500" u="none" cap="none" strike="noStrike">
                <a:solidFill>
                  <a:srgbClr val="0E7C86"/>
                </a:solidFill>
                <a:latin typeface="Calibri"/>
                <a:ea typeface="Calibri"/>
                <a:cs typeface="Calibri"/>
                <a:sym typeface="Calibri"/>
              </a:rPr>
              <a:t>Deployment considerations</a:t>
            </a:r>
            <a:endParaRPr b="0" i="0" sz="1500" u="none" cap="none" strike="noStrike">
              <a:solidFill>
                <a:schemeClr val="dk1"/>
              </a:solidFill>
              <a:latin typeface="Calibri"/>
              <a:ea typeface="Calibri"/>
              <a:cs typeface="Calibri"/>
              <a:sym typeface="Calibri"/>
            </a:endParaRPr>
          </a:p>
        </p:txBody>
      </p:sp>
      <p:sp>
        <p:nvSpPr>
          <p:cNvPr id="1911" name="Google Shape;1911;p70"/>
          <p:cNvSpPr/>
          <p:nvPr/>
        </p:nvSpPr>
        <p:spPr>
          <a:xfrm>
            <a:off x="480060" y="3415394"/>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912" name="Google Shape;1912;p70"/>
          <p:cNvSpPr/>
          <p:nvPr/>
        </p:nvSpPr>
        <p:spPr>
          <a:xfrm>
            <a:off x="651510" y="3326240"/>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Latency:  </a:t>
            </a:r>
            <a:r>
              <a:rPr b="0" i="0" lang="en" sz="1200" u="none" cap="none" strike="noStrike">
                <a:solidFill>
                  <a:srgbClr val="475569"/>
                </a:solidFill>
                <a:latin typeface="Calibri"/>
                <a:ea typeface="Calibri"/>
                <a:cs typeface="Calibri"/>
                <a:sym typeface="Calibri"/>
              </a:rPr>
              <a:t>Encoder pass is parallel and fast; decoder pass is sequential - overall latency sits between the other two families</a:t>
            </a:r>
            <a:endParaRPr b="0" i="0" sz="1200" u="none" cap="none" strike="noStrike">
              <a:solidFill>
                <a:schemeClr val="dk1"/>
              </a:solidFill>
              <a:latin typeface="Calibri"/>
              <a:ea typeface="Calibri"/>
              <a:cs typeface="Calibri"/>
              <a:sym typeface="Calibri"/>
            </a:endParaRPr>
          </a:p>
        </p:txBody>
      </p:sp>
      <p:sp>
        <p:nvSpPr>
          <p:cNvPr id="1913" name="Google Shape;1913;p70"/>
          <p:cNvSpPr/>
          <p:nvPr/>
        </p:nvSpPr>
        <p:spPr>
          <a:xfrm>
            <a:off x="480060" y="3730862"/>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914" name="Google Shape;1914;p70"/>
          <p:cNvSpPr/>
          <p:nvPr/>
        </p:nvSpPr>
        <p:spPr>
          <a:xfrm>
            <a:off x="651510" y="3641708"/>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Cost:  </a:t>
            </a:r>
            <a:r>
              <a:rPr b="0" i="0" lang="en" sz="1200" u="none" cap="none" strike="noStrike">
                <a:solidFill>
                  <a:srgbClr val="475569"/>
                </a:solidFill>
                <a:latin typeface="Calibri"/>
                <a:ea typeface="Calibri"/>
                <a:cs typeface="Calibri"/>
                <a:sym typeface="Calibri"/>
              </a:rPr>
              <a:t>Often more parameter-efficient than decoder-only models for the same task, since the encoder isn't repeated each step</a:t>
            </a:r>
            <a:endParaRPr b="0" i="0" sz="1200" u="none" cap="none" strike="noStrike">
              <a:solidFill>
                <a:schemeClr val="dk1"/>
              </a:solidFill>
              <a:latin typeface="Calibri"/>
              <a:ea typeface="Calibri"/>
              <a:cs typeface="Calibri"/>
              <a:sym typeface="Calibri"/>
            </a:endParaRPr>
          </a:p>
        </p:txBody>
      </p:sp>
      <p:sp>
        <p:nvSpPr>
          <p:cNvPr id="1915" name="Google Shape;1915;p70"/>
          <p:cNvSpPr/>
          <p:nvPr/>
        </p:nvSpPr>
        <p:spPr>
          <a:xfrm>
            <a:off x="480060" y="4046330"/>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916" name="Google Shape;1916;p70"/>
          <p:cNvSpPr/>
          <p:nvPr/>
        </p:nvSpPr>
        <p:spPr>
          <a:xfrm>
            <a:off x="651510" y="3957176"/>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Scaling pattern:  </a:t>
            </a:r>
            <a:r>
              <a:rPr b="0" i="0" lang="en" sz="1200" u="none" cap="none" strike="noStrike">
                <a:solidFill>
                  <a:srgbClr val="475569"/>
                </a:solidFill>
                <a:latin typeface="Calibri"/>
                <a:ea typeface="Calibri"/>
                <a:cs typeface="Calibri"/>
                <a:sym typeface="Calibri"/>
              </a:rPr>
              <a:t>Encoder output can be cached and reused across multiple decoding calls in retrieval or multi-query pipelines</a:t>
            </a:r>
            <a:endParaRPr b="0" i="0" sz="1200" u="none" cap="none" strike="noStrike">
              <a:solidFill>
                <a:schemeClr val="dk1"/>
              </a:solidFill>
              <a:latin typeface="Calibri"/>
              <a:ea typeface="Calibri"/>
              <a:cs typeface="Calibri"/>
              <a:sym typeface="Calibri"/>
            </a:endParaRPr>
          </a:p>
        </p:txBody>
      </p:sp>
      <p:sp>
        <p:nvSpPr>
          <p:cNvPr id="1917" name="Google Shape;1917;p70"/>
          <p:cNvSpPr/>
          <p:nvPr/>
        </p:nvSpPr>
        <p:spPr>
          <a:xfrm>
            <a:off x="480060" y="4361798"/>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1918" name="Google Shape;1918;p70"/>
          <p:cNvSpPr/>
          <p:nvPr/>
        </p:nvSpPr>
        <p:spPr>
          <a:xfrm>
            <a:off x="651510" y="4272644"/>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Common pitfall:  </a:t>
            </a:r>
            <a:r>
              <a:rPr b="0" i="0" lang="en" sz="1200" u="none" cap="none" strike="noStrike">
                <a:solidFill>
                  <a:srgbClr val="475569"/>
                </a:solidFill>
                <a:latin typeface="Calibri"/>
                <a:ea typeface="Calibri"/>
                <a:cs typeface="Calibri"/>
                <a:sym typeface="Calibri"/>
              </a:rPr>
              <a:t>Less flexible for open-ended generation; works best when the task has a clear, structured input-to-output mapping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923" name="Shape 1923"/>
        <p:cNvGrpSpPr/>
        <p:nvPr/>
      </p:nvGrpSpPr>
      <p:grpSpPr>
        <a:xfrm>
          <a:off x="0" y="0"/>
          <a:ext cx="0" cy="0"/>
          <a:chOff x="0" y="0"/>
          <a:chExt cx="0" cy="0"/>
        </a:xfrm>
      </p:grpSpPr>
      <p:sp>
        <p:nvSpPr>
          <p:cNvPr id="1924" name="Google Shape;1924;p71"/>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1"/>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Three Types of Pretrained Transformer Models</a:t>
            </a:r>
            <a:endParaRPr b="0" i="0" sz="2300" u="none" cap="none" strike="noStrike">
              <a:solidFill>
                <a:schemeClr val="dk1"/>
              </a:solidFill>
              <a:latin typeface="Calibri"/>
              <a:ea typeface="Calibri"/>
              <a:cs typeface="Calibri"/>
              <a:sym typeface="Calibri"/>
            </a:endParaRPr>
          </a:p>
        </p:txBody>
      </p:sp>
      <p:sp>
        <p:nvSpPr>
          <p:cNvPr id="1926" name="Google Shape;1926;p71"/>
          <p:cNvSpPr/>
          <p:nvPr/>
        </p:nvSpPr>
        <p:spPr>
          <a:xfrm>
            <a:off x="228600" y="868680"/>
            <a:ext cx="2788800" cy="3657600"/>
          </a:xfrm>
          <a:prstGeom prst="roundRect">
            <a:avLst>
              <a:gd fmla="val 3279" name="adj"/>
            </a:avLst>
          </a:prstGeom>
          <a:solidFill>
            <a:srgbClr val="FFFFFF"/>
          </a:solidFill>
          <a:ln cap="flat" cmpd="sng" w="1905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71"/>
          <p:cNvSpPr/>
          <p:nvPr/>
        </p:nvSpPr>
        <p:spPr>
          <a:xfrm>
            <a:off x="393192"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500"/>
              <a:buFont typeface="Calibri"/>
              <a:buNone/>
            </a:pPr>
            <a:r>
              <a:rPr b="1" i="0" lang="en" sz="1500" u="none" cap="none" strike="noStrike">
                <a:solidFill>
                  <a:srgbClr val="00796B"/>
                </a:solidFill>
                <a:latin typeface="Calibri"/>
                <a:ea typeface="Calibri"/>
                <a:cs typeface="Calibri"/>
                <a:sym typeface="Calibri"/>
              </a:rPr>
              <a:t>Encoder-only</a:t>
            </a:r>
            <a:endParaRPr b="0" i="0" sz="1500" u="none" cap="none" strike="noStrike">
              <a:solidFill>
                <a:schemeClr val="dk1"/>
              </a:solidFill>
              <a:latin typeface="Calibri"/>
              <a:ea typeface="Calibri"/>
              <a:cs typeface="Calibri"/>
              <a:sym typeface="Calibri"/>
            </a:endParaRPr>
          </a:p>
        </p:txBody>
      </p:sp>
      <p:sp>
        <p:nvSpPr>
          <p:cNvPr id="1928" name="Google Shape;1928;p71"/>
          <p:cNvSpPr/>
          <p:nvPr/>
        </p:nvSpPr>
        <p:spPr>
          <a:xfrm>
            <a:off x="393192"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BERT, RoBERTa</a:t>
            </a:r>
            <a:endParaRPr b="0" i="0" sz="950" u="none" cap="none" strike="noStrike">
              <a:solidFill>
                <a:schemeClr val="dk1"/>
              </a:solidFill>
              <a:latin typeface="Calibri"/>
              <a:ea typeface="Calibri"/>
              <a:cs typeface="Calibri"/>
              <a:sym typeface="Calibri"/>
            </a:endParaRPr>
          </a:p>
        </p:txBody>
      </p:sp>
      <p:sp>
        <p:nvSpPr>
          <p:cNvPr id="1929" name="Google Shape;1929;p71"/>
          <p:cNvSpPr/>
          <p:nvPr/>
        </p:nvSpPr>
        <p:spPr>
          <a:xfrm>
            <a:off x="502920" y="1581912"/>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71"/>
          <p:cNvSpPr/>
          <p:nvPr/>
        </p:nvSpPr>
        <p:spPr>
          <a:xfrm>
            <a:off x="502920"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Self-Attn</a:t>
            </a:r>
            <a:endParaRPr b="0" i="0" sz="1050" u="none" cap="none" strike="noStrike">
              <a:solidFill>
                <a:schemeClr val="dk1"/>
              </a:solidFill>
              <a:latin typeface="Calibri"/>
              <a:ea typeface="Calibri"/>
              <a:cs typeface="Calibri"/>
              <a:sym typeface="Calibri"/>
            </a:endParaRPr>
          </a:p>
        </p:txBody>
      </p:sp>
      <p:sp>
        <p:nvSpPr>
          <p:cNvPr id="1931" name="Google Shape;1931;p71"/>
          <p:cNvSpPr/>
          <p:nvPr/>
        </p:nvSpPr>
        <p:spPr>
          <a:xfrm>
            <a:off x="502920"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900"/>
              <a:buFont typeface="Calibri"/>
              <a:buNone/>
            </a:pPr>
            <a:r>
              <a:rPr b="0" i="0" lang="en" sz="900" u="none" cap="none" strike="noStrike">
                <a:solidFill>
                  <a:srgbClr val="0079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932" name="Google Shape;1932;p71"/>
          <p:cNvSpPr/>
          <p:nvPr/>
        </p:nvSpPr>
        <p:spPr>
          <a:xfrm>
            <a:off x="502920" y="2020824"/>
            <a:ext cx="2240400" cy="347400"/>
          </a:xfrm>
          <a:prstGeom prst="roundRect">
            <a:avLst>
              <a:gd fmla="val 15789" name="adj"/>
            </a:avLst>
          </a:prstGeom>
          <a:solidFill>
            <a:srgbClr val="E8F5F0"/>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71"/>
          <p:cNvSpPr/>
          <p:nvPr/>
        </p:nvSpPr>
        <p:spPr>
          <a:xfrm>
            <a:off x="502920"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050"/>
              <a:buFont typeface="Calibri"/>
              <a:buNone/>
            </a:pPr>
            <a:r>
              <a:rPr b="1" i="0" lang="en" sz="1050" u="none" cap="none" strike="noStrike">
                <a:solidFill>
                  <a:srgbClr val="00796B"/>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934" name="Google Shape;1934;p71"/>
          <p:cNvCxnSpPr/>
          <p:nvPr/>
        </p:nvCxnSpPr>
        <p:spPr>
          <a:xfrm>
            <a:off x="393192"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935" name="Google Shape;1935;p71"/>
          <p:cNvSpPr/>
          <p:nvPr/>
        </p:nvSpPr>
        <p:spPr>
          <a:xfrm>
            <a:off x="393192"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Bidirectional self-attention — every token sees every other token, both directions. No causal mask.</a:t>
            </a:r>
            <a:endParaRPr b="0" i="0" sz="950" u="none" cap="none" strike="noStrike">
              <a:solidFill>
                <a:schemeClr val="dk1"/>
              </a:solidFill>
              <a:latin typeface="Calibri"/>
              <a:ea typeface="Calibri"/>
              <a:cs typeface="Calibri"/>
              <a:sym typeface="Calibri"/>
            </a:endParaRPr>
          </a:p>
        </p:txBody>
      </p:sp>
      <p:sp>
        <p:nvSpPr>
          <p:cNvPr id="1936" name="Google Shape;1936;p71"/>
          <p:cNvSpPr/>
          <p:nvPr/>
        </p:nvSpPr>
        <p:spPr>
          <a:xfrm>
            <a:off x="393192" y="4023360"/>
            <a:ext cx="2469000" cy="384000"/>
          </a:xfrm>
          <a:prstGeom prst="roundRect">
            <a:avLst>
              <a:gd fmla="val 14286"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1"/>
          <p:cNvSpPr/>
          <p:nvPr/>
        </p:nvSpPr>
        <p:spPr>
          <a:xfrm>
            <a:off x="457200"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870"/>
              <a:buFont typeface="Calibri"/>
              <a:buNone/>
            </a:pPr>
            <a:r>
              <a:rPr b="1" i="0" lang="en" sz="870" u="none" cap="none" strike="noStrike">
                <a:solidFill>
                  <a:srgbClr val="00796B"/>
                </a:solidFill>
                <a:latin typeface="Calibri"/>
                <a:ea typeface="Calibri"/>
                <a:cs typeface="Calibri"/>
                <a:sym typeface="Calibri"/>
              </a:rPr>
              <a:t>Classification, NER, embeddings, understanding tasks</a:t>
            </a:r>
            <a:endParaRPr b="0" i="0" sz="870" u="none" cap="none" strike="noStrike">
              <a:solidFill>
                <a:schemeClr val="dk1"/>
              </a:solidFill>
              <a:latin typeface="Calibri"/>
              <a:ea typeface="Calibri"/>
              <a:cs typeface="Calibri"/>
              <a:sym typeface="Calibri"/>
            </a:endParaRPr>
          </a:p>
        </p:txBody>
      </p:sp>
      <p:sp>
        <p:nvSpPr>
          <p:cNvPr id="1938" name="Google Shape;1938;p71"/>
          <p:cNvSpPr/>
          <p:nvPr/>
        </p:nvSpPr>
        <p:spPr>
          <a:xfrm>
            <a:off x="3136392" y="868680"/>
            <a:ext cx="2788800" cy="3657600"/>
          </a:xfrm>
          <a:prstGeom prst="roundRect">
            <a:avLst>
              <a:gd fmla="val 3279" name="adj"/>
            </a:avLst>
          </a:prstGeom>
          <a:solidFill>
            <a:srgbClr val="FFFFFF"/>
          </a:solidFill>
          <a:ln cap="flat" cmpd="sng" w="1905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1"/>
          <p:cNvSpPr/>
          <p:nvPr/>
        </p:nvSpPr>
        <p:spPr>
          <a:xfrm>
            <a:off x="3300984"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500"/>
              <a:buFont typeface="Calibri"/>
              <a:buNone/>
            </a:pPr>
            <a:r>
              <a:rPr b="1" i="0" lang="en" sz="1500" u="none" cap="none" strike="noStrike">
                <a:solidFill>
                  <a:srgbClr val="6A1B9A"/>
                </a:solidFill>
                <a:latin typeface="Calibri"/>
                <a:ea typeface="Calibri"/>
                <a:cs typeface="Calibri"/>
                <a:sym typeface="Calibri"/>
              </a:rPr>
              <a:t>Decoder-only</a:t>
            </a:r>
            <a:endParaRPr b="0" i="0" sz="1500" u="none" cap="none" strike="noStrike">
              <a:solidFill>
                <a:schemeClr val="dk1"/>
              </a:solidFill>
              <a:latin typeface="Calibri"/>
              <a:ea typeface="Calibri"/>
              <a:cs typeface="Calibri"/>
              <a:sym typeface="Calibri"/>
            </a:endParaRPr>
          </a:p>
        </p:txBody>
      </p:sp>
      <p:sp>
        <p:nvSpPr>
          <p:cNvPr id="1940" name="Google Shape;1940;p71"/>
          <p:cNvSpPr/>
          <p:nvPr/>
        </p:nvSpPr>
        <p:spPr>
          <a:xfrm>
            <a:off x="3300984"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GPT, LLaMA, Claude</a:t>
            </a:r>
            <a:endParaRPr b="0" i="0" sz="950" u="none" cap="none" strike="noStrike">
              <a:solidFill>
                <a:schemeClr val="dk1"/>
              </a:solidFill>
              <a:latin typeface="Calibri"/>
              <a:ea typeface="Calibri"/>
              <a:cs typeface="Calibri"/>
              <a:sym typeface="Calibri"/>
            </a:endParaRPr>
          </a:p>
        </p:txBody>
      </p:sp>
      <p:sp>
        <p:nvSpPr>
          <p:cNvPr id="1941" name="Google Shape;1941;p71"/>
          <p:cNvSpPr/>
          <p:nvPr/>
        </p:nvSpPr>
        <p:spPr>
          <a:xfrm>
            <a:off x="3410712" y="1581912"/>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1"/>
          <p:cNvSpPr/>
          <p:nvPr/>
        </p:nvSpPr>
        <p:spPr>
          <a:xfrm>
            <a:off x="3410712"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943" name="Google Shape;1943;p71"/>
          <p:cNvSpPr/>
          <p:nvPr/>
        </p:nvSpPr>
        <p:spPr>
          <a:xfrm>
            <a:off x="3410712"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900"/>
              <a:buFont typeface="Calibri"/>
              <a:buNone/>
            </a:pPr>
            <a:r>
              <a:rPr b="0" i="0" lang="en" sz="900" u="none" cap="none" strike="noStrike">
                <a:solidFill>
                  <a:srgbClr val="6A1B9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944" name="Google Shape;1944;p71"/>
          <p:cNvSpPr/>
          <p:nvPr/>
        </p:nvSpPr>
        <p:spPr>
          <a:xfrm>
            <a:off x="3410712" y="2020824"/>
            <a:ext cx="2240400" cy="347400"/>
          </a:xfrm>
          <a:prstGeom prst="roundRect">
            <a:avLst>
              <a:gd fmla="val 15789" name="adj"/>
            </a:avLst>
          </a:prstGeom>
          <a:solidFill>
            <a:srgbClr val="F3E5F5"/>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71"/>
          <p:cNvSpPr/>
          <p:nvPr/>
        </p:nvSpPr>
        <p:spPr>
          <a:xfrm>
            <a:off x="3410712"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050"/>
              <a:buFont typeface="Calibri"/>
              <a:buNone/>
            </a:pPr>
            <a:r>
              <a:rPr b="1" i="0" lang="en" sz="1050" u="none" cap="none" strike="noStrike">
                <a:solidFill>
                  <a:srgbClr val="6A1B9A"/>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946" name="Google Shape;1946;p71"/>
          <p:cNvCxnSpPr/>
          <p:nvPr/>
        </p:nvCxnSpPr>
        <p:spPr>
          <a:xfrm>
            <a:off x="3300984" y="2596896"/>
            <a:ext cx="2469000" cy="0"/>
          </a:xfrm>
          <a:prstGeom prst="straightConnector1">
            <a:avLst/>
          </a:prstGeom>
          <a:noFill/>
          <a:ln cap="flat" cmpd="sng" w="9525">
            <a:solidFill>
              <a:srgbClr val="B0C8D8"/>
            </a:solidFill>
            <a:prstDash val="solid"/>
            <a:round/>
            <a:headEnd len="sm" w="sm" type="none"/>
            <a:tailEnd len="sm" w="sm" type="none"/>
          </a:ln>
        </p:spPr>
      </p:cxnSp>
      <p:sp>
        <p:nvSpPr>
          <p:cNvPr id="1947" name="Google Shape;1947;p71"/>
          <p:cNvSpPr/>
          <p:nvPr/>
        </p:nvSpPr>
        <p:spPr>
          <a:xfrm>
            <a:off x="3300984" y="2688336"/>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Causal (masked) self-attention only — each token sees only itself and earlier tokens. No encoder, no cross-attention.</a:t>
            </a:r>
            <a:endParaRPr b="0" i="0" sz="950" u="none" cap="none" strike="noStrike">
              <a:solidFill>
                <a:schemeClr val="dk1"/>
              </a:solidFill>
              <a:latin typeface="Calibri"/>
              <a:ea typeface="Calibri"/>
              <a:cs typeface="Calibri"/>
              <a:sym typeface="Calibri"/>
            </a:endParaRPr>
          </a:p>
        </p:txBody>
      </p:sp>
      <p:sp>
        <p:nvSpPr>
          <p:cNvPr id="1948" name="Google Shape;1948;p71"/>
          <p:cNvSpPr/>
          <p:nvPr/>
        </p:nvSpPr>
        <p:spPr>
          <a:xfrm>
            <a:off x="3300984" y="4023360"/>
            <a:ext cx="2469000" cy="384000"/>
          </a:xfrm>
          <a:prstGeom prst="roundRect">
            <a:avLst>
              <a:gd fmla="val 14286"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71"/>
          <p:cNvSpPr/>
          <p:nvPr/>
        </p:nvSpPr>
        <p:spPr>
          <a:xfrm>
            <a:off x="3364992"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870"/>
              <a:buFont typeface="Calibri"/>
              <a:buNone/>
            </a:pPr>
            <a:r>
              <a:rPr b="1" i="0" lang="en" sz="870" u="none" cap="none" strike="noStrike">
                <a:solidFill>
                  <a:srgbClr val="6A1B9A"/>
                </a:solidFill>
                <a:latin typeface="Calibri"/>
                <a:ea typeface="Calibri"/>
                <a:cs typeface="Calibri"/>
                <a:sym typeface="Calibri"/>
              </a:rPr>
              <a:t>Open-ended generation, chat, completion</a:t>
            </a:r>
            <a:endParaRPr b="0" i="0" sz="870" u="none" cap="none" strike="noStrike">
              <a:solidFill>
                <a:schemeClr val="dk1"/>
              </a:solidFill>
              <a:latin typeface="Calibri"/>
              <a:ea typeface="Calibri"/>
              <a:cs typeface="Calibri"/>
              <a:sym typeface="Calibri"/>
            </a:endParaRPr>
          </a:p>
        </p:txBody>
      </p:sp>
      <p:sp>
        <p:nvSpPr>
          <p:cNvPr id="1950" name="Google Shape;1950;p71"/>
          <p:cNvSpPr/>
          <p:nvPr/>
        </p:nvSpPr>
        <p:spPr>
          <a:xfrm>
            <a:off x="6044184" y="868680"/>
            <a:ext cx="2788800" cy="3657600"/>
          </a:xfrm>
          <a:prstGeom prst="roundRect">
            <a:avLst>
              <a:gd fmla="val 3279" name="adj"/>
            </a:avLst>
          </a:prstGeom>
          <a:solidFill>
            <a:srgbClr val="FFFFFF"/>
          </a:solidFill>
          <a:ln cap="flat" cmpd="sng" w="1905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1"/>
          <p:cNvSpPr/>
          <p:nvPr/>
        </p:nvSpPr>
        <p:spPr>
          <a:xfrm>
            <a:off x="6208776" y="978408"/>
            <a:ext cx="24690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500"/>
              <a:buFont typeface="Calibri"/>
              <a:buNone/>
            </a:pPr>
            <a:r>
              <a:rPr b="1" i="0" lang="en" sz="1500" u="none" cap="none" strike="noStrike">
                <a:solidFill>
                  <a:srgbClr val="1565C0"/>
                </a:solidFill>
                <a:latin typeface="Calibri"/>
                <a:ea typeface="Calibri"/>
                <a:cs typeface="Calibri"/>
                <a:sym typeface="Calibri"/>
              </a:rPr>
              <a:t>Encoder-Decoder</a:t>
            </a:r>
            <a:endParaRPr b="0" i="0" sz="1500" u="none" cap="none" strike="noStrike">
              <a:solidFill>
                <a:schemeClr val="dk1"/>
              </a:solidFill>
              <a:latin typeface="Calibri"/>
              <a:ea typeface="Calibri"/>
              <a:cs typeface="Calibri"/>
              <a:sym typeface="Calibri"/>
            </a:endParaRPr>
          </a:p>
        </p:txBody>
      </p:sp>
      <p:sp>
        <p:nvSpPr>
          <p:cNvPr id="1952" name="Google Shape;1952;p71"/>
          <p:cNvSpPr/>
          <p:nvPr/>
        </p:nvSpPr>
        <p:spPr>
          <a:xfrm>
            <a:off x="6208776" y="1252728"/>
            <a:ext cx="24690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950"/>
              <a:buFont typeface="Calibri"/>
              <a:buNone/>
            </a:pPr>
            <a:r>
              <a:rPr b="0" i="1" lang="en" sz="950" u="none" cap="none" strike="noStrike">
                <a:solidFill>
                  <a:srgbClr val="5A6472"/>
                </a:solidFill>
                <a:latin typeface="Calibri"/>
                <a:ea typeface="Calibri"/>
                <a:cs typeface="Calibri"/>
                <a:sym typeface="Calibri"/>
              </a:rPr>
              <a:t>T5, original Transformer</a:t>
            </a:r>
            <a:endParaRPr b="0" i="0" sz="950" u="none" cap="none" strike="noStrike">
              <a:solidFill>
                <a:schemeClr val="dk1"/>
              </a:solidFill>
              <a:latin typeface="Calibri"/>
              <a:ea typeface="Calibri"/>
              <a:cs typeface="Calibri"/>
              <a:sym typeface="Calibri"/>
            </a:endParaRPr>
          </a:p>
        </p:txBody>
      </p:sp>
      <p:sp>
        <p:nvSpPr>
          <p:cNvPr id="1953" name="Google Shape;1953;p71"/>
          <p:cNvSpPr/>
          <p:nvPr/>
        </p:nvSpPr>
        <p:spPr>
          <a:xfrm>
            <a:off x="6318504" y="1581912"/>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1"/>
          <p:cNvSpPr/>
          <p:nvPr/>
        </p:nvSpPr>
        <p:spPr>
          <a:xfrm>
            <a:off x="6318504" y="1581912"/>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Masked Self-Attn</a:t>
            </a:r>
            <a:endParaRPr b="0" i="0" sz="1050" u="none" cap="none" strike="noStrike">
              <a:solidFill>
                <a:schemeClr val="dk1"/>
              </a:solidFill>
              <a:latin typeface="Calibri"/>
              <a:ea typeface="Calibri"/>
              <a:cs typeface="Calibri"/>
              <a:sym typeface="Calibri"/>
            </a:endParaRPr>
          </a:p>
        </p:txBody>
      </p:sp>
      <p:sp>
        <p:nvSpPr>
          <p:cNvPr id="1955" name="Google Shape;1955;p71"/>
          <p:cNvSpPr/>
          <p:nvPr/>
        </p:nvSpPr>
        <p:spPr>
          <a:xfrm>
            <a:off x="6318504" y="1911096"/>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956" name="Google Shape;1956;p71"/>
          <p:cNvSpPr/>
          <p:nvPr/>
        </p:nvSpPr>
        <p:spPr>
          <a:xfrm>
            <a:off x="6318504" y="2020824"/>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71"/>
          <p:cNvSpPr/>
          <p:nvPr/>
        </p:nvSpPr>
        <p:spPr>
          <a:xfrm>
            <a:off x="6318504" y="2020824"/>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Cross-Attn</a:t>
            </a:r>
            <a:endParaRPr b="0" i="0" sz="1050" u="none" cap="none" strike="noStrike">
              <a:solidFill>
                <a:schemeClr val="dk1"/>
              </a:solidFill>
              <a:latin typeface="Calibri"/>
              <a:ea typeface="Calibri"/>
              <a:cs typeface="Calibri"/>
              <a:sym typeface="Calibri"/>
            </a:endParaRPr>
          </a:p>
        </p:txBody>
      </p:sp>
      <p:sp>
        <p:nvSpPr>
          <p:cNvPr id="1958" name="Google Shape;1958;p71"/>
          <p:cNvSpPr/>
          <p:nvPr/>
        </p:nvSpPr>
        <p:spPr>
          <a:xfrm>
            <a:off x="6318504" y="2350008"/>
            <a:ext cx="22404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900"/>
              <a:buFont typeface="Calibri"/>
              <a:buNone/>
            </a:pPr>
            <a:r>
              <a:rPr b="0" i="0" lang="en" sz="900" u="none" cap="none" strike="noStrike">
                <a:solidFill>
                  <a:srgbClr val="1565C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959" name="Google Shape;1959;p71"/>
          <p:cNvSpPr/>
          <p:nvPr/>
        </p:nvSpPr>
        <p:spPr>
          <a:xfrm>
            <a:off x="6318504" y="2459736"/>
            <a:ext cx="2240400" cy="347400"/>
          </a:xfrm>
          <a:prstGeom prst="roundRect">
            <a:avLst>
              <a:gd fmla="val 15789" name="adj"/>
            </a:avLst>
          </a:prstGeom>
          <a:solidFill>
            <a:srgbClr val="EBF2FB"/>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71"/>
          <p:cNvSpPr/>
          <p:nvPr/>
        </p:nvSpPr>
        <p:spPr>
          <a:xfrm>
            <a:off x="6318504" y="2459736"/>
            <a:ext cx="2240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050"/>
              <a:buFont typeface="Calibri"/>
              <a:buNone/>
            </a:pPr>
            <a:r>
              <a:rPr b="1" i="0" lang="en" sz="1050" u="none" cap="none" strike="noStrike">
                <a:solidFill>
                  <a:srgbClr val="1565C0"/>
                </a:solidFill>
                <a:latin typeface="Calibri"/>
                <a:ea typeface="Calibri"/>
                <a:cs typeface="Calibri"/>
                <a:sym typeface="Calibri"/>
              </a:rPr>
              <a:t>FFN</a:t>
            </a:r>
            <a:endParaRPr b="0" i="0" sz="1050" u="none" cap="none" strike="noStrike">
              <a:solidFill>
                <a:schemeClr val="dk1"/>
              </a:solidFill>
              <a:latin typeface="Calibri"/>
              <a:ea typeface="Calibri"/>
              <a:cs typeface="Calibri"/>
              <a:sym typeface="Calibri"/>
            </a:endParaRPr>
          </a:p>
        </p:txBody>
      </p:sp>
      <p:cxnSp>
        <p:nvCxnSpPr>
          <p:cNvPr id="1961" name="Google Shape;1961;p71"/>
          <p:cNvCxnSpPr/>
          <p:nvPr/>
        </p:nvCxnSpPr>
        <p:spPr>
          <a:xfrm>
            <a:off x="6208776" y="3035808"/>
            <a:ext cx="2469000" cy="0"/>
          </a:xfrm>
          <a:prstGeom prst="straightConnector1">
            <a:avLst/>
          </a:prstGeom>
          <a:noFill/>
          <a:ln cap="flat" cmpd="sng" w="9525">
            <a:solidFill>
              <a:srgbClr val="B0C8D8"/>
            </a:solidFill>
            <a:prstDash val="solid"/>
            <a:round/>
            <a:headEnd len="sm" w="sm" type="none"/>
            <a:tailEnd len="sm" w="sm" type="none"/>
          </a:ln>
        </p:spPr>
      </p:cxnSp>
      <p:sp>
        <p:nvSpPr>
          <p:cNvPr id="1962" name="Google Shape;1962;p71"/>
          <p:cNvSpPr/>
          <p:nvPr/>
        </p:nvSpPr>
        <p:spPr>
          <a:xfrm>
            <a:off x="6208776" y="3127248"/>
            <a:ext cx="2469000" cy="86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950"/>
              <a:buFont typeface="Calibri"/>
              <a:buNone/>
            </a:pPr>
            <a:r>
              <a:rPr b="0" i="0" lang="en" sz="950" u="none" cap="none" strike="noStrike">
                <a:solidFill>
                  <a:srgbClr val="1A1A2E"/>
                </a:solidFill>
                <a:latin typeface="Calibri"/>
                <a:ea typeface="Calibri"/>
                <a:cs typeface="Calibri"/>
                <a:sym typeface="Calibri"/>
              </a:rPr>
              <a:t>Decoder block adds cross-attention to a separately encoded source sequence, on top of masked self-attention.</a:t>
            </a:r>
            <a:endParaRPr b="0" i="0" sz="950" u="none" cap="none" strike="noStrike">
              <a:solidFill>
                <a:schemeClr val="dk1"/>
              </a:solidFill>
              <a:latin typeface="Calibri"/>
              <a:ea typeface="Calibri"/>
              <a:cs typeface="Calibri"/>
              <a:sym typeface="Calibri"/>
            </a:endParaRPr>
          </a:p>
        </p:txBody>
      </p:sp>
      <p:sp>
        <p:nvSpPr>
          <p:cNvPr id="1963" name="Google Shape;1963;p71"/>
          <p:cNvSpPr/>
          <p:nvPr/>
        </p:nvSpPr>
        <p:spPr>
          <a:xfrm>
            <a:off x="6208776" y="4023360"/>
            <a:ext cx="2469000" cy="384000"/>
          </a:xfrm>
          <a:prstGeom prst="roundRect">
            <a:avLst>
              <a:gd fmla="val 14286"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71"/>
          <p:cNvSpPr/>
          <p:nvPr/>
        </p:nvSpPr>
        <p:spPr>
          <a:xfrm>
            <a:off x="6272784" y="4023360"/>
            <a:ext cx="2340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870"/>
              <a:buFont typeface="Calibri"/>
              <a:buNone/>
            </a:pPr>
            <a:r>
              <a:rPr b="1" i="0" lang="en" sz="870" u="none" cap="none" strike="noStrike">
                <a:solidFill>
                  <a:srgbClr val="1565C0"/>
                </a:solidFill>
                <a:latin typeface="Calibri"/>
                <a:ea typeface="Calibri"/>
                <a:cs typeface="Calibri"/>
                <a:sym typeface="Calibri"/>
              </a:rPr>
              <a:t>Translation, summarization — fixed input → output mapping</a:t>
            </a:r>
            <a:endParaRPr b="0" i="0" sz="870" u="none" cap="none" strike="noStrike">
              <a:solidFill>
                <a:schemeClr val="dk1"/>
              </a:solidFill>
              <a:latin typeface="Calibri"/>
              <a:ea typeface="Calibri"/>
              <a:cs typeface="Calibri"/>
              <a:sym typeface="Calibri"/>
            </a:endParaRPr>
          </a:p>
        </p:txBody>
      </p:sp>
      <p:pic>
        <p:nvPicPr>
          <p:cNvPr id="1965" name="Google Shape;1965;p71"/>
          <p:cNvPicPr preferRelativeResize="0"/>
          <p:nvPr/>
        </p:nvPicPr>
        <p:blipFill rotWithShape="1">
          <a:blip r:embed="rId3">
            <a:alphaModFix/>
          </a:blip>
          <a:srcRect b="0" l="0" r="0" t="0"/>
          <a:stretch/>
        </p:blipFill>
        <p:spPr>
          <a:xfrm>
            <a:off x="974425" y="826187"/>
            <a:ext cx="6734649" cy="42184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0" name="Shape 1970"/>
        <p:cNvGrpSpPr/>
        <p:nvPr/>
      </p:nvGrpSpPr>
      <p:grpSpPr>
        <a:xfrm>
          <a:off x="0" y="0"/>
          <a:ext cx="0" cy="0"/>
          <a:chOff x="0" y="0"/>
          <a:chExt cx="0" cy="0"/>
        </a:xfrm>
      </p:grpSpPr>
      <p:sp>
        <p:nvSpPr>
          <p:cNvPr id="1971" name="Google Shape;1971;p72"/>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Decoder-only Models</a:t>
            </a:r>
            <a:endParaRPr b="0" i="0" sz="2300" u="none" cap="none" strike="noStrike">
              <a:solidFill>
                <a:schemeClr val="dk1"/>
              </a:solidFill>
              <a:latin typeface="Calibri"/>
              <a:ea typeface="Calibri"/>
              <a:cs typeface="Calibri"/>
              <a:sym typeface="Calibri"/>
            </a:endParaRPr>
          </a:p>
        </p:txBody>
      </p:sp>
      <p:sp>
        <p:nvSpPr>
          <p:cNvPr id="1972" name="Google Shape;1972;p72"/>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Causal, left-to-right context - Built to generate, not just understand</a:t>
            </a:r>
            <a:endParaRPr b="0" i="0" sz="1100" u="none" cap="none" strike="noStrike">
              <a:solidFill>
                <a:schemeClr val="dk1"/>
              </a:solidFill>
              <a:latin typeface="Calibri"/>
              <a:ea typeface="Calibri"/>
              <a:cs typeface="Calibri"/>
              <a:sym typeface="Calibri"/>
            </a:endParaRPr>
          </a:p>
        </p:txBody>
      </p:sp>
      <p:sp>
        <p:nvSpPr>
          <p:cNvPr id="1973" name="Google Shape;1973;p72"/>
          <p:cNvSpPr/>
          <p:nvPr/>
        </p:nvSpPr>
        <p:spPr>
          <a:xfrm>
            <a:off x="617220" y="1268730"/>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4" name="Google Shape;1974;p72"/>
          <p:cNvSpPr/>
          <p:nvPr/>
        </p:nvSpPr>
        <p:spPr>
          <a:xfrm>
            <a:off x="617220" y="1268730"/>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Input Tokens (so far)</a:t>
            </a:r>
            <a:endParaRPr b="0" i="0" sz="900" u="none" cap="none" strike="noStrike">
              <a:solidFill>
                <a:schemeClr val="dk1"/>
              </a:solidFill>
              <a:latin typeface="Calibri"/>
              <a:ea typeface="Calibri"/>
              <a:cs typeface="Calibri"/>
              <a:sym typeface="Calibri"/>
            </a:endParaRPr>
          </a:p>
        </p:txBody>
      </p:sp>
      <p:cxnSp>
        <p:nvCxnSpPr>
          <p:cNvPr id="1975" name="Google Shape;1975;p72"/>
          <p:cNvCxnSpPr/>
          <p:nvPr/>
        </p:nvCxnSpPr>
        <p:spPr>
          <a:xfrm>
            <a:off x="1817370" y="1611630"/>
            <a:ext cx="0" cy="192000"/>
          </a:xfrm>
          <a:prstGeom prst="straightConnector1">
            <a:avLst/>
          </a:prstGeom>
          <a:noFill/>
          <a:ln cap="flat" cmpd="sng" w="14300">
            <a:solidFill>
              <a:srgbClr val="8A94A3"/>
            </a:solidFill>
            <a:prstDash val="solid"/>
            <a:round/>
            <a:headEnd len="sm" w="sm" type="none"/>
            <a:tailEnd len="med" w="med" type="triangle"/>
          </a:ln>
        </p:spPr>
      </p:cxnSp>
      <p:sp>
        <p:nvSpPr>
          <p:cNvPr id="1976" name="Google Shape;1976;p72"/>
          <p:cNvSpPr/>
          <p:nvPr/>
        </p:nvSpPr>
        <p:spPr>
          <a:xfrm>
            <a:off x="514350" y="1803654"/>
            <a:ext cx="2606100" cy="1152300"/>
          </a:xfrm>
          <a:prstGeom prst="roundRect">
            <a:avLst>
              <a:gd fmla="val 4762" name="adj"/>
            </a:avLst>
          </a:prstGeom>
          <a:solidFill>
            <a:srgbClr val="E5F3F4"/>
          </a:solidFill>
          <a:ln cap="flat" cmpd="sng" w="11900">
            <a:solidFill>
              <a:srgbClr val="0E7C8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7" name="Google Shape;1977;p72"/>
          <p:cNvSpPr/>
          <p:nvPr/>
        </p:nvSpPr>
        <p:spPr>
          <a:xfrm>
            <a:off x="617220" y="1927098"/>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8" name="Google Shape;1978;p72"/>
          <p:cNvSpPr/>
          <p:nvPr/>
        </p:nvSpPr>
        <p:spPr>
          <a:xfrm>
            <a:off x="617220" y="1927098"/>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Masked Multi-Head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Self-Attention (causal)</a:t>
            </a:r>
            <a:endParaRPr b="0" i="0" sz="800" u="none" cap="none" strike="noStrike">
              <a:solidFill>
                <a:schemeClr val="dk1"/>
              </a:solidFill>
              <a:latin typeface="Calibri"/>
              <a:ea typeface="Calibri"/>
              <a:cs typeface="Calibri"/>
              <a:sym typeface="Calibri"/>
            </a:endParaRPr>
          </a:p>
        </p:txBody>
      </p:sp>
      <p:sp>
        <p:nvSpPr>
          <p:cNvPr id="1979" name="Google Shape;1979;p72"/>
          <p:cNvSpPr/>
          <p:nvPr/>
        </p:nvSpPr>
        <p:spPr>
          <a:xfrm>
            <a:off x="617220" y="2434590"/>
            <a:ext cx="2400300" cy="397800"/>
          </a:xfrm>
          <a:prstGeom prst="roundRect">
            <a:avLst>
              <a:gd fmla="val 10345" name="adj"/>
            </a:avLst>
          </a:prstGeom>
          <a:solidFill>
            <a:srgbClr val="1E2A4A"/>
          </a:solidFill>
          <a:ln cap="flat" cmpd="sng" w="9525">
            <a:solidFill>
              <a:srgbClr val="1E2A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0" name="Google Shape;1980;p72"/>
          <p:cNvSpPr/>
          <p:nvPr/>
        </p:nvSpPr>
        <p:spPr>
          <a:xfrm>
            <a:off x="617220" y="2434590"/>
            <a:ext cx="2400300" cy="397800"/>
          </a:xfrm>
          <a:prstGeom prst="rect">
            <a:avLst/>
          </a:prstGeom>
          <a:noFill/>
          <a:ln>
            <a:noFill/>
          </a:ln>
        </p:spPr>
        <p:txBody>
          <a:bodyPr anchorCtr="0" anchor="ctr" bIns="275" lIns="275" spcFirstLastPara="1" rIns="275" wrap="square" tIns="275">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Feed Forward Network</a:t>
            </a:r>
            <a:endParaRPr b="0" i="0" sz="800" u="none" cap="none" strike="noStrike">
              <a:solidFill>
                <a:schemeClr val="dk1"/>
              </a:solidFill>
              <a:latin typeface="Calibri"/>
              <a:ea typeface="Calibri"/>
              <a:cs typeface="Calibri"/>
              <a:sym typeface="Calibri"/>
            </a:endParaRPr>
          </a:p>
        </p:txBody>
      </p:sp>
      <p:sp>
        <p:nvSpPr>
          <p:cNvPr id="1981" name="Google Shape;1981;p72"/>
          <p:cNvSpPr/>
          <p:nvPr/>
        </p:nvSpPr>
        <p:spPr>
          <a:xfrm>
            <a:off x="3120459" y="2263056"/>
            <a:ext cx="3429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900"/>
              <a:buFont typeface="Calibri"/>
              <a:buNone/>
            </a:pPr>
            <a:r>
              <a:rPr b="1" i="0" lang="en" sz="900" u="none" cap="none" strike="noStrike">
                <a:solidFill>
                  <a:srgbClr val="0E7C86"/>
                </a:solidFill>
                <a:latin typeface="Calibri"/>
                <a:ea typeface="Calibri"/>
                <a:cs typeface="Calibri"/>
                <a:sym typeface="Calibri"/>
              </a:rPr>
              <a:t>x N</a:t>
            </a:r>
            <a:endParaRPr b="0" i="0" sz="900" u="none" cap="none" strike="noStrike">
              <a:solidFill>
                <a:schemeClr val="dk1"/>
              </a:solidFill>
              <a:latin typeface="Calibri"/>
              <a:ea typeface="Calibri"/>
              <a:cs typeface="Calibri"/>
              <a:sym typeface="Calibri"/>
            </a:endParaRPr>
          </a:p>
        </p:txBody>
      </p:sp>
      <p:cxnSp>
        <p:nvCxnSpPr>
          <p:cNvPr id="1982" name="Google Shape;1982;p72"/>
          <p:cNvCxnSpPr/>
          <p:nvPr/>
        </p:nvCxnSpPr>
        <p:spPr>
          <a:xfrm>
            <a:off x="1817370" y="2955798"/>
            <a:ext cx="0" cy="150900"/>
          </a:xfrm>
          <a:prstGeom prst="straightConnector1">
            <a:avLst/>
          </a:prstGeom>
          <a:noFill/>
          <a:ln cap="flat" cmpd="sng" w="14300">
            <a:solidFill>
              <a:srgbClr val="8A94A3"/>
            </a:solidFill>
            <a:prstDash val="solid"/>
            <a:round/>
            <a:headEnd len="sm" w="sm" type="none"/>
            <a:tailEnd len="med" w="med" type="triangle"/>
          </a:ln>
        </p:spPr>
      </p:cxnSp>
      <p:sp>
        <p:nvSpPr>
          <p:cNvPr id="1983" name="Google Shape;1983;p72"/>
          <p:cNvSpPr/>
          <p:nvPr/>
        </p:nvSpPr>
        <p:spPr>
          <a:xfrm>
            <a:off x="617220" y="3106674"/>
            <a:ext cx="2400300" cy="342900"/>
          </a:xfrm>
          <a:prstGeom prst="roundRect">
            <a:avLst>
              <a:gd fmla="val 12000" name="adj"/>
            </a:avLst>
          </a:prstGeom>
          <a:solidFill>
            <a:srgbClr val="F7F9FB"/>
          </a:solidFill>
          <a:ln cap="flat" cmpd="sng" w="9525">
            <a:solidFill>
              <a:srgbClr val="D8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4" name="Google Shape;1984;p72"/>
          <p:cNvSpPr/>
          <p:nvPr/>
        </p:nvSpPr>
        <p:spPr>
          <a:xfrm>
            <a:off x="617220" y="3106674"/>
            <a:ext cx="2400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 sz="900" u="none" cap="none" strike="noStrike">
                <a:solidFill>
                  <a:srgbClr val="475569"/>
                </a:solidFill>
                <a:latin typeface="Calibri"/>
                <a:ea typeface="Calibri"/>
                <a:cs typeface="Calibri"/>
                <a:sym typeface="Calibri"/>
              </a:rPr>
              <a:t>Next-token Prediction</a:t>
            </a:r>
            <a:endParaRPr b="0" i="0" sz="900" u="none" cap="none" strike="noStrike">
              <a:solidFill>
                <a:schemeClr val="dk1"/>
              </a:solidFill>
              <a:latin typeface="Calibri"/>
              <a:ea typeface="Calibri"/>
              <a:cs typeface="Calibri"/>
              <a:sym typeface="Calibri"/>
            </a:endParaRPr>
          </a:p>
        </p:txBody>
      </p:sp>
      <p:sp>
        <p:nvSpPr>
          <p:cNvPr id="1985" name="Google Shape;1985;p72"/>
          <p:cNvSpPr/>
          <p:nvPr/>
        </p:nvSpPr>
        <p:spPr>
          <a:xfrm>
            <a:off x="3429000" y="1014980"/>
            <a:ext cx="5074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C86"/>
              </a:buClr>
              <a:buSzPts val="1200"/>
              <a:buFont typeface="Calibri"/>
              <a:buNone/>
            </a:pPr>
            <a:r>
              <a:rPr b="1" i="0" lang="en" sz="1300" u="none" cap="none" strike="noStrike">
                <a:solidFill>
                  <a:srgbClr val="0E7C86"/>
                </a:solidFill>
                <a:latin typeface="Calibri"/>
                <a:ea typeface="Calibri"/>
                <a:cs typeface="Calibri"/>
                <a:sym typeface="Calibri"/>
              </a:rPr>
              <a:t>How it works</a:t>
            </a:r>
            <a:endParaRPr b="0" i="0" sz="1300" u="none" cap="none" strike="noStrike">
              <a:solidFill>
                <a:schemeClr val="dk1"/>
              </a:solidFill>
              <a:latin typeface="Calibri"/>
              <a:ea typeface="Calibri"/>
              <a:cs typeface="Calibri"/>
              <a:sym typeface="Calibri"/>
            </a:endParaRPr>
          </a:p>
        </p:txBody>
      </p:sp>
      <p:sp>
        <p:nvSpPr>
          <p:cNvPr id="1986" name="Google Shape;1986;p72"/>
          <p:cNvSpPr/>
          <p:nvPr/>
        </p:nvSpPr>
        <p:spPr>
          <a:xfrm>
            <a:off x="3429000" y="1289177"/>
            <a:ext cx="5074800" cy="1728600"/>
          </a:xfrm>
          <a:prstGeom prst="rect">
            <a:avLst/>
          </a:prstGeom>
          <a:noFill/>
          <a:ln>
            <a:noFill/>
          </a:ln>
        </p:spPr>
        <p:txBody>
          <a:bodyPr anchorCtr="0" anchor="ctr" bIns="34275" lIns="68575" spcFirstLastPara="1" rIns="68575" wrap="square" tIns="34275">
            <a:noAutofit/>
          </a:bodyPr>
          <a:lstStyle/>
          <a:p>
            <a:pPr indent="-260350" lvl="0" marL="254000" marR="0" rtl="0" algn="l">
              <a:lnSpc>
                <a:spcPct val="115000"/>
              </a:lnSpc>
              <a:spcBef>
                <a:spcPts val="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Each token attends only to itself and earlier tokens - a causal mask blocks any look-ahead at future positions.</a:t>
            </a:r>
            <a:endParaRPr b="0" i="0" sz="1100" u="none" cap="none" strike="noStrike">
              <a:solidFill>
                <a:schemeClr val="dk1"/>
              </a:solidFill>
              <a:latin typeface="Calibri"/>
              <a:ea typeface="Calibri"/>
              <a:cs typeface="Calibri"/>
              <a:sym typeface="Calibri"/>
            </a:endParaRPr>
          </a:p>
          <a:p>
            <a:pPr indent="-260350" lvl="0" marL="254000" marR="0" rtl="0" algn="l">
              <a:lnSpc>
                <a:spcPct val="115000"/>
              </a:lnSpc>
              <a:spcBef>
                <a:spcPts val="70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Generates text one token at a time; each new token is appended and fed back in as input for the next step.</a:t>
            </a:r>
            <a:endParaRPr b="0" i="0" sz="1100" u="none" cap="none" strike="noStrike">
              <a:solidFill>
                <a:schemeClr val="dk1"/>
              </a:solidFill>
              <a:latin typeface="Calibri"/>
              <a:ea typeface="Calibri"/>
              <a:cs typeface="Calibri"/>
              <a:sym typeface="Calibri"/>
            </a:endParaRPr>
          </a:p>
          <a:p>
            <a:pPr indent="-260350" lvl="0" marL="254000" marR="0" rtl="0" algn="l">
              <a:lnSpc>
                <a:spcPct val="115000"/>
              </a:lnSpc>
              <a:spcBef>
                <a:spcPts val="70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Pre-trained on next-token prediction over massive text corpora, then often fine-tuned or aligned for instruction-following.</a:t>
            </a:r>
            <a:endParaRPr b="0" i="0" sz="1100" u="none" cap="none" strike="noStrike">
              <a:solidFill>
                <a:schemeClr val="dk1"/>
              </a:solidFill>
              <a:latin typeface="Calibri"/>
              <a:ea typeface="Calibri"/>
              <a:cs typeface="Calibri"/>
              <a:sym typeface="Calibri"/>
            </a:endParaRPr>
          </a:p>
          <a:p>
            <a:pPr indent="-260350" lvl="0" marL="254000" marR="0" rtl="0" algn="l">
              <a:lnSpc>
                <a:spcPct val="115000"/>
              </a:lnSpc>
              <a:spcBef>
                <a:spcPts val="700"/>
              </a:spcBef>
              <a:spcAft>
                <a:spcPts val="0"/>
              </a:spcAft>
              <a:buClr>
                <a:srgbClr val="475569"/>
              </a:buClr>
              <a:buSzPts val="1100"/>
              <a:buFont typeface="Calibri"/>
              <a:buChar char="•"/>
            </a:pPr>
            <a:r>
              <a:rPr b="0" i="0" lang="en" sz="1100" u="none" cap="none" strike="noStrike">
                <a:solidFill>
                  <a:srgbClr val="475569"/>
                </a:solidFill>
                <a:latin typeface="Calibri"/>
                <a:ea typeface="Calibri"/>
                <a:cs typeface="Calibri"/>
                <a:sym typeface="Calibri"/>
              </a:rPr>
              <a:t>This autoregressive design is what scales cleanly - it underlies essentially every modern large language model.</a:t>
            </a:r>
            <a:endParaRPr b="0" i="0" sz="1100" u="none" cap="none" strike="noStrike">
              <a:solidFill>
                <a:schemeClr val="dk1"/>
              </a:solidFill>
              <a:latin typeface="Calibri"/>
              <a:ea typeface="Calibri"/>
              <a:cs typeface="Calibri"/>
              <a:sym typeface="Calibri"/>
            </a:endParaRPr>
          </a:p>
        </p:txBody>
      </p:sp>
      <p:sp>
        <p:nvSpPr>
          <p:cNvPr id="1987" name="Google Shape;1987;p72"/>
          <p:cNvSpPr/>
          <p:nvPr/>
        </p:nvSpPr>
        <p:spPr>
          <a:xfrm>
            <a:off x="3429000" y="3186789"/>
            <a:ext cx="2639400" cy="27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245"/>
              <a:buFont typeface="Calibri"/>
              <a:buNone/>
            </a:pPr>
            <a:r>
              <a:rPr b="1" i="0" lang="en" sz="1245" u="none" cap="none" strike="noStrike">
                <a:solidFill>
                  <a:srgbClr val="1E2A4A"/>
                </a:solidFill>
                <a:latin typeface="Calibri"/>
                <a:ea typeface="Calibri"/>
                <a:cs typeface="Calibri"/>
                <a:sym typeface="Calibri"/>
              </a:rPr>
              <a:t>Industry examples</a:t>
            </a:r>
            <a:endParaRPr b="0" i="0" sz="1245" u="none" cap="none" strike="noStrike">
              <a:solidFill>
                <a:schemeClr val="dk1"/>
              </a:solidFill>
              <a:latin typeface="Calibri"/>
              <a:ea typeface="Calibri"/>
              <a:cs typeface="Calibri"/>
              <a:sym typeface="Calibri"/>
            </a:endParaRPr>
          </a:p>
        </p:txBody>
      </p:sp>
      <p:sp>
        <p:nvSpPr>
          <p:cNvPr id="1988" name="Google Shape;1988;p72"/>
          <p:cNvSpPr/>
          <p:nvPr/>
        </p:nvSpPr>
        <p:spPr>
          <a:xfrm>
            <a:off x="3429000"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989" name="Google Shape;1989;p72"/>
          <p:cNvSpPr/>
          <p:nvPr/>
        </p:nvSpPr>
        <p:spPr>
          <a:xfrm>
            <a:off x="3429000"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GPT family</a:t>
            </a:r>
            <a:endParaRPr b="0" i="0" sz="1019" u="none" cap="none" strike="noStrike">
              <a:solidFill>
                <a:schemeClr val="dk1"/>
              </a:solidFill>
              <a:latin typeface="Calibri"/>
              <a:ea typeface="Calibri"/>
              <a:cs typeface="Calibri"/>
              <a:sym typeface="Calibri"/>
            </a:endParaRPr>
          </a:p>
        </p:txBody>
      </p:sp>
      <p:sp>
        <p:nvSpPr>
          <p:cNvPr id="1990" name="Google Shape;1990;p72"/>
          <p:cNvSpPr/>
          <p:nvPr/>
        </p:nvSpPr>
        <p:spPr>
          <a:xfrm>
            <a:off x="4772132"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991" name="Google Shape;1991;p72"/>
          <p:cNvSpPr/>
          <p:nvPr/>
        </p:nvSpPr>
        <p:spPr>
          <a:xfrm>
            <a:off x="4772132"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Llama</a:t>
            </a:r>
            <a:endParaRPr b="0" i="0" sz="1019" u="none" cap="none" strike="noStrike">
              <a:solidFill>
                <a:schemeClr val="dk1"/>
              </a:solidFill>
              <a:latin typeface="Calibri"/>
              <a:ea typeface="Calibri"/>
              <a:cs typeface="Calibri"/>
              <a:sym typeface="Calibri"/>
            </a:endParaRPr>
          </a:p>
        </p:txBody>
      </p:sp>
      <p:sp>
        <p:nvSpPr>
          <p:cNvPr id="1992" name="Google Shape;1992;p72"/>
          <p:cNvSpPr/>
          <p:nvPr/>
        </p:nvSpPr>
        <p:spPr>
          <a:xfrm>
            <a:off x="6115264"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993" name="Google Shape;1993;p72"/>
          <p:cNvSpPr/>
          <p:nvPr/>
        </p:nvSpPr>
        <p:spPr>
          <a:xfrm>
            <a:off x="6115264"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Claude</a:t>
            </a:r>
            <a:endParaRPr b="0" i="0" sz="1019" u="none" cap="none" strike="noStrike">
              <a:solidFill>
                <a:schemeClr val="dk1"/>
              </a:solidFill>
              <a:latin typeface="Calibri"/>
              <a:ea typeface="Calibri"/>
              <a:cs typeface="Calibri"/>
              <a:sym typeface="Calibri"/>
            </a:endParaRPr>
          </a:p>
        </p:txBody>
      </p:sp>
      <p:sp>
        <p:nvSpPr>
          <p:cNvPr id="1994" name="Google Shape;1994;p72"/>
          <p:cNvSpPr/>
          <p:nvPr/>
        </p:nvSpPr>
        <p:spPr>
          <a:xfrm>
            <a:off x="7458396" y="3474055"/>
            <a:ext cx="1203300" cy="349500"/>
          </a:xfrm>
          <a:prstGeom prst="roundRect">
            <a:avLst>
              <a:gd fmla="val 48889" name="adj"/>
            </a:avLst>
          </a:prstGeom>
          <a:solidFill>
            <a:srgbClr val="F7F9FB"/>
          </a:solidFill>
          <a:ln cap="flat" cmpd="sng" w="10775">
            <a:solidFill>
              <a:srgbClr val="D8DEE6"/>
            </a:solidFill>
            <a:prstDash val="solid"/>
            <a:round/>
            <a:headEnd len="sm" w="sm" type="none"/>
            <a:tailEnd len="sm" w="sm" type="none"/>
          </a:ln>
        </p:spPr>
        <p:txBody>
          <a:bodyPr anchorCtr="0" anchor="ctr" bIns="77625" lIns="77625" spcFirstLastPara="1" rIns="77625" wrap="square" tIns="77625">
            <a:noAutofit/>
          </a:bodyPr>
          <a:lstStyle/>
          <a:p>
            <a:pPr indent="0" lvl="0" marL="0" rtl="0" algn="l">
              <a:spcBef>
                <a:spcPts val="0"/>
              </a:spcBef>
              <a:spcAft>
                <a:spcPts val="0"/>
              </a:spcAft>
              <a:buNone/>
            </a:pPr>
            <a:r>
              <a:t/>
            </a:r>
            <a:endParaRPr/>
          </a:p>
        </p:txBody>
      </p:sp>
      <p:sp>
        <p:nvSpPr>
          <p:cNvPr id="1995" name="Google Shape;1995;p72"/>
          <p:cNvSpPr/>
          <p:nvPr/>
        </p:nvSpPr>
        <p:spPr>
          <a:xfrm>
            <a:off x="7458396" y="3474055"/>
            <a:ext cx="1203300" cy="34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A4A"/>
              </a:buClr>
              <a:buSzPts val="1019"/>
              <a:buFont typeface="Calibri"/>
              <a:buNone/>
            </a:pPr>
            <a:r>
              <a:rPr b="1" i="0" lang="en" sz="1019" u="none" cap="none" strike="noStrike">
                <a:solidFill>
                  <a:srgbClr val="1E2A4A"/>
                </a:solidFill>
                <a:latin typeface="Calibri"/>
                <a:ea typeface="Calibri"/>
                <a:cs typeface="Calibri"/>
                <a:sym typeface="Calibri"/>
              </a:rPr>
              <a:t>Mistral</a:t>
            </a:r>
            <a:endParaRPr b="0" i="0" sz="1019" u="none" cap="none" strike="noStrike">
              <a:solidFill>
                <a:schemeClr val="dk1"/>
              </a:solidFill>
              <a:latin typeface="Calibri"/>
              <a:ea typeface="Calibri"/>
              <a:cs typeface="Calibri"/>
              <a:sym typeface="Calibri"/>
            </a:endParaRPr>
          </a:p>
        </p:txBody>
      </p:sp>
      <p:sp>
        <p:nvSpPr>
          <p:cNvPr id="1996" name="Google Shape;1996;p72"/>
          <p:cNvSpPr/>
          <p:nvPr/>
        </p:nvSpPr>
        <p:spPr>
          <a:xfrm>
            <a:off x="3429000" y="3943350"/>
            <a:ext cx="50748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900"/>
              <a:buFont typeface="Calibri"/>
              <a:buNone/>
            </a:pPr>
            <a:r>
              <a:rPr b="0" i="1" lang="en" sz="1200" u="none" cap="none" strike="noStrike">
                <a:solidFill>
                  <a:srgbClr val="475569"/>
                </a:solidFill>
                <a:latin typeface="Calibri"/>
                <a:ea typeface="Calibri"/>
                <a:cs typeface="Calibri"/>
                <a:sym typeface="Calibri"/>
              </a:rPr>
              <a:t>Why teams choose it: a single architecture handles writing, reasoning, coding, and conversation - flexibility that justifies the higher inference cost.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1" name="Shape 2001"/>
        <p:cNvGrpSpPr/>
        <p:nvPr/>
      </p:nvGrpSpPr>
      <p:grpSpPr>
        <a:xfrm>
          <a:off x="0" y="0"/>
          <a:ext cx="0" cy="0"/>
          <a:chOff x="0" y="0"/>
          <a:chExt cx="0" cy="0"/>
        </a:xfrm>
      </p:grpSpPr>
      <p:sp>
        <p:nvSpPr>
          <p:cNvPr id="2002" name="Google Shape;2002;p73"/>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Decoder-only in Production</a:t>
            </a:r>
            <a:endParaRPr b="0" i="0" sz="2300" u="none" cap="none" strike="noStrike">
              <a:solidFill>
                <a:schemeClr val="dk1"/>
              </a:solidFill>
              <a:latin typeface="Calibri"/>
              <a:ea typeface="Calibri"/>
              <a:cs typeface="Calibri"/>
              <a:sym typeface="Calibri"/>
            </a:endParaRPr>
          </a:p>
        </p:txBody>
      </p:sp>
      <p:sp>
        <p:nvSpPr>
          <p:cNvPr id="2003" name="Google Shape;2003;p73"/>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Where generative, autoregressive models are reshaping products</a:t>
            </a:r>
            <a:endParaRPr b="0" i="0" sz="1100" u="none" cap="none" strike="noStrike">
              <a:solidFill>
                <a:schemeClr val="dk1"/>
              </a:solidFill>
              <a:latin typeface="Calibri"/>
              <a:ea typeface="Calibri"/>
              <a:cs typeface="Calibri"/>
              <a:sym typeface="Calibri"/>
            </a:endParaRPr>
          </a:p>
        </p:txBody>
      </p:sp>
      <p:sp>
        <p:nvSpPr>
          <p:cNvPr id="2004" name="Google Shape;2004;p73"/>
          <p:cNvSpPr/>
          <p:nvPr/>
        </p:nvSpPr>
        <p:spPr>
          <a:xfrm>
            <a:off x="480050" y="1268724"/>
            <a:ext cx="2640300" cy="13029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2005" name="Google Shape;2005;p73"/>
          <p:cNvSpPr/>
          <p:nvPr/>
        </p:nvSpPr>
        <p:spPr>
          <a:xfrm>
            <a:off x="651500" y="1421990"/>
            <a:ext cx="2297400" cy="30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Conversational AI</a:t>
            </a:r>
            <a:endParaRPr b="0" i="0" sz="1500" u="none" cap="none" strike="noStrike">
              <a:solidFill>
                <a:schemeClr val="dk1"/>
              </a:solidFill>
              <a:latin typeface="Calibri"/>
              <a:ea typeface="Calibri"/>
              <a:cs typeface="Calibri"/>
              <a:sym typeface="Calibri"/>
            </a:endParaRPr>
          </a:p>
        </p:txBody>
      </p:sp>
      <p:sp>
        <p:nvSpPr>
          <p:cNvPr id="2006" name="Google Shape;2006;p73"/>
          <p:cNvSpPr/>
          <p:nvPr/>
        </p:nvSpPr>
        <p:spPr>
          <a:xfrm>
            <a:off x="651500" y="1766837"/>
            <a:ext cx="2297400" cy="72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Customer support agents, internal copilots, and chat interfaces that hold multi-turn context.</a:t>
            </a:r>
            <a:endParaRPr b="0" i="0" sz="1300" u="none" cap="none" strike="noStrike">
              <a:solidFill>
                <a:schemeClr val="dk1"/>
              </a:solidFill>
              <a:latin typeface="Calibri"/>
              <a:ea typeface="Calibri"/>
              <a:cs typeface="Calibri"/>
              <a:sym typeface="Calibri"/>
            </a:endParaRPr>
          </a:p>
        </p:txBody>
      </p:sp>
      <p:sp>
        <p:nvSpPr>
          <p:cNvPr id="2007" name="Google Shape;2007;p73"/>
          <p:cNvSpPr/>
          <p:nvPr/>
        </p:nvSpPr>
        <p:spPr>
          <a:xfrm>
            <a:off x="3360412" y="1268724"/>
            <a:ext cx="2640300" cy="13029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2008" name="Google Shape;2008;p73"/>
          <p:cNvSpPr/>
          <p:nvPr/>
        </p:nvSpPr>
        <p:spPr>
          <a:xfrm>
            <a:off x="3531862" y="1421990"/>
            <a:ext cx="2297400" cy="30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Code Generation</a:t>
            </a:r>
            <a:endParaRPr b="0" i="0" sz="1500" u="none" cap="none" strike="noStrike">
              <a:solidFill>
                <a:schemeClr val="dk1"/>
              </a:solidFill>
              <a:latin typeface="Calibri"/>
              <a:ea typeface="Calibri"/>
              <a:cs typeface="Calibri"/>
              <a:sym typeface="Calibri"/>
            </a:endParaRPr>
          </a:p>
        </p:txBody>
      </p:sp>
      <p:sp>
        <p:nvSpPr>
          <p:cNvPr id="2009" name="Google Shape;2009;p73"/>
          <p:cNvSpPr/>
          <p:nvPr/>
        </p:nvSpPr>
        <p:spPr>
          <a:xfrm>
            <a:off x="3531862" y="1766837"/>
            <a:ext cx="2297400" cy="72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Autocomplete, code review, and agentic coding tools that write and refactor across a codebase.</a:t>
            </a:r>
            <a:endParaRPr b="0" i="0" sz="1300" u="none" cap="none" strike="noStrike">
              <a:solidFill>
                <a:schemeClr val="dk1"/>
              </a:solidFill>
              <a:latin typeface="Calibri"/>
              <a:ea typeface="Calibri"/>
              <a:cs typeface="Calibri"/>
              <a:sym typeface="Calibri"/>
            </a:endParaRPr>
          </a:p>
        </p:txBody>
      </p:sp>
      <p:sp>
        <p:nvSpPr>
          <p:cNvPr id="2010" name="Google Shape;2010;p73"/>
          <p:cNvSpPr/>
          <p:nvPr/>
        </p:nvSpPr>
        <p:spPr>
          <a:xfrm>
            <a:off x="6240773" y="1268724"/>
            <a:ext cx="2640300" cy="1302900"/>
          </a:xfrm>
          <a:prstGeom prst="roundRect">
            <a:avLst>
              <a:gd fmla="val 4706" name="adj"/>
            </a:avLst>
          </a:prstGeom>
          <a:solidFill>
            <a:srgbClr val="F7F9FB"/>
          </a:solidFill>
          <a:ln>
            <a:noFill/>
          </a:ln>
          <a:effectLst>
            <a:outerShdw blurRad="57150" rotWithShape="0" algn="bl" dir="27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2011" name="Google Shape;2011;p73"/>
          <p:cNvSpPr/>
          <p:nvPr/>
        </p:nvSpPr>
        <p:spPr>
          <a:xfrm>
            <a:off x="6412224" y="1421990"/>
            <a:ext cx="2297400" cy="30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1100"/>
              <a:buFont typeface="Calibri"/>
              <a:buNone/>
            </a:pPr>
            <a:r>
              <a:rPr b="1" i="0" lang="en" sz="1500" u="none" cap="none" strike="noStrike">
                <a:solidFill>
                  <a:srgbClr val="1E2A4A"/>
                </a:solidFill>
                <a:latin typeface="Calibri"/>
                <a:ea typeface="Calibri"/>
                <a:cs typeface="Calibri"/>
                <a:sym typeface="Calibri"/>
              </a:rPr>
              <a:t>Content &amp; Drafting</a:t>
            </a:r>
            <a:endParaRPr b="0" i="0" sz="1500" u="none" cap="none" strike="noStrike">
              <a:solidFill>
                <a:schemeClr val="dk1"/>
              </a:solidFill>
              <a:latin typeface="Calibri"/>
              <a:ea typeface="Calibri"/>
              <a:cs typeface="Calibri"/>
              <a:sym typeface="Calibri"/>
            </a:endParaRPr>
          </a:p>
        </p:txBody>
      </p:sp>
      <p:sp>
        <p:nvSpPr>
          <p:cNvPr id="2012" name="Google Shape;2012;p73"/>
          <p:cNvSpPr/>
          <p:nvPr/>
        </p:nvSpPr>
        <p:spPr>
          <a:xfrm>
            <a:off x="6412224" y="1766837"/>
            <a:ext cx="2297400" cy="72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900"/>
              <a:buFont typeface="Calibri"/>
              <a:buNone/>
            </a:pPr>
            <a:r>
              <a:rPr b="0" i="0" lang="en" sz="1300" u="none" cap="none" strike="noStrike">
                <a:solidFill>
                  <a:srgbClr val="475569"/>
                </a:solidFill>
                <a:latin typeface="Calibri"/>
                <a:ea typeface="Calibri"/>
                <a:cs typeface="Calibri"/>
                <a:sym typeface="Calibri"/>
              </a:rPr>
              <a:t>Marketing copy, reports, and first-draft generation at a fraction of manual authoring time.</a:t>
            </a:r>
            <a:endParaRPr b="0" i="0" sz="1300" u="none" cap="none" strike="noStrike">
              <a:solidFill>
                <a:schemeClr val="dk1"/>
              </a:solidFill>
              <a:latin typeface="Calibri"/>
              <a:ea typeface="Calibri"/>
              <a:cs typeface="Calibri"/>
              <a:sym typeface="Calibri"/>
            </a:endParaRPr>
          </a:p>
        </p:txBody>
      </p:sp>
      <p:sp>
        <p:nvSpPr>
          <p:cNvPr id="2013" name="Google Shape;2013;p73"/>
          <p:cNvSpPr/>
          <p:nvPr/>
        </p:nvSpPr>
        <p:spPr>
          <a:xfrm>
            <a:off x="480060" y="2835893"/>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500" u="none" cap="none" strike="noStrike">
                <a:solidFill>
                  <a:srgbClr val="0E7C86"/>
                </a:solidFill>
                <a:latin typeface="Calibri"/>
                <a:ea typeface="Calibri"/>
                <a:cs typeface="Calibri"/>
                <a:sym typeface="Calibri"/>
              </a:rPr>
              <a:t>Deployment considerations</a:t>
            </a:r>
            <a:endParaRPr b="0" i="0" sz="1500" u="none" cap="none" strike="noStrike">
              <a:solidFill>
                <a:schemeClr val="dk1"/>
              </a:solidFill>
              <a:latin typeface="Calibri"/>
              <a:ea typeface="Calibri"/>
              <a:cs typeface="Calibri"/>
              <a:sym typeface="Calibri"/>
            </a:endParaRPr>
          </a:p>
        </p:txBody>
      </p:sp>
      <p:sp>
        <p:nvSpPr>
          <p:cNvPr id="2014" name="Google Shape;2014;p73"/>
          <p:cNvSpPr/>
          <p:nvPr/>
        </p:nvSpPr>
        <p:spPr>
          <a:xfrm>
            <a:off x="480060" y="3233656"/>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2015" name="Google Shape;2015;p73"/>
          <p:cNvSpPr/>
          <p:nvPr/>
        </p:nvSpPr>
        <p:spPr>
          <a:xfrm>
            <a:off x="651510" y="3144503"/>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Latency:  </a:t>
            </a:r>
            <a:r>
              <a:rPr b="0" i="0" lang="en" sz="1200" u="none" cap="none" strike="noStrike">
                <a:solidFill>
                  <a:srgbClr val="475569"/>
                </a:solidFill>
                <a:latin typeface="Calibri"/>
                <a:ea typeface="Calibri"/>
                <a:cs typeface="Calibri"/>
                <a:sym typeface="Calibri"/>
              </a:rPr>
              <a:t>Sequential token-by-token decoding - total latency scales with output length, not just input size</a:t>
            </a:r>
            <a:endParaRPr b="0" i="0" sz="1200" u="none" cap="none" strike="noStrike">
              <a:solidFill>
                <a:schemeClr val="dk1"/>
              </a:solidFill>
              <a:latin typeface="Calibri"/>
              <a:ea typeface="Calibri"/>
              <a:cs typeface="Calibri"/>
              <a:sym typeface="Calibri"/>
            </a:endParaRPr>
          </a:p>
        </p:txBody>
      </p:sp>
      <p:sp>
        <p:nvSpPr>
          <p:cNvPr id="2016" name="Google Shape;2016;p73"/>
          <p:cNvSpPr/>
          <p:nvPr/>
        </p:nvSpPr>
        <p:spPr>
          <a:xfrm>
            <a:off x="480060" y="3549125"/>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2017" name="Google Shape;2017;p73"/>
          <p:cNvSpPr/>
          <p:nvPr/>
        </p:nvSpPr>
        <p:spPr>
          <a:xfrm>
            <a:off x="651510" y="3459971"/>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Cost:  </a:t>
            </a:r>
            <a:r>
              <a:rPr b="0" i="0" lang="en" sz="1200" u="none" cap="none" strike="noStrike">
                <a:solidFill>
                  <a:srgbClr val="475569"/>
                </a:solidFill>
                <a:latin typeface="Calibri"/>
                <a:ea typeface="Calibri"/>
                <a:cs typeface="Calibri"/>
                <a:sym typeface="Calibri"/>
              </a:rPr>
              <a:t>Highest inference cost per request among the three families; cost scales with both prompt and output tokens</a:t>
            </a:r>
            <a:endParaRPr b="0" i="0" sz="1200" u="none" cap="none" strike="noStrike">
              <a:solidFill>
                <a:schemeClr val="dk1"/>
              </a:solidFill>
              <a:latin typeface="Calibri"/>
              <a:ea typeface="Calibri"/>
              <a:cs typeface="Calibri"/>
              <a:sym typeface="Calibri"/>
            </a:endParaRPr>
          </a:p>
        </p:txBody>
      </p:sp>
      <p:sp>
        <p:nvSpPr>
          <p:cNvPr id="2018" name="Google Shape;2018;p73"/>
          <p:cNvSpPr/>
          <p:nvPr/>
        </p:nvSpPr>
        <p:spPr>
          <a:xfrm>
            <a:off x="480060" y="3864593"/>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2019" name="Google Shape;2019;p73"/>
          <p:cNvSpPr/>
          <p:nvPr/>
        </p:nvSpPr>
        <p:spPr>
          <a:xfrm>
            <a:off x="651510" y="3775439"/>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Scaling pattern:  </a:t>
            </a:r>
            <a:r>
              <a:rPr b="0" i="0" lang="en" sz="1200" u="none" cap="none" strike="noStrike">
                <a:solidFill>
                  <a:srgbClr val="475569"/>
                </a:solidFill>
                <a:latin typeface="Calibri"/>
                <a:ea typeface="Calibri"/>
                <a:cs typeface="Calibri"/>
                <a:sym typeface="Calibri"/>
              </a:rPr>
              <a:t>Throughput gains come from batching, speculative decoding, and KV-cache reuse across requests</a:t>
            </a:r>
            <a:endParaRPr b="0" i="0" sz="1200" u="none" cap="none" strike="noStrike">
              <a:solidFill>
                <a:schemeClr val="dk1"/>
              </a:solidFill>
              <a:latin typeface="Calibri"/>
              <a:ea typeface="Calibri"/>
              <a:cs typeface="Calibri"/>
              <a:sym typeface="Calibri"/>
            </a:endParaRPr>
          </a:p>
        </p:txBody>
      </p:sp>
      <p:sp>
        <p:nvSpPr>
          <p:cNvPr id="2020" name="Google Shape;2020;p73"/>
          <p:cNvSpPr/>
          <p:nvPr/>
        </p:nvSpPr>
        <p:spPr>
          <a:xfrm>
            <a:off x="480060" y="4180061"/>
            <a:ext cx="68700" cy="68700"/>
          </a:xfrm>
          <a:prstGeom prst="ellipse">
            <a:avLst/>
          </a:prstGeom>
          <a:solidFill>
            <a:srgbClr val="0E7C8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700"/>
          </a:p>
        </p:txBody>
      </p:sp>
      <p:sp>
        <p:nvSpPr>
          <p:cNvPr id="2021" name="Google Shape;2021;p73"/>
          <p:cNvSpPr/>
          <p:nvPr/>
        </p:nvSpPr>
        <p:spPr>
          <a:xfrm>
            <a:off x="651510" y="4090907"/>
            <a:ext cx="7886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4A"/>
              </a:buClr>
              <a:buSzPts val="900"/>
              <a:buFont typeface="Calibri"/>
              <a:buNone/>
            </a:pPr>
            <a:r>
              <a:rPr b="1" i="0" lang="en" sz="1200" u="none" cap="none" strike="noStrike">
                <a:solidFill>
                  <a:srgbClr val="1E2A4A"/>
                </a:solidFill>
                <a:latin typeface="Calibri"/>
                <a:ea typeface="Calibri"/>
                <a:cs typeface="Calibri"/>
                <a:sym typeface="Calibri"/>
              </a:rPr>
              <a:t>Common pitfall:  </a:t>
            </a:r>
            <a:r>
              <a:rPr b="0" i="0" lang="en" sz="1200" u="none" cap="none" strike="noStrike">
                <a:solidFill>
                  <a:srgbClr val="475569"/>
                </a:solidFill>
                <a:latin typeface="Calibri"/>
                <a:ea typeface="Calibri"/>
                <a:cs typeface="Calibri"/>
                <a:sym typeface="Calibri"/>
              </a:rPr>
              <a:t>Context window limits and per-token pricing make long conversations or large documents expensive at scale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6" name="Shape 2026"/>
        <p:cNvGrpSpPr/>
        <p:nvPr/>
      </p:nvGrpSpPr>
      <p:grpSpPr>
        <a:xfrm>
          <a:off x="0" y="0"/>
          <a:ext cx="0" cy="0"/>
          <a:chOff x="0" y="0"/>
          <a:chExt cx="0" cy="0"/>
        </a:xfrm>
      </p:grpSpPr>
      <p:sp>
        <p:nvSpPr>
          <p:cNvPr id="2027" name="Google Shape;2027;p74"/>
          <p:cNvSpPr/>
          <p:nvPr/>
        </p:nvSpPr>
        <p:spPr>
          <a:xfrm>
            <a:off x="480060" y="27432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4A"/>
              </a:buClr>
              <a:buSzPts val="2300"/>
              <a:buFont typeface="Cambria"/>
              <a:buNone/>
            </a:pPr>
            <a:r>
              <a:rPr b="1" i="0" lang="en" sz="2300" u="none" cap="none" strike="noStrike">
                <a:solidFill>
                  <a:srgbClr val="1E2A4A"/>
                </a:solidFill>
                <a:latin typeface="Cambria"/>
                <a:ea typeface="Cambria"/>
                <a:cs typeface="Cambria"/>
                <a:sym typeface="Cambria"/>
              </a:rPr>
              <a:t>Choosing the Right Architecture</a:t>
            </a:r>
            <a:endParaRPr b="0" i="0" sz="2300" u="none" cap="none" strike="noStrike">
              <a:solidFill>
                <a:schemeClr val="dk1"/>
              </a:solidFill>
              <a:latin typeface="Calibri"/>
              <a:ea typeface="Calibri"/>
              <a:cs typeface="Calibri"/>
              <a:sym typeface="Calibri"/>
            </a:endParaRPr>
          </a:p>
        </p:txBody>
      </p:sp>
      <p:sp>
        <p:nvSpPr>
          <p:cNvPr id="2028" name="Google Shape;2028;p74"/>
          <p:cNvSpPr/>
          <p:nvPr/>
        </p:nvSpPr>
        <p:spPr>
          <a:xfrm>
            <a:off x="480060" y="685800"/>
            <a:ext cx="78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 sz="1100" u="none" cap="none" strike="noStrike">
                <a:solidFill>
                  <a:srgbClr val="475569"/>
                </a:solidFill>
                <a:latin typeface="Calibri"/>
                <a:ea typeface="Calibri"/>
                <a:cs typeface="Calibri"/>
                <a:sym typeface="Calibri"/>
              </a:rPr>
              <a:t>A practical decision framework for product and engineering teams</a:t>
            </a:r>
            <a:endParaRPr b="0" i="0" sz="1100" u="none" cap="none" strike="noStrike">
              <a:solidFill>
                <a:schemeClr val="dk1"/>
              </a:solidFill>
              <a:latin typeface="Calibri"/>
              <a:ea typeface="Calibri"/>
              <a:cs typeface="Calibri"/>
              <a:sym typeface="Calibri"/>
            </a:endParaRPr>
          </a:p>
        </p:txBody>
      </p:sp>
      <p:graphicFrame>
        <p:nvGraphicFramePr>
          <p:cNvPr id="2029" name="Google Shape;2029;p74"/>
          <p:cNvGraphicFramePr/>
          <p:nvPr/>
        </p:nvGraphicFramePr>
        <p:xfrm>
          <a:off x="480060" y="1234440"/>
          <a:ext cx="3000000" cy="3000000"/>
        </p:xfrm>
        <a:graphic>
          <a:graphicData uri="http://schemas.openxmlformats.org/drawingml/2006/table">
            <a:tbl>
              <a:tblPr>
                <a:noFill/>
                <a:tableStyleId>{58D8C2A5-8C76-43A2-B524-913EB85D0711}</a:tableStyleId>
              </a:tblPr>
              <a:tblGrid>
                <a:gridCol w="1645925"/>
                <a:gridCol w="2180850"/>
                <a:gridCol w="2180850"/>
                <a:gridCol w="2174000"/>
              </a:tblGrid>
              <a:tr h="425200">
                <a:tc>
                  <a:txBody>
                    <a:bodyPr/>
                    <a:lstStyle/>
                    <a:p>
                      <a:pPr indent="0" lvl="0" marL="0" marR="0" rtl="0" algn="l">
                        <a:spcBef>
                          <a:spcPts val="0"/>
                        </a:spcBef>
                        <a:spcAft>
                          <a:spcPts val="0"/>
                        </a:spcAft>
                        <a:buClr>
                          <a:schemeClr val="dk1"/>
                        </a:buClr>
                        <a:buSzPts val="900"/>
                        <a:buFont typeface="Calibri"/>
                        <a:buNone/>
                      </a:pPr>
                      <a:r>
                        <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7F9FB"/>
                    </a:solidFill>
                  </a:tcPr>
                </a:tc>
                <a:tc>
                  <a:txBody>
                    <a:bodyPr/>
                    <a:lstStyle/>
                    <a:p>
                      <a:pPr indent="0" lvl="0" marL="0" marR="0" rtl="0" algn="ctr">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Encoder-only</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1E2A4A"/>
                    </a:solidFill>
                  </a:tcPr>
                </a:tc>
                <a:tc>
                  <a:txBody>
                    <a:bodyPr/>
                    <a:lstStyle/>
                    <a:p>
                      <a:pPr indent="0" lvl="0" marL="0" marR="0" rtl="0" algn="ctr">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Decoder-only</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1E2A4A"/>
                    </a:solidFill>
                  </a:tcPr>
                </a:tc>
                <a:tc>
                  <a:txBody>
                    <a:bodyPr/>
                    <a:lstStyle/>
                    <a:p>
                      <a:pPr indent="0" lvl="0" marL="0" marR="0" rtl="0" algn="ctr">
                        <a:spcBef>
                          <a:spcPts val="0"/>
                        </a:spcBef>
                        <a:spcAft>
                          <a:spcPts val="0"/>
                        </a:spcAft>
                        <a:buClr>
                          <a:srgbClr val="FFFFFF"/>
                        </a:buClr>
                        <a:buSzPts val="900"/>
                        <a:buFont typeface="Calibri"/>
                        <a:buNone/>
                      </a:pPr>
                      <a:r>
                        <a:rPr b="1" lang="en" sz="1200" u="none" cap="none" strike="noStrike">
                          <a:solidFill>
                            <a:srgbClr val="FFFFFF"/>
                          </a:solidFill>
                          <a:latin typeface="Calibri"/>
                          <a:ea typeface="Calibri"/>
                          <a:cs typeface="Calibri"/>
                          <a:sym typeface="Calibri"/>
                        </a:rPr>
                        <a:t>Encoder-Decoder</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1E2A4A"/>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Primary task</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Understanding / scoring</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Open-ended generation</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Sequence transformation</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Inference cost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Lowest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Highest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Moderate</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Latency profile</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Single pass, fast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Scales with output length</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Parallel encode, sequential decode</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r h="425200">
                <a:tc>
                  <a:txBody>
                    <a:bodyPr/>
                    <a:lstStyle/>
                    <a:p>
                      <a:pPr indent="0" lvl="0" marL="0" marR="0" rtl="0" algn="l">
                        <a:spcBef>
                          <a:spcPts val="0"/>
                        </a:spcBef>
                        <a:spcAft>
                          <a:spcPts val="0"/>
                        </a:spcAft>
                        <a:buClr>
                          <a:srgbClr val="1E2A4A"/>
                        </a:buClr>
                        <a:buSzPts val="900"/>
                        <a:buFont typeface="Calibri"/>
                        <a:buNone/>
                      </a:pPr>
                      <a:r>
                        <a:rPr b="1" lang="en" sz="1200" u="none" cap="none" strike="noStrike">
                          <a:solidFill>
                            <a:srgbClr val="1E2A4A"/>
                          </a:solidFill>
                          <a:latin typeface="Calibri"/>
                          <a:ea typeface="Calibri"/>
                          <a:cs typeface="Calibri"/>
                          <a:sym typeface="Calibri"/>
                        </a:rPr>
                        <a:t>Pick it when...</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You classify, rank, or embed text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You need flexible, creative output</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75569"/>
                        </a:buClr>
                        <a:buSzPts val="900"/>
                        <a:buFont typeface="Calibri"/>
                        <a:buNone/>
                      </a:pPr>
                      <a:r>
                        <a:rPr lang="en" sz="1200" u="none" cap="none" strike="noStrike">
                          <a:solidFill>
                            <a:srgbClr val="475569"/>
                          </a:solidFill>
                          <a:latin typeface="Calibri"/>
                          <a:ea typeface="Calibri"/>
                          <a:cs typeface="Calibri"/>
                          <a:sym typeface="Calibri"/>
                        </a:rPr>
                        <a:t>Input and output are distinct sequences</a:t>
                      </a:r>
                      <a:endParaRPr sz="1200" u="none" cap="none" strike="noStrike">
                        <a:latin typeface="Calibri"/>
                        <a:ea typeface="Calibri"/>
                        <a:cs typeface="Calibri"/>
                        <a:sym typeface="Calibri"/>
                      </a:endParaRPr>
                    </a:p>
                  </a:txBody>
                  <a:tcPr marT="34300" marB="34300" marR="68600" marL="68600" anchor="ctr">
                    <a:lnL cap="flat" cmpd="sng" w="7150">
                      <a:solidFill>
                        <a:srgbClr val="D8DEE6"/>
                      </a:solidFill>
                      <a:prstDash val="solid"/>
                      <a:round/>
                      <a:headEnd len="sm" w="sm" type="none"/>
                      <a:tailEnd len="sm" w="sm" type="none"/>
                    </a:lnL>
                    <a:lnR cap="flat" cmpd="sng" w="7150">
                      <a:solidFill>
                        <a:srgbClr val="D8DEE6"/>
                      </a:solidFill>
                      <a:prstDash val="solid"/>
                      <a:round/>
                      <a:headEnd len="sm" w="sm" type="none"/>
                      <a:tailEnd len="sm" w="sm" type="none"/>
                    </a:lnR>
                    <a:lnT cap="flat" cmpd="sng" w="7150">
                      <a:solidFill>
                        <a:srgbClr val="D8DEE6"/>
                      </a:solidFill>
                      <a:prstDash val="solid"/>
                      <a:round/>
                      <a:headEnd len="sm" w="sm" type="none"/>
                      <a:tailEnd len="sm" w="sm" type="none"/>
                    </a:lnT>
                    <a:lnB cap="flat" cmpd="sng" w="7150">
                      <a:solidFill>
                        <a:srgbClr val="D8DEE6"/>
                      </a:solidFill>
                      <a:prstDash val="solid"/>
                      <a:round/>
                      <a:headEnd len="sm" w="sm" type="none"/>
                      <a:tailEnd len="sm" w="sm" type="none"/>
                    </a:lnB>
                    <a:solidFill>
                      <a:srgbClr val="FFFFFF"/>
                    </a:solidFill>
                  </a:tcPr>
                </a:tc>
              </a:tr>
            </a:tbl>
          </a:graphicData>
        </a:graphic>
      </p:graphicFrame>
      <p:sp>
        <p:nvSpPr>
          <p:cNvPr id="2030" name="Google Shape;2030;p74"/>
          <p:cNvSpPr/>
          <p:nvPr/>
        </p:nvSpPr>
        <p:spPr>
          <a:xfrm>
            <a:off x="480060" y="353187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7C86"/>
              </a:buClr>
              <a:buSzPts val="1200"/>
              <a:buFont typeface="Calibri"/>
              <a:buNone/>
            </a:pPr>
            <a:r>
              <a:rPr b="1" i="0" lang="en" sz="1200" u="none" cap="none" strike="noStrike">
                <a:solidFill>
                  <a:srgbClr val="0E7C86"/>
                </a:solidFill>
                <a:latin typeface="Calibri"/>
                <a:ea typeface="Calibri"/>
                <a:cs typeface="Calibri"/>
                <a:sym typeface="Calibri"/>
              </a:rPr>
              <a:t>Key takeaway</a:t>
            </a:r>
            <a:endParaRPr b="0" i="0" sz="1200" u="none" cap="none" strike="noStrike">
              <a:solidFill>
                <a:schemeClr val="dk1"/>
              </a:solidFill>
              <a:latin typeface="Calibri"/>
              <a:ea typeface="Calibri"/>
              <a:cs typeface="Calibri"/>
              <a:sym typeface="Calibri"/>
            </a:endParaRPr>
          </a:p>
        </p:txBody>
      </p:sp>
      <p:sp>
        <p:nvSpPr>
          <p:cNvPr id="2031" name="Google Shape;2031;p74"/>
          <p:cNvSpPr/>
          <p:nvPr/>
        </p:nvSpPr>
        <p:spPr>
          <a:xfrm>
            <a:off x="480060" y="3840480"/>
            <a:ext cx="8160900" cy="68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000"/>
              <a:buFont typeface="Calibri"/>
              <a:buNone/>
            </a:pPr>
            <a:r>
              <a:rPr b="0" i="0" lang="en" sz="1000" u="none" cap="none" strike="noStrike">
                <a:solidFill>
                  <a:srgbClr val="475569"/>
                </a:solidFill>
                <a:latin typeface="Calibri"/>
                <a:ea typeface="Calibri"/>
                <a:cs typeface="Calibri"/>
                <a:sym typeface="Calibri"/>
              </a:rPr>
              <a:t>Architecture choice is a product and cost decision, not just a modeling one. Start from the task shape - are you scoring, generating, or transforming text - then match the architecture, and only then pick a specific model within that family.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6" name="Shape 2036"/>
        <p:cNvGrpSpPr/>
        <p:nvPr/>
      </p:nvGrpSpPr>
      <p:grpSpPr>
        <a:xfrm>
          <a:off x="0" y="0"/>
          <a:ext cx="0" cy="0"/>
          <a:chOff x="0" y="0"/>
          <a:chExt cx="0" cy="0"/>
        </a:xfrm>
      </p:grpSpPr>
      <p:sp>
        <p:nvSpPr>
          <p:cNvPr id="2037" name="Google Shape;2037;p75"/>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5</a:t>
            </a:r>
            <a:endParaRPr b="0" i="0" sz="2600" u="none" cap="none" strike="noStrike">
              <a:solidFill>
                <a:schemeClr val="dk1"/>
              </a:solidFill>
              <a:latin typeface="Calibri"/>
              <a:ea typeface="Calibri"/>
              <a:cs typeface="Calibri"/>
              <a:sym typeface="Calibri"/>
            </a:endParaRPr>
          </a:p>
        </p:txBody>
      </p:sp>
      <p:pic>
        <p:nvPicPr>
          <p:cNvPr id="2038" name="Google Shape;2038;p75"/>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2039" name="Google Shape;2039;p75"/>
          <p:cNvSpPr txBox="1"/>
          <p:nvPr/>
        </p:nvSpPr>
        <p:spPr>
          <a:xfrm>
            <a:off x="320100" y="867175"/>
            <a:ext cx="7133700" cy="306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Your company is building a system that needs to answer customer questions by pulling in relevant support documents and producing a grounded, well-formed answer paragraph. Based on the deployment considerations and decision framework from the slides, which architecture fits best, and why? </a:t>
            </a:r>
            <a:endParaRPr sz="1100">
              <a:solidFill>
                <a:schemeClr val="dk1"/>
              </a:solidFill>
            </a:endParaRPr>
          </a:p>
          <a:p>
            <a:pPr indent="0" lvl="0" marL="0" rtl="0" algn="l">
              <a:spcBef>
                <a:spcPts val="1200"/>
              </a:spcBef>
              <a:spcAft>
                <a:spcPts val="0"/>
              </a:spcAft>
              <a:buNone/>
            </a:pPr>
            <a:r>
              <a:rPr b="1" lang="en" sz="1100">
                <a:solidFill>
                  <a:schemeClr val="dk1"/>
                </a:solidFill>
              </a:rPr>
              <a:t>A)</a:t>
            </a:r>
            <a:r>
              <a:rPr lang="en" sz="1100">
                <a:solidFill>
                  <a:schemeClr val="dk1"/>
                </a:solidFill>
              </a:rPr>
              <a:t> </a:t>
            </a:r>
            <a:r>
              <a:rPr b="1" lang="en" sz="1100">
                <a:solidFill>
                  <a:schemeClr val="dk1"/>
                </a:solidFill>
              </a:rPr>
              <a:t>Encoder-only</a:t>
            </a:r>
            <a:r>
              <a:rPr lang="en" sz="1100">
                <a:solidFill>
                  <a:schemeClr val="dk1"/>
                </a:solidFill>
              </a:rPr>
              <a:t> — because the system needs to "understand" the support documents, and encoder-only models are purpose-built for understanding, not generation.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B)</a:t>
            </a:r>
            <a:r>
              <a:rPr lang="en" sz="1100">
                <a:solidFill>
                  <a:schemeClr val="dk1"/>
                </a:solidFill>
              </a:rPr>
              <a:t> </a:t>
            </a:r>
            <a:r>
              <a:rPr b="1" lang="en" sz="1100">
                <a:solidFill>
                  <a:schemeClr val="dk1"/>
                </a:solidFill>
              </a:rPr>
              <a:t>Decoder-only</a:t>
            </a:r>
            <a:r>
              <a:rPr lang="en" sz="1100">
                <a:solidFill>
                  <a:schemeClr val="dk1"/>
                </a:solidFill>
              </a:rPr>
              <a:t> — because the final output is generated text (an answer paragraph), and decoder-only models are the most flexible at open-ended generation.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a:t>
            </a:r>
            <a:r>
              <a:rPr lang="en" sz="1100">
                <a:solidFill>
                  <a:schemeClr val="dk1"/>
                </a:solidFill>
              </a:rPr>
              <a:t> </a:t>
            </a:r>
            <a:r>
              <a:rPr b="1" lang="en" sz="1100">
                <a:solidFill>
                  <a:schemeClr val="dk1"/>
                </a:solidFill>
              </a:rPr>
              <a:t>Encoder-decoder</a:t>
            </a:r>
            <a:r>
              <a:rPr lang="en" sz="1100">
                <a:solidFill>
                  <a:schemeClr val="dk1"/>
                </a:solidFill>
              </a:rPr>
              <a:t> — because this is a Retrieval-Augmented QA task, which the slides explicitly list as a production use case for encoder-decoder models: the encoder reads and represents the retrieved context, and the decoder generates the answer while attending back to it via cross-attention.</a:t>
            </a:r>
            <a:endParaRPr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D)</a:t>
            </a:r>
            <a:r>
              <a:rPr lang="en" sz="1100">
                <a:solidFill>
                  <a:schemeClr val="dk1"/>
                </a:solidFill>
              </a:rPr>
              <a:t> Any of the three would work equally well, since "Pick it when..." in the decision table is just a suggestion, not a real constraint.</a:t>
            </a:r>
            <a:endParaRPr sz="1100">
              <a:solidFill>
                <a:schemeClr val="dk1"/>
              </a:solidFill>
            </a:endParaRPr>
          </a:p>
        </p:txBody>
      </p:sp>
      <p:pic>
        <p:nvPicPr>
          <p:cNvPr id="2040" name="Google Shape;2040;p75"/>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5" name="Shape 2045"/>
        <p:cNvGrpSpPr/>
        <p:nvPr/>
      </p:nvGrpSpPr>
      <p:grpSpPr>
        <a:xfrm>
          <a:off x="0" y="0"/>
          <a:ext cx="0" cy="0"/>
          <a:chOff x="0" y="0"/>
          <a:chExt cx="0" cy="0"/>
        </a:xfrm>
      </p:grpSpPr>
      <p:sp>
        <p:nvSpPr>
          <p:cNvPr id="2046" name="Google Shape;2046;p76"/>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5</a:t>
            </a:r>
            <a:endParaRPr b="0" i="0" sz="2600" u="none" cap="none" strike="noStrike">
              <a:solidFill>
                <a:schemeClr val="dk1"/>
              </a:solidFill>
              <a:latin typeface="Calibri"/>
              <a:ea typeface="Calibri"/>
              <a:cs typeface="Calibri"/>
              <a:sym typeface="Calibri"/>
            </a:endParaRPr>
          </a:p>
        </p:txBody>
      </p:sp>
      <p:pic>
        <p:nvPicPr>
          <p:cNvPr id="2047" name="Google Shape;2047;p76"/>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2048" name="Google Shape;2048;p76"/>
          <p:cNvSpPr txBox="1"/>
          <p:nvPr/>
        </p:nvSpPr>
        <p:spPr>
          <a:xfrm>
            <a:off x="320100" y="867175"/>
            <a:ext cx="7133700" cy="306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Your company is building a system that needs to answer customer questions by pulling in relevant support documents and producing a grounded, well-formed answer paragraph. Based on the deployment considerations and decision framework from the slides, which architecture fits best, and why? </a:t>
            </a:r>
            <a:endParaRPr sz="1100">
              <a:solidFill>
                <a:schemeClr val="dk1"/>
              </a:solidFill>
            </a:endParaRPr>
          </a:p>
          <a:p>
            <a:pPr indent="0" lvl="0" marL="0" rtl="0" algn="l">
              <a:spcBef>
                <a:spcPts val="1200"/>
              </a:spcBef>
              <a:spcAft>
                <a:spcPts val="0"/>
              </a:spcAft>
              <a:buNone/>
            </a:pPr>
            <a:r>
              <a:rPr b="1" lang="en" sz="1100">
                <a:solidFill>
                  <a:schemeClr val="dk1"/>
                </a:solidFill>
              </a:rPr>
              <a:t>A)</a:t>
            </a:r>
            <a:r>
              <a:rPr lang="en" sz="1100">
                <a:solidFill>
                  <a:schemeClr val="dk1"/>
                </a:solidFill>
              </a:rPr>
              <a:t> </a:t>
            </a:r>
            <a:r>
              <a:rPr b="1" lang="en" sz="1100">
                <a:solidFill>
                  <a:schemeClr val="dk1"/>
                </a:solidFill>
              </a:rPr>
              <a:t>Encoder-only</a:t>
            </a:r>
            <a:r>
              <a:rPr lang="en" sz="1100">
                <a:solidFill>
                  <a:schemeClr val="dk1"/>
                </a:solidFill>
              </a:rPr>
              <a:t> — because the system needs to "understand" the support documents, and encoder-only models are purpose-built for understanding, not generation.</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B)</a:t>
            </a:r>
            <a:r>
              <a:rPr lang="en" sz="1100">
                <a:solidFill>
                  <a:schemeClr val="dk1"/>
                </a:solidFill>
              </a:rPr>
              <a:t> </a:t>
            </a:r>
            <a:r>
              <a:rPr b="1" lang="en" sz="1100">
                <a:solidFill>
                  <a:schemeClr val="dk1"/>
                </a:solidFill>
              </a:rPr>
              <a:t>Decoder-only</a:t>
            </a:r>
            <a:r>
              <a:rPr lang="en" sz="1100">
                <a:solidFill>
                  <a:schemeClr val="dk1"/>
                </a:solidFill>
              </a:rPr>
              <a:t> — because the final output is generated text (an answer paragraph), and decoder-only models are the most flexible at open-ended generation.</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C)</a:t>
            </a:r>
            <a:r>
              <a:rPr lang="en" sz="1100">
                <a:solidFill>
                  <a:schemeClr val="dk1"/>
                </a:solidFill>
              </a:rPr>
              <a:t> </a:t>
            </a:r>
            <a:r>
              <a:rPr b="1" lang="en" sz="1100">
                <a:solidFill>
                  <a:schemeClr val="dk1"/>
                </a:solidFill>
              </a:rPr>
              <a:t>Encoder-decoder</a:t>
            </a:r>
            <a:r>
              <a:rPr lang="en" sz="1100">
                <a:solidFill>
                  <a:schemeClr val="dk1"/>
                </a:solidFill>
              </a:rPr>
              <a:t> — because this is a Retrieval-Augmented QA task, which the slides explicitly list as a production use case for encoder-decoder models: the encoder reads and represents the retrieved context, and the decoder generates the answer while attending back to it via cross-attention.</a:t>
            </a:r>
            <a:endParaRPr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D)</a:t>
            </a:r>
            <a:r>
              <a:rPr lang="en" sz="1100">
                <a:solidFill>
                  <a:schemeClr val="dk1"/>
                </a:solidFill>
              </a:rPr>
              <a:t> Any of the three would work equally well, since "Pick it when..." in the decision table is just a suggestion, not a real constraint.</a:t>
            </a:r>
            <a:endParaRPr sz="1100">
              <a:solidFill>
                <a:schemeClr val="dk1"/>
              </a:solidFill>
            </a:endParaRPr>
          </a:p>
        </p:txBody>
      </p:sp>
      <p:sp>
        <p:nvSpPr>
          <p:cNvPr id="2049" name="Google Shape;2049;p76"/>
          <p:cNvSpPr txBox="1"/>
          <p:nvPr/>
        </p:nvSpPr>
        <p:spPr>
          <a:xfrm>
            <a:off x="63150" y="2702025"/>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pic>
        <p:nvPicPr>
          <p:cNvPr id="2050" name="Google Shape;2050;p76"/>
          <p:cNvPicPr preferRelativeResize="0"/>
          <p:nvPr/>
        </p:nvPicPr>
        <p:blipFill>
          <a:blip r:embed="rId5">
            <a:alphaModFix/>
          </a:blip>
          <a:stretch>
            <a:fillRect/>
          </a:stretch>
        </p:blipFill>
        <p:spPr>
          <a:xfrm>
            <a:off x="7387175" y="1301550"/>
            <a:ext cx="1756825" cy="2457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5" name="Shape 2055"/>
        <p:cNvGrpSpPr/>
        <p:nvPr/>
      </p:nvGrpSpPr>
      <p:grpSpPr>
        <a:xfrm>
          <a:off x="0" y="0"/>
          <a:ext cx="0" cy="0"/>
          <a:chOff x="0" y="0"/>
          <a:chExt cx="0" cy="0"/>
        </a:xfrm>
      </p:grpSpPr>
      <p:sp>
        <p:nvSpPr>
          <p:cNvPr id="2056" name="Google Shape;2056;p77"/>
          <p:cNvSpPr/>
          <p:nvPr/>
        </p:nvSpPr>
        <p:spPr>
          <a:xfrm>
            <a:off x="365760" y="164592"/>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A3D"/>
              </a:buClr>
              <a:buSzPts val="1800"/>
              <a:buFont typeface="Cambria"/>
              <a:buNone/>
            </a:pPr>
            <a:r>
              <a:rPr b="1" i="0" lang="en" sz="1800" u="none" cap="none" strike="noStrike">
                <a:solidFill>
                  <a:srgbClr val="0B2A3D"/>
                </a:solidFill>
                <a:latin typeface="Cambria"/>
                <a:ea typeface="Cambria"/>
                <a:cs typeface="Cambria"/>
                <a:sym typeface="Cambria"/>
              </a:rPr>
              <a:t>Quiz </a:t>
            </a:r>
            <a:r>
              <a:rPr b="1" lang="en" sz="1800">
                <a:solidFill>
                  <a:srgbClr val="0B2A3D"/>
                </a:solidFill>
                <a:latin typeface="Cambria"/>
                <a:ea typeface="Cambria"/>
                <a:cs typeface="Cambria"/>
                <a:sym typeface="Cambria"/>
              </a:rPr>
              <a:t>5</a:t>
            </a:r>
            <a:r>
              <a:rPr b="1" i="0" lang="en" sz="1800" u="none" cap="none" strike="noStrike">
                <a:solidFill>
                  <a:srgbClr val="0B2A3D"/>
                </a:solidFill>
                <a:latin typeface="Cambria"/>
                <a:ea typeface="Cambria"/>
                <a:cs typeface="Cambria"/>
                <a:sym typeface="Cambria"/>
              </a:rPr>
              <a:t> — Solution</a:t>
            </a:r>
            <a:endParaRPr b="0" i="0" sz="1800" u="none" cap="none" strike="noStrike">
              <a:solidFill>
                <a:schemeClr val="dk1"/>
              </a:solidFill>
              <a:latin typeface="Calibri"/>
              <a:ea typeface="Calibri"/>
              <a:cs typeface="Calibri"/>
              <a:sym typeface="Calibri"/>
            </a:endParaRPr>
          </a:p>
        </p:txBody>
      </p:sp>
      <p:sp>
        <p:nvSpPr>
          <p:cNvPr id="2057" name="Google Shape;2057;p77"/>
          <p:cNvSpPr/>
          <p:nvPr/>
        </p:nvSpPr>
        <p:spPr>
          <a:xfrm>
            <a:off x="365760" y="548640"/>
            <a:ext cx="8412600" cy="273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7"/>
          <p:cNvSpPr/>
          <p:nvPr/>
        </p:nvSpPr>
        <p:spPr>
          <a:xfrm>
            <a:off x="365760" y="607025"/>
            <a:ext cx="8412600" cy="27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8A94"/>
              </a:buClr>
              <a:buSzPts val="1050"/>
              <a:buFont typeface="Calibri"/>
              <a:buNone/>
            </a:pPr>
            <a:r>
              <a:rPr b="0" i="1" lang="en" sz="1050" u="none" cap="none" strike="noStrike">
                <a:solidFill>
                  <a:srgbClr val="6B8A94"/>
                </a:solidFill>
                <a:latin typeface="Calibri"/>
                <a:ea typeface="Calibri"/>
                <a:cs typeface="Calibri"/>
                <a:sym typeface="Calibri"/>
              </a:rPr>
              <a:t>Which </a:t>
            </a:r>
            <a:r>
              <a:rPr i="1" lang="en" sz="1050">
                <a:solidFill>
                  <a:srgbClr val="6B8A94"/>
                </a:solidFill>
                <a:latin typeface="Calibri"/>
                <a:ea typeface="Calibri"/>
                <a:cs typeface="Calibri"/>
                <a:sym typeface="Calibri"/>
              </a:rPr>
              <a:t>architecture </a:t>
            </a:r>
            <a:r>
              <a:rPr b="0" i="1" lang="en" sz="1050" u="none" cap="none" strike="noStrike">
                <a:solidFill>
                  <a:srgbClr val="6B8A94"/>
                </a:solidFill>
                <a:latin typeface="Calibri"/>
                <a:ea typeface="Calibri"/>
                <a:cs typeface="Calibri"/>
                <a:sym typeface="Calibri"/>
              </a:rPr>
              <a:t>should you pick, and why?</a:t>
            </a:r>
            <a:endParaRPr b="0" i="0" sz="1050" u="none" cap="none" strike="noStrike">
              <a:solidFill>
                <a:schemeClr val="dk1"/>
              </a:solidFill>
              <a:latin typeface="Calibri"/>
              <a:ea typeface="Calibri"/>
              <a:cs typeface="Calibri"/>
              <a:sym typeface="Calibri"/>
            </a:endParaRPr>
          </a:p>
        </p:txBody>
      </p:sp>
      <p:sp>
        <p:nvSpPr>
          <p:cNvPr id="2059" name="Google Shape;2059;p77"/>
          <p:cNvSpPr/>
          <p:nvPr/>
        </p:nvSpPr>
        <p:spPr>
          <a:xfrm>
            <a:off x="313000" y="880925"/>
            <a:ext cx="8465400" cy="7278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0" name="Google Shape;2060;p77"/>
          <p:cNvPicPr preferRelativeResize="0"/>
          <p:nvPr/>
        </p:nvPicPr>
        <p:blipFill rotWithShape="1">
          <a:blip r:embed="rId3">
            <a:alphaModFix/>
          </a:blip>
          <a:srcRect b="0" l="0" r="0" t="0"/>
          <a:stretch/>
        </p:blipFill>
        <p:spPr>
          <a:xfrm>
            <a:off x="464414" y="1011918"/>
            <a:ext cx="247769" cy="261985"/>
          </a:xfrm>
          <a:prstGeom prst="rect">
            <a:avLst/>
          </a:prstGeom>
          <a:noFill/>
          <a:ln>
            <a:noFill/>
          </a:ln>
        </p:spPr>
      </p:pic>
      <p:sp>
        <p:nvSpPr>
          <p:cNvPr id="2061" name="Google Shape;2061;p77"/>
          <p:cNvSpPr/>
          <p:nvPr/>
        </p:nvSpPr>
        <p:spPr>
          <a:xfrm>
            <a:off x="829185" y="953699"/>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A  </a:t>
            </a:r>
            <a:r>
              <a:rPr b="1" i="0" lang="en" sz="1400" u="none" cap="none" strike="noStrike">
                <a:solidFill>
                  <a:srgbClr val="1E293B"/>
                </a:solidFill>
                <a:latin typeface="Calibri"/>
                <a:ea typeface="Calibri"/>
                <a:cs typeface="Calibri"/>
                <a:sym typeface="Calibri"/>
              </a:rPr>
              <a:t>Encoder-only</a:t>
            </a:r>
            <a:endParaRPr b="0" i="0" sz="1400" u="none" cap="none" strike="noStrike">
              <a:solidFill>
                <a:srgbClr val="000000"/>
              </a:solidFill>
              <a:latin typeface="Calibri"/>
              <a:ea typeface="Calibri"/>
              <a:cs typeface="Calibri"/>
              <a:sym typeface="Calibri"/>
            </a:endParaRPr>
          </a:p>
        </p:txBody>
      </p:sp>
      <p:sp>
        <p:nvSpPr>
          <p:cNvPr id="2062" name="Google Shape;2062;p77"/>
          <p:cNvSpPr/>
          <p:nvPr/>
        </p:nvSpPr>
        <p:spPr>
          <a:xfrm>
            <a:off x="6748111" y="953699"/>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2063" name="Google Shape;2063;p77"/>
          <p:cNvSpPr/>
          <p:nvPr/>
        </p:nvSpPr>
        <p:spPr>
          <a:xfrm>
            <a:off x="829185" y="1186574"/>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Encoder-only models output contextual embeddings, not generated text — there's no mechanism here to write an answer paragraph at all.</a:t>
            </a:r>
            <a:endParaRPr b="0" i="0" sz="1150" u="none" cap="none" strike="noStrike">
              <a:solidFill>
                <a:srgbClr val="000000"/>
              </a:solidFill>
              <a:latin typeface="Calibri"/>
              <a:ea typeface="Calibri"/>
              <a:cs typeface="Calibri"/>
              <a:sym typeface="Calibri"/>
            </a:endParaRPr>
          </a:p>
        </p:txBody>
      </p:sp>
      <p:sp>
        <p:nvSpPr>
          <p:cNvPr id="2064" name="Google Shape;2064;p77"/>
          <p:cNvSpPr/>
          <p:nvPr/>
        </p:nvSpPr>
        <p:spPr>
          <a:xfrm>
            <a:off x="313000" y="1688712"/>
            <a:ext cx="8465400" cy="7278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5" name="Google Shape;2065;p77"/>
          <p:cNvPicPr preferRelativeResize="0"/>
          <p:nvPr/>
        </p:nvPicPr>
        <p:blipFill rotWithShape="1">
          <a:blip r:embed="rId3">
            <a:alphaModFix/>
          </a:blip>
          <a:srcRect b="0" l="0" r="0" t="0"/>
          <a:stretch/>
        </p:blipFill>
        <p:spPr>
          <a:xfrm>
            <a:off x="464414" y="1819705"/>
            <a:ext cx="247769" cy="261985"/>
          </a:xfrm>
          <a:prstGeom prst="rect">
            <a:avLst/>
          </a:prstGeom>
          <a:noFill/>
          <a:ln>
            <a:noFill/>
          </a:ln>
        </p:spPr>
      </p:pic>
      <p:sp>
        <p:nvSpPr>
          <p:cNvPr id="2066" name="Google Shape;2066;p77"/>
          <p:cNvSpPr/>
          <p:nvPr/>
        </p:nvSpPr>
        <p:spPr>
          <a:xfrm>
            <a:off x="829185" y="1761486"/>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B  </a:t>
            </a:r>
            <a:r>
              <a:rPr b="1" i="0" lang="en" sz="1400" u="none" cap="none" strike="noStrike">
                <a:solidFill>
                  <a:srgbClr val="1E293B"/>
                </a:solidFill>
                <a:latin typeface="Calibri"/>
                <a:ea typeface="Calibri"/>
                <a:cs typeface="Calibri"/>
                <a:sym typeface="Calibri"/>
              </a:rPr>
              <a:t>Decoder-only</a:t>
            </a:r>
            <a:endParaRPr b="0" i="0" sz="1400" u="none" cap="none" strike="noStrike">
              <a:solidFill>
                <a:srgbClr val="000000"/>
              </a:solidFill>
              <a:latin typeface="Calibri"/>
              <a:ea typeface="Calibri"/>
              <a:cs typeface="Calibri"/>
              <a:sym typeface="Calibri"/>
            </a:endParaRPr>
          </a:p>
        </p:txBody>
      </p:sp>
      <p:sp>
        <p:nvSpPr>
          <p:cNvPr id="2067" name="Google Shape;2067;p77"/>
          <p:cNvSpPr/>
          <p:nvPr/>
        </p:nvSpPr>
        <p:spPr>
          <a:xfrm>
            <a:off x="6748111" y="1761486"/>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2068" name="Google Shape;2068;p77"/>
          <p:cNvSpPr/>
          <p:nvPr/>
        </p:nvSpPr>
        <p:spPr>
          <a:xfrm>
            <a:off x="829185" y="1994362"/>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Tempting since the output is generated text — but this skips the input shape: documents and answer are distinct sequences, which is what encoder-decoder is built to transform.</a:t>
            </a:r>
            <a:endParaRPr b="0" i="0" sz="1150" u="none" cap="none" strike="noStrike">
              <a:solidFill>
                <a:srgbClr val="000000"/>
              </a:solidFill>
              <a:latin typeface="Calibri"/>
              <a:ea typeface="Calibri"/>
              <a:cs typeface="Calibri"/>
              <a:sym typeface="Calibri"/>
            </a:endParaRPr>
          </a:p>
        </p:txBody>
      </p:sp>
      <p:sp>
        <p:nvSpPr>
          <p:cNvPr id="2069" name="Google Shape;2069;p77"/>
          <p:cNvSpPr/>
          <p:nvPr/>
        </p:nvSpPr>
        <p:spPr>
          <a:xfrm>
            <a:off x="313000" y="2496500"/>
            <a:ext cx="8465400" cy="727800"/>
          </a:xfrm>
          <a:prstGeom prst="roundRect">
            <a:avLst>
              <a:gd fmla="val 7000" name="adj"/>
            </a:avLst>
          </a:prstGeom>
          <a:solidFill>
            <a:srgbClr val="EAF7F2"/>
          </a:solidFill>
          <a:ln cap="flat" cmpd="sng" w="15875">
            <a:solidFill>
              <a:srgbClr val="02C39A"/>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0" name="Google Shape;2070;p77"/>
          <p:cNvPicPr preferRelativeResize="0"/>
          <p:nvPr/>
        </p:nvPicPr>
        <p:blipFill rotWithShape="1">
          <a:blip r:embed="rId4">
            <a:alphaModFix/>
          </a:blip>
          <a:srcRect b="0" l="0" r="0" t="0"/>
          <a:stretch/>
        </p:blipFill>
        <p:spPr>
          <a:xfrm>
            <a:off x="464414" y="2627493"/>
            <a:ext cx="247769" cy="261985"/>
          </a:xfrm>
          <a:prstGeom prst="rect">
            <a:avLst/>
          </a:prstGeom>
          <a:noFill/>
          <a:ln>
            <a:noFill/>
          </a:ln>
        </p:spPr>
      </p:pic>
      <p:sp>
        <p:nvSpPr>
          <p:cNvPr id="2071" name="Google Shape;2071;p77"/>
          <p:cNvSpPr/>
          <p:nvPr/>
        </p:nvSpPr>
        <p:spPr>
          <a:xfrm>
            <a:off x="829185" y="2569274"/>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C  </a:t>
            </a:r>
            <a:r>
              <a:rPr b="1" i="0" lang="en" sz="1400" u="none" cap="none" strike="noStrike">
                <a:solidFill>
                  <a:srgbClr val="1E293B"/>
                </a:solidFill>
                <a:latin typeface="Calibri"/>
                <a:ea typeface="Calibri"/>
                <a:cs typeface="Calibri"/>
                <a:sym typeface="Calibri"/>
              </a:rPr>
              <a:t>Encoder-decoder</a:t>
            </a:r>
            <a:endParaRPr b="0" i="0" sz="1400" u="none" cap="none" strike="noStrike">
              <a:solidFill>
                <a:srgbClr val="000000"/>
              </a:solidFill>
              <a:latin typeface="Calibri"/>
              <a:ea typeface="Calibri"/>
              <a:cs typeface="Calibri"/>
              <a:sym typeface="Calibri"/>
            </a:endParaRPr>
          </a:p>
        </p:txBody>
      </p:sp>
      <p:sp>
        <p:nvSpPr>
          <p:cNvPr id="2072" name="Google Shape;2072;p77"/>
          <p:cNvSpPr/>
          <p:nvPr/>
        </p:nvSpPr>
        <p:spPr>
          <a:xfrm>
            <a:off x="6748111" y="2569274"/>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A896"/>
              </a:buClr>
              <a:buSzPts val="1200"/>
              <a:buFont typeface="Calibri"/>
              <a:buNone/>
            </a:pPr>
            <a:r>
              <a:rPr b="1" i="1" lang="en" sz="1200" u="none" cap="none" strike="noStrike">
                <a:solidFill>
                  <a:srgbClr val="00A896"/>
                </a:solidFill>
                <a:latin typeface="Calibri"/>
                <a:ea typeface="Calibri"/>
                <a:cs typeface="Calibri"/>
                <a:sym typeface="Calibri"/>
              </a:rPr>
              <a:t>Correct</a:t>
            </a:r>
            <a:endParaRPr b="0" i="0" sz="1200" u="none" cap="none" strike="noStrike">
              <a:solidFill>
                <a:srgbClr val="000000"/>
              </a:solidFill>
              <a:latin typeface="Calibri"/>
              <a:ea typeface="Calibri"/>
              <a:cs typeface="Calibri"/>
              <a:sym typeface="Calibri"/>
            </a:endParaRPr>
          </a:p>
        </p:txBody>
      </p:sp>
      <p:sp>
        <p:nvSpPr>
          <p:cNvPr id="2073" name="Google Shape;2073;p77"/>
          <p:cNvSpPr/>
          <p:nvPr/>
        </p:nvSpPr>
        <p:spPr>
          <a:xfrm>
            <a:off x="829185" y="2802149"/>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Retrieval-Augmented QA is listed directly as an encoder-decoder use case: the encoder reads the retrieved context, the decoder generates the answer while attending back via cross-attention.</a:t>
            </a:r>
            <a:endParaRPr b="0" i="0" sz="1150" u="none" cap="none" strike="noStrike">
              <a:solidFill>
                <a:srgbClr val="000000"/>
              </a:solidFill>
              <a:latin typeface="Calibri"/>
              <a:ea typeface="Calibri"/>
              <a:cs typeface="Calibri"/>
              <a:sym typeface="Calibri"/>
            </a:endParaRPr>
          </a:p>
        </p:txBody>
      </p:sp>
      <p:sp>
        <p:nvSpPr>
          <p:cNvPr id="2074" name="Google Shape;2074;p77"/>
          <p:cNvSpPr/>
          <p:nvPr/>
        </p:nvSpPr>
        <p:spPr>
          <a:xfrm>
            <a:off x="313000" y="3304287"/>
            <a:ext cx="8465400" cy="7278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63500" rotWithShape="0" algn="bl" dir="54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5" name="Google Shape;2075;p77"/>
          <p:cNvPicPr preferRelativeResize="0"/>
          <p:nvPr/>
        </p:nvPicPr>
        <p:blipFill rotWithShape="1">
          <a:blip r:embed="rId3">
            <a:alphaModFix/>
          </a:blip>
          <a:srcRect b="0" l="0" r="0" t="0"/>
          <a:stretch/>
        </p:blipFill>
        <p:spPr>
          <a:xfrm>
            <a:off x="464414" y="3435280"/>
            <a:ext cx="247769" cy="261985"/>
          </a:xfrm>
          <a:prstGeom prst="rect">
            <a:avLst/>
          </a:prstGeom>
          <a:noFill/>
          <a:ln>
            <a:noFill/>
          </a:ln>
        </p:spPr>
      </p:pic>
      <p:sp>
        <p:nvSpPr>
          <p:cNvPr id="2076" name="Google Shape;2076;p77"/>
          <p:cNvSpPr/>
          <p:nvPr/>
        </p:nvSpPr>
        <p:spPr>
          <a:xfrm>
            <a:off x="829185" y="3377061"/>
            <a:ext cx="6332100" cy="23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 sz="1400" u="none" cap="none" strike="noStrike">
                <a:solidFill>
                  <a:srgbClr val="028090"/>
                </a:solidFill>
                <a:latin typeface="Calibri"/>
                <a:ea typeface="Calibri"/>
                <a:cs typeface="Calibri"/>
                <a:sym typeface="Calibri"/>
              </a:rPr>
              <a:t>D  </a:t>
            </a:r>
            <a:r>
              <a:rPr b="1" i="0" lang="en" sz="1400" u="none" cap="none" strike="noStrike">
                <a:solidFill>
                  <a:srgbClr val="1E293B"/>
                </a:solidFill>
                <a:latin typeface="Calibri"/>
                <a:ea typeface="Calibri"/>
                <a:cs typeface="Calibri"/>
                <a:sym typeface="Calibri"/>
              </a:rPr>
              <a:t>Any of the three would work equally well</a:t>
            </a:r>
            <a:endParaRPr b="0" i="0" sz="1400" u="none" cap="none" strike="noStrike">
              <a:solidFill>
                <a:srgbClr val="000000"/>
              </a:solidFill>
              <a:latin typeface="Calibri"/>
              <a:ea typeface="Calibri"/>
              <a:cs typeface="Calibri"/>
              <a:sym typeface="Calibri"/>
            </a:endParaRPr>
          </a:p>
        </p:txBody>
      </p:sp>
      <p:sp>
        <p:nvSpPr>
          <p:cNvPr id="2077" name="Google Shape;2077;p77"/>
          <p:cNvSpPr/>
          <p:nvPr/>
        </p:nvSpPr>
        <p:spPr>
          <a:xfrm>
            <a:off x="6748111" y="3377061"/>
            <a:ext cx="1342200" cy="232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0392F"/>
              </a:buClr>
              <a:buSzPts val="1200"/>
              <a:buFont typeface="Calibri"/>
              <a:buNone/>
            </a:pPr>
            <a:r>
              <a:rPr b="1" i="1" lang="en" sz="1200" u="none" cap="none" strike="noStrike">
                <a:solidFill>
                  <a:srgbClr val="B0392F"/>
                </a:solidFill>
                <a:latin typeface="Calibri"/>
                <a:ea typeface="Calibri"/>
                <a:cs typeface="Calibri"/>
                <a:sym typeface="Calibri"/>
              </a:rPr>
              <a:t>Incorrect</a:t>
            </a:r>
            <a:endParaRPr b="0" i="0" sz="1200" u="none" cap="none" strike="noStrike">
              <a:solidFill>
                <a:srgbClr val="000000"/>
              </a:solidFill>
              <a:latin typeface="Calibri"/>
              <a:ea typeface="Calibri"/>
              <a:cs typeface="Calibri"/>
              <a:sym typeface="Calibri"/>
            </a:endParaRPr>
          </a:p>
        </p:txBody>
      </p:sp>
      <p:sp>
        <p:nvSpPr>
          <p:cNvPr id="2078" name="Google Shape;2078;p77"/>
          <p:cNvSpPr/>
          <p:nvPr/>
        </p:nvSpPr>
        <p:spPr>
          <a:xfrm>
            <a:off x="829185" y="3609937"/>
            <a:ext cx="7811700" cy="36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 sz="1150" u="none" cap="none" strike="noStrike">
                <a:solidFill>
                  <a:srgbClr val="64748B"/>
                </a:solidFill>
                <a:latin typeface="Calibri"/>
                <a:ea typeface="Calibri"/>
                <a:cs typeface="Calibri"/>
                <a:sym typeface="Calibri"/>
              </a:rPr>
              <a:t>The decision table maps task shape to architecture for a reason — input and output here are genuinely different sequences, which the framework assigns specifically to encoder-decoder.</a:t>
            </a:r>
            <a:endParaRPr b="0" i="0" sz="1150" u="none" cap="none" strike="noStrike">
              <a:solidFill>
                <a:srgbClr val="000000"/>
              </a:solidFill>
              <a:latin typeface="Calibri"/>
              <a:ea typeface="Calibri"/>
              <a:cs typeface="Calibri"/>
              <a:sym typeface="Calibri"/>
            </a:endParaRPr>
          </a:p>
        </p:txBody>
      </p:sp>
      <p:sp>
        <p:nvSpPr>
          <p:cNvPr id="2079" name="Google Shape;2079;p77"/>
          <p:cNvSpPr/>
          <p:nvPr/>
        </p:nvSpPr>
        <p:spPr>
          <a:xfrm>
            <a:off x="313000" y="4177571"/>
            <a:ext cx="8465400" cy="764100"/>
          </a:xfrm>
          <a:prstGeom prst="roundRect">
            <a:avLst>
              <a:gd fmla="val 7619"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0" name="Google Shape;2080;p77"/>
          <p:cNvPicPr preferRelativeResize="0"/>
          <p:nvPr/>
        </p:nvPicPr>
        <p:blipFill rotWithShape="1">
          <a:blip r:embed="rId5">
            <a:alphaModFix/>
          </a:blip>
          <a:srcRect b="0" l="0" r="0" t="0"/>
          <a:stretch/>
        </p:blipFill>
        <p:spPr>
          <a:xfrm>
            <a:off x="505709" y="4428640"/>
            <a:ext cx="247769" cy="261985"/>
          </a:xfrm>
          <a:prstGeom prst="rect">
            <a:avLst/>
          </a:prstGeom>
          <a:noFill/>
          <a:ln>
            <a:noFill/>
          </a:ln>
        </p:spPr>
      </p:pic>
      <p:sp>
        <p:nvSpPr>
          <p:cNvPr id="2081" name="Google Shape;2081;p77"/>
          <p:cNvSpPr/>
          <p:nvPr/>
        </p:nvSpPr>
        <p:spPr>
          <a:xfrm>
            <a:off x="877363" y="4206681"/>
            <a:ext cx="7777200" cy="7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 sz="1250" u="none" cap="none" strike="noStrike">
                <a:solidFill>
                  <a:srgbClr val="FFFFFF"/>
                </a:solidFill>
                <a:latin typeface="Calibri"/>
                <a:ea typeface="Calibri"/>
                <a:cs typeface="Calibri"/>
                <a:sym typeface="Calibri"/>
              </a:rPr>
              <a:t>Key Insight   </a:t>
            </a:r>
            <a:r>
              <a:rPr b="0" i="0" lang="en" sz="1250" u="none" cap="none" strike="noStrike">
                <a:solidFill>
                  <a:srgbClr val="EAF7F2"/>
                </a:solidFill>
                <a:latin typeface="Calibri"/>
                <a:ea typeface="Calibri"/>
                <a:cs typeface="Calibri"/>
                <a:sym typeface="Calibri"/>
              </a:rPr>
              <a:t>A generated answer doesn't automatically mean decoder-only. Match architecture to task shape, not output format — when input and output are distinct sequences (documents → answer), encoder-decoder's cross-attention is built exactly for that.</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086" name="Shape 2086"/>
        <p:cNvGrpSpPr/>
        <p:nvPr/>
      </p:nvGrpSpPr>
      <p:grpSpPr>
        <a:xfrm>
          <a:off x="0" y="0"/>
          <a:ext cx="0" cy="0"/>
          <a:chOff x="0" y="0"/>
          <a:chExt cx="0" cy="0"/>
        </a:xfrm>
      </p:grpSpPr>
      <p:sp>
        <p:nvSpPr>
          <p:cNvPr id="2087" name="Google Shape;2087;p78"/>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78"/>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Why Decoder-Only Became The Industry Standard</a:t>
            </a:r>
            <a:endParaRPr b="0" i="0" sz="2200" u="none" cap="none" strike="noStrike">
              <a:solidFill>
                <a:schemeClr val="dk1"/>
              </a:solidFill>
              <a:latin typeface="Calibri"/>
              <a:ea typeface="Calibri"/>
              <a:cs typeface="Calibri"/>
              <a:sym typeface="Calibri"/>
            </a:endParaRPr>
          </a:p>
        </p:txBody>
      </p:sp>
      <p:sp>
        <p:nvSpPr>
          <p:cNvPr id="2089" name="Google Shape;2089;p78"/>
          <p:cNvSpPr/>
          <p:nvPr/>
        </p:nvSpPr>
        <p:spPr>
          <a:xfrm>
            <a:off x="228600" y="868680"/>
            <a:ext cx="8686800" cy="694800"/>
          </a:xfrm>
          <a:prstGeom prst="roundRect">
            <a:avLst>
              <a:gd fmla="val 11842" name="adj"/>
            </a:avLst>
          </a:prstGeom>
          <a:solidFill>
            <a:srgbClr val="FFFFFF"/>
          </a:solidFill>
          <a:ln cap="flat" cmpd="sng" w="16500">
            <a:solidFill>
              <a:srgbClr val="00796B"/>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78"/>
          <p:cNvSpPr/>
          <p:nvPr/>
        </p:nvSpPr>
        <p:spPr>
          <a:xfrm>
            <a:off x="365760" y="1051560"/>
            <a:ext cx="347400" cy="347400"/>
          </a:xfrm>
          <a:prstGeom prst="ellipse">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78"/>
          <p:cNvSpPr/>
          <p:nvPr/>
        </p:nvSpPr>
        <p:spPr>
          <a:xfrm>
            <a:off x="365760" y="105156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092" name="Google Shape;2092;p78"/>
          <p:cNvSpPr/>
          <p:nvPr/>
        </p:nvSpPr>
        <p:spPr>
          <a:xfrm>
            <a:off x="841248" y="94183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250"/>
              <a:buFont typeface="Calibri"/>
              <a:buNone/>
            </a:pPr>
            <a:r>
              <a:rPr b="1" i="0" lang="en" sz="1250" u="none" cap="none" strike="noStrike">
                <a:solidFill>
                  <a:srgbClr val="00796B"/>
                </a:solidFill>
                <a:latin typeface="Calibri"/>
                <a:ea typeface="Calibri"/>
                <a:cs typeface="Calibri"/>
                <a:sym typeface="Calibri"/>
              </a:rPr>
              <a:t>CLM Does Almost Everything</a:t>
            </a:r>
            <a:endParaRPr b="0" i="0" sz="1250" u="none" cap="none" strike="noStrike">
              <a:solidFill>
                <a:schemeClr val="dk1"/>
              </a:solidFill>
              <a:latin typeface="Calibri"/>
              <a:ea typeface="Calibri"/>
              <a:cs typeface="Calibri"/>
              <a:sym typeface="Calibri"/>
            </a:endParaRPr>
          </a:p>
        </p:txBody>
      </p:sp>
      <p:sp>
        <p:nvSpPr>
          <p:cNvPr id="2093" name="Google Shape;2093;p78"/>
          <p:cNvSpPr/>
          <p:nvPr/>
        </p:nvSpPr>
        <p:spPr>
          <a:xfrm>
            <a:off x="3794760" y="960120"/>
            <a:ext cx="4983600" cy="512100"/>
          </a:xfrm>
          <a:prstGeom prst="roundRect">
            <a:avLst>
              <a:gd fmla="val 10714" name="adj"/>
            </a:avLst>
          </a:prstGeom>
          <a:solidFill>
            <a:srgbClr val="E8F5F0"/>
          </a:solidFill>
          <a:ln cap="flat" cmpd="sng" w="9525">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78"/>
          <p:cNvSpPr/>
          <p:nvPr/>
        </p:nvSpPr>
        <p:spPr>
          <a:xfrm>
            <a:off x="3913632" y="97840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Predicting the next token, at scale, implicitly learns classification, translation, summarization, and reasoning — no separate task heads needed.</a:t>
            </a:r>
            <a:endParaRPr b="0" i="0" sz="930" u="none" cap="none" strike="noStrike">
              <a:solidFill>
                <a:schemeClr val="dk1"/>
              </a:solidFill>
              <a:latin typeface="Calibri"/>
              <a:ea typeface="Calibri"/>
              <a:cs typeface="Calibri"/>
              <a:sym typeface="Calibri"/>
            </a:endParaRPr>
          </a:p>
        </p:txBody>
      </p:sp>
      <p:sp>
        <p:nvSpPr>
          <p:cNvPr id="2095" name="Google Shape;2095;p78"/>
          <p:cNvSpPr/>
          <p:nvPr/>
        </p:nvSpPr>
        <p:spPr>
          <a:xfrm>
            <a:off x="228600" y="1645920"/>
            <a:ext cx="8686800" cy="694800"/>
          </a:xfrm>
          <a:prstGeom prst="roundRect">
            <a:avLst>
              <a:gd fmla="val 11842" name="adj"/>
            </a:avLst>
          </a:prstGeom>
          <a:solidFill>
            <a:srgbClr val="FFFFFF"/>
          </a:solidFill>
          <a:ln cap="flat" cmpd="sng" w="16500">
            <a:solidFill>
              <a:srgbClr val="6A1B9A"/>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78"/>
          <p:cNvSpPr/>
          <p:nvPr/>
        </p:nvSpPr>
        <p:spPr>
          <a:xfrm>
            <a:off x="365760" y="1828800"/>
            <a:ext cx="347400" cy="347400"/>
          </a:xfrm>
          <a:prstGeom prst="ellipse">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78"/>
          <p:cNvSpPr/>
          <p:nvPr/>
        </p:nvSpPr>
        <p:spPr>
          <a:xfrm>
            <a:off x="365760" y="182880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098" name="Google Shape;2098;p78"/>
          <p:cNvSpPr/>
          <p:nvPr/>
        </p:nvSpPr>
        <p:spPr>
          <a:xfrm>
            <a:off x="841248" y="171907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50"/>
              <a:buFont typeface="Calibri"/>
              <a:buNone/>
            </a:pPr>
            <a:r>
              <a:rPr b="1" i="0" lang="en" sz="1250" u="none" cap="none" strike="noStrike">
                <a:solidFill>
                  <a:srgbClr val="6A1B9A"/>
                </a:solidFill>
                <a:latin typeface="Calibri"/>
                <a:ea typeface="Calibri"/>
                <a:cs typeface="Calibri"/>
                <a:sym typeface="Calibri"/>
              </a:rPr>
              <a:t>Prompting Replaced Fine-Tuning</a:t>
            </a:r>
            <a:endParaRPr b="0" i="0" sz="1250" u="none" cap="none" strike="noStrike">
              <a:solidFill>
                <a:schemeClr val="dk1"/>
              </a:solidFill>
              <a:latin typeface="Calibri"/>
              <a:ea typeface="Calibri"/>
              <a:cs typeface="Calibri"/>
              <a:sym typeface="Calibri"/>
            </a:endParaRPr>
          </a:p>
        </p:txBody>
      </p:sp>
      <p:sp>
        <p:nvSpPr>
          <p:cNvPr id="2099" name="Google Shape;2099;p78"/>
          <p:cNvSpPr/>
          <p:nvPr/>
        </p:nvSpPr>
        <p:spPr>
          <a:xfrm>
            <a:off x="3794760" y="1737360"/>
            <a:ext cx="4983600" cy="512100"/>
          </a:xfrm>
          <a:prstGeom prst="roundRect">
            <a:avLst>
              <a:gd fmla="val 10714" name="adj"/>
            </a:avLst>
          </a:prstGeom>
          <a:solidFill>
            <a:srgbClr val="F3E5F5"/>
          </a:solidFill>
          <a:ln cap="flat" cmpd="sng" w="9525">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78"/>
          <p:cNvSpPr/>
          <p:nvPr/>
        </p:nvSpPr>
        <p:spPr>
          <a:xfrm>
            <a:off x="3913632" y="175564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One pretrained model handles every new task via a prompt — no labeled data, no architecture change, no per-task fine-tuning.</a:t>
            </a:r>
            <a:endParaRPr b="0" i="0" sz="930" u="none" cap="none" strike="noStrike">
              <a:solidFill>
                <a:schemeClr val="dk1"/>
              </a:solidFill>
              <a:latin typeface="Calibri"/>
              <a:ea typeface="Calibri"/>
              <a:cs typeface="Calibri"/>
              <a:sym typeface="Calibri"/>
            </a:endParaRPr>
          </a:p>
        </p:txBody>
      </p:sp>
      <p:sp>
        <p:nvSpPr>
          <p:cNvPr id="2101" name="Google Shape;2101;p78"/>
          <p:cNvSpPr/>
          <p:nvPr/>
        </p:nvSpPr>
        <p:spPr>
          <a:xfrm>
            <a:off x="228600" y="2423160"/>
            <a:ext cx="8686800" cy="694800"/>
          </a:xfrm>
          <a:prstGeom prst="roundRect">
            <a:avLst>
              <a:gd fmla="val 11842" name="adj"/>
            </a:avLst>
          </a:prstGeom>
          <a:solidFill>
            <a:srgbClr val="FFFFFF"/>
          </a:solidFill>
          <a:ln cap="flat" cmpd="sng" w="16500">
            <a:solidFill>
              <a:srgbClr val="1565C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78"/>
          <p:cNvSpPr/>
          <p:nvPr/>
        </p:nvSpPr>
        <p:spPr>
          <a:xfrm>
            <a:off x="365760" y="2606040"/>
            <a:ext cx="347400" cy="3474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78"/>
          <p:cNvSpPr/>
          <p:nvPr/>
        </p:nvSpPr>
        <p:spPr>
          <a:xfrm>
            <a:off x="365760" y="260604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104" name="Google Shape;2104;p78"/>
          <p:cNvSpPr/>
          <p:nvPr/>
        </p:nvSpPr>
        <p:spPr>
          <a:xfrm>
            <a:off x="841248" y="249631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250"/>
              <a:buFont typeface="Calibri"/>
              <a:buNone/>
            </a:pPr>
            <a:r>
              <a:rPr b="1" i="0" lang="en" sz="1250" u="none" cap="none" strike="noStrike">
                <a:solidFill>
                  <a:srgbClr val="1565C0"/>
                </a:solidFill>
                <a:latin typeface="Calibri"/>
                <a:ea typeface="Calibri"/>
                <a:cs typeface="Calibri"/>
                <a:sym typeface="Calibri"/>
              </a:rPr>
              <a:t>Simpler Architecture, Cleaner Scaling Laws</a:t>
            </a:r>
            <a:endParaRPr b="0" i="0" sz="1250" u="none" cap="none" strike="noStrike">
              <a:solidFill>
                <a:schemeClr val="dk1"/>
              </a:solidFill>
              <a:latin typeface="Calibri"/>
              <a:ea typeface="Calibri"/>
              <a:cs typeface="Calibri"/>
              <a:sym typeface="Calibri"/>
            </a:endParaRPr>
          </a:p>
        </p:txBody>
      </p:sp>
      <p:sp>
        <p:nvSpPr>
          <p:cNvPr id="2105" name="Google Shape;2105;p78"/>
          <p:cNvSpPr/>
          <p:nvPr/>
        </p:nvSpPr>
        <p:spPr>
          <a:xfrm>
            <a:off x="3794760" y="2514600"/>
            <a:ext cx="4983600" cy="512100"/>
          </a:xfrm>
          <a:prstGeom prst="roundRect">
            <a:avLst>
              <a:gd fmla="val 10714" name="adj"/>
            </a:avLst>
          </a:prstGeom>
          <a:solidFill>
            <a:srgbClr val="EBF2FB"/>
          </a:solidFill>
          <a:ln cap="flat" cmpd="sng" w="9525">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78"/>
          <p:cNvSpPr/>
          <p:nvPr/>
        </p:nvSpPr>
        <p:spPr>
          <a:xfrm>
            <a:off x="3913632" y="253288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Just one stack (masked self-attn + FFN) repeated N times. This uniformity made Chinchilla/Kaplan-style scaling laws clean and predictable.</a:t>
            </a:r>
            <a:endParaRPr b="0" i="0" sz="930" u="none" cap="none" strike="noStrike">
              <a:solidFill>
                <a:schemeClr val="dk1"/>
              </a:solidFill>
              <a:latin typeface="Calibri"/>
              <a:ea typeface="Calibri"/>
              <a:cs typeface="Calibri"/>
              <a:sym typeface="Calibri"/>
            </a:endParaRPr>
          </a:p>
        </p:txBody>
      </p:sp>
      <p:sp>
        <p:nvSpPr>
          <p:cNvPr id="2107" name="Google Shape;2107;p78"/>
          <p:cNvSpPr/>
          <p:nvPr/>
        </p:nvSpPr>
        <p:spPr>
          <a:xfrm>
            <a:off x="228600" y="3200400"/>
            <a:ext cx="8686800" cy="694800"/>
          </a:xfrm>
          <a:prstGeom prst="roundRect">
            <a:avLst>
              <a:gd fmla="val 11842" name="adj"/>
            </a:avLst>
          </a:prstGeom>
          <a:solidFill>
            <a:srgbClr val="FFFFFF"/>
          </a:solidFill>
          <a:ln cap="flat" cmpd="sng" w="1650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78"/>
          <p:cNvSpPr/>
          <p:nvPr/>
        </p:nvSpPr>
        <p:spPr>
          <a:xfrm>
            <a:off x="365760" y="3383280"/>
            <a:ext cx="347400" cy="347400"/>
          </a:xfrm>
          <a:prstGeom prst="ellipse">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78"/>
          <p:cNvSpPr/>
          <p:nvPr/>
        </p:nvSpPr>
        <p:spPr>
          <a:xfrm>
            <a:off x="365760" y="338328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2110" name="Google Shape;2110;p78"/>
          <p:cNvSpPr/>
          <p:nvPr/>
        </p:nvSpPr>
        <p:spPr>
          <a:xfrm>
            <a:off x="841248" y="327355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250"/>
              <a:buFont typeface="Calibri"/>
              <a:buNone/>
            </a:pPr>
            <a:r>
              <a:rPr b="1" i="0" lang="en" sz="1250" u="none" cap="none" strike="noStrike">
                <a:solidFill>
                  <a:srgbClr val="E65100"/>
                </a:solidFill>
                <a:latin typeface="Calibri"/>
                <a:ea typeface="Calibri"/>
                <a:cs typeface="Calibri"/>
                <a:sym typeface="Calibri"/>
              </a:rPr>
              <a:t>No Fixed Input/Output Split</a:t>
            </a:r>
            <a:endParaRPr b="0" i="0" sz="1250" u="none" cap="none" strike="noStrike">
              <a:solidFill>
                <a:schemeClr val="dk1"/>
              </a:solidFill>
              <a:latin typeface="Calibri"/>
              <a:ea typeface="Calibri"/>
              <a:cs typeface="Calibri"/>
              <a:sym typeface="Calibri"/>
            </a:endParaRPr>
          </a:p>
        </p:txBody>
      </p:sp>
      <p:sp>
        <p:nvSpPr>
          <p:cNvPr id="2111" name="Google Shape;2111;p78"/>
          <p:cNvSpPr/>
          <p:nvPr/>
        </p:nvSpPr>
        <p:spPr>
          <a:xfrm>
            <a:off x="3794760" y="3291840"/>
            <a:ext cx="4983600" cy="512100"/>
          </a:xfrm>
          <a:prstGeom prst="roundRect">
            <a:avLst>
              <a:gd fmla="val 10714" name="adj"/>
            </a:avLst>
          </a:prstGeom>
          <a:solidFill>
            <a:srgbClr val="FFF3E0"/>
          </a:solidFill>
          <a:ln cap="flat" cmpd="sng" w="95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78"/>
          <p:cNvSpPr/>
          <p:nvPr/>
        </p:nvSpPr>
        <p:spPr>
          <a:xfrm>
            <a:off x="3913632" y="331012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Chat, multi-turn dialogue, and chain-of-thought reasoning don't fit a clean source→target mold — decoder-only's single growing sequence handles all of them naturally.</a:t>
            </a:r>
            <a:endParaRPr b="0" i="0" sz="930" u="none" cap="none" strike="noStrike">
              <a:solidFill>
                <a:schemeClr val="dk1"/>
              </a:solidFill>
              <a:latin typeface="Calibri"/>
              <a:ea typeface="Calibri"/>
              <a:cs typeface="Calibri"/>
              <a:sym typeface="Calibri"/>
            </a:endParaRPr>
          </a:p>
        </p:txBody>
      </p:sp>
      <p:sp>
        <p:nvSpPr>
          <p:cNvPr id="2113" name="Google Shape;2113;p78"/>
          <p:cNvSpPr/>
          <p:nvPr/>
        </p:nvSpPr>
        <p:spPr>
          <a:xfrm>
            <a:off x="228600" y="3977640"/>
            <a:ext cx="8686800" cy="694800"/>
          </a:xfrm>
          <a:prstGeom prst="roundRect">
            <a:avLst>
              <a:gd fmla="val 11842" name="adj"/>
            </a:avLst>
          </a:prstGeom>
          <a:solidFill>
            <a:srgbClr val="FFFFFF"/>
          </a:solidFill>
          <a:ln cap="flat" cmpd="sng" w="16500">
            <a:solidFill>
              <a:srgbClr val="2E7D32"/>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78"/>
          <p:cNvSpPr/>
          <p:nvPr/>
        </p:nvSpPr>
        <p:spPr>
          <a:xfrm>
            <a:off x="365760" y="4160520"/>
            <a:ext cx="347400" cy="347400"/>
          </a:xfrm>
          <a:prstGeom prst="ellipse">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78"/>
          <p:cNvSpPr/>
          <p:nvPr/>
        </p:nvSpPr>
        <p:spPr>
          <a:xfrm>
            <a:off x="365760" y="4160520"/>
            <a:ext cx="3474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2116" name="Google Shape;2116;p78"/>
          <p:cNvSpPr/>
          <p:nvPr/>
        </p:nvSpPr>
        <p:spPr>
          <a:xfrm>
            <a:off x="841248" y="4050792"/>
            <a:ext cx="2834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250"/>
              <a:buFont typeface="Calibri"/>
              <a:buNone/>
            </a:pPr>
            <a:r>
              <a:rPr b="1" i="0" lang="en" sz="1250" u="none" cap="none" strike="noStrike">
                <a:solidFill>
                  <a:srgbClr val="2E7D32"/>
                </a:solidFill>
                <a:latin typeface="Calibri"/>
                <a:ea typeface="Calibri"/>
                <a:cs typeface="Calibri"/>
                <a:sym typeface="Calibri"/>
              </a:rPr>
              <a:t>Cross-Attention's Edge Stopped Mattering</a:t>
            </a:r>
            <a:endParaRPr b="0" i="0" sz="1250" u="none" cap="none" strike="noStrike">
              <a:solidFill>
                <a:schemeClr val="dk1"/>
              </a:solidFill>
              <a:latin typeface="Calibri"/>
              <a:ea typeface="Calibri"/>
              <a:cs typeface="Calibri"/>
              <a:sym typeface="Calibri"/>
            </a:endParaRPr>
          </a:p>
        </p:txBody>
      </p:sp>
      <p:sp>
        <p:nvSpPr>
          <p:cNvPr id="2117" name="Google Shape;2117;p78"/>
          <p:cNvSpPr/>
          <p:nvPr/>
        </p:nvSpPr>
        <p:spPr>
          <a:xfrm>
            <a:off x="3794760" y="4069080"/>
            <a:ext cx="4983600" cy="512100"/>
          </a:xfrm>
          <a:prstGeom prst="roundRect">
            <a:avLst>
              <a:gd fmla="val 10714" name="adj"/>
            </a:avLst>
          </a:prstGeom>
          <a:solidFill>
            <a:srgbClr val="E8F5E9"/>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78"/>
          <p:cNvSpPr/>
          <p:nvPr/>
        </p:nvSpPr>
        <p:spPr>
          <a:xfrm>
            <a:off x="3913632" y="4087368"/>
            <a:ext cx="47550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0" i="0" lang="en" sz="930" u="none" cap="none" strike="noStrike">
                <a:solidFill>
                  <a:srgbClr val="1A1A2E"/>
                </a:solidFill>
                <a:latin typeface="Calibri"/>
                <a:ea typeface="Calibri"/>
                <a:cs typeface="Calibri"/>
                <a:sym typeface="Calibri"/>
              </a:rPr>
              <a:t>Encoder-decoder's one real efficiency win — reusing a fixed encoded source — only helps when there IS a fixed source. Open-ended chat has none.</a:t>
            </a:r>
            <a:endParaRPr b="0" i="0" sz="93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123" name="Shape 2123"/>
        <p:cNvGrpSpPr/>
        <p:nvPr/>
      </p:nvGrpSpPr>
      <p:grpSpPr>
        <a:xfrm>
          <a:off x="0" y="0"/>
          <a:ext cx="0" cy="0"/>
          <a:chOff x="0" y="0"/>
          <a:chExt cx="0" cy="0"/>
        </a:xfrm>
      </p:grpSpPr>
      <p:sp>
        <p:nvSpPr>
          <p:cNvPr id="2124" name="Google Shape;2124;p79"/>
          <p:cNvSpPr/>
          <p:nvPr/>
        </p:nvSpPr>
        <p:spPr>
          <a:xfrm>
            <a:off x="0" y="0"/>
            <a:ext cx="9144000" cy="6219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79"/>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Decoder-Only vs The Alternatives</a:t>
            </a:r>
            <a:endParaRPr b="0" i="0" sz="2300" u="none" cap="none" strike="noStrike">
              <a:solidFill>
                <a:schemeClr val="dk1"/>
              </a:solidFill>
              <a:latin typeface="Calibri"/>
              <a:ea typeface="Calibri"/>
              <a:cs typeface="Calibri"/>
              <a:sym typeface="Calibri"/>
            </a:endParaRPr>
          </a:p>
        </p:txBody>
      </p:sp>
      <p:sp>
        <p:nvSpPr>
          <p:cNvPr id="2126" name="Google Shape;2126;p79"/>
          <p:cNvSpPr/>
          <p:nvPr/>
        </p:nvSpPr>
        <p:spPr>
          <a:xfrm>
            <a:off x="228600" y="841248"/>
            <a:ext cx="8686800" cy="2697600"/>
          </a:xfrm>
          <a:prstGeom prst="roundRect">
            <a:avLst>
              <a:gd fmla="val 3390" name="adj"/>
            </a:avLst>
          </a:prstGeom>
          <a:solidFill>
            <a:srgbClr val="FFFFFF"/>
          </a:solidFill>
          <a:ln cap="flat" cmpd="sng" w="15225">
            <a:solidFill>
              <a:srgbClr val="B0C8D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79"/>
          <p:cNvSpPr/>
          <p:nvPr/>
        </p:nvSpPr>
        <p:spPr>
          <a:xfrm>
            <a:off x="384048" y="914400"/>
            <a:ext cx="26061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1" i="0" lang="en" sz="1100" u="none" cap="none" strike="noStrike">
                <a:solidFill>
                  <a:srgbClr val="5A6472"/>
                </a:solidFill>
                <a:latin typeface="Calibri"/>
                <a:ea typeface="Calibri"/>
                <a:cs typeface="Calibri"/>
                <a:sym typeface="Calibri"/>
              </a:rPr>
              <a:t>Factor</a:t>
            </a:r>
            <a:endParaRPr b="0" i="0" sz="1100" u="none" cap="none" strike="noStrike">
              <a:solidFill>
                <a:schemeClr val="dk1"/>
              </a:solidFill>
              <a:latin typeface="Calibri"/>
              <a:ea typeface="Calibri"/>
              <a:cs typeface="Calibri"/>
              <a:sym typeface="Calibri"/>
            </a:endParaRPr>
          </a:p>
        </p:txBody>
      </p:sp>
      <p:sp>
        <p:nvSpPr>
          <p:cNvPr id="2128" name="Google Shape;2128;p79"/>
          <p:cNvSpPr/>
          <p:nvPr/>
        </p:nvSpPr>
        <p:spPr>
          <a:xfrm>
            <a:off x="3108960" y="914400"/>
            <a:ext cx="3154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1" i="0" lang="en" sz="1100" u="none" cap="none" strike="noStrike">
                <a:solidFill>
                  <a:srgbClr val="5A6472"/>
                </a:solidFill>
                <a:latin typeface="Calibri"/>
                <a:ea typeface="Calibri"/>
                <a:cs typeface="Calibri"/>
                <a:sym typeface="Calibri"/>
              </a:rPr>
              <a:t>Encoder-only / Enc-Dec</a:t>
            </a:r>
            <a:endParaRPr b="0" i="0" sz="1100" u="none" cap="none" strike="noStrike">
              <a:solidFill>
                <a:schemeClr val="dk1"/>
              </a:solidFill>
              <a:latin typeface="Calibri"/>
              <a:ea typeface="Calibri"/>
              <a:cs typeface="Calibri"/>
              <a:sym typeface="Calibri"/>
            </a:endParaRPr>
          </a:p>
        </p:txBody>
      </p:sp>
      <p:sp>
        <p:nvSpPr>
          <p:cNvPr id="2129" name="Google Shape;2129;p79"/>
          <p:cNvSpPr/>
          <p:nvPr/>
        </p:nvSpPr>
        <p:spPr>
          <a:xfrm>
            <a:off x="6400800" y="914400"/>
            <a:ext cx="23775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1" i="0" lang="en" sz="1100" u="none" cap="none" strike="noStrike">
                <a:solidFill>
                  <a:srgbClr val="5A6472"/>
                </a:solidFill>
                <a:latin typeface="Calibri"/>
                <a:ea typeface="Calibri"/>
                <a:cs typeface="Calibri"/>
                <a:sym typeface="Calibri"/>
              </a:rPr>
              <a:t>Decoder-only</a:t>
            </a:r>
            <a:endParaRPr b="0" i="0" sz="1100" u="none" cap="none" strike="noStrike">
              <a:solidFill>
                <a:schemeClr val="dk1"/>
              </a:solidFill>
              <a:latin typeface="Calibri"/>
              <a:ea typeface="Calibri"/>
              <a:cs typeface="Calibri"/>
              <a:sym typeface="Calibri"/>
            </a:endParaRPr>
          </a:p>
        </p:txBody>
      </p:sp>
      <p:cxnSp>
        <p:nvCxnSpPr>
          <p:cNvPr id="2130" name="Google Shape;2130;p79"/>
          <p:cNvCxnSpPr/>
          <p:nvPr/>
        </p:nvCxnSpPr>
        <p:spPr>
          <a:xfrm>
            <a:off x="384048" y="1188720"/>
            <a:ext cx="8394300" cy="0"/>
          </a:xfrm>
          <a:prstGeom prst="straightConnector1">
            <a:avLst/>
          </a:prstGeom>
          <a:noFill/>
          <a:ln cap="flat" cmpd="sng" w="10150">
            <a:solidFill>
              <a:srgbClr val="B0C8D8"/>
            </a:solidFill>
            <a:prstDash val="solid"/>
            <a:round/>
            <a:headEnd len="sm" w="sm" type="none"/>
            <a:tailEnd len="sm" w="sm" type="none"/>
          </a:ln>
        </p:spPr>
      </p:cxnSp>
      <p:sp>
        <p:nvSpPr>
          <p:cNvPr id="2131" name="Google Shape;2131;p79"/>
          <p:cNvSpPr/>
          <p:nvPr/>
        </p:nvSpPr>
        <p:spPr>
          <a:xfrm>
            <a:off x="384048" y="1298448"/>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Pretraining objective</a:t>
            </a:r>
            <a:endParaRPr b="0" i="0" sz="930" u="none" cap="none" strike="noStrike">
              <a:solidFill>
                <a:schemeClr val="dk1"/>
              </a:solidFill>
              <a:latin typeface="Calibri"/>
              <a:ea typeface="Calibri"/>
              <a:cs typeface="Calibri"/>
              <a:sym typeface="Calibri"/>
            </a:endParaRPr>
          </a:p>
        </p:txBody>
      </p:sp>
      <p:sp>
        <p:nvSpPr>
          <p:cNvPr id="2132" name="Google Shape;2132;p79"/>
          <p:cNvSpPr/>
          <p:nvPr/>
        </p:nvSpPr>
        <p:spPr>
          <a:xfrm>
            <a:off x="3108960" y="1298448"/>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MLM — limited generation ability</a:t>
            </a:r>
            <a:endParaRPr b="0" i="0" sz="930" u="none" cap="none" strike="noStrike">
              <a:solidFill>
                <a:schemeClr val="dk1"/>
              </a:solidFill>
              <a:latin typeface="Calibri"/>
              <a:ea typeface="Calibri"/>
              <a:cs typeface="Calibri"/>
              <a:sym typeface="Calibri"/>
            </a:endParaRPr>
          </a:p>
        </p:txBody>
      </p:sp>
      <p:sp>
        <p:nvSpPr>
          <p:cNvPr id="2133" name="Google Shape;2133;p79"/>
          <p:cNvSpPr/>
          <p:nvPr/>
        </p:nvSpPr>
        <p:spPr>
          <a:xfrm>
            <a:off x="6400800" y="1298448"/>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CLM — generation is the core skill</a:t>
            </a:r>
            <a:endParaRPr b="0" i="0" sz="930" u="none" cap="none" strike="noStrike">
              <a:solidFill>
                <a:schemeClr val="dk1"/>
              </a:solidFill>
              <a:latin typeface="Calibri"/>
              <a:ea typeface="Calibri"/>
              <a:cs typeface="Calibri"/>
              <a:sym typeface="Calibri"/>
            </a:endParaRPr>
          </a:p>
        </p:txBody>
      </p:sp>
      <p:sp>
        <p:nvSpPr>
          <p:cNvPr id="2134" name="Google Shape;2134;p79"/>
          <p:cNvSpPr/>
          <p:nvPr/>
        </p:nvSpPr>
        <p:spPr>
          <a:xfrm>
            <a:off x="274320" y="1627632"/>
            <a:ext cx="8595300" cy="356700"/>
          </a:xfrm>
          <a:prstGeom prst="rect">
            <a:avLst/>
          </a:prstGeom>
          <a:solidFill>
            <a:srgbClr val="F4F7FA"/>
          </a:solidFill>
          <a:ln cap="flat" cmpd="sng" w="12700">
            <a:solidFill>
              <a:srgbClr val="F4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79"/>
          <p:cNvSpPr/>
          <p:nvPr/>
        </p:nvSpPr>
        <p:spPr>
          <a:xfrm>
            <a:off x="384048" y="1655064"/>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New task adaptation</a:t>
            </a:r>
            <a:endParaRPr b="0" i="0" sz="930" u="none" cap="none" strike="noStrike">
              <a:solidFill>
                <a:schemeClr val="dk1"/>
              </a:solidFill>
              <a:latin typeface="Calibri"/>
              <a:ea typeface="Calibri"/>
              <a:cs typeface="Calibri"/>
              <a:sym typeface="Calibri"/>
            </a:endParaRPr>
          </a:p>
        </p:txBody>
      </p:sp>
      <p:sp>
        <p:nvSpPr>
          <p:cNvPr id="2136" name="Google Shape;2136;p79"/>
          <p:cNvSpPr/>
          <p:nvPr/>
        </p:nvSpPr>
        <p:spPr>
          <a:xfrm>
            <a:off x="3108960" y="1655064"/>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Fine-tuning, often per-task</a:t>
            </a:r>
            <a:endParaRPr b="0" i="0" sz="930" u="none" cap="none" strike="noStrike">
              <a:solidFill>
                <a:schemeClr val="dk1"/>
              </a:solidFill>
              <a:latin typeface="Calibri"/>
              <a:ea typeface="Calibri"/>
              <a:cs typeface="Calibri"/>
              <a:sym typeface="Calibri"/>
            </a:endParaRPr>
          </a:p>
        </p:txBody>
      </p:sp>
      <p:sp>
        <p:nvSpPr>
          <p:cNvPr id="2137" name="Google Shape;2137;p79"/>
          <p:cNvSpPr/>
          <p:nvPr/>
        </p:nvSpPr>
        <p:spPr>
          <a:xfrm>
            <a:off x="6400800" y="1655064"/>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Prompting — zero architecture change</a:t>
            </a:r>
            <a:endParaRPr b="0" i="0" sz="930" u="none" cap="none" strike="noStrike">
              <a:solidFill>
                <a:schemeClr val="dk1"/>
              </a:solidFill>
              <a:latin typeface="Calibri"/>
              <a:ea typeface="Calibri"/>
              <a:cs typeface="Calibri"/>
              <a:sym typeface="Calibri"/>
            </a:endParaRPr>
          </a:p>
        </p:txBody>
      </p:sp>
      <p:sp>
        <p:nvSpPr>
          <p:cNvPr id="2138" name="Google Shape;2138;p79"/>
          <p:cNvSpPr/>
          <p:nvPr/>
        </p:nvSpPr>
        <p:spPr>
          <a:xfrm>
            <a:off x="384048" y="2011680"/>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Scaling research</a:t>
            </a:r>
            <a:endParaRPr b="0" i="0" sz="930" u="none" cap="none" strike="noStrike">
              <a:solidFill>
                <a:schemeClr val="dk1"/>
              </a:solidFill>
              <a:latin typeface="Calibri"/>
              <a:ea typeface="Calibri"/>
              <a:cs typeface="Calibri"/>
              <a:sym typeface="Calibri"/>
            </a:endParaRPr>
          </a:p>
        </p:txBody>
      </p:sp>
      <p:sp>
        <p:nvSpPr>
          <p:cNvPr id="2139" name="Google Shape;2139;p79"/>
          <p:cNvSpPr/>
          <p:nvPr/>
        </p:nvSpPr>
        <p:spPr>
          <a:xfrm>
            <a:off x="3108960" y="2011680"/>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Less uniform, less studied at scale</a:t>
            </a:r>
            <a:endParaRPr b="0" i="0" sz="930" u="none" cap="none" strike="noStrike">
              <a:solidFill>
                <a:schemeClr val="dk1"/>
              </a:solidFill>
              <a:latin typeface="Calibri"/>
              <a:ea typeface="Calibri"/>
              <a:cs typeface="Calibri"/>
              <a:sym typeface="Calibri"/>
            </a:endParaRPr>
          </a:p>
        </p:txBody>
      </p:sp>
      <p:sp>
        <p:nvSpPr>
          <p:cNvPr id="2140" name="Google Shape;2140;p79"/>
          <p:cNvSpPr/>
          <p:nvPr/>
        </p:nvSpPr>
        <p:spPr>
          <a:xfrm>
            <a:off x="6400800" y="2011680"/>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Clean Chinchilla/Kaplan scaling laws</a:t>
            </a:r>
            <a:endParaRPr b="0" i="0" sz="930" u="none" cap="none" strike="noStrike">
              <a:solidFill>
                <a:schemeClr val="dk1"/>
              </a:solidFill>
              <a:latin typeface="Calibri"/>
              <a:ea typeface="Calibri"/>
              <a:cs typeface="Calibri"/>
              <a:sym typeface="Calibri"/>
            </a:endParaRPr>
          </a:p>
        </p:txBody>
      </p:sp>
      <p:sp>
        <p:nvSpPr>
          <p:cNvPr id="2141" name="Google Shape;2141;p79"/>
          <p:cNvSpPr/>
          <p:nvPr/>
        </p:nvSpPr>
        <p:spPr>
          <a:xfrm>
            <a:off x="274320" y="2340864"/>
            <a:ext cx="8595300" cy="356700"/>
          </a:xfrm>
          <a:prstGeom prst="rect">
            <a:avLst/>
          </a:prstGeom>
          <a:solidFill>
            <a:srgbClr val="F4F7FA"/>
          </a:solidFill>
          <a:ln cap="flat" cmpd="sng" w="12700">
            <a:solidFill>
              <a:srgbClr val="F4F7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79"/>
          <p:cNvSpPr/>
          <p:nvPr/>
        </p:nvSpPr>
        <p:spPr>
          <a:xfrm>
            <a:off x="384048" y="2368296"/>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Fits chat / multi-turn?</a:t>
            </a:r>
            <a:endParaRPr b="0" i="0" sz="930" u="none" cap="none" strike="noStrike">
              <a:solidFill>
                <a:schemeClr val="dk1"/>
              </a:solidFill>
              <a:latin typeface="Calibri"/>
              <a:ea typeface="Calibri"/>
              <a:cs typeface="Calibri"/>
              <a:sym typeface="Calibri"/>
            </a:endParaRPr>
          </a:p>
        </p:txBody>
      </p:sp>
      <p:sp>
        <p:nvSpPr>
          <p:cNvPr id="2143" name="Google Shape;2143;p79"/>
          <p:cNvSpPr/>
          <p:nvPr/>
        </p:nvSpPr>
        <p:spPr>
          <a:xfrm>
            <a:off x="3108960" y="2368296"/>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Awkward — assumes fixed I/O split</a:t>
            </a:r>
            <a:endParaRPr b="0" i="0" sz="930" u="none" cap="none" strike="noStrike">
              <a:solidFill>
                <a:schemeClr val="dk1"/>
              </a:solidFill>
              <a:latin typeface="Calibri"/>
              <a:ea typeface="Calibri"/>
              <a:cs typeface="Calibri"/>
              <a:sym typeface="Calibri"/>
            </a:endParaRPr>
          </a:p>
        </p:txBody>
      </p:sp>
      <p:sp>
        <p:nvSpPr>
          <p:cNvPr id="2144" name="Google Shape;2144;p79"/>
          <p:cNvSpPr/>
          <p:nvPr/>
        </p:nvSpPr>
        <p:spPr>
          <a:xfrm>
            <a:off x="6400800" y="2368296"/>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Natural — single growing sequence</a:t>
            </a:r>
            <a:endParaRPr b="0" i="0" sz="930" u="none" cap="none" strike="noStrike">
              <a:solidFill>
                <a:schemeClr val="dk1"/>
              </a:solidFill>
              <a:latin typeface="Calibri"/>
              <a:ea typeface="Calibri"/>
              <a:cs typeface="Calibri"/>
              <a:sym typeface="Calibri"/>
            </a:endParaRPr>
          </a:p>
        </p:txBody>
      </p:sp>
      <p:sp>
        <p:nvSpPr>
          <p:cNvPr id="2145" name="Google Shape;2145;p79"/>
          <p:cNvSpPr/>
          <p:nvPr/>
        </p:nvSpPr>
        <p:spPr>
          <a:xfrm>
            <a:off x="384048" y="2724912"/>
            <a:ext cx="26061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930"/>
              <a:buFont typeface="Calibri"/>
              <a:buNone/>
            </a:pPr>
            <a:r>
              <a:rPr b="1" i="0" lang="en" sz="930" u="none" cap="none" strike="noStrike">
                <a:solidFill>
                  <a:srgbClr val="1A1A2E"/>
                </a:solidFill>
                <a:latin typeface="Calibri"/>
                <a:ea typeface="Calibri"/>
                <a:cs typeface="Calibri"/>
                <a:sym typeface="Calibri"/>
              </a:rPr>
              <a:t>Cross-attn efficiency</a:t>
            </a:r>
            <a:endParaRPr b="0" i="0" sz="930" u="none" cap="none" strike="noStrike">
              <a:solidFill>
                <a:schemeClr val="dk1"/>
              </a:solidFill>
              <a:latin typeface="Calibri"/>
              <a:ea typeface="Calibri"/>
              <a:cs typeface="Calibri"/>
              <a:sym typeface="Calibri"/>
            </a:endParaRPr>
          </a:p>
        </p:txBody>
      </p:sp>
      <p:sp>
        <p:nvSpPr>
          <p:cNvPr id="2146" name="Google Shape;2146;p79"/>
          <p:cNvSpPr/>
          <p:nvPr/>
        </p:nvSpPr>
        <p:spPr>
          <a:xfrm>
            <a:off x="3108960" y="2724912"/>
            <a:ext cx="31548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62828"/>
              </a:buClr>
              <a:buSzPts val="930"/>
              <a:buFont typeface="Calibri"/>
              <a:buNone/>
            </a:pPr>
            <a:r>
              <a:rPr b="0" i="0" lang="en" sz="930" u="none" cap="none" strike="noStrike">
                <a:solidFill>
                  <a:srgbClr val="C62828"/>
                </a:solidFill>
                <a:latin typeface="Calibri"/>
                <a:ea typeface="Calibri"/>
                <a:cs typeface="Calibri"/>
                <a:sym typeface="Calibri"/>
              </a:rPr>
              <a:t>Real, but only for fixed-source tasks</a:t>
            </a:r>
            <a:endParaRPr b="0" i="0" sz="930" u="none" cap="none" strike="noStrike">
              <a:solidFill>
                <a:schemeClr val="dk1"/>
              </a:solidFill>
              <a:latin typeface="Calibri"/>
              <a:ea typeface="Calibri"/>
              <a:cs typeface="Calibri"/>
              <a:sym typeface="Calibri"/>
            </a:endParaRPr>
          </a:p>
        </p:txBody>
      </p:sp>
      <p:sp>
        <p:nvSpPr>
          <p:cNvPr id="2147" name="Google Shape;2147;p79"/>
          <p:cNvSpPr/>
          <p:nvPr/>
        </p:nvSpPr>
        <p:spPr>
          <a:xfrm>
            <a:off x="6400800" y="2724912"/>
            <a:ext cx="2377500" cy="35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930"/>
              <a:buFont typeface="Calibri"/>
              <a:buNone/>
            </a:pPr>
            <a:r>
              <a:rPr b="0" i="0" lang="en" sz="930" u="none" cap="none" strike="noStrike">
                <a:solidFill>
                  <a:srgbClr val="2E7D32"/>
                </a:solidFill>
                <a:latin typeface="Calibri"/>
                <a:ea typeface="Calibri"/>
                <a:cs typeface="Calibri"/>
                <a:sym typeface="Calibri"/>
              </a:rPr>
              <a:t>N/A — but matters less as use cases diversified</a:t>
            </a:r>
            <a:endParaRPr b="0" i="0" sz="930" u="none" cap="none" strike="noStrike">
              <a:solidFill>
                <a:schemeClr val="dk1"/>
              </a:solidFill>
              <a:latin typeface="Calibri"/>
              <a:ea typeface="Calibri"/>
              <a:cs typeface="Calibri"/>
              <a:sym typeface="Calibri"/>
            </a:endParaRPr>
          </a:p>
        </p:txBody>
      </p:sp>
      <p:sp>
        <p:nvSpPr>
          <p:cNvPr id="2148" name="Google Shape;2148;p79"/>
          <p:cNvSpPr/>
          <p:nvPr/>
        </p:nvSpPr>
        <p:spPr>
          <a:xfrm>
            <a:off x="228600" y="3611880"/>
            <a:ext cx="8686800" cy="1627500"/>
          </a:xfrm>
          <a:prstGeom prst="roundRect">
            <a:avLst>
              <a:gd fmla="val 5618" name="adj"/>
            </a:avLst>
          </a:prstGeom>
          <a:solidFill>
            <a:srgbClr val="FFF3E0"/>
          </a:solidFill>
          <a:ln cap="flat" cmpd="sng" w="17775">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79"/>
          <p:cNvSpPr/>
          <p:nvPr/>
        </p:nvSpPr>
        <p:spPr>
          <a:xfrm>
            <a:off x="384048" y="3675888"/>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350"/>
              <a:buFont typeface="Calibri"/>
              <a:buNone/>
            </a:pPr>
            <a:r>
              <a:rPr b="1" i="0" lang="en" sz="1350" u="none" cap="none" strike="noStrike">
                <a:solidFill>
                  <a:srgbClr val="E65100"/>
                </a:solidFill>
                <a:latin typeface="Calibri"/>
                <a:ea typeface="Calibri"/>
                <a:cs typeface="Calibri"/>
                <a:sym typeface="Calibri"/>
              </a:rPr>
              <a:t>The Honest Caveat — Encoder Models Aren't Dead</a:t>
            </a:r>
            <a:endParaRPr b="0" i="0" sz="1350" u="none" cap="none" strike="noStrike">
              <a:solidFill>
                <a:schemeClr val="dk1"/>
              </a:solidFill>
              <a:latin typeface="Calibri"/>
              <a:ea typeface="Calibri"/>
              <a:cs typeface="Calibri"/>
              <a:sym typeface="Calibri"/>
            </a:endParaRPr>
          </a:p>
        </p:txBody>
      </p:sp>
      <p:sp>
        <p:nvSpPr>
          <p:cNvPr id="2150" name="Google Shape;2150;p79"/>
          <p:cNvSpPr/>
          <p:nvPr/>
        </p:nvSpPr>
        <p:spPr>
          <a:xfrm>
            <a:off x="384048" y="3950208"/>
            <a:ext cx="8376000" cy="1243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96B"/>
              </a:buClr>
              <a:buSzPts val="980"/>
              <a:buFont typeface="Calibri"/>
              <a:buNone/>
            </a:pPr>
            <a:r>
              <a:rPr b="1" i="0" lang="en" sz="980" u="none" cap="none" strike="noStrike">
                <a:solidFill>
                  <a:srgbClr val="00796B"/>
                </a:solidFill>
                <a:latin typeface="Calibri"/>
                <a:ea typeface="Calibri"/>
                <a:cs typeface="Calibri"/>
                <a:sym typeface="Calibri"/>
              </a:rPr>
              <a:t>BERT-style encoder-only models</a:t>
            </a:r>
            <a:r>
              <a:rPr b="0" i="0" lang="en" sz="980" u="none" cap="none" strike="noStrike">
                <a:solidFill>
                  <a:srgbClr val="1A1A2E"/>
                </a:solidFill>
                <a:latin typeface="Calibri"/>
                <a:ea typeface="Calibri"/>
                <a:cs typeface="Calibri"/>
                <a:sym typeface="Calibri"/>
              </a:rPr>
              <a:t> remain excellent and cheaper for pure classification, embeddings, search, and ranking — tasks that don't need generation at all.</a:t>
            </a:r>
            <a:br>
              <a:rPr b="0" i="0" lang="en" sz="980" u="none" cap="none" strike="noStrike">
                <a:solidFill>
                  <a:srgbClr val="1A1A2E"/>
                </a:solidFill>
                <a:latin typeface="Calibri"/>
                <a:ea typeface="Calibri"/>
                <a:cs typeface="Calibri"/>
                <a:sym typeface="Calibri"/>
              </a:rPr>
            </a:br>
            <a:br>
              <a:rPr b="0" i="0" lang="en" sz="980" u="none" cap="none" strike="noStrike">
                <a:solidFill>
                  <a:srgbClr val="1A1A2E"/>
                </a:solidFill>
                <a:latin typeface="Calibri"/>
                <a:ea typeface="Calibri"/>
                <a:cs typeface="Calibri"/>
                <a:sym typeface="Calibri"/>
              </a:rPr>
            </a:br>
            <a:r>
              <a:rPr b="1" i="0" lang="en" sz="980" u="none" cap="none" strike="noStrike">
                <a:solidFill>
                  <a:srgbClr val="1565C0"/>
                </a:solidFill>
                <a:latin typeface="Calibri"/>
                <a:ea typeface="Calibri"/>
                <a:cs typeface="Calibri"/>
                <a:sym typeface="Calibri"/>
              </a:rPr>
              <a:t>T5-style encoder-decoders</a:t>
            </a:r>
            <a:r>
              <a:rPr b="0" i="0" lang="en" sz="980" u="none" cap="none" strike="noStrike">
                <a:solidFill>
                  <a:srgbClr val="1A1A2E"/>
                </a:solidFill>
                <a:latin typeface="Calibri"/>
                <a:ea typeface="Calibri"/>
                <a:cs typeface="Calibri"/>
                <a:sym typeface="Calibri"/>
              </a:rPr>
              <a:t> still see use in dedicated translation/summarization pipelines with a clean, fixed source.</a:t>
            </a:r>
            <a:br>
              <a:rPr b="0" i="0" lang="en" sz="980" u="none" cap="none" strike="noStrike">
                <a:solidFill>
                  <a:srgbClr val="1A1A2E"/>
                </a:solidFill>
                <a:latin typeface="Calibri"/>
                <a:ea typeface="Calibri"/>
                <a:cs typeface="Calibri"/>
                <a:sym typeface="Calibri"/>
              </a:rPr>
            </a:br>
            <a:br>
              <a:rPr b="0" i="0" lang="en" sz="980" u="none" cap="none" strike="noStrike">
                <a:solidFill>
                  <a:srgbClr val="1A1A2E"/>
                </a:solidFill>
                <a:latin typeface="Calibri"/>
                <a:ea typeface="Calibri"/>
                <a:cs typeface="Calibri"/>
                <a:sym typeface="Calibri"/>
              </a:rPr>
            </a:br>
            <a:r>
              <a:rPr b="0" i="0" lang="en" sz="980" u="none" cap="none" strike="noStrike">
                <a:solidFill>
                  <a:srgbClr val="1A1A2E"/>
                </a:solidFill>
                <a:latin typeface="Calibri"/>
                <a:ea typeface="Calibri"/>
                <a:cs typeface="Calibri"/>
                <a:sym typeface="Calibri"/>
              </a:rPr>
              <a:t>Decoder-only wins specifically for </a:t>
            </a:r>
            <a:r>
              <a:rPr b="1" i="0" lang="en" sz="980" u="none" cap="none" strike="noStrike">
                <a:solidFill>
                  <a:srgbClr val="6A1B9A"/>
                </a:solidFill>
                <a:latin typeface="Calibri"/>
                <a:ea typeface="Calibri"/>
                <a:cs typeface="Calibri"/>
                <a:sym typeface="Calibri"/>
              </a:rPr>
              <a:t>general-purpose, conversational, instruction-following</a:t>
            </a:r>
            <a:r>
              <a:rPr b="0" i="0" lang="en" sz="980" u="none" cap="none" strike="noStrike">
                <a:solidFill>
                  <a:srgbClr val="1A1A2E"/>
                </a:solidFill>
                <a:latin typeface="Calibri"/>
                <a:ea typeface="Calibri"/>
                <a:cs typeface="Calibri"/>
                <a:sym typeface="Calibri"/>
              </a:rPr>
              <a:t> use cases — which happen to be what the industry mostly wanted.</a:t>
            </a:r>
            <a:endParaRPr b="0" i="0" sz="98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4" name="Shape 2154"/>
        <p:cNvGrpSpPr/>
        <p:nvPr/>
      </p:nvGrpSpPr>
      <p:grpSpPr>
        <a:xfrm>
          <a:off x="0" y="0"/>
          <a:ext cx="0" cy="0"/>
          <a:chOff x="0" y="0"/>
          <a:chExt cx="0" cy="0"/>
        </a:xfrm>
      </p:grpSpPr>
      <p:pic>
        <p:nvPicPr>
          <p:cNvPr id="2155" name="Google Shape;2155;p8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2156" name="Google Shape;2156;p80"/>
          <p:cNvSpPr/>
          <p:nvPr/>
        </p:nvSpPr>
        <p:spPr>
          <a:xfrm>
            <a:off x="469650" y="683663"/>
            <a:ext cx="8204700" cy="72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800">
                <a:solidFill>
                  <a:schemeClr val="dk1"/>
                </a:solidFill>
              </a:rPr>
              <a:t>Thank you</a:t>
            </a:r>
            <a:endParaRPr sz="2800">
              <a:solidFill>
                <a:schemeClr val="dk1"/>
              </a:solidFill>
            </a:endParaRPr>
          </a:p>
        </p:txBody>
      </p:sp>
      <p:sp>
        <p:nvSpPr>
          <p:cNvPr id="2157" name="Google Shape;2157;p80"/>
          <p:cNvSpPr/>
          <p:nvPr/>
        </p:nvSpPr>
        <p:spPr>
          <a:xfrm>
            <a:off x="603650" y="1649350"/>
            <a:ext cx="15915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000" u="none" cap="none" strike="noStrike">
                <a:solidFill>
                  <a:srgbClr val="000000"/>
                </a:solidFill>
                <a:latin typeface="Arial"/>
                <a:ea typeface="Arial"/>
                <a:cs typeface="Arial"/>
                <a:sym typeface="Arial"/>
              </a:rPr>
              <a:t>Instructor</a:t>
            </a:r>
            <a:endParaRPr b="0" i="0" sz="2000" u="none" cap="none" strike="noStrike">
              <a:solidFill>
                <a:srgbClr val="000000"/>
              </a:solidFill>
              <a:latin typeface="Arial"/>
              <a:ea typeface="Arial"/>
              <a:cs typeface="Arial"/>
              <a:sym typeface="Arial"/>
            </a:endParaRPr>
          </a:p>
        </p:txBody>
      </p:sp>
      <p:sp>
        <p:nvSpPr>
          <p:cNvPr id="2158" name="Google Shape;2158;p80"/>
          <p:cNvSpPr/>
          <p:nvPr/>
        </p:nvSpPr>
        <p:spPr>
          <a:xfrm>
            <a:off x="3640950" y="1554800"/>
            <a:ext cx="37557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000" u="none" cap="none" strike="noStrike">
                <a:solidFill>
                  <a:srgbClr val="000000"/>
                </a:solidFill>
                <a:latin typeface="Arial"/>
                <a:ea typeface="Arial"/>
                <a:cs typeface="Arial"/>
                <a:sym typeface="Arial"/>
              </a:rPr>
              <a:t>Teaching Assistants (IITKGP)</a:t>
            </a:r>
            <a:endParaRPr b="0" i="0" sz="2000" u="none" cap="none" strike="noStrike">
              <a:solidFill>
                <a:srgbClr val="000000"/>
              </a:solidFill>
              <a:latin typeface="Arial"/>
              <a:ea typeface="Arial"/>
              <a:cs typeface="Arial"/>
              <a:sym typeface="Arial"/>
            </a:endParaRPr>
          </a:p>
        </p:txBody>
      </p:sp>
      <p:sp>
        <p:nvSpPr>
          <p:cNvPr id="2159" name="Google Shape;2159;p80"/>
          <p:cNvSpPr/>
          <p:nvPr/>
        </p:nvSpPr>
        <p:spPr>
          <a:xfrm>
            <a:off x="558800" y="3413025"/>
            <a:ext cx="15915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1600" u="none" cap="none" strike="noStrike">
                <a:solidFill>
                  <a:srgbClr val="000000"/>
                </a:solidFill>
                <a:latin typeface="Arial"/>
                <a:ea typeface="Arial"/>
                <a:cs typeface="Arial"/>
                <a:sym typeface="Arial"/>
              </a:rPr>
              <a:t>Niloy Ganguly</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400"/>
              <a:buFont typeface="Calibri"/>
              <a:buNone/>
            </a:pPr>
            <a:r>
              <a:rPr b="0" i="0" lang="en" sz="1050" u="none" cap="none" strike="noStrike">
                <a:solidFill>
                  <a:srgbClr val="222222"/>
                </a:solidFill>
                <a:highlight>
                  <a:srgbClr val="FFFFFF"/>
                </a:highlight>
                <a:latin typeface="Roboto"/>
                <a:ea typeface="Roboto"/>
                <a:cs typeface="Roboto"/>
                <a:sym typeface="Roboto"/>
              </a:rPr>
              <a:t>niloy@cse.iitkgp.ac.in</a:t>
            </a:r>
            <a:endParaRPr b="0" i="0" sz="1600" u="none" cap="none" strike="noStrike">
              <a:solidFill>
                <a:srgbClr val="000000"/>
              </a:solidFill>
              <a:latin typeface="Arial"/>
              <a:ea typeface="Arial"/>
              <a:cs typeface="Arial"/>
              <a:sym typeface="Arial"/>
            </a:endParaRPr>
          </a:p>
        </p:txBody>
      </p:sp>
      <p:sp>
        <p:nvSpPr>
          <p:cNvPr id="2160" name="Google Shape;2160;p80"/>
          <p:cNvSpPr/>
          <p:nvPr/>
        </p:nvSpPr>
        <p:spPr>
          <a:xfrm>
            <a:off x="2406788" y="3392751"/>
            <a:ext cx="1794600" cy="4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283"/>
              <a:buFont typeface="Calibri"/>
              <a:buNone/>
            </a:pPr>
            <a:r>
              <a:rPr b="0" i="0" lang="en" sz="1522" u="none" cap="none" strike="noStrike">
                <a:solidFill>
                  <a:srgbClr val="000000"/>
                </a:solidFill>
                <a:latin typeface="Arial"/>
                <a:ea typeface="Arial"/>
                <a:cs typeface="Arial"/>
                <a:sym typeface="Arial"/>
              </a:rPr>
              <a:t>Sombit Bose</a:t>
            </a:r>
            <a:endParaRPr b="0" i="0" sz="152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283"/>
              <a:buFont typeface="Calibri"/>
              <a:buNone/>
            </a:pPr>
            <a:r>
              <a:t/>
            </a:r>
            <a:endParaRPr b="0" i="0" sz="1522" u="none" cap="none" strike="noStrike">
              <a:solidFill>
                <a:srgbClr val="000000"/>
              </a:solidFill>
              <a:latin typeface="Arial"/>
              <a:ea typeface="Arial"/>
              <a:cs typeface="Arial"/>
              <a:sym typeface="Arial"/>
            </a:endParaRPr>
          </a:p>
        </p:txBody>
      </p:sp>
      <p:sp>
        <p:nvSpPr>
          <p:cNvPr id="2161" name="Google Shape;2161;p80"/>
          <p:cNvSpPr/>
          <p:nvPr/>
        </p:nvSpPr>
        <p:spPr>
          <a:xfrm>
            <a:off x="7117275" y="3425625"/>
            <a:ext cx="1715100" cy="49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318"/>
              <a:buFont typeface="Calibri"/>
              <a:buNone/>
            </a:pPr>
            <a:r>
              <a:rPr b="0" i="0" lang="en" sz="1546" u="none" cap="none" strike="noStrike">
                <a:solidFill>
                  <a:srgbClr val="000000"/>
                </a:solidFill>
                <a:latin typeface="Arial"/>
                <a:ea typeface="Arial"/>
                <a:cs typeface="Arial"/>
                <a:sym typeface="Arial"/>
              </a:rPr>
              <a:t>Shrimon </a:t>
            </a:r>
            <a:endParaRPr b="0" i="0" sz="1546"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D1B2A"/>
              </a:buClr>
              <a:buSzPts val="2318"/>
              <a:buFont typeface="Calibri"/>
              <a:buNone/>
            </a:pPr>
            <a:r>
              <a:rPr b="0" i="0" lang="en" sz="1546" u="none" cap="none" strike="noStrike">
                <a:solidFill>
                  <a:srgbClr val="000000"/>
                </a:solidFill>
                <a:latin typeface="Arial"/>
                <a:ea typeface="Arial"/>
                <a:cs typeface="Arial"/>
                <a:sym typeface="Arial"/>
              </a:rPr>
              <a:t>Mukherjee</a:t>
            </a:r>
            <a:endParaRPr b="0" i="0" sz="1546" u="none" cap="none" strike="noStrike">
              <a:solidFill>
                <a:srgbClr val="000000"/>
              </a:solidFill>
              <a:latin typeface="Arial"/>
              <a:ea typeface="Arial"/>
              <a:cs typeface="Arial"/>
              <a:sym typeface="Arial"/>
            </a:endParaRPr>
          </a:p>
        </p:txBody>
      </p:sp>
      <p:pic>
        <p:nvPicPr>
          <p:cNvPr id="2162" name="Google Shape;2162;p80" title="1000247300.jpeg"/>
          <p:cNvPicPr preferRelativeResize="0"/>
          <p:nvPr/>
        </p:nvPicPr>
        <p:blipFill rotWithShape="1">
          <a:blip r:embed="rId5">
            <a:alphaModFix/>
          </a:blip>
          <a:srcRect b="9408" l="22153" r="21045" t="5839"/>
          <a:stretch/>
        </p:blipFill>
        <p:spPr>
          <a:xfrm>
            <a:off x="2758400" y="2028463"/>
            <a:ext cx="1091400" cy="1394270"/>
          </a:xfrm>
          <a:prstGeom prst="rect">
            <a:avLst/>
          </a:prstGeom>
          <a:solidFill>
            <a:srgbClr val="595959"/>
          </a:solidFill>
          <a:ln cap="flat" cmpd="sng" w="9050">
            <a:solidFill>
              <a:srgbClr val="FFFFFF"/>
            </a:solidFill>
            <a:prstDash val="solid"/>
            <a:round/>
            <a:headEnd len="sm" w="sm" type="none"/>
            <a:tailEnd len="sm" w="sm" type="none"/>
          </a:ln>
        </p:spPr>
      </p:pic>
      <p:pic>
        <p:nvPicPr>
          <p:cNvPr id="2163" name="Google Shape;2163;p80"/>
          <p:cNvPicPr preferRelativeResize="0"/>
          <p:nvPr/>
        </p:nvPicPr>
        <p:blipFill rotWithShape="1">
          <a:blip r:embed="rId6">
            <a:alphaModFix/>
          </a:blip>
          <a:srcRect b="0" l="0" r="0" t="0"/>
          <a:stretch/>
        </p:blipFill>
        <p:spPr>
          <a:xfrm>
            <a:off x="689300" y="2051637"/>
            <a:ext cx="1420200" cy="1334825"/>
          </a:xfrm>
          <a:prstGeom prst="rect">
            <a:avLst/>
          </a:prstGeom>
          <a:noFill/>
          <a:ln>
            <a:noFill/>
          </a:ln>
        </p:spPr>
      </p:pic>
      <p:pic>
        <p:nvPicPr>
          <p:cNvPr id="2164" name="Google Shape;2164;p80" title="IMG_1088.jpeg"/>
          <p:cNvPicPr preferRelativeResize="0"/>
          <p:nvPr/>
        </p:nvPicPr>
        <p:blipFill rotWithShape="1">
          <a:blip r:embed="rId7">
            <a:alphaModFix/>
          </a:blip>
          <a:srcRect b="0" l="25019" r="15848" t="0"/>
          <a:stretch/>
        </p:blipFill>
        <p:spPr>
          <a:xfrm>
            <a:off x="7314300" y="2027300"/>
            <a:ext cx="1321060" cy="1383475"/>
          </a:xfrm>
          <a:prstGeom prst="rect">
            <a:avLst/>
          </a:prstGeom>
          <a:noFill/>
          <a:ln>
            <a:noFill/>
          </a:ln>
        </p:spPr>
      </p:pic>
      <p:pic>
        <p:nvPicPr>
          <p:cNvPr id="2165" name="Google Shape;2165;p80"/>
          <p:cNvPicPr preferRelativeResize="0"/>
          <p:nvPr/>
        </p:nvPicPr>
        <p:blipFill rotWithShape="1">
          <a:blip r:embed="rId8">
            <a:alphaModFix/>
          </a:blip>
          <a:srcRect b="5038" l="9646" r="9638" t="19535"/>
          <a:stretch/>
        </p:blipFill>
        <p:spPr>
          <a:xfrm>
            <a:off x="4106775" y="2031688"/>
            <a:ext cx="1152399" cy="1387800"/>
          </a:xfrm>
          <a:prstGeom prst="rect">
            <a:avLst/>
          </a:prstGeom>
          <a:noFill/>
          <a:ln>
            <a:noFill/>
          </a:ln>
        </p:spPr>
      </p:pic>
      <p:sp>
        <p:nvSpPr>
          <p:cNvPr id="2166" name="Google Shape;2166;p80"/>
          <p:cNvSpPr/>
          <p:nvPr/>
        </p:nvSpPr>
        <p:spPr>
          <a:xfrm>
            <a:off x="3752825" y="3302429"/>
            <a:ext cx="1860300" cy="4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283"/>
              <a:buFont typeface="Calibri"/>
              <a:buNone/>
            </a:pPr>
            <a:r>
              <a:rPr b="0" i="0" lang="en" sz="1522" u="none" cap="none" strike="noStrike">
                <a:solidFill>
                  <a:srgbClr val="000000"/>
                </a:solidFill>
                <a:latin typeface="Arial"/>
                <a:ea typeface="Arial"/>
                <a:cs typeface="Arial"/>
                <a:sym typeface="Arial"/>
              </a:rPr>
              <a:t>Anurup Naskar</a:t>
            </a:r>
            <a:endParaRPr b="0" i="0" sz="1522" u="none" cap="none" strike="noStrike">
              <a:solidFill>
                <a:srgbClr val="000000"/>
              </a:solidFill>
              <a:latin typeface="Arial"/>
              <a:ea typeface="Arial"/>
              <a:cs typeface="Arial"/>
              <a:sym typeface="Arial"/>
            </a:endParaRPr>
          </a:p>
        </p:txBody>
      </p:sp>
      <p:pic>
        <p:nvPicPr>
          <p:cNvPr id="2167" name="Google Shape;2167;p80"/>
          <p:cNvPicPr preferRelativeResize="0"/>
          <p:nvPr/>
        </p:nvPicPr>
        <p:blipFill>
          <a:blip r:embed="rId9">
            <a:alphaModFix/>
          </a:blip>
          <a:stretch>
            <a:fillRect/>
          </a:stretch>
        </p:blipFill>
        <p:spPr>
          <a:xfrm>
            <a:off x="5546150" y="2027312"/>
            <a:ext cx="1420200" cy="1383471"/>
          </a:xfrm>
          <a:prstGeom prst="rect">
            <a:avLst/>
          </a:prstGeom>
          <a:noFill/>
          <a:ln>
            <a:noFill/>
          </a:ln>
        </p:spPr>
      </p:pic>
      <p:sp>
        <p:nvSpPr>
          <p:cNvPr id="2168" name="Google Shape;2168;p80"/>
          <p:cNvSpPr/>
          <p:nvPr/>
        </p:nvSpPr>
        <p:spPr>
          <a:xfrm>
            <a:off x="5326100" y="3425629"/>
            <a:ext cx="1860300" cy="49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283"/>
              <a:buFont typeface="Calibri"/>
              <a:buNone/>
            </a:pPr>
            <a:r>
              <a:rPr lang="en" sz="1522">
                <a:solidFill>
                  <a:srgbClr val="000000"/>
                </a:solidFill>
              </a:rPr>
              <a:t>Sabyasachi</a:t>
            </a:r>
            <a:endParaRPr sz="1522">
              <a:solidFill>
                <a:srgbClr val="000000"/>
              </a:solidFill>
            </a:endParaRPr>
          </a:p>
          <a:p>
            <a:pPr indent="0" lvl="0" marL="0" marR="0" rtl="0" algn="ctr">
              <a:lnSpc>
                <a:spcPct val="100000"/>
              </a:lnSpc>
              <a:spcBef>
                <a:spcPts val="0"/>
              </a:spcBef>
              <a:spcAft>
                <a:spcPts val="0"/>
              </a:spcAft>
              <a:buClr>
                <a:srgbClr val="0D1B2A"/>
              </a:buClr>
              <a:buSzPts val="2283"/>
              <a:buFont typeface="Calibri"/>
              <a:buNone/>
            </a:pPr>
            <a:r>
              <a:rPr lang="en" sz="1522">
                <a:solidFill>
                  <a:srgbClr val="000000"/>
                </a:solidFill>
              </a:rPr>
              <a:t>Mukhopadhyay</a:t>
            </a:r>
            <a:endParaRPr sz="1522">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
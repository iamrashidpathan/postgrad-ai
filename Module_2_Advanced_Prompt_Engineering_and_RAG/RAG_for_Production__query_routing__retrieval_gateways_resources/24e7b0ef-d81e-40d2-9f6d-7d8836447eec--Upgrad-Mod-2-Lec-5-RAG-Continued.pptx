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Lst>
  <p:sldSz cy="5143500" cx="9144000"/>
  <p:notesSz cx="6858000" cy="9144000"/>
  <p:embeddedFontLst>
    <p:embeddedFont>
      <p:font typeface="Raleway"/>
      <p:regular r:id="rId94"/>
      <p:bold r:id="rId95"/>
      <p:italic r:id="rId96"/>
      <p:boldItalic r:id="rId97"/>
    </p:embeddedFont>
    <p:embeddedFont>
      <p:font typeface="Roboto"/>
      <p:regular r:id="rId98"/>
      <p:bold r:id="rId99"/>
      <p:italic r:id="rId100"/>
      <p:boldItalic r:id="rId101"/>
    </p:embeddedFont>
    <p:embeddedFont>
      <p:font typeface="Lato"/>
      <p:regular r:id="rId102"/>
      <p:bold r:id="rId103"/>
      <p:italic r:id="rId104"/>
      <p:boldItalic r:id="rId105"/>
    </p:embeddedFont>
    <p:embeddedFont>
      <p:font typeface="Quattrocento Sans"/>
      <p:regular r:id="rId106"/>
      <p:bold r:id="rId107"/>
      <p:italic r:id="rId108"/>
      <p:boldItalic r:id="rId109"/>
    </p:embeddedFont>
    <p:embeddedFont>
      <p:font typeface="Roboto Mono"/>
      <p:regular r:id="rId110"/>
      <p:bold r:id="rId111"/>
      <p:italic r:id="rId112"/>
      <p:boldItalic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QuattrocentoSans-bold.fntdata"/><Relationship Id="rId106" Type="http://schemas.openxmlformats.org/officeDocument/2006/relationships/font" Target="fonts/QuattrocentoSans-regular.fntdata"/><Relationship Id="rId105" Type="http://schemas.openxmlformats.org/officeDocument/2006/relationships/font" Target="fonts/Lato-boldItalic.fntdata"/><Relationship Id="rId104" Type="http://schemas.openxmlformats.org/officeDocument/2006/relationships/font" Target="fonts/Lato-italic.fntdata"/><Relationship Id="rId109" Type="http://schemas.openxmlformats.org/officeDocument/2006/relationships/font" Target="fonts/QuattrocentoSans-boldItalic.fntdata"/><Relationship Id="rId108" Type="http://schemas.openxmlformats.org/officeDocument/2006/relationships/font" Target="fonts/QuattrocentoSans-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Lato-bold.fntdata"/><Relationship Id="rId102" Type="http://schemas.openxmlformats.org/officeDocument/2006/relationships/font" Target="fonts/Lato-regular.fntdata"/><Relationship Id="rId101" Type="http://schemas.openxmlformats.org/officeDocument/2006/relationships/font" Target="fonts/Roboto-boldItalic.fntdata"/><Relationship Id="rId100" Type="http://schemas.openxmlformats.org/officeDocument/2006/relationships/font" Target="fonts/Roboto-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Raleway-bold.fntdata"/><Relationship Id="rId94" Type="http://schemas.openxmlformats.org/officeDocument/2006/relationships/font" Target="fonts/Raleway-regular.fntdata"/><Relationship Id="rId97" Type="http://schemas.openxmlformats.org/officeDocument/2006/relationships/font" Target="fonts/Raleway-boldItalic.fntdata"/><Relationship Id="rId96" Type="http://schemas.openxmlformats.org/officeDocument/2006/relationships/font" Target="fonts/Raleway-italic.fntdata"/><Relationship Id="rId11" Type="http://schemas.openxmlformats.org/officeDocument/2006/relationships/slide" Target="slides/slide6.xml"/><Relationship Id="rId99" Type="http://schemas.openxmlformats.org/officeDocument/2006/relationships/font" Target="fonts/Roboto-bold.fntdata"/><Relationship Id="rId10" Type="http://schemas.openxmlformats.org/officeDocument/2006/relationships/slide" Target="slides/slide5.xml"/><Relationship Id="rId98" Type="http://schemas.openxmlformats.org/officeDocument/2006/relationships/font" Target="fonts/Roboto-regular.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RobotoMono-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3" Type="http://schemas.openxmlformats.org/officeDocument/2006/relationships/font" Target="fonts/RobotoMono-boldItalic.fntdata"/><Relationship Id="rId112" Type="http://schemas.openxmlformats.org/officeDocument/2006/relationships/font" Target="fonts/RobotoMono-italic.fntdata"/><Relationship Id="rId111" Type="http://schemas.openxmlformats.org/officeDocument/2006/relationships/font" Target="fonts/RobotoMono-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5b97c3a9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3e5b97c3a9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8b910db99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8b910db99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ab524df6f_1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fab524df6f_1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single slide replaces ~15 theory slides (IVF, PQ, IVF+PQ, HNSW). Give only the intuition + the name in parentheses so if they read elsewhere they recognize the term. The practical point: you choose an index type; the DB implements the trick. No k-means / Voronoi / ADC math needed here.</a:t>
            </a:r>
            <a:endParaRPr/>
          </a:p>
        </p:txBody>
      </p:sp>
      <p:sp>
        <p:nvSpPr>
          <p:cNvPr id="85" name="Google Shape;85;g3fab524df6f_1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b910db99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8b910db998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8b910db998_0_20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8b910db998_0_20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8b910db998_0_20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b910db998_0_24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8b910db998_0_24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8b910db998_0_24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8b910db998_0_31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8b910db998_0_31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38b910db998_0_31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8b910db998_0_35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8b910db998_0_35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g38b910db998_0_35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8b910db998_0_41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g38b910db998_0_41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g38b910db998_0_41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8b910db998_0_46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38b910db998_0_46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g38b910db998_0_46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e8b30fe9c7_0_2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g3e8b30fe9c7_0_27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f70d9c9f7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f70d9c9f7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eee025136d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eee025136d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hce93c79a2f9e5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hce93c79a2f9e5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8b910db998_0_49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8b910db998_0_49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g38b910db998_0_49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eb97d27b6b_0_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g3eb97d27b6b_0_9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5" name="Google Shape;835;g3eb97d27b6b_0_9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hce93c79a2f9e5d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hce93c79a2f9e5d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fac03b0607_2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fac03b0607_2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fac03b0607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3fac03b0607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hce93c79a2f9e5d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hce93c79a2f9e5d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fac03b0607_2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3fac03b0607_2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fac03b0607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3fac03b0607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8b30fe9c7_0_3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5" name="Google Shape;935;g3e8b30fe9c7_0_3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e8b30fe9c7_0_3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5" name="Google Shape;1285;g3e8b30fe9c7_0_3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8b910db998_0_53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0" name="Google Shape;1530;g38b910db998_0_53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1" name="Google Shape;1531;g38b910db998_0_53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3fac03b0607_0_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3" name="Google Shape;1603;g3fac03b0607_0_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4" name="Google Shape;1604;g3fac03b0607_0_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g3fac03b0607_0_7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6" name="Google Shape;1626;g3fac03b0607_0_7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Chroma = a database that wraps vector search with everything a RAG app needs (text, metadata, persistence, filtering). FAISS = a fast ANN library; you assemble the database around it and must maintain the id→text/metadata mapping yourself. Chroma for convenience/completeness at small–medium scale; FAISS for raw scale and control.</a:t>
            </a:r>
            <a:endParaRPr/>
          </a:p>
        </p:txBody>
      </p:sp>
      <p:sp>
        <p:nvSpPr>
          <p:cNvPr id="1627" name="Google Shape;1627;g3fac03b0607_0_7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3e8b30fe9c7_0_3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3e8b30fe9c7_0_3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3eee025136d_6_1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0" name="Google Shape;1670;g3eee025136d_6_11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1" name="Google Shape;1671;g3eee025136d_6_11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1" name="Shape 1701"/>
        <p:cNvGrpSpPr/>
        <p:nvPr/>
      </p:nvGrpSpPr>
      <p:grpSpPr>
        <a:xfrm>
          <a:off x="0" y="0"/>
          <a:ext cx="0" cy="0"/>
          <a:chOff x="0" y="0"/>
          <a:chExt cx="0" cy="0"/>
        </a:xfrm>
      </p:grpSpPr>
      <p:sp>
        <p:nvSpPr>
          <p:cNvPr id="1702" name="Google Shape;1702;g3fac03b0607_0_16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3" name="Google Shape;1703;g3fac03b0607_0_16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feature raw vector search alone cannot do. Pre-filtering on metadata (the "where" clause) restricts the candidate set before/alongside similarity search: better precision, faster, easier citations. Real questions are usually scoped ("in the HR policy...") — turn that scope into a filter.</a:t>
            </a:r>
            <a:endParaRPr/>
          </a:p>
        </p:txBody>
      </p:sp>
      <p:sp>
        <p:nvSpPr>
          <p:cNvPr id="1704" name="Google Shape;1704;g3fac03b0607_0_16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g3fac03b0607_0_52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3" name="Google Shape;1733;g3fac03b0607_0_52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Pre-filter = restrict to matching metadata before/within the ANN search: faster, precise, and reliably fills K, but the index must support filtered search. Post-filter = search then discard non-matches: works anywhere but can return &lt;K and wastes effort; mitigate by over-fetching. Prefer pre-filtering when available.</a:t>
            </a:r>
            <a:endParaRPr/>
          </a:p>
        </p:txBody>
      </p:sp>
      <p:sp>
        <p:nvSpPr>
          <p:cNvPr id="1734" name="Google Shape;1734;g3fac03b0607_0_52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g3eea6cf062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6" name="Google Shape;1776;g3eea6cf0627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g3eea6cf062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1" name="Google Shape;1781;g3eea6cf062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g3eea6cf0627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7" name="Google Shape;1787;g3eea6cf0627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g3eea6cf0627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2" name="Google Shape;1792;g3eea6cf0627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5" name="Shape 1795"/>
        <p:cNvGrpSpPr/>
        <p:nvPr/>
      </p:nvGrpSpPr>
      <p:grpSpPr>
        <a:xfrm>
          <a:off x="0" y="0"/>
          <a:ext cx="0" cy="0"/>
          <a:chOff x="0" y="0"/>
          <a:chExt cx="0" cy="0"/>
        </a:xfrm>
      </p:grpSpPr>
      <p:sp>
        <p:nvSpPr>
          <p:cNvPr id="1796" name="Google Shape;1796;g3eedb9b46f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7" name="Google Shape;1797;g3eedb9b46f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g3fac03b0607_0_6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3" name="Google Shape;1803;g3fac03b0607_0_6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g3fac03b0607_0_24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8" name="Google Shape;1818;g3fac03b0607_0_24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retrieve→rerank→generate pipeline. Stage 1 optimizes recall cheaply (hybrid + ANN → top ~100). Stage 2 optimizes precision expensively (rerank the 100). Then top 5–20 to the LLM. You cannot afford the precise model on the whole corpus — that is the entire reason for two stages.</a:t>
            </a:r>
            <a:endParaRPr/>
          </a:p>
        </p:txBody>
      </p:sp>
      <p:sp>
        <p:nvSpPr>
          <p:cNvPr id="1819" name="Google Shape;1819;g3fac03b0607_0_24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g3fac03b0607_0_34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0" name="Google Shape;1850;g3fac03b0607_0_34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Why the split works. Bi-encoder embeds query and doc SEPARATELY, so doc vectors precompute and search is just similarity → scales. Cross-encoder feeds query+doc TOGETHER into one model, seeing token interactions → much better relevance, but must run per pair at query time → only affordable on the ~100 shortlist. Same "meaning as vectors" idea as before, applied at two speeds.</a:t>
            </a:r>
            <a:endParaRPr/>
          </a:p>
        </p:txBody>
      </p:sp>
      <p:sp>
        <p:nvSpPr>
          <p:cNvPr id="1851" name="Google Shape;1851;g3fac03b0607_0_34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g3ebca42d8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1" name="Google Shape;1891;g3ebca42d86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6" name="Shape 1896"/>
        <p:cNvGrpSpPr/>
        <p:nvPr/>
      </p:nvGrpSpPr>
      <p:grpSpPr>
        <a:xfrm>
          <a:off x="0" y="0"/>
          <a:ext cx="0" cy="0"/>
          <a:chOff x="0" y="0"/>
          <a:chExt cx="0" cy="0"/>
        </a:xfrm>
      </p:grpSpPr>
      <p:sp>
        <p:nvSpPr>
          <p:cNvPr id="1897" name="Google Shape;1897;g38b910db998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8" name="Google Shape;1898;g38b910db998_0_6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3" name="Shape 1903"/>
        <p:cNvGrpSpPr/>
        <p:nvPr/>
      </p:nvGrpSpPr>
      <p:grpSpPr>
        <a:xfrm>
          <a:off x="0" y="0"/>
          <a:ext cx="0" cy="0"/>
          <a:chOff x="0" y="0"/>
          <a:chExt cx="0" cy="0"/>
        </a:xfrm>
      </p:grpSpPr>
      <p:sp>
        <p:nvSpPr>
          <p:cNvPr id="1904" name="Google Shape;1904;g3fac03b0607_0_43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5" name="Google Shape;1905;g3fac03b0607_0_43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Optional/advanced. ColBERT = "late interaction": one vector per token; score = sum over query tokens of the max similarity to any doc token (MaxSim). More expressive than a single doc vector, far cheaper than a cross-encoder, but storage-heavy. Frame as a middle ground; audiences do not need the math.</a:t>
            </a:r>
            <a:endParaRPr/>
          </a:p>
        </p:txBody>
      </p:sp>
      <p:sp>
        <p:nvSpPr>
          <p:cNvPr id="1906" name="Google Shape;1906;g3fac03b0607_0_43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hce93c79a2f9e5d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4" name="Google Shape;1944;hce93c79a2f9e5d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g3eee025136d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9" name="Google Shape;1949;g3eee025136d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3" name="Shape 1953"/>
        <p:cNvGrpSpPr/>
        <p:nvPr/>
      </p:nvGrpSpPr>
      <p:grpSpPr>
        <a:xfrm>
          <a:off x="0" y="0"/>
          <a:ext cx="0" cy="0"/>
          <a:chOff x="0" y="0"/>
          <a:chExt cx="0" cy="0"/>
        </a:xfrm>
      </p:grpSpPr>
      <p:sp>
        <p:nvSpPr>
          <p:cNvPr id="1954" name="Google Shape;1954;g3f70d9c9f7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5" name="Google Shape;1955;g3f70d9c9f7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g3f9a49aaebf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g3f9a49aaebf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g3f9a49aaeb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5" name="Google Shape;1965;g3f9a49aaeb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g3f9a49aaeb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1" name="Google Shape;1971;g3f9a49aaeb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3f9a49aaeb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8" name="Google Shape;1978;g3f9a49aaeb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1" name="Shape 1981"/>
        <p:cNvGrpSpPr/>
        <p:nvPr/>
      </p:nvGrpSpPr>
      <p:grpSpPr>
        <a:xfrm>
          <a:off x="0" y="0"/>
          <a:ext cx="0" cy="0"/>
          <a:chOff x="0" y="0"/>
          <a:chExt cx="0" cy="0"/>
        </a:xfrm>
      </p:grpSpPr>
      <p:sp>
        <p:nvSpPr>
          <p:cNvPr id="1982" name="Google Shape;1982;g3f9a49aaeb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3" name="Google Shape;1983;g3f9a49aaeb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g3f9a49aaeb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2" name="Google Shape;2012;g3f9a49aaeb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g3f9a49aaebf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0" name="Google Shape;2030;g3f9a49aaebf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6" name="Shape 2036"/>
        <p:cNvGrpSpPr/>
        <p:nvPr/>
      </p:nvGrpSpPr>
      <p:grpSpPr>
        <a:xfrm>
          <a:off x="0" y="0"/>
          <a:ext cx="0" cy="0"/>
          <a:chOff x="0" y="0"/>
          <a:chExt cx="0" cy="0"/>
        </a:xfrm>
      </p:grpSpPr>
      <p:sp>
        <p:nvSpPr>
          <p:cNvPr id="2037" name="Google Shape;2037;g3f9a49aaeb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8" name="Google Shape;2038;g3f9a49aaeb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g3f9a49aaebf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7" name="Google Shape;2057;g3f9a49aaebf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g3f9a49aaeb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3" name="Google Shape;2063;g3f9a49aaeb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3f9a49aaebf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2" name="Google Shape;2082;g3f9a49aaebf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6" name="Shape 2086"/>
        <p:cNvGrpSpPr/>
        <p:nvPr/>
      </p:nvGrpSpPr>
      <p:grpSpPr>
        <a:xfrm>
          <a:off x="0" y="0"/>
          <a:ext cx="0" cy="0"/>
          <a:chOff x="0" y="0"/>
          <a:chExt cx="0" cy="0"/>
        </a:xfrm>
      </p:grpSpPr>
      <p:sp>
        <p:nvSpPr>
          <p:cNvPr id="2087" name="Google Shape;2087;hce93c79a2f9e5d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8" name="Google Shape;2088;hce93c79a2f9e5d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g3fac03b0607_2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4" name="Google Shape;2094;g3fac03b0607_2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8" name="Shape 2098"/>
        <p:cNvGrpSpPr/>
        <p:nvPr/>
      </p:nvGrpSpPr>
      <p:grpSpPr>
        <a:xfrm>
          <a:off x="0" y="0"/>
          <a:ext cx="0" cy="0"/>
          <a:chOff x="0" y="0"/>
          <a:chExt cx="0" cy="0"/>
        </a:xfrm>
      </p:grpSpPr>
      <p:sp>
        <p:nvSpPr>
          <p:cNvPr id="2099" name="Google Shape;2099;g3fac03b0607_2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0" name="Google Shape;2100;g3fac03b0607_2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g3f9a49aaebf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6" name="Google Shape;2106;g3f9a49aaebf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3f9a49aaebf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5" name="Google Shape;2125;g3f9a49aaebf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g3f9a49aaebf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1" name="Google Shape;2131;g3f9a49aaebf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We've just given our agent a toolkit for shaping queries, but a toolkit is useless if you don't know when to use which tool. If an engineer pastes a massive error log, doing a 'Step-Back' prompt might ruin the context. If they ask a vague policy question, 'Multi-Query' is overkill. In production systems, you cannot hardcode these paths. You need the system to read the state and decide the next best action dynamically. This brings us to the brain of our traffic control: Query Routing.</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g3f9a49aaebf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5" name="Google Shape;2145;g3f9a49aaebf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7" name="Shape 2157"/>
        <p:cNvGrpSpPr/>
        <p:nvPr/>
      </p:nvGrpSpPr>
      <p:grpSpPr>
        <a:xfrm>
          <a:off x="0" y="0"/>
          <a:ext cx="0" cy="0"/>
          <a:chOff x="0" y="0"/>
          <a:chExt cx="0" cy="0"/>
        </a:xfrm>
      </p:grpSpPr>
      <p:sp>
        <p:nvSpPr>
          <p:cNvPr id="2158" name="Google Shape;2158;g3f9a49aaebf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9" name="Google Shape;2159;g3f9a49aaebf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7" name="Shape 2177"/>
        <p:cNvGrpSpPr/>
        <p:nvPr/>
      </p:nvGrpSpPr>
      <p:grpSpPr>
        <a:xfrm>
          <a:off x="0" y="0"/>
          <a:ext cx="0" cy="0"/>
          <a:chOff x="0" y="0"/>
          <a:chExt cx="0" cy="0"/>
        </a:xfrm>
      </p:grpSpPr>
      <p:sp>
        <p:nvSpPr>
          <p:cNvPr id="2178" name="Google Shape;2178;g3f9a49aaebf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9" name="Google Shape;2179;g3f9a49aaebf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g3f9a49aaebf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4" name="Google Shape;2194;g3f9a49aaebf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9" name="Shape 2199"/>
        <p:cNvGrpSpPr/>
        <p:nvPr/>
      </p:nvGrpSpPr>
      <p:grpSpPr>
        <a:xfrm>
          <a:off x="0" y="0"/>
          <a:ext cx="0" cy="0"/>
          <a:chOff x="0" y="0"/>
          <a:chExt cx="0" cy="0"/>
        </a:xfrm>
      </p:grpSpPr>
      <p:sp>
        <p:nvSpPr>
          <p:cNvPr id="2200" name="Google Shape;2200;g3fac03b0607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1" name="Google Shape;2201;g3fac03b0607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2" name="Shape 2212"/>
        <p:cNvGrpSpPr/>
        <p:nvPr/>
      </p:nvGrpSpPr>
      <p:grpSpPr>
        <a:xfrm>
          <a:off x="0" y="0"/>
          <a:ext cx="0" cy="0"/>
          <a:chOff x="0" y="0"/>
          <a:chExt cx="0" cy="0"/>
        </a:xfrm>
      </p:grpSpPr>
      <p:sp>
        <p:nvSpPr>
          <p:cNvPr id="2213" name="Google Shape;2213;g3f9a49aaebf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4" name="Google Shape;2214;g3f9a49aaebf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8" name="Shape 2218"/>
        <p:cNvGrpSpPr/>
        <p:nvPr/>
      </p:nvGrpSpPr>
      <p:grpSpPr>
        <a:xfrm>
          <a:off x="0" y="0"/>
          <a:ext cx="0" cy="0"/>
          <a:chOff x="0" y="0"/>
          <a:chExt cx="0" cy="0"/>
        </a:xfrm>
      </p:grpSpPr>
      <p:sp>
        <p:nvSpPr>
          <p:cNvPr id="2219" name="Google Shape;2219;g3f9a49aaebf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0" name="Google Shape;2220;g3f9a49aaebf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6" name="Shape 2226"/>
        <p:cNvGrpSpPr/>
        <p:nvPr/>
      </p:nvGrpSpPr>
      <p:grpSpPr>
        <a:xfrm>
          <a:off x="0" y="0"/>
          <a:ext cx="0" cy="0"/>
          <a:chOff x="0" y="0"/>
          <a:chExt cx="0" cy="0"/>
        </a:xfrm>
      </p:grpSpPr>
      <p:sp>
        <p:nvSpPr>
          <p:cNvPr id="2227" name="Google Shape;2227;g3f9a49aaebf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8" name="Google Shape;2228;g3f9a49aaebf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0" name="Shape 2240"/>
        <p:cNvGrpSpPr/>
        <p:nvPr/>
      </p:nvGrpSpPr>
      <p:grpSpPr>
        <a:xfrm>
          <a:off x="0" y="0"/>
          <a:ext cx="0" cy="0"/>
          <a:chOff x="0" y="0"/>
          <a:chExt cx="0" cy="0"/>
        </a:xfrm>
      </p:grpSpPr>
      <p:sp>
        <p:nvSpPr>
          <p:cNvPr id="2241" name="Google Shape;2241;g3fac03b0607_2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2" name="Google Shape;2242;g3fac03b0607_2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6" name="Shape 2246"/>
        <p:cNvGrpSpPr/>
        <p:nvPr/>
      </p:nvGrpSpPr>
      <p:grpSpPr>
        <a:xfrm>
          <a:off x="0" y="0"/>
          <a:ext cx="0" cy="0"/>
          <a:chOff x="0" y="0"/>
          <a:chExt cx="0" cy="0"/>
        </a:xfrm>
      </p:grpSpPr>
      <p:sp>
        <p:nvSpPr>
          <p:cNvPr id="2247" name="Google Shape;2247;g3f9a49aaebf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8" name="Google Shape;2248;g3f9a49aaebf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3" name="Shape 2253"/>
        <p:cNvGrpSpPr/>
        <p:nvPr/>
      </p:nvGrpSpPr>
      <p:grpSpPr>
        <a:xfrm>
          <a:off x="0" y="0"/>
          <a:ext cx="0" cy="0"/>
          <a:chOff x="0" y="0"/>
          <a:chExt cx="0" cy="0"/>
        </a:xfrm>
      </p:grpSpPr>
      <p:sp>
        <p:nvSpPr>
          <p:cNvPr id="2254" name="Google Shape;2254;g3fac03b0607_2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5" name="Google Shape;2255;g3fac03b0607_2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3f9a49aaebf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9" name="Google Shape;2269;g3f9a49aaebf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g3f9a49aaebf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5" name="Google Shape;2275;g3f9a49aaebf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9" name="Shape 2279"/>
        <p:cNvGrpSpPr/>
        <p:nvPr/>
      </p:nvGrpSpPr>
      <p:grpSpPr>
        <a:xfrm>
          <a:off x="0" y="0"/>
          <a:ext cx="0" cy="0"/>
          <a:chOff x="0" y="0"/>
          <a:chExt cx="0" cy="0"/>
        </a:xfrm>
      </p:grpSpPr>
      <p:sp>
        <p:nvSpPr>
          <p:cNvPr id="2280" name="Google Shape;2280;g3f9a49aaebf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1" name="Google Shape;2281;g3f9a49aaebf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1" name="Shape 2311"/>
        <p:cNvGrpSpPr/>
        <p:nvPr/>
      </p:nvGrpSpPr>
      <p:grpSpPr>
        <a:xfrm>
          <a:off x="0" y="0"/>
          <a:ext cx="0" cy="0"/>
          <a:chOff x="0" y="0"/>
          <a:chExt cx="0" cy="0"/>
        </a:xfrm>
      </p:grpSpPr>
      <p:sp>
        <p:nvSpPr>
          <p:cNvPr id="2312" name="Google Shape;2312;g3f9a49aaebf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3" name="Google Shape;2313;g3f9a49aaebf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hce93c79a2f9e5d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0" name="Google Shape;2320;hce93c79a2f9e5d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4" name="Shape 2324"/>
        <p:cNvGrpSpPr/>
        <p:nvPr/>
      </p:nvGrpSpPr>
      <p:grpSpPr>
        <a:xfrm>
          <a:off x="0" y="0"/>
          <a:ext cx="0" cy="0"/>
          <a:chOff x="0" y="0"/>
          <a:chExt cx="0" cy="0"/>
        </a:xfrm>
      </p:grpSpPr>
      <p:sp>
        <p:nvSpPr>
          <p:cNvPr id="2325" name="Google Shape;2325;g3fac03b0607_2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6" name="Google Shape;2326;g3fac03b0607_2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g3fac03b0607_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2" name="Google Shape;2332;g3fac03b0607_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3f9a49aaebf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8" name="Google Shape;2338;g3f9a49aaebf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2" name="Shape 2362"/>
        <p:cNvGrpSpPr/>
        <p:nvPr/>
      </p:nvGrpSpPr>
      <p:grpSpPr>
        <a:xfrm>
          <a:off x="0" y="0"/>
          <a:ext cx="0" cy="0"/>
          <a:chOff x="0" y="0"/>
          <a:chExt cx="0" cy="0"/>
        </a:xfrm>
      </p:grpSpPr>
      <p:sp>
        <p:nvSpPr>
          <p:cNvPr id="2363" name="Google Shape;2363;g3f9a49aaebf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4" name="Google Shape;2364;g3f9a49aaebf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g3f9a49aaebf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4" name="Google Shape;2384;g3f9a49aaebf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2" name="Shape 2402"/>
        <p:cNvGrpSpPr/>
        <p:nvPr/>
      </p:nvGrpSpPr>
      <p:grpSpPr>
        <a:xfrm>
          <a:off x="0" y="0"/>
          <a:ext cx="0" cy="0"/>
          <a:chOff x="0" y="0"/>
          <a:chExt cx="0" cy="0"/>
        </a:xfrm>
      </p:grpSpPr>
      <p:sp>
        <p:nvSpPr>
          <p:cNvPr id="2403" name="Google Shape;2403;g3f9a49aaebf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4" name="Google Shape;2404;g3f9a49aaebf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8" name="Shape 2438"/>
        <p:cNvGrpSpPr/>
        <p:nvPr/>
      </p:nvGrpSpPr>
      <p:grpSpPr>
        <a:xfrm>
          <a:off x="0" y="0"/>
          <a:ext cx="0" cy="0"/>
          <a:chOff x="0" y="0"/>
          <a:chExt cx="0" cy="0"/>
        </a:xfrm>
      </p:grpSpPr>
      <p:sp>
        <p:nvSpPr>
          <p:cNvPr id="2439" name="Google Shape;2439;hce93c79a2f9e5d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0" name="Google Shape;2440;hce93c79a2f9e5d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4" name="Shape 2444"/>
        <p:cNvGrpSpPr/>
        <p:nvPr/>
      </p:nvGrpSpPr>
      <p:grpSpPr>
        <a:xfrm>
          <a:off x="0" y="0"/>
          <a:ext cx="0" cy="0"/>
          <a:chOff x="0" y="0"/>
          <a:chExt cx="0" cy="0"/>
        </a:xfrm>
      </p:grpSpPr>
      <p:sp>
        <p:nvSpPr>
          <p:cNvPr id="2445" name="Google Shape;2445;g3fac03b0607_2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6" name="Google Shape;2446;g3fac03b0607_2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0" name="Shape 2450"/>
        <p:cNvGrpSpPr/>
        <p:nvPr/>
      </p:nvGrpSpPr>
      <p:grpSpPr>
        <a:xfrm>
          <a:off x="0" y="0"/>
          <a:ext cx="0" cy="0"/>
          <a:chOff x="0" y="0"/>
          <a:chExt cx="0" cy="0"/>
        </a:xfrm>
      </p:grpSpPr>
      <p:sp>
        <p:nvSpPr>
          <p:cNvPr id="2451" name="Google Shape;2451;g3fac03b0607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2" name="Google Shape;2452;g3fac03b0607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6" name="Shape 2456"/>
        <p:cNvGrpSpPr/>
        <p:nvPr/>
      </p:nvGrpSpPr>
      <p:grpSpPr>
        <a:xfrm>
          <a:off x="0" y="0"/>
          <a:ext cx="0" cy="0"/>
          <a:chOff x="0" y="0"/>
          <a:chExt cx="0" cy="0"/>
        </a:xfrm>
      </p:grpSpPr>
      <p:sp>
        <p:nvSpPr>
          <p:cNvPr id="2457" name="Google Shape;2457;g3f9a49aaebf_0_8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8" name="Google Shape;2458;g3f9a49aaebf_0_8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_1">
    <p:spTree>
      <p:nvGrpSpPr>
        <p:cNvPr id="51" name="Shape 51"/>
        <p:cNvGrpSpPr/>
        <p:nvPr/>
      </p:nvGrpSpPr>
      <p:grpSpPr>
        <a:xfrm>
          <a:off x="0" y="0"/>
          <a:ext cx="0" cy="0"/>
          <a:chOff x="0" y="0"/>
          <a:chExt cx="0" cy="0"/>
        </a:xfrm>
      </p:grpSpPr>
      <p:sp>
        <p:nvSpPr>
          <p:cNvPr id="52" name="Google Shape;52;p13"/>
          <p:cNvSpPr txBox="1"/>
          <p:nvPr>
            <p:ph type="title"/>
          </p:nvPr>
        </p:nvSpPr>
        <p:spPr>
          <a:xfrm>
            <a:off x="822960" y="119702"/>
            <a:ext cx="7543800" cy="6804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595959"/>
              </a:buClr>
              <a:buSzPts val="3200"/>
              <a:buFont typeface="Calibri"/>
              <a:buNone/>
              <a:defRPr sz="3200">
                <a:solidFill>
                  <a:srgbClr val="595959"/>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 name="Google Shape;53;p13"/>
          <p:cNvSpPr txBox="1"/>
          <p:nvPr>
            <p:ph idx="1" type="body"/>
          </p:nvPr>
        </p:nvSpPr>
        <p:spPr>
          <a:xfrm>
            <a:off x="822964" y="1200150"/>
            <a:ext cx="7543800" cy="3429000"/>
          </a:xfrm>
          <a:prstGeom prst="rect">
            <a:avLst/>
          </a:prstGeom>
          <a:noFill/>
          <a:ln>
            <a:noFill/>
          </a:ln>
        </p:spPr>
        <p:txBody>
          <a:bodyPr anchorCtr="0" anchor="t" bIns="34275" lIns="0" spcFirstLastPara="1" rIns="0" wrap="square" tIns="34275">
            <a:normAutofit/>
          </a:bodyPr>
          <a:lstStyle>
            <a:lvl1pPr indent="-228600" lvl="0" marL="457200" algn="l">
              <a:lnSpc>
                <a:spcPct val="90000"/>
              </a:lnSpc>
              <a:spcBef>
                <a:spcPts val="700"/>
              </a:spcBef>
              <a:spcAft>
                <a:spcPts val="0"/>
              </a:spcAft>
              <a:buSzPts val="2100"/>
              <a:buNone/>
              <a:defRPr sz="2100">
                <a:solidFill>
                  <a:srgbClr val="595959"/>
                </a:solidFill>
              </a:defRPr>
            </a:lvl1pPr>
            <a:lvl2pPr indent="-342900" lvl="1" marL="914400" algn="l">
              <a:lnSpc>
                <a:spcPct val="90000"/>
              </a:lnSpc>
              <a:spcBef>
                <a:spcPts val="100"/>
              </a:spcBef>
              <a:spcAft>
                <a:spcPts val="0"/>
              </a:spcAft>
              <a:buSzPts val="1800"/>
              <a:buChar char="○"/>
              <a:defRPr sz="1800">
                <a:solidFill>
                  <a:srgbClr val="595959"/>
                </a:solidFill>
              </a:defRPr>
            </a:lvl2pPr>
            <a:lvl3pPr indent="-323850" lvl="2" marL="1371600" algn="l">
              <a:lnSpc>
                <a:spcPct val="90000"/>
              </a:lnSpc>
              <a:spcBef>
                <a:spcPts val="200"/>
              </a:spcBef>
              <a:spcAft>
                <a:spcPts val="0"/>
              </a:spcAft>
              <a:buSzPts val="1500"/>
              <a:buChar char="■"/>
              <a:defRPr sz="1500">
                <a:solidFill>
                  <a:srgbClr val="595959"/>
                </a:solidFill>
              </a:defRPr>
            </a:lvl3pPr>
            <a:lvl4pPr indent="-304800" lvl="3" marL="1828800" algn="l">
              <a:lnSpc>
                <a:spcPct val="90000"/>
              </a:lnSpc>
              <a:spcBef>
                <a:spcPts val="200"/>
              </a:spcBef>
              <a:spcAft>
                <a:spcPts val="0"/>
              </a:spcAft>
              <a:buSzPts val="1200"/>
              <a:buChar char="●"/>
              <a:defRPr sz="1200">
                <a:solidFill>
                  <a:srgbClr val="595959"/>
                </a:solidFill>
              </a:defRPr>
            </a:lvl4pPr>
            <a:lvl5pPr indent="-298450" lvl="4" marL="2286000" algn="l">
              <a:lnSpc>
                <a:spcPct val="90000"/>
              </a:lnSpc>
              <a:spcBef>
                <a:spcPts val="200"/>
              </a:spcBef>
              <a:spcAft>
                <a:spcPts val="0"/>
              </a:spcAft>
              <a:buSzPts val="1100"/>
              <a:buChar char="○"/>
              <a:defRPr sz="1100">
                <a:solidFill>
                  <a:srgbClr val="595959"/>
                </a:solidFill>
                <a:latin typeface="Calibri"/>
                <a:ea typeface="Calibri"/>
                <a:cs typeface="Calibri"/>
                <a:sym typeface="Calibri"/>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200"/>
              </a:spcBef>
              <a:spcAft>
                <a:spcPts val="0"/>
              </a:spcAft>
              <a:buSzPts val="1400"/>
              <a:buChar char="●"/>
              <a:defRPr/>
            </a:lvl7pPr>
            <a:lvl8pPr indent="-317500" lvl="7" marL="3657600" algn="l">
              <a:lnSpc>
                <a:spcPct val="90000"/>
              </a:lnSpc>
              <a:spcBef>
                <a:spcPts val="200"/>
              </a:spcBef>
              <a:spcAft>
                <a:spcPts val="0"/>
              </a:spcAft>
              <a:buSzPts val="1400"/>
              <a:buChar char="○"/>
              <a:defRPr/>
            </a:lvl8pPr>
            <a:lvl9pPr indent="-317500" lvl="8" marL="4114800" algn="l">
              <a:lnSpc>
                <a:spcPct val="90000"/>
              </a:lnSpc>
              <a:spcBef>
                <a:spcPts val="200"/>
              </a:spcBef>
              <a:spcAft>
                <a:spcPts val="200"/>
              </a:spcAft>
              <a:buSzPts val="1400"/>
              <a:buChar char="■"/>
              <a:defRPr/>
            </a:lvl9pPr>
          </a:lstStyle>
          <a:p/>
        </p:txBody>
      </p:sp>
      <p:sp>
        <p:nvSpPr>
          <p:cNvPr id="54" name="Google Shape;54;p13"/>
          <p:cNvSpPr txBox="1"/>
          <p:nvPr>
            <p:ph idx="10" type="dt"/>
          </p:nvPr>
        </p:nvSpPr>
        <p:spPr>
          <a:xfrm>
            <a:off x="822965" y="4844843"/>
            <a:ext cx="18543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1" type="ftr"/>
          </p:nvPr>
        </p:nvSpPr>
        <p:spPr>
          <a:xfrm>
            <a:off x="2764640" y="5029205"/>
            <a:ext cx="3617100" cy="897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500">
                <a:solidFill>
                  <a:schemeClr val="dk1"/>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6" name="Google Shape;56;p13"/>
          <p:cNvSpPr txBox="1"/>
          <p:nvPr>
            <p:ph idx="12" type="sldNum"/>
          </p:nvPr>
        </p:nvSpPr>
        <p:spPr>
          <a:xfrm>
            <a:off x="7425349" y="4844843"/>
            <a:ext cx="9840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7" name="Shape 5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title="Screenshot 2026-06-10 125911.png"/>
          <p:cNvPicPr preferRelativeResize="0"/>
          <p:nvPr/>
        </p:nvPicPr>
        <p:blipFill rotWithShape="1">
          <a:blip r:embed="rId1">
            <a:alphaModFix/>
          </a:blip>
          <a:srcRect b="12770" l="12903" r="12896" t="12770"/>
          <a:stretch/>
        </p:blipFill>
        <p:spPr>
          <a:xfrm>
            <a:off x="8472450" y="0"/>
            <a:ext cx="659575" cy="6936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ai.meta.com/blog/retrieval-augmented-generation-streamlining-the-creation-of-intelligent-natural-language-processing-models/" TargetMode="Externa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github.com/facebookresearch/faiss" TargetMode="Externa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ai.meta.com/blog/retrieval-augmented-generation-streamlining-the-creation-of-intelligent-natural-language-processing-models/" TargetMode="Externa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13.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6.png"/><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6.png"/><Relationship Id="rId4" Type="http://schemas.openxmlformats.org/officeDocument/2006/relationships/image" Target="../media/image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6.png"/><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6.png"/><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6.png"/><Relationship Id="rId4"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6.png"/><Relationship Id="rId4" Type="http://schemas.openxmlformats.org/officeDocument/2006/relationships/image" Target="../media/image2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6.png"/><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6.png"/><Relationship Id="rId4" Type="http://schemas.openxmlformats.org/officeDocument/2006/relationships/image" Target="../media/image2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6.png"/><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6.png"/><Relationship Id="rId4" Type="http://schemas.openxmlformats.org/officeDocument/2006/relationships/image" Target="../media/image5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6.png"/><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6.png"/><Relationship Id="rId4" Type="http://schemas.openxmlformats.org/officeDocument/2006/relationships/image" Target="../media/image46.png"/><Relationship Id="rId5" Type="http://schemas.openxmlformats.org/officeDocument/2006/relationships/image" Target="../media/image3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2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3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26.png"/><Relationship Id="rId4" Type="http://schemas.openxmlformats.org/officeDocument/2006/relationships/image" Target="../media/image34.png"/><Relationship Id="rId5" Type="http://schemas.openxmlformats.org/officeDocument/2006/relationships/image" Target="../media/image3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6.png"/><Relationship Id="rId4" Type="http://schemas.openxmlformats.org/officeDocument/2006/relationships/image" Target="../media/image4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6.png"/><Relationship Id="rId4" Type="http://schemas.openxmlformats.org/officeDocument/2006/relationships/image" Target="../media/image4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26.png"/><Relationship Id="rId4" Type="http://schemas.openxmlformats.org/officeDocument/2006/relationships/image" Target="../media/image3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6.png"/><Relationship Id="rId4" Type="http://schemas.openxmlformats.org/officeDocument/2006/relationships/image" Target="../media/image32.png"/><Relationship Id="rId5" Type="http://schemas.openxmlformats.org/officeDocument/2006/relationships/image" Target="../media/image4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2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2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2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8.xml"/><Relationship Id="rId3" Type="http://schemas.openxmlformats.org/officeDocument/2006/relationships/image" Target="../media/image38.png"/><Relationship Id="rId4" Type="http://schemas.openxmlformats.org/officeDocument/2006/relationships/image" Target="../media/image53.png"/><Relationship Id="rId5"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5"/>
          <p:cNvSpPr txBox="1"/>
          <p:nvPr>
            <p:ph type="ctrTitle"/>
          </p:nvPr>
        </p:nvSpPr>
        <p:spPr>
          <a:xfrm>
            <a:off x="311700" y="1610098"/>
            <a:ext cx="8520600" cy="9618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90000"/>
              </a:lnSpc>
              <a:spcBef>
                <a:spcPts val="0"/>
              </a:spcBef>
              <a:spcAft>
                <a:spcPts val="0"/>
              </a:spcAft>
              <a:buClr>
                <a:schemeClr val="dk1"/>
              </a:buClr>
              <a:buSzPct val="100000"/>
              <a:buFont typeface="Quattrocento Sans"/>
              <a:buNone/>
            </a:pPr>
            <a:r>
              <a:rPr b="1" lang="en" sz="3600">
                <a:solidFill>
                  <a:srgbClr val="0000FF"/>
                </a:solidFill>
                <a:latin typeface="Quattrocento Sans"/>
                <a:ea typeface="Quattrocento Sans"/>
                <a:cs typeface="Quattrocento Sans"/>
                <a:sym typeface="Quattrocento Sans"/>
              </a:rPr>
              <a:t>Retrieval Augmented Generation (RAG)</a:t>
            </a:r>
            <a:endParaRPr b="1" sz="3600">
              <a:solidFill>
                <a:srgbClr val="0000FF"/>
              </a:solidFill>
              <a:latin typeface="Quattrocento Sans"/>
              <a:ea typeface="Quattrocento Sans"/>
              <a:cs typeface="Quattrocento Sans"/>
              <a:sym typeface="Quattrocento Sans"/>
            </a:endParaRPr>
          </a:p>
          <a:p>
            <a:pPr indent="0" lvl="0" marL="0" rtl="0" algn="ctr">
              <a:lnSpc>
                <a:spcPct val="90000"/>
              </a:lnSpc>
              <a:spcBef>
                <a:spcPts val="0"/>
              </a:spcBef>
              <a:spcAft>
                <a:spcPts val="0"/>
              </a:spcAft>
              <a:buClr>
                <a:schemeClr val="dk1"/>
              </a:buClr>
              <a:buSzPct val="100000"/>
              <a:buFont typeface="Quattrocento Sans"/>
              <a:buNone/>
            </a:pPr>
            <a:r>
              <a:rPr b="1" lang="en" sz="3600">
                <a:solidFill>
                  <a:srgbClr val="0000FF"/>
                </a:solidFill>
                <a:latin typeface="Quattrocento Sans"/>
                <a:ea typeface="Quattrocento Sans"/>
                <a:cs typeface="Quattrocento Sans"/>
                <a:sym typeface="Quattrocento Sans"/>
              </a:rPr>
              <a:t>Module 2 Lecture 5</a:t>
            </a:r>
            <a:endParaRPr b="1" sz="3600">
              <a:solidFill>
                <a:srgbClr val="0000FF"/>
              </a:solidFill>
              <a:latin typeface="Quattrocento Sans"/>
              <a:ea typeface="Quattrocento Sans"/>
              <a:cs typeface="Quattrocento Sans"/>
              <a:sym typeface="Quattrocento Sans"/>
            </a:endParaRPr>
          </a:p>
          <a:p>
            <a:pPr indent="0" lvl="0" marL="0" rtl="0" algn="ctr">
              <a:lnSpc>
                <a:spcPct val="100000"/>
              </a:lnSpc>
              <a:spcBef>
                <a:spcPts val="0"/>
              </a:spcBef>
              <a:spcAft>
                <a:spcPts val="0"/>
              </a:spcAft>
              <a:buSzPct val="100000"/>
              <a:buNone/>
            </a:pPr>
            <a:r>
              <a:t/>
            </a:r>
            <a:endParaRPr/>
          </a:p>
        </p:txBody>
      </p:sp>
      <p:sp>
        <p:nvSpPr>
          <p:cNvPr id="63" name="Google Shape;63;p15"/>
          <p:cNvSpPr txBox="1"/>
          <p:nvPr>
            <p:ph idx="1" type="subTitle"/>
          </p:nvPr>
        </p:nvSpPr>
        <p:spPr>
          <a:xfrm>
            <a:off x="311700" y="2131550"/>
            <a:ext cx="8520600" cy="1495200"/>
          </a:xfrm>
          <a:prstGeom prst="rect">
            <a:avLst/>
          </a:prstGeom>
          <a:noFill/>
          <a:ln>
            <a:noFill/>
          </a:ln>
        </p:spPr>
        <p:txBody>
          <a:bodyPr anchorCtr="0" anchor="ctr" bIns="91425" lIns="91425" spcFirstLastPara="1" rIns="91425" wrap="square" tIns="91425">
            <a:normAutofit/>
          </a:bodyPr>
          <a:lstStyle/>
          <a:p>
            <a:pPr indent="0" lvl="0" marL="0" rtl="0" algn="ctr">
              <a:lnSpc>
                <a:spcPct val="80000"/>
              </a:lnSpc>
              <a:spcBef>
                <a:spcPts val="400"/>
              </a:spcBef>
              <a:spcAft>
                <a:spcPts val="0"/>
              </a:spcAft>
              <a:buClr>
                <a:srgbClr val="3F3F3F"/>
              </a:buClr>
              <a:buSzPts val="2000"/>
              <a:buFont typeface="Arial"/>
              <a:buNone/>
            </a:pPr>
            <a:r>
              <a:rPr b="1" lang="en" sz="2000">
                <a:solidFill>
                  <a:srgbClr val="000099"/>
                </a:solidFill>
              </a:rPr>
              <a:t>Pawan Goyal</a:t>
            </a:r>
            <a:endParaRPr b="1" sz="2000">
              <a:solidFill>
                <a:srgbClr val="000099"/>
              </a:solidFill>
            </a:endParaRPr>
          </a:p>
          <a:p>
            <a:pPr indent="0" lvl="0" marL="0" rtl="0" algn="ctr">
              <a:lnSpc>
                <a:spcPct val="80000"/>
              </a:lnSpc>
              <a:spcBef>
                <a:spcPts val="400"/>
              </a:spcBef>
              <a:spcAft>
                <a:spcPts val="0"/>
              </a:spcAft>
              <a:buClr>
                <a:srgbClr val="3F3F3F"/>
              </a:buClr>
              <a:buSzPts val="2000"/>
              <a:buFont typeface="Arial"/>
              <a:buNone/>
            </a:pPr>
            <a:r>
              <a:rPr b="1" lang="en" sz="2000">
                <a:solidFill>
                  <a:srgbClr val="000099"/>
                </a:solidFill>
              </a:rPr>
              <a:t>Department of Computer Science and Engineering</a:t>
            </a:r>
            <a:endParaRPr b="1" sz="2000">
              <a:solidFill>
                <a:srgbClr val="000099"/>
              </a:solidFill>
            </a:endParaRPr>
          </a:p>
          <a:p>
            <a:pPr indent="0" lvl="0" marL="0" rtl="0" algn="ctr">
              <a:lnSpc>
                <a:spcPct val="80000"/>
              </a:lnSpc>
              <a:spcBef>
                <a:spcPts val="400"/>
              </a:spcBef>
              <a:spcAft>
                <a:spcPts val="0"/>
              </a:spcAft>
              <a:buClr>
                <a:srgbClr val="3F3F3F"/>
              </a:buClr>
              <a:buSzPts val="2000"/>
              <a:buFont typeface="Arial"/>
              <a:buNone/>
            </a:pPr>
            <a:r>
              <a:rPr b="1" lang="en" sz="2000">
                <a:solidFill>
                  <a:srgbClr val="000099"/>
                </a:solidFill>
              </a:rPr>
              <a:t>IIT Kharagpur </a:t>
            </a:r>
            <a:endParaRPr/>
          </a:p>
        </p:txBody>
      </p:sp>
      <p:sp>
        <p:nvSpPr>
          <p:cNvPr id="64" name="Google Shape;64;p15"/>
          <p:cNvSpPr txBox="1"/>
          <p:nvPr/>
        </p:nvSpPr>
        <p:spPr>
          <a:xfrm>
            <a:off x="231700" y="208525"/>
            <a:ext cx="1923000" cy="64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 name="Google Shape;65;p15"/>
          <p:cNvPicPr preferRelativeResize="0"/>
          <p:nvPr/>
        </p:nvPicPr>
        <p:blipFill rotWithShape="1">
          <a:blip r:embed="rId3">
            <a:alphaModFix/>
          </a:blip>
          <a:srcRect b="5553" l="22319" r="21419" t="0"/>
          <a:stretch/>
        </p:blipFill>
        <p:spPr>
          <a:xfrm>
            <a:off x="8297875" y="4232598"/>
            <a:ext cx="815400" cy="910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nvSpPr>
        <p:spPr>
          <a:xfrm>
            <a:off x="7489950" y="4804800"/>
            <a:ext cx="16542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rPr b="0" i="0" lang="en" sz="500" u="sng" cap="none" strike="noStrike">
                <a:solidFill>
                  <a:schemeClr val="hlink"/>
                </a:solidFill>
                <a:latin typeface="Arial"/>
                <a:ea typeface="Arial"/>
                <a:cs typeface="Arial"/>
                <a:sym typeface="Arial"/>
                <a:hlinkClick r:id="rId3"/>
              </a:rPr>
              <a:t>https://ai.meta.com/blog/retrieval-augmented-generation-streamlining-the-creation-of-intelligent-natural-language-processing-models/</a:t>
            </a:r>
            <a:endParaRPr b="0" i="0" sz="500" u="none" cap="none" strike="noStrike">
              <a:solidFill>
                <a:srgbClr val="000000"/>
              </a:solidFill>
              <a:latin typeface="Arial"/>
              <a:ea typeface="Arial"/>
              <a:cs typeface="Arial"/>
              <a:sym typeface="Arial"/>
            </a:endParaRPr>
          </a:p>
        </p:txBody>
      </p:sp>
      <p:pic>
        <p:nvPicPr>
          <p:cNvPr id="71" name="Google Shape;71;p16"/>
          <p:cNvPicPr preferRelativeResize="0"/>
          <p:nvPr/>
        </p:nvPicPr>
        <p:blipFill rotWithShape="1">
          <a:blip r:embed="rId4">
            <a:alphaModFix/>
          </a:blip>
          <a:srcRect b="0" l="0" r="0" t="0"/>
          <a:stretch/>
        </p:blipFill>
        <p:spPr>
          <a:xfrm>
            <a:off x="432950" y="1040489"/>
            <a:ext cx="4059047" cy="1620324"/>
          </a:xfrm>
          <a:prstGeom prst="rect">
            <a:avLst/>
          </a:prstGeom>
          <a:noFill/>
          <a:ln cap="flat" cmpd="sng" w="9525">
            <a:solidFill>
              <a:schemeClr val="dk2"/>
            </a:solidFill>
            <a:prstDash val="solid"/>
            <a:round/>
            <a:headEnd len="sm" w="sm" type="none"/>
            <a:tailEnd len="sm" w="sm" type="none"/>
          </a:ln>
        </p:spPr>
      </p:pic>
      <p:pic>
        <p:nvPicPr>
          <p:cNvPr id="72" name="Google Shape;72;p16"/>
          <p:cNvPicPr preferRelativeResize="0"/>
          <p:nvPr/>
        </p:nvPicPr>
        <p:blipFill rotWithShape="1">
          <a:blip r:embed="rId5">
            <a:alphaModFix/>
          </a:blip>
          <a:srcRect b="0" l="0" r="0" t="0"/>
          <a:stretch/>
        </p:blipFill>
        <p:spPr>
          <a:xfrm>
            <a:off x="4582628" y="1040488"/>
            <a:ext cx="4157069" cy="1620324"/>
          </a:xfrm>
          <a:prstGeom prst="rect">
            <a:avLst/>
          </a:prstGeom>
          <a:noFill/>
          <a:ln cap="flat" cmpd="sng" w="9525">
            <a:solidFill>
              <a:schemeClr val="dk2"/>
            </a:solidFill>
            <a:prstDash val="solid"/>
            <a:round/>
            <a:headEnd len="sm" w="sm" type="none"/>
            <a:tailEnd len="sm" w="sm" type="none"/>
          </a:ln>
        </p:spPr>
      </p:pic>
      <p:pic>
        <p:nvPicPr>
          <p:cNvPr id="73" name="Google Shape;73;p16"/>
          <p:cNvPicPr preferRelativeResize="0"/>
          <p:nvPr/>
        </p:nvPicPr>
        <p:blipFill rotWithShape="1">
          <a:blip r:embed="rId6">
            <a:alphaModFix/>
          </a:blip>
          <a:srcRect b="0" l="0" r="0" t="0"/>
          <a:stretch/>
        </p:blipFill>
        <p:spPr>
          <a:xfrm>
            <a:off x="432950" y="3013619"/>
            <a:ext cx="4059048" cy="1698807"/>
          </a:xfrm>
          <a:prstGeom prst="rect">
            <a:avLst/>
          </a:prstGeom>
          <a:noFill/>
          <a:ln cap="flat" cmpd="sng" w="9525">
            <a:solidFill>
              <a:schemeClr val="dk2"/>
            </a:solidFill>
            <a:prstDash val="solid"/>
            <a:round/>
            <a:headEnd len="sm" w="sm" type="none"/>
            <a:tailEnd len="sm" w="sm" type="none"/>
          </a:ln>
        </p:spPr>
      </p:pic>
      <p:pic>
        <p:nvPicPr>
          <p:cNvPr id="74" name="Google Shape;74;p16"/>
          <p:cNvPicPr preferRelativeResize="0"/>
          <p:nvPr/>
        </p:nvPicPr>
        <p:blipFill rotWithShape="1">
          <a:blip r:embed="rId7">
            <a:alphaModFix/>
          </a:blip>
          <a:srcRect b="5553" l="0" r="0" t="0"/>
          <a:stretch/>
        </p:blipFill>
        <p:spPr>
          <a:xfrm>
            <a:off x="4582628" y="3013619"/>
            <a:ext cx="4157071" cy="1698806"/>
          </a:xfrm>
          <a:prstGeom prst="rect">
            <a:avLst/>
          </a:prstGeom>
          <a:noFill/>
          <a:ln cap="flat" cmpd="sng" w="9525">
            <a:solidFill>
              <a:schemeClr val="dk2"/>
            </a:solidFill>
            <a:prstDash val="solid"/>
            <a:round/>
            <a:headEnd len="sm" w="sm" type="none"/>
            <a:tailEnd len="sm" w="sm" type="none"/>
          </a:ln>
        </p:spPr>
      </p:pic>
      <p:sp>
        <p:nvSpPr>
          <p:cNvPr id="75" name="Google Shape;75;p16"/>
          <p:cNvSpPr txBox="1"/>
          <p:nvPr/>
        </p:nvSpPr>
        <p:spPr>
          <a:xfrm>
            <a:off x="432950" y="736000"/>
            <a:ext cx="1572900" cy="3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Pre-Retrieval</a:t>
            </a:r>
            <a:endParaRPr b="1" i="0" sz="1200" u="none" cap="none" strike="noStrike">
              <a:solidFill>
                <a:schemeClr val="dk1"/>
              </a:solidFill>
              <a:latin typeface="Roboto"/>
              <a:ea typeface="Roboto"/>
              <a:cs typeface="Roboto"/>
              <a:sym typeface="Roboto"/>
            </a:endParaRPr>
          </a:p>
        </p:txBody>
      </p:sp>
      <p:sp>
        <p:nvSpPr>
          <p:cNvPr id="76" name="Google Shape;76;p16"/>
          <p:cNvSpPr txBox="1"/>
          <p:nvPr/>
        </p:nvSpPr>
        <p:spPr>
          <a:xfrm>
            <a:off x="4572000" y="735988"/>
            <a:ext cx="1572900" cy="3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Retrieval</a:t>
            </a:r>
            <a:endParaRPr b="1" i="0" sz="1200" u="none" cap="none" strike="noStrike">
              <a:solidFill>
                <a:schemeClr val="dk1"/>
              </a:solidFill>
              <a:latin typeface="Roboto"/>
              <a:ea typeface="Roboto"/>
              <a:cs typeface="Roboto"/>
              <a:sym typeface="Roboto"/>
            </a:endParaRPr>
          </a:p>
        </p:txBody>
      </p:sp>
      <p:sp>
        <p:nvSpPr>
          <p:cNvPr id="77" name="Google Shape;77;p16"/>
          <p:cNvSpPr txBox="1"/>
          <p:nvPr/>
        </p:nvSpPr>
        <p:spPr>
          <a:xfrm>
            <a:off x="432950" y="2709125"/>
            <a:ext cx="1572900" cy="3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Post-Retrieval</a:t>
            </a:r>
            <a:endParaRPr b="1" i="0" sz="1200" u="none" cap="none" strike="noStrike">
              <a:solidFill>
                <a:schemeClr val="dk1"/>
              </a:solidFill>
              <a:latin typeface="Roboto"/>
              <a:ea typeface="Roboto"/>
              <a:cs typeface="Roboto"/>
              <a:sym typeface="Roboto"/>
            </a:endParaRPr>
          </a:p>
        </p:txBody>
      </p:sp>
      <p:sp>
        <p:nvSpPr>
          <p:cNvPr id="78" name="Google Shape;78;p16"/>
          <p:cNvSpPr txBox="1"/>
          <p:nvPr/>
        </p:nvSpPr>
        <p:spPr>
          <a:xfrm>
            <a:off x="4582625" y="2709125"/>
            <a:ext cx="2405700" cy="3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Augmentation and Generation</a:t>
            </a:r>
            <a:endParaRPr b="1" i="0" sz="1200" u="none" cap="none" strike="noStrike">
              <a:solidFill>
                <a:schemeClr val="dk1"/>
              </a:solidFill>
              <a:latin typeface="Roboto"/>
              <a:ea typeface="Roboto"/>
              <a:cs typeface="Roboto"/>
              <a:sym typeface="Roboto"/>
            </a:endParaRPr>
          </a:p>
        </p:txBody>
      </p:sp>
      <p:sp>
        <p:nvSpPr>
          <p:cNvPr id="79" name="Google Shape;79;p16"/>
          <p:cNvSpPr txBox="1"/>
          <p:nvPr/>
        </p:nvSpPr>
        <p:spPr>
          <a:xfrm>
            <a:off x="532539" y="257024"/>
            <a:ext cx="73794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Arial"/>
                <a:ea typeface="Arial"/>
                <a:cs typeface="Arial"/>
                <a:sym typeface="Arial"/>
              </a:rPr>
              <a:t>RAG with </a:t>
            </a:r>
            <a:r>
              <a:rPr b="1" lang="en" sz="2800">
                <a:solidFill>
                  <a:schemeClr val="dk1"/>
                </a:solidFill>
              </a:rPr>
              <a:t>Vector DB - </a:t>
            </a:r>
            <a:r>
              <a:rPr b="1" i="1" lang="en" sz="2100">
                <a:solidFill>
                  <a:srgbClr val="2563EB"/>
                </a:solidFill>
              </a:rPr>
              <a:t>Recap From the last lecture</a:t>
            </a:r>
            <a:endParaRPr b="1" i="0" sz="2800" u="none" cap="none" strike="noStrike">
              <a:solidFill>
                <a:schemeClr val="dk1"/>
              </a:solidFill>
              <a:latin typeface="Arial"/>
              <a:ea typeface="Arial"/>
              <a:cs typeface="Arial"/>
              <a:sym typeface="Arial"/>
            </a:endParaRPr>
          </a:p>
        </p:txBody>
      </p:sp>
      <p:sp>
        <p:nvSpPr>
          <p:cNvPr id="80" name="Google Shape;80;p16"/>
          <p:cNvSpPr/>
          <p:nvPr/>
        </p:nvSpPr>
        <p:spPr>
          <a:xfrm>
            <a:off x="3640600" y="1250250"/>
            <a:ext cx="498900" cy="712500"/>
          </a:xfrm>
          <a:prstGeom prst="roundRect">
            <a:avLst>
              <a:gd fmla="val 16667" name="adj"/>
            </a:avLst>
          </a:prstGeom>
          <a:noFill/>
          <a:ln cap="flat" cmpd="sng" w="28575">
            <a:solidFill>
              <a:srgbClr val="99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6"/>
          <p:cNvSpPr/>
          <p:nvPr/>
        </p:nvSpPr>
        <p:spPr>
          <a:xfrm>
            <a:off x="6785800" y="1208300"/>
            <a:ext cx="498900" cy="712500"/>
          </a:xfrm>
          <a:prstGeom prst="roundRect">
            <a:avLst>
              <a:gd fmla="val 16667" name="adj"/>
            </a:avLst>
          </a:prstGeom>
          <a:noFill/>
          <a:ln cap="flat" cmpd="sng" w="28575">
            <a:solidFill>
              <a:srgbClr val="99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7"/>
        </a:solidFill>
      </p:bgPr>
    </p:bg>
    <p:spTree>
      <p:nvGrpSpPr>
        <p:cNvPr id="86" name="Shape 86"/>
        <p:cNvGrpSpPr/>
        <p:nvPr/>
      </p:nvGrpSpPr>
      <p:grpSpPr>
        <a:xfrm>
          <a:off x="0" y="0"/>
          <a:ext cx="0" cy="0"/>
          <a:chOff x="0" y="0"/>
          <a:chExt cx="0" cy="0"/>
        </a:xfrm>
      </p:grpSpPr>
      <p:sp>
        <p:nvSpPr>
          <p:cNvPr id="87" name="Google Shape;87;p17"/>
          <p:cNvSpPr/>
          <p:nvPr/>
        </p:nvSpPr>
        <p:spPr>
          <a:xfrm>
            <a:off x="411480" y="288036"/>
            <a:ext cx="83187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2300"/>
              <a:buFont typeface="Cambria"/>
              <a:buNone/>
            </a:pPr>
            <a:r>
              <a:rPr b="1" i="0" lang="en" sz="2300" u="none" cap="none" strike="noStrike">
                <a:solidFill>
                  <a:srgbClr val="0B2B36"/>
                </a:solidFill>
                <a:latin typeface="Cambria"/>
                <a:ea typeface="Cambria"/>
                <a:cs typeface="Cambria"/>
                <a:sym typeface="Cambria"/>
              </a:rPr>
              <a:t>Finding the nearest — without checking everything</a:t>
            </a:r>
            <a:endParaRPr b="0" i="0" sz="2300" u="none" cap="none" strike="noStrike">
              <a:solidFill>
                <a:schemeClr val="dk1"/>
              </a:solidFill>
              <a:latin typeface="Calibri"/>
              <a:ea typeface="Calibri"/>
              <a:cs typeface="Calibri"/>
              <a:sym typeface="Calibri"/>
            </a:endParaRPr>
          </a:p>
        </p:txBody>
      </p:sp>
      <p:sp>
        <p:nvSpPr>
          <p:cNvPr id="88" name="Google Shape;88;p17"/>
          <p:cNvSpPr/>
          <p:nvPr/>
        </p:nvSpPr>
        <p:spPr>
          <a:xfrm>
            <a:off x="425196" y="850392"/>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Calibri"/>
              <a:buNone/>
            </a:pPr>
            <a:r>
              <a:rPr b="0" i="1" lang="en" sz="1100" u="none" cap="none" strike="noStrike">
                <a:solidFill>
                  <a:srgbClr val="2A9D8F"/>
                </a:solidFill>
                <a:latin typeface="Calibri"/>
                <a:ea typeface="Calibri"/>
                <a:cs typeface="Calibri"/>
                <a:sym typeface="Calibri"/>
              </a:rPr>
              <a:t>Comparing your query to all 10 million vectors is too slow. So databases take shortcuts.</a:t>
            </a:r>
            <a:endParaRPr b="0" i="0" sz="1100" u="none" cap="none" strike="noStrike">
              <a:solidFill>
                <a:schemeClr val="dk1"/>
              </a:solidFill>
              <a:latin typeface="Calibri"/>
              <a:ea typeface="Calibri"/>
              <a:cs typeface="Calibri"/>
              <a:sym typeface="Calibri"/>
            </a:endParaRPr>
          </a:p>
        </p:txBody>
      </p:sp>
      <p:sp>
        <p:nvSpPr>
          <p:cNvPr id="89" name="Google Shape;89;p17"/>
          <p:cNvSpPr/>
          <p:nvPr/>
        </p:nvSpPr>
        <p:spPr>
          <a:xfrm>
            <a:off x="411480" y="1371600"/>
            <a:ext cx="8318700" cy="788700"/>
          </a:xfrm>
          <a:prstGeom prst="roundRect">
            <a:avLst>
              <a:gd fmla="val 9565" name="adj"/>
            </a:avLst>
          </a:prstGeom>
          <a:solidFill>
            <a:srgbClr val="FBEFD9"/>
          </a:solidFill>
          <a:ln cap="flat" cmpd="sng" w="14300">
            <a:solidFill>
              <a:srgbClr val="E9A23B"/>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7"/>
          <p:cNvSpPr/>
          <p:nvPr/>
        </p:nvSpPr>
        <p:spPr>
          <a:xfrm>
            <a:off x="651510" y="1563624"/>
            <a:ext cx="411600" cy="411600"/>
          </a:xfrm>
          <a:prstGeom prst="ellipse">
            <a:avLst/>
          </a:prstGeom>
          <a:solidFill>
            <a:srgbClr val="E9A23B"/>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7"/>
          <p:cNvSpPr/>
          <p:nvPr/>
        </p:nvSpPr>
        <p:spPr>
          <a:xfrm>
            <a:off x="651510" y="1563624"/>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1000"/>
              <a:buFont typeface="Cambria"/>
              <a:buNone/>
            </a:pPr>
            <a:r>
              <a:rPr b="1" i="0" lang="en" sz="1000" u="none" cap="none" strike="noStrike">
                <a:solidFill>
                  <a:srgbClr val="0B2B36"/>
                </a:solidFill>
                <a:latin typeface="Cambria"/>
                <a:ea typeface="Cambria"/>
                <a:cs typeface="Cambria"/>
                <a:sym typeface="Cambria"/>
              </a:rPr>
              <a:t>≡</a:t>
            </a:r>
            <a:endParaRPr b="0" i="0" sz="1000" u="none" cap="none" strike="noStrike">
              <a:solidFill>
                <a:schemeClr val="dk1"/>
              </a:solidFill>
              <a:latin typeface="Calibri"/>
              <a:ea typeface="Calibri"/>
              <a:cs typeface="Calibri"/>
              <a:sym typeface="Calibri"/>
            </a:endParaRPr>
          </a:p>
        </p:txBody>
      </p:sp>
      <p:sp>
        <p:nvSpPr>
          <p:cNvPr id="92" name="Google Shape;92;p17"/>
          <p:cNvSpPr/>
          <p:nvPr/>
        </p:nvSpPr>
        <p:spPr>
          <a:xfrm>
            <a:off x="1200150" y="1371600"/>
            <a:ext cx="7338300" cy="7887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B2B36"/>
              </a:buClr>
              <a:buSzPts val="1300"/>
              <a:buFont typeface="Calibri"/>
              <a:buNone/>
            </a:pPr>
            <a:r>
              <a:rPr b="1" i="0" lang="en" sz="1300" u="none" cap="none" strike="noStrike">
                <a:solidFill>
                  <a:srgbClr val="0B2B36"/>
                </a:solidFill>
                <a:latin typeface="Calibri"/>
                <a:ea typeface="Calibri"/>
                <a:cs typeface="Calibri"/>
                <a:sym typeface="Calibri"/>
              </a:rPr>
              <a:t>Like a library:  </a:t>
            </a:r>
            <a:r>
              <a:rPr b="0" i="0" lang="en" sz="1300" u="none" cap="none" strike="noStrike">
                <a:solidFill>
                  <a:srgbClr val="1A2B32"/>
                </a:solidFill>
                <a:latin typeface="Calibri"/>
                <a:ea typeface="Calibri"/>
                <a:cs typeface="Calibri"/>
                <a:sym typeface="Calibri"/>
              </a:rPr>
              <a:t>you don’t read every book to find one topic — you walk to the right section, then scan that shelf.</a:t>
            </a:r>
            <a:endParaRPr b="0" i="0" sz="1300" u="none" cap="none" strike="noStrike">
              <a:solidFill>
                <a:schemeClr val="dk1"/>
              </a:solidFill>
              <a:latin typeface="Calibri"/>
              <a:ea typeface="Calibri"/>
              <a:cs typeface="Calibri"/>
              <a:sym typeface="Calibri"/>
            </a:endParaRPr>
          </a:p>
        </p:txBody>
      </p:sp>
      <p:sp>
        <p:nvSpPr>
          <p:cNvPr id="93" name="Google Shape;93;p17"/>
          <p:cNvSpPr/>
          <p:nvPr/>
        </p:nvSpPr>
        <p:spPr>
          <a:xfrm>
            <a:off x="411480" y="2400300"/>
            <a:ext cx="2674500" cy="1748700"/>
          </a:xfrm>
          <a:prstGeom prst="roundRect">
            <a:avLst>
              <a:gd fmla="val 4314"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7"/>
          <p:cNvSpPr/>
          <p:nvPr/>
        </p:nvSpPr>
        <p:spPr>
          <a:xfrm>
            <a:off x="411480" y="2400300"/>
            <a:ext cx="2674500" cy="480300"/>
          </a:xfrm>
          <a:prstGeom prst="roundRect">
            <a:avLst>
              <a:gd fmla="val 15714" name="adj"/>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7"/>
          <p:cNvSpPr/>
          <p:nvPr/>
        </p:nvSpPr>
        <p:spPr>
          <a:xfrm>
            <a:off x="514350" y="2400300"/>
            <a:ext cx="2469000" cy="48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Group &amp; skip</a:t>
            </a:r>
            <a:endParaRPr b="0" i="0" sz="1300" u="none" cap="none" strike="noStrike">
              <a:solidFill>
                <a:schemeClr val="dk1"/>
              </a:solidFill>
              <a:latin typeface="Calibri"/>
              <a:ea typeface="Calibri"/>
              <a:cs typeface="Calibri"/>
              <a:sym typeface="Calibri"/>
            </a:endParaRPr>
          </a:p>
        </p:txBody>
      </p:sp>
      <p:sp>
        <p:nvSpPr>
          <p:cNvPr id="96" name="Google Shape;96;p17"/>
          <p:cNvSpPr/>
          <p:nvPr/>
        </p:nvSpPr>
        <p:spPr>
          <a:xfrm>
            <a:off x="603504" y="3017520"/>
            <a:ext cx="2297400" cy="8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Sort similar vectors into clusters. Only search the few clusters near your query — skip the rest.</a:t>
            </a:r>
            <a:endParaRPr b="0" i="0" sz="1000" u="none" cap="none" strike="noStrike">
              <a:solidFill>
                <a:schemeClr val="dk1"/>
              </a:solidFill>
              <a:latin typeface="Calibri"/>
              <a:ea typeface="Calibri"/>
              <a:cs typeface="Calibri"/>
              <a:sym typeface="Calibri"/>
            </a:endParaRPr>
          </a:p>
        </p:txBody>
      </p:sp>
      <p:sp>
        <p:nvSpPr>
          <p:cNvPr id="97" name="Google Shape;97;p17"/>
          <p:cNvSpPr/>
          <p:nvPr/>
        </p:nvSpPr>
        <p:spPr>
          <a:xfrm>
            <a:off x="603504" y="3840480"/>
            <a:ext cx="229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7078"/>
              </a:buClr>
              <a:buSzPts val="900"/>
              <a:buFont typeface="Courier New"/>
              <a:buNone/>
            </a:pPr>
            <a:r>
              <a:rPr b="0" i="1" lang="en" sz="900" u="none" cap="none" strike="noStrike">
                <a:solidFill>
                  <a:srgbClr val="5C7078"/>
                </a:solidFill>
                <a:latin typeface="Courier New"/>
                <a:ea typeface="Courier New"/>
                <a:cs typeface="Courier New"/>
                <a:sym typeface="Courier New"/>
              </a:rPr>
              <a:t>(a.k.a. IVF)</a:t>
            </a:r>
            <a:endParaRPr b="0" i="0" sz="900" u="none" cap="none" strike="noStrike">
              <a:solidFill>
                <a:schemeClr val="dk1"/>
              </a:solidFill>
              <a:latin typeface="Calibri"/>
              <a:ea typeface="Calibri"/>
              <a:cs typeface="Calibri"/>
              <a:sym typeface="Calibri"/>
            </a:endParaRPr>
          </a:p>
        </p:txBody>
      </p:sp>
      <p:sp>
        <p:nvSpPr>
          <p:cNvPr id="98" name="Google Shape;98;p17"/>
          <p:cNvSpPr/>
          <p:nvPr/>
        </p:nvSpPr>
        <p:spPr>
          <a:xfrm>
            <a:off x="3230118" y="2400300"/>
            <a:ext cx="2674500" cy="1748700"/>
          </a:xfrm>
          <a:prstGeom prst="roundRect">
            <a:avLst>
              <a:gd fmla="val 4314"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7"/>
          <p:cNvSpPr/>
          <p:nvPr/>
        </p:nvSpPr>
        <p:spPr>
          <a:xfrm>
            <a:off x="3230118" y="2400300"/>
            <a:ext cx="2674500" cy="480300"/>
          </a:xfrm>
          <a:prstGeom prst="roundRect">
            <a:avLst>
              <a:gd fmla="val 15714" name="adj"/>
            </a:avLst>
          </a:prstGeom>
          <a:solidFill>
            <a:srgbClr val="0D5C6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7"/>
          <p:cNvSpPr/>
          <p:nvPr/>
        </p:nvSpPr>
        <p:spPr>
          <a:xfrm>
            <a:off x="3332988" y="2400300"/>
            <a:ext cx="2469000" cy="48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Compress</a:t>
            </a:r>
            <a:endParaRPr b="0" i="0" sz="1300" u="none" cap="none" strike="noStrike">
              <a:solidFill>
                <a:schemeClr val="dk1"/>
              </a:solidFill>
              <a:latin typeface="Calibri"/>
              <a:ea typeface="Calibri"/>
              <a:cs typeface="Calibri"/>
              <a:sym typeface="Calibri"/>
            </a:endParaRPr>
          </a:p>
        </p:txBody>
      </p:sp>
      <p:sp>
        <p:nvSpPr>
          <p:cNvPr id="101" name="Google Shape;101;p17"/>
          <p:cNvSpPr/>
          <p:nvPr/>
        </p:nvSpPr>
        <p:spPr>
          <a:xfrm>
            <a:off x="3422142" y="3017520"/>
            <a:ext cx="2297400" cy="8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Shrink each vector into a tiny code so millions fit in memory and comparisons get cheaper.</a:t>
            </a:r>
            <a:endParaRPr b="0" i="0" sz="1000" u="none" cap="none" strike="noStrike">
              <a:solidFill>
                <a:schemeClr val="dk1"/>
              </a:solidFill>
              <a:latin typeface="Calibri"/>
              <a:ea typeface="Calibri"/>
              <a:cs typeface="Calibri"/>
              <a:sym typeface="Calibri"/>
            </a:endParaRPr>
          </a:p>
        </p:txBody>
      </p:sp>
      <p:sp>
        <p:nvSpPr>
          <p:cNvPr id="102" name="Google Shape;102;p17"/>
          <p:cNvSpPr/>
          <p:nvPr/>
        </p:nvSpPr>
        <p:spPr>
          <a:xfrm>
            <a:off x="3422142" y="3840480"/>
            <a:ext cx="229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7078"/>
              </a:buClr>
              <a:buSzPts val="900"/>
              <a:buFont typeface="Courier New"/>
              <a:buNone/>
            </a:pPr>
            <a:r>
              <a:rPr b="0" i="1" lang="en" sz="900" u="none" cap="none" strike="noStrike">
                <a:solidFill>
                  <a:srgbClr val="5C7078"/>
                </a:solidFill>
                <a:latin typeface="Courier New"/>
                <a:ea typeface="Courier New"/>
                <a:cs typeface="Courier New"/>
                <a:sym typeface="Courier New"/>
              </a:rPr>
              <a:t>(a.k.a. PQ)</a:t>
            </a:r>
            <a:endParaRPr b="0" i="0" sz="900" u="none" cap="none" strike="noStrike">
              <a:solidFill>
                <a:schemeClr val="dk1"/>
              </a:solidFill>
              <a:latin typeface="Calibri"/>
              <a:ea typeface="Calibri"/>
              <a:cs typeface="Calibri"/>
              <a:sym typeface="Calibri"/>
            </a:endParaRPr>
          </a:p>
        </p:txBody>
      </p:sp>
      <p:sp>
        <p:nvSpPr>
          <p:cNvPr id="103" name="Google Shape;103;p17"/>
          <p:cNvSpPr/>
          <p:nvPr/>
        </p:nvSpPr>
        <p:spPr>
          <a:xfrm>
            <a:off x="6048756" y="2400300"/>
            <a:ext cx="2674500" cy="1748700"/>
          </a:xfrm>
          <a:prstGeom prst="roundRect">
            <a:avLst>
              <a:gd fmla="val 4314"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7"/>
          <p:cNvSpPr/>
          <p:nvPr/>
        </p:nvSpPr>
        <p:spPr>
          <a:xfrm>
            <a:off x="6048756" y="2400300"/>
            <a:ext cx="2674500" cy="480300"/>
          </a:xfrm>
          <a:prstGeom prst="roundRect">
            <a:avLst>
              <a:gd fmla="val 15714" name="adj"/>
            </a:avLst>
          </a:prstGeom>
          <a:solidFill>
            <a:srgbClr val="E9A2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17"/>
          <p:cNvSpPr/>
          <p:nvPr/>
        </p:nvSpPr>
        <p:spPr>
          <a:xfrm>
            <a:off x="6151626" y="2400300"/>
            <a:ext cx="2469000" cy="48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1300"/>
              <a:buFont typeface="Cambria"/>
              <a:buNone/>
            </a:pPr>
            <a:r>
              <a:rPr b="1" i="0" lang="en" sz="1300" u="none" cap="none" strike="noStrike">
                <a:solidFill>
                  <a:srgbClr val="0B2B36"/>
                </a:solidFill>
                <a:latin typeface="Cambria"/>
                <a:ea typeface="Cambria"/>
                <a:cs typeface="Cambria"/>
                <a:sym typeface="Cambria"/>
              </a:rPr>
              <a:t>Shortcut graph</a:t>
            </a:r>
            <a:endParaRPr b="0" i="0" sz="1300" u="none" cap="none" strike="noStrike">
              <a:solidFill>
                <a:schemeClr val="dk1"/>
              </a:solidFill>
              <a:latin typeface="Calibri"/>
              <a:ea typeface="Calibri"/>
              <a:cs typeface="Calibri"/>
              <a:sym typeface="Calibri"/>
            </a:endParaRPr>
          </a:p>
        </p:txBody>
      </p:sp>
      <p:sp>
        <p:nvSpPr>
          <p:cNvPr id="106" name="Google Shape;106;p17"/>
          <p:cNvSpPr/>
          <p:nvPr/>
        </p:nvSpPr>
        <p:spPr>
          <a:xfrm>
            <a:off x="6240780" y="3017520"/>
            <a:ext cx="2297400" cy="8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Link vectors to their neighbors, then “hop” toward the answer — a few jumps instead of a full scan.</a:t>
            </a:r>
            <a:endParaRPr b="0" i="0" sz="1000" u="none" cap="none" strike="noStrike">
              <a:solidFill>
                <a:schemeClr val="dk1"/>
              </a:solidFill>
              <a:latin typeface="Calibri"/>
              <a:ea typeface="Calibri"/>
              <a:cs typeface="Calibri"/>
              <a:sym typeface="Calibri"/>
            </a:endParaRPr>
          </a:p>
        </p:txBody>
      </p:sp>
      <p:sp>
        <p:nvSpPr>
          <p:cNvPr id="107" name="Google Shape;107;p17"/>
          <p:cNvSpPr/>
          <p:nvPr/>
        </p:nvSpPr>
        <p:spPr>
          <a:xfrm>
            <a:off x="6240780" y="3840480"/>
            <a:ext cx="229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7078"/>
              </a:buClr>
              <a:buSzPts val="900"/>
              <a:buFont typeface="Courier New"/>
              <a:buNone/>
            </a:pPr>
            <a:r>
              <a:rPr b="0" i="1" lang="en" sz="900" u="none" cap="none" strike="noStrike">
                <a:solidFill>
                  <a:srgbClr val="5C7078"/>
                </a:solidFill>
                <a:latin typeface="Courier New"/>
                <a:ea typeface="Courier New"/>
                <a:cs typeface="Courier New"/>
                <a:sym typeface="Courier New"/>
              </a:rPr>
              <a:t>(a.k.a. HNSW)</a:t>
            </a:r>
            <a:endParaRPr b="0" i="0" sz="900" u="none" cap="none" strike="noStrike">
              <a:solidFill>
                <a:schemeClr val="dk1"/>
              </a:solidFill>
              <a:latin typeface="Calibri"/>
              <a:ea typeface="Calibri"/>
              <a:cs typeface="Calibri"/>
              <a:sym typeface="Calibri"/>
            </a:endParaRPr>
          </a:p>
        </p:txBody>
      </p:sp>
      <p:sp>
        <p:nvSpPr>
          <p:cNvPr id="108" name="Google Shape;108;p17"/>
          <p:cNvSpPr/>
          <p:nvPr/>
        </p:nvSpPr>
        <p:spPr>
          <a:xfrm>
            <a:off x="411480" y="4286250"/>
            <a:ext cx="8318700" cy="582900"/>
          </a:xfrm>
          <a:prstGeom prst="roundRect">
            <a:avLst>
              <a:gd fmla="val 12941" name="adj"/>
            </a:avLst>
          </a:prstGeom>
          <a:solidFill>
            <a:srgbClr val="0D5C63"/>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7"/>
          <p:cNvSpPr/>
          <p:nvPr/>
        </p:nvSpPr>
        <p:spPr>
          <a:xfrm>
            <a:off x="617220" y="4286250"/>
            <a:ext cx="7886700" cy="58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0" i="1" lang="en" sz="1200" u="none" cap="none" strike="noStrike">
                <a:solidFill>
                  <a:srgbClr val="FFFFFF"/>
                </a:solidFill>
                <a:latin typeface="Calibri"/>
                <a:ea typeface="Calibri"/>
                <a:cs typeface="Calibri"/>
                <a:sym typeface="Calibri"/>
              </a:rPr>
              <a:t>You almost never build these yourself — you pick an “index” by name and the database does all of this for you.</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p:nvPr/>
        </p:nvSpPr>
        <p:spPr>
          <a:xfrm>
            <a:off x="3612225" y="958025"/>
            <a:ext cx="5531700" cy="4020600"/>
          </a:xfrm>
          <a:prstGeom prst="rect">
            <a:avLst/>
          </a:prstGeom>
          <a:solidFill>
            <a:srgbClr val="CFE2F3">
              <a:alpha val="47450"/>
            </a:srgbClr>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5" name="Google Shape;115;p18"/>
          <p:cNvSpPr txBox="1"/>
          <p:nvPr/>
        </p:nvSpPr>
        <p:spPr>
          <a:xfrm>
            <a:off x="0" y="108075"/>
            <a:ext cx="8569500" cy="6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40"/>
              <a:buFont typeface="Arial"/>
              <a:buNone/>
            </a:pPr>
            <a:r>
              <a:rPr b="1" i="0" lang="en" sz="2200" u="none" cap="none" strike="noStrike">
                <a:solidFill>
                  <a:schemeClr val="dk1"/>
                </a:solidFill>
                <a:latin typeface="Raleway"/>
                <a:ea typeface="Raleway"/>
                <a:cs typeface="Raleway"/>
                <a:sym typeface="Raleway"/>
              </a:rPr>
              <a:t>IVF: Inverted file for vector Database </a:t>
            </a:r>
            <a:r>
              <a:rPr b="1" lang="en" sz="2500">
                <a:solidFill>
                  <a:schemeClr val="dk1"/>
                </a:solidFill>
              </a:rPr>
              <a:t>- </a:t>
            </a:r>
            <a:r>
              <a:rPr b="1" i="1" lang="en" sz="1800">
                <a:solidFill>
                  <a:srgbClr val="2563EB"/>
                </a:solidFill>
              </a:rPr>
              <a:t>Recap From the last lecture</a:t>
            </a:r>
            <a:endParaRPr b="1" i="0" sz="2200" u="none" cap="none" strike="noStrike">
              <a:solidFill>
                <a:schemeClr val="dk1"/>
              </a:solidFill>
              <a:latin typeface="Raleway"/>
              <a:ea typeface="Raleway"/>
              <a:cs typeface="Raleway"/>
              <a:sym typeface="Raleway"/>
            </a:endParaRPr>
          </a:p>
        </p:txBody>
      </p:sp>
      <p:sp>
        <p:nvSpPr>
          <p:cNvPr id="116" name="Google Shape;116;p18"/>
          <p:cNvSpPr/>
          <p:nvPr/>
        </p:nvSpPr>
        <p:spPr>
          <a:xfrm>
            <a:off x="3830950" y="12542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7" name="Google Shape;117;p18"/>
          <p:cNvSpPr/>
          <p:nvPr/>
        </p:nvSpPr>
        <p:spPr>
          <a:xfrm>
            <a:off x="4254225" y="12542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8" name="Google Shape;118;p18"/>
          <p:cNvSpPr/>
          <p:nvPr/>
        </p:nvSpPr>
        <p:spPr>
          <a:xfrm>
            <a:off x="3954550" y="17921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19" name="Google Shape;119;p18"/>
          <p:cNvSpPr/>
          <p:nvPr/>
        </p:nvSpPr>
        <p:spPr>
          <a:xfrm>
            <a:off x="5326150" y="16248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0" name="Google Shape;120;p18"/>
          <p:cNvSpPr/>
          <p:nvPr/>
        </p:nvSpPr>
        <p:spPr>
          <a:xfrm>
            <a:off x="4173575" y="23009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1" name="Google Shape;121;p18"/>
          <p:cNvSpPr/>
          <p:nvPr/>
        </p:nvSpPr>
        <p:spPr>
          <a:xfrm>
            <a:off x="5536150" y="12542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2" name="Google Shape;122;p18"/>
          <p:cNvSpPr/>
          <p:nvPr/>
        </p:nvSpPr>
        <p:spPr>
          <a:xfrm>
            <a:off x="4758500" y="16212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3" name="Google Shape;123;p18"/>
          <p:cNvSpPr/>
          <p:nvPr/>
        </p:nvSpPr>
        <p:spPr>
          <a:xfrm>
            <a:off x="4572000" y="21088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4" name="Google Shape;124;p18"/>
          <p:cNvSpPr/>
          <p:nvPr/>
        </p:nvSpPr>
        <p:spPr>
          <a:xfrm>
            <a:off x="5021000" y="13426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18"/>
          <p:cNvSpPr/>
          <p:nvPr/>
        </p:nvSpPr>
        <p:spPr>
          <a:xfrm>
            <a:off x="4356525" y="17071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6" name="Google Shape;126;p18"/>
          <p:cNvSpPr/>
          <p:nvPr/>
        </p:nvSpPr>
        <p:spPr>
          <a:xfrm>
            <a:off x="5783350" y="20401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7" name="Google Shape;127;p18"/>
          <p:cNvSpPr/>
          <p:nvPr/>
        </p:nvSpPr>
        <p:spPr>
          <a:xfrm>
            <a:off x="5020575" y="19630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8" name="Google Shape;128;p18"/>
          <p:cNvSpPr/>
          <p:nvPr/>
        </p:nvSpPr>
        <p:spPr>
          <a:xfrm>
            <a:off x="4759700" y="30634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9" name="Google Shape;129;p18"/>
          <p:cNvSpPr/>
          <p:nvPr/>
        </p:nvSpPr>
        <p:spPr>
          <a:xfrm>
            <a:off x="5286000" y="25091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0" name="Google Shape;130;p18"/>
          <p:cNvSpPr/>
          <p:nvPr/>
        </p:nvSpPr>
        <p:spPr>
          <a:xfrm>
            <a:off x="4636100" y="2586161"/>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1" name="Google Shape;131;p18"/>
          <p:cNvSpPr/>
          <p:nvPr/>
        </p:nvSpPr>
        <p:spPr>
          <a:xfrm>
            <a:off x="5659750" y="23692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2" name="Google Shape;132;p18"/>
          <p:cNvSpPr/>
          <p:nvPr/>
        </p:nvSpPr>
        <p:spPr>
          <a:xfrm>
            <a:off x="3998000" y="30373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3" name="Google Shape;133;p18"/>
          <p:cNvSpPr/>
          <p:nvPr/>
        </p:nvSpPr>
        <p:spPr>
          <a:xfrm>
            <a:off x="3763738" y="21034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4" name="Google Shape;134;p18"/>
          <p:cNvSpPr/>
          <p:nvPr/>
        </p:nvSpPr>
        <p:spPr>
          <a:xfrm>
            <a:off x="5716775" y="16212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5" name="Google Shape;135;p18"/>
          <p:cNvSpPr/>
          <p:nvPr/>
        </p:nvSpPr>
        <p:spPr>
          <a:xfrm>
            <a:off x="5488450" y="20401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6" name="Google Shape;136;p18"/>
          <p:cNvSpPr/>
          <p:nvPr/>
        </p:nvSpPr>
        <p:spPr>
          <a:xfrm>
            <a:off x="6149475" y="10567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7" name="Google Shape;137;p18"/>
          <p:cNvSpPr/>
          <p:nvPr/>
        </p:nvSpPr>
        <p:spPr>
          <a:xfrm>
            <a:off x="6572750" y="10567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8" name="Google Shape;138;p18"/>
          <p:cNvSpPr/>
          <p:nvPr/>
        </p:nvSpPr>
        <p:spPr>
          <a:xfrm>
            <a:off x="6273075" y="15946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9" name="Google Shape;139;p18"/>
          <p:cNvSpPr/>
          <p:nvPr/>
        </p:nvSpPr>
        <p:spPr>
          <a:xfrm>
            <a:off x="7644675" y="14273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0" name="Google Shape;140;p18"/>
          <p:cNvSpPr/>
          <p:nvPr/>
        </p:nvSpPr>
        <p:spPr>
          <a:xfrm>
            <a:off x="6492100" y="21034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1" name="Google Shape;141;p18"/>
          <p:cNvSpPr/>
          <p:nvPr/>
        </p:nvSpPr>
        <p:spPr>
          <a:xfrm>
            <a:off x="7854675" y="10567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2" name="Google Shape;142;p18"/>
          <p:cNvSpPr/>
          <p:nvPr/>
        </p:nvSpPr>
        <p:spPr>
          <a:xfrm>
            <a:off x="7077025" y="14237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3" name="Google Shape;143;p18"/>
          <p:cNvSpPr/>
          <p:nvPr/>
        </p:nvSpPr>
        <p:spPr>
          <a:xfrm>
            <a:off x="6890525" y="19113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4" name="Google Shape;144;p18"/>
          <p:cNvSpPr/>
          <p:nvPr/>
        </p:nvSpPr>
        <p:spPr>
          <a:xfrm>
            <a:off x="7339525" y="11451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5" name="Google Shape;145;p18"/>
          <p:cNvSpPr/>
          <p:nvPr/>
        </p:nvSpPr>
        <p:spPr>
          <a:xfrm>
            <a:off x="6675050" y="15096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6" name="Google Shape;146;p18"/>
          <p:cNvSpPr/>
          <p:nvPr/>
        </p:nvSpPr>
        <p:spPr>
          <a:xfrm>
            <a:off x="8101875" y="18426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7" name="Google Shape;147;p18"/>
          <p:cNvSpPr/>
          <p:nvPr/>
        </p:nvSpPr>
        <p:spPr>
          <a:xfrm>
            <a:off x="7339100" y="17655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8" name="Google Shape;148;p18"/>
          <p:cNvSpPr/>
          <p:nvPr/>
        </p:nvSpPr>
        <p:spPr>
          <a:xfrm>
            <a:off x="6459550" y="35483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9" name="Google Shape;149;p18"/>
          <p:cNvSpPr/>
          <p:nvPr/>
        </p:nvSpPr>
        <p:spPr>
          <a:xfrm>
            <a:off x="7604525" y="23117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0" name="Google Shape;150;p18"/>
          <p:cNvSpPr/>
          <p:nvPr/>
        </p:nvSpPr>
        <p:spPr>
          <a:xfrm>
            <a:off x="6954625" y="2388686"/>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1" name="Google Shape;151;p18"/>
          <p:cNvSpPr/>
          <p:nvPr/>
        </p:nvSpPr>
        <p:spPr>
          <a:xfrm>
            <a:off x="8498300" y="23886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2" name="Google Shape;152;p18"/>
          <p:cNvSpPr/>
          <p:nvPr/>
        </p:nvSpPr>
        <p:spPr>
          <a:xfrm>
            <a:off x="6335938" y="23117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3" name="Google Shape;153;p18"/>
          <p:cNvSpPr/>
          <p:nvPr/>
        </p:nvSpPr>
        <p:spPr>
          <a:xfrm>
            <a:off x="7683375" y="28414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4" name="Google Shape;154;p18"/>
          <p:cNvSpPr/>
          <p:nvPr/>
        </p:nvSpPr>
        <p:spPr>
          <a:xfrm>
            <a:off x="8165575" y="13022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5" name="Google Shape;155;p18"/>
          <p:cNvSpPr/>
          <p:nvPr/>
        </p:nvSpPr>
        <p:spPr>
          <a:xfrm>
            <a:off x="7806975" y="18426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6" name="Google Shape;156;p18"/>
          <p:cNvSpPr/>
          <p:nvPr/>
        </p:nvSpPr>
        <p:spPr>
          <a:xfrm>
            <a:off x="7410275" y="29073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7" name="Google Shape;157;p18"/>
          <p:cNvSpPr/>
          <p:nvPr/>
        </p:nvSpPr>
        <p:spPr>
          <a:xfrm>
            <a:off x="6643925" y="27112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8" name="Google Shape;158;p18"/>
          <p:cNvSpPr/>
          <p:nvPr/>
        </p:nvSpPr>
        <p:spPr>
          <a:xfrm>
            <a:off x="6344250" y="32491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59" name="Google Shape;159;p18"/>
          <p:cNvSpPr/>
          <p:nvPr/>
        </p:nvSpPr>
        <p:spPr>
          <a:xfrm>
            <a:off x="7715850" y="30817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0" name="Google Shape;160;p18"/>
          <p:cNvSpPr/>
          <p:nvPr/>
        </p:nvSpPr>
        <p:spPr>
          <a:xfrm>
            <a:off x="6563275" y="37579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1" name="Google Shape;161;p18"/>
          <p:cNvSpPr/>
          <p:nvPr/>
        </p:nvSpPr>
        <p:spPr>
          <a:xfrm>
            <a:off x="7925850" y="27112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2" name="Google Shape;162;p18"/>
          <p:cNvSpPr/>
          <p:nvPr/>
        </p:nvSpPr>
        <p:spPr>
          <a:xfrm>
            <a:off x="7148200" y="30782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3" name="Google Shape;163;p18"/>
          <p:cNvSpPr/>
          <p:nvPr/>
        </p:nvSpPr>
        <p:spPr>
          <a:xfrm>
            <a:off x="6961700" y="35657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4" name="Google Shape;164;p18"/>
          <p:cNvSpPr/>
          <p:nvPr/>
        </p:nvSpPr>
        <p:spPr>
          <a:xfrm>
            <a:off x="6746225" y="31640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5" name="Google Shape;165;p18"/>
          <p:cNvSpPr/>
          <p:nvPr/>
        </p:nvSpPr>
        <p:spPr>
          <a:xfrm>
            <a:off x="8173050" y="34970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6" name="Google Shape;166;p18"/>
          <p:cNvSpPr/>
          <p:nvPr/>
        </p:nvSpPr>
        <p:spPr>
          <a:xfrm>
            <a:off x="7410275" y="34199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7" name="Google Shape;167;p18"/>
          <p:cNvSpPr/>
          <p:nvPr/>
        </p:nvSpPr>
        <p:spPr>
          <a:xfrm>
            <a:off x="7149400" y="45204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8" name="Google Shape;168;p18"/>
          <p:cNvSpPr/>
          <p:nvPr/>
        </p:nvSpPr>
        <p:spPr>
          <a:xfrm>
            <a:off x="7675700" y="39661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69" name="Google Shape;169;p18"/>
          <p:cNvSpPr/>
          <p:nvPr/>
        </p:nvSpPr>
        <p:spPr>
          <a:xfrm>
            <a:off x="7025800" y="4043136"/>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0" name="Google Shape;170;p18"/>
          <p:cNvSpPr/>
          <p:nvPr/>
        </p:nvSpPr>
        <p:spPr>
          <a:xfrm>
            <a:off x="8569475" y="40431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1" name="Google Shape;171;p18"/>
          <p:cNvSpPr/>
          <p:nvPr/>
        </p:nvSpPr>
        <p:spPr>
          <a:xfrm>
            <a:off x="6387700" y="44943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2" name="Google Shape;172;p18"/>
          <p:cNvSpPr/>
          <p:nvPr/>
        </p:nvSpPr>
        <p:spPr>
          <a:xfrm>
            <a:off x="8049450" y="41553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3" name="Google Shape;173;p18"/>
          <p:cNvSpPr/>
          <p:nvPr/>
        </p:nvSpPr>
        <p:spPr>
          <a:xfrm>
            <a:off x="7754550" y="44959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4" name="Google Shape;174;p18"/>
          <p:cNvSpPr/>
          <p:nvPr/>
        </p:nvSpPr>
        <p:spPr>
          <a:xfrm>
            <a:off x="8236750" y="29566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5" name="Google Shape;175;p18"/>
          <p:cNvSpPr/>
          <p:nvPr/>
        </p:nvSpPr>
        <p:spPr>
          <a:xfrm>
            <a:off x="7878150" y="34970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6" name="Google Shape;176;p18"/>
          <p:cNvSpPr/>
          <p:nvPr/>
        </p:nvSpPr>
        <p:spPr>
          <a:xfrm>
            <a:off x="3689338" y="25091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7" name="Google Shape;177;p18"/>
          <p:cNvSpPr/>
          <p:nvPr/>
        </p:nvSpPr>
        <p:spPr>
          <a:xfrm>
            <a:off x="3743600" y="32491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8" name="Google Shape;178;p18"/>
          <p:cNvSpPr/>
          <p:nvPr/>
        </p:nvSpPr>
        <p:spPr>
          <a:xfrm>
            <a:off x="5115200" y="30817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79" name="Google Shape;179;p18"/>
          <p:cNvSpPr/>
          <p:nvPr/>
        </p:nvSpPr>
        <p:spPr>
          <a:xfrm>
            <a:off x="3962625" y="37579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0" name="Google Shape;180;p18"/>
          <p:cNvSpPr/>
          <p:nvPr/>
        </p:nvSpPr>
        <p:spPr>
          <a:xfrm>
            <a:off x="5325200" y="27112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1" name="Google Shape;181;p18"/>
          <p:cNvSpPr/>
          <p:nvPr/>
        </p:nvSpPr>
        <p:spPr>
          <a:xfrm>
            <a:off x="4547550" y="30782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2" name="Google Shape;182;p18"/>
          <p:cNvSpPr/>
          <p:nvPr/>
        </p:nvSpPr>
        <p:spPr>
          <a:xfrm>
            <a:off x="4361050" y="35657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3" name="Google Shape;183;p18"/>
          <p:cNvSpPr/>
          <p:nvPr/>
        </p:nvSpPr>
        <p:spPr>
          <a:xfrm>
            <a:off x="4145575" y="31640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4" name="Google Shape;184;p18"/>
          <p:cNvSpPr/>
          <p:nvPr/>
        </p:nvSpPr>
        <p:spPr>
          <a:xfrm>
            <a:off x="4809625" y="34199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5" name="Google Shape;185;p18"/>
          <p:cNvSpPr/>
          <p:nvPr/>
        </p:nvSpPr>
        <p:spPr>
          <a:xfrm>
            <a:off x="4548750" y="45204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6" name="Google Shape;186;p18"/>
          <p:cNvSpPr/>
          <p:nvPr/>
        </p:nvSpPr>
        <p:spPr>
          <a:xfrm>
            <a:off x="5075050" y="39661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7" name="Google Shape;187;p18"/>
          <p:cNvSpPr/>
          <p:nvPr/>
        </p:nvSpPr>
        <p:spPr>
          <a:xfrm>
            <a:off x="4425150" y="4043136"/>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8" name="Google Shape;188;p18"/>
          <p:cNvSpPr/>
          <p:nvPr/>
        </p:nvSpPr>
        <p:spPr>
          <a:xfrm>
            <a:off x="6149475" y="39661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9" name="Google Shape;189;p18"/>
          <p:cNvSpPr/>
          <p:nvPr/>
        </p:nvSpPr>
        <p:spPr>
          <a:xfrm>
            <a:off x="3787050" y="449432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0" name="Google Shape;190;p18"/>
          <p:cNvSpPr/>
          <p:nvPr/>
        </p:nvSpPr>
        <p:spPr>
          <a:xfrm>
            <a:off x="5448800" y="41553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1" name="Google Shape;191;p18"/>
          <p:cNvSpPr/>
          <p:nvPr/>
        </p:nvSpPr>
        <p:spPr>
          <a:xfrm>
            <a:off x="5153900" y="449594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2" name="Google Shape;192;p18"/>
          <p:cNvSpPr/>
          <p:nvPr/>
        </p:nvSpPr>
        <p:spPr>
          <a:xfrm>
            <a:off x="4683550" y="1254274"/>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3" name="Google Shape;193;p18"/>
          <p:cNvSpPr/>
          <p:nvPr/>
        </p:nvSpPr>
        <p:spPr>
          <a:xfrm>
            <a:off x="5277500" y="3497099"/>
            <a:ext cx="123600" cy="1251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194" name="Google Shape;194;p18"/>
          <p:cNvCxnSpPr/>
          <p:nvPr/>
        </p:nvCxnSpPr>
        <p:spPr>
          <a:xfrm flipH="1">
            <a:off x="6156550" y="1813975"/>
            <a:ext cx="2960400" cy="1366500"/>
          </a:xfrm>
          <a:prstGeom prst="straightConnector1">
            <a:avLst/>
          </a:prstGeom>
          <a:noFill/>
          <a:ln cap="flat" cmpd="sng" w="9525">
            <a:solidFill>
              <a:srgbClr val="1CA3F1"/>
            </a:solidFill>
            <a:prstDash val="solid"/>
            <a:round/>
            <a:headEnd len="sm" w="sm" type="none"/>
            <a:tailEnd len="sm" w="sm" type="none"/>
          </a:ln>
        </p:spPr>
      </p:cxnSp>
      <p:cxnSp>
        <p:nvCxnSpPr>
          <p:cNvPr id="195" name="Google Shape;195;p18"/>
          <p:cNvCxnSpPr/>
          <p:nvPr/>
        </p:nvCxnSpPr>
        <p:spPr>
          <a:xfrm>
            <a:off x="5810975" y="942325"/>
            <a:ext cx="361200" cy="2222400"/>
          </a:xfrm>
          <a:prstGeom prst="straightConnector1">
            <a:avLst/>
          </a:prstGeom>
          <a:noFill/>
          <a:ln cap="flat" cmpd="sng" w="9525">
            <a:solidFill>
              <a:srgbClr val="1CA3F1"/>
            </a:solidFill>
            <a:prstDash val="solid"/>
            <a:round/>
            <a:headEnd len="sm" w="sm" type="none"/>
            <a:tailEnd len="sm" w="sm" type="none"/>
          </a:ln>
        </p:spPr>
      </p:cxnSp>
      <p:cxnSp>
        <p:nvCxnSpPr>
          <p:cNvPr id="196" name="Google Shape;196;p18"/>
          <p:cNvCxnSpPr>
            <a:stCxn id="114" idx="1"/>
          </p:cNvCxnSpPr>
          <p:nvPr/>
        </p:nvCxnSpPr>
        <p:spPr>
          <a:xfrm>
            <a:off x="3612225" y="2968325"/>
            <a:ext cx="2567700" cy="180600"/>
          </a:xfrm>
          <a:prstGeom prst="straightConnector1">
            <a:avLst/>
          </a:prstGeom>
          <a:noFill/>
          <a:ln cap="flat" cmpd="sng" w="9525">
            <a:solidFill>
              <a:srgbClr val="1CA3F1"/>
            </a:solidFill>
            <a:prstDash val="solid"/>
            <a:round/>
            <a:headEnd len="sm" w="sm" type="none"/>
            <a:tailEnd len="sm" w="sm" type="none"/>
          </a:ln>
        </p:spPr>
      </p:cxnSp>
      <p:cxnSp>
        <p:nvCxnSpPr>
          <p:cNvPr id="197" name="Google Shape;197;p18"/>
          <p:cNvCxnSpPr/>
          <p:nvPr/>
        </p:nvCxnSpPr>
        <p:spPr>
          <a:xfrm flipH="1">
            <a:off x="5504700" y="3164625"/>
            <a:ext cx="667500" cy="1821900"/>
          </a:xfrm>
          <a:prstGeom prst="straightConnector1">
            <a:avLst/>
          </a:prstGeom>
          <a:noFill/>
          <a:ln cap="flat" cmpd="sng" w="9525">
            <a:solidFill>
              <a:srgbClr val="1CA3F1"/>
            </a:solidFill>
            <a:prstDash val="solid"/>
            <a:round/>
            <a:headEnd len="sm" w="sm" type="none"/>
            <a:tailEnd len="sm" w="sm" type="none"/>
          </a:ln>
        </p:spPr>
      </p:cxnSp>
      <p:sp>
        <p:nvSpPr>
          <p:cNvPr id="198" name="Google Shape;198;p18"/>
          <p:cNvSpPr/>
          <p:nvPr/>
        </p:nvSpPr>
        <p:spPr>
          <a:xfrm>
            <a:off x="4658200" y="1828663"/>
            <a:ext cx="381900" cy="3966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9" name="Google Shape;199;p18"/>
          <p:cNvSpPr/>
          <p:nvPr/>
        </p:nvSpPr>
        <p:spPr>
          <a:xfrm>
            <a:off x="4490913" y="3595800"/>
            <a:ext cx="381900" cy="3966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0" name="Google Shape;200;p18"/>
          <p:cNvSpPr/>
          <p:nvPr/>
        </p:nvSpPr>
        <p:spPr>
          <a:xfrm>
            <a:off x="6910875" y="1571363"/>
            <a:ext cx="381900" cy="3966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1" name="Google Shape;201;p18"/>
          <p:cNvSpPr/>
          <p:nvPr/>
        </p:nvSpPr>
        <p:spPr>
          <a:xfrm>
            <a:off x="7239013" y="3578138"/>
            <a:ext cx="381900" cy="3966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2" name="Google Shape;202;p18"/>
          <p:cNvSpPr/>
          <p:nvPr/>
        </p:nvSpPr>
        <p:spPr>
          <a:xfrm>
            <a:off x="5840375" y="3210949"/>
            <a:ext cx="123600" cy="125100"/>
          </a:xfrm>
          <a:prstGeom prst="ellipse">
            <a:avLst/>
          </a:prstGeom>
          <a:solidFill>
            <a:srgbClr val="8879B0"/>
          </a:solidFill>
          <a:ln cap="flat" cmpd="sng" w="9525">
            <a:solidFill>
              <a:srgbClr val="1CA3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03" name="Google Shape;203;p18"/>
          <p:cNvSpPr/>
          <p:nvPr/>
        </p:nvSpPr>
        <p:spPr>
          <a:xfrm>
            <a:off x="180600" y="748872"/>
            <a:ext cx="3227100" cy="4229700"/>
          </a:xfrm>
          <a:prstGeom prst="roundRect">
            <a:avLst>
              <a:gd fmla="val 7908" name="adj"/>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700"/>
              <a:buFont typeface="Arial"/>
              <a:buNone/>
            </a:pPr>
            <a:r>
              <a:rPr b="1" i="0" lang="en" u="none" cap="none" strike="noStrike">
                <a:solidFill>
                  <a:srgbClr val="000000"/>
                </a:solidFill>
                <a:latin typeface="Comic Sans MS"/>
                <a:ea typeface="Comic Sans MS"/>
                <a:cs typeface="Comic Sans MS"/>
                <a:sym typeface="Comic Sans MS"/>
              </a:rPr>
              <a:t>Retrieval (The</a:t>
            </a:r>
            <a:r>
              <a:rPr b="1" lang="en">
                <a:latin typeface="Comic Sans MS"/>
                <a:ea typeface="Comic Sans MS"/>
                <a:cs typeface="Comic Sans MS"/>
                <a:sym typeface="Comic Sans MS"/>
              </a:rPr>
              <a:t> </a:t>
            </a:r>
            <a:r>
              <a:rPr b="1" i="0" lang="en" u="none" cap="none" strike="noStrike">
                <a:solidFill>
                  <a:srgbClr val="000000"/>
                </a:solidFill>
                <a:latin typeface="Comic Sans MS"/>
                <a:ea typeface="Comic Sans MS"/>
                <a:cs typeface="Comic Sans MS"/>
                <a:sym typeface="Comic Sans MS"/>
              </a:rPr>
              <a:t>Search)</a:t>
            </a:r>
            <a:endParaRPr b="1" i="0" u="none" cap="none" strike="noStrike">
              <a:solidFill>
                <a:srgbClr val="000000"/>
              </a:solidFill>
              <a:latin typeface="Comic Sans MS"/>
              <a:ea typeface="Comic Sans MS"/>
              <a:cs typeface="Comic Sans MS"/>
              <a:sym typeface="Comic Sans MS"/>
            </a:endParaRPr>
          </a:p>
          <a:p>
            <a:pPr indent="-317500" lvl="0" marL="457200" marR="0" rtl="0" algn="l">
              <a:lnSpc>
                <a:spcPct val="115000"/>
              </a:lnSpc>
              <a:spcBef>
                <a:spcPts val="1200"/>
              </a:spcBef>
              <a:spcAft>
                <a:spcPts val="0"/>
              </a:spcAft>
              <a:buClr>
                <a:srgbClr val="000000"/>
              </a:buClr>
              <a:buSzPts val="1400"/>
              <a:buFont typeface="Arial"/>
              <a:buChar char="●"/>
            </a:pPr>
            <a:r>
              <a:rPr b="1" i="0" lang="en" u="none" cap="none" strike="noStrike">
                <a:solidFill>
                  <a:srgbClr val="000000"/>
                </a:solidFill>
                <a:latin typeface="Comic Sans MS"/>
                <a:ea typeface="Comic Sans MS"/>
                <a:cs typeface="Comic Sans MS"/>
                <a:sym typeface="Comic Sans MS"/>
              </a:rPr>
              <a:t>Coarse Search:</a:t>
            </a:r>
            <a:r>
              <a:rPr b="0" i="0" lang="en" u="none" cap="none" strike="noStrike">
                <a:solidFill>
                  <a:srgbClr val="000000"/>
                </a:solidFill>
                <a:latin typeface="Comic Sans MS"/>
                <a:ea typeface="Comic Sans MS"/>
                <a:cs typeface="Comic Sans MS"/>
                <a:sym typeface="Comic Sans MS"/>
              </a:rPr>
              <a:t> Compare the query </a:t>
            </a:r>
            <a:r>
              <a:rPr b="1" i="0" lang="en" u="none" cap="none" strike="noStrike">
                <a:solidFill>
                  <a:srgbClr val="000000"/>
                </a:solidFill>
                <a:latin typeface="Comic Sans MS"/>
                <a:ea typeface="Comic Sans MS"/>
                <a:cs typeface="Comic Sans MS"/>
                <a:sym typeface="Comic Sans MS"/>
              </a:rPr>
              <a:t>only</a:t>
            </a:r>
            <a:r>
              <a:rPr b="0" i="0" lang="en" u="none" cap="none" strike="noStrike">
                <a:solidFill>
                  <a:srgbClr val="000000"/>
                </a:solidFill>
                <a:latin typeface="Comic Sans MS"/>
                <a:ea typeface="Comic Sans MS"/>
                <a:cs typeface="Comic Sans MS"/>
                <a:sym typeface="Comic Sans MS"/>
              </a:rPr>
              <a:t> against the k centroids to find the closest match.</a:t>
            </a:r>
            <a:endParaRPr b="0" i="0" u="none" cap="none" strike="noStrike">
              <a:solidFill>
                <a:srgbClr val="000000"/>
              </a:solidFill>
              <a:latin typeface="Comic Sans MS"/>
              <a:ea typeface="Comic Sans MS"/>
              <a:cs typeface="Comic Sans MS"/>
              <a:sym typeface="Comic Sans MS"/>
            </a:endParaRPr>
          </a:p>
          <a:p>
            <a:pPr indent="-317500" lvl="0" marL="457200" marR="0" rtl="0" algn="l">
              <a:lnSpc>
                <a:spcPct val="115000"/>
              </a:lnSpc>
              <a:spcBef>
                <a:spcPts val="0"/>
              </a:spcBef>
              <a:spcAft>
                <a:spcPts val="0"/>
              </a:spcAft>
              <a:buClr>
                <a:srgbClr val="000000"/>
              </a:buClr>
              <a:buSzPts val="1400"/>
              <a:buFont typeface="Arial"/>
              <a:buChar char="●"/>
            </a:pPr>
            <a:r>
              <a:rPr b="1" i="0" lang="en" u="none" cap="none" strike="noStrike">
                <a:solidFill>
                  <a:srgbClr val="000000"/>
                </a:solidFill>
                <a:latin typeface="Comic Sans MS"/>
                <a:ea typeface="Comic Sans MS"/>
                <a:cs typeface="Comic Sans MS"/>
                <a:sym typeface="Comic Sans MS"/>
              </a:rPr>
              <a:t>Fine Search:</a:t>
            </a:r>
            <a:r>
              <a:rPr b="0" i="0" lang="en" u="none" cap="none" strike="noStrike">
                <a:solidFill>
                  <a:srgbClr val="000000"/>
                </a:solidFill>
                <a:latin typeface="Comic Sans MS"/>
                <a:ea typeface="Comic Sans MS"/>
                <a:cs typeface="Comic Sans MS"/>
                <a:sym typeface="Comic Sans MS"/>
              </a:rPr>
              <a:t> Scan </a:t>
            </a:r>
            <a:r>
              <a:rPr b="1" i="0" lang="en" u="none" cap="none" strike="noStrike">
                <a:solidFill>
                  <a:srgbClr val="000000"/>
                </a:solidFill>
                <a:latin typeface="Comic Sans MS"/>
                <a:ea typeface="Comic Sans MS"/>
                <a:cs typeface="Comic Sans MS"/>
                <a:sym typeface="Comic Sans MS"/>
              </a:rPr>
              <a:t>only</a:t>
            </a:r>
            <a:r>
              <a:rPr b="0" i="0" lang="en" u="none" cap="none" strike="noStrike">
                <a:solidFill>
                  <a:srgbClr val="000000"/>
                </a:solidFill>
                <a:latin typeface="Comic Sans MS"/>
                <a:ea typeface="Comic Sans MS"/>
                <a:cs typeface="Comic Sans MS"/>
                <a:sym typeface="Comic Sans MS"/>
              </a:rPr>
              <a:t> the vectors inside that specific bucket (ignoring the rest)</a:t>
            </a:r>
            <a:endParaRPr b="0" i="0" u="none" cap="none" strike="noStrike">
              <a:solidFill>
                <a:srgbClr val="000000"/>
              </a:solidFill>
              <a:latin typeface="Comic Sans MS"/>
              <a:ea typeface="Comic Sans MS"/>
              <a:cs typeface="Comic Sans MS"/>
              <a:sym typeface="Comic Sans MS"/>
            </a:endParaRPr>
          </a:p>
          <a:p>
            <a:pPr indent="-317500" lvl="0" marL="457200" marR="0" rtl="0" algn="l">
              <a:lnSpc>
                <a:spcPct val="115000"/>
              </a:lnSpc>
              <a:spcBef>
                <a:spcPts val="0"/>
              </a:spcBef>
              <a:spcAft>
                <a:spcPts val="0"/>
              </a:spcAft>
              <a:buClr>
                <a:srgbClr val="000000"/>
              </a:buClr>
              <a:buSzPts val="1400"/>
              <a:buFont typeface="Arial"/>
              <a:buChar char="●"/>
            </a:pPr>
            <a:r>
              <a:rPr b="1" i="0" lang="en" u="none" cap="none" strike="noStrike">
                <a:solidFill>
                  <a:srgbClr val="000000"/>
                </a:solidFill>
                <a:latin typeface="Comic Sans MS"/>
                <a:ea typeface="Comic Sans MS"/>
                <a:cs typeface="Comic Sans MS"/>
                <a:sym typeface="Comic Sans MS"/>
              </a:rPr>
              <a:t>nprob</a:t>
            </a:r>
            <a:r>
              <a:rPr b="1" lang="en">
                <a:latin typeface="Comic Sans MS"/>
                <a:ea typeface="Comic Sans MS"/>
                <a:cs typeface="Comic Sans MS"/>
                <a:sym typeface="Comic Sans MS"/>
              </a:rPr>
              <a:t>e</a:t>
            </a:r>
            <a:r>
              <a:rPr b="1" i="0" lang="en" u="none" cap="none" strike="noStrike">
                <a:solidFill>
                  <a:srgbClr val="000000"/>
                </a:solidFill>
                <a:latin typeface="Comic Sans MS"/>
                <a:ea typeface="Comic Sans MS"/>
                <a:cs typeface="Comic Sans MS"/>
                <a:sym typeface="Comic Sans MS"/>
              </a:rPr>
              <a:t> : </a:t>
            </a:r>
            <a:r>
              <a:rPr lang="en">
                <a:latin typeface="Comic Sans MS"/>
                <a:ea typeface="Comic Sans MS"/>
                <a:cs typeface="Comic Sans MS"/>
                <a:sym typeface="Comic Sans MS"/>
              </a:rPr>
              <a:t>#</a:t>
            </a:r>
            <a:r>
              <a:rPr i="0" lang="en" u="none" cap="none" strike="noStrike">
                <a:solidFill>
                  <a:srgbClr val="000000"/>
                </a:solidFill>
                <a:latin typeface="Comic Sans MS"/>
                <a:ea typeface="Comic Sans MS"/>
                <a:cs typeface="Comic Sans MS"/>
                <a:sym typeface="Comic Sans MS"/>
              </a:rPr>
              <a:t>clusters (centroids) the algorithm evaluates during a</a:t>
            </a:r>
            <a:r>
              <a:rPr lang="en">
                <a:latin typeface="Comic Sans MS"/>
                <a:ea typeface="Comic Sans MS"/>
                <a:cs typeface="Comic Sans MS"/>
                <a:sym typeface="Comic Sans MS"/>
              </a:rPr>
              <a:t>n </a:t>
            </a:r>
            <a:r>
              <a:rPr i="0" lang="en" u="none" cap="none" strike="noStrike">
                <a:solidFill>
                  <a:srgbClr val="000000"/>
                </a:solidFill>
                <a:latin typeface="Comic Sans MS"/>
                <a:ea typeface="Comic Sans MS"/>
                <a:cs typeface="Comic Sans MS"/>
                <a:sym typeface="Comic Sans MS"/>
              </a:rPr>
              <a:t>ANN search (</a:t>
            </a:r>
            <a:r>
              <a:rPr i="1" lang="en" u="none" cap="none" strike="noStrike">
                <a:solidFill>
                  <a:srgbClr val="000000"/>
                </a:solidFill>
                <a:latin typeface="Comic Sans MS"/>
                <a:ea typeface="Comic Sans MS"/>
                <a:cs typeface="Comic Sans MS"/>
                <a:sym typeface="Comic Sans MS"/>
              </a:rPr>
              <a:t>=1 by default</a:t>
            </a:r>
            <a:r>
              <a:rPr i="0" lang="en" u="none" cap="none" strike="noStrike">
                <a:solidFill>
                  <a:srgbClr val="000000"/>
                </a:solidFill>
                <a:latin typeface="Comic Sans MS"/>
                <a:ea typeface="Comic Sans MS"/>
                <a:cs typeface="Comic Sans MS"/>
                <a:sym typeface="Comic Sans MS"/>
              </a:rPr>
              <a:t>)</a:t>
            </a:r>
            <a:endParaRPr i="0" u="none" cap="none" strike="noStrike">
              <a:solidFill>
                <a:srgbClr val="000000"/>
              </a:solidFill>
              <a:latin typeface="Comic Sans MS"/>
              <a:ea typeface="Comic Sans MS"/>
              <a:cs typeface="Comic Sans MS"/>
              <a:sym typeface="Comic Sans MS"/>
            </a:endParaRPr>
          </a:p>
          <a:p>
            <a:pPr indent="-317500" lvl="0" marL="457200" marR="0" rtl="0" algn="l">
              <a:lnSpc>
                <a:spcPct val="115000"/>
              </a:lnSpc>
              <a:spcBef>
                <a:spcPts val="0"/>
              </a:spcBef>
              <a:spcAft>
                <a:spcPts val="0"/>
              </a:spcAft>
              <a:buClr>
                <a:srgbClr val="000000"/>
              </a:buClr>
              <a:buSzPts val="1400"/>
              <a:buFont typeface="Arial"/>
              <a:buChar char="●"/>
            </a:pPr>
            <a:r>
              <a:rPr b="1" i="0" lang="en" u="none" cap="none" strike="noStrike">
                <a:solidFill>
                  <a:srgbClr val="000000"/>
                </a:solidFill>
                <a:latin typeface="Comic Sans MS"/>
                <a:ea typeface="Comic Sans MS"/>
                <a:cs typeface="Comic Sans MS"/>
                <a:sym typeface="Comic Sans MS"/>
              </a:rPr>
              <a:t>Outcome:</a:t>
            </a:r>
            <a:r>
              <a:rPr b="0" i="0" lang="en" u="none" cap="none" strike="noStrike">
                <a:solidFill>
                  <a:srgbClr val="000000"/>
                </a:solidFill>
                <a:latin typeface="Comic Sans MS"/>
                <a:ea typeface="Comic Sans MS"/>
                <a:cs typeface="Comic Sans MS"/>
                <a:sym typeface="Comic Sans MS"/>
              </a:rPr>
              <a:t> Reduces search scope from O(N) to approximately O(N/k)</a:t>
            </a:r>
            <a:endParaRPr b="0" i="0" u="none" cap="none" strike="noStrike">
              <a:solidFill>
                <a:srgbClr val="000000"/>
              </a:solidFill>
              <a:latin typeface="Comic Sans MS"/>
              <a:ea typeface="Comic Sans MS"/>
              <a:cs typeface="Comic Sans MS"/>
              <a:sym typeface="Comic Sans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9"/>
          <p:cNvSpPr/>
          <p:nvPr/>
        </p:nvSpPr>
        <p:spPr>
          <a:xfrm>
            <a:off x="397764" y="480060"/>
            <a:ext cx="83670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2300"/>
              <a:buFont typeface="Cambria"/>
              <a:buNone/>
            </a:pPr>
            <a:r>
              <a:rPr b="1" lang="en" sz="2300">
                <a:solidFill>
                  <a:srgbClr val="13203A"/>
                </a:solidFill>
                <a:latin typeface="Cambria"/>
                <a:ea typeface="Cambria"/>
                <a:cs typeface="Cambria"/>
                <a:sym typeface="Cambria"/>
              </a:rPr>
              <a:t>Product Quantization</a:t>
            </a:r>
            <a:endParaRPr b="0" i="0" sz="2300" u="none" cap="none" strike="noStrike">
              <a:solidFill>
                <a:schemeClr val="dk1"/>
              </a:solidFill>
              <a:latin typeface="Calibri"/>
              <a:ea typeface="Calibri"/>
              <a:cs typeface="Calibri"/>
              <a:sym typeface="Calibri"/>
            </a:endParaRPr>
          </a:p>
        </p:txBody>
      </p:sp>
      <p:sp>
        <p:nvSpPr>
          <p:cNvPr id="210" name="Google Shape;210;p19"/>
          <p:cNvSpPr/>
          <p:nvPr/>
        </p:nvSpPr>
        <p:spPr>
          <a:xfrm>
            <a:off x="411480" y="1268730"/>
            <a:ext cx="41148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We have </a:t>
            </a:r>
            <a:r>
              <a:rPr b="1" i="0" lang="en" sz="1200" u="none" cap="none" strike="noStrike">
                <a:solidFill>
                  <a:srgbClr val="0E4D6E"/>
                </a:solidFill>
                <a:latin typeface="Calibri"/>
                <a:ea typeface="Calibri"/>
                <a:cs typeface="Calibri"/>
                <a:sym typeface="Calibri"/>
              </a:rPr>
              <a:t>N = 1,000,000</a:t>
            </a:r>
            <a:r>
              <a:rPr b="0" i="0" lang="en" sz="1200" u="none" cap="none" strike="noStrike">
                <a:solidFill>
                  <a:srgbClr val="44586A"/>
                </a:solidFill>
                <a:latin typeface="Calibri"/>
                <a:ea typeface="Calibri"/>
                <a:cs typeface="Calibri"/>
                <a:sym typeface="Calibri"/>
              </a:rPr>
              <a:t> database vectors, d₁ through d₁,₀₀₀,₀₀₀.</a:t>
            </a:r>
            <a:endParaRPr b="0" i="0" sz="1200" u="none" cap="none" strike="noStrike">
              <a:solidFill>
                <a:schemeClr val="dk1"/>
              </a:solidFill>
              <a:latin typeface="Calibri"/>
              <a:ea typeface="Calibri"/>
              <a:cs typeface="Calibri"/>
              <a:sym typeface="Calibri"/>
            </a:endParaRPr>
          </a:p>
        </p:txBody>
      </p:sp>
      <p:sp>
        <p:nvSpPr>
          <p:cNvPr id="211" name="Google Shape;211;p19"/>
          <p:cNvSpPr/>
          <p:nvPr/>
        </p:nvSpPr>
        <p:spPr>
          <a:xfrm>
            <a:off x="411480" y="1748790"/>
            <a:ext cx="41148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Each is a </a:t>
            </a:r>
            <a:r>
              <a:rPr b="1" i="0" lang="en" sz="1200" u="none" cap="none" strike="noStrike">
                <a:solidFill>
                  <a:srgbClr val="0E4D6E"/>
                </a:solidFill>
                <a:latin typeface="Calibri"/>
                <a:ea typeface="Calibri"/>
                <a:cs typeface="Calibri"/>
                <a:sym typeface="Calibri"/>
              </a:rPr>
              <a:t>D = 768</a:t>
            </a:r>
            <a:r>
              <a:rPr b="0" i="0" lang="en" sz="1200" u="none" cap="none" strike="noStrike">
                <a:solidFill>
                  <a:srgbClr val="44586A"/>
                </a:solidFill>
                <a:latin typeface="Calibri"/>
                <a:ea typeface="Calibri"/>
                <a:cs typeface="Calibri"/>
                <a:sym typeface="Calibri"/>
              </a:rPr>
              <a:t>-dimensional vector of floats — one row of the matrix. Storing them all raw is the problem PQ solves.</a:t>
            </a:r>
            <a:endParaRPr b="0" i="0" sz="1200" u="none" cap="none" strike="noStrike">
              <a:solidFill>
                <a:schemeClr val="dk1"/>
              </a:solidFill>
              <a:latin typeface="Calibri"/>
              <a:ea typeface="Calibri"/>
              <a:cs typeface="Calibri"/>
              <a:sym typeface="Calibri"/>
            </a:endParaRPr>
          </a:p>
        </p:txBody>
      </p:sp>
      <p:sp>
        <p:nvSpPr>
          <p:cNvPr id="212" name="Google Shape;212;p19"/>
          <p:cNvSpPr/>
          <p:nvPr/>
        </p:nvSpPr>
        <p:spPr>
          <a:xfrm>
            <a:off x="411480" y="2571750"/>
            <a:ext cx="4114800" cy="7545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Over the next slides we compress this whole set: split each row, cluster each segment, and keep only the cluster IDs.</a:t>
            </a:r>
            <a:endParaRPr b="0" i="0" sz="1200" u="none" cap="none" strike="noStrike">
              <a:solidFill>
                <a:schemeClr val="dk1"/>
              </a:solidFill>
              <a:latin typeface="Calibri"/>
              <a:ea typeface="Calibri"/>
              <a:cs typeface="Calibri"/>
              <a:sym typeface="Calibri"/>
            </a:endParaRPr>
          </a:p>
        </p:txBody>
      </p:sp>
      <p:sp>
        <p:nvSpPr>
          <p:cNvPr id="213" name="Google Shape;213;p19"/>
          <p:cNvSpPr/>
          <p:nvPr/>
        </p:nvSpPr>
        <p:spPr>
          <a:xfrm>
            <a:off x="411480" y="3634740"/>
            <a:ext cx="4114800" cy="823200"/>
          </a:xfrm>
          <a:prstGeom prst="roundRect">
            <a:avLst>
              <a:gd fmla="val 8333" name="adj"/>
            </a:avLst>
          </a:prstGeom>
          <a:solidFill>
            <a:srgbClr val="F4F8FB"/>
          </a:solidFill>
          <a:ln cap="flat" cmpd="sng" w="9525">
            <a:solidFill>
              <a:srgbClr val="CB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19"/>
          <p:cNvSpPr/>
          <p:nvPr/>
        </p:nvSpPr>
        <p:spPr>
          <a:xfrm>
            <a:off x="582930" y="3634740"/>
            <a:ext cx="3771900" cy="8232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13203A"/>
              </a:buClr>
              <a:buSzPts val="1100"/>
              <a:buFont typeface="Calibri"/>
              <a:buNone/>
            </a:pPr>
            <a:r>
              <a:rPr b="1" i="0" lang="en" sz="1100" u="none" cap="none" strike="noStrike">
                <a:solidFill>
                  <a:srgbClr val="13203A"/>
                </a:solidFill>
                <a:latin typeface="Calibri"/>
                <a:ea typeface="Calibri"/>
                <a:cs typeface="Calibri"/>
                <a:sym typeface="Calibri"/>
              </a:rPr>
              <a:t>N = 1,000,000 vectors  ·  each D = 768 dims</a:t>
            </a:r>
            <a:endParaRPr b="0" i="0" sz="11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44586A"/>
              </a:buClr>
              <a:buSzPts val="1100"/>
              <a:buFont typeface="Calibri"/>
              <a:buNone/>
            </a:pPr>
            <a:r>
              <a:rPr b="0" i="0" lang="en" sz="1100" u="none" cap="none" strike="noStrike">
                <a:solidFill>
                  <a:srgbClr val="44586A"/>
                </a:solidFill>
                <a:latin typeface="Calibri"/>
                <a:ea typeface="Calibri"/>
                <a:cs typeface="Calibri"/>
                <a:sym typeface="Calibri"/>
              </a:rPr>
              <a:t>Rows d₁ … d₁,₀₀₀,₀₀₀, each holding 768 floats.</a:t>
            </a:r>
            <a:endParaRPr b="0" i="0" sz="1100" u="none" cap="none" strike="noStrike">
              <a:solidFill>
                <a:schemeClr val="dk1"/>
              </a:solidFill>
              <a:latin typeface="Calibri"/>
              <a:ea typeface="Calibri"/>
              <a:cs typeface="Calibri"/>
              <a:sym typeface="Calibri"/>
            </a:endParaRPr>
          </a:p>
        </p:txBody>
      </p:sp>
      <p:sp>
        <p:nvSpPr>
          <p:cNvPr id="215" name="Google Shape;215;p19"/>
          <p:cNvSpPr/>
          <p:nvPr/>
        </p:nvSpPr>
        <p:spPr>
          <a:xfrm>
            <a:off x="5116068" y="181737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d1</a:t>
            </a:r>
            <a:endParaRPr b="0" i="0" sz="700" u="none" cap="none" strike="noStrike">
              <a:solidFill>
                <a:schemeClr val="dk1"/>
              </a:solidFill>
              <a:latin typeface="Calibri"/>
              <a:ea typeface="Calibri"/>
              <a:cs typeface="Calibri"/>
              <a:sym typeface="Calibri"/>
            </a:endParaRPr>
          </a:p>
        </p:txBody>
      </p:sp>
      <p:sp>
        <p:nvSpPr>
          <p:cNvPr id="216" name="Google Shape;216;p19"/>
          <p:cNvSpPr/>
          <p:nvPr/>
        </p:nvSpPr>
        <p:spPr>
          <a:xfrm>
            <a:off x="5116068" y="202311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d2</a:t>
            </a:r>
            <a:endParaRPr b="0" i="0" sz="700" u="none" cap="none" strike="noStrike">
              <a:solidFill>
                <a:schemeClr val="dk1"/>
              </a:solidFill>
              <a:latin typeface="Calibri"/>
              <a:ea typeface="Calibri"/>
              <a:cs typeface="Calibri"/>
              <a:sym typeface="Calibri"/>
            </a:endParaRPr>
          </a:p>
        </p:txBody>
      </p:sp>
      <p:sp>
        <p:nvSpPr>
          <p:cNvPr id="217" name="Google Shape;217;p19"/>
          <p:cNvSpPr/>
          <p:nvPr/>
        </p:nvSpPr>
        <p:spPr>
          <a:xfrm>
            <a:off x="5116068" y="222885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d3</a:t>
            </a:r>
            <a:endParaRPr b="0" i="0" sz="700" u="none" cap="none" strike="noStrike">
              <a:solidFill>
                <a:schemeClr val="dk1"/>
              </a:solidFill>
              <a:latin typeface="Calibri"/>
              <a:ea typeface="Calibri"/>
              <a:cs typeface="Calibri"/>
              <a:sym typeface="Calibri"/>
            </a:endParaRPr>
          </a:p>
        </p:txBody>
      </p:sp>
      <p:sp>
        <p:nvSpPr>
          <p:cNvPr id="218" name="Google Shape;218;p19"/>
          <p:cNvSpPr/>
          <p:nvPr/>
        </p:nvSpPr>
        <p:spPr>
          <a:xfrm>
            <a:off x="5116068" y="243459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d4</a:t>
            </a:r>
            <a:endParaRPr b="0" i="0" sz="700" u="none" cap="none" strike="noStrike">
              <a:solidFill>
                <a:schemeClr val="dk1"/>
              </a:solidFill>
              <a:latin typeface="Calibri"/>
              <a:ea typeface="Calibri"/>
              <a:cs typeface="Calibri"/>
              <a:sym typeface="Calibri"/>
            </a:endParaRPr>
          </a:p>
        </p:txBody>
      </p:sp>
      <p:sp>
        <p:nvSpPr>
          <p:cNvPr id="219" name="Google Shape;219;p19"/>
          <p:cNvSpPr/>
          <p:nvPr/>
        </p:nvSpPr>
        <p:spPr>
          <a:xfrm>
            <a:off x="5116068" y="264033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d5</a:t>
            </a:r>
            <a:endParaRPr b="0" i="0" sz="700" u="none" cap="none" strike="noStrike">
              <a:solidFill>
                <a:schemeClr val="dk1"/>
              </a:solidFill>
              <a:latin typeface="Calibri"/>
              <a:ea typeface="Calibri"/>
              <a:cs typeface="Calibri"/>
              <a:sym typeface="Calibri"/>
            </a:endParaRPr>
          </a:p>
        </p:txBody>
      </p:sp>
      <p:sp>
        <p:nvSpPr>
          <p:cNvPr id="220" name="Google Shape;220;p19"/>
          <p:cNvSpPr/>
          <p:nvPr/>
        </p:nvSpPr>
        <p:spPr>
          <a:xfrm>
            <a:off x="5116068" y="284607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1100"/>
              <a:buFont typeface="Calibri"/>
              <a:buNone/>
            </a:pPr>
            <a:r>
              <a:rPr b="1" i="0" lang="en" sz="1100" u="none" cap="none" strike="noStrike">
                <a:solidFill>
                  <a:srgbClr val="8195A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21" name="Google Shape;221;p19"/>
          <p:cNvSpPr/>
          <p:nvPr/>
        </p:nvSpPr>
        <p:spPr>
          <a:xfrm>
            <a:off x="5116068" y="305181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d1,000,000</a:t>
            </a:r>
            <a:endParaRPr b="0" i="0" sz="700" u="none" cap="none" strike="noStrike">
              <a:solidFill>
                <a:schemeClr val="dk1"/>
              </a:solidFill>
              <a:latin typeface="Calibri"/>
              <a:ea typeface="Calibri"/>
              <a:cs typeface="Calibri"/>
              <a:sym typeface="Calibri"/>
            </a:endParaRPr>
          </a:p>
        </p:txBody>
      </p:sp>
      <p:sp>
        <p:nvSpPr>
          <p:cNvPr id="222" name="Google Shape;222;p19"/>
          <p:cNvSpPr/>
          <p:nvPr/>
        </p:nvSpPr>
        <p:spPr>
          <a:xfrm>
            <a:off x="5829300" y="1817370"/>
            <a:ext cx="2798100" cy="1440300"/>
          </a:xfrm>
          <a:prstGeom prst="roundRect">
            <a:avLst>
              <a:gd fmla="val 1429" name="adj"/>
            </a:avLst>
          </a:prstGeom>
          <a:solidFill>
            <a:srgbClr val="EDF1F5"/>
          </a:solidFill>
          <a:ln cap="flat" cmpd="sng" w="14300">
            <a:solidFill>
              <a:srgbClr val="C4D2D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223" name="Google Shape;223;p19"/>
          <p:cNvCxnSpPr/>
          <p:nvPr/>
        </p:nvCxnSpPr>
        <p:spPr>
          <a:xfrm>
            <a:off x="6062472"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24" name="Google Shape;224;p19"/>
          <p:cNvCxnSpPr/>
          <p:nvPr/>
        </p:nvCxnSpPr>
        <p:spPr>
          <a:xfrm>
            <a:off x="6295644"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25" name="Google Shape;225;p19"/>
          <p:cNvCxnSpPr/>
          <p:nvPr/>
        </p:nvCxnSpPr>
        <p:spPr>
          <a:xfrm>
            <a:off x="6528816"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26" name="Google Shape;226;p19"/>
          <p:cNvCxnSpPr/>
          <p:nvPr/>
        </p:nvCxnSpPr>
        <p:spPr>
          <a:xfrm>
            <a:off x="6761988"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27" name="Google Shape;227;p19"/>
          <p:cNvCxnSpPr/>
          <p:nvPr/>
        </p:nvCxnSpPr>
        <p:spPr>
          <a:xfrm>
            <a:off x="6995160"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28" name="Google Shape;228;p19"/>
          <p:cNvCxnSpPr/>
          <p:nvPr/>
        </p:nvCxnSpPr>
        <p:spPr>
          <a:xfrm>
            <a:off x="7228332"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29" name="Google Shape;229;p19"/>
          <p:cNvCxnSpPr/>
          <p:nvPr/>
        </p:nvCxnSpPr>
        <p:spPr>
          <a:xfrm>
            <a:off x="7461504"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30" name="Google Shape;230;p19"/>
          <p:cNvCxnSpPr/>
          <p:nvPr/>
        </p:nvCxnSpPr>
        <p:spPr>
          <a:xfrm>
            <a:off x="7694676"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31" name="Google Shape;231;p19"/>
          <p:cNvCxnSpPr/>
          <p:nvPr/>
        </p:nvCxnSpPr>
        <p:spPr>
          <a:xfrm>
            <a:off x="7927848"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32" name="Google Shape;232;p19"/>
          <p:cNvCxnSpPr/>
          <p:nvPr/>
        </p:nvCxnSpPr>
        <p:spPr>
          <a:xfrm>
            <a:off x="8161020"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33" name="Google Shape;233;p19"/>
          <p:cNvCxnSpPr/>
          <p:nvPr/>
        </p:nvCxnSpPr>
        <p:spPr>
          <a:xfrm>
            <a:off x="8394192" y="1817370"/>
            <a:ext cx="0" cy="1440300"/>
          </a:xfrm>
          <a:prstGeom prst="straightConnector1">
            <a:avLst/>
          </a:prstGeom>
          <a:noFill/>
          <a:ln cap="flat" cmpd="sng" w="9525">
            <a:solidFill>
              <a:srgbClr val="FFFFFF"/>
            </a:solidFill>
            <a:prstDash val="solid"/>
            <a:round/>
            <a:headEnd len="sm" w="sm" type="none"/>
            <a:tailEnd len="sm" w="sm" type="none"/>
          </a:ln>
        </p:spPr>
      </p:cxnSp>
      <p:cxnSp>
        <p:nvCxnSpPr>
          <p:cNvPr id="234" name="Google Shape;234;p19"/>
          <p:cNvCxnSpPr/>
          <p:nvPr/>
        </p:nvCxnSpPr>
        <p:spPr>
          <a:xfrm>
            <a:off x="5829300" y="2023110"/>
            <a:ext cx="2798100" cy="0"/>
          </a:xfrm>
          <a:prstGeom prst="straightConnector1">
            <a:avLst/>
          </a:prstGeom>
          <a:noFill/>
          <a:ln cap="flat" cmpd="sng" w="9525">
            <a:solidFill>
              <a:srgbClr val="FFFFFF"/>
            </a:solidFill>
            <a:prstDash val="solid"/>
            <a:round/>
            <a:headEnd len="sm" w="sm" type="none"/>
            <a:tailEnd len="sm" w="sm" type="none"/>
          </a:ln>
        </p:spPr>
      </p:cxnSp>
      <p:cxnSp>
        <p:nvCxnSpPr>
          <p:cNvPr id="235" name="Google Shape;235;p19"/>
          <p:cNvCxnSpPr/>
          <p:nvPr/>
        </p:nvCxnSpPr>
        <p:spPr>
          <a:xfrm>
            <a:off x="5829300" y="2228850"/>
            <a:ext cx="2798100" cy="0"/>
          </a:xfrm>
          <a:prstGeom prst="straightConnector1">
            <a:avLst/>
          </a:prstGeom>
          <a:noFill/>
          <a:ln cap="flat" cmpd="sng" w="9525">
            <a:solidFill>
              <a:srgbClr val="FFFFFF"/>
            </a:solidFill>
            <a:prstDash val="solid"/>
            <a:round/>
            <a:headEnd len="sm" w="sm" type="none"/>
            <a:tailEnd len="sm" w="sm" type="none"/>
          </a:ln>
        </p:spPr>
      </p:cxnSp>
      <p:cxnSp>
        <p:nvCxnSpPr>
          <p:cNvPr id="236" name="Google Shape;236;p19"/>
          <p:cNvCxnSpPr/>
          <p:nvPr/>
        </p:nvCxnSpPr>
        <p:spPr>
          <a:xfrm>
            <a:off x="5829300" y="2434590"/>
            <a:ext cx="2798100" cy="0"/>
          </a:xfrm>
          <a:prstGeom prst="straightConnector1">
            <a:avLst/>
          </a:prstGeom>
          <a:noFill/>
          <a:ln cap="flat" cmpd="sng" w="9525">
            <a:solidFill>
              <a:srgbClr val="FFFFFF"/>
            </a:solidFill>
            <a:prstDash val="solid"/>
            <a:round/>
            <a:headEnd len="sm" w="sm" type="none"/>
            <a:tailEnd len="sm" w="sm" type="none"/>
          </a:ln>
        </p:spPr>
      </p:cxnSp>
      <p:cxnSp>
        <p:nvCxnSpPr>
          <p:cNvPr id="237" name="Google Shape;237;p19"/>
          <p:cNvCxnSpPr/>
          <p:nvPr/>
        </p:nvCxnSpPr>
        <p:spPr>
          <a:xfrm>
            <a:off x="5829300" y="2640330"/>
            <a:ext cx="2798100" cy="0"/>
          </a:xfrm>
          <a:prstGeom prst="straightConnector1">
            <a:avLst/>
          </a:prstGeom>
          <a:noFill/>
          <a:ln cap="flat" cmpd="sng" w="9525">
            <a:solidFill>
              <a:srgbClr val="FFFFFF"/>
            </a:solidFill>
            <a:prstDash val="solid"/>
            <a:round/>
            <a:headEnd len="sm" w="sm" type="none"/>
            <a:tailEnd len="sm" w="sm" type="none"/>
          </a:ln>
        </p:spPr>
      </p:cxnSp>
      <p:cxnSp>
        <p:nvCxnSpPr>
          <p:cNvPr id="238" name="Google Shape;238;p19"/>
          <p:cNvCxnSpPr/>
          <p:nvPr/>
        </p:nvCxnSpPr>
        <p:spPr>
          <a:xfrm>
            <a:off x="5829300" y="2846070"/>
            <a:ext cx="2798100" cy="0"/>
          </a:xfrm>
          <a:prstGeom prst="straightConnector1">
            <a:avLst/>
          </a:prstGeom>
          <a:noFill/>
          <a:ln cap="flat" cmpd="sng" w="9525">
            <a:solidFill>
              <a:srgbClr val="FFFFFF"/>
            </a:solidFill>
            <a:prstDash val="solid"/>
            <a:round/>
            <a:headEnd len="sm" w="sm" type="none"/>
            <a:tailEnd len="sm" w="sm" type="none"/>
          </a:ln>
        </p:spPr>
      </p:cxnSp>
      <p:cxnSp>
        <p:nvCxnSpPr>
          <p:cNvPr id="239" name="Google Shape;239;p19"/>
          <p:cNvCxnSpPr/>
          <p:nvPr/>
        </p:nvCxnSpPr>
        <p:spPr>
          <a:xfrm>
            <a:off x="5829300" y="3051810"/>
            <a:ext cx="2798100" cy="0"/>
          </a:xfrm>
          <a:prstGeom prst="straightConnector1">
            <a:avLst/>
          </a:prstGeom>
          <a:noFill/>
          <a:ln cap="flat" cmpd="sng" w="9525">
            <a:solidFill>
              <a:srgbClr val="FFFFFF"/>
            </a:solidFill>
            <a:prstDash val="solid"/>
            <a:round/>
            <a:headEnd len="sm" w="sm" type="none"/>
            <a:tailEnd len="sm" w="sm" type="none"/>
          </a:ln>
        </p:spPr>
      </p:cxnSp>
      <p:sp>
        <p:nvSpPr>
          <p:cNvPr id="240" name="Google Shape;240;p19"/>
          <p:cNvSpPr/>
          <p:nvPr/>
        </p:nvSpPr>
        <p:spPr>
          <a:xfrm>
            <a:off x="5829300" y="1529334"/>
            <a:ext cx="27981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900"/>
              <a:buFont typeface="Calibri"/>
              <a:buNone/>
            </a:pPr>
            <a:r>
              <a:rPr b="1" i="0" lang="en" sz="900" u="none" cap="none" strike="noStrike">
                <a:solidFill>
                  <a:srgbClr val="8195A5"/>
                </a:solidFill>
                <a:latin typeface="Calibri"/>
                <a:ea typeface="Calibri"/>
                <a:cs typeface="Calibri"/>
                <a:sym typeface="Calibri"/>
              </a:rPr>
              <a:t>D = 768 dimensions</a:t>
            </a:r>
            <a:endParaRPr b="0" i="0" sz="900" u="none" cap="none" strike="noStrike">
              <a:solidFill>
                <a:schemeClr val="dk1"/>
              </a:solidFill>
              <a:latin typeface="Calibri"/>
              <a:ea typeface="Calibri"/>
              <a:cs typeface="Calibri"/>
              <a:sym typeface="Calibri"/>
            </a:endParaRPr>
          </a:p>
        </p:txBody>
      </p:sp>
      <p:sp>
        <p:nvSpPr>
          <p:cNvPr id="241" name="Google Shape;241;p19"/>
          <p:cNvSpPr/>
          <p:nvPr/>
        </p:nvSpPr>
        <p:spPr>
          <a:xfrm rot="-5400000">
            <a:off x="4354890" y="2434590"/>
            <a:ext cx="11658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800"/>
              <a:buFont typeface="Calibri"/>
              <a:buNone/>
            </a:pPr>
            <a:r>
              <a:rPr b="1" i="0" lang="en" sz="800" u="none" cap="none" strike="noStrike">
                <a:solidFill>
                  <a:srgbClr val="8195A5"/>
                </a:solidFill>
                <a:latin typeface="Calibri"/>
                <a:ea typeface="Calibri"/>
                <a:cs typeface="Calibri"/>
                <a:sym typeface="Calibri"/>
              </a:rPr>
              <a:t>N = 1,000,000</a:t>
            </a:r>
            <a:endParaRPr b="0" i="0" sz="800" u="none" cap="none" strike="noStrike">
              <a:solidFill>
                <a:schemeClr val="dk1"/>
              </a:solidFill>
              <a:latin typeface="Calibri"/>
              <a:ea typeface="Calibri"/>
              <a:cs typeface="Calibri"/>
              <a:sym typeface="Calibri"/>
            </a:endParaRPr>
          </a:p>
        </p:txBody>
      </p:sp>
      <p:sp>
        <p:nvSpPr>
          <p:cNvPr id="242" name="Google Shape;242;p19"/>
          <p:cNvSpPr/>
          <p:nvPr/>
        </p:nvSpPr>
        <p:spPr>
          <a:xfrm>
            <a:off x="342900" y="4814316"/>
            <a:ext cx="48006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Product Quantization  ·  at scale</a:t>
            </a:r>
            <a:endParaRPr b="0" i="0" sz="700" u="none" cap="none" strike="noStrike">
              <a:solidFill>
                <a:schemeClr val="dk1"/>
              </a:solidFill>
              <a:latin typeface="Calibri"/>
              <a:ea typeface="Calibri"/>
              <a:cs typeface="Calibri"/>
              <a:sym typeface="Calibri"/>
            </a:endParaRPr>
          </a:p>
        </p:txBody>
      </p:sp>
      <p:sp>
        <p:nvSpPr>
          <p:cNvPr id="243" name="Google Shape;243;p19"/>
          <p:cNvSpPr/>
          <p:nvPr/>
        </p:nvSpPr>
        <p:spPr>
          <a:xfrm>
            <a:off x="8572500" y="4814316"/>
            <a:ext cx="2742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20"/>
          <p:cNvSpPr/>
          <p:nvPr/>
        </p:nvSpPr>
        <p:spPr>
          <a:xfrm>
            <a:off x="411480" y="288036"/>
            <a:ext cx="7543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55C7D"/>
              </a:buClr>
              <a:buSzPts val="900"/>
              <a:buFont typeface="Calibri"/>
              <a:buNone/>
            </a:pPr>
            <a:r>
              <a:rPr b="1" i="0" lang="en" sz="900" u="none" cap="none" strike="noStrike">
                <a:solidFill>
                  <a:srgbClr val="355C7D"/>
                </a:solidFill>
                <a:latin typeface="Calibri"/>
                <a:ea typeface="Calibri"/>
                <a:cs typeface="Calibri"/>
                <a:sym typeface="Calibri"/>
              </a:rPr>
              <a:t>STEP 1 OF 3</a:t>
            </a:r>
            <a:endParaRPr b="0" i="0" sz="900" u="none" cap="none" strike="noStrike">
              <a:solidFill>
                <a:schemeClr val="dk1"/>
              </a:solidFill>
              <a:latin typeface="Calibri"/>
              <a:ea typeface="Calibri"/>
              <a:cs typeface="Calibri"/>
              <a:sym typeface="Calibri"/>
            </a:endParaRPr>
          </a:p>
        </p:txBody>
      </p:sp>
      <p:sp>
        <p:nvSpPr>
          <p:cNvPr id="250" name="Google Shape;250;p20"/>
          <p:cNvSpPr/>
          <p:nvPr/>
        </p:nvSpPr>
        <p:spPr>
          <a:xfrm>
            <a:off x="397764" y="480060"/>
            <a:ext cx="83670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2300"/>
              <a:buFont typeface="Cambria"/>
              <a:buNone/>
            </a:pPr>
            <a:r>
              <a:rPr b="1" i="0" lang="en" sz="2300" u="none" cap="none" strike="noStrike">
                <a:solidFill>
                  <a:srgbClr val="13203A"/>
                </a:solidFill>
                <a:latin typeface="Cambria"/>
                <a:ea typeface="Cambria"/>
                <a:cs typeface="Cambria"/>
                <a:sym typeface="Cambria"/>
              </a:rPr>
              <a:t>Split every vector into 8 segments</a:t>
            </a:r>
            <a:endParaRPr b="0" i="0" sz="2300" u="none" cap="none" strike="noStrike">
              <a:solidFill>
                <a:schemeClr val="dk1"/>
              </a:solidFill>
              <a:latin typeface="Calibri"/>
              <a:ea typeface="Calibri"/>
              <a:cs typeface="Calibri"/>
              <a:sym typeface="Calibri"/>
            </a:endParaRPr>
          </a:p>
        </p:txBody>
      </p:sp>
      <p:sp>
        <p:nvSpPr>
          <p:cNvPr id="251" name="Google Shape;251;p20"/>
          <p:cNvSpPr/>
          <p:nvPr/>
        </p:nvSpPr>
        <p:spPr>
          <a:xfrm>
            <a:off x="411480" y="1268730"/>
            <a:ext cx="4114800" cy="8916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Cut the D = 768 columns into </a:t>
            </a:r>
            <a:r>
              <a:rPr b="1" i="0" lang="en" sz="1200" u="none" cap="none" strike="noStrike">
                <a:solidFill>
                  <a:srgbClr val="0E4D6E"/>
                </a:solidFill>
                <a:latin typeface="Calibri"/>
                <a:ea typeface="Calibri"/>
                <a:cs typeface="Calibri"/>
                <a:sym typeface="Calibri"/>
              </a:rPr>
              <a:t>m = 8</a:t>
            </a:r>
            <a:r>
              <a:rPr b="0" i="0" lang="en" sz="1200" u="none" cap="none" strike="noStrike">
                <a:solidFill>
                  <a:srgbClr val="44586A"/>
                </a:solidFill>
                <a:latin typeface="Calibri"/>
                <a:ea typeface="Calibri"/>
                <a:cs typeface="Calibri"/>
                <a:sym typeface="Calibri"/>
              </a:rPr>
              <a:t> equal slices of 96 dims each. Every vector now has 8 sub-vectors — one per segment — compressed independently.</a:t>
            </a:r>
            <a:endParaRPr b="0" i="0" sz="1200" u="none" cap="none" strike="noStrike">
              <a:solidFill>
                <a:schemeClr val="dk1"/>
              </a:solidFill>
              <a:latin typeface="Calibri"/>
              <a:ea typeface="Calibri"/>
              <a:cs typeface="Calibri"/>
              <a:sym typeface="Calibri"/>
            </a:endParaRPr>
          </a:p>
        </p:txBody>
      </p:sp>
      <p:sp>
        <p:nvSpPr>
          <p:cNvPr id="252" name="Google Shape;252;p20"/>
          <p:cNvSpPr/>
          <p:nvPr/>
        </p:nvSpPr>
        <p:spPr>
          <a:xfrm>
            <a:off x="425196" y="2297430"/>
            <a:ext cx="274200" cy="274200"/>
          </a:xfrm>
          <a:prstGeom prst="roundRect">
            <a:avLst>
              <a:gd fmla="val 15000" name="adj"/>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20"/>
          <p:cNvSpPr/>
          <p:nvPr/>
        </p:nvSpPr>
        <p:spPr>
          <a:xfrm>
            <a:off x="822960" y="2297430"/>
            <a:ext cx="3086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100"/>
              <a:buFont typeface="Calibri"/>
              <a:buNone/>
            </a:pPr>
            <a:r>
              <a:rPr b="1" i="0" lang="en" sz="1100" u="none" cap="none" strike="noStrike">
                <a:solidFill>
                  <a:srgbClr val="13203A"/>
                </a:solidFill>
                <a:latin typeface="Calibri"/>
                <a:ea typeface="Calibri"/>
                <a:cs typeface="Calibri"/>
                <a:sym typeface="Calibri"/>
              </a:rPr>
              <a:t>Segment 1</a:t>
            </a:r>
            <a:endParaRPr b="0" i="0" sz="1100" u="none" cap="none" strike="noStrike">
              <a:solidFill>
                <a:schemeClr val="dk1"/>
              </a:solidFill>
              <a:latin typeface="Calibri"/>
              <a:ea typeface="Calibri"/>
              <a:cs typeface="Calibri"/>
              <a:sym typeface="Calibri"/>
            </a:endParaRPr>
          </a:p>
        </p:txBody>
      </p:sp>
      <p:sp>
        <p:nvSpPr>
          <p:cNvPr id="254" name="Google Shape;254;p20"/>
          <p:cNvSpPr/>
          <p:nvPr/>
        </p:nvSpPr>
        <p:spPr>
          <a:xfrm>
            <a:off x="425196" y="2674620"/>
            <a:ext cx="274200" cy="274200"/>
          </a:xfrm>
          <a:prstGeom prst="roundRect">
            <a:avLst>
              <a:gd fmla="val 15000" name="adj"/>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20"/>
          <p:cNvSpPr/>
          <p:nvPr/>
        </p:nvSpPr>
        <p:spPr>
          <a:xfrm>
            <a:off x="822960" y="2674620"/>
            <a:ext cx="3086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100"/>
              <a:buFont typeface="Calibri"/>
              <a:buNone/>
            </a:pPr>
            <a:r>
              <a:rPr b="1" i="0" lang="en" sz="1100" u="none" cap="none" strike="noStrike">
                <a:solidFill>
                  <a:srgbClr val="13203A"/>
                </a:solidFill>
                <a:latin typeface="Calibri"/>
                <a:ea typeface="Calibri"/>
                <a:cs typeface="Calibri"/>
                <a:sym typeface="Calibri"/>
              </a:rPr>
              <a:t>Segment 2</a:t>
            </a:r>
            <a:endParaRPr b="0" i="0" sz="1100" u="none" cap="none" strike="noStrike">
              <a:solidFill>
                <a:schemeClr val="dk1"/>
              </a:solidFill>
              <a:latin typeface="Calibri"/>
              <a:ea typeface="Calibri"/>
              <a:cs typeface="Calibri"/>
              <a:sym typeface="Calibri"/>
            </a:endParaRPr>
          </a:p>
        </p:txBody>
      </p:sp>
      <p:sp>
        <p:nvSpPr>
          <p:cNvPr id="256" name="Google Shape;256;p20"/>
          <p:cNvSpPr/>
          <p:nvPr/>
        </p:nvSpPr>
        <p:spPr>
          <a:xfrm>
            <a:off x="425196" y="3051810"/>
            <a:ext cx="274200" cy="274200"/>
          </a:xfrm>
          <a:prstGeom prst="roundRect">
            <a:avLst>
              <a:gd fmla="val 15000" name="adj"/>
            </a:avLst>
          </a:prstGeom>
          <a:solidFill>
            <a:srgbClr val="2E8B5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20"/>
          <p:cNvSpPr/>
          <p:nvPr/>
        </p:nvSpPr>
        <p:spPr>
          <a:xfrm>
            <a:off x="822960" y="3051810"/>
            <a:ext cx="3086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100"/>
              <a:buFont typeface="Calibri"/>
              <a:buNone/>
            </a:pPr>
            <a:r>
              <a:rPr b="1" i="0" lang="en" sz="1100" u="none" cap="none" strike="noStrike">
                <a:solidFill>
                  <a:srgbClr val="13203A"/>
                </a:solidFill>
                <a:latin typeface="Calibri"/>
                <a:ea typeface="Calibri"/>
                <a:cs typeface="Calibri"/>
                <a:sym typeface="Calibri"/>
              </a:rPr>
              <a:t>Segment 3</a:t>
            </a:r>
            <a:endParaRPr b="0" i="0" sz="1100" u="none" cap="none" strike="noStrike">
              <a:solidFill>
                <a:schemeClr val="dk1"/>
              </a:solidFill>
              <a:latin typeface="Calibri"/>
              <a:ea typeface="Calibri"/>
              <a:cs typeface="Calibri"/>
              <a:sym typeface="Calibri"/>
            </a:endParaRPr>
          </a:p>
        </p:txBody>
      </p:sp>
      <p:sp>
        <p:nvSpPr>
          <p:cNvPr id="258" name="Google Shape;258;p20"/>
          <p:cNvSpPr/>
          <p:nvPr/>
        </p:nvSpPr>
        <p:spPr>
          <a:xfrm>
            <a:off x="480060" y="3394710"/>
            <a:ext cx="2742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200"/>
              <a:buFont typeface="Calibri"/>
              <a:buNone/>
            </a:pPr>
            <a:r>
              <a:rPr b="1" i="0" lang="en" sz="1200" u="none" cap="none" strike="noStrike">
                <a:solidFill>
                  <a:srgbClr val="8195A5"/>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59" name="Google Shape;259;p20"/>
          <p:cNvSpPr/>
          <p:nvPr/>
        </p:nvSpPr>
        <p:spPr>
          <a:xfrm>
            <a:off x="822960" y="3429000"/>
            <a:ext cx="3086100" cy="288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1100"/>
              <a:buFont typeface="Calibri"/>
              <a:buNone/>
            </a:pPr>
            <a:r>
              <a:rPr b="0" i="1" lang="en" sz="1100" u="none" cap="none" strike="noStrike">
                <a:solidFill>
                  <a:srgbClr val="8195A5"/>
                </a:solidFill>
                <a:latin typeface="Calibri"/>
                <a:ea typeface="Calibri"/>
                <a:cs typeface="Calibri"/>
                <a:sym typeface="Calibri"/>
              </a:rPr>
              <a:t>… through …</a:t>
            </a:r>
            <a:endParaRPr b="0" i="0" sz="1100" u="none" cap="none" strike="noStrike">
              <a:solidFill>
                <a:schemeClr val="dk1"/>
              </a:solidFill>
              <a:latin typeface="Calibri"/>
              <a:ea typeface="Calibri"/>
              <a:cs typeface="Calibri"/>
              <a:sym typeface="Calibri"/>
            </a:endParaRPr>
          </a:p>
        </p:txBody>
      </p:sp>
      <p:sp>
        <p:nvSpPr>
          <p:cNvPr id="260" name="Google Shape;260;p20"/>
          <p:cNvSpPr/>
          <p:nvPr/>
        </p:nvSpPr>
        <p:spPr>
          <a:xfrm>
            <a:off x="425196" y="3806190"/>
            <a:ext cx="274200" cy="274200"/>
          </a:xfrm>
          <a:prstGeom prst="roundRect">
            <a:avLst>
              <a:gd fmla="val 15000" name="adj"/>
            </a:avLst>
          </a:prstGeom>
          <a:solidFill>
            <a:srgbClr val="6B4E9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1" name="Google Shape;261;p20"/>
          <p:cNvSpPr/>
          <p:nvPr/>
        </p:nvSpPr>
        <p:spPr>
          <a:xfrm>
            <a:off x="822960" y="3806190"/>
            <a:ext cx="3086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100"/>
              <a:buFont typeface="Calibri"/>
              <a:buNone/>
            </a:pPr>
            <a:r>
              <a:rPr b="1" i="0" lang="en" sz="1100" u="none" cap="none" strike="noStrike">
                <a:solidFill>
                  <a:srgbClr val="13203A"/>
                </a:solidFill>
                <a:latin typeface="Calibri"/>
                <a:ea typeface="Calibri"/>
                <a:cs typeface="Calibri"/>
                <a:sym typeface="Calibri"/>
              </a:rPr>
              <a:t>Segment 8</a:t>
            </a:r>
            <a:endParaRPr b="0" i="0" sz="1100" u="none" cap="none" strike="noStrike">
              <a:solidFill>
                <a:schemeClr val="dk1"/>
              </a:solidFill>
              <a:latin typeface="Calibri"/>
              <a:ea typeface="Calibri"/>
              <a:cs typeface="Calibri"/>
              <a:sym typeface="Calibri"/>
            </a:endParaRPr>
          </a:p>
        </p:txBody>
      </p:sp>
      <p:sp>
        <p:nvSpPr>
          <p:cNvPr id="262" name="Google Shape;262;p20"/>
          <p:cNvSpPr/>
          <p:nvPr/>
        </p:nvSpPr>
        <p:spPr>
          <a:xfrm>
            <a:off x="4464558" y="188595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d1</a:t>
            </a:r>
            <a:endParaRPr b="0" i="0" sz="700" u="none" cap="none" strike="noStrike">
              <a:solidFill>
                <a:schemeClr val="dk1"/>
              </a:solidFill>
              <a:latin typeface="Calibri"/>
              <a:ea typeface="Calibri"/>
              <a:cs typeface="Calibri"/>
              <a:sym typeface="Calibri"/>
            </a:endParaRPr>
          </a:p>
        </p:txBody>
      </p:sp>
      <p:sp>
        <p:nvSpPr>
          <p:cNvPr id="263" name="Google Shape;263;p20"/>
          <p:cNvSpPr/>
          <p:nvPr/>
        </p:nvSpPr>
        <p:spPr>
          <a:xfrm>
            <a:off x="4464558" y="209169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d2</a:t>
            </a:r>
            <a:endParaRPr b="0" i="0" sz="700" u="none" cap="none" strike="noStrike">
              <a:solidFill>
                <a:schemeClr val="dk1"/>
              </a:solidFill>
              <a:latin typeface="Calibri"/>
              <a:ea typeface="Calibri"/>
              <a:cs typeface="Calibri"/>
              <a:sym typeface="Calibri"/>
            </a:endParaRPr>
          </a:p>
        </p:txBody>
      </p:sp>
      <p:sp>
        <p:nvSpPr>
          <p:cNvPr id="264" name="Google Shape;264;p20"/>
          <p:cNvSpPr/>
          <p:nvPr/>
        </p:nvSpPr>
        <p:spPr>
          <a:xfrm>
            <a:off x="4464558" y="229743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d3</a:t>
            </a:r>
            <a:endParaRPr b="0" i="0" sz="700" u="none" cap="none" strike="noStrike">
              <a:solidFill>
                <a:schemeClr val="dk1"/>
              </a:solidFill>
              <a:latin typeface="Calibri"/>
              <a:ea typeface="Calibri"/>
              <a:cs typeface="Calibri"/>
              <a:sym typeface="Calibri"/>
            </a:endParaRPr>
          </a:p>
        </p:txBody>
      </p:sp>
      <p:sp>
        <p:nvSpPr>
          <p:cNvPr id="265" name="Google Shape;265;p20"/>
          <p:cNvSpPr/>
          <p:nvPr/>
        </p:nvSpPr>
        <p:spPr>
          <a:xfrm>
            <a:off x="4464558" y="250317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d4</a:t>
            </a:r>
            <a:endParaRPr b="0" i="0" sz="700" u="none" cap="none" strike="noStrike">
              <a:solidFill>
                <a:schemeClr val="dk1"/>
              </a:solidFill>
              <a:latin typeface="Calibri"/>
              <a:ea typeface="Calibri"/>
              <a:cs typeface="Calibri"/>
              <a:sym typeface="Calibri"/>
            </a:endParaRPr>
          </a:p>
        </p:txBody>
      </p:sp>
      <p:sp>
        <p:nvSpPr>
          <p:cNvPr id="266" name="Google Shape;266;p20"/>
          <p:cNvSpPr/>
          <p:nvPr/>
        </p:nvSpPr>
        <p:spPr>
          <a:xfrm>
            <a:off x="4464558" y="270891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d5</a:t>
            </a:r>
            <a:endParaRPr b="0" i="0" sz="700" u="none" cap="none" strike="noStrike">
              <a:solidFill>
                <a:schemeClr val="dk1"/>
              </a:solidFill>
              <a:latin typeface="Calibri"/>
              <a:ea typeface="Calibri"/>
              <a:cs typeface="Calibri"/>
              <a:sym typeface="Calibri"/>
            </a:endParaRPr>
          </a:p>
        </p:txBody>
      </p:sp>
      <p:sp>
        <p:nvSpPr>
          <p:cNvPr id="267" name="Google Shape;267;p20"/>
          <p:cNvSpPr/>
          <p:nvPr/>
        </p:nvSpPr>
        <p:spPr>
          <a:xfrm>
            <a:off x="4464558" y="291465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1100"/>
              <a:buFont typeface="Calibri"/>
              <a:buNone/>
            </a:pPr>
            <a:r>
              <a:rPr b="1" i="0" lang="en" sz="1100" u="none" cap="none" strike="noStrike">
                <a:solidFill>
                  <a:srgbClr val="8195A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68" name="Google Shape;268;p20"/>
          <p:cNvSpPr/>
          <p:nvPr/>
        </p:nvSpPr>
        <p:spPr>
          <a:xfrm>
            <a:off x="4464558" y="3120390"/>
            <a:ext cx="6447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195A5"/>
              </a:buClr>
              <a:buSzPts val="700"/>
              <a:buFont typeface="Courier New"/>
              <a:buNone/>
            </a:pPr>
            <a:r>
              <a:rPr b="0" i="0" lang="en" sz="700" u="none" cap="none" strike="noStrike">
                <a:solidFill>
                  <a:srgbClr val="8195A5"/>
                </a:solidFill>
                <a:latin typeface="Courier New"/>
                <a:ea typeface="Courier New"/>
                <a:cs typeface="Courier New"/>
                <a:sym typeface="Courier New"/>
              </a:rPr>
              <a:t>d1,000,000</a:t>
            </a:r>
            <a:endParaRPr b="0" i="0" sz="700" u="none" cap="none" strike="noStrike">
              <a:solidFill>
                <a:schemeClr val="dk1"/>
              </a:solidFill>
              <a:latin typeface="Calibri"/>
              <a:ea typeface="Calibri"/>
              <a:cs typeface="Calibri"/>
              <a:sym typeface="Calibri"/>
            </a:endParaRPr>
          </a:p>
        </p:txBody>
      </p:sp>
      <p:sp>
        <p:nvSpPr>
          <p:cNvPr id="269" name="Google Shape;269;p20"/>
          <p:cNvSpPr/>
          <p:nvPr/>
        </p:nvSpPr>
        <p:spPr>
          <a:xfrm>
            <a:off x="5177790" y="1885950"/>
            <a:ext cx="699600" cy="1440300"/>
          </a:xfrm>
          <a:prstGeom prst="roundRect">
            <a:avLst>
              <a:gd fmla="val 2941" name="adj"/>
            </a:avLst>
          </a:prstGeom>
          <a:solidFill>
            <a:srgbClr val="E7EFF8"/>
          </a:solidFill>
          <a:ln cap="flat" cmpd="sng" w="14300">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270" name="Google Shape;270;p20"/>
          <p:cNvCxnSpPr/>
          <p:nvPr/>
        </p:nvCxnSpPr>
        <p:spPr>
          <a:xfrm>
            <a:off x="5410962" y="1885950"/>
            <a:ext cx="0" cy="1440300"/>
          </a:xfrm>
          <a:prstGeom prst="straightConnector1">
            <a:avLst/>
          </a:prstGeom>
          <a:noFill/>
          <a:ln cap="flat" cmpd="sng" w="9525">
            <a:solidFill>
              <a:srgbClr val="FFFFFF"/>
            </a:solidFill>
            <a:prstDash val="solid"/>
            <a:round/>
            <a:headEnd len="sm" w="sm" type="none"/>
            <a:tailEnd len="sm" w="sm" type="none"/>
          </a:ln>
        </p:spPr>
      </p:cxnSp>
      <p:cxnSp>
        <p:nvCxnSpPr>
          <p:cNvPr id="271" name="Google Shape;271;p20"/>
          <p:cNvCxnSpPr/>
          <p:nvPr/>
        </p:nvCxnSpPr>
        <p:spPr>
          <a:xfrm>
            <a:off x="5644134" y="1885950"/>
            <a:ext cx="0" cy="1440300"/>
          </a:xfrm>
          <a:prstGeom prst="straightConnector1">
            <a:avLst/>
          </a:prstGeom>
          <a:noFill/>
          <a:ln cap="flat" cmpd="sng" w="9525">
            <a:solidFill>
              <a:srgbClr val="FFFFFF"/>
            </a:solidFill>
            <a:prstDash val="solid"/>
            <a:round/>
            <a:headEnd len="sm" w="sm" type="none"/>
            <a:tailEnd len="sm" w="sm" type="none"/>
          </a:ln>
        </p:spPr>
      </p:cxnSp>
      <p:cxnSp>
        <p:nvCxnSpPr>
          <p:cNvPr id="272" name="Google Shape;272;p20"/>
          <p:cNvCxnSpPr/>
          <p:nvPr/>
        </p:nvCxnSpPr>
        <p:spPr>
          <a:xfrm>
            <a:off x="5177790" y="2091690"/>
            <a:ext cx="699600" cy="0"/>
          </a:xfrm>
          <a:prstGeom prst="straightConnector1">
            <a:avLst/>
          </a:prstGeom>
          <a:noFill/>
          <a:ln cap="flat" cmpd="sng" w="9525">
            <a:solidFill>
              <a:srgbClr val="FFFFFF"/>
            </a:solidFill>
            <a:prstDash val="solid"/>
            <a:round/>
            <a:headEnd len="sm" w="sm" type="none"/>
            <a:tailEnd len="sm" w="sm" type="none"/>
          </a:ln>
        </p:spPr>
      </p:cxnSp>
      <p:cxnSp>
        <p:nvCxnSpPr>
          <p:cNvPr id="273" name="Google Shape;273;p20"/>
          <p:cNvCxnSpPr/>
          <p:nvPr/>
        </p:nvCxnSpPr>
        <p:spPr>
          <a:xfrm>
            <a:off x="5177790" y="2297430"/>
            <a:ext cx="699600" cy="0"/>
          </a:xfrm>
          <a:prstGeom prst="straightConnector1">
            <a:avLst/>
          </a:prstGeom>
          <a:noFill/>
          <a:ln cap="flat" cmpd="sng" w="9525">
            <a:solidFill>
              <a:srgbClr val="FFFFFF"/>
            </a:solidFill>
            <a:prstDash val="solid"/>
            <a:round/>
            <a:headEnd len="sm" w="sm" type="none"/>
            <a:tailEnd len="sm" w="sm" type="none"/>
          </a:ln>
        </p:spPr>
      </p:cxnSp>
      <p:cxnSp>
        <p:nvCxnSpPr>
          <p:cNvPr id="274" name="Google Shape;274;p20"/>
          <p:cNvCxnSpPr/>
          <p:nvPr/>
        </p:nvCxnSpPr>
        <p:spPr>
          <a:xfrm>
            <a:off x="5177790" y="2503170"/>
            <a:ext cx="699600" cy="0"/>
          </a:xfrm>
          <a:prstGeom prst="straightConnector1">
            <a:avLst/>
          </a:prstGeom>
          <a:noFill/>
          <a:ln cap="flat" cmpd="sng" w="9525">
            <a:solidFill>
              <a:srgbClr val="FFFFFF"/>
            </a:solidFill>
            <a:prstDash val="solid"/>
            <a:round/>
            <a:headEnd len="sm" w="sm" type="none"/>
            <a:tailEnd len="sm" w="sm" type="none"/>
          </a:ln>
        </p:spPr>
      </p:cxnSp>
      <p:cxnSp>
        <p:nvCxnSpPr>
          <p:cNvPr id="275" name="Google Shape;275;p20"/>
          <p:cNvCxnSpPr/>
          <p:nvPr/>
        </p:nvCxnSpPr>
        <p:spPr>
          <a:xfrm>
            <a:off x="5177790" y="2708910"/>
            <a:ext cx="699600" cy="0"/>
          </a:xfrm>
          <a:prstGeom prst="straightConnector1">
            <a:avLst/>
          </a:prstGeom>
          <a:noFill/>
          <a:ln cap="flat" cmpd="sng" w="9525">
            <a:solidFill>
              <a:srgbClr val="FFFFFF"/>
            </a:solidFill>
            <a:prstDash val="solid"/>
            <a:round/>
            <a:headEnd len="sm" w="sm" type="none"/>
            <a:tailEnd len="sm" w="sm" type="none"/>
          </a:ln>
        </p:spPr>
      </p:cxnSp>
      <p:cxnSp>
        <p:nvCxnSpPr>
          <p:cNvPr id="276" name="Google Shape;276;p20"/>
          <p:cNvCxnSpPr/>
          <p:nvPr/>
        </p:nvCxnSpPr>
        <p:spPr>
          <a:xfrm>
            <a:off x="5177790" y="2914650"/>
            <a:ext cx="699600" cy="0"/>
          </a:xfrm>
          <a:prstGeom prst="straightConnector1">
            <a:avLst/>
          </a:prstGeom>
          <a:noFill/>
          <a:ln cap="flat" cmpd="sng" w="9525">
            <a:solidFill>
              <a:srgbClr val="FFFFFF"/>
            </a:solidFill>
            <a:prstDash val="solid"/>
            <a:round/>
            <a:headEnd len="sm" w="sm" type="none"/>
            <a:tailEnd len="sm" w="sm" type="none"/>
          </a:ln>
        </p:spPr>
      </p:cxnSp>
      <p:cxnSp>
        <p:nvCxnSpPr>
          <p:cNvPr id="277" name="Google Shape;277;p20"/>
          <p:cNvCxnSpPr/>
          <p:nvPr/>
        </p:nvCxnSpPr>
        <p:spPr>
          <a:xfrm>
            <a:off x="5177790" y="3120390"/>
            <a:ext cx="699600" cy="0"/>
          </a:xfrm>
          <a:prstGeom prst="straightConnector1">
            <a:avLst/>
          </a:prstGeom>
          <a:noFill/>
          <a:ln cap="flat" cmpd="sng" w="9525">
            <a:solidFill>
              <a:srgbClr val="FFFFFF"/>
            </a:solidFill>
            <a:prstDash val="solid"/>
            <a:round/>
            <a:headEnd len="sm" w="sm" type="none"/>
            <a:tailEnd len="sm" w="sm" type="none"/>
          </a:ln>
        </p:spPr>
      </p:cxnSp>
      <p:sp>
        <p:nvSpPr>
          <p:cNvPr id="278" name="Google Shape;278;p20"/>
          <p:cNvSpPr/>
          <p:nvPr/>
        </p:nvSpPr>
        <p:spPr>
          <a:xfrm>
            <a:off x="5095494" y="1639062"/>
            <a:ext cx="864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E6FB0"/>
              </a:buClr>
              <a:buSzPts val="800"/>
              <a:buFont typeface="Calibri"/>
              <a:buNone/>
            </a:pPr>
            <a:r>
              <a:rPr b="1" i="0" lang="en" sz="800" u="none" cap="none" strike="noStrike">
                <a:solidFill>
                  <a:srgbClr val="2E6FB0"/>
                </a:solidFill>
                <a:latin typeface="Calibri"/>
                <a:ea typeface="Calibri"/>
                <a:cs typeface="Calibri"/>
                <a:sym typeface="Calibri"/>
              </a:rPr>
              <a:t>Segment 1</a:t>
            </a:r>
            <a:endParaRPr b="0" i="0" sz="800" u="none" cap="none" strike="noStrike">
              <a:solidFill>
                <a:schemeClr val="dk1"/>
              </a:solidFill>
              <a:latin typeface="Calibri"/>
              <a:ea typeface="Calibri"/>
              <a:cs typeface="Calibri"/>
              <a:sym typeface="Calibri"/>
            </a:endParaRPr>
          </a:p>
        </p:txBody>
      </p:sp>
      <p:sp>
        <p:nvSpPr>
          <p:cNvPr id="279" name="Google Shape;279;p20"/>
          <p:cNvSpPr/>
          <p:nvPr/>
        </p:nvSpPr>
        <p:spPr>
          <a:xfrm>
            <a:off x="5973318" y="1885950"/>
            <a:ext cx="699600" cy="1440300"/>
          </a:xfrm>
          <a:prstGeom prst="roundRect">
            <a:avLst>
              <a:gd fmla="val 2941" name="adj"/>
            </a:avLst>
          </a:prstGeom>
          <a:solidFill>
            <a:srgbClr val="FBE7E3"/>
          </a:solidFill>
          <a:ln cap="flat" cmpd="sng" w="14300">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280" name="Google Shape;280;p20"/>
          <p:cNvCxnSpPr/>
          <p:nvPr/>
        </p:nvCxnSpPr>
        <p:spPr>
          <a:xfrm>
            <a:off x="6206490" y="1885950"/>
            <a:ext cx="0" cy="1440300"/>
          </a:xfrm>
          <a:prstGeom prst="straightConnector1">
            <a:avLst/>
          </a:prstGeom>
          <a:noFill/>
          <a:ln cap="flat" cmpd="sng" w="9525">
            <a:solidFill>
              <a:srgbClr val="FFFFFF"/>
            </a:solidFill>
            <a:prstDash val="solid"/>
            <a:round/>
            <a:headEnd len="sm" w="sm" type="none"/>
            <a:tailEnd len="sm" w="sm" type="none"/>
          </a:ln>
        </p:spPr>
      </p:cxnSp>
      <p:cxnSp>
        <p:nvCxnSpPr>
          <p:cNvPr id="281" name="Google Shape;281;p20"/>
          <p:cNvCxnSpPr/>
          <p:nvPr/>
        </p:nvCxnSpPr>
        <p:spPr>
          <a:xfrm>
            <a:off x="6439662" y="1885950"/>
            <a:ext cx="0" cy="1440300"/>
          </a:xfrm>
          <a:prstGeom prst="straightConnector1">
            <a:avLst/>
          </a:prstGeom>
          <a:noFill/>
          <a:ln cap="flat" cmpd="sng" w="9525">
            <a:solidFill>
              <a:srgbClr val="FFFFFF"/>
            </a:solidFill>
            <a:prstDash val="solid"/>
            <a:round/>
            <a:headEnd len="sm" w="sm" type="none"/>
            <a:tailEnd len="sm" w="sm" type="none"/>
          </a:ln>
        </p:spPr>
      </p:cxnSp>
      <p:cxnSp>
        <p:nvCxnSpPr>
          <p:cNvPr id="282" name="Google Shape;282;p20"/>
          <p:cNvCxnSpPr/>
          <p:nvPr/>
        </p:nvCxnSpPr>
        <p:spPr>
          <a:xfrm>
            <a:off x="5973318" y="2091690"/>
            <a:ext cx="699600" cy="0"/>
          </a:xfrm>
          <a:prstGeom prst="straightConnector1">
            <a:avLst/>
          </a:prstGeom>
          <a:noFill/>
          <a:ln cap="flat" cmpd="sng" w="9525">
            <a:solidFill>
              <a:srgbClr val="FFFFFF"/>
            </a:solidFill>
            <a:prstDash val="solid"/>
            <a:round/>
            <a:headEnd len="sm" w="sm" type="none"/>
            <a:tailEnd len="sm" w="sm" type="none"/>
          </a:ln>
        </p:spPr>
      </p:cxnSp>
      <p:cxnSp>
        <p:nvCxnSpPr>
          <p:cNvPr id="283" name="Google Shape;283;p20"/>
          <p:cNvCxnSpPr/>
          <p:nvPr/>
        </p:nvCxnSpPr>
        <p:spPr>
          <a:xfrm>
            <a:off x="5973318" y="2297430"/>
            <a:ext cx="699600" cy="0"/>
          </a:xfrm>
          <a:prstGeom prst="straightConnector1">
            <a:avLst/>
          </a:prstGeom>
          <a:noFill/>
          <a:ln cap="flat" cmpd="sng" w="9525">
            <a:solidFill>
              <a:srgbClr val="FFFFFF"/>
            </a:solidFill>
            <a:prstDash val="solid"/>
            <a:round/>
            <a:headEnd len="sm" w="sm" type="none"/>
            <a:tailEnd len="sm" w="sm" type="none"/>
          </a:ln>
        </p:spPr>
      </p:cxnSp>
      <p:cxnSp>
        <p:nvCxnSpPr>
          <p:cNvPr id="284" name="Google Shape;284;p20"/>
          <p:cNvCxnSpPr/>
          <p:nvPr/>
        </p:nvCxnSpPr>
        <p:spPr>
          <a:xfrm>
            <a:off x="5973318" y="2503170"/>
            <a:ext cx="699600" cy="0"/>
          </a:xfrm>
          <a:prstGeom prst="straightConnector1">
            <a:avLst/>
          </a:prstGeom>
          <a:noFill/>
          <a:ln cap="flat" cmpd="sng" w="9525">
            <a:solidFill>
              <a:srgbClr val="FFFFFF"/>
            </a:solidFill>
            <a:prstDash val="solid"/>
            <a:round/>
            <a:headEnd len="sm" w="sm" type="none"/>
            <a:tailEnd len="sm" w="sm" type="none"/>
          </a:ln>
        </p:spPr>
      </p:cxnSp>
      <p:cxnSp>
        <p:nvCxnSpPr>
          <p:cNvPr id="285" name="Google Shape;285;p20"/>
          <p:cNvCxnSpPr/>
          <p:nvPr/>
        </p:nvCxnSpPr>
        <p:spPr>
          <a:xfrm>
            <a:off x="5973318" y="2708910"/>
            <a:ext cx="699600" cy="0"/>
          </a:xfrm>
          <a:prstGeom prst="straightConnector1">
            <a:avLst/>
          </a:prstGeom>
          <a:noFill/>
          <a:ln cap="flat" cmpd="sng" w="9525">
            <a:solidFill>
              <a:srgbClr val="FFFFFF"/>
            </a:solidFill>
            <a:prstDash val="solid"/>
            <a:round/>
            <a:headEnd len="sm" w="sm" type="none"/>
            <a:tailEnd len="sm" w="sm" type="none"/>
          </a:ln>
        </p:spPr>
      </p:cxnSp>
      <p:cxnSp>
        <p:nvCxnSpPr>
          <p:cNvPr id="286" name="Google Shape;286;p20"/>
          <p:cNvCxnSpPr/>
          <p:nvPr/>
        </p:nvCxnSpPr>
        <p:spPr>
          <a:xfrm>
            <a:off x="5973318" y="2914650"/>
            <a:ext cx="699600" cy="0"/>
          </a:xfrm>
          <a:prstGeom prst="straightConnector1">
            <a:avLst/>
          </a:prstGeom>
          <a:noFill/>
          <a:ln cap="flat" cmpd="sng" w="9525">
            <a:solidFill>
              <a:srgbClr val="FFFFFF"/>
            </a:solidFill>
            <a:prstDash val="solid"/>
            <a:round/>
            <a:headEnd len="sm" w="sm" type="none"/>
            <a:tailEnd len="sm" w="sm" type="none"/>
          </a:ln>
        </p:spPr>
      </p:cxnSp>
      <p:cxnSp>
        <p:nvCxnSpPr>
          <p:cNvPr id="287" name="Google Shape;287;p20"/>
          <p:cNvCxnSpPr/>
          <p:nvPr/>
        </p:nvCxnSpPr>
        <p:spPr>
          <a:xfrm>
            <a:off x="5973318" y="3120390"/>
            <a:ext cx="699600" cy="0"/>
          </a:xfrm>
          <a:prstGeom prst="straightConnector1">
            <a:avLst/>
          </a:prstGeom>
          <a:noFill/>
          <a:ln cap="flat" cmpd="sng" w="9525">
            <a:solidFill>
              <a:srgbClr val="FFFFFF"/>
            </a:solidFill>
            <a:prstDash val="solid"/>
            <a:round/>
            <a:headEnd len="sm" w="sm" type="none"/>
            <a:tailEnd len="sm" w="sm" type="none"/>
          </a:ln>
        </p:spPr>
      </p:cxnSp>
      <p:sp>
        <p:nvSpPr>
          <p:cNvPr id="288" name="Google Shape;288;p20"/>
          <p:cNvSpPr/>
          <p:nvPr/>
        </p:nvSpPr>
        <p:spPr>
          <a:xfrm>
            <a:off x="5891022" y="1639062"/>
            <a:ext cx="864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0392B"/>
              </a:buClr>
              <a:buSzPts val="800"/>
              <a:buFont typeface="Calibri"/>
              <a:buNone/>
            </a:pPr>
            <a:r>
              <a:rPr b="1" i="0" lang="en" sz="800" u="none" cap="none" strike="noStrike">
                <a:solidFill>
                  <a:srgbClr val="C0392B"/>
                </a:solidFill>
                <a:latin typeface="Calibri"/>
                <a:ea typeface="Calibri"/>
                <a:cs typeface="Calibri"/>
                <a:sym typeface="Calibri"/>
              </a:rPr>
              <a:t>Segment 2</a:t>
            </a:r>
            <a:endParaRPr b="0" i="0" sz="800" u="none" cap="none" strike="noStrike">
              <a:solidFill>
                <a:schemeClr val="dk1"/>
              </a:solidFill>
              <a:latin typeface="Calibri"/>
              <a:ea typeface="Calibri"/>
              <a:cs typeface="Calibri"/>
              <a:sym typeface="Calibri"/>
            </a:endParaRPr>
          </a:p>
        </p:txBody>
      </p:sp>
      <p:sp>
        <p:nvSpPr>
          <p:cNvPr id="289" name="Google Shape;289;p20"/>
          <p:cNvSpPr/>
          <p:nvPr/>
        </p:nvSpPr>
        <p:spPr>
          <a:xfrm>
            <a:off x="6768846" y="1885950"/>
            <a:ext cx="699600" cy="1440300"/>
          </a:xfrm>
          <a:prstGeom prst="roundRect">
            <a:avLst>
              <a:gd fmla="val 2941" name="adj"/>
            </a:avLst>
          </a:prstGeom>
          <a:solidFill>
            <a:srgbClr val="E2F0E8"/>
          </a:solidFill>
          <a:ln cap="flat" cmpd="sng" w="14300">
            <a:solidFill>
              <a:srgbClr val="2E8B5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290" name="Google Shape;290;p20"/>
          <p:cNvCxnSpPr/>
          <p:nvPr/>
        </p:nvCxnSpPr>
        <p:spPr>
          <a:xfrm>
            <a:off x="7002018" y="1885950"/>
            <a:ext cx="0" cy="1440300"/>
          </a:xfrm>
          <a:prstGeom prst="straightConnector1">
            <a:avLst/>
          </a:prstGeom>
          <a:noFill/>
          <a:ln cap="flat" cmpd="sng" w="9525">
            <a:solidFill>
              <a:srgbClr val="FFFFFF"/>
            </a:solidFill>
            <a:prstDash val="solid"/>
            <a:round/>
            <a:headEnd len="sm" w="sm" type="none"/>
            <a:tailEnd len="sm" w="sm" type="none"/>
          </a:ln>
        </p:spPr>
      </p:cxnSp>
      <p:cxnSp>
        <p:nvCxnSpPr>
          <p:cNvPr id="291" name="Google Shape;291;p20"/>
          <p:cNvCxnSpPr/>
          <p:nvPr/>
        </p:nvCxnSpPr>
        <p:spPr>
          <a:xfrm>
            <a:off x="7235190" y="1885950"/>
            <a:ext cx="0" cy="1440300"/>
          </a:xfrm>
          <a:prstGeom prst="straightConnector1">
            <a:avLst/>
          </a:prstGeom>
          <a:noFill/>
          <a:ln cap="flat" cmpd="sng" w="9525">
            <a:solidFill>
              <a:srgbClr val="FFFFFF"/>
            </a:solidFill>
            <a:prstDash val="solid"/>
            <a:round/>
            <a:headEnd len="sm" w="sm" type="none"/>
            <a:tailEnd len="sm" w="sm" type="none"/>
          </a:ln>
        </p:spPr>
      </p:cxnSp>
      <p:cxnSp>
        <p:nvCxnSpPr>
          <p:cNvPr id="292" name="Google Shape;292;p20"/>
          <p:cNvCxnSpPr/>
          <p:nvPr/>
        </p:nvCxnSpPr>
        <p:spPr>
          <a:xfrm>
            <a:off x="6768846" y="2091690"/>
            <a:ext cx="699600" cy="0"/>
          </a:xfrm>
          <a:prstGeom prst="straightConnector1">
            <a:avLst/>
          </a:prstGeom>
          <a:noFill/>
          <a:ln cap="flat" cmpd="sng" w="9525">
            <a:solidFill>
              <a:srgbClr val="FFFFFF"/>
            </a:solidFill>
            <a:prstDash val="solid"/>
            <a:round/>
            <a:headEnd len="sm" w="sm" type="none"/>
            <a:tailEnd len="sm" w="sm" type="none"/>
          </a:ln>
        </p:spPr>
      </p:cxnSp>
      <p:cxnSp>
        <p:nvCxnSpPr>
          <p:cNvPr id="293" name="Google Shape;293;p20"/>
          <p:cNvCxnSpPr/>
          <p:nvPr/>
        </p:nvCxnSpPr>
        <p:spPr>
          <a:xfrm>
            <a:off x="6768846" y="2297430"/>
            <a:ext cx="699600" cy="0"/>
          </a:xfrm>
          <a:prstGeom prst="straightConnector1">
            <a:avLst/>
          </a:prstGeom>
          <a:noFill/>
          <a:ln cap="flat" cmpd="sng" w="9525">
            <a:solidFill>
              <a:srgbClr val="FFFFFF"/>
            </a:solidFill>
            <a:prstDash val="solid"/>
            <a:round/>
            <a:headEnd len="sm" w="sm" type="none"/>
            <a:tailEnd len="sm" w="sm" type="none"/>
          </a:ln>
        </p:spPr>
      </p:cxnSp>
      <p:cxnSp>
        <p:nvCxnSpPr>
          <p:cNvPr id="294" name="Google Shape;294;p20"/>
          <p:cNvCxnSpPr/>
          <p:nvPr/>
        </p:nvCxnSpPr>
        <p:spPr>
          <a:xfrm>
            <a:off x="6768846" y="2503170"/>
            <a:ext cx="699600" cy="0"/>
          </a:xfrm>
          <a:prstGeom prst="straightConnector1">
            <a:avLst/>
          </a:prstGeom>
          <a:noFill/>
          <a:ln cap="flat" cmpd="sng" w="9525">
            <a:solidFill>
              <a:srgbClr val="FFFFFF"/>
            </a:solidFill>
            <a:prstDash val="solid"/>
            <a:round/>
            <a:headEnd len="sm" w="sm" type="none"/>
            <a:tailEnd len="sm" w="sm" type="none"/>
          </a:ln>
        </p:spPr>
      </p:cxnSp>
      <p:cxnSp>
        <p:nvCxnSpPr>
          <p:cNvPr id="295" name="Google Shape;295;p20"/>
          <p:cNvCxnSpPr/>
          <p:nvPr/>
        </p:nvCxnSpPr>
        <p:spPr>
          <a:xfrm>
            <a:off x="6768846" y="2708910"/>
            <a:ext cx="699600" cy="0"/>
          </a:xfrm>
          <a:prstGeom prst="straightConnector1">
            <a:avLst/>
          </a:prstGeom>
          <a:noFill/>
          <a:ln cap="flat" cmpd="sng" w="9525">
            <a:solidFill>
              <a:srgbClr val="FFFFFF"/>
            </a:solidFill>
            <a:prstDash val="solid"/>
            <a:round/>
            <a:headEnd len="sm" w="sm" type="none"/>
            <a:tailEnd len="sm" w="sm" type="none"/>
          </a:ln>
        </p:spPr>
      </p:cxnSp>
      <p:cxnSp>
        <p:nvCxnSpPr>
          <p:cNvPr id="296" name="Google Shape;296;p20"/>
          <p:cNvCxnSpPr/>
          <p:nvPr/>
        </p:nvCxnSpPr>
        <p:spPr>
          <a:xfrm>
            <a:off x="6768846" y="2914650"/>
            <a:ext cx="699600" cy="0"/>
          </a:xfrm>
          <a:prstGeom prst="straightConnector1">
            <a:avLst/>
          </a:prstGeom>
          <a:noFill/>
          <a:ln cap="flat" cmpd="sng" w="9525">
            <a:solidFill>
              <a:srgbClr val="FFFFFF"/>
            </a:solidFill>
            <a:prstDash val="solid"/>
            <a:round/>
            <a:headEnd len="sm" w="sm" type="none"/>
            <a:tailEnd len="sm" w="sm" type="none"/>
          </a:ln>
        </p:spPr>
      </p:cxnSp>
      <p:cxnSp>
        <p:nvCxnSpPr>
          <p:cNvPr id="297" name="Google Shape;297;p20"/>
          <p:cNvCxnSpPr/>
          <p:nvPr/>
        </p:nvCxnSpPr>
        <p:spPr>
          <a:xfrm>
            <a:off x="6768846" y="3120390"/>
            <a:ext cx="699600" cy="0"/>
          </a:xfrm>
          <a:prstGeom prst="straightConnector1">
            <a:avLst/>
          </a:prstGeom>
          <a:noFill/>
          <a:ln cap="flat" cmpd="sng" w="9525">
            <a:solidFill>
              <a:srgbClr val="FFFFFF"/>
            </a:solidFill>
            <a:prstDash val="solid"/>
            <a:round/>
            <a:headEnd len="sm" w="sm" type="none"/>
            <a:tailEnd len="sm" w="sm" type="none"/>
          </a:ln>
        </p:spPr>
      </p:cxnSp>
      <p:sp>
        <p:nvSpPr>
          <p:cNvPr id="298" name="Google Shape;298;p20"/>
          <p:cNvSpPr/>
          <p:nvPr/>
        </p:nvSpPr>
        <p:spPr>
          <a:xfrm>
            <a:off x="6686550" y="1639062"/>
            <a:ext cx="864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E8B57"/>
              </a:buClr>
              <a:buSzPts val="800"/>
              <a:buFont typeface="Calibri"/>
              <a:buNone/>
            </a:pPr>
            <a:r>
              <a:rPr b="1" i="0" lang="en" sz="800" u="none" cap="none" strike="noStrike">
                <a:solidFill>
                  <a:srgbClr val="2E8B57"/>
                </a:solidFill>
                <a:latin typeface="Calibri"/>
                <a:ea typeface="Calibri"/>
                <a:cs typeface="Calibri"/>
                <a:sym typeface="Calibri"/>
              </a:rPr>
              <a:t>Segment 3</a:t>
            </a:r>
            <a:endParaRPr b="0" i="0" sz="800" u="none" cap="none" strike="noStrike">
              <a:solidFill>
                <a:schemeClr val="dk1"/>
              </a:solidFill>
              <a:latin typeface="Calibri"/>
              <a:ea typeface="Calibri"/>
              <a:cs typeface="Calibri"/>
              <a:sym typeface="Calibri"/>
            </a:endParaRPr>
          </a:p>
        </p:txBody>
      </p:sp>
      <p:sp>
        <p:nvSpPr>
          <p:cNvPr id="299" name="Google Shape;299;p20"/>
          <p:cNvSpPr/>
          <p:nvPr/>
        </p:nvSpPr>
        <p:spPr>
          <a:xfrm>
            <a:off x="7845552" y="1885950"/>
            <a:ext cx="699600" cy="1440300"/>
          </a:xfrm>
          <a:prstGeom prst="roundRect">
            <a:avLst>
              <a:gd fmla="val 2941" name="adj"/>
            </a:avLst>
          </a:prstGeom>
          <a:solidFill>
            <a:srgbClr val="EEE9F5"/>
          </a:solidFill>
          <a:ln cap="flat" cmpd="sng" w="14300">
            <a:solidFill>
              <a:srgbClr val="6B4E9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300" name="Google Shape;300;p20"/>
          <p:cNvCxnSpPr/>
          <p:nvPr/>
        </p:nvCxnSpPr>
        <p:spPr>
          <a:xfrm>
            <a:off x="8078724" y="1885950"/>
            <a:ext cx="0" cy="1440300"/>
          </a:xfrm>
          <a:prstGeom prst="straightConnector1">
            <a:avLst/>
          </a:prstGeom>
          <a:noFill/>
          <a:ln cap="flat" cmpd="sng" w="9525">
            <a:solidFill>
              <a:srgbClr val="FFFFFF"/>
            </a:solidFill>
            <a:prstDash val="solid"/>
            <a:round/>
            <a:headEnd len="sm" w="sm" type="none"/>
            <a:tailEnd len="sm" w="sm" type="none"/>
          </a:ln>
        </p:spPr>
      </p:cxnSp>
      <p:cxnSp>
        <p:nvCxnSpPr>
          <p:cNvPr id="301" name="Google Shape;301;p20"/>
          <p:cNvCxnSpPr/>
          <p:nvPr/>
        </p:nvCxnSpPr>
        <p:spPr>
          <a:xfrm>
            <a:off x="8311896" y="1885950"/>
            <a:ext cx="0" cy="1440300"/>
          </a:xfrm>
          <a:prstGeom prst="straightConnector1">
            <a:avLst/>
          </a:prstGeom>
          <a:noFill/>
          <a:ln cap="flat" cmpd="sng" w="9525">
            <a:solidFill>
              <a:srgbClr val="FFFFFF"/>
            </a:solidFill>
            <a:prstDash val="solid"/>
            <a:round/>
            <a:headEnd len="sm" w="sm" type="none"/>
            <a:tailEnd len="sm" w="sm" type="none"/>
          </a:ln>
        </p:spPr>
      </p:cxnSp>
      <p:cxnSp>
        <p:nvCxnSpPr>
          <p:cNvPr id="302" name="Google Shape;302;p20"/>
          <p:cNvCxnSpPr/>
          <p:nvPr/>
        </p:nvCxnSpPr>
        <p:spPr>
          <a:xfrm>
            <a:off x="7845552" y="2091690"/>
            <a:ext cx="699600" cy="0"/>
          </a:xfrm>
          <a:prstGeom prst="straightConnector1">
            <a:avLst/>
          </a:prstGeom>
          <a:noFill/>
          <a:ln cap="flat" cmpd="sng" w="9525">
            <a:solidFill>
              <a:srgbClr val="FFFFFF"/>
            </a:solidFill>
            <a:prstDash val="solid"/>
            <a:round/>
            <a:headEnd len="sm" w="sm" type="none"/>
            <a:tailEnd len="sm" w="sm" type="none"/>
          </a:ln>
        </p:spPr>
      </p:cxnSp>
      <p:cxnSp>
        <p:nvCxnSpPr>
          <p:cNvPr id="303" name="Google Shape;303;p20"/>
          <p:cNvCxnSpPr/>
          <p:nvPr/>
        </p:nvCxnSpPr>
        <p:spPr>
          <a:xfrm>
            <a:off x="7845552" y="2297430"/>
            <a:ext cx="699600" cy="0"/>
          </a:xfrm>
          <a:prstGeom prst="straightConnector1">
            <a:avLst/>
          </a:prstGeom>
          <a:noFill/>
          <a:ln cap="flat" cmpd="sng" w="9525">
            <a:solidFill>
              <a:srgbClr val="FFFFFF"/>
            </a:solidFill>
            <a:prstDash val="solid"/>
            <a:round/>
            <a:headEnd len="sm" w="sm" type="none"/>
            <a:tailEnd len="sm" w="sm" type="none"/>
          </a:ln>
        </p:spPr>
      </p:cxnSp>
      <p:cxnSp>
        <p:nvCxnSpPr>
          <p:cNvPr id="304" name="Google Shape;304;p20"/>
          <p:cNvCxnSpPr/>
          <p:nvPr/>
        </p:nvCxnSpPr>
        <p:spPr>
          <a:xfrm>
            <a:off x="7845552" y="2503170"/>
            <a:ext cx="699600" cy="0"/>
          </a:xfrm>
          <a:prstGeom prst="straightConnector1">
            <a:avLst/>
          </a:prstGeom>
          <a:noFill/>
          <a:ln cap="flat" cmpd="sng" w="9525">
            <a:solidFill>
              <a:srgbClr val="FFFFFF"/>
            </a:solidFill>
            <a:prstDash val="solid"/>
            <a:round/>
            <a:headEnd len="sm" w="sm" type="none"/>
            <a:tailEnd len="sm" w="sm" type="none"/>
          </a:ln>
        </p:spPr>
      </p:cxnSp>
      <p:cxnSp>
        <p:nvCxnSpPr>
          <p:cNvPr id="305" name="Google Shape;305;p20"/>
          <p:cNvCxnSpPr/>
          <p:nvPr/>
        </p:nvCxnSpPr>
        <p:spPr>
          <a:xfrm>
            <a:off x="7845552" y="2708910"/>
            <a:ext cx="699600" cy="0"/>
          </a:xfrm>
          <a:prstGeom prst="straightConnector1">
            <a:avLst/>
          </a:prstGeom>
          <a:noFill/>
          <a:ln cap="flat" cmpd="sng" w="9525">
            <a:solidFill>
              <a:srgbClr val="FFFFFF"/>
            </a:solidFill>
            <a:prstDash val="solid"/>
            <a:round/>
            <a:headEnd len="sm" w="sm" type="none"/>
            <a:tailEnd len="sm" w="sm" type="none"/>
          </a:ln>
        </p:spPr>
      </p:cxnSp>
      <p:cxnSp>
        <p:nvCxnSpPr>
          <p:cNvPr id="306" name="Google Shape;306;p20"/>
          <p:cNvCxnSpPr/>
          <p:nvPr/>
        </p:nvCxnSpPr>
        <p:spPr>
          <a:xfrm>
            <a:off x="7845552" y="2914650"/>
            <a:ext cx="699600" cy="0"/>
          </a:xfrm>
          <a:prstGeom prst="straightConnector1">
            <a:avLst/>
          </a:prstGeom>
          <a:noFill/>
          <a:ln cap="flat" cmpd="sng" w="9525">
            <a:solidFill>
              <a:srgbClr val="FFFFFF"/>
            </a:solidFill>
            <a:prstDash val="solid"/>
            <a:round/>
            <a:headEnd len="sm" w="sm" type="none"/>
            <a:tailEnd len="sm" w="sm" type="none"/>
          </a:ln>
        </p:spPr>
      </p:cxnSp>
      <p:cxnSp>
        <p:nvCxnSpPr>
          <p:cNvPr id="307" name="Google Shape;307;p20"/>
          <p:cNvCxnSpPr/>
          <p:nvPr/>
        </p:nvCxnSpPr>
        <p:spPr>
          <a:xfrm>
            <a:off x="7845552" y="3120390"/>
            <a:ext cx="699600" cy="0"/>
          </a:xfrm>
          <a:prstGeom prst="straightConnector1">
            <a:avLst/>
          </a:prstGeom>
          <a:noFill/>
          <a:ln cap="flat" cmpd="sng" w="9525">
            <a:solidFill>
              <a:srgbClr val="FFFFFF"/>
            </a:solidFill>
            <a:prstDash val="solid"/>
            <a:round/>
            <a:headEnd len="sm" w="sm" type="none"/>
            <a:tailEnd len="sm" w="sm" type="none"/>
          </a:ln>
        </p:spPr>
      </p:cxnSp>
      <p:sp>
        <p:nvSpPr>
          <p:cNvPr id="308" name="Google Shape;308;p20"/>
          <p:cNvSpPr/>
          <p:nvPr/>
        </p:nvSpPr>
        <p:spPr>
          <a:xfrm>
            <a:off x="7763256" y="1639062"/>
            <a:ext cx="8640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6B4E9E"/>
              </a:buClr>
              <a:buSzPts val="800"/>
              <a:buFont typeface="Calibri"/>
              <a:buNone/>
            </a:pPr>
            <a:r>
              <a:rPr b="1" i="0" lang="en" sz="800" u="none" cap="none" strike="noStrike">
                <a:solidFill>
                  <a:srgbClr val="6B4E9E"/>
                </a:solidFill>
                <a:latin typeface="Calibri"/>
                <a:ea typeface="Calibri"/>
                <a:cs typeface="Calibri"/>
                <a:sym typeface="Calibri"/>
              </a:rPr>
              <a:t>Segment 8</a:t>
            </a:r>
            <a:endParaRPr b="0" i="0" sz="800" u="none" cap="none" strike="noStrike">
              <a:solidFill>
                <a:schemeClr val="dk1"/>
              </a:solidFill>
              <a:latin typeface="Calibri"/>
              <a:ea typeface="Calibri"/>
              <a:cs typeface="Calibri"/>
              <a:sym typeface="Calibri"/>
            </a:endParaRPr>
          </a:p>
        </p:txBody>
      </p:sp>
      <p:sp>
        <p:nvSpPr>
          <p:cNvPr id="309" name="Google Shape;309;p20"/>
          <p:cNvSpPr/>
          <p:nvPr/>
        </p:nvSpPr>
        <p:spPr>
          <a:xfrm>
            <a:off x="7468362" y="2366010"/>
            <a:ext cx="37710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800"/>
              <a:buFont typeface="Calibri"/>
              <a:buNone/>
            </a:pPr>
            <a:r>
              <a:rPr b="1" i="0" lang="en" sz="1800" u="none" cap="none" strike="noStrike">
                <a:solidFill>
                  <a:srgbClr val="8195A5"/>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10" name="Google Shape;310;p20"/>
          <p:cNvSpPr/>
          <p:nvPr/>
        </p:nvSpPr>
        <p:spPr>
          <a:xfrm>
            <a:off x="342900" y="4814316"/>
            <a:ext cx="48006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Product Quantization  ·  at scale</a:t>
            </a:r>
            <a:endParaRPr b="0" i="0" sz="700" u="none" cap="none" strike="noStrike">
              <a:solidFill>
                <a:schemeClr val="dk1"/>
              </a:solidFill>
              <a:latin typeface="Calibri"/>
              <a:ea typeface="Calibri"/>
              <a:cs typeface="Calibri"/>
              <a:sym typeface="Calibri"/>
            </a:endParaRPr>
          </a:p>
        </p:txBody>
      </p:sp>
      <p:sp>
        <p:nvSpPr>
          <p:cNvPr id="311" name="Google Shape;311;p20"/>
          <p:cNvSpPr/>
          <p:nvPr/>
        </p:nvSpPr>
        <p:spPr>
          <a:xfrm>
            <a:off x="8572500" y="4814316"/>
            <a:ext cx="2742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1"/>
          <p:cNvSpPr/>
          <p:nvPr/>
        </p:nvSpPr>
        <p:spPr>
          <a:xfrm>
            <a:off x="411480" y="288036"/>
            <a:ext cx="7543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55C7D"/>
              </a:buClr>
              <a:buSzPts val="900"/>
              <a:buFont typeface="Calibri"/>
              <a:buNone/>
            </a:pPr>
            <a:r>
              <a:rPr b="1" i="0" lang="en" sz="900" u="none" cap="none" strike="noStrike">
                <a:solidFill>
                  <a:srgbClr val="355C7D"/>
                </a:solidFill>
                <a:latin typeface="Calibri"/>
                <a:ea typeface="Calibri"/>
                <a:cs typeface="Calibri"/>
                <a:sym typeface="Calibri"/>
              </a:rPr>
              <a:t>STEP 2 OF 3</a:t>
            </a:r>
            <a:endParaRPr b="0" i="0" sz="900" u="none" cap="none" strike="noStrike">
              <a:solidFill>
                <a:schemeClr val="dk1"/>
              </a:solidFill>
              <a:latin typeface="Calibri"/>
              <a:ea typeface="Calibri"/>
              <a:cs typeface="Calibri"/>
              <a:sym typeface="Calibri"/>
            </a:endParaRPr>
          </a:p>
        </p:txBody>
      </p:sp>
      <p:sp>
        <p:nvSpPr>
          <p:cNvPr id="318" name="Google Shape;318;p21"/>
          <p:cNvSpPr/>
          <p:nvPr/>
        </p:nvSpPr>
        <p:spPr>
          <a:xfrm>
            <a:off x="397764" y="480060"/>
            <a:ext cx="83670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2300"/>
              <a:buFont typeface="Cambria"/>
              <a:buNone/>
            </a:pPr>
            <a:r>
              <a:rPr b="1" i="0" lang="en" sz="2300" u="none" cap="none" strike="noStrike">
                <a:solidFill>
                  <a:srgbClr val="13203A"/>
                </a:solidFill>
                <a:latin typeface="Cambria"/>
                <a:ea typeface="Cambria"/>
                <a:cs typeface="Cambria"/>
                <a:sym typeface="Cambria"/>
              </a:rPr>
              <a:t>Cluster each segment → 8 codebooks of 256 centres</a:t>
            </a:r>
            <a:endParaRPr b="0" i="0" sz="2300" u="none" cap="none" strike="noStrike">
              <a:solidFill>
                <a:schemeClr val="dk1"/>
              </a:solidFill>
              <a:latin typeface="Calibri"/>
              <a:ea typeface="Calibri"/>
              <a:cs typeface="Calibri"/>
              <a:sym typeface="Calibri"/>
            </a:endParaRPr>
          </a:p>
        </p:txBody>
      </p:sp>
      <p:sp>
        <p:nvSpPr>
          <p:cNvPr id="319" name="Google Shape;319;p21"/>
          <p:cNvSpPr/>
          <p:nvPr/>
        </p:nvSpPr>
        <p:spPr>
          <a:xfrm>
            <a:off x="411480" y="1165860"/>
            <a:ext cx="8229600" cy="58290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Run </a:t>
            </a:r>
            <a:r>
              <a:rPr b="1" i="0" lang="en" sz="1200" u="none" cap="none" strike="noStrike">
                <a:solidFill>
                  <a:srgbClr val="0E4D6E"/>
                </a:solidFill>
                <a:latin typeface="Calibri"/>
                <a:ea typeface="Calibri"/>
                <a:cs typeface="Calibri"/>
                <a:sym typeface="Calibri"/>
              </a:rPr>
              <a:t>K-means</a:t>
            </a:r>
            <a:r>
              <a:rPr b="0" i="0" lang="en" sz="1200" u="none" cap="none" strike="noStrike">
                <a:solidFill>
                  <a:srgbClr val="44586A"/>
                </a:solidFill>
                <a:latin typeface="Calibri"/>
                <a:ea typeface="Calibri"/>
                <a:cs typeface="Calibri"/>
                <a:sym typeface="Calibri"/>
              </a:rPr>
              <a:t> inside each segment across all one million sub-vectors. With </a:t>
            </a:r>
            <a:r>
              <a:rPr b="1" i="0" lang="en" sz="1200" u="none" cap="none" strike="noStrike">
                <a:solidFill>
                  <a:srgbClr val="0E4D6E"/>
                </a:solidFill>
                <a:latin typeface="Calibri"/>
                <a:ea typeface="Calibri"/>
                <a:cs typeface="Calibri"/>
                <a:sym typeface="Calibri"/>
              </a:rPr>
              <a:t>K = 256</a:t>
            </a:r>
            <a:r>
              <a:rPr b="0" i="0" lang="en" sz="1200" u="none" cap="none" strike="noStrike">
                <a:solidFill>
                  <a:srgbClr val="44586A"/>
                </a:solidFill>
                <a:latin typeface="Calibri"/>
                <a:ea typeface="Calibri"/>
                <a:cs typeface="Calibri"/>
                <a:sym typeface="Calibri"/>
              </a:rPr>
              <a:t>, every segment gets 256 cluster centres — its codebook Cᵢ.</a:t>
            </a:r>
            <a:endParaRPr b="0" i="0" sz="1200" u="none" cap="none" strike="noStrike">
              <a:solidFill>
                <a:schemeClr val="dk1"/>
              </a:solidFill>
              <a:latin typeface="Calibri"/>
              <a:ea typeface="Calibri"/>
              <a:cs typeface="Calibri"/>
              <a:sym typeface="Calibri"/>
            </a:endParaRPr>
          </a:p>
        </p:txBody>
      </p:sp>
      <p:sp>
        <p:nvSpPr>
          <p:cNvPr id="320" name="Google Shape;320;p21"/>
          <p:cNvSpPr/>
          <p:nvPr/>
        </p:nvSpPr>
        <p:spPr>
          <a:xfrm>
            <a:off x="411480" y="1954530"/>
            <a:ext cx="1865400" cy="2091600"/>
          </a:xfrm>
          <a:prstGeom prst="roundRect">
            <a:avLst>
              <a:gd fmla="val 3676" name="adj"/>
            </a:avLst>
          </a:prstGeom>
          <a:solidFill>
            <a:srgbClr val="F4F8FB"/>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21"/>
          <p:cNvSpPr/>
          <p:nvPr/>
        </p:nvSpPr>
        <p:spPr>
          <a:xfrm>
            <a:off x="411480" y="1954530"/>
            <a:ext cx="1865400" cy="397800"/>
          </a:xfrm>
          <a:prstGeom prst="roundRect">
            <a:avLst>
              <a:gd fmla="val 17241" name="adj"/>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2" name="Google Shape;322;p21"/>
          <p:cNvSpPr/>
          <p:nvPr/>
        </p:nvSpPr>
        <p:spPr>
          <a:xfrm>
            <a:off x="411480" y="2201418"/>
            <a:ext cx="1865400" cy="150900"/>
          </a:xfrm>
          <a:prstGeom prst="rect">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3" name="Google Shape;323;p21"/>
          <p:cNvSpPr/>
          <p:nvPr/>
        </p:nvSpPr>
        <p:spPr>
          <a:xfrm>
            <a:off x="589788" y="1954530"/>
            <a:ext cx="1522500" cy="397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200"/>
              <a:buFont typeface="Cambria"/>
              <a:buNone/>
            </a:pPr>
            <a:r>
              <a:rPr b="1" i="0" lang="en" sz="1200" u="none" cap="none" strike="noStrike">
                <a:solidFill>
                  <a:srgbClr val="FFFFFF"/>
                </a:solidFill>
                <a:latin typeface="Cambria"/>
                <a:ea typeface="Cambria"/>
                <a:cs typeface="Cambria"/>
                <a:sym typeface="Cambria"/>
              </a:rPr>
              <a:t>C1 — Segment 1</a:t>
            </a:r>
            <a:endParaRPr b="0" i="0" sz="1200" u="none" cap="none" strike="noStrike">
              <a:solidFill>
                <a:schemeClr val="dk1"/>
              </a:solidFill>
              <a:latin typeface="Calibri"/>
              <a:ea typeface="Calibri"/>
              <a:cs typeface="Calibri"/>
              <a:sym typeface="Calibri"/>
            </a:endParaRPr>
          </a:p>
        </p:txBody>
      </p:sp>
      <p:sp>
        <p:nvSpPr>
          <p:cNvPr id="324" name="Google Shape;324;p21"/>
          <p:cNvSpPr/>
          <p:nvPr/>
        </p:nvSpPr>
        <p:spPr>
          <a:xfrm>
            <a:off x="589788" y="2420874"/>
            <a:ext cx="1522500" cy="219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900"/>
              <a:buFont typeface="Calibri"/>
              <a:buNone/>
            </a:pPr>
            <a:r>
              <a:rPr b="0" i="0" lang="en" sz="900" u="none" cap="none" strike="noStrike">
                <a:solidFill>
                  <a:srgbClr val="8195A5"/>
                </a:solidFill>
                <a:latin typeface="Calibri"/>
                <a:ea typeface="Calibri"/>
                <a:cs typeface="Calibri"/>
                <a:sym typeface="Calibri"/>
              </a:rPr>
              <a:t>256 centres  ·  ids 0–255</a:t>
            </a:r>
            <a:endParaRPr b="0" i="0" sz="900" u="none" cap="none" strike="noStrike">
              <a:solidFill>
                <a:schemeClr val="dk1"/>
              </a:solidFill>
              <a:latin typeface="Calibri"/>
              <a:ea typeface="Calibri"/>
              <a:cs typeface="Calibri"/>
              <a:sym typeface="Calibri"/>
            </a:endParaRPr>
          </a:p>
        </p:txBody>
      </p:sp>
      <p:sp>
        <p:nvSpPr>
          <p:cNvPr id="325" name="Google Shape;325;p21"/>
          <p:cNvSpPr/>
          <p:nvPr/>
        </p:nvSpPr>
        <p:spPr>
          <a:xfrm>
            <a:off x="630936" y="2722626"/>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6FB0"/>
              </a:buClr>
              <a:buSzPts val="1000"/>
              <a:buFont typeface="Courier New"/>
              <a:buNone/>
            </a:pPr>
            <a:r>
              <a:rPr b="1" i="0" lang="en" sz="1000" u="none" cap="none" strike="noStrike">
                <a:solidFill>
                  <a:srgbClr val="2E6FB0"/>
                </a:solidFill>
                <a:latin typeface="Courier New"/>
                <a:ea typeface="Courier New"/>
                <a:cs typeface="Courier New"/>
                <a:sym typeface="Courier New"/>
              </a:rPr>
              <a:t>c1,0</a:t>
            </a:r>
            <a:r>
              <a:rPr b="0" i="0" lang="en" sz="1000" u="none" cap="none" strike="noStrike">
                <a:solidFill>
                  <a:srgbClr val="44586A"/>
                </a:solidFill>
                <a:latin typeface="Courier New"/>
                <a:ea typeface="Courier New"/>
                <a:cs typeface="Courier New"/>
                <a:sym typeface="Courier New"/>
              </a:rPr>
              <a:t>    id 0</a:t>
            </a:r>
            <a:endParaRPr b="0" i="0" sz="1000" u="none" cap="none" strike="noStrike">
              <a:solidFill>
                <a:schemeClr val="dk1"/>
              </a:solidFill>
              <a:latin typeface="Calibri"/>
              <a:ea typeface="Calibri"/>
              <a:cs typeface="Calibri"/>
              <a:sym typeface="Calibri"/>
            </a:endParaRPr>
          </a:p>
        </p:txBody>
      </p:sp>
      <p:sp>
        <p:nvSpPr>
          <p:cNvPr id="326" name="Google Shape;326;p21"/>
          <p:cNvSpPr/>
          <p:nvPr/>
        </p:nvSpPr>
        <p:spPr>
          <a:xfrm>
            <a:off x="630936" y="3038094"/>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6FB0"/>
              </a:buClr>
              <a:buSzPts val="1000"/>
              <a:buFont typeface="Courier New"/>
              <a:buNone/>
            </a:pPr>
            <a:r>
              <a:rPr b="1" i="0" lang="en" sz="1000" u="none" cap="none" strike="noStrike">
                <a:solidFill>
                  <a:srgbClr val="2E6FB0"/>
                </a:solidFill>
                <a:latin typeface="Courier New"/>
                <a:ea typeface="Courier New"/>
                <a:cs typeface="Courier New"/>
                <a:sym typeface="Courier New"/>
              </a:rPr>
              <a:t>c1,1</a:t>
            </a:r>
            <a:r>
              <a:rPr b="0" i="0" lang="en" sz="1000" u="none" cap="none" strike="noStrike">
                <a:solidFill>
                  <a:srgbClr val="44586A"/>
                </a:solidFill>
                <a:latin typeface="Courier New"/>
                <a:ea typeface="Courier New"/>
                <a:cs typeface="Courier New"/>
                <a:sym typeface="Courier New"/>
              </a:rPr>
              <a:t>    id 1</a:t>
            </a:r>
            <a:endParaRPr b="0" i="0" sz="1000" u="none" cap="none" strike="noStrike">
              <a:solidFill>
                <a:schemeClr val="dk1"/>
              </a:solidFill>
              <a:latin typeface="Calibri"/>
              <a:ea typeface="Calibri"/>
              <a:cs typeface="Calibri"/>
              <a:sym typeface="Calibri"/>
            </a:endParaRPr>
          </a:p>
        </p:txBody>
      </p:sp>
      <p:sp>
        <p:nvSpPr>
          <p:cNvPr id="327" name="Google Shape;327;p21"/>
          <p:cNvSpPr/>
          <p:nvPr/>
        </p:nvSpPr>
        <p:spPr>
          <a:xfrm>
            <a:off x="617220" y="3353562"/>
            <a:ext cx="1454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1100"/>
              <a:buFont typeface="Calibri"/>
              <a:buNone/>
            </a:pPr>
            <a:r>
              <a:rPr b="1" i="0" lang="en" sz="1100" u="none" cap="none" strike="noStrike">
                <a:solidFill>
                  <a:srgbClr val="8195A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328" name="Google Shape;328;p21"/>
          <p:cNvSpPr/>
          <p:nvPr/>
        </p:nvSpPr>
        <p:spPr>
          <a:xfrm>
            <a:off x="630936" y="3669030"/>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6FB0"/>
              </a:buClr>
              <a:buSzPts val="1000"/>
              <a:buFont typeface="Courier New"/>
              <a:buNone/>
            </a:pPr>
            <a:r>
              <a:rPr b="1" i="0" lang="en" sz="1000" u="none" cap="none" strike="noStrike">
                <a:solidFill>
                  <a:srgbClr val="2E6FB0"/>
                </a:solidFill>
                <a:latin typeface="Courier New"/>
                <a:ea typeface="Courier New"/>
                <a:cs typeface="Courier New"/>
                <a:sym typeface="Courier New"/>
              </a:rPr>
              <a:t>c1,255</a:t>
            </a:r>
            <a:r>
              <a:rPr b="0" i="0" lang="en" sz="1000" u="none" cap="none" strike="noStrike">
                <a:solidFill>
                  <a:srgbClr val="44586A"/>
                </a:solidFill>
                <a:latin typeface="Courier New"/>
                <a:ea typeface="Courier New"/>
                <a:cs typeface="Courier New"/>
                <a:sym typeface="Courier New"/>
              </a:rPr>
              <a:t>    id 255</a:t>
            </a:r>
            <a:endParaRPr b="0" i="0" sz="1000" u="none" cap="none" strike="noStrike">
              <a:solidFill>
                <a:schemeClr val="dk1"/>
              </a:solidFill>
              <a:latin typeface="Calibri"/>
              <a:ea typeface="Calibri"/>
              <a:cs typeface="Calibri"/>
              <a:sym typeface="Calibri"/>
            </a:endParaRPr>
          </a:p>
        </p:txBody>
      </p:sp>
      <p:sp>
        <p:nvSpPr>
          <p:cNvPr id="329" name="Google Shape;329;p21"/>
          <p:cNvSpPr/>
          <p:nvPr/>
        </p:nvSpPr>
        <p:spPr>
          <a:xfrm>
            <a:off x="2414016" y="1954530"/>
            <a:ext cx="1865400" cy="2091600"/>
          </a:xfrm>
          <a:prstGeom prst="roundRect">
            <a:avLst>
              <a:gd fmla="val 3676" name="adj"/>
            </a:avLst>
          </a:prstGeom>
          <a:solidFill>
            <a:srgbClr val="F4F8FB"/>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0" name="Google Shape;330;p21"/>
          <p:cNvSpPr/>
          <p:nvPr/>
        </p:nvSpPr>
        <p:spPr>
          <a:xfrm>
            <a:off x="2414016" y="1954530"/>
            <a:ext cx="1865400" cy="397800"/>
          </a:xfrm>
          <a:prstGeom prst="roundRect">
            <a:avLst>
              <a:gd fmla="val 17241" name="adj"/>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1" name="Google Shape;331;p21"/>
          <p:cNvSpPr/>
          <p:nvPr/>
        </p:nvSpPr>
        <p:spPr>
          <a:xfrm>
            <a:off x="2414016" y="2201418"/>
            <a:ext cx="1865400" cy="150900"/>
          </a:xfrm>
          <a:prstGeom prst="rect">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2" name="Google Shape;332;p21"/>
          <p:cNvSpPr/>
          <p:nvPr/>
        </p:nvSpPr>
        <p:spPr>
          <a:xfrm>
            <a:off x="2592324" y="1954530"/>
            <a:ext cx="1522500" cy="397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200"/>
              <a:buFont typeface="Cambria"/>
              <a:buNone/>
            </a:pPr>
            <a:r>
              <a:rPr b="1" i="0" lang="en" sz="1200" u="none" cap="none" strike="noStrike">
                <a:solidFill>
                  <a:srgbClr val="FFFFFF"/>
                </a:solidFill>
                <a:latin typeface="Cambria"/>
                <a:ea typeface="Cambria"/>
                <a:cs typeface="Cambria"/>
                <a:sym typeface="Cambria"/>
              </a:rPr>
              <a:t>C2 — Segment 2</a:t>
            </a:r>
            <a:endParaRPr b="0" i="0" sz="1200" u="none" cap="none" strike="noStrike">
              <a:solidFill>
                <a:schemeClr val="dk1"/>
              </a:solidFill>
              <a:latin typeface="Calibri"/>
              <a:ea typeface="Calibri"/>
              <a:cs typeface="Calibri"/>
              <a:sym typeface="Calibri"/>
            </a:endParaRPr>
          </a:p>
        </p:txBody>
      </p:sp>
      <p:sp>
        <p:nvSpPr>
          <p:cNvPr id="333" name="Google Shape;333;p21"/>
          <p:cNvSpPr/>
          <p:nvPr/>
        </p:nvSpPr>
        <p:spPr>
          <a:xfrm>
            <a:off x="2592324" y="2420874"/>
            <a:ext cx="1522500" cy="219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900"/>
              <a:buFont typeface="Calibri"/>
              <a:buNone/>
            </a:pPr>
            <a:r>
              <a:rPr b="0" i="0" lang="en" sz="900" u="none" cap="none" strike="noStrike">
                <a:solidFill>
                  <a:srgbClr val="8195A5"/>
                </a:solidFill>
                <a:latin typeface="Calibri"/>
                <a:ea typeface="Calibri"/>
                <a:cs typeface="Calibri"/>
                <a:sym typeface="Calibri"/>
              </a:rPr>
              <a:t>256 centres  ·  ids 0–255</a:t>
            </a:r>
            <a:endParaRPr b="0" i="0" sz="900" u="none" cap="none" strike="noStrike">
              <a:solidFill>
                <a:schemeClr val="dk1"/>
              </a:solidFill>
              <a:latin typeface="Calibri"/>
              <a:ea typeface="Calibri"/>
              <a:cs typeface="Calibri"/>
              <a:sym typeface="Calibri"/>
            </a:endParaRPr>
          </a:p>
        </p:txBody>
      </p:sp>
      <p:sp>
        <p:nvSpPr>
          <p:cNvPr id="334" name="Google Shape;334;p21"/>
          <p:cNvSpPr/>
          <p:nvPr/>
        </p:nvSpPr>
        <p:spPr>
          <a:xfrm>
            <a:off x="2633472" y="2722626"/>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ourier New"/>
              <a:buNone/>
            </a:pPr>
            <a:r>
              <a:rPr b="1" i="0" lang="en" sz="1000" u="none" cap="none" strike="noStrike">
                <a:solidFill>
                  <a:srgbClr val="C0392B"/>
                </a:solidFill>
                <a:latin typeface="Courier New"/>
                <a:ea typeface="Courier New"/>
                <a:cs typeface="Courier New"/>
                <a:sym typeface="Courier New"/>
              </a:rPr>
              <a:t>c2,0</a:t>
            </a:r>
            <a:r>
              <a:rPr b="0" i="0" lang="en" sz="1000" u="none" cap="none" strike="noStrike">
                <a:solidFill>
                  <a:srgbClr val="44586A"/>
                </a:solidFill>
                <a:latin typeface="Courier New"/>
                <a:ea typeface="Courier New"/>
                <a:cs typeface="Courier New"/>
                <a:sym typeface="Courier New"/>
              </a:rPr>
              <a:t>    id 0</a:t>
            </a:r>
            <a:endParaRPr b="0" i="0" sz="1000" u="none" cap="none" strike="noStrike">
              <a:solidFill>
                <a:schemeClr val="dk1"/>
              </a:solidFill>
              <a:latin typeface="Calibri"/>
              <a:ea typeface="Calibri"/>
              <a:cs typeface="Calibri"/>
              <a:sym typeface="Calibri"/>
            </a:endParaRPr>
          </a:p>
        </p:txBody>
      </p:sp>
      <p:sp>
        <p:nvSpPr>
          <p:cNvPr id="335" name="Google Shape;335;p21"/>
          <p:cNvSpPr/>
          <p:nvPr/>
        </p:nvSpPr>
        <p:spPr>
          <a:xfrm>
            <a:off x="2633472" y="3038094"/>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ourier New"/>
              <a:buNone/>
            </a:pPr>
            <a:r>
              <a:rPr b="1" i="0" lang="en" sz="1000" u="none" cap="none" strike="noStrike">
                <a:solidFill>
                  <a:srgbClr val="C0392B"/>
                </a:solidFill>
                <a:latin typeface="Courier New"/>
                <a:ea typeface="Courier New"/>
                <a:cs typeface="Courier New"/>
                <a:sym typeface="Courier New"/>
              </a:rPr>
              <a:t>c2,1</a:t>
            </a:r>
            <a:r>
              <a:rPr b="0" i="0" lang="en" sz="1000" u="none" cap="none" strike="noStrike">
                <a:solidFill>
                  <a:srgbClr val="44586A"/>
                </a:solidFill>
                <a:latin typeface="Courier New"/>
                <a:ea typeface="Courier New"/>
                <a:cs typeface="Courier New"/>
                <a:sym typeface="Courier New"/>
              </a:rPr>
              <a:t>    id 1</a:t>
            </a:r>
            <a:endParaRPr b="0" i="0" sz="1000" u="none" cap="none" strike="noStrike">
              <a:solidFill>
                <a:schemeClr val="dk1"/>
              </a:solidFill>
              <a:latin typeface="Calibri"/>
              <a:ea typeface="Calibri"/>
              <a:cs typeface="Calibri"/>
              <a:sym typeface="Calibri"/>
            </a:endParaRPr>
          </a:p>
        </p:txBody>
      </p:sp>
      <p:sp>
        <p:nvSpPr>
          <p:cNvPr id="336" name="Google Shape;336;p21"/>
          <p:cNvSpPr/>
          <p:nvPr/>
        </p:nvSpPr>
        <p:spPr>
          <a:xfrm>
            <a:off x="2619756" y="3353562"/>
            <a:ext cx="1454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1100"/>
              <a:buFont typeface="Calibri"/>
              <a:buNone/>
            </a:pPr>
            <a:r>
              <a:rPr b="1" i="0" lang="en" sz="1100" u="none" cap="none" strike="noStrike">
                <a:solidFill>
                  <a:srgbClr val="8195A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337" name="Google Shape;337;p21"/>
          <p:cNvSpPr/>
          <p:nvPr/>
        </p:nvSpPr>
        <p:spPr>
          <a:xfrm>
            <a:off x="2633472" y="3669030"/>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ourier New"/>
              <a:buNone/>
            </a:pPr>
            <a:r>
              <a:rPr b="1" i="0" lang="en" sz="1000" u="none" cap="none" strike="noStrike">
                <a:solidFill>
                  <a:srgbClr val="C0392B"/>
                </a:solidFill>
                <a:latin typeface="Courier New"/>
                <a:ea typeface="Courier New"/>
                <a:cs typeface="Courier New"/>
                <a:sym typeface="Courier New"/>
              </a:rPr>
              <a:t>c2,255</a:t>
            </a:r>
            <a:r>
              <a:rPr b="0" i="0" lang="en" sz="1000" u="none" cap="none" strike="noStrike">
                <a:solidFill>
                  <a:srgbClr val="44586A"/>
                </a:solidFill>
                <a:latin typeface="Courier New"/>
                <a:ea typeface="Courier New"/>
                <a:cs typeface="Courier New"/>
                <a:sym typeface="Courier New"/>
              </a:rPr>
              <a:t>    id 255</a:t>
            </a:r>
            <a:endParaRPr b="0" i="0" sz="1000" u="none" cap="none" strike="noStrike">
              <a:solidFill>
                <a:schemeClr val="dk1"/>
              </a:solidFill>
              <a:latin typeface="Calibri"/>
              <a:ea typeface="Calibri"/>
              <a:cs typeface="Calibri"/>
              <a:sym typeface="Calibri"/>
            </a:endParaRPr>
          </a:p>
        </p:txBody>
      </p:sp>
      <p:sp>
        <p:nvSpPr>
          <p:cNvPr id="338" name="Google Shape;338;p21"/>
          <p:cNvSpPr/>
          <p:nvPr/>
        </p:nvSpPr>
        <p:spPr>
          <a:xfrm>
            <a:off x="4416552" y="1954530"/>
            <a:ext cx="1865400" cy="2091600"/>
          </a:xfrm>
          <a:prstGeom prst="roundRect">
            <a:avLst>
              <a:gd fmla="val 3676" name="adj"/>
            </a:avLst>
          </a:prstGeom>
          <a:solidFill>
            <a:srgbClr val="F4F8FB"/>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9" name="Google Shape;339;p21"/>
          <p:cNvSpPr/>
          <p:nvPr/>
        </p:nvSpPr>
        <p:spPr>
          <a:xfrm>
            <a:off x="4416552" y="1954530"/>
            <a:ext cx="1865400" cy="397800"/>
          </a:xfrm>
          <a:prstGeom prst="roundRect">
            <a:avLst>
              <a:gd fmla="val 17241" name="adj"/>
            </a:avLst>
          </a:prstGeom>
          <a:solidFill>
            <a:srgbClr val="2E8B5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0" name="Google Shape;340;p21"/>
          <p:cNvSpPr/>
          <p:nvPr/>
        </p:nvSpPr>
        <p:spPr>
          <a:xfrm>
            <a:off x="4416552" y="2201418"/>
            <a:ext cx="1865400" cy="150900"/>
          </a:xfrm>
          <a:prstGeom prst="rect">
            <a:avLst/>
          </a:prstGeom>
          <a:solidFill>
            <a:srgbClr val="2E8B5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1" name="Google Shape;341;p21"/>
          <p:cNvSpPr/>
          <p:nvPr/>
        </p:nvSpPr>
        <p:spPr>
          <a:xfrm>
            <a:off x="4594860" y="1954530"/>
            <a:ext cx="1522500" cy="397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200"/>
              <a:buFont typeface="Cambria"/>
              <a:buNone/>
            </a:pPr>
            <a:r>
              <a:rPr b="1" i="0" lang="en" sz="1200" u="none" cap="none" strike="noStrike">
                <a:solidFill>
                  <a:srgbClr val="FFFFFF"/>
                </a:solidFill>
                <a:latin typeface="Cambria"/>
                <a:ea typeface="Cambria"/>
                <a:cs typeface="Cambria"/>
                <a:sym typeface="Cambria"/>
              </a:rPr>
              <a:t>C3 — Segment 3</a:t>
            </a:r>
            <a:endParaRPr b="0" i="0" sz="1200" u="none" cap="none" strike="noStrike">
              <a:solidFill>
                <a:schemeClr val="dk1"/>
              </a:solidFill>
              <a:latin typeface="Calibri"/>
              <a:ea typeface="Calibri"/>
              <a:cs typeface="Calibri"/>
              <a:sym typeface="Calibri"/>
            </a:endParaRPr>
          </a:p>
        </p:txBody>
      </p:sp>
      <p:sp>
        <p:nvSpPr>
          <p:cNvPr id="342" name="Google Shape;342;p21"/>
          <p:cNvSpPr/>
          <p:nvPr/>
        </p:nvSpPr>
        <p:spPr>
          <a:xfrm>
            <a:off x="4594860" y="2420874"/>
            <a:ext cx="1522500" cy="219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900"/>
              <a:buFont typeface="Calibri"/>
              <a:buNone/>
            </a:pPr>
            <a:r>
              <a:rPr b="0" i="0" lang="en" sz="900" u="none" cap="none" strike="noStrike">
                <a:solidFill>
                  <a:srgbClr val="8195A5"/>
                </a:solidFill>
                <a:latin typeface="Calibri"/>
                <a:ea typeface="Calibri"/>
                <a:cs typeface="Calibri"/>
                <a:sym typeface="Calibri"/>
              </a:rPr>
              <a:t>256 centres  ·  ids 0–255</a:t>
            </a:r>
            <a:endParaRPr b="0" i="0" sz="900" u="none" cap="none" strike="noStrike">
              <a:solidFill>
                <a:schemeClr val="dk1"/>
              </a:solidFill>
              <a:latin typeface="Calibri"/>
              <a:ea typeface="Calibri"/>
              <a:cs typeface="Calibri"/>
              <a:sym typeface="Calibri"/>
            </a:endParaRPr>
          </a:p>
        </p:txBody>
      </p:sp>
      <p:sp>
        <p:nvSpPr>
          <p:cNvPr id="343" name="Google Shape;343;p21"/>
          <p:cNvSpPr/>
          <p:nvPr/>
        </p:nvSpPr>
        <p:spPr>
          <a:xfrm>
            <a:off x="4636008" y="2722626"/>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1000"/>
              <a:buFont typeface="Courier New"/>
              <a:buNone/>
            </a:pPr>
            <a:r>
              <a:rPr b="1" i="0" lang="en" sz="1000" u="none" cap="none" strike="noStrike">
                <a:solidFill>
                  <a:srgbClr val="2E8B57"/>
                </a:solidFill>
                <a:latin typeface="Courier New"/>
                <a:ea typeface="Courier New"/>
                <a:cs typeface="Courier New"/>
                <a:sym typeface="Courier New"/>
              </a:rPr>
              <a:t>c3,0</a:t>
            </a:r>
            <a:r>
              <a:rPr b="0" i="0" lang="en" sz="1000" u="none" cap="none" strike="noStrike">
                <a:solidFill>
                  <a:srgbClr val="44586A"/>
                </a:solidFill>
                <a:latin typeface="Courier New"/>
                <a:ea typeface="Courier New"/>
                <a:cs typeface="Courier New"/>
                <a:sym typeface="Courier New"/>
              </a:rPr>
              <a:t>    id 0</a:t>
            </a:r>
            <a:endParaRPr b="0" i="0" sz="1000" u="none" cap="none" strike="noStrike">
              <a:solidFill>
                <a:schemeClr val="dk1"/>
              </a:solidFill>
              <a:latin typeface="Calibri"/>
              <a:ea typeface="Calibri"/>
              <a:cs typeface="Calibri"/>
              <a:sym typeface="Calibri"/>
            </a:endParaRPr>
          </a:p>
        </p:txBody>
      </p:sp>
      <p:sp>
        <p:nvSpPr>
          <p:cNvPr id="344" name="Google Shape;344;p21"/>
          <p:cNvSpPr/>
          <p:nvPr/>
        </p:nvSpPr>
        <p:spPr>
          <a:xfrm>
            <a:off x="4636008" y="3038094"/>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1000"/>
              <a:buFont typeface="Courier New"/>
              <a:buNone/>
            </a:pPr>
            <a:r>
              <a:rPr b="1" i="0" lang="en" sz="1000" u="none" cap="none" strike="noStrike">
                <a:solidFill>
                  <a:srgbClr val="2E8B57"/>
                </a:solidFill>
                <a:latin typeface="Courier New"/>
                <a:ea typeface="Courier New"/>
                <a:cs typeface="Courier New"/>
                <a:sym typeface="Courier New"/>
              </a:rPr>
              <a:t>c3,1</a:t>
            </a:r>
            <a:r>
              <a:rPr b="0" i="0" lang="en" sz="1000" u="none" cap="none" strike="noStrike">
                <a:solidFill>
                  <a:srgbClr val="44586A"/>
                </a:solidFill>
                <a:latin typeface="Courier New"/>
                <a:ea typeface="Courier New"/>
                <a:cs typeface="Courier New"/>
                <a:sym typeface="Courier New"/>
              </a:rPr>
              <a:t>    id 1</a:t>
            </a:r>
            <a:endParaRPr b="0" i="0" sz="1000" u="none" cap="none" strike="noStrike">
              <a:solidFill>
                <a:schemeClr val="dk1"/>
              </a:solidFill>
              <a:latin typeface="Calibri"/>
              <a:ea typeface="Calibri"/>
              <a:cs typeface="Calibri"/>
              <a:sym typeface="Calibri"/>
            </a:endParaRPr>
          </a:p>
        </p:txBody>
      </p:sp>
      <p:sp>
        <p:nvSpPr>
          <p:cNvPr id="345" name="Google Shape;345;p21"/>
          <p:cNvSpPr/>
          <p:nvPr/>
        </p:nvSpPr>
        <p:spPr>
          <a:xfrm>
            <a:off x="4622292" y="3353562"/>
            <a:ext cx="1454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1100"/>
              <a:buFont typeface="Calibri"/>
              <a:buNone/>
            </a:pPr>
            <a:r>
              <a:rPr b="1" i="0" lang="en" sz="1100" u="none" cap="none" strike="noStrike">
                <a:solidFill>
                  <a:srgbClr val="8195A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346" name="Google Shape;346;p21"/>
          <p:cNvSpPr/>
          <p:nvPr/>
        </p:nvSpPr>
        <p:spPr>
          <a:xfrm>
            <a:off x="4636008" y="3669030"/>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1000"/>
              <a:buFont typeface="Courier New"/>
              <a:buNone/>
            </a:pPr>
            <a:r>
              <a:rPr b="1" i="0" lang="en" sz="1000" u="none" cap="none" strike="noStrike">
                <a:solidFill>
                  <a:srgbClr val="2E8B57"/>
                </a:solidFill>
                <a:latin typeface="Courier New"/>
                <a:ea typeface="Courier New"/>
                <a:cs typeface="Courier New"/>
                <a:sym typeface="Courier New"/>
              </a:rPr>
              <a:t>c3,255</a:t>
            </a:r>
            <a:r>
              <a:rPr b="0" i="0" lang="en" sz="1000" u="none" cap="none" strike="noStrike">
                <a:solidFill>
                  <a:srgbClr val="44586A"/>
                </a:solidFill>
                <a:latin typeface="Courier New"/>
                <a:ea typeface="Courier New"/>
                <a:cs typeface="Courier New"/>
                <a:sym typeface="Courier New"/>
              </a:rPr>
              <a:t>    id 255</a:t>
            </a:r>
            <a:endParaRPr b="0" i="0" sz="1000" u="none" cap="none" strike="noStrike">
              <a:solidFill>
                <a:schemeClr val="dk1"/>
              </a:solidFill>
              <a:latin typeface="Calibri"/>
              <a:ea typeface="Calibri"/>
              <a:cs typeface="Calibri"/>
              <a:sym typeface="Calibri"/>
            </a:endParaRPr>
          </a:p>
        </p:txBody>
      </p:sp>
      <p:sp>
        <p:nvSpPr>
          <p:cNvPr id="347" name="Google Shape;347;p21"/>
          <p:cNvSpPr/>
          <p:nvPr/>
        </p:nvSpPr>
        <p:spPr>
          <a:xfrm>
            <a:off x="6796278" y="1954530"/>
            <a:ext cx="1865400" cy="2091600"/>
          </a:xfrm>
          <a:prstGeom prst="roundRect">
            <a:avLst>
              <a:gd fmla="val 3676" name="adj"/>
            </a:avLst>
          </a:prstGeom>
          <a:solidFill>
            <a:srgbClr val="F4F8FB"/>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8" name="Google Shape;348;p21"/>
          <p:cNvSpPr/>
          <p:nvPr/>
        </p:nvSpPr>
        <p:spPr>
          <a:xfrm>
            <a:off x="6796278" y="1954530"/>
            <a:ext cx="1865400" cy="397800"/>
          </a:xfrm>
          <a:prstGeom prst="roundRect">
            <a:avLst>
              <a:gd fmla="val 17241" name="adj"/>
            </a:avLst>
          </a:prstGeom>
          <a:solidFill>
            <a:srgbClr val="6B4E9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9" name="Google Shape;349;p21"/>
          <p:cNvSpPr/>
          <p:nvPr/>
        </p:nvSpPr>
        <p:spPr>
          <a:xfrm>
            <a:off x="6796278" y="2201418"/>
            <a:ext cx="1865400" cy="150900"/>
          </a:xfrm>
          <a:prstGeom prst="rect">
            <a:avLst/>
          </a:prstGeom>
          <a:solidFill>
            <a:srgbClr val="6B4E9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0" name="Google Shape;350;p21"/>
          <p:cNvSpPr/>
          <p:nvPr/>
        </p:nvSpPr>
        <p:spPr>
          <a:xfrm>
            <a:off x="6974586" y="1954530"/>
            <a:ext cx="1522500" cy="397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200"/>
              <a:buFont typeface="Cambria"/>
              <a:buNone/>
            </a:pPr>
            <a:r>
              <a:rPr b="1" i="0" lang="en" sz="1200" u="none" cap="none" strike="noStrike">
                <a:solidFill>
                  <a:srgbClr val="FFFFFF"/>
                </a:solidFill>
                <a:latin typeface="Cambria"/>
                <a:ea typeface="Cambria"/>
                <a:cs typeface="Cambria"/>
                <a:sym typeface="Cambria"/>
              </a:rPr>
              <a:t>C8 — Segment 8</a:t>
            </a:r>
            <a:endParaRPr b="0" i="0" sz="1200" u="none" cap="none" strike="noStrike">
              <a:solidFill>
                <a:schemeClr val="dk1"/>
              </a:solidFill>
              <a:latin typeface="Calibri"/>
              <a:ea typeface="Calibri"/>
              <a:cs typeface="Calibri"/>
              <a:sym typeface="Calibri"/>
            </a:endParaRPr>
          </a:p>
        </p:txBody>
      </p:sp>
      <p:sp>
        <p:nvSpPr>
          <p:cNvPr id="351" name="Google Shape;351;p21"/>
          <p:cNvSpPr/>
          <p:nvPr/>
        </p:nvSpPr>
        <p:spPr>
          <a:xfrm>
            <a:off x="6974586" y="2420874"/>
            <a:ext cx="1522500" cy="219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900"/>
              <a:buFont typeface="Calibri"/>
              <a:buNone/>
            </a:pPr>
            <a:r>
              <a:rPr b="0" i="0" lang="en" sz="900" u="none" cap="none" strike="noStrike">
                <a:solidFill>
                  <a:srgbClr val="8195A5"/>
                </a:solidFill>
                <a:latin typeface="Calibri"/>
                <a:ea typeface="Calibri"/>
                <a:cs typeface="Calibri"/>
                <a:sym typeface="Calibri"/>
              </a:rPr>
              <a:t>256 centres  ·  ids 0–255</a:t>
            </a:r>
            <a:endParaRPr b="0" i="0" sz="900" u="none" cap="none" strike="noStrike">
              <a:solidFill>
                <a:schemeClr val="dk1"/>
              </a:solidFill>
              <a:latin typeface="Calibri"/>
              <a:ea typeface="Calibri"/>
              <a:cs typeface="Calibri"/>
              <a:sym typeface="Calibri"/>
            </a:endParaRPr>
          </a:p>
        </p:txBody>
      </p:sp>
      <p:sp>
        <p:nvSpPr>
          <p:cNvPr id="352" name="Google Shape;352;p21"/>
          <p:cNvSpPr/>
          <p:nvPr/>
        </p:nvSpPr>
        <p:spPr>
          <a:xfrm>
            <a:off x="7015734" y="2722626"/>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E9E"/>
              </a:buClr>
              <a:buSzPts val="1000"/>
              <a:buFont typeface="Courier New"/>
              <a:buNone/>
            </a:pPr>
            <a:r>
              <a:rPr b="1" i="0" lang="en" sz="1000" u="none" cap="none" strike="noStrike">
                <a:solidFill>
                  <a:srgbClr val="6B4E9E"/>
                </a:solidFill>
                <a:latin typeface="Courier New"/>
                <a:ea typeface="Courier New"/>
                <a:cs typeface="Courier New"/>
                <a:sym typeface="Courier New"/>
              </a:rPr>
              <a:t>c8,0</a:t>
            </a:r>
            <a:r>
              <a:rPr b="0" i="0" lang="en" sz="1000" u="none" cap="none" strike="noStrike">
                <a:solidFill>
                  <a:srgbClr val="44586A"/>
                </a:solidFill>
                <a:latin typeface="Courier New"/>
                <a:ea typeface="Courier New"/>
                <a:cs typeface="Courier New"/>
                <a:sym typeface="Courier New"/>
              </a:rPr>
              <a:t>    id 0</a:t>
            </a:r>
            <a:endParaRPr b="0" i="0" sz="1000" u="none" cap="none" strike="noStrike">
              <a:solidFill>
                <a:schemeClr val="dk1"/>
              </a:solidFill>
              <a:latin typeface="Calibri"/>
              <a:ea typeface="Calibri"/>
              <a:cs typeface="Calibri"/>
              <a:sym typeface="Calibri"/>
            </a:endParaRPr>
          </a:p>
        </p:txBody>
      </p:sp>
      <p:sp>
        <p:nvSpPr>
          <p:cNvPr id="353" name="Google Shape;353;p21"/>
          <p:cNvSpPr/>
          <p:nvPr/>
        </p:nvSpPr>
        <p:spPr>
          <a:xfrm>
            <a:off x="7015734" y="3038094"/>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E9E"/>
              </a:buClr>
              <a:buSzPts val="1000"/>
              <a:buFont typeface="Courier New"/>
              <a:buNone/>
            </a:pPr>
            <a:r>
              <a:rPr b="1" i="0" lang="en" sz="1000" u="none" cap="none" strike="noStrike">
                <a:solidFill>
                  <a:srgbClr val="6B4E9E"/>
                </a:solidFill>
                <a:latin typeface="Courier New"/>
                <a:ea typeface="Courier New"/>
                <a:cs typeface="Courier New"/>
                <a:sym typeface="Courier New"/>
              </a:rPr>
              <a:t>c8,1</a:t>
            </a:r>
            <a:r>
              <a:rPr b="0" i="0" lang="en" sz="1000" u="none" cap="none" strike="noStrike">
                <a:solidFill>
                  <a:srgbClr val="44586A"/>
                </a:solidFill>
                <a:latin typeface="Courier New"/>
                <a:ea typeface="Courier New"/>
                <a:cs typeface="Courier New"/>
                <a:sym typeface="Courier New"/>
              </a:rPr>
              <a:t>    id 1</a:t>
            </a:r>
            <a:endParaRPr b="0" i="0" sz="1000" u="none" cap="none" strike="noStrike">
              <a:solidFill>
                <a:schemeClr val="dk1"/>
              </a:solidFill>
              <a:latin typeface="Calibri"/>
              <a:ea typeface="Calibri"/>
              <a:cs typeface="Calibri"/>
              <a:sym typeface="Calibri"/>
            </a:endParaRPr>
          </a:p>
        </p:txBody>
      </p:sp>
      <p:sp>
        <p:nvSpPr>
          <p:cNvPr id="354" name="Google Shape;354;p21"/>
          <p:cNvSpPr/>
          <p:nvPr/>
        </p:nvSpPr>
        <p:spPr>
          <a:xfrm>
            <a:off x="7002018" y="3353562"/>
            <a:ext cx="14541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1100"/>
              <a:buFont typeface="Calibri"/>
              <a:buNone/>
            </a:pPr>
            <a:r>
              <a:rPr b="1" i="0" lang="en" sz="1100" u="none" cap="none" strike="noStrike">
                <a:solidFill>
                  <a:srgbClr val="8195A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355" name="Google Shape;355;p21"/>
          <p:cNvSpPr/>
          <p:nvPr/>
        </p:nvSpPr>
        <p:spPr>
          <a:xfrm>
            <a:off x="7015734" y="3669030"/>
            <a:ext cx="1454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E9E"/>
              </a:buClr>
              <a:buSzPts val="1000"/>
              <a:buFont typeface="Courier New"/>
              <a:buNone/>
            </a:pPr>
            <a:r>
              <a:rPr b="1" i="0" lang="en" sz="1000" u="none" cap="none" strike="noStrike">
                <a:solidFill>
                  <a:srgbClr val="6B4E9E"/>
                </a:solidFill>
                <a:latin typeface="Courier New"/>
                <a:ea typeface="Courier New"/>
                <a:cs typeface="Courier New"/>
                <a:sym typeface="Courier New"/>
              </a:rPr>
              <a:t>c8,255</a:t>
            </a:r>
            <a:r>
              <a:rPr b="0" i="0" lang="en" sz="1000" u="none" cap="none" strike="noStrike">
                <a:solidFill>
                  <a:srgbClr val="44586A"/>
                </a:solidFill>
                <a:latin typeface="Courier New"/>
                <a:ea typeface="Courier New"/>
                <a:cs typeface="Courier New"/>
                <a:sym typeface="Courier New"/>
              </a:rPr>
              <a:t>    id 255</a:t>
            </a:r>
            <a:endParaRPr b="0" i="0" sz="1000" u="none" cap="none" strike="noStrike">
              <a:solidFill>
                <a:schemeClr val="dk1"/>
              </a:solidFill>
              <a:latin typeface="Calibri"/>
              <a:ea typeface="Calibri"/>
              <a:cs typeface="Calibri"/>
              <a:sym typeface="Calibri"/>
            </a:endParaRPr>
          </a:p>
        </p:txBody>
      </p:sp>
      <p:sp>
        <p:nvSpPr>
          <p:cNvPr id="356" name="Google Shape;356;p21"/>
          <p:cNvSpPr/>
          <p:nvPr/>
        </p:nvSpPr>
        <p:spPr>
          <a:xfrm>
            <a:off x="6281928" y="2760345"/>
            <a:ext cx="51450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2000"/>
              <a:buFont typeface="Calibri"/>
              <a:buNone/>
            </a:pPr>
            <a:r>
              <a:rPr b="1" i="0" lang="en" sz="2000" u="none" cap="none" strike="noStrike">
                <a:solidFill>
                  <a:srgbClr val="8195A5"/>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357" name="Google Shape;357;p21"/>
          <p:cNvSpPr/>
          <p:nvPr/>
        </p:nvSpPr>
        <p:spPr>
          <a:xfrm>
            <a:off x="411480" y="4197096"/>
            <a:ext cx="8318700" cy="425100"/>
          </a:xfrm>
          <a:prstGeom prst="roundRect">
            <a:avLst>
              <a:gd fmla="val 12903" name="adj"/>
            </a:avLst>
          </a:prstGeom>
          <a:solidFill>
            <a:srgbClr val="E7EF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8" name="Google Shape;358;p21"/>
          <p:cNvSpPr/>
          <p:nvPr/>
        </p:nvSpPr>
        <p:spPr>
          <a:xfrm>
            <a:off x="617220" y="4197096"/>
            <a:ext cx="7886700" cy="425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6FB0"/>
              </a:buClr>
              <a:buSzPts val="1100"/>
              <a:buFont typeface="Calibri"/>
              <a:buNone/>
            </a:pPr>
            <a:r>
              <a:rPr b="1" i="0" lang="en" sz="1100" u="none" cap="none" strike="noStrike">
                <a:solidFill>
                  <a:srgbClr val="2E6FB0"/>
                </a:solidFill>
                <a:latin typeface="Calibri"/>
                <a:ea typeface="Calibri"/>
                <a:cs typeface="Calibri"/>
                <a:sym typeface="Calibri"/>
              </a:rPr>
              <a:t>Why 256?  </a:t>
            </a:r>
            <a:r>
              <a:rPr b="0" i="0" lang="en" sz="1100" u="none" cap="none" strike="noStrike">
                <a:solidFill>
                  <a:srgbClr val="44586A"/>
                </a:solidFill>
                <a:latin typeface="Calibri"/>
                <a:ea typeface="Calibri"/>
                <a:cs typeface="Calibri"/>
                <a:sym typeface="Calibri"/>
              </a:rPr>
              <a:t>an id in 0–255 fits in exactly one byte — so each segment costs 1 byte, and a whole vector costs just 8.</a:t>
            </a:r>
            <a:endParaRPr b="0" i="0" sz="1100" u="none" cap="none" strike="noStrike">
              <a:solidFill>
                <a:schemeClr val="dk1"/>
              </a:solidFill>
              <a:latin typeface="Calibri"/>
              <a:ea typeface="Calibri"/>
              <a:cs typeface="Calibri"/>
              <a:sym typeface="Calibri"/>
            </a:endParaRPr>
          </a:p>
        </p:txBody>
      </p:sp>
      <p:sp>
        <p:nvSpPr>
          <p:cNvPr id="359" name="Google Shape;359;p21"/>
          <p:cNvSpPr/>
          <p:nvPr/>
        </p:nvSpPr>
        <p:spPr>
          <a:xfrm>
            <a:off x="342900" y="4814316"/>
            <a:ext cx="48006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Product Quantization  ·  at scale</a:t>
            </a:r>
            <a:endParaRPr b="0" i="0" sz="700" u="none" cap="none" strike="noStrike">
              <a:solidFill>
                <a:schemeClr val="dk1"/>
              </a:solidFill>
              <a:latin typeface="Calibri"/>
              <a:ea typeface="Calibri"/>
              <a:cs typeface="Calibri"/>
              <a:sym typeface="Calibri"/>
            </a:endParaRPr>
          </a:p>
        </p:txBody>
      </p:sp>
      <p:sp>
        <p:nvSpPr>
          <p:cNvPr id="360" name="Google Shape;360;p21"/>
          <p:cNvSpPr/>
          <p:nvPr/>
        </p:nvSpPr>
        <p:spPr>
          <a:xfrm>
            <a:off x="8572500" y="4814316"/>
            <a:ext cx="2742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22"/>
          <p:cNvSpPr/>
          <p:nvPr/>
        </p:nvSpPr>
        <p:spPr>
          <a:xfrm>
            <a:off x="411480" y="288036"/>
            <a:ext cx="7543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55C7D"/>
              </a:buClr>
              <a:buSzPts val="900"/>
              <a:buFont typeface="Calibri"/>
              <a:buNone/>
            </a:pPr>
            <a:r>
              <a:rPr b="1" i="0" lang="en" sz="900" u="none" cap="none" strike="noStrike">
                <a:solidFill>
                  <a:srgbClr val="355C7D"/>
                </a:solidFill>
                <a:latin typeface="Calibri"/>
                <a:ea typeface="Calibri"/>
                <a:cs typeface="Calibri"/>
                <a:sym typeface="Calibri"/>
              </a:rPr>
              <a:t>STEP 3 OF 3</a:t>
            </a:r>
            <a:endParaRPr b="0" i="0" sz="900" u="none" cap="none" strike="noStrike">
              <a:solidFill>
                <a:schemeClr val="dk1"/>
              </a:solidFill>
              <a:latin typeface="Calibri"/>
              <a:ea typeface="Calibri"/>
              <a:cs typeface="Calibri"/>
              <a:sym typeface="Calibri"/>
            </a:endParaRPr>
          </a:p>
        </p:txBody>
      </p:sp>
      <p:sp>
        <p:nvSpPr>
          <p:cNvPr id="367" name="Google Shape;367;p22"/>
          <p:cNvSpPr/>
          <p:nvPr/>
        </p:nvSpPr>
        <p:spPr>
          <a:xfrm>
            <a:off x="397764" y="480060"/>
            <a:ext cx="83670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2300"/>
              <a:buFont typeface="Cambria"/>
              <a:buNone/>
            </a:pPr>
            <a:r>
              <a:rPr b="1" i="0" lang="en" sz="2300" u="none" cap="none" strike="noStrike">
                <a:solidFill>
                  <a:srgbClr val="13203A"/>
                </a:solidFill>
                <a:latin typeface="Cambria"/>
                <a:ea typeface="Cambria"/>
                <a:cs typeface="Cambria"/>
                <a:sym typeface="Cambria"/>
              </a:rPr>
              <a:t>Encode: each vector becomes 8 cluster IDs</a:t>
            </a:r>
            <a:endParaRPr b="0" i="0" sz="2300" u="none" cap="none" strike="noStrike">
              <a:solidFill>
                <a:schemeClr val="dk1"/>
              </a:solidFill>
              <a:latin typeface="Calibri"/>
              <a:ea typeface="Calibri"/>
              <a:cs typeface="Calibri"/>
              <a:sym typeface="Calibri"/>
            </a:endParaRPr>
          </a:p>
        </p:txBody>
      </p:sp>
      <p:sp>
        <p:nvSpPr>
          <p:cNvPr id="368" name="Google Shape;368;p22"/>
          <p:cNvSpPr/>
          <p:nvPr/>
        </p:nvSpPr>
        <p:spPr>
          <a:xfrm>
            <a:off x="411480" y="1179576"/>
            <a:ext cx="82296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Find the nearest centre in every segment and keep its id. The saved table is the compressed database — columns and rows abbreviated with …</a:t>
            </a:r>
            <a:endParaRPr b="0" i="0" sz="1200" u="none" cap="none" strike="noStrike">
              <a:solidFill>
                <a:schemeClr val="dk1"/>
              </a:solidFill>
              <a:latin typeface="Calibri"/>
              <a:ea typeface="Calibri"/>
              <a:cs typeface="Calibri"/>
              <a:sym typeface="Calibri"/>
            </a:endParaRPr>
          </a:p>
        </p:txBody>
      </p:sp>
      <p:sp>
        <p:nvSpPr>
          <p:cNvPr id="369" name="Google Shape;369;p22"/>
          <p:cNvSpPr/>
          <p:nvPr/>
        </p:nvSpPr>
        <p:spPr>
          <a:xfrm>
            <a:off x="411480" y="1748790"/>
            <a:ext cx="925800" cy="356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3203A"/>
              </a:buClr>
              <a:buSzPts val="1000"/>
              <a:buFont typeface="Calibri"/>
              <a:buNone/>
            </a:pPr>
            <a:r>
              <a:rPr b="1" i="0" lang="en" sz="1000" u="none" cap="none" strike="noStrike">
                <a:solidFill>
                  <a:srgbClr val="13203A"/>
                </a:solidFill>
                <a:latin typeface="Calibri"/>
                <a:ea typeface="Calibri"/>
                <a:cs typeface="Calibri"/>
                <a:sym typeface="Calibri"/>
              </a:rPr>
              <a:t>Vector</a:t>
            </a:r>
            <a:endParaRPr b="0" i="0" sz="1000" u="none" cap="none" strike="noStrike">
              <a:solidFill>
                <a:schemeClr val="dk1"/>
              </a:solidFill>
              <a:latin typeface="Calibri"/>
              <a:ea typeface="Calibri"/>
              <a:cs typeface="Calibri"/>
              <a:sym typeface="Calibri"/>
            </a:endParaRPr>
          </a:p>
        </p:txBody>
      </p:sp>
      <p:sp>
        <p:nvSpPr>
          <p:cNvPr id="370" name="Google Shape;370;p22"/>
          <p:cNvSpPr/>
          <p:nvPr/>
        </p:nvSpPr>
        <p:spPr>
          <a:xfrm>
            <a:off x="1426464" y="1748790"/>
            <a:ext cx="973800" cy="356700"/>
          </a:xfrm>
          <a:prstGeom prst="roundRect">
            <a:avLst>
              <a:gd fmla="val 11538" name="adj"/>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1" name="Google Shape;371;p22"/>
          <p:cNvSpPr/>
          <p:nvPr/>
        </p:nvSpPr>
        <p:spPr>
          <a:xfrm>
            <a:off x="1426464" y="1748790"/>
            <a:ext cx="973800" cy="356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Seg 1</a:t>
            </a:r>
            <a:endParaRPr b="0" i="0" sz="1000" u="none" cap="none" strike="noStrike">
              <a:solidFill>
                <a:schemeClr val="dk1"/>
              </a:solidFill>
              <a:latin typeface="Calibri"/>
              <a:ea typeface="Calibri"/>
              <a:cs typeface="Calibri"/>
              <a:sym typeface="Calibri"/>
            </a:endParaRPr>
          </a:p>
        </p:txBody>
      </p:sp>
      <p:sp>
        <p:nvSpPr>
          <p:cNvPr id="372" name="Google Shape;372;p22"/>
          <p:cNvSpPr/>
          <p:nvPr/>
        </p:nvSpPr>
        <p:spPr>
          <a:xfrm>
            <a:off x="2489454" y="1748790"/>
            <a:ext cx="973800" cy="356700"/>
          </a:xfrm>
          <a:prstGeom prst="roundRect">
            <a:avLst>
              <a:gd fmla="val 11538" name="adj"/>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3" name="Google Shape;373;p22"/>
          <p:cNvSpPr/>
          <p:nvPr/>
        </p:nvSpPr>
        <p:spPr>
          <a:xfrm>
            <a:off x="2489454" y="1748790"/>
            <a:ext cx="973800" cy="356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Seg 2</a:t>
            </a:r>
            <a:endParaRPr b="0" i="0" sz="1000" u="none" cap="none" strike="noStrike">
              <a:solidFill>
                <a:schemeClr val="dk1"/>
              </a:solidFill>
              <a:latin typeface="Calibri"/>
              <a:ea typeface="Calibri"/>
              <a:cs typeface="Calibri"/>
              <a:sym typeface="Calibri"/>
            </a:endParaRPr>
          </a:p>
        </p:txBody>
      </p:sp>
      <p:sp>
        <p:nvSpPr>
          <p:cNvPr id="374" name="Google Shape;374;p22"/>
          <p:cNvSpPr/>
          <p:nvPr/>
        </p:nvSpPr>
        <p:spPr>
          <a:xfrm>
            <a:off x="3552444" y="1748790"/>
            <a:ext cx="973800" cy="356700"/>
          </a:xfrm>
          <a:prstGeom prst="roundRect">
            <a:avLst>
              <a:gd fmla="val 11538" name="adj"/>
            </a:avLst>
          </a:prstGeom>
          <a:solidFill>
            <a:srgbClr val="2E8B5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5" name="Google Shape;375;p22"/>
          <p:cNvSpPr/>
          <p:nvPr/>
        </p:nvSpPr>
        <p:spPr>
          <a:xfrm>
            <a:off x="3552444" y="1748790"/>
            <a:ext cx="973800" cy="356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Seg 3</a:t>
            </a:r>
            <a:endParaRPr b="0" i="0" sz="1000" u="none" cap="none" strike="noStrike">
              <a:solidFill>
                <a:schemeClr val="dk1"/>
              </a:solidFill>
              <a:latin typeface="Calibri"/>
              <a:ea typeface="Calibri"/>
              <a:cs typeface="Calibri"/>
              <a:sym typeface="Calibri"/>
            </a:endParaRPr>
          </a:p>
        </p:txBody>
      </p:sp>
      <p:sp>
        <p:nvSpPr>
          <p:cNvPr id="376" name="Google Shape;376;p22"/>
          <p:cNvSpPr/>
          <p:nvPr/>
        </p:nvSpPr>
        <p:spPr>
          <a:xfrm>
            <a:off x="4615434" y="1748790"/>
            <a:ext cx="411600" cy="356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377" name="Google Shape;377;p22"/>
          <p:cNvSpPr/>
          <p:nvPr/>
        </p:nvSpPr>
        <p:spPr>
          <a:xfrm>
            <a:off x="5116068" y="1748790"/>
            <a:ext cx="973800" cy="356700"/>
          </a:xfrm>
          <a:prstGeom prst="roundRect">
            <a:avLst>
              <a:gd fmla="val 11538" name="adj"/>
            </a:avLst>
          </a:prstGeom>
          <a:solidFill>
            <a:srgbClr val="6B4E9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8" name="Google Shape;378;p22"/>
          <p:cNvSpPr/>
          <p:nvPr/>
        </p:nvSpPr>
        <p:spPr>
          <a:xfrm>
            <a:off x="5116068" y="1748790"/>
            <a:ext cx="973800" cy="356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Seg 8</a:t>
            </a:r>
            <a:endParaRPr b="0" i="0" sz="1000" u="none" cap="none" strike="noStrike">
              <a:solidFill>
                <a:schemeClr val="dk1"/>
              </a:solidFill>
              <a:latin typeface="Calibri"/>
              <a:ea typeface="Calibri"/>
              <a:cs typeface="Calibri"/>
              <a:sym typeface="Calibri"/>
            </a:endParaRPr>
          </a:p>
        </p:txBody>
      </p:sp>
      <p:sp>
        <p:nvSpPr>
          <p:cNvPr id="379" name="Google Shape;379;p22"/>
          <p:cNvSpPr/>
          <p:nvPr/>
        </p:nvSpPr>
        <p:spPr>
          <a:xfrm>
            <a:off x="411480" y="2173986"/>
            <a:ext cx="9258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3203A"/>
              </a:buClr>
              <a:buSzPts val="1100"/>
              <a:buFont typeface="Courier New"/>
              <a:buNone/>
            </a:pPr>
            <a:r>
              <a:rPr b="1" i="0" lang="en" sz="1100" u="none" cap="none" strike="noStrike">
                <a:solidFill>
                  <a:srgbClr val="13203A"/>
                </a:solidFill>
                <a:latin typeface="Courier New"/>
                <a:ea typeface="Courier New"/>
                <a:cs typeface="Courier New"/>
                <a:sym typeface="Courier New"/>
              </a:rPr>
              <a:t>d1</a:t>
            </a:r>
            <a:endParaRPr b="0" i="0" sz="1100" u="none" cap="none" strike="noStrike">
              <a:solidFill>
                <a:schemeClr val="dk1"/>
              </a:solidFill>
              <a:latin typeface="Calibri"/>
              <a:ea typeface="Calibri"/>
              <a:cs typeface="Calibri"/>
              <a:sym typeface="Calibri"/>
            </a:endParaRPr>
          </a:p>
        </p:txBody>
      </p:sp>
      <p:sp>
        <p:nvSpPr>
          <p:cNvPr id="380" name="Google Shape;380;p22"/>
          <p:cNvSpPr/>
          <p:nvPr/>
        </p:nvSpPr>
        <p:spPr>
          <a:xfrm>
            <a:off x="1536192" y="2228850"/>
            <a:ext cx="754500" cy="301800"/>
          </a:xfrm>
          <a:prstGeom prst="roundRect">
            <a:avLst>
              <a:gd fmla="val 13636" name="adj"/>
            </a:avLst>
          </a:prstGeom>
          <a:solidFill>
            <a:srgbClr val="E7EFF8"/>
          </a:solidFill>
          <a:ln cap="flat" cmpd="sng" w="16675">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1" name="Google Shape;381;p22"/>
          <p:cNvSpPr/>
          <p:nvPr/>
        </p:nvSpPr>
        <p:spPr>
          <a:xfrm>
            <a:off x="1536192" y="222885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6FB0"/>
              </a:buClr>
              <a:buSzPts val="1100"/>
              <a:buFont typeface="Courier New"/>
              <a:buNone/>
            </a:pPr>
            <a:r>
              <a:rPr b="1" i="0" lang="en" sz="1100" u="none" cap="none" strike="noStrike">
                <a:solidFill>
                  <a:srgbClr val="2E6FB0"/>
                </a:solidFill>
                <a:latin typeface="Courier New"/>
                <a:ea typeface="Courier New"/>
                <a:cs typeface="Courier New"/>
                <a:sym typeface="Courier New"/>
              </a:rPr>
              <a:t>12</a:t>
            </a:r>
            <a:endParaRPr b="0" i="0" sz="1100" u="none" cap="none" strike="noStrike">
              <a:solidFill>
                <a:schemeClr val="dk1"/>
              </a:solidFill>
              <a:latin typeface="Calibri"/>
              <a:ea typeface="Calibri"/>
              <a:cs typeface="Calibri"/>
              <a:sym typeface="Calibri"/>
            </a:endParaRPr>
          </a:p>
        </p:txBody>
      </p:sp>
      <p:sp>
        <p:nvSpPr>
          <p:cNvPr id="382" name="Google Shape;382;p22"/>
          <p:cNvSpPr/>
          <p:nvPr/>
        </p:nvSpPr>
        <p:spPr>
          <a:xfrm>
            <a:off x="2599182" y="2228850"/>
            <a:ext cx="754500" cy="301800"/>
          </a:xfrm>
          <a:prstGeom prst="roundRect">
            <a:avLst>
              <a:gd fmla="val 13636" name="adj"/>
            </a:avLst>
          </a:prstGeom>
          <a:solidFill>
            <a:srgbClr val="FBE7E3"/>
          </a:solidFill>
          <a:ln cap="flat" cmpd="sng" w="16675">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3" name="Google Shape;383;p22"/>
          <p:cNvSpPr/>
          <p:nvPr/>
        </p:nvSpPr>
        <p:spPr>
          <a:xfrm>
            <a:off x="2599182" y="222885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100"/>
              <a:buFont typeface="Courier New"/>
              <a:buNone/>
            </a:pPr>
            <a:r>
              <a:rPr b="1" i="0" lang="en" sz="1100" u="none" cap="none" strike="noStrike">
                <a:solidFill>
                  <a:srgbClr val="C0392B"/>
                </a:solidFill>
                <a:latin typeface="Courier New"/>
                <a:ea typeface="Courier New"/>
                <a:cs typeface="Courier New"/>
                <a:sym typeface="Courier New"/>
              </a:rPr>
              <a:t>5</a:t>
            </a:r>
            <a:endParaRPr b="0" i="0" sz="1100" u="none" cap="none" strike="noStrike">
              <a:solidFill>
                <a:schemeClr val="dk1"/>
              </a:solidFill>
              <a:latin typeface="Calibri"/>
              <a:ea typeface="Calibri"/>
              <a:cs typeface="Calibri"/>
              <a:sym typeface="Calibri"/>
            </a:endParaRPr>
          </a:p>
        </p:txBody>
      </p:sp>
      <p:sp>
        <p:nvSpPr>
          <p:cNvPr id="384" name="Google Shape;384;p22"/>
          <p:cNvSpPr/>
          <p:nvPr/>
        </p:nvSpPr>
        <p:spPr>
          <a:xfrm>
            <a:off x="3662172" y="2228850"/>
            <a:ext cx="754500" cy="301800"/>
          </a:xfrm>
          <a:prstGeom prst="roundRect">
            <a:avLst>
              <a:gd fmla="val 13636" name="adj"/>
            </a:avLst>
          </a:prstGeom>
          <a:solidFill>
            <a:srgbClr val="E2F0E8"/>
          </a:solidFill>
          <a:ln cap="flat" cmpd="sng" w="16675">
            <a:solidFill>
              <a:srgbClr val="2E8B5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p22"/>
          <p:cNvSpPr/>
          <p:nvPr/>
        </p:nvSpPr>
        <p:spPr>
          <a:xfrm>
            <a:off x="3662172" y="222885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8B57"/>
              </a:buClr>
              <a:buSzPts val="1100"/>
              <a:buFont typeface="Courier New"/>
              <a:buNone/>
            </a:pPr>
            <a:r>
              <a:rPr b="1" i="0" lang="en" sz="1100" u="none" cap="none" strike="noStrike">
                <a:solidFill>
                  <a:srgbClr val="2E8B57"/>
                </a:solidFill>
                <a:latin typeface="Courier New"/>
                <a:ea typeface="Courier New"/>
                <a:cs typeface="Courier New"/>
                <a:sym typeface="Courier New"/>
              </a:rPr>
              <a:t>200</a:t>
            </a:r>
            <a:endParaRPr b="0" i="0" sz="1100" u="none" cap="none" strike="noStrike">
              <a:solidFill>
                <a:schemeClr val="dk1"/>
              </a:solidFill>
              <a:latin typeface="Calibri"/>
              <a:ea typeface="Calibri"/>
              <a:cs typeface="Calibri"/>
              <a:sym typeface="Calibri"/>
            </a:endParaRPr>
          </a:p>
        </p:txBody>
      </p:sp>
      <p:sp>
        <p:nvSpPr>
          <p:cNvPr id="386" name="Google Shape;386;p22"/>
          <p:cNvSpPr/>
          <p:nvPr/>
        </p:nvSpPr>
        <p:spPr>
          <a:xfrm>
            <a:off x="4615434" y="2173986"/>
            <a:ext cx="4116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200"/>
              <a:buFont typeface="Calibri"/>
              <a:buNone/>
            </a:pPr>
            <a:r>
              <a:rPr b="1" i="0" lang="en" sz="1200" u="none" cap="none" strike="noStrike">
                <a:solidFill>
                  <a:srgbClr val="8195A5"/>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87" name="Google Shape;387;p22"/>
          <p:cNvSpPr/>
          <p:nvPr/>
        </p:nvSpPr>
        <p:spPr>
          <a:xfrm>
            <a:off x="5225796" y="2228850"/>
            <a:ext cx="754500" cy="301800"/>
          </a:xfrm>
          <a:prstGeom prst="roundRect">
            <a:avLst>
              <a:gd fmla="val 13636" name="adj"/>
            </a:avLst>
          </a:prstGeom>
          <a:solidFill>
            <a:srgbClr val="EEE9F5"/>
          </a:solidFill>
          <a:ln cap="flat" cmpd="sng" w="16675">
            <a:solidFill>
              <a:srgbClr val="6B4E9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8" name="Google Shape;388;p22"/>
          <p:cNvSpPr/>
          <p:nvPr/>
        </p:nvSpPr>
        <p:spPr>
          <a:xfrm>
            <a:off x="5225796" y="222885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9E"/>
              </a:buClr>
              <a:buSzPts val="1100"/>
              <a:buFont typeface="Courier New"/>
              <a:buNone/>
            </a:pPr>
            <a:r>
              <a:rPr b="1" i="0" lang="en" sz="1100" u="none" cap="none" strike="noStrike">
                <a:solidFill>
                  <a:srgbClr val="6B4E9E"/>
                </a:solidFill>
                <a:latin typeface="Courier New"/>
                <a:ea typeface="Courier New"/>
                <a:cs typeface="Courier New"/>
                <a:sym typeface="Courier New"/>
              </a:rPr>
              <a:t>88</a:t>
            </a:r>
            <a:endParaRPr b="0" i="0" sz="1100" u="none" cap="none" strike="noStrike">
              <a:solidFill>
                <a:schemeClr val="dk1"/>
              </a:solidFill>
              <a:latin typeface="Calibri"/>
              <a:ea typeface="Calibri"/>
              <a:cs typeface="Calibri"/>
              <a:sym typeface="Calibri"/>
            </a:endParaRPr>
          </a:p>
        </p:txBody>
      </p:sp>
      <p:sp>
        <p:nvSpPr>
          <p:cNvPr id="389" name="Google Shape;389;p22"/>
          <p:cNvSpPr/>
          <p:nvPr/>
        </p:nvSpPr>
        <p:spPr>
          <a:xfrm>
            <a:off x="411480" y="2585466"/>
            <a:ext cx="9258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3203A"/>
              </a:buClr>
              <a:buSzPts val="1100"/>
              <a:buFont typeface="Courier New"/>
              <a:buNone/>
            </a:pPr>
            <a:r>
              <a:rPr b="1" i="0" lang="en" sz="1100" u="none" cap="none" strike="noStrike">
                <a:solidFill>
                  <a:srgbClr val="13203A"/>
                </a:solidFill>
                <a:latin typeface="Courier New"/>
                <a:ea typeface="Courier New"/>
                <a:cs typeface="Courier New"/>
                <a:sym typeface="Courier New"/>
              </a:rPr>
              <a:t>d2</a:t>
            </a:r>
            <a:endParaRPr b="0" i="0" sz="1100" u="none" cap="none" strike="noStrike">
              <a:solidFill>
                <a:schemeClr val="dk1"/>
              </a:solidFill>
              <a:latin typeface="Calibri"/>
              <a:ea typeface="Calibri"/>
              <a:cs typeface="Calibri"/>
              <a:sym typeface="Calibri"/>
            </a:endParaRPr>
          </a:p>
        </p:txBody>
      </p:sp>
      <p:sp>
        <p:nvSpPr>
          <p:cNvPr id="390" name="Google Shape;390;p22"/>
          <p:cNvSpPr/>
          <p:nvPr/>
        </p:nvSpPr>
        <p:spPr>
          <a:xfrm>
            <a:off x="1536192" y="2640330"/>
            <a:ext cx="754500" cy="301800"/>
          </a:xfrm>
          <a:prstGeom prst="roundRect">
            <a:avLst>
              <a:gd fmla="val 13636" name="adj"/>
            </a:avLst>
          </a:prstGeom>
          <a:solidFill>
            <a:srgbClr val="E7EFF8"/>
          </a:solidFill>
          <a:ln cap="flat" cmpd="sng" w="16675">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1" name="Google Shape;391;p22"/>
          <p:cNvSpPr/>
          <p:nvPr/>
        </p:nvSpPr>
        <p:spPr>
          <a:xfrm>
            <a:off x="1536192" y="264033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6FB0"/>
              </a:buClr>
              <a:buSzPts val="1100"/>
              <a:buFont typeface="Courier New"/>
              <a:buNone/>
            </a:pPr>
            <a:r>
              <a:rPr b="1" i="0" lang="en" sz="1100" u="none" cap="none" strike="noStrike">
                <a:solidFill>
                  <a:srgbClr val="2E6FB0"/>
                </a:solidFill>
                <a:latin typeface="Courier New"/>
                <a:ea typeface="Courier New"/>
                <a:cs typeface="Courier New"/>
                <a:sym typeface="Courier New"/>
              </a:rPr>
              <a:t>42</a:t>
            </a:r>
            <a:endParaRPr b="0" i="0" sz="1100" u="none" cap="none" strike="noStrike">
              <a:solidFill>
                <a:schemeClr val="dk1"/>
              </a:solidFill>
              <a:latin typeface="Calibri"/>
              <a:ea typeface="Calibri"/>
              <a:cs typeface="Calibri"/>
              <a:sym typeface="Calibri"/>
            </a:endParaRPr>
          </a:p>
        </p:txBody>
      </p:sp>
      <p:sp>
        <p:nvSpPr>
          <p:cNvPr id="392" name="Google Shape;392;p22"/>
          <p:cNvSpPr/>
          <p:nvPr/>
        </p:nvSpPr>
        <p:spPr>
          <a:xfrm>
            <a:off x="2599182" y="2640330"/>
            <a:ext cx="754500" cy="301800"/>
          </a:xfrm>
          <a:prstGeom prst="roundRect">
            <a:avLst>
              <a:gd fmla="val 13636" name="adj"/>
            </a:avLst>
          </a:prstGeom>
          <a:solidFill>
            <a:srgbClr val="FBE7E3"/>
          </a:solidFill>
          <a:ln cap="flat" cmpd="sng" w="16675">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3" name="Google Shape;393;p22"/>
          <p:cNvSpPr/>
          <p:nvPr/>
        </p:nvSpPr>
        <p:spPr>
          <a:xfrm>
            <a:off x="2599182" y="264033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100"/>
              <a:buFont typeface="Courier New"/>
              <a:buNone/>
            </a:pPr>
            <a:r>
              <a:rPr b="1" i="0" lang="en" sz="1100" u="none" cap="none" strike="noStrike">
                <a:solidFill>
                  <a:srgbClr val="C0392B"/>
                </a:solidFill>
                <a:latin typeface="Courier New"/>
                <a:ea typeface="Courier New"/>
                <a:cs typeface="Courier New"/>
                <a:sym typeface="Courier New"/>
              </a:rPr>
              <a:t>201</a:t>
            </a:r>
            <a:endParaRPr b="0" i="0" sz="1100" u="none" cap="none" strike="noStrike">
              <a:solidFill>
                <a:schemeClr val="dk1"/>
              </a:solidFill>
              <a:latin typeface="Calibri"/>
              <a:ea typeface="Calibri"/>
              <a:cs typeface="Calibri"/>
              <a:sym typeface="Calibri"/>
            </a:endParaRPr>
          </a:p>
        </p:txBody>
      </p:sp>
      <p:sp>
        <p:nvSpPr>
          <p:cNvPr id="394" name="Google Shape;394;p22"/>
          <p:cNvSpPr/>
          <p:nvPr/>
        </p:nvSpPr>
        <p:spPr>
          <a:xfrm>
            <a:off x="3662172" y="2640330"/>
            <a:ext cx="754500" cy="301800"/>
          </a:xfrm>
          <a:prstGeom prst="roundRect">
            <a:avLst>
              <a:gd fmla="val 13636" name="adj"/>
            </a:avLst>
          </a:prstGeom>
          <a:solidFill>
            <a:srgbClr val="E2F0E8"/>
          </a:solidFill>
          <a:ln cap="flat" cmpd="sng" w="16675">
            <a:solidFill>
              <a:srgbClr val="2E8B5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5" name="Google Shape;395;p22"/>
          <p:cNvSpPr/>
          <p:nvPr/>
        </p:nvSpPr>
        <p:spPr>
          <a:xfrm>
            <a:off x="3662172" y="264033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8B57"/>
              </a:buClr>
              <a:buSzPts val="1100"/>
              <a:buFont typeface="Courier New"/>
              <a:buNone/>
            </a:pPr>
            <a:r>
              <a:rPr b="1" i="0" lang="en" sz="1100" u="none" cap="none" strike="noStrike">
                <a:solidFill>
                  <a:srgbClr val="2E8B57"/>
                </a:solidFill>
                <a:latin typeface="Courier New"/>
                <a:ea typeface="Courier New"/>
                <a:cs typeface="Courier New"/>
                <a:sym typeface="Courier New"/>
              </a:rPr>
              <a:t>7</a:t>
            </a:r>
            <a:endParaRPr b="0" i="0" sz="1100" u="none" cap="none" strike="noStrike">
              <a:solidFill>
                <a:schemeClr val="dk1"/>
              </a:solidFill>
              <a:latin typeface="Calibri"/>
              <a:ea typeface="Calibri"/>
              <a:cs typeface="Calibri"/>
              <a:sym typeface="Calibri"/>
            </a:endParaRPr>
          </a:p>
        </p:txBody>
      </p:sp>
      <p:sp>
        <p:nvSpPr>
          <p:cNvPr id="396" name="Google Shape;396;p22"/>
          <p:cNvSpPr/>
          <p:nvPr/>
        </p:nvSpPr>
        <p:spPr>
          <a:xfrm>
            <a:off x="4615434" y="2585466"/>
            <a:ext cx="4116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200"/>
              <a:buFont typeface="Calibri"/>
              <a:buNone/>
            </a:pPr>
            <a:r>
              <a:rPr b="1" i="0" lang="en" sz="1200" u="none" cap="none" strike="noStrike">
                <a:solidFill>
                  <a:srgbClr val="8195A5"/>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97" name="Google Shape;397;p22"/>
          <p:cNvSpPr/>
          <p:nvPr/>
        </p:nvSpPr>
        <p:spPr>
          <a:xfrm>
            <a:off x="5225796" y="2640330"/>
            <a:ext cx="754500" cy="301800"/>
          </a:xfrm>
          <a:prstGeom prst="roundRect">
            <a:avLst>
              <a:gd fmla="val 13636" name="adj"/>
            </a:avLst>
          </a:prstGeom>
          <a:solidFill>
            <a:srgbClr val="EEE9F5"/>
          </a:solidFill>
          <a:ln cap="flat" cmpd="sng" w="16675">
            <a:solidFill>
              <a:srgbClr val="6B4E9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8" name="Google Shape;398;p22"/>
          <p:cNvSpPr/>
          <p:nvPr/>
        </p:nvSpPr>
        <p:spPr>
          <a:xfrm>
            <a:off x="5225796" y="264033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9E"/>
              </a:buClr>
              <a:buSzPts val="1100"/>
              <a:buFont typeface="Courier New"/>
              <a:buNone/>
            </a:pPr>
            <a:r>
              <a:rPr b="1" i="0" lang="en" sz="1100" u="none" cap="none" strike="noStrike">
                <a:solidFill>
                  <a:srgbClr val="6B4E9E"/>
                </a:solidFill>
                <a:latin typeface="Courier New"/>
                <a:ea typeface="Courier New"/>
                <a:cs typeface="Courier New"/>
                <a:sym typeface="Courier New"/>
              </a:rPr>
              <a:t>99</a:t>
            </a:r>
            <a:endParaRPr b="0" i="0" sz="1100" u="none" cap="none" strike="noStrike">
              <a:solidFill>
                <a:schemeClr val="dk1"/>
              </a:solidFill>
              <a:latin typeface="Calibri"/>
              <a:ea typeface="Calibri"/>
              <a:cs typeface="Calibri"/>
              <a:sym typeface="Calibri"/>
            </a:endParaRPr>
          </a:p>
        </p:txBody>
      </p:sp>
      <p:sp>
        <p:nvSpPr>
          <p:cNvPr id="399" name="Google Shape;399;p22"/>
          <p:cNvSpPr/>
          <p:nvPr/>
        </p:nvSpPr>
        <p:spPr>
          <a:xfrm>
            <a:off x="411480" y="2996946"/>
            <a:ext cx="9258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00" name="Google Shape;400;p22"/>
          <p:cNvSpPr/>
          <p:nvPr/>
        </p:nvSpPr>
        <p:spPr>
          <a:xfrm>
            <a:off x="1426464" y="2996946"/>
            <a:ext cx="9738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01" name="Google Shape;401;p22"/>
          <p:cNvSpPr/>
          <p:nvPr/>
        </p:nvSpPr>
        <p:spPr>
          <a:xfrm>
            <a:off x="2489454" y="2996946"/>
            <a:ext cx="9738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02" name="Google Shape;402;p22"/>
          <p:cNvSpPr/>
          <p:nvPr/>
        </p:nvSpPr>
        <p:spPr>
          <a:xfrm>
            <a:off x="3552444" y="2996946"/>
            <a:ext cx="9738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03" name="Google Shape;403;p22"/>
          <p:cNvSpPr/>
          <p:nvPr/>
        </p:nvSpPr>
        <p:spPr>
          <a:xfrm>
            <a:off x="4615434" y="2996946"/>
            <a:ext cx="4116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04" name="Google Shape;404;p22"/>
          <p:cNvSpPr/>
          <p:nvPr/>
        </p:nvSpPr>
        <p:spPr>
          <a:xfrm>
            <a:off x="5116068" y="2996946"/>
            <a:ext cx="9738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05" name="Google Shape;405;p22"/>
          <p:cNvSpPr/>
          <p:nvPr/>
        </p:nvSpPr>
        <p:spPr>
          <a:xfrm>
            <a:off x="411480" y="3408426"/>
            <a:ext cx="9258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3203A"/>
              </a:buClr>
              <a:buSzPts val="800"/>
              <a:buFont typeface="Courier New"/>
              <a:buNone/>
            </a:pPr>
            <a:r>
              <a:rPr b="1" i="0" lang="en" sz="800" u="none" cap="none" strike="noStrike">
                <a:solidFill>
                  <a:srgbClr val="13203A"/>
                </a:solidFill>
                <a:latin typeface="Courier New"/>
                <a:ea typeface="Courier New"/>
                <a:cs typeface="Courier New"/>
                <a:sym typeface="Courier New"/>
              </a:rPr>
              <a:t>d1,000,000</a:t>
            </a:r>
            <a:endParaRPr b="0" i="0" sz="800" u="none" cap="none" strike="noStrike">
              <a:solidFill>
                <a:schemeClr val="dk1"/>
              </a:solidFill>
              <a:latin typeface="Calibri"/>
              <a:ea typeface="Calibri"/>
              <a:cs typeface="Calibri"/>
              <a:sym typeface="Calibri"/>
            </a:endParaRPr>
          </a:p>
        </p:txBody>
      </p:sp>
      <p:sp>
        <p:nvSpPr>
          <p:cNvPr id="406" name="Google Shape;406;p22"/>
          <p:cNvSpPr/>
          <p:nvPr/>
        </p:nvSpPr>
        <p:spPr>
          <a:xfrm>
            <a:off x="1536192" y="3463290"/>
            <a:ext cx="754500" cy="301800"/>
          </a:xfrm>
          <a:prstGeom prst="roundRect">
            <a:avLst>
              <a:gd fmla="val 13636" name="adj"/>
            </a:avLst>
          </a:prstGeom>
          <a:solidFill>
            <a:srgbClr val="E7EFF8"/>
          </a:solidFill>
          <a:ln cap="flat" cmpd="sng" w="16675">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7" name="Google Shape;407;p22"/>
          <p:cNvSpPr/>
          <p:nvPr/>
        </p:nvSpPr>
        <p:spPr>
          <a:xfrm>
            <a:off x="1536192" y="346329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6FB0"/>
              </a:buClr>
              <a:buSzPts val="1100"/>
              <a:buFont typeface="Courier New"/>
              <a:buNone/>
            </a:pPr>
            <a:r>
              <a:rPr b="1" i="0" lang="en" sz="1100" u="none" cap="none" strike="noStrike">
                <a:solidFill>
                  <a:srgbClr val="2E6FB0"/>
                </a:solidFill>
                <a:latin typeface="Courier New"/>
                <a:ea typeface="Courier New"/>
                <a:cs typeface="Courier New"/>
                <a:sym typeface="Courier New"/>
              </a:rPr>
              <a:t>255</a:t>
            </a:r>
            <a:endParaRPr b="0" i="0" sz="1100" u="none" cap="none" strike="noStrike">
              <a:solidFill>
                <a:schemeClr val="dk1"/>
              </a:solidFill>
              <a:latin typeface="Calibri"/>
              <a:ea typeface="Calibri"/>
              <a:cs typeface="Calibri"/>
              <a:sym typeface="Calibri"/>
            </a:endParaRPr>
          </a:p>
        </p:txBody>
      </p:sp>
      <p:sp>
        <p:nvSpPr>
          <p:cNvPr id="408" name="Google Shape;408;p22"/>
          <p:cNvSpPr/>
          <p:nvPr/>
        </p:nvSpPr>
        <p:spPr>
          <a:xfrm>
            <a:off x="2599182" y="3463290"/>
            <a:ext cx="754500" cy="301800"/>
          </a:xfrm>
          <a:prstGeom prst="roundRect">
            <a:avLst>
              <a:gd fmla="val 13636" name="adj"/>
            </a:avLst>
          </a:prstGeom>
          <a:solidFill>
            <a:srgbClr val="FBE7E3"/>
          </a:solidFill>
          <a:ln cap="flat" cmpd="sng" w="16675">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9" name="Google Shape;409;p22"/>
          <p:cNvSpPr/>
          <p:nvPr/>
        </p:nvSpPr>
        <p:spPr>
          <a:xfrm>
            <a:off x="2599182" y="346329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100"/>
              <a:buFont typeface="Courier New"/>
              <a:buNone/>
            </a:pPr>
            <a:r>
              <a:rPr b="1" i="0" lang="en" sz="1100" u="none" cap="none" strike="noStrike">
                <a:solidFill>
                  <a:srgbClr val="C0392B"/>
                </a:solidFill>
                <a:latin typeface="Courier New"/>
                <a:ea typeface="Courier New"/>
                <a:cs typeface="Courier New"/>
                <a:sym typeface="Courier New"/>
              </a:rPr>
              <a:t>60</a:t>
            </a:r>
            <a:endParaRPr b="0" i="0" sz="1100" u="none" cap="none" strike="noStrike">
              <a:solidFill>
                <a:schemeClr val="dk1"/>
              </a:solidFill>
              <a:latin typeface="Calibri"/>
              <a:ea typeface="Calibri"/>
              <a:cs typeface="Calibri"/>
              <a:sym typeface="Calibri"/>
            </a:endParaRPr>
          </a:p>
        </p:txBody>
      </p:sp>
      <p:sp>
        <p:nvSpPr>
          <p:cNvPr id="410" name="Google Shape;410;p22"/>
          <p:cNvSpPr/>
          <p:nvPr/>
        </p:nvSpPr>
        <p:spPr>
          <a:xfrm>
            <a:off x="3662172" y="3463290"/>
            <a:ext cx="754500" cy="301800"/>
          </a:xfrm>
          <a:prstGeom prst="roundRect">
            <a:avLst>
              <a:gd fmla="val 13636" name="adj"/>
            </a:avLst>
          </a:prstGeom>
          <a:solidFill>
            <a:srgbClr val="E2F0E8"/>
          </a:solidFill>
          <a:ln cap="flat" cmpd="sng" w="16675">
            <a:solidFill>
              <a:srgbClr val="2E8B5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1" name="Google Shape;411;p22"/>
          <p:cNvSpPr/>
          <p:nvPr/>
        </p:nvSpPr>
        <p:spPr>
          <a:xfrm>
            <a:off x="3662172" y="346329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8B57"/>
              </a:buClr>
              <a:buSzPts val="1100"/>
              <a:buFont typeface="Courier New"/>
              <a:buNone/>
            </a:pPr>
            <a:r>
              <a:rPr b="1" i="0" lang="en" sz="1100" u="none" cap="none" strike="noStrike">
                <a:solidFill>
                  <a:srgbClr val="2E8B57"/>
                </a:solidFill>
                <a:latin typeface="Courier New"/>
                <a:ea typeface="Courier New"/>
                <a:cs typeface="Courier New"/>
                <a:sym typeface="Courier New"/>
              </a:rPr>
              <a:t>9</a:t>
            </a:r>
            <a:endParaRPr b="0" i="0" sz="1100" u="none" cap="none" strike="noStrike">
              <a:solidFill>
                <a:schemeClr val="dk1"/>
              </a:solidFill>
              <a:latin typeface="Calibri"/>
              <a:ea typeface="Calibri"/>
              <a:cs typeface="Calibri"/>
              <a:sym typeface="Calibri"/>
            </a:endParaRPr>
          </a:p>
        </p:txBody>
      </p:sp>
      <p:sp>
        <p:nvSpPr>
          <p:cNvPr id="412" name="Google Shape;412;p22"/>
          <p:cNvSpPr/>
          <p:nvPr/>
        </p:nvSpPr>
        <p:spPr>
          <a:xfrm>
            <a:off x="4615434" y="3408426"/>
            <a:ext cx="4116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200"/>
              <a:buFont typeface="Calibri"/>
              <a:buNone/>
            </a:pPr>
            <a:r>
              <a:rPr b="1" i="0" lang="en" sz="1200" u="none" cap="none" strike="noStrike">
                <a:solidFill>
                  <a:srgbClr val="8195A5"/>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13" name="Google Shape;413;p22"/>
          <p:cNvSpPr/>
          <p:nvPr/>
        </p:nvSpPr>
        <p:spPr>
          <a:xfrm>
            <a:off x="5225796" y="3463290"/>
            <a:ext cx="754500" cy="301800"/>
          </a:xfrm>
          <a:prstGeom prst="roundRect">
            <a:avLst>
              <a:gd fmla="val 13636" name="adj"/>
            </a:avLst>
          </a:prstGeom>
          <a:solidFill>
            <a:srgbClr val="EEE9F5"/>
          </a:solidFill>
          <a:ln cap="flat" cmpd="sng" w="16675">
            <a:solidFill>
              <a:srgbClr val="6B4E9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4" name="Google Shape;414;p22"/>
          <p:cNvSpPr/>
          <p:nvPr/>
        </p:nvSpPr>
        <p:spPr>
          <a:xfrm>
            <a:off x="5225796" y="3463290"/>
            <a:ext cx="7545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4E9E"/>
              </a:buClr>
              <a:buSzPts val="1100"/>
              <a:buFont typeface="Courier New"/>
              <a:buNone/>
            </a:pPr>
            <a:r>
              <a:rPr b="1" i="0" lang="en" sz="1100" u="none" cap="none" strike="noStrike">
                <a:solidFill>
                  <a:srgbClr val="6B4E9E"/>
                </a:solidFill>
                <a:latin typeface="Courier New"/>
                <a:ea typeface="Courier New"/>
                <a:cs typeface="Courier New"/>
                <a:sym typeface="Courier New"/>
              </a:rPr>
              <a:t>120</a:t>
            </a:r>
            <a:endParaRPr b="0" i="0" sz="1100" u="none" cap="none" strike="noStrike">
              <a:solidFill>
                <a:schemeClr val="dk1"/>
              </a:solidFill>
              <a:latin typeface="Calibri"/>
              <a:ea typeface="Calibri"/>
              <a:cs typeface="Calibri"/>
              <a:sym typeface="Calibri"/>
            </a:endParaRPr>
          </a:p>
        </p:txBody>
      </p:sp>
      <p:sp>
        <p:nvSpPr>
          <p:cNvPr id="415" name="Google Shape;415;p22"/>
          <p:cNvSpPr/>
          <p:nvPr/>
        </p:nvSpPr>
        <p:spPr>
          <a:xfrm>
            <a:off x="6364224" y="1748790"/>
            <a:ext cx="2379900" cy="1337400"/>
          </a:xfrm>
          <a:prstGeom prst="roundRect">
            <a:avLst>
              <a:gd fmla="val 5128" name="adj"/>
            </a:avLst>
          </a:prstGeom>
          <a:solidFill>
            <a:srgbClr val="13203A"/>
          </a:solidFill>
          <a:ln>
            <a:noFill/>
          </a:ln>
          <a:effectLst>
            <a:outerShdw blurRad="114300" rotWithShape="0" algn="bl" dir="5400000" dist="38100">
              <a:srgbClr val="000000">
                <a:alpha val="451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6" name="Google Shape;416;p22"/>
          <p:cNvSpPr/>
          <p:nvPr/>
        </p:nvSpPr>
        <p:spPr>
          <a:xfrm>
            <a:off x="6569964" y="1865376"/>
            <a:ext cx="1968300" cy="219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FA8CC"/>
              </a:buClr>
              <a:buSzPts val="900"/>
              <a:buFont typeface="Calibri"/>
              <a:buNone/>
            </a:pPr>
            <a:r>
              <a:rPr b="1" i="0" lang="en" sz="900" u="none" cap="none" strike="noStrike">
                <a:solidFill>
                  <a:srgbClr val="6FA8CC"/>
                </a:solidFill>
                <a:latin typeface="Calibri"/>
                <a:ea typeface="Calibri"/>
                <a:cs typeface="Calibri"/>
                <a:sym typeface="Calibri"/>
              </a:rPr>
              <a:t>Read a row</a:t>
            </a:r>
            <a:endParaRPr b="0" i="0" sz="900" u="none" cap="none" strike="noStrike">
              <a:solidFill>
                <a:schemeClr val="dk1"/>
              </a:solidFill>
              <a:latin typeface="Calibri"/>
              <a:ea typeface="Calibri"/>
              <a:cs typeface="Calibri"/>
              <a:sym typeface="Calibri"/>
            </a:endParaRPr>
          </a:p>
        </p:txBody>
      </p:sp>
      <p:sp>
        <p:nvSpPr>
          <p:cNvPr id="417" name="Google Shape;417;p22"/>
          <p:cNvSpPr/>
          <p:nvPr/>
        </p:nvSpPr>
        <p:spPr>
          <a:xfrm>
            <a:off x="6569964" y="2160270"/>
            <a:ext cx="1968300" cy="85740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FFFFFF"/>
              </a:buClr>
              <a:buSzPts val="1100"/>
              <a:buFont typeface="Courier New"/>
              <a:buNone/>
            </a:pPr>
            <a:r>
              <a:rPr b="1" i="0" lang="en" sz="1100" u="none" cap="none" strike="noStrike">
                <a:solidFill>
                  <a:srgbClr val="FFFFFF"/>
                </a:solidFill>
                <a:latin typeface="Courier New"/>
                <a:ea typeface="Courier New"/>
                <a:cs typeface="Courier New"/>
                <a:sym typeface="Courier New"/>
              </a:rPr>
              <a:t>d₂</a:t>
            </a:r>
            <a:r>
              <a:rPr b="0" i="0" lang="en" sz="1100" u="none" cap="none" strike="noStrike">
                <a:solidFill>
                  <a:srgbClr val="EAF2F6"/>
                </a:solidFill>
                <a:latin typeface="Courier New"/>
                <a:ea typeface="Courier New"/>
                <a:cs typeface="Courier New"/>
                <a:sym typeface="Courier New"/>
              </a:rPr>
              <a:t> → </a:t>
            </a:r>
            <a:r>
              <a:rPr b="1" i="0" lang="en" sz="1100" u="none" cap="none" strike="noStrike">
                <a:solidFill>
                  <a:srgbClr val="E8A94A"/>
                </a:solidFill>
                <a:latin typeface="Courier New"/>
                <a:ea typeface="Courier New"/>
                <a:cs typeface="Courier New"/>
                <a:sym typeface="Courier New"/>
              </a:rPr>
              <a:t>[ 42, 201, 7, …, 99 ]</a:t>
            </a: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AF2F6"/>
              </a:buClr>
              <a:buSzPts val="1100"/>
              <a:buFont typeface="Courier New"/>
              <a:buNone/>
            </a:pPr>
            <a:r>
              <a:rPr b="0" i="0" lang="en" sz="1100" u="none" cap="none" strike="noStrike">
                <a:solidFill>
                  <a:srgbClr val="EAF2F6"/>
                </a:solidFill>
                <a:latin typeface="Courier New"/>
                <a:ea typeface="Courier New"/>
                <a:cs typeface="Courier New"/>
                <a:sym typeface="Courier New"/>
              </a:rPr>
              <a:t>one id per segment — 8 bytes in total.</a:t>
            </a:r>
            <a:endParaRPr b="0" i="0" sz="1100" u="none" cap="none" strike="noStrike">
              <a:solidFill>
                <a:schemeClr val="dk1"/>
              </a:solidFill>
              <a:latin typeface="Calibri"/>
              <a:ea typeface="Calibri"/>
              <a:cs typeface="Calibri"/>
              <a:sym typeface="Calibri"/>
            </a:endParaRPr>
          </a:p>
        </p:txBody>
      </p:sp>
      <p:sp>
        <p:nvSpPr>
          <p:cNvPr id="418" name="Google Shape;418;p22"/>
          <p:cNvSpPr/>
          <p:nvPr/>
        </p:nvSpPr>
        <p:spPr>
          <a:xfrm>
            <a:off x="6364224" y="3209544"/>
            <a:ext cx="2379900" cy="1152300"/>
          </a:xfrm>
          <a:prstGeom prst="roundRect">
            <a:avLst>
              <a:gd fmla="val 5952" name="adj"/>
            </a:avLst>
          </a:prstGeom>
          <a:solidFill>
            <a:srgbClr val="FBE7E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9" name="Google Shape;419;p22"/>
          <p:cNvSpPr/>
          <p:nvPr/>
        </p:nvSpPr>
        <p:spPr>
          <a:xfrm>
            <a:off x="6569964" y="3209544"/>
            <a:ext cx="1968300" cy="11523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C0392B"/>
              </a:buClr>
              <a:buSzPts val="1100"/>
              <a:buFont typeface="Calibri"/>
              <a:buNone/>
            </a:pPr>
            <a:r>
              <a:rPr b="1" i="0" lang="en" sz="1100" u="none" cap="none" strike="noStrike">
                <a:solidFill>
                  <a:srgbClr val="C0392B"/>
                </a:solidFill>
                <a:latin typeface="Calibri"/>
                <a:ea typeface="Calibri"/>
                <a:cs typeface="Calibri"/>
                <a:sym typeface="Calibri"/>
              </a:rPr>
              <a:t>Discarded:  </a:t>
            </a:r>
            <a:r>
              <a:rPr b="0" i="0" lang="en" sz="1100" u="none" cap="none" strike="noStrike">
                <a:solidFill>
                  <a:srgbClr val="44586A"/>
                </a:solidFill>
                <a:latin typeface="Calibri"/>
                <a:ea typeface="Calibri"/>
                <a:cs typeface="Calibri"/>
                <a:sym typeface="Calibri"/>
              </a:rPr>
              <a:t>the original float sub-vectors are dropped. Only the 8 IDs per vector are kept.</a:t>
            </a:r>
            <a:endParaRPr b="0" i="0" sz="1100" u="none" cap="none" strike="noStrike">
              <a:solidFill>
                <a:schemeClr val="dk1"/>
              </a:solidFill>
              <a:latin typeface="Calibri"/>
              <a:ea typeface="Calibri"/>
              <a:cs typeface="Calibri"/>
              <a:sym typeface="Calibri"/>
            </a:endParaRPr>
          </a:p>
        </p:txBody>
      </p:sp>
      <p:sp>
        <p:nvSpPr>
          <p:cNvPr id="420" name="Google Shape;420;p22"/>
          <p:cNvSpPr/>
          <p:nvPr/>
        </p:nvSpPr>
        <p:spPr>
          <a:xfrm>
            <a:off x="342900" y="4814316"/>
            <a:ext cx="48006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Product Quantization  ·  at scale</a:t>
            </a:r>
            <a:endParaRPr b="0" i="0" sz="700" u="none" cap="none" strike="noStrike">
              <a:solidFill>
                <a:schemeClr val="dk1"/>
              </a:solidFill>
              <a:latin typeface="Calibri"/>
              <a:ea typeface="Calibri"/>
              <a:cs typeface="Calibri"/>
              <a:sym typeface="Calibri"/>
            </a:endParaRPr>
          </a:p>
        </p:txBody>
      </p:sp>
      <p:sp>
        <p:nvSpPr>
          <p:cNvPr id="421" name="Google Shape;421;p22"/>
          <p:cNvSpPr/>
          <p:nvPr/>
        </p:nvSpPr>
        <p:spPr>
          <a:xfrm>
            <a:off x="8572500" y="4814316"/>
            <a:ext cx="2742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p23"/>
          <p:cNvSpPr/>
          <p:nvPr/>
        </p:nvSpPr>
        <p:spPr>
          <a:xfrm>
            <a:off x="411480" y="288036"/>
            <a:ext cx="7543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55C7D"/>
              </a:buClr>
              <a:buSzPts val="900"/>
              <a:buFont typeface="Calibri"/>
              <a:buNone/>
            </a:pPr>
            <a:r>
              <a:rPr b="1" i="0" lang="en" sz="900" u="none" cap="none" strike="noStrike">
                <a:solidFill>
                  <a:srgbClr val="355C7D"/>
                </a:solidFill>
                <a:latin typeface="Calibri"/>
                <a:ea typeface="Calibri"/>
                <a:cs typeface="Calibri"/>
                <a:sym typeface="Calibri"/>
              </a:rPr>
              <a:t>ZOOM IN</a:t>
            </a:r>
            <a:endParaRPr b="0" i="0" sz="900" u="none" cap="none" strike="noStrike">
              <a:solidFill>
                <a:schemeClr val="dk1"/>
              </a:solidFill>
              <a:latin typeface="Calibri"/>
              <a:ea typeface="Calibri"/>
              <a:cs typeface="Calibri"/>
              <a:sym typeface="Calibri"/>
            </a:endParaRPr>
          </a:p>
        </p:txBody>
      </p:sp>
      <p:sp>
        <p:nvSpPr>
          <p:cNvPr id="428" name="Google Shape;428;p23"/>
          <p:cNvSpPr/>
          <p:nvPr/>
        </p:nvSpPr>
        <p:spPr>
          <a:xfrm>
            <a:off x="397764" y="480060"/>
            <a:ext cx="83670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2300"/>
              <a:buFont typeface="Cambria"/>
              <a:buNone/>
            </a:pPr>
            <a:r>
              <a:rPr b="1" i="0" lang="en" sz="2300" u="none" cap="none" strike="noStrike">
                <a:solidFill>
                  <a:srgbClr val="13203A"/>
                </a:solidFill>
                <a:latin typeface="Cambria"/>
                <a:ea typeface="Cambria"/>
                <a:cs typeface="Cambria"/>
                <a:sym typeface="Cambria"/>
              </a:rPr>
              <a:t>Following one vector, d₂, across its 8 segments</a:t>
            </a:r>
            <a:endParaRPr b="0" i="0" sz="2300" u="none" cap="none" strike="noStrike">
              <a:solidFill>
                <a:schemeClr val="dk1"/>
              </a:solidFill>
              <a:latin typeface="Calibri"/>
              <a:ea typeface="Calibri"/>
              <a:cs typeface="Calibri"/>
              <a:sym typeface="Calibri"/>
            </a:endParaRPr>
          </a:p>
        </p:txBody>
      </p:sp>
      <p:sp>
        <p:nvSpPr>
          <p:cNvPr id="429" name="Google Shape;429;p23"/>
          <p:cNvSpPr/>
          <p:nvPr/>
        </p:nvSpPr>
        <p:spPr>
          <a:xfrm>
            <a:off x="411480" y="1179576"/>
            <a:ext cx="82296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Split into 8 sub-vectors, match each to its nearest of 256 centres, keep the id. Segments abbreviated with …</a:t>
            </a:r>
            <a:endParaRPr b="0" i="0" sz="1200" u="none" cap="none" strike="noStrike">
              <a:solidFill>
                <a:schemeClr val="dk1"/>
              </a:solidFill>
              <a:latin typeface="Calibri"/>
              <a:ea typeface="Calibri"/>
              <a:cs typeface="Calibri"/>
              <a:sym typeface="Calibri"/>
            </a:endParaRPr>
          </a:p>
        </p:txBody>
      </p:sp>
      <p:sp>
        <p:nvSpPr>
          <p:cNvPr id="430" name="Google Shape;430;p23"/>
          <p:cNvSpPr/>
          <p:nvPr/>
        </p:nvSpPr>
        <p:spPr>
          <a:xfrm>
            <a:off x="411480" y="1988820"/>
            <a:ext cx="1028700" cy="1748700"/>
          </a:xfrm>
          <a:prstGeom prst="roundRect">
            <a:avLst>
              <a:gd fmla="val 6667" name="adj"/>
            </a:avLst>
          </a:prstGeom>
          <a:solidFill>
            <a:srgbClr val="F4F8FB"/>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1" name="Google Shape;431;p23"/>
          <p:cNvSpPr/>
          <p:nvPr/>
        </p:nvSpPr>
        <p:spPr>
          <a:xfrm>
            <a:off x="411480" y="2331720"/>
            <a:ext cx="1028700" cy="617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3203A"/>
              </a:buClr>
              <a:buSzPts val="2900"/>
              <a:buFont typeface="Cambria"/>
              <a:buNone/>
            </a:pPr>
            <a:r>
              <a:rPr b="1" i="0" lang="en" sz="2900" u="none" cap="none" strike="noStrike">
                <a:solidFill>
                  <a:srgbClr val="13203A"/>
                </a:solidFill>
                <a:latin typeface="Cambria"/>
                <a:ea typeface="Cambria"/>
                <a:cs typeface="Cambria"/>
                <a:sym typeface="Cambria"/>
              </a:rPr>
              <a:t>d₂</a:t>
            </a:r>
            <a:endParaRPr b="0" i="0" sz="2900" u="none" cap="none" strike="noStrike">
              <a:solidFill>
                <a:schemeClr val="dk1"/>
              </a:solidFill>
              <a:latin typeface="Calibri"/>
              <a:ea typeface="Calibri"/>
              <a:cs typeface="Calibri"/>
              <a:sym typeface="Calibri"/>
            </a:endParaRPr>
          </a:p>
        </p:txBody>
      </p:sp>
      <p:sp>
        <p:nvSpPr>
          <p:cNvPr id="432" name="Google Shape;432;p23"/>
          <p:cNvSpPr/>
          <p:nvPr/>
        </p:nvSpPr>
        <p:spPr>
          <a:xfrm>
            <a:off x="411480" y="3051810"/>
            <a:ext cx="10287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800"/>
              <a:buFont typeface="Calibri"/>
              <a:buNone/>
            </a:pPr>
            <a:r>
              <a:rPr b="0" i="1" lang="en" sz="800" u="none" cap="none" strike="noStrike">
                <a:solidFill>
                  <a:srgbClr val="8195A5"/>
                </a:solidFill>
                <a:latin typeface="Calibri"/>
                <a:ea typeface="Calibri"/>
                <a:cs typeface="Calibri"/>
                <a:sym typeface="Calibri"/>
              </a:rPr>
              <a:t>one vector</a:t>
            </a:r>
            <a:endParaRPr b="0" i="0" sz="800" u="none" cap="none" strike="noStrike">
              <a:solidFill>
                <a:schemeClr val="dk1"/>
              </a:solidFill>
              <a:latin typeface="Calibri"/>
              <a:ea typeface="Calibri"/>
              <a:cs typeface="Calibri"/>
              <a:sym typeface="Calibri"/>
            </a:endParaRPr>
          </a:p>
        </p:txBody>
      </p:sp>
      <p:cxnSp>
        <p:nvCxnSpPr>
          <p:cNvPr id="433" name="Google Shape;433;p23"/>
          <p:cNvCxnSpPr/>
          <p:nvPr/>
        </p:nvCxnSpPr>
        <p:spPr>
          <a:xfrm>
            <a:off x="1508760" y="2811780"/>
            <a:ext cx="514500" cy="0"/>
          </a:xfrm>
          <a:prstGeom prst="straightConnector1">
            <a:avLst/>
          </a:prstGeom>
          <a:noFill/>
          <a:ln cap="flat" cmpd="sng" w="23825">
            <a:solidFill>
              <a:srgbClr val="8195A5"/>
            </a:solidFill>
            <a:prstDash val="solid"/>
            <a:round/>
            <a:headEnd len="sm" w="sm" type="none"/>
            <a:tailEnd len="med" w="med" type="triangle"/>
          </a:ln>
        </p:spPr>
      </p:cxnSp>
      <p:sp>
        <p:nvSpPr>
          <p:cNvPr id="434" name="Google Shape;434;p23"/>
          <p:cNvSpPr/>
          <p:nvPr/>
        </p:nvSpPr>
        <p:spPr>
          <a:xfrm>
            <a:off x="1385316" y="2489454"/>
            <a:ext cx="7545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800"/>
              <a:buFont typeface="Calibri"/>
              <a:buNone/>
            </a:pPr>
            <a:r>
              <a:rPr b="0" i="1" lang="en" sz="800" u="none" cap="none" strike="noStrike">
                <a:solidFill>
                  <a:srgbClr val="8195A5"/>
                </a:solidFill>
                <a:latin typeface="Calibri"/>
                <a:ea typeface="Calibri"/>
                <a:cs typeface="Calibri"/>
                <a:sym typeface="Calibri"/>
              </a:rPr>
              <a:t>split</a:t>
            </a:r>
            <a:endParaRPr b="0" i="0" sz="800" u="none" cap="none" strike="noStrike">
              <a:solidFill>
                <a:schemeClr val="dk1"/>
              </a:solidFill>
              <a:latin typeface="Calibri"/>
              <a:ea typeface="Calibri"/>
              <a:cs typeface="Calibri"/>
              <a:sym typeface="Calibri"/>
            </a:endParaRPr>
          </a:p>
        </p:txBody>
      </p:sp>
      <p:sp>
        <p:nvSpPr>
          <p:cNvPr id="435" name="Google Shape;435;p23"/>
          <p:cNvSpPr/>
          <p:nvPr/>
        </p:nvSpPr>
        <p:spPr>
          <a:xfrm>
            <a:off x="2194560" y="1549908"/>
            <a:ext cx="17487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900"/>
              <a:buFont typeface="Calibri"/>
              <a:buNone/>
            </a:pPr>
            <a:r>
              <a:rPr b="1" i="0" lang="en" sz="900" u="none" cap="none" strike="noStrike">
                <a:solidFill>
                  <a:srgbClr val="8195A5"/>
                </a:solidFill>
                <a:latin typeface="Calibri"/>
                <a:ea typeface="Calibri"/>
                <a:cs typeface="Calibri"/>
                <a:sym typeface="Calibri"/>
              </a:rPr>
              <a:t>Split into 8 segments</a:t>
            </a:r>
            <a:endParaRPr b="0" i="0" sz="900" u="none" cap="none" strike="noStrike">
              <a:solidFill>
                <a:schemeClr val="dk1"/>
              </a:solidFill>
              <a:latin typeface="Calibri"/>
              <a:ea typeface="Calibri"/>
              <a:cs typeface="Calibri"/>
              <a:sym typeface="Calibri"/>
            </a:endParaRPr>
          </a:p>
        </p:txBody>
      </p:sp>
      <p:sp>
        <p:nvSpPr>
          <p:cNvPr id="436" name="Google Shape;436;p23"/>
          <p:cNvSpPr/>
          <p:nvPr/>
        </p:nvSpPr>
        <p:spPr>
          <a:xfrm>
            <a:off x="2194560" y="1783080"/>
            <a:ext cx="1748700" cy="377100"/>
          </a:xfrm>
          <a:prstGeom prst="roundRect">
            <a:avLst>
              <a:gd fmla="val 12727" name="adj"/>
            </a:avLst>
          </a:prstGeom>
          <a:solidFill>
            <a:srgbClr val="E7EFF8"/>
          </a:solidFill>
          <a:ln cap="flat" cmpd="sng" w="19050">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7" name="Google Shape;437;p23"/>
          <p:cNvSpPr/>
          <p:nvPr/>
        </p:nvSpPr>
        <p:spPr>
          <a:xfrm>
            <a:off x="2318004" y="1783080"/>
            <a:ext cx="15432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6FB0"/>
              </a:buClr>
              <a:buSzPts val="1000"/>
              <a:buFont typeface="Courier New"/>
              <a:buNone/>
            </a:pPr>
            <a:r>
              <a:rPr b="1" i="0" lang="en" sz="1000" u="none" cap="none" strike="noStrike">
                <a:solidFill>
                  <a:srgbClr val="2E6FB0"/>
                </a:solidFill>
                <a:latin typeface="Courier New"/>
                <a:ea typeface="Courier New"/>
                <a:cs typeface="Courier New"/>
                <a:sym typeface="Courier New"/>
              </a:rPr>
              <a:t>segment 1</a:t>
            </a:r>
            <a:endParaRPr b="0" i="0" sz="1000" u="none" cap="none" strike="noStrike">
              <a:solidFill>
                <a:schemeClr val="dk1"/>
              </a:solidFill>
              <a:latin typeface="Calibri"/>
              <a:ea typeface="Calibri"/>
              <a:cs typeface="Calibri"/>
              <a:sym typeface="Calibri"/>
            </a:endParaRPr>
          </a:p>
        </p:txBody>
      </p:sp>
      <p:sp>
        <p:nvSpPr>
          <p:cNvPr id="438" name="Google Shape;438;p23"/>
          <p:cNvSpPr/>
          <p:nvPr/>
        </p:nvSpPr>
        <p:spPr>
          <a:xfrm>
            <a:off x="2194560" y="2180844"/>
            <a:ext cx="1748700" cy="377100"/>
          </a:xfrm>
          <a:prstGeom prst="roundRect">
            <a:avLst>
              <a:gd fmla="val 12727" name="adj"/>
            </a:avLst>
          </a:prstGeom>
          <a:solidFill>
            <a:srgbClr val="FBE7E3"/>
          </a:solidFill>
          <a:ln cap="flat" cmpd="sng" w="19050">
            <a:solidFill>
              <a:srgbClr val="C039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23"/>
          <p:cNvSpPr/>
          <p:nvPr/>
        </p:nvSpPr>
        <p:spPr>
          <a:xfrm>
            <a:off x="2318004" y="2180844"/>
            <a:ext cx="15432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0392B"/>
              </a:buClr>
              <a:buSzPts val="1000"/>
              <a:buFont typeface="Courier New"/>
              <a:buNone/>
            </a:pPr>
            <a:r>
              <a:rPr b="1" i="0" lang="en" sz="1000" u="none" cap="none" strike="noStrike">
                <a:solidFill>
                  <a:srgbClr val="C0392B"/>
                </a:solidFill>
                <a:latin typeface="Courier New"/>
                <a:ea typeface="Courier New"/>
                <a:cs typeface="Courier New"/>
                <a:sym typeface="Courier New"/>
              </a:rPr>
              <a:t>segment 2</a:t>
            </a:r>
            <a:endParaRPr b="0" i="0" sz="1000" u="none" cap="none" strike="noStrike">
              <a:solidFill>
                <a:schemeClr val="dk1"/>
              </a:solidFill>
              <a:latin typeface="Calibri"/>
              <a:ea typeface="Calibri"/>
              <a:cs typeface="Calibri"/>
              <a:sym typeface="Calibri"/>
            </a:endParaRPr>
          </a:p>
        </p:txBody>
      </p:sp>
      <p:sp>
        <p:nvSpPr>
          <p:cNvPr id="440" name="Google Shape;440;p23"/>
          <p:cNvSpPr/>
          <p:nvPr/>
        </p:nvSpPr>
        <p:spPr>
          <a:xfrm>
            <a:off x="2194560" y="2578608"/>
            <a:ext cx="1748700" cy="377100"/>
          </a:xfrm>
          <a:prstGeom prst="roundRect">
            <a:avLst>
              <a:gd fmla="val 12727" name="adj"/>
            </a:avLst>
          </a:prstGeom>
          <a:solidFill>
            <a:srgbClr val="E2F0E8"/>
          </a:solidFill>
          <a:ln cap="flat" cmpd="sng" w="19050">
            <a:solidFill>
              <a:srgbClr val="2E8B5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1" name="Google Shape;441;p23"/>
          <p:cNvSpPr/>
          <p:nvPr/>
        </p:nvSpPr>
        <p:spPr>
          <a:xfrm>
            <a:off x="2318004" y="2578608"/>
            <a:ext cx="15432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8B57"/>
              </a:buClr>
              <a:buSzPts val="1000"/>
              <a:buFont typeface="Courier New"/>
              <a:buNone/>
            </a:pPr>
            <a:r>
              <a:rPr b="1" i="0" lang="en" sz="1000" u="none" cap="none" strike="noStrike">
                <a:solidFill>
                  <a:srgbClr val="2E8B57"/>
                </a:solidFill>
                <a:latin typeface="Courier New"/>
                <a:ea typeface="Courier New"/>
                <a:cs typeface="Courier New"/>
                <a:sym typeface="Courier New"/>
              </a:rPr>
              <a:t>segment 3</a:t>
            </a:r>
            <a:endParaRPr b="0" i="0" sz="1000" u="none" cap="none" strike="noStrike">
              <a:solidFill>
                <a:schemeClr val="dk1"/>
              </a:solidFill>
              <a:latin typeface="Calibri"/>
              <a:ea typeface="Calibri"/>
              <a:cs typeface="Calibri"/>
              <a:sym typeface="Calibri"/>
            </a:endParaRPr>
          </a:p>
        </p:txBody>
      </p:sp>
      <p:sp>
        <p:nvSpPr>
          <p:cNvPr id="442" name="Google Shape;442;p23"/>
          <p:cNvSpPr/>
          <p:nvPr/>
        </p:nvSpPr>
        <p:spPr>
          <a:xfrm>
            <a:off x="2194560" y="2976372"/>
            <a:ext cx="1748700" cy="377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43" name="Google Shape;443;p23"/>
          <p:cNvSpPr/>
          <p:nvPr/>
        </p:nvSpPr>
        <p:spPr>
          <a:xfrm>
            <a:off x="2194560" y="3374136"/>
            <a:ext cx="1748700" cy="377100"/>
          </a:xfrm>
          <a:prstGeom prst="roundRect">
            <a:avLst>
              <a:gd fmla="val 12727" name="adj"/>
            </a:avLst>
          </a:prstGeom>
          <a:solidFill>
            <a:srgbClr val="EEE9F5"/>
          </a:solidFill>
          <a:ln cap="flat" cmpd="sng" w="19050">
            <a:solidFill>
              <a:srgbClr val="6B4E9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23"/>
          <p:cNvSpPr/>
          <p:nvPr/>
        </p:nvSpPr>
        <p:spPr>
          <a:xfrm>
            <a:off x="2318004" y="3374136"/>
            <a:ext cx="15432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4E9E"/>
              </a:buClr>
              <a:buSzPts val="1000"/>
              <a:buFont typeface="Courier New"/>
              <a:buNone/>
            </a:pPr>
            <a:r>
              <a:rPr b="1" i="0" lang="en" sz="1000" u="none" cap="none" strike="noStrike">
                <a:solidFill>
                  <a:srgbClr val="6B4E9E"/>
                </a:solidFill>
                <a:latin typeface="Courier New"/>
                <a:ea typeface="Courier New"/>
                <a:cs typeface="Courier New"/>
                <a:sym typeface="Courier New"/>
              </a:rPr>
              <a:t>segment 8</a:t>
            </a:r>
            <a:endParaRPr b="0" i="0" sz="1000" u="none" cap="none" strike="noStrike">
              <a:solidFill>
                <a:schemeClr val="dk1"/>
              </a:solidFill>
              <a:latin typeface="Calibri"/>
              <a:ea typeface="Calibri"/>
              <a:cs typeface="Calibri"/>
              <a:sym typeface="Calibri"/>
            </a:endParaRPr>
          </a:p>
        </p:txBody>
      </p:sp>
      <p:cxnSp>
        <p:nvCxnSpPr>
          <p:cNvPr id="445" name="Google Shape;445;p23"/>
          <p:cNvCxnSpPr/>
          <p:nvPr/>
        </p:nvCxnSpPr>
        <p:spPr>
          <a:xfrm>
            <a:off x="4114800" y="2811780"/>
            <a:ext cx="514500" cy="0"/>
          </a:xfrm>
          <a:prstGeom prst="straightConnector1">
            <a:avLst/>
          </a:prstGeom>
          <a:noFill/>
          <a:ln cap="flat" cmpd="sng" w="23825">
            <a:solidFill>
              <a:srgbClr val="8195A5"/>
            </a:solidFill>
            <a:prstDash val="solid"/>
            <a:round/>
            <a:headEnd len="sm" w="sm" type="none"/>
            <a:tailEnd len="med" w="med" type="triangle"/>
          </a:ln>
        </p:spPr>
      </p:cxnSp>
      <p:sp>
        <p:nvSpPr>
          <p:cNvPr id="446" name="Google Shape;446;p23"/>
          <p:cNvSpPr/>
          <p:nvPr/>
        </p:nvSpPr>
        <p:spPr>
          <a:xfrm>
            <a:off x="3991356" y="2489454"/>
            <a:ext cx="7545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800"/>
              <a:buFont typeface="Calibri"/>
              <a:buNone/>
            </a:pPr>
            <a:r>
              <a:rPr b="0" i="1" lang="en" sz="800" u="none" cap="none" strike="noStrike">
                <a:solidFill>
                  <a:srgbClr val="8195A5"/>
                </a:solidFill>
                <a:latin typeface="Calibri"/>
                <a:ea typeface="Calibri"/>
                <a:cs typeface="Calibri"/>
                <a:sym typeface="Calibri"/>
              </a:rPr>
              <a:t>nearest</a:t>
            </a:r>
            <a:endParaRPr b="0" i="0" sz="800" u="none" cap="none" strike="noStrike">
              <a:solidFill>
                <a:schemeClr val="dk1"/>
              </a:solidFill>
              <a:latin typeface="Calibri"/>
              <a:ea typeface="Calibri"/>
              <a:cs typeface="Calibri"/>
              <a:sym typeface="Calibri"/>
            </a:endParaRPr>
          </a:p>
        </p:txBody>
      </p:sp>
      <p:sp>
        <p:nvSpPr>
          <p:cNvPr id="447" name="Google Shape;447;p23"/>
          <p:cNvSpPr/>
          <p:nvPr/>
        </p:nvSpPr>
        <p:spPr>
          <a:xfrm>
            <a:off x="4766310" y="1549908"/>
            <a:ext cx="18858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900"/>
              <a:buFont typeface="Calibri"/>
              <a:buNone/>
            </a:pPr>
            <a:r>
              <a:rPr b="1" i="0" lang="en" sz="900" u="none" cap="none" strike="noStrike">
                <a:solidFill>
                  <a:srgbClr val="8195A5"/>
                </a:solidFill>
                <a:latin typeface="Calibri"/>
                <a:ea typeface="Calibri"/>
                <a:cs typeface="Calibri"/>
                <a:sym typeface="Calibri"/>
              </a:rPr>
              <a:t>Nearest centre → id</a:t>
            </a:r>
            <a:endParaRPr b="0" i="0" sz="900" u="none" cap="none" strike="noStrike">
              <a:solidFill>
                <a:schemeClr val="dk1"/>
              </a:solidFill>
              <a:latin typeface="Calibri"/>
              <a:ea typeface="Calibri"/>
              <a:cs typeface="Calibri"/>
              <a:sym typeface="Calibri"/>
            </a:endParaRPr>
          </a:p>
        </p:txBody>
      </p:sp>
      <p:sp>
        <p:nvSpPr>
          <p:cNvPr id="448" name="Google Shape;448;p23"/>
          <p:cNvSpPr/>
          <p:nvPr/>
        </p:nvSpPr>
        <p:spPr>
          <a:xfrm>
            <a:off x="4766310" y="1783080"/>
            <a:ext cx="1885800" cy="377100"/>
          </a:xfrm>
          <a:prstGeom prst="roundRect">
            <a:avLst>
              <a:gd fmla="val 12727" name="adj"/>
            </a:avLst>
          </a:prstGeom>
          <a:solidFill>
            <a:srgbClr val="F4F8FB"/>
          </a:solidFill>
          <a:ln cap="flat" cmpd="sng" w="9525">
            <a:solidFill>
              <a:srgbClr val="CB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9" name="Google Shape;449;p23"/>
          <p:cNvSpPr/>
          <p:nvPr/>
        </p:nvSpPr>
        <p:spPr>
          <a:xfrm>
            <a:off x="4903470" y="1783080"/>
            <a:ext cx="16458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6FB0"/>
              </a:buClr>
              <a:buSzPts val="1000"/>
              <a:buFont typeface="Courier New"/>
              <a:buNone/>
            </a:pPr>
            <a:r>
              <a:rPr b="1" i="0" lang="en" sz="1000" u="none" cap="none" strike="noStrike">
                <a:solidFill>
                  <a:srgbClr val="2E6FB0"/>
                </a:solidFill>
                <a:latin typeface="Courier New"/>
                <a:ea typeface="Courier New"/>
                <a:cs typeface="Courier New"/>
                <a:sym typeface="Courier New"/>
              </a:rPr>
              <a:t>c1,42</a:t>
            </a:r>
            <a:r>
              <a:rPr b="0" i="0" lang="en" sz="1000" u="none" cap="none" strike="noStrike">
                <a:solidFill>
                  <a:srgbClr val="44586A"/>
                </a:solidFill>
                <a:latin typeface="Courier New"/>
                <a:ea typeface="Courier New"/>
                <a:cs typeface="Courier New"/>
                <a:sym typeface="Courier New"/>
              </a:rPr>
              <a:t>   →  id 42</a:t>
            </a:r>
            <a:endParaRPr b="0" i="0" sz="1000" u="none" cap="none" strike="noStrike">
              <a:solidFill>
                <a:schemeClr val="dk1"/>
              </a:solidFill>
              <a:latin typeface="Calibri"/>
              <a:ea typeface="Calibri"/>
              <a:cs typeface="Calibri"/>
              <a:sym typeface="Calibri"/>
            </a:endParaRPr>
          </a:p>
        </p:txBody>
      </p:sp>
      <p:sp>
        <p:nvSpPr>
          <p:cNvPr id="450" name="Google Shape;450;p23"/>
          <p:cNvSpPr/>
          <p:nvPr/>
        </p:nvSpPr>
        <p:spPr>
          <a:xfrm>
            <a:off x="4766310" y="2180844"/>
            <a:ext cx="1885800" cy="377100"/>
          </a:xfrm>
          <a:prstGeom prst="roundRect">
            <a:avLst>
              <a:gd fmla="val 12727" name="adj"/>
            </a:avLst>
          </a:prstGeom>
          <a:solidFill>
            <a:srgbClr val="F4F8FB"/>
          </a:solidFill>
          <a:ln cap="flat" cmpd="sng" w="9525">
            <a:solidFill>
              <a:srgbClr val="CB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1" name="Google Shape;451;p23"/>
          <p:cNvSpPr/>
          <p:nvPr/>
        </p:nvSpPr>
        <p:spPr>
          <a:xfrm>
            <a:off x="4903470" y="2180844"/>
            <a:ext cx="16458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0392B"/>
              </a:buClr>
              <a:buSzPts val="1000"/>
              <a:buFont typeface="Courier New"/>
              <a:buNone/>
            </a:pPr>
            <a:r>
              <a:rPr b="1" i="0" lang="en" sz="1000" u="none" cap="none" strike="noStrike">
                <a:solidFill>
                  <a:srgbClr val="C0392B"/>
                </a:solidFill>
                <a:latin typeface="Courier New"/>
                <a:ea typeface="Courier New"/>
                <a:cs typeface="Courier New"/>
                <a:sym typeface="Courier New"/>
              </a:rPr>
              <a:t>c2,201</a:t>
            </a:r>
            <a:r>
              <a:rPr b="0" i="0" lang="en" sz="1000" u="none" cap="none" strike="noStrike">
                <a:solidFill>
                  <a:srgbClr val="44586A"/>
                </a:solidFill>
                <a:latin typeface="Courier New"/>
                <a:ea typeface="Courier New"/>
                <a:cs typeface="Courier New"/>
                <a:sym typeface="Courier New"/>
              </a:rPr>
              <a:t>   →  id 201</a:t>
            </a:r>
            <a:endParaRPr b="0" i="0" sz="1000" u="none" cap="none" strike="noStrike">
              <a:solidFill>
                <a:schemeClr val="dk1"/>
              </a:solidFill>
              <a:latin typeface="Calibri"/>
              <a:ea typeface="Calibri"/>
              <a:cs typeface="Calibri"/>
              <a:sym typeface="Calibri"/>
            </a:endParaRPr>
          </a:p>
        </p:txBody>
      </p:sp>
      <p:sp>
        <p:nvSpPr>
          <p:cNvPr id="452" name="Google Shape;452;p23"/>
          <p:cNvSpPr/>
          <p:nvPr/>
        </p:nvSpPr>
        <p:spPr>
          <a:xfrm>
            <a:off x="4766310" y="2578608"/>
            <a:ext cx="1885800" cy="377100"/>
          </a:xfrm>
          <a:prstGeom prst="roundRect">
            <a:avLst>
              <a:gd fmla="val 12727" name="adj"/>
            </a:avLst>
          </a:prstGeom>
          <a:solidFill>
            <a:srgbClr val="F4F8FB"/>
          </a:solidFill>
          <a:ln cap="flat" cmpd="sng" w="9525">
            <a:solidFill>
              <a:srgbClr val="CB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3" name="Google Shape;453;p23"/>
          <p:cNvSpPr/>
          <p:nvPr/>
        </p:nvSpPr>
        <p:spPr>
          <a:xfrm>
            <a:off x="4903470" y="2578608"/>
            <a:ext cx="16458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8B57"/>
              </a:buClr>
              <a:buSzPts val="1000"/>
              <a:buFont typeface="Courier New"/>
              <a:buNone/>
            </a:pPr>
            <a:r>
              <a:rPr b="1" i="0" lang="en" sz="1000" u="none" cap="none" strike="noStrike">
                <a:solidFill>
                  <a:srgbClr val="2E8B57"/>
                </a:solidFill>
                <a:latin typeface="Courier New"/>
                <a:ea typeface="Courier New"/>
                <a:cs typeface="Courier New"/>
                <a:sym typeface="Courier New"/>
              </a:rPr>
              <a:t>c3,7</a:t>
            </a:r>
            <a:r>
              <a:rPr b="0" i="0" lang="en" sz="1000" u="none" cap="none" strike="noStrike">
                <a:solidFill>
                  <a:srgbClr val="44586A"/>
                </a:solidFill>
                <a:latin typeface="Courier New"/>
                <a:ea typeface="Courier New"/>
                <a:cs typeface="Courier New"/>
                <a:sym typeface="Courier New"/>
              </a:rPr>
              <a:t>   →  id 7</a:t>
            </a:r>
            <a:endParaRPr b="0" i="0" sz="1000" u="none" cap="none" strike="noStrike">
              <a:solidFill>
                <a:schemeClr val="dk1"/>
              </a:solidFill>
              <a:latin typeface="Calibri"/>
              <a:ea typeface="Calibri"/>
              <a:cs typeface="Calibri"/>
              <a:sym typeface="Calibri"/>
            </a:endParaRPr>
          </a:p>
        </p:txBody>
      </p:sp>
      <p:sp>
        <p:nvSpPr>
          <p:cNvPr id="454" name="Google Shape;454;p23"/>
          <p:cNvSpPr/>
          <p:nvPr/>
        </p:nvSpPr>
        <p:spPr>
          <a:xfrm>
            <a:off x="4766310" y="2976372"/>
            <a:ext cx="1885800" cy="377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400"/>
              <a:buFont typeface="Calibri"/>
              <a:buNone/>
            </a:pPr>
            <a:r>
              <a:rPr b="1" i="0" lang="en" sz="1400" u="none" cap="none" strike="noStrike">
                <a:solidFill>
                  <a:srgbClr val="8195A5"/>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55" name="Google Shape;455;p23"/>
          <p:cNvSpPr/>
          <p:nvPr/>
        </p:nvSpPr>
        <p:spPr>
          <a:xfrm>
            <a:off x="4766310" y="3374136"/>
            <a:ext cx="1885800" cy="377100"/>
          </a:xfrm>
          <a:prstGeom prst="roundRect">
            <a:avLst>
              <a:gd fmla="val 12727" name="adj"/>
            </a:avLst>
          </a:prstGeom>
          <a:solidFill>
            <a:srgbClr val="F4F8FB"/>
          </a:solidFill>
          <a:ln cap="flat" cmpd="sng" w="9525">
            <a:solidFill>
              <a:srgbClr val="CB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6" name="Google Shape;456;p23"/>
          <p:cNvSpPr/>
          <p:nvPr/>
        </p:nvSpPr>
        <p:spPr>
          <a:xfrm>
            <a:off x="4903470" y="3374136"/>
            <a:ext cx="16458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B4E9E"/>
              </a:buClr>
              <a:buSzPts val="1000"/>
              <a:buFont typeface="Courier New"/>
              <a:buNone/>
            </a:pPr>
            <a:r>
              <a:rPr b="1" i="0" lang="en" sz="1000" u="none" cap="none" strike="noStrike">
                <a:solidFill>
                  <a:srgbClr val="6B4E9E"/>
                </a:solidFill>
                <a:latin typeface="Courier New"/>
                <a:ea typeface="Courier New"/>
                <a:cs typeface="Courier New"/>
                <a:sym typeface="Courier New"/>
              </a:rPr>
              <a:t>c8,99</a:t>
            </a:r>
            <a:r>
              <a:rPr b="0" i="0" lang="en" sz="1000" u="none" cap="none" strike="noStrike">
                <a:solidFill>
                  <a:srgbClr val="44586A"/>
                </a:solidFill>
                <a:latin typeface="Courier New"/>
                <a:ea typeface="Courier New"/>
                <a:cs typeface="Courier New"/>
                <a:sym typeface="Courier New"/>
              </a:rPr>
              <a:t>   →  id 99</a:t>
            </a:r>
            <a:endParaRPr b="0" i="0" sz="1000" u="none" cap="none" strike="noStrike">
              <a:solidFill>
                <a:schemeClr val="dk1"/>
              </a:solidFill>
              <a:latin typeface="Calibri"/>
              <a:ea typeface="Calibri"/>
              <a:cs typeface="Calibri"/>
              <a:sym typeface="Calibri"/>
            </a:endParaRPr>
          </a:p>
        </p:txBody>
      </p:sp>
      <p:cxnSp>
        <p:nvCxnSpPr>
          <p:cNvPr id="457" name="Google Shape;457;p23"/>
          <p:cNvCxnSpPr/>
          <p:nvPr/>
        </p:nvCxnSpPr>
        <p:spPr>
          <a:xfrm>
            <a:off x="6789420" y="2811780"/>
            <a:ext cx="514500" cy="0"/>
          </a:xfrm>
          <a:prstGeom prst="straightConnector1">
            <a:avLst/>
          </a:prstGeom>
          <a:noFill/>
          <a:ln cap="flat" cmpd="sng" w="23825">
            <a:solidFill>
              <a:srgbClr val="8195A5"/>
            </a:solidFill>
            <a:prstDash val="solid"/>
            <a:round/>
            <a:headEnd len="sm" w="sm" type="none"/>
            <a:tailEnd len="med" w="med" type="triangle"/>
          </a:ln>
        </p:spPr>
      </p:cxnSp>
      <p:sp>
        <p:nvSpPr>
          <p:cNvPr id="458" name="Google Shape;458;p23"/>
          <p:cNvSpPr/>
          <p:nvPr/>
        </p:nvSpPr>
        <p:spPr>
          <a:xfrm>
            <a:off x="6665976" y="2489454"/>
            <a:ext cx="7545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800"/>
              <a:buFont typeface="Calibri"/>
              <a:buNone/>
            </a:pPr>
            <a:r>
              <a:rPr b="0" i="1" lang="en" sz="800" u="none" cap="none" strike="noStrike">
                <a:solidFill>
                  <a:srgbClr val="8195A5"/>
                </a:solidFill>
                <a:latin typeface="Calibri"/>
                <a:ea typeface="Calibri"/>
                <a:cs typeface="Calibri"/>
                <a:sym typeface="Calibri"/>
              </a:rPr>
              <a:t>store</a:t>
            </a:r>
            <a:endParaRPr b="0" i="0" sz="800" u="none" cap="none" strike="noStrike">
              <a:solidFill>
                <a:schemeClr val="dk1"/>
              </a:solidFill>
              <a:latin typeface="Calibri"/>
              <a:ea typeface="Calibri"/>
              <a:cs typeface="Calibri"/>
              <a:sym typeface="Calibri"/>
            </a:endParaRPr>
          </a:p>
        </p:txBody>
      </p:sp>
      <p:sp>
        <p:nvSpPr>
          <p:cNvPr id="459" name="Google Shape;459;p23"/>
          <p:cNvSpPr/>
          <p:nvPr/>
        </p:nvSpPr>
        <p:spPr>
          <a:xfrm>
            <a:off x="7372350" y="1988820"/>
            <a:ext cx="1371600" cy="1748700"/>
          </a:xfrm>
          <a:prstGeom prst="roundRect">
            <a:avLst>
              <a:gd fmla="val 6000" name="adj"/>
            </a:avLst>
          </a:prstGeom>
          <a:solidFill>
            <a:srgbClr val="13203A"/>
          </a:solidFill>
          <a:ln>
            <a:noFill/>
          </a:ln>
          <a:effectLst>
            <a:outerShdw blurRad="114300" rotWithShape="0" algn="bl" dir="5400000" dist="38100">
              <a:srgbClr val="000000">
                <a:alpha val="451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0" name="Google Shape;460;p23"/>
          <p:cNvSpPr/>
          <p:nvPr/>
        </p:nvSpPr>
        <p:spPr>
          <a:xfrm>
            <a:off x="7372350" y="2125980"/>
            <a:ext cx="1371600" cy="20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6FA8CC"/>
              </a:buClr>
              <a:buSzPts val="800"/>
              <a:buFont typeface="Calibri"/>
              <a:buNone/>
            </a:pPr>
            <a:r>
              <a:rPr b="1" i="0" lang="en" sz="800" u="none" cap="none" strike="noStrike">
                <a:solidFill>
                  <a:srgbClr val="6FA8CC"/>
                </a:solidFill>
                <a:latin typeface="Calibri"/>
                <a:ea typeface="Calibri"/>
                <a:cs typeface="Calibri"/>
                <a:sym typeface="Calibri"/>
              </a:rPr>
              <a:t>stored code</a:t>
            </a:r>
            <a:endParaRPr b="0" i="0" sz="800" u="none" cap="none" strike="noStrike">
              <a:solidFill>
                <a:schemeClr val="dk1"/>
              </a:solidFill>
              <a:latin typeface="Calibri"/>
              <a:ea typeface="Calibri"/>
              <a:cs typeface="Calibri"/>
              <a:sym typeface="Calibri"/>
            </a:endParaRPr>
          </a:p>
        </p:txBody>
      </p:sp>
      <p:sp>
        <p:nvSpPr>
          <p:cNvPr id="461" name="Google Shape;461;p23"/>
          <p:cNvSpPr/>
          <p:nvPr/>
        </p:nvSpPr>
        <p:spPr>
          <a:xfrm>
            <a:off x="7372350" y="2366010"/>
            <a:ext cx="1371600" cy="4803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E8A94A"/>
              </a:buClr>
              <a:buSzPts val="2300"/>
              <a:buFont typeface="Cambria"/>
              <a:buNone/>
            </a:pPr>
            <a:r>
              <a:rPr b="1" i="0" lang="en" sz="2300" u="none" cap="none" strike="noStrike">
                <a:solidFill>
                  <a:srgbClr val="E8A94A"/>
                </a:solidFill>
                <a:latin typeface="Cambria"/>
                <a:ea typeface="Cambria"/>
                <a:cs typeface="Cambria"/>
                <a:sym typeface="Cambria"/>
              </a:rPr>
              <a:t>8 bytes</a:t>
            </a:r>
            <a:endParaRPr b="0" i="0" sz="2300" u="none" cap="none" strike="noStrike">
              <a:solidFill>
                <a:schemeClr val="dk1"/>
              </a:solidFill>
              <a:latin typeface="Calibri"/>
              <a:ea typeface="Calibri"/>
              <a:cs typeface="Calibri"/>
              <a:sym typeface="Calibri"/>
            </a:endParaRPr>
          </a:p>
        </p:txBody>
      </p:sp>
      <p:sp>
        <p:nvSpPr>
          <p:cNvPr id="462" name="Google Shape;462;p23"/>
          <p:cNvSpPr/>
          <p:nvPr/>
        </p:nvSpPr>
        <p:spPr>
          <a:xfrm>
            <a:off x="7372350" y="2948940"/>
            <a:ext cx="1371600" cy="548400"/>
          </a:xfrm>
          <a:prstGeom prst="rect">
            <a:avLst/>
          </a:prstGeom>
          <a:noFill/>
          <a:ln>
            <a:noFill/>
          </a:ln>
        </p:spPr>
        <p:txBody>
          <a:bodyPr anchorCtr="0" anchor="ctr" bIns="34275" lIns="68575" spcFirstLastPara="1" rIns="68575" wrap="square" tIns="34275">
            <a:noAutofit/>
          </a:bodyPr>
          <a:lstStyle/>
          <a:p>
            <a:pPr indent="0" lvl="0" marL="0" marR="0" rtl="0" algn="ctr">
              <a:lnSpc>
                <a:spcPct val="110000"/>
              </a:lnSpc>
              <a:spcBef>
                <a:spcPts val="0"/>
              </a:spcBef>
              <a:spcAft>
                <a:spcPts val="0"/>
              </a:spcAft>
              <a:buClr>
                <a:srgbClr val="EAF2F6"/>
              </a:buClr>
              <a:buSzPts val="900"/>
              <a:buFont typeface="Calibri"/>
              <a:buNone/>
            </a:pPr>
            <a:r>
              <a:rPr b="0" i="1" lang="en" sz="900" u="none" cap="none" strike="noStrike">
                <a:solidFill>
                  <a:srgbClr val="EAF2F6"/>
                </a:solidFill>
                <a:latin typeface="Calibri"/>
                <a:ea typeface="Calibri"/>
                <a:cs typeface="Calibri"/>
                <a:sym typeface="Calibri"/>
              </a:rPr>
              <a:t>one per</a:t>
            </a:r>
            <a:endParaRPr b="0" i="0" sz="9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EAF2F6"/>
              </a:buClr>
              <a:buSzPts val="900"/>
              <a:buFont typeface="Calibri"/>
              <a:buNone/>
            </a:pPr>
            <a:r>
              <a:rPr b="0" i="1" lang="en" sz="900" u="none" cap="none" strike="noStrike">
                <a:solidFill>
                  <a:srgbClr val="EAF2F6"/>
                </a:solidFill>
                <a:latin typeface="Calibri"/>
                <a:ea typeface="Calibri"/>
                <a:cs typeface="Calibri"/>
                <a:sym typeface="Calibri"/>
              </a:rPr>
              <a:t>segment</a:t>
            </a:r>
            <a:endParaRPr b="0" i="0" sz="900" u="none" cap="none" strike="noStrike">
              <a:solidFill>
                <a:schemeClr val="dk1"/>
              </a:solidFill>
              <a:latin typeface="Calibri"/>
              <a:ea typeface="Calibri"/>
              <a:cs typeface="Calibri"/>
              <a:sym typeface="Calibri"/>
            </a:endParaRPr>
          </a:p>
        </p:txBody>
      </p:sp>
      <p:sp>
        <p:nvSpPr>
          <p:cNvPr id="463" name="Google Shape;463;p23"/>
          <p:cNvSpPr/>
          <p:nvPr/>
        </p:nvSpPr>
        <p:spPr>
          <a:xfrm>
            <a:off x="411480" y="3943350"/>
            <a:ext cx="8332500" cy="582900"/>
          </a:xfrm>
          <a:prstGeom prst="roundRect">
            <a:avLst>
              <a:gd fmla="val 9412" name="adj"/>
            </a:avLst>
          </a:prstGeom>
          <a:solidFill>
            <a:srgbClr val="F4F8FB"/>
          </a:solidFill>
          <a:ln cap="flat" cmpd="sng" w="9525">
            <a:solidFill>
              <a:srgbClr val="CB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4" name="Google Shape;464;p23"/>
          <p:cNvSpPr/>
          <p:nvPr/>
        </p:nvSpPr>
        <p:spPr>
          <a:xfrm>
            <a:off x="617220" y="3943350"/>
            <a:ext cx="78867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100"/>
              <a:buFont typeface="Courier New"/>
              <a:buNone/>
            </a:pPr>
            <a:r>
              <a:rPr b="1" i="0" lang="en" sz="1100" u="none" cap="none" strike="noStrike">
                <a:solidFill>
                  <a:srgbClr val="13203A"/>
                </a:solidFill>
                <a:latin typeface="Courier New"/>
                <a:ea typeface="Courier New"/>
                <a:cs typeface="Courier New"/>
                <a:sym typeface="Courier New"/>
              </a:rPr>
              <a:t>d₂  →  [ 42, 201, 7, …, 99 ]</a:t>
            </a:r>
            <a:r>
              <a:rPr b="0" i="0" lang="en" sz="1100" u="none" cap="none" strike="noStrike">
                <a:solidFill>
                  <a:srgbClr val="44586A"/>
                </a:solidFill>
                <a:latin typeface="Calibri"/>
                <a:ea typeface="Calibri"/>
                <a:cs typeface="Calibri"/>
                <a:sym typeface="Calibri"/>
              </a:rPr>
              <a:t>     8 one-byte IDs replace 768 floats. Every vector encodes the same way.</a:t>
            </a:r>
            <a:endParaRPr b="0" i="0" sz="1100" u="none" cap="none" strike="noStrike">
              <a:solidFill>
                <a:schemeClr val="dk1"/>
              </a:solidFill>
              <a:latin typeface="Calibri"/>
              <a:ea typeface="Calibri"/>
              <a:cs typeface="Calibri"/>
              <a:sym typeface="Calibri"/>
            </a:endParaRPr>
          </a:p>
        </p:txBody>
      </p:sp>
      <p:sp>
        <p:nvSpPr>
          <p:cNvPr id="465" name="Google Shape;465;p23"/>
          <p:cNvSpPr/>
          <p:nvPr/>
        </p:nvSpPr>
        <p:spPr>
          <a:xfrm>
            <a:off x="342900" y="4814316"/>
            <a:ext cx="48006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Product Quantization  ·  at scale</a:t>
            </a:r>
            <a:endParaRPr b="0" i="0" sz="700" u="none" cap="none" strike="noStrike">
              <a:solidFill>
                <a:schemeClr val="dk1"/>
              </a:solidFill>
              <a:latin typeface="Calibri"/>
              <a:ea typeface="Calibri"/>
              <a:cs typeface="Calibri"/>
              <a:sym typeface="Calibri"/>
            </a:endParaRPr>
          </a:p>
        </p:txBody>
      </p:sp>
      <p:sp>
        <p:nvSpPr>
          <p:cNvPr id="466" name="Google Shape;466;p23"/>
          <p:cNvSpPr/>
          <p:nvPr/>
        </p:nvSpPr>
        <p:spPr>
          <a:xfrm>
            <a:off x="8572500" y="4814316"/>
            <a:ext cx="2742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24"/>
          <p:cNvSpPr/>
          <p:nvPr/>
        </p:nvSpPr>
        <p:spPr>
          <a:xfrm>
            <a:off x="411480" y="288036"/>
            <a:ext cx="7543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55C7D"/>
              </a:buClr>
              <a:buSzPts val="900"/>
              <a:buFont typeface="Calibri"/>
              <a:buNone/>
            </a:pPr>
            <a:r>
              <a:rPr b="1" i="0" lang="en" sz="900" u="none" cap="none" strike="noStrike">
                <a:solidFill>
                  <a:srgbClr val="355C7D"/>
                </a:solidFill>
                <a:latin typeface="Calibri"/>
                <a:ea typeface="Calibri"/>
                <a:cs typeface="Calibri"/>
                <a:sym typeface="Calibri"/>
              </a:rPr>
              <a:t>THE PAYOFF</a:t>
            </a:r>
            <a:endParaRPr b="0" i="0" sz="900" u="none" cap="none" strike="noStrike">
              <a:solidFill>
                <a:schemeClr val="dk1"/>
              </a:solidFill>
              <a:latin typeface="Calibri"/>
              <a:ea typeface="Calibri"/>
              <a:cs typeface="Calibri"/>
              <a:sym typeface="Calibri"/>
            </a:endParaRPr>
          </a:p>
        </p:txBody>
      </p:sp>
      <p:sp>
        <p:nvSpPr>
          <p:cNvPr id="473" name="Google Shape;473;p24"/>
          <p:cNvSpPr/>
          <p:nvPr/>
        </p:nvSpPr>
        <p:spPr>
          <a:xfrm>
            <a:off x="397764" y="480060"/>
            <a:ext cx="83670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2300"/>
              <a:buFont typeface="Cambria"/>
              <a:buNone/>
            </a:pPr>
            <a:r>
              <a:rPr b="1" i="0" lang="en" sz="2300" u="none" cap="none" strike="noStrike">
                <a:solidFill>
                  <a:srgbClr val="13203A"/>
                </a:solidFill>
                <a:latin typeface="Cambria"/>
                <a:ea typeface="Cambria"/>
                <a:cs typeface="Cambria"/>
                <a:sym typeface="Cambria"/>
              </a:rPr>
              <a:t>One million vectors, a fraction of the memory</a:t>
            </a:r>
            <a:endParaRPr b="0" i="0" sz="2300" u="none" cap="none" strike="noStrike">
              <a:solidFill>
                <a:schemeClr val="dk1"/>
              </a:solidFill>
              <a:latin typeface="Calibri"/>
              <a:ea typeface="Calibri"/>
              <a:cs typeface="Calibri"/>
              <a:sym typeface="Calibri"/>
            </a:endParaRPr>
          </a:p>
        </p:txBody>
      </p:sp>
      <p:sp>
        <p:nvSpPr>
          <p:cNvPr id="474" name="Google Shape;474;p24"/>
          <p:cNvSpPr/>
          <p:nvPr/>
        </p:nvSpPr>
        <p:spPr>
          <a:xfrm>
            <a:off x="411480" y="1268730"/>
            <a:ext cx="2537700" cy="1474500"/>
          </a:xfrm>
          <a:prstGeom prst="roundRect">
            <a:avLst>
              <a:gd fmla="val 5581" name="adj"/>
            </a:avLst>
          </a:prstGeom>
          <a:solidFill>
            <a:srgbClr val="F4F8FB"/>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5" name="Google Shape;475;p24"/>
          <p:cNvSpPr/>
          <p:nvPr/>
        </p:nvSpPr>
        <p:spPr>
          <a:xfrm>
            <a:off x="603504" y="1405890"/>
            <a:ext cx="2194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4D6E"/>
              </a:buClr>
              <a:buSzPts val="900"/>
              <a:buFont typeface="Calibri"/>
              <a:buNone/>
            </a:pPr>
            <a:r>
              <a:rPr b="1" i="0" lang="en" sz="900" u="none" cap="none" strike="noStrike">
                <a:solidFill>
                  <a:srgbClr val="0E4D6E"/>
                </a:solidFill>
                <a:latin typeface="Calibri"/>
                <a:ea typeface="Calibri"/>
                <a:cs typeface="Calibri"/>
                <a:sym typeface="Calibri"/>
              </a:rPr>
              <a:t>BEFORE</a:t>
            </a:r>
            <a:endParaRPr b="0" i="0" sz="900" u="none" cap="none" strike="noStrike">
              <a:solidFill>
                <a:schemeClr val="dk1"/>
              </a:solidFill>
              <a:latin typeface="Calibri"/>
              <a:ea typeface="Calibri"/>
              <a:cs typeface="Calibri"/>
              <a:sym typeface="Calibri"/>
            </a:endParaRPr>
          </a:p>
        </p:txBody>
      </p:sp>
      <p:sp>
        <p:nvSpPr>
          <p:cNvPr id="476" name="Google Shape;476;p24"/>
          <p:cNvSpPr/>
          <p:nvPr/>
        </p:nvSpPr>
        <p:spPr>
          <a:xfrm>
            <a:off x="603504" y="1591056"/>
            <a:ext cx="21948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4D6E"/>
              </a:buClr>
              <a:buSzPts val="2900"/>
              <a:buFont typeface="Cambria"/>
              <a:buNone/>
            </a:pPr>
            <a:r>
              <a:rPr b="1" i="0" lang="en" sz="2900" u="none" cap="none" strike="noStrike">
                <a:solidFill>
                  <a:srgbClr val="0E4D6E"/>
                </a:solidFill>
                <a:latin typeface="Cambria"/>
                <a:ea typeface="Cambria"/>
                <a:cs typeface="Cambria"/>
                <a:sym typeface="Cambria"/>
              </a:rPr>
              <a:t>3 GB</a:t>
            </a:r>
            <a:endParaRPr b="0" i="0" sz="2900" u="none" cap="none" strike="noStrike">
              <a:solidFill>
                <a:schemeClr val="dk1"/>
              </a:solidFill>
              <a:latin typeface="Calibri"/>
              <a:ea typeface="Calibri"/>
              <a:cs typeface="Calibri"/>
              <a:sym typeface="Calibri"/>
            </a:endParaRPr>
          </a:p>
        </p:txBody>
      </p:sp>
      <p:sp>
        <p:nvSpPr>
          <p:cNvPr id="477" name="Google Shape;477;p24"/>
          <p:cNvSpPr/>
          <p:nvPr/>
        </p:nvSpPr>
        <p:spPr>
          <a:xfrm>
            <a:off x="603504" y="2228850"/>
            <a:ext cx="21948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5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1M × 768-dim</a:t>
            </a:r>
            <a:endParaRPr b="0" i="0" sz="9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as 32-bit floats</a:t>
            </a:r>
            <a:endParaRPr b="0" i="0" sz="900" u="none" cap="none" strike="noStrike">
              <a:solidFill>
                <a:schemeClr val="dk1"/>
              </a:solidFill>
              <a:latin typeface="Calibri"/>
              <a:ea typeface="Calibri"/>
              <a:cs typeface="Calibri"/>
              <a:sym typeface="Calibri"/>
            </a:endParaRPr>
          </a:p>
        </p:txBody>
      </p:sp>
      <p:sp>
        <p:nvSpPr>
          <p:cNvPr id="478" name="Google Shape;478;p24"/>
          <p:cNvSpPr/>
          <p:nvPr/>
        </p:nvSpPr>
        <p:spPr>
          <a:xfrm>
            <a:off x="3031236" y="1748790"/>
            <a:ext cx="548400" cy="4803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2900"/>
              <a:buFont typeface="Calibri"/>
              <a:buNone/>
            </a:pPr>
            <a:r>
              <a:rPr b="1" i="0" lang="en" sz="2900" u="none" cap="none" strike="noStrike">
                <a:solidFill>
                  <a:srgbClr val="8195A5"/>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479" name="Google Shape;479;p24"/>
          <p:cNvSpPr/>
          <p:nvPr/>
        </p:nvSpPr>
        <p:spPr>
          <a:xfrm>
            <a:off x="3634740" y="1268730"/>
            <a:ext cx="2537700" cy="1474500"/>
          </a:xfrm>
          <a:prstGeom prst="roundRect">
            <a:avLst>
              <a:gd fmla="val 5581" name="adj"/>
            </a:avLst>
          </a:prstGeom>
          <a:solidFill>
            <a:srgbClr val="E2F0E8"/>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0" name="Google Shape;480;p24"/>
          <p:cNvSpPr/>
          <p:nvPr/>
        </p:nvSpPr>
        <p:spPr>
          <a:xfrm>
            <a:off x="3826764" y="1405890"/>
            <a:ext cx="2194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8B57"/>
              </a:buClr>
              <a:buSzPts val="900"/>
              <a:buFont typeface="Calibri"/>
              <a:buNone/>
            </a:pPr>
            <a:r>
              <a:rPr b="1" i="0" lang="en" sz="900" u="none" cap="none" strike="noStrike">
                <a:solidFill>
                  <a:srgbClr val="2E8B57"/>
                </a:solidFill>
                <a:latin typeface="Calibri"/>
                <a:ea typeface="Calibri"/>
                <a:cs typeface="Calibri"/>
                <a:sym typeface="Calibri"/>
              </a:rPr>
              <a:t>AFTER</a:t>
            </a:r>
            <a:endParaRPr b="0" i="0" sz="900" u="none" cap="none" strike="noStrike">
              <a:solidFill>
                <a:schemeClr val="dk1"/>
              </a:solidFill>
              <a:latin typeface="Calibri"/>
              <a:ea typeface="Calibri"/>
              <a:cs typeface="Calibri"/>
              <a:sym typeface="Calibri"/>
            </a:endParaRPr>
          </a:p>
        </p:txBody>
      </p:sp>
      <p:sp>
        <p:nvSpPr>
          <p:cNvPr id="481" name="Google Shape;481;p24"/>
          <p:cNvSpPr/>
          <p:nvPr/>
        </p:nvSpPr>
        <p:spPr>
          <a:xfrm>
            <a:off x="3826764" y="1591056"/>
            <a:ext cx="21948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8B57"/>
              </a:buClr>
              <a:buSzPts val="2900"/>
              <a:buFont typeface="Cambria"/>
              <a:buNone/>
            </a:pPr>
            <a:r>
              <a:rPr b="1" i="0" lang="en" sz="2900" u="none" cap="none" strike="noStrike">
                <a:solidFill>
                  <a:srgbClr val="2E8B57"/>
                </a:solidFill>
                <a:latin typeface="Cambria"/>
                <a:ea typeface="Cambria"/>
                <a:cs typeface="Cambria"/>
                <a:sym typeface="Cambria"/>
              </a:rPr>
              <a:t>8 MB</a:t>
            </a:r>
            <a:endParaRPr b="0" i="0" sz="2900" u="none" cap="none" strike="noStrike">
              <a:solidFill>
                <a:schemeClr val="dk1"/>
              </a:solidFill>
              <a:latin typeface="Calibri"/>
              <a:ea typeface="Calibri"/>
              <a:cs typeface="Calibri"/>
              <a:sym typeface="Calibri"/>
            </a:endParaRPr>
          </a:p>
        </p:txBody>
      </p:sp>
      <p:sp>
        <p:nvSpPr>
          <p:cNvPr id="482" name="Google Shape;482;p24"/>
          <p:cNvSpPr/>
          <p:nvPr/>
        </p:nvSpPr>
        <p:spPr>
          <a:xfrm>
            <a:off x="3826764" y="2228850"/>
            <a:ext cx="2194800" cy="411600"/>
          </a:xfrm>
          <a:prstGeom prst="rect">
            <a:avLst/>
          </a:prstGeom>
          <a:noFill/>
          <a:ln>
            <a:noFill/>
          </a:ln>
        </p:spPr>
        <p:txBody>
          <a:bodyPr anchorCtr="0" anchor="t" bIns="34275" lIns="68575" spcFirstLastPara="1" rIns="68575" wrap="square" tIns="34275">
            <a:noAutofit/>
          </a:bodyPr>
          <a:lstStyle/>
          <a:p>
            <a:pPr indent="0" lvl="0" marL="0" marR="0" rtl="0" algn="l">
              <a:lnSpc>
                <a:spcPct val="105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1M × 8 one-byte</a:t>
            </a:r>
            <a:endParaRPr b="0" i="0" sz="9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segment IDs</a:t>
            </a:r>
            <a:endParaRPr b="0" i="0" sz="900" u="none" cap="none" strike="noStrike">
              <a:solidFill>
                <a:schemeClr val="dk1"/>
              </a:solidFill>
              <a:latin typeface="Calibri"/>
              <a:ea typeface="Calibri"/>
              <a:cs typeface="Calibri"/>
              <a:sym typeface="Calibri"/>
            </a:endParaRPr>
          </a:p>
        </p:txBody>
      </p:sp>
      <p:sp>
        <p:nvSpPr>
          <p:cNvPr id="483" name="Google Shape;483;p24"/>
          <p:cNvSpPr/>
          <p:nvPr/>
        </p:nvSpPr>
        <p:spPr>
          <a:xfrm>
            <a:off x="6480810" y="1268730"/>
            <a:ext cx="2249400" cy="1474500"/>
          </a:xfrm>
          <a:prstGeom prst="roundRect">
            <a:avLst>
              <a:gd fmla="val 5581" name="adj"/>
            </a:avLst>
          </a:prstGeom>
          <a:solidFill>
            <a:srgbClr val="13203A"/>
          </a:solidFill>
          <a:ln>
            <a:noFill/>
          </a:ln>
          <a:effectLst>
            <a:outerShdw blurRad="114300" rotWithShape="0" algn="bl" dir="5400000" dist="38100">
              <a:srgbClr val="000000">
                <a:alpha val="451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4" name="Google Shape;484;p24"/>
          <p:cNvSpPr/>
          <p:nvPr/>
        </p:nvSpPr>
        <p:spPr>
          <a:xfrm>
            <a:off x="6480810" y="1385316"/>
            <a:ext cx="2249400"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E8A94A"/>
              </a:buClr>
              <a:buSzPts val="3500"/>
              <a:buFont typeface="Cambria"/>
              <a:buNone/>
            </a:pPr>
            <a:r>
              <a:rPr b="1" i="0" lang="en" sz="3500" u="none" cap="none" strike="noStrike">
                <a:solidFill>
                  <a:srgbClr val="E8A94A"/>
                </a:solidFill>
                <a:latin typeface="Cambria"/>
                <a:ea typeface="Cambria"/>
                <a:cs typeface="Cambria"/>
                <a:sym typeface="Cambria"/>
              </a:rPr>
              <a:t>384×</a:t>
            </a:r>
            <a:endParaRPr b="0" i="0" sz="3500" u="none" cap="none" strike="noStrike">
              <a:solidFill>
                <a:schemeClr val="dk1"/>
              </a:solidFill>
              <a:latin typeface="Calibri"/>
              <a:ea typeface="Calibri"/>
              <a:cs typeface="Calibri"/>
              <a:sym typeface="Calibri"/>
            </a:endParaRPr>
          </a:p>
        </p:txBody>
      </p:sp>
      <p:sp>
        <p:nvSpPr>
          <p:cNvPr id="485" name="Google Shape;485;p24"/>
          <p:cNvSpPr/>
          <p:nvPr/>
        </p:nvSpPr>
        <p:spPr>
          <a:xfrm>
            <a:off x="6480810" y="2112264"/>
            <a:ext cx="2249400" cy="480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EAF2F6"/>
              </a:buClr>
              <a:buSzPts val="1100"/>
              <a:buFont typeface="Calibri"/>
              <a:buNone/>
            </a:pPr>
            <a:r>
              <a:rPr b="0" i="0" lang="en" sz="1100" u="none" cap="none" strike="noStrike">
                <a:solidFill>
                  <a:srgbClr val="EAF2F6"/>
                </a:solidFill>
                <a:latin typeface="Calibri"/>
                <a:ea typeface="Calibri"/>
                <a:cs typeface="Calibri"/>
                <a:sym typeface="Calibri"/>
              </a:rPr>
              <a:t>smaller  ·  ~99.7% saved</a:t>
            </a:r>
            <a:endParaRPr b="0" i="0" sz="1100" u="none" cap="none" strike="noStrike">
              <a:solidFill>
                <a:schemeClr val="dk1"/>
              </a:solidFill>
              <a:latin typeface="Calibri"/>
              <a:ea typeface="Calibri"/>
              <a:cs typeface="Calibri"/>
              <a:sym typeface="Calibri"/>
            </a:endParaRPr>
          </a:p>
        </p:txBody>
      </p:sp>
      <p:sp>
        <p:nvSpPr>
          <p:cNvPr id="486" name="Google Shape;486;p24"/>
          <p:cNvSpPr/>
          <p:nvPr/>
        </p:nvSpPr>
        <p:spPr>
          <a:xfrm>
            <a:off x="411480" y="2983230"/>
            <a:ext cx="4114800" cy="1509000"/>
          </a:xfrm>
          <a:prstGeom prst="roundRect">
            <a:avLst>
              <a:gd fmla="val 4545" name="adj"/>
            </a:avLst>
          </a:prstGeom>
          <a:solidFill>
            <a:srgbClr val="F4F8FB"/>
          </a:solidFill>
          <a:ln cap="flat" cmpd="sng" w="9525">
            <a:solidFill>
              <a:srgbClr val="CB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7" name="Google Shape;487;p24"/>
          <p:cNvSpPr/>
          <p:nvPr/>
        </p:nvSpPr>
        <p:spPr>
          <a:xfrm>
            <a:off x="582930" y="3120390"/>
            <a:ext cx="37719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300"/>
              <a:buFont typeface="Cambria"/>
              <a:buNone/>
            </a:pPr>
            <a:r>
              <a:rPr b="1" i="0" lang="en" sz="1300" u="none" cap="none" strike="noStrike">
                <a:solidFill>
                  <a:srgbClr val="13203A"/>
                </a:solidFill>
                <a:latin typeface="Cambria"/>
                <a:ea typeface="Cambria"/>
                <a:cs typeface="Cambria"/>
                <a:sym typeface="Cambria"/>
              </a:rPr>
              <a:t>Size per vector</a:t>
            </a:r>
            <a:endParaRPr b="0" i="0" sz="1300" u="none" cap="none" strike="noStrike">
              <a:solidFill>
                <a:schemeClr val="dk1"/>
              </a:solidFill>
              <a:latin typeface="Calibri"/>
              <a:ea typeface="Calibri"/>
              <a:cs typeface="Calibri"/>
              <a:sym typeface="Calibri"/>
            </a:endParaRPr>
          </a:p>
        </p:txBody>
      </p:sp>
      <p:sp>
        <p:nvSpPr>
          <p:cNvPr id="488" name="Google Shape;488;p24"/>
          <p:cNvSpPr/>
          <p:nvPr/>
        </p:nvSpPr>
        <p:spPr>
          <a:xfrm>
            <a:off x="582930" y="3429000"/>
            <a:ext cx="37719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E4D6E"/>
              </a:buClr>
              <a:buSzPts val="1100"/>
              <a:buFont typeface="Courier New"/>
              <a:buNone/>
            </a:pPr>
            <a:r>
              <a:rPr b="1" i="0" lang="en" sz="1100" u="none" cap="none" strike="noStrike">
                <a:solidFill>
                  <a:srgbClr val="0E4D6E"/>
                </a:solidFill>
                <a:latin typeface="Courier New"/>
                <a:ea typeface="Courier New"/>
                <a:cs typeface="Courier New"/>
                <a:sym typeface="Courier New"/>
              </a:rPr>
              <a:t>raw</a:t>
            </a:r>
            <a:r>
              <a:rPr b="0" i="0" lang="en" sz="1100" u="none" cap="none" strike="noStrike">
                <a:solidFill>
                  <a:srgbClr val="44586A"/>
                </a:solidFill>
                <a:latin typeface="Courier New"/>
                <a:ea typeface="Courier New"/>
                <a:cs typeface="Courier New"/>
                <a:sym typeface="Courier New"/>
              </a:rPr>
              <a:t>   =  D × 4 bytes   (3 KB at D=768)</a:t>
            </a:r>
            <a:endParaRPr b="0" i="0" sz="1100" u="none" cap="none" strike="noStrike">
              <a:solidFill>
                <a:schemeClr val="dk1"/>
              </a:solidFill>
              <a:latin typeface="Calibri"/>
              <a:ea typeface="Calibri"/>
              <a:cs typeface="Calibri"/>
              <a:sym typeface="Calibri"/>
            </a:endParaRPr>
          </a:p>
        </p:txBody>
      </p:sp>
      <p:sp>
        <p:nvSpPr>
          <p:cNvPr id="489" name="Google Shape;489;p24"/>
          <p:cNvSpPr/>
          <p:nvPr/>
        </p:nvSpPr>
        <p:spPr>
          <a:xfrm>
            <a:off x="582930" y="3771900"/>
            <a:ext cx="37719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8B57"/>
              </a:buClr>
              <a:buSzPts val="1100"/>
              <a:buFont typeface="Courier New"/>
              <a:buNone/>
            </a:pPr>
            <a:r>
              <a:rPr b="1" i="0" lang="en" sz="1100" u="none" cap="none" strike="noStrike">
                <a:solidFill>
                  <a:srgbClr val="2E8B57"/>
                </a:solidFill>
                <a:latin typeface="Courier New"/>
                <a:ea typeface="Courier New"/>
                <a:cs typeface="Courier New"/>
                <a:sym typeface="Courier New"/>
              </a:rPr>
              <a:t>coded</a:t>
            </a:r>
            <a:r>
              <a:rPr b="0" i="0" lang="en" sz="1100" u="none" cap="none" strike="noStrike">
                <a:solidFill>
                  <a:srgbClr val="44586A"/>
                </a:solidFill>
                <a:latin typeface="Courier New"/>
                <a:ea typeface="Courier New"/>
                <a:cs typeface="Courier New"/>
                <a:sym typeface="Courier New"/>
              </a:rPr>
              <a:t> =  m bytes  =  8 bytes</a:t>
            </a:r>
            <a:endParaRPr b="0" i="0" sz="1100" u="none" cap="none" strike="noStrike">
              <a:solidFill>
                <a:schemeClr val="dk1"/>
              </a:solidFill>
              <a:latin typeface="Calibri"/>
              <a:ea typeface="Calibri"/>
              <a:cs typeface="Calibri"/>
              <a:sym typeface="Calibri"/>
            </a:endParaRPr>
          </a:p>
        </p:txBody>
      </p:sp>
      <p:sp>
        <p:nvSpPr>
          <p:cNvPr id="490" name="Google Shape;490;p24"/>
          <p:cNvSpPr/>
          <p:nvPr/>
        </p:nvSpPr>
        <p:spPr>
          <a:xfrm>
            <a:off x="582930" y="4114800"/>
            <a:ext cx="37719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8195A5"/>
              </a:buClr>
              <a:buSzPts val="1000"/>
              <a:buFont typeface="Calibri"/>
              <a:buNone/>
            </a:pPr>
            <a:r>
              <a:rPr b="0" i="1" lang="en" sz="1000" u="none" cap="none" strike="noStrike">
                <a:solidFill>
                  <a:srgbClr val="8195A5"/>
                </a:solidFill>
                <a:latin typeface="Calibri"/>
                <a:ea typeface="Calibri"/>
                <a:cs typeface="Calibri"/>
                <a:sym typeface="Calibri"/>
              </a:rPr>
              <a:t>m = 8 segments, K = 256 → one byte each. Independent of D.</a:t>
            </a:r>
            <a:endParaRPr b="0" i="0" sz="1000" u="none" cap="none" strike="noStrike">
              <a:solidFill>
                <a:schemeClr val="dk1"/>
              </a:solidFill>
              <a:latin typeface="Calibri"/>
              <a:ea typeface="Calibri"/>
              <a:cs typeface="Calibri"/>
              <a:sym typeface="Calibri"/>
            </a:endParaRPr>
          </a:p>
        </p:txBody>
      </p:sp>
      <p:sp>
        <p:nvSpPr>
          <p:cNvPr id="491" name="Google Shape;491;p24"/>
          <p:cNvSpPr/>
          <p:nvPr/>
        </p:nvSpPr>
        <p:spPr>
          <a:xfrm>
            <a:off x="4697730" y="2983230"/>
            <a:ext cx="4032600" cy="1509000"/>
          </a:xfrm>
          <a:prstGeom prst="roundRect">
            <a:avLst>
              <a:gd fmla="val 4545" name="adj"/>
            </a:avLst>
          </a:prstGeom>
          <a:solidFill>
            <a:srgbClr val="E7EF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2" name="Google Shape;492;p24"/>
          <p:cNvSpPr/>
          <p:nvPr/>
        </p:nvSpPr>
        <p:spPr>
          <a:xfrm>
            <a:off x="4903470" y="3120390"/>
            <a:ext cx="37032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300"/>
              <a:buFont typeface="Cambria"/>
              <a:buNone/>
            </a:pPr>
            <a:r>
              <a:rPr b="1" i="0" lang="en" sz="1300" u="none" cap="none" strike="noStrike">
                <a:solidFill>
                  <a:srgbClr val="13203A"/>
                </a:solidFill>
                <a:latin typeface="Cambria"/>
                <a:ea typeface="Cambria"/>
                <a:cs typeface="Cambria"/>
                <a:sym typeface="Cambria"/>
              </a:rPr>
              <a:t>Why it matters at a million</a:t>
            </a:r>
            <a:endParaRPr b="0" i="0" sz="1300" u="none" cap="none" strike="noStrike">
              <a:solidFill>
                <a:schemeClr val="dk1"/>
              </a:solidFill>
              <a:latin typeface="Calibri"/>
              <a:ea typeface="Calibri"/>
              <a:cs typeface="Calibri"/>
              <a:sym typeface="Calibri"/>
            </a:endParaRPr>
          </a:p>
        </p:txBody>
      </p:sp>
      <p:sp>
        <p:nvSpPr>
          <p:cNvPr id="493" name="Google Shape;493;p24"/>
          <p:cNvSpPr/>
          <p:nvPr/>
        </p:nvSpPr>
        <p:spPr>
          <a:xfrm>
            <a:off x="4903470" y="3429000"/>
            <a:ext cx="3703200" cy="6858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44586A"/>
              </a:buClr>
              <a:buSzPts val="1100"/>
              <a:buFont typeface="Calibri"/>
              <a:buNone/>
            </a:pPr>
            <a:r>
              <a:rPr b="0" i="0" lang="en" sz="1100" u="none" cap="none" strike="noStrike">
                <a:solidFill>
                  <a:srgbClr val="44586A"/>
                </a:solidFill>
                <a:latin typeface="Calibri"/>
                <a:ea typeface="Calibri"/>
                <a:cs typeface="Calibri"/>
                <a:sym typeface="Calibri"/>
              </a:rPr>
              <a:t>3 GB of raw vectors strains memory and won’t scale to billions; 8 MB fits easily — the index stays in RAM and search stays fast.</a:t>
            </a:r>
            <a:endParaRPr b="0" i="0" sz="1100" u="none" cap="none" strike="noStrike">
              <a:solidFill>
                <a:schemeClr val="dk1"/>
              </a:solidFill>
              <a:latin typeface="Calibri"/>
              <a:ea typeface="Calibri"/>
              <a:cs typeface="Calibri"/>
              <a:sym typeface="Calibri"/>
            </a:endParaRPr>
          </a:p>
        </p:txBody>
      </p:sp>
      <p:sp>
        <p:nvSpPr>
          <p:cNvPr id="494" name="Google Shape;494;p24"/>
          <p:cNvSpPr/>
          <p:nvPr/>
        </p:nvSpPr>
        <p:spPr>
          <a:xfrm>
            <a:off x="4903470" y="4149090"/>
            <a:ext cx="37032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6FB0"/>
              </a:buClr>
              <a:buSzPts val="900"/>
              <a:buFont typeface="Calibri"/>
              <a:buNone/>
            </a:pPr>
            <a:r>
              <a:rPr b="0" i="1" lang="en" sz="900" u="none" cap="none" strike="noStrike">
                <a:solidFill>
                  <a:srgbClr val="2E6FB0"/>
                </a:solidFill>
                <a:latin typeface="Calibri"/>
                <a:ea typeface="Calibri"/>
                <a:cs typeface="Calibri"/>
                <a:sym typeface="Calibri"/>
              </a:rPr>
              <a:t>More segments (m) → slightly larger codes, better accuracy.</a:t>
            </a:r>
            <a:endParaRPr b="0" i="0" sz="900" u="none" cap="none" strike="noStrike">
              <a:solidFill>
                <a:schemeClr val="dk1"/>
              </a:solidFill>
              <a:latin typeface="Calibri"/>
              <a:ea typeface="Calibri"/>
              <a:cs typeface="Calibri"/>
              <a:sym typeface="Calibri"/>
            </a:endParaRPr>
          </a:p>
        </p:txBody>
      </p:sp>
      <p:sp>
        <p:nvSpPr>
          <p:cNvPr id="495" name="Google Shape;495;p24"/>
          <p:cNvSpPr/>
          <p:nvPr/>
        </p:nvSpPr>
        <p:spPr>
          <a:xfrm>
            <a:off x="342900" y="4814316"/>
            <a:ext cx="48006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Product Quantization  ·  at scale</a:t>
            </a:r>
            <a:endParaRPr b="0" i="0" sz="700" u="none" cap="none" strike="noStrike">
              <a:solidFill>
                <a:schemeClr val="dk1"/>
              </a:solidFill>
              <a:latin typeface="Calibri"/>
              <a:ea typeface="Calibri"/>
              <a:cs typeface="Calibri"/>
              <a:sym typeface="Calibri"/>
            </a:endParaRPr>
          </a:p>
        </p:txBody>
      </p:sp>
      <p:sp>
        <p:nvSpPr>
          <p:cNvPr id="496" name="Google Shape;496;p24"/>
          <p:cNvSpPr/>
          <p:nvPr/>
        </p:nvSpPr>
        <p:spPr>
          <a:xfrm>
            <a:off x="8572500" y="4814316"/>
            <a:ext cx="2742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5"/>
          <p:cNvSpPr/>
          <p:nvPr/>
        </p:nvSpPr>
        <p:spPr>
          <a:xfrm>
            <a:off x="3636475" y="907125"/>
            <a:ext cx="5303400" cy="1922100"/>
          </a:xfrm>
          <a:prstGeom prst="roundRect">
            <a:avLst>
              <a:gd fmla="val 7908" name="adj"/>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100"/>
              <a:buFont typeface="Arial"/>
              <a:buNone/>
            </a:pPr>
            <a:r>
              <a:t/>
            </a:r>
            <a:endParaRPr b="1" i="0" sz="1100" u="none" cap="none" strike="noStrike">
              <a:solidFill>
                <a:srgbClr val="000000"/>
              </a:solidFill>
              <a:latin typeface="Comic Sans MS"/>
              <a:ea typeface="Comic Sans MS"/>
              <a:cs typeface="Comic Sans MS"/>
              <a:sym typeface="Comic Sans MS"/>
            </a:endParaRPr>
          </a:p>
        </p:txBody>
      </p:sp>
      <p:sp>
        <p:nvSpPr>
          <p:cNvPr id="502" name="Google Shape;502;p25"/>
          <p:cNvSpPr/>
          <p:nvPr/>
        </p:nvSpPr>
        <p:spPr>
          <a:xfrm>
            <a:off x="3636475" y="2979375"/>
            <a:ext cx="5507400" cy="2065200"/>
          </a:xfrm>
          <a:prstGeom prst="roundRect">
            <a:avLst>
              <a:gd fmla="val 7908" name="adj"/>
            </a:avLst>
          </a:prstGeom>
          <a:noFill/>
          <a:ln cap="flat" cmpd="sng" w="2857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100"/>
              <a:buFont typeface="Arial"/>
              <a:buNone/>
            </a:pPr>
            <a:r>
              <a:t/>
            </a:r>
            <a:endParaRPr b="1" i="0" sz="1100" u="none" cap="none" strike="noStrike">
              <a:solidFill>
                <a:srgbClr val="000000"/>
              </a:solidFill>
              <a:latin typeface="Comic Sans MS"/>
              <a:ea typeface="Comic Sans MS"/>
              <a:cs typeface="Comic Sans MS"/>
              <a:sym typeface="Comic Sans MS"/>
            </a:endParaRPr>
          </a:p>
        </p:txBody>
      </p:sp>
      <p:cxnSp>
        <p:nvCxnSpPr>
          <p:cNvPr id="503" name="Google Shape;503;p25"/>
          <p:cNvCxnSpPr>
            <a:stCxn id="504" idx="0"/>
            <a:endCxn id="505" idx="2"/>
          </p:cNvCxnSpPr>
          <p:nvPr/>
        </p:nvCxnSpPr>
        <p:spPr>
          <a:xfrm>
            <a:off x="7382079" y="2708511"/>
            <a:ext cx="300" cy="604200"/>
          </a:xfrm>
          <a:prstGeom prst="straightConnector1">
            <a:avLst/>
          </a:prstGeom>
          <a:noFill/>
          <a:ln cap="flat" cmpd="sng" w="38100">
            <a:solidFill>
              <a:srgbClr val="CFE2F3"/>
            </a:solidFill>
            <a:prstDash val="solid"/>
            <a:round/>
            <a:headEnd len="sm" w="sm" type="none"/>
            <a:tailEnd len="med" w="med" type="triangle"/>
          </a:ln>
        </p:spPr>
      </p:cxnSp>
      <p:sp>
        <p:nvSpPr>
          <p:cNvPr id="506" name="Google Shape;506;p25"/>
          <p:cNvSpPr/>
          <p:nvPr/>
        </p:nvSpPr>
        <p:spPr>
          <a:xfrm rot="10800000">
            <a:off x="5343112" y="256717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07" name="Google Shape;507;p25"/>
          <p:cNvSpPr/>
          <p:nvPr/>
        </p:nvSpPr>
        <p:spPr>
          <a:xfrm rot="10800000">
            <a:off x="5154064" y="256717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08" name="Google Shape;508;p25"/>
          <p:cNvSpPr/>
          <p:nvPr/>
        </p:nvSpPr>
        <p:spPr>
          <a:xfrm rot="10800000">
            <a:off x="5343112" y="241440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09" name="Google Shape;509;p25"/>
          <p:cNvSpPr/>
          <p:nvPr/>
        </p:nvSpPr>
        <p:spPr>
          <a:xfrm rot="10800000">
            <a:off x="5154064" y="241440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10" name="Google Shape;510;p25"/>
          <p:cNvSpPr/>
          <p:nvPr/>
        </p:nvSpPr>
        <p:spPr>
          <a:xfrm rot="10800000">
            <a:off x="5343112" y="226212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11" name="Google Shape;511;p25"/>
          <p:cNvSpPr/>
          <p:nvPr/>
        </p:nvSpPr>
        <p:spPr>
          <a:xfrm rot="10800000">
            <a:off x="5154064" y="226212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12" name="Google Shape;512;p25"/>
          <p:cNvSpPr/>
          <p:nvPr/>
        </p:nvSpPr>
        <p:spPr>
          <a:xfrm rot="10800000">
            <a:off x="5343112" y="210984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13" name="Google Shape;513;p25"/>
          <p:cNvSpPr/>
          <p:nvPr/>
        </p:nvSpPr>
        <p:spPr>
          <a:xfrm rot="10800000">
            <a:off x="5154064" y="210984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14" name="Google Shape;514;p25"/>
          <p:cNvSpPr/>
          <p:nvPr/>
        </p:nvSpPr>
        <p:spPr>
          <a:xfrm rot="10800000">
            <a:off x="5343112" y="195658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15" name="Google Shape;515;p25"/>
          <p:cNvSpPr/>
          <p:nvPr/>
        </p:nvSpPr>
        <p:spPr>
          <a:xfrm rot="10800000">
            <a:off x="5154064" y="195658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16" name="Google Shape;516;p25"/>
          <p:cNvSpPr/>
          <p:nvPr/>
        </p:nvSpPr>
        <p:spPr>
          <a:xfrm rot="10800000">
            <a:off x="5343112" y="180479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17" name="Google Shape;517;p25"/>
          <p:cNvSpPr/>
          <p:nvPr/>
        </p:nvSpPr>
        <p:spPr>
          <a:xfrm rot="10800000">
            <a:off x="5154064" y="180479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18" name="Google Shape;518;p25"/>
          <p:cNvSpPr/>
          <p:nvPr/>
        </p:nvSpPr>
        <p:spPr>
          <a:xfrm rot="10800000">
            <a:off x="5342805" y="165056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19" name="Google Shape;519;p25"/>
          <p:cNvSpPr/>
          <p:nvPr/>
        </p:nvSpPr>
        <p:spPr>
          <a:xfrm rot="10800000">
            <a:off x="5153756" y="165056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20" name="Google Shape;520;p25"/>
          <p:cNvSpPr/>
          <p:nvPr/>
        </p:nvSpPr>
        <p:spPr>
          <a:xfrm rot="10800000">
            <a:off x="4964703" y="256570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21" name="Google Shape;521;p25"/>
          <p:cNvSpPr/>
          <p:nvPr/>
        </p:nvSpPr>
        <p:spPr>
          <a:xfrm rot="10800000">
            <a:off x="4775655" y="256570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22" name="Google Shape;522;p25"/>
          <p:cNvSpPr/>
          <p:nvPr/>
        </p:nvSpPr>
        <p:spPr>
          <a:xfrm rot="10800000">
            <a:off x="4585992" y="256619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23" name="Google Shape;523;p25"/>
          <p:cNvSpPr/>
          <p:nvPr/>
        </p:nvSpPr>
        <p:spPr>
          <a:xfrm rot="10800000">
            <a:off x="4396944" y="256619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24" name="Google Shape;524;p25"/>
          <p:cNvSpPr/>
          <p:nvPr/>
        </p:nvSpPr>
        <p:spPr>
          <a:xfrm rot="10800000">
            <a:off x="4964703" y="241293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25" name="Google Shape;525;p25"/>
          <p:cNvSpPr/>
          <p:nvPr/>
        </p:nvSpPr>
        <p:spPr>
          <a:xfrm rot="10800000">
            <a:off x="4775655" y="241293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26" name="Google Shape;526;p25"/>
          <p:cNvSpPr/>
          <p:nvPr/>
        </p:nvSpPr>
        <p:spPr>
          <a:xfrm rot="10800000">
            <a:off x="4585992" y="241343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27" name="Google Shape;527;p25"/>
          <p:cNvSpPr/>
          <p:nvPr/>
        </p:nvSpPr>
        <p:spPr>
          <a:xfrm rot="10800000">
            <a:off x="4396944" y="241343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28" name="Google Shape;528;p25"/>
          <p:cNvSpPr/>
          <p:nvPr/>
        </p:nvSpPr>
        <p:spPr>
          <a:xfrm rot="10800000">
            <a:off x="4964703" y="226065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29" name="Google Shape;529;p25"/>
          <p:cNvSpPr/>
          <p:nvPr/>
        </p:nvSpPr>
        <p:spPr>
          <a:xfrm rot="10800000">
            <a:off x="4775655" y="226065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30" name="Google Shape;530;p25"/>
          <p:cNvSpPr/>
          <p:nvPr/>
        </p:nvSpPr>
        <p:spPr>
          <a:xfrm rot="10800000">
            <a:off x="4585992" y="226115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31" name="Google Shape;531;p25"/>
          <p:cNvSpPr/>
          <p:nvPr/>
        </p:nvSpPr>
        <p:spPr>
          <a:xfrm rot="10800000">
            <a:off x="4396944" y="226115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32" name="Google Shape;532;p25"/>
          <p:cNvSpPr/>
          <p:nvPr/>
        </p:nvSpPr>
        <p:spPr>
          <a:xfrm rot="10800000">
            <a:off x="4964703" y="210838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33" name="Google Shape;533;p25"/>
          <p:cNvSpPr/>
          <p:nvPr/>
        </p:nvSpPr>
        <p:spPr>
          <a:xfrm rot="10800000">
            <a:off x="4775655" y="210838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34" name="Google Shape;534;p25"/>
          <p:cNvSpPr/>
          <p:nvPr/>
        </p:nvSpPr>
        <p:spPr>
          <a:xfrm rot="10800000">
            <a:off x="4585992" y="210887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35" name="Google Shape;535;p25"/>
          <p:cNvSpPr/>
          <p:nvPr/>
        </p:nvSpPr>
        <p:spPr>
          <a:xfrm rot="10800000">
            <a:off x="4396944" y="210887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36" name="Google Shape;536;p25"/>
          <p:cNvSpPr/>
          <p:nvPr/>
        </p:nvSpPr>
        <p:spPr>
          <a:xfrm rot="10800000">
            <a:off x="4964703" y="195512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37" name="Google Shape;537;p25"/>
          <p:cNvSpPr/>
          <p:nvPr/>
        </p:nvSpPr>
        <p:spPr>
          <a:xfrm rot="10800000">
            <a:off x="4775655" y="195512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38" name="Google Shape;538;p25"/>
          <p:cNvSpPr/>
          <p:nvPr/>
        </p:nvSpPr>
        <p:spPr>
          <a:xfrm rot="10800000">
            <a:off x="4585992" y="195561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39" name="Google Shape;539;p25"/>
          <p:cNvSpPr/>
          <p:nvPr/>
        </p:nvSpPr>
        <p:spPr>
          <a:xfrm rot="10800000">
            <a:off x="4396944" y="195561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40" name="Google Shape;540;p25"/>
          <p:cNvSpPr/>
          <p:nvPr/>
        </p:nvSpPr>
        <p:spPr>
          <a:xfrm rot="10800000">
            <a:off x="4964703" y="180333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41" name="Google Shape;541;p25"/>
          <p:cNvSpPr/>
          <p:nvPr/>
        </p:nvSpPr>
        <p:spPr>
          <a:xfrm rot="10800000">
            <a:off x="4775655" y="180333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42" name="Google Shape;542;p25"/>
          <p:cNvSpPr/>
          <p:nvPr/>
        </p:nvSpPr>
        <p:spPr>
          <a:xfrm rot="10800000">
            <a:off x="4585992" y="180382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43" name="Google Shape;543;p25"/>
          <p:cNvSpPr/>
          <p:nvPr/>
        </p:nvSpPr>
        <p:spPr>
          <a:xfrm rot="10800000">
            <a:off x="4396944" y="180382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44" name="Google Shape;544;p25"/>
          <p:cNvSpPr/>
          <p:nvPr/>
        </p:nvSpPr>
        <p:spPr>
          <a:xfrm rot="10800000">
            <a:off x="4964395" y="164909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45" name="Google Shape;545;p25"/>
          <p:cNvSpPr/>
          <p:nvPr/>
        </p:nvSpPr>
        <p:spPr>
          <a:xfrm rot="10800000">
            <a:off x="4775347" y="164909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46" name="Google Shape;546;p25"/>
          <p:cNvSpPr/>
          <p:nvPr/>
        </p:nvSpPr>
        <p:spPr>
          <a:xfrm rot="10800000">
            <a:off x="4585684" y="164958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47" name="Google Shape;547;p25"/>
          <p:cNvSpPr/>
          <p:nvPr/>
        </p:nvSpPr>
        <p:spPr>
          <a:xfrm rot="10800000">
            <a:off x="4396636" y="164958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48" name="Google Shape;548;p25"/>
          <p:cNvSpPr/>
          <p:nvPr/>
        </p:nvSpPr>
        <p:spPr>
          <a:xfrm rot="10800000">
            <a:off x="4207591" y="256619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49" name="Google Shape;549;p25"/>
          <p:cNvSpPr/>
          <p:nvPr/>
        </p:nvSpPr>
        <p:spPr>
          <a:xfrm rot="10800000">
            <a:off x="4207591" y="241343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50" name="Google Shape;550;p25"/>
          <p:cNvSpPr/>
          <p:nvPr/>
        </p:nvSpPr>
        <p:spPr>
          <a:xfrm rot="10800000">
            <a:off x="4207591" y="226115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51" name="Google Shape;551;p25"/>
          <p:cNvSpPr/>
          <p:nvPr/>
        </p:nvSpPr>
        <p:spPr>
          <a:xfrm rot="10800000">
            <a:off x="4207591" y="210887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52" name="Google Shape;552;p25"/>
          <p:cNvSpPr/>
          <p:nvPr/>
        </p:nvSpPr>
        <p:spPr>
          <a:xfrm rot="10800000">
            <a:off x="4207591" y="195561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53" name="Google Shape;553;p25"/>
          <p:cNvSpPr/>
          <p:nvPr/>
        </p:nvSpPr>
        <p:spPr>
          <a:xfrm rot="10800000">
            <a:off x="4207591" y="180382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54" name="Google Shape;554;p25"/>
          <p:cNvSpPr/>
          <p:nvPr/>
        </p:nvSpPr>
        <p:spPr>
          <a:xfrm rot="10800000">
            <a:off x="4207283" y="164958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55" name="Google Shape;555;p25"/>
          <p:cNvSpPr/>
          <p:nvPr/>
        </p:nvSpPr>
        <p:spPr>
          <a:xfrm rot="10800000">
            <a:off x="5342187" y="165043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56" name="Google Shape;556;p25"/>
          <p:cNvSpPr/>
          <p:nvPr/>
        </p:nvSpPr>
        <p:spPr>
          <a:xfrm rot="10800000">
            <a:off x="5153139" y="165043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57" name="Google Shape;557;p25"/>
          <p:cNvSpPr/>
          <p:nvPr/>
        </p:nvSpPr>
        <p:spPr>
          <a:xfrm rot="10800000">
            <a:off x="4017952" y="256669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58" name="Google Shape;558;p25"/>
          <p:cNvSpPr/>
          <p:nvPr/>
        </p:nvSpPr>
        <p:spPr>
          <a:xfrm rot="10800000">
            <a:off x="4017952" y="241392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59" name="Google Shape;559;p25"/>
          <p:cNvSpPr/>
          <p:nvPr/>
        </p:nvSpPr>
        <p:spPr>
          <a:xfrm rot="10800000">
            <a:off x="4017952" y="226164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0" name="Google Shape;560;p25"/>
          <p:cNvSpPr/>
          <p:nvPr/>
        </p:nvSpPr>
        <p:spPr>
          <a:xfrm rot="10800000">
            <a:off x="4017952" y="210936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1" name="Google Shape;561;p25"/>
          <p:cNvSpPr/>
          <p:nvPr/>
        </p:nvSpPr>
        <p:spPr>
          <a:xfrm rot="10800000">
            <a:off x="4017952" y="195610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2" name="Google Shape;562;p25"/>
          <p:cNvSpPr/>
          <p:nvPr/>
        </p:nvSpPr>
        <p:spPr>
          <a:xfrm rot="10800000">
            <a:off x="4017952" y="180432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3" name="Google Shape;563;p25"/>
          <p:cNvSpPr/>
          <p:nvPr/>
        </p:nvSpPr>
        <p:spPr>
          <a:xfrm rot="10800000">
            <a:off x="4017644" y="165008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4" name="Google Shape;564;p25"/>
          <p:cNvSpPr/>
          <p:nvPr/>
        </p:nvSpPr>
        <p:spPr>
          <a:xfrm rot="10800000">
            <a:off x="3828900" y="256644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65" name="Google Shape;565;p25"/>
          <p:cNvSpPr/>
          <p:nvPr/>
        </p:nvSpPr>
        <p:spPr>
          <a:xfrm rot="10800000">
            <a:off x="3828900" y="241367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6" name="Google Shape;566;p25"/>
          <p:cNvSpPr/>
          <p:nvPr/>
        </p:nvSpPr>
        <p:spPr>
          <a:xfrm rot="10800000">
            <a:off x="3828900" y="226139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7" name="Google Shape;567;p25"/>
          <p:cNvSpPr/>
          <p:nvPr/>
        </p:nvSpPr>
        <p:spPr>
          <a:xfrm rot="10800000">
            <a:off x="3828900" y="210912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8" name="Google Shape;568;p25"/>
          <p:cNvSpPr/>
          <p:nvPr/>
        </p:nvSpPr>
        <p:spPr>
          <a:xfrm rot="10800000">
            <a:off x="3828900" y="195586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69" name="Google Shape;569;p25"/>
          <p:cNvSpPr/>
          <p:nvPr/>
        </p:nvSpPr>
        <p:spPr>
          <a:xfrm rot="10800000">
            <a:off x="3828900" y="180407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70" name="Google Shape;570;p25"/>
          <p:cNvSpPr/>
          <p:nvPr/>
        </p:nvSpPr>
        <p:spPr>
          <a:xfrm rot="10800000">
            <a:off x="3828592" y="164983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71" name="Google Shape;571;p25"/>
          <p:cNvSpPr/>
          <p:nvPr/>
        </p:nvSpPr>
        <p:spPr>
          <a:xfrm rot="10800000">
            <a:off x="5342654" y="149825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72" name="Google Shape;572;p25"/>
          <p:cNvSpPr/>
          <p:nvPr/>
        </p:nvSpPr>
        <p:spPr>
          <a:xfrm rot="10800000">
            <a:off x="5153605" y="149825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73" name="Google Shape;573;p25"/>
          <p:cNvSpPr/>
          <p:nvPr/>
        </p:nvSpPr>
        <p:spPr>
          <a:xfrm rot="10800000">
            <a:off x="5342654" y="134646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74" name="Google Shape;574;p25"/>
          <p:cNvSpPr/>
          <p:nvPr/>
        </p:nvSpPr>
        <p:spPr>
          <a:xfrm rot="10800000">
            <a:off x="5153605" y="134646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75" name="Google Shape;575;p25"/>
          <p:cNvSpPr/>
          <p:nvPr/>
        </p:nvSpPr>
        <p:spPr>
          <a:xfrm rot="10800000">
            <a:off x="5342346" y="119223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76" name="Google Shape;576;p25"/>
          <p:cNvSpPr/>
          <p:nvPr/>
        </p:nvSpPr>
        <p:spPr>
          <a:xfrm rot="10800000">
            <a:off x="5153298" y="119223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77" name="Google Shape;577;p25"/>
          <p:cNvSpPr/>
          <p:nvPr/>
        </p:nvSpPr>
        <p:spPr>
          <a:xfrm rot="10800000">
            <a:off x="4964244" y="149679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78" name="Google Shape;578;p25"/>
          <p:cNvSpPr/>
          <p:nvPr/>
        </p:nvSpPr>
        <p:spPr>
          <a:xfrm rot="10800000">
            <a:off x="4775196" y="149679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79" name="Google Shape;579;p25"/>
          <p:cNvSpPr/>
          <p:nvPr/>
        </p:nvSpPr>
        <p:spPr>
          <a:xfrm rot="10800000">
            <a:off x="4585533" y="149728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80" name="Google Shape;580;p25"/>
          <p:cNvSpPr/>
          <p:nvPr/>
        </p:nvSpPr>
        <p:spPr>
          <a:xfrm rot="10800000">
            <a:off x="4396485" y="149728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81" name="Google Shape;581;p25"/>
          <p:cNvSpPr/>
          <p:nvPr/>
        </p:nvSpPr>
        <p:spPr>
          <a:xfrm rot="10800000">
            <a:off x="4964244" y="134500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82" name="Google Shape;582;p25"/>
          <p:cNvSpPr/>
          <p:nvPr/>
        </p:nvSpPr>
        <p:spPr>
          <a:xfrm rot="10800000">
            <a:off x="4775196" y="134500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83" name="Google Shape;583;p25"/>
          <p:cNvSpPr/>
          <p:nvPr/>
        </p:nvSpPr>
        <p:spPr>
          <a:xfrm rot="10800000">
            <a:off x="4585533" y="134549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84" name="Google Shape;584;p25"/>
          <p:cNvSpPr/>
          <p:nvPr/>
        </p:nvSpPr>
        <p:spPr>
          <a:xfrm rot="10800000">
            <a:off x="4396485" y="134549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85" name="Google Shape;585;p25"/>
          <p:cNvSpPr/>
          <p:nvPr/>
        </p:nvSpPr>
        <p:spPr>
          <a:xfrm rot="10800000">
            <a:off x="4963937" y="119076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86" name="Google Shape;586;p25"/>
          <p:cNvSpPr/>
          <p:nvPr/>
        </p:nvSpPr>
        <p:spPr>
          <a:xfrm rot="10800000">
            <a:off x="4774888" y="119076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87" name="Google Shape;587;p25"/>
          <p:cNvSpPr/>
          <p:nvPr/>
        </p:nvSpPr>
        <p:spPr>
          <a:xfrm rot="10800000">
            <a:off x="4585226" y="119125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88" name="Google Shape;588;p25"/>
          <p:cNvSpPr/>
          <p:nvPr/>
        </p:nvSpPr>
        <p:spPr>
          <a:xfrm rot="10800000">
            <a:off x="4396177" y="119125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89" name="Google Shape;589;p25"/>
          <p:cNvSpPr/>
          <p:nvPr/>
        </p:nvSpPr>
        <p:spPr>
          <a:xfrm rot="10800000">
            <a:off x="4207132" y="149728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0" name="Google Shape;590;p25"/>
          <p:cNvSpPr/>
          <p:nvPr/>
        </p:nvSpPr>
        <p:spPr>
          <a:xfrm rot="10800000">
            <a:off x="4207132" y="134549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1" name="Google Shape;591;p25"/>
          <p:cNvSpPr/>
          <p:nvPr/>
        </p:nvSpPr>
        <p:spPr>
          <a:xfrm rot="10800000">
            <a:off x="4206824" y="119125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2" name="Google Shape;592;p25"/>
          <p:cNvSpPr/>
          <p:nvPr/>
        </p:nvSpPr>
        <p:spPr>
          <a:xfrm rot="10800000">
            <a:off x="5341728" y="119210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3" name="Google Shape;593;p25"/>
          <p:cNvSpPr/>
          <p:nvPr/>
        </p:nvSpPr>
        <p:spPr>
          <a:xfrm rot="10800000">
            <a:off x="5152680" y="119210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594" name="Google Shape;594;p25"/>
          <p:cNvSpPr/>
          <p:nvPr/>
        </p:nvSpPr>
        <p:spPr>
          <a:xfrm rot="10800000">
            <a:off x="4017493" y="149778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5" name="Google Shape;595;p25"/>
          <p:cNvSpPr/>
          <p:nvPr/>
        </p:nvSpPr>
        <p:spPr>
          <a:xfrm rot="10800000">
            <a:off x="4017493" y="134599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6" name="Google Shape;596;p25"/>
          <p:cNvSpPr/>
          <p:nvPr/>
        </p:nvSpPr>
        <p:spPr>
          <a:xfrm rot="10800000">
            <a:off x="4017185" y="119175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7" name="Google Shape;597;p25"/>
          <p:cNvSpPr/>
          <p:nvPr/>
        </p:nvSpPr>
        <p:spPr>
          <a:xfrm rot="10800000">
            <a:off x="3828441" y="149753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8" name="Google Shape;598;p25"/>
          <p:cNvSpPr/>
          <p:nvPr/>
        </p:nvSpPr>
        <p:spPr>
          <a:xfrm rot="10800000">
            <a:off x="3828441" y="134574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599" name="Google Shape;599;p25"/>
          <p:cNvSpPr/>
          <p:nvPr/>
        </p:nvSpPr>
        <p:spPr>
          <a:xfrm rot="10800000">
            <a:off x="3828133" y="119150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00" name="Google Shape;600;p25"/>
          <p:cNvSpPr txBox="1"/>
          <p:nvPr/>
        </p:nvSpPr>
        <p:spPr>
          <a:xfrm>
            <a:off x="0" y="108075"/>
            <a:ext cx="7860900" cy="6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40"/>
              <a:buFont typeface="Arial"/>
              <a:buNone/>
            </a:pPr>
            <a:r>
              <a:rPr b="1" i="0" lang="en" sz="2500" u="none" cap="none" strike="noStrike">
                <a:solidFill>
                  <a:schemeClr val="dk1"/>
                </a:solidFill>
              </a:rPr>
              <a:t>PQ: Product Quantisation (Indexing)</a:t>
            </a:r>
            <a:endParaRPr b="1" i="0" sz="2500" u="none" cap="none" strike="noStrike">
              <a:solidFill>
                <a:schemeClr val="dk1"/>
              </a:solidFill>
            </a:endParaRPr>
          </a:p>
        </p:txBody>
      </p:sp>
      <p:sp>
        <p:nvSpPr>
          <p:cNvPr id="601" name="Google Shape;601;p25"/>
          <p:cNvSpPr/>
          <p:nvPr/>
        </p:nvSpPr>
        <p:spPr>
          <a:xfrm>
            <a:off x="-21975" y="865000"/>
            <a:ext cx="3267600" cy="4291200"/>
          </a:xfrm>
          <a:prstGeom prst="roundRect">
            <a:avLst>
              <a:gd fmla="val 7908" name="adj"/>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500"/>
              <a:buFont typeface="Arial"/>
              <a:buNone/>
            </a:pPr>
            <a:r>
              <a:rPr b="1" i="0" lang="en" sz="1500" u="none" cap="none" strike="noStrike">
                <a:solidFill>
                  <a:srgbClr val="000000"/>
                </a:solidFill>
                <a:latin typeface="Comic Sans MS"/>
                <a:ea typeface="Comic Sans MS"/>
                <a:cs typeface="Comic Sans MS"/>
                <a:sym typeface="Comic Sans MS"/>
              </a:rPr>
              <a:t>Indexing (Compression Phase)</a:t>
            </a:r>
            <a:endParaRPr b="1" i="0" sz="1500" u="none" cap="none" strike="noStrike">
              <a:solidFill>
                <a:srgbClr val="000000"/>
              </a:solidFill>
              <a:latin typeface="Comic Sans MS"/>
              <a:ea typeface="Comic Sans MS"/>
              <a:cs typeface="Comic Sans MS"/>
              <a:sym typeface="Comic Sans MS"/>
            </a:endParaRPr>
          </a:p>
          <a:p>
            <a:pPr indent="0" lvl="0" marL="0" marR="0" rtl="0" algn="l">
              <a:lnSpc>
                <a:spcPct val="115000"/>
              </a:lnSpc>
              <a:spcBef>
                <a:spcPts val="1200"/>
              </a:spcBef>
              <a:spcAft>
                <a:spcPts val="0"/>
              </a:spcAft>
              <a:buNone/>
            </a:pPr>
            <a:r>
              <a:rPr b="1" i="0" lang="en" sz="1300" u="none" cap="none" strike="noStrike">
                <a:solidFill>
                  <a:srgbClr val="000000"/>
                </a:solidFill>
                <a:latin typeface="Comic Sans MS"/>
                <a:ea typeface="Comic Sans MS"/>
                <a:cs typeface="Comic Sans MS"/>
                <a:sym typeface="Comic Sans MS"/>
              </a:rPr>
              <a:t>Split (Sub-vectors):</a:t>
            </a:r>
            <a:r>
              <a:rPr b="0" i="0" lang="en" sz="1300" u="none" cap="none" strike="noStrike">
                <a:solidFill>
                  <a:srgbClr val="000000"/>
                </a:solidFill>
                <a:latin typeface="Comic Sans MS"/>
                <a:ea typeface="Comic Sans MS"/>
                <a:cs typeface="Comic Sans MS"/>
                <a:sym typeface="Comic Sans MS"/>
              </a:rPr>
              <a:t> Divide the high-dimensional original vector (e.g., 128D) into m smaller sub-vectors (e.g., 8 chunks of 16D).</a:t>
            </a:r>
            <a:endParaRPr b="0" i="0" sz="1300" u="none" cap="none" strike="noStrike">
              <a:solidFill>
                <a:srgbClr val="000000"/>
              </a:solidFill>
              <a:latin typeface="Comic Sans MS"/>
              <a:ea typeface="Comic Sans MS"/>
              <a:cs typeface="Comic Sans MS"/>
              <a:sym typeface="Comic Sans MS"/>
            </a:endParaRPr>
          </a:p>
          <a:p>
            <a:pPr indent="0" lvl="0" marL="0" marR="0" rtl="0" algn="l">
              <a:lnSpc>
                <a:spcPct val="115000"/>
              </a:lnSpc>
              <a:spcBef>
                <a:spcPts val="0"/>
              </a:spcBef>
              <a:spcAft>
                <a:spcPts val="0"/>
              </a:spcAft>
              <a:buNone/>
            </a:pPr>
            <a:r>
              <a:rPr b="1" i="0" lang="en" sz="1300" u="none" cap="none" strike="noStrike">
                <a:solidFill>
                  <a:srgbClr val="000000"/>
                </a:solidFill>
                <a:latin typeface="Comic Sans MS"/>
                <a:ea typeface="Comic Sans MS"/>
                <a:cs typeface="Comic Sans MS"/>
                <a:sym typeface="Comic Sans MS"/>
              </a:rPr>
              <a:t>Train (Codebooks):</a:t>
            </a:r>
            <a:r>
              <a:rPr b="0" i="0" lang="en" sz="1300" u="none" cap="none" strike="noStrike">
                <a:solidFill>
                  <a:srgbClr val="000000"/>
                </a:solidFill>
                <a:latin typeface="Comic Sans MS"/>
                <a:ea typeface="Comic Sans MS"/>
                <a:cs typeface="Comic Sans MS"/>
                <a:sym typeface="Comic Sans MS"/>
              </a:rPr>
              <a:t> Run K-Means independently on each sub-space to find K (eg. 256) representative centroids (the "Codebook").</a:t>
            </a:r>
            <a:endParaRPr b="0" i="0" sz="1300" u="none" cap="none" strike="noStrike">
              <a:solidFill>
                <a:srgbClr val="000000"/>
              </a:solidFill>
              <a:latin typeface="Comic Sans MS"/>
              <a:ea typeface="Comic Sans MS"/>
              <a:cs typeface="Comic Sans MS"/>
              <a:sym typeface="Comic Sans MS"/>
            </a:endParaRPr>
          </a:p>
          <a:p>
            <a:pPr indent="0" lvl="0" marL="0" marR="0" rtl="0" algn="l">
              <a:lnSpc>
                <a:spcPct val="115000"/>
              </a:lnSpc>
              <a:spcBef>
                <a:spcPts val="0"/>
              </a:spcBef>
              <a:spcAft>
                <a:spcPts val="0"/>
              </a:spcAft>
              <a:buNone/>
            </a:pPr>
            <a:r>
              <a:rPr b="1" i="0" lang="en" sz="1300" u="none" cap="none" strike="noStrike">
                <a:solidFill>
                  <a:srgbClr val="000000"/>
                </a:solidFill>
                <a:latin typeface="Comic Sans MS"/>
                <a:ea typeface="Comic Sans MS"/>
                <a:cs typeface="Comic Sans MS"/>
                <a:sym typeface="Comic Sans MS"/>
              </a:rPr>
              <a:t>Encode:</a:t>
            </a:r>
            <a:r>
              <a:rPr b="0" i="0" lang="en" sz="1300" u="none" cap="none" strike="noStrike">
                <a:solidFill>
                  <a:srgbClr val="000000"/>
                </a:solidFill>
                <a:latin typeface="Comic Sans MS"/>
                <a:ea typeface="Comic Sans MS"/>
                <a:cs typeface="Comic Sans MS"/>
                <a:sym typeface="Comic Sans MS"/>
              </a:rPr>
              <a:t> Replace each sub-vector with the </a:t>
            </a:r>
            <a:r>
              <a:rPr b="1" i="0" lang="en" sz="1300" u="none" cap="none" strike="noStrike">
                <a:solidFill>
                  <a:srgbClr val="000000"/>
                </a:solidFill>
                <a:latin typeface="Comic Sans MS"/>
                <a:ea typeface="Comic Sans MS"/>
                <a:cs typeface="Comic Sans MS"/>
                <a:sym typeface="Comic Sans MS"/>
              </a:rPr>
              <a:t>ID</a:t>
            </a:r>
            <a:r>
              <a:rPr b="0" i="0" lang="en" sz="1300" u="none" cap="none" strike="noStrike">
                <a:solidFill>
                  <a:srgbClr val="000000"/>
                </a:solidFill>
                <a:latin typeface="Comic Sans MS"/>
                <a:ea typeface="Comic Sans MS"/>
                <a:cs typeface="Comic Sans MS"/>
                <a:sym typeface="Comic Sans MS"/>
              </a:rPr>
              <a:t> (0-255) of its nearest centroid.</a:t>
            </a:r>
            <a:endParaRPr b="0" i="0" sz="1300" u="none" cap="none" strike="noStrike">
              <a:solidFill>
                <a:srgbClr val="000000"/>
              </a:solidFill>
              <a:latin typeface="Comic Sans MS"/>
              <a:ea typeface="Comic Sans MS"/>
              <a:cs typeface="Comic Sans MS"/>
              <a:sym typeface="Comic Sans MS"/>
            </a:endParaRPr>
          </a:p>
          <a:p>
            <a:pPr indent="0" lvl="0" marL="0" marR="0" rtl="0" algn="l">
              <a:lnSpc>
                <a:spcPct val="115000"/>
              </a:lnSpc>
              <a:spcBef>
                <a:spcPts val="0"/>
              </a:spcBef>
              <a:spcAft>
                <a:spcPts val="0"/>
              </a:spcAft>
              <a:buNone/>
            </a:pPr>
            <a:r>
              <a:rPr b="1" i="0" lang="en" sz="1300" u="none" cap="none" strike="noStrike">
                <a:solidFill>
                  <a:srgbClr val="000000"/>
                </a:solidFill>
                <a:latin typeface="Comic Sans MS"/>
                <a:ea typeface="Comic Sans MS"/>
                <a:cs typeface="Comic Sans MS"/>
                <a:sym typeface="Comic Sans MS"/>
              </a:rPr>
              <a:t>Result:</a:t>
            </a:r>
            <a:r>
              <a:rPr b="0" i="0" lang="en" sz="1300" u="none" cap="none" strike="noStrike">
                <a:solidFill>
                  <a:srgbClr val="000000"/>
                </a:solidFill>
                <a:latin typeface="Comic Sans MS"/>
                <a:ea typeface="Comic Sans MS"/>
                <a:cs typeface="Comic Sans MS"/>
                <a:sym typeface="Comic Sans MS"/>
              </a:rPr>
              <a:t> High-precision floats are converted into small byte codes, reducing memory usage by 95%+ (e.g., 4KB →64 bytes).</a:t>
            </a:r>
            <a:endParaRPr b="1" i="0" sz="1400" u="none" cap="none" strike="noStrike">
              <a:solidFill>
                <a:srgbClr val="000000"/>
              </a:solidFill>
              <a:latin typeface="Comic Sans MS"/>
              <a:ea typeface="Comic Sans MS"/>
              <a:cs typeface="Comic Sans MS"/>
              <a:sym typeface="Comic Sans MS"/>
            </a:endParaRPr>
          </a:p>
        </p:txBody>
      </p:sp>
      <p:sp>
        <p:nvSpPr>
          <p:cNvPr id="602" name="Google Shape;602;p25"/>
          <p:cNvSpPr/>
          <p:nvPr/>
        </p:nvSpPr>
        <p:spPr>
          <a:xfrm rot="10800000">
            <a:off x="8357826" y="256423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03" name="Google Shape;603;p25"/>
          <p:cNvSpPr/>
          <p:nvPr/>
        </p:nvSpPr>
        <p:spPr>
          <a:xfrm rot="10800000">
            <a:off x="8168777" y="256423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04" name="Google Shape;604;p25"/>
          <p:cNvSpPr/>
          <p:nvPr/>
        </p:nvSpPr>
        <p:spPr>
          <a:xfrm rot="10800000">
            <a:off x="8357826" y="241146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05" name="Google Shape;605;p25"/>
          <p:cNvSpPr/>
          <p:nvPr/>
        </p:nvSpPr>
        <p:spPr>
          <a:xfrm rot="10800000">
            <a:off x="8168777" y="241146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06" name="Google Shape;606;p25"/>
          <p:cNvSpPr/>
          <p:nvPr/>
        </p:nvSpPr>
        <p:spPr>
          <a:xfrm rot="10800000">
            <a:off x="8357826" y="225918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07" name="Google Shape;607;p25"/>
          <p:cNvSpPr/>
          <p:nvPr/>
        </p:nvSpPr>
        <p:spPr>
          <a:xfrm rot="10800000">
            <a:off x="8168777" y="225918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08" name="Google Shape;608;p25"/>
          <p:cNvSpPr/>
          <p:nvPr/>
        </p:nvSpPr>
        <p:spPr>
          <a:xfrm rot="10800000">
            <a:off x="8357826" y="210691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09" name="Google Shape;609;p25"/>
          <p:cNvSpPr/>
          <p:nvPr/>
        </p:nvSpPr>
        <p:spPr>
          <a:xfrm rot="10800000">
            <a:off x="8168777" y="210691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10" name="Google Shape;610;p25"/>
          <p:cNvSpPr/>
          <p:nvPr/>
        </p:nvSpPr>
        <p:spPr>
          <a:xfrm rot="10800000">
            <a:off x="8357826" y="195365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11" name="Google Shape;611;p25"/>
          <p:cNvSpPr/>
          <p:nvPr/>
        </p:nvSpPr>
        <p:spPr>
          <a:xfrm rot="10800000">
            <a:off x="8168777" y="195365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12" name="Google Shape;612;p25"/>
          <p:cNvSpPr/>
          <p:nvPr/>
        </p:nvSpPr>
        <p:spPr>
          <a:xfrm rot="10800000">
            <a:off x="8357826" y="180186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13" name="Google Shape;613;p25"/>
          <p:cNvSpPr/>
          <p:nvPr/>
        </p:nvSpPr>
        <p:spPr>
          <a:xfrm rot="10800000">
            <a:off x="8168777" y="180186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14" name="Google Shape;614;p25"/>
          <p:cNvSpPr/>
          <p:nvPr/>
        </p:nvSpPr>
        <p:spPr>
          <a:xfrm rot="10800000">
            <a:off x="8357518" y="164762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15" name="Google Shape;615;p25"/>
          <p:cNvSpPr/>
          <p:nvPr/>
        </p:nvSpPr>
        <p:spPr>
          <a:xfrm rot="10800000">
            <a:off x="8168470" y="164762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16" name="Google Shape;616;p25"/>
          <p:cNvSpPr/>
          <p:nvPr/>
        </p:nvSpPr>
        <p:spPr>
          <a:xfrm rot="10800000">
            <a:off x="7979416" y="256277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17" name="Google Shape;617;p25"/>
          <p:cNvSpPr/>
          <p:nvPr/>
        </p:nvSpPr>
        <p:spPr>
          <a:xfrm rot="10800000">
            <a:off x="7475424" y="256301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18" name="Google Shape;618;p25"/>
          <p:cNvSpPr/>
          <p:nvPr/>
        </p:nvSpPr>
        <p:spPr>
          <a:xfrm rot="10800000">
            <a:off x="7285761" y="256350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19" name="Google Shape;619;p25"/>
          <p:cNvSpPr/>
          <p:nvPr/>
        </p:nvSpPr>
        <p:spPr>
          <a:xfrm rot="10800000">
            <a:off x="7096713" y="256350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20" name="Google Shape;620;p25"/>
          <p:cNvSpPr/>
          <p:nvPr/>
        </p:nvSpPr>
        <p:spPr>
          <a:xfrm rot="10800000">
            <a:off x="7979416" y="241000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21" name="Google Shape;621;p25"/>
          <p:cNvSpPr/>
          <p:nvPr/>
        </p:nvSpPr>
        <p:spPr>
          <a:xfrm rot="10800000">
            <a:off x="7475424" y="241024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22" name="Google Shape;622;p25"/>
          <p:cNvSpPr/>
          <p:nvPr/>
        </p:nvSpPr>
        <p:spPr>
          <a:xfrm rot="10800000">
            <a:off x="7285761" y="241073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23" name="Google Shape;623;p25"/>
          <p:cNvSpPr/>
          <p:nvPr/>
        </p:nvSpPr>
        <p:spPr>
          <a:xfrm rot="10800000">
            <a:off x="7096713" y="241073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24" name="Google Shape;624;p25"/>
          <p:cNvSpPr/>
          <p:nvPr/>
        </p:nvSpPr>
        <p:spPr>
          <a:xfrm rot="10800000">
            <a:off x="7979416" y="225772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25" name="Google Shape;625;p25"/>
          <p:cNvSpPr/>
          <p:nvPr/>
        </p:nvSpPr>
        <p:spPr>
          <a:xfrm rot="10800000">
            <a:off x="7475424" y="225796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26" name="Google Shape;626;p25"/>
          <p:cNvSpPr/>
          <p:nvPr/>
        </p:nvSpPr>
        <p:spPr>
          <a:xfrm rot="10800000">
            <a:off x="7285761" y="225845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27" name="Google Shape;627;p25"/>
          <p:cNvSpPr/>
          <p:nvPr/>
        </p:nvSpPr>
        <p:spPr>
          <a:xfrm rot="10800000">
            <a:off x="7096713" y="225845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28" name="Google Shape;628;p25"/>
          <p:cNvSpPr/>
          <p:nvPr/>
        </p:nvSpPr>
        <p:spPr>
          <a:xfrm rot="10800000">
            <a:off x="7979416" y="210544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29" name="Google Shape;629;p25"/>
          <p:cNvSpPr/>
          <p:nvPr/>
        </p:nvSpPr>
        <p:spPr>
          <a:xfrm rot="10800000">
            <a:off x="7475424" y="210568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30" name="Google Shape;630;p25"/>
          <p:cNvSpPr/>
          <p:nvPr/>
        </p:nvSpPr>
        <p:spPr>
          <a:xfrm rot="10800000">
            <a:off x="7285761" y="210617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31" name="Google Shape;631;p25"/>
          <p:cNvSpPr/>
          <p:nvPr/>
        </p:nvSpPr>
        <p:spPr>
          <a:xfrm rot="10800000">
            <a:off x="7096713" y="210617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32" name="Google Shape;632;p25"/>
          <p:cNvSpPr/>
          <p:nvPr/>
        </p:nvSpPr>
        <p:spPr>
          <a:xfrm rot="10800000">
            <a:off x="7979416" y="195218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33" name="Google Shape;633;p25"/>
          <p:cNvSpPr/>
          <p:nvPr/>
        </p:nvSpPr>
        <p:spPr>
          <a:xfrm rot="10800000">
            <a:off x="7475424" y="195242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34" name="Google Shape;634;p25"/>
          <p:cNvSpPr/>
          <p:nvPr/>
        </p:nvSpPr>
        <p:spPr>
          <a:xfrm rot="10800000">
            <a:off x="7285761" y="195291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35" name="Google Shape;635;p25"/>
          <p:cNvSpPr/>
          <p:nvPr/>
        </p:nvSpPr>
        <p:spPr>
          <a:xfrm rot="10800000">
            <a:off x="7096713" y="195291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36" name="Google Shape;636;p25"/>
          <p:cNvSpPr/>
          <p:nvPr/>
        </p:nvSpPr>
        <p:spPr>
          <a:xfrm rot="10800000">
            <a:off x="7979416" y="180039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37" name="Google Shape;637;p25"/>
          <p:cNvSpPr/>
          <p:nvPr/>
        </p:nvSpPr>
        <p:spPr>
          <a:xfrm rot="10800000">
            <a:off x="7475424" y="180063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38" name="Google Shape;638;p25"/>
          <p:cNvSpPr/>
          <p:nvPr/>
        </p:nvSpPr>
        <p:spPr>
          <a:xfrm rot="10800000">
            <a:off x="7285761" y="180112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39" name="Google Shape;639;p25"/>
          <p:cNvSpPr/>
          <p:nvPr/>
        </p:nvSpPr>
        <p:spPr>
          <a:xfrm rot="10800000">
            <a:off x="7096713" y="180112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40" name="Google Shape;640;p25"/>
          <p:cNvSpPr/>
          <p:nvPr/>
        </p:nvSpPr>
        <p:spPr>
          <a:xfrm rot="10800000">
            <a:off x="7979109" y="164615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41" name="Google Shape;641;p25"/>
          <p:cNvSpPr/>
          <p:nvPr/>
        </p:nvSpPr>
        <p:spPr>
          <a:xfrm rot="10800000">
            <a:off x="7475116" y="164639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42" name="Google Shape;642;p25"/>
          <p:cNvSpPr/>
          <p:nvPr/>
        </p:nvSpPr>
        <p:spPr>
          <a:xfrm rot="10800000">
            <a:off x="7285453" y="164689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43" name="Google Shape;643;p25"/>
          <p:cNvSpPr/>
          <p:nvPr/>
        </p:nvSpPr>
        <p:spPr>
          <a:xfrm rot="10800000">
            <a:off x="7096405" y="164689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44" name="Google Shape;644;p25"/>
          <p:cNvSpPr/>
          <p:nvPr/>
        </p:nvSpPr>
        <p:spPr>
          <a:xfrm rot="10800000">
            <a:off x="6580019" y="256713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45" name="Google Shape;645;p25"/>
          <p:cNvSpPr/>
          <p:nvPr/>
        </p:nvSpPr>
        <p:spPr>
          <a:xfrm rot="10800000">
            <a:off x="6580019" y="241436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46" name="Google Shape;646;p25"/>
          <p:cNvSpPr/>
          <p:nvPr/>
        </p:nvSpPr>
        <p:spPr>
          <a:xfrm rot="10800000">
            <a:off x="6580019" y="226208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47" name="Google Shape;647;p25"/>
          <p:cNvSpPr/>
          <p:nvPr/>
        </p:nvSpPr>
        <p:spPr>
          <a:xfrm rot="10800000">
            <a:off x="6580019" y="210980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48" name="Google Shape;648;p25"/>
          <p:cNvSpPr/>
          <p:nvPr/>
        </p:nvSpPr>
        <p:spPr>
          <a:xfrm rot="10800000">
            <a:off x="6580019" y="195654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49" name="Google Shape;649;p25"/>
          <p:cNvSpPr/>
          <p:nvPr/>
        </p:nvSpPr>
        <p:spPr>
          <a:xfrm rot="10800000">
            <a:off x="6580019" y="180475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50" name="Google Shape;650;p25"/>
          <p:cNvSpPr/>
          <p:nvPr/>
        </p:nvSpPr>
        <p:spPr>
          <a:xfrm rot="10800000">
            <a:off x="6579712" y="165052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51" name="Google Shape;651;p25"/>
          <p:cNvSpPr/>
          <p:nvPr/>
        </p:nvSpPr>
        <p:spPr>
          <a:xfrm rot="10800000">
            <a:off x="8356900" y="164749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52" name="Google Shape;652;p25"/>
          <p:cNvSpPr/>
          <p:nvPr/>
        </p:nvSpPr>
        <p:spPr>
          <a:xfrm rot="10800000">
            <a:off x="8167852" y="164749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53" name="Google Shape;653;p25"/>
          <p:cNvSpPr/>
          <p:nvPr/>
        </p:nvSpPr>
        <p:spPr>
          <a:xfrm rot="10800000">
            <a:off x="6390380" y="256762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54" name="Google Shape;654;p25"/>
          <p:cNvSpPr/>
          <p:nvPr/>
        </p:nvSpPr>
        <p:spPr>
          <a:xfrm rot="10800000">
            <a:off x="6390380" y="241486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55" name="Google Shape;655;p25"/>
          <p:cNvSpPr/>
          <p:nvPr/>
        </p:nvSpPr>
        <p:spPr>
          <a:xfrm rot="10800000">
            <a:off x="6390380" y="226258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56" name="Google Shape;656;p25"/>
          <p:cNvSpPr/>
          <p:nvPr/>
        </p:nvSpPr>
        <p:spPr>
          <a:xfrm rot="10800000">
            <a:off x="6390380" y="211030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57" name="Google Shape;657;p25"/>
          <p:cNvSpPr/>
          <p:nvPr/>
        </p:nvSpPr>
        <p:spPr>
          <a:xfrm rot="10800000">
            <a:off x="6390380" y="195704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58" name="Google Shape;658;p25"/>
          <p:cNvSpPr/>
          <p:nvPr/>
        </p:nvSpPr>
        <p:spPr>
          <a:xfrm rot="10800000">
            <a:off x="6390380" y="180525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59" name="Google Shape;659;p25"/>
          <p:cNvSpPr/>
          <p:nvPr/>
        </p:nvSpPr>
        <p:spPr>
          <a:xfrm rot="10800000">
            <a:off x="6390072" y="165101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60" name="Google Shape;660;p25"/>
          <p:cNvSpPr/>
          <p:nvPr/>
        </p:nvSpPr>
        <p:spPr>
          <a:xfrm rot="10800000">
            <a:off x="6201328" y="256738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61" name="Google Shape;661;p25"/>
          <p:cNvSpPr/>
          <p:nvPr/>
        </p:nvSpPr>
        <p:spPr>
          <a:xfrm rot="10800000">
            <a:off x="6201328" y="241461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62" name="Google Shape;662;p25"/>
          <p:cNvSpPr/>
          <p:nvPr/>
        </p:nvSpPr>
        <p:spPr>
          <a:xfrm rot="10800000">
            <a:off x="6201328" y="2262334"/>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63" name="Google Shape;663;p25"/>
          <p:cNvSpPr/>
          <p:nvPr/>
        </p:nvSpPr>
        <p:spPr>
          <a:xfrm rot="10800000">
            <a:off x="6201328" y="211005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64" name="Google Shape;664;p25"/>
          <p:cNvSpPr/>
          <p:nvPr/>
        </p:nvSpPr>
        <p:spPr>
          <a:xfrm rot="10800000">
            <a:off x="6201328" y="195679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65" name="Google Shape;665;p25"/>
          <p:cNvSpPr/>
          <p:nvPr/>
        </p:nvSpPr>
        <p:spPr>
          <a:xfrm rot="10800000">
            <a:off x="6201328" y="180500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66" name="Google Shape;666;p25"/>
          <p:cNvSpPr/>
          <p:nvPr/>
        </p:nvSpPr>
        <p:spPr>
          <a:xfrm rot="10800000">
            <a:off x="6201020" y="165076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67" name="Google Shape;667;p25"/>
          <p:cNvSpPr/>
          <p:nvPr/>
        </p:nvSpPr>
        <p:spPr>
          <a:xfrm rot="10800000">
            <a:off x="8357367" y="149532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68" name="Google Shape;668;p25"/>
          <p:cNvSpPr/>
          <p:nvPr/>
        </p:nvSpPr>
        <p:spPr>
          <a:xfrm rot="10800000">
            <a:off x="8168319" y="149532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69" name="Google Shape;669;p25"/>
          <p:cNvSpPr/>
          <p:nvPr/>
        </p:nvSpPr>
        <p:spPr>
          <a:xfrm rot="10800000">
            <a:off x="8357367" y="134353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70" name="Google Shape;670;p25"/>
          <p:cNvSpPr/>
          <p:nvPr/>
        </p:nvSpPr>
        <p:spPr>
          <a:xfrm rot="10800000">
            <a:off x="8168319" y="1343533"/>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71" name="Google Shape;671;p25"/>
          <p:cNvSpPr/>
          <p:nvPr/>
        </p:nvSpPr>
        <p:spPr>
          <a:xfrm rot="10800000">
            <a:off x="8357059" y="118929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72" name="Google Shape;672;p25"/>
          <p:cNvSpPr/>
          <p:nvPr/>
        </p:nvSpPr>
        <p:spPr>
          <a:xfrm rot="10800000">
            <a:off x="8168011" y="118929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73" name="Google Shape;673;p25"/>
          <p:cNvSpPr/>
          <p:nvPr/>
        </p:nvSpPr>
        <p:spPr>
          <a:xfrm rot="10800000">
            <a:off x="7978958" y="149385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74" name="Google Shape;674;p25"/>
          <p:cNvSpPr/>
          <p:nvPr/>
        </p:nvSpPr>
        <p:spPr>
          <a:xfrm rot="10800000">
            <a:off x="7474965" y="149409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75" name="Google Shape;675;p25"/>
          <p:cNvSpPr/>
          <p:nvPr/>
        </p:nvSpPr>
        <p:spPr>
          <a:xfrm rot="10800000">
            <a:off x="7285302" y="149458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76" name="Google Shape;676;p25"/>
          <p:cNvSpPr/>
          <p:nvPr/>
        </p:nvSpPr>
        <p:spPr>
          <a:xfrm rot="10800000">
            <a:off x="7096254" y="149458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77" name="Google Shape;677;p25"/>
          <p:cNvSpPr/>
          <p:nvPr/>
        </p:nvSpPr>
        <p:spPr>
          <a:xfrm rot="10800000">
            <a:off x="7978958" y="134206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78" name="Google Shape;678;p25"/>
          <p:cNvSpPr/>
          <p:nvPr/>
        </p:nvSpPr>
        <p:spPr>
          <a:xfrm rot="10800000">
            <a:off x="7474965" y="134230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79" name="Google Shape;679;p25"/>
          <p:cNvSpPr/>
          <p:nvPr/>
        </p:nvSpPr>
        <p:spPr>
          <a:xfrm rot="10800000">
            <a:off x="7285302" y="134280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80" name="Google Shape;680;p25"/>
          <p:cNvSpPr/>
          <p:nvPr/>
        </p:nvSpPr>
        <p:spPr>
          <a:xfrm rot="10800000">
            <a:off x="7096254" y="134280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81" name="Google Shape;681;p25"/>
          <p:cNvSpPr/>
          <p:nvPr/>
        </p:nvSpPr>
        <p:spPr>
          <a:xfrm rot="10800000">
            <a:off x="7978650" y="118782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82" name="Google Shape;682;p25"/>
          <p:cNvSpPr/>
          <p:nvPr/>
        </p:nvSpPr>
        <p:spPr>
          <a:xfrm rot="10800000">
            <a:off x="7474657" y="118807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83" name="Google Shape;683;p25"/>
          <p:cNvSpPr/>
          <p:nvPr/>
        </p:nvSpPr>
        <p:spPr>
          <a:xfrm rot="10800000">
            <a:off x="7284994" y="118856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84" name="Google Shape;684;p25"/>
          <p:cNvSpPr/>
          <p:nvPr/>
        </p:nvSpPr>
        <p:spPr>
          <a:xfrm rot="10800000">
            <a:off x="7095946" y="1188561"/>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85" name="Google Shape;685;p25"/>
          <p:cNvSpPr/>
          <p:nvPr/>
        </p:nvSpPr>
        <p:spPr>
          <a:xfrm rot="10800000">
            <a:off x="6579561" y="1498219"/>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86" name="Google Shape;686;p25"/>
          <p:cNvSpPr/>
          <p:nvPr/>
        </p:nvSpPr>
        <p:spPr>
          <a:xfrm rot="10800000">
            <a:off x="6579561" y="134643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87" name="Google Shape;687;p25"/>
          <p:cNvSpPr/>
          <p:nvPr/>
        </p:nvSpPr>
        <p:spPr>
          <a:xfrm rot="10800000">
            <a:off x="6579253" y="1192192"/>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88" name="Google Shape;688;p25"/>
          <p:cNvSpPr/>
          <p:nvPr/>
        </p:nvSpPr>
        <p:spPr>
          <a:xfrm rot="10800000">
            <a:off x="8356441" y="118917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89" name="Google Shape;689;p25"/>
          <p:cNvSpPr/>
          <p:nvPr/>
        </p:nvSpPr>
        <p:spPr>
          <a:xfrm rot="10800000">
            <a:off x="8167393" y="118917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1</a:t>
            </a:r>
            <a:endParaRPr b="0" i="0" sz="104" u="none" cap="none" strike="noStrike">
              <a:solidFill>
                <a:srgbClr val="C27171"/>
              </a:solidFill>
              <a:latin typeface="Lato"/>
              <a:ea typeface="Lato"/>
              <a:cs typeface="Lato"/>
              <a:sym typeface="Lato"/>
            </a:endParaRPr>
          </a:p>
        </p:txBody>
      </p:sp>
      <p:sp>
        <p:nvSpPr>
          <p:cNvPr id="690" name="Google Shape;690;p25"/>
          <p:cNvSpPr/>
          <p:nvPr/>
        </p:nvSpPr>
        <p:spPr>
          <a:xfrm rot="10800000">
            <a:off x="6389921" y="1498715"/>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91" name="Google Shape;691;p25"/>
          <p:cNvSpPr/>
          <p:nvPr/>
        </p:nvSpPr>
        <p:spPr>
          <a:xfrm rot="10800000">
            <a:off x="6389921" y="1346926"/>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92" name="Google Shape;692;p25"/>
          <p:cNvSpPr/>
          <p:nvPr/>
        </p:nvSpPr>
        <p:spPr>
          <a:xfrm rot="10800000">
            <a:off x="6389614" y="119268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93" name="Google Shape;693;p25"/>
          <p:cNvSpPr/>
          <p:nvPr/>
        </p:nvSpPr>
        <p:spPr>
          <a:xfrm rot="10800000">
            <a:off x="6200869" y="1498467"/>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94" name="Google Shape;694;p25"/>
          <p:cNvSpPr/>
          <p:nvPr/>
        </p:nvSpPr>
        <p:spPr>
          <a:xfrm rot="10800000">
            <a:off x="6200869" y="1346678"/>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95" name="Google Shape;695;p25"/>
          <p:cNvSpPr/>
          <p:nvPr/>
        </p:nvSpPr>
        <p:spPr>
          <a:xfrm rot="10800000">
            <a:off x="6200562" y="1192440"/>
            <a:ext cx="188700" cy="152100"/>
          </a:xfrm>
          <a:prstGeom prst="rect">
            <a:avLst/>
          </a:prstGeom>
          <a:solidFill>
            <a:srgbClr val="C27171"/>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27171"/>
                </a:solidFill>
                <a:latin typeface="Lato"/>
                <a:ea typeface="Lato"/>
                <a:cs typeface="Lato"/>
                <a:sym typeface="Lato"/>
              </a:rPr>
              <a:t>0</a:t>
            </a:r>
            <a:endParaRPr b="0" i="0" sz="104" u="none" cap="none" strike="noStrike">
              <a:solidFill>
                <a:srgbClr val="C27171"/>
              </a:solidFill>
              <a:latin typeface="Lato"/>
              <a:ea typeface="Lato"/>
              <a:cs typeface="Lato"/>
              <a:sym typeface="Lato"/>
            </a:endParaRPr>
          </a:p>
        </p:txBody>
      </p:sp>
      <p:sp>
        <p:nvSpPr>
          <p:cNvPr id="696" name="Google Shape;696;p25"/>
          <p:cNvSpPr/>
          <p:nvPr/>
        </p:nvSpPr>
        <p:spPr>
          <a:xfrm>
            <a:off x="6212373" y="1025438"/>
            <a:ext cx="567600" cy="152100"/>
          </a:xfrm>
          <a:prstGeom prst="rect">
            <a:avLst/>
          </a:prstGeom>
          <a:no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576"/>
              <a:buFont typeface="Arial"/>
              <a:buNone/>
            </a:pPr>
            <a:r>
              <a:rPr b="0" i="0" lang="en" sz="576" u="none" cap="none" strike="noStrike">
                <a:solidFill>
                  <a:srgbClr val="4A86E8"/>
                </a:solidFill>
                <a:latin typeface="Lato"/>
                <a:ea typeface="Lato"/>
                <a:cs typeface="Lato"/>
                <a:sym typeface="Lato"/>
              </a:rPr>
              <a:t>Segment 1</a:t>
            </a:r>
            <a:endParaRPr b="0" i="0" sz="262" u="none" cap="none" strike="noStrike">
              <a:solidFill>
                <a:srgbClr val="4A86E8"/>
              </a:solidFill>
              <a:latin typeface="Lato"/>
              <a:ea typeface="Lato"/>
              <a:cs typeface="Lato"/>
              <a:sym typeface="Lato"/>
            </a:endParaRPr>
          </a:p>
        </p:txBody>
      </p:sp>
      <p:sp>
        <p:nvSpPr>
          <p:cNvPr id="697" name="Google Shape;697;p25"/>
          <p:cNvSpPr/>
          <p:nvPr/>
        </p:nvSpPr>
        <p:spPr>
          <a:xfrm>
            <a:off x="7095414" y="1025688"/>
            <a:ext cx="567600" cy="152100"/>
          </a:xfrm>
          <a:prstGeom prst="rect">
            <a:avLst/>
          </a:prstGeom>
          <a:no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576"/>
              <a:buFont typeface="Arial"/>
              <a:buNone/>
            </a:pPr>
            <a:r>
              <a:rPr b="0" i="0" lang="en" sz="576" u="none" cap="none" strike="noStrike">
                <a:solidFill>
                  <a:srgbClr val="FF0000"/>
                </a:solidFill>
                <a:latin typeface="Lato"/>
                <a:ea typeface="Lato"/>
                <a:cs typeface="Lato"/>
                <a:sym typeface="Lato"/>
              </a:rPr>
              <a:t>Segment 2</a:t>
            </a:r>
            <a:endParaRPr b="0" i="0" sz="262" u="none" cap="none" strike="noStrike">
              <a:solidFill>
                <a:srgbClr val="FF0000"/>
              </a:solidFill>
              <a:latin typeface="Lato"/>
              <a:ea typeface="Lato"/>
              <a:cs typeface="Lato"/>
              <a:sym typeface="Lato"/>
            </a:endParaRPr>
          </a:p>
        </p:txBody>
      </p:sp>
      <p:sp>
        <p:nvSpPr>
          <p:cNvPr id="698" name="Google Shape;698;p25"/>
          <p:cNvSpPr/>
          <p:nvPr/>
        </p:nvSpPr>
        <p:spPr>
          <a:xfrm>
            <a:off x="7983990" y="1025447"/>
            <a:ext cx="567600" cy="152100"/>
          </a:xfrm>
          <a:prstGeom prst="rect">
            <a:avLst/>
          </a:prstGeom>
          <a:no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576"/>
              <a:buFont typeface="Arial"/>
              <a:buNone/>
            </a:pPr>
            <a:r>
              <a:rPr b="0" i="0" lang="en" sz="576" u="none" cap="none" strike="noStrike">
                <a:solidFill>
                  <a:srgbClr val="00FF00"/>
                </a:solidFill>
                <a:latin typeface="Lato"/>
                <a:ea typeface="Lato"/>
                <a:cs typeface="Lato"/>
                <a:sym typeface="Lato"/>
              </a:rPr>
              <a:t>Segment 3</a:t>
            </a:r>
            <a:endParaRPr b="0" i="0" sz="262" u="none" cap="none" strike="noStrike">
              <a:solidFill>
                <a:srgbClr val="00FF00"/>
              </a:solidFill>
              <a:latin typeface="Lato"/>
              <a:ea typeface="Lato"/>
              <a:cs typeface="Lato"/>
              <a:sym typeface="Lato"/>
            </a:endParaRPr>
          </a:p>
        </p:txBody>
      </p:sp>
      <p:sp>
        <p:nvSpPr>
          <p:cNvPr id="504" name="Google Shape;504;p25"/>
          <p:cNvSpPr/>
          <p:nvPr/>
        </p:nvSpPr>
        <p:spPr>
          <a:xfrm rot="10800000">
            <a:off x="7098279" y="1183311"/>
            <a:ext cx="567600" cy="1525200"/>
          </a:xfrm>
          <a:prstGeom prst="roundRect">
            <a:avLst>
              <a:gd fmla="val 16667" name="adj"/>
            </a:avLst>
          </a:prstGeom>
          <a:noFill/>
          <a:ln cap="flat" cmpd="sng" w="29950">
            <a:solidFill>
              <a:srgbClr val="FF0000"/>
            </a:solidFill>
            <a:prstDash val="dash"/>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Lato"/>
              <a:ea typeface="Lato"/>
              <a:cs typeface="Lato"/>
              <a:sym typeface="Lato"/>
            </a:endParaRPr>
          </a:p>
        </p:txBody>
      </p:sp>
      <p:sp>
        <p:nvSpPr>
          <p:cNvPr id="699" name="Google Shape;699;p25"/>
          <p:cNvSpPr/>
          <p:nvPr/>
        </p:nvSpPr>
        <p:spPr>
          <a:xfrm rot="10800000">
            <a:off x="7983850" y="1191420"/>
            <a:ext cx="567600" cy="1525200"/>
          </a:xfrm>
          <a:prstGeom prst="roundRect">
            <a:avLst>
              <a:gd fmla="val 16667" name="adj"/>
            </a:avLst>
          </a:prstGeom>
          <a:noFill/>
          <a:ln cap="flat" cmpd="sng" w="29950">
            <a:solidFill>
              <a:srgbClr val="00FF00"/>
            </a:solidFill>
            <a:prstDash val="dash"/>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Lato"/>
              <a:ea typeface="Lato"/>
              <a:cs typeface="Lato"/>
              <a:sym typeface="Lato"/>
            </a:endParaRPr>
          </a:p>
        </p:txBody>
      </p:sp>
      <p:sp>
        <p:nvSpPr>
          <p:cNvPr id="700" name="Google Shape;700;p25"/>
          <p:cNvSpPr/>
          <p:nvPr/>
        </p:nvSpPr>
        <p:spPr>
          <a:xfrm rot="10800000">
            <a:off x="8365816" y="3615994"/>
            <a:ext cx="188700" cy="152100"/>
          </a:xfrm>
          <a:prstGeom prst="rect">
            <a:avLst/>
          </a:prstGeom>
          <a:solidFill>
            <a:srgbClr val="D9EAD3"/>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93C47D"/>
                </a:solidFill>
                <a:latin typeface="Lato"/>
                <a:ea typeface="Lato"/>
                <a:cs typeface="Lato"/>
                <a:sym typeface="Lato"/>
              </a:rPr>
              <a:t>1</a:t>
            </a:r>
            <a:endParaRPr b="0" i="0" sz="104" u="none" cap="none" strike="noStrike">
              <a:solidFill>
                <a:srgbClr val="93C47D"/>
              </a:solidFill>
              <a:latin typeface="Lato"/>
              <a:ea typeface="Lato"/>
              <a:cs typeface="Lato"/>
              <a:sym typeface="Lato"/>
            </a:endParaRPr>
          </a:p>
        </p:txBody>
      </p:sp>
      <p:sp>
        <p:nvSpPr>
          <p:cNvPr id="701" name="Google Shape;701;p25"/>
          <p:cNvSpPr/>
          <p:nvPr/>
        </p:nvSpPr>
        <p:spPr>
          <a:xfrm rot="10800000">
            <a:off x="8176768" y="3615994"/>
            <a:ext cx="188700" cy="152100"/>
          </a:xfrm>
          <a:prstGeom prst="rect">
            <a:avLst/>
          </a:prstGeom>
          <a:solidFill>
            <a:srgbClr val="D9EAD3"/>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93C47D"/>
                </a:solidFill>
                <a:latin typeface="Lato"/>
                <a:ea typeface="Lato"/>
                <a:cs typeface="Lato"/>
                <a:sym typeface="Lato"/>
              </a:rPr>
              <a:t>1</a:t>
            </a:r>
            <a:endParaRPr b="0" i="0" sz="104" u="none" cap="none" strike="noStrike">
              <a:solidFill>
                <a:srgbClr val="93C47D"/>
              </a:solidFill>
              <a:latin typeface="Lato"/>
              <a:ea typeface="Lato"/>
              <a:cs typeface="Lato"/>
              <a:sym typeface="Lato"/>
            </a:endParaRPr>
          </a:p>
        </p:txBody>
      </p:sp>
      <p:sp>
        <p:nvSpPr>
          <p:cNvPr id="702" name="Google Shape;702;p25"/>
          <p:cNvSpPr/>
          <p:nvPr/>
        </p:nvSpPr>
        <p:spPr>
          <a:xfrm rot="10800000">
            <a:off x="8365816" y="3463226"/>
            <a:ext cx="188700" cy="152100"/>
          </a:xfrm>
          <a:prstGeom prst="rect">
            <a:avLst/>
          </a:prstGeom>
          <a:solidFill>
            <a:srgbClr val="93C47D"/>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93C47D"/>
                </a:solidFill>
                <a:latin typeface="Lato"/>
                <a:ea typeface="Lato"/>
                <a:cs typeface="Lato"/>
                <a:sym typeface="Lato"/>
              </a:rPr>
              <a:t>0</a:t>
            </a:r>
            <a:endParaRPr b="0" i="0" sz="104" u="none" cap="none" strike="noStrike">
              <a:solidFill>
                <a:srgbClr val="93C47D"/>
              </a:solidFill>
              <a:latin typeface="Lato"/>
              <a:ea typeface="Lato"/>
              <a:cs typeface="Lato"/>
              <a:sym typeface="Lato"/>
            </a:endParaRPr>
          </a:p>
        </p:txBody>
      </p:sp>
      <p:sp>
        <p:nvSpPr>
          <p:cNvPr id="703" name="Google Shape;703;p25"/>
          <p:cNvSpPr/>
          <p:nvPr/>
        </p:nvSpPr>
        <p:spPr>
          <a:xfrm rot="10800000">
            <a:off x="8176768" y="3463226"/>
            <a:ext cx="188700" cy="152100"/>
          </a:xfrm>
          <a:prstGeom prst="rect">
            <a:avLst/>
          </a:prstGeom>
          <a:solidFill>
            <a:srgbClr val="93C47D"/>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93C47D"/>
                </a:solidFill>
                <a:latin typeface="Lato"/>
                <a:ea typeface="Lato"/>
                <a:cs typeface="Lato"/>
                <a:sym typeface="Lato"/>
              </a:rPr>
              <a:t>1</a:t>
            </a:r>
            <a:endParaRPr b="0" i="0" sz="104" u="none" cap="none" strike="noStrike">
              <a:solidFill>
                <a:srgbClr val="93C47D"/>
              </a:solidFill>
              <a:latin typeface="Lato"/>
              <a:ea typeface="Lato"/>
              <a:cs typeface="Lato"/>
              <a:sym typeface="Lato"/>
            </a:endParaRPr>
          </a:p>
        </p:txBody>
      </p:sp>
      <p:sp>
        <p:nvSpPr>
          <p:cNvPr id="704" name="Google Shape;704;p25"/>
          <p:cNvSpPr/>
          <p:nvPr/>
        </p:nvSpPr>
        <p:spPr>
          <a:xfrm rot="10800000">
            <a:off x="8365816" y="3310947"/>
            <a:ext cx="188700" cy="152100"/>
          </a:xfrm>
          <a:prstGeom prst="rect">
            <a:avLst/>
          </a:prstGeom>
          <a:solidFill>
            <a:srgbClr val="B6D7A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6D7A8"/>
                </a:solidFill>
                <a:latin typeface="Lato"/>
                <a:ea typeface="Lato"/>
                <a:cs typeface="Lato"/>
                <a:sym typeface="Lato"/>
              </a:rPr>
              <a:t>0</a:t>
            </a:r>
            <a:endParaRPr b="0" i="0" sz="104" u="none" cap="none" strike="noStrike">
              <a:solidFill>
                <a:srgbClr val="B6D7A8"/>
              </a:solidFill>
              <a:latin typeface="Lato"/>
              <a:ea typeface="Lato"/>
              <a:cs typeface="Lato"/>
              <a:sym typeface="Lato"/>
            </a:endParaRPr>
          </a:p>
        </p:txBody>
      </p:sp>
      <p:sp>
        <p:nvSpPr>
          <p:cNvPr id="705" name="Google Shape;705;p25"/>
          <p:cNvSpPr/>
          <p:nvPr/>
        </p:nvSpPr>
        <p:spPr>
          <a:xfrm rot="10800000">
            <a:off x="8176768" y="3310947"/>
            <a:ext cx="188700" cy="152100"/>
          </a:xfrm>
          <a:prstGeom prst="rect">
            <a:avLst/>
          </a:prstGeom>
          <a:solidFill>
            <a:srgbClr val="B6D7A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6D7A8"/>
                </a:solidFill>
                <a:latin typeface="Lato"/>
                <a:ea typeface="Lato"/>
                <a:cs typeface="Lato"/>
                <a:sym typeface="Lato"/>
              </a:rPr>
              <a:t>1</a:t>
            </a:r>
            <a:endParaRPr b="0" i="0" sz="104" u="none" cap="none" strike="noStrike">
              <a:solidFill>
                <a:srgbClr val="B6D7A8"/>
              </a:solidFill>
              <a:latin typeface="Lato"/>
              <a:ea typeface="Lato"/>
              <a:cs typeface="Lato"/>
              <a:sym typeface="Lato"/>
            </a:endParaRPr>
          </a:p>
        </p:txBody>
      </p:sp>
      <p:sp>
        <p:nvSpPr>
          <p:cNvPr id="706" name="Google Shape;706;p25"/>
          <p:cNvSpPr/>
          <p:nvPr/>
        </p:nvSpPr>
        <p:spPr>
          <a:xfrm rot="10800000">
            <a:off x="7987407" y="3614529"/>
            <a:ext cx="188700" cy="152100"/>
          </a:xfrm>
          <a:prstGeom prst="rect">
            <a:avLst/>
          </a:prstGeom>
          <a:solidFill>
            <a:srgbClr val="D9EAD3"/>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93C47D"/>
                </a:solidFill>
                <a:latin typeface="Lato"/>
                <a:ea typeface="Lato"/>
                <a:cs typeface="Lato"/>
                <a:sym typeface="Lato"/>
              </a:rPr>
              <a:t>0</a:t>
            </a:r>
            <a:endParaRPr b="0" i="0" sz="104" u="none" cap="none" strike="noStrike">
              <a:solidFill>
                <a:srgbClr val="93C47D"/>
              </a:solidFill>
              <a:latin typeface="Lato"/>
              <a:ea typeface="Lato"/>
              <a:cs typeface="Lato"/>
              <a:sym typeface="Lato"/>
            </a:endParaRPr>
          </a:p>
        </p:txBody>
      </p:sp>
      <p:sp>
        <p:nvSpPr>
          <p:cNvPr id="707" name="Google Shape;707;p25"/>
          <p:cNvSpPr/>
          <p:nvPr/>
        </p:nvSpPr>
        <p:spPr>
          <a:xfrm rot="10800000">
            <a:off x="7478356" y="3616696"/>
            <a:ext cx="188700" cy="152100"/>
          </a:xfrm>
          <a:prstGeom prst="rect">
            <a:avLst/>
          </a:prstGeom>
          <a:solidFill>
            <a:srgbClr val="EA9999"/>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E06666"/>
                </a:solidFill>
                <a:latin typeface="Lato"/>
                <a:ea typeface="Lato"/>
                <a:cs typeface="Lato"/>
                <a:sym typeface="Lato"/>
              </a:rPr>
              <a:t>0</a:t>
            </a:r>
            <a:endParaRPr b="0" i="0" sz="104" u="none" cap="none" strike="noStrike">
              <a:solidFill>
                <a:srgbClr val="E06666"/>
              </a:solidFill>
              <a:latin typeface="Lato"/>
              <a:ea typeface="Lato"/>
              <a:cs typeface="Lato"/>
              <a:sym typeface="Lato"/>
            </a:endParaRPr>
          </a:p>
        </p:txBody>
      </p:sp>
      <p:sp>
        <p:nvSpPr>
          <p:cNvPr id="708" name="Google Shape;708;p25"/>
          <p:cNvSpPr/>
          <p:nvPr/>
        </p:nvSpPr>
        <p:spPr>
          <a:xfrm rot="10800000">
            <a:off x="7288015" y="3617670"/>
            <a:ext cx="188700" cy="152100"/>
          </a:xfrm>
          <a:prstGeom prst="rect">
            <a:avLst/>
          </a:prstGeom>
          <a:solidFill>
            <a:srgbClr val="EA9999"/>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E06666"/>
                </a:solidFill>
                <a:latin typeface="Lato"/>
                <a:ea typeface="Lato"/>
                <a:cs typeface="Lato"/>
                <a:sym typeface="Lato"/>
              </a:rPr>
              <a:t>1</a:t>
            </a:r>
            <a:endParaRPr b="0" i="0" sz="104" u="none" cap="none" strike="noStrike">
              <a:solidFill>
                <a:srgbClr val="E06666"/>
              </a:solidFill>
              <a:latin typeface="Lato"/>
              <a:ea typeface="Lato"/>
              <a:cs typeface="Lato"/>
              <a:sym typeface="Lato"/>
            </a:endParaRPr>
          </a:p>
        </p:txBody>
      </p:sp>
      <p:sp>
        <p:nvSpPr>
          <p:cNvPr id="709" name="Google Shape;709;p25"/>
          <p:cNvSpPr/>
          <p:nvPr/>
        </p:nvSpPr>
        <p:spPr>
          <a:xfrm rot="10800000">
            <a:off x="7098966" y="3617670"/>
            <a:ext cx="188700" cy="152100"/>
          </a:xfrm>
          <a:prstGeom prst="rect">
            <a:avLst/>
          </a:prstGeom>
          <a:solidFill>
            <a:srgbClr val="EA9999"/>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E06666"/>
                </a:solidFill>
                <a:latin typeface="Lato"/>
                <a:ea typeface="Lato"/>
                <a:cs typeface="Lato"/>
                <a:sym typeface="Lato"/>
              </a:rPr>
              <a:t>1</a:t>
            </a:r>
            <a:endParaRPr b="0" i="0" sz="104" u="none" cap="none" strike="noStrike">
              <a:solidFill>
                <a:srgbClr val="E06666"/>
              </a:solidFill>
              <a:latin typeface="Lato"/>
              <a:ea typeface="Lato"/>
              <a:cs typeface="Lato"/>
              <a:sym typeface="Lato"/>
            </a:endParaRPr>
          </a:p>
        </p:txBody>
      </p:sp>
      <p:sp>
        <p:nvSpPr>
          <p:cNvPr id="710" name="Google Shape;710;p25"/>
          <p:cNvSpPr/>
          <p:nvPr/>
        </p:nvSpPr>
        <p:spPr>
          <a:xfrm rot="10800000">
            <a:off x="7987407" y="3461760"/>
            <a:ext cx="188700" cy="152100"/>
          </a:xfrm>
          <a:prstGeom prst="rect">
            <a:avLst/>
          </a:prstGeom>
          <a:solidFill>
            <a:srgbClr val="93C47D"/>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93C47D"/>
                </a:solidFill>
                <a:latin typeface="Lato"/>
                <a:ea typeface="Lato"/>
                <a:cs typeface="Lato"/>
                <a:sym typeface="Lato"/>
              </a:rPr>
              <a:t>1</a:t>
            </a:r>
            <a:endParaRPr b="0" i="0" sz="104" u="none" cap="none" strike="noStrike">
              <a:solidFill>
                <a:srgbClr val="93C47D"/>
              </a:solidFill>
              <a:latin typeface="Lato"/>
              <a:ea typeface="Lato"/>
              <a:cs typeface="Lato"/>
              <a:sym typeface="Lato"/>
            </a:endParaRPr>
          </a:p>
        </p:txBody>
      </p:sp>
      <p:sp>
        <p:nvSpPr>
          <p:cNvPr id="711" name="Google Shape;711;p25"/>
          <p:cNvSpPr/>
          <p:nvPr/>
        </p:nvSpPr>
        <p:spPr>
          <a:xfrm rot="10800000">
            <a:off x="7477678" y="3464409"/>
            <a:ext cx="188700" cy="152100"/>
          </a:xfrm>
          <a:prstGeom prst="rect">
            <a:avLst/>
          </a:prstGeom>
          <a:solidFill>
            <a:srgbClr val="F4CCCC"/>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F4CCCC"/>
                </a:solidFill>
                <a:latin typeface="Lato"/>
                <a:ea typeface="Lato"/>
                <a:cs typeface="Lato"/>
                <a:sym typeface="Lato"/>
              </a:rPr>
              <a:t>0</a:t>
            </a:r>
            <a:endParaRPr b="0" i="0" sz="104" u="none" cap="none" strike="noStrike">
              <a:solidFill>
                <a:srgbClr val="F4CCCC"/>
              </a:solidFill>
              <a:latin typeface="Lato"/>
              <a:ea typeface="Lato"/>
              <a:cs typeface="Lato"/>
              <a:sym typeface="Lato"/>
            </a:endParaRPr>
          </a:p>
        </p:txBody>
      </p:sp>
      <p:sp>
        <p:nvSpPr>
          <p:cNvPr id="712" name="Google Shape;712;p25"/>
          <p:cNvSpPr/>
          <p:nvPr/>
        </p:nvSpPr>
        <p:spPr>
          <a:xfrm rot="10800000">
            <a:off x="7288015" y="3464901"/>
            <a:ext cx="188700" cy="152100"/>
          </a:xfrm>
          <a:prstGeom prst="rect">
            <a:avLst/>
          </a:prstGeom>
          <a:solidFill>
            <a:srgbClr val="F4CCCC"/>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F4CCCC"/>
                </a:solidFill>
                <a:latin typeface="Lato"/>
                <a:ea typeface="Lato"/>
                <a:cs typeface="Lato"/>
                <a:sym typeface="Lato"/>
              </a:rPr>
              <a:t>0</a:t>
            </a:r>
            <a:endParaRPr b="0" i="0" sz="104" u="none" cap="none" strike="noStrike">
              <a:solidFill>
                <a:srgbClr val="F4CCCC"/>
              </a:solidFill>
              <a:latin typeface="Lato"/>
              <a:ea typeface="Lato"/>
              <a:cs typeface="Lato"/>
              <a:sym typeface="Lato"/>
            </a:endParaRPr>
          </a:p>
        </p:txBody>
      </p:sp>
      <p:sp>
        <p:nvSpPr>
          <p:cNvPr id="713" name="Google Shape;713;p25"/>
          <p:cNvSpPr/>
          <p:nvPr/>
        </p:nvSpPr>
        <p:spPr>
          <a:xfrm rot="10800000">
            <a:off x="7098966" y="3464901"/>
            <a:ext cx="188700" cy="152100"/>
          </a:xfrm>
          <a:prstGeom prst="rect">
            <a:avLst/>
          </a:prstGeom>
          <a:solidFill>
            <a:srgbClr val="F4CCCC"/>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F4CCCC"/>
                </a:solidFill>
                <a:latin typeface="Lato"/>
                <a:ea typeface="Lato"/>
                <a:cs typeface="Lato"/>
                <a:sym typeface="Lato"/>
              </a:rPr>
              <a:t>1</a:t>
            </a:r>
            <a:endParaRPr b="0" i="0" sz="104" u="none" cap="none" strike="noStrike">
              <a:solidFill>
                <a:srgbClr val="F4CCCC"/>
              </a:solidFill>
              <a:latin typeface="Lato"/>
              <a:ea typeface="Lato"/>
              <a:cs typeface="Lato"/>
              <a:sym typeface="Lato"/>
            </a:endParaRPr>
          </a:p>
        </p:txBody>
      </p:sp>
      <p:sp>
        <p:nvSpPr>
          <p:cNvPr id="714" name="Google Shape;714;p25"/>
          <p:cNvSpPr/>
          <p:nvPr/>
        </p:nvSpPr>
        <p:spPr>
          <a:xfrm rot="10800000">
            <a:off x="7987407" y="3309481"/>
            <a:ext cx="188700" cy="152100"/>
          </a:xfrm>
          <a:prstGeom prst="rect">
            <a:avLst/>
          </a:prstGeom>
          <a:solidFill>
            <a:srgbClr val="B6D7A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6D7A8"/>
                </a:solidFill>
                <a:latin typeface="Lato"/>
                <a:ea typeface="Lato"/>
                <a:cs typeface="Lato"/>
                <a:sym typeface="Lato"/>
              </a:rPr>
              <a:t>1</a:t>
            </a:r>
            <a:endParaRPr b="0" i="0" sz="104" u="none" cap="none" strike="noStrike">
              <a:solidFill>
                <a:srgbClr val="B6D7A8"/>
              </a:solidFill>
              <a:latin typeface="Lato"/>
              <a:ea typeface="Lato"/>
              <a:cs typeface="Lato"/>
              <a:sym typeface="Lato"/>
            </a:endParaRPr>
          </a:p>
        </p:txBody>
      </p:sp>
      <p:sp>
        <p:nvSpPr>
          <p:cNvPr id="715" name="Google Shape;715;p25"/>
          <p:cNvSpPr/>
          <p:nvPr/>
        </p:nvSpPr>
        <p:spPr>
          <a:xfrm rot="10800000">
            <a:off x="7477678" y="3312130"/>
            <a:ext cx="188700" cy="152100"/>
          </a:xfrm>
          <a:prstGeom prst="rect">
            <a:avLst/>
          </a:prstGeom>
          <a:solidFill>
            <a:srgbClr val="E0666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E06666"/>
                </a:solidFill>
                <a:latin typeface="Lato"/>
                <a:ea typeface="Lato"/>
                <a:cs typeface="Lato"/>
                <a:sym typeface="Lato"/>
              </a:rPr>
              <a:t>0</a:t>
            </a:r>
            <a:endParaRPr b="0" i="0" sz="104" u="none" cap="none" strike="noStrike">
              <a:solidFill>
                <a:srgbClr val="E06666"/>
              </a:solidFill>
              <a:latin typeface="Lato"/>
              <a:ea typeface="Lato"/>
              <a:cs typeface="Lato"/>
              <a:sym typeface="Lato"/>
            </a:endParaRPr>
          </a:p>
        </p:txBody>
      </p:sp>
      <p:sp>
        <p:nvSpPr>
          <p:cNvPr id="505" name="Google Shape;505;p25"/>
          <p:cNvSpPr/>
          <p:nvPr/>
        </p:nvSpPr>
        <p:spPr>
          <a:xfrm rot="10800000">
            <a:off x="7288015" y="3312622"/>
            <a:ext cx="188700" cy="152100"/>
          </a:xfrm>
          <a:prstGeom prst="rect">
            <a:avLst/>
          </a:prstGeom>
          <a:solidFill>
            <a:srgbClr val="E0666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E06666"/>
                </a:solidFill>
                <a:latin typeface="Lato"/>
                <a:ea typeface="Lato"/>
                <a:cs typeface="Lato"/>
                <a:sym typeface="Lato"/>
              </a:rPr>
              <a:t>0</a:t>
            </a:r>
            <a:endParaRPr b="0" i="0" sz="104" u="none" cap="none" strike="noStrike">
              <a:solidFill>
                <a:srgbClr val="E06666"/>
              </a:solidFill>
              <a:latin typeface="Lato"/>
              <a:ea typeface="Lato"/>
              <a:cs typeface="Lato"/>
              <a:sym typeface="Lato"/>
            </a:endParaRPr>
          </a:p>
        </p:txBody>
      </p:sp>
      <p:sp>
        <p:nvSpPr>
          <p:cNvPr id="716" name="Google Shape;716;p25"/>
          <p:cNvSpPr/>
          <p:nvPr/>
        </p:nvSpPr>
        <p:spPr>
          <a:xfrm rot="10800000">
            <a:off x="7098966" y="3312622"/>
            <a:ext cx="188700" cy="152100"/>
          </a:xfrm>
          <a:prstGeom prst="rect">
            <a:avLst/>
          </a:prstGeom>
          <a:solidFill>
            <a:srgbClr val="E0666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E06666"/>
                </a:solidFill>
                <a:latin typeface="Lato"/>
                <a:ea typeface="Lato"/>
                <a:cs typeface="Lato"/>
                <a:sym typeface="Lato"/>
              </a:rPr>
              <a:t>1</a:t>
            </a:r>
            <a:endParaRPr b="0" i="0" sz="104" u="none" cap="none" strike="noStrike">
              <a:solidFill>
                <a:srgbClr val="E06666"/>
              </a:solidFill>
              <a:latin typeface="Lato"/>
              <a:ea typeface="Lato"/>
              <a:cs typeface="Lato"/>
              <a:sym typeface="Lato"/>
            </a:endParaRPr>
          </a:p>
        </p:txBody>
      </p:sp>
      <p:sp>
        <p:nvSpPr>
          <p:cNvPr id="717" name="Google Shape;717;p25"/>
          <p:cNvSpPr/>
          <p:nvPr/>
        </p:nvSpPr>
        <p:spPr>
          <a:xfrm rot="-5400000">
            <a:off x="4608158" y="244132"/>
            <a:ext cx="115500" cy="1687200"/>
          </a:xfrm>
          <a:prstGeom prst="rightBrace">
            <a:avLst>
              <a:gd fmla="val 50000" name="adj1"/>
              <a:gd fmla="val 50000" name="adj2"/>
            </a:avLst>
          </a:prstGeom>
          <a:noFill/>
          <a:ln cap="flat" cmpd="sng" w="11000">
            <a:solidFill>
              <a:srgbClr val="1A1A1A"/>
            </a:solidFill>
            <a:prstDash val="solid"/>
            <a:round/>
            <a:headEnd len="sm" w="sm" type="none"/>
            <a:tailEnd len="sm" w="sm" type="none"/>
          </a:ln>
        </p:spPr>
        <p:txBody>
          <a:bodyPr anchorCtr="0" anchor="ctr" bIns="105425" lIns="105425" spcFirstLastPara="1" rIns="105425" wrap="square" tIns="105425">
            <a:noAutofit/>
          </a:bodyPr>
          <a:lstStyle/>
          <a:p>
            <a:pPr indent="0" lvl="0" marL="0" marR="0" rtl="0" algn="ctr">
              <a:lnSpc>
                <a:spcPct val="100000"/>
              </a:lnSpc>
              <a:spcBef>
                <a:spcPts val="0"/>
              </a:spcBef>
              <a:spcAft>
                <a:spcPts val="0"/>
              </a:spcAft>
              <a:buClr>
                <a:srgbClr val="000000"/>
              </a:buClr>
              <a:buSzPts val="1614"/>
              <a:buFont typeface="Arial"/>
              <a:buNone/>
            </a:pPr>
            <a:r>
              <a:t/>
            </a:r>
            <a:endParaRPr b="0" i="0" sz="1614" u="none" cap="none" strike="noStrike">
              <a:solidFill>
                <a:srgbClr val="000000"/>
              </a:solidFill>
              <a:latin typeface="Lato"/>
              <a:ea typeface="Lato"/>
              <a:cs typeface="Lato"/>
              <a:sym typeface="Lato"/>
            </a:endParaRPr>
          </a:p>
        </p:txBody>
      </p:sp>
      <p:sp>
        <p:nvSpPr>
          <p:cNvPr id="718" name="Google Shape;718;p25"/>
          <p:cNvSpPr/>
          <p:nvPr/>
        </p:nvSpPr>
        <p:spPr>
          <a:xfrm rot="10800000">
            <a:off x="3667566" y="1190263"/>
            <a:ext cx="117300" cy="1525200"/>
          </a:xfrm>
          <a:prstGeom prst="rightBrace">
            <a:avLst>
              <a:gd fmla="val 50000" name="adj1"/>
              <a:gd fmla="val 50000" name="adj2"/>
            </a:avLst>
          </a:prstGeom>
          <a:noFill/>
          <a:ln cap="flat" cmpd="sng" w="11000">
            <a:solidFill>
              <a:srgbClr val="1A1A1A"/>
            </a:solidFill>
            <a:prstDash val="solid"/>
            <a:round/>
            <a:headEnd len="sm" w="sm" type="none"/>
            <a:tailEnd len="sm" w="sm" type="none"/>
          </a:ln>
        </p:spPr>
        <p:txBody>
          <a:bodyPr anchorCtr="0" anchor="ctr" bIns="105425" lIns="105425" spcFirstLastPara="1" rIns="105425" wrap="square" tIns="105425">
            <a:noAutofit/>
          </a:bodyPr>
          <a:lstStyle/>
          <a:p>
            <a:pPr indent="0" lvl="0" marL="0" marR="0" rtl="0" algn="ctr">
              <a:lnSpc>
                <a:spcPct val="100000"/>
              </a:lnSpc>
              <a:spcBef>
                <a:spcPts val="0"/>
              </a:spcBef>
              <a:spcAft>
                <a:spcPts val="0"/>
              </a:spcAft>
              <a:buClr>
                <a:srgbClr val="000000"/>
              </a:buClr>
              <a:buSzPts val="1614"/>
              <a:buFont typeface="Arial"/>
              <a:buNone/>
            </a:pPr>
            <a:r>
              <a:t/>
            </a:r>
            <a:endParaRPr b="0" i="0" sz="1614" u="none" cap="none" strike="noStrike">
              <a:solidFill>
                <a:srgbClr val="000000"/>
              </a:solidFill>
              <a:latin typeface="Lato"/>
              <a:ea typeface="Lato"/>
              <a:cs typeface="Lato"/>
              <a:sym typeface="Lato"/>
            </a:endParaRPr>
          </a:p>
        </p:txBody>
      </p:sp>
      <p:sp>
        <p:nvSpPr>
          <p:cNvPr id="719" name="Google Shape;719;p25"/>
          <p:cNvSpPr txBox="1"/>
          <p:nvPr/>
        </p:nvSpPr>
        <p:spPr>
          <a:xfrm>
            <a:off x="3090450" y="1334750"/>
            <a:ext cx="737100" cy="358800"/>
          </a:xfrm>
          <a:prstGeom prst="rect">
            <a:avLst/>
          </a:prstGeom>
          <a:noFill/>
          <a:ln>
            <a:noFill/>
          </a:ln>
        </p:spPr>
        <p:txBody>
          <a:bodyPr anchorCtr="0" anchor="t" bIns="105425" lIns="105425" spcFirstLastPara="1" rIns="105425" wrap="square" tIns="105425">
            <a:spAutoFit/>
          </a:bodyPr>
          <a:lstStyle/>
          <a:p>
            <a:pPr indent="0" lvl="0" marL="0" marR="0" rtl="0" algn="ctr">
              <a:lnSpc>
                <a:spcPct val="100000"/>
              </a:lnSpc>
              <a:spcBef>
                <a:spcPts val="0"/>
              </a:spcBef>
              <a:spcAft>
                <a:spcPts val="0"/>
              </a:spcAft>
              <a:buClr>
                <a:srgbClr val="000000"/>
              </a:buClr>
              <a:buSzPts val="947"/>
              <a:buFont typeface="Arial"/>
              <a:buNone/>
            </a:pPr>
            <a:r>
              <a:rPr b="0" i="0" lang="en" sz="948" u="none" cap="none" strike="noStrike">
                <a:solidFill>
                  <a:srgbClr val="595959"/>
                </a:solidFill>
                <a:latin typeface="Lato"/>
                <a:ea typeface="Lato"/>
                <a:cs typeface="Lato"/>
                <a:sym typeface="Lato"/>
              </a:rPr>
              <a:t>N = Span</a:t>
            </a:r>
            <a:endParaRPr b="0" i="0" sz="948" u="none" cap="none" strike="noStrike">
              <a:solidFill>
                <a:srgbClr val="595959"/>
              </a:solidFill>
              <a:latin typeface="Lato"/>
              <a:ea typeface="Lato"/>
              <a:cs typeface="Lato"/>
              <a:sym typeface="Lato"/>
            </a:endParaRPr>
          </a:p>
        </p:txBody>
      </p:sp>
      <p:sp>
        <p:nvSpPr>
          <p:cNvPr id="720" name="Google Shape;720;p25"/>
          <p:cNvSpPr txBox="1"/>
          <p:nvPr/>
        </p:nvSpPr>
        <p:spPr>
          <a:xfrm>
            <a:off x="6314163" y="3804065"/>
            <a:ext cx="381900" cy="324600"/>
          </a:xfrm>
          <a:prstGeom prst="rect">
            <a:avLst/>
          </a:prstGeom>
          <a:noFill/>
          <a:ln>
            <a:noFill/>
          </a:ln>
        </p:spPr>
        <p:txBody>
          <a:bodyPr anchorCtr="0" anchor="ctr" bIns="87675" lIns="87675" spcFirstLastPara="1" rIns="87675" wrap="square" tIns="87675">
            <a:noAutofit/>
          </a:bodyPr>
          <a:lstStyle/>
          <a:p>
            <a:pPr indent="0" lvl="0" marL="0" marR="0" rtl="0" algn="ctr">
              <a:lnSpc>
                <a:spcPct val="100000"/>
              </a:lnSpc>
              <a:spcBef>
                <a:spcPts val="0"/>
              </a:spcBef>
              <a:spcAft>
                <a:spcPts val="0"/>
              </a:spcAft>
              <a:buClr>
                <a:srgbClr val="000000"/>
              </a:buClr>
              <a:buSzPts val="767"/>
              <a:buFont typeface="Arial"/>
              <a:buNone/>
            </a:pPr>
            <a:r>
              <a:rPr b="0" i="0" lang="en" sz="767" u="none" cap="none" strike="noStrike">
                <a:solidFill>
                  <a:srgbClr val="595959"/>
                </a:solidFill>
                <a:latin typeface="Lato"/>
                <a:ea typeface="Lato"/>
                <a:cs typeface="Lato"/>
                <a:sym typeface="Lato"/>
              </a:rPr>
              <a:t>C1</a:t>
            </a:r>
            <a:endParaRPr b="0" i="0" sz="767" u="none" cap="none" strike="noStrike">
              <a:solidFill>
                <a:srgbClr val="595959"/>
              </a:solidFill>
              <a:latin typeface="Lato"/>
              <a:ea typeface="Lato"/>
              <a:cs typeface="Lato"/>
              <a:sym typeface="Lato"/>
            </a:endParaRPr>
          </a:p>
        </p:txBody>
      </p:sp>
      <p:sp>
        <p:nvSpPr>
          <p:cNvPr id="721" name="Google Shape;721;p25"/>
          <p:cNvSpPr txBox="1"/>
          <p:nvPr/>
        </p:nvSpPr>
        <p:spPr>
          <a:xfrm>
            <a:off x="7200072" y="3806795"/>
            <a:ext cx="381900" cy="324600"/>
          </a:xfrm>
          <a:prstGeom prst="rect">
            <a:avLst/>
          </a:prstGeom>
          <a:noFill/>
          <a:ln>
            <a:noFill/>
          </a:ln>
        </p:spPr>
        <p:txBody>
          <a:bodyPr anchorCtr="0" anchor="ctr" bIns="87675" lIns="87675" spcFirstLastPara="1" rIns="87675" wrap="square" tIns="87675">
            <a:noAutofit/>
          </a:bodyPr>
          <a:lstStyle/>
          <a:p>
            <a:pPr indent="0" lvl="0" marL="0" marR="0" rtl="0" algn="ctr">
              <a:lnSpc>
                <a:spcPct val="100000"/>
              </a:lnSpc>
              <a:spcBef>
                <a:spcPts val="0"/>
              </a:spcBef>
              <a:spcAft>
                <a:spcPts val="0"/>
              </a:spcAft>
              <a:buClr>
                <a:srgbClr val="000000"/>
              </a:buClr>
              <a:buSzPts val="767"/>
              <a:buFont typeface="Arial"/>
              <a:buNone/>
            </a:pPr>
            <a:r>
              <a:rPr b="0" i="0" lang="en" sz="767" u="none" cap="none" strike="noStrike">
                <a:solidFill>
                  <a:srgbClr val="595959"/>
                </a:solidFill>
                <a:latin typeface="Lato"/>
                <a:ea typeface="Lato"/>
                <a:cs typeface="Lato"/>
                <a:sym typeface="Lato"/>
              </a:rPr>
              <a:t>C2</a:t>
            </a:r>
            <a:endParaRPr b="0" i="0" sz="767" u="none" cap="none" strike="noStrike">
              <a:solidFill>
                <a:srgbClr val="595959"/>
              </a:solidFill>
              <a:latin typeface="Lato"/>
              <a:ea typeface="Lato"/>
              <a:cs typeface="Lato"/>
              <a:sym typeface="Lato"/>
            </a:endParaRPr>
          </a:p>
        </p:txBody>
      </p:sp>
      <p:sp>
        <p:nvSpPr>
          <p:cNvPr id="722" name="Google Shape;722;p25"/>
          <p:cNvSpPr txBox="1"/>
          <p:nvPr/>
        </p:nvSpPr>
        <p:spPr>
          <a:xfrm>
            <a:off x="8086062" y="3802425"/>
            <a:ext cx="381900" cy="324600"/>
          </a:xfrm>
          <a:prstGeom prst="rect">
            <a:avLst/>
          </a:prstGeom>
          <a:noFill/>
          <a:ln>
            <a:noFill/>
          </a:ln>
        </p:spPr>
        <p:txBody>
          <a:bodyPr anchorCtr="0" anchor="ctr" bIns="87675" lIns="87675" spcFirstLastPara="1" rIns="87675" wrap="square" tIns="87675">
            <a:noAutofit/>
          </a:bodyPr>
          <a:lstStyle/>
          <a:p>
            <a:pPr indent="0" lvl="0" marL="0" marR="0" rtl="0" algn="ctr">
              <a:lnSpc>
                <a:spcPct val="100000"/>
              </a:lnSpc>
              <a:spcBef>
                <a:spcPts val="0"/>
              </a:spcBef>
              <a:spcAft>
                <a:spcPts val="0"/>
              </a:spcAft>
              <a:buClr>
                <a:srgbClr val="000000"/>
              </a:buClr>
              <a:buSzPts val="767"/>
              <a:buFont typeface="Arial"/>
              <a:buNone/>
            </a:pPr>
            <a:r>
              <a:rPr b="0" i="0" lang="en" sz="767" u="none" cap="none" strike="noStrike">
                <a:solidFill>
                  <a:srgbClr val="595959"/>
                </a:solidFill>
                <a:latin typeface="Lato"/>
                <a:ea typeface="Lato"/>
                <a:cs typeface="Lato"/>
                <a:sym typeface="Lato"/>
              </a:rPr>
              <a:t>C3</a:t>
            </a:r>
            <a:endParaRPr b="0" i="0" sz="767" u="none" cap="none" strike="noStrike">
              <a:solidFill>
                <a:srgbClr val="595959"/>
              </a:solidFill>
              <a:latin typeface="Lato"/>
              <a:ea typeface="Lato"/>
              <a:cs typeface="Lato"/>
              <a:sym typeface="Lato"/>
            </a:endParaRPr>
          </a:p>
        </p:txBody>
      </p:sp>
      <p:sp>
        <p:nvSpPr>
          <p:cNvPr id="723" name="Google Shape;723;p25"/>
          <p:cNvSpPr/>
          <p:nvPr/>
        </p:nvSpPr>
        <p:spPr>
          <a:xfrm>
            <a:off x="5571302" y="1201025"/>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6D9EEB"/>
                </a:solidFill>
                <a:latin typeface="Lato"/>
                <a:ea typeface="Lato"/>
                <a:cs typeface="Lato"/>
                <a:sym typeface="Lato"/>
              </a:rPr>
              <a:t>d</a:t>
            </a:r>
            <a:r>
              <a:rPr b="0" i="0" lang="en" sz="837" u="none" cap="none" strike="noStrike">
                <a:solidFill>
                  <a:srgbClr val="6D9EEB"/>
                </a:solidFill>
                <a:latin typeface="Lato"/>
                <a:ea typeface="Lato"/>
                <a:cs typeface="Lato"/>
                <a:sym typeface="Lato"/>
              </a:rPr>
              <a:t>1</a:t>
            </a:r>
            <a:endParaRPr b="0" i="0" sz="837" u="none" cap="none" strike="noStrike">
              <a:solidFill>
                <a:srgbClr val="6D9EEB"/>
              </a:solidFill>
              <a:latin typeface="Lato"/>
              <a:ea typeface="Lato"/>
              <a:cs typeface="Lato"/>
              <a:sym typeface="Lato"/>
            </a:endParaRPr>
          </a:p>
        </p:txBody>
      </p:sp>
      <p:sp>
        <p:nvSpPr>
          <p:cNvPr id="724" name="Google Shape;724;p25"/>
          <p:cNvSpPr/>
          <p:nvPr/>
        </p:nvSpPr>
        <p:spPr>
          <a:xfrm>
            <a:off x="5569575" y="1353144"/>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B4A7D6"/>
                </a:solidFill>
                <a:latin typeface="Lato"/>
                <a:ea typeface="Lato"/>
                <a:cs typeface="Lato"/>
                <a:sym typeface="Lato"/>
              </a:rPr>
              <a:t>d</a:t>
            </a:r>
            <a:r>
              <a:rPr b="0" i="0" lang="en" sz="837" u="none" cap="none" strike="noStrike">
                <a:solidFill>
                  <a:srgbClr val="B4A7D6"/>
                </a:solidFill>
                <a:latin typeface="Lato"/>
                <a:ea typeface="Lato"/>
                <a:cs typeface="Lato"/>
                <a:sym typeface="Lato"/>
              </a:rPr>
              <a:t>2</a:t>
            </a:r>
            <a:endParaRPr b="0" i="0" sz="837" u="none" cap="none" strike="noStrike">
              <a:solidFill>
                <a:srgbClr val="B4A7D6"/>
              </a:solidFill>
              <a:latin typeface="Lato"/>
              <a:ea typeface="Lato"/>
              <a:cs typeface="Lato"/>
              <a:sym typeface="Lato"/>
            </a:endParaRPr>
          </a:p>
        </p:txBody>
      </p:sp>
      <p:sp>
        <p:nvSpPr>
          <p:cNvPr id="725" name="Google Shape;725;p25"/>
          <p:cNvSpPr/>
          <p:nvPr/>
        </p:nvSpPr>
        <p:spPr>
          <a:xfrm>
            <a:off x="5569575" y="1505282"/>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EA9999"/>
                </a:solidFill>
                <a:latin typeface="Lato"/>
                <a:ea typeface="Lato"/>
                <a:cs typeface="Lato"/>
                <a:sym typeface="Lato"/>
              </a:rPr>
              <a:t>d</a:t>
            </a:r>
            <a:r>
              <a:rPr b="0" i="0" lang="en" sz="837" u="none" cap="none" strike="noStrike">
                <a:solidFill>
                  <a:srgbClr val="EA9999"/>
                </a:solidFill>
                <a:latin typeface="Lato"/>
                <a:ea typeface="Lato"/>
                <a:cs typeface="Lato"/>
                <a:sym typeface="Lato"/>
              </a:rPr>
              <a:t>3</a:t>
            </a:r>
            <a:endParaRPr b="0" i="0" sz="837" u="none" cap="none" strike="noStrike">
              <a:solidFill>
                <a:srgbClr val="EA9999"/>
              </a:solidFill>
              <a:latin typeface="Lato"/>
              <a:ea typeface="Lato"/>
              <a:cs typeface="Lato"/>
              <a:sym typeface="Lato"/>
            </a:endParaRPr>
          </a:p>
        </p:txBody>
      </p:sp>
      <p:sp>
        <p:nvSpPr>
          <p:cNvPr id="726" name="Google Shape;726;p25"/>
          <p:cNvSpPr/>
          <p:nvPr/>
        </p:nvSpPr>
        <p:spPr>
          <a:xfrm>
            <a:off x="5569575" y="1657420"/>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93C47D"/>
                </a:solidFill>
                <a:latin typeface="Lato"/>
                <a:ea typeface="Lato"/>
                <a:cs typeface="Lato"/>
                <a:sym typeface="Lato"/>
              </a:rPr>
              <a:t>d</a:t>
            </a:r>
            <a:r>
              <a:rPr b="0" i="0" lang="en" sz="837" u="none" cap="none" strike="noStrike">
                <a:solidFill>
                  <a:srgbClr val="93C47D"/>
                </a:solidFill>
                <a:latin typeface="Lato"/>
                <a:ea typeface="Lato"/>
                <a:cs typeface="Lato"/>
                <a:sym typeface="Lato"/>
              </a:rPr>
              <a:t>4</a:t>
            </a:r>
            <a:endParaRPr b="0" i="0" sz="837" u="none" cap="none" strike="noStrike">
              <a:solidFill>
                <a:srgbClr val="93C47D"/>
              </a:solidFill>
              <a:latin typeface="Lato"/>
              <a:ea typeface="Lato"/>
              <a:cs typeface="Lato"/>
              <a:sym typeface="Lato"/>
            </a:endParaRPr>
          </a:p>
        </p:txBody>
      </p:sp>
      <p:sp>
        <p:nvSpPr>
          <p:cNvPr id="727" name="Google Shape;727;p25"/>
          <p:cNvSpPr/>
          <p:nvPr/>
        </p:nvSpPr>
        <p:spPr>
          <a:xfrm>
            <a:off x="5569575" y="1810537"/>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9FC5E8"/>
                </a:solidFill>
                <a:latin typeface="Lato"/>
                <a:ea typeface="Lato"/>
                <a:cs typeface="Lato"/>
                <a:sym typeface="Lato"/>
              </a:rPr>
              <a:t>d</a:t>
            </a:r>
            <a:r>
              <a:rPr b="0" i="0" lang="en" sz="837" u="none" cap="none" strike="noStrike">
                <a:solidFill>
                  <a:srgbClr val="9FC5E8"/>
                </a:solidFill>
                <a:latin typeface="Lato"/>
                <a:ea typeface="Lato"/>
                <a:cs typeface="Lato"/>
                <a:sym typeface="Lato"/>
              </a:rPr>
              <a:t>5</a:t>
            </a:r>
            <a:endParaRPr b="0" i="0" sz="837" u="none" cap="none" strike="noStrike">
              <a:solidFill>
                <a:srgbClr val="9FC5E8"/>
              </a:solidFill>
              <a:latin typeface="Lato"/>
              <a:ea typeface="Lato"/>
              <a:cs typeface="Lato"/>
              <a:sym typeface="Lato"/>
            </a:endParaRPr>
          </a:p>
        </p:txBody>
      </p:sp>
      <p:sp>
        <p:nvSpPr>
          <p:cNvPr id="728" name="Google Shape;728;p25"/>
          <p:cNvSpPr/>
          <p:nvPr/>
        </p:nvSpPr>
        <p:spPr>
          <a:xfrm>
            <a:off x="5569575" y="1962185"/>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E6B8AF"/>
                </a:solidFill>
                <a:latin typeface="Lato"/>
                <a:ea typeface="Lato"/>
                <a:cs typeface="Lato"/>
                <a:sym typeface="Lato"/>
              </a:rPr>
              <a:t>d</a:t>
            </a:r>
            <a:r>
              <a:rPr b="0" i="0" lang="en" sz="837" u="none" cap="none" strike="noStrike">
                <a:solidFill>
                  <a:srgbClr val="E6B8AF"/>
                </a:solidFill>
                <a:latin typeface="Lato"/>
                <a:ea typeface="Lato"/>
                <a:cs typeface="Lato"/>
                <a:sym typeface="Lato"/>
              </a:rPr>
              <a:t>6</a:t>
            </a:r>
            <a:endParaRPr b="0" i="0" sz="837" u="none" cap="none" strike="noStrike">
              <a:solidFill>
                <a:srgbClr val="E6B8AF"/>
              </a:solidFill>
              <a:latin typeface="Lato"/>
              <a:ea typeface="Lato"/>
              <a:cs typeface="Lato"/>
              <a:sym typeface="Lato"/>
            </a:endParaRPr>
          </a:p>
        </p:txBody>
      </p:sp>
      <p:sp>
        <p:nvSpPr>
          <p:cNvPr id="729" name="Google Shape;729;p25"/>
          <p:cNvSpPr/>
          <p:nvPr/>
        </p:nvSpPr>
        <p:spPr>
          <a:xfrm>
            <a:off x="5570267" y="2116280"/>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3D85C6"/>
                </a:solidFill>
                <a:latin typeface="Lato"/>
                <a:ea typeface="Lato"/>
                <a:cs typeface="Lato"/>
                <a:sym typeface="Lato"/>
              </a:rPr>
              <a:t>d</a:t>
            </a:r>
            <a:r>
              <a:rPr b="0" i="0" lang="en" sz="837" u="none" cap="none" strike="noStrike">
                <a:solidFill>
                  <a:srgbClr val="3D85C6"/>
                </a:solidFill>
                <a:latin typeface="Lato"/>
                <a:ea typeface="Lato"/>
                <a:cs typeface="Lato"/>
                <a:sym typeface="Lato"/>
              </a:rPr>
              <a:t>7</a:t>
            </a:r>
            <a:endParaRPr b="0" i="0" sz="837" u="none" cap="none" strike="noStrike">
              <a:solidFill>
                <a:srgbClr val="3D85C6"/>
              </a:solidFill>
              <a:latin typeface="Lato"/>
              <a:ea typeface="Lato"/>
              <a:cs typeface="Lato"/>
              <a:sym typeface="Lato"/>
            </a:endParaRPr>
          </a:p>
        </p:txBody>
      </p:sp>
      <p:sp>
        <p:nvSpPr>
          <p:cNvPr id="730" name="Google Shape;730;p25"/>
          <p:cNvSpPr/>
          <p:nvPr/>
        </p:nvSpPr>
        <p:spPr>
          <a:xfrm>
            <a:off x="5570607" y="2268440"/>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F9CB9C"/>
                </a:solidFill>
                <a:latin typeface="Lato"/>
                <a:ea typeface="Lato"/>
                <a:cs typeface="Lato"/>
                <a:sym typeface="Lato"/>
              </a:rPr>
              <a:t>d</a:t>
            </a:r>
            <a:r>
              <a:rPr b="0" i="0" lang="en" sz="837" u="none" cap="none" strike="noStrike">
                <a:solidFill>
                  <a:srgbClr val="F9CB9C"/>
                </a:solidFill>
                <a:latin typeface="Lato"/>
                <a:ea typeface="Lato"/>
                <a:cs typeface="Lato"/>
                <a:sym typeface="Lato"/>
              </a:rPr>
              <a:t>8</a:t>
            </a:r>
            <a:endParaRPr b="0" i="0" sz="837" u="none" cap="none" strike="noStrike">
              <a:solidFill>
                <a:srgbClr val="F9CB9C"/>
              </a:solidFill>
              <a:latin typeface="Lato"/>
              <a:ea typeface="Lato"/>
              <a:cs typeface="Lato"/>
              <a:sym typeface="Lato"/>
            </a:endParaRPr>
          </a:p>
        </p:txBody>
      </p:sp>
      <p:sp>
        <p:nvSpPr>
          <p:cNvPr id="731" name="Google Shape;731;p25"/>
          <p:cNvSpPr/>
          <p:nvPr/>
        </p:nvSpPr>
        <p:spPr>
          <a:xfrm>
            <a:off x="5570607" y="2420089"/>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FFE599"/>
                </a:solidFill>
                <a:latin typeface="Lato"/>
                <a:ea typeface="Lato"/>
                <a:cs typeface="Lato"/>
                <a:sym typeface="Lato"/>
              </a:rPr>
              <a:t>d</a:t>
            </a:r>
            <a:r>
              <a:rPr b="0" i="0" lang="en" sz="837" u="none" cap="none" strike="noStrike">
                <a:solidFill>
                  <a:srgbClr val="FFE599"/>
                </a:solidFill>
                <a:latin typeface="Lato"/>
                <a:ea typeface="Lato"/>
                <a:cs typeface="Lato"/>
                <a:sym typeface="Lato"/>
              </a:rPr>
              <a:t>9</a:t>
            </a:r>
            <a:endParaRPr b="0" i="0" sz="837" u="none" cap="none" strike="noStrike">
              <a:solidFill>
                <a:srgbClr val="FFE599"/>
              </a:solidFill>
              <a:latin typeface="Lato"/>
              <a:ea typeface="Lato"/>
              <a:cs typeface="Lato"/>
              <a:sym typeface="Lato"/>
            </a:endParaRPr>
          </a:p>
        </p:txBody>
      </p:sp>
      <p:sp>
        <p:nvSpPr>
          <p:cNvPr id="732" name="Google Shape;732;p25"/>
          <p:cNvSpPr/>
          <p:nvPr/>
        </p:nvSpPr>
        <p:spPr>
          <a:xfrm>
            <a:off x="5571300" y="2574184"/>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B6D7A8"/>
                </a:solidFill>
                <a:latin typeface="Lato"/>
                <a:ea typeface="Lato"/>
                <a:cs typeface="Lato"/>
                <a:sym typeface="Lato"/>
              </a:rPr>
              <a:t>d</a:t>
            </a:r>
            <a:r>
              <a:rPr b="0" i="0" lang="en" sz="732" u="none" cap="none" strike="noStrike">
                <a:solidFill>
                  <a:srgbClr val="B6D7A8"/>
                </a:solidFill>
                <a:latin typeface="Lato"/>
                <a:ea typeface="Lato"/>
                <a:cs typeface="Lato"/>
                <a:sym typeface="Lato"/>
              </a:rPr>
              <a:t>10</a:t>
            </a:r>
            <a:endParaRPr b="0" i="0" sz="732" u="none" cap="none" strike="noStrike">
              <a:solidFill>
                <a:srgbClr val="B6D7A8"/>
              </a:solidFill>
              <a:latin typeface="Lato"/>
              <a:ea typeface="Lato"/>
              <a:cs typeface="Lato"/>
              <a:sym typeface="Lato"/>
            </a:endParaRPr>
          </a:p>
        </p:txBody>
      </p:sp>
      <p:sp>
        <p:nvSpPr>
          <p:cNvPr id="733" name="Google Shape;733;p25"/>
          <p:cNvSpPr/>
          <p:nvPr/>
        </p:nvSpPr>
        <p:spPr>
          <a:xfrm rot="10800000">
            <a:off x="6589986" y="3617876"/>
            <a:ext cx="188700" cy="152100"/>
          </a:xfrm>
          <a:prstGeom prst="rect">
            <a:avLst/>
          </a:prstGeom>
          <a:solidFill>
            <a:srgbClr val="4A86E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4A86E8"/>
                </a:solidFill>
                <a:latin typeface="Lato"/>
                <a:ea typeface="Lato"/>
                <a:cs typeface="Lato"/>
                <a:sym typeface="Lato"/>
              </a:rPr>
              <a:t>1</a:t>
            </a:r>
            <a:endParaRPr b="0" i="0" sz="104" u="none" cap="none" strike="noStrike">
              <a:solidFill>
                <a:srgbClr val="4A86E8"/>
              </a:solidFill>
              <a:latin typeface="Lato"/>
              <a:ea typeface="Lato"/>
              <a:cs typeface="Lato"/>
              <a:sym typeface="Lato"/>
            </a:endParaRPr>
          </a:p>
        </p:txBody>
      </p:sp>
      <p:sp>
        <p:nvSpPr>
          <p:cNvPr id="734" name="Google Shape;734;p25"/>
          <p:cNvSpPr/>
          <p:nvPr/>
        </p:nvSpPr>
        <p:spPr>
          <a:xfrm rot="10800000">
            <a:off x="6589986" y="3465107"/>
            <a:ext cx="188700" cy="152100"/>
          </a:xfrm>
          <a:prstGeom prst="rect">
            <a:avLst/>
          </a:prstGeom>
          <a:solidFill>
            <a:srgbClr val="A4C2F4"/>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A4C2F4"/>
                </a:solidFill>
                <a:latin typeface="Lato"/>
                <a:ea typeface="Lato"/>
                <a:cs typeface="Lato"/>
                <a:sym typeface="Lato"/>
              </a:rPr>
              <a:t>0</a:t>
            </a:r>
            <a:endParaRPr b="0" i="0" sz="104" u="none" cap="none" strike="noStrike">
              <a:solidFill>
                <a:srgbClr val="A4C2F4"/>
              </a:solidFill>
              <a:latin typeface="Lato"/>
              <a:ea typeface="Lato"/>
              <a:cs typeface="Lato"/>
              <a:sym typeface="Lato"/>
            </a:endParaRPr>
          </a:p>
        </p:txBody>
      </p:sp>
      <p:sp>
        <p:nvSpPr>
          <p:cNvPr id="735" name="Google Shape;735;p25"/>
          <p:cNvSpPr/>
          <p:nvPr/>
        </p:nvSpPr>
        <p:spPr>
          <a:xfrm rot="10800000">
            <a:off x="6589986" y="3312828"/>
            <a:ext cx="188700" cy="152100"/>
          </a:xfrm>
          <a:prstGeom prst="rect">
            <a:avLst/>
          </a:prstGeom>
          <a:solidFill>
            <a:srgbClr val="C9DAF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9DAF8"/>
                </a:solidFill>
                <a:latin typeface="Lato"/>
                <a:ea typeface="Lato"/>
                <a:cs typeface="Lato"/>
                <a:sym typeface="Lato"/>
              </a:rPr>
              <a:t>0</a:t>
            </a:r>
            <a:endParaRPr b="0" i="0" sz="104" u="none" cap="none" strike="noStrike">
              <a:solidFill>
                <a:srgbClr val="C9DAF8"/>
              </a:solidFill>
              <a:latin typeface="Lato"/>
              <a:ea typeface="Lato"/>
              <a:cs typeface="Lato"/>
              <a:sym typeface="Lato"/>
            </a:endParaRPr>
          </a:p>
        </p:txBody>
      </p:sp>
      <p:sp>
        <p:nvSpPr>
          <p:cNvPr id="736" name="Google Shape;736;p25"/>
          <p:cNvSpPr/>
          <p:nvPr/>
        </p:nvSpPr>
        <p:spPr>
          <a:xfrm rot="10800000">
            <a:off x="6400347" y="3618371"/>
            <a:ext cx="188700" cy="152100"/>
          </a:xfrm>
          <a:prstGeom prst="rect">
            <a:avLst/>
          </a:prstGeom>
          <a:solidFill>
            <a:srgbClr val="4A86E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4A86E8"/>
                </a:solidFill>
                <a:latin typeface="Lato"/>
                <a:ea typeface="Lato"/>
                <a:cs typeface="Lato"/>
                <a:sym typeface="Lato"/>
              </a:rPr>
              <a:t>1</a:t>
            </a:r>
            <a:endParaRPr b="0" i="0" sz="104" u="none" cap="none" strike="noStrike">
              <a:solidFill>
                <a:srgbClr val="4A86E8"/>
              </a:solidFill>
              <a:latin typeface="Lato"/>
              <a:ea typeface="Lato"/>
              <a:cs typeface="Lato"/>
              <a:sym typeface="Lato"/>
            </a:endParaRPr>
          </a:p>
        </p:txBody>
      </p:sp>
      <p:sp>
        <p:nvSpPr>
          <p:cNvPr id="737" name="Google Shape;737;p25"/>
          <p:cNvSpPr/>
          <p:nvPr/>
        </p:nvSpPr>
        <p:spPr>
          <a:xfrm rot="10800000">
            <a:off x="6400347" y="3465602"/>
            <a:ext cx="188700" cy="152100"/>
          </a:xfrm>
          <a:prstGeom prst="rect">
            <a:avLst/>
          </a:prstGeom>
          <a:solidFill>
            <a:srgbClr val="A4C2F4"/>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A4C2F4"/>
                </a:solidFill>
                <a:latin typeface="Lato"/>
                <a:ea typeface="Lato"/>
                <a:cs typeface="Lato"/>
                <a:sym typeface="Lato"/>
              </a:rPr>
              <a:t>0</a:t>
            </a:r>
            <a:endParaRPr b="0" i="0" sz="104" u="none" cap="none" strike="noStrike">
              <a:solidFill>
                <a:srgbClr val="A4C2F4"/>
              </a:solidFill>
              <a:latin typeface="Lato"/>
              <a:ea typeface="Lato"/>
              <a:cs typeface="Lato"/>
              <a:sym typeface="Lato"/>
            </a:endParaRPr>
          </a:p>
        </p:txBody>
      </p:sp>
      <p:sp>
        <p:nvSpPr>
          <p:cNvPr id="738" name="Google Shape;738;p25"/>
          <p:cNvSpPr/>
          <p:nvPr/>
        </p:nvSpPr>
        <p:spPr>
          <a:xfrm rot="10800000">
            <a:off x="6400347" y="3313323"/>
            <a:ext cx="188700" cy="152100"/>
          </a:xfrm>
          <a:prstGeom prst="rect">
            <a:avLst/>
          </a:prstGeom>
          <a:solidFill>
            <a:srgbClr val="C9DAF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9DAF8"/>
                </a:solidFill>
                <a:latin typeface="Lato"/>
                <a:ea typeface="Lato"/>
                <a:cs typeface="Lato"/>
                <a:sym typeface="Lato"/>
              </a:rPr>
              <a:t>0</a:t>
            </a:r>
            <a:endParaRPr b="0" i="0" sz="104" u="none" cap="none" strike="noStrike">
              <a:solidFill>
                <a:srgbClr val="C9DAF8"/>
              </a:solidFill>
              <a:latin typeface="Lato"/>
              <a:ea typeface="Lato"/>
              <a:cs typeface="Lato"/>
              <a:sym typeface="Lato"/>
            </a:endParaRPr>
          </a:p>
        </p:txBody>
      </p:sp>
      <p:sp>
        <p:nvSpPr>
          <p:cNvPr id="739" name="Google Shape;739;p25"/>
          <p:cNvSpPr/>
          <p:nvPr/>
        </p:nvSpPr>
        <p:spPr>
          <a:xfrm rot="10800000">
            <a:off x="6211295" y="3618123"/>
            <a:ext cx="188700" cy="152100"/>
          </a:xfrm>
          <a:prstGeom prst="rect">
            <a:avLst/>
          </a:prstGeom>
          <a:solidFill>
            <a:srgbClr val="4A86E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4A86E8"/>
                </a:solidFill>
                <a:latin typeface="Lato"/>
                <a:ea typeface="Lato"/>
                <a:cs typeface="Lato"/>
                <a:sym typeface="Lato"/>
              </a:rPr>
              <a:t>1</a:t>
            </a:r>
            <a:endParaRPr b="0" i="0" sz="104" u="none" cap="none" strike="noStrike">
              <a:solidFill>
                <a:srgbClr val="4A86E8"/>
              </a:solidFill>
              <a:latin typeface="Lato"/>
              <a:ea typeface="Lato"/>
              <a:cs typeface="Lato"/>
              <a:sym typeface="Lato"/>
            </a:endParaRPr>
          </a:p>
        </p:txBody>
      </p:sp>
      <p:sp>
        <p:nvSpPr>
          <p:cNvPr id="740" name="Google Shape;740;p25"/>
          <p:cNvSpPr/>
          <p:nvPr/>
        </p:nvSpPr>
        <p:spPr>
          <a:xfrm rot="10800000">
            <a:off x="6211295" y="3465354"/>
            <a:ext cx="188700" cy="152100"/>
          </a:xfrm>
          <a:prstGeom prst="rect">
            <a:avLst/>
          </a:prstGeom>
          <a:solidFill>
            <a:srgbClr val="A4C2F4"/>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A4C2F4"/>
                </a:solidFill>
                <a:latin typeface="Lato"/>
                <a:ea typeface="Lato"/>
                <a:cs typeface="Lato"/>
                <a:sym typeface="Lato"/>
              </a:rPr>
              <a:t>0</a:t>
            </a:r>
            <a:endParaRPr b="0" i="0" sz="104" u="none" cap="none" strike="noStrike">
              <a:solidFill>
                <a:srgbClr val="A4C2F4"/>
              </a:solidFill>
              <a:latin typeface="Lato"/>
              <a:ea typeface="Lato"/>
              <a:cs typeface="Lato"/>
              <a:sym typeface="Lato"/>
            </a:endParaRPr>
          </a:p>
        </p:txBody>
      </p:sp>
      <p:sp>
        <p:nvSpPr>
          <p:cNvPr id="741" name="Google Shape;741;p25"/>
          <p:cNvSpPr/>
          <p:nvPr/>
        </p:nvSpPr>
        <p:spPr>
          <a:xfrm rot="10800000">
            <a:off x="6211295" y="3313076"/>
            <a:ext cx="188700" cy="152100"/>
          </a:xfrm>
          <a:prstGeom prst="rect">
            <a:avLst/>
          </a:prstGeom>
          <a:solidFill>
            <a:srgbClr val="C9DAF8"/>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C9DAF8"/>
                </a:solidFill>
                <a:latin typeface="Lato"/>
                <a:ea typeface="Lato"/>
                <a:cs typeface="Lato"/>
                <a:sym typeface="Lato"/>
              </a:rPr>
              <a:t>0</a:t>
            </a:r>
            <a:endParaRPr b="0" i="0" sz="104" u="none" cap="none" strike="noStrike">
              <a:solidFill>
                <a:srgbClr val="C9DAF8"/>
              </a:solidFill>
              <a:latin typeface="Lato"/>
              <a:ea typeface="Lato"/>
              <a:cs typeface="Lato"/>
              <a:sym typeface="Lato"/>
            </a:endParaRPr>
          </a:p>
        </p:txBody>
      </p:sp>
      <p:sp>
        <p:nvSpPr>
          <p:cNvPr id="742" name="Google Shape;742;p25"/>
          <p:cNvSpPr/>
          <p:nvPr/>
        </p:nvSpPr>
        <p:spPr>
          <a:xfrm>
            <a:off x="5885801" y="4241253"/>
            <a:ext cx="303000" cy="220800"/>
          </a:xfrm>
          <a:prstGeom prst="roundRect">
            <a:avLst>
              <a:gd fmla="val 7908" name="adj"/>
            </a:avLst>
          </a:prstGeom>
          <a:noFill/>
          <a:ln cap="flat" cmpd="sng" w="20375">
            <a:solidFill>
              <a:srgbClr val="CFE2F3"/>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c11</a:t>
            </a:r>
            <a:endParaRPr b="1" i="0" sz="713" u="none" cap="none" strike="noStrike">
              <a:solidFill>
                <a:srgbClr val="000000"/>
              </a:solidFill>
              <a:latin typeface="Comic Sans MS"/>
              <a:ea typeface="Comic Sans MS"/>
              <a:cs typeface="Comic Sans MS"/>
              <a:sym typeface="Comic Sans MS"/>
            </a:endParaRPr>
          </a:p>
        </p:txBody>
      </p:sp>
      <p:sp>
        <p:nvSpPr>
          <p:cNvPr id="743" name="Google Shape;743;p25"/>
          <p:cNvSpPr/>
          <p:nvPr/>
        </p:nvSpPr>
        <p:spPr>
          <a:xfrm>
            <a:off x="6224371" y="4241075"/>
            <a:ext cx="303000" cy="220800"/>
          </a:xfrm>
          <a:prstGeom prst="roundRect">
            <a:avLst>
              <a:gd fmla="val 7908" name="adj"/>
            </a:avLst>
          </a:prstGeom>
          <a:noFill/>
          <a:ln cap="flat" cmpd="sng" w="20375">
            <a:solidFill>
              <a:srgbClr val="A4C2F4"/>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c12</a:t>
            </a:r>
            <a:endParaRPr b="1" i="0" sz="713" u="none" cap="none" strike="noStrike">
              <a:solidFill>
                <a:srgbClr val="000000"/>
              </a:solidFill>
              <a:latin typeface="Comic Sans MS"/>
              <a:ea typeface="Comic Sans MS"/>
              <a:cs typeface="Comic Sans MS"/>
              <a:sym typeface="Comic Sans MS"/>
            </a:endParaRPr>
          </a:p>
        </p:txBody>
      </p:sp>
      <p:sp>
        <p:nvSpPr>
          <p:cNvPr id="744" name="Google Shape;744;p25"/>
          <p:cNvSpPr/>
          <p:nvPr/>
        </p:nvSpPr>
        <p:spPr>
          <a:xfrm>
            <a:off x="6562940" y="4241075"/>
            <a:ext cx="303000" cy="220800"/>
          </a:xfrm>
          <a:prstGeom prst="roundRect">
            <a:avLst>
              <a:gd fmla="val 7908" name="adj"/>
            </a:avLst>
          </a:prstGeom>
          <a:noFill/>
          <a:ln cap="flat" cmpd="sng" w="20375">
            <a:solidFill>
              <a:srgbClr val="6D9EEB"/>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c13</a:t>
            </a:r>
            <a:endParaRPr b="1" i="0" sz="713" u="none" cap="none" strike="noStrike">
              <a:solidFill>
                <a:srgbClr val="000000"/>
              </a:solidFill>
              <a:latin typeface="Comic Sans MS"/>
              <a:ea typeface="Comic Sans MS"/>
              <a:cs typeface="Comic Sans MS"/>
              <a:sym typeface="Comic Sans MS"/>
            </a:endParaRPr>
          </a:p>
        </p:txBody>
      </p:sp>
      <p:sp>
        <p:nvSpPr>
          <p:cNvPr id="745" name="Google Shape;745;p25"/>
          <p:cNvSpPr/>
          <p:nvPr/>
        </p:nvSpPr>
        <p:spPr>
          <a:xfrm>
            <a:off x="6901480" y="4242210"/>
            <a:ext cx="303000" cy="220800"/>
          </a:xfrm>
          <a:prstGeom prst="roundRect">
            <a:avLst>
              <a:gd fmla="val 7908" name="adj"/>
            </a:avLst>
          </a:prstGeom>
          <a:noFill/>
          <a:ln cap="flat" cmpd="sng" w="20375">
            <a:solidFill>
              <a:srgbClr val="E06666"/>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c21</a:t>
            </a:r>
            <a:endParaRPr b="1" i="0" sz="713" u="none" cap="none" strike="noStrike">
              <a:solidFill>
                <a:srgbClr val="000000"/>
              </a:solidFill>
              <a:latin typeface="Comic Sans MS"/>
              <a:ea typeface="Comic Sans MS"/>
              <a:cs typeface="Comic Sans MS"/>
              <a:sym typeface="Comic Sans MS"/>
            </a:endParaRPr>
          </a:p>
        </p:txBody>
      </p:sp>
      <p:sp>
        <p:nvSpPr>
          <p:cNvPr id="746" name="Google Shape;746;p25"/>
          <p:cNvSpPr/>
          <p:nvPr/>
        </p:nvSpPr>
        <p:spPr>
          <a:xfrm>
            <a:off x="7240049" y="4242032"/>
            <a:ext cx="303000" cy="220800"/>
          </a:xfrm>
          <a:prstGeom prst="roundRect">
            <a:avLst>
              <a:gd fmla="val 7908" name="adj"/>
            </a:avLst>
          </a:prstGeom>
          <a:noFill/>
          <a:ln cap="flat" cmpd="sng" w="20375">
            <a:solidFill>
              <a:srgbClr val="F4CCCC"/>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c22</a:t>
            </a:r>
            <a:endParaRPr b="1" i="0" sz="713" u="none" cap="none" strike="noStrike">
              <a:solidFill>
                <a:srgbClr val="000000"/>
              </a:solidFill>
              <a:latin typeface="Comic Sans MS"/>
              <a:ea typeface="Comic Sans MS"/>
              <a:cs typeface="Comic Sans MS"/>
              <a:sym typeface="Comic Sans MS"/>
            </a:endParaRPr>
          </a:p>
        </p:txBody>
      </p:sp>
      <p:sp>
        <p:nvSpPr>
          <p:cNvPr id="747" name="Google Shape;747;p25"/>
          <p:cNvSpPr/>
          <p:nvPr/>
        </p:nvSpPr>
        <p:spPr>
          <a:xfrm>
            <a:off x="7578618" y="4242032"/>
            <a:ext cx="303000" cy="220800"/>
          </a:xfrm>
          <a:prstGeom prst="roundRect">
            <a:avLst>
              <a:gd fmla="val 7908" name="adj"/>
            </a:avLst>
          </a:prstGeom>
          <a:noFill/>
          <a:ln cap="flat" cmpd="sng" w="20375">
            <a:solidFill>
              <a:srgbClr val="EA9999"/>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c23</a:t>
            </a:r>
            <a:endParaRPr b="1" i="0" sz="713" u="none" cap="none" strike="noStrike">
              <a:solidFill>
                <a:srgbClr val="000000"/>
              </a:solidFill>
              <a:latin typeface="Comic Sans MS"/>
              <a:ea typeface="Comic Sans MS"/>
              <a:cs typeface="Comic Sans MS"/>
              <a:sym typeface="Comic Sans MS"/>
            </a:endParaRPr>
          </a:p>
        </p:txBody>
      </p:sp>
      <p:sp>
        <p:nvSpPr>
          <p:cNvPr id="748" name="Google Shape;748;p25"/>
          <p:cNvSpPr/>
          <p:nvPr/>
        </p:nvSpPr>
        <p:spPr>
          <a:xfrm>
            <a:off x="7917158" y="4242115"/>
            <a:ext cx="303000" cy="220800"/>
          </a:xfrm>
          <a:prstGeom prst="roundRect">
            <a:avLst>
              <a:gd fmla="val 7908" name="adj"/>
            </a:avLst>
          </a:prstGeom>
          <a:noFill/>
          <a:ln cap="flat" cmpd="sng" w="20375">
            <a:solidFill>
              <a:srgbClr val="93C47D"/>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c31</a:t>
            </a:r>
            <a:endParaRPr b="1" i="0" sz="713" u="none" cap="none" strike="noStrike">
              <a:solidFill>
                <a:srgbClr val="000000"/>
              </a:solidFill>
              <a:latin typeface="Comic Sans MS"/>
              <a:ea typeface="Comic Sans MS"/>
              <a:cs typeface="Comic Sans MS"/>
              <a:sym typeface="Comic Sans MS"/>
            </a:endParaRPr>
          </a:p>
        </p:txBody>
      </p:sp>
      <p:sp>
        <p:nvSpPr>
          <p:cNvPr id="749" name="Google Shape;749;p25"/>
          <p:cNvSpPr/>
          <p:nvPr/>
        </p:nvSpPr>
        <p:spPr>
          <a:xfrm>
            <a:off x="8255727" y="4241937"/>
            <a:ext cx="303000" cy="220800"/>
          </a:xfrm>
          <a:prstGeom prst="roundRect">
            <a:avLst>
              <a:gd fmla="val 7908" name="adj"/>
            </a:avLst>
          </a:prstGeom>
          <a:noFill/>
          <a:ln cap="flat" cmpd="sng" w="20375">
            <a:solidFill>
              <a:srgbClr val="6AA84F"/>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c32</a:t>
            </a:r>
            <a:endParaRPr b="1" i="0" sz="713" u="none" cap="none" strike="noStrike">
              <a:solidFill>
                <a:srgbClr val="000000"/>
              </a:solidFill>
              <a:latin typeface="Comic Sans MS"/>
              <a:ea typeface="Comic Sans MS"/>
              <a:cs typeface="Comic Sans MS"/>
              <a:sym typeface="Comic Sans MS"/>
            </a:endParaRPr>
          </a:p>
        </p:txBody>
      </p:sp>
      <p:sp>
        <p:nvSpPr>
          <p:cNvPr id="750" name="Google Shape;750;p25"/>
          <p:cNvSpPr/>
          <p:nvPr/>
        </p:nvSpPr>
        <p:spPr>
          <a:xfrm>
            <a:off x="8594296" y="4241937"/>
            <a:ext cx="303000" cy="220800"/>
          </a:xfrm>
          <a:prstGeom prst="roundRect">
            <a:avLst>
              <a:gd fmla="val 7908" name="adj"/>
            </a:avLst>
          </a:prstGeom>
          <a:noFill/>
          <a:ln cap="flat" cmpd="sng" w="20375">
            <a:solidFill>
              <a:srgbClr val="B6D7A8"/>
            </a:solidFill>
            <a:prstDash val="solid"/>
            <a:round/>
            <a:headEnd len="sm" w="sm" type="none"/>
            <a:tailEnd len="sm" w="sm" type="none"/>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713"/>
              <a:buFont typeface="Arial"/>
              <a:buNone/>
            </a:pPr>
            <a:r>
              <a:rPr b="1" i="0" lang="en" sz="713" u="none" cap="none" strike="noStrike">
                <a:solidFill>
                  <a:srgbClr val="000000"/>
                </a:solidFill>
                <a:latin typeface="Comic Sans MS"/>
                <a:ea typeface="Comic Sans MS"/>
                <a:cs typeface="Comic Sans MS"/>
                <a:sym typeface="Comic Sans MS"/>
              </a:rPr>
              <a:t>c33</a:t>
            </a:r>
            <a:endParaRPr b="1" i="0" sz="713" u="none" cap="none" strike="noStrike">
              <a:solidFill>
                <a:srgbClr val="000000"/>
              </a:solidFill>
              <a:latin typeface="Comic Sans MS"/>
              <a:ea typeface="Comic Sans MS"/>
              <a:cs typeface="Comic Sans MS"/>
              <a:sym typeface="Comic Sans MS"/>
            </a:endParaRPr>
          </a:p>
        </p:txBody>
      </p:sp>
      <p:sp>
        <p:nvSpPr>
          <p:cNvPr id="751" name="Google Shape;751;p25"/>
          <p:cNvSpPr/>
          <p:nvPr/>
        </p:nvSpPr>
        <p:spPr>
          <a:xfrm>
            <a:off x="4500224" y="3226329"/>
            <a:ext cx="304500" cy="222000"/>
          </a:xfrm>
          <a:prstGeom prst="roundRect">
            <a:avLst>
              <a:gd fmla="val 7908" name="adj"/>
            </a:avLst>
          </a:prstGeom>
          <a:noFill/>
          <a:ln cap="flat" cmpd="sng" w="20475">
            <a:solidFill>
              <a:srgbClr val="CFE2F3"/>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c11</a:t>
            </a:r>
            <a:endParaRPr b="1" i="0" sz="716" u="none" cap="none" strike="noStrike">
              <a:solidFill>
                <a:srgbClr val="000000"/>
              </a:solidFill>
              <a:latin typeface="Comic Sans MS"/>
              <a:ea typeface="Comic Sans MS"/>
              <a:cs typeface="Comic Sans MS"/>
              <a:sym typeface="Comic Sans MS"/>
            </a:endParaRPr>
          </a:p>
        </p:txBody>
      </p:sp>
      <p:sp>
        <p:nvSpPr>
          <p:cNvPr id="752" name="Google Shape;752;p25"/>
          <p:cNvSpPr/>
          <p:nvPr/>
        </p:nvSpPr>
        <p:spPr>
          <a:xfrm>
            <a:off x="4500222" y="3531074"/>
            <a:ext cx="304500" cy="222000"/>
          </a:xfrm>
          <a:prstGeom prst="roundRect">
            <a:avLst>
              <a:gd fmla="val 7908" name="adj"/>
            </a:avLst>
          </a:prstGeom>
          <a:noFill/>
          <a:ln cap="flat" cmpd="sng" w="20475">
            <a:solidFill>
              <a:srgbClr val="A4C2F4"/>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c12</a:t>
            </a:r>
            <a:endParaRPr b="1" i="0" sz="716" u="none" cap="none" strike="noStrike">
              <a:solidFill>
                <a:srgbClr val="000000"/>
              </a:solidFill>
              <a:latin typeface="Comic Sans MS"/>
              <a:ea typeface="Comic Sans MS"/>
              <a:cs typeface="Comic Sans MS"/>
              <a:sym typeface="Comic Sans MS"/>
            </a:endParaRPr>
          </a:p>
        </p:txBody>
      </p:sp>
      <p:sp>
        <p:nvSpPr>
          <p:cNvPr id="753" name="Google Shape;753;p25"/>
          <p:cNvSpPr/>
          <p:nvPr/>
        </p:nvSpPr>
        <p:spPr>
          <a:xfrm>
            <a:off x="4500220" y="4109924"/>
            <a:ext cx="304500" cy="222000"/>
          </a:xfrm>
          <a:prstGeom prst="roundRect">
            <a:avLst>
              <a:gd fmla="val 7908" name="adj"/>
            </a:avLst>
          </a:prstGeom>
          <a:noFill/>
          <a:ln cap="flat" cmpd="sng" w="20475">
            <a:solidFill>
              <a:srgbClr val="6D9EEB"/>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c13</a:t>
            </a:r>
            <a:endParaRPr b="1" i="0" sz="716" u="none" cap="none" strike="noStrike">
              <a:solidFill>
                <a:srgbClr val="000000"/>
              </a:solidFill>
              <a:latin typeface="Comic Sans MS"/>
              <a:ea typeface="Comic Sans MS"/>
              <a:cs typeface="Comic Sans MS"/>
              <a:sym typeface="Comic Sans MS"/>
            </a:endParaRPr>
          </a:p>
        </p:txBody>
      </p:sp>
      <p:sp>
        <p:nvSpPr>
          <p:cNvPr id="754" name="Google Shape;754;p25"/>
          <p:cNvSpPr/>
          <p:nvPr/>
        </p:nvSpPr>
        <p:spPr>
          <a:xfrm>
            <a:off x="4853689" y="3226315"/>
            <a:ext cx="304500" cy="222000"/>
          </a:xfrm>
          <a:prstGeom prst="roundRect">
            <a:avLst>
              <a:gd fmla="val 7908" name="adj"/>
            </a:avLst>
          </a:prstGeom>
          <a:noFill/>
          <a:ln cap="flat" cmpd="sng" w="20475">
            <a:solidFill>
              <a:srgbClr val="E06666"/>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c21</a:t>
            </a:r>
            <a:endParaRPr b="1" i="0" sz="716" u="none" cap="none" strike="noStrike">
              <a:solidFill>
                <a:srgbClr val="000000"/>
              </a:solidFill>
              <a:latin typeface="Comic Sans MS"/>
              <a:ea typeface="Comic Sans MS"/>
              <a:cs typeface="Comic Sans MS"/>
              <a:sym typeface="Comic Sans MS"/>
            </a:endParaRPr>
          </a:p>
        </p:txBody>
      </p:sp>
      <p:sp>
        <p:nvSpPr>
          <p:cNvPr id="755" name="Google Shape;755;p25"/>
          <p:cNvSpPr/>
          <p:nvPr/>
        </p:nvSpPr>
        <p:spPr>
          <a:xfrm>
            <a:off x="4853687" y="4109936"/>
            <a:ext cx="304500" cy="222000"/>
          </a:xfrm>
          <a:prstGeom prst="roundRect">
            <a:avLst>
              <a:gd fmla="val 7908" name="adj"/>
            </a:avLst>
          </a:prstGeom>
          <a:noFill/>
          <a:ln cap="flat" cmpd="sng" w="20475">
            <a:solidFill>
              <a:srgbClr val="F4CCCC"/>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c22</a:t>
            </a:r>
            <a:endParaRPr b="1" i="0" sz="716" u="none" cap="none" strike="noStrike">
              <a:solidFill>
                <a:srgbClr val="000000"/>
              </a:solidFill>
              <a:latin typeface="Comic Sans MS"/>
              <a:ea typeface="Comic Sans MS"/>
              <a:cs typeface="Comic Sans MS"/>
              <a:sym typeface="Comic Sans MS"/>
            </a:endParaRPr>
          </a:p>
        </p:txBody>
      </p:sp>
      <p:sp>
        <p:nvSpPr>
          <p:cNvPr id="756" name="Google Shape;756;p25"/>
          <p:cNvSpPr/>
          <p:nvPr/>
        </p:nvSpPr>
        <p:spPr>
          <a:xfrm>
            <a:off x="4853684" y="3531086"/>
            <a:ext cx="304500" cy="222000"/>
          </a:xfrm>
          <a:prstGeom prst="roundRect">
            <a:avLst>
              <a:gd fmla="val 7908" name="adj"/>
            </a:avLst>
          </a:prstGeom>
          <a:noFill/>
          <a:ln cap="flat" cmpd="sng" w="20475">
            <a:solidFill>
              <a:srgbClr val="EA9999"/>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c23</a:t>
            </a:r>
            <a:endParaRPr b="1" i="0" sz="716" u="none" cap="none" strike="noStrike">
              <a:solidFill>
                <a:srgbClr val="000000"/>
              </a:solidFill>
              <a:latin typeface="Comic Sans MS"/>
              <a:ea typeface="Comic Sans MS"/>
              <a:cs typeface="Comic Sans MS"/>
              <a:sym typeface="Comic Sans MS"/>
            </a:endParaRPr>
          </a:p>
        </p:txBody>
      </p:sp>
      <p:sp>
        <p:nvSpPr>
          <p:cNvPr id="757" name="Google Shape;757;p25"/>
          <p:cNvSpPr/>
          <p:nvPr/>
        </p:nvSpPr>
        <p:spPr>
          <a:xfrm>
            <a:off x="5207153" y="3226320"/>
            <a:ext cx="304500" cy="222000"/>
          </a:xfrm>
          <a:prstGeom prst="roundRect">
            <a:avLst>
              <a:gd fmla="val 7908" name="adj"/>
            </a:avLst>
          </a:prstGeom>
          <a:noFill/>
          <a:ln cap="flat" cmpd="sng" w="20475">
            <a:solidFill>
              <a:srgbClr val="93C47D"/>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c31</a:t>
            </a:r>
            <a:endParaRPr b="1" i="0" sz="716" u="none" cap="none" strike="noStrike">
              <a:solidFill>
                <a:srgbClr val="000000"/>
              </a:solidFill>
              <a:latin typeface="Comic Sans MS"/>
              <a:ea typeface="Comic Sans MS"/>
              <a:cs typeface="Comic Sans MS"/>
              <a:sym typeface="Comic Sans MS"/>
            </a:endParaRPr>
          </a:p>
        </p:txBody>
      </p:sp>
      <p:sp>
        <p:nvSpPr>
          <p:cNvPr id="758" name="Google Shape;758;p25"/>
          <p:cNvSpPr/>
          <p:nvPr/>
        </p:nvSpPr>
        <p:spPr>
          <a:xfrm>
            <a:off x="5207151" y="3531066"/>
            <a:ext cx="304500" cy="222000"/>
          </a:xfrm>
          <a:prstGeom prst="roundRect">
            <a:avLst>
              <a:gd fmla="val 7908" name="adj"/>
            </a:avLst>
          </a:prstGeom>
          <a:noFill/>
          <a:ln cap="flat" cmpd="sng" w="20475">
            <a:solidFill>
              <a:srgbClr val="6AA84F"/>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c32</a:t>
            </a:r>
            <a:endParaRPr b="1" i="0" sz="716" u="none" cap="none" strike="noStrike">
              <a:solidFill>
                <a:srgbClr val="000000"/>
              </a:solidFill>
              <a:latin typeface="Comic Sans MS"/>
              <a:ea typeface="Comic Sans MS"/>
              <a:cs typeface="Comic Sans MS"/>
              <a:sym typeface="Comic Sans MS"/>
            </a:endParaRPr>
          </a:p>
        </p:txBody>
      </p:sp>
      <p:sp>
        <p:nvSpPr>
          <p:cNvPr id="759" name="Google Shape;759;p25"/>
          <p:cNvSpPr/>
          <p:nvPr/>
        </p:nvSpPr>
        <p:spPr>
          <a:xfrm>
            <a:off x="5207174" y="4109916"/>
            <a:ext cx="304500" cy="222000"/>
          </a:xfrm>
          <a:prstGeom prst="roundRect">
            <a:avLst>
              <a:gd fmla="val 7908" name="adj"/>
            </a:avLst>
          </a:prstGeom>
          <a:noFill/>
          <a:ln cap="flat" cmpd="sng" w="20475">
            <a:solidFill>
              <a:srgbClr val="B6D7A8"/>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c33</a:t>
            </a:r>
            <a:endParaRPr b="1" i="0" sz="716" u="none" cap="none" strike="noStrike">
              <a:solidFill>
                <a:srgbClr val="000000"/>
              </a:solidFill>
              <a:latin typeface="Comic Sans MS"/>
              <a:ea typeface="Comic Sans MS"/>
              <a:cs typeface="Comic Sans MS"/>
              <a:sym typeface="Comic Sans MS"/>
            </a:endParaRPr>
          </a:p>
        </p:txBody>
      </p:sp>
      <p:sp>
        <p:nvSpPr>
          <p:cNvPr id="760" name="Google Shape;760;p25"/>
          <p:cNvSpPr/>
          <p:nvPr/>
        </p:nvSpPr>
        <p:spPr>
          <a:xfrm>
            <a:off x="3672265" y="3261263"/>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6D9EEB"/>
                </a:solidFill>
                <a:latin typeface="Lato"/>
                <a:ea typeface="Lato"/>
                <a:cs typeface="Lato"/>
                <a:sym typeface="Lato"/>
              </a:rPr>
              <a:t>d</a:t>
            </a:r>
            <a:r>
              <a:rPr b="0" i="0" lang="en" sz="837" u="none" cap="none" strike="noStrike">
                <a:solidFill>
                  <a:srgbClr val="6D9EEB"/>
                </a:solidFill>
                <a:latin typeface="Lato"/>
                <a:ea typeface="Lato"/>
                <a:cs typeface="Lato"/>
                <a:sym typeface="Lato"/>
              </a:rPr>
              <a:t>1</a:t>
            </a:r>
            <a:endParaRPr b="0" i="0" sz="837" u="none" cap="none" strike="noStrike">
              <a:solidFill>
                <a:srgbClr val="6D9EEB"/>
              </a:solidFill>
              <a:latin typeface="Lato"/>
              <a:ea typeface="Lato"/>
              <a:cs typeface="Lato"/>
              <a:sym typeface="Lato"/>
            </a:endParaRPr>
          </a:p>
        </p:txBody>
      </p:sp>
      <p:sp>
        <p:nvSpPr>
          <p:cNvPr id="761" name="Google Shape;761;p25"/>
          <p:cNvSpPr/>
          <p:nvPr/>
        </p:nvSpPr>
        <p:spPr>
          <a:xfrm>
            <a:off x="3671575" y="3566019"/>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B4A7D6"/>
                </a:solidFill>
                <a:latin typeface="Lato"/>
                <a:ea typeface="Lato"/>
                <a:cs typeface="Lato"/>
                <a:sym typeface="Lato"/>
              </a:rPr>
              <a:t>d</a:t>
            </a:r>
            <a:r>
              <a:rPr b="0" i="0" lang="en" sz="837" u="none" cap="none" strike="noStrike">
                <a:solidFill>
                  <a:srgbClr val="B4A7D6"/>
                </a:solidFill>
                <a:latin typeface="Lato"/>
                <a:ea typeface="Lato"/>
                <a:cs typeface="Lato"/>
                <a:sym typeface="Lato"/>
              </a:rPr>
              <a:t>2</a:t>
            </a:r>
            <a:endParaRPr b="0" i="0" sz="837" u="none" cap="none" strike="noStrike">
              <a:solidFill>
                <a:srgbClr val="B4A7D6"/>
              </a:solidFill>
              <a:latin typeface="Lato"/>
              <a:ea typeface="Lato"/>
              <a:cs typeface="Lato"/>
              <a:sym typeface="Lato"/>
            </a:endParaRPr>
          </a:p>
        </p:txBody>
      </p:sp>
      <p:sp>
        <p:nvSpPr>
          <p:cNvPr id="762" name="Google Shape;762;p25"/>
          <p:cNvSpPr/>
          <p:nvPr/>
        </p:nvSpPr>
        <p:spPr>
          <a:xfrm>
            <a:off x="3672957" y="4144864"/>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FFE599"/>
                </a:solidFill>
                <a:latin typeface="Lato"/>
                <a:ea typeface="Lato"/>
                <a:cs typeface="Lato"/>
                <a:sym typeface="Lato"/>
              </a:rPr>
              <a:t>d</a:t>
            </a:r>
            <a:r>
              <a:rPr b="0" i="0" lang="en" sz="837" u="none" cap="none" strike="noStrike">
                <a:solidFill>
                  <a:srgbClr val="FFE599"/>
                </a:solidFill>
                <a:latin typeface="Lato"/>
                <a:ea typeface="Lato"/>
                <a:cs typeface="Lato"/>
                <a:sym typeface="Lato"/>
              </a:rPr>
              <a:t>9</a:t>
            </a:r>
            <a:endParaRPr b="0" i="0" sz="837" u="none" cap="none" strike="noStrike">
              <a:solidFill>
                <a:srgbClr val="FFE599"/>
              </a:solidFill>
              <a:latin typeface="Lato"/>
              <a:ea typeface="Lato"/>
              <a:cs typeface="Lato"/>
              <a:sym typeface="Lato"/>
            </a:endParaRPr>
          </a:p>
        </p:txBody>
      </p:sp>
      <p:sp>
        <p:nvSpPr>
          <p:cNvPr id="763" name="Google Shape;763;p25"/>
          <p:cNvSpPr/>
          <p:nvPr/>
        </p:nvSpPr>
        <p:spPr>
          <a:xfrm>
            <a:off x="3671600" y="4439834"/>
            <a:ext cx="424800" cy="152100"/>
          </a:xfrm>
          <a:prstGeom prst="rect">
            <a:avLst/>
          </a:prstGeom>
          <a:noFill/>
          <a:ln>
            <a:noFill/>
          </a:ln>
        </p:spPr>
        <p:txBody>
          <a:bodyPr anchorCtr="0" anchor="ctr" bIns="95700" lIns="95700" spcFirstLastPara="1" rIns="95700" wrap="square" tIns="95700">
            <a:noAutofit/>
          </a:bodyPr>
          <a:lstStyle/>
          <a:p>
            <a:pPr indent="0" lvl="0" marL="0" marR="0" rtl="0" algn="ctr">
              <a:lnSpc>
                <a:spcPct val="100000"/>
              </a:lnSpc>
              <a:spcBef>
                <a:spcPts val="0"/>
              </a:spcBef>
              <a:spcAft>
                <a:spcPts val="0"/>
              </a:spcAft>
              <a:buClr>
                <a:srgbClr val="000000"/>
              </a:buClr>
              <a:buSzPts val="1151"/>
              <a:buFont typeface="Arial"/>
              <a:buNone/>
            </a:pPr>
            <a:r>
              <a:rPr b="0" i="0" lang="en" sz="1151" u="none" cap="none" strike="noStrike">
                <a:solidFill>
                  <a:srgbClr val="B6D7A8"/>
                </a:solidFill>
                <a:latin typeface="Lato"/>
                <a:ea typeface="Lato"/>
                <a:cs typeface="Lato"/>
                <a:sym typeface="Lato"/>
              </a:rPr>
              <a:t>d</a:t>
            </a:r>
            <a:r>
              <a:rPr b="0" i="0" lang="en" sz="732" u="none" cap="none" strike="noStrike">
                <a:solidFill>
                  <a:srgbClr val="B6D7A8"/>
                </a:solidFill>
                <a:latin typeface="Lato"/>
                <a:ea typeface="Lato"/>
                <a:cs typeface="Lato"/>
                <a:sym typeface="Lato"/>
              </a:rPr>
              <a:t>10</a:t>
            </a:r>
            <a:endParaRPr b="0" i="0" sz="732" u="none" cap="none" strike="noStrike">
              <a:solidFill>
                <a:srgbClr val="B6D7A8"/>
              </a:solidFill>
              <a:latin typeface="Lato"/>
              <a:ea typeface="Lato"/>
              <a:cs typeface="Lato"/>
              <a:sym typeface="Lato"/>
            </a:endParaRPr>
          </a:p>
        </p:txBody>
      </p:sp>
      <p:sp>
        <p:nvSpPr>
          <p:cNvPr id="764" name="Google Shape;764;p25"/>
          <p:cNvSpPr/>
          <p:nvPr/>
        </p:nvSpPr>
        <p:spPr>
          <a:xfrm>
            <a:off x="3849625" y="3769147"/>
            <a:ext cx="68700" cy="627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72825" lIns="72825" spcFirstLastPara="1" rIns="72825" wrap="square" tIns="72825">
            <a:noAutofit/>
          </a:bodyPr>
          <a:lstStyle/>
          <a:p>
            <a:pPr indent="0" lvl="0" marL="0" marR="0" rtl="0" algn="ctr">
              <a:lnSpc>
                <a:spcPct val="100000"/>
              </a:lnSpc>
              <a:spcBef>
                <a:spcPts val="0"/>
              </a:spcBef>
              <a:spcAft>
                <a:spcPts val="0"/>
              </a:spcAft>
              <a:buClr>
                <a:srgbClr val="000000"/>
              </a:buClr>
              <a:buSzPts val="1115"/>
              <a:buFont typeface="Arial"/>
              <a:buNone/>
            </a:pPr>
            <a:r>
              <a:t/>
            </a:r>
            <a:endParaRPr b="0" i="0" sz="1115" u="none" cap="none" strike="noStrike">
              <a:solidFill>
                <a:srgbClr val="C27171"/>
              </a:solidFill>
              <a:latin typeface="Lato"/>
              <a:ea typeface="Lato"/>
              <a:cs typeface="Lato"/>
              <a:sym typeface="Lato"/>
            </a:endParaRPr>
          </a:p>
        </p:txBody>
      </p:sp>
      <p:sp>
        <p:nvSpPr>
          <p:cNvPr id="765" name="Google Shape;765;p25"/>
          <p:cNvSpPr/>
          <p:nvPr/>
        </p:nvSpPr>
        <p:spPr>
          <a:xfrm>
            <a:off x="3849625" y="3895239"/>
            <a:ext cx="68700" cy="627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72825" lIns="72825" spcFirstLastPara="1" rIns="72825" wrap="square" tIns="72825">
            <a:noAutofit/>
          </a:bodyPr>
          <a:lstStyle/>
          <a:p>
            <a:pPr indent="0" lvl="0" marL="0" marR="0" rtl="0" algn="ctr">
              <a:lnSpc>
                <a:spcPct val="100000"/>
              </a:lnSpc>
              <a:spcBef>
                <a:spcPts val="0"/>
              </a:spcBef>
              <a:spcAft>
                <a:spcPts val="0"/>
              </a:spcAft>
              <a:buClr>
                <a:srgbClr val="000000"/>
              </a:buClr>
              <a:buSzPts val="1115"/>
              <a:buFont typeface="Arial"/>
              <a:buNone/>
            </a:pPr>
            <a:r>
              <a:t/>
            </a:r>
            <a:endParaRPr b="0" i="0" sz="1115" u="none" cap="none" strike="noStrike">
              <a:solidFill>
                <a:srgbClr val="C27171"/>
              </a:solidFill>
              <a:latin typeface="Lato"/>
              <a:ea typeface="Lato"/>
              <a:cs typeface="Lato"/>
              <a:sym typeface="Lato"/>
            </a:endParaRPr>
          </a:p>
        </p:txBody>
      </p:sp>
      <p:sp>
        <p:nvSpPr>
          <p:cNvPr id="766" name="Google Shape;766;p25"/>
          <p:cNvSpPr/>
          <p:nvPr/>
        </p:nvSpPr>
        <p:spPr>
          <a:xfrm>
            <a:off x="3849625" y="4031139"/>
            <a:ext cx="68700" cy="627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72825" lIns="72825" spcFirstLastPara="1" rIns="72825" wrap="square" tIns="72825">
            <a:noAutofit/>
          </a:bodyPr>
          <a:lstStyle/>
          <a:p>
            <a:pPr indent="0" lvl="0" marL="0" marR="0" rtl="0" algn="ctr">
              <a:lnSpc>
                <a:spcPct val="100000"/>
              </a:lnSpc>
              <a:spcBef>
                <a:spcPts val="0"/>
              </a:spcBef>
              <a:spcAft>
                <a:spcPts val="0"/>
              </a:spcAft>
              <a:buClr>
                <a:srgbClr val="000000"/>
              </a:buClr>
              <a:buSzPts val="1115"/>
              <a:buFont typeface="Arial"/>
              <a:buNone/>
            </a:pPr>
            <a:r>
              <a:t/>
            </a:r>
            <a:endParaRPr b="0" i="0" sz="1115" u="none" cap="none" strike="noStrike">
              <a:solidFill>
                <a:srgbClr val="C27171"/>
              </a:solidFill>
              <a:latin typeface="Lato"/>
              <a:ea typeface="Lato"/>
              <a:cs typeface="Lato"/>
              <a:sym typeface="Lato"/>
            </a:endParaRPr>
          </a:p>
        </p:txBody>
      </p:sp>
      <p:sp>
        <p:nvSpPr>
          <p:cNvPr id="767" name="Google Shape;767;p25"/>
          <p:cNvSpPr/>
          <p:nvPr/>
        </p:nvSpPr>
        <p:spPr>
          <a:xfrm>
            <a:off x="5207151" y="4404866"/>
            <a:ext cx="304500" cy="222000"/>
          </a:xfrm>
          <a:prstGeom prst="roundRect">
            <a:avLst>
              <a:gd fmla="val 7908" name="adj"/>
            </a:avLst>
          </a:prstGeom>
          <a:noFill/>
          <a:ln cap="flat" cmpd="sng" w="20475">
            <a:solidFill>
              <a:srgbClr val="6AA84F"/>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c32</a:t>
            </a:r>
            <a:endParaRPr b="1" i="0" sz="716" u="none" cap="none" strike="noStrike">
              <a:solidFill>
                <a:srgbClr val="000000"/>
              </a:solidFill>
              <a:latin typeface="Comic Sans MS"/>
              <a:ea typeface="Comic Sans MS"/>
              <a:cs typeface="Comic Sans MS"/>
              <a:sym typeface="Comic Sans MS"/>
            </a:endParaRPr>
          </a:p>
        </p:txBody>
      </p:sp>
      <p:sp>
        <p:nvSpPr>
          <p:cNvPr id="768" name="Google Shape;768;p25"/>
          <p:cNvSpPr/>
          <p:nvPr/>
        </p:nvSpPr>
        <p:spPr>
          <a:xfrm>
            <a:off x="4500220" y="4404874"/>
            <a:ext cx="304500" cy="222000"/>
          </a:xfrm>
          <a:prstGeom prst="roundRect">
            <a:avLst>
              <a:gd fmla="val 7908" name="adj"/>
            </a:avLst>
          </a:prstGeom>
          <a:noFill/>
          <a:ln cap="flat" cmpd="sng" w="20475">
            <a:solidFill>
              <a:srgbClr val="6D9EEB"/>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c13</a:t>
            </a:r>
            <a:endParaRPr b="1" i="0" sz="716" u="none" cap="none" strike="noStrike">
              <a:solidFill>
                <a:srgbClr val="000000"/>
              </a:solidFill>
              <a:latin typeface="Comic Sans MS"/>
              <a:ea typeface="Comic Sans MS"/>
              <a:cs typeface="Comic Sans MS"/>
              <a:sym typeface="Comic Sans MS"/>
            </a:endParaRPr>
          </a:p>
        </p:txBody>
      </p:sp>
      <p:sp>
        <p:nvSpPr>
          <p:cNvPr id="769" name="Google Shape;769;p25"/>
          <p:cNvSpPr/>
          <p:nvPr/>
        </p:nvSpPr>
        <p:spPr>
          <a:xfrm>
            <a:off x="4853689" y="4404865"/>
            <a:ext cx="304500" cy="222000"/>
          </a:xfrm>
          <a:prstGeom prst="roundRect">
            <a:avLst>
              <a:gd fmla="val 7908" name="adj"/>
            </a:avLst>
          </a:prstGeom>
          <a:noFill/>
          <a:ln cap="flat" cmpd="sng" w="20475">
            <a:solidFill>
              <a:srgbClr val="E06666"/>
            </a:solidFill>
            <a:prstDash val="solid"/>
            <a:round/>
            <a:headEnd len="sm" w="sm" type="none"/>
            <a:tailEnd len="sm" w="sm" type="none"/>
          </a:ln>
        </p:spPr>
        <p:txBody>
          <a:bodyPr anchorCtr="0" anchor="ctr" bIns="65525" lIns="65525" spcFirstLastPara="1" rIns="65525" wrap="square" tIns="65525">
            <a:noAutofit/>
          </a:bodyPr>
          <a:lstStyle/>
          <a:p>
            <a:pPr indent="0" lvl="0" marL="0" marR="0" rtl="0" algn="ctr">
              <a:lnSpc>
                <a:spcPct val="115000"/>
              </a:lnSpc>
              <a:spcBef>
                <a:spcPts val="860"/>
              </a:spcBef>
              <a:spcAft>
                <a:spcPts val="860"/>
              </a:spcAft>
              <a:buClr>
                <a:srgbClr val="000000"/>
              </a:buClr>
              <a:buSzPts val="716"/>
              <a:buFont typeface="Arial"/>
              <a:buNone/>
            </a:pPr>
            <a:r>
              <a:rPr b="1" i="0" lang="en" sz="716" u="none" cap="none" strike="noStrike">
                <a:solidFill>
                  <a:srgbClr val="000000"/>
                </a:solidFill>
                <a:latin typeface="Comic Sans MS"/>
                <a:ea typeface="Comic Sans MS"/>
                <a:cs typeface="Comic Sans MS"/>
                <a:sym typeface="Comic Sans MS"/>
              </a:rPr>
              <a:t>c21</a:t>
            </a:r>
            <a:endParaRPr b="1" i="0" sz="716" u="none" cap="none" strike="noStrike">
              <a:solidFill>
                <a:srgbClr val="000000"/>
              </a:solidFill>
              <a:latin typeface="Comic Sans MS"/>
              <a:ea typeface="Comic Sans MS"/>
              <a:cs typeface="Comic Sans MS"/>
              <a:sym typeface="Comic Sans MS"/>
            </a:endParaRPr>
          </a:p>
        </p:txBody>
      </p:sp>
      <p:cxnSp>
        <p:nvCxnSpPr>
          <p:cNvPr id="770" name="Google Shape;770;p25"/>
          <p:cNvCxnSpPr>
            <a:stCxn id="760" idx="3"/>
            <a:endCxn id="751" idx="1"/>
          </p:cNvCxnSpPr>
          <p:nvPr/>
        </p:nvCxnSpPr>
        <p:spPr>
          <a:xfrm>
            <a:off x="4097065" y="3337313"/>
            <a:ext cx="403200" cy="0"/>
          </a:xfrm>
          <a:prstGeom prst="straightConnector1">
            <a:avLst/>
          </a:prstGeom>
          <a:noFill/>
          <a:ln cap="flat" cmpd="sng" w="19050">
            <a:solidFill>
              <a:srgbClr val="9FC5E8"/>
            </a:solidFill>
            <a:prstDash val="solid"/>
            <a:round/>
            <a:headEnd len="sm" w="sm" type="none"/>
            <a:tailEnd len="med" w="med" type="triangle"/>
          </a:ln>
        </p:spPr>
      </p:cxnSp>
      <p:cxnSp>
        <p:nvCxnSpPr>
          <p:cNvPr id="771" name="Google Shape;771;p25"/>
          <p:cNvCxnSpPr>
            <a:stCxn id="761" idx="3"/>
            <a:endCxn id="752" idx="1"/>
          </p:cNvCxnSpPr>
          <p:nvPr/>
        </p:nvCxnSpPr>
        <p:spPr>
          <a:xfrm>
            <a:off x="4096375" y="3642069"/>
            <a:ext cx="403800" cy="0"/>
          </a:xfrm>
          <a:prstGeom prst="straightConnector1">
            <a:avLst/>
          </a:prstGeom>
          <a:noFill/>
          <a:ln cap="flat" cmpd="sng" w="19050">
            <a:solidFill>
              <a:srgbClr val="D9D2E9"/>
            </a:solidFill>
            <a:prstDash val="solid"/>
            <a:round/>
            <a:headEnd len="sm" w="sm" type="none"/>
            <a:tailEnd len="med" w="med" type="triangle"/>
          </a:ln>
        </p:spPr>
      </p:cxnSp>
      <p:cxnSp>
        <p:nvCxnSpPr>
          <p:cNvPr id="772" name="Google Shape;772;p25"/>
          <p:cNvCxnSpPr>
            <a:stCxn id="762" idx="3"/>
            <a:endCxn id="753" idx="1"/>
          </p:cNvCxnSpPr>
          <p:nvPr/>
        </p:nvCxnSpPr>
        <p:spPr>
          <a:xfrm>
            <a:off x="4097757" y="4220914"/>
            <a:ext cx="402600" cy="0"/>
          </a:xfrm>
          <a:prstGeom prst="straightConnector1">
            <a:avLst/>
          </a:prstGeom>
          <a:noFill/>
          <a:ln cap="flat" cmpd="sng" w="19050">
            <a:solidFill>
              <a:srgbClr val="FFF2CC"/>
            </a:solidFill>
            <a:prstDash val="solid"/>
            <a:round/>
            <a:headEnd len="sm" w="sm" type="none"/>
            <a:tailEnd len="med" w="med" type="triangle"/>
          </a:ln>
        </p:spPr>
      </p:cxnSp>
      <p:cxnSp>
        <p:nvCxnSpPr>
          <p:cNvPr id="773" name="Google Shape;773;p25"/>
          <p:cNvCxnSpPr>
            <a:endCxn id="768" idx="1"/>
          </p:cNvCxnSpPr>
          <p:nvPr/>
        </p:nvCxnSpPr>
        <p:spPr>
          <a:xfrm>
            <a:off x="4096420" y="4515874"/>
            <a:ext cx="403800" cy="0"/>
          </a:xfrm>
          <a:prstGeom prst="straightConnector1">
            <a:avLst/>
          </a:prstGeom>
          <a:noFill/>
          <a:ln cap="flat" cmpd="sng" w="19050">
            <a:solidFill>
              <a:srgbClr val="D9EAD3"/>
            </a:solidFill>
            <a:prstDash val="solid"/>
            <a:round/>
            <a:headEnd len="sm" w="sm" type="none"/>
            <a:tailEnd len="med" w="med" type="triangle"/>
          </a:ln>
        </p:spPr>
      </p:cxnSp>
      <p:sp>
        <p:nvSpPr>
          <p:cNvPr id="774" name="Google Shape;774;p25"/>
          <p:cNvSpPr txBox="1"/>
          <p:nvPr/>
        </p:nvSpPr>
        <p:spPr>
          <a:xfrm>
            <a:off x="6172997" y="4506500"/>
            <a:ext cx="2419800" cy="374400"/>
          </a:xfrm>
          <a:prstGeom prst="rect">
            <a:avLst/>
          </a:prstGeom>
          <a:solidFill>
            <a:srgbClr val="FFFFFF"/>
          </a:solidFill>
          <a:ln>
            <a:noFill/>
          </a:ln>
        </p:spPr>
        <p:txBody>
          <a:bodyPr anchorCtr="0" anchor="t" bIns="105425" lIns="105425" spcFirstLastPara="1" rIns="105425" wrap="square" tIns="105425">
            <a:spAutoFit/>
          </a:bodyPr>
          <a:lstStyle/>
          <a:p>
            <a:pPr indent="0" lvl="0" marL="0" marR="0" rtl="0" algn="ctr">
              <a:lnSpc>
                <a:spcPct val="100000"/>
              </a:lnSpc>
              <a:spcBef>
                <a:spcPts val="0"/>
              </a:spcBef>
              <a:spcAft>
                <a:spcPts val="0"/>
              </a:spcAft>
              <a:buClr>
                <a:srgbClr val="000000"/>
              </a:buClr>
              <a:buSzPts val="1048"/>
              <a:buFont typeface="Arial"/>
              <a:buNone/>
            </a:pPr>
            <a:r>
              <a:rPr b="0" i="0" lang="en" sz="1048" u="none" cap="none" strike="noStrike">
                <a:solidFill>
                  <a:srgbClr val="595959"/>
                </a:solidFill>
                <a:latin typeface="Lato"/>
                <a:ea typeface="Lato"/>
                <a:cs typeface="Lato"/>
                <a:sym typeface="Lato"/>
              </a:rPr>
              <a:t>Cluster IDs Saved as 8 bit Integer</a:t>
            </a:r>
            <a:endParaRPr b="0" i="0" sz="1048" u="none" cap="none" strike="noStrike">
              <a:solidFill>
                <a:srgbClr val="595959"/>
              </a:solidFill>
              <a:latin typeface="Lato"/>
              <a:ea typeface="Lato"/>
              <a:cs typeface="Lato"/>
              <a:sym typeface="Lato"/>
            </a:endParaRPr>
          </a:p>
        </p:txBody>
      </p:sp>
      <p:sp>
        <p:nvSpPr>
          <p:cNvPr id="775" name="Google Shape;775;p25"/>
          <p:cNvSpPr/>
          <p:nvPr/>
        </p:nvSpPr>
        <p:spPr>
          <a:xfrm rot="10800000">
            <a:off x="6203958" y="1192120"/>
            <a:ext cx="567600" cy="1525200"/>
          </a:xfrm>
          <a:prstGeom prst="roundRect">
            <a:avLst>
              <a:gd fmla="val 16667" name="adj"/>
            </a:avLst>
          </a:prstGeom>
          <a:noFill/>
          <a:ln cap="flat" cmpd="sng" w="29950">
            <a:solidFill>
              <a:srgbClr val="4A86E8"/>
            </a:solidFill>
            <a:prstDash val="dash"/>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466"/>
              <a:buFont typeface="Arial"/>
              <a:buNone/>
            </a:pPr>
            <a:r>
              <a:t/>
            </a:r>
            <a:endParaRPr b="0" i="0" sz="1466" u="none" cap="none" strike="noStrike">
              <a:solidFill>
                <a:srgbClr val="000000"/>
              </a:solidFill>
              <a:latin typeface="Lato"/>
              <a:ea typeface="Lato"/>
              <a:cs typeface="Lato"/>
              <a:sym typeface="Lato"/>
            </a:endParaRPr>
          </a:p>
        </p:txBody>
      </p:sp>
      <p:cxnSp>
        <p:nvCxnSpPr>
          <p:cNvPr id="776" name="Google Shape;776;p25"/>
          <p:cNvCxnSpPr/>
          <p:nvPr/>
        </p:nvCxnSpPr>
        <p:spPr>
          <a:xfrm rot="10800000">
            <a:off x="5351775" y="3929688"/>
            <a:ext cx="860400" cy="3600"/>
          </a:xfrm>
          <a:prstGeom prst="straightConnector1">
            <a:avLst/>
          </a:prstGeom>
          <a:noFill/>
          <a:ln cap="flat" cmpd="sng" w="38100">
            <a:solidFill>
              <a:srgbClr val="CFE2F3"/>
            </a:solidFill>
            <a:prstDash val="solid"/>
            <a:round/>
            <a:headEnd len="sm" w="sm" type="none"/>
            <a:tailEnd len="med" w="med" type="triangle"/>
          </a:ln>
        </p:spPr>
      </p:cxnSp>
      <p:sp>
        <p:nvSpPr>
          <p:cNvPr id="777" name="Google Shape;777;p25"/>
          <p:cNvSpPr txBox="1"/>
          <p:nvPr/>
        </p:nvSpPr>
        <p:spPr>
          <a:xfrm>
            <a:off x="6172172" y="2905450"/>
            <a:ext cx="2419800" cy="374400"/>
          </a:xfrm>
          <a:prstGeom prst="rect">
            <a:avLst/>
          </a:prstGeom>
          <a:noFill/>
          <a:ln>
            <a:noFill/>
          </a:ln>
        </p:spPr>
        <p:txBody>
          <a:bodyPr anchorCtr="0" anchor="t" bIns="105425" lIns="105425" spcFirstLastPara="1" rIns="105425" wrap="square" tIns="105425">
            <a:spAutoFit/>
          </a:bodyPr>
          <a:lstStyle/>
          <a:p>
            <a:pPr indent="0" lvl="0" marL="0" marR="0" rtl="0" algn="ctr">
              <a:lnSpc>
                <a:spcPct val="100000"/>
              </a:lnSpc>
              <a:spcBef>
                <a:spcPts val="0"/>
              </a:spcBef>
              <a:spcAft>
                <a:spcPts val="0"/>
              </a:spcAft>
              <a:buClr>
                <a:srgbClr val="000000"/>
              </a:buClr>
              <a:buSzPts val="1048"/>
              <a:buFont typeface="Arial"/>
              <a:buNone/>
            </a:pPr>
            <a:r>
              <a:rPr b="0" i="0" lang="en" sz="1048" u="none" cap="none" strike="noStrike">
                <a:solidFill>
                  <a:srgbClr val="595959"/>
                </a:solidFill>
                <a:latin typeface="Lato"/>
                <a:ea typeface="Lato"/>
                <a:cs typeface="Lato"/>
                <a:sym typeface="Lato"/>
              </a:rPr>
              <a:t>Clustering</a:t>
            </a:r>
            <a:endParaRPr b="0" i="0" sz="1048" u="none" cap="none" strike="noStrike">
              <a:solidFill>
                <a:srgbClr val="595959"/>
              </a:solidFill>
              <a:latin typeface="Lato"/>
              <a:ea typeface="Lato"/>
              <a:cs typeface="Lato"/>
              <a:sym typeface="Lato"/>
            </a:endParaRPr>
          </a:p>
        </p:txBody>
      </p:sp>
      <p:sp>
        <p:nvSpPr>
          <p:cNvPr id="778" name="Google Shape;778;p25"/>
          <p:cNvSpPr/>
          <p:nvPr/>
        </p:nvSpPr>
        <p:spPr>
          <a:xfrm>
            <a:off x="4205875" y="2861663"/>
            <a:ext cx="796800" cy="220800"/>
          </a:xfrm>
          <a:prstGeom prst="roundRect">
            <a:avLst>
              <a:gd fmla="val 7908"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rgbClr val="000000"/>
              </a:buClr>
              <a:buSzPts val="1600"/>
              <a:buFont typeface="Arial"/>
              <a:buNone/>
            </a:pPr>
            <a:r>
              <a:rPr b="1" i="0" lang="en" sz="1600" u="none" cap="none" strike="noStrike">
                <a:solidFill>
                  <a:srgbClr val="4A86E8"/>
                </a:solidFill>
                <a:latin typeface="Comic Sans MS"/>
                <a:ea typeface="Comic Sans MS"/>
                <a:cs typeface="Comic Sans MS"/>
                <a:sym typeface="Comic Sans MS"/>
              </a:rPr>
              <a:t>Saved</a:t>
            </a:r>
            <a:endParaRPr b="1" i="0" sz="1600" u="none" cap="none" strike="noStrike">
              <a:solidFill>
                <a:srgbClr val="4A86E8"/>
              </a:solidFill>
              <a:latin typeface="Comic Sans MS"/>
              <a:ea typeface="Comic Sans MS"/>
              <a:cs typeface="Comic Sans MS"/>
              <a:sym typeface="Comic Sans MS"/>
            </a:endParaRPr>
          </a:p>
        </p:txBody>
      </p:sp>
      <p:sp>
        <p:nvSpPr>
          <p:cNvPr id="779" name="Google Shape;779;p25"/>
          <p:cNvSpPr/>
          <p:nvPr/>
        </p:nvSpPr>
        <p:spPr>
          <a:xfrm>
            <a:off x="6901475" y="780800"/>
            <a:ext cx="1227000" cy="220800"/>
          </a:xfrm>
          <a:prstGeom prst="roundRect">
            <a:avLst>
              <a:gd fmla="val 7908"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rgbClr val="000000"/>
              </a:buClr>
              <a:buSzPts val="1600"/>
              <a:buFont typeface="Arial"/>
              <a:buNone/>
            </a:pPr>
            <a:r>
              <a:rPr b="1" i="0" lang="en" sz="1600" u="none" cap="none" strike="noStrike">
                <a:solidFill>
                  <a:srgbClr val="CC0000"/>
                </a:solidFill>
                <a:latin typeface="Comic Sans MS"/>
                <a:ea typeface="Comic Sans MS"/>
                <a:cs typeface="Comic Sans MS"/>
                <a:sym typeface="Comic Sans MS"/>
              </a:rPr>
              <a:t>Discarded</a:t>
            </a:r>
            <a:endParaRPr b="1" i="0" sz="1600" u="none" cap="none" strike="noStrike">
              <a:solidFill>
                <a:srgbClr val="CC0000"/>
              </a:solidFill>
              <a:latin typeface="Comic Sans MS"/>
              <a:ea typeface="Comic Sans MS"/>
              <a:cs typeface="Comic Sans MS"/>
              <a:sym typeface="Comic Sans MS"/>
            </a:endParaRPr>
          </a:p>
        </p:txBody>
      </p:sp>
      <p:sp>
        <p:nvSpPr>
          <p:cNvPr id="780" name="Google Shape;780;p25"/>
          <p:cNvSpPr txBox="1"/>
          <p:nvPr/>
        </p:nvSpPr>
        <p:spPr>
          <a:xfrm>
            <a:off x="4142914" y="810375"/>
            <a:ext cx="1019100" cy="358800"/>
          </a:xfrm>
          <a:prstGeom prst="rect">
            <a:avLst/>
          </a:prstGeom>
          <a:noFill/>
          <a:ln>
            <a:noFill/>
          </a:ln>
        </p:spPr>
        <p:txBody>
          <a:bodyPr anchorCtr="0" anchor="t" bIns="105425" lIns="105425" spcFirstLastPara="1" rIns="105425" wrap="square" tIns="105425">
            <a:spAutoFit/>
          </a:bodyPr>
          <a:lstStyle/>
          <a:p>
            <a:pPr indent="0" lvl="0" marL="0" marR="0" rtl="0" algn="ctr">
              <a:lnSpc>
                <a:spcPct val="100000"/>
              </a:lnSpc>
              <a:spcBef>
                <a:spcPts val="0"/>
              </a:spcBef>
              <a:spcAft>
                <a:spcPts val="0"/>
              </a:spcAft>
              <a:buClr>
                <a:srgbClr val="000000"/>
              </a:buClr>
              <a:buSzPts val="947"/>
              <a:buFont typeface="Arial"/>
              <a:buNone/>
            </a:pPr>
            <a:r>
              <a:rPr b="0" i="0" lang="en" sz="948" u="none" cap="none" strike="noStrike">
                <a:solidFill>
                  <a:srgbClr val="595959"/>
                </a:solidFill>
                <a:latin typeface="Lato"/>
                <a:ea typeface="Lato"/>
                <a:cs typeface="Lato"/>
                <a:sym typeface="Lato"/>
              </a:rPr>
              <a:t>D = Dimension</a:t>
            </a:r>
            <a:endParaRPr b="0" i="0" sz="948" u="none" cap="none" strike="noStrike">
              <a:solidFill>
                <a:srgbClr val="595959"/>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400">
                <a:solidFill>
                  <a:srgbClr val="1E293B"/>
                </a:solidFill>
              </a:rPr>
              <a:t>A 384-dim float32 vector is split into m = 4 sub-vectors, each encoded to one of 256 centroids. What is the size per vector and the compression ratio?</a:t>
            </a:r>
            <a:endParaRPr sz="1400">
              <a:solidFill>
                <a:srgbClr val="1E293B"/>
              </a:solidFill>
            </a:endParaRPr>
          </a:p>
          <a:p>
            <a:pPr indent="-317500" lvl="0" marL="457200" rtl="0" algn="l">
              <a:spcBef>
                <a:spcPts val="1200"/>
              </a:spcBef>
              <a:spcAft>
                <a:spcPts val="0"/>
              </a:spcAft>
              <a:buSzPts val="1400"/>
              <a:buAutoNum type="arabicPeriod"/>
            </a:pPr>
            <a:r>
              <a:rPr lang="en" sz="1400">
                <a:solidFill>
                  <a:schemeClr val="dk1"/>
                </a:solidFill>
              </a:rPr>
              <a:t>4 bytes, 384× compression</a:t>
            </a:r>
            <a:endParaRPr sz="1400">
              <a:solidFill>
                <a:schemeClr val="dk1"/>
              </a:solidFill>
            </a:endParaRPr>
          </a:p>
          <a:p>
            <a:pPr indent="-317500" lvl="0" marL="457200" rtl="0" algn="l">
              <a:spcBef>
                <a:spcPts val="0"/>
              </a:spcBef>
              <a:spcAft>
                <a:spcPts val="0"/>
              </a:spcAft>
              <a:buSzPts val="1400"/>
              <a:buAutoNum type="arabicPeriod"/>
            </a:pPr>
            <a:r>
              <a:rPr lang="en" sz="1400">
                <a:solidFill>
                  <a:schemeClr val="dk1"/>
                </a:solidFill>
              </a:rPr>
              <a:t>32 bytes, 48× compression</a:t>
            </a:r>
            <a:endParaRPr sz="1400">
              <a:solidFill>
                <a:schemeClr val="dk1"/>
              </a:solidFill>
            </a:endParaRPr>
          </a:p>
          <a:p>
            <a:pPr indent="-317500" lvl="0" marL="457200" rtl="0" algn="l">
              <a:spcBef>
                <a:spcPts val="0"/>
              </a:spcBef>
              <a:spcAft>
                <a:spcPts val="0"/>
              </a:spcAft>
              <a:buSzPts val="1400"/>
              <a:buAutoNum type="arabicPeriod"/>
            </a:pPr>
            <a:r>
              <a:rPr lang="en" sz="1400">
                <a:solidFill>
                  <a:schemeClr val="dk1"/>
                </a:solidFill>
              </a:rPr>
              <a:t>16 bytes, 96× compression</a:t>
            </a:r>
            <a:endParaRPr sz="1400">
              <a:solidFill>
                <a:schemeClr val="dk1"/>
              </a:solidFill>
            </a:endParaRPr>
          </a:p>
          <a:p>
            <a:pPr indent="-317500" lvl="0" marL="457200" rtl="0" algn="l">
              <a:spcBef>
                <a:spcPts val="0"/>
              </a:spcBef>
              <a:spcAft>
                <a:spcPts val="0"/>
              </a:spcAft>
              <a:buSzPts val="1400"/>
              <a:buAutoNum type="arabicPeriod"/>
            </a:pPr>
            <a:r>
              <a:rPr lang="en" sz="1400">
                <a:solidFill>
                  <a:schemeClr val="dk1"/>
                </a:solidFill>
              </a:rPr>
              <a:t>128 bytes, 12× compression</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Quiz 1</a:t>
            </a:r>
            <a:endParaRPr b="1"/>
          </a:p>
        </p:txBody>
      </p:sp>
      <p:pic>
        <p:nvPicPr>
          <p:cNvPr id="791" name="Google Shape;791;p27" title="Screenshot 2026-10-23 at 2.37.21 PM.png"/>
          <p:cNvPicPr preferRelativeResize="0"/>
          <p:nvPr/>
        </p:nvPicPr>
        <p:blipFill rotWithShape="1">
          <a:blip r:embed="rId3">
            <a:alphaModFix/>
          </a:blip>
          <a:srcRect b="0" l="1124" r="1114" t="0"/>
          <a:stretch/>
        </p:blipFill>
        <p:spPr>
          <a:xfrm>
            <a:off x="2661513" y="917950"/>
            <a:ext cx="3820975" cy="38209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400">
                <a:solidFill>
                  <a:srgbClr val="1E293B"/>
                </a:solidFill>
              </a:rPr>
              <a:t>A 384-dim float32 vector is split into m = 4 sub-vectors, each encoded to one of 256 centroids. What is the size per vector and the compression ratio?</a:t>
            </a:r>
            <a:endParaRPr sz="1400">
              <a:solidFill>
                <a:srgbClr val="1E293B"/>
              </a:solidFill>
            </a:endParaRPr>
          </a:p>
          <a:p>
            <a:pPr indent="-317500" lvl="0" marL="457200" rtl="0" algn="l">
              <a:spcBef>
                <a:spcPts val="1200"/>
              </a:spcBef>
              <a:spcAft>
                <a:spcPts val="0"/>
              </a:spcAft>
              <a:buSzPts val="1400"/>
              <a:buAutoNum type="arabicPeriod"/>
            </a:pPr>
            <a:r>
              <a:rPr b="1" lang="en" sz="1400">
                <a:solidFill>
                  <a:schemeClr val="dk1"/>
                </a:solidFill>
              </a:rPr>
              <a:t>4 bytes, 384× compression</a:t>
            </a:r>
            <a:endParaRPr b="1" sz="1400">
              <a:solidFill>
                <a:schemeClr val="dk1"/>
              </a:solidFill>
            </a:endParaRPr>
          </a:p>
          <a:p>
            <a:pPr indent="-317500" lvl="0" marL="457200" rtl="0" algn="l">
              <a:spcBef>
                <a:spcPts val="0"/>
              </a:spcBef>
              <a:spcAft>
                <a:spcPts val="0"/>
              </a:spcAft>
              <a:buSzPts val="1400"/>
              <a:buAutoNum type="arabicPeriod"/>
            </a:pPr>
            <a:r>
              <a:rPr lang="en" sz="1400">
                <a:solidFill>
                  <a:schemeClr val="dk1"/>
                </a:solidFill>
              </a:rPr>
              <a:t>32 bytes, 48× compression</a:t>
            </a:r>
            <a:endParaRPr sz="1400">
              <a:solidFill>
                <a:schemeClr val="dk1"/>
              </a:solidFill>
            </a:endParaRPr>
          </a:p>
          <a:p>
            <a:pPr indent="-317500" lvl="0" marL="457200" rtl="0" algn="l">
              <a:spcBef>
                <a:spcPts val="0"/>
              </a:spcBef>
              <a:spcAft>
                <a:spcPts val="0"/>
              </a:spcAft>
              <a:buSzPts val="1400"/>
              <a:buAutoNum type="arabicPeriod"/>
            </a:pPr>
            <a:r>
              <a:rPr lang="en" sz="1400">
                <a:solidFill>
                  <a:schemeClr val="dk1"/>
                </a:solidFill>
              </a:rPr>
              <a:t>16 bytes, 96× compression</a:t>
            </a:r>
            <a:endParaRPr sz="1400">
              <a:solidFill>
                <a:schemeClr val="dk1"/>
              </a:solidFill>
            </a:endParaRPr>
          </a:p>
          <a:p>
            <a:pPr indent="-317500" lvl="0" marL="457200" rtl="0" algn="l">
              <a:spcBef>
                <a:spcPts val="0"/>
              </a:spcBef>
              <a:spcAft>
                <a:spcPts val="0"/>
              </a:spcAft>
              <a:buSzPts val="1400"/>
              <a:buAutoNum type="arabicPeriod"/>
            </a:pPr>
            <a:r>
              <a:rPr lang="en" sz="1400">
                <a:solidFill>
                  <a:schemeClr val="dk1"/>
                </a:solidFill>
              </a:rPr>
              <a:t>128 bytes, 12× compression</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29"/>
          <p:cNvSpPr/>
          <p:nvPr/>
        </p:nvSpPr>
        <p:spPr>
          <a:xfrm>
            <a:off x="411480" y="288036"/>
            <a:ext cx="7543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55C7D"/>
              </a:buClr>
              <a:buSzPts val="900"/>
              <a:buFont typeface="Calibri"/>
              <a:buNone/>
            </a:pPr>
            <a:r>
              <a:rPr b="1" i="0" lang="en" sz="900" u="none" cap="none" strike="noStrike">
                <a:solidFill>
                  <a:srgbClr val="355C7D"/>
                </a:solidFill>
                <a:latin typeface="Calibri"/>
                <a:ea typeface="Calibri"/>
                <a:cs typeface="Calibri"/>
                <a:sym typeface="Calibri"/>
              </a:rPr>
              <a:t>QUERY TIME</a:t>
            </a:r>
            <a:endParaRPr b="0" i="0" sz="900" u="none" cap="none" strike="noStrike">
              <a:solidFill>
                <a:schemeClr val="dk1"/>
              </a:solidFill>
              <a:latin typeface="Calibri"/>
              <a:ea typeface="Calibri"/>
              <a:cs typeface="Calibri"/>
              <a:sym typeface="Calibri"/>
            </a:endParaRPr>
          </a:p>
        </p:txBody>
      </p:sp>
      <p:sp>
        <p:nvSpPr>
          <p:cNvPr id="803" name="Google Shape;803;p29"/>
          <p:cNvSpPr/>
          <p:nvPr/>
        </p:nvSpPr>
        <p:spPr>
          <a:xfrm>
            <a:off x="397764" y="480060"/>
            <a:ext cx="83670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2300"/>
              <a:buFont typeface="Cambria"/>
              <a:buNone/>
            </a:pPr>
            <a:r>
              <a:rPr b="1" i="0" lang="en" sz="2300" u="none" cap="none" strike="noStrike">
                <a:solidFill>
                  <a:srgbClr val="13203A"/>
                </a:solidFill>
                <a:latin typeface="Cambria"/>
                <a:ea typeface="Cambria"/>
                <a:cs typeface="Cambria"/>
                <a:sym typeface="Cambria"/>
              </a:rPr>
              <a:t>Search: do the multiplications once, then just add</a:t>
            </a:r>
            <a:endParaRPr b="0" i="0" sz="2300" u="none" cap="none" strike="noStrike">
              <a:solidFill>
                <a:schemeClr val="dk1"/>
              </a:solidFill>
              <a:latin typeface="Calibri"/>
              <a:ea typeface="Calibri"/>
              <a:cs typeface="Calibri"/>
              <a:sym typeface="Calibri"/>
            </a:endParaRPr>
          </a:p>
        </p:txBody>
      </p:sp>
      <p:sp>
        <p:nvSpPr>
          <p:cNvPr id="804" name="Google Shape;804;p29"/>
          <p:cNvSpPr/>
          <p:nvPr/>
        </p:nvSpPr>
        <p:spPr>
          <a:xfrm>
            <a:off x="411480" y="1028700"/>
            <a:ext cx="82983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Brute force compares the query to every stored vector — a full distance each, a mountain of multiplications. A </a:t>
            </a:r>
            <a:r>
              <a:rPr b="1" i="0" lang="en" sz="1200" u="none" cap="none" strike="noStrike">
                <a:solidFill>
                  <a:srgbClr val="C9821E"/>
                </a:solidFill>
                <a:latin typeface="Calibri"/>
                <a:ea typeface="Calibri"/>
                <a:cs typeface="Calibri"/>
                <a:sym typeface="Calibri"/>
              </a:rPr>
              <a:t>distance lookup table</a:t>
            </a:r>
            <a:r>
              <a:rPr b="0" i="0" lang="en" sz="1200" u="none" cap="none" strike="noStrike">
                <a:solidFill>
                  <a:srgbClr val="44586A"/>
                </a:solidFill>
                <a:latin typeface="Calibri"/>
                <a:ea typeface="Calibri"/>
                <a:cs typeface="Calibri"/>
                <a:sym typeface="Calibri"/>
              </a:rPr>
              <a:t> turns almost all of that into lookups and adds.</a:t>
            </a:r>
            <a:endParaRPr b="0" i="0" sz="1200" u="none" cap="none" strike="noStrike">
              <a:solidFill>
                <a:schemeClr val="dk1"/>
              </a:solidFill>
              <a:latin typeface="Calibri"/>
              <a:ea typeface="Calibri"/>
              <a:cs typeface="Calibri"/>
              <a:sym typeface="Calibri"/>
            </a:endParaRPr>
          </a:p>
        </p:txBody>
      </p:sp>
      <p:sp>
        <p:nvSpPr>
          <p:cNvPr id="805" name="Google Shape;805;p29"/>
          <p:cNvSpPr/>
          <p:nvPr/>
        </p:nvSpPr>
        <p:spPr>
          <a:xfrm>
            <a:off x="411480" y="1577340"/>
            <a:ext cx="2674500" cy="2091600"/>
          </a:xfrm>
          <a:prstGeom prst="roundRect">
            <a:avLst>
              <a:gd fmla="val 3279" name="adj"/>
            </a:avLst>
          </a:prstGeom>
          <a:solidFill>
            <a:srgbClr val="FBE7E3"/>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6" name="Google Shape;806;p29"/>
          <p:cNvSpPr/>
          <p:nvPr/>
        </p:nvSpPr>
        <p:spPr>
          <a:xfrm>
            <a:off x="411480" y="1577340"/>
            <a:ext cx="82500" cy="2091600"/>
          </a:xfrm>
          <a:prstGeom prst="rect">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7" name="Google Shape;807;p29"/>
          <p:cNvSpPr/>
          <p:nvPr/>
        </p:nvSpPr>
        <p:spPr>
          <a:xfrm>
            <a:off x="644652" y="1755648"/>
            <a:ext cx="226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0392B"/>
              </a:buClr>
              <a:buSzPts val="800"/>
              <a:buFont typeface="Calibri"/>
              <a:buNone/>
            </a:pPr>
            <a:r>
              <a:rPr b="1" i="0" lang="en" sz="800" u="none" cap="none" strike="noStrike">
                <a:solidFill>
                  <a:srgbClr val="C0392B"/>
                </a:solidFill>
                <a:latin typeface="Calibri"/>
                <a:ea typeface="Calibri"/>
                <a:cs typeface="Calibri"/>
                <a:sym typeface="Calibri"/>
              </a:rPr>
              <a:t>BRUTE FORCE (NO PQ)</a:t>
            </a:r>
            <a:endParaRPr b="0" i="0" sz="800" u="none" cap="none" strike="noStrike">
              <a:solidFill>
                <a:schemeClr val="dk1"/>
              </a:solidFill>
              <a:latin typeface="Calibri"/>
              <a:ea typeface="Calibri"/>
              <a:cs typeface="Calibri"/>
              <a:sym typeface="Calibri"/>
            </a:endParaRPr>
          </a:p>
        </p:txBody>
      </p:sp>
      <p:sp>
        <p:nvSpPr>
          <p:cNvPr id="808" name="Google Shape;808;p29"/>
          <p:cNvSpPr/>
          <p:nvPr/>
        </p:nvSpPr>
        <p:spPr>
          <a:xfrm>
            <a:off x="644652" y="1975104"/>
            <a:ext cx="2249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400"/>
              <a:buFont typeface="Cambria"/>
              <a:buNone/>
            </a:pPr>
            <a:r>
              <a:rPr b="1" i="0" lang="en" sz="1400" u="none" cap="none" strike="noStrike">
                <a:solidFill>
                  <a:srgbClr val="13203A"/>
                </a:solidFill>
                <a:latin typeface="Cambria"/>
                <a:ea typeface="Cambria"/>
                <a:cs typeface="Cambria"/>
                <a:sym typeface="Cambria"/>
              </a:rPr>
              <a:t>Distance to every vector</a:t>
            </a:r>
            <a:endParaRPr b="0" i="0" sz="1400" u="none" cap="none" strike="noStrike">
              <a:solidFill>
                <a:schemeClr val="dk1"/>
              </a:solidFill>
              <a:latin typeface="Calibri"/>
              <a:ea typeface="Calibri"/>
              <a:cs typeface="Calibri"/>
              <a:sym typeface="Calibri"/>
            </a:endParaRPr>
          </a:p>
        </p:txBody>
      </p:sp>
      <p:sp>
        <p:nvSpPr>
          <p:cNvPr id="809" name="Google Shape;809;p29"/>
          <p:cNvSpPr/>
          <p:nvPr/>
        </p:nvSpPr>
        <p:spPr>
          <a:xfrm>
            <a:off x="644652" y="2386584"/>
            <a:ext cx="2235600" cy="651600"/>
          </a:xfrm>
          <a:prstGeom prst="rect">
            <a:avLst/>
          </a:prstGeom>
          <a:noFill/>
          <a:ln>
            <a:noFill/>
          </a:ln>
        </p:spPr>
        <p:txBody>
          <a:bodyPr anchorCtr="0" anchor="t" bIns="34275" lIns="68575" spcFirstLastPara="1" rIns="68575" wrap="square" tIns="34275">
            <a:noAutofit/>
          </a:bodyPr>
          <a:lstStyle/>
          <a:p>
            <a:pPr indent="0" lvl="0" marL="0" marR="0" rtl="0" algn="l">
              <a:lnSpc>
                <a:spcPct val="118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Compute the full distance from the query to all 1,000,000 stored vectors — 768 multiplies each.</a:t>
            </a:r>
            <a:endParaRPr b="0" i="0" sz="900" u="none" cap="none" strike="noStrike">
              <a:solidFill>
                <a:schemeClr val="dk1"/>
              </a:solidFill>
              <a:latin typeface="Calibri"/>
              <a:ea typeface="Calibri"/>
              <a:cs typeface="Calibri"/>
              <a:sym typeface="Calibri"/>
            </a:endParaRPr>
          </a:p>
        </p:txBody>
      </p:sp>
      <p:sp>
        <p:nvSpPr>
          <p:cNvPr id="810" name="Google Shape;810;p29"/>
          <p:cNvSpPr/>
          <p:nvPr/>
        </p:nvSpPr>
        <p:spPr>
          <a:xfrm>
            <a:off x="644652" y="3099816"/>
            <a:ext cx="22494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0392B"/>
              </a:buClr>
              <a:buSzPts val="2500"/>
              <a:buFont typeface="Cambria"/>
              <a:buNone/>
            </a:pPr>
            <a:r>
              <a:rPr b="1" i="0" lang="en" sz="2500" u="none" cap="none" strike="noStrike">
                <a:solidFill>
                  <a:srgbClr val="C0392B"/>
                </a:solidFill>
                <a:latin typeface="Cambria"/>
                <a:ea typeface="Cambria"/>
                <a:cs typeface="Cambria"/>
                <a:sym typeface="Cambria"/>
              </a:rPr>
              <a:t>768M</a:t>
            </a:r>
            <a:endParaRPr b="0" i="0" sz="2500" u="none" cap="none" strike="noStrike">
              <a:solidFill>
                <a:schemeClr val="dk1"/>
              </a:solidFill>
              <a:latin typeface="Calibri"/>
              <a:ea typeface="Calibri"/>
              <a:cs typeface="Calibri"/>
              <a:sym typeface="Calibri"/>
            </a:endParaRPr>
          </a:p>
        </p:txBody>
      </p:sp>
      <p:sp>
        <p:nvSpPr>
          <p:cNvPr id="811" name="Google Shape;811;p29"/>
          <p:cNvSpPr/>
          <p:nvPr/>
        </p:nvSpPr>
        <p:spPr>
          <a:xfrm>
            <a:off x="658368" y="3449574"/>
            <a:ext cx="2249400" cy="19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900"/>
              <a:buFont typeface="Calibri"/>
              <a:buNone/>
            </a:pPr>
            <a:r>
              <a:rPr b="0" i="0" lang="en" sz="900" u="none" cap="none" strike="noStrike">
                <a:solidFill>
                  <a:srgbClr val="8195A5"/>
                </a:solidFill>
                <a:latin typeface="Calibri"/>
                <a:ea typeface="Calibri"/>
                <a:cs typeface="Calibri"/>
                <a:sym typeface="Calibri"/>
              </a:rPr>
              <a:t>multiplications per query</a:t>
            </a:r>
            <a:endParaRPr b="0" i="0" sz="900" u="none" cap="none" strike="noStrike">
              <a:solidFill>
                <a:schemeClr val="dk1"/>
              </a:solidFill>
              <a:latin typeface="Calibri"/>
              <a:ea typeface="Calibri"/>
              <a:cs typeface="Calibri"/>
              <a:sym typeface="Calibri"/>
            </a:endParaRPr>
          </a:p>
        </p:txBody>
      </p:sp>
      <p:sp>
        <p:nvSpPr>
          <p:cNvPr id="812" name="Google Shape;812;p29"/>
          <p:cNvSpPr/>
          <p:nvPr/>
        </p:nvSpPr>
        <p:spPr>
          <a:xfrm>
            <a:off x="3374136" y="1577340"/>
            <a:ext cx="2674500" cy="2091600"/>
          </a:xfrm>
          <a:prstGeom prst="roundRect">
            <a:avLst>
              <a:gd fmla="val 3279" name="adj"/>
            </a:avLst>
          </a:prstGeom>
          <a:solidFill>
            <a:srgbClr val="E7EFF8"/>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3" name="Google Shape;813;p29"/>
          <p:cNvSpPr/>
          <p:nvPr/>
        </p:nvSpPr>
        <p:spPr>
          <a:xfrm>
            <a:off x="3374136" y="1577340"/>
            <a:ext cx="82500" cy="2091600"/>
          </a:xfrm>
          <a:prstGeom prst="rect">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4" name="Google Shape;814;p29"/>
          <p:cNvSpPr/>
          <p:nvPr/>
        </p:nvSpPr>
        <p:spPr>
          <a:xfrm>
            <a:off x="3607308" y="1755648"/>
            <a:ext cx="226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6FB0"/>
              </a:buClr>
              <a:buSzPts val="800"/>
              <a:buFont typeface="Calibri"/>
              <a:buNone/>
            </a:pPr>
            <a:r>
              <a:rPr b="1" i="0" lang="en" sz="800" u="none" cap="none" strike="noStrike">
                <a:solidFill>
                  <a:srgbClr val="2E6FB0"/>
                </a:solidFill>
                <a:latin typeface="Calibri"/>
                <a:ea typeface="Calibri"/>
                <a:cs typeface="Calibri"/>
                <a:sym typeface="Calibri"/>
              </a:rPr>
              <a:t>ONCE PER QUERY</a:t>
            </a:r>
            <a:endParaRPr b="0" i="0" sz="800" u="none" cap="none" strike="noStrike">
              <a:solidFill>
                <a:schemeClr val="dk1"/>
              </a:solidFill>
              <a:latin typeface="Calibri"/>
              <a:ea typeface="Calibri"/>
              <a:cs typeface="Calibri"/>
              <a:sym typeface="Calibri"/>
            </a:endParaRPr>
          </a:p>
        </p:txBody>
      </p:sp>
      <p:sp>
        <p:nvSpPr>
          <p:cNvPr id="815" name="Google Shape;815;p29"/>
          <p:cNvSpPr/>
          <p:nvPr/>
        </p:nvSpPr>
        <p:spPr>
          <a:xfrm>
            <a:off x="3607308" y="1975104"/>
            <a:ext cx="2249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400"/>
              <a:buFont typeface="Cambria"/>
              <a:buNone/>
            </a:pPr>
            <a:r>
              <a:rPr b="1" i="0" lang="en" sz="1400" u="none" cap="none" strike="noStrike">
                <a:solidFill>
                  <a:srgbClr val="13203A"/>
                </a:solidFill>
                <a:latin typeface="Cambria"/>
                <a:ea typeface="Cambria"/>
                <a:cs typeface="Cambria"/>
                <a:sym typeface="Cambria"/>
              </a:rPr>
              <a:t>Build one distance table</a:t>
            </a:r>
            <a:endParaRPr b="0" i="0" sz="1400" u="none" cap="none" strike="noStrike">
              <a:solidFill>
                <a:schemeClr val="dk1"/>
              </a:solidFill>
              <a:latin typeface="Calibri"/>
              <a:ea typeface="Calibri"/>
              <a:cs typeface="Calibri"/>
              <a:sym typeface="Calibri"/>
            </a:endParaRPr>
          </a:p>
        </p:txBody>
      </p:sp>
      <p:sp>
        <p:nvSpPr>
          <p:cNvPr id="816" name="Google Shape;816;p29"/>
          <p:cNvSpPr/>
          <p:nvPr/>
        </p:nvSpPr>
        <p:spPr>
          <a:xfrm>
            <a:off x="3607308" y="2386584"/>
            <a:ext cx="2235600" cy="651600"/>
          </a:xfrm>
          <a:prstGeom prst="rect">
            <a:avLst/>
          </a:prstGeom>
          <a:noFill/>
          <a:ln>
            <a:noFill/>
          </a:ln>
        </p:spPr>
        <p:txBody>
          <a:bodyPr anchorCtr="0" anchor="t" bIns="34275" lIns="68575" spcFirstLastPara="1" rIns="68575" wrap="square" tIns="34275">
            <a:noAutofit/>
          </a:bodyPr>
          <a:lstStyle/>
          <a:p>
            <a:pPr indent="0" lvl="0" marL="0" marR="0" rtl="0" algn="l">
              <a:lnSpc>
                <a:spcPct val="118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Measure the query against the 256 centroids in each of the 8 segments, then reuse it for all.</a:t>
            </a:r>
            <a:endParaRPr b="0" i="0" sz="900" u="none" cap="none" strike="noStrike">
              <a:solidFill>
                <a:schemeClr val="dk1"/>
              </a:solidFill>
              <a:latin typeface="Calibri"/>
              <a:ea typeface="Calibri"/>
              <a:cs typeface="Calibri"/>
              <a:sym typeface="Calibri"/>
            </a:endParaRPr>
          </a:p>
        </p:txBody>
      </p:sp>
      <p:sp>
        <p:nvSpPr>
          <p:cNvPr id="817" name="Google Shape;817;p29"/>
          <p:cNvSpPr/>
          <p:nvPr/>
        </p:nvSpPr>
        <p:spPr>
          <a:xfrm>
            <a:off x="3607308" y="3099816"/>
            <a:ext cx="22494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6FB0"/>
              </a:buClr>
              <a:buSzPts val="2500"/>
              <a:buFont typeface="Cambria"/>
              <a:buNone/>
            </a:pPr>
            <a:r>
              <a:rPr b="1" i="0" lang="en" sz="2500" u="none" cap="none" strike="noStrike">
                <a:solidFill>
                  <a:srgbClr val="2E6FB0"/>
                </a:solidFill>
                <a:latin typeface="Cambria"/>
                <a:ea typeface="Cambria"/>
                <a:cs typeface="Cambria"/>
                <a:sym typeface="Cambria"/>
              </a:rPr>
              <a:t>≈197K</a:t>
            </a:r>
            <a:endParaRPr b="0" i="0" sz="2500" u="none" cap="none" strike="noStrike">
              <a:solidFill>
                <a:schemeClr val="dk1"/>
              </a:solidFill>
              <a:latin typeface="Calibri"/>
              <a:ea typeface="Calibri"/>
              <a:cs typeface="Calibri"/>
              <a:sym typeface="Calibri"/>
            </a:endParaRPr>
          </a:p>
        </p:txBody>
      </p:sp>
      <p:sp>
        <p:nvSpPr>
          <p:cNvPr id="818" name="Google Shape;818;p29"/>
          <p:cNvSpPr/>
          <p:nvPr/>
        </p:nvSpPr>
        <p:spPr>
          <a:xfrm>
            <a:off x="3621024" y="3449574"/>
            <a:ext cx="2249400" cy="19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900"/>
              <a:buFont typeface="Calibri"/>
              <a:buNone/>
            </a:pPr>
            <a:r>
              <a:rPr b="0" i="0" lang="en" sz="900" u="none" cap="none" strike="noStrike">
                <a:solidFill>
                  <a:srgbClr val="8195A5"/>
                </a:solidFill>
                <a:latin typeface="Calibri"/>
                <a:ea typeface="Calibri"/>
                <a:cs typeface="Calibri"/>
                <a:sym typeface="Calibri"/>
              </a:rPr>
              <a:t>multiplications, computed once</a:t>
            </a:r>
            <a:endParaRPr b="0" i="0" sz="900" u="none" cap="none" strike="noStrike">
              <a:solidFill>
                <a:schemeClr val="dk1"/>
              </a:solidFill>
              <a:latin typeface="Calibri"/>
              <a:ea typeface="Calibri"/>
              <a:cs typeface="Calibri"/>
              <a:sym typeface="Calibri"/>
            </a:endParaRPr>
          </a:p>
        </p:txBody>
      </p:sp>
      <p:sp>
        <p:nvSpPr>
          <p:cNvPr id="819" name="Google Shape;819;p29"/>
          <p:cNvSpPr/>
          <p:nvPr/>
        </p:nvSpPr>
        <p:spPr>
          <a:xfrm>
            <a:off x="6336792" y="1577340"/>
            <a:ext cx="2674500" cy="2091600"/>
          </a:xfrm>
          <a:prstGeom prst="roundRect">
            <a:avLst>
              <a:gd fmla="val 3279" name="adj"/>
            </a:avLst>
          </a:prstGeom>
          <a:solidFill>
            <a:srgbClr val="E2F0E8"/>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0" name="Google Shape;820;p29"/>
          <p:cNvSpPr/>
          <p:nvPr/>
        </p:nvSpPr>
        <p:spPr>
          <a:xfrm>
            <a:off x="6336792" y="1577340"/>
            <a:ext cx="82500" cy="2091600"/>
          </a:xfrm>
          <a:prstGeom prst="rect">
            <a:avLst/>
          </a:prstGeom>
          <a:solidFill>
            <a:srgbClr val="2E8B5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1" name="Google Shape;821;p29"/>
          <p:cNvSpPr/>
          <p:nvPr/>
        </p:nvSpPr>
        <p:spPr>
          <a:xfrm>
            <a:off x="6569964" y="1755648"/>
            <a:ext cx="22632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8B57"/>
              </a:buClr>
              <a:buSzPts val="800"/>
              <a:buFont typeface="Calibri"/>
              <a:buNone/>
            </a:pPr>
            <a:r>
              <a:rPr b="1" i="0" lang="en" sz="800" u="none" cap="none" strike="noStrike">
                <a:solidFill>
                  <a:srgbClr val="2E8B57"/>
                </a:solidFill>
                <a:latin typeface="Calibri"/>
                <a:ea typeface="Calibri"/>
                <a:cs typeface="Calibri"/>
                <a:sym typeface="Calibri"/>
              </a:rPr>
              <a:t>PER VECTOR</a:t>
            </a:r>
            <a:endParaRPr b="0" i="0" sz="800" u="none" cap="none" strike="noStrike">
              <a:solidFill>
                <a:schemeClr val="dk1"/>
              </a:solidFill>
              <a:latin typeface="Calibri"/>
              <a:ea typeface="Calibri"/>
              <a:cs typeface="Calibri"/>
              <a:sym typeface="Calibri"/>
            </a:endParaRPr>
          </a:p>
        </p:txBody>
      </p:sp>
      <p:sp>
        <p:nvSpPr>
          <p:cNvPr id="822" name="Google Shape;822;p29"/>
          <p:cNvSpPr/>
          <p:nvPr/>
        </p:nvSpPr>
        <p:spPr>
          <a:xfrm>
            <a:off x="6569964" y="1975104"/>
            <a:ext cx="2249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400"/>
              <a:buFont typeface="Cambria"/>
              <a:buNone/>
            </a:pPr>
            <a:r>
              <a:rPr b="1" i="0" lang="en" sz="1400" u="none" cap="none" strike="noStrike">
                <a:solidFill>
                  <a:srgbClr val="13203A"/>
                </a:solidFill>
                <a:latin typeface="Cambria"/>
                <a:ea typeface="Cambria"/>
                <a:cs typeface="Cambria"/>
                <a:sym typeface="Cambria"/>
              </a:rPr>
              <a:t>Look up + add</a:t>
            </a:r>
            <a:endParaRPr b="0" i="0" sz="1400" u="none" cap="none" strike="noStrike">
              <a:solidFill>
                <a:schemeClr val="dk1"/>
              </a:solidFill>
              <a:latin typeface="Calibri"/>
              <a:ea typeface="Calibri"/>
              <a:cs typeface="Calibri"/>
              <a:sym typeface="Calibri"/>
            </a:endParaRPr>
          </a:p>
        </p:txBody>
      </p:sp>
      <p:sp>
        <p:nvSpPr>
          <p:cNvPr id="823" name="Google Shape;823;p29"/>
          <p:cNvSpPr/>
          <p:nvPr/>
        </p:nvSpPr>
        <p:spPr>
          <a:xfrm>
            <a:off x="6569964" y="2386584"/>
            <a:ext cx="2235600" cy="651600"/>
          </a:xfrm>
          <a:prstGeom prst="rect">
            <a:avLst/>
          </a:prstGeom>
          <a:noFill/>
          <a:ln>
            <a:noFill/>
          </a:ln>
        </p:spPr>
        <p:txBody>
          <a:bodyPr anchorCtr="0" anchor="t" bIns="34275" lIns="68575" spcFirstLastPara="1" rIns="68575" wrap="square" tIns="34275">
            <a:noAutofit/>
          </a:bodyPr>
          <a:lstStyle/>
          <a:p>
            <a:pPr indent="0" lvl="0" marL="0" marR="0" rtl="0" algn="l">
              <a:lnSpc>
                <a:spcPct val="118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Each vector’s 8 IDs index 8 cells; sum them for its approximate distance. No multiplies.</a:t>
            </a:r>
            <a:endParaRPr b="0" i="0" sz="900" u="none" cap="none" strike="noStrike">
              <a:solidFill>
                <a:schemeClr val="dk1"/>
              </a:solidFill>
              <a:latin typeface="Calibri"/>
              <a:ea typeface="Calibri"/>
              <a:cs typeface="Calibri"/>
              <a:sym typeface="Calibri"/>
            </a:endParaRPr>
          </a:p>
        </p:txBody>
      </p:sp>
      <p:sp>
        <p:nvSpPr>
          <p:cNvPr id="824" name="Google Shape;824;p29"/>
          <p:cNvSpPr/>
          <p:nvPr/>
        </p:nvSpPr>
        <p:spPr>
          <a:xfrm>
            <a:off x="6569964" y="3099816"/>
            <a:ext cx="22494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E8B57"/>
              </a:buClr>
              <a:buSzPts val="2500"/>
              <a:buFont typeface="Cambria"/>
              <a:buNone/>
            </a:pPr>
            <a:r>
              <a:rPr b="1" i="0" lang="en" u="none" cap="none" strike="noStrike">
                <a:solidFill>
                  <a:srgbClr val="2E8B57"/>
                </a:solidFill>
                <a:latin typeface="Cambria"/>
                <a:ea typeface="Cambria"/>
                <a:cs typeface="Cambria"/>
                <a:sym typeface="Cambria"/>
              </a:rPr>
              <a:t>8 look</a:t>
            </a:r>
            <a:r>
              <a:rPr b="1" lang="en">
                <a:solidFill>
                  <a:srgbClr val="2E8B57"/>
                </a:solidFill>
                <a:latin typeface="Cambria"/>
                <a:ea typeface="Cambria"/>
                <a:cs typeface="Cambria"/>
                <a:sym typeface="Cambria"/>
              </a:rPr>
              <a:t>ups, 7 additions</a:t>
            </a:r>
            <a:endParaRPr b="0" i="0" sz="1000" u="none" cap="none" strike="noStrike">
              <a:solidFill>
                <a:schemeClr val="dk1"/>
              </a:solidFill>
              <a:latin typeface="Calibri"/>
              <a:ea typeface="Calibri"/>
              <a:cs typeface="Calibri"/>
              <a:sym typeface="Calibri"/>
            </a:endParaRPr>
          </a:p>
        </p:txBody>
      </p:sp>
      <p:sp>
        <p:nvSpPr>
          <p:cNvPr id="825" name="Google Shape;825;p29"/>
          <p:cNvSpPr/>
          <p:nvPr/>
        </p:nvSpPr>
        <p:spPr>
          <a:xfrm>
            <a:off x="6583680" y="3449574"/>
            <a:ext cx="2249400" cy="19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900"/>
              <a:buFont typeface="Calibri"/>
              <a:buNone/>
            </a:pPr>
            <a:r>
              <a:rPr lang="en" sz="900">
                <a:solidFill>
                  <a:srgbClr val="8195A5"/>
                </a:solidFill>
                <a:latin typeface="Calibri"/>
                <a:ea typeface="Calibri"/>
                <a:cs typeface="Calibri"/>
                <a:sym typeface="Calibri"/>
              </a:rPr>
              <a:t>Lookup, </a:t>
            </a:r>
            <a:r>
              <a:rPr b="0" i="0" lang="en" sz="900" u="none" cap="none" strike="noStrike">
                <a:solidFill>
                  <a:srgbClr val="8195A5"/>
                </a:solidFill>
                <a:latin typeface="Calibri"/>
                <a:ea typeface="Calibri"/>
                <a:cs typeface="Calibri"/>
                <a:sym typeface="Calibri"/>
              </a:rPr>
              <a:t>adds per vector  (× 1M)</a:t>
            </a:r>
            <a:endParaRPr b="0" i="0" sz="900" u="none" cap="none" strike="noStrike">
              <a:solidFill>
                <a:schemeClr val="dk1"/>
              </a:solidFill>
              <a:latin typeface="Calibri"/>
              <a:ea typeface="Calibri"/>
              <a:cs typeface="Calibri"/>
              <a:sym typeface="Calibri"/>
            </a:endParaRPr>
          </a:p>
        </p:txBody>
      </p:sp>
      <p:sp>
        <p:nvSpPr>
          <p:cNvPr id="826" name="Google Shape;826;p29"/>
          <p:cNvSpPr/>
          <p:nvPr/>
        </p:nvSpPr>
        <p:spPr>
          <a:xfrm>
            <a:off x="3086100" y="2417445"/>
            <a:ext cx="2880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800"/>
              <a:buFont typeface="Calibri"/>
              <a:buNone/>
            </a:pPr>
            <a:r>
              <a:rPr b="1" i="0" lang="en" sz="1800" u="none" cap="none" strike="noStrike">
                <a:solidFill>
                  <a:srgbClr val="8195A5"/>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827" name="Google Shape;827;p29"/>
          <p:cNvSpPr/>
          <p:nvPr/>
        </p:nvSpPr>
        <p:spPr>
          <a:xfrm>
            <a:off x="6048756" y="2417445"/>
            <a:ext cx="2880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195A5"/>
              </a:buClr>
              <a:buSzPts val="1800"/>
              <a:buFont typeface="Calibri"/>
              <a:buNone/>
            </a:pPr>
            <a:r>
              <a:rPr b="1" i="0" lang="en" sz="1800" u="none" cap="none" strike="noStrike">
                <a:solidFill>
                  <a:srgbClr val="8195A5"/>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828" name="Google Shape;828;p29"/>
          <p:cNvSpPr/>
          <p:nvPr/>
        </p:nvSpPr>
        <p:spPr>
          <a:xfrm>
            <a:off x="411480" y="3806190"/>
            <a:ext cx="8318700" cy="768300"/>
          </a:xfrm>
          <a:prstGeom prst="roundRect">
            <a:avLst>
              <a:gd fmla="val 8929" name="adj"/>
            </a:avLst>
          </a:prstGeom>
          <a:solidFill>
            <a:srgbClr val="13203A"/>
          </a:solidFill>
          <a:ln>
            <a:noFill/>
          </a:ln>
          <a:effectLst>
            <a:outerShdw blurRad="114300" rotWithShape="0" algn="bl" dir="5400000" dist="38100">
              <a:srgbClr val="000000">
                <a:alpha val="451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9" name="Google Shape;829;p29"/>
          <p:cNvSpPr/>
          <p:nvPr/>
        </p:nvSpPr>
        <p:spPr>
          <a:xfrm>
            <a:off x="651510" y="3806190"/>
            <a:ext cx="7818000" cy="7683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E8A94A"/>
              </a:buClr>
              <a:buSzPts val="1100"/>
              <a:buFont typeface="Calibri"/>
              <a:buNone/>
            </a:pPr>
            <a:r>
              <a:rPr b="1" i="0" lang="en" sz="1100" u="none" cap="none" strike="noStrike">
                <a:solidFill>
                  <a:srgbClr val="E8A94A"/>
                </a:solidFill>
                <a:latin typeface="Calibri"/>
                <a:ea typeface="Calibri"/>
                <a:cs typeface="Calibri"/>
                <a:sym typeface="Calibri"/>
              </a:rPr>
              <a:t>Asymmetric Distance Computation (ADC):  </a:t>
            </a:r>
            <a:r>
              <a:rPr b="0" i="0" lang="en" sz="1100" u="none" cap="none" strike="noStrike">
                <a:solidFill>
                  <a:srgbClr val="EAF2F6"/>
                </a:solidFill>
                <a:latin typeface="Calibri"/>
                <a:ea typeface="Calibri"/>
                <a:cs typeface="Calibri"/>
                <a:sym typeface="Calibri"/>
              </a:rPr>
              <a:t>the heavy multiplies run once (≈197K), not a million times (768M) — about </a:t>
            </a:r>
            <a:r>
              <a:rPr b="1" i="0" lang="en" sz="1100" u="none" cap="none" strike="noStrike">
                <a:solidFill>
                  <a:srgbClr val="FFFFFF"/>
                </a:solidFill>
                <a:latin typeface="Calibri"/>
                <a:ea typeface="Calibri"/>
                <a:cs typeface="Calibri"/>
                <a:sym typeface="Calibri"/>
              </a:rPr>
              <a:t>3,900× fewer multiplications</a:t>
            </a:r>
            <a:r>
              <a:rPr b="0" i="0" lang="en" sz="1100" u="none" cap="none" strike="noStrike">
                <a:solidFill>
                  <a:srgbClr val="EAF2F6"/>
                </a:solidFill>
                <a:latin typeface="Calibri"/>
                <a:ea typeface="Calibri"/>
                <a:cs typeface="Calibri"/>
                <a:sym typeface="Calibri"/>
              </a:rPr>
              <a:t>. The million-vector scan is then only lookups and adds, because the query stays full-precision while the stored vectors are compressed IDs.</a:t>
            </a:r>
            <a:endParaRPr b="0" i="0" sz="1100" u="none" cap="none" strike="noStrike">
              <a:solidFill>
                <a:schemeClr val="dk1"/>
              </a:solidFill>
              <a:latin typeface="Calibri"/>
              <a:ea typeface="Calibri"/>
              <a:cs typeface="Calibri"/>
              <a:sym typeface="Calibri"/>
            </a:endParaRPr>
          </a:p>
        </p:txBody>
      </p:sp>
      <p:sp>
        <p:nvSpPr>
          <p:cNvPr id="830" name="Google Shape;830;p29"/>
          <p:cNvSpPr/>
          <p:nvPr/>
        </p:nvSpPr>
        <p:spPr>
          <a:xfrm>
            <a:off x="342900" y="4814316"/>
            <a:ext cx="48006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Product Quantization  ·  at scale</a:t>
            </a:r>
            <a:endParaRPr b="0" i="0" sz="700" u="none" cap="none" strike="noStrike">
              <a:solidFill>
                <a:schemeClr val="dk1"/>
              </a:solidFill>
              <a:latin typeface="Calibri"/>
              <a:ea typeface="Calibri"/>
              <a:cs typeface="Calibri"/>
              <a:sym typeface="Calibri"/>
            </a:endParaRPr>
          </a:p>
        </p:txBody>
      </p:sp>
      <p:sp>
        <p:nvSpPr>
          <p:cNvPr id="831" name="Google Shape;831;p29"/>
          <p:cNvSpPr/>
          <p:nvPr/>
        </p:nvSpPr>
        <p:spPr>
          <a:xfrm>
            <a:off x="8572500" y="4814316"/>
            <a:ext cx="2742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6" name="Shape 836"/>
        <p:cNvGrpSpPr/>
        <p:nvPr/>
      </p:nvGrpSpPr>
      <p:grpSpPr>
        <a:xfrm>
          <a:off x="0" y="0"/>
          <a:ext cx="0" cy="0"/>
          <a:chOff x="0" y="0"/>
          <a:chExt cx="0" cy="0"/>
        </a:xfrm>
      </p:grpSpPr>
      <p:sp>
        <p:nvSpPr>
          <p:cNvPr id="837" name="Google Shape;837;p30"/>
          <p:cNvSpPr/>
          <p:nvPr/>
        </p:nvSpPr>
        <p:spPr>
          <a:xfrm>
            <a:off x="161600" y="210427"/>
            <a:ext cx="82296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6B"/>
              </a:buClr>
              <a:buSzPts val="2600"/>
              <a:buFont typeface="Cambria"/>
              <a:buNone/>
            </a:pPr>
            <a:r>
              <a:rPr b="1" i="0" lang="en" sz="2600" u="none" cap="none" strike="noStrike">
                <a:solidFill>
                  <a:srgbClr val="1B2A6B"/>
                </a:solidFill>
                <a:latin typeface="Cambria"/>
                <a:ea typeface="Cambria"/>
                <a:cs typeface="Cambria"/>
                <a:sym typeface="Cambria"/>
              </a:rPr>
              <a:t>PQ search: compute once, then just add</a:t>
            </a:r>
            <a:endParaRPr b="0" i="0" sz="2600" u="none" cap="none" strike="noStrike">
              <a:solidFill>
                <a:schemeClr val="dk1"/>
              </a:solidFill>
              <a:latin typeface="Calibri"/>
              <a:ea typeface="Calibri"/>
              <a:cs typeface="Calibri"/>
              <a:sym typeface="Calibri"/>
            </a:endParaRPr>
          </a:p>
        </p:txBody>
      </p:sp>
      <p:sp>
        <p:nvSpPr>
          <p:cNvPr id="838" name="Google Shape;838;p30"/>
          <p:cNvSpPr/>
          <p:nvPr/>
        </p:nvSpPr>
        <p:spPr>
          <a:xfrm>
            <a:off x="457200" y="1078992"/>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50"/>
              <a:buFont typeface="Calibri"/>
              <a:buNone/>
            </a:pPr>
            <a:r>
              <a:rPr b="0" i="0" lang="en" sz="1450" u="none" cap="none" strike="noStrike">
                <a:solidFill>
                  <a:srgbClr val="1E293B"/>
                </a:solidFill>
                <a:latin typeface="Calibri"/>
                <a:ea typeface="Calibri"/>
                <a:cs typeface="Calibri"/>
                <a:sym typeface="Calibri"/>
              </a:rPr>
              <a:t>The database vectors are stored as </a:t>
            </a:r>
            <a:r>
              <a:rPr b="1" i="0" lang="en" sz="1450" u="none" cap="none" strike="noStrike">
                <a:solidFill>
                  <a:srgbClr val="0E9594"/>
                </a:solidFill>
                <a:latin typeface="Calibri"/>
                <a:ea typeface="Calibri"/>
                <a:cs typeface="Calibri"/>
                <a:sym typeface="Calibri"/>
              </a:rPr>
              <a:t>centroid IDs</a:t>
            </a:r>
            <a:r>
              <a:rPr b="0" i="0" lang="en" sz="1450" u="none" cap="none" strike="noStrike">
                <a:solidFill>
                  <a:srgbClr val="1E293B"/>
                </a:solidFill>
                <a:latin typeface="Calibri"/>
                <a:ea typeface="Calibri"/>
                <a:cs typeface="Calibri"/>
                <a:sym typeface="Calibri"/>
              </a:rPr>
              <a:t>, not floats. So distance becomes a </a:t>
            </a:r>
            <a:r>
              <a:rPr b="1" i="0" lang="en" sz="1450" u="none" cap="none" strike="noStrike">
                <a:solidFill>
                  <a:srgbClr val="D97706"/>
                </a:solidFill>
                <a:latin typeface="Calibri"/>
                <a:ea typeface="Calibri"/>
                <a:cs typeface="Calibri"/>
                <a:sym typeface="Calibri"/>
              </a:rPr>
              <a:t>table lookup + addition</a:t>
            </a:r>
            <a:r>
              <a:rPr b="0" i="0" lang="en" sz="1450" u="none" cap="none" strike="noStrike">
                <a:solidFill>
                  <a:srgbClr val="1E293B"/>
                </a:solidFill>
                <a:latin typeface="Calibri"/>
                <a:ea typeface="Calibri"/>
                <a:cs typeface="Calibri"/>
                <a:sym typeface="Calibri"/>
              </a:rPr>
              <a:t> — no float math per vector.</a:t>
            </a:r>
            <a:endParaRPr b="0" i="0" sz="1450" u="none" cap="none" strike="noStrike">
              <a:solidFill>
                <a:schemeClr val="dk1"/>
              </a:solidFill>
              <a:latin typeface="Calibri"/>
              <a:ea typeface="Calibri"/>
              <a:cs typeface="Calibri"/>
              <a:sym typeface="Calibri"/>
            </a:endParaRPr>
          </a:p>
        </p:txBody>
      </p:sp>
      <p:sp>
        <p:nvSpPr>
          <p:cNvPr id="839" name="Google Shape;839;p30"/>
          <p:cNvSpPr/>
          <p:nvPr/>
        </p:nvSpPr>
        <p:spPr>
          <a:xfrm>
            <a:off x="457200" y="1536192"/>
            <a:ext cx="3977700" cy="2011800"/>
          </a:xfrm>
          <a:prstGeom prst="roundRect">
            <a:avLst>
              <a:gd fmla="val 3636" name="adj"/>
            </a:avLst>
          </a:prstGeom>
          <a:solidFill>
            <a:srgbClr val="E6F4F4"/>
          </a:solidFill>
          <a:ln>
            <a:noFill/>
          </a:ln>
          <a:effectLst>
            <a:outerShdw blurRad="88900" rotWithShape="0" algn="bl" dir="2700000" dist="25400">
              <a:srgbClr val="000000">
                <a:alpha val="129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0"/>
          <p:cNvSpPr/>
          <p:nvPr/>
        </p:nvSpPr>
        <p:spPr>
          <a:xfrm>
            <a:off x="621792" y="1645920"/>
            <a:ext cx="365700" cy="365700"/>
          </a:xfrm>
          <a:prstGeom prst="ellipse">
            <a:avLst/>
          </a:prstGeom>
          <a:solidFill>
            <a:srgbClr val="0E95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0"/>
          <p:cNvSpPr/>
          <p:nvPr/>
        </p:nvSpPr>
        <p:spPr>
          <a:xfrm>
            <a:off x="621792" y="164592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842" name="Google Shape;842;p30"/>
          <p:cNvSpPr/>
          <p:nvPr/>
        </p:nvSpPr>
        <p:spPr>
          <a:xfrm>
            <a:off x="1097280" y="1655064"/>
            <a:ext cx="3173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9594"/>
              </a:buClr>
              <a:buSzPts val="1300"/>
              <a:buFont typeface="Cambria"/>
              <a:buNone/>
            </a:pPr>
            <a:r>
              <a:rPr b="1" i="0" lang="en" sz="1300" u="none" cap="none" strike="noStrike">
                <a:solidFill>
                  <a:srgbClr val="0E9594"/>
                </a:solidFill>
                <a:latin typeface="Cambria"/>
                <a:ea typeface="Cambria"/>
                <a:cs typeface="Cambria"/>
                <a:sym typeface="Cambria"/>
              </a:rPr>
              <a:t>Once per query: build the distance table</a:t>
            </a:r>
            <a:endParaRPr b="0" i="0" sz="1300" u="none" cap="none" strike="noStrike">
              <a:solidFill>
                <a:schemeClr val="dk1"/>
              </a:solidFill>
              <a:latin typeface="Calibri"/>
              <a:ea typeface="Calibri"/>
              <a:cs typeface="Calibri"/>
              <a:sym typeface="Calibri"/>
            </a:endParaRPr>
          </a:p>
        </p:txBody>
      </p:sp>
      <p:sp>
        <p:nvSpPr>
          <p:cNvPr id="843" name="Google Shape;843;p30"/>
          <p:cNvSpPr/>
          <p:nvPr/>
        </p:nvSpPr>
        <p:spPr>
          <a:xfrm>
            <a:off x="658368" y="2048256"/>
            <a:ext cx="3593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Split the query into m sub-vectors. For each, measure its distance to that sub-space’s centroids.</a:t>
            </a:r>
            <a:endParaRPr b="0" i="0" sz="1150" u="none" cap="none" strike="noStrike">
              <a:solidFill>
                <a:schemeClr val="dk1"/>
              </a:solidFill>
              <a:latin typeface="Calibri"/>
              <a:ea typeface="Calibri"/>
              <a:cs typeface="Calibri"/>
              <a:sym typeface="Calibri"/>
            </a:endParaRPr>
          </a:p>
        </p:txBody>
      </p:sp>
      <p:sp>
        <p:nvSpPr>
          <p:cNvPr id="844" name="Google Shape;844;p30"/>
          <p:cNvSpPr/>
          <p:nvPr/>
        </p:nvSpPr>
        <p:spPr>
          <a:xfrm>
            <a:off x="1097280" y="2560320"/>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1" i="0" lang="en" sz="1000" u="none" cap="none" strike="noStrike">
                <a:solidFill>
                  <a:srgbClr val="64748B"/>
                </a:solidFill>
                <a:latin typeface="Calibri"/>
                <a:ea typeface="Calibri"/>
                <a:cs typeface="Calibri"/>
                <a:sym typeface="Calibri"/>
              </a:rPr>
              <a:t>c1</a:t>
            </a:r>
            <a:endParaRPr b="0" i="0" sz="1000" u="none" cap="none" strike="noStrike">
              <a:solidFill>
                <a:schemeClr val="dk1"/>
              </a:solidFill>
              <a:latin typeface="Calibri"/>
              <a:ea typeface="Calibri"/>
              <a:cs typeface="Calibri"/>
              <a:sym typeface="Calibri"/>
            </a:endParaRPr>
          </a:p>
        </p:txBody>
      </p:sp>
      <p:sp>
        <p:nvSpPr>
          <p:cNvPr id="845" name="Google Shape;845;p30"/>
          <p:cNvSpPr/>
          <p:nvPr/>
        </p:nvSpPr>
        <p:spPr>
          <a:xfrm>
            <a:off x="1810512" y="2560320"/>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1" i="0" lang="en" sz="1000" u="none" cap="none" strike="noStrike">
                <a:solidFill>
                  <a:srgbClr val="64748B"/>
                </a:solidFill>
                <a:latin typeface="Calibri"/>
                <a:ea typeface="Calibri"/>
                <a:cs typeface="Calibri"/>
                <a:sym typeface="Calibri"/>
              </a:rPr>
              <a:t>c2</a:t>
            </a:r>
            <a:endParaRPr b="0" i="0" sz="1000" u="none" cap="none" strike="noStrike">
              <a:solidFill>
                <a:schemeClr val="dk1"/>
              </a:solidFill>
              <a:latin typeface="Calibri"/>
              <a:ea typeface="Calibri"/>
              <a:cs typeface="Calibri"/>
              <a:sym typeface="Calibri"/>
            </a:endParaRPr>
          </a:p>
        </p:txBody>
      </p:sp>
      <p:sp>
        <p:nvSpPr>
          <p:cNvPr id="846" name="Google Shape;846;p30"/>
          <p:cNvSpPr/>
          <p:nvPr/>
        </p:nvSpPr>
        <p:spPr>
          <a:xfrm>
            <a:off x="2523744" y="2560320"/>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1" i="0" lang="en" sz="1000" u="none" cap="none" strike="noStrike">
                <a:solidFill>
                  <a:srgbClr val="64748B"/>
                </a:solidFill>
                <a:latin typeface="Calibri"/>
                <a:ea typeface="Calibri"/>
                <a:cs typeface="Calibri"/>
                <a:sym typeface="Calibri"/>
              </a:rPr>
              <a:t>c3</a:t>
            </a:r>
            <a:endParaRPr b="0" i="0" sz="1000" u="none" cap="none" strike="noStrike">
              <a:solidFill>
                <a:schemeClr val="dk1"/>
              </a:solidFill>
              <a:latin typeface="Calibri"/>
              <a:ea typeface="Calibri"/>
              <a:cs typeface="Calibri"/>
              <a:sym typeface="Calibri"/>
            </a:endParaRPr>
          </a:p>
        </p:txBody>
      </p:sp>
      <p:sp>
        <p:nvSpPr>
          <p:cNvPr id="847" name="Google Shape;847;p30"/>
          <p:cNvSpPr/>
          <p:nvPr/>
        </p:nvSpPr>
        <p:spPr>
          <a:xfrm>
            <a:off x="3236976" y="2560320"/>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1" i="0" lang="en" sz="1000" u="none" cap="none" strike="noStrike">
                <a:solidFill>
                  <a:srgbClr val="64748B"/>
                </a:solidFill>
                <a:latin typeface="Calibri"/>
                <a:ea typeface="Calibri"/>
                <a:cs typeface="Calibri"/>
                <a:sym typeface="Calibri"/>
              </a:rPr>
              <a:t>c4</a:t>
            </a:r>
            <a:endParaRPr b="0" i="0" sz="1000" u="none" cap="none" strike="noStrike">
              <a:solidFill>
                <a:schemeClr val="dk1"/>
              </a:solidFill>
              <a:latin typeface="Calibri"/>
              <a:ea typeface="Calibri"/>
              <a:cs typeface="Calibri"/>
              <a:sym typeface="Calibri"/>
            </a:endParaRPr>
          </a:p>
        </p:txBody>
      </p:sp>
      <p:sp>
        <p:nvSpPr>
          <p:cNvPr id="848" name="Google Shape;848;p30"/>
          <p:cNvSpPr/>
          <p:nvPr/>
        </p:nvSpPr>
        <p:spPr>
          <a:xfrm>
            <a:off x="667512" y="2798064"/>
            <a:ext cx="3840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9594"/>
              </a:buClr>
              <a:buSzPts val="1100"/>
              <a:buFont typeface="Calibri"/>
              <a:buNone/>
            </a:pPr>
            <a:r>
              <a:rPr b="1" i="0" lang="en" sz="1100" u="none" cap="none" strike="noStrike">
                <a:solidFill>
                  <a:srgbClr val="0E9594"/>
                </a:solidFill>
                <a:latin typeface="Calibri"/>
                <a:ea typeface="Calibri"/>
                <a:cs typeface="Calibri"/>
                <a:sym typeface="Calibri"/>
              </a:rPr>
              <a:t>q₁</a:t>
            </a:r>
            <a:endParaRPr b="0" i="0" sz="1100" u="none" cap="none" strike="noStrike">
              <a:solidFill>
                <a:schemeClr val="dk1"/>
              </a:solidFill>
              <a:latin typeface="Calibri"/>
              <a:ea typeface="Calibri"/>
              <a:cs typeface="Calibri"/>
              <a:sym typeface="Calibri"/>
            </a:endParaRPr>
          </a:p>
        </p:txBody>
      </p:sp>
      <p:sp>
        <p:nvSpPr>
          <p:cNvPr id="849" name="Google Shape;849;p30"/>
          <p:cNvSpPr/>
          <p:nvPr/>
        </p:nvSpPr>
        <p:spPr>
          <a:xfrm>
            <a:off x="1097280" y="2798064"/>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0"/>
          <p:cNvSpPr/>
          <p:nvPr/>
        </p:nvSpPr>
        <p:spPr>
          <a:xfrm>
            <a:off x="1097280" y="2798064"/>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0.9</a:t>
            </a:r>
            <a:endParaRPr b="0" i="0" sz="1050" u="none" cap="none" strike="noStrike">
              <a:solidFill>
                <a:schemeClr val="dk1"/>
              </a:solidFill>
              <a:latin typeface="Calibri"/>
              <a:ea typeface="Calibri"/>
              <a:cs typeface="Calibri"/>
              <a:sym typeface="Calibri"/>
            </a:endParaRPr>
          </a:p>
        </p:txBody>
      </p:sp>
      <p:sp>
        <p:nvSpPr>
          <p:cNvPr id="851" name="Google Shape;851;p30"/>
          <p:cNvSpPr/>
          <p:nvPr/>
        </p:nvSpPr>
        <p:spPr>
          <a:xfrm>
            <a:off x="1810512" y="2798064"/>
            <a:ext cx="713100" cy="237600"/>
          </a:xfrm>
          <a:prstGeom prst="rect">
            <a:avLst/>
          </a:prstGeom>
          <a:solidFill>
            <a:srgbClr val="FFE3B3"/>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0"/>
          <p:cNvSpPr/>
          <p:nvPr/>
        </p:nvSpPr>
        <p:spPr>
          <a:xfrm>
            <a:off x="1810512" y="2798064"/>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050"/>
              <a:buFont typeface="Calibri"/>
              <a:buNone/>
            </a:pPr>
            <a:r>
              <a:rPr b="1" i="0" lang="en" sz="1050" u="none" cap="none" strike="noStrike">
                <a:solidFill>
                  <a:srgbClr val="D97706"/>
                </a:solidFill>
                <a:latin typeface="Calibri"/>
                <a:ea typeface="Calibri"/>
                <a:cs typeface="Calibri"/>
                <a:sym typeface="Calibri"/>
              </a:rPr>
              <a:t>0.2</a:t>
            </a:r>
            <a:endParaRPr b="0" i="0" sz="1050" u="none" cap="none" strike="noStrike">
              <a:solidFill>
                <a:schemeClr val="dk1"/>
              </a:solidFill>
              <a:latin typeface="Calibri"/>
              <a:ea typeface="Calibri"/>
              <a:cs typeface="Calibri"/>
              <a:sym typeface="Calibri"/>
            </a:endParaRPr>
          </a:p>
        </p:txBody>
      </p:sp>
      <p:sp>
        <p:nvSpPr>
          <p:cNvPr id="853" name="Google Shape;853;p30"/>
          <p:cNvSpPr/>
          <p:nvPr/>
        </p:nvSpPr>
        <p:spPr>
          <a:xfrm>
            <a:off x="2523744" y="2798064"/>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0"/>
          <p:cNvSpPr/>
          <p:nvPr/>
        </p:nvSpPr>
        <p:spPr>
          <a:xfrm>
            <a:off x="2523744" y="2798064"/>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0.7</a:t>
            </a:r>
            <a:endParaRPr b="0" i="0" sz="1050" u="none" cap="none" strike="noStrike">
              <a:solidFill>
                <a:schemeClr val="dk1"/>
              </a:solidFill>
              <a:latin typeface="Calibri"/>
              <a:ea typeface="Calibri"/>
              <a:cs typeface="Calibri"/>
              <a:sym typeface="Calibri"/>
            </a:endParaRPr>
          </a:p>
        </p:txBody>
      </p:sp>
      <p:sp>
        <p:nvSpPr>
          <p:cNvPr id="855" name="Google Shape;855;p30"/>
          <p:cNvSpPr/>
          <p:nvPr/>
        </p:nvSpPr>
        <p:spPr>
          <a:xfrm>
            <a:off x="3236976" y="2798064"/>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0"/>
          <p:cNvSpPr/>
          <p:nvPr/>
        </p:nvSpPr>
        <p:spPr>
          <a:xfrm>
            <a:off x="3236976" y="2798064"/>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0.5</a:t>
            </a:r>
            <a:endParaRPr b="0" i="0" sz="1050" u="none" cap="none" strike="noStrike">
              <a:solidFill>
                <a:schemeClr val="dk1"/>
              </a:solidFill>
              <a:latin typeface="Calibri"/>
              <a:ea typeface="Calibri"/>
              <a:cs typeface="Calibri"/>
              <a:sym typeface="Calibri"/>
            </a:endParaRPr>
          </a:p>
        </p:txBody>
      </p:sp>
      <p:sp>
        <p:nvSpPr>
          <p:cNvPr id="857" name="Google Shape;857;p30"/>
          <p:cNvSpPr/>
          <p:nvPr/>
        </p:nvSpPr>
        <p:spPr>
          <a:xfrm>
            <a:off x="667512" y="3035808"/>
            <a:ext cx="3840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9594"/>
              </a:buClr>
              <a:buSzPts val="1100"/>
              <a:buFont typeface="Calibri"/>
              <a:buNone/>
            </a:pPr>
            <a:r>
              <a:rPr b="1" i="0" lang="en" sz="1100" u="none" cap="none" strike="noStrike">
                <a:solidFill>
                  <a:srgbClr val="0E9594"/>
                </a:solidFill>
                <a:latin typeface="Calibri"/>
                <a:ea typeface="Calibri"/>
                <a:cs typeface="Calibri"/>
                <a:sym typeface="Calibri"/>
              </a:rPr>
              <a:t>q₂</a:t>
            </a:r>
            <a:endParaRPr b="0" i="0" sz="1100" u="none" cap="none" strike="noStrike">
              <a:solidFill>
                <a:schemeClr val="dk1"/>
              </a:solidFill>
              <a:latin typeface="Calibri"/>
              <a:ea typeface="Calibri"/>
              <a:cs typeface="Calibri"/>
              <a:sym typeface="Calibri"/>
            </a:endParaRPr>
          </a:p>
        </p:txBody>
      </p:sp>
      <p:sp>
        <p:nvSpPr>
          <p:cNvPr id="858" name="Google Shape;858;p30"/>
          <p:cNvSpPr/>
          <p:nvPr/>
        </p:nvSpPr>
        <p:spPr>
          <a:xfrm>
            <a:off x="1097280" y="3035808"/>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0"/>
          <p:cNvSpPr/>
          <p:nvPr/>
        </p:nvSpPr>
        <p:spPr>
          <a:xfrm>
            <a:off x="1097280" y="3035808"/>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0.4</a:t>
            </a:r>
            <a:endParaRPr b="0" i="0" sz="1050" u="none" cap="none" strike="noStrike">
              <a:solidFill>
                <a:schemeClr val="dk1"/>
              </a:solidFill>
              <a:latin typeface="Calibri"/>
              <a:ea typeface="Calibri"/>
              <a:cs typeface="Calibri"/>
              <a:sym typeface="Calibri"/>
            </a:endParaRPr>
          </a:p>
        </p:txBody>
      </p:sp>
      <p:sp>
        <p:nvSpPr>
          <p:cNvPr id="860" name="Google Shape;860;p30"/>
          <p:cNvSpPr/>
          <p:nvPr/>
        </p:nvSpPr>
        <p:spPr>
          <a:xfrm>
            <a:off x="1810512" y="3035808"/>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0"/>
          <p:cNvSpPr/>
          <p:nvPr/>
        </p:nvSpPr>
        <p:spPr>
          <a:xfrm>
            <a:off x="1810512" y="3035808"/>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0.6</a:t>
            </a:r>
            <a:endParaRPr b="0" i="0" sz="1050" u="none" cap="none" strike="noStrike">
              <a:solidFill>
                <a:schemeClr val="dk1"/>
              </a:solidFill>
              <a:latin typeface="Calibri"/>
              <a:ea typeface="Calibri"/>
              <a:cs typeface="Calibri"/>
              <a:sym typeface="Calibri"/>
            </a:endParaRPr>
          </a:p>
        </p:txBody>
      </p:sp>
      <p:sp>
        <p:nvSpPr>
          <p:cNvPr id="862" name="Google Shape;862;p30"/>
          <p:cNvSpPr/>
          <p:nvPr/>
        </p:nvSpPr>
        <p:spPr>
          <a:xfrm>
            <a:off x="2523744" y="3035808"/>
            <a:ext cx="713100" cy="237600"/>
          </a:xfrm>
          <a:prstGeom prst="rect">
            <a:avLst/>
          </a:prstGeom>
          <a:solidFill>
            <a:srgbClr val="FFE3B3"/>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0"/>
          <p:cNvSpPr/>
          <p:nvPr/>
        </p:nvSpPr>
        <p:spPr>
          <a:xfrm>
            <a:off x="2523744" y="3035808"/>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050"/>
              <a:buFont typeface="Calibri"/>
              <a:buNone/>
            </a:pPr>
            <a:r>
              <a:rPr b="1" i="0" lang="en" sz="1050" u="none" cap="none" strike="noStrike">
                <a:solidFill>
                  <a:srgbClr val="D97706"/>
                </a:solidFill>
                <a:latin typeface="Calibri"/>
                <a:ea typeface="Calibri"/>
                <a:cs typeface="Calibri"/>
                <a:sym typeface="Calibri"/>
              </a:rPr>
              <a:t>0.1</a:t>
            </a:r>
            <a:endParaRPr b="0" i="0" sz="1050" u="none" cap="none" strike="noStrike">
              <a:solidFill>
                <a:schemeClr val="dk1"/>
              </a:solidFill>
              <a:latin typeface="Calibri"/>
              <a:ea typeface="Calibri"/>
              <a:cs typeface="Calibri"/>
              <a:sym typeface="Calibri"/>
            </a:endParaRPr>
          </a:p>
        </p:txBody>
      </p:sp>
      <p:sp>
        <p:nvSpPr>
          <p:cNvPr id="864" name="Google Shape;864;p30"/>
          <p:cNvSpPr/>
          <p:nvPr/>
        </p:nvSpPr>
        <p:spPr>
          <a:xfrm>
            <a:off x="3236976" y="3035808"/>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0"/>
          <p:cNvSpPr/>
          <p:nvPr/>
        </p:nvSpPr>
        <p:spPr>
          <a:xfrm>
            <a:off x="3236976" y="3035808"/>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0.8</a:t>
            </a:r>
            <a:endParaRPr b="0" i="0" sz="1050" u="none" cap="none" strike="noStrike">
              <a:solidFill>
                <a:schemeClr val="dk1"/>
              </a:solidFill>
              <a:latin typeface="Calibri"/>
              <a:ea typeface="Calibri"/>
              <a:cs typeface="Calibri"/>
              <a:sym typeface="Calibri"/>
            </a:endParaRPr>
          </a:p>
        </p:txBody>
      </p:sp>
      <p:sp>
        <p:nvSpPr>
          <p:cNvPr id="866" name="Google Shape;866;p30"/>
          <p:cNvSpPr/>
          <p:nvPr/>
        </p:nvSpPr>
        <p:spPr>
          <a:xfrm>
            <a:off x="667512" y="3273552"/>
            <a:ext cx="3840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9594"/>
              </a:buClr>
              <a:buSzPts val="1100"/>
              <a:buFont typeface="Calibri"/>
              <a:buNone/>
            </a:pPr>
            <a:r>
              <a:rPr b="1" i="0" lang="en" sz="1100" u="none" cap="none" strike="noStrike">
                <a:solidFill>
                  <a:srgbClr val="0E9594"/>
                </a:solidFill>
                <a:latin typeface="Calibri"/>
                <a:ea typeface="Calibri"/>
                <a:cs typeface="Calibri"/>
                <a:sym typeface="Calibri"/>
              </a:rPr>
              <a:t>q₃</a:t>
            </a:r>
            <a:endParaRPr b="0" i="0" sz="1100" u="none" cap="none" strike="noStrike">
              <a:solidFill>
                <a:schemeClr val="dk1"/>
              </a:solidFill>
              <a:latin typeface="Calibri"/>
              <a:ea typeface="Calibri"/>
              <a:cs typeface="Calibri"/>
              <a:sym typeface="Calibri"/>
            </a:endParaRPr>
          </a:p>
        </p:txBody>
      </p:sp>
      <p:sp>
        <p:nvSpPr>
          <p:cNvPr id="867" name="Google Shape;867;p30"/>
          <p:cNvSpPr/>
          <p:nvPr/>
        </p:nvSpPr>
        <p:spPr>
          <a:xfrm>
            <a:off x="1097280" y="3273552"/>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0"/>
          <p:cNvSpPr/>
          <p:nvPr/>
        </p:nvSpPr>
        <p:spPr>
          <a:xfrm>
            <a:off x="1097280" y="3273552"/>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0.3</a:t>
            </a:r>
            <a:endParaRPr b="0" i="0" sz="1050" u="none" cap="none" strike="noStrike">
              <a:solidFill>
                <a:schemeClr val="dk1"/>
              </a:solidFill>
              <a:latin typeface="Calibri"/>
              <a:ea typeface="Calibri"/>
              <a:cs typeface="Calibri"/>
              <a:sym typeface="Calibri"/>
            </a:endParaRPr>
          </a:p>
        </p:txBody>
      </p:sp>
      <p:sp>
        <p:nvSpPr>
          <p:cNvPr id="869" name="Google Shape;869;p30"/>
          <p:cNvSpPr/>
          <p:nvPr/>
        </p:nvSpPr>
        <p:spPr>
          <a:xfrm>
            <a:off x="1810512" y="3273552"/>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0"/>
          <p:cNvSpPr/>
          <p:nvPr/>
        </p:nvSpPr>
        <p:spPr>
          <a:xfrm>
            <a:off x="1810512" y="3273552"/>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0.7</a:t>
            </a:r>
            <a:endParaRPr b="0" i="0" sz="1050" u="none" cap="none" strike="noStrike">
              <a:solidFill>
                <a:schemeClr val="dk1"/>
              </a:solidFill>
              <a:latin typeface="Calibri"/>
              <a:ea typeface="Calibri"/>
              <a:cs typeface="Calibri"/>
              <a:sym typeface="Calibri"/>
            </a:endParaRPr>
          </a:p>
        </p:txBody>
      </p:sp>
      <p:sp>
        <p:nvSpPr>
          <p:cNvPr id="871" name="Google Shape;871;p30"/>
          <p:cNvSpPr/>
          <p:nvPr/>
        </p:nvSpPr>
        <p:spPr>
          <a:xfrm>
            <a:off x="2523744" y="3273552"/>
            <a:ext cx="713100" cy="2376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0"/>
          <p:cNvSpPr/>
          <p:nvPr/>
        </p:nvSpPr>
        <p:spPr>
          <a:xfrm>
            <a:off x="2523744" y="3273552"/>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0.9</a:t>
            </a:r>
            <a:endParaRPr b="0" i="0" sz="1050" u="none" cap="none" strike="noStrike">
              <a:solidFill>
                <a:schemeClr val="dk1"/>
              </a:solidFill>
              <a:latin typeface="Calibri"/>
              <a:ea typeface="Calibri"/>
              <a:cs typeface="Calibri"/>
              <a:sym typeface="Calibri"/>
            </a:endParaRPr>
          </a:p>
        </p:txBody>
      </p:sp>
      <p:sp>
        <p:nvSpPr>
          <p:cNvPr id="873" name="Google Shape;873;p30"/>
          <p:cNvSpPr/>
          <p:nvPr/>
        </p:nvSpPr>
        <p:spPr>
          <a:xfrm>
            <a:off x="3236976" y="3273552"/>
            <a:ext cx="713100" cy="237600"/>
          </a:xfrm>
          <a:prstGeom prst="rect">
            <a:avLst/>
          </a:prstGeom>
          <a:solidFill>
            <a:srgbClr val="FFE3B3"/>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0"/>
          <p:cNvSpPr/>
          <p:nvPr/>
        </p:nvSpPr>
        <p:spPr>
          <a:xfrm>
            <a:off x="3236976" y="3273552"/>
            <a:ext cx="713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050"/>
              <a:buFont typeface="Calibri"/>
              <a:buNone/>
            </a:pPr>
            <a:r>
              <a:rPr b="1" i="0" lang="en" sz="1050" u="none" cap="none" strike="noStrike">
                <a:solidFill>
                  <a:srgbClr val="D97706"/>
                </a:solidFill>
                <a:latin typeface="Calibri"/>
                <a:ea typeface="Calibri"/>
                <a:cs typeface="Calibri"/>
                <a:sym typeface="Calibri"/>
              </a:rPr>
              <a:t>0.2</a:t>
            </a:r>
            <a:endParaRPr b="0" i="0" sz="1050" u="none" cap="none" strike="noStrike">
              <a:solidFill>
                <a:schemeClr val="dk1"/>
              </a:solidFill>
              <a:latin typeface="Calibri"/>
              <a:ea typeface="Calibri"/>
              <a:cs typeface="Calibri"/>
              <a:sym typeface="Calibri"/>
            </a:endParaRPr>
          </a:p>
        </p:txBody>
      </p:sp>
      <p:sp>
        <p:nvSpPr>
          <p:cNvPr id="875" name="Google Shape;875;p30"/>
          <p:cNvSpPr/>
          <p:nvPr/>
        </p:nvSpPr>
        <p:spPr>
          <a:xfrm>
            <a:off x="658368" y="3529584"/>
            <a:ext cx="3593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1" lang="en" sz="1000" u="none" cap="none" strike="noStrike">
                <a:solidFill>
                  <a:srgbClr val="64748B"/>
                </a:solidFill>
                <a:latin typeface="Calibri"/>
                <a:ea typeface="Calibri"/>
                <a:cs typeface="Calibri"/>
                <a:sym typeface="Calibri"/>
              </a:rPr>
              <a:t>m × k table — tiny, reused for every vector</a:t>
            </a:r>
            <a:endParaRPr b="0" i="0" sz="1000" u="none" cap="none" strike="noStrike">
              <a:solidFill>
                <a:schemeClr val="dk1"/>
              </a:solidFill>
              <a:latin typeface="Calibri"/>
              <a:ea typeface="Calibri"/>
              <a:cs typeface="Calibri"/>
              <a:sym typeface="Calibri"/>
            </a:endParaRPr>
          </a:p>
        </p:txBody>
      </p:sp>
      <p:sp>
        <p:nvSpPr>
          <p:cNvPr id="876" name="Google Shape;876;p30"/>
          <p:cNvSpPr/>
          <p:nvPr/>
        </p:nvSpPr>
        <p:spPr>
          <a:xfrm>
            <a:off x="4709160" y="1536192"/>
            <a:ext cx="3977700" cy="2011800"/>
          </a:xfrm>
          <a:prstGeom prst="roundRect">
            <a:avLst>
              <a:gd fmla="val 3636" name="adj"/>
            </a:avLst>
          </a:prstGeom>
          <a:solidFill>
            <a:srgbClr val="FEF3E2"/>
          </a:solidFill>
          <a:ln>
            <a:noFill/>
          </a:ln>
          <a:effectLst>
            <a:outerShdw blurRad="88900" rotWithShape="0" algn="bl" dir="2700000" dist="25400">
              <a:srgbClr val="000000">
                <a:alpha val="129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0"/>
          <p:cNvSpPr/>
          <p:nvPr/>
        </p:nvSpPr>
        <p:spPr>
          <a:xfrm>
            <a:off x="4873752" y="1645920"/>
            <a:ext cx="365700" cy="365700"/>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0"/>
          <p:cNvSpPr/>
          <p:nvPr/>
        </p:nvSpPr>
        <p:spPr>
          <a:xfrm>
            <a:off x="4873752" y="1645920"/>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879" name="Google Shape;879;p30"/>
          <p:cNvSpPr/>
          <p:nvPr/>
        </p:nvSpPr>
        <p:spPr>
          <a:xfrm>
            <a:off x="5349240" y="1655064"/>
            <a:ext cx="3173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mbria"/>
              <a:buNone/>
            </a:pPr>
            <a:r>
              <a:rPr b="1" i="0" lang="en" sz="1300" u="none" cap="none" strike="noStrike">
                <a:solidFill>
                  <a:srgbClr val="D97706"/>
                </a:solidFill>
                <a:latin typeface="Cambria"/>
                <a:ea typeface="Cambria"/>
                <a:cs typeface="Cambria"/>
                <a:sym typeface="Cambria"/>
              </a:rPr>
              <a:t>Per database vector: look up + add</a:t>
            </a:r>
            <a:endParaRPr b="0" i="0" sz="1300" u="none" cap="none" strike="noStrike">
              <a:solidFill>
                <a:schemeClr val="dk1"/>
              </a:solidFill>
              <a:latin typeface="Calibri"/>
              <a:ea typeface="Calibri"/>
              <a:cs typeface="Calibri"/>
              <a:sym typeface="Calibri"/>
            </a:endParaRPr>
          </a:p>
        </p:txBody>
      </p:sp>
      <p:sp>
        <p:nvSpPr>
          <p:cNvPr id="880" name="Google Shape;880;p30"/>
          <p:cNvSpPr/>
          <p:nvPr/>
        </p:nvSpPr>
        <p:spPr>
          <a:xfrm>
            <a:off x="4910328" y="2048256"/>
            <a:ext cx="3593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A stored vector is just its centroid IDs, e.g. </a:t>
            </a:r>
            <a:r>
              <a:rPr b="1" i="0" lang="en" sz="1150" u="none" cap="none" strike="noStrike">
                <a:solidFill>
                  <a:srgbClr val="1B2A6B"/>
                </a:solidFill>
                <a:latin typeface="Calibri"/>
                <a:ea typeface="Calibri"/>
                <a:cs typeface="Calibri"/>
                <a:sym typeface="Calibri"/>
              </a:rPr>
              <a:t>[c2, c3, c4]</a:t>
            </a:r>
            <a:r>
              <a:rPr b="0" i="0" lang="en" sz="1150" u="none" cap="none" strike="noStrike">
                <a:solidFill>
                  <a:srgbClr val="1E293B"/>
                </a:solidFill>
                <a:latin typeface="Calibri"/>
                <a:ea typeface="Calibri"/>
                <a:cs typeface="Calibri"/>
                <a:sym typeface="Calibri"/>
              </a:rPr>
              <a:t>. Read those cells and sum them.</a:t>
            </a:r>
            <a:endParaRPr b="0" i="0" sz="1150" u="none" cap="none" strike="noStrike">
              <a:solidFill>
                <a:schemeClr val="dk1"/>
              </a:solidFill>
              <a:latin typeface="Calibri"/>
              <a:ea typeface="Calibri"/>
              <a:cs typeface="Calibri"/>
              <a:sym typeface="Calibri"/>
            </a:endParaRPr>
          </a:p>
        </p:txBody>
      </p:sp>
      <p:sp>
        <p:nvSpPr>
          <p:cNvPr id="881" name="Google Shape;881;p30"/>
          <p:cNvSpPr/>
          <p:nvPr/>
        </p:nvSpPr>
        <p:spPr>
          <a:xfrm>
            <a:off x="4965192" y="2670048"/>
            <a:ext cx="822900" cy="548700"/>
          </a:xfrm>
          <a:prstGeom prst="roundRect">
            <a:avLst>
              <a:gd fmla="val 10000" name="adj"/>
            </a:avLst>
          </a:prstGeom>
          <a:solidFill>
            <a:srgbClr val="FFFFFF"/>
          </a:solidFill>
          <a:ln cap="flat" cmpd="sng" w="12700">
            <a:solidFill>
              <a:srgbClr val="FFD0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0"/>
          <p:cNvSpPr/>
          <p:nvPr/>
        </p:nvSpPr>
        <p:spPr>
          <a:xfrm>
            <a:off x="4965192" y="2715768"/>
            <a:ext cx="8229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0" lang="en" sz="950" u="none" cap="none" strike="noStrike">
                <a:solidFill>
                  <a:srgbClr val="64748B"/>
                </a:solidFill>
                <a:latin typeface="Calibri"/>
                <a:ea typeface="Calibri"/>
                <a:cs typeface="Calibri"/>
                <a:sym typeface="Calibri"/>
              </a:rPr>
              <a:t>q₁→c2</a:t>
            </a:r>
            <a:endParaRPr b="0" i="0" sz="950" u="none" cap="none" strike="noStrike">
              <a:solidFill>
                <a:schemeClr val="dk1"/>
              </a:solidFill>
              <a:latin typeface="Calibri"/>
              <a:ea typeface="Calibri"/>
              <a:cs typeface="Calibri"/>
              <a:sym typeface="Calibri"/>
            </a:endParaRPr>
          </a:p>
        </p:txBody>
      </p:sp>
      <p:sp>
        <p:nvSpPr>
          <p:cNvPr id="883" name="Google Shape;883;p30"/>
          <p:cNvSpPr/>
          <p:nvPr/>
        </p:nvSpPr>
        <p:spPr>
          <a:xfrm>
            <a:off x="4965192" y="2916936"/>
            <a:ext cx="822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400"/>
              <a:buFont typeface="Calibri"/>
              <a:buNone/>
            </a:pPr>
            <a:r>
              <a:rPr b="1" i="0" lang="en" sz="1400" u="none" cap="none" strike="noStrike">
                <a:solidFill>
                  <a:srgbClr val="D97706"/>
                </a:solidFill>
                <a:latin typeface="Calibri"/>
                <a:ea typeface="Calibri"/>
                <a:cs typeface="Calibri"/>
                <a:sym typeface="Calibri"/>
              </a:rPr>
              <a:t>0.2</a:t>
            </a:r>
            <a:endParaRPr b="0" i="0" sz="1400" u="none" cap="none" strike="noStrike">
              <a:solidFill>
                <a:schemeClr val="dk1"/>
              </a:solidFill>
              <a:latin typeface="Calibri"/>
              <a:ea typeface="Calibri"/>
              <a:cs typeface="Calibri"/>
              <a:sym typeface="Calibri"/>
            </a:endParaRPr>
          </a:p>
        </p:txBody>
      </p:sp>
      <p:sp>
        <p:nvSpPr>
          <p:cNvPr id="884" name="Google Shape;884;p30"/>
          <p:cNvSpPr/>
          <p:nvPr/>
        </p:nvSpPr>
        <p:spPr>
          <a:xfrm>
            <a:off x="5788152" y="2670048"/>
            <a:ext cx="2559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700"/>
              <a:buFont typeface="Calibri"/>
              <a:buNone/>
            </a:pPr>
            <a:r>
              <a:rPr b="1" i="0" lang="en" sz="1700" u="none" cap="none" strike="noStrike">
                <a:solidFill>
                  <a:srgbClr val="1E293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885" name="Google Shape;885;p30"/>
          <p:cNvSpPr/>
          <p:nvPr/>
        </p:nvSpPr>
        <p:spPr>
          <a:xfrm>
            <a:off x="6044184" y="2670048"/>
            <a:ext cx="822900" cy="548700"/>
          </a:xfrm>
          <a:prstGeom prst="roundRect">
            <a:avLst>
              <a:gd fmla="val 10000" name="adj"/>
            </a:avLst>
          </a:prstGeom>
          <a:solidFill>
            <a:srgbClr val="FFFFFF"/>
          </a:solidFill>
          <a:ln cap="flat" cmpd="sng" w="12700">
            <a:solidFill>
              <a:srgbClr val="FFD0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0"/>
          <p:cNvSpPr/>
          <p:nvPr/>
        </p:nvSpPr>
        <p:spPr>
          <a:xfrm>
            <a:off x="6044184" y="2715768"/>
            <a:ext cx="8229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0" lang="en" sz="950" u="none" cap="none" strike="noStrike">
                <a:solidFill>
                  <a:srgbClr val="64748B"/>
                </a:solidFill>
                <a:latin typeface="Calibri"/>
                <a:ea typeface="Calibri"/>
                <a:cs typeface="Calibri"/>
                <a:sym typeface="Calibri"/>
              </a:rPr>
              <a:t>q₂→c3</a:t>
            </a:r>
            <a:endParaRPr b="0" i="0" sz="950" u="none" cap="none" strike="noStrike">
              <a:solidFill>
                <a:schemeClr val="dk1"/>
              </a:solidFill>
              <a:latin typeface="Calibri"/>
              <a:ea typeface="Calibri"/>
              <a:cs typeface="Calibri"/>
              <a:sym typeface="Calibri"/>
            </a:endParaRPr>
          </a:p>
        </p:txBody>
      </p:sp>
      <p:sp>
        <p:nvSpPr>
          <p:cNvPr id="887" name="Google Shape;887;p30"/>
          <p:cNvSpPr/>
          <p:nvPr/>
        </p:nvSpPr>
        <p:spPr>
          <a:xfrm>
            <a:off x="6044184" y="2916936"/>
            <a:ext cx="822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400"/>
              <a:buFont typeface="Calibri"/>
              <a:buNone/>
            </a:pPr>
            <a:r>
              <a:rPr b="1" i="0" lang="en" sz="1400" u="none" cap="none" strike="noStrike">
                <a:solidFill>
                  <a:srgbClr val="D97706"/>
                </a:solidFill>
                <a:latin typeface="Calibri"/>
                <a:ea typeface="Calibri"/>
                <a:cs typeface="Calibri"/>
                <a:sym typeface="Calibri"/>
              </a:rPr>
              <a:t>0.1</a:t>
            </a:r>
            <a:endParaRPr b="0" i="0" sz="1400" u="none" cap="none" strike="noStrike">
              <a:solidFill>
                <a:schemeClr val="dk1"/>
              </a:solidFill>
              <a:latin typeface="Calibri"/>
              <a:ea typeface="Calibri"/>
              <a:cs typeface="Calibri"/>
              <a:sym typeface="Calibri"/>
            </a:endParaRPr>
          </a:p>
        </p:txBody>
      </p:sp>
      <p:sp>
        <p:nvSpPr>
          <p:cNvPr id="888" name="Google Shape;888;p30"/>
          <p:cNvSpPr/>
          <p:nvPr/>
        </p:nvSpPr>
        <p:spPr>
          <a:xfrm>
            <a:off x="6867144" y="2670048"/>
            <a:ext cx="2559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700"/>
              <a:buFont typeface="Calibri"/>
              <a:buNone/>
            </a:pPr>
            <a:r>
              <a:rPr b="1" i="0" lang="en" sz="1700" u="none" cap="none" strike="noStrike">
                <a:solidFill>
                  <a:srgbClr val="1E293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889" name="Google Shape;889;p30"/>
          <p:cNvSpPr/>
          <p:nvPr/>
        </p:nvSpPr>
        <p:spPr>
          <a:xfrm>
            <a:off x="7123176" y="2670048"/>
            <a:ext cx="822900" cy="548700"/>
          </a:xfrm>
          <a:prstGeom prst="roundRect">
            <a:avLst>
              <a:gd fmla="val 10000" name="adj"/>
            </a:avLst>
          </a:prstGeom>
          <a:solidFill>
            <a:srgbClr val="FFFFFF"/>
          </a:solidFill>
          <a:ln cap="flat" cmpd="sng" w="12700">
            <a:solidFill>
              <a:srgbClr val="FFD0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0"/>
          <p:cNvSpPr/>
          <p:nvPr/>
        </p:nvSpPr>
        <p:spPr>
          <a:xfrm>
            <a:off x="7123176" y="2715768"/>
            <a:ext cx="8229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0" lang="en" sz="950" u="none" cap="none" strike="noStrike">
                <a:solidFill>
                  <a:srgbClr val="64748B"/>
                </a:solidFill>
                <a:latin typeface="Calibri"/>
                <a:ea typeface="Calibri"/>
                <a:cs typeface="Calibri"/>
                <a:sym typeface="Calibri"/>
              </a:rPr>
              <a:t>q₃→c4</a:t>
            </a:r>
            <a:endParaRPr b="0" i="0" sz="950" u="none" cap="none" strike="noStrike">
              <a:solidFill>
                <a:schemeClr val="dk1"/>
              </a:solidFill>
              <a:latin typeface="Calibri"/>
              <a:ea typeface="Calibri"/>
              <a:cs typeface="Calibri"/>
              <a:sym typeface="Calibri"/>
            </a:endParaRPr>
          </a:p>
        </p:txBody>
      </p:sp>
      <p:sp>
        <p:nvSpPr>
          <p:cNvPr id="891" name="Google Shape;891;p30"/>
          <p:cNvSpPr/>
          <p:nvPr/>
        </p:nvSpPr>
        <p:spPr>
          <a:xfrm>
            <a:off x="7123176" y="2916936"/>
            <a:ext cx="822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400"/>
              <a:buFont typeface="Calibri"/>
              <a:buNone/>
            </a:pPr>
            <a:r>
              <a:rPr b="1" i="0" lang="en" sz="1400" u="none" cap="none" strike="noStrike">
                <a:solidFill>
                  <a:srgbClr val="D97706"/>
                </a:solidFill>
                <a:latin typeface="Calibri"/>
                <a:ea typeface="Calibri"/>
                <a:cs typeface="Calibri"/>
                <a:sym typeface="Calibri"/>
              </a:rPr>
              <a:t>0.2</a:t>
            </a:r>
            <a:endParaRPr b="0" i="0" sz="1400" u="none" cap="none" strike="noStrike">
              <a:solidFill>
                <a:schemeClr val="dk1"/>
              </a:solidFill>
              <a:latin typeface="Calibri"/>
              <a:ea typeface="Calibri"/>
              <a:cs typeface="Calibri"/>
              <a:sym typeface="Calibri"/>
            </a:endParaRPr>
          </a:p>
        </p:txBody>
      </p:sp>
      <p:sp>
        <p:nvSpPr>
          <p:cNvPr id="892" name="Google Shape;892;p30"/>
          <p:cNvSpPr/>
          <p:nvPr/>
        </p:nvSpPr>
        <p:spPr>
          <a:xfrm>
            <a:off x="7946136" y="2670048"/>
            <a:ext cx="2559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700"/>
              <a:buFont typeface="Calibri"/>
              <a:buNone/>
            </a:pPr>
            <a:r>
              <a:rPr b="1" i="0" lang="en" sz="1700" u="none" cap="none" strike="noStrike">
                <a:solidFill>
                  <a:srgbClr val="1E293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893" name="Google Shape;893;p30"/>
          <p:cNvSpPr/>
          <p:nvPr/>
        </p:nvSpPr>
        <p:spPr>
          <a:xfrm>
            <a:off x="8220456" y="2706624"/>
            <a:ext cx="548700" cy="475500"/>
          </a:xfrm>
          <a:prstGeom prst="roundRect">
            <a:avLst>
              <a:gd fmla="val 11538" name="adj"/>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0"/>
          <p:cNvSpPr/>
          <p:nvPr/>
        </p:nvSpPr>
        <p:spPr>
          <a:xfrm>
            <a:off x="8202181" y="2692874"/>
            <a:ext cx="5487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0.5</a:t>
            </a:r>
            <a:endParaRPr b="0" i="0" sz="1500" u="none" cap="none" strike="noStrike">
              <a:solidFill>
                <a:schemeClr val="dk1"/>
              </a:solidFill>
              <a:latin typeface="Calibri"/>
              <a:ea typeface="Calibri"/>
              <a:cs typeface="Calibri"/>
              <a:sym typeface="Calibri"/>
            </a:endParaRPr>
          </a:p>
        </p:txBody>
      </p:sp>
      <p:sp>
        <p:nvSpPr>
          <p:cNvPr id="895" name="Google Shape;895;p30"/>
          <p:cNvSpPr/>
          <p:nvPr/>
        </p:nvSpPr>
        <p:spPr>
          <a:xfrm>
            <a:off x="4910328" y="3273552"/>
            <a:ext cx="3593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1" lang="en" sz="1000" u="none" cap="none" strike="noStrike">
                <a:solidFill>
                  <a:srgbClr val="64748B"/>
                </a:solidFill>
                <a:latin typeface="Calibri"/>
                <a:ea typeface="Calibri"/>
                <a:cs typeface="Calibri"/>
                <a:sym typeface="Calibri"/>
              </a:rPr>
              <a:t>approx. distance — 3 lookups, 2 adds</a:t>
            </a:r>
            <a:endParaRPr b="0" i="0" sz="1000" u="none" cap="none" strike="noStrike">
              <a:solidFill>
                <a:schemeClr val="dk1"/>
              </a:solidFill>
              <a:latin typeface="Calibri"/>
              <a:ea typeface="Calibri"/>
              <a:cs typeface="Calibri"/>
              <a:sym typeface="Calibri"/>
            </a:endParaRPr>
          </a:p>
        </p:txBody>
      </p:sp>
      <p:sp>
        <p:nvSpPr>
          <p:cNvPr id="896" name="Google Shape;896;p30"/>
          <p:cNvSpPr/>
          <p:nvPr/>
        </p:nvSpPr>
        <p:spPr>
          <a:xfrm>
            <a:off x="457200" y="3712464"/>
            <a:ext cx="8229600" cy="1079100"/>
          </a:xfrm>
          <a:prstGeom prst="roundRect">
            <a:avLst>
              <a:gd fmla="val 6780" name="adj"/>
            </a:avLst>
          </a:prstGeom>
          <a:solidFill>
            <a:srgbClr val="1B2A6B"/>
          </a:solidFill>
          <a:ln>
            <a:noFill/>
          </a:ln>
          <a:effectLst>
            <a:outerShdw blurRad="88900" rotWithShape="0" algn="bl" dir="2700000" dist="25400">
              <a:srgbClr val="000000">
                <a:alpha val="129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7" name="Google Shape;897;p30"/>
          <p:cNvPicPr preferRelativeResize="0"/>
          <p:nvPr/>
        </p:nvPicPr>
        <p:blipFill rotWithShape="1">
          <a:blip r:embed="rId3">
            <a:alphaModFix/>
          </a:blip>
          <a:srcRect b="0" l="0" r="0" t="0"/>
          <a:stretch/>
        </p:blipFill>
        <p:spPr>
          <a:xfrm>
            <a:off x="713232" y="3895344"/>
            <a:ext cx="365760" cy="365760"/>
          </a:xfrm>
          <a:prstGeom prst="rect">
            <a:avLst/>
          </a:prstGeom>
          <a:noFill/>
          <a:ln>
            <a:noFill/>
          </a:ln>
        </p:spPr>
      </p:pic>
      <p:sp>
        <p:nvSpPr>
          <p:cNvPr id="898" name="Google Shape;898;p30"/>
          <p:cNvSpPr/>
          <p:nvPr/>
        </p:nvSpPr>
        <p:spPr>
          <a:xfrm>
            <a:off x="1216152" y="3840480"/>
            <a:ext cx="73152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mbria"/>
              <a:buNone/>
            </a:pPr>
            <a:r>
              <a:rPr b="1" i="0" lang="en" sz="1450" u="none" cap="none" strike="noStrike">
                <a:solidFill>
                  <a:srgbClr val="FFFFFF"/>
                </a:solidFill>
                <a:latin typeface="Cambria"/>
                <a:ea typeface="Cambria"/>
                <a:cs typeface="Cambria"/>
                <a:sym typeface="Cambria"/>
              </a:rPr>
              <a:t>Why it’s fast — Asymmetric Distance Computation (ADC)</a:t>
            </a:r>
            <a:endParaRPr b="0" i="0" sz="1450" u="none" cap="none" strike="noStrike">
              <a:solidFill>
                <a:schemeClr val="dk1"/>
              </a:solidFill>
              <a:latin typeface="Calibri"/>
              <a:ea typeface="Calibri"/>
              <a:cs typeface="Calibri"/>
              <a:sym typeface="Calibri"/>
            </a:endParaRPr>
          </a:p>
        </p:txBody>
      </p:sp>
      <p:sp>
        <p:nvSpPr>
          <p:cNvPr id="899" name="Google Shape;899;p30"/>
          <p:cNvSpPr/>
          <p:nvPr/>
        </p:nvSpPr>
        <p:spPr>
          <a:xfrm>
            <a:off x="1216152" y="4169664"/>
            <a:ext cx="72879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200"/>
              <a:buFont typeface="Calibri"/>
              <a:buNone/>
            </a:pPr>
            <a:r>
              <a:rPr b="0" i="0" lang="en" sz="1200" u="none" cap="none" strike="noStrike">
                <a:solidFill>
                  <a:srgbClr val="E2E8F0"/>
                </a:solidFill>
                <a:latin typeface="Calibri"/>
                <a:ea typeface="Calibri"/>
                <a:cs typeface="Calibri"/>
                <a:sym typeface="Calibri"/>
              </a:rPr>
              <a:t>“Asymmetric” = the query stays full-precision while documents are compressed. The costly query–centroid math happens </a:t>
            </a:r>
            <a:r>
              <a:rPr b="1" i="0" lang="en" sz="1200" u="none" cap="none" strike="noStrike">
                <a:solidFill>
                  <a:srgbClr val="FFD08A"/>
                </a:solidFill>
                <a:latin typeface="Calibri"/>
                <a:ea typeface="Calibri"/>
                <a:cs typeface="Calibri"/>
                <a:sym typeface="Calibri"/>
              </a:rPr>
              <a:t>once</a:t>
            </a:r>
            <a:r>
              <a:rPr b="0" i="0" lang="en" sz="1200" u="none" cap="none" strike="noStrike">
                <a:solidFill>
                  <a:srgbClr val="E2E8F0"/>
                </a:solidFill>
                <a:latin typeface="Calibri"/>
                <a:ea typeface="Calibri"/>
                <a:cs typeface="Calibri"/>
                <a:sym typeface="Calibri"/>
              </a:rPr>
              <a:t>; scanning a million vectors is then just lookups and additions — no per-vector float distance.</a:t>
            </a:r>
            <a:endParaRPr b="0" i="0" sz="1200" u="none" cap="none" strike="noStrike">
              <a:solidFill>
                <a:schemeClr val="dk1"/>
              </a:solidFill>
              <a:latin typeface="Calibri"/>
              <a:ea typeface="Calibri"/>
              <a:cs typeface="Calibri"/>
              <a:sym typeface="Calibri"/>
            </a:endParaRPr>
          </a:p>
        </p:txBody>
      </p:sp>
      <p:sp>
        <p:nvSpPr>
          <p:cNvPr id="900" name="Google Shape;900;p30"/>
          <p:cNvSpPr/>
          <p:nvPr/>
        </p:nvSpPr>
        <p:spPr>
          <a:xfrm>
            <a:off x="457200" y="4882896"/>
            <a:ext cx="8229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1" lang="en" sz="1100" u="none" cap="none" strike="noStrike">
                <a:solidFill>
                  <a:srgbClr val="64748B"/>
                </a:solidFill>
                <a:latin typeface="Calibri"/>
                <a:ea typeface="Calibri"/>
                <a:cs typeface="Calibri"/>
                <a:sym typeface="Calibri"/>
              </a:rPr>
              <a:t>Contrast with the indexing slide: there you built the codebooks; here you reuse them to score fast.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31"/>
          <p:cNvSpPr txBox="1"/>
          <p:nvPr/>
        </p:nvSpPr>
        <p:spPr>
          <a:xfrm>
            <a:off x="313275" y="798325"/>
            <a:ext cx="8215500" cy="263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For a database of 10 million 1024-dimensional vectors using Product Quantization (m=16 sub-vectors, k=256 centroids), the per-query distance lookup table size is</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lphaLcParenBoth"/>
            </a:pPr>
            <a:r>
              <a:rPr lang="en" sz="1100">
                <a:solidFill>
                  <a:schemeClr val="dk1"/>
                </a:solidFill>
              </a:rPr>
              <a:t>10 Million entries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1024 entries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4096 entries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16 entries</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Quiz 2</a:t>
            </a:r>
            <a:endParaRPr b="1"/>
          </a:p>
        </p:txBody>
      </p:sp>
      <p:pic>
        <p:nvPicPr>
          <p:cNvPr id="911" name="Google Shape;911;p32" title="Screenshot 2026-10-23 at 3.07.23 PM.png"/>
          <p:cNvPicPr preferRelativeResize="0"/>
          <p:nvPr/>
        </p:nvPicPr>
        <p:blipFill rotWithShape="1">
          <a:blip r:embed="rId3">
            <a:alphaModFix/>
          </a:blip>
          <a:srcRect b="278" l="0" r="0" t="278"/>
          <a:stretch/>
        </p:blipFill>
        <p:spPr>
          <a:xfrm>
            <a:off x="2661513" y="1017725"/>
            <a:ext cx="3820976" cy="38209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33"/>
          <p:cNvSpPr txBox="1"/>
          <p:nvPr/>
        </p:nvSpPr>
        <p:spPr>
          <a:xfrm>
            <a:off x="313275" y="798325"/>
            <a:ext cx="8215500" cy="298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For a database of 10 million 1024-dimensional vectors using Product Quantization (m=16 sub-vectors, k=256 centroids), the per-query distance lookup table size is</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lphaLcParenBoth"/>
            </a:pPr>
            <a:r>
              <a:rPr lang="en" sz="1100">
                <a:solidFill>
                  <a:schemeClr val="dk1"/>
                </a:solidFill>
              </a:rPr>
              <a:t>10 Million entries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1024 entries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4096 entries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16 entries</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Answer: C.</a:t>
            </a:r>
            <a:endParaRPr sz="1100">
              <a:solidFill>
                <a:schemeClr val="dk1"/>
              </a:solidFill>
            </a:endParaRPr>
          </a:p>
          <a:p>
            <a:pPr indent="0" lvl="0" marL="0" rtl="0" algn="l">
              <a:lnSpc>
                <a:spcPct val="115000"/>
              </a:lnSpc>
              <a:spcBef>
                <a:spcPts val="1200"/>
              </a:spcBef>
              <a:spcAft>
                <a:spcPts val="0"/>
              </a:spcAft>
              <a:buNone/>
            </a:pPr>
            <a:r>
              <a:rPr b="1" i="1" lang="en" sz="1100">
                <a:solidFill>
                  <a:schemeClr val="dk1"/>
                </a:solidFill>
              </a:rPr>
              <a:t>Explanation: </a:t>
            </a:r>
            <a:r>
              <a:rPr lang="en" sz="1100">
                <a:solidFill>
                  <a:schemeClr val="dk1"/>
                </a:solidFill>
              </a:rPr>
              <a:t>The lookup table is </a:t>
            </a:r>
            <a:r>
              <a:rPr b="1" lang="en" sz="1100">
                <a:solidFill>
                  <a:schemeClr val="dk1"/>
                </a:solidFill>
              </a:rPr>
              <a:t>m × k = 16 × 256 = 4,096 entries</a:t>
            </a:r>
            <a:r>
              <a:rPr lang="en" sz="1100">
                <a:solidFill>
                  <a:schemeClr val="dk1"/>
                </a:solidFill>
              </a:rPr>
              <a:t>, computed once per query.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34"/>
          <p:cNvSpPr txBox="1"/>
          <p:nvPr/>
        </p:nvSpPr>
        <p:spPr>
          <a:xfrm>
            <a:off x="313275" y="798325"/>
            <a:ext cx="8215500" cy="282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You're storing 10,000,000 vectors, each 1024-dimensional float32. You apply Product Quantization with m = 16 sub-vectors, each encoded against a codebook of k = 256 centroids.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At search time, how many lookups and additions does it take to score one database vector, respectively? Answer is of the form #lookups, #additions.</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lphaLcParenBoth"/>
            </a:pPr>
            <a:r>
              <a:rPr lang="en" sz="1100">
                <a:solidFill>
                  <a:schemeClr val="dk1"/>
                </a:solidFill>
              </a:rPr>
              <a:t>1024, 1023</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8, 8</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16, 16</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16, 15</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Quiz 3</a:t>
            </a:r>
            <a:endParaRPr b="1"/>
          </a:p>
        </p:txBody>
      </p:sp>
      <p:pic>
        <p:nvPicPr>
          <p:cNvPr id="927" name="Google Shape;927;p35" title="Screenshot 2026-10-23 at 3.07.43 PM.png"/>
          <p:cNvPicPr preferRelativeResize="0"/>
          <p:nvPr/>
        </p:nvPicPr>
        <p:blipFill rotWithShape="1">
          <a:blip r:embed="rId3">
            <a:alphaModFix/>
          </a:blip>
          <a:srcRect b="278" l="0" r="0" t="278"/>
          <a:stretch/>
        </p:blipFill>
        <p:spPr>
          <a:xfrm>
            <a:off x="2661513" y="1017725"/>
            <a:ext cx="3820976" cy="382097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36"/>
          <p:cNvSpPr txBox="1"/>
          <p:nvPr/>
        </p:nvSpPr>
        <p:spPr>
          <a:xfrm>
            <a:off x="313275" y="798325"/>
            <a:ext cx="8215500" cy="317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You're storing 10,000,000 vectors, each 1024-dimensional float32. You apply Product Quantization with m = 16 sub-vectors, each encoded against a codebook of k = 256 centroids.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At search time, how many lookups and additions does it take to score one database vector, respectively? Answer is of the form #lookups, #additions.</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lphaLcParenBoth"/>
            </a:pPr>
            <a:r>
              <a:rPr lang="en" sz="1100">
                <a:solidFill>
                  <a:schemeClr val="dk1"/>
                </a:solidFill>
              </a:rPr>
              <a:t>1024, 1023</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8, 8</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16, 16</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lphaLcParenBoth"/>
            </a:pPr>
            <a:r>
              <a:rPr lang="en" sz="1100">
                <a:solidFill>
                  <a:schemeClr val="dk1"/>
                </a:solidFill>
              </a:rPr>
              <a:t>16, 15</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Answer: 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i="1" lang="en" sz="1100">
                <a:solidFill>
                  <a:schemeClr val="dk1"/>
                </a:solidFill>
              </a:rPr>
              <a:t>Explanation: </a:t>
            </a:r>
            <a:r>
              <a:rPr lang="en" sz="1100">
                <a:solidFill>
                  <a:schemeClr val="dk1"/>
                </a:solidFill>
              </a:rPr>
              <a:t>Scoring one database vector is then </a:t>
            </a:r>
            <a:r>
              <a:rPr b="1" lang="en" sz="1100">
                <a:solidFill>
                  <a:schemeClr val="dk1"/>
                </a:solidFill>
              </a:rPr>
              <a:t>m = 16 lookups and 15 additions</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37"/>
          <p:cNvSpPr/>
          <p:nvPr/>
        </p:nvSpPr>
        <p:spPr>
          <a:xfrm>
            <a:off x="4167900" y="791884"/>
            <a:ext cx="1633800" cy="1465800"/>
          </a:xfrm>
          <a:prstGeom prst="rect">
            <a:avLst/>
          </a:prstGeom>
          <a:solidFill>
            <a:srgbClr val="E9EDEE"/>
          </a:solidFill>
          <a:ln cap="flat" cmpd="sng" w="9525">
            <a:solidFill>
              <a:srgbClr val="1A1A1A"/>
            </a:solidFill>
            <a:prstDash val="solid"/>
            <a:round/>
            <a:headEnd len="sm" w="sm" type="none"/>
            <a:tailEnd len="sm" w="sm" type="none"/>
          </a:ln>
        </p:spPr>
        <p:txBody>
          <a:bodyPr anchorCtr="0" anchor="ctr" bIns="87675" lIns="87675" spcFirstLastPara="1" rIns="87675" wrap="square" tIns="87675">
            <a:noAutofit/>
          </a:bodyPr>
          <a:lstStyle/>
          <a:p>
            <a:pPr indent="0" lvl="0" marL="0" marR="0" rtl="0" algn="ctr">
              <a:lnSpc>
                <a:spcPct val="100000"/>
              </a:lnSpc>
              <a:spcBef>
                <a:spcPts val="0"/>
              </a:spcBef>
              <a:spcAft>
                <a:spcPts val="0"/>
              </a:spcAft>
              <a:buClr>
                <a:srgbClr val="000000"/>
              </a:buClr>
              <a:buSzPts val="1342"/>
              <a:buFont typeface="Arial"/>
              <a:buNone/>
            </a:pPr>
            <a:r>
              <a:t/>
            </a:r>
            <a:endParaRPr b="0" i="0" sz="1342" u="none" cap="none" strike="noStrike">
              <a:solidFill>
                <a:srgbClr val="000000"/>
              </a:solidFill>
              <a:latin typeface="Lato"/>
              <a:ea typeface="Lato"/>
              <a:cs typeface="Lato"/>
              <a:sym typeface="Lato"/>
            </a:endParaRPr>
          </a:p>
        </p:txBody>
      </p:sp>
      <p:sp>
        <p:nvSpPr>
          <p:cNvPr id="938" name="Google Shape;938;p37"/>
          <p:cNvSpPr/>
          <p:nvPr/>
        </p:nvSpPr>
        <p:spPr>
          <a:xfrm>
            <a:off x="114525" y="695100"/>
            <a:ext cx="3946800" cy="4370100"/>
          </a:xfrm>
          <a:prstGeom prst="roundRect">
            <a:avLst>
              <a:gd fmla="val 3292" name="adj"/>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300"/>
              <a:buFont typeface="Arial"/>
              <a:buNone/>
            </a:pPr>
            <a:r>
              <a:rPr b="0" i="0" lang="en" sz="1300" u="none" cap="none" strike="noStrike">
                <a:solidFill>
                  <a:srgbClr val="000000"/>
                </a:solidFill>
                <a:latin typeface="Comic Sans MS"/>
                <a:ea typeface="Comic Sans MS"/>
                <a:cs typeface="Comic Sans MS"/>
                <a:sym typeface="Comic Sans MS"/>
              </a:rPr>
              <a:t>IVF and PQ each solve two different problems:</a:t>
            </a:r>
            <a:endParaRPr b="0" i="0" sz="1300" u="none" cap="none" strike="noStrike">
              <a:solidFill>
                <a:srgbClr val="000000"/>
              </a:solidFill>
              <a:latin typeface="Comic Sans MS"/>
              <a:ea typeface="Comic Sans MS"/>
              <a:cs typeface="Comic Sans MS"/>
              <a:sym typeface="Comic Sans MS"/>
            </a:endParaRPr>
          </a:p>
          <a:p>
            <a:pPr indent="-311150" lvl="0" marL="457200" marR="0" rtl="0" algn="l">
              <a:lnSpc>
                <a:spcPct val="115000"/>
              </a:lnSpc>
              <a:spcBef>
                <a:spcPts val="1200"/>
              </a:spcBef>
              <a:spcAft>
                <a:spcPts val="0"/>
              </a:spcAft>
              <a:buClr>
                <a:srgbClr val="000000"/>
              </a:buClr>
              <a:buSzPts val="1300"/>
              <a:buFont typeface="Arial"/>
              <a:buAutoNum type="arabicPeriod"/>
            </a:pPr>
            <a:r>
              <a:rPr b="1" i="0" lang="en" sz="1300" u="none" cap="none" strike="noStrike">
                <a:solidFill>
                  <a:srgbClr val="000000"/>
                </a:solidFill>
                <a:latin typeface="Comic Sans MS"/>
                <a:ea typeface="Comic Sans MS"/>
                <a:cs typeface="Comic Sans MS"/>
                <a:sym typeface="Comic Sans MS"/>
              </a:rPr>
              <a:t>IVF</a:t>
            </a:r>
            <a:r>
              <a:rPr b="0" i="0" lang="en" sz="1300" u="none" cap="none" strike="noStrike">
                <a:solidFill>
                  <a:srgbClr val="000000"/>
                </a:solidFill>
                <a:latin typeface="Comic Sans MS"/>
                <a:ea typeface="Comic Sans MS"/>
                <a:cs typeface="Comic Sans MS"/>
                <a:sym typeface="Comic Sans MS"/>
              </a:rPr>
              <a:t> solves </a:t>
            </a:r>
            <a:r>
              <a:rPr b="1" i="0" lang="en" sz="1300" u="none" cap="none" strike="noStrike">
                <a:solidFill>
                  <a:srgbClr val="000000"/>
                </a:solidFill>
                <a:latin typeface="Comic Sans MS"/>
                <a:ea typeface="Comic Sans MS"/>
                <a:cs typeface="Comic Sans MS"/>
                <a:sym typeface="Comic Sans MS"/>
              </a:rPr>
              <a:t>"Too many vectors to check"</a:t>
            </a:r>
            <a:r>
              <a:rPr b="0" i="0" lang="en" sz="1300" u="none" cap="none" strike="noStrike">
                <a:solidFill>
                  <a:srgbClr val="000000"/>
                </a:solidFill>
                <a:latin typeface="Comic Sans MS"/>
                <a:ea typeface="Comic Sans MS"/>
                <a:cs typeface="Comic Sans MS"/>
                <a:sym typeface="Comic Sans MS"/>
              </a:rPr>
              <a:t> (by clustering).</a:t>
            </a:r>
            <a:endParaRPr b="0" i="0" sz="1300" u="none" cap="none" strike="noStrike">
              <a:solidFill>
                <a:srgbClr val="000000"/>
              </a:solidFill>
              <a:latin typeface="Comic Sans MS"/>
              <a:ea typeface="Comic Sans MS"/>
              <a:cs typeface="Comic Sans MS"/>
              <a:sym typeface="Comic Sans MS"/>
            </a:endParaRPr>
          </a:p>
          <a:p>
            <a:pPr indent="-311150" lvl="0" marL="457200" marR="0" rtl="0" algn="l">
              <a:lnSpc>
                <a:spcPct val="115000"/>
              </a:lnSpc>
              <a:spcBef>
                <a:spcPts val="0"/>
              </a:spcBef>
              <a:spcAft>
                <a:spcPts val="0"/>
              </a:spcAft>
              <a:buClr>
                <a:srgbClr val="000000"/>
              </a:buClr>
              <a:buSzPts val="1300"/>
              <a:buFont typeface="Arial"/>
              <a:buAutoNum type="arabicPeriod"/>
            </a:pPr>
            <a:r>
              <a:rPr b="1" i="0" lang="en" sz="1300" u="none" cap="none" strike="noStrike">
                <a:solidFill>
                  <a:srgbClr val="000000"/>
                </a:solidFill>
                <a:latin typeface="Comic Sans MS"/>
                <a:ea typeface="Comic Sans MS"/>
                <a:cs typeface="Comic Sans MS"/>
                <a:sym typeface="Comic Sans MS"/>
              </a:rPr>
              <a:t>PQ</a:t>
            </a:r>
            <a:r>
              <a:rPr b="0" i="0" lang="en" sz="1300" u="none" cap="none" strike="noStrike">
                <a:solidFill>
                  <a:srgbClr val="000000"/>
                </a:solidFill>
                <a:latin typeface="Comic Sans MS"/>
                <a:ea typeface="Comic Sans MS"/>
                <a:cs typeface="Comic Sans MS"/>
                <a:sym typeface="Comic Sans MS"/>
              </a:rPr>
              <a:t> solves </a:t>
            </a:r>
            <a:r>
              <a:rPr b="1" i="0" lang="en" sz="1300" u="none" cap="none" strike="noStrike">
                <a:solidFill>
                  <a:srgbClr val="000000"/>
                </a:solidFill>
                <a:latin typeface="Comic Sans MS"/>
                <a:ea typeface="Comic Sans MS"/>
                <a:cs typeface="Comic Sans MS"/>
                <a:sym typeface="Comic Sans MS"/>
              </a:rPr>
              <a:t>"Vectors are too big to store"</a:t>
            </a:r>
            <a:r>
              <a:rPr b="0" i="0" lang="en" sz="1300" u="none" cap="none" strike="noStrike">
                <a:solidFill>
                  <a:srgbClr val="000000"/>
                </a:solidFill>
                <a:latin typeface="Comic Sans MS"/>
                <a:ea typeface="Comic Sans MS"/>
                <a:cs typeface="Comic Sans MS"/>
                <a:sym typeface="Comic Sans MS"/>
              </a:rPr>
              <a:t> (by compression).</a:t>
            </a:r>
            <a:endParaRPr b="1" i="0" sz="1400" u="none" cap="none" strike="noStrike">
              <a:solidFill>
                <a:srgbClr val="000000"/>
              </a:solidFill>
              <a:latin typeface="Comic Sans MS"/>
              <a:ea typeface="Comic Sans MS"/>
              <a:cs typeface="Comic Sans MS"/>
              <a:sym typeface="Comic Sans MS"/>
            </a:endParaRPr>
          </a:p>
          <a:p>
            <a:pPr indent="0" lvl="0" marL="0" marR="0" rtl="0" algn="l">
              <a:lnSpc>
                <a:spcPct val="115000"/>
              </a:lnSpc>
              <a:spcBef>
                <a:spcPts val="1400"/>
              </a:spcBef>
              <a:spcAft>
                <a:spcPts val="0"/>
              </a:spcAft>
              <a:buClr>
                <a:srgbClr val="000000"/>
              </a:buClr>
              <a:buSzPts val="1400"/>
              <a:buFont typeface="Arial"/>
              <a:buNone/>
            </a:pPr>
            <a:r>
              <a:rPr b="1" i="0" lang="en" sz="1400" u="none" cap="none" strike="noStrike">
                <a:solidFill>
                  <a:srgbClr val="000000"/>
                </a:solidFill>
                <a:latin typeface="Comic Sans MS"/>
                <a:ea typeface="Comic Sans MS"/>
                <a:cs typeface="Comic Sans MS"/>
                <a:sym typeface="Comic Sans MS"/>
              </a:rPr>
              <a:t>IVF+PQ Indexing (Construction)</a:t>
            </a:r>
            <a:endParaRPr b="1" i="0" sz="1400" u="none" cap="none" strike="noStrike">
              <a:solidFill>
                <a:srgbClr val="000000"/>
              </a:solidFill>
              <a:latin typeface="Comic Sans MS"/>
              <a:ea typeface="Comic Sans MS"/>
              <a:cs typeface="Comic Sans MS"/>
              <a:sym typeface="Comic Sans MS"/>
            </a:endParaRPr>
          </a:p>
          <a:p>
            <a:pPr indent="-304800" lvl="0" marL="457200" marR="0" rtl="0" algn="l">
              <a:lnSpc>
                <a:spcPct val="115000"/>
              </a:lnSpc>
              <a:spcBef>
                <a:spcPts val="1200"/>
              </a:spcBef>
              <a:spcAft>
                <a:spcPts val="0"/>
              </a:spcAft>
              <a:buClr>
                <a:srgbClr val="000000"/>
              </a:buClr>
              <a:buSzPts val="1200"/>
              <a:buFont typeface="Arial"/>
              <a:buChar char="●"/>
            </a:pPr>
            <a:r>
              <a:rPr b="1" i="0" lang="en" sz="1200" u="none" cap="none" strike="noStrike">
                <a:solidFill>
                  <a:srgbClr val="000000"/>
                </a:solidFill>
                <a:latin typeface="Comic Sans MS"/>
                <a:ea typeface="Comic Sans MS"/>
                <a:cs typeface="Comic Sans MS"/>
                <a:sym typeface="Comic Sans MS"/>
              </a:rPr>
              <a:t>1. Coarse (IVF):</a:t>
            </a:r>
            <a:r>
              <a:rPr b="0" i="0" lang="en" sz="1200" u="none" cap="none" strike="noStrike">
                <a:solidFill>
                  <a:srgbClr val="000000"/>
                </a:solidFill>
                <a:latin typeface="Comic Sans MS"/>
                <a:ea typeface="Comic Sans MS"/>
                <a:cs typeface="Comic Sans MS"/>
                <a:sym typeface="Comic Sans MS"/>
              </a:rPr>
              <a:t> Run K-Means (e.g., 1024 clusters) on the dataset to find coarse centroids.</a:t>
            </a:r>
            <a:endParaRPr b="0" i="0" sz="1200" u="none" cap="none" strike="noStrike">
              <a:solidFill>
                <a:srgbClr val="000000"/>
              </a:solidFill>
              <a:latin typeface="Comic Sans MS"/>
              <a:ea typeface="Comic Sans MS"/>
              <a:cs typeface="Comic Sans MS"/>
              <a:sym typeface="Comic Sans MS"/>
            </a:endParaRPr>
          </a:p>
          <a:p>
            <a:pPr indent="-304800" lvl="0" marL="457200" marR="0" rtl="0" algn="l">
              <a:lnSpc>
                <a:spcPct val="115000"/>
              </a:lnSpc>
              <a:spcBef>
                <a:spcPts val="0"/>
              </a:spcBef>
              <a:spcAft>
                <a:spcPts val="0"/>
              </a:spcAft>
              <a:buClr>
                <a:srgbClr val="000000"/>
              </a:buClr>
              <a:buSzPts val="1200"/>
              <a:buFont typeface="Arial"/>
              <a:buChar char="●"/>
            </a:pPr>
            <a:r>
              <a:rPr b="1" i="0" lang="en" sz="1200" u="none" cap="none" strike="noStrike">
                <a:solidFill>
                  <a:srgbClr val="000000"/>
                </a:solidFill>
                <a:latin typeface="Comic Sans MS"/>
                <a:ea typeface="Comic Sans MS"/>
                <a:cs typeface="Comic Sans MS"/>
                <a:sym typeface="Comic Sans MS"/>
              </a:rPr>
              <a:t>2.</a:t>
            </a:r>
            <a:r>
              <a:rPr b="0" i="0" lang="en" sz="1200" u="none" cap="none" strike="noStrike">
                <a:solidFill>
                  <a:srgbClr val="000000"/>
                </a:solidFill>
                <a:latin typeface="Comic Sans MS"/>
                <a:ea typeface="Comic Sans MS"/>
                <a:cs typeface="Comic Sans MS"/>
                <a:sym typeface="Comic Sans MS"/>
              </a:rPr>
              <a:t> Assign each vector to its nearest centroid, then calculate the difference vector (Residual = Vector - Centroid).</a:t>
            </a:r>
            <a:endParaRPr b="0" i="0" sz="1200" u="none" cap="none" strike="noStrike">
              <a:solidFill>
                <a:srgbClr val="000000"/>
              </a:solidFill>
              <a:latin typeface="Comic Sans MS"/>
              <a:ea typeface="Comic Sans MS"/>
              <a:cs typeface="Comic Sans MS"/>
              <a:sym typeface="Comic Sans MS"/>
            </a:endParaRPr>
          </a:p>
          <a:p>
            <a:pPr indent="-304800" lvl="0" marL="457200" marR="0" rtl="0" algn="l">
              <a:lnSpc>
                <a:spcPct val="115000"/>
              </a:lnSpc>
              <a:spcBef>
                <a:spcPts val="0"/>
              </a:spcBef>
              <a:spcAft>
                <a:spcPts val="0"/>
              </a:spcAft>
              <a:buClr>
                <a:srgbClr val="000000"/>
              </a:buClr>
              <a:buSzPts val="1200"/>
              <a:buFont typeface="Arial"/>
              <a:buChar char="●"/>
            </a:pPr>
            <a:r>
              <a:rPr b="1" i="0" lang="en" sz="1200" u="none" cap="none" strike="noStrike">
                <a:solidFill>
                  <a:srgbClr val="000000"/>
                </a:solidFill>
                <a:latin typeface="Comic Sans MS"/>
                <a:ea typeface="Comic Sans MS"/>
                <a:cs typeface="Comic Sans MS"/>
                <a:sym typeface="Comic Sans MS"/>
              </a:rPr>
              <a:t>3. Fine (PQ):</a:t>
            </a:r>
            <a:r>
              <a:rPr b="0" i="0" lang="en" sz="1200" u="none" cap="none" strike="noStrike">
                <a:solidFill>
                  <a:srgbClr val="000000"/>
                </a:solidFill>
                <a:latin typeface="Comic Sans MS"/>
                <a:ea typeface="Comic Sans MS"/>
                <a:cs typeface="Comic Sans MS"/>
                <a:sym typeface="Comic Sans MS"/>
              </a:rPr>
              <a:t> Split the </a:t>
            </a:r>
            <a:r>
              <a:rPr b="1" i="0" lang="en" sz="1200" u="none" cap="none" strike="noStrike">
                <a:solidFill>
                  <a:srgbClr val="000000"/>
                </a:solidFill>
                <a:latin typeface="Comic Sans MS"/>
                <a:ea typeface="Comic Sans MS"/>
                <a:cs typeface="Comic Sans MS"/>
                <a:sym typeface="Comic Sans MS"/>
              </a:rPr>
              <a:t>residual vector</a:t>
            </a:r>
            <a:r>
              <a:rPr b="0" i="0" lang="en" sz="1200" u="none" cap="none" strike="noStrike">
                <a:solidFill>
                  <a:srgbClr val="000000"/>
                </a:solidFill>
                <a:latin typeface="Comic Sans MS"/>
                <a:ea typeface="Comic Sans MS"/>
                <a:cs typeface="Comic Sans MS"/>
                <a:sym typeface="Comic Sans MS"/>
              </a:rPr>
              <a:t> into sub-vectors and train the PQ codebooks on these residuals.</a:t>
            </a:r>
            <a:endParaRPr b="0" i="0" sz="1200" u="none" cap="none" strike="noStrike">
              <a:solidFill>
                <a:srgbClr val="000000"/>
              </a:solidFill>
              <a:latin typeface="Comic Sans MS"/>
              <a:ea typeface="Comic Sans MS"/>
              <a:cs typeface="Comic Sans MS"/>
              <a:sym typeface="Comic Sans MS"/>
            </a:endParaRPr>
          </a:p>
          <a:p>
            <a:pPr indent="-304800" lvl="0" marL="457200" marR="0" rtl="0" algn="l">
              <a:lnSpc>
                <a:spcPct val="115000"/>
              </a:lnSpc>
              <a:spcBef>
                <a:spcPts val="0"/>
              </a:spcBef>
              <a:spcAft>
                <a:spcPts val="0"/>
              </a:spcAft>
              <a:buClr>
                <a:srgbClr val="000000"/>
              </a:buClr>
              <a:buSzPts val="1200"/>
              <a:buFont typeface="Arial"/>
              <a:buChar char="●"/>
            </a:pPr>
            <a:r>
              <a:rPr b="1" i="0" lang="en" sz="1200" u="none" cap="none" strike="noStrike">
                <a:solidFill>
                  <a:srgbClr val="000000"/>
                </a:solidFill>
                <a:latin typeface="Comic Sans MS"/>
                <a:ea typeface="Comic Sans MS"/>
                <a:cs typeface="Comic Sans MS"/>
                <a:sym typeface="Comic Sans MS"/>
              </a:rPr>
              <a:t>4. </a:t>
            </a:r>
            <a:r>
              <a:rPr b="0" i="0" lang="en" sz="1200" u="none" cap="none" strike="noStrike">
                <a:solidFill>
                  <a:srgbClr val="000000"/>
                </a:solidFill>
                <a:latin typeface="Comic Sans MS"/>
                <a:ea typeface="Comic Sans MS"/>
                <a:cs typeface="Comic Sans MS"/>
                <a:sym typeface="Comic Sans MS"/>
              </a:rPr>
              <a:t>Save the PQ codes (byte IDs) into the specific Inverted List for that centroid.</a:t>
            </a:r>
            <a:endParaRPr b="1" i="0" sz="1200" u="none" cap="none" strike="noStrike">
              <a:solidFill>
                <a:srgbClr val="000000"/>
              </a:solidFill>
              <a:latin typeface="Comic Sans MS"/>
              <a:ea typeface="Comic Sans MS"/>
              <a:cs typeface="Comic Sans MS"/>
              <a:sym typeface="Comic Sans MS"/>
            </a:endParaRPr>
          </a:p>
        </p:txBody>
      </p:sp>
      <p:sp>
        <p:nvSpPr>
          <p:cNvPr id="939" name="Google Shape;939;p37"/>
          <p:cNvSpPr/>
          <p:nvPr/>
        </p:nvSpPr>
        <p:spPr>
          <a:xfrm>
            <a:off x="6844094" y="797973"/>
            <a:ext cx="2002500" cy="1450200"/>
          </a:xfrm>
          <a:prstGeom prst="rect">
            <a:avLst/>
          </a:prstGeom>
          <a:solidFill>
            <a:srgbClr val="CFE2F3">
              <a:alpha val="47450"/>
            </a:srgbClr>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0" name="Google Shape;940;p37"/>
          <p:cNvSpPr/>
          <p:nvPr/>
        </p:nvSpPr>
        <p:spPr>
          <a:xfrm>
            <a:off x="6929503" y="91365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1" name="Google Shape;941;p37"/>
          <p:cNvSpPr/>
          <p:nvPr/>
        </p:nvSpPr>
        <p:spPr>
          <a:xfrm>
            <a:off x="7094785" y="91365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2" name="Google Shape;942;p37"/>
          <p:cNvSpPr/>
          <p:nvPr/>
        </p:nvSpPr>
        <p:spPr>
          <a:xfrm>
            <a:off x="6977767" y="112368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3" name="Google Shape;943;p37"/>
          <p:cNvSpPr/>
          <p:nvPr/>
        </p:nvSpPr>
        <p:spPr>
          <a:xfrm>
            <a:off x="7513356" y="105834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4" name="Google Shape;944;p37"/>
          <p:cNvSpPr/>
          <p:nvPr/>
        </p:nvSpPr>
        <p:spPr>
          <a:xfrm>
            <a:off x="7063293" y="132237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5" name="Google Shape;945;p37"/>
          <p:cNvSpPr/>
          <p:nvPr/>
        </p:nvSpPr>
        <p:spPr>
          <a:xfrm>
            <a:off x="7595358" y="91365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6" name="Google Shape;946;p37"/>
          <p:cNvSpPr/>
          <p:nvPr/>
        </p:nvSpPr>
        <p:spPr>
          <a:xfrm>
            <a:off x="7291697" y="105696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7" name="Google Shape;947;p37"/>
          <p:cNvSpPr/>
          <p:nvPr/>
        </p:nvSpPr>
        <p:spPr>
          <a:xfrm>
            <a:off x="7218872" y="124734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8" name="Google Shape;948;p37"/>
          <p:cNvSpPr/>
          <p:nvPr/>
        </p:nvSpPr>
        <p:spPr>
          <a:xfrm>
            <a:off x="7394199" y="94817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49" name="Google Shape;949;p37"/>
          <p:cNvSpPr/>
          <p:nvPr/>
        </p:nvSpPr>
        <p:spPr>
          <a:xfrm>
            <a:off x="7134732" y="109048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0" name="Google Shape;950;p37"/>
          <p:cNvSpPr/>
          <p:nvPr/>
        </p:nvSpPr>
        <p:spPr>
          <a:xfrm>
            <a:off x="7691886" y="122051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1" name="Google Shape;951;p37"/>
          <p:cNvSpPr/>
          <p:nvPr/>
        </p:nvSpPr>
        <p:spPr>
          <a:xfrm>
            <a:off x="7394033" y="119041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2" name="Google Shape;952;p37"/>
          <p:cNvSpPr/>
          <p:nvPr/>
        </p:nvSpPr>
        <p:spPr>
          <a:xfrm>
            <a:off x="7292166" y="162013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3" name="Google Shape;953;p37"/>
          <p:cNvSpPr/>
          <p:nvPr/>
        </p:nvSpPr>
        <p:spPr>
          <a:xfrm>
            <a:off x="7497678" y="140368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4" name="Google Shape;954;p37"/>
          <p:cNvSpPr/>
          <p:nvPr/>
        </p:nvSpPr>
        <p:spPr>
          <a:xfrm>
            <a:off x="7243902" y="143373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5" name="Google Shape;955;p37"/>
          <p:cNvSpPr/>
          <p:nvPr/>
        </p:nvSpPr>
        <p:spPr>
          <a:xfrm>
            <a:off x="7643622" y="134904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6" name="Google Shape;956;p37"/>
          <p:cNvSpPr/>
          <p:nvPr/>
        </p:nvSpPr>
        <p:spPr>
          <a:xfrm>
            <a:off x="6994733" y="160991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7" name="Google Shape;957;p37"/>
          <p:cNvSpPr/>
          <p:nvPr/>
        </p:nvSpPr>
        <p:spPr>
          <a:xfrm>
            <a:off x="7016207" y="124320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8" name="Google Shape;958;p37"/>
          <p:cNvSpPr/>
          <p:nvPr/>
        </p:nvSpPr>
        <p:spPr>
          <a:xfrm>
            <a:off x="7665889" y="105696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59" name="Google Shape;959;p37"/>
          <p:cNvSpPr/>
          <p:nvPr/>
        </p:nvSpPr>
        <p:spPr>
          <a:xfrm>
            <a:off x="7576732" y="122051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0" name="Google Shape;960;p37"/>
          <p:cNvSpPr/>
          <p:nvPr/>
        </p:nvSpPr>
        <p:spPr>
          <a:xfrm>
            <a:off x="7834852" y="83654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1" name="Google Shape;961;p37"/>
          <p:cNvSpPr/>
          <p:nvPr/>
        </p:nvSpPr>
        <p:spPr>
          <a:xfrm>
            <a:off x="8000134" y="83654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2" name="Google Shape;962;p37"/>
          <p:cNvSpPr/>
          <p:nvPr/>
        </p:nvSpPr>
        <p:spPr>
          <a:xfrm>
            <a:off x="7883116" y="104657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3" name="Google Shape;963;p37"/>
          <p:cNvSpPr/>
          <p:nvPr/>
        </p:nvSpPr>
        <p:spPr>
          <a:xfrm>
            <a:off x="8418705" y="98123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4" name="Google Shape;964;p37"/>
          <p:cNvSpPr/>
          <p:nvPr/>
        </p:nvSpPr>
        <p:spPr>
          <a:xfrm>
            <a:off x="7968642" y="124526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5" name="Google Shape;965;p37"/>
          <p:cNvSpPr/>
          <p:nvPr/>
        </p:nvSpPr>
        <p:spPr>
          <a:xfrm>
            <a:off x="8500707" y="83654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6" name="Google Shape;966;p37"/>
          <p:cNvSpPr/>
          <p:nvPr/>
        </p:nvSpPr>
        <p:spPr>
          <a:xfrm>
            <a:off x="8197046" y="97985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7" name="Google Shape;967;p37"/>
          <p:cNvSpPr/>
          <p:nvPr/>
        </p:nvSpPr>
        <p:spPr>
          <a:xfrm>
            <a:off x="8124221" y="117023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8" name="Google Shape;968;p37"/>
          <p:cNvSpPr/>
          <p:nvPr/>
        </p:nvSpPr>
        <p:spPr>
          <a:xfrm>
            <a:off x="8299549" y="87106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69" name="Google Shape;969;p37"/>
          <p:cNvSpPr/>
          <p:nvPr/>
        </p:nvSpPr>
        <p:spPr>
          <a:xfrm>
            <a:off x="8040081" y="101337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0" name="Google Shape;970;p37"/>
          <p:cNvSpPr/>
          <p:nvPr/>
        </p:nvSpPr>
        <p:spPr>
          <a:xfrm>
            <a:off x="8597235" y="114340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1" name="Google Shape;971;p37"/>
          <p:cNvSpPr/>
          <p:nvPr/>
        </p:nvSpPr>
        <p:spPr>
          <a:xfrm>
            <a:off x="8299383" y="111330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2" name="Google Shape;972;p37"/>
          <p:cNvSpPr/>
          <p:nvPr/>
        </p:nvSpPr>
        <p:spPr>
          <a:xfrm>
            <a:off x="7955932" y="180946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3" name="Google Shape;973;p37"/>
          <p:cNvSpPr/>
          <p:nvPr/>
        </p:nvSpPr>
        <p:spPr>
          <a:xfrm>
            <a:off x="8403027" y="132657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4" name="Google Shape;974;p37"/>
          <p:cNvSpPr/>
          <p:nvPr/>
        </p:nvSpPr>
        <p:spPr>
          <a:xfrm>
            <a:off x="8149251" y="135662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5" name="Google Shape;975;p37"/>
          <p:cNvSpPr/>
          <p:nvPr/>
        </p:nvSpPr>
        <p:spPr>
          <a:xfrm>
            <a:off x="8752033" y="135662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6" name="Google Shape;976;p37"/>
          <p:cNvSpPr/>
          <p:nvPr/>
        </p:nvSpPr>
        <p:spPr>
          <a:xfrm>
            <a:off x="7907663" y="132657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7" name="Google Shape;977;p37"/>
          <p:cNvSpPr/>
          <p:nvPr/>
        </p:nvSpPr>
        <p:spPr>
          <a:xfrm>
            <a:off x="8433817" y="153344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8" name="Google Shape;978;p37"/>
          <p:cNvSpPr/>
          <p:nvPr/>
        </p:nvSpPr>
        <p:spPr>
          <a:xfrm>
            <a:off x="8622109" y="93238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79" name="Google Shape;979;p37"/>
          <p:cNvSpPr/>
          <p:nvPr/>
        </p:nvSpPr>
        <p:spPr>
          <a:xfrm>
            <a:off x="8482081" y="114340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0" name="Google Shape;980;p37"/>
          <p:cNvSpPr/>
          <p:nvPr/>
        </p:nvSpPr>
        <p:spPr>
          <a:xfrm>
            <a:off x="8327175" y="155914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1" name="Google Shape;981;p37"/>
          <p:cNvSpPr/>
          <p:nvPr/>
        </p:nvSpPr>
        <p:spPr>
          <a:xfrm>
            <a:off x="8027927" y="148258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2" name="Google Shape;982;p37"/>
          <p:cNvSpPr/>
          <p:nvPr/>
        </p:nvSpPr>
        <p:spPr>
          <a:xfrm>
            <a:off x="7910909" y="169261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3" name="Google Shape;983;p37"/>
          <p:cNvSpPr/>
          <p:nvPr/>
        </p:nvSpPr>
        <p:spPr>
          <a:xfrm>
            <a:off x="8446498" y="162727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4" name="Google Shape;984;p37"/>
          <p:cNvSpPr/>
          <p:nvPr/>
        </p:nvSpPr>
        <p:spPr>
          <a:xfrm>
            <a:off x="7996435" y="189130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5" name="Google Shape;985;p37"/>
          <p:cNvSpPr/>
          <p:nvPr/>
        </p:nvSpPr>
        <p:spPr>
          <a:xfrm>
            <a:off x="8528500" y="148258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6" name="Google Shape;986;p37"/>
          <p:cNvSpPr/>
          <p:nvPr/>
        </p:nvSpPr>
        <p:spPr>
          <a:xfrm>
            <a:off x="8224839" y="162589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7" name="Google Shape;987;p37"/>
          <p:cNvSpPr/>
          <p:nvPr/>
        </p:nvSpPr>
        <p:spPr>
          <a:xfrm>
            <a:off x="8152014" y="181627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8" name="Google Shape;988;p37"/>
          <p:cNvSpPr/>
          <p:nvPr/>
        </p:nvSpPr>
        <p:spPr>
          <a:xfrm>
            <a:off x="8067874" y="165941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89" name="Google Shape;989;p37"/>
          <p:cNvSpPr/>
          <p:nvPr/>
        </p:nvSpPr>
        <p:spPr>
          <a:xfrm>
            <a:off x="8625028" y="178944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0" name="Google Shape;990;p37"/>
          <p:cNvSpPr/>
          <p:nvPr/>
        </p:nvSpPr>
        <p:spPr>
          <a:xfrm>
            <a:off x="8327175" y="175933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1" name="Google Shape;991;p37"/>
          <p:cNvSpPr/>
          <p:nvPr/>
        </p:nvSpPr>
        <p:spPr>
          <a:xfrm>
            <a:off x="8225308" y="218905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2" name="Google Shape;992;p37"/>
          <p:cNvSpPr/>
          <p:nvPr/>
        </p:nvSpPr>
        <p:spPr>
          <a:xfrm>
            <a:off x="8430820" y="197261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3" name="Google Shape;993;p37"/>
          <p:cNvSpPr/>
          <p:nvPr/>
        </p:nvSpPr>
        <p:spPr>
          <a:xfrm>
            <a:off x="8177044" y="200266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4" name="Google Shape;994;p37"/>
          <p:cNvSpPr/>
          <p:nvPr/>
        </p:nvSpPr>
        <p:spPr>
          <a:xfrm>
            <a:off x="8779826" y="200265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5" name="Google Shape;995;p37"/>
          <p:cNvSpPr/>
          <p:nvPr/>
        </p:nvSpPr>
        <p:spPr>
          <a:xfrm>
            <a:off x="7927875" y="217884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6" name="Google Shape;996;p37"/>
          <p:cNvSpPr/>
          <p:nvPr/>
        </p:nvSpPr>
        <p:spPr>
          <a:xfrm>
            <a:off x="8576764" y="204650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7" name="Google Shape;997;p37"/>
          <p:cNvSpPr/>
          <p:nvPr/>
        </p:nvSpPr>
        <p:spPr>
          <a:xfrm>
            <a:off x="8461610" y="217948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8" name="Google Shape;998;p37"/>
          <p:cNvSpPr/>
          <p:nvPr/>
        </p:nvSpPr>
        <p:spPr>
          <a:xfrm>
            <a:off x="8649901" y="157842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999" name="Google Shape;999;p37"/>
          <p:cNvSpPr/>
          <p:nvPr/>
        </p:nvSpPr>
        <p:spPr>
          <a:xfrm>
            <a:off x="8509874" y="178944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0" name="Google Shape;1000;p37"/>
          <p:cNvSpPr/>
          <p:nvPr/>
        </p:nvSpPr>
        <p:spPr>
          <a:xfrm>
            <a:off x="6987154" y="140162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1" name="Google Shape;1001;p37"/>
          <p:cNvSpPr/>
          <p:nvPr/>
        </p:nvSpPr>
        <p:spPr>
          <a:xfrm>
            <a:off x="7008343" y="169055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2" name="Google Shape;1002;p37"/>
          <p:cNvSpPr/>
          <p:nvPr/>
        </p:nvSpPr>
        <p:spPr>
          <a:xfrm>
            <a:off x="7430983" y="162727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3" name="Google Shape;1003;p37"/>
          <p:cNvSpPr/>
          <p:nvPr/>
        </p:nvSpPr>
        <p:spPr>
          <a:xfrm>
            <a:off x="6980920" y="189130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4" name="Google Shape;1004;p37"/>
          <p:cNvSpPr/>
          <p:nvPr/>
        </p:nvSpPr>
        <p:spPr>
          <a:xfrm>
            <a:off x="7512985" y="148258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5" name="Google Shape;1005;p37"/>
          <p:cNvSpPr/>
          <p:nvPr/>
        </p:nvSpPr>
        <p:spPr>
          <a:xfrm>
            <a:off x="7209324" y="162589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6" name="Google Shape;1006;p37"/>
          <p:cNvSpPr/>
          <p:nvPr/>
        </p:nvSpPr>
        <p:spPr>
          <a:xfrm>
            <a:off x="7136499" y="181627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7" name="Google Shape;1007;p37"/>
          <p:cNvSpPr/>
          <p:nvPr/>
        </p:nvSpPr>
        <p:spPr>
          <a:xfrm>
            <a:off x="7052359" y="165941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8" name="Google Shape;1008;p37"/>
          <p:cNvSpPr/>
          <p:nvPr/>
        </p:nvSpPr>
        <p:spPr>
          <a:xfrm>
            <a:off x="7311661" y="175933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09" name="Google Shape;1009;p37"/>
          <p:cNvSpPr/>
          <p:nvPr/>
        </p:nvSpPr>
        <p:spPr>
          <a:xfrm>
            <a:off x="7209793" y="218905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10" name="Google Shape;1010;p37"/>
          <p:cNvSpPr/>
          <p:nvPr/>
        </p:nvSpPr>
        <p:spPr>
          <a:xfrm>
            <a:off x="7415305" y="197261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11" name="Google Shape;1011;p37"/>
          <p:cNvSpPr/>
          <p:nvPr/>
        </p:nvSpPr>
        <p:spPr>
          <a:xfrm>
            <a:off x="7161529" y="200266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12" name="Google Shape;1012;p37"/>
          <p:cNvSpPr/>
          <p:nvPr/>
        </p:nvSpPr>
        <p:spPr>
          <a:xfrm>
            <a:off x="7834852" y="197261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13" name="Google Shape;1013;p37"/>
          <p:cNvSpPr/>
          <p:nvPr/>
        </p:nvSpPr>
        <p:spPr>
          <a:xfrm>
            <a:off x="6912360" y="217884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14" name="Google Shape;1014;p37"/>
          <p:cNvSpPr/>
          <p:nvPr/>
        </p:nvSpPr>
        <p:spPr>
          <a:xfrm>
            <a:off x="7561249" y="204650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15" name="Google Shape;1015;p37"/>
          <p:cNvSpPr/>
          <p:nvPr/>
        </p:nvSpPr>
        <p:spPr>
          <a:xfrm>
            <a:off x="7446095" y="217948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16" name="Google Shape;1016;p37"/>
          <p:cNvSpPr/>
          <p:nvPr/>
        </p:nvSpPr>
        <p:spPr>
          <a:xfrm>
            <a:off x="7262430" y="91365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17" name="Google Shape;1017;p37"/>
          <p:cNvSpPr/>
          <p:nvPr/>
        </p:nvSpPr>
        <p:spPr>
          <a:xfrm>
            <a:off x="7494359" y="178944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cxnSp>
        <p:nvCxnSpPr>
          <p:cNvPr id="1018" name="Google Shape;1018;p37"/>
          <p:cNvCxnSpPr/>
          <p:nvPr/>
        </p:nvCxnSpPr>
        <p:spPr>
          <a:xfrm flipH="1">
            <a:off x="7837523" y="1215002"/>
            <a:ext cx="1008900" cy="450900"/>
          </a:xfrm>
          <a:prstGeom prst="straightConnector1">
            <a:avLst/>
          </a:prstGeom>
          <a:noFill/>
          <a:ln cap="flat" cmpd="sng" w="9525">
            <a:solidFill>
              <a:srgbClr val="1CA3F1"/>
            </a:solidFill>
            <a:prstDash val="solid"/>
            <a:round/>
            <a:headEnd len="sm" w="sm" type="none"/>
            <a:tailEnd len="sm" w="sm" type="none"/>
          </a:ln>
        </p:spPr>
      </p:cxnSp>
      <p:cxnSp>
        <p:nvCxnSpPr>
          <p:cNvPr id="1019" name="Google Shape;1019;p37"/>
          <p:cNvCxnSpPr/>
          <p:nvPr/>
        </p:nvCxnSpPr>
        <p:spPr>
          <a:xfrm>
            <a:off x="7702673" y="791843"/>
            <a:ext cx="141000" cy="867900"/>
          </a:xfrm>
          <a:prstGeom prst="straightConnector1">
            <a:avLst/>
          </a:prstGeom>
          <a:noFill/>
          <a:ln cap="flat" cmpd="sng" w="9525">
            <a:solidFill>
              <a:srgbClr val="1CA3F1"/>
            </a:solidFill>
            <a:prstDash val="solid"/>
            <a:round/>
            <a:headEnd len="sm" w="sm" type="none"/>
            <a:tailEnd len="sm" w="sm" type="none"/>
          </a:ln>
        </p:spPr>
      </p:cxnSp>
      <p:cxnSp>
        <p:nvCxnSpPr>
          <p:cNvPr id="1020" name="Google Shape;1020;p37"/>
          <p:cNvCxnSpPr>
            <a:stCxn id="939" idx="1"/>
          </p:cNvCxnSpPr>
          <p:nvPr/>
        </p:nvCxnSpPr>
        <p:spPr>
          <a:xfrm>
            <a:off x="6844094" y="1523073"/>
            <a:ext cx="999600" cy="142800"/>
          </a:xfrm>
          <a:prstGeom prst="straightConnector1">
            <a:avLst/>
          </a:prstGeom>
          <a:noFill/>
          <a:ln cap="flat" cmpd="sng" w="9525">
            <a:solidFill>
              <a:srgbClr val="1CA3F1"/>
            </a:solidFill>
            <a:prstDash val="solid"/>
            <a:round/>
            <a:headEnd len="sm" w="sm" type="none"/>
            <a:tailEnd len="sm" w="sm" type="none"/>
          </a:ln>
        </p:spPr>
      </p:cxnSp>
      <p:cxnSp>
        <p:nvCxnSpPr>
          <p:cNvPr id="1021" name="Google Shape;1021;p37"/>
          <p:cNvCxnSpPr/>
          <p:nvPr/>
        </p:nvCxnSpPr>
        <p:spPr>
          <a:xfrm flipH="1">
            <a:off x="7625926" y="1659618"/>
            <a:ext cx="217800" cy="594900"/>
          </a:xfrm>
          <a:prstGeom prst="straightConnector1">
            <a:avLst/>
          </a:prstGeom>
          <a:noFill/>
          <a:ln cap="flat" cmpd="sng" w="9525">
            <a:solidFill>
              <a:srgbClr val="1CA3F1"/>
            </a:solidFill>
            <a:prstDash val="solid"/>
            <a:round/>
            <a:headEnd len="sm" w="sm" type="none"/>
            <a:tailEnd len="sm" w="sm" type="none"/>
          </a:ln>
        </p:spPr>
      </p:cxnSp>
      <p:sp>
        <p:nvSpPr>
          <p:cNvPr id="1022" name="Google Shape;1022;p37"/>
          <p:cNvSpPr/>
          <p:nvPr/>
        </p:nvSpPr>
        <p:spPr>
          <a:xfrm>
            <a:off x="7252531" y="1137945"/>
            <a:ext cx="149100" cy="1548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23" name="Google Shape;1023;p37"/>
          <p:cNvSpPr/>
          <p:nvPr/>
        </p:nvSpPr>
        <p:spPr>
          <a:xfrm>
            <a:off x="7187208" y="1827986"/>
            <a:ext cx="149100" cy="1548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24" name="Google Shape;1024;p37"/>
          <p:cNvSpPr/>
          <p:nvPr/>
        </p:nvSpPr>
        <p:spPr>
          <a:xfrm>
            <a:off x="8132167" y="1037473"/>
            <a:ext cx="149100" cy="1548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025" name="Google Shape;1025;p37"/>
          <p:cNvSpPr/>
          <p:nvPr/>
        </p:nvSpPr>
        <p:spPr>
          <a:xfrm>
            <a:off x="8260300" y="1821089"/>
            <a:ext cx="149100" cy="1548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cxnSp>
        <p:nvCxnSpPr>
          <p:cNvPr id="1026" name="Google Shape;1026;p37"/>
          <p:cNvCxnSpPr>
            <a:stCxn id="937" idx="3"/>
            <a:endCxn id="939" idx="1"/>
          </p:cNvCxnSpPr>
          <p:nvPr/>
        </p:nvCxnSpPr>
        <p:spPr>
          <a:xfrm flipH="1" rot="10800000">
            <a:off x="5801700" y="1522984"/>
            <a:ext cx="1042500" cy="1800"/>
          </a:xfrm>
          <a:prstGeom prst="straightConnector1">
            <a:avLst/>
          </a:prstGeom>
          <a:noFill/>
          <a:ln cap="flat" cmpd="sng" w="18275">
            <a:solidFill>
              <a:srgbClr val="B4A7D6"/>
            </a:solidFill>
            <a:prstDash val="solid"/>
            <a:round/>
            <a:headEnd len="sm" w="sm" type="none"/>
            <a:tailEnd len="med" w="med" type="triangle"/>
          </a:ln>
        </p:spPr>
      </p:cxnSp>
      <p:sp>
        <p:nvSpPr>
          <p:cNvPr id="1027" name="Google Shape;1027;p37"/>
          <p:cNvSpPr/>
          <p:nvPr/>
        </p:nvSpPr>
        <p:spPr>
          <a:xfrm>
            <a:off x="5863163" y="1397275"/>
            <a:ext cx="807000" cy="211800"/>
          </a:xfrm>
          <a:prstGeom prst="roundRect">
            <a:avLst>
              <a:gd fmla="val 7908" name="adj"/>
            </a:avLst>
          </a:prstGeom>
          <a:solidFill>
            <a:srgbClr val="FFFFFF"/>
          </a:solidFill>
          <a:ln cap="flat" cmpd="sng" w="27400">
            <a:solidFill>
              <a:srgbClr val="D9D2E9"/>
            </a:solidFill>
            <a:prstDash val="solid"/>
            <a:round/>
            <a:headEnd len="sm" w="sm" type="none"/>
            <a:tailEnd len="sm" w="sm" type="none"/>
          </a:ln>
        </p:spPr>
        <p:txBody>
          <a:bodyPr anchorCtr="0" anchor="ctr" bIns="87675" lIns="87675" spcFirstLastPara="1" rIns="87675" wrap="square" tIns="87675">
            <a:noAutofit/>
          </a:bodyPr>
          <a:lstStyle/>
          <a:p>
            <a:pPr indent="0" lvl="0" marL="0" marR="0" rtl="0" algn="ctr">
              <a:lnSpc>
                <a:spcPct val="115000"/>
              </a:lnSpc>
              <a:spcBef>
                <a:spcPts val="1151"/>
              </a:spcBef>
              <a:spcAft>
                <a:spcPts val="1151"/>
              </a:spcAft>
              <a:buClr>
                <a:srgbClr val="000000"/>
              </a:buClr>
              <a:buSzPts val="1146"/>
              <a:buFont typeface="Arial"/>
              <a:buNone/>
            </a:pPr>
            <a:r>
              <a:rPr b="1" i="0" lang="en" sz="1146" u="none" cap="none" strike="noStrike">
                <a:solidFill>
                  <a:srgbClr val="B4A7D6"/>
                </a:solidFill>
                <a:latin typeface="Comic Sans MS"/>
                <a:ea typeface="Comic Sans MS"/>
                <a:cs typeface="Comic Sans MS"/>
                <a:sym typeface="Comic Sans MS"/>
              </a:rPr>
              <a:t>Partition</a:t>
            </a:r>
            <a:endParaRPr b="1" i="0" sz="1146" u="none" cap="none" strike="noStrike">
              <a:solidFill>
                <a:srgbClr val="B4A7D6"/>
              </a:solidFill>
              <a:latin typeface="Comic Sans MS"/>
              <a:ea typeface="Comic Sans MS"/>
              <a:cs typeface="Comic Sans MS"/>
              <a:sym typeface="Comic Sans MS"/>
            </a:endParaRPr>
          </a:p>
        </p:txBody>
      </p:sp>
      <p:sp>
        <p:nvSpPr>
          <p:cNvPr id="1028" name="Google Shape;1028;p37"/>
          <p:cNvSpPr/>
          <p:nvPr/>
        </p:nvSpPr>
        <p:spPr>
          <a:xfrm rot="10800000">
            <a:off x="5628282" y="466633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29" name="Google Shape;1029;p37"/>
          <p:cNvSpPr/>
          <p:nvPr/>
        </p:nvSpPr>
        <p:spPr>
          <a:xfrm rot="10800000">
            <a:off x="5446984" y="466633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30" name="Google Shape;1030;p37"/>
          <p:cNvSpPr/>
          <p:nvPr/>
        </p:nvSpPr>
        <p:spPr>
          <a:xfrm rot="10800000">
            <a:off x="5628282" y="451983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31" name="Google Shape;1031;p37"/>
          <p:cNvSpPr/>
          <p:nvPr/>
        </p:nvSpPr>
        <p:spPr>
          <a:xfrm rot="10800000">
            <a:off x="5446984" y="451983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32" name="Google Shape;1032;p37"/>
          <p:cNvSpPr/>
          <p:nvPr/>
        </p:nvSpPr>
        <p:spPr>
          <a:xfrm rot="10800000">
            <a:off x="5628282" y="437379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33" name="Google Shape;1033;p37"/>
          <p:cNvSpPr/>
          <p:nvPr/>
        </p:nvSpPr>
        <p:spPr>
          <a:xfrm rot="10800000">
            <a:off x="5446984" y="437379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34" name="Google Shape;1034;p37"/>
          <p:cNvSpPr/>
          <p:nvPr/>
        </p:nvSpPr>
        <p:spPr>
          <a:xfrm rot="10800000">
            <a:off x="5628282" y="422776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35" name="Google Shape;1035;p37"/>
          <p:cNvSpPr/>
          <p:nvPr/>
        </p:nvSpPr>
        <p:spPr>
          <a:xfrm rot="10800000">
            <a:off x="5446984" y="422776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36" name="Google Shape;1036;p37"/>
          <p:cNvSpPr/>
          <p:nvPr/>
        </p:nvSpPr>
        <p:spPr>
          <a:xfrm rot="10800000">
            <a:off x="5628282" y="4080784"/>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37" name="Google Shape;1037;p37"/>
          <p:cNvSpPr/>
          <p:nvPr/>
        </p:nvSpPr>
        <p:spPr>
          <a:xfrm rot="10800000">
            <a:off x="5446984" y="4080784"/>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38" name="Google Shape;1038;p37"/>
          <p:cNvSpPr/>
          <p:nvPr/>
        </p:nvSpPr>
        <p:spPr>
          <a:xfrm rot="10800000">
            <a:off x="5628282" y="3935219"/>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39" name="Google Shape;1039;p37"/>
          <p:cNvSpPr/>
          <p:nvPr/>
        </p:nvSpPr>
        <p:spPr>
          <a:xfrm rot="10800000">
            <a:off x="5446984" y="3935219"/>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40" name="Google Shape;1040;p37"/>
          <p:cNvSpPr/>
          <p:nvPr/>
        </p:nvSpPr>
        <p:spPr>
          <a:xfrm rot="10800000">
            <a:off x="5627986" y="3787304"/>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41" name="Google Shape;1041;p37"/>
          <p:cNvSpPr/>
          <p:nvPr/>
        </p:nvSpPr>
        <p:spPr>
          <a:xfrm rot="10800000">
            <a:off x="5446689" y="3787304"/>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42" name="Google Shape;1042;p37"/>
          <p:cNvSpPr/>
          <p:nvPr/>
        </p:nvSpPr>
        <p:spPr>
          <a:xfrm rot="10800000">
            <a:off x="5265387" y="466493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43" name="Google Shape;1043;p37"/>
          <p:cNvSpPr/>
          <p:nvPr/>
        </p:nvSpPr>
        <p:spPr>
          <a:xfrm rot="10800000">
            <a:off x="5084090" y="466493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44" name="Google Shape;1044;p37"/>
          <p:cNvSpPr/>
          <p:nvPr/>
        </p:nvSpPr>
        <p:spPr>
          <a:xfrm rot="10800000">
            <a:off x="4902203" y="466540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45" name="Google Shape;1045;p37"/>
          <p:cNvSpPr/>
          <p:nvPr/>
        </p:nvSpPr>
        <p:spPr>
          <a:xfrm rot="10800000">
            <a:off x="4720906" y="466540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46" name="Google Shape;1046;p37"/>
          <p:cNvSpPr/>
          <p:nvPr/>
        </p:nvSpPr>
        <p:spPr>
          <a:xfrm rot="10800000">
            <a:off x="5265387" y="451842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47" name="Google Shape;1047;p37"/>
          <p:cNvSpPr/>
          <p:nvPr/>
        </p:nvSpPr>
        <p:spPr>
          <a:xfrm rot="10800000">
            <a:off x="5084090" y="451842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48" name="Google Shape;1048;p37"/>
          <p:cNvSpPr/>
          <p:nvPr/>
        </p:nvSpPr>
        <p:spPr>
          <a:xfrm rot="10800000">
            <a:off x="4902203" y="451889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49" name="Google Shape;1049;p37"/>
          <p:cNvSpPr/>
          <p:nvPr/>
        </p:nvSpPr>
        <p:spPr>
          <a:xfrm rot="10800000">
            <a:off x="4720906" y="451889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50" name="Google Shape;1050;p37"/>
          <p:cNvSpPr/>
          <p:nvPr/>
        </p:nvSpPr>
        <p:spPr>
          <a:xfrm rot="10800000">
            <a:off x="5265387" y="4372389"/>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51" name="Google Shape;1051;p37"/>
          <p:cNvSpPr/>
          <p:nvPr/>
        </p:nvSpPr>
        <p:spPr>
          <a:xfrm rot="10800000">
            <a:off x="5084090" y="4372389"/>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52" name="Google Shape;1052;p37"/>
          <p:cNvSpPr/>
          <p:nvPr/>
        </p:nvSpPr>
        <p:spPr>
          <a:xfrm rot="10800000">
            <a:off x="4902203" y="437286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53" name="Google Shape;1053;p37"/>
          <p:cNvSpPr/>
          <p:nvPr/>
        </p:nvSpPr>
        <p:spPr>
          <a:xfrm rot="10800000">
            <a:off x="4720906" y="437286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54" name="Google Shape;1054;p37"/>
          <p:cNvSpPr/>
          <p:nvPr/>
        </p:nvSpPr>
        <p:spPr>
          <a:xfrm rot="10800000">
            <a:off x="5265387" y="4226354"/>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55" name="Google Shape;1055;p37"/>
          <p:cNvSpPr/>
          <p:nvPr/>
        </p:nvSpPr>
        <p:spPr>
          <a:xfrm rot="10800000">
            <a:off x="5084090" y="4226354"/>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56" name="Google Shape;1056;p37"/>
          <p:cNvSpPr/>
          <p:nvPr/>
        </p:nvSpPr>
        <p:spPr>
          <a:xfrm rot="10800000">
            <a:off x="4902203" y="422682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57" name="Google Shape;1057;p37"/>
          <p:cNvSpPr/>
          <p:nvPr/>
        </p:nvSpPr>
        <p:spPr>
          <a:xfrm rot="10800000">
            <a:off x="4720906" y="422682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58" name="Google Shape;1058;p37"/>
          <p:cNvSpPr/>
          <p:nvPr/>
        </p:nvSpPr>
        <p:spPr>
          <a:xfrm rot="10800000">
            <a:off x="5265387" y="4079379"/>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59" name="Google Shape;1059;p37"/>
          <p:cNvSpPr/>
          <p:nvPr/>
        </p:nvSpPr>
        <p:spPr>
          <a:xfrm rot="10800000">
            <a:off x="5084090" y="4079379"/>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60" name="Google Shape;1060;p37"/>
          <p:cNvSpPr/>
          <p:nvPr/>
        </p:nvSpPr>
        <p:spPr>
          <a:xfrm rot="10800000">
            <a:off x="4902203" y="407985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61" name="Google Shape;1061;p37"/>
          <p:cNvSpPr/>
          <p:nvPr/>
        </p:nvSpPr>
        <p:spPr>
          <a:xfrm rot="10800000">
            <a:off x="4720906" y="407985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62" name="Google Shape;1062;p37"/>
          <p:cNvSpPr/>
          <p:nvPr/>
        </p:nvSpPr>
        <p:spPr>
          <a:xfrm rot="10800000">
            <a:off x="5265387" y="3933813"/>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63" name="Google Shape;1063;p37"/>
          <p:cNvSpPr/>
          <p:nvPr/>
        </p:nvSpPr>
        <p:spPr>
          <a:xfrm rot="10800000">
            <a:off x="5084090" y="3933813"/>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64" name="Google Shape;1064;p37"/>
          <p:cNvSpPr/>
          <p:nvPr/>
        </p:nvSpPr>
        <p:spPr>
          <a:xfrm rot="10800000">
            <a:off x="4902203" y="393428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65" name="Google Shape;1065;p37"/>
          <p:cNvSpPr/>
          <p:nvPr/>
        </p:nvSpPr>
        <p:spPr>
          <a:xfrm rot="10800000">
            <a:off x="4720906" y="393428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66" name="Google Shape;1066;p37"/>
          <p:cNvSpPr/>
          <p:nvPr/>
        </p:nvSpPr>
        <p:spPr>
          <a:xfrm rot="10800000">
            <a:off x="5265092" y="3785898"/>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67" name="Google Shape;1067;p37"/>
          <p:cNvSpPr/>
          <p:nvPr/>
        </p:nvSpPr>
        <p:spPr>
          <a:xfrm rot="10800000">
            <a:off x="5083795" y="3785898"/>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68" name="Google Shape;1068;p37"/>
          <p:cNvSpPr/>
          <p:nvPr/>
        </p:nvSpPr>
        <p:spPr>
          <a:xfrm rot="10800000">
            <a:off x="4901908" y="378637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69" name="Google Shape;1069;p37"/>
          <p:cNvSpPr/>
          <p:nvPr/>
        </p:nvSpPr>
        <p:spPr>
          <a:xfrm rot="10800000">
            <a:off x="4720611" y="378637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70" name="Google Shape;1070;p37"/>
          <p:cNvSpPr/>
          <p:nvPr/>
        </p:nvSpPr>
        <p:spPr>
          <a:xfrm rot="10800000">
            <a:off x="4539316" y="466540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71" name="Google Shape;1071;p37"/>
          <p:cNvSpPr/>
          <p:nvPr/>
        </p:nvSpPr>
        <p:spPr>
          <a:xfrm rot="10800000">
            <a:off x="4539316" y="451889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72" name="Google Shape;1072;p37"/>
          <p:cNvSpPr/>
          <p:nvPr/>
        </p:nvSpPr>
        <p:spPr>
          <a:xfrm rot="10800000">
            <a:off x="4539316" y="437286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73" name="Google Shape;1073;p37"/>
          <p:cNvSpPr/>
          <p:nvPr/>
        </p:nvSpPr>
        <p:spPr>
          <a:xfrm rot="10800000">
            <a:off x="4539316" y="422682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74" name="Google Shape;1074;p37"/>
          <p:cNvSpPr/>
          <p:nvPr/>
        </p:nvSpPr>
        <p:spPr>
          <a:xfrm rot="10800000">
            <a:off x="4539316" y="407985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75" name="Google Shape;1075;p37"/>
          <p:cNvSpPr/>
          <p:nvPr/>
        </p:nvSpPr>
        <p:spPr>
          <a:xfrm rot="10800000">
            <a:off x="4539316" y="393428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76" name="Google Shape;1076;p37"/>
          <p:cNvSpPr/>
          <p:nvPr/>
        </p:nvSpPr>
        <p:spPr>
          <a:xfrm rot="10800000">
            <a:off x="4539021" y="378637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77" name="Google Shape;1077;p37"/>
          <p:cNvSpPr/>
          <p:nvPr/>
        </p:nvSpPr>
        <p:spPr>
          <a:xfrm rot="10800000">
            <a:off x="5627394" y="378718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78" name="Google Shape;1078;p37"/>
          <p:cNvSpPr/>
          <p:nvPr/>
        </p:nvSpPr>
        <p:spPr>
          <a:xfrm rot="10800000">
            <a:off x="5446097" y="378718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79" name="Google Shape;1079;p37"/>
          <p:cNvSpPr/>
          <p:nvPr/>
        </p:nvSpPr>
        <p:spPr>
          <a:xfrm rot="10800000">
            <a:off x="4357452" y="466587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80" name="Google Shape;1080;p37"/>
          <p:cNvSpPr/>
          <p:nvPr/>
        </p:nvSpPr>
        <p:spPr>
          <a:xfrm rot="10800000">
            <a:off x="4357452" y="451937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81" name="Google Shape;1081;p37"/>
          <p:cNvSpPr/>
          <p:nvPr/>
        </p:nvSpPr>
        <p:spPr>
          <a:xfrm rot="10800000">
            <a:off x="4357452" y="437333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82" name="Google Shape;1082;p37"/>
          <p:cNvSpPr/>
          <p:nvPr/>
        </p:nvSpPr>
        <p:spPr>
          <a:xfrm rot="10800000">
            <a:off x="4357452" y="422730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83" name="Google Shape;1083;p37"/>
          <p:cNvSpPr/>
          <p:nvPr/>
        </p:nvSpPr>
        <p:spPr>
          <a:xfrm rot="10800000">
            <a:off x="4357452" y="408032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84" name="Google Shape;1084;p37"/>
          <p:cNvSpPr/>
          <p:nvPr/>
        </p:nvSpPr>
        <p:spPr>
          <a:xfrm rot="10800000">
            <a:off x="4357452" y="393476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85" name="Google Shape;1085;p37"/>
          <p:cNvSpPr/>
          <p:nvPr/>
        </p:nvSpPr>
        <p:spPr>
          <a:xfrm rot="10800000">
            <a:off x="4357157" y="378684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86" name="Google Shape;1086;p37"/>
          <p:cNvSpPr/>
          <p:nvPr/>
        </p:nvSpPr>
        <p:spPr>
          <a:xfrm rot="10800000">
            <a:off x="4176151" y="4665639"/>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87" name="Google Shape;1087;p37"/>
          <p:cNvSpPr/>
          <p:nvPr/>
        </p:nvSpPr>
        <p:spPr>
          <a:xfrm rot="10800000">
            <a:off x="4176151" y="4519134"/>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88" name="Google Shape;1088;p37"/>
          <p:cNvSpPr/>
          <p:nvPr/>
        </p:nvSpPr>
        <p:spPr>
          <a:xfrm rot="10800000">
            <a:off x="4176151" y="4373098"/>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89" name="Google Shape;1089;p37"/>
          <p:cNvSpPr/>
          <p:nvPr/>
        </p:nvSpPr>
        <p:spPr>
          <a:xfrm rot="10800000">
            <a:off x="4176151" y="4227063"/>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90" name="Google Shape;1090;p37"/>
          <p:cNvSpPr/>
          <p:nvPr/>
        </p:nvSpPr>
        <p:spPr>
          <a:xfrm rot="10800000">
            <a:off x="4176151" y="4080088"/>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91" name="Google Shape;1091;p37"/>
          <p:cNvSpPr/>
          <p:nvPr/>
        </p:nvSpPr>
        <p:spPr>
          <a:xfrm rot="10800000">
            <a:off x="4176151" y="393452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92" name="Google Shape;1092;p37"/>
          <p:cNvSpPr/>
          <p:nvPr/>
        </p:nvSpPr>
        <p:spPr>
          <a:xfrm rot="10800000">
            <a:off x="4175856" y="378660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93" name="Google Shape;1093;p37"/>
          <p:cNvSpPr/>
          <p:nvPr/>
        </p:nvSpPr>
        <p:spPr>
          <a:xfrm rot="10800000">
            <a:off x="5627842" y="364124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94" name="Google Shape;1094;p37"/>
          <p:cNvSpPr/>
          <p:nvPr/>
        </p:nvSpPr>
        <p:spPr>
          <a:xfrm rot="10800000">
            <a:off x="5446544" y="364124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95" name="Google Shape;1095;p37"/>
          <p:cNvSpPr/>
          <p:nvPr/>
        </p:nvSpPr>
        <p:spPr>
          <a:xfrm rot="10800000">
            <a:off x="5627842" y="349568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96" name="Google Shape;1096;p37"/>
          <p:cNvSpPr/>
          <p:nvPr/>
        </p:nvSpPr>
        <p:spPr>
          <a:xfrm rot="10800000">
            <a:off x="5446544" y="349568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97" name="Google Shape;1097;p37"/>
          <p:cNvSpPr/>
          <p:nvPr/>
        </p:nvSpPr>
        <p:spPr>
          <a:xfrm rot="10800000">
            <a:off x="5627546" y="334776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098" name="Google Shape;1098;p37"/>
          <p:cNvSpPr/>
          <p:nvPr/>
        </p:nvSpPr>
        <p:spPr>
          <a:xfrm rot="10800000">
            <a:off x="5446249" y="334776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099" name="Google Shape;1099;p37"/>
          <p:cNvSpPr/>
          <p:nvPr/>
        </p:nvSpPr>
        <p:spPr>
          <a:xfrm rot="10800000">
            <a:off x="5264947" y="363984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100" name="Google Shape;1100;p37"/>
          <p:cNvSpPr/>
          <p:nvPr/>
        </p:nvSpPr>
        <p:spPr>
          <a:xfrm rot="10800000">
            <a:off x="5083650" y="363984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01" name="Google Shape;1101;p37"/>
          <p:cNvSpPr/>
          <p:nvPr/>
        </p:nvSpPr>
        <p:spPr>
          <a:xfrm rot="10800000">
            <a:off x="4901763" y="3640313"/>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02" name="Google Shape;1102;p37"/>
          <p:cNvSpPr/>
          <p:nvPr/>
        </p:nvSpPr>
        <p:spPr>
          <a:xfrm rot="10800000">
            <a:off x="4720466" y="3640313"/>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103" name="Google Shape;1103;p37"/>
          <p:cNvSpPr/>
          <p:nvPr/>
        </p:nvSpPr>
        <p:spPr>
          <a:xfrm rot="10800000">
            <a:off x="5264947" y="349427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104" name="Google Shape;1104;p37"/>
          <p:cNvSpPr/>
          <p:nvPr/>
        </p:nvSpPr>
        <p:spPr>
          <a:xfrm rot="10800000">
            <a:off x="5083650" y="3494276"/>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05" name="Google Shape;1105;p37"/>
          <p:cNvSpPr/>
          <p:nvPr/>
        </p:nvSpPr>
        <p:spPr>
          <a:xfrm rot="10800000">
            <a:off x="4901763" y="349474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06" name="Google Shape;1106;p37"/>
          <p:cNvSpPr/>
          <p:nvPr/>
        </p:nvSpPr>
        <p:spPr>
          <a:xfrm rot="10800000">
            <a:off x="4720466" y="349474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107" name="Google Shape;1107;p37"/>
          <p:cNvSpPr/>
          <p:nvPr/>
        </p:nvSpPr>
        <p:spPr>
          <a:xfrm rot="10800000">
            <a:off x="5264652" y="334636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108" name="Google Shape;1108;p37"/>
          <p:cNvSpPr/>
          <p:nvPr/>
        </p:nvSpPr>
        <p:spPr>
          <a:xfrm rot="10800000">
            <a:off x="5083355" y="3346361"/>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09" name="Google Shape;1109;p37"/>
          <p:cNvSpPr/>
          <p:nvPr/>
        </p:nvSpPr>
        <p:spPr>
          <a:xfrm rot="10800000">
            <a:off x="4901468" y="334683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10" name="Google Shape;1110;p37"/>
          <p:cNvSpPr/>
          <p:nvPr/>
        </p:nvSpPr>
        <p:spPr>
          <a:xfrm rot="10800000">
            <a:off x="4720171" y="334683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111" name="Google Shape;1111;p37"/>
          <p:cNvSpPr/>
          <p:nvPr/>
        </p:nvSpPr>
        <p:spPr>
          <a:xfrm rot="10800000">
            <a:off x="4538876" y="3640313"/>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12" name="Google Shape;1112;p37"/>
          <p:cNvSpPr/>
          <p:nvPr/>
        </p:nvSpPr>
        <p:spPr>
          <a:xfrm rot="10800000">
            <a:off x="4538876" y="349474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13" name="Google Shape;1113;p37"/>
          <p:cNvSpPr/>
          <p:nvPr/>
        </p:nvSpPr>
        <p:spPr>
          <a:xfrm rot="10800000">
            <a:off x="4538581" y="334683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14" name="Google Shape;1114;p37"/>
          <p:cNvSpPr/>
          <p:nvPr/>
        </p:nvSpPr>
        <p:spPr>
          <a:xfrm rot="10800000">
            <a:off x="5626954" y="334764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15" name="Google Shape;1115;p37"/>
          <p:cNvSpPr/>
          <p:nvPr/>
        </p:nvSpPr>
        <p:spPr>
          <a:xfrm rot="10800000">
            <a:off x="5445657" y="334764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1</a:t>
            </a:r>
            <a:endParaRPr b="0" i="0" sz="100" u="none" cap="none" strike="noStrike">
              <a:solidFill>
                <a:srgbClr val="F9CB9C"/>
              </a:solidFill>
              <a:latin typeface="Lato"/>
              <a:ea typeface="Lato"/>
              <a:cs typeface="Lato"/>
              <a:sym typeface="Lato"/>
            </a:endParaRPr>
          </a:p>
        </p:txBody>
      </p:sp>
      <p:sp>
        <p:nvSpPr>
          <p:cNvPr id="1116" name="Google Shape;1116;p37"/>
          <p:cNvSpPr/>
          <p:nvPr/>
        </p:nvSpPr>
        <p:spPr>
          <a:xfrm rot="10800000">
            <a:off x="4357012" y="3640788"/>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17" name="Google Shape;1117;p37"/>
          <p:cNvSpPr/>
          <p:nvPr/>
        </p:nvSpPr>
        <p:spPr>
          <a:xfrm rot="10800000">
            <a:off x="4357012" y="349522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18" name="Google Shape;1118;p37"/>
          <p:cNvSpPr/>
          <p:nvPr/>
        </p:nvSpPr>
        <p:spPr>
          <a:xfrm rot="10800000">
            <a:off x="4356717" y="3347307"/>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19" name="Google Shape;1119;p37"/>
          <p:cNvSpPr/>
          <p:nvPr/>
        </p:nvSpPr>
        <p:spPr>
          <a:xfrm rot="10800000">
            <a:off x="4175711" y="3640550"/>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20" name="Google Shape;1120;p37"/>
          <p:cNvSpPr/>
          <p:nvPr/>
        </p:nvSpPr>
        <p:spPr>
          <a:xfrm rot="10800000">
            <a:off x="4175711" y="3494985"/>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sp>
        <p:nvSpPr>
          <p:cNvPr id="1121" name="Google Shape;1121;p37"/>
          <p:cNvSpPr/>
          <p:nvPr/>
        </p:nvSpPr>
        <p:spPr>
          <a:xfrm rot="10800000">
            <a:off x="4174854" y="3348282"/>
            <a:ext cx="180900" cy="145800"/>
          </a:xfrm>
          <a:prstGeom prst="rect">
            <a:avLst/>
          </a:prstGeom>
          <a:solidFill>
            <a:srgbClr val="F6B26B"/>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9CB9C"/>
                </a:solidFill>
                <a:latin typeface="Lato"/>
                <a:ea typeface="Lato"/>
                <a:cs typeface="Lato"/>
                <a:sym typeface="Lato"/>
              </a:rPr>
              <a:t>0</a:t>
            </a:r>
            <a:endParaRPr b="0" i="0" sz="100" u="none" cap="none" strike="noStrike">
              <a:solidFill>
                <a:srgbClr val="F9CB9C"/>
              </a:solidFill>
              <a:latin typeface="Lato"/>
              <a:ea typeface="Lato"/>
              <a:cs typeface="Lato"/>
              <a:sym typeface="Lato"/>
            </a:endParaRPr>
          </a:p>
        </p:txBody>
      </p:sp>
      <p:grpSp>
        <p:nvGrpSpPr>
          <p:cNvPr id="1122" name="Google Shape;1122;p37"/>
          <p:cNvGrpSpPr/>
          <p:nvPr/>
        </p:nvGrpSpPr>
        <p:grpSpPr>
          <a:xfrm>
            <a:off x="4167820" y="791858"/>
            <a:ext cx="1633828" cy="1465839"/>
            <a:chOff x="3843833" y="790265"/>
            <a:chExt cx="1703679" cy="1528508"/>
          </a:xfrm>
        </p:grpSpPr>
        <p:sp>
          <p:nvSpPr>
            <p:cNvPr id="1123" name="Google Shape;1123;p37"/>
            <p:cNvSpPr/>
            <p:nvPr/>
          </p:nvSpPr>
          <p:spPr>
            <a:xfrm rot="10800000">
              <a:off x="5358812" y="2166673"/>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24" name="Google Shape;1124;p37"/>
            <p:cNvSpPr/>
            <p:nvPr/>
          </p:nvSpPr>
          <p:spPr>
            <a:xfrm rot="10800000">
              <a:off x="5169764" y="2166673"/>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25" name="Google Shape;1125;p37"/>
            <p:cNvSpPr/>
            <p:nvPr/>
          </p:nvSpPr>
          <p:spPr>
            <a:xfrm rot="10800000">
              <a:off x="5358812" y="201390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26" name="Google Shape;1126;p37"/>
            <p:cNvSpPr/>
            <p:nvPr/>
          </p:nvSpPr>
          <p:spPr>
            <a:xfrm rot="10800000">
              <a:off x="5169764" y="201390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27" name="Google Shape;1127;p37"/>
            <p:cNvSpPr/>
            <p:nvPr/>
          </p:nvSpPr>
          <p:spPr>
            <a:xfrm rot="10800000">
              <a:off x="5358812" y="186162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28" name="Google Shape;1128;p37"/>
            <p:cNvSpPr/>
            <p:nvPr/>
          </p:nvSpPr>
          <p:spPr>
            <a:xfrm rot="10800000">
              <a:off x="5169764" y="186162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29" name="Google Shape;1129;p37"/>
            <p:cNvSpPr/>
            <p:nvPr/>
          </p:nvSpPr>
          <p:spPr>
            <a:xfrm rot="10800000">
              <a:off x="5358812" y="170934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30" name="Google Shape;1130;p37"/>
            <p:cNvSpPr/>
            <p:nvPr/>
          </p:nvSpPr>
          <p:spPr>
            <a:xfrm rot="10800000">
              <a:off x="5169764" y="170934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31" name="Google Shape;1131;p37"/>
            <p:cNvSpPr/>
            <p:nvPr/>
          </p:nvSpPr>
          <p:spPr>
            <a:xfrm rot="10800000">
              <a:off x="5358812" y="1556087"/>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32" name="Google Shape;1132;p37"/>
            <p:cNvSpPr/>
            <p:nvPr/>
          </p:nvSpPr>
          <p:spPr>
            <a:xfrm rot="10800000">
              <a:off x="5169764" y="1556087"/>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33" name="Google Shape;1133;p37"/>
            <p:cNvSpPr/>
            <p:nvPr/>
          </p:nvSpPr>
          <p:spPr>
            <a:xfrm rot="10800000">
              <a:off x="5358812" y="1404298"/>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34" name="Google Shape;1134;p37"/>
            <p:cNvSpPr/>
            <p:nvPr/>
          </p:nvSpPr>
          <p:spPr>
            <a:xfrm rot="10800000">
              <a:off x="5169764" y="1404298"/>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35" name="Google Shape;1135;p37"/>
            <p:cNvSpPr/>
            <p:nvPr/>
          </p:nvSpPr>
          <p:spPr>
            <a:xfrm rot="10800000">
              <a:off x="5358505" y="125006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36" name="Google Shape;1136;p37"/>
            <p:cNvSpPr/>
            <p:nvPr/>
          </p:nvSpPr>
          <p:spPr>
            <a:xfrm rot="10800000">
              <a:off x="5169456" y="125006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37" name="Google Shape;1137;p37"/>
            <p:cNvSpPr/>
            <p:nvPr/>
          </p:nvSpPr>
          <p:spPr>
            <a:xfrm rot="10800000">
              <a:off x="4980403" y="2165207"/>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38" name="Google Shape;1138;p37"/>
            <p:cNvSpPr/>
            <p:nvPr/>
          </p:nvSpPr>
          <p:spPr>
            <a:xfrm rot="10800000">
              <a:off x="4791355" y="2165207"/>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39" name="Google Shape;1139;p37"/>
            <p:cNvSpPr/>
            <p:nvPr/>
          </p:nvSpPr>
          <p:spPr>
            <a:xfrm rot="10800000">
              <a:off x="4601692" y="216569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40" name="Google Shape;1140;p37"/>
            <p:cNvSpPr/>
            <p:nvPr/>
          </p:nvSpPr>
          <p:spPr>
            <a:xfrm rot="10800000">
              <a:off x="4412644" y="216569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41" name="Google Shape;1141;p37"/>
            <p:cNvSpPr/>
            <p:nvPr/>
          </p:nvSpPr>
          <p:spPr>
            <a:xfrm rot="10800000">
              <a:off x="4980403" y="2012438"/>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42" name="Google Shape;1142;p37"/>
            <p:cNvSpPr/>
            <p:nvPr/>
          </p:nvSpPr>
          <p:spPr>
            <a:xfrm rot="10800000">
              <a:off x="4791355" y="2012438"/>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43" name="Google Shape;1143;p37"/>
            <p:cNvSpPr/>
            <p:nvPr/>
          </p:nvSpPr>
          <p:spPr>
            <a:xfrm rot="10800000">
              <a:off x="4601692" y="201293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44" name="Google Shape;1144;p37"/>
            <p:cNvSpPr/>
            <p:nvPr/>
          </p:nvSpPr>
          <p:spPr>
            <a:xfrm rot="10800000">
              <a:off x="4412644" y="201293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45" name="Google Shape;1145;p37"/>
            <p:cNvSpPr/>
            <p:nvPr/>
          </p:nvSpPr>
          <p:spPr>
            <a:xfrm rot="10800000">
              <a:off x="4980403" y="186015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46" name="Google Shape;1146;p37"/>
            <p:cNvSpPr/>
            <p:nvPr/>
          </p:nvSpPr>
          <p:spPr>
            <a:xfrm rot="10800000">
              <a:off x="4791355" y="186015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47" name="Google Shape;1147;p37"/>
            <p:cNvSpPr/>
            <p:nvPr/>
          </p:nvSpPr>
          <p:spPr>
            <a:xfrm rot="10800000">
              <a:off x="4601692" y="186065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48" name="Google Shape;1148;p37"/>
            <p:cNvSpPr/>
            <p:nvPr/>
          </p:nvSpPr>
          <p:spPr>
            <a:xfrm rot="10800000">
              <a:off x="4412644" y="186065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49" name="Google Shape;1149;p37"/>
            <p:cNvSpPr/>
            <p:nvPr/>
          </p:nvSpPr>
          <p:spPr>
            <a:xfrm rot="10800000">
              <a:off x="4980403" y="170788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50" name="Google Shape;1150;p37"/>
            <p:cNvSpPr/>
            <p:nvPr/>
          </p:nvSpPr>
          <p:spPr>
            <a:xfrm rot="10800000">
              <a:off x="4791355" y="170788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51" name="Google Shape;1151;p37"/>
            <p:cNvSpPr/>
            <p:nvPr/>
          </p:nvSpPr>
          <p:spPr>
            <a:xfrm rot="10800000">
              <a:off x="4601692" y="170837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52" name="Google Shape;1152;p37"/>
            <p:cNvSpPr/>
            <p:nvPr/>
          </p:nvSpPr>
          <p:spPr>
            <a:xfrm rot="10800000">
              <a:off x="4412644" y="170837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53" name="Google Shape;1153;p37"/>
            <p:cNvSpPr/>
            <p:nvPr/>
          </p:nvSpPr>
          <p:spPr>
            <a:xfrm rot="10800000">
              <a:off x="4980403" y="155462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54" name="Google Shape;1154;p37"/>
            <p:cNvSpPr/>
            <p:nvPr/>
          </p:nvSpPr>
          <p:spPr>
            <a:xfrm rot="10800000">
              <a:off x="4791355" y="155462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55" name="Google Shape;1155;p37"/>
            <p:cNvSpPr/>
            <p:nvPr/>
          </p:nvSpPr>
          <p:spPr>
            <a:xfrm rot="10800000">
              <a:off x="4601692" y="1555113"/>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56" name="Google Shape;1156;p37"/>
            <p:cNvSpPr/>
            <p:nvPr/>
          </p:nvSpPr>
          <p:spPr>
            <a:xfrm rot="10800000">
              <a:off x="4412644" y="1555113"/>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57" name="Google Shape;1157;p37"/>
            <p:cNvSpPr/>
            <p:nvPr/>
          </p:nvSpPr>
          <p:spPr>
            <a:xfrm rot="10800000">
              <a:off x="4980403" y="140283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58" name="Google Shape;1158;p37"/>
            <p:cNvSpPr/>
            <p:nvPr/>
          </p:nvSpPr>
          <p:spPr>
            <a:xfrm rot="10800000">
              <a:off x="4791355" y="140283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59" name="Google Shape;1159;p37"/>
            <p:cNvSpPr/>
            <p:nvPr/>
          </p:nvSpPr>
          <p:spPr>
            <a:xfrm rot="10800000">
              <a:off x="4601692" y="140332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60" name="Google Shape;1160;p37"/>
            <p:cNvSpPr/>
            <p:nvPr/>
          </p:nvSpPr>
          <p:spPr>
            <a:xfrm rot="10800000">
              <a:off x="4412644" y="140332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61" name="Google Shape;1161;p37"/>
            <p:cNvSpPr/>
            <p:nvPr/>
          </p:nvSpPr>
          <p:spPr>
            <a:xfrm rot="10800000">
              <a:off x="4980095" y="124859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62" name="Google Shape;1162;p37"/>
            <p:cNvSpPr/>
            <p:nvPr/>
          </p:nvSpPr>
          <p:spPr>
            <a:xfrm rot="10800000">
              <a:off x="4791047" y="124859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63" name="Google Shape;1163;p37"/>
            <p:cNvSpPr/>
            <p:nvPr/>
          </p:nvSpPr>
          <p:spPr>
            <a:xfrm rot="10800000">
              <a:off x="4601384" y="124908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64" name="Google Shape;1164;p37"/>
            <p:cNvSpPr/>
            <p:nvPr/>
          </p:nvSpPr>
          <p:spPr>
            <a:xfrm rot="10800000">
              <a:off x="4412336" y="124908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65" name="Google Shape;1165;p37"/>
            <p:cNvSpPr/>
            <p:nvPr/>
          </p:nvSpPr>
          <p:spPr>
            <a:xfrm rot="10800000">
              <a:off x="4223291" y="216569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66" name="Google Shape;1166;p37"/>
            <p:cNvSpPr/>
            <p:nvPr/>
          </p:nvSpPr>
          <p:spPr>
            <a:xfrm rot="10800000">
              <a:off x="4223291" y="201293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67" name="Google Shape;1167;p37"/>
            <p:cNvSpPr/>
            <p:nvPr/>
          </p:nvSpPr>
          <p:spPr>
            <a:xfrm rot="10800000">
              <a:off x="4223291" y="186065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68" name="Google Shape;1168;p37"/>
            <p:cNvSpPr/>
            <p:nvPr/>
          </p:nvSpPr>
          <p:spPr>
            <a:xfrm rot="10800000">
              <a:off x="4223291" y="170837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69" name="Google Shape;1169;p37"/>
            <p:cNvSpPr/>
            <p:nvPr/>
          </p:nvSpPr>
          <p:spPr>
            <a:xfrm rot="10800000">
              <a:off x="4223291" y="1555113"/>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70" name="Google Shape;1170;p37"/>
            <p:cNvSpPr/>
            <p:nvPr/>
          </p:nvSpPr>
          <p:spPr>
            <a:xfrm rot="10800000">
              <a:off x="4223291" y="140332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71" name="Google Shape;1171;p37"/>
            <p:cNvSpPr/>
            <p:nvPr/>
          </p:nvSpPr>
          <p:spPr>
            <a:xfrm rot="10800000">
              <a:off x="4222983" y="124908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72" name="Google Shape;1172;p37"/>
            <p:cNvSpPr/>
            <p:nvPr/>
          </p:nvSpPr>
          <p:spPr>
            <a:xfrm rot="10800000">
              <a:off x="5357887" y="124993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73" name="Google Shape;1173;p37"/>
            <p:cNvSpPr/>
            <p:nvPr/>
          </p:nvSpPr>
          <p:spPr>
            <a:xfrm rot="10800000">
              <a:off x="5168839" y="124993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74" name="Google Shape;1174;p37"/>
            <p:cNvSpPr/>
            <p:nvPr/>
          </p:nvSpPr>
          <p:spPr>
            <a:xfrm rot="10800000">
              <a:off x="4033652" y="216619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75" name="Google Shape;1175;p37"/>
            <p:cNvSpPr/>
            <p:nvPr/>
          </p:nvSpPr>
          <p:spPr>
            <a:xfrm rot="10800000">
              <a:off x="4033652" y="201342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76" name="Google Shape;1176;p37"/>
            <p:cNvSpPr/>
            <p:nvPr/>
          </p:nvSpPr>
          <p:spPr>
            <a:xfrm rot="10800000">
              <a:off x="4033652" y="186114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77" name="Google Shape;1177;p37"/>
            <p:cNvSpPr/>
            <p:nvPr/>
          </p:nvSpPr>
          <p:spPr>
            <a:xfrm rot="10800000">
              <a:off x="4033652" y="1708867"/>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78" name="Google Shape;1178;p37"/>
            <p:cNvSpPr/>
            <p:nvPr/>
          </p:nvSpPr>
          <p:spPr>
            <a:xfrm rot="10800000">
              <a:off x="4033652" y="155560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79" name="Google Shape;1179;p37"/>
            <p:cNvSpPr/>
            <p:nvPr/>
          </p:nvSpPr>
          <p:spPr>
            <a:xfrm rot="10800000">
              <a:off x="4033652" y="140382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0" name="Google Shape;1180;p37"/>
            <p:cNvSpPr/>
            <p:nvPr/>
          </p:nvSpPr>
          <p:spPr>
            <a:xfrm rot="10800000">
              <a:off x="4033344" y="124958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1" name="Google Shape;1181;p37"/>
            <p:cNvSpPr/>
            <p:nvPr/>
          </p:nvSpPr>
          <p:spPr>
            <a:xfrm rot="10800000">
              <a:off x="3844600" y="216594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82" name="Google Shape;1182;p37"/>
            <p:cNvSpPr/>
            <p:nvPr/>
          </p:nvSpPr>
          <p:spPr>
            <a:xfrm rot="10800000">
              <a:off x="3844600" y="2013178"/>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3" name="Google Shape;1183;p37"/>
            <p:cNvSpPr/>
            <p:nvPr/>
          </p:nvSpPr>
          <p:spPr>
            <a:xfrm rot="10800000">
              <a:off x="3844600" y="186089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4" name="Google Shape;1184;p37"/>
            <p:cNvSpPr/>
            <p:nvPr/>
          </p:nvSpPr>
          <p:spPr>
            <a:xfrm rot="10800000">
              <a:off x="3844600" y="170862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5" name="Google Shape;1185;p37"/>
            <p:cNvSpPr/>
            <p:nvPr/>
          </p:nvSpPr>
          <p:spPr>
            <a:xfrm rot="10800000">
              <a:off x="3844600" y="155536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6" name="Google Shape;1186;p37"/>
            <p:cNvSpPr/>
            <p:nvPr/>
          </p:nvSpPr>
          <p:spPr>
            <a:xfrm rot="10800000">
              <a:off x="3844600" y="140357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7" name="Google Shape;1187;p37"/>
            <p:cNvSpPr/>
            <p:nvPr/>
          </p:nvSpPr>
          <p:spPr>
            <a:xfrm rot="10800000">
              <a:off x="3844292" y="1249333"/>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8" name="Google Shape;1188;p37"/>
            <p:cNvSpPr/>
            <p:nvPr/>
          </p:nvSpPr>
          <p:spPr>
            <a:xfrm rot="10800000">
              <a:off x="5358354" y="1097758"/>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89" name="Google Shape;1189;p37"/>
            <p:cNvSpPr/>
            <p:nvPr/>
          </p:nvSpPr>
          <p:spPr>
            <a:xfrm rot="10800000">
              <a:off x="5169305" y="1097758"/>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90" name="Google Shape;1190;p37"/>
            <p:cNvSpPr/>
            <p:nvPr/>
          </p:nvSpPr>
          <p:spPr>
            <a:xfrm rot="10800000">
              <a:off x="5358354" y="94596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91" name="Google Shape;1191;p37"/>
            <p:cNvSpPr/>
            <p:nvPr/>
          </p:nvSpPr>
          <p:spPr>
            <a:xfrm rot="10800000">
              <a:off x="5169305" y="945969"/>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92" name="Google Shape;1192;p37"/>
            <p:cNvSpPr/>
            <p:nvPr/>
          </p:nvSpPr>
          <p:spPr>
            <a:xfrm rot="10800000">
              <a:off x="5358046" y="79173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93" name="Google Shape;1193;p37"/>
            <p:cNvSpPr/>
            <p:nvPr/>
          </p:nvSpPr>
          <p:spPr>
            <a:xfrm rot="10800000">
              <a:off x="5168998" y="79173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94" name="Google Shape;1194;p37"/>
            <p:cNvSpPr/>
            <p:nvPr/>
          </p:nvSpPr>
          <p:spPr>
            <a:xfrm rot="10800000">
              <a:off x="4979944" y="109629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95" name="Google Shape;1195;p37"/>
            <p:cNvSpPr/>
            <p:nvPr/>
          </p:nvSpPr>
          <p:spPr>
            <a:xfrm rot="10800000">
              <a:off x="4790896" y="109629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96" name="Google Shape;1196;p37"/>
            <p:cNvSpPr/>
            <p:nvPr/>
          </p:nvSpPr>
          <p:spPr>
            <a:xfrm rot="10800000">
              <a:off x="4601233" y="109678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197" name="Google Shape;1197;p37"/>
            <p:cNvSpPr/>
            <p:nvPr/>
          </p:nvSpPr>
          <p:spPr>
            <a:xfrm rot="10800000">
              <a:off x="4412185" y="109678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98" name="Google Shape;1198;p37"/>
            <p:cNvSpPr/>
            <p:nvPr/>
          </p:nvSpPr>
          <p:spPr>
            <a:xfrm rot="10800000">
              <a:off x="4979944" y="94450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199" name="Google Shape;1199;p37"/>
            <p:cNvSpPr/>
            <p:nvPr/>
          </p:nvSpPr>
          <p:spPr>
            <a:xfrm rot="10800000">
              <a:off x="4790896" y="94450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00" name="Google Shape;1200;p37"/>
            <p:cNvSpPr/>
            <p:nvPr/>
          </p:nvSpPr>
          <p:spPr>
            <a:xfrm rot="10800000">
              <a:off x="4601233" y="94499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01" name="Google Shape;1201;p37"/>
            <p:cNvSpPr/>
            <p:nvPr/>
          </p:nvSpPr>
          <p:spPr>
            <a:xfrm rot="10800000">
              <a:off x="4412185" y="94499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202" name="Google Shape;1202;p37"/>
            <p:cNvSpPr/>
            <p:nvPr/>
          </p:nvSpPr>
          <p:spPr>
            <a:xfrm rot="10800000">
              <a:off x="4979637" y="79026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203" name="Google Shape;1203;p37"/>
            <p:cNvSpPr/>
            <p:nvPr/>
          </p:nvSpPr>
          <p:spPr>
            <a:xfrm rot="10800000">
              <a:off x="4790588" y="79026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04" name="Google Shape;1204;p37"/>
            <p:cNvSpPr/>
            <p:nvPr/>
          </p:nvSpPr>
          <p:spPr>
            <a:xfrm rot="10800000">
              <a:off x="4600926" y="790757"/>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05" name="Google Shape;1205;p37"/>
            <p:cNvSpPr/>
            <p:nvPr/>
          </p:nvSpPr>
          <p:spPr>
            <a:xfrm rot="10800000">
              <a:off x="4411877" y="790757"/>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206" name="Google Shape;1206;p37"/>
            <p:cNvSpPr/>
            <p:nvPr/>
          </p:nvSpPr>
          <p:spPr>
            <a:xfrm rot="10800000">
              <a:off x="4222832" y="109678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07" name="Google Shape;1207;p37"/>
            <p:cNvSpPr/>
            <p:nvPr/>
          </p:nvSpPr>
          <p:spPr>
            <a:xfrm rot="10800000">
              <a:off x="4222832" y="944995"/>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08" name="Google Shape;1208;p37"/>
            <p:cNvSpPr/>
            <p:nvPr/>
          </p:nvSpPr>
          <p:spPr>
            <a:xfrm rot="10800000">
              <a:off x="4222524" y="790757"/>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09" name="Google Shape;1209;p37"/>
            <p:cNvSpPr/>
            <p:nvPr/>
          </p:nvSpPr>
          <p:spPr>
            <a:xfrm rot="10800000">
              <a:off x="5357428" y="79160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10" name="Google Shape;1210;p37"/>
            <p:cNvSpPr/>
            <p:nvPr/>
          </p:nvSpPr>
          <p:spPr>
            <a:xfrm rot="10800000">
              <a:off x="5168380" y="791606"/>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1</a:t>
              </a:r>
              <a:endParaRPr b="0" i="0" sz="100" u="none" cap="none" strike="noStrike">
                <a:solidFill>
                  <a:srgbClr val="C27171"/>
                </a:solidFill>
                <a:latin typeface="Lato"/>
                <a:ea typeface="Lato"/>
                <a:cs typeface="Lato"/>
                <a:sym typeface="Lato"/>
              </a:endParaRPr>
            </a:p>
          </p:txBody>
        </p:sp>
        <p:sp>
          <p:nvSpPr>
            <p:cNvPr id="1211" name="Google Shape;1211;p37"/>
            <p:cNvSpPr/>
            <p:nvPr/>
          </p:nvSpPr>
          <p:spPr>
            <a:xfrm rot="10800000">
              <a:off x="4033193" y="1097280"/>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12" name="Google Shape;1212;p37"/>
            <p:cNvSpPr/>
            <p:nvPr/>
          </p:nvSpPr>
          <p:spPr>
            <a:xfrm rot="10800000">
              <a:off x="4033193" y="945491"/>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13" name="Google Shape;1213;p37"/>
            <p:cNvSpPr/>
            <p:nvPr/>
          </p:nvSpPr>
          <p:spPr>
            <a:xfrm rot="10800000">
              <a:off x="4032885" y="79125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14" name="Google Shape;1214;p37"/>
            <p:cNvSpPr/>
            <p:nvPr/>
          </p:nvSpPr>
          <p:spPr>
            <a:xfrm rot="10800000">
              <a:off x="3844141" y="1097032"/>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15" name="Google Shape;1215;p37"/>
            <p:cNvSpPr/>
            <p:nvPr/>
          </p:nvSpPr>
          <p:spPr>
            <a:xfrm rot="10800000">
              <a:off x="3844141" y="945243"/>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sp>
          <p:nvSpPr>
            <p:cNvPr id="1216" name="Google Shape;1216;p37"/>
            <p:cNvSpPr/>
            <p:nvPr/>
          </p:nvSpPr>
          <p:spPr>
            <a:xfrm rot="10800000">
              <a:off x="3843833" y="791004"/>
              <a:ext cx="188700" cy="152100"/>
            </a:xfrm>
            <a:prstGeom prst="rect">
              <a:avLst/>
            </a:prstGeom>
            <a:solidFill>
              <a:srgbClr val="C27171"/>
            </a:solidFill>
            <a:ln>
              <a:noFill/>
            </a:ln>
          </p:spPr>
          <p:txBody>
            <a:bodyPr anchorCtr="0" anchor="ctr" bIns="91850" lIns="91850" spcFirstLastPara="1" rIns="91850" wrap="square" tIns="9185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27171"/>
                  </a:solidFill>
                  <a:latin typeface="Lato"/>
                  <a:ea typeface="Lato"/>
                  <a:cs typeface="Lato"/>
                  <a:sym typeface="Lato"/>
                </a:rPr>
                <a:t>0</a:t>
              </a:r>
              <a:endParaRPr b="0" i="0" sz="100" u="none" cap="none" strike="noStrike">
                <a:solidFill>
                  <a:srgbClr val="C27171"/>
                </a:solidFill>
                <a:latin typeface="Lato"/>
                <a:ea typeface="Lato"/>
                <a:cs typeface="Lato"/>
                <a:sym typeface="Lato"/>
              </a:endParaRPr>
            </a:p>
          </p:txBody>
        </p:sp>
      </p:grpSp>
      <p:sp>
        <p:nvSpPr>
          <p:cNvPr id="1217" name="Google Shape;1217;p37"/>
          <p:cNvSpPr/>
          <p:nvPr/>
        </p:nvSpPr>
        <p:spPr>
          <a:xfrm rot="10800000">
            <a:off x="8496080" y="3154382"/>
            <a:ext cx="154800" cy="124500"/>
          </a:xfrm>
          <a:prstGeom prst="rect">
            <a:avLst/>
          </a:prstGeom>
          <a:solidFill>
            <a:srgbClr val="D9EAD3"/>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1</a:t>
            </a:r>
            <a:endParaRPr b="0" i="0" sz="100" u="none" cap="none" strike="noStrike">
              <a:solidFill>
                <a:srgbClr val="93C47D"/>
              </a:solidFill>
              <a:latin typeface="Lato"/>
              <a:ea typeface="Lato"/>
              <a:cs typeface="Lato"/>
              <a:sym typeface="Lato"/>
            </a:endParaRPr>
          </a:p>
        </p:txBody>
      </p:sp>
      <p:sp>
        <p:nvSpPr>
          <p:cNvPr id="1218" name="Google Shape;1218;p37"/>
          <p:cNvSpPr/>
          <p:nvPr/>
        </p:nvSpPr>
        <p:spPr>
          <a:xfrm rot="10800000">
            <a:off x="8341124" y="3154382"/>
            <a:ext cx="154800" cy="124500"/>
          </a:xfrm>
          <a:prstGeom prst="rect">
            <a:avLst/>
          </a:prstGeom>
          <a:solidFill>
            <a:srgbClr val="D9EAD3"/>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1</a:t>
            </a:r>
            <a:endParaRPr b="0" i="0" sz="100" u="none" cap="none" strike="noStrike">
              <a:solidFill>
                <a:srgbClr val="93C47D"/>
              </a:solidFill>
              <a:latin typeface="Lato"/>
              <a:ea typeface="Lato"/>
              <a:cs typeface="Lato"/>
              <a:sym typeface="Lato"/>
            </a:endParaRPr>
          </a:p>
        </p:txBody>
      </p:sp>
      <p:sp>
        <p:nvSpPr>
          <p:cNvPr id="1219" name="Google Shape;1219;p37"/>
          <p:cNvSpPr/>
          <p:nvPr/>
        </p:nvSpPr>
        <p:spPr>
          <a:xfrm rot="10800000">
            <a:off x="8496080" y="3029164"/>
            <a:ext cx="154800" cy="124500"/>
          </a:xfrm>
          <a:prstGeom prst="rect">
            <a:avLst/>
          </a:prstGeom>
          <a:solidFill>
            <a:srgbClr val="93C47D"/>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0</a:t>
            </a:r>
            <a:endParaRPr b="0" i="0" sz="100" u="none" cap="none" strike="noStrike">
              <a:solidFill>
                <a:srgbClr val="93C47D"/>
              </a:solidFill>
              <a:latin typeface="Lato"/>
              <a:ea typeface="Lato"/>
              <a:cs typeface="Lato"/>
              <a:sym typeface="Lato"/>
            </a:endParaRPr>
          </a:p>
        </p:txBody>
      </p:sp>
      <p:sp>
        <p:nvSpPr>
          <p:cNvPr id="1220" name="Google Shape;1220;p37"/>
          <p:cNvSpPr/>
          <p:nvPr/>
        </p:nvSpPr>
        <p:spPr>
          <a:xfrm rot="10800000">
            <a:off x="8341124" y="3029164"/>
            <a:ext cx="154800" cy="124500"/>
          </a:xfrm>
          <a:prstGeom prst="rect">
            <a:avLst/>
          </a:prstGeom>
          <a:solidFill>
            <a:srgbClr val="93C47D"/>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1</a:t>
            </a:r>
            <a:endParaRPr b="0" i="0" sz="100" u="none" cap="none" strike="noStrike">
              <a:solidFill>
                <a:srgbClr val="93C47D"/>
              </a:solidFill>
              <a:latin typeface="Lato"/>
              <a:ea typeface="Lato"/>
              <a:cs typeface="Lato"/>
              <a:sym typeface="Lato"/>
            </a:endParaRPr>
          </a:p>
        </p:txBody>
      </p:sp>
      <p:sp>
        <p:nvSpPr>
          <p:cNvPr id="1221" name="Google Shape;1221;p37"/>
          <p:cNvSpPr/>
          <p:nvPr/>
        </p:nvSpPr>
        <p:spPr>
          <a:xfrm rot="10800000">
            <a:off x="8496080" y="2904348"/>
            <a:ext cx="154800" cy="124500"/>
          </a:xfrm>
          <a:prstGeom prst="rect">
            <a:avLst/>
          </a:prstGeom>
          <a:solidFill>
            <a:srgbClr val="B6D7A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B6D7A8"/>
                </a:solidFill>
                <a:latin typeface="Lato"/>
                <a:ea typeface="Lato"/>
                <a:cs typeface="Lato"/>
                <a:sym typeface="Lato"/>
              </a:rPr>
              <a:t>0</a:t>
            </a:r>
            <a:endParaRPr b="0" i="0" sz="100" u="none" cap="none" strike="noStrike">
              <a:solidFill>
                <a:srgbClr val="B6D7A8"/>
              </a:solidFill>
              <a:latin typeface="Lato"/>
              <a:ea typeface="Lato"/>
              <a:cs typeface="Lato"/>
              <a:sym typeface="Lato"/>
            </a:endParaRPr>
          </a:p>
        </p:txBody>
      </p:sp>
      <p:sp>
        <p:nvSpPr>
          <p:cNvPr id="1222" name="Google Shape;1222;p37"/>
          <p:cNvSpPr/>
          <p:nvPr/>
        </p:nvSpPr>
        <p:spPr>
          <a:xfrm rot="10800000">
            <a:off x="8341124" y="2904348"/>
            <a:ext cx="154800" cy="124500"/>
          </a:xfrm>
          <a:prstGeom prst="rect">
            <a:avLst/>
          </a:prstGeom>
          <a:solidFill>
            <a:srgbClr val="B6D7A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B6D7A8"/>
                </a:solidFill>
                <a:latin typeface="Lato"/>
                <a:ea typeface="Lato"/>
                <a:cs typeface="Lato"/>
                <a:sym typeface="Lato"/>
              </a:rPr>
              <a:t>1</a:t>
            </a:r>
            <a:endParaRPr b="0" i="0" sz="100" u="none" cap="none" strike="noStrike">
              <a:solidFill>
                <a:srgbClr val="B6D7A8"/>
              </a:solidFill>
              <a:latin typeface="Lato"/>
              <a:ea typeface="Lato"/>
              <a:cs typeface="Lato"/>
              <a:sym typeface="Lato"/>
            </a:endParaRPr>
          </a:p>
        </p:txBody>
      </p:sp>
      <p:sp>
        <p:nvSpPr>
          <p:cNvPr id="1223" name="Google Shape;1223;p37"/>
          <p:cNvSpPr/>
          <p:nvPr/>
        </p:nvSpPr>
        <p:spPr>
          <a:xfrm rot="10800000">
            <a:off x="8185912" y="3153180"/>
            <a:ext cx="154800" cy="124500"/>
          </a:xfrm>
          <a:prstGeom prst="rect">
            <a:avLst/>
          </a:prstGeom>
          <a:solidFill>
            <a:srgbClr val="D9EAD3"/>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0</a:t>
            </a:r>
            <a:endParaRPr b="0" i="0" sz="100" u="none" cap="none" strike="noStrike">
              <a:solidFill>
                <a:srgbClr val="93C47D"/>
              </a:solidFill>
              <a:latin typeface="Lato"/>
              <a:ea typeface="Lato"/>
              <a:cs typeface="Lato"/>
              <a:sym typeface="Lato"/>
            </a:endParaRPr>
          </a:p>
        </p:txBody>
      </p:sp>
      <p:sp>
        <p:nvSpPr>
          <p:cNvPr id="1224" name="Google Shape;1224;p37"/>
          <p:cNvSpPr/>
          <p:nvPr/>
        </p:nvSpPr>
        <p:spPr>
          <a:xfrm rot="10800000">
            <a:off x="7768661" y="3154957"/>
            <a:ext cx="154800" cy="124500"/>
          </a:xfrm>
          <a:prstGeom prst="rect">
            <a:avLst/>
          </a:prstGeom>
          <a:solidFill>
            <a:srgbClr val="EA9999"/>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0</a:t>
            </a:r>
            <a:endParaRPr b="0" i="0" sz="100" u="none" cap="none" strike="noStrike">
              <a:solidFill>
                <a:srgbClr val="E06666"/>
              </a:solidFill>
              <a:latin typeface="Lato"/>
              <a:ea typeface="Lato"/>
              <a:cs typeface="Lato"/>
              <a:sym typeface="Lato"/>
            </a:endParaRPr>
          </a:p>
        </p:txBody>
      </p:sp>
      <p:sp>
        <p:nvSpPr>
          <p:cNvPr id="1225" name="Google Shape;1225;p37"/>
          <p:cNvSpPr/>
          <p:nvPr/>
        </p:nvSpPr>
        <p:spPr>
          <a:xfrm rot="10800000">
            <a:off x="7612645" y="3155755"/>
            <a:ext cx="154800" cy="124500"/>
          </a:xfrm>
          <a:prstGeom prst="rect">
            <a:avLst/>
          </a:prstGeom>
          <a:solidFill>
            <a:srgbClr val="EA9999"/>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1</a:t>
            </a:r>
            <a:endParaRPr b="0" i="0" sz="100" u="none" cap="none" strike="noStrike">
              <a:solidFill>
                <a:srgbClr val="E06666"/>
              </a:solidFill>
              <a:latin typeface="Lato"/>
              <a:ea typeface="Lato"/>
              <a:cs typeface="Lato"/>
              <a:sym typeface="Lato"/>
            </a:endParaRPr>
          </a:p>
        </p:txBody>
      </p:sp>
      <p:sp>
        <p:nvSpPr>
          <p:cNvPr id="1226" name="Google Shape;1226;p37"/>
          <p:cNvSpPr/>
          <p:nvPr/>
        </p:nvSpPr>
        <p:spPr>
          <a:xfrm rot="10800000">
            <a:off x="7457690" y="3155755"/>
            <a:ext cx="154800" cy="124500"/>
          </a:xfrm>
          <a:prstGeom prst="rect">
            <a:avLst/>
          </a:prstGeom>
          <a:solidFill>
            <a:srgbClr val="EA9999"/>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1</a:t>
            </a:r>
            <a:endParaRPr b="0" i="0" sz="100" u="none" cap="none" strike="noStrike">
              <a:solidFill>
                <a:srgbClr val="E06666"/>
              </a:solidFill>
              <a:latin typeface="Lato"/>
              <a:ea typeface="Lato"/>
              <a:cs typeface="Lato"/>
              <a:sym typeface="Lato"/>
            </a:endParaRPr>
          </a:p>
        </p:txBody>
      </p:sp>
      <p:sp>
        <p:nvSpPr>
          <p:cNvPr id="1227" name="Google Shape;1227;p37"/>
          <p:cNvSpPr/>
          <p:nvPr/>
        </p:nvSpPr>
        <p:spPr>
          <a:xfrm rot="10800000">
            <a:off x="8185912" y="3027962"/>
            <a:ext cx="154800" cy="124500"/>
          </a:xfrm>
          <a:prstGeom prst="rect">
            <a:avLst/>
          </a:prstGeom>
          <a:solidFill>
            <a:srgbClr val="93C47D"/>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1</a:t>
            </a:r>
            <a:endParaRPr b="0" i="0" sz="100" u="none" cap="none" strike="noStrike">
              <a:solidFill>
                <a:srgbClr val="93C47D"/>
              </a:solidFill>
              <a:latin typeface="Lato"/>
              <a:ea typeface="Lato"/>
              <a:cs typeface="Lato"/>
              <a:sym typeface="Lato"/>
            </a:endParaRPr>
          </a:p>
        </p:txBody>
      </p:sp>
      <p:sp>
        <p:nvSpPr>
          <p:cNvPr id="1228" name="Google Shape;1228;p37"/>
          <p:cNvSpPr/>
          <p:nvPr/>
        </p:nvSpPr>
        <p:spPr>
          <a:xfrm rot="10800000">
            <a:off x="7768105" y="3030134"/>
            <a:ext cx="154800" cy="124500"/>
          </a:xfrm>
          <a:prstGeom prst="rect">
            <a:avLst/>
          </a:prstGeom>
          <a:solidFill>
            <a:srgbClr val="F4CCCC"/>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4CCCC"/>
                </a:solidFill>
                <a:latin typeface="Lato"/>
                <a:ea typeface="Lato"/>
                <a:cs typeface="Lato"/>
                <a:sym typeface="Lato"/>
              </a:rPr>
              <a:t>0</a:t>
            </a:r>
            <a:endParaRPr b="0" i="0" sz="100" u="none" cap="none" strike="noStrike">
              <a:solidFill>
                <a:srgbClr val="F4CCCC"/>
              </a:solidFill>
              <a:latin typeface="Lato"/>
              <a:ea typeface="Lato"/>
              <a:cs typeface="Lato"/>
              <a:sym typeface="Lato"/>
            </a:endParaRPr>
          </a:p>
        </p:txBody>
      </p:sp>
      <p:sp>
        <p:nvSpPr>
          <p:cNvPr id="1229" name="Google Shape;1229;p37"/>
          <p:cNvSpPr/>
          <p:nvPr/>
        </p:nvSpPr>
        <p:spPr>
          <a:xfrm rot="10800000">
            <a:off x="7612645" y="3030537"/>
            <a:ext cx="154800" cy="124500"/>
          </a:xfrm>
          <a:prstGeom prst="rect">
            <a:avLst/>
          </a:prstGeom>
          <a:solidFill>
            <a:srgbClr val="F4CCCC"/>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4CCCC"/>
                </a:solidFill>
                <a:latin typeface="Lato"/>
                <a:ea typeface="Lato"/>
                <a:cs typeface="Lato"/>
                <a:sym typeface="Lato"/>
              </a:rPr>
              <a:t>0</a:t>
            </a:r>
            <a:endParaRPr b="0" i="0" sz="100" u="none" cap="none" strike="noStrike">
              <a:solidFill>
                <a:srgbClr val="F4CCCC"/>
              </a:solidFill>
              <a:latin typeface="Lato"/>
              <a:ea typeface="Lato"/>
              <a:cs typeface="Lato"/>
              <a:sym typeface="Lato"/>
            </a:endParaRPr>
          </a:p>
        </p:txBody>
      </p:sp>
      <p:sp>
        <p:nvSpPr>
          <p:cNvPr id="1230" name="Google Shape;1230;p37"/>
          <p:cNvSpPr/>
          <p:nvPr/>
        </p:nvSpPr>
        <p:spPr>
          <a:xfrm rot="10800000">
            <a:off x="7457690" y="3030537"/>
            <a:ext cx="154800" cy="124500"/>
          </a:xfrm>
          <a:prstGeom prst="rect">
            <a:avLst/>
          </a:prstGeom>
          <a:solidFill>
            <a:srgbClr val="F4CCCC"/>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4CCCC"/>
                </a:solidFill>
                <a:latin typeface="Lato"/>
                <a:ea typeface="Lato"/>
                <a:cs typeface="Lato"/>
                <a:sym typeface="Lato"/>
              </a:rPr>
              <a:t>1</a:t>
            </a:r>
            <a:endParaRPr b="0" i="0" sz="100" u="none" cap="none" strike="noStrike">
              <a:solidFill>
                <a:srgbClr val="F4CCCC"/>
              </a:solidFill>
              <a:latin typeface="Lato"/>
              <a:ea typeface="Lato"/>
              <a:cs typeface="Lato"/>
              <a:sym typeface="Lato"/>
            </a:endParaRPr>
          </a:p>
        </p:txBody>
      </p:sp>
      <p:sp>
        <p:nvSpPr>
          <p:cNvPr id="1231" name="Google Shape;1231;p37"/>
          <p:cNvSpPr/>
          <p:nvPr/>
        </p:nvSpPr>
        <p:spPr>
          <a:xfrm rot="10800000">
            <a:off x="8185912" y="2903146"/>
            <a:ext cx="154800" cy="124500"/>
          </a:xfrm>
          <a:prstGeom prst="rect">
            <a:avLst/>
          </a:prstGeom>
          <a:solidFill>
            <a:srgbClr val="B6D7A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B6D7A8"/>
                </a:solidFill>
                <a:latin typeface="Lato"/>
                <a:ea typeface="Lato"/>
                <a:cs typeface="Lato"/>
                <a:sym typeface="Lato"/>
              </a:rPr>
              <a:t>1</a:t>
            </a:r>
            <a:endParaRPr b="0" i="0" sz="100" u="none" cap="none" strike="noStrike">
              <a:solidFill>
                <a:srgbClr val="B6D7A8"/>
              </a:solidFill>
              <a:latin typeface="Lato"/>
              <a:ea typeface="Lato"/>
              <a:cs typeface="Lato"/>
              <a:sym typeface="Lato"/>
            </a:endParaRPr>
          </a:p>
        </p:txBody>
      </p:sp>
      <p:sp>
        <p:nvSpPr>
          <p:cNvPr id="1232" name="Google Shape;1232;p37"/>
          <p:cNvSpPr/>
          <p:nvPr/>
        </p:nvSpPr>
        <p:spPr>
          <a:xfrm rot="10800000">
            <a:off x="7768105" y="2905318"/>
            <a:ext cx="154800" cy="124500"/>
          </a:xfrm>
          <a:prstGeom prst="rect">
            <a:avLst/>
          </a:prstGeom>
          <a:solidFill>
            <a:srgbClr val="E06666"/>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0</a:t>
            </a:r>
            <a:endParaRPr b="0" i="0" sz="100" u="none" cap="none" strike="noStrike">
              <a:solidFill>
                <a:srgbClr val="E06666"/>
              </a:solidFill>
              <a:latin typeface="Lato"/>
              <a:ea typeface="Lato"/>
              <a:cs typeface="Lato"/>
              <a:sym typeface="Lato"/>
            </a:endParaRPr>
          </a:p>
        </p:txBody>
      </p:sp>
      <p:sp>
        <p:nvSpPr>
          <p:cNvPr id="1233" name="Google Shape;1233;p37"/>
          <p:cNvSpPr/>
          <p:nvPr/>
        </p:nvSpPr>
        <p:spPr>
          <a:xfrm rot="10800000">
            <a:off x="7612645" y="2905721"/>
            <a:ext cx="154800" cy="124500"/>
          </a:xfrm>
          <a:prstGeom prst="rect">
            <a:avLst/>
          </a:prstGeom>
          <a:solidFill>
            <a:srgbClr val="E06666"/>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0</a:t>
            </a:r>
            <a:endParaRPr b="0" i="0" sz="100" u="none" cap="none" strike="noStrike">
              <a:solidFill>
                <a:srgbClr val="E06666"/>
              </a:solidFill>
              <a:latin typeface="Lato"/>
              <a:ea typeface="Lato"/>
              <a:cs typeface="Lato"/>
              <a:sym typeface="Lato"/>
            </a:endParaRPr>
          </a:p>
        </p:txBody>
      </p:sp>
      <p:sp>
        <p:nvSpPr>
          <p:cNvPr id="1234" name="Google Shape;1234;p37"/>
          <p:cNvSpPr/>
          <p:nvPr/>
        </p:nvSpPr>
        <p:spPr>
          <a:xfrm rot="10800000">
            <a:off x="7457690" y="2905721"/>
            <a:ext cx="154800" cy="124500"/>
          </a:xfrm>
          <a:prstGeom prst="rect">
            <a:avLst/>
          </a:prstGeom>
          <a:solidFill>
            <a:srgbClr val="E06666"/>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1</a:t>
            </a:r>
            <a:endParaRPr b="0" i="0" sz="100" u="none" cap="none" strike="noStrike">
              <a:solidFill>
                <a:srgbClr val="E06666"/>
              </a:solidFill>
              <a:latin typeface="Lato"/>
              <a:ea typeface="Lato"/>
              <a:cs typeface="Lato"/>
              <a:sym typeface="Lato"/>
            </a:endParaRPr>
          </a:p>
        </p:txBody>
      </p:sp>
      <p:sp>
        <p:nvSpPr>
          <p:cNvPr id="1235" name="Google Shape;1235;p37"/>
          <p:cNvSpPr/>
          <p:nvPr/>
        </p:nvSpPr>
        <p:spPr>
          <a:xfrm rot="10800000">
            <a:off x="7040497" y="3155923"/>
            <a:ext cx="154800" cy="124500"/>
          </a:xfrm>
          <a:prstGeom prst="rect">
            <a:avLst/>
          </a:prstGeom>
          <a:solidFill>
            <a:srgbClr val="4A86E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4A86E8"/>
                </a:solidFill>
                <a:latin typeface="Lato"/>
                <a:ea typeface="Lato"/>
                <a:cs typeface="Lato"/>
                <a:sym typeface="Lato"/>
              </a:rPr>
              <a:t>1</a:t>
            </a:r>
            <a:endParaRPr b="0" i="0" sz="100" u="none" cap="none" strike="noStrike">
              <a:solidFill>
                <a:srgbClr val="4A86E8"/>
              </a:solidFill>
              <a:latin typeface="Lato"/>
              <a:ea typeface="Lato"/>
              <a:cs typeface="Lato"/>
              <a:sym typeface="Lato"/>
            </a:endParaRPr>
          </a:p>
        </p:txBody>
      </p:sp>
      <p:sp>
        <p:nvSpPr>
          <p:cNvPr id="1236" name="Google Shape;1236;p37"/>
          <p:cNvSpPr/>
          <p:nvPr/>
        </p:nvSpPr>
        <p:spPr>
          <a:xfrm rot="10800000">
            <a:off x="7040497" y="3030706"/>
            <a:ext cx="154800" cy="124500"/>
          </a:xfrm>
          <a:prstGeom prst="rect">
            <a:avLst/>
          </a:prstGeom>
          <a:solidFill>
            <a:srgbClr val="A4C2F4"/>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A4C2F4"/>
                </a:solidFill>
                <a:latin typeface="Lato"/>
                <a:ea typeface="Lato"/>
                <a:cs typeface="Lato"/>
                <a:sym typeface="Lato"/>
              </a:rPr>
              <a:t>0</a:t>
            </a:r>
            <a:endParaRPr b="0" i="0" sz="100" u="none" cap="none" strike="noStrike">
              <a:solidFill>
                <a:srgbClr val="A4C2F4"/>
              </a:solidFill>
              <a:latin typeface="Lato"/>
              <a:ea typeface="Lato"/>
              <a:cs typeface="Lato"/>
              <a:sym typeface="Lato"/>
            </a:endParaRPr>
          </a:p>
        </p:txBody>
      </p:sp>
      <p:sp>
        <p:nvSpPr>
          <p:cNvPr id="1237" name="Google Shape;1237;p37"/>
          <p:cNvSpPr/>
          <p:nvPr/>
        </p:nvSpPr>
        <p:spPr>
          <a:xfrm rot="10800000">
            <a:off x="7040497" y="2905889"/>
            <a:ext cx="154800" cy="124500"/>
          </a:xfrm>
          <a:prstGeom prst="rect">
            <a:avLst/>
          </a:prstGeom>
          <a:solidFill>
            <a:srgbClr val="C9DAF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9DAF8"/>
                </a:solidFill>
                <a:latin typeface="Lato"/>
                <a:ea typeface="Lato"/>
                <a:cs typeface="Lato"/>
                <a:sym typeface="Lato"/>
              </a:rPr>
              <a:t>0</a:t>
            </a:r>
            <a:endParaRPr b="0" i="0" sz="100" u="none" cap="none" strike="noStrike">
              <a:solidFill>
                <a:srgbClr val="C9DAF8"/>
              </a:solidFill>
              <a:latin typeface="Lato"/>
              <a:ea typeface="Lato"/>
              <a:cs typeface="Lato"/>
              <a:sym typeface="Lato"/>
            </a:endParaRPr>
          </a:p>
        </p:txBody>
      </p:sp>
      <p:sp>
        <p:nvSpPr>
          <p:cNvPr id="1238" name="Google Shape;1238;p37"/>
          <p:cNvSpPr/>
          <p:nvPr/>
        </p:nvSpPr>
        <p:spPr>
          <a:xfrm rot="10800000">
            <a:off x="6885057" y="3156330"/>
            <a:ext cx="154800" cy="124500"/>
          </a:xfrm>
          <a:prstGeom prst="rect">
            <a:avLst/>
          </a:prstGeom>
          <a:solidFill>
            <a:srgbClr val="4A86E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4A86E8"/>
                </a:solidFill>
                <a:latin typeface="Lato"/>
                <a:ea typeface="Lato"/>
                <a:cs typeface="Lato"/>
                <a:sym typeface="Lato"/>
              </a:rPr>
              <a:t>1</a:t>
            </a:r>
            <a:endParaRPr b="0" i="0" sz="100" u="none" cap="none" strike="noStrike">
              <a:solidFill>
                <a:srgbClr val="4A86E8"/>
              </a:solidFill>
              <a:latin typeface="Lato"/>
              <a:ea typeface="Lato"/>
              <a:cs typeface="Lato"/>
              <a:sym typeface="Lato"/>
            </a:endParaRPr>
          </a:p>
        </p:txBody>
      </p:sp>
      <p:sp>
        <p:nvSpPr>
          <p:cNvPr id="1239" name="Google Shape;1239;p37"/>
          <p:cNvSpPr/>
          <p:nvPr/>
        </p:nvSpPr>
        <p:spPr>
          <a:xfrm rot="10800000">
            <a:off x="6885057" y="3031112"/>
            <a:ext cx="154800" cy="124500"/>
          </a:xfrm>
          <a:prstGeom prst="rect">
            <a:avLst/>
          </a:prstGeom>
          <a:solidFill>
            <a:srgbClr val="A4C2F4"/>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A4C2F4"/>
                </a:solidFill>
                <a:latin typeface="Lato"/>
                <a:ea typeface="Lato"/>
                <a:cs typeface="Lato"/>
                <a:sym typeface="Lato"/>
              </a:rPr>
              <a:t>0</a:t>
            </a:r>
            <a:endParaRPr b="0" i="0" sz="100" u="none" cap="none" strike="noStrike">
              <a:solidFill>
                <a:srgbClr val="A4C2F4"/>
              </a:solidFill>
              <a:latin typeface="Lato"/>
              <a:ea typeface="Lato"/>
              <a:cs typeface="Lato"/>
              <a:sym typeface="Lato"/>
            </a:endParaRPr>
          </a:p>
        </p:txBody>
      </p:sp>
      <p:sp>
        <p:nvSpPr>
          <p:cNvPr id="1240" name="Google Shape;1240;p37"/>
          <p:cNvSpPr/>
          <p:nvPr/>
        </p:nvSpPr>
        <p:spPr>
          <a:xfrm rot="10800000">
            <a:off x="6885057" y="2906296"/>
            <a:ext cx="154800" cy="124500"/>
          </a:xfrm>
          <a:prstGeom prst="rect">
            <a:avLst/>
          </a:prstGeom>
          <a:solidFill>
            <a:srgbClr val="C9DAF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9DAF8"/>
                </a:solidFill>
                <a:latin typeface="Lato"/>
                <a:ea typeface="Lato"/>
                <a:cs typeface="Lato"/>
                <a:sym typeface="Lato"/>
              </a:rPr>
              <a:t>0</a:t>
            </a:r>
            <a:endParaRPr b="0" i="0" sz="100" u="none" cap="none" strike="noStrike">
              <a:solidFill>
                <a:srgbClr val="C9DAF8"/>
              </a:solidFill>
              <a:latin typeface="Lato"/>
              <a:ea typeface="Lato"/>
              <a:cs typeface="Lato"/>
              <a:sym typeface="Lato"/>
            </a:endParaRPr>
          </a:p>
        </p:txBody>
      </p:sp>
      <p:sp>
        <p:nvSpPr>
          <p:cNvPr id="1241" name="Google Shape;1241;p37"/>
          <p:cNvSpPr/>
          <p:nvPr/>
        </p:nvSpPr>
        <p:spPr>
          <a:xfrm rot="10800000">
            <a:off x="6730098" y="3156126"/>
            <a:ext cx="154800" cy="124500"/>
          </a:xfrm>
          <a:prstGeom prst="rect">
            <a:avLst/>
          </a:prstGeom>
          <a:solidFill>
            <a:srgbClr val="4A86E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4A86E8"/>
                </a:solidFill>
                <a:latin typeface="Lato"/>
                <a:ea typeface="Lato"/>
                <a:cs typeface="Lato"/>
                <a:sym typeface="Lato"/>
              </a:rPr>
              <a:t>1</a:t>
            </a:r>
            <a:endParaRPr b="0" i="0" sz="100" u="none" cap="none" strike="noStrike">
              <a:solidFill>
                <a:srgbClr val="4A86E8"/>
              </a:solidFill>
              <a:latin typeface="Lato"/>
              <a:ea typeface="Lato"/>
              <a:cs typeface="Lato"/>
              <a:sym typeface="Lato"/>
            </a:endParaRPr>
          </a:p>
        </p:txBody>
      </p:sp>
      <p:sp>
        <p:nvSpPr>
          <p:cNvPr id="1242" name="Google Shape;1242;p37"/>
          <p:cNvSpPr/>
          <p:nvPr/>
        </p:nvSpPr>
        <p:spPr>
          <a:xfrm rot="10800000">
            <a:off x="6730098" y="3030909"/>
            <a:ext cx="154800" cy="124500"/>
          </a:xfrm>
          <a:prstGeom prst="rect">
            <a:avLst/>
          </a:prstGeom>
          <a:solidFill>
            <a:srgbClr val="A4C2F4"/>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A4C2F4"/>
                </a:solidFill>
                <a:latin typeface="Lato"/>
                <a:ea typeface="Lato"/>
                <a:cs typeface="Lato"/>
                <a:sym typeface="Lato"/>
              </a:rPr>
              <a:t>0</a:t>
            </a:r>
            <a:endParaRPr b="0" i="0" sz="100" u="none" cap="none" strike="noStrike">
              <a:solidFill>
                <a:srgbClr val="A4C2F4"/>
              </a:solidFill>
              <a:latin typeface="Lato"/>
              <a:ea typeface="Lato"/>
              <a:cs typeface="Lato"/>
              <a:sym typeface="Lato"/>
            </a:endParaRPr>
          </a:p>
        </p:txBody>
      </p:sp>
      <p:sp>
        <p:nvSpPr>
          <p:cNvPr id="1243" name="Google Shape;1243;p37"/>
          <p:cNvSpPr/>
          <p:nvPr/>
        </p:nvSpPr>
        <p:spPr>
          <a:xfrm rot="10800000">
            <a:off x="6730098" y="2906093"/>
            <a:ext cx="154800" cy="124500"/>
          </a:xfrm>
          <a:prstGeom prst="rect">
            <a:avLst/>
          </a:prstGeom>
          <a:solidFill>
            <a:srgbClr val="C9DAF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9DAF8"/>
                </a:solidFill>
                <a:latin typeface="Lato"/>
                <a:ea typeface="Lato"/>
                <a:cs typeface="Lato"/>
                <a:sym typeface="Lato"/>
              </a:rPr>
              <a:t>0</a:t>
            </a:r>
            <a:endParaRPr b="0" i="0" sz="100" u="none" cap="none" strike="noStrike">
              <a:solidFill>
                <a:srgbClr val="C9DAF8"/>
              </a:solidFill>
              <a:latin typeface="Lato"/>
              <a:ea typeface="Lato"/>
              <a:cs typeface="Lato"/>
              <a:sym typeface="Lato"/>
            </a:endParaRPr>
          </a:p>
        </p:txBody>
      </p:sp>
      <p:sp>
        <p:nvSpPr>
          <p:cNvPr id="1244" name="Google Shape;1244;p37"/>
          <p:cNvSpPr/>
          <p:nvPr/>
        </p:nvSpPr>
        <p:spPr>
          <a:xfrm>
            <a:off x="6455880" y="3440763"/>
            <a:ext cx="248400" cy="180900"/>
          </a:xfrm>
          <a:prstGeom prst="roundRect">
            <a:avLst>
              <a:gd fmla="val 7908" name="adj"/>
            </a:avLst>
          </a:prstGeom>
          <a:noFill/>
          <a:ln cap="flat" cmpd="sng" w="16700">
            <a:solidFill>
              <a:srgbClr val="CFE2F3"/>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c11</a:t>
            </a:r>
            <a:endParaRPr b="1" i="0" sz="584" u="none" cap="none" strike="noStrike">
              <a:solidFill>
                <a:srgbClr val="000000"/>
              </a:solidFill>
              <a:latin typeface="Comic Sans MS"/>
              <a:ea typeface="Comic Sans MS"/>
              <a:cs typeface="Comic Sans MS"/>
              <a:sym typeface="Comic Sans MS"/>
            </a:endParaRPr>
          </a:p>
        </p:txBody>
      </p:sp>
      <p:sp>
        <p:nvSpPr>
          <p:cNvPr id="1245" name="Google Shape;1245;p37"/>
          <p:cNvSpPr/>
          <p:nvPr/>
        </p:nvSpPr>
        <p:spPr>
          <a:xfrm>
            <a:off x="6733392" y="3440617"/>
            <a:ext cx="248400" cy="180900"/>
          </a:xfrm>
          <a:prstGeom prst="roundRect">
            <a:avLst>
              <a:gd fmla="val 7908" name="adj"/>
            </a:avLst>
          </a:prstGeom>
          <a:noFill/>
          <a:ln cap="flat" cmpd="sng" w="16700">
            <a:solidFill>
              <a:srgbClr val="A4C2F4"/>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c12</a:t>
            </a:r>
            <a:endParaRPr b="1" i="0" sz="584" u="none" cap="none" strike="noStrike">
              <a:solidFill>
                <a:srgbClr val="000000"/>
              </a:solidFill>
              <a:latin typeface="Comic Sans MS"/>
              <a:ea typeface="Comic Sans MS"/>
              <a:cs typeface="Comic Sans MS"/>
              <a:sym typeface="Comic Sans MS"/>
            </a:endParaRPr>
          </a:p>
        </p:txBody>
      </p:sp>
      <p:sp>
        <p:nvSpPr>
          <p:cNvPr id="1246" name="Google Shape;1246;p37"/>
          <p:cNvSpPr/>
          <p:nvPr/>
        </p:nvSpPr>
        <p:spPr>
          <a:xfrm>
            <a:off x="7010905" y="3440617"/>
            <a:ext cx="248400" cy="180900"/>
          </a:xfrm>
          <a:prstGeom prst="roundRect">
            <a:avLst>
              <a:gd fmla="val 7908" name="adj"/>
            </a:avLst>
          </a:prstGeom>
          <a:noFill/>
          <a:ln cap="flat" cmpd="sng" w="16700">
            <a:solidFill>
              <a:srgbClr val="6D9EEB"/>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c13</a:t>
            </a:r>
            <a:endParaRPr b="1" i="0" sz="584" u="none" cap="none" strike="noStrike">
              <a:solidFill>
                <a:srgbClr val="000000"/>
              </a:solidFill>
              <a:latin typeface="Comic Sans MS"/>
              <a:ea typeface="Comic Sans MS"/>
              <a:cs typeface="Comic Sans MS"/>
              <a:sym typeface="Comic Sans MS"/>
            </a:endParaRPr>
          </a:p>
        </p:txBody>
      </p:sp>
      <p:sp>
        <p:nvSpPr>
          <p:cNvPr id="1247" name="Google Shape;1247;p37"/>
          <p:cNvSpPr/>
          <p:nvPr/>
        </p:nvSpPr>
        <p:spPr>
          <a:xfrm>
            <a:off x="7288394" y="3441547"/>
            <a:ext cx="248400" cy="180900"/>
          </a:xfrm>
          <a:prstGeom prst="roundRect">
            <a:avLst>
              <a:gd fmla="val 7908" name="adj"/>
            </a:avLst>
          </a:prstGeom>
          <a:noFill/>
          <a:ln cap="flat" cmpd="sng" w="16700">
            <a:solidFill>
              <a:srgbClr val="E06666"/>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c21</a:t>
            </a:r>
            <a:endParaRPr b="1" i="0" sz="584" u="none" cap="none" strike="noStrike">
              <a:solidFill>
                <a:srgbClr val="000000"/>
              </a:solidFill>
              <a:latin typeface="Comic Sans MS"/>
              <a:ea typeface="Comic Sans MS"/>
              <a:cs typeface="Comic Sans MS"/>
              <a:sym typeface="Comic Sans MS"/>
            </a:endParaRPr>
          </a:p>
        </p:txBody>
      </p:sp>
      <p:sp>
        <p:nvSpPr>
          <p:cNvPr id="1248" name="Google Shape;1248;p37"/>
          <p:cNvSpPr/>
          <p:nvPr/>
        </p:nvSpPr>
        <p:spPr>
          <a:xfrm>
            <a:off x="7565907" y="3441401"/>
            <a:ext cx="248400" cy="180900"/>
          </a:xfrm>
          <a:prstGeom prst="roundRect">
            <a:avLst>
              <a:gd fmla="val 7908" name="adj"/>
            </a:avLst>
          </a:prstGeom>
          <a:noFill/>
          <a:ln cap="flat" cmpd="sng" w="16700">
            <a:solidFill>
              <a:srgbClr val="F4CCCC"/>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c22</a:t>
            </a:r>
            <a:endParaRPr b="1" i="0" sz="584" u="none" cap="none" strike="noStrike">
              <a:solidFill>
                <a:srgbClr val="000000"/>
              </a:solidFill>
              <a:latin typeface="Comic Sans MS"/>
              <a:ea typeface="Comic Sans MS"/>
              <a:cs typeface="Comic Sans MS"/>
              <a:sym typeface="Comic Sans MS"/>
            </a:endParaRPr>
          </a:p>
        </p:txBody>
      </p:sp>
      <p:sp>
        <p:nvSpPr>
          <p:cNvPr id="1249" name="Google Shape;1249;p37"/>
          <p:cNvSpPr/>
          <p:nvPr/>
        </p:nvSpPr>
        <p:spPr>
          <a:xfrm>
            <a:off x="7843419" y="3441401"/>
            <a:ext cx="248400" cy="180900"/>
          </a:xfrm>
          <a:prstGeom prst="roundRect">
            <a:avLst>
              <a:gd fmla="val 7908" name="adj"/>
            </a:avLst>
          </a:prstGeom>
          <a:noFill/>
          <a:ln cap="flat" cmpd="sng" w="16700">
            <a:solidFill>
              <a:srgbClr val="EA9999"/>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c23</a:t>
            </a:r>
            <a:endParaRPr b="1" i="0" sz="584" u="none" cap="none" strike="noStrike">
              <a:solidFill>
                <a:srgbClr val="000000"/>
              </a:solidFill>
              <a:latin typeface="Comic Sans MS"/>
              <a:ea typeface="Comic Sans MS"/>
              <a:cs typeface="Comic Sans MS"/>
              <a:sym typeface="Comic Sans MS"/>
            </a:endParaRPr>
          </a:p>
        </p:txBody>
      </p:sp>
      <p:sp>
        <p:nvSpPr>
          <p:cNvPr id="1250" name="Google Shape;1250;p37"/>
          <p:cNvSpPr/>
          <p:nvPr/>
        </p:nvSpPr>
        <p:spPr>
          <a:xfrm>
            <a:off x="8120908" y="3441470"/>
            <a:ext cx="248400" cy="180900"/>
          </a:xfrm>
          <a:prstGeom prst="roundRect">
            <a:avLst>
              <a:gd fmla="val 7908" name="adj"/>
            </a:avLst>
          </a:prstGeom>
          <a:noFill/>
          <a:ln cap="flat" cmpd="sng" w="16700">
            <a:solidFill>
              <a:srgbClr val="93C47D"/>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c31</a:t>
            </a:r>
            <a:endParaRPr b="1" i="0" sz="584" u="none" cap="none" strike="noStrike">
              <a:solidFill>
                <a:srgbClr val="000000"/>
              </a:solidFill>
              <a:latin typeface="Comic Sans MS"/>
              <a:ea typeface="Comic Sans MS"/>
              <a:cs typeface="Comic Sans MS"/>
              <a:sym typeface="Comic Sans MS"/>
            </a:endParaRPr>
          </a:p>
        </p:txBody>
      </p:sp>
      <p:sp>
        <p:nvSpPr>
          <p:cNvPr id="1251" name="Google Shape;1251;p37"/>
          <p:cNvSpPr/>
          <p:nvPr/>
        </p:nvSpPr>
        <p:spPr>
          <a:xfrm>
            <a:off x="8398421" y="3441324"/>
            <a:ext cx="248400" cy="180900"/>
          </a:xfrm>
          <a:prstGeom prst="roundRect">
            <a:avLst>
              <a:gd fmla="val 7908" name="adj"/>
            </a:avLst>
          </a:prstGeom>
          <a:noFill/>
          <a:ln cap="flat" cmpd="sng" w="16700">
            <a:solidFill>
              <a:srgbClr val="6AA84F"/>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c32</a:t>
            </a:r>
            <a:endParaRPr b="1" i="0" sz="584" u="none" cap="none" strike="noStrike">
              <a:solidFill>
                <a:srgbClr val="000000"/>
              </a:solidFill>
              <a:latin typeface="Comic Sans MS"/>
              <a:ea typeface="Comic Sans MS"/>
              <a:cs typeface="Comic Sans MS"/>
              <a:sym typeface="Comic Sans MS"/>
            </a:endParaRPr>
          </a:p>
        </p:txBody>
      </p:sp>
      <p:sp>
        <p:nvSpPr>
          <p:cNvPr id="1252" name="Google Shape;1252;p37"/>
          <p:cNvSpPr/>
          <p:nvPr/>
        </p:nvSpPr>
        <p:spPr>
          <a:xfrm>
            <a:off x="8675934" y="3441324"/>
            <a:ext cx="248400" cy="180900"/>
          </a:xfrm>
          <a:prstGeom prst="roundRect">
            <a:avLst>
              <a:gd fmla="val 7908" name="adj"/>
            </a:avLst>
          </a:prstGeom>
          <a:noFill/>
          <a:ln cap="flat" cmpd="sng" w="16700">
            <a:solidFill>
              <a:srgbClr val="B6D7A8"/>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c33</a:t>
            </a:r>
            <a:endParaRPr b="1" i="0" sz="584" u="none" cap="none" strike="noStrike">
              <a:solidFill>
                <a:srgbClr val="000000"/>
              </a:solidFill>
              <a:latin typeface="Comic Sans MS"/>
              <a:ea typeface="Comic Sans MS"/>
              <a:cs typeface="Comic Sans MS"/>
              <a:sym typeface="Comic Sans MS"/>
            </a:endParaRPr>
          </a:p>
        </p:txBody>
      </p:sp>
      <p:sp>
        <p:nvSpPr>
          <p:cNvPr id="1253" name="Google Shape;1253;p37"/>
          <p:cNvSpPr/>
          <p:nvPr/>
        </p:nvSpPr>
        <p:spPr>
          <a:xfrm>
            <a:off x="4558511" y="2632161"/>
            <a:ext cx="867600" cy="272700"/>
          </a:xfrm>
          <a:prstGeom prst="roundRect">
            <a:avLst>
              <a:gd fmla="val 32823" name="adj"/>
            </a:avLst>
          </a:prstGeom>
          <a:solidFill>
            <a:srgbClr val="FFF2CC"/>
          </a:solidFill>
          <a:ln cap="flat" cmpd="sng" w="27400">
            <a:solidFill>
              <a:srgbClr val="D9D2E9"/>
            </a:solidFill>
            <a:prstDash val="solid"/>
            <a:round/>
            <a:headEnd len="sm" w="sm" type="none"/>
            <a:tailEnd len="sm" w="sm" type="none"/>
          </a:ln>
        </p:spPr>
        <p:txBody>
          <a:bodyPr anchorCtr="0" anchor="ctr" bIns="87675" lIns="87675" spcFirstLastPara="1" rIns="87675" wrap="square" tIns="87675">
            <a:noAutofit/>
          </a:bodyPr>
          <a:lstStyle/>
          <a:p>
            <a:pPr indent="0" lvl="0" marL="0" marR="0" rtl="0" algn="ctr">
              <a:lnSpc>
                <a:spcPct val="115000"/>
              </a:lnSpc>
              <a:spcBef>
                <a:spcPts val="1151"/>
              </a:spcBef>
              <a:spcAft>
                <a:spcPts val="1151"/>
              </a:spcAft>
              <a:buClr>
                <a:srgbClr val="000000"/>
              </a:buClr>
              <a:buSzPts val="1246"/>
              <a:buFont typeface="Arial"/>
              <a:buNone/>
            </a:pPr>
            <a:r>
              <a:rPr b="1" i="0" lang="en" sz="1246" u="none" cap="none" strike="noStrike">
                <a:solidFill>
                  <a:srgbClr val="B4A7D6"/>
                </a:solidFill>
                <a:latin typeface="Comic Sans MS"/>
                <a:ea typeface="Comic Sans MS"/>
                <a:cs typeface="Comic Sans MS"/>
                <a:sym typeface="Comic Sans MS"/>
              </a:rPr>
              <a:t>Residual</a:t>
            </a:r>
            <a:endParaRPr b="1" i="0" sz="1246" u="none" cap="none" strike="noStrike">
              <a:solidFill>
                <a:srgbClr val="B4A7D6"/>
              </a:solidFill>
              <a:latin typeface="Comic Sans MS"/>
              <a:ea typeface="Comic Sans MS"/>
              <a:cs typeface="Comic Sans MS"/>
              <a:sym typeface="Comic Sans MS"/>
            </a:endParaRPr>
          </a:p>
        </p:txBody>
      </p:sp>
      <p:cxnSp>
        <p:nvCxnSpPr>
          <p:cNvPr id="1254" name="Google Shape;1254;p37"/>
          <p:cNvCxnSpPr>
            <a:stCxn id="1139" idx="0"/>
            <a:endCxn id="1253" idx="0"/>
          </p:cNvCxnSpPr>
          <p:nvPr/>
        </p:nvCxnSpPr>
        <p:spPr>
          <a:xfrm>
            <a:off x="4985089" y="2256763"/>
            <a:ext cx="7200" cy="375300"/>
          </a:xfrm>
          <a:prstGeom prst="straightConnector1">
            <a:avLst/>
          </a:prstGeom>
          <a:noFill/>
          <a:ln cap="flat" cmpd="sng" w="18275">
            <a:solidFill>
              <a:srgbClr val="B4A7D6"/>
            </a:solidFill>
            <a:prstDash val="solid"/>
            <a:round/>
            <a:headEnd len="sm" w="sm" type="none"/>
            <a:tailEnd len="med" w="med" type="triangle"/>
          </a:ln>
        </p:spPr>
      </p:cxnSp>
      <p:cxnSp>
        <p:nvCxnSpPr>
          <p:cNvPr id="1255" name="Google Shape;1255;p37"/>
          <p:cNvCxnSpPr>
            <a:stCxn id="939" idx="2"/>
            <a:endCxn id="1253" idx="3"/>
          </p:cNvCxnSpPr>
          <p:nvPr/>
        </p:nvCxnSpPr>
        <p:spPr>
          <a:xfrm rot="5400000">
            <a:off x="6375644" y="1298673"/>
            <a:ext cx="520200" cy="2419200"/>
          </a:xfrm>
          <a:prstGeom prst="bentConnector2">
            <a:avLst/>
          </a:prstGeom>
          <a:noFill/>
          <a:ln cap="flat" cmpd="sng" w="18275">
            <a:solidFill>
              <a:srgbClr val="B4A7D6"/>
            </a:solidFill>
            <a:prstDash val="solid"/>
            <a:round/>
            <a:headEnd len="sm" w="sm" type="none"/>
            <a:tailEnd len="med" w="med" type="stealth"/>
          </a:ln>
        </p:spPr>
      </p:cxnSp>
      <p:cxnSp>
        <p:nvCxnSpPr>
          <p:cNvPr id="1256" name="Google Shape;1256;p37"/>
          <p:cNvCxnSpPr>
            <a:stCxn id="1253" idx="2"/>
            <a:endCxn id="1109" idx="2"/>
          </p:cNvCxnSpPr>
          <p:nvPr/>
        </p:nvCxnSpPr>
        <p:spPr>
          <a:xfrm flipH="1">
            <a:off x="4992011" y="2904861"/>
            <a:ext cx="300" cy="441900"/>
          </a:xfrm>
          <a:prstGeom prst="straightConnector1">
            <a:avLst/>
          </a:prstGeom>
          <a:noFill/>
          <a:ln cap="flat" cmpd="sng" w="18275">
            <a:solidFill>
              <a:srgbClr val="B4A7D6"/>
            </a:solidFill>
            <a:prstDash val="solid"/>
            <a:round/>
            <a:headEnd len="sm" w="sm" type="none"/>
            <a:tailEnd len="med" w="med" type="triangle"/>
          </a:ln>
        </p:spPr>
      </p:cxnSp>
      <p:sp>
        <p:nvSpPr>
          <p:cNvPr id="1257" name="Google Shape;1257;p37"/>
          <p:cNvSpPr/>
          <p:nvPr/>
        </p:nvSpPr>
        <p:spPr>
          <a:xfrm>
            <a:off x="7619306" y="3752047"/>
            <a:ext cx="235500" cy="171900"/>
          </a:xfrm>
          <a:prstGeom prst="roundRect">
            <a:avLst>
              <a:gd fmla="val 7908" name="adj"/>
            </a:avLst>
          </a:prstGeom>
          <a:solidFill>
            <a:srgbClr val="FFFFFF"/>
          </a:solidFill>
          <a:ln cap="flat" cmpd="sng" w="15850">
            <a:solidFill>
              <a:srgbClr val="CFE2F3"/>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c11</a:t>
            </a:r>
            <a:endParaRPr b="1" i="0" sz="554" u="none" cap="none" strike="noStrike">
              <a:solidFill>
                <a:srgbClr val="000000"/>
              </a:solidFill>
              <a:latin typeface="Comic Sans MS"/>
              <a:ea typeface="Comic Sans MS"/>
              <a:cs typeface="Comic Sans MS"/>
              <a:sym typeface="Comic Sans MS"/>
            </a:endParaRPr>
          </a:p>
        </p:txBody>
      </p:sp>
      <p:sp>
        <p:nvSpPr>
          <p:cNvPr id="1258" name="Google Shape;1258;p37"/>
          <p:cNvSpPr/>
          <p:nvPr/>
        </p:nvSpPr>
        <p:spPr>
          <a:xfrm>
            <a:off x="7619304" y="3987800"/>
            <a:ext cx="235500" cy="171900"/>
          </a:xfrm>
          <a:prstGeom prst="roundRect">
            <a:avLst>
              <a:gd fmla="val 7908" name="adj"/>
            </a:avLst>
          </a:prstGeom>
          <a:solidFill>
            <a:srgbClr val="FFFFFF"/>
          </a:solidFill>
          <a:ln cap="flat" cmpd="sng" w="15850">
            <a:solidFill>
              <a:srgbClr val="A4C2F4"/>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c12</a:t>
            </a:r>
            <a:endParaRPr b="1" i="0" sz="554" u="none" cap="none" strike="noStrike">
              <a:solidFill>
                <a:srgbClr val="000000"/>
              </a:solidFill>
              <a:latin typeface="Comic Sans MS"/>
              <a:ea typeface="Comic Sans MS"/>
              <a:cs typeface="Comic Sans MS"/>
              <a:sym typeface="Comic Sans MS"/>
            </a:endParaRPr>
          </a:p>
        </p:txBody>
      </p:sp>
      <p:sp>
        <p:nvSpPr>
          <p:cNvPr id="1259" name="Google Shape;1259;p37"/>
          <p:cNvSpPr/>
          <p:nvPr/>
        </p:nvSpPr>
        <p:spPr>
          <a:xfrm>
            <a:off x="7619302" y="4435603"/>
            <a:ext cx="235500" cy="171900"/>
          </a:xfrm>
          <a:prstGeom prst="roundRect">
            <a:avLst>
              <a:gd fmla="val 7908" name="adj"/>
            </a:avLst>
          </a:prstGeom>
          <a:solidFill>
            <a:srgbClr val="FFFFFF"/>
          </a:solidFill>
          <a:ln cap="flat" cmpd="sng" w="15850">
            <a:solidFill>
              <a:srgbClr val="6D9EEB"/>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c13</a:t>
            </a:r>
            <a:endParaRPr b="1" i="0" sz="554" u="none" cap="none" strike="noStrike">
              <a:solidFill>
                <a:srgbClr val="000000"/>
              </a:solidFill>
              <a:latin typeface="Comic Sans MS"/>
              <a:ea typeface="Comic Sans MS"/>
              <a:cs typeface="Comic Sans MS"/>
              <a:sym typeface="Comic Sans MS"/>
            </a:endParaRPr>
          </a:p>
        </p:txBody>
      </p:sp>
      <p:sp>
        <p:nvSpPr>
          <p:cNvPr id="1260" name="Google Shape;1260;p37"/>
          <p:cNvSpPr/>
          <p:nvPr/>
        </p:nvSpPr>
        <p:spPr>
          <a:xfrm>
            <a:off x="7892751" y="3752037"/>
            <a:ext cx="235500" cy="171900"/>
          </a:xfrm>
          <a:prstGeom prst="roundRect">
            <a:avLst>
              <a:gd fmla="val 7908" name="adj"/>
            </a:avLst>
          </a:prstGeom>
          <a:solidFill>
            <a:srgbClr val="FFFFFF"/>
          </a:solidFill>
          <a:ln cap="flat" cmpd="sng" w="15850">
            <a:solidFill>
              <a:srgbClr val="E06666"/>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c21</a:t>
            </a:r>
            <a:endParaRPr b="1" i="0" sz="554" u="none" cap="none" strike="noStrike">
              <a:solidFill>
                <a:srgbClr val="000000"/>
              </a:solidFill>
              <a:latin typeface="Comic Sans MS"/>
              <a:ea typeface="Comic Sans MS"/>
              <a:cs typeface="Comic Sans MS"/>
              <a:sym typeface="Comic Sans MS"/>
            </a:endParaRPr>
          </a:p>
        </p:txBody>
      </p:sp>
      <p:sp>
        <p:nvSpPr>
          <p:cNvPr id="1261" name="Google Shape;1261;p37"/>
          <p:cNvSpPr/>
          <p:nvPr/>
        </p:nvSpPr>
        <p:spPr>
          <a:xfrm>
            <a:off x="7892750" y="4435612"/>
            <a:ext cx="235500" cy="171900"/>
          </a:xfrm>
          <a:prstGeom prst="roundRect">
            <a:avLst>
              <a:gd fmla="val 7908" name="adj"/>
            </a:avLst>
          </a:prstGeom>
          <a:solidFill>
            <a:srgbClr val="FFFFFF"/>
          </a:solidFill>
          <a:ln cap="flat" cmpd="sng" w="15850">
            <a:solidFill>
              <a:srgbClr val="F4CCCC"/>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c22</a:t>
            </a:r>
            <a:endParaRPr b="1" i="0" sz="554" u="none" cap="none" strike="noStrike">
              <a:solidFill>
                <a:srgbClr val="000000"/>
              </a:solidFill>
              <a:latin typeface="Comic Sans MS"/>
              <a:ea typeface="Comic Sans MS"/>
              <a:cs typeface="Comic Sans MS"/>
              <a:sym typeface="Comic Sans MS"/>
            </a:endParaRPr>
          </a:p>
        </p:txBody>
      </p:sp>
      <p:sp>
        <p:nvSpPr>
          <p:cNvPr id="1262" name="Google Shape;1262;p37"/>
          <p:cNvSpPr/>
          <p:nvPr/>
        </p:nvSpPr>
        <p:spPr>
          <a:xfrm>
            <a:off x="7892748" y="3987809"/>
            <a:ext cx="235500" cy="171900"/>
          </a:xfrm>
          <a:prstGeom prst="roundRect">
            <a:avLst>
              <a:gd fmla="val 7908" name="adj"/>
            </a:avLst>
          </a:prstGeom>
          <a:solidFill>
            <a:srgbClr val="FFFFFF"/>
          </a:solidFill>
          <a:ln cap="flat" cmpd="sng" w="15850">
            <a:solidFill>
              <a:srgbClr val="EA9999"/>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c23</a:t>
            </a:r>
            <a:endParaRPr b="1" i="0" sz="554" u="none" cap="none" strike="noStrike">
              <a:solidFill>
                <a:srgbClr val="000000"/>
              </a:solidFill>
              <a:latin typeface="Comic Sans MS"/>
              <a:ea typeface="Comic Sans MS"/>
              <a:cs typeface="Comic Sans MS"/>
              <a:sym typeface="Comic Sans MS"/>
            </a:endParaRPr>
          </a:p>
        </p:txBody>
      </p:sp>
      <p:sp>
        <p:nvSpPr>
          <p:cNvPr id="1263" name="Google Shape;1263;p37"/>
          <p:cNvSpPr/>
          <p:nvPr/>
        </p:nvSpPr>
        <p:spPr>
          <a:xfrm>
            <a:off x="8166197" y="3752040"/>
            <a:ext cx="235500" cy="171900"/>
          </a:xfrm>
          <a:prstGeom prst="roundRect">
            <a:avLst>
              <a:gd fmla="val 7908" name="adj"/>
            </a:avLst>
          </a:prstGeom>
          <a:solidFill>
            <a:srgbClr val="FFFFFF"/>
          </a:solidFill>
          <a:ln cap="flat" cmpd="sng" w="15850">
            <a:solidFill>
              <a:srgbClr val="93C47D"/>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c31</a:t>
            </a:r>
            <a:endParaRPr b="1" i="0" sz="554" u="none" cap="none" strike="noStrike">
              <a:solidFill>
                <a:srgbClr val="000000"/>
              </a:solidFill>
              <a:latin typeface="Comic Sans MS"/>
              <a:ea typeface="Comic Sans MS"/>
              <a:cs typeface="Comic Sans MS"/>
              <a:sym typeface="Comic Sans MS"/>
            </a:endParaRPr>
          </a:p>
        </p:txBody>
      </p:sp>
      <p:sp>
        <p:nvSpPr>
          <p:cNvPr id="1264" name="Google Shape;1264;p37"/>
          <p:cNvSpPr/>
          <p:nvPr/>
        </p:nvSpPr>
        <p:spPr>
          <a:xfrm>
            <a:off x="8166195" y="3987794"/>
            <a:ext cx="235500" cy="171900"/>
          </a:xfrm>
          <a:prstGeom prst="roundRect">
            <a:avLst>
              <a:gd fmla="val 7908" name="adj"/>
            </a:avLst>
          </a:prstGeom>
          <a:solidFill>
            <a:srgbClr val="FFFFFF"/>
          </a:solidFill>
          <a:ln cap="flat" cmpd="sng" w="15850">
            <a:solidFill>
              <a:srgbClr val="6AA84F"/>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c32</a:t>
            </a:r>
            <a:endParaRPr b="1" i="0" sz="554" u="none" cap="none" strike="noStrike">
              <a:solidFill>
                <a:srgbClr val="000000"/>
              </a:solidFill>
              <a:latin typeface="Comic Sans MS"/>
              <a:ea typeface="Comic Sans MS"/>
              <a:cs typeface="Comic Sans MS"/>
              <a:sym typeface="Comic Sans MS"/>
            </a:endParaRPr>
          </a:p>
        </p:txBody>
      </p:sp>
      <p:sp>
        <p:nvSpPr>
          <p:cNvPr id="1265" name="Google Shape;1265;p37"/>
          <p:cNvSpPr/>
          <p:nvPr/>
        </p:nvSpPr>
        <p:spPr>
          <a:xfrm>
            <a:off x="8166213" y="4435596"/>
            <a:ext cx="235500" cy="171900"/>
          </a:xfrm>
          <a:prstGeom prst="roundRect">
            <a:avLst>
              <a:gd fmla="val 7908" name="adj"/>
            </a:avLst>
          </a:prstGeom>
          <a:solidFill>
            <a:srgbClr val="FFFFFF"/>
          </a:solidFill>
          <a:ln cap="flat" cmpd="sng" w="15850">
            <a:solidFill>
              <a:srgbClr val="B6D7A8"/>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c33</a:t>
            </a:r>
            <a:endParaRPr b="1" i="0" sz="554" u="none" cap="none" strike="noStrike">
              <a:solidFill>
                <a:srgbClr val="000000"/>
              </a:solidFill>
              <a:latin typeface="Comic Sans MS"/>
              <a:ea typeface="Comic Sans MS"/>
              <a:cs typeface="Comic Sans MS"/>
              <a:sym typeface="Comic Sans MS"/>
            </a:endParaRPr>
          </a:p>
        </p:txBody>
      </p:sp>
      <p:sp>
        <p:nvSpPr>
          <p:cNvPr id="1266" name="Google Shape;1266;p37"/>
          <p:cNvSpPr/>
          <p:nvPr/>
        </p:nvSpPr>
        <p:spPr>
          <a:xfrm>
            <a:off x="6978783" y="3779072"/>
            <a:ext cx="328500" cy="117600"/>
          </a:xfrm>
          <a:prstGeom prst="rect">
            <a:avLst/>
          </a:prstGeom>
          <a:noFill/>
          <a:ln>
            <a:noFill/>
          </a:ln>
        </p:spPr>
        <p:txBody>
          <a:bodyPr anchorCtr="0" anchor="ctr" bIns="74025" lIns="74025" spcFirstLastPara="1" rIns="74025" wrap="square" tIns="74025">
            <a:noAutofit/>
          </a:bodyPr>
          <a:lstStyle/>
          <a:p>
            <a:pPr indent="0" lvl="0" marL="0" marR="0" rtl="0" algn="ctr">
              <a:lnSpc>
                <a:spcPct val="100000"/>
              </a:lnSpc>
              <a:spcBef>
                <a:spcPts val="0"/>
              </a:spcBef>
              <a:spcAft>
                <a:spcPts val="0"/>
              </a:spcAft>
              <a:buClr>
                <a:srgbClr val="000000"/>
              </a:buClr>
              <a:buSzPts val="889"/>
              <a:buFont typeface="Arial"/>
              <a:buNone/>
            </a:pPr>
            <a:r>
              <a:rPr b="0" i="0" lang="en" sz="890" u="none" cap="none" strike="noStrike">
                <a:solidFill>
                  <a:srgbClr val="6D9EEB"/>
                </a:solidFill>
                <a:latin typeface="Lato"/>
                <a:ea typeface="Lato"/>
                <a:cs typeface="Lato"/>
                <a:sym typeface="Lato"/>
              </a:rPr>
              <a:t>d</a:t>
            </a:r>
            <a:r>
              <a:rPr b="0" i="0" lang="en" sz="647" u="none" cap="none" strike="noStrike">
                <a:solidFill>
                  <a:srgbClr val="6D9EEB"/>
                </a:solidFill>
                <a:latin typeface="Lato"/>
                <a:ea typeface="Lato"/>
                <a:cs typeface="Lato"/>
                <a:sym typeface="Lato"/>
              </a:rPr>
              <a:t>1</a:t>
            </a:r>
            <a:endParaRPr b="0" i="0" sz="647" u="none" cap="none" strike="noStrike">
              <a:solidFill>
                <a:srgbClr val="6D9EEB"/>
              </a:solidFill>
              <a:latin typeface="Lato"/>
              <a:ea typeface="Lato"/>
              <a:cs typeface="Lato"/>
              <a:sym typeface="Lato"/>
            </a:endParaRPr>
          </a:p>
        </p:txBody>
      </p:sp>
      <p:sp>
        <p:nvSpPr>
          <p:cNvPr id="1267" name="Google Shape;1267;p37"/>
          <p:cNvSpPr/>
          <p:nvPr/>
        </p:nvSpPr>
        <p:spPr>
          <a:xfrm>
            <a:off x="6978250" y="4014834"/>
            <a:ext cx="328500" cy="117600"/>
          </a:xfrm>
          <a:prstGeom prst="rect">
            <a:avLst/>
          </a:prstGeom>
          <a:noFill/>
          <a:ln>
            <a:noFill/>
          </a:ln>
        </p:spPr>
        <p:txBody>
          <a:bodyPr anchorCtr="0" anchor="ctr" bIns="74025" lIns="74025" spcFirstLastPara="1" rIns="74025" wrap="square" tIns="74025">
            <a:noAutofit/>
          </a:bodyPr>
          <a:lstStyle/>
          <a:p>
            <a:pPr indent="0" lvl="0" marL="0" marR="0" rtl="0" algn="ctr">
              <a:lnSpc>
                <a:spcPct val="100000"/>
              </a:lnSpc>
              <a:spcBef>
                <a:spcPts val="0"/>
              </a:spcBef>
              <a:spcAft>
                <a:spcPts val="0"/>
              </a:spcAft>
              <a:buClr>
                <a:srgbClr val="000000"/>
              </a:buClr>
              <a:buSzPts val="889"/>
              <a:buFont typeface="Arial"/>
              <a:buNone/>
            </a:pPr>
            <a:r>
              <a:rPr b="0" i="0" lang="en" sz="890" u="none" cap="none" strike="noStrike">
                <a:solidFill>
                  <a:srgbClr val="B4A7D6"/>
                </a:solidFill>
                <a:latin typeface="Lato"/>
                <a:ea typeface="Lato"/>
                <a:cs typeface="Lato"/>
                <a:sym typeface="Lato"/>
              </a:rPr>
              <a:t>d</a:t>
            </a:r>
            <a:r>
              <a:rPr b="0" i="0" lang="en" sz="647" u="none" cap="none" strike="noStrike">
                <a:solidFill>
                  <a:srgbClr val="B4A7D6"/>
                </a:solidFill>
                <a:latin typeface="Lato"/>
                <a:ea typeface="Lato"/>
                <a:cs typeface="Lato"/>
                <a:sym typeface="Lato"/>
              </a:rPr>
              <a:t>2</a:t>
            </a:r>
            <a:endParaRPr b="0" i="0" sz="647" u="none" cap="none" strike="noStrike">
              <a:solidFill>
                <a:srgbClr val="B4A7D6"/>
              </a:solidFill>
              <a:latin typeface="Lato"/>
              <a:ea typeface="Lato"/>
              <a:cs typeface="Lato"/>
              <a:sym typeface="Lato"/>
            </a:endParaRPr>
          </a:p>
        </p:txBody>
      </p:sp>
      <p:sp>
        <p:nvSpPr>
          <p:cNvPr id="1268" name="Google Shape;1268;p37"/>
          <p:cNvSpPr/>
          <p:nvPr/>
        </p:nvSpPr>
        <p:spPr>
          <a:xfrm>
            <a:off x="6979319" y="4462632"/>
            <a:ext cx="328500" cy="117600"/>
          </a:xfrm>
          <a:prstGeom prst="rect">
            <a:avLst/>
          </a:prstGeom>
          <a:noFill/>
          <a:ln>
            <a:noFill/>
          </a:ln>
        </p:spPr>
        <p:txBody>
          <a:bodyPr anchorCtr="0" anchor="ctr" bIns="74025" lIns="74025" spcFirstLastPara="1" rIns="74025" wrap="square" tIns="74025">
            <a:noAutofit/>
          </a:bodyPr>
          <a:lstStyle/>
          <a:p>
            <a:pPr indent="0" lvl="0" marL="0" marR="0" rtl="0" algn="ctr">
              <a:lnSpc>
                <a:spcPct val="100000"/>
              </a:lnSpc>
              <a:spcBef>
                <a:spcPts val="0"/>
              </a:spcBef>
              <a:spcAft>
                <a:spcPts val="0"/>
              </a:spcAft>
              <a:buClr>
                <a:srgbClr val="000000"/>
              </a:buClr>
              <a:buSzPts val="889"/>
              <a:buFont typeface="Arial"/>
              <a:buNone/>
            </a:pPr>
            <a:r>
              <a:rPr b="0" i="0" lang="en" sz="890" u="none" cap="none" strike="noStrike">
                <a:solidFill>
                  <a:srgbClr val="FFE599"/>
                </a:solidFill>
                <a:latin typeface="Lato"/>
                <a:ea typeface="Lato"/>
                <a:cs typeface="Lato"/>
                <a:sym typeface="Lato"/>
              </a:rPr>
              <a:t>d</a:t>
            </a:r>
            <a:r>
              <a:rPr b="0" i="0" lang="en" sz="647" u="none" cap="none" strike="noStrike">
                <a:solidFill>
                  <a:srgbClr val="FFE599"/>
                </a:solidFill>
                <a:latin typeface="Lato"/>
                <a:ea typeface="Lato"/>
                <a:cs typeface="Lato"/>
                <a:sym typeface="Lato"/>
              </a:rPr>
              <a:t>9</a:t>
            </a:r>
            <a:endParaRPr b="0" i="0" sz="647" u="none" cap="none" strike="noStrike">
              <a:solidFill>
                <a:srgbClr val="FFE599"/>
              </a:solidFill>
              <a:latin typeface="Lato"/>
              <a:ea typeface="Lato"/>
              <a:cs typeface="Lato"/>
              <a:sym typeface="Lato"/>
            </a:endParaRPr>
          </a:p>
        </p:txBody>
      </p:sp>
      <p:sp>
        <p:nvSpPr>
          <p:cNvPr id="1269" name="Google Shape;1269;p37"/>
          <p:cNvSpPr/>
          <p:nvPr/>
        </p:nvSpPr>
        <p:spPr>
          <a:xfrm>
            <a:off x="6978269" y="4690823"/>
            <a:ext cx="328500" cy="117600"/>
          </a:xfrm>
          <a:prstGeom prst="rect">
            <a:avLst/>
          </a:prstGeom>
          <a:noFill/>
          <a:ln>
            <a:noFill/>
          </a:ln>
        </p:spPr>
        <p:txBody>
          <a:bodyPr anchorCtr="0" anchor="ctr" bIns="74025" lIns="74025" spcFirstLastPara="1" rIns="74025" wrap="square" tIns="74025">
            <a:noAutofit/>
          </a:bodyPr>
          <a:lstStyle/>
          <a:p>
            <a:pPr indent="0" lvl="0" marL="0" marR="0" rtl="0" algn="ctr">
              <a:lnSpc>
                <a:spcPct val="100000"/>
              </a:lnSpc>
              <a:spcBef>
                <a:spcPts val="0"/>
              </a:spcBef>
              <a:spcAft>
                <a:spcPts val="0"/>
              </a:spcAft>
              <a:buClr>
                <a:srgbClr val="000000"/>
              </a:buClr>
              <a:buSzPts val="889"/>
              <a:buFont typeface="Arial"/>
              <a:buNone/>
            </a:pPr>
            <a:r>
              <a:rPr b="0" i="0" lang="en" sz="890" u="none" cap="none" strike="noStrike">
                <a:solidFill>
                  <a:srgbClr val="B6D7A8"/>
                </a:solidFill>
                <a:latin typeface="Lato"/>
                <a:ea typeface="Lato"/>
                <a:cs typeface="Lato"/>
                <a:sym typeface="Lato"/>
              </a:rPr>
              <a:t>d</a:t>
            </a:r>
            <a:r>
              <a:rPr b="0" i="0" lang="en" sz="566" u="none" cap="none" strike="noStrike">
                <a:solidFill>
                  <a:srgbClr val="B6D7A8"/>
                </a:solidFill>
                <a:latin typeface="Lato"/>
                <a:ea typeface="Lato"/>
                <a:cs typeface="Lato"/>
                <a:sym typeface="Lato"/>
              </a:rPr>
              <a:t>10</a:t>
            </a:r>
            <a:endParaRPr b="0" i="0" sz="566" u="none" cap="none" strike="noStrike">
              <a:solidFill>
                <a:srgbClr val="B6D7A8"/>
              </a:solidFill>
              <a:latin typeface="Lato"/>
              <a:ea typeface="Lato"/>
              <a:cs typeface="Lato"/>
              <a:sym typeface="Lato"/>
            </a:endParaRPr>
          </a:p>
        </p:txBody>
      </p:sp>
      <p:sp>
        <p:nvSpPr>
          <p:cNvPr id="1270" name="Google Shape;1270;p37"/>
          <p:cNvSpPr/>
          <p:nvPr/>
        </p:nvSpPr>
        <p:spPr>
          <a:xfrm>
            <a:off x="7115992" y="4171975"/>
            <a:ext cx="53100" cy="486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6350" lIns="56350" spcFirstLastPara="1" rIns="56350" wrap="square" tIns="56350">
            <a:noAutofit/>
          </a:bodyPr>
          <a:lstStyle/>
          <a:p>
            <a:pPr indent="0" lvl="0" marL="0" marR="0" rtl="0" algn="ctr">
              <a:lnSpc>
                <a:spcPct val="100000"/>
              </a:lnSpc>
              <a:spcBef>
                <a:spcPts val="0"/>
              </a:spcBef>
              <a:spcAft>
                <a:spcPts val="0"/>
              </a:spcAft>
              <a:buClr>
                <a:srgbClr val="000000"/>
              </a:buClr>
              <a:buSzPts val="862"/>
              <a:buFont typeface="Arial"/>
              <a:buNone/>
            </a:pPr>
            <a:r>
              <a:t/>
            </a:r>
            <a:endParaRPr b="0" i="0" sz="862" u="none" cap="none" strike="noStrike">
              <a:solidFill>
                <a:srgbClr val="C27171"/>
              </a:solidFill>
              <a:latin typeface="Lato"/>
              <a:ea typeface="Lato"/>
              <a:cs typeface="Lato"/>
              <a:sym typeface="Lato"/>
            </a:endParaRPr>
          </a:p>
        </p:txBody>
      </p:sp>
      <p:sp>
        <p:nvSpPr>
          <p:cNvPr id="1271" name="Google Shape;1271;p37"/>
          <p:cNvSpPr/>
          <p:nvPr/>
        </p:nvSpPr>
        <p:spPr>
          <a:xfrm>
            <a:off x="7115992" y="4269521"/>
            <a:ext cx="53100" cy="486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6350" lIns="56350" spcFirstLastPara="1" rIns="56350" wrap="square" tIns="56350">
            <a:noAutofit/>
          </a:bodyPr>
          <a:lstStyle/>
          <a:p>
            <a:pPr indent="0" lvl="0" marL="0" marR="0" rtl="0" algn="ctr">
              <a:lnSpc>
                <a:spcPct val="100000"/>
              </a:lnSpc>
              <a:spcBef>
                <a:spcPts val="0"/>
              </a:spcBef>
              <a:spcAft>
                <a:spcPts val="0"/>
              </a:spcAft>
              <a:buClr>
                <a:srgbClr val="000000"/>
              </a:buClr>
              <a:buSzPts val="862"/>
              <a:buFont typeface="Arial"/>
              <a:buNone/>
            </a:pPr>
            <a:r>
              <a:t/>
            </a:r>
            <a:endParaRPr b="0" i="0" sz="862" u="none" cap="none" strike="noStrike">
              <a:solidFill>
                <a:srgbClr val="C27171"/>
              </a:solidFill>
              <a:latin typeface="Lato"/>
              <a:ea typeface="Lato"/>
              <a:cs typeface="Lato"/>
              <a:sym typeface="Lato"/>
            </a:endParaRPr>
          </a:p>
        </p:txBody>
      </p:sp>
      <p:sp>
        <p:nvSpPr>
          <p:cNvPr id="1272" name="Google Shape;1272;p37"/>
          <p:cNvSpPr/>
          <p:nvPr/>
        </p:nvSpPr>
        <p:spPr>
          <a:xfrm>
            <a:off x="7115992" y="4374654"/>
            <a:ext cx="53100" cy="486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6350" lIns="56350" spcFirstLastPara="1" rIns="56350" wrap="square" tIns="56350">
            <a:noAutofit/>
          </a:bodyPr>
          <a:lstStyle/>
          <a:p>
            <a:pPr indent="0" lvl="0" marL="0" marR="0" rtl="0" algn="ctr">
              <a:lnSpc>
                <a:spcPct val="100000"/>
              </a:lnSpc>
              <a:spcBef>
                <a:spcPts val="0"/>
              </a:spcBef>
              <a:spcAft>
                <a:spcPts val="0"/>
              </a:spcAft>
              <a:buClr>
                <a:srgbClr val="000000"/>
              </a:buClr>
              <a:buSzPts val="862"/>
              <a:buFont typeface="Arial"/>
              <a:buNone/>
            </a:pPr>
            <a:r>
              <a:t/>
            </a:r>
            <a:endParaRPr b="0" i="0" sz="862" u="none" cap="none" strike="noStrike">
              <a:solidFill>
                <a:srgbClr val="C27171"/>
              </a:solidFill>
              <a:latin typeface="Lato"/>
              <a:ea typeface="Lato"/>
              <a:cs typeface="Lato"/>
              <a:sym typeface="Lato"/>
            </a:endParaRPr>
          </a:p>
        </p:txBody>
      </p:sp>
      <p:sp>
        <p:nvSpPr>
          <p:cNvPr id="1273" name="Google Shape;1273;p37"/>
          <p:cNvSpPr/>
          <p:nvPr/>
        </p:nvSpPr>
        <p:spPr>
          <a:xfrm>
            <a:off x="8166195" y="4663772"/>
            <a:ext cx="235500" cy="171900"/>
          </a:xfrm>
          <a:prstGeom prst="roundRect">
            <a:avLst>
              <a:gd fmla="val 7908" name="adj"/>
            </a:avLst>
          </a:prstGeom>
          <a:solidFill>
            <a:srgbClr val="FFFFFF"/>
          </a:solidFill>
          <a:ln cap="flat" cmpd="sng" w="15850">
            <a:solidFill>
              <a:srgbClr val="6AA84F"/>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c32</a:t>
            </a:r>
            <a:endParaRPr b="1" i="0" sz="554" u="none" cap="none" strike="noStrike">
              <a:solidFill>
                <a:srgbClr val="000000"/>
              </a:solidFill>
              <a:latin typeface="Comic Sans MS"/>
              <a:ea typeface="Comic Sans MS"/>
              <a:cs typeface="Comic Sans MS"/>
              <a:sym typeface="Comic Sans MS"/>
            </a:endParaRPr>
          </a:p>
        </p:txBody>
      </p:sp>
      <p:sp>
        <p:nvSpPr>
          <p:cNvPr id="1274" name="Google Shape;1274;p37"/>
          <p:cNvSpPr/>
          <p:nvPr/>
        </p:nvSpPr>
        <p:spPr>
          <a:xfrm>
            <a:off x="7619302" y="4663778"/>
            <a:ext cx="235500" cy="171900"/>
          </a:xfrm>
          <a:prstGeom prst="roundRect">
            <a:avLst>
              <a:gd fmla="val 7908" name="adj"/>
            </a:avLst>
          </a:prstGeom>
          <a:solidFill>
            <a:srgbClr val="FFFFFF"/>
          </a:solidFill>
          <a:ln cap="flat" cmpd="sng" w="15850">
            <a:solidFill>
              <a:srgbClr val="6D9EEB"/>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c13</a:t>
            </a:r>
            <a:endParaRPr b="1" i="0" sz="554" u="none" cap="none" strike="noStrike">
              <a:solidFill>
                <a:srgbClr val="000000"/>
              </a:solidFill>
              <a:latin typeface="Comic Sans MS"/>
              <a:ea typeface="Comic Sans MS"/>
              <a:cs typeface="Comic Sans MS"/>
              <a:sym typeface="Comic Sans MS"/>
            </a:endParaRPr>
          </a:p>
        </p:txBody>
      </p:sp>
      <p:sp>
        <p:nvSpPr>
          <p:cNvPr id="1275" name="Google Shape;1275;p37"/>
          <p:cNvSpPr/>
          <p:nvPr/>
        </p:nvSpPr>
        <p:spPr>
          <a:xfrm>
            <a:off x="7892751" y="4663771"/>
            <a:ext cx="235500" cy="171900"/>
          </a:xfrm>
          <a:prstGeom prst="roundRect">
            <a:avLst>
              <a:gd fmla="val 7908" name="adj"/>
            </a:avLst>
          </a:prstGeom>
          <a:solidFill>
            <a:srgbClr val="FFFFFF"/>
          </a:solidFill>
          <a:ln cap="flat" cmpd="sng" w="15850">
            <a:solidFill>
              <a:srgbClr val="E06666"/>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c21</a:t>
            </a:r>
            <a:endParaRPr b="1" i="0" sz="554" u="none" cap="none" strike="noStrike">
              <a:solidFill>
                <a:srgbClr val="000000"/>
              </a:solidFill>
              <a:latin typeface="Comic Sans MS"/>
              <a:ea typeface="Comic Sans MS"/>
              <a:cs typeface="Comic Sans MS"/>
              <a:sym typeface="Comic Sans MS"/>
            </a:endParaRPr>
          </a:p>
        </p:txBody>
      </p:sp>
      <p:cxnSp>
        <p:nvCxnSpPr>
          <p:cNvPr id="1276" name="Google Shape;1276;p37"/>
          <p:cNvCxnSpPr>
            <a:stCxn id="1266" idx="3"/>
            <a:endCxn id="1257" idx="1"/>
          </p:cNvCxnSpPr>
          <p:nvPr/>
        </p:nvCxnSpPr>
        <p:spPr>
          <a:xfrm>
            <a:off x="7307283" y="3837872"/>
            <a:ext cx="312000" cy="0"/>
          </a:xfrm>
          <a:prstGeom prst="straightConnector1">
            <a:avLst/>
          </a:prstGeom>
          <a:noFill/>
          <a:ln cap="flat" cmpd="sng" w="14750">
            <a:solidFill>
              <a:srgbClr val="9FC5E8"/>
            </a:solidFill>
            <a:prstDash val="solid"/>
            <a:round/>
            <a:headEnd len="sm" w="sm" type="none"/>
            <a:tailEnd len="med" w="med" type="triangle"/>
          </a:ln>
        </p:spPr>
      </p:cxnSp>
      <p:cxnSp>
        <p:nvCxnSpPr>
          <p:cNvPr id="1277" name="Google Shape;1277;p37"/>
          <p:cNvCxnSpPr>
            <a:stCxn id="1267" idx="3"/>
            <a:endCxn id="1258" idx="1"/>
          </p:cNvCxnSpPr>
          <p:nvPr/>
        </p:nvCxnSpPr>
        <p:spPr>
          <a:xfrm>
            <a:off x="7306750" y="4073634"/>
            <a:ext cx="312600" cy="0"/>
          </a:xfrm>
          <a:prstGeom prst="straightConnector1">
            <a:avLst/>
          </a:prstGeom>
          <a:noFill/>
          <a:ln cap="flat" cmpd="sng" w="14750">
            <a:solidFill>
              <a:srgbClr val="D9D2E9"/>
            </a:solidFill>
            <a:prstDash val="solid"/>
            <a:round/>
            <a:headEnd len="sm" w="sm" type="none"/>
            <a:tailEnd len="med" w="med" type="triangle"/>
          </a:ln>
        </p:spPr>
      </p:cxnSp>
      <p:cxnSp>
        <p:nvCxnSpPr>
          <p:cNvPr id="1278" name="Google Shape;1278;p37"/>
          <p:cNvCxnSpPr>
            <a:stCxn id="1268" idx="3"/>
            <a:endCxn id="1259" idx="1"/>
          </p:cNvCxnSpPr>
          <p:nvPr/>
        </p:nvCxnSpPr>
        <p:spPr>
          <a:xfrm>
            <a:off x="7307819" y="4521432"/>
            <a:ext cx="311400" cy="0"/>
          </a:xfrm>
          <a:prstGeom prst="straightConnector1">
            <a:avLst/>
          </a:prstGeom>
          <a:noFill/>
          <a:ln cap="flat" cmpd="sng" w="14750">
            <a:solidFill>
              <a:srgbClr val="FFF2CC"/>
            </a:solidFill>
            <a:prstDash val="solid"/>
            <a:round/>
            <a:headEnd len="sm" w="sm" type="none"/>
            <a:tailEnd len="med" w="med" type="triangle"/>
          </a:ln>
        </p:spPr>
      </p:cxnSp>
      <p:cxnSp>
        <p:nvCxnSpPr>
          <p:cNvPr id="1279" name="Google Shape;1279;p37"/>
          <p:cNvCxnSpPr>
            <a:endCxn id="1274" idx="1"/>
          </p:cNvCxnSpPr>
          <p:nvPr/>
        </p:nvCxnSpPr>
        <p:spPr>
          <a:xfrm>
            <a:off x="7306702" y="4749728"/>
            <a:ext cx="312600" cy="0"/>
          </a:xfrm>
          <a:prstGeom prst="straightConnector1">
            <a:avLst/>
          </a:prstGeom>
          <a:noFill/>
          <a:ln cap="flat" cmpd="sng" w="14750">
            <a:solidFill>
              <a:srgbClr val="D9EAD3"/>
            </a:solidFill>
            <a:prstDash val="solid"/>
            <a:round/>
            <a:headEnd len="sm" w="sm" type="none"/>
            <a:tailEnd len="med" w="med" type="triangle"/>
          </a:ln>
        </p:spPr>
      </p:cxnSp>
      <p:sp>
        <p:nvSpPr>
          <p:cNvPr id="1280" name="Google Shape;1280;p37"/>
          <p:cNvSpPr txBox="1"/>
          <p:nvPr/>
        </p:nvSpPr>
        <p:spPr>
          <a:xfrm>
            <a:off x="-7200" y="117375"/>
            <a:ext cx="7860900" cy="6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40"/>
              <a:buFont typeface="Arial"/>
              <a:buNone/>
            </a:pPr>
            <a:r>
              <a:rPr b="1" i="0" lang="en" sz="2500" u="none" cap="none" strike="noStrike">
                <a:solidFill>
                  <a:schemeClr val="dk1"/>
                </a:solidFill>
              </a:rPr>
              <a:t>IVF + PQ</a:t>
            </a:r>
            <a:endParaRPr b="1" i="0" sz="2500" u="none" cap="none" strike="noStrike">
              <a:solidFill>
                <a:schemeClr val="dk1"/>
              </a:solidFill>
            </a:endParaRPr>
          </a:p>
        </p:txBody>
      </p:sp>
      <p:cxnSp>
        <p:nvCxnSpPr>
          <p:cNvPr id="1281" name="Google Shape;1281;p37"/>
          <p:cNvCxnSpPr>
            <a:endCxn id="1267" idx="1"/>
          </p:cNvCxnSpPr>
          <p:nvPr/>
        </p:nvCxnSpPr>
        <p:spPr>
          <a:xfrm flipH="1" rot="10800000">
            <a:off x="5693350" y="4073634"/>
            <a:ext cx="1284900" cy="3900"/>
          </a:xfrm>
          <a:prstGeom prst="straightConnector1">
            <a:avLst/>
          </a:prstGeom>
          <a:noFill/>
          <a:ln cap="flat" cmpd="sng" w="18275">
            <a:solidFill>
              <a:srgbClr val="B4A7D6"/>
            </a:solidFill>
            <a:prstDash val="solid"/>
            <a:round/>
            <a:headEnd len="sm" w="sm" type="none"/>
            <a:tailEnd len="med" w="med" type="triangle"/>
          </a:ln>
        </p:spPr>
      </p:cxnSp>
      <p:sp>
        <p:nvSpPr>
          <p:cNvPr id="1282" name="Google Shape;1282;p37"/>
          <p:cNvSpPr/>
          <p:nvPr/>
        </p:nvSpPr>
        <p:spPr>
          <a:xfrm>
            <a:off x="6032675" y="3967725"/>
            <a:ext cx="464700" cy="211800"/>
          </a:xfrm>
          <a:prstGeom prst="roundRect">
            <a:avLst>
              <a:gd fmla="val 7908" name="adj"/>
            </a:avLst>
          </a:prstGeom>
          <a:solidFill>
            <a:srgbClr val="FFFFFF"/>
          </a:solidFill>
          <a:ln cap="flat" cmpd="sng" w="27400">
            <a:solidFill>
              <a:srgbClr val="D9D2E9"/>
            </a:solidFill>
            <a:prstDash val="solid"/>
            <a:round/>
            <a:headEnd len="sm" w="sm" type="none"/>
            <a:tailEnd len="sm" w="sm" type="none"/>
          </a:ln>
        </p:spPr>
        <p:txBody>
          <a:bodyPr anchorCtr="0" anchor="ctr" bIns="87675" lIns="87675" spcFirstLastPara="1" rIns="87675" wrap="square" tIns="87675">
            <a:noAutofit/>
          </a:bodyPr>
          <a:lstStyle/>
          <a:p>
            <a:pPr indent="0" lvl="0" marL="0" marR="0" rtl="0" algn="ctr">
              <a:lnSpc>
                <a:spcPct val="115000"/>
              </a:lnSpc>
              <a:spcBef>
                <a:spcPts val="1151"/>
              </a:spcBef>
              <a:spcAft>
                <a:spcPts val="1151"/>
              </a:spcAft>
              <a:buClr>
                <a:srgbClr val="000000"/>
              </a:buClr>
              <a:buSzPts val="1246"/>
              <a:buFont typeface="Arial"/>
              <a:buNone/>
            </a:pPr>
            <a:r>
              <a:rPr b="1" i="0" lang="en" sz="1246" u="none" cap="none" strike="noStrike">
                <a:solidFill>
                  <a:srgbClr val="B4A7D6"/>
                </a:solidFill>
                <a:latin typeface="Comic Sans MS"/>
                <a:ea typeface="Comic Sans MS"/>
                <a:cs typeface="Comic Sans MS"/>
                <a:sym typeface="Comic Sans MS"/>
              </a:rPr>
              <a:t>PQ</a:t>
            </a:r>
            <a:endParaRPr b="1" i="0" sz="1246" u="none" cap="none" strike="noStrike">
              <a:solidFill>
                <a:srgbClr val="B4A7D6"/>
              </a:solidFill>
              <a:latin typeface="Comic Sans MS"/>
              <a:ea typeface="Comic Sans MS"/>
              <a:cs typeface="Comic Sans MS"/>
              <a:sym typeface="Comic Sans M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38"/>
          <p:cNvSpPr/>
          <p:nvPr/>
        </p:nvSpPr>
        <p:spPr>
          <a:xfrm flipH="1">
            <a:off x="7054927" y="537375"/>
            <a:ext cx="961800" cy="220800"/>
          </a:xfrm>
          <a:prstGeom prst="roundRect">
            <a:avLst>
              <a:gd fmla="val 7908" name="adj"/>
            </a:avLst>
          </a:prstGeom>
          <a:solidFill>
            <a:srgbClr val="FFFFFF"/>
          </a:solidFill>
          <a:ln>
            <a:noFill/>
          </a:ln>
        </p:spPr>
        <p:txBody>
          <a:bodyPr anchorCtr="0" anchor="ctr" bIns="65200" lIns="65200" spcFirstLastPara="1" rIns="65200" wrap="square" tIns="65200">
            <a:noAutofit/>
          </a:bodyPr>
          <a:lstStyle/>
          <a:p>
            <a:pPr indent="0" lvl="0" marL="0" marR="0" rtl="0" algn="ctr">
              <a:lnSpc>
                <a:spcPct val="115000"/>
              </a:lnSpc>
              <a:spcBef>
                <a:spcPts val="856"/>
              </a:spcBef>
              <a:spcAft>
                <a:spcPts val="856"/>
              </a:spcAft>
              <a:buClr>
                <a:srgbClr val="000000"/>
              </a:buClr>
              <a:buSzPts val="1000"/>
              <a:buFont typeface="Arial"/>
              <a:buNone/>
            </a:pPr>
            <a:r>
              <a:rPr b="1" i="0" lang="en" sz="1000" u="none" cap="none" strike="noStrike">
                <a:solidFill>
                  <a:srgbClr val="000000"/>
                </a:solidFill>
                <a:latin typeface="Comic Sans MS"/>
                <a:ea typeface="Comic Sans MS"/>
                <a:cs typeface="Comic Sans MS"/>
                <a:sym typeface="Comic Sans MS"/>
              </a:rPr>
              <a:t>Query</a:t>
            </a:r>
            <a:endParaRPr b="1" i="0" sz="1000" u="none" cap="none" strike="noStrike">
              <a:solidFill>
                <a:srgbClr val="000000"/>
              </a:solidFill>
              <a:latin typeface="Comic Sans MS"/>
              <a:ea typeface="Comic Sans MS"/>
              <a:cs typeface="Comic Sans MS"/>
              <a:sym typeface="Comic Sans MS"/>
            </a:endParaRPr>
          </a:p>
        </p:txBody>
      </p:sp>
      <p:cxnSp>
        <p:nvCxnSpPr>
          <p:cNvPr id="1288" name="Google Shape;1288;p38"/>
          <p:cNvCxnSpPr>
            <a:stCxn id="1289" idx="3"/>
            <a:endCxn id="1290" idx="2"/>
          </p:cNvCxnSpPr>
          <p:nvPr/>
        </p:nvCxnSpPr>
        <p:spPr>
          <a:xfrm flipH="1" rot="10800000">
            <a:off x="5447281" y="4303837"/>
            <a:ext cx="1920300" cy="444300"/>
          </a:xfrm>
          <a:prstGeom prst="bentConnector3">
            <a:avLst>
              <a:gd fmla="val 78235" name="adj1"/>
            </a:avLst>
          </a:prstGeom>
          <a:noFill/>
          <a:ln cap="flat" cmpd="sng" w="18275">
            <a:solidFill>
              <a:srgbClr val="B4A7D6"/>
            </a:solidFill>
            <a:prstDash val="solid"/>
            <a:round/>
            <a:headEnd len="sm" w="sm" type="none"/>
            <a:tailEnd len="med" w="med" type="stealth"/>
          </a:ln>
        </p:spPr>
      </p:cxnSp>
      <p:cxnSp>
        <p:nvCxnSpPr>
          <p:cNvPr id="1291" name="Google Shape;1291;p38"/>
          <p:cNvCxnSpPr>
            <a:endCxn id="1292" idx="0"/>
          </p:cNvCxnSpPr>
          <p:nvPr/>
        </p:nvCxnSpPr>
        <p:spPr>
          <a:xfrm>
            <a:off x="7465150" y="2994525"/>
            <a:ext cx="0" cy="296400"/>
          </a:xfrm>
          <a:prstGeom prst="straightConnector1">
            <a:avLst/>
          </a:prstGeom>
          <a:noFill/>
          <a:ln cap="flat" cmpd="sng" w="18275">
            <a:solidFill>
              <a:srgbClr val="B4A7D6"/>
            </a:solidFill>
            <a:prstDash val="solid"/>
            <a:round/>
            <a:headEnd len="sm" w="sm" type="none"/>
            <a:tailEnd len="med" w="med" type="triangle"/>
          </a:ln>
        </p:spPr>
      </p:cxnSp>
      <p:sp>
        <p:nvSpPr>
          <p:cNvPr id="1293" name="Google Shape;1293;p38"/>
          <p:cNvSpPr/>
          <p:nvPr/>
        </p:nvSpPr>
        <p:spPr>
          <a:xfrm>
            <a:off x="4056498" y="3703602"/>
            <a:ext cx="1503300" cy="1205100"/>
          </a:xfrm>
          <a:prstGeom prst="roundRect">
            <a:avLst>
              <a:gd fmla="val 7908" name="adj"/>
            </a:avLst>
          </a:prstGeom>
          <a:solidFill>
            <a:srgbClr val="FFFFFF"/>
          </a:solidFill>
          <a:ln cap="flat" cmpd="sng" w="22025">
            <a:solidFill>
              <a:srgbClr val="4A86E8"/>
            </a:solidFill>
            <a:prstDash val="solid"/>
            <a:round/>
            <a:headEnd len="sm" w="sm" type="none"/>
            <a:tailEnd len="sm" w="sm" type="none"/>
          </a:ln>
        </p:spPr>
        <p:txBody>
          <a:bodyPr anchorCtr="0" anchor="ctr" bIns="70500" lIns="70500" spcFirstLastPara="1" rIns="70500" wrap="square" tIns="70500">
            <a:noAutofit/>
          </a:bodyPr>
          <a:lstStyle/>
          <a:p>
            <a:pPr indent="0" lvl="0" marL="0" marR="0" rtl="0" algn="l">
              <a:lnSpc>
                <a:spcPct val="115000"/>
              </a:lnSpc>
              <a:spcBef>
                <a:spcPts val="925"/>
              </a:spcBef>
              <a:spcAft>
                <a:spcPts val="925"/>
              </a:spcAft>
              <a:buClr>
                <a:srgbClr val="000000"/>
              </a:buClr>
              <a:buSzPts val="848"/>
              <a:buFont typeface="Arial"/>
              <a:buNone/>
            </a:pPr>
            <a:r>
              <a:t/>
            </a:r>
            <a:endParaRPr b="1" i="0" sz="848" u="none" cap="none" strike="noStrike">
              <a:solidFill>
                <a:srgbClr val="000000"/>
              </a:solidFill>
              <a:latin typeface="Comic Sans MS"/>
              <a:ea typeface="Comic Sans MS"/>
              <a:cs typeface="Comic Sans MS"/>
              <a:sym typeface="Comic Sans MS"/>
            </a:endParaRPr>
          </a:p>
        </p:txBody>
      </p:sp>
      <p:sp>
        <p:nvSpPr>
          <p:cNvPr id="1294" name="Google Shape;1294;p38"/>
          <p:cNvSpPr txBox="1"/>
          <p:nvPr/>
        </p:nvSpPr>
        <p:spPr>
          <a:xfrm>
            <a:off x="-7200" y="117375"/>
            <a:ext cx="7860900" cy="6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40"/>
              <a:buFont typeface="Arial"/>
              <a:buNone/>
            </a:pPr>
            <a:r>
              <a:rPr b="1" i="0" lang="en" sz="2500" u="none" cap="none" strike="noStrike">
                <a:solidFill>
                  <a:schemeClr val="dk1"/>
                </a:solidFill>
                <a:latin typeface="Raleway"/>
                <a:ea typeface="Raleway"/>
                <a:cs typeface="Raleway"/>
                <a:sym typeface="Raleway"/>
              </a:rPr>
              <a:t>IVF + PQ</a:t>
            </a:r>
            <a:endParaRPr b="1" i="0" sz="2500" u="none" cap="none" strike="noStrike">
              <a:solidFill>
                <a:schemeClr val="dk1"/>
              </a:solidFill>
              <a:latin typeface="Raleway"/>
              <a:ea typeface="Raleway"/>
              <a:cs typeface="Raleway"/>
              <a:sym typeface="Raleway"/>
            </a:endParaRPr>
          </a:p>
        </p:txBody>
      </p:sp>
      <p:sp>
        <p:nvSpPr>
          <p:cNvPr id="1295" name="Google Shape;1295;p38"/>
          <p:cNvSpPr/>
          <p:nvPr/>
        </p:nvSpPr>
        <p:spPr>
          <a:xfrm>
            <a:off x="155851" y="758175"/>
            <a:ext cx="3393600" cy="4189200"/>
          </a:xfrm>
          <a:prstGeom prst="roundRect">
            <a:avLst>
              <a:gd fmla="val 2349" name="adj"/>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500"/>
              <a:buFont typeface="Arial"/>
              <a:buNone/>
            </a:pPr>
            <a:r>
              <a:rPr b="1" i="0" lang="en" sz="1500" u="none" cap="none" strike="noStrike">
                <a:solidFill>
                  <a:srgbClr val="000000"/>
                </a:solidFill>
                <a:latin typeface="Comic Sans MS"/>
                <a:ea typeface="Comic Sans MS"/>
                <a:cs typeface="Comic Sans MS"/>
                <a:sym typeface="Comic Sans MS"/>
              </a:rPr>
              <a:t>IVF+PQ Search (Retrieval)</a:t>
            </a:r>
            <a:endParaRPr b="1" i="0" sz="1500" u="none" cap="none" strike="noStrike">
              <a:solidFill>
                <a:srgbClr val="000000"/>
              </a:solidFill>
              <a:latin typeface="Comic Sans MS"/>
              <a:ea typeface="Comic Sans MS"/>
              <a:cs typeface="Comic Sans MS"/>
              <a:sym typeface="Comic Sans MS"/>
            </a:endParaRPr>
          </a:p>
          <a:p>
            <a:pPr indent="-311150" lvl="0" marL="457200" marR="0" rtl="0" algn="l">
              <a:lnSpc>
                <a:spcPct val="115000"/>
              </a:lnSpc>
              <a:spcBef>
                <a:spcPts val="1200"/>
              </a:spcBef>
              <a:spcAft>
                <a:spcPts val="0"/>
              </a:spcAft>
              <a:buClr>
                <a:srgbClr val="000000"/>
              </a:buClr>
              <a:buSzPts val="1300"/>
              <a:buFont typeface="Arial"/>
              <a:buChar char="●"/>
            </a:pPr>
            <a:r>
              <a:rPr b="1" i="0" lang="en" sz="1300" u="none" cap="none" strike="noStrike">
                <a:solidFill>
                  <a:srgbClr val="000000"/>
                </a:solidFill>
                <a:latin typeface="Comic Sans MS"/>
                <a:ea typeface="Comic Sans MS"/>
                <a:cs typeface="Comic Sans MS"/>
                <a:sym typeface="Comic Sans MS"/>
              </a:rPr>
              <a:t>1. Coarse (IVF):</a:t>
            </a:r>
            <a:r>
              <a:rPr b="0" i="0" lang="en" sz="1300" u="none" cap="none" strike="noStrike">
                <a:solidFill>
                  <a:srgbClr val="000000"/>
                </a:solidFill>
                <a:latin typeface="Comic Sans MS"/>
                <a:ea typeface="Comic Sans MS"/>
                <a:cs typeface="Comic Sans MS"/>
                <a:sym typeface="Comic Sans MS"/>
              </a:rPr>
              <a:t> Compare the query against the coarse centroids to find the nprobe closest buckets (e.g., top 10).</a:t>
            </a:r>
            <a:endParaRPr b="0" i="0" sz="1300" u="none" cap="none" strike="noStrike">
              <a:solidFill>
                <a:srgbClr val="000000"/>
              </a:solidFill>
              <a:latin typeface="Comic Sans MS"/>
              <a:ea typeface="Comic Sans MS"/>
              <a:cs typeface="Comic Sans MS"/>
              <a:sym typeface="Comic Sans MS"/>
            </a:endParaRPr>
          </a:p>
          <a:p>
            <a:pPr indent="-311150" lvl="0" marL="457200" marR="0" rtl="0" algn="l">
              <a:lnSpc>
                <a:spcPct val="115000"/>
              </a:lnSpc>
              <a:spcBef>
                <a:spcPts val="0"/>
              </a:spcBef>
              <a:spcAft>
                <a:spcPts val="0"/>
              </a:spcAft>
              <a:buClr>
                <a:srgbClr val="000000"/>
              </a:buClr>
              <a:buSzPts val="1300"/>
              <a:buFont typeface="Arial"/>
              <a:buChar char="●"/>
            </a:pPr>
            <a:r>
              <a:rPr b="1" i="0" lang="en" sz="1300" u="none" cap="none" strike="noStrike">
                <a:solidFill>
                  <a:srgbClr val="000000"/>
                </a:solidFill>
                <a:latin typeface="Comic Sans MS"/>
                <a:ea typeface="Comic Sans MS"/>
                <a:cs typeface="Comic Sans MS"/>
                <a:sym typeface="Comic Sans MS"/>
              </a:rPr>
              <a:t>2. </a:t>
            </a:r>
            <a:r>
              <a:rPr b="0" i="0" lang="en" sz="1300" u="none" cap="none" strike="noStrike">
                <a:solidFill>
                  <a:srgbClr val="000000"/>
                </a:solidFill>
                <a:latin typeface="Comic Sans MS"/>
                <a:ea typeface="Comic Sans MS"/>
                <a:cs typeface="Comic Sans MS"/>
                <a:sym typeface="Comic Sans MS"/>
              </a:rPr>
              <a:t>For each selected bucket, shift the query vector relative to that bucket's centroid (Queryshifted​=Query−Centroid).</a:t>
            </a:r>
            <a:endParaRPr b="0" i="0" sz="1300" u="none" cap="none" strike="noStrike">
              <a:solidFill>
                <a:srgbClr val="000000"/>
              </a:solidFill>
              <a:latin typeface="Comic Sans MS"/>
              <a:ea typeface="Comic Sans MS"/>
              <a:cs typeface="Comic Sans MS"/>
              <a:sym typeface="Comic Sans MS"/>
            </a:endParaRPr>
          </a:p>
          <a:p>
            <a:pPr indent="-311150" lvl="0" marL="457200" marR="0" rtl="0" algn="l">
              <a:lnSpc>
                <a:spcPct val="115000"/>
              </a:lnSpc>
              <a:spcBef>
                <a:spcPts val="0"/>
              </a:spcBef>
              <a:spcAft>
                <a:spcPts val="0"/>
              </a:spcAft>
              <a:buClr>
                <a:srgbClr val="000000"/>
              </a:buClr>
              <a:buSzPts val="1300"/>
              <a:buFont typeface="Arial"/>
              <a:buChar char="●"/>
            </a:pPr>
            <a:r>
              <a:rPr b="1" i="0" lang="en" sz="1300" u="none" cap="none" strike="noStrike">
                <a:solidFill>
                  <a:srgbClr val="000000"/>
                </a:solidFill>
                <a:latin typeface="Comic Sans MS"/>
                <a:ea typeface="Comic Sans MS"/>
                <a:cs typeface="Comic Sans MS"/>
                <a:sym typeface="Comic Sans MS"/>
              </a:rPr>
              <a:t>3. Build Tables (ADC):</a:t>
            </a:r>
            <a:r>
              <a:rPr b="0" i="0" lang="en" sz="1300" u="none" cap="none" strike="noStrike">
                <a:solidFill>
                  <a:srgbClr val="000000"/>
                </a:solidFill>
                <a:latin typeface="Comic Sans MS"/>
                <a:ea typeface="Comic Sans MS"/>
                <a:cs typeface="Comic Sans MS"/>
                <a:sym typeface="Comic Sans MS"/>
              </a:rPr>
              <a:t> Construct the PQ distance lookup tables using these shifted queries.</a:t>
            </a:r>
            <a:endParaRPr b="0" i="0" sz="1300" u="none" cap="none" strike="noStrike">
              <a:solidFill>
                <a:srgbClr val="000000"/>
              </a:solidFill>
              <a:latin typeface="Comic Sans MS"/>
              <a:ea typeface="Comic Sans MS"/>
              <a:cs typeface="Comic Sans MS"/>
              <a:sym typeface="Comic Sans MS"/>
            </a:endParaRPr>
          </a:p>
          <a:p>
            <a:pPr indent="-311150" lvl="0" marL="457200" marR="0" rtl="0" algn="l">
              <a:lnSpc>
                <a:spcPct val="115000"/>
              </a:lnSpc>
              <a:spcBef>
                <a:spcPts val="0"/>
              </a:spcBef>
              <a:spcAft>
                <a:spcPts val="0"/>
              </a:spcAft>
              <a:buClr>
                <a:srgbClr val="000000"/>
              </a:buClr>
              <a:buSzPts val="1300"/>
              <a:buFont typeface="Arial"/>
              <a:buChar char="●"/>
            </a:pPr>
            <a:r>
              <a:rPr b="1" i="0" lang="en" sz="1300" u="none" cap="none" strike="noStrike">
                <a:solidFill>
                  <a:srgbClr val="000000"/>
                </a:solidFill>
                <a:latin typeface="Comic Sans MS"/>
                <a:ea typeface="Comic Sans MS"/>
                <a:cs typeface="Comic Sans MS"/>
                <a:sym typeface="Comic Sans MS"/>
              </a:rPr>
              <a:t>4. Scan:</a:t>
            </a:r>
            <a:r>
              <a:rPr b="0" i="0" lang="en" sz="1300" u="none" cap="none" strike="noStrike">
                <a:solidFill>
                  <a:srgbClr val="000000"/>
                </a:solidFill>
                <a:latin typeface="Comic Sans MS"/>
                <a:ea typeface="Comic Sans MS"/>
                <a:cs typeface="Comic Sans MS"/>
                <a:sym typeface="Comic Sans MS"/>
              </a:rPr>
              <a:t> Iterate through the PQ codes in the selected buckets, summing values from the lookup table to approximate distance.</a:t>
            </a:r>
            <a:endParaRPr b="0" i="0" sz="1500" u="none" cap="none" strike="noStrike">
              <a:solidFill>
                <a:srgbClr val="000000"/>
              </a:solidFill>
              <a:latin typeface="Comic Sans MS"/>
              <a:ea typeface="Comic Sans MS"/>
              <a:cs typeface="Comic Sans MS"/>
              <a:sym typeface="Comic Sans MS"/>
            </a:endParaRPr>
          </a:p>
        </p:txBody>
      </p:sp>
      <p:sp>
        <p:nvSpPr>
          <p:cNvPr id="1296" name="Google Shape;1296;p38"/>
          <p:cNvSpPr/>
          <p:nvPr/>
        </p:nvSpPr>
        <p:spPr>
          <a:xfrm>
            <a:off x="4009294" y="772461"/>
            <a:ext cx="2002500" cy="1450200"/>
          </a:xfrm>
          <a:prstGeom prst="rect">
            <a:avLst/>
          </a:prstGeom>
          <a:solidFill>
            <a:srgbClr val="CFE2F3">
              <a:alpha val="47450"/>
            </a:srgbClr>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297" name="Google Shape;1297;p38"/>
          <p:cNvSpPr/>
          <p:nvPr/>
        </p:nvSpPr>
        <p:spPr>
          <a:xfrm>
            <a:off x="4094703" y="88814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298" name="Google Shape;1298;p38"/>
          <p:cNvSpPr/>
          <p:nvPr/>
        </p:nvSpPr>
        <p:spPr>
          <a:xfrm>
            <a:off x="4259985" y="88814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299" name="Google Shape;1299;p38"/>
          <p:cNvSpPr/>
          <p:nvPr/>
        </p:nvSpPr>
        <p:spPr>
          <a:xfrm>
            <a:off x="4142967" y="109817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0" name="Google Shape;1300;p38"/>
          <p:cNvSpPr/>
          <p:nvPr/>
        </p:nvSpPr>
        <p:spPr>
          <a:xfrm>
            <a:off x="4678556" y="103283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1" name="Google Shape;1301;p38"/>
          <p:cNvSpPr/>
          <p:nvPr/>
        </p:nvSpPr>
        <p:spPr>
          <a:xfrm>
            <a:off x="4228493" y="129686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2" name="Google Shape;1302;p38"/>
          <p:cNvSpPr/>
          <p:nvPr/>
        </p:nvSpPr>
        <p:spPr>
          <a:xfrm>
            <a:off x="4760558" y="88814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3" name="Google Shape;1303;p38"/>
          <p:cNvSpPr/>
          <p:nvPr/>
        </p:nvSpPr>
        <p:spPr>
          <a:xfrm>
            <a:off x="4456897" y="103145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4" name="Google Shape;1304;p38"/>
          <p:cNvSpPr/>
          <p:nvPr/>
        </p:nvSpPr>
        <p:spPr>
          <a:xfrm>
            <a:off x="4384072" y="122183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5" name="Google Shape;1305;p38"/>
          <p:cNvSpPr/>
          <p:nvPr/>
        </p:nvSpPr>
        <p:spPr>
          <a:xfrm>
            <a:off x="4559399" y="92266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6" name="Google Shape;1306;p38"/>
          <p:cNvSpPr/>
          <p:nvPr/>
        </p:nvSpPr>
        <p:spPr>
          <a:xfrm>
            <a:off x="4299932" y="106497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7" name="Google Shape;1307;p38"/>
          <p:cNvSpPr/>
          <p:nvPr/>
        </p:nvSpPr>
        <p:spPr>
          <a:xfrm>
            <a:off x="4857086" y="119500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8" name="Google Shape;1308;p38"/>
          <p:cNvSpPr/>
          <p:nvPr/>
        </p:nvSpPr>
        <p:spPr>
          <a:xfrm>
            <a:off x="4559233" y="116489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09" name="Google Shape;1309;p38"/>
          <p:cNvSpPr/>
          <p:nvPr/>
        </p:nvSpPr>
        <p:spPr>
          <a:xfrm>
            <a:off x="4457366" y="159461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0" name="Google Shape;1310;p38"/>
          <p:cNvSpPr/>
          <p:nvPr/>
        </p:nvSpPr>
        <p:spPr>
          <a:xfrm>
            <a:off x="4662878" y="137817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1" name="Google Shape;1311;p38"/>
          <p:cNvSpPr/>
          <p:nvPr/>
        </p:nvSpPr>
        <p:spPr>
          <a:xfrm>
            <a:off x="4409102" y="140822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2" name="Google Shape;1312;p38"/>
          <p:cNvSpPr/>
          <p:nvPr/>
        </p:nvSpPr>
        <p:spPr>
          <a:xfrm>
            <a:off x="4808822" y="132353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3" name="Google Shape;1313;p38"/>
          <p:cNvSpPr/>
          <p:nvPr/>
        </p:nvSpPr>
        <p:spPr>
          <a:xfrm>
            <a:off x="4159933" y="1584406"/>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4" name="Google Shape;1314;p38"/>
          <p:cNvSpPr/>
          <p:nvPr/>
        </p:nvSpPr>
        <p:spPr>
          <a:xfrm>
            <a:off x="4181407" y="121769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5" name="Google Shape;1315;p38"/>
          <p:cNvSpPr/>
          <p:nvPr/>
        </p:nvSpPr>
        <p:spPr>
          <a:xfrm>
            <a:off x="4831089" y="103145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6" name="Google Shape;1316;p38"/>
          <p:cNvSpPr/>
          <p:nvPr/>
        </p:nvSpPr>
        <p:spPr>
          <a:xfrm>
            <a:off x="4741932" y="119500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7" name="Google Shape;1317;p38"/>
          <p:cNvSpPr/>
          <p:nvPr/>
        </p:nvSpPr>
        <p:spPr>
          <a:xfrm>
            <a:off x="5000052" y="81103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8" name="Google Shape;1318;p38"/>
          <p:cNvSpPr/>
          <p:nvPr/>
        </p:nvSpPr>
        <p:spPr>
          <a:xfrm>
            <a:off x="5165334" y="81103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19" name="Google Shape;1319;p38"/>
          <p:cNvSpPr/>
          <p:nvPr/>
        </p:nvSpPr>
        <p:spPr>
          <a:xfrm>
            <a:off x="5048316" y="102106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0" name="Google Shape;1320;p38"/>
          <p:cNvSpPr/>
          <p:nvPr/>
        </p:nvSpPr>
        <p:spPr>
          <a:xfrm>
            <a:off x="5583905" y="95572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1" name="Google Shape;1321;p38"/>
          <p:cNvSpPr/>
          <p:nvPr/>
        </p:nvSpPr>
        <p:spPr>
          <a:xfrm>
            <a:off x="5133842" y="121975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2" name="Google Shape;1322;p38"/>
          <p:cNvSpPr/>
          <p:nvPr/>
        </p:nvSpPr>
        <p:spPr>
          <a:xfrm>
            <a:off x="5665907" y="81103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3" name="Google Shape;1323;p38"/>
          <p:cNvSpPr/>
          <p:nvPr/>
        </p:nvSpPr>
        <p:spPr>
          <a:xfrm>
            <a:off x="5362246" y="95433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4" name="Google Shape;1324;p38"/>
          <p:cNvSpPr/>
          <p:nvPr/>
        </p:nvSpPr>
        <p:spPr>
          <a:xfrm>
            <a:off x="5289421" y="114472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5" name="Google Shape;1325;p38"/>
          <p:cNvSpPr/>
          <p:nvPr/>
        </p:nvSpPr>
        <p:spPr>
          <a:xfrm>
            <a:off x="5464749" y="84555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6" name="Google Shape;1326;p38"/>
          <p:cNvSpPr/>
          <p:nvPr/>
        </p:nvSpPr>
        <p:spPr>
          <a:xfrm>
            <a:off x="5205281" y="98786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7" name="Google Shape;1327;p38"/>
          <p:cNvSpPr/>
          <p:nvPr/>
        </p:nvSpPr>
        <p:spPr>
          <a:xfrm>
            <a:off x="5762435" y="111789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8" name="Google Shape;1328;p38"/>
          <p:cNvSpPr/>
          <p:nvPr/>
        </p:nvSpPr>
        <p:spPr>
          <a:xfrm>
            <a:off x="5464583" y="108778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29" name="Google Shape;1329;p38"/>
          <p:cNvSpPr/>
          <p:nvPr/>
        </p:nvSpPr>
        <p:spPr>
          <a:xfrm>
            <a:off x="5121132" y="178395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0" name="Google Shape;1330;p38"/>
          <p:cNvSpPr/>
          <p:nvPr/>
        </p:nvSpPr>
        <p:spPr>
          <a:xfrm>
            <a:off x="5568227" y="130106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1" name="Google Shape;1331;p38"/>
          <p:cNvSpPr/>
          <p:nvPr/>
        </p:nvSpPr>
        <p:spPr>
          <a:xfrm>
            <a:off x="5314451" y="133111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2" name="Google Shape;1332;p38"/>
          <p:cNvSpPr/>
          <p:nvPr/>
        </p:nvSpPr>
        <p:spPr>
          <a:xfrm>
            <a:off x="5917233" y="133110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3" name="Google Shape;1333;p38"/>
          <p:cNvSpPr/>
          <p:nvPr/>
        </p:nvSpPr>
        <p:spPr>
          <a:xfrm>
            <a:off x="5072863" y="130106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4" name="Google Shape;1334;p38"/>
          <p:cNvSpPr/>
          <p:nvPr/>
        </p:nvSpPr>
        <p:spPr>
          <a:xfrm>
            <a:off x="5599017" y="150793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5" name="Google Shape;1335;p38"/>
          <p:cNvSpPr/>
          <p:nvPr/>
        </p:nvSpPr>
        <p:spPr>
          <a:xfrm>
            <a:off x="5787309" y="90687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6" name="Google Shape;1336;p38"/>
          <p:cNvSpPr/>
          <p:nvPr/>
        </p:nvSpPr>
        <p:spPr>
          <a:xfrm>
            <a:off x="5647281" y="111789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7" name="Google Shape;1337;p38"/>
          <p:cNvSpPr/>
          <p:nvPr/>
        </p:nvSpPr>
        <p:spPr>
          <a:xfrm>
            <a:off x="5492375" y="153363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8" name="Google Shape;1338;p38"/>
          <p:cNvSpPr/>
          <p:nvPr/>
        </p:nvSpPr>
        <p:spPr>
          <a:xfrm>
            <a:off x="5193127" y="145706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39" name="Google Shape;1339;p38"/>
          <p:cNvSpPr/>
          <p:nvPr/>
        </p:nvSpPr>
        <p:spPr>
          <a:xfrm>
            <a:off x="5076109" y="166710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0" name="Google Shape;1340;p38"/>
          <p:cNvSpPr/>
          <p:nvPr/>
        </p:nvSpPr>
        <p:spPr>
          <a:xfrm>
            <a:off x="5611698" y="160176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1" name="Google Shape;1341;p38"/>
          <p:cNvSpPr/>
          <p:nvPr/>
        </p:nvSpPr>
        <p:spPr>
          <a:xfrm>
            <a:off x="5161635" y="186579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2" name="Google Shape;1342;p38"/>
          <p:cNvSpPr/>
          <p:nvPr/>
        </p:nvSpPr>
        <p:spPr>
          <a:xfrm>
            <a:off x="5693700" y="145706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3" name="Google Shape;1343;p38"/>
          <p:cNvSpPr/>
          <p:nvPr/>
        </p:nvSpPr>
        <p:spPr>
          <a:xfrm>
            <a:off x="5390039" y="160037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4" name="Google Shape;1344;p38"/>
          <p:cNvSpPr/>
          <p:nvPr/>
        </p:nvSpPr>
        <p:spPr>
          <a:xfrm>
            <a:off x="5317214" y="179075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5" name="Google Shape;1345;p38"/>
          <p:cNvSpPr/>
          <p:nvPr/>
        </p:nvSpPr>
        <p:spPr>
          <a:xfrm>
            <a:off x="5233074" y="163390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6" name="Google Shape;1346;p38"/>
          <p:cNvSpPr/>
          <p:nvPr/>
        </p:nvSpPr>
        <p:spPr>
          <a:xfrm>
            <a:off x="5790228" y="176393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7" name="Google Shape;1347;p38"/>
          <p:cNvSpPr/>
          <p:nvPr/>
        </p:nvSpPr>
        <p:spPr>
          <a:xfrm>
            <a:off x="5492375" y="173382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8" name="Google Shape;1348;p38"/>
          <p:cNvSpPr/>
          <p:nvPr/>
        </p:nvSpPr>
        <p:spPr>
          <a:xfrm>
            <a:off x="5390508" y="216354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49" name="Google Shape;1349;p38"/>
          <p:cNvSpPr/>
          <p:nvPr/>
        </p:nvSpPr>
        <p:spPr>
          <a:xfrm>
            <a:off x="5596020" y="194709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0" name="Google Shape;1350;p38"/>
          <p:cNvSpPr/>
          <p:nvPr/>
        </p:nvSpPr>
        <p:spPr>
          <a:xfrm>
            <a:off x="5342244" y="197715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1" name="Google Shape;1351;p38"/>
          <p:cNvSpPr/>
          <p:nvPr/>
        </p:nvSpPr>
        <p:spPr>
          <a:xfrm>
            <a:off x="5945026" y="197714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2" name="Google Shape;1352;p38"/>
          <p:cNvSpPr/>
          <p:nvPr/>
        </p:nvSpPr>
        <p:spPr>
          <a:xfrm>
            <a:off x="5093075" y="215333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3" name="Google Shape;1353;p38"/>
          <p:cNvSpPr/>
          <p:nvPr/>
        </p:nvSpPr>
        <p:spPr>
          <a:xfrm>
            <a:off x="5741964" y="202098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4" name="Google Shape;1354;p38"/>
          <p:cNvSpPr/>
          <p:nvPr/>
        </p:nvSpPr>
        <p:spPr>
          <a:xfrm>
            <a:off x="5626810" y="215396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5" name="Google Shape;1355;p38"/>
          <p:cNvSpPr/>
          <p:nvPr/>
        </p:nvSpPr>
        <p:spPr>
          <a:xfrm>
            <a:off x="5815101" y="155291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6" name="Google Shape;1356;p38"/>
          <p:cNvSpPr/>
          <p:nvPr/>
        </p:nvSpPr>
        <p:spPr>
          <a:xfrm>
            <a:off x="5675074" y="176393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7" name="Google Shape;1357;p38"/>
          <p:cNvSpPr/>
          <p:nvPr/>
        </p:nvSpPr>
        <p:spPr>
          <a:xfrm>
            <a:off x="4152354" y="137611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8" name="Google Shape;1358;p38"/>
          <p:cNvSpPr/>
          <p:nvPr/>
        </p:nvSpPr>
        <p:spPr>
          <a:xfrm>
            <a:off x="4173543" y="166503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59" name="Google Shape;1359;p38"/>
          <p:cNvSpPr/>
          <p:nvPr/>
        </p:nvSpPr>
        <p:spPr>
          <a:xfrm>
            <a:off x="4596183" y="1601763"/>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0" name="Google Shape;1360;p38"/>
          <p:cNvSpPr/>
          <p:nvPr/>
        </p:nvSpPr>
        <p:spPr>
          <a:xfrm>
            <a:off x="4146120" y="186579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1" name="Google Shape;1361;p38"/>
          <p:cNvSpPr/>
          <p:nvPr/>
        </p:nvSpPr>
        <p:spPr>
          <a:xfrm>
            <a:off x="4678185" y="145706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2" name="Google Shape;1362;p38"/>
          <p:cNvSpPr/>
          <p:nvPr/>
        </p:nvSpPr>
        <p:spPr>
          <a:xfrm>
            <a:off x="4374524" y="1600377"/>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3" name="Google Shape;1363;p38"/>
          <p:cNvSpPr/>
          <p:nvPr/>
        </p:nvSpPr>
        <p:spPr>
          <a:xfrm>
            <a:off x="4301699" y="179075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4" name="Google Shape;1364;p38"/>
          <p:cNvSpPr/>
          <p:nvPr/>
        </p:nvSpPr>
        <p:spPr>
          <a:xfrm>
            <a:off x="4217559" y="1633900"/>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5" name="Google Shape;1365;p38"/>
          <p:cNvSpPr/>
          <p:nvPr/>
        </p:nvSpPr>
        <p:spPr>
          <a:xfrm>
            <a:off x="4476861" y="173382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6" name="Google Shape;1366;p38"/>
          <p:cNvSpPr/>
          <p:nvPr/>
        </p:nvSpPr>
        <p:spPr>
          <a:xfrm>
            <a:off x="4374993" y="2163545"/>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7" name="Google Shape;1367;p38"/>
          <p:cNvSpPr/>
          <p:nvPr/>
        </p:nvSpPr>
        <p:spPr>
          <a:xfrm>
            <a:off x="4580505" y="194709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8" name="Google Shape;1368;p38"/>
          <p:cNvSpPr/>
          <p:nvPr/>
        </p:nvSpPr>
        <p:spPr>
          <a:xfrm>
            <a:off x="4326729" y="1977151"/>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69" name="Google Shape;1369;p38"/>
          <p:cNvSpPr/>
          <p:nvPr/>
        </p:nvSpPr>
        <p:spPr>
          <a:xfrm>
            <a:off x="5000052" y="1947099"/>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70" name="Google Shape;1370;p38"/>
          <p:cNvSpPr/>
          <p:nvPr/>
        </p:nvSpPr>
        <p:spPr>
          <a:xfrm>
            <a:off x="4077560" y="2153334"/>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71" name="Google Shape;1371;p38"/>
          <p:cNvSpPr/>
          <p:nvPr/>
        </p:nvSpPr>
        <p:spPr>
          <a:xfrm>
            <a:off x="4726449" y="202098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72" name="Google Shape;1372;p38"/>
          <p:cNvSpPr/>
          <p:nvPr/>
        </p:nvSpPr>
        <p:spPr>
          <a:xfrm>
            <a:off x="4611295" y="2153968"/>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73" name="Google Shape;1373;p38"/>
          <p:cNvSpPr/>
          <p:nvPr/>
        </p:nvSpPr>
        <p:spPr>
          <a:xfrm>
            <a:off x="4427630" y="88814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74" name="Google Shape;1374;p38"/>
          <p:cNvSpPr/>
          <p:nvPr/>
        </p:nvSpPr>
        <p:spPr>
          <a:xfrm>
            <a:off x="4659559" y="1763932"/>
            <a:ext cx="48300" cy="48600"/>
          </a:xfrm>
          <a:prstGeom prst="ellipse">
            <a:avLst/>
          </a:prstGeom>
          <a:solidFill>
            <a:srgbClr val="C27171"/>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cxnSp>
        <p:nvCxnSpPr>
          <p:cNvPr id="1375" name="Google Shape;1375;p38"/>
          <p:cNvCxnSpPr/>
          <p:nvPr/>
        </p:nvCxnSpPr>
        <p:spPr>
          <a:xfrm flipH="1">
            <a:off x="5002723" y="1189489"/>
            <a:ext cx="1008900" cy="450900"/>
          </a:xfrm>
          <a:prstGeom prst="straightConnector1">
            <a:avLst/>
          </a:prstGeom>
          <a:noFill/>
          <a:ln cap="flat" cmpd="sng" w="9525">
            <a:solidFill>
              <a:srgbClr val="1CA3F1"/>
            </a:solidFill>
            <a:prstDash val="solid"/>
            <a:round/>
            <a:headEnd len="sm" w="sm" type="none"/>
            <a:tailEnd len="sm" w="sm" type="none"/>
          </a:ln>
        </p:spPr>
      </p:cxnSp>
      <p:cxnSp>
        <p:nvCxnSpPr>
          <p:cNvPr id="1376" name="Google Shape;1376;p38"/>
          <p:cNvCxnSpPr/>
          <p:nvPr/>
        </p:nvCxnSpPr>
        <p:spPr>
          <a:xfrm>
            <a:off x="4867873" y="766330"/>
            <a:ext cx="141000" cy="867900"/>
          </a:xfrm>
          <a:prstGeom prst="straightConnector1">
            <a:avLst/>
          </a:prstGeom>
          <a:noFill/>
          <a:ln cap="flat" cmpd="sng" w="9525">
            <a:solidFill>
              <a:srgbClr val="1CA3F1"/>
            </a:solidFill>
            <a:prstDash val="solid"/>
            <a:round/>
            <a:headEnd len="sm" w="sm" type="none"/>
            <a:tailEnd len="sm" w="sm" type="none"/>
          </a:ln>
        </p:spPr>
      </p:cxnSp>
      <p:cxnSp>
        <p:nvCxnSpPr>
          <p:cNvPr id="1377" name="Google Shape;1377;p38"/>
          <p:cNvCxnSpPr>
            <a:stCxn id="1296" idx="1"/>
          </p:cNvCxnSpPr>
          <p:nvPr/>
        </p:nvCxnSpPr>
        <p:spPr>
          <a:xfrm>
            <a:off x="4009294" y="1497561"/>
            <a:ext cx="999600" cy="142800"/>
          </a:xfrm>
          <a:prstGeom prst="straightConnector1">
            <a:avLst/>
          </a:prstGeom>
          <a:noFill/>
          <a:ln cap="flat" cmpd="sng" w="9525">
            <a:solidFill>
              <a:srgbClr val="1CA3F1"/>
            </a:solidFill>
            <a:prstDash val="solid"/>
            <a:round/>
            <a:headEnd len="sm" w="sm" type="none"/>
            <a:tailEnd len="sm" w="sm" type="none"/>
          </a:ln>
        </p:spPr>
      </p:cxnSp>
      <p:cxnSp>
        <p:nvCxnSpPr>
          <p:cNvPr id="1378" name="Google Shape;1378;p38"/>
          <p:cNvCxnSpPr/>
          <p:nvPr/>
        </p:nvCxnSpPr>
        <p:spPr>
          <a:xfrm flipH="1">
            <a:off x="4791126" y="1634106"/>
            <a:ext cx="217800" cy="594900"/>
          </a:xfrm>
          <a:prstGeom prst="straightConnector1">
            <a:avLst/>
          </a:prstGeom>
          <a:noFill/>
          <a:ln cap="flat" cmpd="sng" w="9525">
            <a:solidFill>
              <a:srgbClr val="1CA3F1"/>
            </a:solidFill>
            <a:prstDash val="solid"/>
            <a:round/>
            <a:headEnd len="sm" w="sm" type="none"/>
            <a:tailEnd len="sm" w="sm" type="none"/>
          </a:ln>
        </p:spPr>
      </p:cxnSp>
      <p:sp>
        <p:nvSpPr>
          <p:cNvPr id="1379" name="Google Shape;1379;p38"/>
          <p:cNvSpPr/>
          <p:nvPr/>
        </p:nvSpPr>
        <p:spPr>
          <a:xfrm>
            <a:off x="4417731" y="1112432"/>
            <a:ext cx="149100" cy="1548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80" name="Google Shape;1380;p38"/>
          <p:cNvSpPr/>
          <p:nvPr/>
        </p:nvSpPr>
        <p:spPr>
          <a:xfrm>
            <a:off x="4352408" y="1802473"/>
            <a:ext cx="149100" cy="1548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81" name="Google Shape;1381;p38"/>
          <p:cNvSpPr/>
          <p:nvPr/>
        </p:nvSpPr>
        <p:spPr>
          <a:xfrm>
            <a:off x="5297367" y="1011960"/>
            <a:ext cx="149100" cy="1548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82" name="Google Shape;1382;p38"/>
          <p:cNvSpPr/>
          <p:nvPr/>
        </p:nvSpPr>
        <p:spPr>
          <a:xfrm>
            <a:off x="5425500" y="1795576"/>
            <a:ext cx="149100" cy="154800"/>
          </a:xfrm>
          <a:prstGeom prst="mathMultiply">
            <a:avLst>
              <a:gd fmla="val 23520" name="adj1"/>
            </a:avLst>
          </a:prstGeom>
          <a:solidFill>
            <a:srgbClr val="73AD8D"/>
          </a:solidFill>
          <a:ln cap="flat" cmpd="sng" w="9525">
            <a:solidFill>
              <a:srgbClr val="1CA3F1"/>
            </a:solidFill>
            <a:prstDash val="solid"/>
            <a:round/>
            <a:headEnd len="sm" w="sm" type="none"/>
            <a:tailEnd len="sm" w="sm" type="none"/>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546"/>
              <a:buFont typeface="Arial"/>
              <a:buNone/>
            </a:pPr>
            <a:r>
              <a:t/>
            </a:r>
            <a:endParaRPr b="0" i="0" sz="546" u="none" cap="none" strike="noStrike">
              <a:solidFill>
                <a:srgbClr val="000000"/>
              </a:solidFill>
              <a:latin typeface="Lato"/>
              <a:ea typeface="Lato"/>
              <a:cs typeface="Lato"/>
              <a:sym typeface="Lato"/>
            </a:endParaRPr>
          </a:p>
        </p:txBody>
      </p:sp>
      <p:sp>
        <p:nvSpPr>
          <p:cNvPr id="1383" name="Google Shape;1383;p38"/>
          <p:cNvSpPr/>
          <p:nvPr/>
        </p:nvSpPr>
        <p:spPr>
          <a:xfrm rot="10800000">
            <a:off x="5659117" y="2990907"/>
            <a:ext cx="154800" cy="124500"/>
          </a:xfrm>
          <a:prstGeom prst="rect">
            <a:avLst/>
          </a:prstGeom>
          <a:solidFill>
            <a:srgbClr val="D9EAD3"/>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1</a:t>
            </a:r>
            <a:endParaRPr b="0" i="0" sz="100" u="none" cap="none" strike="noStrike">
              <a:solidFill>
                <a:srgbClr val="93C47D"/>
              </a:solidFill>
              <a:latin typeface="Lato"/>
              <a:ea typeface="Lato"/>
              <a:cs typeface="Lato"/>
              <a:sym typeface="Lato"/>
            </a:endParaRPr>
          </a:p>
        </p:txBody>
      </p:sp>
      <p:sp>
        <p:nvSpPr>
          <p:cNvPr id="1384" name="Google Shape;1384;p38"/>
          <p:cNvSpPr/>
          <p:nvPr/>
        </p:nvSpPr>
        <p:spPr>
          <a:xfrm rot="10800000">
            <a:off x="5504161" y="2990907"/>
            <a:ext cx="154800" cy="124500"/>
          </a:xfrm>
          <a:prstGeom prst="rect">
            <a:avLst/>
          </a:prstGeom>
          <a:solidFill>
            <a:srgbClr val="D9EAD3"/>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1</a:t>
            </a:r>
            <a:endParaRPr b="0" i="0" sz="100" u="none" cap="none" strike="noStrike">
              <a:solidFill>
                <a:srgbClr val="93C47D"/>
              </a:solidFill>
              <a:latin typeface="Lato"/>
              <a:ea typeface="Lato"/>
              <a:cs typeface="Lato"/>
              <a:sym typeface="Lato"/>
            </a:endParaRPr>
          </a:p>
        </p:txBody>
      </p:sp>
      <p:sp>
        <p:nvSpPr>
          <p:cNvPr id="1385" name="Google Shape;1385;p38"/>
          <p:cNvSpPr/>
          <p:nvPr/>
        </p:nvSpPr>
        <p:spPr>
          <a:xfrm rot="10800000">
            <a:off x="5659117" y="2865689"/>
            <a:ext cx="154800" cy="124500"/>
          </a:xfrm>
          <a:prstGeom prst="rect">
            <a:avLst/>
          </a:prstGeom>
          <a:solidFill>
            <a:srgbClr val="93C47D"/>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0</a:t>
            </a:r>
            <a:endParaRPr b="0" i="0" sz="100" u="none" cap="none" strike="noStrike">
              <a:solidFill>
                <a:srgbClr val="93C47D"/>
              </a:solidFill>
              <a:latin typeface="Lato"/>
              <a:ea typeface="Lato"/>
              <a:cs typeface="Lato"/>
              <a:sym typeface="Lato"/>
            </a:endParaRPr>
          </a:p>
        </p:txBody>
      </p:sp>
      <p:sp>
        <p:nvSpPr>
          <p:cNvPr id="1386" name="Google Shape;1386;p38"/>
          <p:cNvSpPr/>
          <p:nvPr/>
        </p:nvSpPr>
        <p:spPr>
          <a:xfrm rot="10800000">
            <a:off x="5504161" y="2865689"/>
            <a:ext cx="154800" cy="124500"/>
          </a:xfrm>
          <a:prstGeom prst="rect">
            <a:avLst/>
          </a:prstGeom>
          <a:solidFill>
            <a:srgbClr val="93C47D"/>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1</a:t>
            </a:r>
            <a:endParaRPr b="0" i="0" sz="100" u="none" cap="none" strike="noStrike">
              <a:solidFill>
                <a:srgbClr val="93C47D"/>
              </a:solidFill>
              <a:latin typeface="Lato"/>
              <a:ea typeface="Lato"/>
              <a:cs typeface="Lato"/>
              <a:sym typeface="Lato"/>
            </a:endParaRPr>
          </a:p>
        </p:txBody>
      </p:sp>
      <p:sp>
        <p:nvSpPr>
          <p:cNvPr id="1387" name="Google Shape;1387;p38"/>
          <p:cNvSpPr/>
          <p:nvPr/>
        </p:nvSpPr>
        <p:spPr>
          <a:xfrm rot="10800000">
            <a:off x="5659117" y="2740873"/>
            <a:ext cx="154800" cy="124500"/>
          </a:xfrm>
          <a:prstGeom prst="rect">
            <a:avLst/>
          </a:prstGeom>
          <a:solidFill>
            <a:srgbClr val="B6D7A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B6D7A8"/>
                </a:solidFill>
                <a:latin typeface="Lato"/>
                <a:ea typeface="Lato"/>
                <a:cs typeface="Lato"/>
                <a:sym typeface="Lato"/>
              </a:rPr>
              <a:t>0</a:t>
            </a:r>
            <a:endParaRPr b="0" i="0" sz="100" u="none" cap="none" strike="noStrike">
              <a:solidFill>
                <a:srgbClr val="B6D7A8"/>
              </a:solidFill>
              <a:latin typeface="Lato"/>
              <a:ea typeface="Lato"/>
              <a:cs typeface="Lato"/>
              <a:sym typeface="Lato"/>
            </a:endParaRPr>
          </a:p>
        </p:txBody>
      </p:sp>
      <p:sp>
        <p:nvSpPr>
          <p:cNvPr id="1388" name="Google Shape;1388;p38"/>
          <p:cNvSpPr/>
          <p:nvPr/>
        </p:nvSpPr>
        <p:spPr>
          <a:xfrm rot="10800000">
            <a:off x="5504161" y="2740873"/>
            <a:ext cx="154800" cy="124500"/>
          </a:xfrm>
          <a:prstGeom prst="rect">
            <a:avLst/>
          </a:prstGeom>
          <a:solidFill>
            <a:srgbClr val="B6D7A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B6D7A8"/>
                </a:solidFill>
                <a:latin typeface="Lato"/>
                <a:ea typeface="Lato"/>
                <a:cs typeface="Lato"/>
                <a:sym typeface="Lato"/>
              </a:rPr>
              <a:t>1</a:t>
            </a:r>
            <a:endParaRPr b="0" i="0" sz="100" u="none" cap="none" strike="noStrike">
              <a:solidFill>
                <a:srgbClr val="B6D7A8"/>
              </a:solidFill>
              <a:latin typeface="Lato"/>
              <a:ea typeface="Lato"/>
              <a:cs typeface="Lato"/>
              <a:sym typeface="Lato"/>
            </a:endParaRPr>
          </a:p>
        </p:txBody>
      </p:sp>
      <p:sp>
        <p:nvSpPr>
          <p:cNvPr id="1389" name="Google Shape;1389;p38"/>
          <p:cNvSpPr/>
          <p:nvPr/>
        </p:nvSpPr>
        <p:spPr>
          <a:xfrm rot="10800000">
            <a:off x="5348949" y="2989705"/>
            <a:ext cx="154800" cy="124500"/>
          </a:xfrm>
          <a:prstGeom prst="rect">
            <a:avLst/>
          </a:prstGeom>
          <a:solidFill>
            <a:srgbClr val="D9EAD3"/>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0</a:t>
            </a:r>
            <a:endParaRPr b="0" i="0" sz="100" u="none" cap="none" strike="noStrike">
              <a:solidFill>
                <a:srgbClr val="93C47D"/>
              </a:solidFill>
              <a:latin typeface="Lato"/>
              <a:ea typeface="Lato"/>
              <a:cs typeface="Lato"/>
              <a:sym typeface="Lato"/>
            </a:endParaRPr>
          </a:p>
        </p:txBody>
      </p:sp>
      <p:sp>
        <p:nvSpPr>
          <p:cNvPr id="1390" name="Google Shape;1390;p38"/>
          <p:cNvSpPr/>
          <p:nvPr/>
        </p:nvSpPr>
        <p:spPr>
          <a:xfrm rot="10800000">
            <a:off x="4931698" y="2991482"/>
            <a:ext cx="154800" cy="124500"/>
          </a:xfrm>
          <a:prstGeom prst="rect">
            <a:avLst/>
          </a:prstGeom>
          <a:solidFill>
            <a:srgbClr val="EA9999"/>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0</a:t>
            </a:r>
            <a:endParaRPr b="0" i="0" sz="100" u="none" cap="none" strike="noStrike">
              <a:solidFill>
                <a:srgbClr val="E06666"/>
              </a:solidFill>
              <a:latin typeface="Lato"/>
              <a:ea typeface="Lato"/>
              <a:cs typeface="Lato"/>
              <a:sym typeface="Lato"/>
            </a:endParaRPr>
          </a:p>
        </p:txBody>
      </p:sp>
      <p:sp>
        <p:nvSpPr>
          <p:cNvPr id="1391" name="Google Shape;1391;p38"/>
          <p:cNvSpPr/>
          <p:nvPr/>
        </p:nvSpPr>
        <p:spPr>
          <a:xfrm rot="10800000">
            <a:off x="4775683" y="2992280"/>
            <a:ext cx="154800" cy="124500"/>
          </a:xfrm>
          <a:prstGeom prst="rect">
            <a:avLst/>
          </a:prstGeom>
          <a:solidFill>
            <a:srgbClr val="EA9999"/>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1</a:t>
            </a:r>
            <a:endParaRPr b="0" i="0" sz="100" u="none" cap="none" strike="noStrike">
              <a:solidFill>
                <a:srgbClr val="E06666"/>
              </a:solidFill>
              <a:latin typeface="Lato"/>
              <a:ea typeface="Lato"/>
              <a:cs typeface="Lato"/>
              <a:sym typeface="Lato"/>
            </a:endParaRPr>
          </a:p>
        </p:txBody>
      </p:sp>
      <p:sp>
        <p:nvSpPr>
          <p:cNvPr id="1392" name="Google Shape;1392;p38"/>
          <p:cNvSpPr/>
          <p:nvPr/>
        </p:nvSpPr>
        <p:spPr>
          <a:xfrm rot="10800000">
            <a:off x="4620727" y="2992280"/>
            <a:ext cx="154800" cy="124500"/>
          </a:xfrm>
          <a:prstGeom prst="rect">
            <a:avLst/>
          </a:prstGeom>
          <a:solidFill>
            <a:srgbClr val="EA9999"/>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1</a:t>
            </a:r>
            <a:endParaRPr b="0" i="0" sz="100" u="none" cap="none" strike="noStrike">
              <a:solidFill>
                <a:srgbClr val="E06666"/>
              </a:solidFill>
              <a:latin typeface="Lato"/>
              <a:ea typeface="Lato"/>
              <a:cs typeface="Lato"/>
              <a:sym typeface="Lato"/>
            </a:endParaRPr>
          </a:p>
        </p:txBody>
      </p:sp>
      <p:sp>
        <p:nvSpPr>
          <p:cNvPr id="1393" name="Google Shape;1393;p38"/>
          <p:cNvSpPr/>
          <p:nvPr/>
        </p:nvSpPr>
        <p:spPr>
          <a:xfrm rot="10800000">
            <a:off x="5348949" y="2864487"/>
            <a:ext cx="154800" cy="124500"/>
          </a:xfrm>
          <a:prstGeom prst="rect">
            <a:avLst/>
          </a:prstGeom>
          <a:solidFill>
            <a:srgbClr val="93C47D"/>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93C47D"/>
                </a:solidFill>
                <a:latin typeface="Lato"/>
                <a:ea typeface="Lato"/>
                <a:cs typeface="Lato"/>
                <a:sym typeface="Lato"/>
              </a:rPr>
              <a:t>1</a:t>
            </a:r>
            <a:endParaRPr b="0" i="0" sz="100" u="none" cap="none" strike="noStrike">
              <a:solidFill>
                <a:srgbClr val="93C47D"/>
              </a:solidFill>
              <a:latin typeface="Lato"/>
              <a:ea typeface="Lato"/>
              <a:cs typeface="Lato"/>
              <a:sym typeface="Lato"/>
            </a:endParaRPr>
          </a:p>
        </p:txBody>
      </p:sp>
      <p:sp>
        <p:nvSpPr>
          <p:cNvPr id="1394" name="Google Shape;1394;p38"/>
          <p:cNvSpPr/>
          <p:nvPr/>
        </p:nvSpPr>
        <p:spPr>
          <a:xfrm rot="10800000">
            <a:off x="4931143" y="2866659"/>
            <a:ext cx="154800" cy="124500"/>
          </a:xfrm>
          <a:prstGeom prst="rect">
            <a:avLst/>
          </a:prstGeom>
          <a:solidFill>
            <a:srgbClr val="F4CCCC"/>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4CCCC"/>
                </a:solidFill>
                <a:latin typeface="Lato"/>
                <a:ea typeface="Lato"/>
                <a:cs typeface="Lato"/>
                <a:sym typeface="Lato"/>
              </a:rPr>
              <a:t>0</a:t>
            </a:r>
            <a:endParaRPr b="0" i="0" sz="100" u="none" cap="none" strike="noStrike">
              <a:solidFill>
                <a:srgbClr val="F4CCCC"/>
              </a:solidFill>
              <a:latin typeface="Lato"/>
              <a:ea typeface="Lato"/>
              <a:cs typeface="Lato"/>
              <a:sym typeface="Lato"/>
            </a:endParaRPr>
          </a:p>
        </p:txBody>
      </p:sp>
      <p:sp>
        <p:nvSpPr>
          <p:cNvPr id="1395" name="Google Shape;1395;p38"/>
          <p:cNvSpPr/>
          <p:nvPr/>
        </p:nvSpPr>
        <p:spPr>
          <a:xfrm rot="10800000">
            <a:off x="4775683" y="2867062"/>
            <a:ext cx="154800" cy="124500"/>
          </a:xfrm>
          <a:prstGeom prst="rect">
            <a:avLst/>
          </a:prstGeom>
          <a:solidFill>
            <a:srgbClr val="F4CCCC"/>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4CCCC"/>
                </a:solidFill>
                <a:latin typeface="Lato"/>
                <a:ea typeface="Lato"/>
                <a:cs typeface="Lato"/>
                <a:sym typeface="Lato"/>
              </a:rPr>
              <a:t>0</a:t>
            </a:r>
            <a:endParaRPr b="0" i="0" sz="100" u="none" cap="none" strike="noStrike">
              <a:solidFill>
                <a:srgbClr val="F4CCCC"/>
              </a:solidFill>
              <a:latin typeface="Lato"/>
              <a:ea typeface="Lato"/>
              <a:cs typeface="Lato"/>
              <a:sym typeface="Lato"/>
            </a:endParaRPr>
          </a:p>
        </p:txBody>
      </p:sp>
      <p:sp>
        <p:nvSpPr>
          <p:cNvPr id="1396" name="Google Shape;1396;p38"/>
          <p:cNvSpPr/>
          <p:nvPr/>
        </p:nvSpPr>
        <p:spPr>
          <a:xfrm rot="10800000">
            <a:off x="4620727" y="2867062"/>
            <a:ext cx="154800" cy="124500"/>
          </a:xfrm>
          <a:prstGeom prst="rect">
            <a:avLst/>
          </a:prstGeom>
          <a:solidFill>
            <a:srgbClr val="F4CCCC"/>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F4CCCC"/>
                </a:solidFill>
                <a:latin typeface="Lato"/>
                <a:ea typeface="Lato"/>
                <a:cs typeface="Lato"/>
                <a:sym typeface="Lato"/>
              </a:rPr>
              <a:t>1</a:t>
            </a:r>
            <a:endParaRPr b="0" i="0" sz="100" u="none" cap="none" strike="noStrike">
              <a:solidFill>
                <a:srgbClr val="F4CCCC"/>
              </a:solidFill>
              <a:latin typeface="Lato"/>
              <a:ea typeface="Lato"/>
              <a:cs typeface="Lato"/>
              <a:sym typeface="Lato"/>
            </a:endParaRPr>
          </a:p>
        </p:txBody>
      </p:sp>
      <p:sp>
        <p:nvSpPr>
          <p:cNvPr id="1397" name="Google Shape;1397;p38"/>
          <p:cNvSpPr/>
          <p:nvPr/>
        </p:nvSpPr>
        <p:spPr>
          <a:xfrm rot="10800000">
            <a:off x="5348949" y="2739671"/>
            <a:ext cx="154800" cy="124500"/>
          </a:xfrm>
          <a:prstGeom prst="rect">
            <a:avLst/>
          </a:prstGeom>
          <a:solidFill>
            <a:srgbClr val="B6D7A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B6D7A8"/>
                </a:solidFill>
                <a:latin typeface="Lato"/>
                <a:ea typeface="Lato"/>
                <a:cs typeface="Lato"/>
                <a:sym typeface="Lato"/>
              </a:rPr>
              <a:t>1</a:t>
            </a:r>
            <a:endParaRPr b="0" i="0" sz="100" u="none" cap="none" strike="noStrike">
              <a:solidFill>
                <a:srgbClr val="B6D7A8"/>
              </a:solidFill>
              <a:latin typeface="Lato"/>
              <a:ea typeface="Lato"/>
              <a:cs typeface="Lato"/>
              <a:sym typeface="Lato"/>
            </a:endParaRPr>
          </a:p>
        </p:txBody>
      </p:sp>
      <p:sp>
        <p:nvSpPr>
          <p:cNvPr id="1398" name="Google Shape;1398;p38"/>
          <p:cNvSpPr/>
          <p:nvPr/>
        </p:nvSpPr>
        <p:spPr>
          <a:xfrm rot="10800000">
            <a:off x="4931143" y="2741843"/>
            <a:ext cx="154800" cy="124500"/>
          </a:xfrm>
          <a:prstGeom prst="rect">
            <a:avLst/>
          </a:prstGeom>
          <a:solidFill>
            <a:srgbClr val="E06666"/>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0</a:t>
            </a:r>
            <a:endParaRPr b="0" i="0" sz="100" u="none" cap="none" strike="noStrike">
              <a:solidFill>
                <a:srgbClr val="E06666"/>
              </a:solidFill>
              <a:latin typeface="Lato"/>
              <a:ea typeface="Lato"/>
              <a:cs typeface="Lato"/>
              <a:sym typeface="Lato"/>
            </a:endParaRPr>
          </a:p>
        </p:txBody>
      </p:sp>
      <p:sp>
        <p:nvSpPr>
          <p:cNvPr id="1399" name="Google Shape;1399;p38"/>
          <p:cNvSpPr/>
          <p:nvPr/>
        </p:nvSpPr>
        <p:spPr>
          <a:xfrm rot="10800000">
            <a:off x="4775683" y="2742246"/>
            <a:ext cx="154800" cy="124500"/>
          </a:xfrm>
          <a:prstGeom prst="rect">
            <a:avLst/>
          </a:prstGeom>
          <a:solidFill>
            <a:srgbClr val="E06666"/>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0</a:t>
            </a:r>
            <a:endParaRPr b="0" i="0" sz="100" u="none" cap="none" strike="noStrike">
              <a:solidFill>
                <a:srgbClr val="E06666"/>
              </a:solidFill>
              <a:latin typeface="Lato"/>
              <a:ea typeface="Lato"/>
              <a:cs typeface="Lato"/>
              <a:sym typeface="Lato"/>
            </a:endParaRPr>
          </a:p>
        </p:txBody>
      </p:sp>
      <p:sp>
        <p:nvSpPr>
          <p:cNvPr id="1400" name="Google Shape;1400;p38"/>
          <p:cNvSpPr/>
          <p:nvPr/>
        </p:nvSpPr>
        <p:spPr>
          <a:xfrm rot="10800000">
            <a:off x="4620727" y="2742246"/>
            <a:ext cx="154800" cy="124500"/>
          </a:xfrm>
          <a:prstGeom prst="rect">
            <a:avLst/>
          </a:prstGeom>
          <a:solidFill>
            <a:srgbClr val="E06666"/>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E06666"/>
                </a:solidFill>
                <a:latin typeface="Lato"/>
                <a:ea typeface="Lato"/>
                <a:cs typeface="Lato"/>
                <a:sym typeface="Lato"/>
              </a:rPr>
              <a:t>1</a:t>
            </a:r>
            <a:endParaRPr b="0" i="0" sz="100" u="none" cap="none" strike="noStrike">
              <a:solidFill>
                <a:srgbClr val="E06666"/>
              </a:solidFill>
              <a:latin typeface="Lato"/>
              <a:ea typeface="Lato"/>
              <a:cs typeface="Lato"/>
              <a:sym typeface="Lato"/>
            </a:endParaRPr>
          </a:p>
        </p:txBody>
      </p:sp>
      <p:sp>
        <p:nvSpPr>
          <p:cNvPr id="1401" name="Google Shape;1401;p38"/>
          <p:cNvSpPr/>
          <p:nvPr/>
        </p:nvSpPr>
        <p:spPr>
          <a:xfrm rot="10800000">
            <a:off x="4203535" y="2992448"/>
            <a:ext cx="154800" cy="124500"/>
          </a:xfrm>
          <a:prstGeom prst="rect">
            <a:avLst/>
          </a:prstGeom>
          <a:solidFill>
            <a:srgbClr val="4A86E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4A86E8"/>
                </a:solidFill>
                <a:latin typeface="Lato"/>
                <a:ea typeface="Lato"/>
                <a:cs typeface="Lato"/>
                <a:sym typeface="Lato"/>
              </a:rPr>
              <a:t>1</a:t>
            </a:r>
            <a:endParaRPr b="0" i="0" sz="100" u="none" cap="none" strike="noStrike">
              <a:solidFill>
                <a:srgbClr val="4A86E8"/>
              </a:solidFill>
              <a:latin typeface="Lato"/>
              <a:ea typeface="Lato"/>
              <a:cs typeface="Lato"/>
              <a:sym typeface="Lato"/>
            </a:endParaRPr>
          </a:p>
        </p:txBody>
      </p:sp>
      <p:sp>
        <p:nvSpPr>
          <p:cNvPr id="1402" name="Google Shape;1402;p38"/>
          <p:cNvSpPr/>
          <p:nvPr/>
        </p:nvSpPr>
        <p:spPr>
          <a:xfrm rot="10800000">
            <a:off x="4203535" y="2867231"/>
            <a:ext cx="154800" cy="124500"/>
          </a:xfrm>
          <a:prstGeom prst="rect">
            <a:avLst/>
          </a:prstGeom>
          <a:solidFill>
            <a:srgbClr val="A4C2F4"/>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A4C2F4"/>
                </a:solidFill>
                <a:latin typeface="Lato"/>
                <a:ea typeface="Lato"/>
                <a:cs typeface="Lato"/>
                <a:sym typeface="Lato"/>
              </a:rPr>
              <a:t>0</a:t>
            </a:r>
            <a:endParaRPr b="0" i="0" sz="100" u="none" cap="none" strike="noStrike">
              <a:solidFill>
                <a:srgbClr val="A4C2F4"/>
              </a:solidFill>
              <a:latin typeface="Lato"/>
              <a:ea typeface="Lato"/>
              <a:cs typeface="Lato"/>
              <a:sym typeface="Lato"/>
            </a:endParaRPr>
          </a:p>
        </p:txBody>
      </p:sp>
      <p:sp>
        <p:nvSpPr>
          <p:cNvPr id="1403" name="Google Shape;1403;p38"/>
          <p:cNvSpPr/>
          <p:nvPr/>
        </p:nvSpPr>
        <p:spPr>
          <a:xfrm rot="10800000">
            <a:off x="4203535" y="2742414"/>
            <a:ext cx="154800" cy="124500"/>
          </a:xfrm>
          <a:prstGeom prst="rect">
            <a:avLst/>
          </a:prstGeom>
          <a:solidFill>
            <a:srgbClr val="C9DAF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9DAF8"/>
                </a:solidFill>
                <a:latin typeface="Lato"/>
                <a:ea typeface="Lato"/>
                <a:cs typeface="Lato"/>
                <a:sym typeface="Lato"/>
              </a:rPr>
              <a:t>0</a:t>
            </a:r>
            <a:endParaRPr b="0" i="0" sz="100" u="none" cap="none" strike="noStrike">
              <a:solidFill>
                <a:srgbClr val="C9DAF8"/>
              </a:solidFill>
              <a:latin typeface="Lato"/>
              <a:ea typeface="Lato"/>
              <a:cs typeface="Lato"/>
              <a:sym typeface="Lato"/>
            </a:endParaRPr>
          </a:p>
        </p:txBody>
      </p:sp>
      <p:sp>
        <p:nvSpPr>
          <p:cNvPr id="1404" name="Google Shape;1404;p38"/>
          <p:cNvSpPr/>
          <p:nvPr/>
        </p:nvSpPr>
        <p:spPr>
          <a:xfrm rot="10800000">
            <a:off x="4048095" y="2992855"/>
            <a:ext cx="154800" cy="124500"/>
          </a:xfrm>
          <a:prstGeom prst="rect">
            <a:avLst/>
          </a:prstGeom>
          <a:solidFill>
            <a:srgbClr val="4A86E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4A86E8"/>
                </a:solidFill>
                <a:latin typeface="Lato"/>
                <a:ea typeface="Lato"/>
                <a:cs typeface="Lato"/>
                <a:sym typeface="Lato"/>
              </a:rPr>
              <a:t>1</a:t>
            </a:r>
            <a:endParaRPr b="0" i="0" sz="100" u="none" cap="none" strike="noStrike">
              <a:solidFill>
                <a:srgbClr val="4A86E8"/>
              </a:solidFill>
              <a:latin typeface="Lato"/>
              <a:ea typeface="Lato"/>
              <a:cs typeface="Lato"/>
              <a:sym typeface="Lato"/>
            </a:endParaRPr>
          </a:p>
        </p:txBody>
      </p:sp>
      <p:sp>
        <p:nvSpPr>
          <p:cNvPr id="1405" name="Google Shape;1405;p38"/>
          <p:cNvSpPr/>
          <p:nvPr/>
        </p:nvSpPr>
        <p:spPr>
          <a:xfrm rot="10800000">
            <a:off x="4048095" y="2867637"/>
            <a:ext cx="154800" cy="124500"/>
          </a:xfrm>
          <a:prstGeom prst="rect">
            <a:avLst/>
          </a:prstGeom>
          <a:solidFill>
            <a:srgbClr val="A4C2F4"/>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A4C2F4"/>
                </a:solidFill>
                <a:latin typeface="Lato"/>
                <a:ea typeface="Lato"/>
                <a:cs typeface="Lato"/>
                <a:sym typeface="Lato"/>
              </a:rPr>
              <a:t>0</a:t>
            </a:r>
            <a:endParaRPr b="0" i="0" sz="100" u="none" cap="none" strike="noStrike">
              <a:solidFill>
                <a:srgbClr val="A4C2F4"/>
              </a:solidFill>
              <a:latin typeface="Lato"/>
              <a:ea typeface="Lato"/>
              <a:cs typeface="Lato"/>
              <a:sym typeface="Lato"/>
            </a:endParaRPr>
          </a:p>
        </p:txBody>
      </p:sp>
      <p:sp>
        <p:nvSpPr>
          <p:cNvPr id="1406" name="Google Shape;1406;p38"/>
          <p:cNvSpPr/>
          <p:nvPr/>
        </p:nvSpPr>
        <p:spPr>
          <a:xfrm rot="10800000">
            <a:off x="4048095" y="2742821"/>
            <a:ext cx="154800" cy="124500"/>
          </a:xfrm>
          <a:prstGeom prst="rect">
            <a:avLst/>
          </a:prstGeom>
          <a:solidFill>
            <a:srgbClr val="C9DAF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9DAF8"/>
                </a:solidFill>
                <a:latin typeface="Lato"/>
                <a:ea typeface="Lato"/>
                <a:cs typeface="Lato"/>
                <a:sym typeface="Lato"/>
              </a:rPr>
              <a:t>0</a:t>
            </a:r>
            <a:endParaRPr b="0" i="0" sz="100" u="none" cap="none" strike="noStrike">
              <a:solidFill>
                <a:srgbClr val="C9DAF8"/>
              </a:solidFill>
              <a:latin typeface="Lato"/>
              <a:ea typeface="Lato"/>
              <a:cs typeface="Lato"/>
              <a:sym typeface="Lato"/>
            </a:endParaRPr>
          </a:p>
        </p:txBody>
      </p:sp>
      <p:sp>
        <p:nvSpPr>
          <p:cNvPr id="1407" name="Google Shape;1407;p38"/>
          <p:cNvSpPr/>
          <p:nvPr/>
        </p:nvSpPr>
        <p:spPr>
          <a:xfrm rot="10800000">
            <a:off x="3893136" y="2992651"/>
            <a:ext cx="154800" cy="124500"/>
          </a:xfrm>
          <a:prstGeom prst="rect">
            <a:avLst/>
          </a:prstGeom>
          <a:solidFill>
            <a:srgbClr val="4A86E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4A86E8"/>
                </a:solidFill>
                <a:latin typeface="Lato"/>
                <a:ea typeface="Lato"/>
                <a:cs typeface="Lato"/>
                <a:sym typeface="Lato"/>
              </a:rPr>
              <a:t>1</a:t>
            </a:r>
            <a:endParaRPr b="0" i="0" sz="100" u="none" cap="none" strike="noStrike">
              <a:solidFill>
                <a:srgbClr val="4A86E8"/>
              </a:solidFill>
              <a:latin typeface="Lato"/>
              <a:ea typeface="Lato"/>
              <a:cs typeface="Lato"/>
              <a:sym typeface="Lato"/>
            </a:endParaRPr>
          </a:p>
        </p:txBody>
      </p:sp>
      <p:sp>
        <p:nvSpPr>
          <p:cNvPr id="1408" name="Google Shape;1408;p38"/>
          <p:cNvSpPr/>
          <p:nvPr/>
        </p:nvSpPr>
        <p:spPr>
          <a:xfrm rot="10800000">
            <a:off x="3893136" y="2867434"/>
            <a:ext cx="154800" cy="124500"/>
          </a:xfrm>
          <a:prstGeom prst="rect">
            <a:avLst/>
          </a:prstGeom>
          <a:solidFill>
            <a:srgbClr val="A4C2F4"/>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A4C2F4"/>
                </a:solidFill>
                <a:latin typeface="Lato"/>
                <a:ea typeface="Lato"/>
                <a:cs typeface="Lato"/>
                <a:sym typeface="Lato"/>
              </a:rPr>
              <a:t>0</a:t>
            </a:r>
            <a:endParaRPr b="0" i="0" sz="100" u="none" cap="none" strike="noStrike">
              <a:solidFill>
                <a:srgbClr val="A4C2F4"/>
              </a:solidFill>
              <a:latin typeface="Lato"/>
              <a:ea typeface="Lato"/>
              <a:cs typeface="Lato"/>
              <a:sym typeface="Lato"/>
            </a:endParaRPr>
          </a:p>
        </p:txBody>
      </p:sp>
      <p:sp>
        <p:nvSpPr>
          <p:cNvPr id="1409" name="Google Shape;1409;p38"/>
          <p:cNvSpPr/>
          <p:nvPr/>
        </p:nvSpPr>
        <p:spPr>
          <a:xfrm rot="10800000">
            <a:off x="3893136" y="2742618"/>
            <a:ext cx="154800" cy="124500"/>
          </a:xfrm>
          <a:prstGeom prst="rect">
            <a:avLst/>
          </a:prstGeom>
          <a:solidFill>
            <a:srgbClr val="C9DAF8"/>
          </a:solidFill>
          <a:ln>
            <a:noFill/>
          </a:ln>
        </p:spPr>
        <p:txBody>
          <a:bodyPr anchorCtr="0" anchor="ctr" bIns="78500" lIns="78500" spcFirstLastPara="1" rIns="78500" wrap="square" tIns="78500">
            <a:noAutofit/>
          </a:bodyPr>
          <a:lstStyle/>
          <a:p>
            <a:pPr indent="0" lvl="0" marL="0" marR="0" rtl="0" algn="ctr">
              <a:lnSpc>
                <a:spcPct val="100000"/>
              </a:lnSpc>
              <a:spcBef>
                <a:spcPts val="0"/>
              </a:spcBef>
              <a:spcAft>
                <a:spcPts val="0"/>
              </a:spcAft>
              <a:buClr>
                <a:srgbClr val="000000"/>
              </a:buClr>
              <a:buSzPts val="100"/>
              <a:buFont typeface="Arial"/>
              <a:buNone/>
            </a:pPr>
            <a:r>
              <a:rPr b="0" i="0" lang="en" sz="100" u="none" cap="none" strike="noStrike">
                <a:solidFill>
                  <a:srgbClr val="C9DAF8"/>
                </a:solidFill>
                <a:latin typeface="Lato"/>
                <a:ea typeface="Lato"/>
                <a:cs typeface="Lato"/>
                <a:sym typeface="Lato"/>
              </a:rPr>
              <a:t>0</a:t>
            </a:r>
            <a:endParaRPr b="0" i="0" sz="100" u="none" cap="none" strike="noStrike">
              <a:solidFill>
                <a:srgbClr val="C9DAF8"/>
              </a:solidFill>
              <a:latin typeface="Lato"/>
              <a:ea typeface="Lato"/>
              <a:cs typeface="Lato"/>
              <a:sym typeface="Lato"/>
            </a:endParaRPr>
          </a:p>
        </p:txBody>
      </p:sp>
      <p:sp>
        <p:nvSpPr>
          <p:cNvPr id="1410" name="Google Shape;1410;p38"/>
          <p:cNvSpPr/>
          <p:nvPr/>
        </p:nvSpPr>
        <p:spPr>
          <a:xfrm>
            <a:off x="3621055" y="3342338"/>
            <a:ext cx="248400" cy="180900"/>
          </a:xfrm>
          <a:prstGeom prst="roundRect">
            <a:avLst>
              <a:gd fmla="val 7908" name="adj"/>
            </a:avLst>
          </a:prstGeom>
          <a:noFill/>
          <a:ln cap="flat" cmpd="sng" w="16700">
            <a:solidFill>
              <a:srgbClr val="CFE2F3"/>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c11</a:t>
            </a:r>
            <a:endParaRPr b="1" i="0" sz="584" u="none" cap="none" strike="noStrike">
              <a:solidFill>
                <a:srgbClr val="000000"/>
              </a:solidFill>
              <a:latin typeface="Comic Sans MS"/>
              <a:ea typeface="Comic Sans MS"/>
              <a:cs typeface="Comic Sans MS"/>
              <a:sym typeface="Comic Sans MS"/>
            </a:endParaRPr>
          </a:p>
        </p:txBody>
      </p:sp>
      <p:sp>
        <p:nvSpPr>
          <p:cNvPr id="1411" name="Google Shape;1411;p38"/>
          <p:cNvSpPr/>
          <p:nvPr/>
        </p:nvSpPr>
        <p:spPr>
          <a:xfrm>
            <a:off x="3898542" y="3341642"/>
            <a:ext cx="248400" cy="180900"/>
          </a:xfrm>
          <a:prstGeom prst="roundRect">
            <a:avLst>
              <a:gd fmla="val 7908" name="adj"/>
            </a:avLst>
          </a:prstGeom>
          <a:noFill/>
          <a:ln cap="flat" cmpd="sng" w="16700">
            <a:solidFill>
              <a:srgbClr val="A4C2F4"/>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c12</a:t>
            </a:r>
            <a:endParaRPr b="1" i="0" sz="584" u="none" cap="none" strike="noStrike">
              <a:solidFill>
                <a:srgbClr val="000000"/>
              </a:solidFill>
              <a:latin typeface="Comic Sans MS"/>
              <a:ea typeface="Comic Sans MS"/>
              <a:cs typeface="Comic Sans MS"/>
              <a:sym typeface="Comic Sans MS"/>
            </a:endParaRPr>
          </a:p>
        </p:txBody>
      </p:sp>
      <p:sp>
        <p:nvSpPr>
          <p:cNvPr id="1412" name="Google Shape;1412;p38"/>
          <p:cNvSpPr/>
          <p:nvPr/>
        </p:nvSpPr>
        <p:spPr>
          <a:xfrm>
            <a:off x="4176055" y="3341642"/>
            <a:ext cx="248400" cy="180900"/>
          </a:xfrm>
          <a:prstGeom prst="roundRect">
            <a:avLst>
              <a:gd fmla="val 7908" name="adj"/>
            </a:avLst>
          </a:prstGeom>
          <a:noFill/>
          <a:ln cap="flat" cmpd="sng" w="16700">
            <a:solidFill>
              <a:srgbClr val="6D9EEB"/>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c13</a:t>
            </a:r>
            <a:endParaRPr b="1" i="0" sz="584" u="none" cap="none" strike="noStrike">
              <a:solidFill>
                <a:srgbClr val="000000"/>
              </a:solidFill>
              <a:latin typeface="Comic Sans MS"/>
              <a:ea typeface="Comic Sans MS"/>
              <a:cs typeface="Comic Sans MS"/>
              <a:sym typeface="Comic Sans MS"/>
            </a:endParaRPr>
          </a:p>
        </p:txBody>
      </p:sp>
      <p:sp>
        <p:nvSpPr>
          <p:cNvPr id="1413" name="Google Shape;1413;p38"/>
          <p:cNvSpPr/>
          <p:nvPr/>
        </p:nvSpPr>
        <p:spPr>
          <a:xfrm>
            <a:off x="4453544" y="3342572"/>
            <a:ext cx="248400" cy="180900"/>
          </a:xfrm>
          <a:prstGeom prst="roundRect">
            <a:avLst>
              <a:gd fmla="val 7908" name="adj"/>
            </a:avLst>
          </a:prstGeom>
          <a:noFill/>
          <a:ln cap="flat" cmpd="sng" w="16700">
            <a:solidFill>
              <a:srgbClr val="E06666"/>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c21</a:t>
            </a:r>
            <a:endParaRPr b="1" i="0" sz="584" u="none" cap="none" strike="noStrike">
              <a:solidFill>
                <a:srgbClr val="000000"/>
              </a:solidFill>
              <a:latin typeface="Comic Sans MS"/>
              <a:ea typeface="Comic Sans MS"/>
              <a:cs typeface="Comic Sans MS"/>
              <a:sym typeface="Comic Sans MS"/>
            </a:endParaRPr>
          </a:p>
        </p:txBody>
      </p:sp>
      <p:sp>
        <p:nvSpPr>
          <p:cNvPr id="1414" name="Google Shape;1414;p38"/>
          <p:cNvSpPr/>
          <p:nvPr/>
        </p:nvSpPr>
        <p:spPr>
          <a:xfrm>
            <a:off x="4731057" y="3342426"/>
            <a:ext cx="248400" cy="180900"/>
          </a:xfrm>
          <a:prstGeom prst="roundRect">
            <a:avLst>
              <a:gd fmla="val 7908" name="adj"/>
            </a:avLst>
          </a:prstGeom>
          <a:noFill/>
          <a:ln cap="flat" cmpd="sng" w="16700">
            <a:solidFill>
              <a:srgbClr val="F4CCCC"/>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c22</a:t>
            </a:r>
            <a:endParaRPr b="1" i="0" sz="584" u="none" cap="none" strike="noStrike">
              <a:solidFill>
                <a:srgbClr val="000000"/>
              </a:solidFill>
              <a:latin typeface="Comic Sans MS"/>
              <a:ea typeface="Comic Sans MS"/>
              <a:cs typeface="Comic Sans MS"/>
              <a:sym typeface="Comic Sans MS"/>
            </a:endParaRPr>
          </a:p>
        </p:txBody>
      </p:sp>
      <p:sp>
        <p:nvSpPr>
          <p:cNvPr id="1415" name="Google Shape;1415;p38"/>
          <p:cNvSpPr/>
          <p:nvPr/>
        </p:nvSpPr>
        <p:spPr>
          <a:xfrm>
            <a:off x="5008569" y="3342426"/>
            <a:ext cx="248400" cy="180900"/>
          </a:xfrm>
          <a:prstGeom prst="roundRect">
            <a:avLst>
              <a:gd fmla="val 7908" name="adj"/>
            </a:avLst>
          </a:prstGeom>
          <a:noFill/>
          <a:ln cap="flat" cmpd="sng" w="16700">
            <a:solidFill>
              <a:srgbClr val="EA9999"/>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c23</a:t>
            </a:r>
            <a:endParaRPr b="1" i="0" sz="584" u="none" cap="none" strike="noStrike">
              <a:solidFill>
                <a:srgbClr val="000000"/>
              </a:solidFill>
              <a:latin typeface="Comic Sans MS"/>
              <a:ea typeface="Comic Sans MS"/>
              <a:cs typeface="Comic Sans MS"/>
              <a:sym typeface="Comic Sans MS"/>
            </a:endParaRPr>
          </a:p>
        </p:txBody>
      </p:sp>
      <p:sp>
        <p:nvSpPr>
          <p:cNvPr id="1416" name="Google Shape;1416;p38"/>
          <p:cNvSpPr/>
          <p:nvPr/>
        </p:nvSpPr>
        <p:spPr>
          <a:xfrm>
            <a:off x="5286058" y="3342495"/>
            <a:ext cx="248400" cy="180900"/>
          </a:xfrm>
          <a:prstGeom prst="roundRect">
            <a:avLst>
              <a:gd fmla="val 7908" name="adj"/>
            </a:avLst>
          </a:prstGeom>
          <a:noFill/>
          <a:ln cap="flat" cmpd="sng" w="16700">
            <a:solidFill>
              <a:srgbClr val="93C47D"/>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c31</a:t>
            </a:r>
            <a:endParaRPr b="1" i="0" sz="584" u="none" cap="none" strike="noStrike">
              <a:solidFill>
                <a:srgbClr val="000000"/>
              </a:solidFill>
              <a:latin typeface="Comic Sans MS"/>
              <a:ea typeface="Comic Sans MS"/>
              <a:cs typeface="Comic Sans MS"/>
              <a:sym typeface="Comic Sans MS"/>
            </a:endParaRPr>
          </a:p>
        </p:txBody>
      </p:sp>
      <p:sp>
        <p:nvSpPr>
          <p:cNvPr id="1417" name="Google Shape;1417;p38"/>
          <p:cNvSpPr/>
          <p:nvPr/>
        </p:nvSpPr>
        <p:spPr>
          <a:xfrm>
            <a:off x="5563571" y="3342349"/>
            <a:ext cx="248400" cy="180900"/>
          </a:xfrm>
          <a:prstGeom prst="roundRect">
            <a:avLst>
              <a:gd fmla="val 7908" name="adj"/>
            </a:avLst>
          </a:prstGeom>
          <a:noFill/>
          <a:ln cap="flat" cmpd="sng" w="16700">
            <a:solidFill>
              <a:srgbClr val="6AA84F"/>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c32</a:t>
            </a:r>
            <a:endParaRPr b="1" i="0" sz="584" u="none" cap="none" strike="noStrike">
              <a:solidFill>
                <a:srgbClr val="000000"/>
              </a:solidFill>
              <a:latin typeface="Comic Sans MS"/>
              <a:ea typeface="Comic Sans MS"/>
              <a:cs typeface="Comic Sans MS"/>
              <a:sym typeface="Comic Sans MS"/>
            </a:endParaRPr>
          </a:p>
        </p:txBody>
      </p:sp>
      <p:sp>
        <p:nvSpPr>
          <p:cNvPr id="1418" name="Google Shape;1418;p38"/>
          <p:cNvSpPr/>
          <p:nvPr/>
        </p:nvSpPr>
        <p:spPr>
          <a:xfrm>
            <a:off x="5841084" y="3342349"/>
            <a:ext cx="248400" cy="180900"/>
          </a:xfrm>
          <a:prstGeom prst="roundRect">
            <a:avLst>
              <a:gd fmla="val 7908" name="adj"/>
            </a:avLst>
          </a:prstGeom>
          <a:noFill/>
          <a:ln cap="flat" cmpd="sng" w="16700">
            <a:solidFill>
              <a:srgbClr val="B6D7A8"/>
            </a:solidFill>
            <a:prstDash val="solid"/>
            <a:round/>
            <a:headEnd len="sm" w="sm" type="none"/>
            <a:tailEnd len="sm" w="sm" type="none"/>
          </a:ln>
        </p:spPr>
        <p:txBody>
          <a:bodyPr anchorCtr="0" anchor="ctr" bIns="53450" lIns="53450" spcFirstLastPara="1" rIns="53450" wrap="square" tIns="53450">
            <a:noAutofit/>
          </a:bodyPr>
          <a:lstStyle/>
          <a:p>
            <a:pPr indent="0" lvl="0" marL="0" marR="0" rtl="0" algn="ctr">
              <a:lnSpc>
                <a:spcPct val="115000"/>
              </a:lnSpc>
              <a:spcBef>
                <a:spcPts val="701"/>
              </a:spcBef>
              <a:spcAft>
                <a:spcPts val="701"/>
              </a:spcAft>
              <a:buClr>
                <a:srgbClr val="000000"/>
              </a:buClr>
              <a:buSzPts val="584"/>
              <a:buFont typeface="Arial"/>
              <a:buNone/>
            </a:pPr>
            <a:r>
              <a:rPr b="1" i="0" lang="en" sz="584" u="none" cap="none" strike="noStrike">
                <a:solidFill>
                  <a:srgbClr val="000000"/>
                </a:solidFill>
                <a:latin typeface="Comic Sans MS"/>
                <a:ea typeface="Comic Sans MS"/>
                <a:cs typeface="Comic Sans MS"/>
                <a:sym typeface="Comic Sans MS"/>
              </a:rPr>
              <a:t>c33</a:t>
            </a:r>
            <a:endParaRPr b="1" i="0" sz="584" u="none" cap="none" strike="noStrike">
              <a:solidFill>
                <a:srgbClr val="000000"/>
              </a:solidFill>
              <a:latin typeface="Comic Sans MS"/>
              <a:ea typeface="Comic Sans MS"/>
              <a:cs typeface="Comic Sans MS"/>
              <a:sym typeface="Comic Sans MS"/>
            </a:endParaRPr>
          </a:p>
        </p:txBody>
      </p:sp>
      <p:sp>
        <p:nvSpPr>
          <p:cNvPr id="1419" name="Google Shape;1419;p38"/>
          <p:cNvSpPr/>
          <p:nvPr/>
        </p:nvSpPr>
        <p:spPr>
          <a:xfrm>
            <a:off x="4664892" y="3750462"/>
            <a:ext cx="235500" cy="171900"/>
          </a:xfrm>
          <a:prstGeom prst="roundRect">
            <a:avLst>
              <a:gd fmla="val 7908" name="adj"/>
            </a:avLst>
          </a:prstGeom>
          <a:noFill/>
          <a:ln cap="flat" cmpd="sng" w="15850">
            <a:solidFill>
              <a:srgbClr val="CFE2F3"/>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c11</a:t>
            </a:r>
            <a:endParaRPr b="1" i="0" sz="554" u="none" cap="none" strike="noStrike">
              <a:solidFill>
                <a:srgbClr val="000000"/>
              </a:solidFill>
              <a:latin typeface="Comic Sans MS"/>
              <a:ea typeface="Comic Sans MS"/>
              <a:cs typeface="Comic Sans MS"/>
              <a:sym typeface="Comic Sans MS"/>
            </a:endParaRPr>
          </a:p>
        </p:txBody>
      </p:sp>
      <p:sp>
        <p:nvSpPr>
          <p:cNvPr id="1420" name="Google Shape;1420;p38"/>
          <p:cNvSpPr/>
          <p:nvPr/>
        </p:nvSpPr>
        <p:spPr>
          <a:xfrm>
            <a:off x="4664890" y="3986216"/>
            <a:ext cx="235500" cy="171900"/>
          </a:xfrm>
          <a:prstGeom prst="roundRect">
            <a:avLst>
              <a:gd fmla="val 7908" name="adj"/>
            </a:avLst>
          </a:prstGeom>
          <a:noFill/>
          <a:ln cap="flat" cmpd="sng" w="15850">
            <a:solidFill>
              <a:srgbClr val="A4C2F4"/>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c12</a:t>
            </a:r>
            <a:endParaRPr b="1" i="0" sz="554" u="none" cap="none" strike="noStrike">
              <a:solidFill>
                <a:srgbClr val="000000"/>
              </a:solidFill>
              <a:latin typeface="Comic Sans MS"/>
              <a:ea typeface="Comic Sans MS"/>
              <a:cs typeface="Comic Sans MS"/>
              <a:sym typeface="Comic Sans MS"/>
            </a:endParaRPr>
          </a:p>
        </p:txBody>
      </p:sp>
      <p:sp>
        <p:nvSpPr>
          <p:cNvPr id="1421" name="Google Shape;1421;p38"/>
          <p:cNvSpPr/>
          <p:nvPr/>
        </p:nvSpPr>
        <p:spPr>
          <a:xfrm>
            <a:off x="4664888" y="4434018"/>
            <a:ext cx="235500" cy="171900"/>
          </a:xfrm>
          <a:prstGeom prst="roundRect">
            <a:avLst>
              <a:gd fmla="val 7908" name="adj"/>
            </a:avLst>
          </a:prstGeom>
          <a:noFill/>
          <a:ln cap="flat" cmpd="sng" w="15850">
            <a:solidFill>
              <a:srgbClr val="6D9EEB"/>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c13</a:t>
            </a:r>
            <a:endParaRPr b="1" i="0" sz="554" u="none" cap="none" strike="noStrike">
              <a:solidFill>
                <a:srgbClr val="000000"/>
              </a:solidFill>
              <a:latin typeface="Comic Sans MS"/>
              <a:ea typeface="Comic Sans MS"/>
              <a:cs typeface="Comic Sans MS"/>
              <a:sym typeface="Comic Sans MS"/>
            </a:endParaRPr>
          </a:p>
        </p:txBody>
      </p:sp>
      <p:sp>
        <p:nvSpPr>
          <p:cNvPr id="1422" name="Google Shape;1422;p38"/>
          <p:cNvSpPr/>
          <p:nvPr/>
        </p:nvSpPr>
        <p:spPr>
          <a:xfrm>
            <a:off x="4938337" y="3750452"/>
            <a:ext cx="235500" cy="171900"/>
          </a:xfrm>
          <a:prstGeom prst="roundRect">
            <a:avLst>
              <a:gd fmla="val 7908" name="adj"/>
            </a:avLst>
          </a:prstGeom>
          <a:noFill/>
          <a:ln cap="flat" cmpd="sng" w="15850">
            <a:solidFill>
              <a:srgbClr val="E06666"/>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c21</a:t>
            </a:r>
            <a:endParaRPr b="1" i="0" sz="554" u="none" cap="none" strike="noStrike">
              <a:solidFill>
                <a:srgbClr val="000000"/>
              </a:solidFill>
              <a:latin typeface="Comic Sans MS"/>
              <a:ea typeface="Comic Sans MS"/>
              <a:cs typeface="Comic Sans MS"/>
              <a:sym typeface="Comic Sans MS"/>
            </a:endParaRPr>
          </a:p>
        </p:txBody>
      </p:sp>
      <p:sp>
        <p:nvSpPr>
          <p:cNvPr id="1423" name="Google Shape;1423;p38"/>
          <p:cNvSpPr/>
          <p:nvPr/>
        </p:nvSpPr>
        <p:spPr>
          <a:xfrm>
            <a:off x="4938336" y="4434027"/>
            <a:ext cx="235500" cy="171900"/>
          </a:xfrm>
          <a:prstGeom prst="roundRect">
            <a:avLst>
              <a:gd fmla="val 7908" name="adj"/>
            </a:avLst>
          </a:prstGeom>
          <a:noFill/>
          <a:ln cap="flat" cmpd="sng" w="15850">
            <a:solidFill>
              <a:srgbClr val="F4CCCC"/>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c22</a:t>
            </a:r>
            <a:endParaRPr b="1" i="0" sz="554" u="none" cap="none" strike="noStrike">
              <a:solidFill>
                <a:srgbClr val="000000"/>
              </a:solidFill>
              <a:latin typeface="Comic Sans MS"/>
              <a:ea typeface="Comic Sans MS"/>
              <a:cs typeface="Comic Sans MS"/>
              <a:sym typeface="Comic Sans MS"/>
            </a:endParaRPr>
          </a:p>
        </p:txBody>
      </p:sp>
      <p:sp>
        <p:nvSpPr>
          <p:cNvPr id="1424" name="Google Shape;1424;p38"/>
          <p:cNvSpPr/>
          <p:nvPr/>
        </p:nvSpPr>
        <p:spPr>
          <a:xfrm>
            <a:off x="4938334" y="3986225"/>
            <a:ext cx="235500" cy="171900"/>
          </a:xfrm>
          <a:prstGeom prst="roundRect">
            <a:avLst>
              <a:gd fmla="val 7908" name="adj"/>
            </a:avLst>
          </a:prstGeom>
          <a:noFill/>
          <a:ln cap="flat" cmpd="sng" w="15850">
            <a:solidFill>
              <a:srgbClr val="EA9999"/>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c23</a:t>
            </a:r>
            <a:endParaRPr b="1" i="0" sz="554" u="none" cap="none" strike="noStrike">
              <a:solidFill>
                <a:srgbClr val="000000"/>
              </a:solidFill>
              <a:latin typeface="Comic Sans MS"/>
              <a:ea typeface="Comic Sans MS"/>
              <a:cs typeface="Comic Sans MS"/>
              <a:sym typeface="Comic Sans MS"/>
            </a:endParaRPr>
          </a:p>
        </p:txBody>
      </p:sp>
      <p:sp>
        <p:nvSpPr>
          <p:cNvPr id="1425" name="Google Shape;1425;p38"/>
          <p:cNvSpPr/>
          <p:nvPr/>
        </p:nvSpPr>
        <p:spPr>
          <a:xfrm>
            <a:off x="5211783" y="3750456"/>
            <a:ext cx="235500" cy="171900"/>
          </a:xfrm>
          <a:prstGeom prst="roundRect">
            <a:avLst>
              <a:gd fmla="val 7908" name="adj"/>
            </a:avLst>
          </a:prstGeom>
          <a:noFill/>
          <a:ln cap="flat" cmpd="sng" w="15850">
            <a:solidFill>
              <a:srgbClr val="93C47D"/>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c31</a:t>
            </a:r>
            <a:endParaRPr b="1" i="0" sz="554" u="none" cap="none" strike="noStrike">
              <a:solidFill>
                <a:srgbClr val="000000"/>
              </a:solidFill>
              <a:latin typeface="Comic Sans MS"/>
              <a:ea typeface="Comic Sans MS"/>
              <a:cs typeface="Comic Sans MS"/>
              <a:sym typeface="Comic Sans MS"/>
            </a:endParaRPr>
          </a:p>
        </p:txBody>
      </p:sp>
      <p:sp>
        <p:nvSpPr>
          <p:cNvPr id="1426" name="Google Shape;1426;p38"/>
          <p:cNvSpPr/>
          <p:nvPr/>
        </p:nvSpPr>
        <p:spPr>
          <a:xfrm>
            <a:off x="5211781" y="3986209"/>
            <a:ext cx="235500" cy="171900"/>
          </a:xfrm>
          <a:prstGeom prst="roundRect">
            <a:avLst>
              <a:gd fmla="val 7908" name="adj"/>
            </a:avLst>
          </a:prstGeom>
          <a:noFill/>
          <a:ln cap="flat" cmpd="sng" w="15850">
            <a:solidFill>
              <a:srgbClr val="6AA84F"/>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c32</a:t>
            </a:r>
            <a:endParaRPr b="1" i="0" sz="554" u="none" cap="none" strike="noStrike">
              <a:solidFill>
                <a:srgbClr val="000000"/>
              </a:solidFill>
              <a:latin typeface="Comic Sans MS"/>
              <a:ea typeface="Comic Sans MS"/>
              <a:cs typeface="Comic Sans MS"/>
              <a:sym typeface="Comic Sans MS"/>
            </a:endParaRPr>
          </a:p>
        </p:txBody>
      </p:sp>
      <p:sp>
        <p:nvSpPr>
          <p:cNvPr id="1427" name="Google Shape;1427;p38"/>
          <p:cNvSpPr/>
          <p:nvPr/>
        </p:nvSpPr>
        <p:spPr>
          <a:xfrm>
            <a:off x="5211799" y="4434011"/>
            <a:ext cx="235500" cy="171900"/>
          </a:xfrm>
          <a:prstGeom prst="roundRect">
            <a:avLst>
              <a:gd fmla="val 7908" name="adj"/>
            </a:avLst>
          </a:prstGeom>
          <a:noFill/>
          <a:ln cap="flat" cmpd="sng" w="15850">
            <a:solidFill>
              <a:srgbClr val="B6D7A8"/>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c33</a:t>
            </a:r>
            <a:endParaRPr b="1" i="0" sz="554" u="none" cap="none" strike="noStrike">
              <a:solidFill>
                <a:srgbClr val="000000"/>
              </a:solidFill>
              <a:latin typeface="Comic Sans MS"/>
              <a:ea typeface="Comic Sans MS"/>
              <a:cs typeface="Comic Sans MS"/>
              <a:sym typeface="Comic Sans MS"/>
            </a:endParaRPr>
          </a:p>
        </p:txBody>
      </p:sp>
      <p:sp>
        <p:nvSpPr>
          <p:cNvPr id="1428" name="Google Shape;1428;p38"/>
          <p:cNvSpPr/>
          <p:nvPr/>
        </p:nvSpPr>
        <p:spPr>
          <a:xfrm>
            <a:off x="4024369" y="3777487"/>
            <a:ext cx="328500" cy="117600"/>
          </a:xfrm>
          <a:prstGeom prst="rect">
            <a:avLst/>
          </a:prstGeom>
          <a:noFill/>
          <a:ln>
            <a:noFill/>
          </a:ln>
        </p:spPr>
        <p:txBody>
          <a:bodyPr anchorCtr="0" anchor="ctr" bIns="74025" lIns="74025" spcFirstLastPara="1" rIns="74025" wrap="square" tIns="74025">
            <a:noAutofit/>
          </a:bodyPr>
          <a:lstStyle/>
          <a:p>
            <a:pPr indent="0" lvl="0" marL="0" marR="0" rtl="0" algn="ctr">
              <a:lnSpc>
                <a:spcPct val="100000"/>
              </a:lnSpc>
              <a:spcBef>
                <a:spcPts val="0"/>
              </a:spcBef>
              <a:spcAft>
                <a:spcPts val="0"/>
              </a:spcAft>
              <a:buClr>
                <a:srgbClr val="000000"/>
              </a:buClr>
              <a:buSzPts val="889"/>
              <a:buFont typeface="Arial"/>
              <a:buNone/>
            </a:pPr>
            <a:r>
              <a:rPr b="0" i="0" lang="en" sz="890" u="none" cap="none" strike="noStrike">
                <a:solidFill>
                  <a:srgbClr val="6D9EEB"/>
                </a:solidFill>
                <a:latin typeface="Lato"/>
                <a:ea typeface="Lato"/>
                <a:cs typeface="Lato"/>
                <a:sym typeface="Lato"/>
              </a:rPr>
              <a:t>d</a:t>
            </a:r>
            <a:r>
              <a:rPr b="0" i="0" lang="en" sz="647" u="none" cap="none" strike="noStrike">
                <a:solidFill>
                  <a:srgbClr val="6D9EEB"/>
                </a:solidFill>
                <a:latin typeface="Lato"/>
                <a:ea typeface="Lato"/>
                <a:cs typeface="Lato"/>
                <a:sym typeface="Lato"/>
              </a:rPr>
              <a:t>1</a:t>
            </a:r>
            <a:endParaRPr b="0" i="0" sz="647" u="none" cap="none" strike="noStrike">
              <a:solidFill>
                <a:srgbClr val="6D9EEB"/>
              </a:solidFill>
              <a:latin typeface="Lato"/>
              <a:ea typeface="Lato"/>
              <a:cs typeface="Lato"/>
              <a:sym typeface="Lato"/>
            </a:endParaRPr>
          </a:p>
        </p:txBody>
      </p:sp>
      <p:sp>
        <p:nvSpPr>
          <p:cNvPr id="1429" name="Google Shape;1429;p38"/>
          <p:cNvSpPr/>
          <p:nvPr/>
        </p:nvSpPr>
        <p:spPr>
          <a:xfrm>
            <a:off x="4023835" y="4013249"/>
            <a:ext cx="328500" cy="117600"/>
          </a:xfrm>
          <a:prstGeom prst="rect">
            <a:avLst/>
          </a:prstGeom>
          <a:noFill/>
          <a:ln>
            <a:noFill/>
          </a:ln>
        </p:spPr>
        <p:txBody>
          <a:bodyPr anchorCtr="0" anchor="ctr" bIns="74025" lIns="74025" spcFirstLastPara="1" rIns="74025" wrap="square" tIns="74025">
            <a:noAutofit/>
          </a:bodyPr>
          <a:lstStyle/>
          <a:p>
            <a:pPr indent="0" lvl="0" marL="0" marR="0" rtl="0" algn="ctr">
              <a:lnSpc>
                <a:spcPct val="100000"/>
              </a:lnSpc>
              <a:spcBef>
                <a:spcPts val="0"/>
              </a:spcBef>
              <a:spcAft>
                <a:spcPts val="0"/>
              </a:spcAft>
              <a:buClr>
                <a:srgbClr val="000000"/>
              </a:buClr>
              <a:buSzPts val="889"/>
              <a:buFont typeface="Arial"/>
              <a:buNone/>
            </a:pPr>
            <a:r>
              <a:rPr b="0" i="0" lang="en" sz="890" u="none" cap="none" strike="noStrike">
                <a:solidFill>
                  <a:srgbClr val="B4A7D6"/>
                </a:solidFill>
                <a:latin typeface="Lato"/>
                <a:ea typeface="Lato"/>
                <a:cs typeface="Lato"/>
                <a:sym typeface="Lato"/>
              </a:rPr>
              <a:t>d</a:t>
            </a:r>
            <a:r>
              <a:rPr b="0" i="0" lang="en" sz="647" u="none" cap="none" strike="noStrike">
                <a:solidFill>
                  <a:srgbClr val="B4A7D6"/>
                </a:solidFill>
                <a:latin typeface="Lato"/>
                <a:ea typeface="Lato"/>
                <a:cs typeface="Lato"/>
                <a:sym typeface="Lato"/>
              </a:rPr>
              <a:t>2</a:t>
            </a:r>
            <a:endParaRPr b="0" i="0" sz="647" u="none" cap="none" strike="noStrike">
              <a:solidFill>
                <a:srgbClr val="B4A7D6"/>
              </a:solidFill>
              <a:latin typeface="Lato"/>
              <a:ea typeface="Lato"/>
              <a:cs typeface="Lato"/>
              <a:sym typeface="Lato"/>
            </a:endParaRPr>
          </a:p>
        </p:txBody>
      </p:sp>
      <p:sp>
        <p:nvSpPr>
          <p:cNvPr id="1430" name="Google Shape;1430;p38"/>
          <p:cNvSpPr/>
          <p:nvPr/>
        </p:nvSpPr>
        <p:spPr>
          <a:xfrm>
            <a:off x="4024905" y="4461047"/>
            <a:ext cx="328500" cy="117600"/>
          </a:xfrm>
          <a:prstGeom prst="rect">
            <a:avLst/>
          </a:prstGeom>
          <a:noFill/>
          <a:ln>
            <a:noFill/>
          </a:ln>
        </p:spPr>
        <p:txBody>
          <a:bodyPr anchorCtr="0" anchor="ctr" bIns="74025" lIns="74025" spcFirstLastPara="1" rIns="74025" wrap="square" tIns="74025">
            <a:noAutofit/>
          </a:bodyPr>
          <a:lstStyle/>
          <a:p>
            <a:pPr indent="0" lvl="0" marL="0" marR="0" rtl="0" algn="ctr">
              <a:lnSpc>
                <a:spcPct val="100000"/>
              </a:lnSpc>
              <a:spcBef>
                <a:spcPts val="0"/>
              </a:spcBef>
              <a:spcAft>
                <a:spcPts val="0"/>
              </a:spcAft>
              <a:buClr>
                <a:srgbClr val="000000"/>
              </a:buClr>
              <a:buSzPts val="889"/>
              <a:buFont typeface="Arial"/>
              <a:buNone/>
            </a:pPr>
            <a:r>
              <a:rPr b="0" i="0" lang="en" sz="890" u="none" cap="none" strike="noStrike">
                <a:solidFill>
                  <a:srgbClr val="FFE599"/>
                </a:solidFill>
                <a:latin typeface="Lato"/>
                <a:ea typeface="Lato"/>
                <a:cs typeface="Lato"/>
                <a:sym typeface="Lato"/>
              </a:rPr>
              <a:t>d</a:t>
            </a:r>
            <a:r>
              <a:rPr b="0" i="0" lang="en" sz="647" u="none" cap="none" strike="noStrike">
                <a:solidFill>
                  <a:srgbClr val="FFE599"/>
                </a:solidFill>
                <a:latin typeface="Lato"/>
                <a:ea typeface="Lato"/>
                <a:cs typeface="Lato"/>
                <a:sym typeface="Lato"/>
              </a:rPr>
              <a:t>9</a:t>
            </a:r>
            <a:endParaRPr b="0" i="0" sz="647" u="none" cap="none" strike="noStrike">
              <a:solidFill>
                <a:srgbClr val="FFE599"/>
              </a:solidFill>
              <a:latin typeface="Lato"/>
              <a:ea typeface="Lato"/>
              <a:cs typeface="Lato"/>
              <a:sym typeface="Lato"/>
            </a:endParaRPr>
          </a:p>
        </p:txBody>
      </p:sp>
      <p:sp>
        <p:nvSpPr>
          <p:cNvPr id="1431" name="Google Shape;1431;p38"/>
          <p:cNvSpPr/>
          <p:nvPr/>
        </p:nvSpPr>
        <p:spPr>
          <a:xfrm>
            <a:off x="4023854" y="4689239"/>
            <a:ext cx="328500" cy="117600"/>
          </a:xfrm>
          <a:prstGeom prst="rect">
            <a:avLst/>
          </a:prstGeom>
          <a:noFill/>
          <a:ln>
            <a:noFill/>
          </a:ln>
        </p:spPr>
        <p:txBody>
          <a:bodyPr anchorCtr="0" anchor="ctr" bIns="74025" lIns="74025" spcFirstLastPara="1" rIns="74025" wrap="square" tIns="74025">
            <a:noAutofit/>
          </a:bodyPr>
          <a:lstStyle/>
          <a:p>
            <a:pPr indent="0" lvl="0" marL="0" marR="0" rtl="0" algn="ctr">
              <a:lnSpc>
                <a:spcPct val="100000"/>
              </a:lnSpc>
              <a:spcBef>
                <a:spcPts val="0"/>
              </a:spcBef>
              <a:spcAft>
                <a:spcPts val="0"/>
              </a:spcAft>
              <a:buClr>
                <a:srgbClr val="000000"/>
              </a:buClr>
              <a:buSzPts val="889"/>
              <a:buFont typeface="Arial"/>
              <a:buNone/>
            </a:pPr>
            <a:r>
              <a:rPr b="0" i="0" lang="en" sz="890" u="none" cap="none" strike="noStrike">
                <a:solidFill>
                  <a:srgbClr val="B6D7A8"/>
                </a:solidFill>
                <a:latin typeface="Lato"/>
                <a:ea typeface="Lato"/>
                <a:cs typeface="Lato"/>
                <a:sym typeface="Lato"/>
              </a:rPr>
              <a:t>d</a:t>
            </a:r>
            <a:r>
              <a:rPr b="0" i="0" lang="en" sz="566" u="none" cap="none" strike="noStrike">
                <a:solidFill>
                  <a:srgbClr val="B6D7A8"/>
                </a:solidFill>
                <a:latin typeface="Lato"/>
                <a:ea typeface="Lato"/>
                <a:cs typeface="Lato"/>
                <a:sym typeface="Lato"/>
              </a:rPr>
              <a:t>10</a:t>
            </a:r>
            <a:endParaRPr b="0" i="0" sz="566" u="none" cap="none" strike="noStrike">
              <a:solidFill>
                <a:srgbClr val="B6D7A8"/>
              </a:solidFill>
              <a:latin typeface="Lato"/>
              <a:ea typeface="Lato"/>
              <a:cs typeface="Lato"/>
              <a:sym typeface="Lato"/>
            </a:endParaRPr>
          </a:p>
        </p:txBody>
      </p:sp>
      <p:sp>
        <p:nvSpPr>
          <p:cNvPr id="1432" name="Google Shape;1432;p38"/>
          <p:cNvSpPr/>
          <p:nvPr/>
        </p:nvSpPr>
        <p:spPr>
          <a:xfrm>
            <a:off x="4161578" y="4170390"/>
            <a:ext cx="53100" cy="486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6350" lIns="56350" spcFirstLastPara="1" rIns="56350" wrap="square" tIns="56350">
            <a:noAutofit/>
          </a:bodyPr>
          <a:lstStyle/>
          <a:p>
            <a:pPr indent="0" lvl="0" marL="0" marR="0" rtl="0" algn="ctr">
              <a:lnSpc>
                <a:spcPct val="100000"/>
              </a:lnSpc>
              <a:spcBef>
                <a:spcPts val="0"/>
              </a:spcBef>
              <a:spcAft>
                <a:spcPts val="0"/>
              </a:spcAft>
              <a:buClr>
                <a:srgbClr val="000000"/>
              </a:buClr>
              <a:buSzPts val="862"/>
              <a:buFont typeface="Arial"/>
              <a:buNone/>
            </a:pPr>
            <a:r>
              <a:t/>
            </a:r>
            <a:endParaRPr b="0" i="0" sz="862" u="none" cap="none" strike="noStrike">
              <a:solidFill>
                <a:srgbClr val="C27171"/>
              </a:solidFill>
              <a:latin typeface="Lato"/>
              <a:ea typeface="Lato"/>
              <a:cs typeface="Lato"/>
              <a:sym typeface="Lato"/>
            </a:endParaRPr>
          </a:p>
        </p:txBody>
      </p:sp>
      <p:sp>
        <p:nvSpPr>
          <p:cNvPr id="1433" name="Google Shape;1433;p38"/>
          <p:cNvSpPr/>
          <p:nvPr/>
        </p:nvSpPr>
        <p:spPr>
          <a:xfrm>
            <a:off x="4161578" y="4267936"/>
            <a:ext cx="53100" cy="486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6350" lIns="56350" spcFirstLastPara="1" rIns="56350" wrap="square" tIns="56350">
            <a:noAutofit/>
          </a:bodyPr>
          <a:lstStyle/>
          <a:p>
            <a:pPr indent="0" lvl="0" marL="0" marR="0" rtl="0" algn="ctr">
              <a:lnSpc>
                <a:spcPct val="100000"/>
              </a:lnSpc>
              <a:spcBef>
                <a:spcPts val="0"/>
              </a:spcBef>
              <a:spcAft>
                <a:spcPts val="0"/>
              </a:spcAft>
              <a:buClr>
                <a:srgbClr val="000000"/>
              </a:buClr>
              <a:buSzPts val="862"/>
              <a:buFont typeface="Arial"/>
              <a:buNone/>
            </a:pPr>
            <a:r>
              <a:t/>
            </a:r>
            <a:endParaRPr b="0" i="0" sz="862" u="none" cap="none" strike="noStrike">
              <a:solidFill>
                <a:srgbClr val="C27171"/>
              </a:solidFill>
              <a:latin typeface="Lato"/>
              <a:ea typeface="Lato"/>
              <a:cs typeface="Lato"/>
              <a:sym typeface="Lato"/>
            </a:endParaRPr>
          </a:p>
        </p:txBody>
      </p:sp>
      <p:sp>
        <p:nvSpPr>
          <p:cNvPr id="1434" name="Google Shape;1434;p38"/>
          <p:cNvSpPr/>
          <p:nvPr/>
        </p:nvSpPr>
        <p:spPr>
          <a:xfrm>
            <a:off x="4161578" y="4373069"/>
            <a:ext cx="53100" cy="486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6350" lIns="56350" spcFirstLastPara="1" rIns="56350" wrap="square" tIns="56350">
            <a:noAutofit/>
          </a:bodyPr>
          <a:lstStyle/>
          <a:p>
            <a:pPr indent="0" lvl="0" marL="0" marR="0" rtl="0" algn="ctr">
              <a:lnSpc>
                <a:spcPct val="100000"/>
              </a:lnSpc>
              <a:spcBef>
                <a:spcPts val="0"/>
              </a:spcBef>
              <a:spcAft>
                <a:spcPts val="0"/>
              </a:spcAft>
              <a:buClr>
                <a:srgbClr val="000000"/>
              </a:buClr>
              <a:buSzPts val="862"/>
              <a:buFont typeface="Arial"/>
              <a:buNone/>
            </a:pPr>
            <a:r>
              <a:t/>
            </a:r>
            <a:endParaRPr b="0" i="0" sz="862" u="none" cap="none" strike="noStrike">
              <a:solidFill>
                <a:srgbClr val="C27171"/>
              </a:solidFill>
              <a:latin typeface="Lato"/>
              <a:ea typeface="Lato"/>
              <a:cs typeface="Lato"/>
              <a:sym typeface="Lato"/>
            </a:endParaRPr>
          </a:p>
        </p:txBody>
      </p:sp>
      <p:sp>
        <p:nvSpPr>
          <p:cNvPr id="1289" name="Google Shape;1289;p38"/>
          <p:cNvSpPr/>
          <p:nvPr/>
        </p:nvSpPr>
        <p:spPr>
          <a:xfrm>
            <a:off x="5211781" y="4662187"/>
            <a:ext cx="235500" cy="171900"/>
          </a:xfrm>
          <a:prstGeom prst="roundRect">
            <a:avLst>
              <a:gd fmla="val 7908" name="adj"/>
            </a:avLst>
          </a:prstGeom>
          <a:noFill/>
          <a:ln cap="flat" cmpd="sng" w="15850">
            <a:solidFill>
              <a:srgbClr val="6AA84F"/>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c32</a:t>
            </a:r>
            <a:endParaRPr b="1" i="0" sz="554" u="none" cap="none" strike="noStrike">
              <a:solidFill>
                <a:srgbClr val="000000"/>
              </a:solidFill>
              <a:latin typeface="Comic Sans MS"/>
              <a:ea typeface="Comic Sans MS"/>
              <a:cs typeface="Comic Sans MS"/>
              <a:sym typeface="Comic Sans MS"/>
            </a:endParaRPr>
          </a:p>
        </p:txBody>
      </p:sp>
      <p:sp>
        <p:nvSpPr>
          <p:cNvPr id="1435" name="Google Shape;1435;p38"/>
          <p:cNvSpPr/>
          <p:nvPr/>
        </p:nvSpPr>
        <p:spPr>
          <a:xfrm>
            <a:off x="4664888" y="4662193"/>
            <a:ext cx="235500" cy="171900"/>
          </a:xfrm>
          <a:prstGeom prst="roundRect">
            <a:avLst>
              <a:gd fmla="val 7908" name="adj"/>
            </a:avLst>
          </a:prstGeom>
          <a:noFill/>
          <a:ln cap="flat" cmpd="sng" w="15850">
            <a:solidFill>
              <a:srgbClr val="6D9EEB"/>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c13</a:t>
            </a:r>
            <a:endParaRPr b="1" i="0" sz="554" u="none" cap="none" strike="noStrike">
              <a:solidFill>
                <a:srgbClr val="000000"/>
              </a:solidFill>
              <a:latin typeface="Comic Sans MS"/>
              <a:ea typeface="Comic Sans MS"/>
              <a:cs typeface="Comic Sans MS"/>
              <a:sym typeface="Comic Sans MS"/>
            </a:endParaRPr>
          </a:p>
        </p:txBody>
      </p:sp>
      <p:sp>
        <p:nvSpPr>
          <p:cNvPr id="1436" name="Google Shape;1436;p38"/>
          <p:cNvSpPr/>
          <p:nvPr/>
        </p:nvSpPr>
        <p:spPr>
          <a:xfrm>
            <a:off x="4938337" y="4662186"/>
            <a:ext cx="235500" cy="171900"/>
          </a:xfrm>
          <a:prstGeom prst="roundRect">
            <a:avLst>
              <a:gd fmla="val 7908" name="adj"/>
            </a:avLst>
          </a:prstGeom>
          <a:noFill/>
          <a:ln cap="flat" cmpd="sng" w="15850">
            <a:solidFill>
              <a:srgbClr val="E06666"/>
            </a:solidFill>
            <a:prstDash val="solid"/>
            <a:round/>
            <a:headEnd len="sm" w="sm" type="none"/>
            <a:tailEnd len="sm" w="sm" type="none"/>
          </a:ln>
        </p:spPr>
        <p:txBody>
          <a:bodyPr anchorCtr="0" anchor="ctr" bIns="50675" lIns="50675" spcFirstLastPara="1" rIns="50675" wrap="square" tIns="50675">
            <a:noAutofit/>
          </a:bodyPr>
          <a:lstStyle/>
          <a:p>
            <a:pPr indent="0" lvl="0" marL="0" marR="0" rtl="0" algn="ctr">
              <a:lnSpc>
                <a:spcPct val="115000"/>
              </a:lnSpc>
              <a:spcBef>
                <a:spcPts val="665"/>
              </a:spcBef>
              <a:spcAft>
                <a:spcPts val="665"/>
              </a:spcAft>
              <a:buClr>
                <a:srgbClr val="000000"/>
              </a:buClr>
              <a:buSzPts val="554"/>
              <a:buFont typeface="Arial"/>
              <a:buNone/>
            </a:pPr>
            <a:r>
              <a:rPr b="1" i="0" lang="en" sz="554" u="none" cap="none" strike="noStrike">
                <a:solidFill>
                  <a:srgbClr val="000000"/>
                </a:solidFill>
                <a:latin typeface="Comic Sans MS"/>
                <a:ea typeface="Comic Sans MS"/>
                <a:cs typeface="Comic Sans MS"/>
                <a:sym typeface="Comic Sans MS"/>
              </a:rPr>
              <a:t>c21</a:t>
            </a:r>
            <a:endParaRPr b="1" i="0" sz="554" u="none" cap="none" strike="noStrike">
              <a:solidFill>
                <a:srgbClr val="000000"/>
              </a:solidFill>
              <a:latin typeface="Comic Sans MS"/>
              <a:ea typeface="Comic Sans MS"/>
              <a:cs typeface="Comic Sans MS"/>
              <a:sym typeface="Comic Sans MS"/>
            </a:endParaRPr>
          </a:p>
        </p:txBody>
      </p:sp>
      <p:cxnSp>
        <p:nvCxnSpPr>
          <p:cNvPr id="1437" name="Google Shape;1437;p38"/>
          <p:cNvCxnSpPr>
            <a:stCxn id="1428" idx="3"/>
            <a:endCxn id="1419" idx="1"/>
          </p:cNvCxnSpPr>
          <p:nvPr/>
        </p:nvCxnSpPr>
        <p:spPr>
          <a:xfrm>
            <a:off x="4352869" y="3836287"/>
            <a:ext cx="312000" cy="0"/>
          </a:xfrm>
          <a:prstGeom prst="straightConnector1">
            <a:avLst/>
          </a:prstGeom>
          <a:noFill/>
          <a:ln cap="flat" cmpd="sng" w="14750">
            <a:solidFill>
              <a:srgbClr val="9FC5E8"/>
            </a:solidFill>
            <a:prstDash val="solid"/>
            <a:round/>
            <a:headEnd len="sm" w="sm" type="none"/>
            <a:tailEnd len="med" w="med" type="triangle"/>
          </a:ln>
        </p:spPr>
      </p:cxnSp>
      <p:cxnSp>
        <p:nvCxnSpPr>
          <p:cNvPr id="1438" name="Google Shape;1438;p38"/>
          <p:cNvCxnSpPr>
            <a:stCxn id="1429" idx="3"/>
            <a:endCxn id="1420" idx="1"/>
          </p:cNvCxnSpPr>
          <p:nvPr/>
        </p:nvCxnSpPr>
        <p:spPr>
          <a:xfrm>
            <a:off x="4352335" y="4072049"/>
            <a:ext cx="312600" cy="0"/>
          </a:xfrm>
          <a:prstGeom prst="straightConnector1">
            <a:avLst/>
          </a:prstGeom>
          <a:noFill/>
          <a:ln cap="flat" cmpd="sng" w="14750">
            <a:solidFill>
              <a:srgbClr val="D9D2E9"/>
            </a:solidFill>
            <a:prstDash val="solid"/>
            <a:round/>
            <a:headEnd len="sm" w="sm" type="none"/>
            <a:tailEnd len="med" w="med" type="triangle"/>
          </a:ln>
        </p:spPr>
      </p:cxnSp>
      <p:cxnSp>
        <p:nvCxnSpPr>
          <p:cNvPr id="1439" name="Google Shape;1439;p38"/>
          <p:cNvCxnSpPr>
            <a:stCxn id="1430" idx="3"/>
            <a:endCxn id="1421" idx="1"/>
          </p:cNvCxnSpPr>
          <p:nvPr/>
        </p:nvCxnSpPr>
        <p:spPr>
          <a:xfrm>
            <a:off x="4353405" y="4519847"/>
            <a:ext cx="311400" cy="0"/>
          </a:xfrm>
          <a:prstGeom prst="straightConnector1">
            <a:avLst/>
          </a:prstGeom>
          <a:noFill/>
          <a:ln cap="flat" cmpd="sng" w="14750">
            <a:solidFill>
              <a:srgbClr val="FFF2CC"/>
            </a:solidFill>
            <a:prstDash val="solid"/>
            <a:round/>
            <a:headEnd len="sm" w="sm" type="none"/>
            <a:tailEnd len="med" w="med" type="triangle"/>
          </a:ln>
        </p:spPr>
      </p:cxnSp>
      <p:cxnSp>
        <p:nvCxnSpPr>
          <p:cNvPr id="1440" name="Google Shape;1440;p38"/>
          <p:cNvCxnSpPr>
            <a:endCxn id="1435" idx="1"/>
          </p:cNvCxnSpPr>
          <p:nvPr/>
        </p:nvCxnSpPr>
        <p:spPr>
          <a:xfrm>
            <a:off x="4352288" y="4748143"/>
            <a:ext cx="312600" cy="0"/>
          </a:xfrm>
          <a:prstGeom prst="straightConnector1">
            <a:avLst/>
          </a:prstGeom>
          <a:noFill/>
          <a:ln cap="flat" cmpd="sng" w="14750">
            <a:solidFill>
              <a:srgbClr val="D9EAD3"/>
            </a:solidFill>
            <a:prstDash val="solid"/>
            <a:round/>
            <a:headEnd len="sm" w="sm" type="none"/>
            <a:tailEnd len="med" w="med" type="triangle"/>
          </a:ln>
        </p:spPr>
      </p:cxnSp>
      <p:sp>
        <p:nvSpPr>
          <p:cNvPr id="1441" name="Google Shape;1441;p38"/>
          <p:cNvSpPr/>
          <p:nvPr/>
        </p:nvSpPr>
        <p:spPr>
          <a:xfrm rot="10800000">
            <a:off x="8103241" y="759884"/>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42" name="Google Shape;1442;p38"/>
          <p:cNvSpPr/>
          <p:nvPr/>
        </p:nvSpPr>
        <p:spPr>
          <a:xfrm rot="10800000">
            <a:off x="7914193" y="759884"/>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43" name="Google Shape;1443;p38"/>
          <p:cNvSpPr/>
          <p:nvPr/>
        </p:nvSpPr>
        <p:spPr>
          <a:xfrm rot="10800000">
            <a:off x="7724832" y="758418"/>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44" name="Google Shape;1444;p38"/>
          <p:cNvSpPr/>
          <p:nvPr/>
        </p:nvSpPr>
        <p:spPr>
          <a:xfrm rot="10800000">
            <a:off x="7560465" y="759880"/>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45" name="Google Shape;1445;p38"/>
          <p:cNvSpPr/>
          <p:nvPr/>
        </p:nvSpPr>
        <p:spPr>
          <a:xfrm rot="10800000">
            <a:off x="7370802" y="760372"/>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46" name="Google Shape;1446;p38"/>
          <p:cNvSpPr/>
          <p:nvPr/>
        </p:nvSpPr>
        <p:spPr>
          <a:xfrm rot="10800000">
            <a:off x="7181754" y="760372"/>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47" name="Google Shape;1447;p38"/>
          <p:cNvSpPr/>
          <p:nvPr/>
        </p:nvSpPr>
        <p:spPr>
          <a:xfrm rot="10800000">
            <a:off x="6992711" y="758178"/>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48" name="Google Shape;1448;p38"/>
          <p:cNvSpPr/>
          <p:nvPr/>
        </p:nvSpPr>
        <p:spPr>
          <a:xfrm rot="10800000">
            <a:off x="6803072" y="758673"/>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49" name="Google Shape;1449;p38"/>
          <p:cNvSpPr/>
          <p:nvPr/>
        </p:nvSpPr>
        <p:spPr>
          <a:xfrm rot="10800000">
            <a:off x="6614020" y="758426"/>
            <a:ext cx="188700" cy="152100"/>
          </a:xfrm>
          <a:prstGeom prst="rect">
            <a:avLst/>
          </a:prstGeom>
          <a:solidFill>
            <a:srgbClr val="B4A7D6"/>
          </a:solidFill>
          <a:ln>
            <a:noFill/>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50" name="Google Shape;1450;p38"/>
          <p:cNvSpPr/>
          <p:nvPr/>
        </p:nvSpPr>
        <p:spPr>
          <a:xfrm>
            <a:off x="6984849" y="1363750"/>
            <a:ext cx="960600" cy="267600"/>
          </a:xfrm>
          <a:prstGeom prst="roundRect">
            <a:avLst>
              <a:gd fmla="val 32823" name="adj"/>
            </a:avLst>
          </a:prstGeom>
          <a:solidFill>
            <a:srgbClr val="FFF2CC"/>
          </a:solidFill>
          <a:ln cap="flat" cmpd="sng" w="27400">
            <a:solidFill>
              <a:srgbClr val="D9D2E9"/>
            </a:solidFill>
            <a:prstDash val="solid"/>
            <a:round/>
            <a:headEnd len="sm" w="sm" type="none"/>
            <a:tailEnd len="sm" w="sm" type="none"/>
          </a:ln>
        </p:spPr>
        <p:txBody>
          <a:bodyPr anchorCtr="0" anchor="ctr" bIns="87675" lIns="87675" spcFirstLastPara="1" rIns="87675" wrap="square" tIns="87675">
            <a:noAutofit/>
          </a:bodyPr>
          <a:lstStyle/>
          <a:p>
            <a:pPr indent="0" lvl="0" marL="0" marR="0" rtl="0" algn="ctr">
              <a:lnSpc>
                <a:spcPct val="115000"/>
              </a:lnSpc>
              <a:spcBef>
                <a:spcPts val="1151"/>
              </a:spcBef>
              <a:spcAft>
                <a:spcPts val="1151"/>
              </a:spcAft>
              <a:buClr>
                <a:srgbClr val="000000"/>
              </a:buClr>
              <a:buSzPts val="1246"/>
              <a:buFont typeface="Arial"/>
              <a:buNone/>
            </a:pPr>
            <a:r>
              <a:rPr b="1" i="0" lang="en" sz="1246" u="none" cap="none" strike="noStrike">
                <a:solidFill>
                  <a:srgbClr val="B4A7D6"/>
                </a:solidFill>
                <a:latin typeface="Comic Sans MS"/>
                <a:ea typeface="Comic Sans MS"/>
                <a:cs typeface="Comic Sans MS"/>
                <a:sym typeface="Comic Sans MS"/>
              </a:rPr>
              <a:t>K Cluster</a:t>
            </a:r>
            <a:endParaRPr b="1" i="0" sz="1246" u="none" cap="none" strike="noStrike">
              <a:solidFill>
                <a:srgbClr val="B4A7D6"/>
              </a:solidFill>
              <a:latin typeface="Comic Sans MS"/>
              <a:ea typeface="Comic Sans MS"/>
              <a:cs typeface="Comic Sans MS"/>
              <a:sym typeface="Comic Sans MS"/>
            </a:endParaRPr>
          </a:p>
        </p:txBody>
      </p:sp>
      <p:sp>
        <p:nvSpPr>
          <p:cNvPr id="1451" name="Google Shape;1451;p38"/>
          <p:cNvSpPr/>
          <p:nvPr/>
        </p:nvSpPr>
        <p:spPr>
          <a:xfrm>
            <a:off x="6984849" y="1911500"/>
            <a:ext cx="960600" cy="267600"/>
          </a:xfrm>
          <a:prstGeom prst="roundRect">
            <a:avLst>
              <a:gd fmla="val 32823" name="adj"/>
            </a:avLst>
          </a:prstGeom>
          <a:solidFill>
            <a:srgbClr val="FFF2CC"/>
          </a:solidFill>
          <a:ln cap="flat" cmpd="sng" w="27400">
            <a:solidFill>
              <a:srgbClr val="D9D2E9"/>
            </a:solidFill>
            <a:prstDash val="solid"/>
            <a:round/>
            <a:headEnd len="sm" w="sm" type="none"/>
            <a:tailEnd len="sm" w="sm" type="none"/>
          </a:ln>
        </p:spPr>
        <p:txBody>
          <a:bodyPr anchorCtr="0" anchor="ctr" bIns="87675" lIns="87675" spcFirstLastPara="1" rIns="87675" wrap="square" tIns="87675">
            <a:noAutofit/>
          </a:bodyPr>
          <a:lstStyle/>
          <a:p>
            <a:pPr indent="0" lvl="0" marL="0" marR="0" rtl="0" algn="ctr">
              <a:lnSpc>
                <a:spcPct val="115000"/>
              </a:lnSpc>
              <a:spcBef>
                <a:spcPts val="1151"/>
              </a:spcBef>
              <a:spcAft>
                <a:spcPts val="1151"/>
              </a:spcAft>
              <a:buClr>
                <a:srgbClr val="000000"/>
              </a:buClr>
              <a:buSzPts val="1246"/>
              <a:buFont typeface="Arial"/>
              <a:buNone/>
            </a:pPr>
            <a:r>
              <a:rPr b="1" i="0" lang="en" sz="1246" u="none" cap="none" strike="noStrike">
                <a:solidFill>
                  <a:srgbClr val="B4A7D6"/>
                </a:solidFill>
                <a:latin typeface="Comic Sans MS"/>
                <a:ea typeface="Comic Sans MS"/>
                <a:cs typeface="Comic Sans MS"/>
                <a:sym typeface="Comic Sans MS"/>
              </a:rPr>
              <a:t>Residual</a:t>
            </a:r>
            <a:endParaRPr b="1" i="0" sz="1246" u="none" cap="none" strike="noStrike">
              <a:solidFill>
                <a:srgbClr val="B4A7D6"/>
              </a:solidFill>
              <a:latin typeface="Comic Sans MS"/>
              <a:ea typeface="Comic Sans MS"/>
              <a:cs typeface="Comic Sans MS"/>
              <a:sym typeface="Comic Sans MS"/>
            </a:endParaRPr>
          </a:p>
        </p:txBody>
      </p:sp>
      <p:cxnSp>
        <p:nvCxnSpPr>
          <p:cNvPr id="1452" name="Google Shape;1452;p38"/>
          <p:cNvCxnSpPr>
            <a:stCxn id="1445" idx="0"/>
            <a:endCxn id="1450" idx="0"/>
          </p:cNvCxnSpPr>
          <p:nvPr/>
        </p:nvCxnSpPr>
        <p:spPr>
          <a:xfrm>
            <a:off x="7465152" y="912472"/>
            <a:ext cx="0" cy="451200"/>
          </a:xfrm>
          <a:prstGeom prst="straightConnector1">
            <a:avLst/>
          </a:prstGeom>
          <a:noFill/>
          <a:ln cap="flat" cmpd="sng" w="18275">
            <a:solidFill>
              <a:srgbClr val="B4A7D6"/>
            </a:solidFill>
            <a:prstDash val="solid"/>
            <a:round/>
            <a:headEnd len="sm" w="sm" type="none"/>
            <a:tailEnd len="med" w="med" type="triangle"/>
          </a:ln>
        </p:spPr>
      </p:cxnSp>
      <p:cxnSp>
        <p:nvCxnSpPr>
          <p:cNvPr id="1453" name="Google Shape;1453;p38"/>
          <p:cNvCxnSpPr>
            <a:stCxn id="1450" idx="2"/>
            <a:endCxn id="1451" idx="0"/>
          </p:cNvCxnSpPr>
          <p:nvPr/>
        </p:nvCxnSpPr>
        <p:spPr>
          <a:xfrm>
            <a:off x="7465149" y="1631350"/>
            <a:ext cx="0" cy="280200"/>
          </a:xfrm>
          <a:prstGeom prst="straightConnector1">
            <a:avLst/>
          </a:prstGeom>
          <a:noFill/>
          <a:ln cap="flat" cmpd="sng" w="18275">
            <a:solidFill>
              <a:srgbClr val="B4A7D6"/>
            </a:solidFill>
            <a:prstDash val="solid"/>
            <a:round/>
            <a:headEnd len="sm" w="sm" type="none"/>
            <a:tailEnd len="med" w="med" type="triangle"/>
          </a:ln>
        </p:spPr>
      </p:cxnSp>
      <p:cxnSp>
        <p:nvCxnSpPr>
          <p:cNvPr id="1454" name="Google Shape;1454;p38"/>
          <p:cNvCxnSpPr>
            <a:stCxn id="1441" idx="0"/>
            <a:endCxn id="1451" idx="3"/>
          </p:cNvCxnSpPr>
          <p:nvPr/>
        </p:nvCxnSpPr>
        <p:spPr>
          <a:xfrm rot="5400000">
            <a:off x="7504891" y="1352684"/>
            <a:ext cx="1133400" cy="252000"/>
          </a:xfrm>
          <a:prstGeom prst="bentConnector2">
            <a:avLst/>
          </a:prstGeom>
          <a:noFill/>
          <a:ln cap="flat" cmpd="sng" w="18275">
            <a:solidFill>
              <a:srgbClr val="B4A7D6"/>
            </a:solidFill>
            <a:prstDash val="solid"/>
            <a:round/>
            <a:headEnd len="sm" w="sm" type="none"/>
            <a:tailEnd len="med" w="med" type="stealth"/>
          </a:ln>
        </p:spPr>
      </p:cxnSp>
      <p:cxnSp>
        <p:nvCxnSpPr>
          <p:cNvPr id="1455" name="Google Shape;1455;p38"/>
          <p:cNvCxnSpPr>
            <a:stCxn id="1296" idx="3"/>
            <a:endCxn id="1450" idx="1"/>
          </p:cNvCxnSpPr>
          <p:nvPr/>
        </p:nvCxnSpPr>
        <p:spPr>
          <a:xfrm>
            <a:off x="6011794" y="1497561"/>
            <a:ext cx="973200" cy="0"/>
          </a:xfrm>
          <a:prstGeom prst="straightConnector1">
            <a:avLst/>
          </a:prstGeom>
          <a:noFill/>
          <a:ln cap="flat" cmpd="sng" w="18275">
            <a:solidFill>
              <a:srgbClr val="B4A7D6"/>
            </a:solidFill>
            <a:prstDash val="solid"/>
            <a:round/>
            <a:headEnd len="sm" w="sm" type="none"/>
            <a:tailEnd len="med" w="med" type="triangle"/>
          </a:ln>
        </p:spPr>
      </p:cxnSp>
      <p:grpSp>
        <p:nvGrpSpPr>
          <p:cNvPr id="1456" name="Google Shape;1456;p38"/>
          <p:cNvGrpSpPr/>
          <p:nvPr/>
        </p:nvGrpSpPr>
        <p:grpSpPr>
          <a:xfrm>
            <a:off x="6496495" y="2558703"/>
            <a:ext cx="1982721" cy="459094"/>
            <a:chOff x="6413070" y="2571753"/>
            <a:chExt cx="1982721" cy="459094"/>
          </a:xfrm>
        </p:grpSpPr>
        <p:sp>
          <p:nvSpPr>
            <p:cNvPr id="1457" name="Google Shape;1457;p38"/>
            <p:cNvSpPr/>
            <p:nvPr/>
          </p:nvSpPr>
          <p:spPr>
            <a:xfrm rot="10800000">
              <a:off x="7902291" y="2573459"/>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58" name="Google Shape;1458;p38"/>
            <p:cNvSpPr/>
            <p:nvPr/>
          </p:nvSpPr>
          <p:spPr>
            <a:xfrm rot="10800000">
              <a:off x="7713243" y="2573459"/>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59" name="Google Shape;1459;p38"/>
            <p:cNvSpPr/>
            <p:nvPr/>
          </p:nvSpPr>
          <p:spPr>
            <a:xfrm rot="10800000">
              <a:off x="7523882" y="2571993"/>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60" name="Google Shape;1460;p38"/>
            <p:cNvSpPr/>
            <p:nvPr/>
          </p:nvSpPr>
          <p:spPr>
            <a:xfrm rot="10800000">
              <a:off x="7359515" y="2573455"/>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61" name="Google Shape;1461;p38"/>
            <p:cNvSpPr/>
            <p:nvPr/>
          </p:nvSpPr>
          <p:spPr>
            <a:xfrm rot="10800000">
              <a:off x="7169852" y="2573947"/>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62" name="Google Shape;1462;p38"/>
            <p:cNvSpPr/>
            <p:nvPr/>
          </p:nvSpPr>
          <p:spPr>
            <a:xfrm rot="10800000">
              <a:off x="6980804" y="2573947"/>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63" name="Google Shape;1463;p38"/>
            <p:cNvSpPr/>
            <p:nvPr/>
          </p:nvSpPr>
          <p:spPr>
            <a:xfrm rot="10800000">
              <a:off x="6791761" y="2571753"/>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64" name="Google Shape;1464;p38"/>
            <p:cNvSpPr/>
            <p:nvPr/>
          </p:nvSpPr>
          <p:spPr>
            <a:xfrm rot="10800000">
              <a:off x="6602122" y="2572248"/>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65" name="Google Shape;1465;p38"/>
            <p:cNvSpPr/>
            <p:nvPr/>
          </p:nvSpPr>
          <p:spPr>
            <a:xfrm rot="10800000">
              <a:off x="6413070" y="2572001"/>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66" name="Google Shape;1466;p38"/>
            <p:cNvSpPr/>
            <p:nvPr/>
          </p:nvSpPr>
          <p:spPr>
            <a:xfrm rot="10800000">
              <a:off x="8054691" y="2725859"/>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67" name="Google Shape;1467;p38"/>
            <p:cNvSpPr/>
            <p:nvPr/>
          </p:nvSpPr>
          <p:spPr>
            <a:xfrm rot="10800000">
              <a:off x="7865643" y="2725859"/>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68" name="Google Shape;1468;p38"/>
            <p:cNvSpPr/>
            <p:nvPr/>
          </p:nvSpPr>
          <p:spPr>
            <a:xfrm rot="10800000">
              <a:off x="7676282" y="2724393"/>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69" name="Google Shape;1469;p38"/>
            <p:cNvSpPr/>
            <p:nvPr/>
          </p:nvSpPr>
          <p:spPr>
            <a:xfrm rot="10800000">
              <a:off x="7511915" y="2725855"/>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70" name="Google Shape;1470;p38"/>
            <p:cNvSpPr/>
            <p:nvPr/>
          </p:nvSpPr>
          <p:spPr>
            <a:xfrm rot="10800000">
              <a:off x="7322252" y="2726347"/>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71" name="Google Shape;1471;p38"/>
            <p:cNvSpPr/>
            <p:nvPr/>
          </p:nvSpPr>
          <p:spPr>
            <a:xfrm rot="10800000">
              <a:off x="7133204" y="2726347"/>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72" name="Google Shape;1472;p38"/>
            <p:cNvSpPr/>
            <p:nvPr/>
          </p:nvSpPr>
          <p:spPr>
            <a:xfrm rot="10800000">
              <a:off x="6944161" y="2724153"/>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73" name="Google Shape;1473;p38"/>
            <p:cNvSpPr/>
            <p:nvPr/>
          </p:nvSpPr>
          <p:spPr>
            <a:xfrm rot="10800000">
              <a:off x="6754522" y="2724648"/>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74" name="Google Shape;1474;p38"/>
            <p:cNvSpPr/>
            <p:nvPr/>
          </p:nvSpPr>
          <p:spPr>
            <a:xfrm rot="10800000">
              <a:off x="6565470" y="2724401"/>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75" name="Google Shape;1475;p38"/>
            <p:cNvSpPr/>
            <p:nvPr/>
          </p:nvSpPr>
          <p:spPr>
            <a:xfrm rot="10800000">
              <a:off x="8207091" y="2878259"/>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76" name="Google Shape;1476;p38"/>
            <p:cNvSpPr/>
            <p:nvPr/>
          </p:nvSpPr>
          <p:spPr>
            <a:xfrm rot="10800000">
              <a:off x="8018043" y="2878259"/>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77" name="Google Shape;1477;p38"/>
            <p:cNvSpPr/>
            <p:nvPr/>
          </p:nvSpPr>
          <p:spPr>
            <a:xfrm rot="10800000">
              <a:off x="7828682" y="2876793"/>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78" name="Google Shape;1478;p38"/>
            <p:cNvSpPr/>
            <p:nvPr/>
          </p:nvSpPr>
          <p:spPr>
            <a:xfrm rot="10800000">
              <a:off x="7664315" y="2878255"/>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79" name="Google Shape;1479;p38"/>
            <p:cNvSpPr/>
            <p:nvPr/>
          </p:nvSpPr>
          <p:spPr>
            <a:xfrm rot="10800000">
              <a:off x="7474652" y="2878747"/>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80" name="Google Shape;1480;p38"/>
            <p:cNvSpPr/>
            <p:nvPr/>
          </p:nvSpPr>
          <p:spPr>
            <a:xfrm rot="10800000">
              <a:off x="7285604" y="2878747"/>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1</a:t>
              </a:r>
              <a:endParaRPr b="0" i="0" sz="104" u="none" cap="none" strike="noStrike">
                <a:solidFill>
                  <a:srgbClr val="B4A7D6"/>
                </a:solidFill>
                <a:latin typeface="Lato"/>
                <a:ea typeface="Lato"/>
                <a:cs typeface="Lato"/>
                <a:sym typeface="Lato"/>
              </a:endParaRPr>
            </a:p>
          </p:txBody>
        </p:sp>
        <p:sp>
          <p:nvSpPr>
            <p:cNvPr id="1481" name="Google Shape;1481;p38"/>
            <p:cNvSpPr/>
            <p:nvPr/>
          </p:nvSpPr>
          <p:spPr>
            <a:xfrm rot="10800000">
              <a:off x="7096561" y="2876553"/>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82" name="Google Shape;1482;p38"/>
            <p:cNvSpPr/>
            <p:nvPr/>
          </p:nvSpPr>
          <p:spPr>
            <a:xfrm rot="10800000">
              <a:off x="6906922" y="2877048"/>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sp>
          <p:nvSpPr>
            <p:cNvPr id="1483" name="Google Shape;1483;p38"/>
            <p:cNvSpPr/>
            <p:nvPr/>
          </p:nvSpPr>
          <p:spPr>
            <a:xfrm rot="10800000">
              <a:off x="6717870" y="2876801"/>
              <a:ext cx="188700" cy="152100"/>
            </a:xfrm>
            <a:prstGeom prst="rect">
              <a:avLst/>
            </a:prstGeom>
            <a:solidFill>
              <a:srgbClr val="B4A7D6"/>
            </a:solidFill>
            <a:ln cap="flat" cmpd="sng" w="19050">
              <a:solidFill>
                <a:srgbClr val="D9D2E9"/>
              </a:solidFill>
              <a:prstDash val="solid"/>
              <a:round/>
              <a:headEnd len="sm" w="sm" type="none"/>
              <a:tailEnd len="sm" w="sm" type="none"/>
            </a:ln>
          </p:spPr>
          <p:txBody>
            <a:bodyPr anchorCtr="0" anchor="ctr" bIns="95775" lIns="95775" spcFirstLastPara="1" rIns="95775" wrap="square" tIns="95775">
              <a:noAutofit/>
            </a:bodyPr>
            <a:lstStyle/>
            <a:p>
              <a:pPr indent="0" lvl="0" marL="0" marR="0" rtl="0" algn="ctr">
                <a:lnSpc>
                  <a:spcPct val="100000"/>
                </a:lnSpc>
                <a:spcBef>
                  <a:spcPts val="0"/>
                </a:spcBef>
                <a:spcAft>
                  <a:spcPts val="0"/>
                </a:spcAft>
                <a:buClr>
                  <a:srgbClr val="000000"/>
                </a:buClr>
                <a:buSzPts val="104"/>
                <a:buFont typeface="Arial"/>
                <a:buNone/>
              </a:pPr>
              <a:r>
                <a:rPr b="0" i="0" lang="en" sz="104" u="none" cap="none" strike="noStrike">
                  <a:solidFill>
                    <a:srgbClr val="B4A7D6"/>
                  </a:solidFill>
                  <a:latin typeface="Lato"/>
                  <a:ea typeface="Lato"/>
                  <a:cs typeface="Lato"/>
                  <a:sym typeface="Lato"/>
                </a:rPr>
                <a:t>0</a:t>
              </a:r>
              <a:endParaRPr b="0" i="0" sz="104" u="none" cap="none" strike="noStrike">
                <a:solidFill>
                  <a:srgbClr val="B4A7D6"/>
                </a:solidFill>
                <a:latin typeface="Lato"/>
                <a:ea typeface="Lato"/>
                <a:cs typeface="Lato"/>
                <a:sym typeface="Lato"/>
              </a:endParaRPr>
            </a:p>
          </p:txBody>
        </p:sp>
      </p:grpSp>
      <p:sp>
        <p:nvSpPr>
          <p:cNvPr id="1292" name="Google Shape;1292;p38"/>
          <p:cNvSpPr/>
          <p:nvPr/>
        </p:nvSpPr>
        <p:spPr>
          <a:xfrm>
            <a:off x="7163350" y="3290925"/>
            <a:ext cx="603600" cy="267600"/>
          </a:xfrm>
          <a:prstGeom prst="roundRect">
            <a:avLst>
              <a:gd fmla="val 32823" name="adj"/>
            </a:avLst>
          </a:prstGeom>
          <a:solidFill>
            <a:srgbClr val="FFF2CC"/>
          </a:solidFill>
          <a:ln cap="flat" cmpd="sng" w="27400">
            <a:solidFill>
              <a:srgbClr val="D9D2E9"/>
            </a:solidFill>
            <a:prstDash val="solid"/>
            <a:round/>
            <a:headEnd len="sm" w="sm" type="none"/>
            <a:tailEnd len="sm" w="sm" type="none"/>
          </a:ln>
        </p:spPr>
        <p:txBody>
          <a:bodyPr anchorCtr="0" anchor="ctr" bIns="87675" lIns="87675" spcFirstLastPara="1" rIns="87675" wrap="square" tIns="87675">
            <a:noAutofit/>
          </a:bodyPr>
          <a:lstStyle/>
          <a:p>
            <a:pPr indent="0" lvl="0" marL="0" marR="0" rtl="0" algn="ctr">
              <a:lnSpc>
                <a:spcPct val="115000"/>
              </a:lnSpc>
              <a:spcBef>
                <a:spcPts val="1151"/>
              </a:spcBef>
              <a:spcAft>
                <a:spcPts val="1151"/>
              </a:spcAft>
              <a:buClr>
                <a:srgbClr val="000000"/>
              </a:buClr>
              <a:buSzPts val="1246"/>
              <a:buFont typeface="Arial"/>
              <a:buNone/>
            </a:pPr>
            <a:r>
              <a:rPr b="1" i="0" lang="en" sz="1246" u="none" cap="none" strike="noStrike">
                <a:solidFill>
                  <a:srgbClr val="B4A7D6"/>
                </a:solidFill>
                <a:latin typeface="Comic Sans MS"/>
                <a:ea typeface="Comic Sans MS"/>
                <a:cs typeface="Comic Sans MS"/>
                <a:sym typeface="Comic Sans MS"/>
              </a:rPr>
              <a:t>ADC</a:t>
            </a:r>
            <a:endParaRPr b="1" i="0" sz="1246" u="none" cap="none" strike="noStrike">
              <a:solidFill>
                <a:srgbClr val="B4A7D6"/>
              </a:solidFill>
              <a:latin typeface="Comic Sans MS"/>
              <a:ea typeface="Comic Sans MS"/>
              <a:cs typeface="Comic Sans MS"/>
              <a:sym typeface="Comic Sans MS"/>
            </a:endParaRPr>
          </a:p>
        </p:txBody>
      </p:sp>
      <p:cxnSp>
        <p:nvCxnSpPr>
          <p:cNvPr id="1484" name="Google Shape;1484;p38"/>
          <p:cNvCxnSpPr>
            <a:stCxn id="1451" idx="2"/>
          </p:cNvCxnSpPr>
          <p:nvPr/>
        </p:nvCxnSpPr>
        <p:spPr>
          <a:xfrm>
            <a:off x="7465149" y="2179100"/>
            <a:ext cx="0" cy="379500"/>
          </a:xfrm>
          <a:prstGeom prst="straightConnector1">
            <a:avLst/>
          </a:prstGeom>
          <a:noFill/>
          <a:ln cap="flat" cmpd="sng" w="18275">
            <a:solidFill>
              <a:srgbClr val="B4A7D6"/>
            </a:solidFill>
            <a:prstDash val="solid"/>
            <a:round/>
            <a:headEnd len="sm" w="sm" type="none"/>
            <a:tailEnd len="med" w="med" type="triangle"/>
          </a:ln>
        </p:spPr>
      </p:cxnSp>
      <p:cxnSp>
        <p:nvCxnSpPr>
          <p:cNvPr id="1485" name="Google Shape;1485;p38"/>
          <p:cNvCxnSpPr>
            <a:stCxn id="1385" idx="1"/>
            <a:endCxn id="1292" idx="1"/>
          </p:cNvCxnSpPr>
          <p:nvPr/>
        </p:nvCxnSpPr>
        <p:spPr>
          <a:xfrm>
            <a:off x="5813917" y="2927939"/>
            <a:ext cx="1349400" cy="496800"/>
          </a:xfrm>
          <a:prstGeom prst="bentConnector3">
            <a:avLst>
              <a:gd fmla="val 50001" name="adj1"/>
            </a:avLst>
          </a:prstGeom>
          <a:noFill/>
          <a:ln cap="flat" cmpd="sng" w="18275">
            <a:solidFill>
              <a:srgbClr val="B4A7D6"/>
            </a:solidFill>
            <a:prstDash val="solid"/>
            <a:round/>
            <a:headEnd len="sm" w="sm" type="none"/>
            <a:tailEnd len="med" w="med" type="stealth"/>
          </a:ln>
        </p:spPr>
      </p:cxnSp>
      <p:sp>
        <p:nvSpPr>
          <p:cNvPr id="1486" name="Google Shape;1486;p38"/>
          <p:cNvSpPr/>
          <p:nvPr/>
        </p:nvSpPr>
        <p:spPr>
          <a:xfrm>
            <a:off x="5986188" y="3965683"/>
            <a:ext cx="246900" cy="179700"/>
          </a:xfrm>
          <a:prstGeom prst="roundRect">
            <a:avLst>
              <a:gd fmla="val 7908" name="adj"/>
            </a:avLst>
          </a:prstGeom>
          <a:noFill/>
          <a:ln cap="flat" cmpd="sng" w="16600">
            <a:solidFill>
              <a:srgbClr val="CFE2F3"/>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s11</a:t>
            </a:r>
            <a:endParaRPr b="1" i="0" sz="580" u="none" cap="none" strike="noStrike">
              <a:solidFill>
                <a:srgbClr val="000000"/>
              </a:solidFill>
              <a:latin typeface="Comic Sans MS"/>
              <a:ea typeface="Comic Sans MS"/>
              <a:cs typeface="Comic Sans MS"/>
              <a:sym typeface="Comic Sans MS"/>
            </a:endParaRPr>
          </a:p>
        </p:txBody>
      </p:sp>
      <p:sp>
        <p:nvSpPr>
          <p:cNvPr id="1487" name="Google Shape;1487;p38"/>
          <p:cNvSpPr/>
          <p:nvPr/>
        </p:nvSpPr>
        <p:spPr>
          <a:xfrm>
            <a:off x="6261926" y="3965537"/>
            <a:ext cx="246900" cy="179700"/>
          </a:xfrm>
          <a:prstGeom prst="roundRect">
            <a:avLst>
              <a:gd fmla="val 7908" name="adj"/>
            </a:avLst>
          </a:prstGeom>
          <a:noFill/>
          <a:ln cap="flat" cmpd="sng" w="16600">
            <a:solidFill>
              <a:srgbClr val="A4C2F4"/>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s12</a:t>
            </a:r>
            <a:endParaRPr b="1" i="0" sz="580" u="none" cap="none" strike="noStrike">
              <a:solidFill>
                <a:srgbClr val="000000"/>
              </a:solidFill>
              <a:latin typeface="Comic Sans MS"/>
              <a:ea typeface="Comic Sans MS"/>
              <a:cs typeface="Comic Sans MS"/>
              <a:sym typeface="Comic Sans MS"/>
            </a:endParaRPr>
          </a:p>
        </p:txBody>
      </p:sp>
      <p:sp>
        <p:nvSpPr>
          <p:cNvPr id="1488" name="Google Shape;1488;p38"/>
          <p:cNvSpPr/>
          <p:nvPr/>
        </p:nvSpPr>
        <p:spPr>
          <a:xfrm>
            <a:off x="6537664" y="3965537"/>
            <a:ext cx="246900" cy="179700"/>
          </a:xfrm>
          <a:prstGeom prst="roundRect">
            <a:avLst>
              <a:gd fmla="val 7908" name="adj"/>
            </a:avLst>
          </a:prstGeom>
          <a:noFill/>
          <a:ln cap="flat" cmpd="sng" w="16600">
            <a:solidFill>
              <a:srgbClr val="6D9EEB"/>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s13</a:t>
            </a:r>
            <a:endParaRPr b="1" i="0" sz="580" u="none" cap="none" strike="noStrike">
              <a:solidFill>
                <a:srgbClr val="000000"/>
              </a:solidFill>
              <a:latin typeface="Comic Sans MS"/>
              <a:ea typeface="Comic Sans MS"/>
              <a:cs typeface="Comic Sans MS"/>
              <a:sym typeface="Comic Sans MS"/>
            </a:endParaRPr>
          </a:p>
        </p:txBody>
      </p:sp>
      <p:sp>
        <p:nvSpPr>
          <p:cNvPr id="1489" name="Google Shape;1489;p38"/>
          <p:cNvSpPr/>
          <p:nvPr/>
        </p:nvSpPr>
        <p:spPr>
          <a:xfrm>
            <a:off x="5986191" y="4214128"/>
            <a:ext cx="246900" cy="179700"/>
          </a:xfrm>
          <a:prstGeom prst="roundRect">
            <a:avLst>
              <a:gd fmla="val 7908" name="adj"/>
            </a:avLst>
          </a:prstGeom>
          <a:noFill/>
          <a:ln cap="flat" cmpd="sng" w="16600">
            <a:solidFill>
              <a:srgbClr val="E06666"/>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s21</a:t>
            </a:r>
            <a:endParaRPr b="1" i="0" sz="580" u="none" cap="none" strike="noStrike">
              <a:solidFill>
                <a:srgbClr val="000000"/>
              </a:solidFill>
              <a:latin typeface="Comic Sans MS"/>
              <a:ea typeface="Comic Sans MS"/>
              <a:cs typeface="Comic Sans MS"/>
              <a:sym typeface="Comic Sans MS"/>
            </a:endParaRPr>
          </a:p>
        </p:txBody>
      </p:sp>
      <p:sp>
        <p:nvSpPr>
          <p:cNvPr id="1490" name="Google Shape;1490;p38"/>
          <p:cNvSpPr/>
          <p:nvPr/>
        </p:nvSpPr>
        <p:spPr>
          <a:xfrm>
            <a:off x="6261929" y="4213982"/>
            <a:ext cx="246900" cy="179700"/>
          </a:xfrm>
          <a:prstGeom prst="roundRect">
            <a:avLst>
              <a:gd fmla="val 7908" name="adj"/>
            </a:avLst>
          </a:prstGeom>
          <a:noFill/>
          <a:ln cap="flat" cmpd="sng" w="16600">
            <a:solidFill>
              <a:srgbClr val="F4CCCC"/>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s22</a:t>
            </a:r>
            <a:endParaRPr b="1" i="0" sz="580" u="none" cap="none" strike="noStrike">
              <a:solidFill>
                <a:srgbClr val="000000"/>
              </a:solidFill>
              <a:latin typeface="Comic Sans MS"/>
              <a:ea typeface="Comic Sans MS"/>
              <a:cs typeface="Comic Sans MS"/>
              <a:sym typeface="Comic Sans MS"/>
            </a:endParaRPr>
          </a:p>
        </p:txBody>
      </p:sp>
      <p:sp>
        <p:nvSpPr>
          <p:cNvPr id="1491" name="Google Shape;1491;p38"/>
          <p:cNvSpPr/>
          <p:nvPr/>
        </p:nvSpPr>
        <p:spPr>
          <a:xfrm>
            <a:off x="6537667" y="4213982"/>
            <a:ext cx="246900" cy="179700"/>
          </a:xfrm>
          <a:prstGeom prst="roundRect">
            <a:avLst>
              <a:gd fmla="val 7908" name="adj"/>
            </a:avLst>
          </a:prstGeom>
          <a:noFill/>
          <a:ln cap="flat" cmpd="sng" w="16600">
            <a:solidFill>
              <a:srgbClr val="EA9999"/>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s23</a:t>
            </a:r>
            <a:endParaRPr b="1" i="0" sz="580" u="none" cap="none" strike="noStrike">
              <a:solidFill>
                <a:srgbClr val="000000"/>
              </a:solidFill>
              <a:latin typeface="Comic Sans MS"/>
              <a:ea typeface="Comic Sans MS"/>
              <a:cs typeface="Comic Sans MS"/>
              <a:sym typeface="Comic Sans MS"/>
            </a:endParaRPr>
          </a:p>
        </p:txBody>
      </p:sp>
      <p:sp>
        <p:nvSpPr>
          <p:cNvPr id="1492" name="Google Shape;1492;p38"/>
          <p:cNvSpPr/>
          <p:nvPr/>
        </p:nvSpPr>
        <p:spPr>
          <a:xfrm>
            <a:off x="5986194" y="4462714"/>
            <a:ext cx="246900" cy="179700"/>
          </a:xfrm>
          <a:prstGeom prst="roundRect">
            <a:avLst>
              <a:gd fmla="val 7908" name="adj"/>
            </a:avLst>
          </a:prstGeom>
          <a:noFill/>
          <a:ln cap="flat" cmpd="sng" w="16600">
            <a:solidFill>
              <a:srgbClr val="93C47D"/>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s31</a:t>
            </a:r>
            <a:endParaRPr b="1" i="0" sz="580" u="none" cap="none" strike="noStrike">
              <a:solidFill>
                <a:srgbClr val="000000"/>
              </a:solidFill>
              <a:latin typeface="Comic Sans MS"/>
              <a:ea typeface="Comic Sans MS"/>
              <a:cs typeface="Comic Sans MS"/>
              <a:sym typeface="Comic Sans MS"/>
            </a:endParaRPr>
          </a:p>
        </p:txBody>
      </p:sp>
      <p:sp>
        <p:nvSpPr>
          <p:cNvPr id="1493" name="Google Shape;1493;p38"/>
          <p:cNvSpPr/>
          <p:nvPr/>
        </p:nvSpPr>
        <p:spPr>
          <a:xfrm>
            <a:off x="6261932" y="4462569"/>
            <a:ext cx="246900" cy="179700"/>
          </a:xfrm>
          <a:prstGeom prst="roundRect">
            <a:avLst>
              <a:gd fmla="val 7908" name="adj"/>
            </a:avLst>
          </a:prstGeom>
          <a:noFill/>
          <a:ln cap="flat" cmpd="sng" w="16600">
            <a:solidFill>
              <a:srgbClr val="6AA84F"/>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s32</a:t>
            </a:r>
            <a:endParaRPr b="1" i="0" sz="580" u="none" cap="none" strike="noStrike">
              <a:solidFill>
                <a:srgbClr val="000000"/>
              </a:solidFill>
              <a:latin typeface="Comic Sans MS"/>
              <a:ea typeface="Comic Sans MS"/>
              <a:cs typeface="Comic Sans MS"/>
              <a:sym typeface="Comic Sans MS"/>
            </a:endParaRPr>
          </a:p>
        </p:txBody>
      </p:sp>
      <p:sp>
        <p:nvSpPr>
          <p:cNvPr id="1494" name="Google Shape;1494;p38"/>
          <p:cNvSpPr/>
          <p:nvPr/>
        </p:nvSpPr>
        <p:spPr>
          <a:xfrm>
            <a:off x="6537670" y="4462569"/>
            <a:ext cx="246900" cy="179700"/>
          </a:xfrm>
          <a:prstGeom prst="roundRect">
            <a:avLst>
              <a:gd fmla="val 7908" name="adj"/>
            </a:avLst>
          </a:prstGeom>
          <a:noFill/>
          <a:ln cap="flat" cmpd="sng" w="16600">
            <a:solidFill>
              <a:srgbClr val="B6D7A8"/>
            </a:solidFill>
            <a:prstDash val="solid"/>
            <a:round/>
            <a:headEnd len="sm" w="sm" type="none"/>
            <a:tailEnd len="sm" w="sm" type="none"/>
          </a:ln>
        </p:spPr>
        <p:txBody>
          <a:bodyPr anchorCtr="0" anchor="ctr" bIns="53100" lIns="53100" spcFirstLastPara="1" rIns="53100" wrap="square" tIns="53100">
            <a:noAutofit/>
          </a:bodyPr>
          <a:lstStyle/>
          <a:p>
            <a:pPr indent="0" lvl="0" marL="0" marR="0" rtl="0" algn="ctr">
              <a:lnSpc>
                <a:spcPct val="115000"/>
              </a:lnSpc>
              <a:spcBef>
                <a:spcPts val="697"/>
              </a:spcBef>
              <a:spcAft>
                <a:spcPts val="697"/>
              </a:spcAft>
              <a:buClr>
                <a:srgbClr val="000000"/>
              </a:buClr>
              <a:buSzPts val="580"/>
              <a:buFont typeface="Arial"/>
              <a:buNone/>
            </a:pPr>
            <a:r>
              <a:rPr b="1" i="0" lang="en" sz="580" u="none" cap="none" strike="noStrike">
                <a:solidFill>
                  <a:srgbClr val="000000"/>
                </a:solidFill>
                <a:latin typeface="Comic Sans MS"/>
                <a:ea typeface="Comic Sans MS"/>
                <a:cs typeface="Comic Sans MS"/>
                <a:sym typeface="Comic Sans MS"/>
              </a:rPr>
              <a:t>s33</a:t>
            </a:r>
            <a:endParaRPr b="1" i="0" sz="580" u="none" cap="none" strike="noStrike">
              <a:solidFill>
                <a:srgbClr val="000000"/>
              </a:solidFill>
              <a:latin typeface="Comic Sans MS"/>
              <a:ea typeface="Comic Sans MS"/>
              <a:cs typeface="Comic Sans MS"/>
              <a:sym typeface="Comic Sans MS"/>
            </a:endParaRPr>
          </a:p>
        </p:txBody>
      </p:sp>
      <p:cxnSp>
        <p:nvCxnSpPr>
          <p:cNvPr id="1495" name="Google Shape;1495;p38"/>
          <p:cNvCxnSpPr>
            <a:stCxn id="1292" idx="2"/>
            <a:endCxn id="1487" idx="0"/>
          </p:cNvCxnSpPr>
          <p:nvPr/>
        </p:nvCxnSpPr>
        <p:spPr>
          <a:xfrm rot="5400000">
            <a:off x="6721750" y="3222225"/>
            <a:ext cx="407100" cy="1079700"/>
          </a:xfrm>
          <a:prstGeom prst="bentConnector3">
            <a:avLst>
              <a:gd fmla="val 49989" name="adj1"/>
            </a:avLst>
          </a:prstGeom>
          <a:noFill/>
          <a:ln cap="flat" cmpd="sng" w="18275">
            <a:solidFill>
              <a:srgbClr val="B4A7D6"/>
            </a:solidFill>
            <a:prstDash val="solid"/>
            <a:round/>
            <a:headEnd len="sm" w="sm" type="none"/>
            <a:tailEnd len="med" w="med" type="stealth"/>
          </a:ln>
        </p:spPr>
      </p:cxnSp>
      <p:sp>
        <p:nvSpPr>
          <p:cNvPr id="1496" name="Google Shape;1496;p38"/>
          <p:cNvSpPr/>
          <p:nvPr/>
        </p:nvSpPr>
        <p:spPr>
          <a:xfrm>
            <a:off x="7089699" y="3776827"/>
            <a:ext cx="337800" cy="120900"/>
          </a:xfrm>
          <a:prstGeom prst="rect">
            <a:avLst/>
          </a:prstGeom>
          <a:noFill/>
          <a:ln>
            <a:noFill/>
          </a:ln>
        </p:spPr>
        <p:txBody>
          <a:bodyPr anchorCtr="0" anchor="ctr" bIns="76125" lIns="76125" spcFirstLastPara="1" rIns="76125" wrap="square" tIns="76125">
            <a:noAutofit/>
          </a:bodyPr>
          <a:lstStyle/>
          <a:p>
            <a:pPr indent="0" lvl="0" marL="0" marR="0" rtl="0" algn="ctr">
              <a:lnSpc>
                <a:spcPct val="100000"/>
              </a:lnSpc>
              <a:spcBef>
                <a:spcPts val="0"/>
              </a:spcBef>
              <a:spcAft>
                <a:spcPts val="0"/>
              </a:spcAft>
              <a:buClr>
                <a:srgbClr val="000000"/>
              </a:buClr>
              <a:buSzPts val="914"/>
              <a:buFont typeface="Arial"/>
              <a:buNone/>
            </a:pPr>
            <a:r>
              <a:rPr b="0" i="0" lang="en" sz="915" u="none" cap="none" strike="noStrike">
                <a:solidFill>
                  <a:srgbClr val="6D9EEB"/>
                </a:solidFill>
                <a:latin typeface="Lato"/>
                <a:ea typeface="Lato"/>
                <a:cs typeface="Lato"/>
                <a:sym typeface="Lato"/>
              </a:rPr>
              <a:t>d</a:t>
            </a:r>
            <a:r>
              <a:rPr b="0" i="0" lang="en" sz="666" u="none" cap="none" strike="noStrike">
                <a:solidFill>
                  <a:srgbClr val="6D9EEB"/>
                </a:solidFill>
                <a:latin typeface="Lato"/>
                <a:ea typeface="Lato"/>
                <a:cs typeface="Lato"/>
                <a:sym typeface="Lato"/>
              </a:rPr>
              <a:t>1</a:t>
            </a:r>
            <a:endParaRPr b="0" i="0" sz="666" u="none" cap="none" strike="noStrike">
              <a:solidFill>
                <a:srgbClr val="6D9EEB"/>
              </a:solidFill>
              <a:latin typeface="Lato"/>
              <a:ea typeface="Lato"/>
              <a:cs typeface="Lato"/>
              <a:sym typeface="Lato"/>
            </a:endParaRPr>
          </a:p>
        </p:txBody>
      </p:sp>
      <p:sp>
        <p:nvSpPr>
          <p:cNvPr id="1497" name="Google Shape;1497;p38"/>
          <p:cNvSpPr/>
          <p:nvPr/>
        </p:nvSpPr>
        <p:spPr>
          <a:xfrm>
            <a:off x="7089150" y="4019262"/>
            <a:ext cx="337800" cy="120900"/>
          </a:xfrm>
          <a:prstGeom prst="rect">
            <a:avLst/>
          </a:prstGeom>
          <a:noFill/>
          <a:ln>
            <a:noFill/>
          </a:ln>
        </p:spPr>
        <p:txBody>
          <a:bodyPr anchorCtr="0" anchor="ctr" bIns="76125" lIns="76125" spcFirstLastPara="1" rIns="76125" wrap="square" tIns="76125">
            <a:noAutofit/>
          </a:bodyPr>
          <a:lstStyle/>
          <a:p>
            <a:pPr indent="0" lvl="0" marL="0" marR="0" rtl="0" algn="ctr">
              <a:lnSpc>
                <a:spcPct val="100000"/>
              </a:lnSpc>
              <a:spcBef>
                <a:spcPts val="0"/>
              </a:spcBef>
              <a:spcAft>
                <a:spcPts val="0"/>
              </a:spcAft>
              <a:buClr>
                <a:srgbClr val="000000"/>
              </a:buClr>
              <a:buSzPts val="914"/>
              <a:buFont typeface="Arial"/>
              <a:buNone/>
            </a:pPr>
            <a:r>
              <a:rPr b="0" i="0" lang="en" sz="915" u="none" cap="none" strike="noStrike">
                <a:solidFill>
                  <a:srgbClr val="B4A7D6"/>
                </a:solidFill>
                <a:latin typeface="Lato"/>
                <a:ea typeface="Lato"/>
                <a:cs typeface="Lato"/>
                <a:sym typeface="Lato"/>
              </a:rPr>
              <a:t>d</a:t>
            </a:r>
            <a:r>
              <a:rPr b="0" i="0" lang="en" sz="666" u="none" cap="none" strike="noStrike">
                <a:solidFill>
                  <a:srgbClr val="B4A7D6"/>
                </a:solidFill>
                <a:latin typeface="Lato"/>
                <a:ea typeface="Lato"/>
                <a:cs typeface="Lato"/>
                <a:sym typeface="Lato"/>
              </a:rPr>
              <a:t>2</a:t>
            </a:r>
            <a:endParaRPr b="0" i="0" sz="666" u="none" cap="none" strike="noStrike">
              <a:solidFill>
                <a:srgbClr val="B4A7D6"/>
              </a:solidFill>
              <a:latin typeface="Lato"/>
              <a:ea typeface="Lato"/>
              <a:cs typeface="Lato"/>
              <a:sym typeface="Lato"/>
            </a:endParaRPr>
          </a:p>
        </p:txBody>
      </p:sp>
      <p:sp>
        <p:nvSpPr>
          <p:cNvPr id="1498" name="Google Shape;1498;p38"/>
          <p:cNvSpPr/>
          <p:nvPr/>
        </p:nvSpPr>
        <p:spPr>
          <a:xfrm>
            <a:off x="7090249" y="4479734"/>
            <a:ext cx="337800" cy="120900"/>
          </a:xfrm>
          <a:prstGeom prst="rect">
            <a:avLst/>
          </a:prstGeom>
          <a:noFill/>
          <a:ln>
            <a:noFill/>
          </a:ln>
        </p:spPr>
        <p:txBody>
          <a:bodyPr anchorCtr="0" anchor="ctr" bIns="76125" lIns="76125" spcFirstLastPara="1" rIns="76125" wrap="square" tIns="76125">
            <a:noAutofit/>
          </a:bodyPr>
          <a:lstStyle/>
          <a:p>
            <a:pPr indent="0" lvl="0" marL="0" marR="0" rtl="0" algn="ctr">
              <a:lnSpc>
                <a:spcPct val="100000"/>
              </a:lnSpc>
              <a:spcBef>
                <a:spcPts val="0"/>
              </a:spcBef>
              <a:spcAft>
                <a:spcPts val="0"/>
              </a:spcAft>
              <a:buClr>
                <a:srgbClr val="000000"/>
              </a:buClr>
              <a:buSzPts val="914"/>
              <a:buFont typeface="Arial"/>
              <a:buNone/>
            </a:pPr>
            <a:r>
              <a:rPr b="0" i="0" lang="en" sz="915" u="none" cap="none" strike="noStrike">
                <a:solidFill>
                  <a:srgbClr val="FFE599"/>
                </a:solidFill>
                <a:latin typeface="Lato"/>
                <a:ea typeface="Lato"/>
                <a:cs typeface="Lato"/>
                <a:sym typeface="Lato"/>
              </a:rPr>
              <a:t>d</a:t>
            </a:r>
            <a:r>
              <a:rPr b="0" i="0" lang="en" sz="666" u="none" cap="none" strike="noStrike">
                <a:solidFill>
                  <a:srgbClr val="FFE599"/>
                </a:solidFill>
                <a:latin typeface="Lato"/>
                <a:ea typeface="Lato"/>
                <a:cs typeface="Lato"/>
                <a:sym typeface="Lato"/>
              </a:rPr>
              <a:t>9</a:t>
            </a:r>
            <a:endParaRPr b="0" i="0" sz="666" u="none" cap="none" strike="noStrike">
              <a:solidFill>
                <a:srgbClr val="FFE599"/>
              </a:solidFill>
              <a:latin typeface="Lato"/>
              <a:ea typeface="Lato"/>
              <a:cs typeface="Lato"/>
              <a:sym typeface="Lato"/>
            </a:endParaRPr>
          </a:p>
        </p:txBody>
      </p:sp>
      <p:sp>
        <p:nvSpPr>
          <p:cNvPr id="1499" name="Google Shape;1499;p38"/>
          <p:cNvSpPr/>
          <p:nvPr/>
        </p:nvSpPr>
        <p:spPr>
          <a:xfrm>
            <a:off x="7089170" y="4714385"/>
            <a:ext cx="337800" cy="120900"/>
          </a:xfrm>
          <a:prstGeom prst="rect">
            <a:avLst/>
          </a:prstGeom>
          <a:noFill/>
          <a:ln>
            <a:noFill/>
          </a:ln>
        </p:spPr>
        <p:txBody>
          <a:bodyPr anchorCtr="0" anchor="ctr" bIns="76125" lIns="76125" spcFirstLastPara="1" rIns="76125" wrap="square" tIns="76125">
            <a:noAutofit/>
          </a:bodyPr>
          <a:lstStyle/>
          <a:p>
            <a:pPr indent="0" lvl="0" marL="0" marR="0" rtl="0" algn="ctr">
              <a:lnSpc>
                <a:spcPct val="100000"/>
              </a:lnSpc>
              <a:spcBef>
                <a:spcPts val="0"/>
              </a:spcBef>
              <a:spcAft>
                <a:spcPts val="0"/>
              </a:spcAft>
              <a:buClr>
                <a:srgbClr val="000000"/>
              </a:buClr>
              <a:buSzPts val="914"/>
              <a:buFont typeface="Arial"/>
              <a:buNone/>
            </a:pPr>
            <a:r>
              <a:rPr b="0" i="0" lang="en" sz="915" u="none" cap="none" strike="noStrike">
                <a:solidFill>
                  <a:srgbClr val="B6D7A8"/>
                </a:solidFill>
                <a:latin typeface="Lato"/>
                <a:ea typeface="Lato"/>
                <a:cs typeface="Lato"/>
                <a:sym typeface="Lato"/>
              </a:rPr>
              <a:t>d</a:t>
            </a:r>
            <a:r>
              <a:rPr b="0" i="0" lang="en" sz="582" u="none" cap="none" strike="noStrike">
                <a:solidFill>
                  <a:srgbClr val="B6D7A8"/>
                </a:solidFill>
                <a:latin typeface="Lato"/>
                <a:ea typeface="Lato"/>
                <a:cs typeface="Lato"/>
                <a:sym typeface="Lato"/>
              </a:rPr>
              <a:t>10</a:t>
            </a:r>
            <a:endParaRPr b="0" i="0" sz="582" u="none" cap="none" strike="noStrike">
              <a:solidFill>
                <a:srgbClr val="B6D7A8"/>
              </a:solidFill>
              <a:latin typeface="Lato"/>
              <a:ea typeface="Lato"/>
              <a:cs typeface="Lato"/>
              <a:sym typeface="Lato"/>
            </a:endParaRPr>
          </a:p>
        </p:txBody>
      </p:sp>
      <p:sp>
        <p:nvSpPr>
          <p:cNvPr id="1500" name="Google Shape;1500;p38"/>
          <p:cNvSpPr/>
          <p:nvPr/>
        </p:nvSpPr>
        <p:spPr>
          <a:xfrm>
            <a:off x="7367664" y="4178763"/>
            <a:ext cx="54600" cy="498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7925" lIns="57925" spcFirstLastPara="1" rIns="57925" wrap="square" tIns="57925">
            <a:noAutofit/>
          </a:bodyPr>
          <a:lstStyle/>
          <a:p>
            <a:pPr indent="0" lvl="0" marL="0" marR="0" rtl="0" algn="ctr">
              <a:lnSpc>
                <a:spcPct val="100000"/>
              </a:lnSpc>
              <a:spcBef>
                <a:spcPts val="0"/>
              </a:spcBef>
              <a:spcAft>
                <a:spcPts val="0"/>
              </a:spcAft>
              <a:buClr>
                <a:srgbClr val="000000"/>
              </a:buClr>
              <a:buSzPts val="887"/>
              <a:buFont typeface="Arial"/>
              <a:buNone/>
            </a:pPr>
            <a:r>
              <a:t/>
            </a:r>
            <a:endParaRPr b="0" i="0" sz="887" u="none" cap="none" strike="noStrike">
              <a:solidFill>
                <a:srgbClr val="C27171"/>
              </a:solidFill>
              <a:latin typeface="Lato"/>
              <a:ea typeface="Lato"/>
              <a:cs typeface="Lato"/>
              <a:sym typeface="Lato"/>
            </a:endParaRPr>
          </a:p>
        </p:txBody>
      </p:sp>
      <p:sp>
        <p:nvSpPr>
          <p:cNvPr id="1290" name="Google Shape;1290;p38"/>
          <p:cNvSpPr/>
          <p:nvPr/>
        </p:nvSpPr>
        <p:spPr>
          <a:xfrm>
            <a:off x="7367664" y="4279070"/>
            <a:ext cx="54600" cy="498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7925" lIns="57925" spcFirstLastPara="1" rIns="57925" wrap="square" tIns="57925">
            <a:noAutofit/>
          </a:bodyPr>
          <a:lstStyle/>
          <a:p>
            <a:pPr indent="0" lvl="0" marL="0" marR="0" rtl="0" algn="ctr">
              <a:lnSpc>
                <a:spcPct val="100000"/>
              </a:lnSpc>
              <a:spcBef>
                <a:spcPts val="0"/>
              </a:spcBef>
              <a:spcAft>
                <a:spcPts val="0"/>
              </a:spcAft>
              <a:buClr>
                <a:srgbClr val="000000"/>
              </a:buClr>
              <a:buSzPts val="887"/>
              <a:buFont typeface="Arial"/>
              <a:buNone/>
            </a:pPr>
            <a:r>
              <a:t/>
            </a:r>
            <a:endParaRPr b="0" i="0" sz="887" u="none" cap="none" strike="noStrike">
              <a:solidFill>
                <a:srgbClr val="C27171"/>
              </a:solidFill>
              <a:latin typeface="Lato"/>
              <a:ea typeface="Lato"/>
              <a:cs typeface="Lato"/>
              <a:sym typeface="Lato"/>
            </a:endParaRPr>
          </a:p>
        </p:txBody>
      </p:sp>
      <p:sp>
        <p:nvSpPr>
          <p:cNvPr id="1501" name="Google Shape;1501;p38"/>
          <p:cNvSpPr/>
          <p:nvPr/>
        </p:nvSpPr>
        <p:spPr>
          <a:xfrm>
            <a:off x="7367664" y="4387178"/>
            <a:ext cx="54600" cy="49800"/>
          </a:xfrm>
          <a:prstGeom prst="ellipse">
            <a:avLst/>
          </a:prstGeom>
          <a:solidFill>
            <a:srgbClr val="CFE2F3">
              <a:alpha val="47450"/>
            </a:srgbClr>
          </a:solidFill>
          <a:ln cap="flat" cmpd="sng" w="9525">
            <a:solidFill>
              <a:srgbClr val="D9D2E9"/>
            </a:solidFill>
            <a:prstDash val="solid"/>
            <a:round/>
            <a:headEnd len="sm" w="sm" type="none"/>
            <a:tailEnd len="sm" w="sm" type="none"/>
          </a:ln>
        </p:spPr>
        <p:txBody>
          <a:bodyPr anchorCtr="0" anchor="ctr" bIns="57925" lIns="57925" spcFirstLastPara="1" rIns="57925" wrap="square" tIns="57925">
            <a:noAutofit/>
          </a:bodyPr>
          <a:lstStyle/>
          <a:p>
            <a:pPr indent="0" lvl="0" marL="0" marR="0" rtl="0" algn="ctr">
              <a:lnSpc>
                <a:spcPct val="100000"/>
              </a:lnSpc>
              <a:spcBef>
                <a:spcPts val="0"/>
              </a:spcBef>
              <a:spcAft>
                <a:spcPts val="0"/>
              </a:spcAft>
              <a:buClr>
                <a:srgbClr val="000000"/>
              </a:buClr>
              <a:buSzPts val="887"/>
              <a:buFont typeface="Arial"/>
              <a:buNone/>
            </a:pPr>
            <a:r>
              <a:t/>
            </a:r>
            <a:endParaRPr b="0" i="0" sz="887" u="none" cap="none" strike="noStrike">
              <a:solidFill>
                <a:srgbClr val="C27171"/>
              </a:solidFill>
              <a:latin typeface="Lato"/>
              <a:ea typeface="Lato"/>
              <a:cs typeface="Lato"/>
              <a:sym typeface="Lato"/>
            </a:endParaRPr>
          </a:p>
        </p:txBody>
      </p:sp>
      <p:cxnSp>
        <p:nvCxnSpPr>
          <p:cNvPr id="1502" name="Google Shape;1502;p38"/>
          <p:cNvCxnSpPr>
            <a:stCxn id="1497" idx="3"/>
            <a:endCxn id="1503" idx="1"/>
          </p:cNvCxnSpPr>
          <p:nvPr/>
        </p:nvCxnSpPr>
        <p:spPr>
          <a:xfrm>
            <a:off x="7426950" y="4079712"/>
            <a:ext cx="216900" cy="0"/>
          </a:xfrm>
          <a:prstGeom prst="straightConnector1">
            <a:avLst/>
          </a:prstGeom>
          <a:noFill/>
          <a:ln cap="flat" cmpd="sng" w="15150">
            <a:solidFill>
              <a:srgbClr val="D9D2E9"/>
            </a:solidFill>
            <a:prstDash val="solid"/>
            <a:round/>
            <a:headEnd len="sm" w="sm" type="none"/>
            <a:tailEnd len="med" w="med" type="triangle"/>
          </a:ln>
        </p:spPr>
      </p:cxnSp>
      <p:cxnSp>
        <p:nvCxnSpPr>
          <p:cNvPr id="1504" name="Google Shape;1504;p38"/>
          <p:cNvCxnSpPr>
            <a:stCxn id="1498" idx="3"/>
            <a:endCxn id="1505" idx="1"/>
          </p:cNvCxnSpPr>
          <p:nvPr/>
        </p:nvCxnSpPr>
        <p:spPr>
          <a:xfrm>
            <a:off x="7428049" y="4540184"/>
            <a:ext cx="215700" cy="0"/>
          </a:xfrm>
          <a:prstGeom prst="straightConnector1">
            <a:avLst/>
          </a:prstGeom>
          <a:noFill/>
          <a:ln cap="flat" cmpd="sng" w="15150">
            <a:solidFill>
              <a:srgbClr val="FFF2CC"/>
            </a:solidFill>
            <a:prstDash val="solid"/>
            <a:round/>
            <a:headEnd len="sm" w="sm" type="none"/>
            <a:tailEnd len="med" w="med" type="triangle"/>
          </a:ln>
        </p:spPr>
      </p:cxnSp>
      <p:cxnSp>
        <p:nvCxnSpPr>
          <p:cNvPr id="1506" name="Google Shape;1506;p38"/>
          <p:cNvCxnSpPr>
            <a:stCxn id="1499" idx="3"/>
            <a:endCxn id="1507" idx="1"/>
          </p:cNvCxnSpPr>
          <p:nvPr/>
        </p:nvCxnSpPr>
        <p:spPr>
          <a:xfrm>
            <a:off x="7426970" y="4774835"/>
            <a:ext cx="216900" cy="0"/>
          </a:xfrm>
          <a:prstGeom prst="straightConnector1">
            <a:avLst/>
          </a:prstGeom>
          <a:noFill/>
          <a:ln cap="flat" cmpd="sng" w="15150">
            <a:solidFill>
              <a:srgbClr val="D9EAD3"/>
            </a:solidFill>
            <a:prstDash val="solid"/>
            <a:round/>
            <a:headEnd len="sm" w="sm" type="none"/>
            <a:tailEnd len="med" w="med" type="triangle"/>
          </a:ln>
        </p:spPr>
      </p:cxnSp>
      <p:sp>
        <p:nvSpPr>
          <p:cNvPr id="1508" name="Google Shape;1508;p38"/>
          <p:cNvSpPr/>
          <p:nvPr/>
        </p:nvSpPr>
        <p:spPr>
          <a:xfrm>
            <a:off x="7643775" y="3749036"/>
            <a:ext cx="242100" cy="176700"/>
          </a:xfrm>
          <a:prstGeom prst="roundRect">
            <a:avLst>
              <a:gd fmla="val 7908" name="adj"/>
            </a:avLst>
          </a:prstGeom>
          <a:solidFill>
            <a:srgbClr val="FFFFFF"/>
          </a:solidFill>
          <a:ln cap="flat" cmpd="sng" w="16300">
            <a:solidFill>
              <a:srgbClr val="CFE2F3"/>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s11</a:t>
            </a:r>
            <a:endParaRPr b="1" i="0" sz="570" u="none" cap="none" strike="noStrike">
              <a:solidFill>
                <a:srgbClr val="000000"/>
              </a:solidFill>
              <a:latin typeface="Comic Sans MS"/>
              <a:ea typeface="Comic Sans MS"/>
              <a:cs typeface="Comic Sans MS"/>
              <a:sym typeface="Comic Sans MS"/>
            </a:endParaRPr>
          </a:p>
        </p:txBody>
      </p:sp>
      <p:sp>
        <p:nvSpPr>
          <p:cNvPr id="1503" name="Google Shape;1503;p38"/>
          <p:cNvSpPr/>
          <p:nvPr/>
        </p:nvSpPr>
        <p:spPr>
          <a:xfrm>
            <a:off x="7643773" y="3991463"/>
            <a:ext cx="242100" cy="176700"/>
          </a:xfrm>
          <a:prstGeom prst="roundRect">
            <a:avLst>
              <a:gd fmla="val 7908" name="adj"/>
            </a:avLst>
          </a:prstGeom>
          <a:solidFill>
            <a:srgbClr val="FFFFFF"/>
          </a:solidFill>
          <a:ln cap="flat" cmpd="sng" w="16300">
            <a:solidFill>
              <a:srgbClr val="A4C2F4"/>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c12</a:t>
            </a:r>
            <a:endParaRPr b="1" i="0" sz="570" u="none" cap="none" strike="noStrike">
              <a:solidFill>
                <a:srgbClr val="000000"/>
              </a:solidFill>
              <a:latin typeface="Comic Sans MS"/>
              <a:ea typeface="Comic Sans MS"/>
              <a:cs typeface="Comic Sans MS"/>
              <a:sym typeface="Comic Sans MS"/>
            </a:endParaRPr>
          </a:p>
        </p:txBody>
      </p:sp>
      <p:sp>
        <p:nvSpPr>
          <p:cNvPr id="1505" name="Google Shape;1505;p38"/>
          <p:cNvSpPr/>
          <p:nvPr/>
        </p:nvSpPr>
        <p:spPr>
          <a:xfrm>
            <a:off x="7643771" y="4451940"/>
            <a:ext cx="242100" cy="176700"/>
          </a:xfrm>
          <a:prstGeom prst="roundRect">
            <a:avLst>
              <a:gd fmla="val 7908" name="adj"/>
            </a:avLst>
          </a:prstGeom>
          <a:solidFill>
            <a:srgbClr val="FFFFFF"/>
          </a:solidFill>
          <a:ln cap="flat" cmpd="sng" w="16300">
            <a:solidFill>
              <a:srgbClr val="6D9EEB"/>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c13</a:t>
            </a:r>
            <a:endParaRPr b="1" i="0" sz="570" u="none" cap="none" strike="noStrike">
              <a:solidFill>
                <a:srgbClr val="000000"/>
              </a:solidFill>
              <a:latin typeface="Comic Sans MS"/>
              <a:ea typeface="Comic Sans MS"/>
              <a:cs typeface="Comic Sans MS"/>
              <a:sym typeface="Comic Sans MS"/>
            </a:endParaRPr>
          </a:p>
        </p:txBody>
      </p:sp>
      <p:sp>
        <p:nvSpPr>
          <p:cNvPr id="1509" name="Google Shape;1509;p38"/>
          <p:cNvSpPr/>
          <p:nvPr/>
        </p:nvSpPr>
        <p:spPr>
          <a:xfrm>
            <a:off x="8102156" y="3749026"/>
            <a:ext cx="242100" cy="176700"/>
          </a:xfrm>
          <a:prstGeom prst="roundRect">
            <a:avLst>
              <a:gd fmla="val 7908" name="adj"/>
            </a:avLst>
          </a:prstGeom>
          <a:solidFill>
            <a:srgbClr val="FFFFFF"/>
          </a:solidFill>
          <a:ln cap="flat" cmpd="sng" w="16300">
            <a:solidFill>
              <a:srgbClr val="E06666"/>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s21</a:t>
            </a:r>
            <a:endParaRPr b="1" i="0" sz="570" u="none" cap="none" strike="noStrike">
              <a:solidFill>
                <a:srgbClr val="000000"/>
              </a:solidFill>
              <a:latin typeface="Comic Sans MS"/>
              <a:ea typeface="Comic Sans MS"/>
              <a:cs typeface="Comic Sans MS"/>
              <a:sym typeface="Comic Sans MS"/>
            </a:endParaRPr>
          </a:p>
        </p:txBody>
      </p:sp>
      <p:sp>
        <p:nvSpPr>
          <p:cNvPr id="1510" name="Google Shape;1510;p38"/>
          <p:cNvSpPr/>
          <p:nvPr/>
        </p:nvSpPr>
        <p:spPr>
          <a:xfrm>
            <a:off x="8102154" y="4451949"/>
            <a:ext cx="242100" cy="176700"/>
          </a:xfrm>
          <a:prstGeom prst="roundRect">
            <a:avLst>
              <a:gd fmla="val 7908" name="adj"/>
            </a:avLst>
          </a:prstGeom>
          <a:solidFill>
            <a:srgbClr val="FFFFFF"/>
          </a:solidFill>
          <a:ln cap="flat" cmpd="sng" w="16300">
            <a:solidFill>
              <a:srgbClr val="F4CCCC"/>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c22</a:t>
            </a:r>
            <a:endParaRPr b="1" i="0" sz="570" u="none" cap="none" strike="noStrike">
              <a:solidFill>
                <a:srgbClr val="000000"/>
              </a:solidFill>
              <a:latin typeface="Comic Sans MS"/>
              <a:ea typeface="Comic Sans MS"/>
              <a:cs typeface="Comic Sans MS"/>
              <a:sym typeface="Comic Sans MS"/>
            </a:endParaRPr>
          </a:p>
        </p:txBody>
      </p:sp>
      <p:sp>
        <p:nvSpPr>
          <p:cNvPr id="1511" name="Google Shape;1511;p38"/>
          <p:cNvSpPr/>
          <p:nvPr/>
        </p:nvSpPr>
        <p:spPr>
          <a:xfrm>
            <a:off x="8102152" y="3991472"/>
            <a:ext cx="242100" cy="176700"/>
          </a:xfrm>
          <a:prstGeom prst="roundRect">
            <a:avLst>
              <a:gd fmla="val 7908" name="adj"/>
            </a:avLst>
          </a:prstGeom>
          <a:solidFill>
            <a:srgbClr val="FFFFFF"/>
          </a:solidFill>
          <a:ln cap="flat" cmpd="sng" w="16300">
            <a:solidFill>
              <a:srgbClr val="EA9999"/>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c23</a:t>
            </a:r>
            <a:endParaRPr b="1" i="0" sz="570" u="none" cap="none" strike="noStrike">
              <a:solidFill>
                <a:srgbClr val="000000"/>
              </a:solidFill>
              <a:latin typeface="Comic Sans MS"/>
              <a:ea typeface="Comic Sans MS"/>
              <a:cs typeface="Comic Sans MS"/>
              <a:sym typeface="Comic Sans MS"/>
            </a:endParaRPr>
          </a:p>
        </p:txBody>
      </p:sp>
      <p:sp>
        <p:nvSpPr>
          <p:cNvPr id="1512" name="Google Shape;1512;p38"/>
          <p:cNvSpPr/>
          <p:nvPr/>
        </p:nvSpPr>
        <p:spPr>
          <a:xfrm>
            <a:off x="8560556" y="3749030"/>
            <a:ext cx="242100" cy="176700"/>
          </a:xfrm>
          <a:prstGeom prst="roundRect">
            <a:avLst>
              <a:gd fmla="val 7908" name="adj"/>
            </a:avLst>
          </a:prstGeom>
          <a:solidFill>
            <a:srgbClr val="FFFFFF"/>
          </a:solidFill>
          <a:ln cap="flat" cmpd="sng" w="16300">
            <a:solidFill>
              <a:srgbClr val="93C47D"/>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s31</a:t>
            </a:r>
            <a:endParaRPr b="1" i="0" sz="570" u="none" cap="none" strike="noStrike">
              <a:solidFill>
                <a:srgbClr val="000000"/>
              </a:solidFill>
              <a:latin typeface="Comic Sans MS"/>
              <a:ea typeface="Comic Sans MS"/>
              <a:cs typeface="Comic Sans MS"/>
              <a:sym typeface="Comic Sans MS"/>
            </a:endParaRPr>
          </a:p>
        </p:txBody>
      </p:sp>
      <p:sp>
        <p:nvSpPr>
          <p:cNvPr id="1513" name="Google Shape;1513;p38"/>
          <p:cNvSpPr/>
          <p:nvPr/>
        </p:nvSpPr>
        <p:spPr>
          <a:xfrm>
            <a:off x="8560555" y="3991456"/>
            <a:ext cx="242100" cy="176700"/>
          </a:xfrm>
          <a:prstGeom prst="roundRect">
            <a:avLst>
              <a:gd fmla="val 7908" name="adj"/>
            </a:avLst>
          </a:prstGeom>
          <a:solidFill>
            <a:srgbClr val="FFFFFF"/>
          </a:solidFill>
          <a:ln cap="flat" cmpd="sng" w="16300">
            <a:solidFill>
              <a:srgbClr val="6AA84F"/>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c32</a:t>
            </a:r>
            <a:endParaRPr b="1" i="0" sz="570" u="none" cap="none" strike="noStrike">
              <a:solidFill>
                <a:srgbClr val="000000"/>
              </a:solidFill>
              <a:latin typeface="Comic Sans MS"/>
              <a:ea typeface="Comic Sans MS"/>
              <a:cs typeface="Comic Sans MS"/>
              <a:sym typeface="Comic Sans MS"/>
            </a:endParaRPr>
          </a:p>
        </p:txBody>
      </p:sp>
      <p:sp>
        <p:nvSpPr>
          <p:cNvPr id="1514" name="Google Shape;1514;p38"/>
          <p:cNvSpPr/>
          <p:nvPr/>
        </p:nvSpPr>
        <p:spPr>
          <a:xfrm>
            <a:off x="8560573" y="4451933"/>
            <a:ext cx="242100" cy="176700"/>
          </a:xfrm>
          <a:prstGeom prst="roundRect">
            <a:avLst>
              <a:gd fmla="val 7908" name="adj"/>
            </a:avLst>
          </a:prstGeom>
          <a:solidFill>
            <a:srgbClr val="FFFFFF"/>
          </a:solidFill>
          <a:ln cap="flat" cmpd="sng" w="16300">
            <a:solidFill>
              <a:srgbClr val="B6D7A8"/>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c33</a:t>
            </a:r>
            <a:endParaRPr b="1" i="0" sz="570" u="none" cap="none" strike="noStrike">
              <a:solidFill>
                <a:srgbClr val="000000"/>
              </a:solidFill>
              <a:latin typeface="Comic Sans MS"/>
              <a:ea typeface="Comic Sans MS"/>
              <a:cs typeface="Comic Sans MS"/>
              <a:sym typeface="Comic Sans MS"/>
            </a:endParaRPr>
          </a:p>
        </p:txBody>
      </p:sp>
      <p:sp>
        <p:nvSpPr>
          <p:cNvPr id="1515" name="Google Shape;1515;p38"/>
          <p:cNvSpPr/>
          <p:nvPr/>
        </p:nvSpPr>
        <p:spPr>
          <a:xfrm>
            <a:off x="8560555" y="4686567"/>
            <a:ext cx="242100" cy="176700"/>
          </a:xfrm>
          <a:prstGeom prst="roundRect">
            <a:avLst>
              <a:gd fmla="val 7908" name="adj"/>
            </a:avLst>
          </a:prstGeom>
          <a:solidFill>
            <a:srgbClr val="FFFFFF"/>
          </a:solidFill>
          <a:ln cap="flat" cmpd="sng" w="16300">
            <a:solidFill>
              <a:srgbClr val="6AA84F"/>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c32</a:t>
            </a:r>
            <a:endParaRPr b="1" i="0" sz="570" u="none" cap="none" strike="noStrike">
              <a:solidFill>
                <a:srgbClr val="000000"/>
              </a:solidFill>
              <a:latin typeface="Comic Sans MS"/>
              <a:ea typeface="Comic Sans MS"/>
              <a:cs typeface="Comic Sans MS"/>
              <a:sym typeface="Comic Sans MS"/>
            </a:endParaRPr>
          </a:p>
        </p:txBody>
      </p:sp>
      <p:sp>
        <p:nvSpPr>
          <p:cNvPr id="1507" name="Google Shape;1507;p38"/>
          <p:cNvSpPr/>
          <p:nvPr/>
        </p:nvSpPr>
        <p:spPr>
          <a:xfrm>
            <a:off x="7643771" y="4686574"/>
            <a:ext cx="242100" cy="176700"/>
          </a:xfrm>
          <a:prstGeom prst="roundRect">
            <a:avLst>
              <a:gd fmla="val 7908" name="adj"/>
            </a:avLst>
          </a:prstGeom>
          <a:solidFill>
            <a:srgbClr val="FFFFFF"/>
          </a:solidFill>
          <a:ln cap="flat" cmpd="sng" w="16300">
            <a:solidFill>
              <a:srgbClr val="6D9EEB"/>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c13</a:t>
            </a:r>
            <a:endParaRPr b="1" i="0" sz="570" u="none" cap="none" strike="noStrike">
              <a:solidFill>
                <a:srgbClr val="000000"/>
              </a:solidFill>
              <a:latin typeface="Comic Sans MS"/>
              <a:ea typeface="Comic Sans MS"/>
              <a:cs typeface="Comic Sans MS"/>
              <a:sym typeface="Comic Sans MS"/>
            </a:endParaRPr>
          </a:p>
        </p:txBody>
      </p:sp>
      <p:sp>
        <p:nvSpPr>
          <p:cNvPr id="1516" name="Google Shape;1516;p38"/>
          <p:cNvSpPr/>
          <p:nvPr/>
        </p:nvSpPr>
        <p:spPr>
          <a:xfrm>
            <a:off x="8102156" y="4686567"/>
            <a:ext cx="242100" cy="176700"/>
          </a:xfrm>
          <a:prstGeom prst="roundRect">
            <a:avLst>
              <a:gd fmla="val 7908" name="adj"/>
            </a:avLst>
          </a:prstGeom>
          <a:solidFill>
            <a:srgbClr val="FFFFFF"/>
          </a:solidFill>
          <a:ln cap="flat" cmpd="sng" w="16300">
            <a:solidFill>
              <a:srgbClr val="E06666"/>
            </a:solidFill>
            <a:prstDash val="solid"/>
            <a:round/>
            <a:headEnd len="sm" w="sm" type="none"/>
            <a:tailEnd len="sm" w="sm" type="none"/>
          </a:ln>
        </p:spPr>
        <p:txBody>
          <a:bodyPr anchorCtr="0" anchor="ctr" bIns="52125" lIns="52125" spcFirstLastPara="1" rIns="52125" wrap="square" tIns="52125">
            <a:noAutofit/>
          </a:bodyPr>
          <a:lstStyle/>
          <a:p>
            <a:pPr indent="0" lvl="0" marL="0" marR="0" rtl="0" algn="ctr">
              <a:lnSpc>
                <a:spcPct val="115000"/>
              </a:lnSpc>
              <a:spcBef>
                <a:spcPts val="684"/>
              </a:spcBef>
              <a:spcAft>
                <a:spcPts val="684"/>
              </a:spcAft>
              <a:buClr>
                <a:srgbClr val="000000"/>
              </a:buClr>
              <a:buSzPts val="570"/>
              <a:buFont typeface="Arial"/>
              <a:buNone/>
            </a:pPr>
            <a:r>
              <a:rPr b="1" i="0" lang="en" sz="570" u="none" cap="none" strike="noStrike">
                <a:solidFill>
                  <a:srgbClr val="000000"/>
                </a:solidFill>
                <a:latin typeface="Comic Sans MS"/>
                <a:ea typeface="Comic Sans MS"/>
                <a:cs typeface="Comic Sans MS"/>
                <a:sym typeface="Comic Sans MS"/>
              </a:rPr>
              <a:t>c21</a:t>
            </a:r>
            <a:endParaRPr b="1" i="0" sz="570" u="none" cap="none" strike="noStrike">
              <a:solidFill>
                <a:srgbClr val="000000"/>
              </a:solidFill>
              <a:latin typeface="Comic Sans MS"/>
              <a:ea typeface="Comic Sans MS"/>
              <a:cs typeface="Comic Sans MS"/>
              <a:sym typeface="Comic Sans MS"/>
            </a:endParaRPr>
          </a:p>
        </p:txBody>
      </p:sp>
      <p:sp>
        <p:nvSpPr>
          <p:cNvPr id="1517" name="Google Shape;1517;p38"/>
          <p:cNvSpPr/>
          <p:nvPr/>
        </p:nvSpPr>
        <p:spPr>
          <a:xfrm>
            <a:off x="7885748" y="3749511"/>
            <a:ext cx="216600" cy="175500"/>
          </a:xfrm>
          <a:prstGeom prst="mathPlus">
            <a:avLst>
              <a:gd fmla="val 23520" name="adj1"/>
            </a:avLst>
          </a:prstGeom>
          <a:solidFill>
            <a:srgbClr val="D5A6BD"/>
          </a:solidFill>
          <a:ln cap="flat" cmpd="sng" w="9525">
            <a:solidFill>
              <a:srgbClr val="EAD1DC"/>
            </a:solidFill>
            <a:prstDash val="solid"/>
            <a:round/>
            <a:headEnd len="sm" w="sm" type="none"/>
            <a:tailEnd len="sm" w="sm" type="none"/>
          </a:ln>
        </p:spPr>
        <p:txBody>
          <a:bodyPr anchorCtr="0" anchor="ctr" bIns="72725" lIns="72725" spcFirstLastPara="1" rIns="72725" wrap="square" tIns="72725">
            <a:noAutofit/>
          </a:bodyPr>
          <a:lstStyle/>
          <a:p>
            <a:pPr indent="0" lvl="0" marL="0" marR="0" rtl="0" algn="ctr">
              <a:lnSpc>
                <a:spcPct val="100000"/>
              </a:lnSpc>
              <a:spcBef>
                <a:spcPts val="0"/>
              </a:spcBef>
              <a:spcAft>
                <a:spcPts val="0"/>
              </a:spcAft>
              <a:buClr>
                <a:srgbClr val="000000"/>
              </a:buClr>
              <a:buSzPts val="1113"/>
              <a:buFont typeface="Arial"/>
              <a:buNone/>
            </a:pPr>
            <a:r>
              <a:t/>
            </a:r>
            <a:endParaRPr b="0" i="0" sz="1113" u="none" cap="none" strike="noStrike">
              <a:solidFill>
                <a:srgbClr val="000000"/>
              </a:solidFill>
              <a:latin typeface="Lato"/>
              <a:ea typeface="Lato"/>
              <a:cs typeface="Lato"/>
              <a:sym typeface="Lato"/>
            </a:endParaRPr>
          </a:p>
        </p:txBody>
      </p:sp>
      <p:sp>
        <p:nvSpPr>
          <p:cNvPr id="1518" name="Google Shape;1518;p38"/>
          <p:cNvSpPr/>
          <p:nvPr/>
        </p:nvSpPr>
        <p:spPr>
          <a:xfrm>
            <a:off x="8337614" y="3749501"/>
            <a:ext cx="216600" cy="175500"/>
          </a:xfrm>
          <a:prstGeom prst="mathPlus">
            <a:avLst>
              <a:gd fmla="val 23520" name="adj1"/>
            </a:avLst>
          </a:prstGeom>
          <a:solidFill>
            <a:srgbClr val="D5A6BD"/>
          </a:solidFill>
          <a:ln cap="flat" cmpd="sng" w="9525">
            <a:solidFill>
              <a:srgbClr val="EAD1DC"/>
            </a:solidFill>
            <a:prstDash val="solid"/>
            <a:round/>
            <a:headEnd len="sm" w="sm" type="none"/>
            <a:tailEnd len="sm" w="sm" type="none"/>
          </a:ln>
        </p:spPr>
        <p:txBody>
          <a:bodyPr anchorCtr="0" anchor="ctr" bIns="72725" lIns="72725" spcFirstLastPara="1" rIns="72725" wrap="square" tIns="72725">
            <a:noAutofit/>
          </a:bodyPr>
          <a:lstStyle/>
          <a:p>
            <a:pPr indent="0" lvl="0" marL="0" marR="0" rtl="0" algn="ctr">
              <a:lnSpc>
                <a:spcPct val="100000"/>
              </a:lnSpc>
              <a:spcBef>
                <a:spcPts val="0"/>
              </a:spcBef>
              <a:spcAft>
                <a:spcPts val="0"/>
              </a:spcAft>
              <a:buClr>
                <a:srgbClr val="000000"/>
              </a:buClr>
              <a:buSzPts val="1113"/>
              <a:buFont typeface="Arial"/>
              <a:buNone/>
            </a:pPr>
            <a:r>
              <a:t/>
            </a:r>
            <a:endParaRPr b="0" i="0" sz="1113" u="none" cap="none" strike="noStrike">
              <a:solidFill>
                <a:srgbClr val="000000"/>
              </a:solidFill>
              <a:latin typeface="Lato"/>
              <a:ea typeface="Lato"/>
              <a:cs typeface="Lato"/>
              <a:sym typeface="Lato"/>
            </a:endParaRPr>
          </a:p>
        </p:txBody>
      </p:sp>
      <p:sp>
        <p:nvSpPr>
          <p:cNvPr id="1519" name="Google Shape;1519;p38"/>
          <p:cNvSpPr/>
          <p:nvPr/>
        </p:nvSpPr>
        <p:spPr>
          <a:xfrm>
            <a:off x="7888999" y="3991941"/>
            <a:ext cx="216600" cy="175500"/>
          </a:xfrm>
          <a:prstGeom prst="mathPlus">
            <a:avLst>
              <a:gd fmla="val 23520" name="adj1"/>
            </a:avLst>
          </a:prstGeom>
          <a:solidFill>
            <a:srgbClr val="D5A6BD"/>
          </a:solidFill>
          <a:ln cap="flat" cmpd="sng" w="9525">
            <a:solidFill>
              <a:srgbClr val="EAD1DC"/>
            </a:solidFill>
            <a:prstDash val="solid"/>
            <a:round/>
            <a:headEnd len="sm" w="sm" type="none"/>
            <a:tailEnd len="sm" w="sm" type="none"/>
          </a:ln>
        </p:spPr>
        <p:txBody>
          <a:bodyPr anchorCtr="0" anchor="ctr" bIns="72725" lIns="72725" spcFirstLastPara="1" rIns="72725" wrap="square" tIns="72725">
            <a:noAutofit/>
          </a:bodyPr>
          <a:lstStyle/>
          <a:p>
            <a:pPr indent="0" lvl="0" marL="0" marR="0" rtl="0" algn="ctr">
              <a:lnSpc>
                <a:spcPct val="100000"/>
              </a:lnSpc>
              <a:spcBef>
                <a:spcPts val="0"/>
              </a:spcBef>
              <a:spcAft>
                <a:spcPts val="0"/>
              </a:spcAft>
              <a:buClr>
                <a:srgbClr val="000000"/>
              </a:buClr>
              <a:buSzPts val="1113"/>
              <a:buFont typeface="Arial"/>
              <a:buNone/>
            </a:pPr>
            <a:r>
              <a:t/>
            </a:r>
            <a:endParaRPr b="0" i="0" sz="1113" u="none" cap="none" strike="noStrike">
              <a:solidFill>
                <a:srgbClr val="000000"/>
              </a:solidFill>
              <a:latin typeface="Lato"/>
              <a:ea typeface="Lato"/>
              <a:cs typeface="Lato"/>
              <a:sym typeface="Lato"/>
            </a:endParaRPr>
          </a:p>
        </p:txBody>
      </p:sp>
      <p:sp>
        <p:nvSpPr>
          <p:cNvPr id="1520" name="Google Shape;1520;p38"/>
          <p:cNvSpPr/>
          <p:nvPr/>
        </p:nvSpPr>
        <p:spPr>
          <a:xfrm>
            <a:off x="8340866" y="3991931"/>
            <a:ext cx="216600" cy="175500"/>
          </a:xfrm>
          <a:prstGeom prst="mathPlus">
            <a:avLst>
              <a:gd fmla="val 23520" name="adj1"/>
            </a:avLst>
          </a:prstGeom>
          <a:solidFill>
            <a:srgbClr val="D5A6BD"/>
          </a:solidFill>
          <a:ln cap="flat" cmpd="sng" w="9525">
            <a:solidFill>
              <a:srgbClr val="EAD1DC"/>
            </a:solidFill>
            <a:prstDash val="solid"/>
            <a:round/>
            <a:headEnd len="sm" w="sm" type="none"/>
            <a:tailEnd len="sm" w="sm" type="none"/>
          </a:ln>
        </p:spPr>
        <p:txBody>
          <a:bodyPr anchorCtr="0" anchor="ctr" bIns="72725" lIns="72725" spcFirstLastPara="1" rIns="72725" wrap="square" tIns="72725">
            <a:noAutofit/>
          </a:bodyPr>
          <a:lstStyle/>
          <a:p>
            <a:pPr indent="0" lvl="0" marL="0" marR="0" rtl="0" algn="ctr">
              <a:lnSpc>
                <a:spcPct val="100000"/>
              </a:lnSpc>
              <a:spcBef>
                <a:spcPts val="0"/>
              </a:spcBef>
              <a:spcAft>
                <a:spcPts val="0"/>
              </a:spcAft>
              <a:buClr>
                <a:srgbClr val="000000"/>
              </a:buClr>
              <a:buSzPts val="1113"/>
              <a:buFont typeface="Arial"/>
              <a:buNone/>
            </a:pPr>
            <a:r>
              <a:t/>
            </a:r>
            <a:endParaRPr b="0" i="0" sz="1113" u="none" cap="none" strike="noStrike">
              <a:solidFill>
                <a:srgbClr val="000000"/>
              </a:solidFill>
              <a:latin typeface="Lato"/>
              <a:ea typeface="Lato"/>
              <a:cs typeface="Lato"/>
              <a:sym typeface="Lato"/>
            </a:endParaRPr>
          </a:p>
        </p:txBody>
      </p:sp>
      <p:sp>
        <p:nvSpPr>
          <p:cNvPr id="1521" name="Google Shape;1521;p38"/>
          <p:cNvSpPr/>
          <p:nvPr/>
        </p:nvSpPr>
        <p:spPr>
          <a:xfrm>
            <a:off x="7884360" y="4452418"/>
            <a:ext cx="216600" cy="175500"/>
          </a:xfrm>
          <a:prstGeom prst="mathPlus">
            <a:avLst>
              <a:gd fmla="val 23520" name="adj1"/>
            </a:avLst>
          </a:prstGeom>
          <a:solidFill>
            <a:srgbClr val="D5A6BD"/>
          </a:solidFill>
          <a:ln cap="flat" cmpd="sng" w="9525">
            <a:solidFill>
              <a:srgbClr val="EAD1DC"/>
            </a:solidFill>
            <a:prstDash val="solid"/>
            <a:round/>
            <a:headEnd len="sm" w="sm" type="none"/>
            <a:tailEnd len="sm" w="sm" type="none"/>
          </a:ln>
        </p:spPr>
        <p:txBody>
          <a:bodyPr anchorCtr="0" anchor="ctr" bIns="72725" lIns="72725" spcFirstLastPara="1" rIns="72725" wrap="square" tIns="72725">
            <a:noAutofit/>
          </a:bodyPr>
          <a:lstStyle/>
          <a:p>
            <a:pPr indent="0" lvl="0" marL="0" marR="0" rtl="0" algn="ctr">
              <a:lnSpc>
                <a:spcPct val="100000"/>
              </a:lnSpc>
              <a:spcBef>
                <a:spcPts val="0"/>
              </a:spcBef>
              <a:spcAft>
                <a:spcPts val="0"/>
              </a:spcAft>
              <a:buClr>
                <a:srgbClr val="000000"/>
              </a:buClr>
              <a:buSzPts val="1113"/>
              <a:buFont typeface="Arial"/>
              <a:buNone/>
            </a:pPr>
            <a:r>
              <a:t/>
            </a:r>
            <a:endParaRPr b="0" i="0" sz="1113" u="none" cap="none" strike="noStrike">
              <a:solidFill>
                <a:srgbClr val="000000"/>
              </a:solidFill>
              <a:latin typeface="Lato"/>
              <a:ea typeface="Lato"/>
              <a:cs typeface="Lato"/>
              <a:sym typeface="Lato"/>
            </a:endParaRPr>
          </a:p>
        </p:txBody>
      </p:sp>
      <p:sp>
        <p:nvSpPr>
          <p:cNvPr id="1522" name="Google Shape;1522;p38"/>
          <p:cNvSpPr/>
          <p:nvPr/>
        </p:nvSpPr>
        <p:spPr>
          <a:xfrm>
            <a:off x="8343861" y="4452408"/>
            <a:ext cx="216600" cy="175500"/>
          </a:xfrm>
          <a:prstGeom prst="mathPlus">
            <a:avLst>
              <a:gd fmla="val 23520" name="adj1"/>
            </a:avLst>
          </a:prstGeom>
          <a:solidFill>
            <a:srgbClr val="D5A6BD"/>
          </a:solidFill>
          <a:ln cap="flat" cmpd="sng" w="9525">
            <a:solidFill>
              <a:srgbClr val="EAD1DC"/>
            </a:solidFill>
            <a:prstDash val="solid"/>
            <a:round/>
            <a:headEnd len="sm" w="sm" type="none"/>
            <a:tailEnd len="sm" w="sm" type="none"/>
          </a:ln>
        </p:spPr>
        <p:txBody>
          <a:bodyPr anchorCtr="0" anchor="ctr" bIns="72725" lIns="72725" spcFirstLastPara="1" rIns="72725" wrap="square" tIns="72725">
            <a:noAutofit/>
          </a:bodyPr>
          <a:lstStyle/>
          <a:p>
            <a:pPr indent="0" lvl="0" marL="0" marR="0" rtl="0" algn="ctr">
              <a:lnSpc>
                <a:spcPct val="100000"/>
              </a:lnSpc>
              <a:spcBef>
                <a:spcPts val="0"/>
              </a:spcBef>
              <a:spcAft>
                <a:spcPts val="0"/>
              </a:spcAft>
              <a:buClr>
                <a:srgbClr val="000000"/>
              </a:buClr>
              <a:buSzPts val="1113"/>
              <a:buFont typeface="Arial"/>
              <a:buNone/>
            </a:pPr>
            <a:r>
              <a:t/>
            </a:r>
            <a:endParaRPr b="0" i="0" sz="1113" u="none" cap="none" strike="noStrike">
              <a:solidFill>
                <a:srgbClr val="000000"/>
              </a:solidFill>
              <a:latin typeface="Lato"/>
              <a:ea typeface="Lato"/>
              <a:cs typeface="Lato"/>
              <a:sym typeface="Lato"/>
            </a:endParaRPr>
          </a:p>
        </p:txBody>
      </p:sp>
      <p:sp>
        <p:nvSpPr>
          <p:cNvPr id="1523" name="Google Shape;1523;p38"/>
          <p:cNvSpPr/>
          <p:nvPr/>
        </p:nvSpPr>
        <p:spPr>
          <a:xfrm>
            <a:off x="7888999" y="4687052"/>
            <a:ext cx="216600" cy="175500"/>
          </a:xfrm>
          <a:prstGeom prst="mathPlus">
            <a:avLst>
              <a:gd fmla="val 23520" name="adj1"/>
            </a:avLst>
          </a:prstGeom>
          <a:solidFill>
            <a:srgbClr val="D5A6BD"/>
          </a:solidFill>
          <a:ln cap="flat" cmpd="sng" w="9525">
            <a:solidFill>
              <a:srgbClr val="EAD1DC"/>
            </a:solidFill>
            <a:prstDash val="solid"/>
            <a:round/>
            <a:headEnd len="sm" w="sm" type="none"/>
            <a:tailEnd len="sm" w="sm" type="none"/>
          </a:ln>
        </p:spPr>
        <p:txBody>
          <a:bodyPr anchorCtr="0" anchor="ctr" bIns="72725" lIns="72725" spcFirstLastPara="1" rIns="72725" wrap="square" tIns="72725">
            <a:noAutofit/>
          </a:bodyPr>
          <a:lstStyle/>
          <a:p>
            <a:pPr indent="0" lvl="0" marL="0" marR="0" rtl="0" algn="ctr">
              <a:lnSpc>
                <a:spcPct val="100000"/>
              </a:lnSpc>
              <a:spcBef>
                <a:spcPts val="0"/>
              </a:spcBef>
              <a:spcAft>
                <a:spcPts val="0"/>
              </a:spcAft>
              <a:buClr>
                <a:srgbClr val="000000"/>
              </a:buClr>
              <a:buSzPts val="1113"/>
              <a:buFont typeface="Arial"/>
              <a:buNone/>
            </a:pPr>
            <a:r>
              <a:t/>
            </a:r>
            <a:endParaRPr b="0" i="0" sz="1113" u="none" cap="none" strike="noStrike">
              <a:solidFill>
                <a:srgbClr val="000000"/>
              </a:solidFill>
              <a:latin typeface="Lato"/>
              <a:ea typeface="Lato"/>
              <a:cs typeface="Lato"/>
              <a:sym typeface="Lato"/>
            </a:endParaRPr>
          </a:p>
        </p:txBody>
      </p:sp>
      <p:sp>
        <p:nvSpPr>
          <p:cNvPr id="1524" name="Google Shape;1524;p38"/>
          <p:cNvSpPr/>
          <p:nvPr/>
        </p:nvSpPr>
        <p:spPr>
          <a:xfrm>
            <a:off x="8340866" y="4687042"/>
            <a:ext cx="216600" cy="175500"/>
          </a:xfrm>
          <a:prstGeom prst="mathPlus">
            <a:avLst>
              <a:gd fmla="val 23520" name="adj1"/>
            </a:avLst>
          </a:prstGeom>
          <a:solidFill>
            <a:srgbClr val="D5A6BD"/>
          </a:solidFill>
          <a:ln cap="flat" cmpd="sng" w="9525">
            <a:solidFill>
              <a:srgbClr val="EAD1DC"/>
            </a:solidFill>
            <a:prstDash val="solid"/>
            <a:round/>
            <a:headEnd len="sm" w="sm" type="none"/>
            <a:tailEnd len="sm" w="sm" type="none"/>
          </a:ln>
        </p:spPr>
        <p:txBody>
          <a:bodyPr anchorCtr="0" anchor="ctr" bIns="72725" lIns="72725" spcFirstLastPara="1" rIns="72725" wrap="square" tIns="72725">
            <a:noAutofit/>
          </a:bodyPr>
          <a:lstStyle/>
          <a:p>
            <a:pPr indent="0" lvl="0" marL="0" marR="0" rtl="0" algn="ctr">
              <a:lnSpc>
                <a:spcPct val="100000"/>
              </a:lnSpc>
              <a:spcBef>
                <a:spcPts val="0"/>
              </a:spcBef>
              <a:spcAft>
                <a:spcPts val="0"/>
              </a:spcAft>
              <a:buClr>
                <a:srgbClr val="000000"/>
              </a:buClr>
              <a:buSzPts val="1113"/>
              <a:buFont typeface="Arial"/>
              <a:buNone/>
            </a:pPr>
            <a:r>
              <a:t/>
            </a:r>
            <a:endParaRPr b="0" i="0" sz="1113" u="none" cap="none" strike="noStrike">
              <a:solidFill>
                <a:srgbClr val="000000"/>
              </a:solidFill>
              <a:latin typeface="Lato"/>
              <a:ea typeface="Lato"/>
              <a:cs typeface="Lato"/>
              <a:sym typeface="Lato"/>
            </a:endParaRPr>
          </a:p>
        </p:txBody>
      </p:sp>
      <p:cxnSp>
        <p:nvCxnSpPr>
          <p:cNvPr id="1525" name="Google Shape;1525;p38"/>
          <p:cNvCxnSpPr>
            <a:stCxn id="1491" idx="3"/>
            <a:endCxn id="1290" idx="2"/>
          </p:cNvCxnSpPr>
          <p:nvPr/>
        </p:nvCxnSpPr>
        <p:spPr>
          <a:xfrm>
            <a:off x="6784567" y="4303832"/>
            <a:ext cx="583200" cy="0"/>
          </a:xfrm>
          <a:prstGeom prst="straightConnector1">
            <a:avLst/>
          </a:prstGeom>
          <a:noFill/>
          <a:ln cap="flat" cmpd="sng" w="18275">
            <a:solidFill>
              <a:srgbClr val="B4A7D6"/>
            </a:solidFill>
            <a:prstDash val="solid"/>
            <a:round/>
            <a:headEnd len="sm" w="sm" type="none"/>
            <a:tailEnd len="med" w="med" type="triangle"/>
          </a:ln>
        </p:spPr>
      </p:cxnSp>
      <p:cxnSp>
        <p:nvCxnSpPr>
          <p:cNvPr id="1526" name="Google Shape;1526;p38"/>
          <p:cNvCxnSpPr>
            <a:stCxn id="1293" idx="3"/>
            <a:endCxn id="1489" idx="1"/>
          </p:cNvCxnSpPr>
          <p:nvPr/>
        </p:nvCxnSpPr>
        <p:spPr>
          <a:xfrm flipH="1" rot="10800000">
            <a:off x="5559798" y="4304052"/>
            <a:ext cx="426300" cy="2100"/>
          </a:xfrm>
          <a:prstGeom prst="straightConnector1">
            <a:avLst/>
          </a:prstGeom>
          <a:noFill/>
          <a:ln cap="flat" cmpd="sng" w="18275">
            <a:solidFill>
              <a:srgbClr val="B4A7D6"/>
            </a:solidFill>
            <a:prstDash val="solid"/>
            <a:round/>
            <a:headEnd len="sm" w="sm" type="none"/>
            <a:tailEnd len="med" w="med" type="triangle"/>
          </a:ln>
        </p:spPr>
      </p:cxnSp>
      <p:sp>
        <p:nvSpPr>
          <p:cNvPr id="1527" name="Google Shape;1527;p38"/>
          <p:cNvSpPr/>
          <p:nvPr/>
        </p:nvSpPr>
        <p:spPr>
          <a:xfrm>
            <a:off x="4116951" y="3613848"/>
            <a:ext cx="510000" cy="171300"/>
          </a:xfrm>
          <a:prstGeom prst="roundRect">
            <a:avLst>
              <a:gd fmla="val 7908" name="adj"/>
            </a:avLst>
          </a:prstGeom>
          <a:solidFill>
            <a:srgbClr val="FFFFFF"/>
          </a:solidFill>
          <a:ln>
            <a:noFill/>
          </a:ln>
        </p:spPr>
        <p:txBody>
          <a:bodyPr anchorCtr="0" anchor="ctr" bIns="70500" lIns="70500" spcFirstLastPara="1" rIns="70500" wrap="square" tIns="70500">
            <a:noAutofit/>
          </a:bodyPr>
          <a:lstStyle/>
          <a:p>
            <a:pPr indent="0" lvl="0" marL="0" marR="0" rtl="0" algn="ctr">
              <a:lnSpc>
                <a:spcPct val="115000"/>
              </a:lnSpc>
              <a:spcBef>
                <a:spcPts val="925"/>
              </a:spcBef>
              <a:spcAft>
                <a:spcPts val="925"/>
              </a:spcAft>
              <a:buClr>
                <a:srgbClr val="000000"/>
              </a:buClr>
              <a:buSzPts val="1002"/>
              <a:buFont typeface="Arial"/>
              <a:buNone/>
            </a:pPr>
            <a:r>
              <a:rPr b="1" i="0" lang="en" sz="1002" u="none" cap="none" strike="noStrike">
                <a:solidFill>
                  <a:srgbClr val="4A86E8"/>
                </a:solidFill>
                <a:latin typeface="Comic Sans MS"/>
                <a:ea typeface="Comic Sans MS"/>
                <a:cs typeface="Comic Sans MS"/>
                <a:sym typeface="Comic Sans MS"/>
              </a:rPr>
              <a:t>Index</a:t>
            </a:r>
            <a:endParaRPr b="1" i="0" sz="1002" u="none" cap="none" strike="noStrike">
              <a:solidFill>
                <a:srgbClr val="4A86E8"/>
              </a:solidFill>
              <a:latin typeface="Comic Sans MS"/>
              <a:ea typeface="Comic Sans MS"/>
              <a:cs typeface="Comic Sans MS"/>
              <a:sym typeface="Comic Sans M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2" name="Shape 1532"/>
        <p:cNvGrpSpPr/>
        <p:nvPr/>
      </p:nvGrpSpPr>
      <p:grpSpPr>
        <a:xfrm>
          <a:off x="0" y="0"/>
          <a:ext cx="0" cy="0"/>
          <a:chOff x="0" y="0"/>
          <a:chExt cx="0" cy="0"/>
        </a:xfrm>
      </p:grpSpPr>
      <p:sp>
        <p:nvSpPr>
          <p:cNvPr id="1533" name="Google Shape;1533;p39"/>
          <p:cNvSpPr/>
          <p:nvPr/>
        </p:nvSpPr>
        <p:spPr>
          <a:xfrm>
            <a:off x="411480" y="274320"/>
            <a:ext cx="7543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355C7D"/>
              </a:buClr>
              <a:buSzPts val="900"/>
              <a:buFont typeface="Calibri"/>
              <a:buNone/>
            </a:pPr>
            <a:r>
              <a:rPr b="1" i="0" lang="en" sz="900" u="none" cap="none" strike="noStrike">
                <a:solidFill>
                  <a:srgbClr val="355C7D"/>
                </a:solidFill>
                <a:latin typeface="Calibri"/>
                <a:ea typeface="Calibri"/>
                <a:cs typeface="Calibri"/>
                <a:sym typeface="Calibri"/>
              </a:rPr>
              <a:t>INTUITION</a:t>
            </a:r>
            <a:endParaRPr b="0" i="0" sz="900" u="none" cap="none" strike="noStrike">
              <a:solidFill>
                <a:schemeClr val="dk1"/>
              </a:solidFill>
              <a:latin typeface="Calibri"/>
              <a:ea typeface="Calibri"/>
              <a:cs typeface="Calibri"/>
              <a:sym typeface="Calibri"/>
            </a:endParaRPr>
          </a:p>
        </p:txBody>
      </p:sp>
      <p:sp>
        <p:nvSpPr>
          <p:cNvPr id="1534" name="Google Shape;1534;p39"/>
          <p:cNvSpPr/>
          <p:nvPr/>
        </p:nvSpPr>
        <p:spPr>
          <a:xfrm>
            <a:off x="397764" y="466344"/>
            <a:ext cx="84354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2300"/>
              <a:buFont typeface="Cambria"/>
              <a:buNone/>
            </a:pPr>
            <a:r>
              <a:rPr b="1" i="0" lang="en" sz="2300" u="none" cap="none" strike="noStrike">
                <a:solidFill>
                  <a:srgbClr val="13203A"/>
                </a:solidFill>
                <a:latin typeface="Cambria"/>
                <a:ea typeface="Cambria"/>
                <a:cs typeface="Cambria"/>
                <a:sym typeface="Cambria"/>
              </a:rPr>
              <a:t>Why IVF + PQ beats plain PQ — and why residuals</a:t>
            </a:r>
            <a:endParaRPr b="0" i="0" sz="2300" u="none" cap="none" strike="noStrike">
              <a:solidFill>
                <a:schemeClr val="dk1"/>
              </a:solidFill>
              <a:latin typeface="Calibri"/>
              <a:ea typeface="Calibri"/>
              <a:cs typeface="Calibri"/>
              <a:sym typeface="Calibri"/>
            </a:endParaRPr>
          </a:p>
        </p:txBody>
      </p:sp>
      <p:sp>
        <p:nvSpPr>
          <p:cNvPr id="1535" name="Google Shape;1535;p39"/>
          <p:cNvSpPr/>
          <p:nvPr/>
        </p:nvSpPr>
        <p:spPr>
          <a:xfrm>
            <a:off x="411480" y="1028700"/>
            <a:ext cx="83670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44586A"/>
              </a:buClr>
              <a:buSzPts val="1200"/>
              <a:buFont typeface="Calibri"/>
              <a:buNone/>
            </a:pPr>
            <a:r>
              <a:rPr b="0" i="0" lang="en" sz="1200" u="none" cap="none" strike="noStrike">
                <a:solidFill>
                  <a:srgbClr val="44586A"/>
                </a:solidFill>
                <a:latin typeface="Calibri"/>
                <a:ea typeface="Calibri"/>
                <a:cs typeface="Calibri"/>
                <a:sym typeface="Calibri"/>
              </a:rPr>
              <a:t>Plain PQ compresses vectors but still scores </a:t>
            </a:r>
            <a:r>
              <a:rPr b="1" i="0" lang="en" sz="1200" u="none" cap="none" strike="noStrike">
                <a:solidFill>
                  <a:srgbClr val="0E4D6E"/>
                </a:solidFill>
                <a:latin typeface="Calibri"/>
                <a:ea typeface="Calibri"/>
                <a:cs typeface="Calibri"/>
                <a:sym typeface="Calibri"/>
              </a:rPr>
              <a:t>every one of them</a:t>
            </a:r>
            <a:r>
              <a:rPr b="0" i="0" lang="en" sz="1200" u="none" cap="none" strike="noStrike">
                <a:solidFill>
                  <a:srgbClr val="44586A"/>
                </a:solidFill>
                <a:latin typeface="Calibri"/>
                <a:ea typeface="Calibri"/>
                <a:cs typeface="Calibri"/>
                <a:sym typeface="Calibri"/>
              </a:rPr>
              <a:t>. IVF skips most of the data; encoding residuals keeps the compression precise.</a:t>
            </a:r>
            <a:endParaRPr b="0" i="0" sz="1200" u="none" cap="none" strike="noStrike">
              <a:solidFill>
                <a:schemeClr val="dk1"/>
              </a:solidFill>
              <a:latin typeface="Calibri"/>
              <a:ea typeface="Calibri"/>
              <a:cs typeface="Calibri"/>
              <a:sym typeface="Calibri"/>
            </a:endParaRPr>
          </a:p>
        </p:txBody>
      </p:sp>
      <p:sp>
        <p:nvSpPr>
          <p:cNvPr id="1536" name="Google Shape;1536;p39"/>
          <p:cNvSpPr/>
          <p:nvPr/>
        </p:nvSpPr>
        <p:spPr>
          <a:xfrm>
            <a:off x="411480" y="1453896"/>
            <a:ext cx="4114800" cy="2400300"/>
          </a:xfrm>
          <a:prstGeom prst="roundRect">
            <a:avLst>
              <a:gd fmla="val 2857" name="adj"/>
            </a:avLst>
          </a:prstGeom>
          <a:solidFill>
            <a:srgbClr val="F4F8FB"/>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7" name="Google Shape;1537;p39"/>
          <p:cNvSpPr/>
          <p:nvPr/>
        </p:nvSpPr>
        <p:spPr>
          <a:xfrm>
            <a:off x="411480" y="1453896"/>
            <a:ext cx="82500" cy="2400300"/>
          </a:xfrm>
          <a:prstGeom prst="rect">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8" name="Google Shape;1538;p39"/>
          <p:cNvSpPr/>
          <p:nvPr/>
        </p:nvSpPr>
        <p:spPr>
          <a:xfrm>
            <a:off x="651510" y="1618488"/>
            <a:ext cx="37032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400"/>
              <a:buFont typeface="Cambria"/>
              <a:buNone/>
            </a:pPr>
            <a:r>
              <a:rPr b="1" i="0" lang="en" sz="1400" u="none" cap="none" strike="noStrike">
                <a:solidFill>
                  <a:srgbClr val="13203A"/>
                </a:solidFill>
                <a:latin typeface="Cambria"/>
                <a:ea typeface="Cambria"/>
                <a:cs typeface="Cambria"/>
                <a:sym typeface="Cambria"/>
              </a:rPr>
              <a:t>IVF — skip most of the data</a:t>
            </a:r>
            <a:endParaRPr b="0" i="0" sz="1400" u="none" cap="none" strike="noStrike">
              <a:solidFill>
                <a:schemeClr val="dk1"/>
              </a:solidFill>
              <a:latin typeface="Calibri"/>
              <a:ea typeface="Calibri"/>
              <a:cs typeface="Calibri"/>
              <a:sym typeface="Calibri"/>
            </a:endParaRPr>
          </a:p>
        </p:txBody>
      </p:sp>
      <p:sp>
        <p:nvSpPr>
          <p:cNvPr id="1539" name="Google Shape;1539;p39"/>
          <p:cNvSpPr/>
          <p:nvPr/>
        </p:nvSpPr>
        <p:spPr>
          <a:xfrm>
            <a:off x="651510" y="1988820"/>
            <a:ext cx="3634500" cy="582900"/>
          </a:xfrm>
          <a:prstGeom prst="rect">
            <a:avLst/>
          </a:prstGeom>
          <a:noFill/>
          <a:ln>
            <a:noFill/>
          </a:ln>
        </p:spPr>
        <p:txBody>
          <a:bodyPr anchorCtr="0" anchor="t" bIns="34275" lIns="68575" spcFirstLastPara="1" rIns="68575" wrap="square" tIns="34275">
            <a:noAutofit/>
          </a:bodyPr>
          <a:lstStyle/>
          <a:p>
            <a:pPr indent="0" lvl="0" marL="0" marR="0" rtl="0" algn="l">
              <a:lnSpc>
                <a:spcPct val="118000"/>
              </a:lnSpc>
              <a:spcBef>
                <a:spcPts val="0"/>
              </a:spcBef>
              <a:spcAft>
                <a:spcPts val="0"/>
              </a:spcAft>
              <a:buClr>
                <a:srgbClr val="44586A"/>
              </a:buClr>
              <a:buSzPts val="1000"/>
              <a:buFont typeface="Calibri"/>
              <a:buNone/>
            </a:pPr>
            <a:r>
              <a:rPr b="0" i="0" lang="en" sz="1000" u="none" cap="none" strike="noStrike">
                <a:solidFill>
                  <a:srgbClr val="44586A"/>
                </a:solidFill>
                <a:latin typeface="Calibri"/>
                <a:ea typeface="Calibri"/>
                <a:cs typeface="Calibri"/>
                <a:sym typeface="Calibri"/>
              </a:rPr>
              <a:t>Cluster the space into cells (coarse centroids). Each vector lives in one cell. A query </a:t>
            </a:r>
            <a:r>
              <a:rPr b="1" i="0" lang="en" sz="1000" u="none" cap="none" strike="noStrike">
                <a:solidFill>
                  <a:srgbClr val="2E6FB0"/>
                </a:solidFill>
                <a:latin typeface="Calibri"/>
                <a:ea typeface="Calibri"/>
                <a:cs typeface="Calibri"/>
                <a:sym typeface="Calibri"/>
              </a:rPr>
              <a:t>probes only its nearest few cells</a:t>
            </a:r>
            <a:r>
              <a:rPr b="0" i="0" lang="en" sz="1000" u="none" cap="none" strike="noStrike">
                <a:solidFill>
                  <a:srgbClr val="44586A"/>
                </a:solidFill>
                <a:latin typeface="Calibri"/>
                <a:ea typeface="Calibri"/>
                <a:cs typeface="Calibri"/>
                <a:sym typeface="Calibri"/>
              </a:rPr>
              <a:t> and ignores the rest.</a:t>
            </a:r>
            <a:endParaRPr b="0" i="0" sz="1000" u="none" cap="none" strike="noStrike">
              <a:solidFill>
                <a:schemeClr val="dk1"/>
              </a:solidFill>
              <a:latin typeface="Calibri"/>
              <a:ea typeface="Calibri"/>
              <a:cs typeface="Calibri"/>
              <a:sym typeface="Calibri"/>
            </a:endParaRPr>
          </a:p>
        </p:txBody>
      </p:sp>
      <p:sp>
        <p:nvSpPr>
          <p:cNvPr id="1540" name="Google Shape;1540;p39"/>
          <p:cNvSpPr/>
          <p:nvPr/>
        </p:nvSpPr>
        <p:spPr>
          <a:xfrm>
            <a:off x="788670" y="2564892"/>
            <a:ext cx="329100" cy="329100"/>
          </a:xfrm>
          <a:prstGeom prst="roundRect">
            <a:avLst>
              <a:gd fmla="val 10417" name="adj"/>
            </a:avLst>
          </a:prstGeom>
          <a:solidFill>
            <a:srgbClr val="F0F3F6"/>
          </a:solidFill>
          <a:ln cap="flat" cmpd="sng" w="9525">
            <a:solidFill>
              <a:srgbClr val="D8E2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1" name="Google Shape;1541;p39"/>
          <p:cNvSpPr/>
          <p:nvPr/>
        </p:nvSpPr>
        <p:spPr>
          <a:xfrm>
            <a:off x="915543" y="2691765"/>
            <a:ext cx="75300" cy="753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2" name="Google Shape;1542;p39"/>
          <p:cNvSpPr/>
          <p:nvPr/>
        </p:nvSpPr>
        <p:spPr>
          <a:xfrm>
            <a:off x="870966" y="266090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3" name="Google Shape;1543;p39"/>
          <p:cNvSpPr/>
          <p:nvPr/>
        </p:nvSpPr>
        <p:spPr>
          <a:xfrm>
            <a:off x="980694" y="276377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4" name="Google Shape;1544;p39"/>
          <p:cNvSpPr/>
          <p:nvPr/>
        </p:nvSpPr>
        <p:spPr>
          <a:xfrm>
            <a:off x="1165860" y="2564892"/>
            <a:ext cx="329100" cy="329100"/>
          </a:xfrm>
          <a:prstGeom prst="roundRect">
            <a:avLst>
              <a:gd fmla="val 10417" name="adj"/>
            </a:avLst>
          </a:prstGeom>
          <a:solidFill>
            <a:srgbClr val="E7EFF8"/>
          </a:solidFill>
          <a:ln cap="flat" cmpd="sng" w="14300">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5" name="Google Shape;1545;p39"/>
          <p:cNvSpPr/>
          <p:nvPr/>
        </p:nvSpPr>
        <p:spPr>
          <a:xfrm>
            <a:off x="1292733" y="2691765"/>
            <a:ext cx="75300" cy="75300"/>
          </a:xfrm>
          <a:prstGeom prst="ellipse">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6" name="Google Shape;1546;p39"/>
          <p:cNvSpPr/>
          <p:nvPr/>
        </p:nvSpPr>
        <p:spPr>
          <a:xfrm>
            <a:off x="1248156" y="2660904"/>
            <a:ext cx="48000" cy="48000"/>
          </a:xfrm>
          <a:prstGeom prst="ellipse">
            <a:avLst/>
          </a:prstGeom>
          <a:solidFill>
            <a:srgbClr val="6E9BC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7" name="Google Shape;1547;p39"/>
          <p:cNvSpPr/>
          <p:nvPr/>
        </p:nvSpPr>
        <p:spPr>
          <a:xfrm>
            <a:off x="1357884" y="2763774"/>
            <a:ext cx="48000" cy="48000"/>
          </a:xfrm>
          <a:prstGeom prst="ellipse">
            <a:avLst/>
          </a:prstGeom>
          <a:solidFill>
            <a:srgbClr val="6E9BC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8" name="Google Shape;1548;p39"/>
          <p:cNvSpPr/>
          <p:nvPr/>
        </p:nvSpPr>
        <p:spPr>
          <a:xfrm>
            <a:off x="1543050" y="2564892"/>
            <a:ext cx="329100" cy="329100"/>
          </a:xfrm>
          <a:prstGeom prst="roundRect">
            <a:avLst>
              <a:gd fmla="val 10417" name="adj"/>
            </a:avLst>
          </a:prstGeom>
          <a:solidFill>
            <a:srgbClr val="F0F3F6"/>
          </a:solidFill>
          <a:ln cap="flat" cmpd="sng" w="9525">
            <a:solidFill>
              <a:srgbClr val="D8E2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9" name="Google Shape;1549;p39"/>
          <p:cNvSpPr/>
          <p:nvPr/>
        </p:nvSpPr>
        <p:spPr>
          <a:xfrm>
            <a:off x="1669923" y="2691765"/>
            <a:ext cx="75300" cy="753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0" name="Google Shape;1550;p39"/>
          <p:cNvSpPr/>
          <p:nvPr/>
        </p:nvSpPr>
        <p:spPr>
          <a:xfrm>
            <a:off x="1625346" y="266090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1" name="Google Shape;1551;p39"/>
          <p:cNvSpPr/>
          <p:nvPr/>
        </p:nvSpPr>
        <p:spPr>
          <a:xfrm>
            <a:off x="1735074" y="276377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2" name="Google Shape;1552;p39"/>
          <p:cNvSpPr/>
          <p:nvPr/>
        </p:nvSpPr>
        <p:spPr>
          <a:xfrm>
            <a:off x="788670" y="2942082"/>
            <a:ext cx="329100" cy="329100"/>
          </a:xfrm>
          <a:prstGeom prst="roundRect">
            <a:avLst>
              <a:gd fmla="val 10417" name="adj"/>
            </a:avLst>
          </a:prstGeom>
          <a:solidFill>
            <a:srgbClr val="E7EFF8"/>
          </a:solidFill>
          <a:ln cap="flat" cmpd="sng" w="14300">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3" name="Google Shape;1553;p39"/>
          <p:cNvSpPr/>
          <p:nvPr/>
        </p:nvSpPr>
        <p:spPr>
          <a:xfrm>
            <a:off x="915543" y="3068955"/>
            <a:ext cx="75300" cy="75300"/>
          </a:xfrm>
          <a:prstGeom prst="ellipse">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4" name="Google Shape;1554;p39"/>
          <p:cNvSpPr/>
          <p:nvPr/>
        </p:nvSpPr>
        <p:spPr>
          <a:xfrm>
            <a:off x="870966" y="3038094"/>
            <a:ext cx="48000" cy="48000"/>
          </a:xfrm>
          <a:prstGeom prst="ellipse">
            <a:avLst/>
          </a:prstGeom>
          <a:solidFill>
            <a:srgbClr val="6E9BC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5" name="Google Shape;1555;p39"/>
          <p:cNvSpPr/>
          <p:nvPr/>
        </p:nvSpPr>
        <p:spPr>
          <a:xfrm>
            <a:off x="980694" y="3140964"/>
            <a:ext cx="48000" cy="48000"/>
          </a:xfrm>
          <a:prstGeom prst="ellipse">
            <a:avLst/>
          </a:prstGeom>
          <a:solidFill>
            <a:srgbClr val="6E9BC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6" name="Google Shape;1556;p39"/>
          <p:cNvSpPr/>
          <p:nvPr/>
        </p:nvSpPr>
        <p:spPr>
          <a:xfrm>
            <a:off x="1165860" y="2942082"/>
            <a:ext cx="329100" cy="329100"/>
          </a:xfrm>
          <a:prstGeom prst="roundRect">
            <a:avLst>
              <a:gd fmla="val 10417" name="adj"/>
            </a:avLst>
          </a:prstGeom>
          <a:solidFill>
            <a:srgbClr val="E7EFF8"/>
          </a:solidFill>
          <a:ln cap="flat" cmpd="sng" w="14300">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7" name="Google Shape;1557;p39"/>
          <p:cNvSpPr/>
          <p:nvPr/>
        </p:nvSpPr>
        <p:spPr>
          <a:xfrm>
            <a:off x="1292733" y="3068955"/>
            <a:ext cx="75300" cy="75300"/>
          </a:xfrm>
          <a:prstGeom prst="ellipse">
            <a:avLst/>
          </a:prstGeom>
          <a:solidFill>
            <a:srgbClr val="2E6F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8" name="Google Shape;1558;p39"/>
          <p:cNvSpPr/>
          <p:nvPr/>
        </p:nvSpPr>
        <p:spPr>
          <a:xfrm>
            <a:off x="1248156" y="3038094"/>
            <a:ext cx="48000" cy="48000"/>
          </a:xfrm>
          <a:prstGeom prst="ellipse">
            <a:avLst/>
          </a:prstGeom>
          <a:solidFill>
            <a:srgbClr val="6E9BC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9" name="Google Shape;1559;p39"/>
          <p:cNvSpPr/>
          <p:nvPr/>
        </p:nvSpPr>
        <p:spPr>
          <a:xfrm>
            <a:off x="1357884" y="3140964"/>
            <a:ext cx="48000" cy="48000"/>
          </a:xfrm>
          <a:prstGeom prst="ellipse">
            <a:avLst/>
          </a:prstGeom>
          <a:solidFill>
            <a:srgbClr val="6E9BC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0" name="Google Shape;1560;p39"/>
          <p:cNvSpPr/>
          <p:nvPr/>
        </p:nvSpPr>
        <p:spPr>
          <a:xfrm>
            <a:off x="1543050" y="2942082"/>
            <a:ext cx="329100" cy="329100"/>
          </a:xfrm>
          <a:prstGeom prst="roundRect">
            <a:avLst>
              <a:gd fmla="val 10417" name="adj"/>
            </a:avLst>
          </a:prstGeom>
          <a:solidFill>
            <a:srgbClr val="F0F3F6"/>
          </a:solidFill>
          <a:ln cap="flat" cmpd="sng" w="9525">
            <a:solidFill>
              <a:srgbClr val="D8E2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1" name="Google Shape;1561;p39"/>
          <p:cNvSpPr/>
          <p:nvPr/>
        </p:nvSpPr>
        <p:spPr>
          <a:xfrm>
            <a:off x="1669923" y="3068955"/>
            <a:ext cx="75300" cy="753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2" name="Google Shape;1562;p39"/>
          <p:cNvSpPr/>
          <p:nvPr/>
        </p:nvSpPr>
        <p:spPr>
          <a:xfrm>
            <a:off x="1625346" y="303809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3" name="Google Shape;1563;p39"/>
          <p:cNvSpPr/>
          <p:nvPr/>
        </p:nvSpPr>
        <p:spPr>
          <a:xfrm>
            <a:off x="1735074" y="314096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4" name="Google Shape;1564;p39"/>
          <p:cNvSpPr/>
          <p:nvPr/>
        </p:nvSpPr>
        <p:spPr>
          <a:xfrm>
            <a:off x="788670" y="3319272"/>
            <a:ext cx="329100" cy="329100"/>
          </a:xfrm>
          <a:prstGeom prst="roundRect">
            <a:avLst>
              <a:gd fmla="val 10417" name="adj"/>
            </a:avLst>
          </a:prstGeom>
          <a:solidFill>
            <a:srgbClr val="F0F3F6"/>
          </a:solidFill>
          <a:ln cap="flat" cmpd="sng" w="9525">
            <a:solidFill>
              <a:srgbClr val="D8E2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5" name="Google Shape;1565;p39"/>
          <p:cNvSpPr/>
          <p:nvPr/>
        </p:nvSpPr>
        <p:spPr>
          <a:xfrm>
            <a:off x="915543" y="3446145"/>
            <a:ext cx="75300" cy="753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6" name="Google Shape;1566;p39"/>
          <p:cNvSpPr/>
          <p:nvPr/>
        </p:nvSpPr>
        <p:spPr>
          <a:xfrm>
            <a:off x="870966" y="341528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7" name="Google Shape;1567;p39"/>
          <p:cNvSpPr/>
          <p:nvPr/>
        </p:nvSpPr>
        <p:spPr>
          <a:xfrm>
            <a:off x="980694" y="351815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8" name="Google Shape;1568;p39"/>
          <p:cNvSpPr/>
          <p:nvPr/>
        </p:nvSpPr>
        <p:spPr>
          <a:xfrm>
            <a:off x="1165860" y="3319272"/>
            <a:ext cx="329100" cy="329100"/>
          </a:xfrm>
          <a:prstGeom prst="roundRect">
            <a:avLst>
              <a:gd fmla="val 10417" name="adj"/>
            </a:avLst>
          </a:prstGeom>
          <a:solidFill>
            <a:srgbClr val="F0F3F6"/>
          </a:solidFill>
          <a:ln cap="flat" cmpd="sng" w="9525">
            <a:solidFill>
              <a:srgbClr val="D8E2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9" name="Google Shape;1569;p39"/>
          <p:cNvSpPr/>
          <p:nvPr/>
        </p:nvSpPr>
        <p:spPr>
          <a:xfrm>
            <a:off x="1292733" y="3446145"/>
            <a:ext cx="75300" cy="753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0" name="Google Shape;1570;p39"/>
          <p:cNvSpPr/>
          <p:nvPr/>
        </p:nvSpPr>
        <p:spPr>
          <a:xfrm>
            <a:off x="1248156" y="341528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1" name="Google Shape;1571;p39"/>
          <p:cNvSpPr/>
          <p:nvPr/>
        </p:nvSpPr>
        <p:spPr>
          <a:xfrm>
            <a:off x="1357884" y="351815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2" name="Google Shape;1572;p39"/>
          <p:cNvSpPr/>
          <p:nvPr/>
        </p:nvSpPr>
        <p:spPr>
          <a:xfrm>
            <a:off x="1543050" y="3319272"/>
            <a:ext cx="329100" cy="329100"/>
          </a:xfrm>
          <a:prstGeom prst="roundRect">
            <a:avLst>
              <a:gd fmla="val 10417" name="adj"/>
            </a:avLst>
          </a:prstGeom>
          <a:solidFill>
            <a:srgbClr val="F0F3F6"/>
          </a:solidFill>
          <a:ln cap="flat" cmpd="sng" w="9525">
            <a:solidFill>
              <a:srgbClr val="D8E2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3" name="Google Shape;1573;p39"/>
          <p:cNvSpPr/>
          <p:nvPr/>
        </p:nvSpPr>
        <p:spPr>
          <a:xfrm>
            <a:off x="1669923" y="3446145"/>
            <a:ext cx="75300" cy="753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4" name="Google Shape;1574;p39"/>
          <p:cNvSpPr/>
          <p:nvPr/>
        </p:nvSpPr>
        <p:spPr>
          <a:xfrm>
            <a:off x="1625346" y="341528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5" name="Google Shape;1575;p39"/>
          <p:cNvSpPr/>
          <p:nvPr/>
        </p:nvSpPr>
        <p:spPr>
          <a:xfrm>
            <a:off x="1735074" y="3518154"/>
            <a:ext cx="48000" cy="48000"/>
          </a:xfrm>
          <a:prstGeom prst="ellipse">
            <a:avLst/>
          </a:prstGeom>
          <a:solidFill>
            <a:srgbClr val="AEBE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6" name="Google Shape;1576;p39"/>
          <p:cNvSpPr/>
          <p:nvPr/>
        </p:nvSpPr>
        <p:spPr>
          <a:xfrm rot="2700000">
            <a:off x="1261933" y="3038069"/>
            <a:ext cx="137037" cy="137037"/>
          </a:xfrm>
          <a:prstGeom prst="rect">
            <a:avLst/>
          </a:prstGeom>
          <a:solidFill>
            <a:srgbClr val="C9821E"/>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7" name="Google Shape;1577;p39"/>
          <p:cNvSpPr/>
          <p:nvPr/>
        </p:nvSpPr>
        <p:spPr>
          <a:xfrm>
            <a:off x="1440180" y="2996946"/>
            <a:ext cx="685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9821E"/>
              </a:buClr>
              <a:buSzPts val="800"/>
              <a:buFont typeface="Calibri"/>
              <a:buNone/>
            </a:pPr>
            <a:r>
              <a:rPr b="1" i="1" lang="en" sz="800" u="none" cap="none" strike="noStrike">
                <a:solidFill>
                  <a:srgbClr val="C9821E"/>
                </a:solidFill>
                <a:latin typeface="Calibri"/>
                <a:ea typeface="Calibri"/>
                <a:cs typeface="Calibri"/>
                <a:sym typeface="Calibri"/>
              </a:rPr>
              <a:t>query</a:t>
            </a:r>
            <a:endParaRPr b="0" i="0" sz="800" u="none" cap="none" strike="noStrike">
              <a:solidFill>
                <a:schemeClr val="dk1"/>
              </a:solidFill>
              <a:latin typeface="Calibri"/>
              <a:ea typeface="Calibri"/>
              <a:cs typeface="Calibri"/>
              <a:sym typeface="Calibri"/>
            </a:endParaRPr>
          </a:p>
        </p:txBody>
      </p:sp>
      <p:sp>
        <p:nvSpPr>
          <p:cNvPr id="1578" name="Google Shape;1578;p39"/>
          <p:cNvSpPr/>
          <p:nvPr/>
        </p:nvSpPr>
        <p:spPr>
          <a:xfrm>
            <a:off x="2091690" y="2599182"/>
            <a:ext cx="164700" cy="164700"/>
          </a:xfrm>
          <a:prstGeom prst="roundRect">
            <a:avLst>
              <a:gd fmla="val 16667" name="adj"/>
            </a:avLst>
          </a:prstGeom>
          <a:solidFill>
            <a:srgbClr val="E7EFF8"/>
          </a:solidFill>
          <a:ln cap="flat" cmpd="sng" w="11900">
            <a:solidFill>
              <a:srgbClr val="2E6FB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9" name="Google Shape;1579;p39"/>
          <p:cNvSpPr/>
          <p:nvPr/>
        </p:nvSpPr>
        <p:spPr>
          <a:xfrm>
            <a:off x="2311146" y="2585466"/>
            <a:ext cx="1097400" cy="19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4586A"/>
              </a:buClr>
              <a:buSzPts val="800"/>
              <a:buFont typeface="Calibri"/>
              <a:buNone/>
            </a:pPr>
            <a:r>
              <a:rPr b="0" i="0" lang="en" sz="800" u="none" cap="none" strike="noStrike">
                <a:solidFill>
                  <a:srgbClr val="44586A"/>
                </a:solidFill>
                <a:latin typeface="Calibri"/>
                <a:ea typeface="Calibri"/>
                <a:cs typeface="Calibri"/>
                <a:sym typeface="Calibri"/>
              </a:rPr>
              <a:t>probed</a:t>
            </a:r>
            <a:endParaRPr b="0" i="0" sz="800" u="none" cap="none" strike="noStrike">
              <a:solidFill>
                <a:schemeClr val="dk1"/>
              </a:solidFill>
              <a:latin typeface="Calibri"/>
              <a:ea typeface="Calibri"/>
              <a:cs typeface="Calibri"/>
              <a:sym typeface="Calibri"/>
            </a:endParaRPr>
          </a:p>
        </p:txBody>
      </p:sp>
      <p:sp>
        <p:nvSpPr>
          <p:cNvPr id="1580" name="Google Shape;1580;p39"/>
          <p:cNvSpPr/>
          <p:nvPr/>
        </p:nvSpPr>
        <p:spPr>
          <a:xfrm>
            <a:off x="2091690" y="2852928"/>
            <a:ext cx="164700" cy="164700"/>
          </a:xfrm>
          <a:prstGeom prst="roundRect">
            <a:avLst>
              <a:gd fmla="val 16667" name="adj"/>
            </a:avLst>
          </a:prstGeom>
          <a:solidFill>
            <a:srgbClr val="F0F3F6"/>
          </a:solidFill>
          <a:ln cap="flat" cmpd="sng" w="9525">
            <a:solidFill>
              <a:srgbClr val="D8E2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1" name="Google Shape;1581;p39"/>
          <p:cNvSpPr/>
          <p:nvPr/>
        </p:nvSpPr>
        <p:spPr>
          <a:xfrm>
            <a:off x="2311146" y="2839212"/>
            <a:ext cx="1097400" cy="19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800"/>
              <a:buFont typeface="Calibri"/>
              <a:buNone/>
            </a:pPr>
            <a:r>
              <a:rPr b="0" i="0" lang="en" sz="800" u="none" cap="none" strike="noStrike">
                <a:solidFill>
                  <a:srgbClr val="8195A5"/>
                </a:solidFill>
                <a:latin typeface="Calibri"/>
                <a:ea typeface="Calibri"/>
                <a:cs typeface="Calibri"/>
                <a:sym typeface="Calibri"/>
              </a:rPr>
              <a:t>skipped</a:t>
            </a:r>
            <a:endParaRPr b="0" i="0" sz="800" u="none" cap="none" strike="noStrike">
              <a:solidFill>
                <a:schemeClr val="dk1"/>
              </a:solidFill>
              <a:latin typeface="Calibri"/>
              <a:ea typeface="Calibri"/>
              <a:cs typeface="Calibri"/>
              <a:sym typeface="Calibri"/>
            </a:endParaRPr>
          </a:p>
        </p:txBody>
      </p:sp>
      <p:sp>
        <p:nvSpPr>
          <p:cNvPr id="1582" name="Google Shape;1582;p39"/>
          <p:cNvSpPr/>
          <p:nvPr/>
        </p:nvSpPr>
        <p:spPr>
          <a:xfrm>
            <a:off x="2057400" y="3216402"/>
            <a:ext cx="1645800" cy="4116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8195A5"/>
              </a:buClr>
              <a:buSzPts val="800"/>
              <a:buFont typeface="Calibri"/>
              <a:buNone/>
            </a:pPr>
            <a:r>
              <a:rPr b="0" i="1" lang="en" sz="800" u="none" cap="none" strike="noStrike">
                <a:solidFill>
                  <a:srgbClr val="8195A5"/>
                </a:solidFill>
                <a:latin typeface="Calibri"/>
                <a:ea typeface="Calibri"/>
                <a:cs typeface="Calibri"/>
                <a:sym typeface="Calibri"/>
              </a:rPr>
              <a:t>scan a fraction of N, not all N</a:t>
            </a:r>
            <a:endParaRPr b="0" i="0" sz="800" u="none" cap="none" strike="noStrike">
              <a:solidFill>
                <a:schemeClr val="dk1"/>
              </a:solidFill>
              <a:latin typeface="Calibri"/>
              <a:ea typeface="Calibri"/>
              <a:cs typeface="Calibri"/>
              <a:sym typeface="Calibri"/>
            </a:endParaRPr>
          </a:p>
        </p:txBody>
      </p:sp>
      <p:sp>
        <p:nvSpPr>
          <p:cNvPr id="1583" name="Google Shape;1583;p39"/>
          <p:cNvSpPr/>
          <p:nvPr/>
        </p:nvSpPr>
        <p:spPr>
          <a:xfrm>
            <a:off x="4615434" y="1453896"/>
            <a:ext cx="4114800" cy="2400300"/>
          </a:xfrm>
          <a:prstGeom prst="roundRect">
            <a:avLst>
              <a:gd fmla="val 2857" name="adj"/>
            </a:avLst>
          </a:prstGeom>
          <a:solidFill>
            <a:srgbClr val="F4F8FB"/>
          </a:solidFill>
          <a:ln cap="flat" cmpd="sng" w="9525">
            <a:solidFill>
              <a:srgbClr val="CBDCE6"/>
            </a:solidFill>
            <a:prstDash val="solid"/>
            <a:round/>
            <a:headEnd len="sm" w="sm" type="none"/>
            <a:tailEnd len="sm" w="sm" type="none"/>
          </a:ln>
          <a:effectLst>
            <a:outerShdw blurRad="85725" rotWithShape="0" algn="bl" dir="5400000" dist="28575">
              <a:srgbClr val="9FB4C4">
                <a:alpha val="3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4" name="Google Shape;1584;p39"/>
          <p:cNvSpPr/>
          <p:nvPr/>
        </p:nvSpPr>
        <p:spPr>
          <a:xfrm>
            <a:off x="4615434" y="1453896"/>
            <a:ext cx="82500" cy="2400300"/>
          </a:xfrm>
          <a:prstGeom prst="rect">
            <a:avLst/>
          </a:prstGeom>
          <a:solidFill>
            <a:srgbClr val="2E8B5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5" name="Google Shape;1585;p39"/>
          <p:cNvSpPr/>
          <p:nvPr/>
        </p:nvSpPr>
        <p:spPr>
          <a:xfrm>
            <a:off x="4855464" y="1618488"/>
            <a:ext cx="37032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1400"/>
              <a:buFont typeface="Cambria"/>
              <a:buNone/>
            </a:pPr>
            <a:r>
              <a:rPr b="1" i="0" lang="en" sz="1400" u="none" cap="none" strike="noStrike">
                <a:solidFill>
                  <a:srgbClr val="13203A"/>
                </a:solidFill>
                <a:latin typeface="Cambria"/>
                <a:ea typeface="Cambria"/>
                <a:cs typeface="Cambria"/>
                <a:sym typeface="Cambria"/>
              </a:rPr>
              <a:t>PQ the residual, not the vector</a:t>
            </a:r>
            <a:endParaRPr b="0" i="0" sz="1400" u="none" cap="none" strike="noStrike">
              <a:solidFill>
                <a:schemeClr val="dk1"/>
              </a:solidFill>
              <a:latin typeface="Calibri"/>
              <a:ea typeface="Calibri"/>
              <a:cs typeface="Calibri"/>
              <a:sym typeface="Calibri"/>
            </a:endParaRPr>
          </a:p>
        </p:txBody>
      </p:sp>
      <p:sp>
        <p:nvSpPr>
          <p:cNvPr id="1586" name="Google Shape;1586;p39"/>
          <p:cNvSpPr/>
          <p:nvPr/>
        </p:nvSpPr>
        <p:spPr>
          <a:xfrm>
            <a:off x="4855464" y="1988820"/>
            <a:ext cx="3634500" cy="582900"/>
          </a:xfrm>
          <a:prstGeom prst="rect">
            <a:avLst/>
          </a:prstGeom>
          <a:noFill/>
          <a:ln>
            <a:noFill/>
          </a:ln>
        </p:spPr>
        <p:txBody>
          <a:bodyPr anchorCtr="0" anchor="t" bIns="34275" lIns="68575" spcFirstLastPara="1" rIns="68575" wrap="square" tIns="34275">
            <a:noAutofit/>
          </a:bodyPr>
          <a:lstStyle/>
          <a:p>
            <a:pPr indent="0" lvl="0" marL="0" marR="0" rtl="0" algn="l">
              <a:lnSpc>
                <a:spcPct val="118000"/>
              </a:lnSpc>
              <a:spcBef>
                <a:spcPts val="0"/>
              </a:spcBef>
              <a:spcAft>
                <a:spcPts val="0"/>
              </a:spcAft>
              <a:buClr>
                <a:srgbClr val="44586A"/>
              </a:buClr>
              <a:buSzPts val="1000"/>
              <a:buFont typeface="Calibri"/>
              <a:buNone/>
            </a:pPr>
            <a:r>
              <a:rPr b="0" i="0" lang="en" sz="1000" u="none" cap="none" strike="noStrike">
                <a:solidFill>
                  <a:srgbClr val="44586A"/>
                </a:solidFill>
                <a:latin typeface="Calibri"/>
                <a:ea typeface="Calibri"/>
                <a:cs typeface="Calibri"/>
                <a:sym typeface="Calibri"/>
              </a:rPr>
              <a:t>The centroid already fixes the rough location. PQ then encodes only </a:t>
            </a:r>
            <a:r>
              <a:rPr b="1" i="0" lang="en" sz="1000" u="none" cap="none" strike="noStrike">
                <a:solidFill>
                  <a:srgbClr val="2E8B57"/>
                </a:solidFill>
                <a:latin typeface="Courier New"/>
                <a:ea typeface="Courier New"/>
                <a:cs typeface="Courier New"/>
                <a:sym typeface="Courier New"/>
              </a:rPr>
              <a:t>r = x − c</a:t>
            </a:r>
            <a:r>
              <a:rPr b="0" i="0" lang="en" sz="1000" u="none" cap="none" strike="noStrike">
                <a:solidFill>
                  <a:srgbClr val="44586A"/>
                </a:solidFill>
                <a:latin typeface="Calibri"/>
                <a:ea typeface="Calibri"/>
                <a:cs typeface="Calibri"/>
                <a:sym typeface="Calibri"/>
              </a:rPr>
              <a:t> — a small offset near zero. Same bits, far finer detail.</a:t>
            </a:r>
            <a:endParaRPr b="0" i="0" sz="1000" u="none" cap="none" strike="noStrike">
              <a:solidFill>
                <a:schemeClr val="dk1"/>
              </a:solidFill>
              <a:latin typeface="Calibri"/>
              <a:ea typeface="Calibri"/>
              <a:cs typeface="Calibri"/>
              <a:sym typeface="Calibri"/>
            </a:endParaRPr>
          </a:p>
        </p:txBody>
      </p:sp>
      <p:sp>
        <p:nvSpPr>
          <p:cNvPr id="1587" name="Google Shape;1587;p39"/>
          <p:cNvSpPr/>
          <p:nvPr/>
        </p:nvSpPr>
        <p:spPr>
          <a:xfrm>
            <a:off x="4958334" y="2633472"/>
            <a:ext cx="1851900" cy="1028700"/>
          </a:xfrm>
          <a:prstGeom prst="roundRect">
            <a:avLst>
              <a:gd fmla="val 5333" name="adj"/>
            </a:avLst>
          </a:prstGeom>
          <a:solidFill>
            <a:srgbClr val="FFFFFF"/>
          </a:solidFill>
          <a:ln cap="flat" cmpd="sng" w="9525">
            <a:solidFill>
              <a:srgbClr val="CBDC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8" name="Google Shape;1588;p39"/>
          <p:cNvSpPr/>
          <p:nvPr/>
        </p:nvSpPr>
        <p:spPr>
          <a:xfrm>
            <a:off x="5006340" y="3387852"/>
            <a:ext cx="150900" cy="1647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195A5"/>
              </a:buClr>
              <a:buSzPts val="800"/>
              <a:buFont typeface="Courier New"/>
              <a:buNone/>
            </a:pPr>
            <a:r>
              <a:rPr b="0" i="0" lang="en" sz="800" u="none" cap="none" strike="noStrike">
                <a:solidFill>
                  <a:srgbClr val="8195A5"/>
                </a:solidFill>
                <a:latin typeface="Courier New"/>
                <a:ea typeface="Courier New"/>
                <a:cs typeface="Courier New"/>
                <a:sym typeface="Courier New"/>
              </a:rPr>
              <a:t>0</a:t>
            </a:r>
            <a:endParaRPr b="0" i="0" sz="800" u="none" cap="none" strike="noStrike">
              <a:solidFill>
                <a:schemeClr val="dk1"/>
              </a:solidFill>
              <a:latin typeface="Calibri"/>
              <a:ea typeface="Calibri"/>
              <a:cs typeface="Calibri"/>
              <a:sym typeface="Calibri"/>
            </a:endParaRPr>
          </a:p>
        </p:txBody>
      </p:sp>
      <p:cxnSp>
        <p:nvCxnSpPr>
          <p:cNvPr id="1589" name="Google Shape;1589;p39"/>
          <p:cNvCxnSpPr/>
          <p:nvPr/>
        </p:nvCxnSpPr>
        <p:spPr>
          <a:xfrm flipH="1" rot="10800000">
            <a:off x="5198364" y="3058632"/>
            <a:ext cx="960000" cy="397800"/>
          </a:xfrm>
          <a:prstGeom prst="straightConnector1">
            <a:avLst/>
          </a:prstGeom>
          <a:noFill/>
          <a:ln cap="flat" cmpd="sng" w="14300">
            <a:solidFill>
              <a:srgbClr val="AEBEC9"/>
            </a:solidFill>
            <a:prstDash val="dash"/>
            <a:round/>
            <a:headEnd len="sm" w="sm" type="none"/>
            <a:tailEnd len="sm" w="sm" type="none"/>
          </a:ln>
        </p:spPr>
      </p:cxnSp>
      <p:sp>
        <p:nvSpPr>
          <p:cNvPr id="1590" name="Google Shape;1590;p39"/>
          <p:cNvSpPr/>
          <p:nvPr/>
        </p:nvSpPr>
        <p:spPr>
          <a:xfrm>
            <a:off x="5198364" y="3470148"/>
            <a:ext cx="1097400" cy="164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1" lang="en" sz="700" u="none" cap="none" strike="noStrike">
                <a:solidFill>
                  <a:srgbClr val="8195A5"/>
                </a:solidFill>
                <a:latin typeface="Calibri"/>
                <a:ea typeface="Calibri"/>
                <a:cs typeface="Calibri"/>
                <a:sym typeface="Calibri"/>
              </a:rPr>
              <a:t>coarse position</a:t>
            </a:r>
            <a:endParaRPr b="0" i="0" sz="700" u="none" cap="none" strike="noStrike">
              <a:solidFill>
                <a:schemeClr val="dk1"/>
              </a:solidFill>
              <a:latin typeface="Calibri"/>
              <a:ea typeface="Calibri"/>
              <a:cs typeface="Calibri"/>
              <a:sym typeface="Calibri"/>
            </a:endParaRPr>
          </a:p>
        </p:txBody>
      </p:sp>
      <p:cxnSp>
        <p:nvCxnSpPr>
          <p:cNvPr id="1591" name="Google Shape;1591;p39"/>
          <p:cNvCxnSpPr/>
          <p:nvPr/>
        </p:nvCxnSpPr>
        <p:spPr>
          <a:xfrm flipH="1" rot="10800000">
            <a:off x="6158484" y="2921568"/>
            <a:ext cx="411600" cy="137100"/>
          </a:xfrm>
          <a:prstGeom prst="straightConnector1">
            <a:avLst/>
          </a:prstGeom>
          <a:noFill/>
          <a:ln cap="flat" cmpd="sng" w="26200">
            <a:solidFill>
              <a:srgbClr val="C9821E"/>
            </a:solidFill>
            <a:prstDash val="solid"/>
            <a:round/>
            <a:headEnd len="sm" w="sm" type="none"/>
            <a:tailEnd len="med" w="med" type="triangle"/>
          </a:ln>
        </p:spPr>
      </p:cxnSp>
      <p:sp>
        <p:nvSpPr>
          <p:cNvPr id="1592" name="Google Shape;1592;p39"/>
          <p:cNvSpPr/>
          <p:nvPr/>
        </p:nvSpPr>
        <p:spPr>
          <a:xfrm>
            <a:off x="6096762" y="2996946"/>
            <a:ext cx="123600" cy="123600"/>
          </a:xfrm>
          <a:prstGeom prst="ellipse">
            <a:avLst/>
          </a:prstGeom>
          <a:solidFill>
            <a:srgbClr val="2E6FB0"/>
          </a:solidFill>
          <a:ln cap="flat" cmpd="sng" w="143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3" name="Google Shape;1593;p39"/>
          <p:cNvSpPr/>
          <p:nvPr/>
        </p:nvSpPr>
        <p:spPr>
          <a:xfrm>
            <a:off x="5925312" y="3044952"/>
            <a:ext cx="150900" cy="1647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2E6FB0"/>
              </a:buClr>
              <a:buSzPts val="900"/>
              <a:buFont typeface="Courier New"/>
              <a:buNone/>
            </a:pPr>
            <a:r>
              <a:rPr b="1" i="0" lang="en" sz="900" u="none" cap="none" strike="noStrike">
                <a:solidFill>
                  <a:srgbClr val="2E6FB0"/>
                </a:solidFill>
                <a:latin typeface="Courier New"/>
                <a:ea typeface="Courier New"/>
                <a:cs typeface="Courier New"/>
                <a:sym typeface="Courier New"/>
              </a:rPr>
              <a:t>c</a:t>
            </a:r>
            <a:endParaRPr b="0" i="0" sz="900" u="none" cap="none" strike="noStrike">
              <a:solidFill>
                <a:schemeClr val="dk1"/>
              </a:solidFill>
              <a:latin typeface="Calibri"/>
              <a:ea typeface="Calibri"/>
              <a:cs typeface="Calibri"/>
              <a:sym typeface="Calibri"/>
            </a:endParaRPr>
          </a:p>
        </p:txBody>
      </p:sp>
      <p:sp>
        <p:nvSpPr>
          <p:cNvPr id="1594" name="Google Shape;1594;p39"/>
          <p:cNvSpPr/>
          <p:nvPr/>
        </p:nvSpPr>
        <p:spPr>
          <a:xfrm>
            <a:off x="6521958" y="2873502"/>
            <a:ext cx="96000" cy="96000"/>
          </a:xfrm>
          <a:prstGeom prst="ellipse">
            <a:avLst/>
          </a:prstGeom>
          <a:solidFill>
            <a:srgbClr val="1320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5" name="Google Shape;1595;p39"/>
          <p:cNvSpPr/>
          <p:nvPr/>
        </p:nvSpPr>
        <p:spPr>
          <a:xfrm>
            <a:off x="6624828" y="2825496"/>
            <a:ext cx="205800" cy="164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03A"/>
              </a:buClr>
              <a:buSzPts val="900"/>
              <a:buFont typeface="Courier New"/>
              <a:buNone/>
            </a:pPr>
            <a:r>
              <a:rPr b="1" i="0" lang="en" sz="900" u="none" cap="none" strike="noStrike">
                <a:solidFill>
                  <a:srgbClr val="13203A"/>
                </a:solidFill>
                <a:latin typeface="Courier New"/>
                <a:ea typeface="Courier New"/>
                <a:cs typeface="Courier New"/>
                <a:sym typeface="Courier New"/>
              </a:rPr>
              <a:t>x</a:t>
            </a:r>
            <a:endParaRPr b="0" i="0" sz="900" u="none" cap="none" strike="noStrike">
              <a:solidFill>
                <a:schemeClr val="dk1"/>
              </a:solidFill>
              <a:latin typeface="Calibri"/>
              <a:ea typeface="Calibri"/>
              <a:cs typeface="Calibri"/>
              <a:sym typeface="Calibri"/>
            </a:endParaRPr>
          </a:p>
        </p:txBody>
      </p:sp>
      <p:sp>
        <p:nvSpPr>
          <p:cNvPr id="1596" name="Google Shape;1596;p39"/>
          <p:cNvSpPr/>
          <p:nvPr/>
        </p:nvSpPr>
        <p:spPr>
          <a:xfrm>
            <a:off x="6172200" y="2715768"/>
            <a:ext cx="891600" cy="178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9821E"/>
              </a:buClr>
              <a:buSzPts val="800"/>
              <a:buFont typeface="Courier New"/>
              <a:buNone/>
            </a:pPr>
            <a:r>
              <a:rPr b="1" i="0" lang="en" sz="800" u="none" cap="none" strike="noStrike">
                <a:solidFill>
                  <a:srgbClr val="C9821E"/>
                </a:solidFill>
                <a:latin typeface="Courier New"/>
                <a:ea typeface="Courier New"/>
                <a:cs typeface="Courier New"/>
                <a:sym typeface="Courier New"/>
              </a:rPr>
              <a:t>r (short)</a:t>
            </a:r>
            <a:endParaRPr b="0" i="0" sz="800" u="none" cap="none" strike="noStrike">
              <a:solidFill>
                <a:schemeClr val="dk1"/>
              </a:solidFill>
              <a:latin typeface="Calibri"/>
              <a:ea typeface="Calibri"/>
              <a:cs typeface="Calibri"/>
              <a:sym typeface="Calibri"/>
            </a:endParaRPr>
          </a:p>
        </p:txBody>
      </p:sp>
      <p:sp>
        <p:nvSpPr>
          <p:cNvPr id="1597" name="Google Shape;1597;p39"/>
          <p:cNvSpPr/>
          <p:nvPr/>
        </p:nvSpPr>
        <p:spPr>
          <a:xfrm>
            <a:off x="7015734" y="2647188"/>
            <a:ext cx="1509000" cy="102870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Encode the short </a:t>
            </a:r>
            <a:r>
              <a:rPr b="1" i="0" lang="en" sz="900" u="none" cap="none" strike="noStrike">
                <a:solidFill>
                  <a:srgbClr val="C9821E"/>
                </a:solidFill>
                <a:latin typeface="Courier New"/>
                <a:ea typeface="Courier New"/>
                <a:cs typeface="Courier New"/>
                <a:sym typeface="Courier New"/>
              </a:rPr>
              <a:t>r</a:t>
            </a:r>
            <a:r>
              <a:rPr b="0" i="0" lang="en" sz="900" u="none" cap="none" strike="noStrike">
                <a:solidFill>
                  <a:srgbClr val="44586A"/>
                </a:solidFill>
                <a:latin typeface="Calibri"/>
                <a:ea typeface="Calibri"/>
                <a:cs typeface="Calibri"/>
                <a:sym typeface="Calibri"/>
              </a:rPr>
              <a:t>, not the long </a:t>
            </a:r>
            <a:r>
              <a:rPr b="1" i="0" lang="en" sz="900" u="none" cap="none" strike="noStrike">
                <a:solidFill>
                  <a:srgbClr val="13203A"/>
                </a:solidFill>
                <a:latin typeface="Courier New"/>
                <a:ea typeface="Courier New"/>
                <a:cs typeface="Courier New"/>
                <a:sym typeface="Courier New"/>
              </a:rPr>
              <a:t>x</a:t>
            </a:r>
            <a:r>
              <a:rPr b="0" i="0" lang="en" sz="900" u="none" cap="none" strike="noStrike">
                <a:solidFill>
                  <a:srgbClr val="44586A"/>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44586A"/>
              </a:buClr>
              <a:buSzPts val="900"/>
              <a:buFont typeface="Calibri"/>
              <a:buNone/>
            </a:pPr>
            <a:r>
              <a:rPr b="0" i="0" lang="en" sz="900" u="none" cap="none" strike="noStrike">
                <a:solidFill>
                  <a:srgbClr val="44586A"/>
                </a:solidFill>
                <a:latin typeface="Calibri"/>
                <a:ea typeface="Calibri"/>
                <a:cs typeface="Calibri"/>
                <a:sym typeface="Calibri"/>
              </a:rPr>
              <a:t>Residuals are small and alike across cells, so </a:t>
            </a:r>
            <a:endParaRPr b="0" i="0" sz="9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2E8B57"/>
              </a:buClr>
              <a:buSzPts val="900"/>
              <a:buFont typeface="Calibri"/>
              <a:buNone/>
            </a:pPr>
            <a:r>
              <a:rPr b="1" i="0" lang="en" sz="900" u="none" cap="none" strike="noStrike">
                <a:solidFill>
                  <a:srgbClr val="2E8B57"/>
                </a:solidFill>
                <a:latin typeface="Calibri"/>
                <a:ea typeface="Calibri"/>
                <a:cs typeface="Calibri"/>
                <a:sym typeface="Calibri"/>
              </a:rPr>
              <a:t>one codebook</a:t>
            </a:r>
            <a:r>
              <a:rPr b="0" i="0" lang="en" sz="900" u="none" cap="none" strike="noStrike">
                <a:solidFill>
                  <a:srgbClr val="44586A"/>
                </a:solidFill>
                <a:latin typeface="Calibri"/>
                <a:ea typeface="Calibri"/>
                <a:cs typeface="Calibri"/>
                <a:sym typeface="Calibri"/>
              </a:rPr>
              <a:t> fits all.</a:t>
            </a:r>
            <a:endParaRPr b="0" i="0" sz="900" u="none" cap="none" strike="noStrike">
              <a:solidFill>
                <a:schemeClr val="dk1"/>
              </a:solidFill>
              <a:latin typeface="Calibri"/>
              <a:ea typeface="Calibri"/>
              <a:cs typeface="Calibri"/>
              <a:sym typeface="Calibri"/>
            </a:endParaRPr>
          </a:p>
        </p:txBody>
      </p:sp>
      <p:sp>
        <p:nvSpPr>
          <p:cNvPr id="1598" name="Google Shape;1598;p39"/>
          <p:cNvSpPr/>
          <p:nvPr/>
        </p:nvSpPr>
        <p:spPr>
          <a:xfrm>
            <a:off x="411480" y="3963924"/>
            <a:ext cx="8318700" cy="768300"/>
          </a:xfrm>
          <a:prstGeom prst="roundRect">
            <a:avLst>
              <a:gd fmla="val 8929" name="adj"/>
            </a:avLst>
          </a:prstGeom>
          <a:solidFill>
            <a:srgbClr val="13203A"/>
          </a:solidFill>
          <a:ln>
            <a:noFill/>
          </a:ln>
          <a:effectLst>
            <a:outerShdw blurRad="114300" rotWithShape="0" algn="bl" dir="5400000" dist="38100">
              <a:srgbClr val="000000">
                <a:alpha val="451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9" name="Google Shape;1599;p39"/>
          <p:cNvSpPr/>
          <p:nvPr/>
        </p:nvSpPr>
        <p:spPr>
          <a:xfrm>
            <a:off x="651510" y="3963924"/>
            <a:ext cx="7818000" cy="7683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E8A94A"/>
              </a:buClr>
              <a:buSzPts val="1100"/>
              <a:buFont typeface="Calibri"/>
              <a:buNone/>
            </a:pPr>
            <a:r>
              <a:rPr b="1" i="0" lang="en" sz="1100" u="none" cap="none" strike="noStrike">
                <a:solidFill>
                  <a:srgbClr val="E8A94A"/>
                </a:solidFill>
                <a:latin typeface="Calibri"/>
                <a:ea typeface="Calibri"/>
                <a:cs typeface="Calibri"/>
                <a:sym typeface="Calibri"/>
              </a:rPr>
              <a:t>Like a postal address:  </a:t>
            </a:r>
            <a:r>
              <a:rPr b="0" i="0" lang="en" sz="1100" u="none" cap="none" strike="noStrike">
                <a:solidFill>
                  <a:srgbClr val="EAF2F6"/>
                </a:solidFill>
                <a:latin typeface="Calibri"/>
                <a:ea typeface="Calibri"/>
                <a:cs typeface="Calibri"/>
                <a:sym typeface="Calibri"/>
              </a:rPr>
              <a:t>the city (coarse centroid) places you roughly; a short street-level offset (residual) does the rest. </a:t>
            </a:r>
            <a:r>
              <a:rPr b="1" i="0" lang="en" sz="1100" u="none" cap="none" strike="noStrike">
                <a:solidFill>
                  <a:srgbClr val="FFFFFF"/>
                </a:solidFill>
                <a:latin typeface="Calibri"/>
                <a:ea typeface="Calibri"/>
                <a:cs typeface="Calibri"/>
                <a:sym typeface="Calibri"/>
              </a:rPr>
              <a:t>IVF makes search fast</a:t>
            </a:r>
            <a:r>
              <a:rPr b="0" i="0" lang="en" sz="1100" u="none" cap="none" strike="noStrike">
                <a:solidFill>
                  <a:srgbClr val="EAF2F6"/>
                </a:solidFill>
                <a:latin typeface="Calibri"/>
                <a:ea typeface="Calibri"/>
                <a:cs typeface="Calibri"/>
                <a:sym typeface="Calibri"/>
              </a:rPr>
              <a:t> (probe a few cells, not all N); </a:t>
            </a:r>
            <a:r>
              <a:rPr b="1" i="0" lang="en" sz="1100" u="none" cap="none" strike="noStrike">
                <a:solidFill>
                  <a:srgbClr val="FFFFFF"/>
                </a:solidFill>
                <a:latin typeface="Calibri"/>
                <a:ea typeface="Calibri"/>
                <a:cs typeface="Calibri"/>
                <a:sym typeface="Calibri"/>
              </a:rPr>
              <a:t>residual-PQ keeps it accurate</a:t>
            </a:r>
            <a:r>
              <a:rPr b="0" i="0" lang="en" sz="1100" u="none" cap="none" strike="noStrike">
                <a:solidFill>
                  <a:srgbClr val="EAF2F6"/>
                </a:solidFill>
                <a:latin typeface="Calibri"/>
                <a:ea typeface="Calibri"/>
                <a:cs typeface="Calibri"/>
                <a:sym typeface="Calibri"/>
              </a:rPr>
              <a:t> (fine codes for a small offset) — wasting no bits re-describing what the centroid already told us.</a:t>
            </a:r>
            <a:endParaRPr b="0" i="0" sz="1100" u="none" cap="none" strike="noStrike">
              <a:solidFill>
                <a:schemeClr val="dk1"/>
              </a:solidFill>
              <a:latin typeface="Calibri"/>
              <a:ea typeface="Calibri"/>
              <a:cs typeface="Calibri"/>
              <a:sym typeface="Calibri"/>
            </a:endParaRPr>
          </a:p>
        </p:txBody>
      </p:sp>
      <p:sp>
        <p:nvSpPr>
          <p:cNvPr id="1600" name="Google Shape;1600;p39"/>
          <p:cNvSpPr/>
          <p:nvPr/>
        </p:nvSpPr>
        <p:spPr>
          <a:xfrm>
            <a:off x="342900" y="4834890"/>
            <a:ext cx="48006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195A5"/>
              </a:buClr>
              <a:buSzPts val="700"/>
              <a:buFont typeface="Calibri"/>
              <a:buNone/>
            </a:pPr>
            <a:r>
              <a:rPr b="0" i="0" lang="en" sz="700" u="none" cap="none" strike="noStrike">
                <a:solidFill>
                  <a:srgbClr val="8195A5"/>
                </a:solidFill>
                <a:latin typeface="Calibri"/>
                <a:ea typeface="Calibri"/>
                <a:cs typeface="Calibri"/>
                <a:sym typeface="Calibri"/>
              </a:rPr>
              <a:t>Product Quantization  ·  IVF + PQ</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B36"/>
        </a:solidFill>
      </p:bgPr>
    </p:bg>
    <p:spTree>
      <p:nvGrpSpPr>
        <p:cNvPr id="1605" name="Shape 1605"/>
        <p:cNvGrpSpPr/>
        <p:nvPr/>
      </p:nvGrpSpPr>
      <p:grpSpPr>
        <a:xfrm>
          <a:off x="0" y="0"/>
          <a:ext cx="0" cy="0"/>
          <a:chOff x="0" y="0"/>
          <a:chExt cx="0" cy="0"/>
        </a:xfrm>
      </p:grpSpPr>
      <p:sp>
        <p:nvSpPr>
          <p:cNvPr id="1606" name="Google Shape;1606;p40"/>
          <p:cNvSpPr/>
          <p:nvPr/>
        </p:nvSpPr>
        <p:spPr>
          <a:xfrm>
            <a:off x="411480" y="377190"/>
            <a:ext cx="82983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So… what is a vector database?</a:t>
            </a:r>
            <a:endParaRPr b="0" i="0" sz="2300" u="none" cap="none" strike="noStrike">
              <a:solidFill>
                <a:schemeClr val="dk1"/>
              </a:solidFill>
              <a:latin typeface="Calibri"/>
              <a:ea typeface="Calibri"/>
              <a:cs typeface="Calibri"/>
              <a:sym typeface="Calibri"/>
            </a:endParaRPr>
          </a:p>
        </p:txBody>
      </p:sp>
      <p:sp>
        <p:nvSpPr>
          <p:cNvPr id="1607" name="Google Shape;1607;p40"/>
          <p:cNvSpPr/>
          <p:nvPr/>
        </p:nvSpPr>
        <p:spPr>
          <a:xfrm>
            <a:off x="411480" y="1131570"/>
            <a:ext cx="8318700" cy="1200300"/>
          </a:xfrm>
          <a:prstGeom prst="roundRect">
            <a:avLst>
              <a:gd fmla="val 6286" name="adj"/>
            </a:avLst>
          </a:prstGeom>
          <a:solidFill>
            <a:srgbClr val="0D5C63"/>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8" name="Google Shape;1608;p40"/>
          <p:cNvSpPr/>
          <p:nvPr/>
        </p:nvSpPr>
        <p:spPr>
          <a:xfrm>
            <a:off x="685800" y="1131570"/>
            <a:ext cx="7749600" cy="1200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900"/>
              <a:buFont typeface="Cambria"/>
              <a:buNone/>
            </a:pPr>
            <a:r>
              <a:rPr b="0" i="0" lang="en" sz="1900" u="none" cap="none" strike="noStrike">
                <a:solidFill>
                  <a:srgbClr val="FFFFFF"/>
                </a:solidFill>
                <a:latin typeface="Cambria"/>
                <a:ea typeface="Cambria"/>
                <a:cs typeface="Cambria"/>
                <a:sym typeface="Cambria"/>
              </a:rPr>
              <a:t>A place that stores these meaning-vectors and can find the </a:t>
            </a:r>
            <a:r>
              <a:rPr b="1" i="0" lang="en" sz="1900" u="none" cap="none" strike="noStrike">
                <a:solidFill>
                  <a:srgbClr val="E9A23B"/>
                </a:solidFill>
                <a:latin typeface="Cambria"/>
                <a:ea typeface="Cambria"/>
                <a:cs typeface="Cambria"/>
                <a:sym typeface="Cambria"/>
              </a:rPr>
              <a:t>closest ones — fast</a:t>
            </a:r>
            <a:r>
              <a:rPr b="0" i="0" lang="en" sz="1900" u="none" cap="none" strike="noStrike">
                <a:solidFill>
                  <a:srgbClr val="FFFFFF"/>
                </a:solidFill>
                <a:latin typeface="Cambria"/>
                <a:ea typeface="Cambria"/>
                <a:cs typeface="Cambria"/>
                <a:sym typeface="Cambria"/>
              </a:rPr>
              <a:t> — even across millions of records.</a:t>
            </a:r>
            <a:endParaRPr b="0" i="0" sz="1900" u="none" cap="none" strike="noStrike">
              <a:solidFill>
                <a:schemeClr val="dk1"/>
              </a:solidFill>
              <a:latin typeface="Calibri"/>
              <a:ea typeface="Calibri"/>
              <a:cs typeface="Calibri"/>
              <a:sym typeface="Calibri"/>
            </a:endParaRPr>
          </a:p>
        </p:txBody>
      </p:sp>
      <p:sp>
        <p:nvSpPr>
          <p:cNvPr id="1609" name="Google Shape;1609;p40"/>
          <p:cNvSpPr/>
          <p:nvPr/>
        </p:nvSpPr>
        <p:spPr>
          <a:xfrm>
            <a:off x="411480" y="2571750"/>
            <a:ext cx="2674500" cy="2160300"/>
          </a:xfrm>
          <a:prstGeom prst="roundRect">
            <a:avLst>
              <a:gd fmla="val 3492" name="adj"/>
            </a:avLst>
          </a:prstGeom>
          <a:solidFill>
            <a:srgbClr val="0F3A45"/>
          </a:solidFill>
          <a:ln cap="flat" cmpd="sng" w="9525">
            <a:solidFill>
              <a:srgbClr val="1C4C58"/>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0" name="Google Shape;1610;p40"/>
          <p:cNvSpPr/>
          <p:nvPr/>
        </p:nvSpPr>
        <p:spPr>
          <a:xfrm>
            <a:off x="651510" y="2811780"/>
            <a:ext cx="480300" cy="480300"/>
          </a:xfrm>
          <a:prstGeom prst="ellipse">
            <a:avLst/>
          </a:prstGeom>
          <a:solidFill>
            <a:srgbClr val="2A9D8F"/>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1" name="Google Shape;1611;p40"/>
          <p:cNvSpPr/>
          <p:nvPr/>
        </p:nvSpPr>
        <p:spPr>
          <a:xfrm>
            <a:off x="651510" y="2811780"/>
            <a:ext cx="480300" cy="48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1200"/>
              <a:buFont typeface="Cambria"/>
              <a:buNone/>
            </a:pPr>
            <a:r>
              <a:rPr b="1" i="0" lang="en" sz="1200" u="none" cap="none" strike="noStrike">
                <a:solidFill>
                  <a:srgbClr val="0B2B36"/>
                </a:solidFill>
                <a:latin typeface="Cambria"/>
                <a:ea typeface="Cambria"/>
                <a:cs typeface="Cambria"/>
                <a:sym typeface="Cambria"/>
              </a:rPr>
              <a:t>DB</a:t>
            </a:r>
            <a:endParaRPr b="0" i="0" sz="1200" u="none" cap="none" strike="noStrike">
              <a:solidFill>
                <a:schemeClr val="dk1"/>
              </a:solidFill>
              <a:latin typeface="Calibri"/>
              <a:ea typeface="Calibri"/>
              <a:cs typeface="Calibri"/>
              <a:sym typeface="Calibri"/>
            </a:endParaRPr>
          </a:p>
        </p:txBody>
      </p:sp>
      <p:sp>
        <p:nvSpPr>
          <p:cNvPr id="1612" name="Google Shape;1612;p40"/>
          <p:cNvSpPr/>
          <p:nvPr/>
        </p:nvSpPr>
        <p:spPr>
          <a:xfrm>
            <a:off x="651510" y="3429000"/>
            <a:ext cx="22632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Stores three things</a:t>
            </a:r>
            <a:endParaRPr b="0" i="0" sz="1400" u="none" cap="none" strike="noStrike">
              <a:solidFill>
                <a:schemeClr val="dk1"/>
              </a:solidFill>
              <a:latin typeface="Calibri"/>
              <a:ea typeface="Calibri"/>
              <a:cs typeface="Calibri"/>
              <a:sym typeface="Calibri"/>
            </a:endParaRPr>
          </a:p>
        </p:txBody>
      </p:sp>
      <p:sp>
        <p:nvSpPr>
          <p:cNvPr id="1613" name="Google Shape;1613;p40"/>
          <p:cNvSpPr/>
          <p:nvPr/>
        </p:nvSpPr>
        <p:spPr>
          <a:xfrm>
            <a:off x="651510" y="3840480"/>
            <a:ext cx="2263200" cy="82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BDC"/>
              </a:buClr>
              <a:buSzPts val="1100"/>
              <a:buFont typeface="Calibri"/>
              <a:buNone/>
            </a:pPr>
            <a:r>
              <a:rPr b="0" i="0" lang="en" sz="1100" u="none" cap="none" strike="noStrike">
                <a:solidFill>
                  <a:srgbClr val="C9DBDC"/>
                </a:solidFill>
                <a:latin typeface="Calibri"/>
                <a:ea typeface="Calibri"/>
                <a:cs typeface="Calibri"/>
                <a:sym typeface="Calibri"/>
              </a:rPr>
              <a:t>Each record keeps the vector, the original text, and metadata — together.</a:t>
            </a:r>
            <a:endParaRPr b="0" i="0" sz="1100" u="none" cap="none" strike="noStrike">
              <a:solidFill>
                <a:schemeClr val="dk1"/>
              </a:solidFill>
              <a:latin typeface="Calibri"/>
              <a:ea typeface="Calibri"/>
              <a:cs typeface="Calibri"/>
              <a:sym typeface="Calibri"/>
            </a:endParaRPr>
          </a:p>
        </p:txBody>
      </p:sp>
      <p:sp>
        <p:nvSpPr>
          <p:cNvPr id="1614" name="Google Shape;1614;p40"/>
          <p:cNvSpPr/>
          <p:nvPr/>
        </p:nvSpPr>
        <p:spPr>
          <a:xfrm>
            <a:off x="3230118" y="2571750"/>
            <a:ext cx="2674500" cy="2160300"/>
          </a:xfrm>
          <a:prstGeom prst="roundRect">
            <a:avLst>
              <a:gd fmla="val 3492" name="adj"/>
            </a:avLst>
          </a:prstGeom>
          <a:solidFill>
            <a:srgbClr val="0F3A45"/>
          </a:solidFill>
          <a:ln cap="flat" cmpd="sng" w="9525">
            <a:solidFill>
              <a:srgbClr val="1C4C58"/>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5" name="Google Shape;1615;p40"/>
          <p:cNvSpPr/>
          <p:nvPr/>
        </p:nvSpPr>
        <p:spPr>
          <a:xfrm>
            <a:off x="3470148" y="2811780"/>
            <a:ext cx="480300" cy="480300"/>
          </a:xfrm>
          <a:prstGeom prst="ellipse">
            <a:avLst/>
          </a:prstGeom>
          <a:solidFill>
            <a:srgbClr val="E9A23B"/>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6" name="Google Shape;1616;p40"/>
          <p:cNvSpPr/>
          <p:nvPr/>
        </p:nvSpPr>
        <p:spPr>
          <a:xfrm>
            <a:off x="3470148" y="2811780"/>
            <a:ext cx="480300" cy="48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1200"/>
              <a:buFont typeface="Cambria"/>
              <a:buNone/>
            </a:pPr>
            <a:r>
              <a:rPr b="1" i="0" lang="en" sz="1200" u="none" cap="none" strike="noStrike">
                <a:solidFill>
                  <a:srgbClr val="0B2B36"/>
                </a:solidFill>
                <a:latin typeface="Cambria"/>
                <a:ea typeface="Cambria"/>
                <a:cs typeface="Cambria"/>
                <a:sym typeface="Cambria"/>
              </a:rPr>
              <a:t>◎</a:t>
            </a:r>
            <a:endParaRPr b="0" i="0" sz="1200" u="none" cap="none" strike="noStrike">
              <a:solidFill>
                <a:schemeClr val="dk1"/>
              </a:solidFill>
              <a:latin typeface="Calibri"/>
              <a:ea typeface="Calibri"/>
              <a:cs typeface="Calibri"/>
              <a:sym typeface="Calibri"/>
            </a:endParaRPr>
          </a:p>
        </p:txBody>
      </p:sp>
      <p:sp>
        <p:nvSpPr>
          <p:cNvPr id="1617" name="Google Shape;1617;p40"/>
          <p:cNvSpPr/>
          <p:nvPr/>
        </p:nvSpPr>
        <p:spPr>
          <a:xfrm>
            <a:off x="3470148" y="3429000"/>
            <a:ext cx="22632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Finds by meaning</a:t>
            </a:r>
            <a:endParaRPr b="0" i="0" sz="1400" u="none" cap="none" strike="noStrike">
              <a:solidFill>
                <a:schemeClr val="dk1"/>
              </a:solidFill>
              <a:latin typeface="Calibri"/>
              <a:ea typeface="Calibri"/>
              <a:cs typeface="Calibri"/>
              <a:sym typeface="Calibri"/>
            </a:endParaRPr>
          </a:p>
        </p:txBody>
      </p:sp>
      <p:sp>
        <p:nvSpPr>
          <p:cNvPr id="1618" name="Google Shape;1618;p40"/>
          <p:cNvSpPr/>
          <p:nvPr/>
        </p:nvSpPr>
        <p:spPr>
          <a:xfrm>
            <a:off x="3470148" y="3840480"/>
            <a:ext cx="2263200" cy="82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BDC"/>
              </a:buClr>
              <a:buSzPts val="1100"/>
              <a:buFont typeface="Calibri"/>
              <a:buNone/>
            </a:pPr>
            <a:r>
              <a:rPr b="0" i="0" lang="en" sz="1100" u="none" cap="none" strike="noStrike">
                <a:solidFill>
                  <a:srgbClr val="C9DBDC"/>
                </a:solidFill>
                <a:latin typeface="Calibri"/>
                <a:ea typeface="Calibri"/>
                <a:cs typeface="Calibri"/>
                <a:sym typeface="Calibri"/>
              </a:rPr>
              <a:t>Give it a query; it returns the nearest chunks by meaning, ranked.</a:t>
            </a:r>
            <a:endParaRPr b="0" i="0" sz="1100" u="none" cap="none" strike="noStrike">
              <a:solidFill>
                <a:schemeClr val="dk1"/>
              </a:solidFill>
              <a:latin typeface="Calibri"/>
              <a:ea typeface="Calibri"/>
              <a:cs typeface="Calibri"/>
              <a:sym typeface="Calibri"/>
            </a:endParaRPr>
          </a:p>
        </p:txBody>
      </p:sp>
      <p:sp>
        <p:nvSpPr>
          <p:cNvPr id="1619" name="Google Shape;1619;p40"/>
          <p:cNvSpPr/>
          <p:nvPr/>
        </p:nvSpPr>
        <p:spPr>
          <a:xfrm>
            <a:off x="6048756" y="2571750"/>
            <a:ext cx="2674500" cy="2160300"/>
          </a:xfrm>
          <a:prstGeom prst="roundRect">
            <a:avLst>
              <a:gd fmla="val 3492" name="adj"/>
            </a:avLst>
          </a:prstGeom>
          <a:solidFill>
            <a:srgbClr val="0F3A45"/>
          </a:solidFill>
          <a:ln cap="flat" cmpd="sng" w="9525">
            <a:solidFill>
              <a:srgbClr val="1C4C58"/>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0" name="Google Shape;1620;p40"/>
          <p:cNvSpPr/>
          <p:nvPr/>
        </p:nvSpPr>
        <p:spPr>
          <a:xfrm>
            <a:off x="6288786" y="2811780"/>
            <a:ext cx="480300" cy="480300"/>
          </a:xfrm>
          <a:prstGeom prst="ellipse">
            <a:avLst/>
          </a:prstGeom>
          <a:solidFill>
            <a:srgbClr val="6FCBBE"/>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1" name="Google Shape;1621;p40"/>
          <p:cNvSpPr/>
          <p:nvPr/>
        </p:nvSpPr>
        <p:spPr>
          <a:xfrm>
            <a:off x="6288786" y="2811780"/>
            <a:ext cx="480300" cy="48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1200"/>
              <a:buFont typeface="Cambria"/>
              <a:buNone/>
            </a:pPr>
            <a:r>
              <a:rPr b="1" i="0" lang="en" sz="1200" u="none" cap="none" strike="noStrike">
                <a:solidFill>
                  <a:srgbClr val="0B2B36"/>
                </a:solidFill>
                <a:latin typeface="Cambria"/>
                <a:ea typeface="Cambria"/>
                <a:cs typeface="Cambria"/>
                <a:sym typeface="Cambria"/>
              </a:rPr>
              <a:t>⤢</a:t>
            </a:r>
            <a:endParaRPr b="0" i="0" sz="1200" u="none" cap="none" strike="noStrike">
              <a:solidFill>
                <a:schemeClr val="dk1"/>
              </a:solidFill>
              <a:latin typeface="Calibri"/>
              <a:ea typeface="Calibri"/>
              <a:cs typeface="Calibri"/>
              <a:sym typeface="Calibri"/>
            </a:endParaRPr>
          </a:p>
        </p:txBody>
      </p:sp>
      <p:sp>
        <p:nvSpPr>
          <p:cNvPr id="1622" name="Google Shape;1622;p40"/>
          <p:cNvSpPr/>
          <p:nvPr/>
        </p:nvSpPr>
        <p:spPr>
          <a:xfrm>
            <a:off x="6288786" y="3429000"/>
            <a:ext cx="22632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Scales up</a:t>
            </a:r>
            <a:endParaRPr b="0" i="0" sz="1400" u="none" cap="none" strike="noStrike">
              <a:solidFill>
                <a:schemeClr val="dk1"/>
              </a:solidFill>
              <a:latin typeface="Calibri"/>
              <a:ea typeface="Calibri"/>
              <a:cs typeface="Calibri"/>
              <a:sym typeface="Calibri"/>
            </a:endParaRPr>
          </a:p>
        </p:txBody>
      </p:sp>
      <p:sp>
        <p:nvSpPr>
          <p:cNvPr id="1623" name="Google Shape;1623;p40"/>
          <p:cNvSpPr/>
          <p:nvPr/>
        </p:nvSpPr>
        <p:spPr>
          <a:xfrm>
            <a:off x="6288786" y="3840480"/>
            <a:ext cx="2263200" cy="82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BDC"/>
              </a:buClr>
              <a:buSzPts val="1100"/>
              <a:buFont typeface="Calibri"/>
              <a:buNone/>
            </a:pPr>
            <a:r>
              <a:rPr b="0" i="0" lang="en" sz="1100" u="none" cap="none" strike="noStrike">
                <a:solidFill>
                  <a:srgbClr val="C9DBDC"/>
                </a:solidFill>
                <a:latin typeface="Calibri"/>
                <a:ea typeface="Calibri"/>
                <a:cs typeface="Calibri"/>
                <a:sym typeface="Calibri"/>
              </a:rPr>
              <a:t>Built to search millions of vectors in milliseconds — the naive way can’t.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7"/>
        </a:solidFill>
      </p:bgPr>
    </p:bg>
    <p:spTree>
      <p:nvGrpSpPr>
        <p:cNvPr id="1628" name="Shape 1628"/>
        <p:cNvGrpSpPr/>
        <p:nvPr/>
      </p:nvGrpSpPr>
      <p:grpSpPr>
        <a:xfrm>
          <a:off x="0" y="0"/>
          <a:ext cx="0" cy="0"/>
          <a:chOff x="0" y="0"/>
          <a:chExt cx="0" cy="0"/>
        </a:xfrm>
      </p:grpSpPr>
      <p:sp>
        <p:nvSpPr>
          <p:cNvPr id="1629" name="Google Shape;1629;p41"/>
          <p:cNvSpPr/>
          <p:nvPr/>
        </p:nvSpPr>
        <p:spPr>
          <a:xfrm>
            <a:off x="411480" y="288036"/>
            <a:ext cx="83187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2300"/>
              <a:buFont typeface="Cambria"/>
              <a:buNone/>
            </a:pPr>
            <a:r>
              <a:rPr b="1" i="0" lang="en" sz="2300" u="none" cap="none" strike="noStrike">
                <a:solidFill>
                  <a:srgbClr val="0B2B36"/>
                </a:solidFill>
                <a:latin typeface="Cambria"/>
                <a:ea typeface="Cambria"/>
                <a:cs typeface="Cambria"/>
                <a:sym typeface="Cambria"/>
              </a:rPr>
              <a:t>Two tools you’ll meet: ChromaDB vs FAISS</a:t>
            </a:r>
            <a:endParaRPr b="0" i="0" sz="2300" u="none" cap="none" strike="noStrike">
              <a:solidFill>
                <a:schemeClr val="dk1"/>
              </a:solidFill>
              <a:latin typeface="Calibri"/>
              <a:ea typeface="Calibri"/>
              <a:cs typeface="Calibri"/>
              <a:sym typeface="Calibri"/>
            </a:endParaRPr>
          </a:p>
        </p:txBody>
      </p:sp>
      <p:sp>
        <p:nvSpPr>
          <p:cNvPr id="1630" name="Google Shape;1630;p41"/>
          <p:cNvSpPr/>
          <p:nvPr/>
        </p:nvSpPr>
        <p:spPr>
          <a:xfrm>
            <a:off x="425196" y="850392"/>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Calibri"/>
              <a:buNone/>
            </a:pPr>
            <a:r>
              <a:rPr b="0" i="1" lang="en" sz="1100" u="none" cap="none" strike="noStrike">
                <a:solidFill>
                  <a:srgbClr val="2A9D8F"/>
                </a:solidFill>
                <a:latin typeface="Calibri"/>
                <a:ea typeface="Calibri"/>
                <a:cs typeface="Calibri"/>
                <a:sym typeface="Calibri"/>
              </a:rPr>
              <a:t>A ready-made database vs a raw search engine you assemble yourself</a:t>
            </a:r>
            <a:endParaRPr b="0" i="0" sz="1100" u="none" cap="none" strike="noStrike">
              <a:solidFill>
                <a:schemeClr val="dk1"/>
              </a:solidFill>
              <a:latin typeface="Calibri"/>
              <a:ea typeface="Calibri"/>
              <a:cs typeface="Calibri"/>
              <a:sym typeface="Calibri"/>
            </a:endParaRPr>
          </a:p>
        </p:txBody>
      </p:sp>
      <p:sp>
        <p:nvSpPr>
          <p:cNvPr id="1631" name="Google Shape;1631;p41"/>
          <p:cNvSpPr/>
          <p:nvPr/>
        </p:nvSpPr>
        <p:spPr>
          <a:xfrm>
            <a:off x="411480" y="1346765"/>
            <a:ext cx="4011900" cy="3326100"/>
          </a:xfrm>
          <a:prstGeom prst="roundRect">
            <a:avLst>
              <a:gd fmla="val 2268" name="adj"/>
            </a:avLst>
          </a:prstGeom>
          <a:solidFill>
            <a:srgbClr val="0D5C63"/>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2" name="Google Shape;1632;p41"/>
          <p:cNvSpPr/>
          <p:nvPr/>
        </p:nvSpPr>
        <p:spPr>
          <a:xfrm>
            <a:off x="651510" y="1543050"/>
            <a:ext cx="411600" cy="411600"/>
          </a:xfrm>
          <a:prstGeom prst="ellipse">
            <a:avLst/>
          </a:prstGeom>
          <a:solidFill>
            <a:srgbClr val="6FCBBE"/>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3" name="Google Shape;1633;p41"/>
          <p:cNvSpPr/>
          <p:nvPr/>
        </p:nvSpPr>
        <p:spPr>
          <a:xfrm>
            <a:off x="651510" y="154305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1000"/>
              <a:buFont typeface="Cambria"/>
              <a:buNone/>
            </a:pPr>
            <a:r>
              <a:rPr b="1" i="0" lang="en" sz="1000" u="none" cap="none" strike="noStrike">
                <a:solidFill>
                  <a:srgbClr val="0B2B36"/>
                </a:solidFill>
                <a:latin typeface="Cambria"/>
                <a:ea typeface="Cambria"/>
                <a:cs typeface="Cambria"/>
                <a:sym typeface="Cambria"/>
              </a:rPr>
              <a:t>C</a:t>
            </a:r>
            <a:endParaRPr b="0" i="0" sz="1000" u="none" cap="none" strike="noStrike">
              <a:solidFill>
                <a:schemeClr val="dk1"/>
              </a:solidFill>
              <a:latin typeface="Calibri"/>
              <a:ea typeface="Calibri"/>
              <a:cs typeface="Calibri"/>
              <a:sym typeface="Calibri"/>
            </a:endParaRPr>
          </a:p>
        </p:txBody>
      </p:sp>
      <p:sp>
        <p:nvSpPr>
          <p:cNvPr id="1634" name="Google Shape;1634;p41"/>
          <p:cNvSpPr/>
          <p:nvPr/>
        </p:nvSpPr>
        <p:spPr>
          <a:xfrm>
            <a:off x="1165860" y="1543050"/>
            <a:ext cx="315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ChromaDB</a:t>
            </a:r>
            <a:endParaRPr b="0" i="0" sz="1700" u="none" cap="none" strike="noStrike">
              <a:solidFill>
                <a:schemeClr val="dk1"/>
              </a:solidFill>
              <a:latin typeface="Calibri"/>
              <a:ea typeface="Calibri"/>
              <a:cs typeface="Calibri"/>
              <a:sym typeface="Calibri"/>
            </a:endParaRPr>
          </a:p>
        </p:txBody>
      </p:sp>
      <p:sp>
        <p:nvSpPr>
          <p:cNvPr id="1635" name="Google Shape;1635;p41"/>
          <p:cNvSpPr/>
          <p:nvPr/>
        </p:nvSpPr>
        <p:spPr>
          <a:xfrm>
            <a:off x="1165860" y="1954530"/>
            <a:ext cx="3154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CBBE"/>
              </a:buClr>
              <a:buSzPts val="1000"/>
              <a:buFont typeface="Calibri"/>
              <a:buNone/>
            </a:pPr>
            <a:r>
              <a:rPr b="0" i="1" lang="en" sz="1000" u="none" cap="none" strike="noStrike">
                <a:solidFill>
                  <a:srgbClr val="6FCBBE"/>
                </a:solidFill>
                <a:latin typeface="Calibri"/>
                <a:ea typeface="Calibri"/>
                <a:cs typeface="Calibri"/>
                <a:sym typeface="Calibri"/>
              </a:rPr>
              <a:t>a database</a:t>
            </a:r>
            <a:endParaRPr b="0" i="0" sz="1000" u="none" cap="none" strike="noStrike">
              <a:solidFill>
                <a:schemeClr val="dk1"/>
              </a:solidFill>
              <a:latin typeface="Calibri"/>
              <a:ea typeface="Calibri"/>
              <a:cs typeface="Calibri"/>
              <a:sym typeface="Calibri"/>
            </a:endParaRPr>
          </a:p>
        </p:txBody>
      </p:sp>
      <p:sp>
        <p:nvSpPr>
          <p:cNvPr id="1636" name="Google Shape;1636;p41"/>
          <p:cNvSpPr/>
          <p:nvPr/>
        </p:nvSpPr>
        <p:spPr>
          <a:xfrm>
            <a:off x="685800" y="2407158"/>
            <a:ext cx="102900" cy="102900"/>
          </a:xfrm>
          <a:prstGeom prst="ellipse">
            <a:avLst/>
          </a:prstGeom>
          <a:solidFill>
            <a:srgbClr val="6FCBB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7" name="Google Shape;1637;p41"/>
          <p:cNvSpPr/>
          <p:nvPr/>
        </p:nvSpPr>
        <p:spPr>
          <a:xfrm>
            <a:off x="891540" y="2366010"/>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Stores text + metadata + vectors together — automatically</a:t>
            </a:r>
            <a:endParaRPr b="0" i="0" sz="1100" u="none" cap="none" strike="noStrike">
              <a:solidFill>
                <a:schemeClr val="dk1"/>
              </a:solidFill>
              <a:latin typeface="Calibri"/>
              <a:ea typeface="Calibri"/>
              <a:cs typeface="Calibri"/>
              <a:sym typeface="Calibri"/>
            </a:endParaRPr>
          </a:p>
        </p:txBody>
      </p:sp>
      <p:sp>
        <p:nvSpPr>
          <p:cNvPr id="1638" name="Google Shape;1638;p41"/>
          <p:cNvSpPr/>
          <p:nvPr/>
        </p:nvSpPr>
        <p:spPr>
          <a:xfrm>
            <a:off x="685800" y="2859786"/>
            <a:ext cx="102900" cy="102900"/>
          </a:xfrm>
          <a:prstGeom prst="ellipse">
            <a:avLst/>
          </a:prstGeom>
          <a:solidFill>
            <a:srgbClr val="6FCBB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9" name="Google Shape;1639;p41"/>
          <p:cNvSpPr/>
          <p:nvPr/>
        </p:nvSpPr>
        <p:spPr>
          <a:xfrm>
            <a:off x="891540" y="2818638"/>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Saves to disk (persists) on its own</a:t>
            </a:r>
            <a:endParaRPr b="0" i="0" sz="1100" u="none" cap="none" strike="noStrike">
              <a:solidFill>
                <a:schemeClr val="dk1"/>
              </a:solidFill>
              <a:latin typeface="Calibri"/>
              <a:ea typeface="Calibri"/>
              <a:cs typeface="Calibri"/>
              <a:sym typeface="Calibri"/>
            </a:endParaRPr>
          </a:p>
        </p:txBody>
      </p:sp>
      <p:sp>
        <p:nvSpPr>
          <p:cNvPr id="1640" name="Google Shape;1640;p41"/>
          <p:cNvSpPr/>
          <p:nvPr/>
        </p:nvSpPr>
        <p:spPr>
          <a:xfrm>
            <a:off x="685800" y="3312414"/>
            <a:ext cx="102900" cy="102900"/>
          </a:xfrm>
          <a:prstGeom prst="ellipse">
            <a:avLst/>
          </a:prstGeom>
          <a:solidFill>
            <a:srgbClr val="6FCBB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1" name="Google Shape;1641;p41"/>
          <p:cNvSpPr/>
          <p:nvPr/>
        </p:nvSpPr>
        <p:spPr>
          <a:xfrm>
            <a:off x="891540" y="3271266"/>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Filters by metadata out of the box</a:t>
            </a:r>
            <a:endParaRPr b="0" i="0" sz="1100" u="none" cap="none" strike="noStrike">
              <a:solidFill>
                <a:schemeClr val="dk1"/>
              </a:solidFill>
              <a:latin typeface="Calibri"/>
              <a:ea typeface="Calibri"/>
              <a:cs typeface="Calibri"/>
              <a:sym typeface="Calibri"/>
            </a:endParaRPr>
          </a:p>
        </p:txBody>
      </p:sp>
      <p:sp>
        <p:nvSpPr>
          <p:cNvPr id="1642" name="Google Shape;1642;p41"/>
          <p:cNvSpPr/>
          <p:nvPr/>
        </p:nvSpPr>
        <p:spPr>
          <a:xfrm>
            <a:off x="685800" y="3765042"/>
            <a:ext cx="102900" cy="102900"/>
          </a:xfrm>
          <a:prstGeom prst="ellipse">
            <a:avLst/>
          </a:prstGeom>
          <a:solidFill>
            <a:srgbClr val="6FCBB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3" name="Google Shape;1643;p41"/>
          <p:cNvSpPr/>
          <p:nvPr/>
        </p:nvSpPr>
        <p:spPr>
          <a:xfrm>
            <a:off x="891540" y="3723894"/>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A working search service in ~10 lines</a:t>
            </a:r>
            <a:endParaRPr b="0" i="0" sz="1100" u="none" cap="none" strike="noStrike">
              <a:solidFill>
                <a:schemeClr val="dk1"/>
              </a:solidFill>
              <a:latin typeface="Calibri"/>
              <a:ea typeface="Calibri"/>
              <a:cs typeface="Calibri"/>
              <a:sym typeface="Calibri"/>
            </a:endParaRPr>
          </a:p>
        </p:txBody>
      </p:sp>
      <p:sp>
        <p:nvSpPr>
          <p:cNvPr id="1644" name="Google Shape;1644;p41"/>
          <p:cNvSpPr/>
          <p:nvPr/>
        </p:nvSpPr>
        <p:spPr>
          <a:xfrm>
            <a:off x="685800" y="4217670"/>
            <a:ext cx="102900" cy="102900"/>
          </a:xfrm>
          <a:prstGeom prst="ellipse">
            <a:avLst/>
          </a:prstGeom>
          <a:solidFill>
            <a:srgbClr val="6FCBB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5" name="Google Shape;1645;p41"/>
          <p:cNvSpPr/>
          <p:nvPr/>
        </p:nvSpPr>
        <p:spPr>
          <a:xfrm>
            <a:off x="891540" y="4176522"/>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Best up to a few million vectors</a:t>
            </a:r>
            <a:endParaRPr b="0" i="0" sz="1100" u="none" cap="none" strike="noStrike">
              <a:solidFill>
                <a:schemeClr val="dk1"/>
              </a:solidFill>
              <a:latin typeface="Calibri"/>
              <a:ea typeface="Calibri"/>
              <a:cs typeface="Calibri"/>
              <a:sym typeface="Calibri"/>
            </a:endParaRPr>
          </a:p>
        </p:txBody>
      </p:sp>
      <p:sp>
        <p:nvSpPr>
          <p:cNvPr id="1646" name="Google Shape;1646;p41"/>
          <p:cNvSpPr/>
          <p:nvPr/>
        </p:nvSpPr>
        <p:spPr>
          <a:xfrm>
            <a:off x="4732020" y="1337310"/>
            <a:ext cx="3998100" cy="3326100"/>
          </a:xfrm>
          <a:prstGeom prst="roundRect">
            <a:avLst>
              <a:gd fmla="val 2268"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7" name="Google Shape;1647;p41"/>
          <p:cNvSpPr/>
          <p:nvPr/>
        </p:nvSpPr>
        <p:spPr>
          <a:xfrm>
            <a:off x="4972050" y="1543050"/>
            <a:ext cx="411600" cy="411600"/>
          </a:xfrm>
          <a:prstGeom prst="ellipse">
            <a:avLst/>
          </a:prstGeom>
          <a:solidFill>
            <a:srgbClr val="E9A23B"/>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8" name="Google Shape;1648;p41"/>
          <p:cNvSpPr/>
          <p:nvPr/>
        </p:nvSpPr>
        <p:spPr>
          <a:xfrm>
            <a:off x="4972050" y="154305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1000"/>
              <a:buFont typeface="Cambria"/>
              <a:buNone/>
            </a:pPr>
            <a:r>
              <a:rPr b="1" i="0" lang="en" sz="1000" u="none" cap="none" strike="noStrike">
                <a:solidFill>
                  <a:srgbClr val="0B2B36"/>
                </a:solidFill>
                <a:latin typeface="Cambria"/>
                <a:ea typeface="Cambria"/>
                <a:cs typeface="Cambria"/>
                <a:sym typeface="Cambria"/>
              </a:rPr>
              <a:t>F</a:t>
            </a:r>
            <a:endParaRPr b="0" i="0" sz="1000" u="none" cap="none" strike="noStrike">
              <a:solidFill>
                <a:schemeClr val="dk1"/>
              </a:solidFill>
              <a:latin typeface="Calibri"/>
              <a:ea typeface="Calibri"/>
              <a:cs typeface="Calibri"/>
              <a:sym typeface="Calibri"/>
            </a:endParaRPr>
          </a:p>
        </p:txBody>
      </p:sp>
      <p:sp>
        <p:nvSpPr>
          <p:cNvPr id="1649" name="Google Shape;1649;p41"/>
          <p:cNvSpPr/>
          <p:nvPr/>
        </p:nvSpPr>
        <p:spPr>
          <a:xfrm>
            <a:off x="5486400" y="1543050"/>
            <a:ext cx="315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700"/>
              <a:buFont typeface="Cambria"/>
              <a:buNone/>
            </a:pPr>
            <a:r>
              <a:rPr b="1" i="0" lang="en" sz="1700" u="none" cap="none" strike="noStrike">
                <a:solidFill>
                  <a:srgbClr val="1A2B32"/>
                </a:solidFill>
                <a:latin typeface="Cambria"/>
                <a:ea typeface="Cambria"/>
                <a:cs typeface="Cambria"/>
                <a:sym typeface="Cambria"/>
              </a:rPr>
              <a:t>FAISS</a:t>
            </a:r>
            <a:endParaRPr b="0" i="0" sz="1700" u="none" cap="none" strike="noStrike">
              <a:solidFill>
                <a:schemeClr val="dk1"/>
              </a:solidFill>
              <a:latin typeface="Calibri"/>
              <a:ea typeface="Calibri"/>
              <a:cs typeface="Calibri"/>
              <a:sym typeface="Calibri"/>
            </a:endParaRPr>
          </a:p>
        </p:txBody>
      </p:sp>
      <p:sp>
        <p:nvSpPr>
          <p:cNvPr id="1650" name="Google Shape;1650;p41"/>
          <p:cNvSpPr/>
          <p:nvPr/>
        </p:nvSpPr>
        <p:spPr>
          <a:xfrm>
            <a:off x="5486400" y="1954530"/>
            <a:ext cx="3154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6F51"/>
              </a:buClr>
              <a:buSzPts val="1000"/>
              <a:buFont typeface="Calibri"/>
              <a:buNone/>
            </a:pPr>
            <a:r>
              <a:rPr b="0" i="1" lang="en" sz="1000" u="none" cap="none" strike="noStrike">
                <a:solidFill>
                  <a:srgbClr val="E76F51"/>
                </a:solidFill>
                <a:latin typeface="Calibri"/>
                <a:ea typeface="Calibri"/>
                <a:cs typeface="Calibri"/>
                <a:sym typeface="Calibri"/>
              </a:rPr>
              <a:t>a library</a:t>
            </a:r>
            <a:endParaRPr b="0" i="0" sz="1000" u="none" cap="none" strike="noStrike">
              <a:solidFill>
                <a:schemeClr val="dk1"/>
              </a:solidFill>
              <a:latin typeface="Calibri"/>
              <a:ea typeface="Calibri"/>
              <a:cs typeface="Calibri"/>
              <a:sym typeface="Calibri"/>
            </a:endParaRPr>
          </a:p>
        </p:txBody>
      </p:sp>
      <p:sp>
        <p:nvSpPr>
          <p:cNvPr id="1651" name="Google Shape;1651;p41"/>
          <p:cNvSpPr/>
          <p:nvPr/>
        </p:nvSpPr>
        <p:spPr>
          <a:xfrm>
            <a:off x="5006340" y="2407158"/>
            <a:ext cx="102900" cy="102900"/>
          </a:xfrm>
          <a:prstGeom prst="ellipse">
            <a:avLst/>
          </a:prstGeom>
          <a:solidFill>
            <a:srgbClr val="E9A2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2" name="Google Shape;1652;p41"/>
          <p:cNvSpPr/>
          <p:nvPr/>
        </p:nvSpPr>
        <p:spPr>
          <a:xfrm>
            <a:off x="5212080" y="2366010"/>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100"/>
              <a:buFont typeface="Calibri"/>
              <a:buNone/>
            </a:pPr>
            <a:r>
              <a:rPr b="0" i="0" lang="en" sz="1100" u="none" cap="none" strike="noStrike">
                <a:solidFill>
                  <a:srgbClr val="1A2B32"/>
                </a:solidFill>
                <a:latin typeface="Calibri"/>
                <a:ea typeface="Calibri"/>
                <a:cs typeface="Calibri"/>
                <a:sym typeface="Calibri"/>
              </a:rPr>
              <a:t>Extremely fast, highly tunable — scales to billions</a:t>
            </a:r>
            <a:endParaRPr b="0" i="0" sz="1100" u="none" cap="none" strike="noStrike">
              <a:solidFill>
                <a:schemeClr val="dk1"/>
              </a:solidFill>
              <a:latin typeface="Calibri"/>
              <a:ea typeface="Calibri"/>
              <a:cs typeface="Calibri"/>
              <a:sym typeface="Calibri"/>
            </a:endParaRPr>
          </a:p>
        </p:txBody>
      </p:sp>
      <p:sp>
        <p:nvSpPr>
          <p:cNvPr id="1653" name="Google Shape;1653;p41"/>
          <p:cNvSpPr/>
          <p:nvPr/>
        </p:nvSpPr>
        <p:spPr>
          <a:xfrm>
            <a:off x="5006340" y="2859786"/>
            <a:ext cx="102900" cy="102900"/>
          </a:xfrm>
          <a:prstGeom prst="ellipse">
            <a:avLst/>
          </a:prstGeom>
          <a:solidFill>
            <a:srgbClr val="E9A2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4" name="Google Shape;1654;p41"/>
          <p:cNvSpPr/>
          <p:nvPr/>
        </p:nvSpPr>
        <p:spPr>
          <a:xfrm>
            <a:off x="5212080" y="2818638"/>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100"/>
              <a:buFont typeface="Calibri"/>
              <a:buNone/>
            </a:pPr>
            <a:r>
              <a:rPr b="0" i="0" lang="en" sz="1100" u="none" cap="none" strike="noStrike">
                <a:solidFill>
                  <a:srgbClr val="1A2B32"/>
                </a:solidFill>
                <a:latin typeface="Calibri"/>
                <a:ea typeface="Calibri"/>
                <a:cs typeface="Calibri"/>
                <a:sym typeface="Calibri"/>
              </a:rPr>
              <a:t>Full control over index type &amp; compression</a:t>
            </a:r>
            <a:endParaRPr b="0" i="0" sz="1100" u="none" cap="none" strike="noStrike">
              <a:solidFill>
                <a:schemeClr val="dk1"/>
              </a:solidFill>
              <a:latin typeface="Calibri"/>
              <a:ea typeface="Calibri"/>
              <a:cs typeface="Calibri"/>
              <a:sym typeface="Calibri"/>
            </a:endParaRPr>
          </a:p>
        </p:txBody>
      </p:sp>
      <p:sp>
        <p:nvSpPr>
          <p:cNvPr id="1655" name="Google Shape;1655;p41"/>
          <p:cNvSpPr/>
          <p:nvPr/>
        </p:nvSpPr>
        <p:spPr>
          <a:xfrm>
            <a:off x="5006340" y="3312414"/>
            <a:ext cx="102900" cy="102900"/>
          </a:xfrm>
          <a:prstGeom prst="ellipse">
            <a:avLst/>
          </a:prstGeom>
          <a:solidFill>
            <a:srgbClr val="E76F5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6" name="Google Shape;1656;p41"/>
          <p:cNvSpPr/>
          <p:nvPr/>
        </p:nvSpPr>
        <p:spPr>
          <a:xfrm>
            <a:off x="5212080" y="3271266"/>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100"/>
              <a:buFont typeface="Calibri"/>
              <a:buNone/>
            </a:pPr>
            <a:r>
              <a:rPr b="0" i="0" lang="en" sz="1100" u="none" cap="none" strike="noStrike">
                <a:solidFill>
                  <a:srgbClr val="1A2B32"/>
                </a:solidFill>
                <a:latin typeface="Calibri"/>
                <a:ea typeface="Calibri"/>
                <a:cs typeface="Calibri"/>
                <a:sym typeface="Calibri"/>
              </a:rPr>
              <a:t>NOT a database: no text, metadata, or persistence</a:t>
            </a:r>
            <a:endParaRPr b="0" i="0" sz="1100" u="none" cap="none" strike="noStrike">
              <a:solidFill>
                <a:schemeClr val="dk1"/>
              </a:solidFill>
              <a:latin typeface="Calibri"/>
              <a:ea typeface="Calibri"/>
              <a:cs typeface="Calibri"/>
              <a:sym typeface="Calibri"/>
            </a:endParaRPr>
          </a:p>
        </p:txBody>
      </p:sp>
      <p:sp>
        <p:nvSpPr>
          <p:cNvPr id="1657" name="Google Shape;1657;p41"/>
          <p:cNvSpPr/>
          <p:nvPr/>
        </p:nvSpPr>
        <p:spPr>
          <a:xfrm>
            <a:off x="5006340" y="3765042"/>
            <a:ext cx="102900" cy="102900"/>
          </a:xfrm>
          <a:prstGeom prst="ellipse">
            <a:avLst/>
          </a:prstGeom>
          <a:solidFill>
            <a:srgbClr val="E76F5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8" name="Google Shape;1658;p41"/>
          <p:cNvSpPr/>
          <p:nvPr/>
        </p:nvSpPr>
        <p:spPr>
          <a:xfrm>
            <a:off x="5212080" y="3723894"/>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100"/>
              <a:buFont typeface="Calibri"/>
              <a:buNone/>
            </a:pPr>
            <a:r>
              <a:rPr b="0" i="0" lang="en" sz="1100" u="none" cap="none" strike="noStrike">
                <a:solidFill>
                  <a:srgbClr val="1A2B32"/>
                </a:solidFill>
                <a:latin typeface="Calibri"/>
                <a:ea typeface="Calibri"/>
                <a:cs typeface="Calibri"/>
                <a:sym typeface="Calibri"/>
              </a:rPr>
              <a:t>You keep the id → text/metadata map yourself</a:t>
            </a:r>
            <a:endParaRPr b="0" i="0" sz="1100" u="none" cap="none" strike="noStrike">
              <a:solidFill>
                <a:schemeClr val="dk1"/>
              </a:solidFill>
              <a:latin typeface="Calibri"/>
              <a:ea typeface="Calibri"/>
              <a:cs typeface="Calibri"/>
              <a:sym typeface="Calibri"/>
            </a:endParaRPr>
          </a:p>
        </p:txBody>
      </p:sp>
      <p:sp>
        <p:nvSpPr>
          <p:cNvPr id="1659" name="Google Shape;1659;p41"/>
          <p:cNvSpPr/>
          <p:nvPr/>
        </p:nvSpPr>
        <p:spPr>
          <a:xfrm>
            <a:off x="5006340" y="4217670"/>
            <a:ext cx="102900" cy="102900"/>
          </a:xfrm>
          <a:prstGeom prst="ellipse">
            <a:avLst/>
          </a:prstGeom>
          <a:solidFill>
            <a:srgbClr val="E76F5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0" name="Google Shape;1660;p41"/>
          <p:cNvSpPr/>
          <p:nvPr/>
        </p:nvSpPr>
        <p:spPr>
          <a:xfrm>
            <a:off x="5212080" y="4176522"/>
            <a:ext cx="339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100"/>
              <a:buFont typeface="Calibri"/>
              <a:buNone/>
            </a:pPr>
            <a:r>
              <a:rPr b="0" i="0" lang="en" sz="1100" u="none" cap="none" strike="noStrike">
                <a:solidFill>
                  <a:srgbClr val="1A2B32"/>
                </a:solidFill>
                <a:latin typeface="Calibri"/>
                <a:ea typeface="Calibri"/>
                <a:cs typeface="Calibri"/>
                <a:sym typeface="Calibri"/>
              </a:rPr>
              <a:t>Lose that map = “numbers but no documents” bug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FAISS</a:t>
            </a:r>
            <a:endParaRPr b="1"/>
          </a:p>
        </p:txBody>
      </p:sp>
      <p:sp>
        <p:nvSpPr>
          <p:cNvPr id="1666" name="Google Shape;166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Faiss</a:t>
            </a:r>
            <a:r>
              <a:rPr lang="en"/>
              <a:t> </a:t>
            </a:r>
            <a:r>
              <a:rPr lang="en" sz="1600">
                <a:solidFill>
                  <a:schemeClr val="dk1"/>
                </a:solidFill>
              </a:rPr>
              <a:t>is a library for efficient similarity search and clustering of dense vectors. It contains algorithms that search in sets of vectors of any size, up to ones that possibly do not fit in RAM.</a:t>
            </a:r>
            <a:endParaRPr sz="1600">
              <a:solidFill>
                <a:schemeClr val="dk1"/>
              </a:solidFill>
            </a:endParaRPr>
          </a:p>
          <a:p>
            <a:pPr indent="0" lvl="0" marL="0" rtl="0" algn="l">
              <a:spcBef>
                <a:spcPts val="1200"/>
              </a:spcBef>
              <a:spcAft>
                <a:spcPts val="0"/>
              </a:spcAft>
              <a:buNone/>
            </a:pPr>
            <a:r>
              <a:rPr lang="en" sz="1600">
                <a:solidFill>
                  <a:schemeClr val="dk1"/>
                </a:solidFill>
              </a:rPr>
              <a:t>Two main approaches:</a:t>
            </a:r>
            <a:endParaRPr sz="1600">
              <a:solidFill>
                <a:schemeClr val="dk1"/>
              </a:solidFill>
            </a:endParaRPr>
          </a:p>
          <a:p>
            <a:pPr indent="-330200" lvl="0" marL="457200" rtl="0" algn="l">
              <a:spcBef>
                <a:spcPts val="1200"/>
              </a:spcBef>
              <a:spcAft>
                <a:spcPts val="0"/>
              </a:spcAft>
              <a:buClr>
                <a:schemeClr val="dk1"/>
              </a:buClr>
              <a:buSzPts val="1600"/>
              <a:buAutoNum type="arabicPeriod"/>
            </a:pPr>
            <a:r>
              <a:rPr b="1" lang="en" sz="1600">
                <a:solidFill>
                  <a:schemeClr val="dk1"/>
                </a:solidFill>
              </a:rPr>
              <a:t>IndexFlatL2 </a:t>
            </a:r>
            <a:r>
              <a:rPr lang="en" sz="1600">
                <a:solidFill>
                  <a:schemeClr val="dk1"/>
                </a:solidFill>
              </a:rPr>
              <a:t>: Exact L2 matching but faster than manual implementation</a:t>
            </a:r>
            <a:endParaRPr sz="1600">
              <a:solidFill>
                <a:schemeClr val="dk1"/>
              </a:solidFill>
            </a:endParaRPr>
          </a:p>
          <a:p>
            <a:pPr indent="-330200" lvl="0" marL="457200" rtl="0" algn="l">
              <a:spcBef>
                <a:spcPts val="0"/>
              </a:spcBef>
              <a:spcAft>
                <a:spcPts val="0"/>
              </a:spcAft>
              <a:buClr>
                <a:schemeClr val="dk1"/>
              </a:buClr>
              <a:buSzPts val="1600"/>
              <a:buAutoNum type="arabicPeriod"/>
            </a:pPr>
            <a:r>
              <a:rPr b="1" lang="en" sz="1600">
                <a:solidFill>
                  <a:schemeClr val="dk1"/>
                </a:solidFill>
              </a:rPr>
              <a:t>IndexIVF </a:t>
            </a:r>
            <a:r>
              <a:rPr lang="en" sz="1600">
                <a:solidFill>
                  <a:schemeClr val="dk1"/>
                </a:solidFill>
              </a:rPr>
              <a:t>(Inverted File) : Cluster similar features together, only searches relevant clusters</a:t>
            </a:r>
            <a:endParaRPr sz="1600">
              <a:solidFill>
                <a:schemeClr val="dk1"/>
              </a:solidFill>
            </a:endParaRPr>
          </a:p>
        </p:txBody>
      </p:sp>
      <p:pic>
        <p:nvPicPr>
          <p:cNvPr id="1667" name="Google Shape;1667;p42"/>
          <p:cNvPicPr preferRelativeResize="0"/>
          <p:nvPr/>
        </p:nvPicPr>
        <p:blipFill rotWithShape="1">
          <a:blip r:embed="rId4">
            <a:alphaModFix/>
          </a:blip>
          <a:srcRect b="0" l="10510" r="4665" t="0"/>
          <a:stretch/>
        </p:blipFill>
        <p:spPr>
          <a:xfrm>
            <a:off x="4572000" y="3423225"/>
            <a:ext cx="3840825" cy="9966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2" name="Shape 1672"/>
        <p:cNvGrpSpPr/>
        <p:nvPr/>
      </p:nvGrpSpPr>
      <p:grpSpPr>
        <a:xfrm>
          <a:off x="0" y="0"/>
          <a:ext cx="0" cy="0"/>
          <a:chOff x="0" y="0"/>
          <a:chExt cx="0" cy="0"/>
        </a:xfrm>
      </p:grpSpPr>
      <p:sp>
        <p:nvSpPr>
          <p:cNvPr id="1673" name="Google Shape;1673;p43"/>
          <p:cNvSpPr/>
          <p:nvPr/>
        </p:nvSpPr>
        <p:spPr>
          <a:xfrm>
            <a:off x="457200" y="530352"/>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6B"/>
              </a:buClr>
              <a:buSzPts val="2400"/>
              <a:buFont typeface="Cambria"/>
              <a:buNone/>
            </a:pPr>
            <a:r>
              <a:rPr b="1" i="0" lang="en" sz="2400" u="none" cap="none" strike="noStrike">
                <a:solidFill>
                  <a:srgbClr val="1B2A6B"/>
                </a:solidFill>
                <a:latin typeface="Cambria"/>
                <a:ea typeface="Cambria"/>
                <a:cs typeface="Cambria"/>
                <a:sym typeface="Cambria"/>
              </a:rPr>
              <a:t>ChromaDB: a database wrapped around vector search</a:t>
            </a:r>
            <a:endParaRPr b="0" i="0" sz="2400" u="none" cap="none" strike="noStrike">
              <a:solidFill>
                <a:schemeClr val="dk1"/>
              </a:solidFill>
              <a:latin typeface="Calibri"/>
              <a:ea typeface="Calibri"/>
              <a:cs typeface="Calibri"/>
              <a:sym typeface="Calibri"/>
            </a:endParaRPr>
          </a:p>
        </p:txBody>
      </p:sp>
      <p:sp>
        <p:nvSpPr>
          <p:cNvPr id="1674" name="Google Shape;1674;p43"/>
          <p:cNvSpPr/>
          <p:nvPr/>
        </p:nvSpPr>
        <p:spPr>
          <a:xfrm>
            <a:off x="457200" y="1078992"/>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50"/>
              <a:buFont typeface="Calibri"/>
              <a:buNone/>
            </a:pPr>
            <a:r>
              <a:rPr b="0" i="0" lang="en" sz="1450" u="none" cap="none" strike="noStrike">
                <a:solidFill>
                  <a:srgbClr val="1E293B"/>
                </a:solidFill>
                <a:latin typeface="Calibri"/>
                <a:ea typeface="Calibri"/>
                <a:cs typeface="Calibri"/>
                <a:sym typeface="Calibri"/>
              </a:rPr>
              <a:t>FAISS is a </a:t>
            </a:r>
            <a:r>
              <a:rPr b="1" i="0" lang="en" sz="1450" u="none" cap="none" strike="noStrike">
                <a:solidFill>
                  <a:srgbClr val="2E5BFF"/>
                </a:solidFill>
                <a:latin typeface="Calibri"/>
                <a:ea typeface="Calibri"/>
                <a:cs typeface="Calibri"/>
                <a:sym typeface="Calibri"/>
              </a:rPr>
              <a:t>library</a:t>
            </a:r>
            <a:r>
              <a:rPr b="0" i="0" lang="en" sz="1450" u="none" cap="none" strike="noStrike">
                <a:solidFill>
                  <a:srgbClr val="1E293B"/>
                </a:solidFill>
                <a:latin typeface="Calibri"/>
                <a:ea typeface="Calibri"/>
                <a:cs typeface="Calibri"/>
                <a:sym typeface="Calibri"/>
              </a:rPr>
              <a:t> that finds nearest vectors. ChromaDB is the </a:t>
            </a:r>
            <a:r>
              <a:rPr b="1" i="0" lang="en" sz="1450" u="none" cap="none" strike="noStrike">
                <a:solidFill>
                  <a:srgbClr val="0E9594"/>
                </a:solidFill>
                <a:latin typeface="Calibri"/>
                <a:ea typeface="Calibri"/>
                <a:cs typeface="Calibri"/>
                <a:sym typeface="Calibri"/>
              </a:rPr>
              <a:t>database</a:t>
            </a:r>
            <a:r>
              <a:rPr b="0" i="0" lang="en" sz="1450" u="none" cap="none" strike="noStrike">
                <a:solidFill>
                  <a:srgbClr val="1E293B"/>
                </a:solidFill>
                <a:latin typeface="Calibri"/>
                <a:ea typeface="Calibri"/>
                <a:cs typeface="Calibri"/>
                <a:sym typeface="Calibri"/>
              </a:rPr>
              <a:t> that wraps it with everything a RAG app actually needs.</a:t>
            </a:r>
            <a:endParaRPr b="0" i="0" sz="1450" u="none" cap="none" strike="noStrike">
              <a:solidFill>
                <a:schemeClr val="dk1"/>
              </a:solidFill>
              <a:latin typeface="Calibri"/>
              <a:ea typeface="Calibri"/>
              <a:cs typeface="Calibri"/>
              <a:sym typeface="Calibri"/>
            </a:endParaRPr>
          </a:p>
        </p:txBody>
      </p:sp>
      <p:sp>
        <p:nvSpPr>
          <p:cNvPr id="1675" name="Google Shape;1675;p43"/>
          <p:cNvSpPr/>
          <p:nvPr/>
        </p:nvSpPr>
        <p:spPr>
          <a:xfrm>
            <a:off x="457200" y="1536192"/>
            <a:ext cx="3977700" cy="1965900"/>
          </a:xfrm>
          <a:prstGeom prst="roundRect">
            <a:avLst>
              <a:gd fmla="val 3721" name="adj"/>
            </a:avLst>
          </a:prstGeom>
          <a:solidFill>
            <a:srgbClr val="FBEAEA"/>
          </a:solidFill>
          <a:ln>
            <a:noFill/>
          </a:ln>
          <a:effectLst>
            <a:outerShdw blurRad="88900" rotWithShape="0" algn="bl" dir="2700000" dist="25400">
              <a:srgbClr val="000000">
                <a:alpha val="129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3"/>
          <p:cNvSpPr/>
          <p:nvPr/>
        </p:nvSpPr>
        <p:spPr>
          <a:xfrm>
            <a:off x="658368" y="1664208"/>
            <a:ext cx="36120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500"/>
              <a:buFont typeface="Cambria"/>
              <a:buNone/>
            </a:pPr>
            <a:r>
              <a:rPr b="1" i="0" lang="en" sz="1500" u="none" cap="none" strike="noStrike">
                <a:solidFill>
                  <a:srgbClr val="B91C1C"/>
                </a:solidFill>
                <a:latin typeface="Cambria"/>
                <a:ea typeface="Cambria"/>
                <a:cs typeface="Cambria"/>
                <a:sym typeface="Cambria"/>
              </a:rPr>
              <a:t>The raw-search problem</a:t>
            </a:r>
            <a:endParaRPr b="0" i="0" sz="1500" u="none" cap="none" strike="noStrike">
              <a:solidFill>
                <a:schemeClr val="dk1"/>
              </a:solidFill>
              <a:latin typeface="Calibri"/>
              <a:ea typeface="Calibri"/>
              <a:cs typeface="Calibri"/>
              <a:sym typeface="Calibri"/>
            </a:endParaRPr>
          </a:p>
        </p:txBody>
      </p:sp>
      <p:sp>
        <p:nvSpPr>
          <p:cNvPr id="1677" name="Google Shape;1677;p43"/>
          <p:cNvSpPr/>
          <p:nvPr/>
        </p:nvSpPr>
        <p:spPr>
          <a:xfrm>
            <a:off x="658368" y="2011680"/>
            <a:ext cx="3593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 sz="1250" u="none" cap="none" strike="noStrike">
                <a:solidFill>
                  <a:srgbClr val="1E293B"/>
                </a:solidFill>
                <a:latin typeface="Calibri"/>
                <a:ea typeface="Calibri"/>
                <a:cs typeface="Calibri"/>
                <a:sym typeface="Calibri"/>
              </a:rPr>
              <a:t>A bare similarity search returns </a:t>
            </a:r>
            <a:r>
              <a:rPr b="1" i="0" lang="en" sz="1250" u="none" cap="none" strike="noStrike">
                <a:solidFill>
                  <a:srgbClr val="B91C1C"/>
                </a:solidFill>
                <a:latin typeface="Calibri"/>
                <a:ea typeface="Calibri"/>
                <a:cs typeface="Calibri"/>
                <a:sym typeface="Calibri"/>
              </a:rPr>
              <a:t>numbers</a:t>
            </a:r>
            <a:r>
              <a:rPr b="0" i="0" lang="en" sz="1250" u="none" cap="none" strike="noStrike">
                <a:solidFill>
                  <a:srgbClr val="1E293B"/>
                </a:solidFill>
                <a:latin typeface="Calibri"/>
                <a:ea typeface="Calibri"/>
                <a:cs typeface="Calibri"/>
                <a:sym typeface="Calibri"/>
              </a:rPr>
              <a:t>:</a:t>
            </a:r>
            <a:endParaRPr b="0" i="0" sz="1250" u="none" cap="none" strike="noStrike">
              <a:solidFill>
                <a:schemeClr val="dk1"/>
              </a:solidFill>
              <a:latin typeface="Calibri"/>
              <a:ea typeface="Calibri"/>
              <a:cs typeface="Calibri"/>
              <a:sym typeface="Calibri"/>
            </a:endParaRPr>
          </a:p>
        </p:txBody>
      </p:sp>
      <p:sp>
        <p:nvSpPr>
          <p:cNvPr id="1678" name="Google Shape;1678;p43"/>
          <p:cNvSpPr/>
          <p:nvPr/>
        </p:nvSpPr>
        <p:spPr>
          <a:xfrm>
            <a:off x="658368" y="2322576"/>
            <a:ext cx="3575400" cy="365700"/>
          </a:xfrm>
          <a:prstGeom prst="roundRect">
            <a:avLst>
              <a:gd fmla="val 12500" name="adj"/>
            </a:avLst>
          </a:prstGeom>
          <a:solidFill>
            <a:srgbClr val="FFFFFF"/>
          </a:solidFill>
          <a:ln cap="flat" cmpd="sng" w="12700">
            <a:solidFill>
              <a:srgbClr val="E2C2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3"/>
          <p:cNvSpPr/>
          <p:nvPr/>
        </p:nvSpPr>
        <p:spPr>
          <a:xfrm>
            <a:off x="749808" y="2322576"/>
            <a:ext cx="342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onsolas"/>
              <a:buNone/>
            </a:pPr>
            <a:r>
              <a:rPr b="0" i="0" lang="en" sz="1250" u="none" cap="none" strike="noStrike">
                <a:solidFill>
                  <a:srgbClr val="1E293B"/>
                </a:solidFill>
                <a:latin typeface="Consolas"/>
                <a:ea typeface="Consolas"/>
                <a:cs typeface="Consolas"/>
                <a:sym typeface="Consolas"/>
              </a:rPr>
              <a:t>“vector #4471 is closest”</a:t>
            </a:r>
            <a:endParaRPr b="0" i="0" sz="1250" u="none" cap="none" strike="noStrike">
              <a:solidFill>
                <a:schemeClr val="dk1"/>
              </a:solidFill>
              <a:latin typeface="Calibri"/>
              <a:ea typeface="Calibri"/>
              <a:cs typeface="Calibri"/>
              <a:sym typeface="Calibri"/>
            </a:endParaRPr>
          </a:p>
        </p:txBody>
      </p:sp>
      <p:sp>
        <p:nvSpPr>
          <p:cNvPr id="1680" name="Google Shape;1680;p43"/>
          <p:cNvSpPr/>
          <p:nvPr/>
        </p:nvSpPr>
        <p:spPr>
          <a:xfrm>
            <a:off x="658368" y="2743200"/>
            <a:ext cx="35937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 but the LLM needs the </a:t>
            </a:r>
            <a:r>
              <a:rPr b="1" i="0" lang="en" sz="1150" u="none" cap="none" strike="noStrike">
                <a:solidFill>
                  <a:srgbClr val="1E293B"/>
                </a:solidFill>
                <a:latin typeface="Calibri"/>
                <a:ea typeface="Calibri"/>
                <a:cs typeface="Calibri"/>
                <a:sym typeface="Calibri"/>
              </a:rPr>
              <a:t>text</a:t>
            </a:r>
            <a:r>
              <a:rPr b="0" i="0" lang="en" sz="1150" u="none" cap="none" strike="noStrike">
                <a:solidFill>
                  <a:srgbClr val="1E293B"/>
                </a:solidFill>
                <a:latin typeface="Calibri"/>
                <a:ea typeface="Calibri"/>
                <a:cs typeface="Calibri"/>
                <a:sym typeface="Calibri"/>
              </a:rPr>
              <a:t>, and you need the </a:t>
            </a:r>
            <a:r>
              <a:rPr b="1" i="0" lang="en" sz="1150" u="none" cap="none" strike="noStrike">
                <a:solidFill>
                  <a:srgbClr val="1E293B"/>
                </a:solidFill>
                <a:latin typeface="Calibri"/>
                <a:ea typeface="Calibri"/>
                <a:cs typeface="Calibri"/>
                <a:sym typeface="Calibri"/>
              </a:rPr>
              <a:t>source</a:t>
            </a:r>
            <a:r>
              <a:rPr b="0" i="0" lang="en" sz="1150" u="none" cap="none" strike="noStrike">
                <a:solidFill>
                  <a:srgbClr val="1E293B"/>
                </a:solidFill>
                <a:latin typeface="Calibri"/>
                <a:ea typeface="Calibri"/>
                <a:cs typeface="Calibri"/>
                <a:sym typeface="Calibri"/>
              </a:rPr>
              <a:t> to filter &amp; cite. With FAISS you track that ID→text map yourself — the classic </a:t>
            </a:r>
            <a:r>
              <a:rPr b="0" i="1" lang="en" sz="1150" u="none" cap="none" strike="noStrike">
                <a:solidFill>
                  <a:srgbClr val="B91C1C"/>
                </a:solidFill>
                <a:latin typeface="Calibri"/>
                <a:ea typeface="Calibri"/>
                <a:cs typeface="Calibri"/>
                <a:sym typeface="Calibri"/>
              </a:rPr>
              <a:t>“numbers but no documents”</a:t>
            </a:r>
            <a:r>
              <a:rPr b="0" i="0" lang="en" sz="1150" u="none" cap="none" strike="noStrike">
                <a:solidFill>
                  <a:srgbClr val="1E293B"/>
                </a:solidFill>
                <a:latin typeface="Calibri"/>
                <a:ea typeface="Calibri"/>
                <a:cs typeface="Calibri"/>
                <a:sym typeface="Calibri"/>
              </a:rPr>
              <a:t> bug.</a:t>
            </a:r>
            <a:endParaRPr b="0" i="0" sz="1150" u="none" cap="none" strike="noStrike">
              <a:solidFill>
                <a:schemeClr val="dk1"/>
              </a:solidFill>
              <a:latin typeface="Calibri"/>
              <a:ea typeface="Calibri"/>
              <a:cs typeface="Calibri"/>
              <a:sym typeface="Calibri"/>
            </a:endParaRPr>
          </a:p>
        </p:txBody>
      </p:sp>
      <p:sp>
        <p:nvSpPr>
          <p:cNvPr id="1681" name="Google Shape;1681;p43"/>
          <p:cNvSpPr/>
          <p:nvPr/>
        </p:nvSpPr>
        <p:spPr>
          <a:xfrm>
            <a:off x="4709160" y="1536192"/>
            <a:ext cx="3977700" cy="1965900"/>
          </a:xfrm>
          <a:prstGeom prst="roundRect">
            <a:avLst>
              <a:gd fmla="val 3721" name="adj"/>
            </a:avLst>
          </a:prstGeom>
          <a:solidFill>
            <a:srgbClr val="E6F4F4"/>
          </a:solidFill>
          <a:ln>
            <a:noFill/>
          </a:ln>
          <a:effectLst>
            <a:outerShdw blurRad="88900" rotWithShape="0" algn="bl" dir="2700000" dist="25400">
              <a:srgbClr val="000000">
                <a:alpha val="129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2" name="Google Shape;1682;p43"/>
          <p:cNvPicPr preferRelativeResize="0"/>
          <p:nvPr/>
        </p:nvPicPr>
        <p:blipFill rotWithShape="1">
          <a:blip r:embed="rId3">
            <a:alphaModFix/>
          </a:blip>
          <a:srcRect b="0" l="0" r="0" t="0"/>
          <a:stretch/>
        </p:blipFill>
        <p:spPr>
          <a:xfrm>
            <a:off x="4910328" y="1682496"/>
            <a:ext cx="310896" cy="310896"/>
          </a:xfrm>
          <a:prstGeom prst="rect">
            <a:avLst/>
          </a:prstGeom>
          <a:noFill/>
          <a:ln>
            <a:noFill/>
          </a:ln>
        </p:spPr>
      </p:pic>
      <p:sp>
        <p:nvSpPr>
          <p:cNvPr id="1683" name="Google Shape;1683;p43"/>
          <p:cNvSpPr/>
          <p:nvPr/>
        </p:nvSpPr>
        <p:spPr>
          <a:xfrm>
            <a:off x="5294376" y="1664208"/>
            <a:ext cx="32460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9594"/>
              </a:buClr>
              <a:buSzPts val="1500"/>
              <a:buFont typeface="Cambria"/>
              <a:buNone/>
            </a:pPr>
            <a:r>
              <a:rPr b="1" i="0" lang="en" sz="1500" u="none" cap="none" strike="noStrike">
                <a:solidFill>
                  <a:srgbClr val="0E9594"/>
                </a:solidFill>
                <a:latin typeface="Cambria"/>
                <a:ea typeface="Cambria"/>
                <a:cs typeface="Cambria"/>
                <a:sym typeface="Cambria"/>
              </a:rPr>
              <a:t>Chroma stores all three together</a:t>
            </a:r>
            <a:endParaRPr b="0" i="0" sz="1500" u="none" cap="none" strike="noStrike">
              <a:solidFill>
                <a:schemeClr val="dk1"/>
              </a:solidFill>
              <a:latin typeface="Calibri"/>
              <a:ea typeface="Calibri"/>
              <a:cs typeface="Calibri"/>
              <a:sym typeface="Calibri"/>
            </a:endParaRPr>
          </a:p>
        </p:txBody>
      </p:sp>
      <p:sp>
        <p:nvSpPr>
          <p:cNvPr id="1684" name="Google Shape;1684;p43"/>
          <p:cNvSpPr/>
          <p:nvPr/>
        </p:nvSpPr>
        <p:spPr>
          <a:xfrm>
            <a:off x="4910328" y="2084832"/>
            <a:ext cx="3575400" cy="420600"/>
          </a:xfrm>
          <a:prstGeom prst="roundRect">
            <a:avLst>
              <a:gd fmla="val 10870" name="adj"/>
            </a:avLst>
          </a:prstGeom>
          <a:solidFill>
            <a:srgbClr val="FFFFFF"/>
          </a:solidFill>
          <a:ln cap="flat" cmpd="sng" w="12700">
            <a:solidFill>
              <a:srgbClr val="BFE0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3"/>
          <p:cNvSpPr/>
          <p:nvPr/>
        </p:nvSpPr>
        <p:spPr>
          <a:xfrm>
            <a:off x="5020056" y="2084832"/>
            <a:ext cx="12345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BFF"/>
              </a:buClr>
              <a:buSzPts val="1250"/>
              <a:buFont typeface="Calibri"/>
              <a:buNone/>
            </a:pPr>
            <a:r>
              <a:rPr b="1" i="0" lang="en" sz="1250" u="none" cap="none" strike="noStrike">
                <a:solidFill>
                  <a:srgbClr val="2E5BFF"/>
                </a:solidFill>
                <a:latin typeface="Calibri"/>
                <a:ea typeface="Calibri"/>
                <a:cs typeface="Calibri"/>
                <a:sym typeface="Calibri"/>
              </a:rPr>
              <a:t>Vector</a:t>
            </a:r>
            <a:endParaRPr b="0" i="0" sz="1250" u="none" cap="none" strike="noStrike">
              <a:solidFill>
                <a:schemeClr val="dk1"/>
              </a:solidFill>
              <a:latin typeface="Calibri"/>
              <a:ea typeface="Calibri"/>
              <a:cs typeface="Calibri"/>
              <a:sym typeface="Calibri"/>
            </a:endParaRPr>
          </a:p>
        </p:txBody>
      </p:sp>
      <p:sp>
        <p:nvSpPr>
          <p:cNvPr id="1686" name="Google Shape;1686;p43"/>
          <p:cNvSpPr/>
          <p:nvPr/>
        </p:nvSpPr>
        <p:spPr>
          <a:xfrm>
            <a:off x="6217920" y="2084832"/>
            <a:ext cx="22404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for the similarity math</a:t>
            </a:r>
            <a:endParaRPr b="0" i="0" sz="1150" u="none" cap="none" strike="noStrike">
              <a:solidFill>
                <a:schemeClr val="dk1"/>
              </a:solidFill>
              <a:latin typeface="Calibri"/>
              <a:ea typeface="Calibri"/>
              <a:cs typeface="Calibri"/>
              <a:sym typeface="Calibri"/>
            </a:endParaRPr>
          </a:p>
        </p:txBody>
      </p:sp>
      <p:sp>
        <p:nvSpPr>
          <p:cNvPr id="1687" name="Google Shape;1687;p43"/>
          <p:cNvSpPr/>
          <p:nvPr/>
        </p:nvSpPr>
        <p:spPr>
          <a:xfrm>
            <a:off x="4910328" y="2560320"/>
            <a:ext cx="3575400" cy="420600"/>
          </a:xfrm>
          <a:prstGeom prst="roundRect">
            <a:avLst>
              <a:gd fmla="val 10870" name="adj"/>
            </a:avLst>
          </a:prstGeom>
          <a:solidFill>
            <a:srgbClr val="FFFFFF"/>
          </a:solidFill>
          <a:ln cap="flat" cmpd="sng" w="12700">
            <a:solidFill>
              <a:srgbClr val="BFE0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3"/>
          <p:cNvSpPr/>
          <p:nvPr/>
        </p:nvSpPr>
        <p:spPr>
          <a:xfrm>
            <a:off x="5020056" y="2560320"/>
            <a:ext cx="12345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6B"/>
              </a:buClr>
              <a:buSzPts val="1250"/>
              <a:buFont typeface="Calibri"/>
              <a:buNone/>
            </a:pPr>
            <a:r>
              <a:rPr b="1" i="0" lang="en" sz="1250" u="none" cap="none" strike="noStrike">
                <a:solidFill>
                  <a:srgbClr val="1B2A6B"/>
                </a:solidFill>
                <a:latin typeface="Calibri"/>
                <a:ea typeface="Calibri"/>
                <a:cs typeface="Calibri"/>
                <a:sym typeface="Calibri"/>
              </a:rPr>
              <a:t>Text</a:t>
            </a:r>
            <a:endParaRPr b="0" i="0" sz="1250" u="none" cap="none" strike="noStrike">
              <a:solidFill>
                <a:schemeClr val="dk1"/>
              </a:solidFill>
              <a:latin typeface="Calibri"/>
              <a:ea typeface="Calibri"/>
              <a:cs typeface="Calibri"/>
              <a:sym typeface="Calibri"/>
            </a:endParaRPr>
          </a:p>
        </p:txBody>
      </p:sp>
      <p:sp>
        <p:nvSpPr>
          <p:cNvPr id="1689" name="Google Shape;1689;p43"/>
          <p:cNvSpPr/>
          <p:nvPr/>
        </p:nvSpPr>
        <p:spPr>
          <a:xfrm>
            <a:off x="6217920" y="2560320"/>
            <a:ext cx="22404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the actual chunk the LLM reads</a:t>
            </a:r>
            <a:endParaRPr b="0" i="0" sz="1150" u="none" cap="none" strike="noStrike">
              <a:solidFill>
                <a:schemeClr val="dk1"/>
              </a:solidFill>
              <a:latin typeface="Calibri"/>
              <a:ea typeface="Calibri"/>
              <a:cs typeface="Calibri"/>
              <a:sym typeface="Calibri"/>
            </a:endParaRPr>
          </a:p>
        </p:txBody>
      </p:sp>
      <p:sp>
        <p:nvSpPr>
          <p:cNvPr id="1690" name="Google Shape;1690;p43"/>
          <p:cNvSpPr/>
          <p:nvPr/>
        </p:nvSpPr>
        <p:spPr>
          <a:xfrm>
            <a:off x="4910328" y="3035808"/>
            <a:ext cx="3575400" cy="420600"/>
          </a:xfrm>
          <a:prstGeom prst="roundRect">
            <a:avLst>
              <a:gd fmla="val 10870" name="adj"/>
            </a:avLst>
          </a:prstGeom>
          <a:solidFill>
            <a:srgbClr val="FFFFFF"/>
          </a:solidFill>
          <a:ln cap="flat" cmpd="sng" w="12700">
            <a:solidFill>
              <a:srgbClr val="BFE0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3"/>
          <p:cNvSpPr/>
          <p:nvPr/>
        </p:nvSpPr>
        <p:spPr>
          <a:xfrm>
            <a:off x="5020056" y="3035808"/>
            <a:ext cx="12345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9594"/>
              </a:buClr>
              <a:buSzPts val="1250"/>
              <a:buFont typeface="Calibri"/>
              <a:buNone/>
            </a:pPr>
            <a:r>
              <a:rPr b="1" i="0" lang="en" sz="1250" u="none" cap="none" strike="noStrike">
                <a:solidFill>
                  <a:srgbClr val="0E9594"/>
                </a:solidFill>
                <a:latin typeface="Calibri"/>
                <a:ea typeface="Calibri"/>
                <a:cs typeface="Calibri"/>
                <a:sym typeface="Calibri"/>
              </a:rPr>
              <a:t>Metadata</a:t>
            </a:r>
            <a:endParaRPr b="0" i="0" sz="1250" u="none" cap="none" strike="noStrike">
              <a:solidFill>
                <a:schemeClr val="dk1"/>
              </a:solidFill>
              <a:latin typeface="Calibri"/>
              <a:ea typeface="Calibri"/>
              <a:cs typeface="Calibri"/>
              <a:sym typeface="Calibri"/>
            </a:endParaRPr>
          </a:p>
        </p:txBody>
      </p:sp>
      <p:sp>
        <p:nvSpPr>
          <p:cNvPr id="1692" name="Google Shape;1692;p43"/>
          <p:cNvSpPr/>
          <p:nvPr/>
        </p:nvSpPr>
        <p:spPr>
          <a:xfrm>
            <a:off x="6217920" y="3035808"/>
            <a:ext cx="22404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source, page, date — to filter &amp; cite</a:t>
            </a:r>
            <a:endParaRPr b="0" i="0" sz="1150" u="none" cap="none" strike="noStrike">
              <a:solidFill>
                <a:schemeClr val="dk1"/>
              </a:solidFill>
              <a:latin typeface="Calibri"/>
              <a:ea typeface="Calibri"/>
              <a:cs typeface="Calibri"/>
              <a:sym typeface="Calibri"/>
            </a:endParaRPr>
          </a:p>
        </p:txBody>
      </p:sp>
      <p:sp>
        <p:nvSpPr>
          <p:cNvPr id="1693" name="Google Shape;1693;p43"/>
          <p:cNvSpPr/>
          <p:nvPr/>
        </p:nvSpPr>
        <p:spPr>
          <a:xfrm>
            <a:off x="457200" y="3657600"/>
            <a:ext cx="5029200" cy="1097400"/>
          </a:xfrm>
          <a:prstGeom prst="roundRect">
            <a:avLst>
              <a:gd fmla="val 6667" name="adj"/>
            </a:avLst>
          </a:prstGeom>
          <a:solidFill>
            <a:srgbClr val="1B2A6B"/>
          </a:solidFill>
          <a:ln>
            <a:noFill/>
          </a:ln>
          <a:effectLst>
            <a:outerShdw blurRad="88900" rotWithShape="0" algn="bl" dir="2700000" dist="25400">
              <a:srgbClr val="000000">
                <a:alpha val="129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4" name="Google Shape;1694;p43"/>
          <p:cNvPicPr preferRelativeResize="0"/>
          <p:nvPr/>
        </p:nvPicPr>
        <p:blipFill rotWithShape="1">
          <a:blip r:embed="rId4">
            <a:alphaModFix/>
          </a:blip>
          <a:srcRect b="0" l="0" r="0" t="0"/>
          <a:stretch/>
        </p:blipFill>
        <p:spPr>
          <a:xfrm>
            <a:off x="658368" y="3813048"/>
            <a:ext cx="292608" cy="292608"/>
          </a:xfrm>
          <a:prstGeom prst="rect">
            <a:avLst/>
          </a:prstGeom>
          <a:noFill/>
          <a:ln>
            <a:noFill/>
          </a:ln>
        </p:spPr>
      </p:pic>
      <p:sp>
        <p:nvSpPr>
          <p:cNvPr id="1695" name="Google Shape;1695;p43"/>
          <p:cNvSpPr/>
          <p:nvPr/>
        </p:nvSpPr>
        <p:spPr>
          <a:xfrm>
            <a:off x="1024128" y="3776472"/>
            <a:ext cx="4297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The feature raw search can’t do: metadata filtering</a:t>
            </a:r>
            <a:endParaRPr b="0" i="0" sz="1300" u="none" cap="none" strike="noStrike">
              <a:solidFill>
                <a:schemeClr val="dk1"/>
              </a:solidFill>
              <a:latin typeface="Calibri"/>
              <a:ea typeface="Calibri"/>
              <a:cs typeface="Calibri"/>
              <a:sym typeface="Calibri"/>
            </a:endParaRPr>
          </a:p>
        </p:txBody>
      </p:sp>
      <p:sp>
        <p:nvSpPr>
          <p:cNvPr id="1696" name="Google Shape;1696;p43"/>
          <p:cNvSpPr/>
          <p:nvPr/>
        </p:nvSpPr>
        <p:spPr>
          <a:xfrm>
            <a:off x="658368" y="4160520"/>
            <a:ext cx="46635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08A"/>
              </a:buClr>
              <a:buSzPts val="1150"/>
              <a:buFont typeface="Consolas"/>
              <a:buNone/>
            </a:pPr>
            <a:r>
              <a:rPr b="1" i="0" lang="en" sz="1150" u="none" cap="none" strike="noStrike">
                <a:solidFill>
                  <a:srgbClr val="FFD08A"/>
                </a:solidFill>
                <a:latin typeface="Consolas"/>
                <a:ea typeface="Consolas"/>
                <a:cs typeface="Consolas"/>
                <a:sym typeface="Consolas"/>
              </a:rPr>
              <a:t>where={"source": "policy.docx"}</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50"/>
              <a:buFont typeface="Calibri"/>
              <a:buNone/>
            </a:pPr>
            <a:r>
              <a:rPr b="0" i="0" lang="en" sz="1150" u="none" cap="none" strike="noStrike">
                <a:solidFill>
                  <a:srgbClr val="E2E8F0"/>
                </a:solidFill>
                <a:latin typeface="Calibri"/>
                <a:ea typeface="Calibri"/>
                <a:cs typeface="Calibri"/>
                <a:sym typeface="Calibri"/>
              </a:rPr>
              <a:t>Pre-filter before the search → higher precision AND a smaller, faster candidate set.</a:t>
            </a:r>
            <a:endParaRPr b="0" i="0" sz="1150" u="none" cap="none" strike="noStrike">
              <a:solidFill>
                <a:schemeClr val="dk1"/>
              </a:solidFill>
              <a:latin typeface="Calibri"/>
              <a:ea typeface="Calibri"/>
              <a:cs typeface="Calibri"/>
              <a:sym typeface="Calibri"/>
            </a:endParaRPr>
          </a:p>
        </p:txBody>
      </p:sp>
      <p:sp>
        <p:nvSpPr>
          <p:cNvPr id="1697" name="Google Shape;1697;p43"/>
          <p:cNvSpPr/>
          <p:nvPr/>
        </p:nvSpPr>
        <p:spPr>
          <a:xfrm>
            <a:off x="5623560" y="3657600"/>
            <a:ext cx="3063300" cy="1097400"/>
          </a:xfrm>
          <a:prstGeom prst="roundRect">
            <a:avLst>
              <a:gd fmla="val 6667" name="adj"/>
            </a:avLst>
          </a:prstGeom>
          <a:solidFill>
            <a:srgbClr val="FEF3E2"/>
          </a:solidFill>
          <a:ln>
            <a:noFill/>
          </a:ln>
          <a:effectLst>
            <a:outerShdw blurRad="88900" rotWithShape="0" algn="bl" dir="2700000" dist="25400">
              <a:srgbClr val="000000">
                <a:alpha val="129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3"/>
          <p:cNvSpPr/>
          <p:nvPr/>
        </p:nvSpPr>
        <p:spPr>
          <a:xfrm>
            <a:off x="5806440" y="3776472"/>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mbria"/>
              <a:buNone/>
            </a:pPr>
            <a:r>
              <a:rPr b="1" i="0" lang="en" sz="1300" u="none" cap="none" strike="noStrike">
                <a:solidFill>
                  <a:srgbClr val="D97706"/>
                </a:solidFill>
                <a:latin typeface="Cambria"/>
                <a:ea typeface="Cambria"/>
                <a:cs typeface="Cambria"/>
                <a:sym typeface="Cambria"/>
              </a:rPr>
              <a:t>The trade-off</a:t>
            </a:r>
            <a:endParaRPr b="0" i="0" sz="1300" u="none" cap="none" strike="noStrike">
              <a:solidFill>
                <a:schemeClr val="dk1"/>
              </a:solidFill>
              <a:latin typeface="Calibri"/>
              <a:ea typeface="Calibri"/>
              <a:cs typeface="Calibri"/>
              <a:sym typeface="Calibri"/>
            </a:endParaRPr>
          </a:p>
        </p:txBody>
      </p:sp>
      <p:sp>
        <p:nvSpPr>
          <p:cNvPr id="1699" name="Google Shape;1699;p43"/>
          <p:cNvSpPr/>
          <p:nvPr/>
        </p:nvSpPr>
        <p:spPr>
          <a:xfrm>
            <a:off x="5806440" y="4078224"/>
            <a:ext cx="2743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Under the hood: HNSW (one index, CPU, single node). Convenience now, a ceiling later — graduate to FAISS for billions or fine index control.</a:t>
            </a:r>
            <a:endParaRPr b="0" i="0" sz="1050" u="none" cap="none" strike="noStrike">
              <a:solidFill>
                <a:schemeClr val="dk1"/>
              </a:solidFill>
              <a:latin typeface="Calibri"/>
              <a:ea typeface="Calibri"/>
              <a:cs typeface="Calibri"/>
              <a:sym typeface="Calibri"/>
            </a:endParaRPr>
          </a:p>
        </p:txBody>
      </p:sp>
      <p:sp>
        <p:nvSpPr>
          <p:cNvPr id="1700" name="Google Shape;1700;p43"/>
          <p:cNvSpPr/>
          <p:nvPr/>
        </p:nvSpPr>
        <p:spPr>
          <a:xfrm>
            <a:off x="457200" y="4864608"/>
            <a:ext cx="82296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1" lang="en" sz="1100" u="none" cap="none" strike="noStrike">
                <a:solidFill>
                  <a:srgbClr val="64748B"/>
                </a:solidFill>
                <a:latin typeface="Calibri"/>
                <a:ea typeface="Calibri"/>
                <a:cs typeface="Calibri"/>
                <a:sym typeface="Calibri"/>
              </a:rPr>
              <a:t>In one line: take an ANN library like FAISS, wrap it in a real database — text, metadata, persistence, filtering included.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7"/>
        </a:solidFill>
      </p:bgPr>
    </p:bg>
    <p:spTree>
      <p:nvGrpSpPr>
        <p:cNvPr id="1705" name="Shape 1705"/>
        <p:cNvGrpSpPr/>
        <p:nvPr/>
      </p:nvGrpSpPr>
      <p:grpSpPr>
        <a:xfrm>
          <a:off x="0" y="0"/>
          <a:ext cx="0" cy="0"/>
          <a:chOff x="0" y="0"/>
          <a:chExt cx="0" cy="0"/>
        </a:xfrm>
      </p:grpSpPr>
      <p:sp>
        <p:nvSpPr>
          <p:cNvPr id="1706" name="Google Shape;1706;p44"/>
          <p:cNvSpPr/>
          <p:nvPr/>
        </p:nvSpPr>
        <p:spPr>
          <a:xfrm>
            <a:off x="411480" y="288036"/>
            <a:ext cx="83187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2300"/>
              <a:buFont typeface="Cambria"/>
              <a:buNone/>
            </a:pPr>
            <a:r>
              <a:rPr b="1" i="0" lang="en" sz="2300" u="none" cap="none" strike="noStrike">
                <a:solidFill>
                  <a:srgbClr val="0B2B36"/>
                </a:solidFill>
                <a:latin typeface="Cambria"/>
                <a:ea typeface="Cambria"/>
                <a:cs typeface="Cambria"/>
                <a:sym typeface="Cambria"/>
              </a:rPr>
              <a:t>A practical superpower: filtering</a:t>
            </a:r>
            <a:endParaRPr b="0" i="0" sz="2300" u="none" cap="none" strike="noStrike">
              <a:solidFill>
                <a:schemeClr val="dk1"/>
              </a:solidFill>
              <a:latin typeface="Calibri"/>
              <a:ea typeface="Calibri"/>
              <a:cs typeface="Calibri"/>
              <a:sym typeface="Calibri"/>
            </a:endParaRPr>
          </a:p>
        </p:txBody>
      </p:sp>
      <p:sp>
        <p:nvSpPr>
          <p:cNvPr id="1707" name="Google Shape;1707;p44"/>
          <p:cNvSpPr/>
          <p:nvPr/>
        </p:nvSpPr>
        <p:spPr>
          <a:xfrm>
            <a:off x="425196" y="850392"/>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Calibri"/>
              <a:buNone/>
            </a:pPr>
            <a:r>
              <a:rPr b="0" i="1" lang="en" sz="1100" u="none" cap="none" strike="noStrike">
                <a:solidFill>
                  <a:srgbClr val="2A9D8F"/>
                </a:solidFill>
                <a:latin typeface="Calibri"/>
                <a:ea typeface="Calibri"/>
                <a:cs typeface="Calibri"/>
                <a:sym typeface="Calibri"/>
              </a:rPr>
              <a:t>Search only the documents that matter — before doing any vector math</a:t>
            </a:r>
            <a:endParaRPr b="0" i="0" sz="1100" u="none" cap="none" strike="noStrike">
              <a:solidFill>
                <a:schemeClr val="dk1"/>
              </a:solidFill>
              <a:latin typeface="Calibri"/>
              <a:ea typeface="Calibri"/>
              <a:cs typeface="Calibri"/>
              <a:sym typeface="Calibri"/>
            </a:endParaRPr>
          </a:p>
        </p:txBody>
      </p:sp>
      <p:sp>
        <p:nvSpPr>
          <p:cNvPr id="1708" name="Google Shape;1708;p44"/>
          <p:cNvSpPr/>
          <p:nvPr/>
        </p:nvSpPr>
        <p:spPr>
          <a:xfrm>
            <a:off x="411480" y="1337310"/>
            <a:ext cx="4011900" cy="3326100"/>
          </a:xfrm>
          <a:prstGeom prst="roundRect">
            <a:avLst>
              <a:gd fmla="val 2268"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9" name="Google Shape;1709;p44"/>
          <p:cNvSpPr/>
          <p:nvPr/>
        </p:nvSpPr>
        <p:spPr>
          <a:xfrm>
            <a:off x="651510" y="1508760"/>
            <a:ext cx="356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400"/>
              <a:buFont typeface="Cambria"/>
              <a:buNone/>
            </a:pPr>
            <a:r>
              <a:rPr b="1" i="0" lang="en" sz="1400" u="none" cap="none" strike="noStrike">
                <a:solidFill>
                  <a:srgbClr val="1A2B32"/>
                </a:solidFill>
                <a:latin typeface="Cambria"/>
                <a:ea typeface="Cambria"/>
                <a:cs typeface="Cambria"/>
                <a:sym typeface="Cambria"/>
              </a:rPr>
              <a:t>People ask scoped questions</a:t>
            </a:r>
            <a:endParaRPr b="0" i="0" sz="1400" u="none" cap="none" strike="noStrike">
              <a:solidFill>
                <a:schemeClr val="dk1"/>
              </a:solidFill>
              <a:latin typeface="Calibri"/>
              <a:ea typeface="Calibri"/>
              <a:cs typeface="Calibri"/>
              <a:sym typeface="Calibri"/>
            </a:endParaRPr>
          </a:p>
        </p:txBody>
      </p:sp>
      <p:sp>
        <p:nvSpPr>
          <p:cNvPr id="1710" name="Google Shape;1710;p44"/>
          <p:cNvSpPr/>
          <p:nvPr/>
        </p:nvSpPr>
        <p:spPr>
          <a:xfrm>
            <a:off x="651510" y="1988820"/>
            <a:ext cx="3531900" cy="445800"/>
          </a:xfrm>
          <a:prstGeom prst="roundRect">
            <a:avLst>
              <a:gd fmla="val 16923" name="adj"/>
            </a:avLst>
          </a:prstGeom>
          <a:solidFill>
            <a:srgbClr val="E1E9E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1" name="Google Shape;1711;p44"/>
          <p:cNvSpPr/>
          <p:nvPr/>
        </p:nvSpPr>
        <p:spPr>
          <a:xfrm>
            <a:off x="754380" y="1988820"/>
            <a:ext cx="3360300" cy="4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1000"/>
              <a:buFont typeface="Calibri"/>
              <a:buNone/>
            </a:pPr>
            <a:r>
              <a:rPr b="0" i="1" lang="en" sz="1000" u="none" cap="none" strike="noStrike">
                <a:solidFill>
                  <a:srgbClr val="0B2B36"/>
                </a:solidFill>
                <a:latin typeface="Calibri"/>
                <a:ea typeface="Calibri"/>
                <a:cs typeface="Calibri"/>
                <a:sym typeface="Calibri"/>
              </a:rPr>
              <a:t>“In the HR policy, how many sick days…”</a:t>
            </a:r>
            <a:endParaRPr b="0" i="0" sz="1000" u="none" cap="none" strike="noStrike">
              <a:solidFill>
                <a:schemeClr val="dk1"/>
              </a:solidFill>
              <a:latin typeface="Calibri"/>
              <a:ea typeface="Calibri"/>
              <a:cs typeface="Calibri"/>
              <a:sym typeface="Calibri"/>
            </a:endParaRPr>
          </a:p>
        </p:txBody>
      </p:sp>
      <p:sp>
        <p:nvSpPr>
          <p:cNvPr id="1712" name="Google Shape;1712;p44"/>
          <p:cNvSpPr/>
          <p:nvPr/>
        </p:nvSpPr>
        <p:spPr>
          <a:xfrm>
            <a:off x="651510" y="2571750"/>
            <a:ext cx="3531900" cy="445800"/>
          </a:xfrm>
          <a:prstGeom prst="roundRect">
            <a:avLst>
              <a:gd fmla="val 16923" name="adj"/>
            </a:avLst>
          </a:prstGeom>
          <a:solidFill>
            <a:srgbClr val="E1E9E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3" name="Google Shape;1713;p44"/>
          <p:cNvSpPr/>
          <p:nvPr/>
        </p:nvSpPr>
        <p:spPr>
          <a:xfrm>
            <a:off x="754380" y="2571750"/>
            <a:ext cx="3360300" cy="4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1000"/>
              <a:buFont typeface="Calibri"/>
              <a:buNone/>
            </a:pPr>
            <a:r>
              <a:rPr b="0" i="1" lang="en" sz="1000" u="none" cap="none" strike="noStrike">
                <a:solidFill>
                  <a:srgbClr val="0B2B36"/>
                </a:solidFill>
                <a:latin typeface="Calibri"/>
                <a:ea typeface="Calibri"/>
                <a:cs typeface="Calibri"/>
                <a:sym typeface="Calibri"/>
              </a:rPr>
              <a:t>“According to the 2024 handbook…”</a:t>
            </a:r>
            <a:endParaRPr b="0" i="0" sz="1000" u="none" cap="none" strike="noStrike">
              <a:solidFill>
                <a:schemeClr val="dk1"/>
              </a:solidFill>
              <a:latin typeface="Calibri"/>
              <a:ea typeface="Calibri"/>
              <a:cs typeface="Calibri"/>
              <a:sym typeface="Calibri"/>
            </a:endParaRPr>
          </a:p>
        </p:txBody>
      </p:sp>
      <p:sp>
        <p:nvSpPr>
          <p:cNvPr id="1714" name="Google Shape;1714;p44"/>
          <p:cNvSpPr/>
          <p:nvPr/>
        </p:nvSpPr>
        <p:spPr>
          <a:xfrm>
            <a:off x="651510" y="3154680"/>
            <a:ext cx="3531900" cy="445800"/>
          </a:xfrm>
          <a:prstGeom prst="roundRect">
            <a:avLst>
              <a:gd fmla="val 16923" name="adj"/>
            </a:avLst>
          </a:prstGeom>
          <a:solidFill>
            <a:srgbClr val="E1E9E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5" name="Google Shape;1715;p44"/>
          <p:cNvSpPr/>
          <p:nvPr/>
        </p:nvSpPr>
        <p:spPr>
          <a:xfrm>
            <a:off x="754380" y="3154680"/>
            <a:ext cx="3360300" cy="4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1000"/>
              <a:buFont typeface="Calibri"/>
              <a:buNone/>
            </a:pPr>
            <a:r>
              <a:rPr b="0" i="1" lang="en" sz="1000" u="none" cap="none" strike="noStrike">
                <a:solidFill>
                  <a:srgbClr val="0B2B36"/>
                </a:solidFill>
                <a:latin typeface="Calibri"/>
                <a:ea typeface="Calibri"/>
                <a:cs typeface="Calibri"/>
                <a:sym typeface="Calibri"/>
              </a:rPr>
              <a:t>“In the engineering docs, how do I…”</a:t>
            </a:r>
            <a:endParaRPr b="0" i="0" sz="1000" u="none" cap="none" strike="noStrike">
              <a:solidFill>
                <a:schemeClr val="dk1"/>
              </a:solidFill>
              <a:latin typeface="Calibri"/>
              <a:ea typeface="Calibri"/>
              <a:cs typeface="Calibri"/>
              <a:sym typeface="Calibri"/>
            </a:endParaRPr>
          </a:p>
        </p:txBody>
      </p:sp>
      <p:sp>
        <p:nvSpPr>
          <p:cNvPr id="1716" name="Google Shape;1716;p44"/>
          <p:cNvSpPr/>
          <p:nvPr/>
        </p:nvSpPr>
        <p:spPr>
          <a:xfrm>
            <a:off x="651510" y="3840480"/>
            <a:ext cx="356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C63"/>
              </a:buClr>
              <a:buSzPts val="1100"/>
              <a:buFont typeface="Calibri"/>
              <a:buNone/>
            </a:pPr>
            <a:r>
              <a:rPr b="1" i="0" lang="en" sz="1100" u="none" cap="none" strike="noStrike">
                <a:solidFill>
                  <a:srgbClr val="0D5C63"/>
                </a:solidFill>
                <a:latin typeface="Calibri"/>
                <a:ea typeface="Calibri"/>
                <a:cs typeface="Calibri"/>
                <a:sym typeface="Calibri"/>
              </a:rPr>
              <a:t>The scope is a filter — so use it.</a:t>
            </a:r>
            <a:endParaRPr b="0" i="0" sz="1100" u="none" cap="none" strike="noStrike">
              <a:solidFill>
                <a:schemeClr val="dk1"/>
              </a:solidFill>
              <a:latin typeface="Calibri"/>
              <a:ea typeface="Calibri"/>
              <a:cs typeface="Calibri"/>
              <a:sym typeface="Calibri"/>
            </a:endParaRPr>
          </a:p>
        </p:txBody>
      </p:sp>
      <p:sp>
        <p:nvSpPr>
          <p:cNvPr id="1717" name="Google Shape;1717;p44"/>
          <p:cNvSpPr/>
          <p:nvPr/>
        </p:nvSpPr>
        <p:spPr>
          <a:xfrm>
            <a:off x="651510" y="4149090"/>
            <a:ext cx="35664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7078"/>
              </a:buClr>
              <a:buSzPts val="1000"/>
              <a:buFont typeface="Calibri"/>
              <a:buNone/>
            </a:pPr>
            <a:r>
              <a:rPr b="0" i="1" lang="en" sz="1000" u="none" cap="none" strike="noStrike">
                <a:solidFill>
                  <a:srgbClr val="5C7078"/>
                </a:solidFill>
                <a:latin typeface="Calibri"/>
                <a:ea typeface="Calibri"/>
                <a:cs typeface="Calibri"/>
                <a:sym typeface="Calibri"/>
              </a:rPr>
              <a:t>Metadata (source, date, section) lets you narrow the search first.</a:t>
            </a:r>
            <a:endParaRPr b="0" i="0" sz="1000" u="none" cap="none" strike="noStrike">
              <a:solidFill>
                <a:schemeClr val="dk1"/>
              </a:solidFill>
              <a:latin typeface="Calibri"/>
              <a:ea typeface="Calibri"/>
              <a:cs typeface="Calibri"/>
              <a:sym typeface="Calibri"/>
            </a:endParaRPr>
          </a:p>
        </p:txBody>
      </p:sp>
      <p:sp>
        <p:nvSpPr>
          <p:cNvPr id="1718" name="Google Shape;1718;p44"/>
          <p:cNvSpPr/>
          <p:nvPr/>
        </p:nvSpPr>
        <p:spPr>
          <a:xfrm>
            <a:off x="4732020" y="1337310"/>
            <a:ext cx="3998100" cy="3326100"/>
          </a:xfrm>
          <a:prstGeom prst="roundRect">
            <a:avLst>
              <a:gd fmla="val 2268" name="adj"/>
            </a:avLst>
          </a:prstGeom>
          <a:solidFill>
            <a:srgbClr val="0B2B36"/>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9" name="Google Shape;1719;p44"/>
          <p:cNvSpPr/>
          <p:nvPr/>
        </p:nvSpPr>
        <p:spPr>
          <a:xfrm>
            <a:off x="4937760" y="1508760"/>
            <a:ext cx="356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One line narrows the search</a:t>
            </a:r>
            <a:endParaRPr b="0" i="0" sz="1400" u="none" cap="none" strike="noStrike">
              <a:solidFill>
                <a:schemeClr val="dk1"/>
              </a:solidFill>
              <a:latin typeface="Calibri"/>
              <a:ea typeface="Calibri"/>
              <a:cs typeface="Calibri"/>
              <a:sym typeface="Calibri"/>
            </a:endParaRPr>
          </a:p>
        </p:txBody>
      </p:sp>
      <p:sp>
        <p:nvSpPr>
          <p:cNvPr id="1720" name="Google Shape;1720;p44"/>
          <p:cNvSpPr/>
          <p:nvPr/>
        </p:nvSpPr>
        <p:spPr>
          <a:xfrm>
            <a:off x="4937760" y="1954530"/>
            <a:ext cx="3586800" cy="651600"/>
          </a:xfrm>
          <a:prstGeom prst="roundRect">
            <a:avLst>
              <a:gd fmla="val 11579" name="adj"/>
            </a:avLst>
          </a:prstGeom>
          <a:solidFill>
            <a:srgbClr val="061E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1" name="Google Shape;1721;p44"/>
          <p:cNvSpPr/>
          <p:nvPr/>
        </p:nvSpPr>
        <p:spPr>
          <a:xfrm>
            <a:off x="5040630" y="1954530"/>
            <a:ext cx="33948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CBBE"/>
              </a:buClr>
              <a:buSzPts val="1100"/>
              <a:buFont typeface="Courier New"/>
              <a:buNone/>
            </a:pPr>
            <a:r>
              <a:rPr b="0" i="0" lang="en" sz="1100" u="none" cap="none" strike="noStrike">
                <a:solidFill>
                  <a:srgbClr val="6FCBBE"/>
                </a:solidFill>
                <a:latin typeface="Courier New"/>
                <a:ea typeface="Courier New"/>
                <a:cs typeface="Courier New"/>
                <a:sym typeface="Courier New"/>
              </a:rPr>
              <a:t>where = { "source": "hr_policy.pdf" }</a:t>
            </a:r>
            <a:endParaRPr b="0" i="0" sz="1100" u="none" cap="none" strike="noStrike">
              <a:solidFill>
                <a:schemeClr val="dk1"/>
              </a:solidFill>
              <a:latin typeface="Calibri"/>
              <a:ea typeface="Calibri"/>
              <a:cs typeface="Calibri"/>
              <a:sym typeface="Calibri"/>
            </a:endParaRPr>
          </a:p>
        </p:txBody>
      </p:sp>
      <p:sp>
        <p:nvSpPr>
          <p:cNvPr id="1722" name="Google Shape;1722;p44"/>
          <p:cNvSpPr/>
          <p:nvPr/>
        </p:nvSpPr>
        <p:spPr>
          <a:xfrm>
            <a:off x="4937760" y="2777490"/>
            <a:ext cx="308700" cy="308700"/>
          </a:xfrm>
          <a:prstGeom prst="ellipse">
            <a:avLst/>
          </a:prstGeom>
          <a:solidFill>
            <a:srgbClr val="E9A23B"/>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3" name="Google Shape;1723;p44"/>
          <p:cNvSpPr/>
          <p:nvPr/>
        </p:nvSpPr>
        <p:spPr>
          <a:xfrm>
            <a:off x="4937760" y="2777490"/>
            <a:ext cx="30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700"/>
              <a:buFont typeface="Cambria"/>
              <a:buNone/>
            </a:pPr>
            <a:r>
              <a:rPr b="1" i="0" lang="en" sz="700" u="none" cap="none" strike="noStrike">
                <a:solidFill>
                  <a:srgbClr val="0B2B36"/>
                </a:solidFill>
                <a:latin typeface="Cambria"/>
                <a:ea typeface="Cambria"/>
                <a:cs typeface="Cambria"/>
                <a:sym typeface="Cambria"/>
              </a:rPr>
              <a:t>✓</a:t>
            </a:r>
            <a:endParaRPr b="0" i="0" sz="700" u="none" cap="none" strike="noStrike">
              <a:solidFill>
                <a:schemeClr val="dk1"/>
              </a:solidFill>
              <a:latin typeface="Calibri"/>
              <a:ea typeface="Calibri"/>
              <a:cs typeface="Calibri"/>
              <a:sym typeface="Calibri"/>
            </a:endParaRPr>
          </a:p>
        </p:txBody>
      </p:sp>
      <p:sp>
        <p:nvSpPr>
          <p:cNvPr id="1724" name="Google Shape;1724;p44"/>
          <p:cNvSpPr/>
          <p:nvPr/>
        </p:nvSpPr>
        <p:spPr>
          <a:xfrm>
            <a:off x="5349240" y="2756916"/>
            <a:ext cx="3154800" cy="61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A23B"/>
              </a:buClr>
              <a:buSzPts val="1000"/>
              <a:buFont typeface="Calibri"/>
              <a:buNone/>
            </a:pPr>
            <a:r>
              <a:rPr b="1" i="0" lang="en" sz="1000" u="none" cap="none" strike="noStrike">
                <a:solidFill>
                  <a:srgbClr val="E9A23B"/>
                </a:solidFill>
                <a:latin typeface="Calibri"/>
                <a:ea typeface="Calibri"/>
                <a:cs typeface="Calibri"/>
                <a:sym typeface="Calibri"/>
              </a:rPr>
              <a:t>Higher precision  </a:t>
            </a:r>
            <a:r>
              <a:rPr b="0" i="0" lang="en" sz="1000" u="none" cap="none" strike="noStrike">
                <a:solidFill>
                  <a:srgbClr val="FFFFFF"/>
                </a:solidFill>
                <a:latin typeface="Calibri"/>
                <a:ea typeface="Calibri"/>
                <a:cs typeface="Calibri"/>
                <a:sym typeface="Calibri"/>
              </a:rPr>
              <a:t>Only HR passages can come back — no stray matches from other docs.</a:t>
            </a:r>
            <a:endParaRPr b="0" i="0" sz="1000" u="none" cap="none" strike="noStrike">
              <a:solidFill>
                <a:schemeClr val="dk1"/>
              </a:solidFill>
              <a:latin typeface="Calibri"/>
              <a:ea typeface="Calibri"/>
              <a:cs typeface="Calibri"/>
              <a:sym typeface="Calibri"/>
            </a:endParaRPr>
          </a:p>
        </p:txBody>
      </p:sp>
      <p:sp>
        <p:nvSpPr>
          <p:cNvPr id="1725" name="Google Shape;1725;p44"/>
          <p:cNvSpPr/>
          <p:nvPr/>
        </p:nvSpPr>
        <p:spPr>
          <a:xfrm>
            <a:off x="4937760" y="3408426"/>
            <a:ext cx="308700" cy="308700"/>
          </a:xfrm>
          <a:prstGeom prst="ellipse">
            <a:avLst/>
          </a:prstGeom>
          <a:solidFill>
            <a:srgbClr val="E9A23B"/>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6" name="Google Shape;1726;p44"/>
          <p:cNvSpPr/>
          <p:nvPr/>
        </p:nvSpPr>
        <p:spPr>
          <a:xfrm>
            <a:off x="4937760" y="3408426"/>
            <a:ext cx="30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700"/>
              <a:buFont typeface="Cambria"/>
              <a:buNone/>
            </a:pPr>
            <a:r>
              <a:rPr b="1" i="0" lang="en" sz="700" u="none" cap="none" strike="noStrike">
                <a:solidFill>
                  <a:srgbClr val="0B2B36"/>
                </a:solidFill>
                <a:latin typeface="Cambria"/>
                <a:ea typeface="Cambria"/>
                <a:cs typeface="Cambria"/>
                <a:sym typeface="Cambria"/>
              </a:rPr>
              <a:t>✓</a:t>
            </a:r>
            <a:endParaRPr b="0" i="0" sz="700" u="none" cap="none" strike="noStrike">
              <a:solidFill>
                <a:schemeClr val="dk1"/>
              </a:solidFill>
              <a:latin typeface="Calibri"/>
              <a:ea typeface="Calibri"/>
              <a:cs typeface="Calibri"/>
              <a:sym typeface="Calibri"/>
            </a:endParaRPr>
          </a:p>
        </p:txBody>
      </p:sp>
      <p:sp>
        <p:nvSpPr>
          <p:cNvPr id="1727" name="Google Shape;1727;p44"/>
          <p:cNvSpPr/>
          <p:nvPr/>
        </p:nvSpPr>
        <p:spPr>
          <a:xfrm>
            <a:off x="5349240" y="3387852"/>
            <a:ext cx="3154800" cy="61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A23B"/>
              </a:buClr>
              <a:buSzPts val="1000"/>
              <a:buFont typeface="Calibri"/>
              <a:buNone/>
            </a:pPr>
            <a:r>
              <a:rPr b="1" i="0" lang="en" sz="1000" u="none" cap="none" strike="noStrike">
                <a:solidFill>
                  <a:srgbClr val="E9A23B"/>
                </a:solidFill>
                <a:latin typeface="Calibri"/>
                <a:ea typeface="Calibri"/>
                <a:cs typeface="Calibri"/>
                <a:sym typeface="Calibri"/>
              </a:rPr>
              <a:t>Faster  </a:t>
            </a:r>
            <a:r>
              <a:rPr b="0" i="0" lang="en" sz="1000" u="none" cap="none" strike="noStrike">
                <a:solidFill>
                  <a:srgbClr val="FFFFFF"/>
                </a:solidFill>
                <a:latin typeface="Calibri"/>
                <a:ea typeface="Calibri"/>
                <a:cs typeface="Calibri"/>
                <a:sym typeface="Calibri"/>
              </a:rPr>
              <a:t>A smaller candidate set means less to search through.</a:t>
            </a:r>
            <a:endParaRPr b="0" i="0" sz="1000" u="none" cap="none" strike="noStrike">
              <a:solidFill>
                <a:schemeClr val="dk1"/>
              </a:solidFill>
              <a:latin typeface="Calibri"/>
              <a:ea typeface="Calibri"/>
              <a:cs typeface="Calibri"/>
              <a:sym typeface="Calibri"/>
            </a:endParaRPr>
          </a:p>
        </p:txBody>
      </p:sp>
      <p:sp>
        <p:nvSpPr>
          <p:cNvPr id="1728" name="Google Shape;1728;p44"/>
          <p:cNvSpPr/>
          <p:nvPr/>
        </p:nvSpPr>
        <p:spPr>
          <a:xfrm>
            <a:off x="4937760" y="4039362"/>
            <a:ext cx="308700" cy="308700"/>
          </a:xfrm>
          <a:prstGeom prst="ellipse">
            <a:avLst/>
          </a:prstGeom>
          <a:solidFill>
            <a:srgbClr val="E9A23B"/>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9" name="Google Shape;1729;p44"/>
          <p:cNvSpPr/>
          <p:nvPr/>
        </p:nvSpPr>
        <p:spPr>
          <a:xfrm>
            <a:off x="4937760" y="4039362"/>
            <a:ext cx="3087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700"/>
              <a:buFont typeface="Cambria"/>
              <a:buNone/>
            </a:pPr>
            <a:r>
              <a:rPr b="1" i="0" lang="en" sz="700" u="none" cap="none" strike="noStrike">
                <a:solidFill>
                  <a:srgbClr val="0B2B36"/>
                </a:solidFill>
                <a:latin typeface="Cambria"/>
                <a:ea typeface="Cambria"/>
                <a:cs typeface="Cambria"/>
                <a:sym typeface="Cambria"/>
              </a:rPr>
              <a:t>✓</a:t>
            </a:r>
            <a:endParaRPr b="0" i="0" sz="700" u="none" cap="none" strike="noStrike">
              <a:solidFill>
                <a:schemeClr val="dk1"/>
              </a:solidFill>
              <a:latin typeface="Calibri"/>
              <a:ea typeface="Calibri"/>
              <a:cs typeface="Calibri"/>
              <a:sym typeface="Calibri"/>
            </a:endParaRPr>
          </a:p>
        </p:txBody>
      </p:sp>
      <p:sp>
        <p:nvSpPr>
          <p:cNvPr id="1730" name="Google Shape;1730;p44"/>
          <p:cNvSpPr/>
          <p:nvPr/>
        </p:nvSpPr>
        <p:spPr>
          <a:xfrm>
            <a:off x="5349240" y="4018788"/>
            <a:ext cx="3154800" cy="61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A23B"/>
              </a:buClr>
              <a:buSzPts val="1000"/>
              <a:buFont typeface="Calibri"/>
              <a:buNone/>
            </a:pPr>
            <a:r>
              <a:rPr b="1" i="0" lang="en" sz="1000" u="none" cap="none" strike="noStrike">
                <a:solidFill>
                  <a:srgbClr val="E9A23B"/>
                </a:solidFill>
                <a:latin typeface="Calibri"/>
                <a:ea typeface="Calibri"/>
                <a:cs typeface="Calibri"/>
                <a:sym typeface="Calibri"/>
              </a:rPr>
              <a:t>Fewer surprises  </a:t>
            </a:r>
            <a:r>
              <a:rPr b="0" i="0" lang="en" sz="1000" u="none" cap="none" strike="noStrike">
                <a:solidFill>
                  <a:srgbClr val="FFFFFF"/>
                </a:solidFill>
                <a:latin typeface="Calibri"/>
                <a:ea typeface="Calibri"/>
                <a:cs typeface="Calibri"/>
                <a:sym typeface="Calibri"/>
              </a:rPr>
              <a:t>The answer stays on-topic and easy to cite.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7"/>
        </a:solidFill>
      </p:bgPr>
    </p:bg>
    <p:spTree>
      <p:nvGrpSpPr>
        <p:cNvPr id="1735" name="Shape 1735"/>
        <p:cNvGrpSpPr/>
        <p:nvPr/>
      </p:nvGrpSpPr>
      <p:grpSpPr>
        <a:xfrm>
          <a:off x="0" y="0"/>
          <a:ext cx="0" cy="0"/>
          <a:chOff x="0" y="0"/>
          <a:chExt cx="0" cy="0"/>
        </a:xfrm>
      </p:grpSpPr>
      <p:sp>
        <p:nvSpPr>
          <p:cNvPr id="1736" name="Google Shape;1736;p45"/>
          <p:cNvSpPr/>
          <p:nvPr/>
        </p:nvSpPr>
        <p:spPr>
          <a:xfrm>
            <a:off x="411480" y="288036"/>
            <a:ext cx="83187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2300"/>
              <a:buFont typeface="Cambria"/>
              <a:buNone/>
            </a:pPr>
            <a:r>
              <a:rPr b="1" i="0" lang="en" sz="2300" u="none" cap="none" strike="noStrike">
                <a:solidFill>
                  <a:srgbClr val="0B2B36"/>
                </a:solidFill>
                <a:latin typeface="Cambria"/>
                <a:ea typeface="Cambria"/>
                <a:cs typeface="Cambria"/>
                <a:sym typeface="Cambria"/>
              </a:rPr>
              <a:t>Filtering: pre vs post</a:t>
            </a:r>
            <a:endParaRPr b="0" i="0" sz="2300" u="none" cap="none" strike="noStrike">
              <a:solidFill>
                <a:schemeClr val="dk1"/>
              </a:solidFill>
              <a:latin typeface="Calibri"/>
              <a:ea typeface="Calibri"/>
              <a:cs typeface="Calibri"/>
              <a:sym typeface="Calibri"/>
            </a:endParaRPr>
          </a:p>
        </p:txBody>
      </p:sp>
      <p:sp>
        <p:nvSpPr>
          <p:cNvPr id="1737" name="Google Shape;1737;p45"/>
          <p:cNvSpPr/>
          <p:nvPr/>
        </p:nvSpPr>
        <p:spPr>
          <a:xfrm>
            <a:off x="425196" y="850392"/>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Calibri"/>
              <a:buNone/>
            </a:pPr>
            <a:r>
              <a:rPr b="0" i="1" lang="en" sz="1100" u="none" cap="none" strike="noStrike">
                <a:solidFill>
                  <a:srgbClr val="2A9D8F"/>
                </a:solidFill>
                <a:latin typeface="Calibri"/>
                <a:ea typeface="Calibri"/>
                <a:cs typeface="Calibri"/>
                <a:sym typeface="Calibri"/>
              </a:rPr>
              <a:t>Apply metadata filters before the search, or after</a:t>
            </a:r>
            <a:endParaRPr b="0" i="0" sz="1100" u="none" cap="none" strike="noStrike">
              <a:solidFill>
                <a:schemeClr val="dk1"/>
              </a:solidFill>
              <a:latin typeface="Calibri"/>
              <a:ea typeface="Calibri"/>
              <a:cs typeface="Calibri"/>
              <a:sym typeface="Calibri"/>
            </a:endParaRPr>
          </a:p>
        </p:txBody>
      </p:sp>
      <p:sp>
        <p:nvSpPr>
          <p:cNvPr id="1738" name="Google Shape;1738;p45"/>
          <p:cNvSpPr/>
          <p:nvPr/>
        </p:nvSpPr>
        <p:spPr>
          <a:xfrm>
            <a:off x="411480" y="1371600"/>
            <a:ext cx="4080600" cy="2846100"/>
          </a:xfrm>
          <a:prstGeom prst="roundRect">
            <a:avLst>
              <a:gd fmla="val 2651" name="adj"/>
            </a:avLst>
          </a:prstGeom>
          <a:solidFill>
            <a:srgbClr val="0D5C63"/>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9" name="Google Shape;1739;p45"/>
          <p:cNvSpPr/>
          <p:nvPr/>
        </p:nvSpPr>
        <p:spPr>
          <a:xfrm>
            <a:off x="617220" y="1508760"/>
            <a:ext cx="3703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 sz="1500" u="none" cap="none" strike="noStrike">
                <a:solidFill>
                  <a:srgbClr val="FFFFFF"/>
                </a:solidFill>
                <a:latin typeface="Cambria"/>
                <a:ea typeface="Cambria"/>
                <a:cs typeface="Cambria"/>
                <a:sym typeface="Cambria"/>
              </a:rPr>
              <a:t>Pre-filter</a:t>
            </a:r>
            <a:endParaRPr b="0" i="0" sz="1500" u="none" cap="none" strike="noStrike">
              <a:solidFill>
                <a:schemeClr val="dk1"/>
              </a:solidFill>
              <a:latin typeface="Calibri"/>
              <a:ea typeface="Calibri"/>
              <a:cs typeface="Calibri"/>
              <a:sym typeface="Calibri"/>
            </a:endParaRPr>
          </a:p>
        </p:txBody>
      </p:sp>
      <p:sp>
        <p:nvSpPr>
          <p:cNvPr id="1740" name="Google Shape;1740;p45"/>
          <p:cNvSpPr/>
          <p:nvPr/>
        </p:nvSpPr>
        <p:spPr>
          <a:xfrm>
            <a:off x="617220" y="1885950"/>
            <a:ext cx="370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CBBE"/>
              </a:buClr>
              <a:buSzPts val="1000"/>
              <a:buFont typeface="Calibri"/>
              <a:buNone/>
            </a:pPr>
            <a:r>
              <a:rPr b="0" i="1" lang="en" sz="1000" u="none" cap="none" strike="noStrike">
                <a:solidFill>
                  <a:srgbClr val="6FCBBE"/>
                </a:solidFill>
                <a:latin typeface="Calibri"/>
                <a:ea typeface="Calibri"/>
                <a:cs typeface="Calibri"/>
                <a:sym typeface="Calibri"/>
              </a:rPr>
              <a:t>Narrow FIRST, then search only the matches</a:t>
            </a:r>
            <a:endParaRPr b="0" i="0" sz="1000" u="none" cap="none" strike="noStrike">
              <a:solidFill>
                <a:schemeClr val="dk1"/>
              </a:solidFill>
              <a:latin typeface="Calibri"/>
              <a:ea typeface="Calibri"/>
              <a:cs typeface="Calibri"/>
              <a:sym typeface="Calibri"/>
            </a:endParaRPr>
          </a:p>
        </p:txBody>
      </p:sp>
      <p:sp>
        <p:nvSpPr>
          <p:cNvPr id="1741" name="Google Shape;1741;p45"/>
          <p:cNvSpPr/>
          <p:nvPr/>
        </p:nvSpPr>
        <p:spPr>
          <a:xfrm>
            <a:off x="617220" y="2228850"/>
            <a:ext cx="3669000" cy="342900"/>
          </a:xfrm>
          <a:prstGeom prst="roundRect">
            <a:avLst>
              <a:gd fmla="val 22000" name="adj"/>
            </a:avLst>
          </a:prstGeom>
          <a:solidFill>
            <a:srgbClr val="061E2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2" name="Google Shape;1742;p45"/>
          <p:cNvSpPr/>
          <p:nvPr/>
        </p:nvSpPr>
        <p:spPr>
          <a:xfrm>
            <a:off x="720090" y="2228850"/>
            <a:ext cx="3463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CBBE"/>
              </a:buClr>
              <a:buSzPts val="900"/>
              <a:buFont typeface="Courier New"/>
              <a:buNone/>
            </a:pPr>
            <a:r>
              <a:rPr b="0" i="0" lang="en" sz="900" u="none" cap="none" strike="noStrike">
                <a:solidFill>
                  <a:srgbClr val="6FCBBE"/>
                </a:solidFill>
                <a:latin typeface="Courier New"/>
                <a:ea typeface="Courier New"/>
                <a:cs typeface="Courier New"/>
                <a:sym typeface="Courier New"/>
              </a:rPr>
              <a:t>where={"dept":"HR"} → search HR only</a:t>
            </a:r>
            <a:endParaRPr b="0" i="0" sz="900" u="none" cap="none" strike="noStrike">
              <a:solidFill>
                <a:schemeClr val="dk1"/>
              </a:solidFill>
              <a:latin typeface="Calibri"/>
              <a:ea typeface="Calibri"/>
              <a:cs typeface="Calibri"/>
              <a:sym typeface="Calibri"/>
            </a:endParaRPr>
          </a:p>
        </p:txBody>
      </p:sp>
      <p:sp>
        <p:nvSpPr>
          <p:cNvPr id="1743" name="Google Shape;1743;p45"/>
          <p:cNvSpPr/>
          <p:nvPr/>
        </p:nvSpPr>
        <p:spPr>
          <a:xfrm>
            <a:off x="651510" y="2708910"/>
            <a:ext cx="246900" cy="246900"/>
          </a:xfrm>
          <a:prstGeom prst="ellipse">
            <a:avLst/>
          </a:prstGeom>
          <a:solidFill>
            <a:srgbClr val="6FCBBE"/>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4" name="Google Shape;1744;p45"/>
          <p:cNvSpPr/>
          <p:nvPr/>
        </p:nvSpPr>
        <p:spPr>
          <a:xfrm>
            <a:off x="651510" y="270891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600"/>
              <a:buFont typeface="Cambria"/>
              <a:buNone/>
            </a:pPr>
            <a:r>
              <a:rPr b="1" i="0" lang="en" sz="600" u="none" cap="none" strike="noStrike">
                <a:solidFill>
                  <a:srgbClr val="0B2B36"/>
                </a:solidFill>
                <a:latin typeface="Cambria"/>
                <a:ea typeface="Cambria"/>
                <a:cs typeface="Cambria"/>
                <a:sym typeface="Cambria"/>
              </a:rPr>
              <a:t>✓</a:t>
            </a:r>
            <a:endParaRPr b="0" i="0" sz="600" u="none" cap="none" strike="noStrike">
              <a:solidFill>
                <a:schemeClr val="dk1"/>
              </a:solidFill>
              <a:latin typeface="Calibri"/>
              <a:ea typeface="Calibri"/>
              <a:cs typeface="Calibri"/>
              <a:sym typeface="Calibri"/>
            </a:endParaRPr>
          </a:p>
        </p:txBody>
      </p:sp>
      <p:sp>
        <p:nvSpPr>
          <p:cNvPr id="1745" name="Google Shape;1745;p45"/>
          <p:cNvSpPr/>
          <p:nvPr/>
        </p:nvSpPr>
        <p:spPr>
          <a:xfrm>
            <a:off x="994410" y="2708910"/>
            <a:ext cx="3360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Faster — smaller candidate set</a:t>
            </a:r>
            <a:endParaRPr b="0" i="0" sz="1000" u="none" cap="none" strike="noStrike">
              <a:solidFill>
                <a:schemeClr val="dk1"/>
              </a:solidFill>
              <a:latin typeface="Calibri"/>
              <a:ea typeface="Calibri"/>
              <a:cs typeface="Calibri"/>
              <a:sym typeface="Calibri"/>
            </a:endParaRPr>
          </a:p>
        </p:txBody>
      </p:sp>
      <p:sp>
        <p:nvSpPr>
          <p:cNvPr id="1746" name="Google Shape;1746;p45"/>
          <p:cNvSpPr/>
          <p:nvPr/>
        </p:nvSpPr>
        <p:spPr>
          <a:xfrm>
            <a:off x="651510" y="3086100"/>
            <a:ext cx="246900" cy="246900"/>
          </a:xfrm>
          <a:prstGeom prst="ellipse">
            <a:avLst/>
          </a:prstGeom>
          <a:solidFill>
            <a:srgbClr val="6FCBBE"/>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7" name="Google Shape;1747;p45"/>
          <p:cNvSpPr/>
          <p:nvPr/>
        </p:nvSpPr>
        <p:spPr>
          <a:xfrm>
            <a:off x="651510" y="308610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600"/>
              <a:buFont typeface="Cambria"/>
              <a:buNone/>
            </a:pPr>
            <a:r>
              <a:rPr b="1" i="0" lang="en" sz="600" u="none" cap="none" strike="noStrike">
                <a:solidFill>
                  <a:srgbClr val="0B2B36"/>
                </a:solidFill>
                <a:latin typeface="Cambria"/>
                <a:ea typeface="Cambria"/>
                <a:cs typeface="Cambria"/>
                <a:sym typeface="Cambria"/>
              </a:rPr>
              <a:t>✓</a:t>
            </a:r>
            <a:endParaRPr b="0" i="0" sz="600" u="none" cap="none" strike="noStrike">
              <a:solidFill>
                <a:schemeClr val="dk1"/>
              </a:solidFill>
              <a:latin typeface="Calibri"/>
              <a:ea typeface="Calibri"/>
              <a:cs typeface="Calibri"/>
              <a:sym typeface="Calibri"/>
            </a:endParaRPr>
          </a:p>
        </p:txBody>
      </p:sp>
      <p:sp>
        <p:nvSpPr>
          <p:cNvPr id="1748" name="Google Shape;1748;p45"/>
          <p:cNvSpPr/>
          <p:nvPr/>
        </p:nvSpPr>
        <p:spPr>
          <a:xfrm>
            <a:off x="994410" y="3086100"/>
            <a:ext cx="3360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More precise — no off-topic hits</a:t>
            </a:r>
            <a:endParaRPr b="0" i="0" sz="1000" u="none" cap="none" strike="noStrike">
              <a:solidFill>
                <a:schemeClr val="dk1"/>
              </a:solidFill>
              <a:latin typeface="Calibri"/>
              <a:ea typeface="Calibri"/>
              <a:cs typeface="Calibri"/>
              <a:sym typeface="Calibri"/>
            </a:endParaRPr>
          </a:p>
        </p:txBody>
      </p:sp>
      <p:sp>
        <p:nvSpPr>
          <p:cNvPr id="1749" name="Google Shape;1749;p45"/>
          <p:cNvSpPr/>
          <p:nvPr/>
        </p:nvSpPr>
        <p:spPr>
          <a:xfrm>
            <a:off x="651510" y="3463290"/>
            <a:ext cx="246900" cy="246900"/>
          </a:xfrm>
          <a:prstGeom prst="ellipse">
            <a:avLst/>
          </a:prstGeom>
          <a:solidFill>
            <a:srgbClr val="6FCBBE"/>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0" name="Google Shape;1750;p45"/>
          <p:cNvSpPr/>
          <p:nvPr/>
        </p:nvSpPr>
        <p:spPr>
          <a:xfrm>
            <a:off x="651510" y="346329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600"/>
              <a:buFont typeface="Cambria"/>
              <a:buNone/>
            </a:pPr>
            <a:r>
              <a:rPr b="1" i="0" lang="en" sz="600" u="none" cap="none" strike="noStrike">
                <a:solidFill>
                  <a:srgbClr val="0B2B36"/>
                </a:solidFill>
                <a:latin typeface="Cambria"/>
                <a:ea typeface="Cambria"/>
                <a:cs typeface="Cambria"/>
                <a:sym typeface="Cambria"/>
              </a:rPr>
              <a:t>✓</a:t>
            </a:r>
            <a:endParaRPr b="0" i="0" sz="600" u="none" cap="none" strike="noStrike">
              <a:solidFill>
                <a:schemeClr val="dk1"/>
              </a:solidFill>
              <a:latin typeface="Calibri"/>
              <a:ea typeface="Calibri"/>
              <a:cs typeface="Calibri"/>
              <a:sym typeface="Calibri"/>
            </a:endParaRPr>
          </a:p>
        </p:txBody>
      </p:sp>
      <p:sp>
        <p:nvSpPr>
          <p:cNvPr id="1751" name="Google Shape;1751;p45"/>
          <p:cNvSpPr/>
          <p:nvPr/>
        </p:nvSpPr>
        <p:spPr>
          <a:xfrm>
            <a:off x="994410" y="3463290"/>
            <a:ext cx="3360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Reliable K — always fills the top K</a:t>
            </a:r>
            <a:endParaRPr b="0" i="0" sz="1000" u="none" cap="none" strike="noStrike">
              <a:solidFill>
                <a:schemeClr val="dk1"/>
              </a:solidFill>
              <a:latin typeface="Calibri"/>
              <a:ea typeface="Calibri"/>
              <a:cs typeface="Calibri"/>
              <a:sym typeface="Calibri"/>
            </a:endParaRPr>
          </a:p>
        </p:txBody>
      </p:sp>
      <p:sp>
        <p:nvSpPr>
          <p:cNvPr id="1752" name="Google Shape;1752;p45"/>
          <p:cNvSpPr/>
          <p:nvPr/>
        </p:nvSpPr>
        <p:spPr>
          <a:xfrm>
            <a:off x="651510" y="3840480"/>
            <a:ext cx="246900" cy="246900"/>
          </a:xfrm>
          <a:prstGeom prst="ellipse">
            <a:avLst/>
          </a:prstGeom>
          <a:solidFill>
            <a:srgbClr val="E9A23B"/>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3" name="Google Shape;1753;p45"/>
          <p:cNvSpPr/>
          <p:nvPr/>
        </p:nvSpPr>
        <p:spPr>
          <a:xfrm>
            <a:off x="651510" y="384048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600"/>
              <a:buFont typeface="Cambria"/>
              <a:buNone/>
            </a:pPr>
            <a:r>
              <a:rPr b="1" i="0" lang="en" sz="600" u="none" cap="none" strike="noStrike">
                <a:solidFill>
                  <a:srgbClr val="0B2B36"/>
                </a:solidFill>
                <a:latin typeface="Cambria"/>
                <a:ea typeface="Cambria"/>
                <a:cs typeface="Cambria"/>
                <a:sym typeface="Cambria"/>
              </a:rPr>
              <a:t>!</a:t>
            </a:r>
            <a:endParaRPr b="0" i="0" sz="600" u="none" cap="none" strike="noStrike">
              <a:solidFill>
                <a:schemeClr val="dk1"/>
              </a:solidFill>
              <a:latin typeface="Calibri"/>
              <a:ea typeface="Calibri"/>
              <a:cs typeface="Calibri"/>
              <a:sym typeface="Calibri"/>
            </a:endParaRPr>
          </a:p>
        </p:txBody>
      </p:sp>
      <p:sp>
        <p:nvSpPr>
          <p:cNvPr id="1754" name="Google Shape;1754;p45"/>
          <p:cNvSpPr/>
          <p:nvPr/>
        </p:nvSpPr>
        <p:spPr>
          <a:xfrm>
            <a:off x="994410" y="3840480"/>
            <a:ext cx="3360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Needs an index that supports it</a:t>
            </a:r>
            <a:endParaRPr b="0" i="0" sz="1000" u="none" cap="none" strike="noStrike">
              <a:solidFill>
                <a:schemeClr val="dk1"/>
              </a:solidFill>
              <a:latin typeface="Calibri"/>
              <a:ea typeface="Calibri"/>
              <a:cs typeface="Calibri"/>
              <a:sym typeface="Calibri"/>
            </a:endParaRPr>
          </a:p>
        </p:txBody>
      </p:sp>
      <p:sp>
        <p:nvSpPr>
          <p:cNvPr id="1755" name="Google Shape;1755;p45"/>
          <p:cNvSpPr/>
          <p:nvPr/>
        </p:nvSpPr>
        <p:spPr>
          <a:xfrm>
            <a:off x="4649724" y="1371600"/>
            <a:ext cx="4080600" cy="2846100"/>
          </a:xfrm>
          <a:prstGeom prst="roundRect">
            <a:avLst>
              <a:gd fmla="val 2651"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6" name="Google Shape;1756;p45"/>
          <p:cNvSpPr/>
          <p:nvPr/>
        </p:nvSpPr>
        <p:spPr>
          <a:xfrm>
            <a:off x="4855464" y="1508760"/>
            <a:ext cx="3703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500"/>
              <a:buFont typeface="Cambria"/>
              <a:buNone/>
            </a:pPr>
            <a:r>
              <a:rPr b="1" i="0" lang="en" sz="1500" u="none" cap="none" strike="noStrike">
                <a:solidFill>
                  <a:srgbClr val="1A2B32"/>
                </a:solidFill>
                <a:latin typeface="Cambria"/>
                <a:ea typeface="Cambria"/>
                <a:cs typeface="Cambria"/>
                <a:sym typeface="Cambria"/>
              </a:rPr>
              <a:t>Post-filter</a:t>
            </a:r>
            <a:endParaRPr b="0" i="0" sz="1500" u="none" cap="none" strike="noStrike">
              <a:solidFill>
                <a:schemeClr val="dk1"/>
              </a:solidFill>
              <a:latin typeface="Calibri"/>
              <a:ea typeface="Calibri"/>
              <a:cs typeface="Calibri"/>
              <a:sym typeface="Calibri"/>
            </a:endParaRPr>
          </a:p>
        </p:txBody>
      </p:sp>
      <p:sp>
        <p:nvSpPr>
          <p:cNvPr id="1757" name="Google Shape;1757;p45"/>
          <p:cNvSpPr/>
          <p:nvPr/>
        </p:nvSpPr>
        <p:spPr>
          <a:xfrm>
            <a:off x="4855464" y="1885950"/>
            <a:ext cx="370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7078"/>
              </a:buClr>
              <a:buSzPts val="1000"/>
              <a:buFont typeface="Calibri"/>
              <a:buNone/>
            </a:pPr>
            <a:r>
              <a:rPr b="0" i="1" lang="en" sz="1000" u="none" cap="none" strike="noStrike">
                <a:solidFill>
                  <a:srgbClr val="5C7078"/>
                </a:solidFill>
                <a:latin typeface="Calibri"/>
                <a:ea typeface="Calibri"/>
                <a:cs typeface="Calibri"/>
                <a:sym typeface="Calibri"/>
              </a:rPr>
              <a:t>Search FIRST, then drop non-matches</a:t>
            </a:r>
            <a:endParaRPr b="0" i="0" sz="1000" u="none" cap="none" strike="noStrike">
              <a:solidFill>
                <a:schemeClr val="dk1"/>
              </a:solidFill>
              <a:latin typeface="Calibri"/>
              <a:ea typeface="Calibri"/>
              <a:cs typeface="Calibri"/>
              <a:sym typeface="Calibri"/>
            </a:endParaRPr>
          </a:p>
        </p:txBody>
      </p:sp>
      <p:sp>
        <p:nvSpPr>
          <p:cNvPr id="1758" name="Google Shape;1758;p45"/>
          <p:cNvSpPr/>
          <p:nvPr/>
        </p:nvSpPr>
        <p:spPr>
          <a:xfrm>
            <a:off x="4855464" y="2228850"/>
            <a:ext cx="3669000" cy="342900"/>
          </a:xfrm>
          <a:prstGeom prst="roundRect">
            <a:avLst>
              <a:gd fmla="val 22000" name="adj"/>
            </a:avLst>
          </a:prstGeom>
          <a:solidFill>
            <a:srgbClr val="E1E9E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9" name="Google Shape;1759;p45"/>
          <p:cNvSpPr/>
          <p:nvPr/>
        </p:nvSpPr>
        <p:spPr>
          <a:xfrm>
            <a:off x="4958334" y="2228850"/>
            <a:ext cx="3463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900"/>
              <a:buFont typeface="Courier New"/>
              <a:buNone/>
            </a:pPr>
            <a:r>
              <a:rPr b="0" i="0" lang="en" sz="900" u="none" cap="none" strike="noStrike">
                <a:solidFill>
                  <a:srgbClr val="0B2B36"/>
                </a:solidFill>
                <a:latin typeface="Courier New"/>
                <a:ea typeface="Courier New"/>
                <a:cs typeface="Courier New"/>
                <a:sym typeface="Courier New"/>
              </a:rPr>
              <a:t>search all → keep rows where dept=HR</a:t>
            </a:r>
            <a:endParaRPr b="0" i="0" sz="900" u="none" cap="none" strike="noStrike">
              <a:solidFill>
                <a:schemeClr val="dk1"/>
              </a:solidFill>
              <a:latin typeface="Calibri"/>
              <a:ea typeface="Calibri"/>
              <a:cs typeface="Calibri"/>
              <a:sym typeface="Calibri"/>
            </a:endParaRPr>
          </a:p>
        </p:txBody>
      </p:sp>
      <p:sp>
        <p:nvSpPr>
          <p:cNvPr id="1760" name="Google Shape;1760;p45"/>
          <p:cNvSpPr/>
          <p:nvPr/>
        </p:nvSpPr>
        <p:spPr>
          <a:xfrm>
            <a:off x="4889754" y="2708910"/>
            <a:ext cx="246900" cy="246900"/>
          </a:xfrm>
          <a:prstGeom prst="ellipse">
            <a:avLst/>
          </a:prstGeom>
          <a:solidFill>
            <a:srgbClr val="2A9D8F"/>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1" name="Google Shape;1761;p45"/>
          <p:cNvSpPr/>
          <p:nvPr/>
        </p:nvSpPr>
        <p:spPr>
          <a:xfrm>
            <a:off x="4889754" y="270891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Cambria"/>
              <a:buNone/>
            </a:pPr>
            <a:r>
              <a:rPr b="1" i="0" lang="en" sz="600" u="none" cap="none" strike="noStrike">
                <a:solidFill>
                  <a:srgbClr val="FFFFFF"/>
                </a:solidFill>
                <a:latin typeface="Cambria"/>
                <a:ea typeface="Cambria"/>
                <a:cs typeface="Cambria"/>
                <a:sym typeface="Cambria"/>
              </a:rPr>
              <a:t>✓</a:t>
            </a:r>
            <a:endParaRPr b="0" i="0" sz="600" u="none" cap="none" strike="noStrike">
              <a:solidFill>
                <a:schemeClr val="dk1"/>
              </a:solidFill>
              <a:latin typeface="Calibri"/>
              <a:ea typeface="Calibri"/>
              <a:cs typeface="Calibri"/>
              <a:sym typeface="Calibri"/>
            </a:endParaRPr>
          </a:p>
        </p:txBody>
      </p:sp>
      <p:sp>
        <p:nvSpPr>
          <p:cNvPr id="1762" name="Google Shape;1762;p45"/>
          <p:cNvSpPr/>
          <p:nvPr/>
        </p:nvSpPr>
        <p:spPr>
          <a:xfrm>
            <a:off x="5232654" y="2708910"/>
            <a:ext cx="3360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Simple — works on any index</a:t>
            </a:r>
            <a:endParaRPr b="0" i="0" sz="1000" u="none" cap="none" strike="noStrike">
              <a:solidFill>
                <a:schemeClr val="dk1"/>
              </a:solidFill>
              <a:latin typeface="Calibri"/>
              <a:ea typeface="Calibri"/>
              <a:cs typeface="Calibri"/>
              <a:sym typeface="Calibri"/>
            </a:endParaRPr>
          </a:p>
        </p:txBody>
      </p:sp>
      <p:sp>
        <p:nvSpPr>
          <p:cNvPr id="1763" name="Google Shape;1763;p45"/>
          <p:cNvSpPr/>
          <p:nvPr/>
        </p:nvSpPr>
        <p:spPr>
          <a:xfrm>
            <a:off x="4889754" y="3086100"/>
            <a:ext cx="246900" cy="246900"/>
          </a:xfrm>
          <a:prstGeom prst="ellipse">
            <a:avLst/>
          </a:prstGeom>
          <a:solidFill>
            <a:srgbClr val="E76F51"/>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4" name="Google Shape;1764;p45"/>
          <p:cNvSpPr/>
          <p:nvPr/>
        </p:nvSpPr>
        <p:spPr>
          <a:xfrm>
            <a:off x="4889754" y="308610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Cambria"/>
              <a:buNone/>
            </a:pPr>
            <a:r>
              <a:rPr b="1" i="0" lang="en" sz="600" u="none" cap="none" strike="noStrike">
                <a:solidFill>
                  <a:srgbClr val="FFFFFF"/>
                </a:solidFill>
                <a:latin typeface="Cambria"/>
                <a:ea typeface="Cambria"/>
                <a:cs typeface="Cambria"/>
                <a:sym typeface="Cambria"/>
              </a:rPr>
              <a:t>✕</a:t>
            </a:r>
            <a:endParaRPr b="0" i="0" sz="600" u="none" cap="none" strike="noStrike">
              <a:solidFill>
                <a:schemeClr val="dk1"/>
              </a:solidFill>
              <a:latin typeface="Calibri"/>
              <a:ea typeface="Calibri"/>
              <a:cs typeface="Calibri"/>
              <a:sym typeface="Calibri"/>
            </a:endParaRPr>
          </a:p>
        </p:txBody>
      </p:sp>
      <p:sp>
        <p:nvSpPr>
          <p:cNvPr id="1765" name="Google Shape;1765;p45"/>
          <p:cNvSpPr/>
          <p:nvPr/>
        </p:nvSpPr>
        <p:spPr>
          <a:xfrm>
            <a:off x="5232654" y="3086100"/>
            <a:ext cx="3360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May return fewer than K results</a:t>
            </a:r>
            <a:endParaRPr b="0" i="0" sz="1000" u="none" cap="none" strike="noStrike">
              <a:solidFill>
                <a:schemeClr val="dk1"/>
              </a:solidFill>
              <a:latin typeface="Calibri"/>
              <a:ea typeface="Calibri"/>
              <a:cs typeface="Calibri"/>
              <a:sym typeface="Calibri"/>
            </a:endParaRPr>
          </a:p>
        </p:txBody>
      </p:sp>
      <p:sp>
        <p:nvSpPr>
          <p:cNvPr id="1766" name="Google Shape;1766;p45"/>
          <p:cNvSpPr/>
          <p:nvPr/>
        </p:nvSpPr>
        <p:spPr>
          <a:xfrm>
            <a:off x="4889754" y="3463290"/>
            <a:ext cx="246900" cy="246900"/>
          </a:xfrm>
          <a:prstGeom prst="ellipse">
            <a:avLst/>
          </a:prstGeom>
          <a:solidFill>
            <a:srgbClr val="E76F51"/>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7" name="Google Shape;1767;p45"/>
          <p:cNvSpPr/>
          <p:nvPr/>
        </p:nvSpPr>
        <p:spPr>
          <a:xfrm>
            <a:off x="4889754" y="346329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Cambria"/>
              <a:buNone/>
            </a:pPr>
            <a:r>
              <a:rPr b="1" i="0" lang="en" sz="600" u="none" cap="none" strike="noStrike">
                <a:solidFill>
                  <a:srgbClr val="FFFFFF"/>
                </a:solidFill>
                <a:latin typeface="Cambria"/>
                <a:ea typeface="Cambria"/>
                <a:cs typeface="Cambria"/>
                <a:sym typeface="Cambria"/>
              </a:rPr>
              <a:t>✕</a:t>
            </a:r>
            <a:endParaRPr b="0" i="0" sz="600" u="none" cap="none" strike="noStrike">
              <a:solidFill>
                <a:schemeClr val="dk1"/>
              </a:solidFill>
              <a:latin typeface="Calibri"/>
              <a:ea typeface="Calibri"/>
              <a:cs typeface="Calibri"/>
              <a:sym typeface="Calibri"/>
            </a:endParaRPr>
          </a:p>
        </p:txBody>
      </p:sp>
      <p:sp>
        <p:nvSpPr>
          <p:cNvPr id="1768" name="Google Shape;1768;p45"/>
          <p:cNvSpPr/>
          <p:nvPr/>
        </p:nvSpPr>
        <p:spPr>
          <a:xfrm>
            <a:off x="5232654" y="3463290"/>
            <a:ext cx="3360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Wastes work searching filtered-out docs</a:t>
            </a:r>
            <a:endParaRPr b="0" i="0" sz="1000" u="none" cap="none" strike="noStrike">
              <a:solidFill>
                <a:schemeClr val="dk1"/>
              </a:solidFill>
              <a:latin typeface="Calibri"/>
              <a:ea typeface="Calibri"/>
              <a:cs typeface="Calibri"/>
              <a:sym typeface="Calibri"/>
            </a:endParaRPr>
          </a:p>
        </p:txBody>
      </p:sp>
      <p:sp>
        <p:nvSpPr>
          <p:cNvPr id="1769" name="Google Shape;1769;p45"/>
          <p:cNvSpPr/>
          <p:nvPr/>
        </p:nvSpPr>
        <p:spPr>
          <a:xfrm>
            <a:off x="4889754" y="3840480"/>
            <a:ext cx="246900" cy="246900"/>
          </a:xfrm>
          <a:prstGeom prst="ellipse">
            <a:avLst/>
          </a:prstGeom>
          <a:solidFill>
            <a:srgbClr val="5C7078"/>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0" name="Google Shape;1770;p45"/>
          <p:cNvSpPr/>
          <p:nvPr/>
        </p:nvSpPr>
        <p:spPr>
          <a:xfrm>
            <a:off x="4889754" y="3840480"/>
            <a:ext cx="2469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Cambria"/>
              <a:buNone/>
            </a:pPr>
            <a:r>
              <a:rPr b="1" i="0" lang="en" sz="600" u="none" cap="none" strike="noStrike">
                <a:solidFill>
                  <a:srgbClr val="FFFFFF"/>
                </a:solidFill>
                <a:latin typeface="Cambria"/>
                <a:ea typeface="Cambria"/>
                <a:cs typeface="Cambria"/>
                <a:sym typeface="Cambria"/>
              </a:rPr>
              <a:t>→</a:t>
            </a:r>
            <a:endParaRPr b="0" i="0" sz="600" u="none" cap="none" strike="noStrike">
              <a:solidFill>
                <a:schemeClr val="dk1"/>
              </a:solidFill>
              <a:latin typeface="Calibri"/>
              <a:ea typeface="Calibri"/>
              <a:cs typeface="Calibri"/>
              <a:sym typeface="Calibri"/>
            </a:endParaRPr>
          </a:p>
        </p:txBody>
      </p:sp>
      <p:sp>
        <p:nvSpPr>
          <p:cNvPr id="1771" name="Google Shape;1771;p45"/>
          <p:cNvSpPr/>
          <p:nvPr/>
        </p:nvSpPr>
        <p:spPr>
          <a:xfrm>
            <a:off x="5232654" y="3840480"/>
            <a:ext cx="33603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Fix: over-fetch, then filter</a:t>
            </a:r>
            <a:endParaRPr b="0" i="0" sz="1000" u="none" cap="none" strike="noStrike">
              <a:solidFill>
                <a:schemeClr val="dk1"/>
              </a:solidFill>
              <a:latin typeface="Calibri"/>
              <a:ea typeface="Calibri"/>
              <a:cs typeface="Calibri"/>
              <a:sym typeface="Calibri"/>
            </a:endParaRPr>
          </a:p>
        </p:txBody>
      </p:sp>
      <p:sp>
        <p:nvSpPr>
          <p:cNvPr id="1772" name="Google Shape;1772;p45"/>
          <p:cNvSpPr/>
          <p:nvPr/>
        </p:nvSpPr>
        <p:spPr>
          <a:xfrm>
            <a:off x="411480" y="4320540"/>
            <a:ext cx="8318700" cy="411600"/>
          </a:xfrm>
          <a:prstGeom prst="roundRect">
            <a:avLst>
              <a:gd fmla="val 18333" name="adj"/>
            </a:avLst>
          </a:prstGeom>
          <a:solidFill>
            <a:srgbClr val="0B2B3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3" name="Google Shape;1773;p45"/>
          <p:cNvSpPr/>
          <p:nvPr/>
        </p:nvSpPr>
        <p:spPr>
          <a:xfrm>
            <a:off x="617220" y="4320540"/>
            <a:ext cx="788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A23B"/>
              </a:buClr>
              <a:buSzPts val="1100"/>
              <a:buFont typeface="Calibri"/>
              <a:buNone/>
            </a:pPr>
            <a:r>
              <a:rPr b="1" i="0" lang="en" sz="1100" u="none" cap="none" strike="noStrike">
                <a:solidFill>
                  <a:srgbClr val="E9A23B"/>
                </a:solidFill>
                <a:latin typeface="Calibri"/>
                <a:ea typeface="Calibri"/>
                <a:cs typeface="Calibri"/>
                <a:sym typeface="Calibri"/>
              </a:rPr>
              <a:t>Rule of thumb:  </a:t>
            </a:r>
            <a:r>
              <a:rPr b="0" i="0" lang="en" sz="1100" u="none" cap="none" strike="noStrike">
                <a:solidFill>
                  <a:srgbClr val="FFFFFF"/>
                </a:solidFill>
                <a:latin typeface="Calibri"/>
                <a:ea typeface="Calibri"/>
                <a:cs typeface="Calibri"/>
                <a:sym typeface="Calibri"/>
              </a:rPr>
              <a:t>prefer pre-filtering when your vector DB supports it — it’s faster, more precise, and won’t come up short on results.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46"/>
          <p:cNvSpPr txBox="1"/>
          <p:nvPr>
            <p:ph type="title"/>
          </p:nvPr>
        </p:nvSpPr>
        <p:spPr>
          <a:xfrm>
            <a:off x="180350" y="2455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Design Decisions of VectorDB</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47"/>
          <p:cNvSpPr txBox="1"/>
          <p:nvPr>
            <p:ph idx="1" type="body"/>
          </p:nvPr>
        </p:nvSpPr>
        <p:spPr>
          <a:xfrm>
            <a:off x="311700" y="542075"/>
            <a:ext cx="8520600" cy="2499300"/>
          </a:xfrm>
          <a:prstGeom prst="rect">
            <a:avLst/>
          </a:prstGeom>
        </p:spPr>
        <p:txBody>
          <a:bodyPr anchorCtr="0" anchor="t" bIns="91425" lIns="91425" spcFirstLastPara="1" rIns="91425" wrap="square" tIns="91425">
            <a:noAutofit/>
          </a:bodyPr>
          <a:lstStyle/>
          <a:p>
            <a:pPr indent="-330200" lvl="0" marL="457200" rtl="0" algn="l">
              <a:spcBef>
                <a:spcPts val="1200"/>
              </a:spcBef>
              <a:spcAft>
                <a:spcPts val="0"/>
              </a:spcAft>
              <a:buClr>
                <a:schemeClr val="dk1"/>
              </a:buClr>
              <a:buSzPts val="1600"/>
              <a:buAutoNum type="arabicPeriod"/>
            </a:pPr>
            <a:r>
              <a:rPr b="1" lang="en" sz="1600">
                <a:solidFill>
                  <a:schemeClr val="dk1"/>
                </a:solidFill>
              </a:rPr>
              <a:t>Prototype, course, app under ~a few million vectors, want metadata + persistence with minimal code</a:t>
            </a:r>
            <a:endParaRPr b="1" sz="1600">
              <a:solidFill>
                <a:schemeClr val="dk1"/>
              </a:solidFill>
            </a:endParaRPr>
          </a:p>
          <a:p>
            <a:pPr indent="0" lvl="0" marL="0" rtl="0" algn="l">
              <a:spcBef>
                <a:spcPts val="1200"/>
              </a:spcBef>
              <a:spcAft>
                <a:spcPts val="0"/>
              </a:spcAft>
              <a:buNone/>
            </a:pPr>
            <a:r>
              <a:rPr b="1" lang="en" sz="1600">
                <a:solidFill>
                  <a:schemeClr val="dk1"/>
                </a:solidFill>
              </a:rPr>
              <a:t>Choose:</a:t>
            </a:r>
            <a:r>
              <a:rPr lang="en" sz="1600">
                <a:solidFill>
                  <a:schemeClr val="dk1"/>
                </a:solidFill>
              </a:rPr>
              <a:t> </a:t>
            </a:r>
            <a:r>
              <a:rPr b="1" lang="en" sz="1600">
                <a:solidFill>
                  <a:schemeClr val="dk1"/>
                </a:solidFill>
              </a:rPr>
              <a:t>ChromaDB</a:t>
            </a:r>
            <a:r>
              <a:rPr lang="en" sz="1600">
                <a:solidFill>
                  <a:schemeClr val="dk1"/>
                </a:solidFill>
              </a:rPr>
              <a:t>. </a:t>
            </a:r>
            <a:endParaRPr sz="1600">
              <a:solidFill>
                <a:schemeClr val="dk1"/>
              </a:solidFill>
            </a:endParaRPr>
          </a:p>
          <a:p>
            <a:pPr indent="0" lvl="0" marL="0" rtl="0" algn="l">
              <a:spcBef>
                <a:spcPts val="1200"/>
              </a:spcBef>
              <a:spcAft>
                <a:spcPts val="1200"/>
              </a:spcAft>
              <a:buNone/>
            </a:pPr>
            <a:br>
              <a:rPr lang="en" sz="1600">
                <a:solidFill>
                  <a:schemeClr val="dk1"/>
                </a:solidFill>
              </a:rPr>
            </a:br>
            <a:r>
              <a:rPr b="1" lang="en" sz="1600">
                <a:solidFill>
                  <a:schemeClr val="dk1"/>
                </a:solidFill>
              </a:rPr>
              <a:t>Because:</a:t>
            </a:r>
            <a:r>
              <a:rPr lang="en" sz="1600">
                <a:solidFill>
                  <a:schemeClr val="dk1"/>
                </a:solidFill>
              </a:rPr>
              <a:t> it stores vectors + original text + metadata together, persists to disk, and filters by metadata - a working semantic search service in ~15 lines. It runs FAISS-class indexes underneath anyway, so you rarely lose speed at this scale.</a:t>
            </a:r>
            <a:endParaRPr b="1" i="1" sz="1600">
              <a:solidFill>
                <a:srgbClr val="674EA7"/>
              </a:solidFill>
            </a:endParaRPr>
          </a:p>
        </p:txBody>
      </p:sp>
      <p:pic>
        <p:nvPicPr>
          <p:cNvPr id="1784" name="Google Shape;1784;p47"/>
          <p:cNvPicPr preferRelativeResize="0"/>
          <p:nvPr/>
        </p:nvPicPr>
        <p:blipFill rotWithShape="1">
          <a:blip r:embed="rId3">
            <a:alphaModFix/>
          </a:blip>
          <a:srcRect b="17226" l="4895" r="4460" t="16798"/>
          <a:stretch/>
        </p:blipFill>
        <p:spPr>
          <a:xfrm>
            <a:off x="1555475" y="3257025"/>
            <a:ext cx="6098175" cy="12935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8" name="Shape 1788"/>
        <p:cNvGrpSpPr/>
        <p:nvPr/>
      </p:nvGrpSpPr>
      <p:grpSpPr>
        <a:xfrm>
          <a:off x="0" y="0"/>
          <a:ext cx="0" cy="0"/>
          <a:chOff x="0" y="0"/>
          <a:chExt cx="0" cy="0"/>
        </a:xfrm>
      </p:grpSpPr>
      <p:sp>
        <p:nvSpPr>
          <p:cNvPr id="1789" name="Google Shape;1789;p48"/>
          <p:cNvSpPr txBox="1"/>
          <p:nvPr>
            <p:ph idx="1" type="body"/>
          </p:nvPr>
        </p:nvSpPr>
        <p:spPr>
          <a:xfrm>
            <a:off x="311700" y="531125"/>
            <a:ext cx="8520600" cy="4037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2. </a:t>
            </a:r>
            <a:r>
              <a:rPr b="1" lang="en">
                <a:solidFill>
                  <a:schemeClr val="dk1"/>
                </a:solidFill>
              </a:rPr>
              <a:t> Need raw speed / huge scale / fine index control / embedding inside another system</a:t>
            </a:r>
            <a:endParaRPr b="1">
              <a:solidFill>
                <a:schemeClr val="dk1"/>
              </a:solidFill>
            </a:endParaRPr>
          </a:p>
          <a:p>
            <a:pPr indent="0" lvl="0" marL="0" rtl="0" algn="l">
              <a:spcBef>
                <a:spcPts val="1200"/>
              </a:spcBef>
              <a:spcAft>
                <a:spcPts val="0"/>
              </a:spcAft>
              <a:buNone/>
            </a:pPr>
            <a:r>
              <a:t/>
            </a:r>
            <a:endParaRPr b="1">
              <a:solidFill>
                <a:schemeClr val="dk1"/>
              </a:solidFill>
            </a:endParaRPr>
          </a:p>
          <a:p>
            <a:pPr indent="0" lvl="0" marL="0" rtl="0" algn="l">
              <a:spcBef>
                <a:spcPts val="1200"/>
              </a:spcBef>
              <a:spcAft>
                <a:spcPts val="0"/>
              </a:spcAft>
              <a:buNone/>
            </a:pPr>
            <a:r>
              <a:rPr b="1" lang="en" sz="1600">
                <a:solidFill>
                  <a:schemeClr val="dk1"/>
                </a:solidFill>
              </a:rPr>
              <a:t>Choose:</a:t>
            </a:r>
            <a:r>
              <a:rPr lang="en" sz="1600">
                <a:solidFill>
                  <a:schemeClr val="dk1"/>
                </a:solidFill>
              </a:rPr>
              <a:t> </a:t>
            </a:r>
            <a:r>
              <a:rPr b="1" lang="en" sz="1600">
                <a:solidFill>
                  <a:schemeClr val="dk1"/>
                </a:solidFill>
              </a:rPr>
              <a:t>FAISS</a:t>
            </a:r>
            <a:r>
              <a:rPr lang="en" sz="1600">
                <a:solidFill>
                  <a:schemeClr val="dk1"/>
                </a:solidFill>
              </a:rPr>
              <a:t> (the library). </a:t>
            </a:r>
            <a:endParaRPr sz="1600">
              <a:solidFill>
                <a:schemeClr val="dk1"/>
              </a:solidFill>
            </a:endParaRPr>
          </a:p>
          <a:p>
            <a:pPr indent="0" lvl="0" marL="0" rtl="0" algn="l">
              <a:spcBef>
                <a:spcPts val="1200"/>
              </a:spcBef>
              <a:spcAft>
                <a:spcPts val="0"/>
              </a:spcAft>
              <a:buNone/>
            </a:pPr>
            <a:br>
              <a:rPr lang="en" sz="1600">
                <a:solidFill>
                  <a:schemeClr val="dk1"/>
                </a:solidFill>
              </a:rPr>
            </a:br>
            <a:r>
              <a:rPr b="1" lang="en" sz="1600">
                <a:solidFill>
                  <a:schemeClr val="dk1"/>
                </a:solidFill>
              </a:rPr>
              <a:t>Because:</a:t>
            </a:r>
            <a:r>
              <a:rPr lang="en" sz="1600">
                <a:solidFill>
                  <a:schemeClr val="dk1"/>
                </a:solidFill>
              </a:rPr>
              <a:t> fastest and most tunable, scales to billions, full control over index type and compression. The cost: it's </a:t>
            </a:r>
            <a:r>
              <a:rPr i="1" lang="en" sz="1600">
                <a:solidFill>
                  <a:schemeClr val="dk1"/>
                </a:solidFill>
              </a:rPr>
              <a:t>not</a:t>
            </a:r>
            <a:r>
              <a:rPr lang="en" sz="1600">
                <a:solidFill>
                  <a:schemeClr val="dk1"/>
                </a:solidFill>
              </a:rPr>
              <a:t> a database - no persistence, no metadata, no text storage out of the box. </a:t>
            </a:r>
            <a:endParaRPr sz="1600">
              <a:solidFill>
                <a:schemeClr val="dk1"/>
              </a:solidFill>
            </a:endParaRPr>
          </a:p>
          <a:p>
            <a:pPr indent="0" lvl="0" marL="0" rtl="0" algn="l">
              <a:spcBef>
                <a:spcPts val="1200"/>
              </a:spcBef>
              <a:spcAft>
                <a:spcPts val="1200"/>
              </a:spcAft>
              <a:buNone/>
            </a:pPr>
            <a:br>
              <a:rPr lang="en" sz="1600">
                <a:solidFill>
                  <a:schemeClr val="dk1"/>
                </a:solidFill>
              </a:rPr>
            </a:br>
            <a:r>
              <a:rPr b="1" lang="en" sz="1600">
                <a:solidFill>
                  <a:schemeClr val="dk1"/>
                </a:solidFill>
              </a:rPr>
              <a:t>You must save/load the index file yourself and keep your own </a:t>
            </a:r>
            <a:r>
              <a:rPr b="1" lang="en" sz="1600">
                <a:solidFill>
                  <a:srgbClr val="188038"/>
                </a:solidFill>
                <a:latin typeface="Roboto Mono"/>
                <a:ea typeface="Roboto Mono"/>
                <a:cs typeface="Roboto Mono"/>
                <a:sym typeface="Roboto Mono"/>
              </a:rPr>
              <a:t>id → text/metadata</a:t>
            </a:r>
            <a:r>
              <a:rPr b="1" lang="en" sz="1600">
                <a:solidFill>
                  <a:schemeClr val="dk1"/>
                </a:solidFill>
              </a:rPr>
              <a:t> map</a:t>
            </a:r>
            <a:r>
              <a:rPr lang="en" sz="1600">
                <a:solidFill>
                  <a:schemeClr val="dk1"/>
                </a:solidFill>
              </a:rPr>
              <a:t> (losing that map is the classic "FAISS gave me numbers but I lost my documents" bug).</a:t>
            </a:r>
            <a:endParaRPr sz="16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49"/>
          <p:cNvSpPr txBox="1"/>
          <p:nvPr>
            <p:ph idx="1" type="body"/>
          </p:nvPr>
        </p:nvSpPr>
        <p:spPr>
          <a:xfrm>
            <a:off x="311700" y="563950"/>
            <a:ext cx="8520600" cy="40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Question 2 - Which FAISS index? (corpus size is the main driver) </a:t>
            </a:r>
            <a:br>
              <a:rPr lang="en">
                <a:solidFill>
                  <a:schemeClr val="dk1"/>
                </a:solidFill>
              </a:rPr>
            </a:br>
            <a:br>
              <a:rPr lang="en">
                <a:solidFill>
                  <a:schemeClr val="dk1"/>
                </a:solidFill>
              </a:rPr>
            </a:br>
            <a:r>
              <a:rPr b="1" lang="en" sz="1500">
                <a:solidFill>
                  <a:schemeClr val="dk1"/>
                </a:solidFill>
              </a:rPr>
              <a:t>Branch 3D - Up to ~1M vectors, or you require 100% recall</a:t>
            </a:r>
            <a:endParaRPr b="1" sz="1500">
              <a:solidFill>
                <a:schemeClr val="dk1"/>
              </a:solidFill>
            </a:endParaRPr>
          </a:p>
          <a:p>
            <a:pPr indent="0" lvl="0" marL="0" rtl="0" algn="l">
              <a:spcBef>
                <a:spcPts val="1200"/>
              </a:spcBef>
              <a:spcAft>
                <a:spcPts val="0"/>
              </a:spcAft>
              <a:buNone/>
            </a:pPr>
            <a:r>
              <a:rPr b="1" lang="en" sz="1300">
                <a:solidFill>
                  <a:schemeClr val="dk1"/>
                </a:solidFill>
              </a:rPr>
              <a:t>Choose:</a:t>
            </a:r>
            <a:r>
              <a:rPr lang="en" sz="1300">
                <a:solidFill>
                  <a:schemeClr val="dk1"/>
                </a:solidFill>
              </a:rPr>
              <a:t> </a:t>
            </a:r>
            <a:r>
              <a:rPr lang="en" sz="1300">
                <a:solidFill>
                  <a:srgbClr val="188038"/>
                </a:solidFill>
                <a:latin typeface="Roboto Mono"/>
                <a:ea typeface="Roboto Mono"/>
                <a:cs typeface="Roboto Mono"/>
                <a:sym typeface="Roboto Mono"/>
              </a:rPr>
              <a:t>IndexFlatIP</a:t>
            </a:r>
            <a:r>
              <a:rPr lang="en" sz="1300">
                <a:solidFill>
                  <a:schemeClr val="dk1"/>
                </a:solidFill>
              </a:rPr>
              <a:t> (exact, brute force). </a:t>
            </a:r>
            <a:r>
              <a:rPr b="1" lang="en" sz="1300">
                <a:solidFill>
                  <a:schemeClr val="dk1"/>
                </a:solidFill>
              </a:rPr>
              <a:t>Because:</a:t>
            </a:r>
            <a:r>
              <a:rPr lang="en" sz="1300">
                <a:solidFill>
                  <a:schemeClr val="dk1"/>
                </a:solidFill>
              </a:rPr>
              <a:t> it compares the query to every vector — always finds the true nearest neighbors, no training, no tuning. </a:t>
            </a:r>
            <a:r>
              <a:rPr b="1" lang="en" sz="1300">
                <a:solidFill>
                  <a:schemeClr val="dk1"/>
                </a:solidFill>
              </a:rPr>
              <a:t>Don't trade away accuracy to solve a speed problem you don't have yet.</a:t>
            </a:r>
            <a:endParaRPr b="1" sz="1300">
              <a:solidFill>
                <a:schemeClr val="dk1"/>
              </a:solidFill>
            </a:endParaRPr>
          </a:p>
          <a:p>
            <a:pPr indent="0" lvl="0" marL="0" rtl="0" algn="l">
              <a:spcBef>
                <a:spcPts val="1200"/>
              </a:spcBef>
              <a:spcAft>
                <a:spcPts val="0"/>
              </a:spcAft>
              <a:buNone/>
            </a:pPr>
            <a:r>
              <a:rPr b="1" lang="en" sz="1500">
                <a:solidFill>
                  <a:schemeClr val="dk1"/>
                </a:solidFill>
              </a:rPr>
              <a:t>Branch 3E - Millions of vectors, can tolerate a small recall loss, fits in RAM</a:t>
            </a:r>
            <a:endParaRPr b="1" sz="1500">
              <a:solidFill>
                <a:schemeClr val="dk1"/>
              </a:solidFill>
            </a:endParaRPr>
          </a:p>
          <a:p>
            <a:pPr indent="0" lvl="0" marL="0" rtl="0" algn="l">
              <a:spcBef>
                <a:spcPts val="1200"/>
              </a:spcBef>
              <a:spcAft>
                <a:spcPts val="0"/>
              </a:spcAft>
              <a:buNone/>
            </a:pPr>
            <a:r>
              <a:rPr b="1" lang="en" sz="1300">
                <a:solidFill>
                  <a:schemeClr val="dk1"/>
                </a:solidFill>
              </a:rPr>
              <a:t>Choose:</a:t>
            </a:r>
            <a:r>
              <a:rPr lang="en" sz="1300">
                <a:solidFill>
                  <a:schemeClr val="dk1"/>
                </a:solidFill>
              </a:rPr>
              <a:t> </a:t>
            </a:r>
            <a:r>
              <a:rPr lang="en" sz="1300">
                <a:solidFill>
                  <a:srgbClr val="188038"/>
                </a:solidFill>
                <a:latin typeface="Roboto Mono"/>
                <a:ea typeface="Roboto Mono"/>
                <a:cs typeface="Roboto Mono"/>
                <a:sym typeface="Roboto Mono"/>
              </a:rPr>
              <a:t>IVFFlat</a:t>
            </a:r>
            <a:r>
              <a:rPr lang="en" sz="1300">
                <a:solidFill>
                  <a:schemeClr val="dk1"/>
                </a:solidFill>
              </a:rPr>
              <a:t>. Knobs: </a:t>
            </a:r>
            <a:r>
              <a:rPr lang="en" sz="1300">
                <a:solidFill>
                  <a:srgbClr val="188038"/>
                </a:solidFill>
                <a:latin typeface="Roboto Mono"/>
                <a:ea typeface="Roboto Mono"/>
                <a:cs typeface="Roboto Mono"/>
                <a:sym typeface="Roboto Mono"/>
              </a:rPr>
              <a:t>nlist ≈ √N</a:t>
            </a:r>
            <a:r>
              <a:rPr lang="en" sz="1300">
                <a:solidFill>
                  <a:schemeClr val="dk1"/>
                </a:solidFill>
              </a:rPr>
              <a:t>, </a:t>
            </a:r>
            <a:r>
              <a:rPr lang="en" sz="1300">
                <a:solidFill>
                  <a:srgbClr val="188038"/>
                </a:solidFill>
                <a:latin typeface="Roboto Mono"/>
                <a:ea typeface="Roboto Mono"/>
                <a:cs typeface="Roboto Mono"/>
                <a:sym typeface="Roboto Mono"/>
              </a:rPr>
              <a:t>nprobe</a:t>
            </a:r>
            <a:r>
              <a:rPr lang="en" sz="1300">
                <a:solidFill>
                  <a:schemeClr val="dk1"/>
                </a:solidFill>
              </a:rPr>
              <a:t> = recall dial. </a:t>
            </a:r>
            <a:r>
              <a:rPr b="1" lang="en" sz="1300">
                <a:solidFill>
                  <a:schemeClr val="dk1"/>
                </a:solidFill>
              </a:rPr>
              <a:t>Because:</a:t>
            </a:r>
            <a:r>
              <a:rPr lang="en" sz="1300">
                <a:solidFill>
                  <a:schemeClr val="dk1"/>
                </a:solidFill>
              </a:rPr>
              <a:t> it clusters vectors and only searches the few clusters near the query, skipping ~90% of comparisons. </a:t>
            </a:r>
            <a:r>
              <a:rPr b="1" lang="en" sz="1300">
                <a:solidFill>
                  <a:schemeClr val="dk1"/>
                </a:solidFill>
              </a:rPr>
              <a:t>N</a:t>
            </a:r>
            <a:r>
              <a:rPr b="1" lang="en" sz="1300">
                <a:solidFill>
                  <a:schemeClr val="dk1"/>
                </a:solidFill>
              </a:rPr>
              <a:t>eeds training</a:t>
            </a:r>
            <a:r>
              <a:rPr lang="en" sz="1300">
                <a:solidFill>
                  <a:schemeClr val="dk1"/>
                </a:solidFill>
              </a:rPr>
              <a:t> (≥ ~30–40× </a:t>
            </a:r>
            <a:r>
              <a:rPr lang="en" sz="1300">
                <a:solidFill>
                  <a:srgbClr val="188038"/>
                </a:solidFill>
                <a:latin typeface="Roboto Mono"/>
                <a:ea typeface="Roboto Mono"/>
                <a:cs typeface="Roboto Mono"/>
                <a:sym typeface="Roboto Mono"/>
              </a:rPr>
              <a:t>nlist</a:t>
            </a:r>
            <a:r>
              <a:rPr lang="en" sz="1300">
                <a:solidFill>
                  <a:schemeClr val="dk1"/>
                </a:solidFill>
              </a:rPr>
              <a:t> points or clustering is poor — that's the warning on small data)</a:t>
            </a:r>
            <a:r>
              <a:rPr lang="en" sz="1300">
                <a:solidFill>
                  <a:schemeClr val="dk1"/>
                </a:solidFill>
              </a:rPr>
              <a:t>. </a:t>
            </a:r>
            <a:r>
              <a:rPr lang="en" sz="1300">
                <a:solidFill>
                  <a:srgbClr val="188038"/>
                </a:solidFill>
                <a:latin typeface="Roboto Mono"/>
                <a:ea typeface="Roboto Mono"/>
                <a:cs typeface="Roboto Mono"/>
                <a:sym typeface="Roboto Mono"/>
              </a:rPr>
              <a:t>nprobe=1</a:t>
            </a:r>
            <a:r>
              <a:rPr lang="en" sz="1300">
                <a:solidFill>
                  <a:schemeClr val="dk1"/>
                </a:solidFill>
              </a:rPr>
              <a:t> is fastest/lowest-recall; raising it trades latency for recall until, at </a:t>
            </a:r>
            <a:r>
              <a:rPr lang="en" sz="1300">
                <a:solidFill>
                  <a:srgbClr val="188038"/>
                </a:solidFill>
                <a:latin typeface="Roboto Mono"/>
                <a:ea typeface="Roboto Mono"/>
                <a:cs typeface="Roboto Mono"/>
                <a:sym typeface="Roboto Mono"/>
              </a:rPr>
              <a:t>nprobe=nlist</a:t>
            </a:r>
            <a:r>
              <a:rPr lang="en" sz="1300">
                <a:solidFill>
                  <a:schemeClr val="dk1"/>
                </a:solidFill>
              </a:rPr>
              <a:t>, it degenerates back to exact.</a:t>
            </a:r>
            <a:endParaRPr sz="1300">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8" name="Shape 1798"/>
        <p:cNvGrpSpPr/>
        <p:nvPr/>
      </p:nvGrpSpPr>
      <p:grpSpPr>
        <a:xfrm>
          <a:off x="0" y="0"/>
          <a:ext cx="0" cy="0"/>
          <a:chOff x="0" y="0"/>
          <a:chExt cx="0" cy="0"/>
        </a:xfrm>
      </p:grpSpPr>
      <p:sp>
        <p:nvSpPr>
          <p:cNvPr id="1799" name="Google Shape;1799;p50"/>
          <p:cNvSpPr txBox="1"/>
          <p:nvPr>
            <p:ph type="title"/>
          </p:nvPr>
        </p:nvSpPr>
        <p:spPr>
          <a:xfrm>
            <a:off x="129825" y="91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A minimal end-to-end pipeline​</a:t>
            </a:r>
            <a:endParaRPr b="1"/>
          </a:p>
        </p:txBody>
      </p:sp>
      <p:pic>
        <p:nvPicPr>
          <p:cNvPr id="1800" name="Google Shape;1800;p50"/>
          <p:cNvPicPr preferRelativeResize="0"/>
          <p:nvPr/>
        </p:nvPicPr>
        <p:blipFill rotWithShape="1">
          <a:blip r:embed="rId3">
            <a:alphaModFix/>
          </a:blip>
          <a:srcRect b="0" l="0" r="3138" t="0"/>
          <a:stretch/>
        </p:blipFill>
        <p:spPr>
          <a:xfrm>
            <a:off x="579725" y="620675"/>
            <a:ext cx="6018899" cy="45228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sp>
        <p:nvSpPr>
          <p:cNvPr id="1805" name="Google Shape;1805;p51"/>
          <p:cNvSpPr txBox="1"/>
          <p:nvPr/>
        </p:nvSpPr>
        <p:spPr>
          <a:xfrm>
            <a:off x="7489950" y="4804800"/>
            <a:ext cx="16542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rPr b="0" i="0" lang="en" sz="500" u="sng" cap="none" strike="noStrike">
                <a:solidFill>
                  <a:schemeClr val="hlink"/>
                </a:solidFill>
                <a:latin typeface="Arial"/>
                <a:ea typeface="Arial"/>
                <a:cs typeface="Arial"/>
                <a:sym typeface="Arial"/>
                <a:hlinkClick r:id="rId3"/>
              </a:rPr>
              <a:t>https://ai.meta.com/blog/retrieval-augmented-generation-streamlining-the-creation-of-intelligent-natural-language-processing-models/</a:t>
            </a:r>
            <a:endParaRPr b="0" i="0" sz="500" u="none" cap="none" strike="noStrike">
              <a:solidFill>
                <a:srgbClr val="000000"/>
              </a:solidFill>
              <a:latin typeface="Arial"/>
              <a:ea typeface="Arial"/>
              <a:cs typeface="Arial"/>
              <a:sym typeface="Arial"/>
            </a:endParaRPr>
          </a:p>
        </p:txBody>
      </p:sp>
      <p:pic>
        <p:nvPicPr>
          <p:cNvPr id="1806" name="Google Shape;1806;p51"/>
          <p:cNvPicPr preferRelativeResize="0"/>
          <p:nvPr/>
        </p:nvPicPr>
        <p:blipFill rotWithShape="1">
          <a:blip r:embed="rId4">
            <a:alphaModFix/>
          </a:blip>
          <a:srcRect b="0" l="0" r="0" t="0"/>
          <a:stretch/>
        </p:blipFill>
        <p:spPr>
          <a:xfrm>
            <a:off x="432950" y="1040489"/>
            <a:ext cx="4059047" cy="1620324"/>
          </a:xfrm>
          <a:prstGeom prst="rect">
            <a:avLst/>
          </a:prstGeom>
          <a:noFill/>
          <a:ln cap="flat" cmpd="sng" w="9525">
            <a:solidFill>
              <a:schemeClr val="dk2"/>
            </a:solidFill>
            <a:prstDash val="solid"/>
            <a:round/>
            <a:headEnd len="sm" w="sm" type="none"/>
            <a:tailEnd len="sm" w="sm" type="none"/>
          </a:ln>
        </p:spPr>
      </p:pic>
      <p:pic>
        <p:nvPicPr>
          <p:cNvPr id="1807" name="Google Shape;1807;p51"/>
          <p:cNvPicPr preferRelativeResize="0"/>
          <p:nvPr/>
        </p:nvPicPr>
        <p:blipFill rotWithShape="1">
          <a:blip r:embed="rId5">
            <a:alphaModFix/>
          </a:blip>
          <a:srcRect b="0" l="0" r="0" t="0"/>
          <a:stretch/>
        </p:blipFill>
        <p:spPr>
          <a:xfrm>
            <a:off x="4582628" y="1040488"/>
            <a:ext cx="4157069" cy="1620324"/>
          </a:xfrm>
          <a:prstGeom prst="rect">
            <a:avLst/>
          </a:prstGeom>
          <a:noFill/>
          <a:ln cap="flat" cmpd="sng" w="9525">
            <a:solidFill>
              <a:schemeClr val="dk2"/>
            </a:solidFill>
            <a:prstDash val="solid"/>
            <a:round/>
            <a:headEnd len="sm" w="sm" type="none"/>
            <a:tailEnd len="sm" w="sm" type="none"/>
          </a:ln>
        </p:spPr>
      </p:pic>
      <p:pic>
        <p:nvPicPr>
          <p:cNvPr id="1808" name="Google Shape;1808;p51"/>
          <p:cNvPicPr preferRelativeResize="0"/>
          <p:nvPr/>
        </p:nvPicPr>
        <p:blipFill rotWithShape="1">
          <a:blip r:embed="rId6">
            <a:alphaModFix/>
          </a:blip>
          <a:srcRect b="0" l="0" r="0" t="0"/>
          <a:stretch/>
        </p:blipFill>
        <p:spPr>
          <a:xfrm>
            <a:off x="432950" y="3013619"/>
            <a:ext cx="4059048" cy="1698807"/>
          </a:xfrm>
          <a:prstGeom prst="rect">
            <a:avLst/>
          </a:prstGeom>
          <a:noFill/>
          <a:ln cap="flat" cmpd="sng" w="9525">
            <a:solidFill>
              <a:schemeClr val="dk2"/>
            </a:solidFill>
            <a:prstDash val="solid"/>
            <a:round/>
            <a:headEnd len="sm" w="sm" type="none"/>
            <a:tailEnd len="sm" w="sm" type="none"/>
          </a:ln>
        </p:spPr>
      </p:pic>
      <p:pic>
        <p:nvPicPr>
          <p:cNvPr id="1809" name="Google Shape;1809;p51"/>
          <p:cNvPicPr preferRelativeResize="0"/>
          <p:nvPr/>
        </p:nvPicPr>
        <p:blipFill rotWithShape="1">
          <a:blip r:embed="rId7">
            <a:alphaModFix/>
          </a:blip>
          <a:srcRect b="5553" l="0" r="0" t="0"/>
          <a:stretch/>
        </p:blipFill>
        <p:spPr>
          <a:xfrm>
            <a:off x="4582628" y="3013619"/>
            <a:ext cx="4157071" cy="1698806"/>
          </a:xfrm>
          <a:prstGeom prst="rect">
            <a:avLst/>
          </a:prstGeom>
          <a:noFill/>
          <a:ln cap="flat" cmpd="sng" w="9525">
            <a:solidFill>
              <a:schemeClr val="dk2"/>
            </a:solidFill>
            <a:prstDash val="solid"/>
            <a:round/>
            <a:headEnd len="sm" w="sm" type="none"/>
            <a:tailEnd len="sm" w="sm" type="none"/>
          </a:ln>
        </p:spPr>
      </p:pic>
      <p:sp>
        <p:nvSpPr>
          <p:cNvPr id="1810" name="Google Shape;1810;p51"/>
          <p:cNvSpPr txBox="1"/>
          <p:nvPr/>
        </p:nvSpPr>
        <p:spPr>
          <a:xfrm>
            <a:off x="432950" y="736000"/>
            <a:ext cx="1572900" cy="3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Pre-Retrieval</a:t>
            </a:r>
            <a:endParaRPr b="1" i="0" sz="1200" u="none" cap="none" strike="noStrike">
              <a:solidFill>
                <a:schemeClr val="dk1"/>
              </a:solidFill>
              <a:latin typeface="Roboto"/>
              <a:ea typeface="Roboto"/>
              <a:cs typeface="Roboto"/>
              <a:sym typeface="Roboto"/>
            </a:endParaRPr>
          </a:p>
        </p:txBody>
      </p:sp>
      <p:sp>
        <p:nvSpPr>
          <p:cNvPr id="1811" name="Google Shape;1811;p51"/>
          <p:cNvSpPr txBox="1"/>
          <p:nvPr/>
        </p:nvSpPr>
        <p:spPr>
          <a:xfrm>
            <a:off x="4572000" y="735988"/>
            <a:ext cx="1572900" cy="3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Retrieval</a:t>
            </a:r>
            <a:endParaRPr b="1" i="0" sz="1200" u="none" cap="none" strike="noStrike">
              <a:solidFill>
                <a:schemeClr val="dk1"/>
              </a:solidFill>
              <a:latin typeface="Roboto"/>
              <a:ea typeface="Roboto"/>
              <a:cs typeface="Roboto"/>
              <a:sym typeface="Roboto"/>
            </a:endParaRPr>
          </a:p>
        </p:txBody>
      </p:sp>
      <p:sp>
        <p:nvSpPr>
          <p:cNvPr id="1812" name="Google Shape;1812;p51"/>
          <p:cNvSpPr txBox="1"/>
          <p:nvPr/>
        </p:nvSpPr>
        <p:spPr>
          <a:xfrm>
            <a:off x="432950" y="2709125"/>
            <a:ext cx="1572900" cy="3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Post-Retrieval</a:t>
            </a:r>
            <a:endParaRPr b="1" i="0" sz="1200" u="none" cap="none" strike="noStrike">
              <a:solidFill>
                <a:schemeClr val="dk1"/>
              </a:solidFill>
              <a:latin typeface="Roboto"/>
              <a:ea typeface="Roboto"/>
              <a:cs typeface="Roboto"/>
              <a:sym typeface="Roboto"/>
            </a:endParaRPr>
          </a:p>
        </p:txBody>
      </p:sp>
      <p:sp>
        <p:nvSpPr>
          <p:cNvPr id="1813" name="Google Shape;1813;p51"/>
          <p:cNvSpPr txBox="1"/>
          <p:nvPr/>
        </p:nvSpPr>
        <p:spPr>
          <a:xfrm>
            <a:off x="4582625" y="2709125"/>
            <a:ext cx="2405700" cy="3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Augmentation and Generation</a:t>
            </a:r>
            <a:endParaRPr b="1" i="0" sz="1200" u="none" cap="none" strike="noStrike">
              <a:solidFill>
                <a:schemeClr val="dk1"/>
              </a:solidFill>
              <a:latin typeface="Roboto"/>
              <a:ea typeface="Roboto"/>
              <a:cs typeface="Roboto"/>
              <a:sym typeface="Roboto"/>
            </a:endParaRPr>
          </a:p>
        </p:txBody>
      </p:sp>
      <p:sp>
        <p:nvSpPr>
          <p:cNvPr id="1814" name="Google Shape;1814;p51"/>
          <p:cNvSpPr txBox="1"/>
          <p:nvPr/>
        </p:nvSpPr>
        <p:spPr>
          <a:xfrm>
            <a:off x="532539" y="257024"/>
            <a:ext cx="73794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Arial"/>
                <a:ea typeface="Arial"/>
                <a:cs typeface="Arial"/>
                <a:sym typeface="Arial"/>
              </a:rPr>
              <a:t>RAG </a:t>
            </a:r>
            <a:r>
              <a:rPr b="1" lang="en" sz="2800">
                <a:solidFill>
                  <a:schemeClr val="dk1"/>
                </a:solidFill>
              </a:rPr>
              <a:t>Reranking</a:t>
            </a:r>
            <a:endParaRPr b="1" i="0" sz="2800" u="none" cap="none" strike="noStrike">
              <a:solidFill>
                <a:schemeClr val="dk1"/>
              </a:solidFill>
              <a:latin typeface="Arial"/>
              <a:ea typeface="Arial"/>
              <a:cs typeface="Arial"/>
              <a:sym typeface="Arial"/>
            </a:endParaRPr>
          </a:p>
        </p:txBody>
      </p:sp>
      <p:sp>
        <p:nvSpPr>
          <p:cNvPr id="1815" name="Google Shape;1815;p51"/>
          <p:cNvSpPr/>
          <p:nvPr/>
        </p:nvSpPr>
        <p:spPr>
          <a:xfrm>
            <a:off x="1892425" y="3261150"/>
            <a:ext cx="957300" cy="1013400"/>
          </a:xfrm>
          <a:prstGeom prst="roundRect">
            <a:avLst>
              <a:gd fmla="val 16667" name="adj"/>
            </a:avLst>
          </a:prstGeom>
          <a:noFill/>
          <a:ln cap="flat" cmpd="sng" w="28575">
            <a:solidFill>
              <a:srgbClr val="99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7"/>
        </a:solidFill>
      </p:bgPr>
    </p:bg>
    <p:spTree>
      <p:nvGrpSpPr>
        <p:cNvPr id="1820" name="Shape 1820"/>
        <p:cNvGrpSpPr/>
        <p:nvPr/>
      </p:nvGrpSpPr>
      <p:grpSpPr>
        <a:xfrm>
          <a:off x="0" y="0"/>
          <a:ext cx="0" cy="0"/>
          <a:chOff x="0" y="0"/>
          <a:chExt cx="0" cy="0"/>
        </a:xfrm>
      </p:grpSpPr>
      <p:sp>
        <p:nvSpPr>
          <p:cNvPr id="1821" name="Google Shape;1821;p52"/>
          <p:cNvSpPr/>
          <p:nvPr/>
        </p:nvSpPr>
        <p:spPr>
          <a:xfrm>
            <a:off x="411480" y="288036"/>
            <a:ext cx="83187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2300"/>
              <a:buFont typeface="Cambria"/>
              <a:buNone/>
            </a:pPr>
            <a:r>
              <a:rPr b="1" lang="en" sz="2300">
                <a:solidFill>
                  <a:srgbClr val="0B2B36"/>
                </a:solidFill>
                <a:latin typeface="Cambria"/>
                <a:ea typeface="Cambria"/>
                <a:cs typeface="Cambria"/>
                <a:sym typeface="Cambria"/>
              </a:rPr>
              <a:t>Retrieve t</a:t>
            </a:r>
            <a:r>
              <a:rPr b="1" i="0" lang="en" sz="2300" u="none" cap="none" strike="noStrike">
                <a:solidFill>
                  <a:srgbClr val="0B2B36"/>
                </a:solidFill>
                <a:latin typeface="Cambria"/>
                <a:ea typeface="Cambria"/>
                <a:cs typeface="Cambria"/>
                <a:sym typeface="Cambria"/>
              </a:rPr>
              <a:t>hen rerank: the two-stage pattern</a:t>
            </a:r>
            <a:endParaRPr b="0" i="0" sz="2300" u="none" cap="none" strike="noStrike">
              <a:solidFill>
                <a:schemeClr val="dk1"/>
              </a:solidFill>
              <a:latin typeface="Calibri"/>
              <a:ea typeface="Calibri"/>
              <a:cs typeface="Calibri"/>
              <a:sym typeface="Calibri"/>
            </a:endParaRPr>
          </a:p>
        </p:txBody>
      </p:sp>
      <p:sp>
        <p:nvSpPr>
          <p:cNvPr id="1822" name="Google Shape;1822;p52"/>
          <p:cNvSpPr/>
          <p:nvPr/>
        </p:nvSpPr>
        <p:spPr>
          <a:xfrm>
            <a:off x="425196" y="850392"/>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Calibri"/>
              <a:buNone/>
            </a:pPr>
            <a:r>
              <a:rPr b="0" i="1" lang="en" sz="1100" u="none" cap="none" strike="noStrike">
                <a:solidFill>
                  <a:srgbClr val="2A9D8F"/>
                </a:solidFill>
                <a:latin typeface="Calibri"/>
                <a:ea typeface="Calibri"/>
                <a:cs typeface="Calibri"/>
                <a:sym typeface="Calibri"/>
              </a:rPr>
              <a:t>Retrieve a lot fast, then re-score the top few precisely</a:t>
            </a:r>
            <a:endParaRPr b="0" i="0" sz="1100" u="none" cap="none" strike="noStrike">
              <a:solidFill>
                <a:schemeClr val="dk1"/>
              </a:solidFill>
              <a:latin typeface="Calibri"/>
              <a:ea typeface="Calibri"/>
              <a:cs typeface="Calibri"/>
              <a:sym typeface="Calibri"/>
            </a:endParaRPr>
          </a:p>
        </p:txBody>
      </p:sp>
      <p:sp>
        <p:nvSpPr>
          <p:cNvPr id="1823" name="Google Shape;1823;p52"/>
          <p:cNvSpPr/>
          <p:nvPr/>
        </p:nvSpPr>
        <p:spPr>
          <a:xfrm>
            <a:off x="411480" y="1474470"/>
            <a:ext cx="2674500" cy="2057400"/>
          </a:xfrm>
          <a:prstGeom prst="roundRect">
            <a:avLst>
              <a:gd fmla="val 3667"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4" name="Google Shape;1824;p52"/>
          <p:cNvSpPr/>
          <p:nvPr/>
        </p:nvSpPr>
        <p:spPr>
          <a:xfrm>
            <a:off x="617220" y="1680210"/>
            <a:ext cx="411600" cy="411600"/>
          </a:xfrm>
          <a:prstGeom prst="ellipse">
            <a:avLst/>
          </a:prstGeom>
          <a:solidFill>
            <a:srgbClr val="2A9D8F"/>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5" name="Google Shape;1825;p52"/>
          <p:cNvSpPr/>
          <p:nvPr/>
        </p:nvSpPr>
        <p:spPr>
          <a:xfrm>
            <a:off x="617220" y="168021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mbria"/>
              <a:buNone/>
            </a:pPr>
            <a:r>
              <a:rPr b="1" i="0" lang="en" sz="1000" u="none" cap="none" strike="noStrike">
                <a:solidFill>
                  <a:srgbClr val="FFFFFF"/>
                </a:solidFill>
                <a:latin typeface="Cambria"/>
                <a:ea typeface="Cambria"/>
                <a:cs typeface="Cambria"/>
                <a:sym typeface="Cambria"/>
              </a:rPr>
              <a:t>1</a:t>
            </a:r>
            <a:endParaRPr b="0" i="0" sz="1000" u="none" cap="none" strike="noStrike">
              <a:solidFill>
                <a:schemeClr val="dk1"/>
              </a:solidFill>
              <a:latin typeface="Calibri"/>
              <a:ea typeface="Calibri"/>
              <a:cs typeface="Calibri"/>
              <a:sym typeface="Calibri"/>
            </a:endParaRPr>
          </a:p>
        </p:txBody>
      </p:sp>
      <p:sp>
        <p:nvSpPr>
          <p:cNvPr id="1826" name="Google Shape;1826;p52"/>
          <p:cNvSpPr/>
          <p:nvPr/>
        </p:nvSpPr>
        <p:spPr>
          <a:xfrm>
            <a:off x="1165860" y="1680210"/>
            <a:ext cx="1783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400"/>
              <a:buFont typeface="Cambria"/>
              <a:buNone/>
            </a:pPr>
            <a:r>
              <a:rPr b="1" i="0" lang="en" sz="1400" u="none" cap="none" strike="noStrike">
                <a:solidFill>
                  <a:srgbClr val="1A2B32"/>
                </a:solidFill>
                <a:latin typeface="Cambria"/>
                <a:ea typeface="Cambria"/>
                <a:cs typeface="Cambria"/>
                <a:sym typeface="Cambria"/>
              </a:rPr>
              <a:t>Retrieve</a:t>
            </a:r>
            <a:endParaRPr b="0" i="0" sz="1400" u="none" cap="none" strike="noStrike">
              <a:solidFill>
                <a:schemeClr val="dk1"/>
              </a:solidFill>
              <a:latin typeface="Calibri"/>
              <a:ea typeface="Calibri"/>
              <a:cs typeface="Calibri"/>
              <a:sym typeface="Calibri"/>
            </a:endParaRPr>
          </a:p>
        </p:txBody>
      </p:sp>
      <p:sp>
        <p:nvSpPr>
          <p:cNvPr id="1827" name="Google Shape;1827;p52"/>
          <p:cNvSpPr/>
          <p:nvPr/>
        </p:nvSpPr>
        <p:spPr>
          <a:xfrm>
            <a:off x="617220" y="2263140"/>
            <a:ext cx="22632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100"/>
              <a:buFont typeface="Calibri"/>
              <a:buNone/>
            </a:pPr>
            <a:r>
              <a:rPr b="0" i="0" lang="en" sz="1100" u="none" cap="none" strike="noStrike">
                <a:solidFill>
                  <a:srgbClr val="1A2B32"/>
                </a:solidFill>
                <a:latin typeface="Calibri"/>
                <a:ea typeface="Calibri"/>
                <a:cs typeface="Calibri"/>
                <a:sym typeface="Calibri"/>
              </a:rPr>
              <a:t>Hybrid (dense + sparse) pulls the top ~100 candidates from millions.</a:t>
            </a:r>
            <a:endParaRPr b="0" i="0" sz="1100" u="none" cap="none" strike="noStrike">
              <a:solidFill>
                <a:schemeClr val="dk1"/>
              </a:solidFill>
              <a:latin typeface="Calibri"/>
              <a:ea typeface="Calibri"/>
              <a:cs typeface="Calibri"/>
              <a:sym typeface="Calibri"/>
            </a:endParaRPr>
          </a:p>
        </p:txBody>
      </p:sp>
      <p:sp>
        <p:nvSpPr>
          <p:cNvPr id="1828" name="Google Shape;1828;p52"/>
          <p:cNvSpPr/>
          <p:nvPr/>
        </p:nvSpPr>
        <p:spPr>
          <a:xfrm>
            <a:off x="617220" y="3120390"/>
            <a:ext cx="2263200" cy="308700"/>
          </a:xfrm>
          <a:prstGeom prst="roundRect">
            <a:avLst>
              <a:gd fmla="val 24444" name="adj"/>
            </a:avLst>
          </a:prstGeom>
          <a:solidFill>
            <a:srgbClr val="E4F1E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9" name="Google Shape;1829;p52"/>
          <p:cNvSpPr/>
          <p:nvPr/>
        </p:nvSpPr>
        <p:spPr>
          <a:xfrm>
            <a:off x="617220" y="3120390"/>
            <a:ext cx="22632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5C63"/>
              </a:buClr>
              <a:buSzPts val="900"/>
              <a:buFont typeface="Calibri"/>
              <a:buNone/>
            </a:pPr>
            <a:r>
              <a:rPr b="1" i="1" lang="en" sz="900" u="none" cap="none" strike="noStrike">
                <a:solidFill>
                  <a:srgbClr val="0D5C63"/>
                </a:solidFill>
                <a:latin typeface="Calibri"/>
                <a:ea typeface="Calibri"/>
                <a:cs typeface="Calibri"/>
                <a:sym typeface="Calibri"/>
              </a:rPr>
              <a:t>fast · approximate</a:t>
            </a:r>
            <a:endParaRPr b="0" i="0" sz="900" u="none" cap="none" strike="noStrike">
              <a:solidFill>
                <a:schemeClr val="dk1"/>
              </a:solidFill>
              <a:latin typeface="Calibri"/>
              <a:ea typeface="Calibri"/>
              <a:cs typeface="Calibri"/>
              <a:sym typeface="Calibri"/>
            </a:endParaRPr>
          </a:p>
        </p:txBody>
      </p:sp>
      <p:sp>
        <p:nvSpPr>
          <p:cNvPr id="1830" name="Google Shape;1830;p52"/>
          <p:cNvSpPr/>
          <p:nvPr/>
        </p:nvSpPr>
        <p:spPr>
          <a:xfrm>
            <a:off x="3086100" y="1474470"/>
            <a:ext cx="144000" cy="205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9D8F"/>
              </a:buClr>
              <a:buSzPts val="1800"/>
              <a:buFont typeface="Cambria"/>
              <a:buNone/>
            </a:pPr>
            <a:r>
              <a:rPr b="1" i="0" lang="en" sz="1800" u="none" cap="none" strike="noStrike">
                <a:solidFill>
                  <a:srgbClr val="2A9D8F"/>
                </a:solidFill>
                <a:latin typeface="Cambria"/>
                <a:ea typeface="Cambria"/>
                <a:cs typeface="Cambria"/>
                <a:sym typeface="Cambria"/>
              </a:rPr>
              <a:t>→</a:t>
            </a:r>
            <a:endParaRPr b="0" i="0" sz="1800" u="none" cap="none" strike="noStrike">
              <a:solidFill>
                <a:schemeClr val="dk1"/>
              </a:solidFill>
              <a:latin typeface="Calibri"/>
              <a:ea typeface="Calibri"/>
              <a:cs typeface="Calibri"/>
              <a:sym typeface="Calibri"/>
            </a:endParaRPr>
          </a:p>
        </p:txBody>
      </p:sp>
      <p:sp>
        <p:nvSpPr>
          <p:cNvPr id="1831" name="Google Shape;1831;p52"/>
          <p:cNvSpPr/>
          <p:nvPr/>
        </p:nvSpPr>
        <p:spPr>
          <a:xfrm>
            <a:off x="3230118" y="1474470"/>
            <a:ext cx="2674500" cy="2057400"/>
          </a:xfrm>
          <a:prstGeom prst="roundRect">
            <a:avLst>
              <a:gd fmla="val 3667" name="adj"/>
            </a:avLst>
          </a:prstGeom>
          <a:solidFill>
            <a:srgbClr val="E9A23B"/>
          </a:solidFill>
          <a:ln cap="flat" cmpd="sng" w="9525">
            <a:solidFill>
              <a:srgbClr val="E9A23B"/>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2" name="Google Shape;1832;p52"/>
          <p:cNvSpPr/>
          <p:nvPr/>
        </p:nvSpPr>
        <p:spPr>
          <a:xfrm>
            <a:off x="3435858" y="1680210"/>
            <a:ext cx="411600" cy="411600"/>
          </a:xfrm>
          <a:prstGeom prst="ellipse">
            <a:avLst/>
          </a:prstGeom>
          <a:solidFill>
            <a:srgbClr val="0B2B36"/>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3" name="Google Shape;1833;p52"/>
          <p:cNvSpPr/>
          <p:nvPr/>
        </p:nvSpPr>
        <p:spPr>
          <a:xfrm>
            <a:off x="3435858" y="168021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A23B"/>
              </a:buClr>
              <a:buSzPts val="1000"/>
              <a:buFont typeface="Cambria"/>
              <a:buNone/>
            </a:pPr>
            <a:r>
              <a:rPr b="1" i="0" lang="en" sz="1000" u="none" cap="none" strike="noStrike">
                <a:solidFill>
                  <a:srgbClr val="E9A23B"/>
                </a:solidFill>
                <a:latin typeface="Cambria"/>
                <a:ea typeface="Cambria"/>
                <a:cs typeface="Cambria"/>
                <a:sym typeface="Cambria"/>
              </a:rPr>
              <a:t>2</a:t>
            </a:r>
            <a:endParaRPr b="0" i="0" sz="1000" u="none" cap="none" strike="noStrike">
              <a:solidFill>
                <a:schemeClr val="dk1"/>
              </a:solidFill>
              <a:latin typeface="Calibri"/>
              <a:ea typeface="Calibri"/>
              <a:cs typeface="Calibri"/>
              <a:sym typeface="Calibri"/>
            </a:endParaRPr>
          </a:p>
        </p:txBody>
      </p:sp>
      <p:sp>
        <p:nvSpPr>
          <p:cNvPr id="1834" name="Google Shape;1834;p52"/>
          <p:cNvSpPr/>
          <p:nvPr/>
        </p:nvSpPr>
        <p:spPr>
          <a:xfrm>
            <a:off x="3984498" y="1680210"/>
            <a:ext cx="1783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1400"/>
              <a:buFont typeface="Cambria"/>
              <a:buNone/>
            </a:pPr>
            <a:r>
              <a:rPr b="1" i="0" lang="en" sz="1400" u="none" cap="none" strike="noStrike">
                <a:solidFill>
                  <a:srgbClr val="0B2B36"/>
                </a:solidFill>
                <a:latin typeface="Cambria"/>
                <a:ea typeface="Cambria"/>
                <a:cs typeface="Cambria"/>
                <a:sym typeface="Cambria"/>
              </a:rPr>
              <a:t>Rerank</a:t>
            </a:r>
            <a:endParaRPr b="0" i="0" sz="1400" u="none" cap="none" strike="noStrike">
              <a:solidFill>
                <a:schemeClr val="dk1"/>
              </a:solidFill>
              <a:latin typeface="Calibri"/>
              <a:ea typeface="Calibri"/>
              <a:cs typeface="Calibri"/>
              <a:sym typeface="Calibri"/>
            </a:endParaRPr>
          </a:p>
        </p:txBody>
      </p:sp>
      <p:sp>
        <p:nvSpPr>
          <p:cNvPr id="1835" name="Google Shape;1835;p52"/>
          <p:cNvSpPr/>
          <p:nvPr/>
        </p:nvSpPr>
        <p:spPr>
          <a:xfrm>
            <a:off x="3435858" y="2263140"/>
            <a:ext cx="22632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2A10"/>
              </a:buClr>
              <a:buSzPts val="1100"/>
              <a:buFont typeface="Calibri"/>
              <a:buNone/>
            </a:pPr>
            <a:r>
              <a:rPr b="0" i="0" lang="en" sz="1100" u="none" cap="none" strike="noStrike">
                <a:solidFill>
                  <a:srgbClr val="3A2A10"/>
                </a:solidFill>
                <a:latin typeface="Calibri"/>
                <a:ea typeface="Calibri"/>
                <a:cs typeface="Calibri"/>
                <a:sym typeface="Calibri"/>
              </a:rPr>
              <a:t>A slower, sharper model re-scores those ~100 and reorders them.</a:t>
            </a:r>
            <a:endParaRPr b="0" i="0" sz="1100" u="none" cap="none" strike="noStrike">
              <a:solidFill>
                <a:schemeClr val="dk1"/>
              </a:solidFill>
              <a:latin typeface="Calibri"/>
              <a:ea typeface="Calibri"/>
              <a:cs typeface="Calibri"/>
              <a:sym typeface="Calibri"/>
            </a:endParaRPr>
          </a:p>
        </p:txBody>
      </p:sp>
      <p:sp>
        <p:nvSpPr>
          <p:cNvPr id="1836" name="Google Shape;1836;p52"/>
          <p:cNvSpPr/>
          <p:nvPr/>
        </p:nvSpPr>
        <p:spPr>
          <a:xfrm>
            <a:off x="3435858" y="3120390"/>
            <a:ext cx="2263200" cy="308700"/>
          </a:xfrm>
          <a:prstGeom prst="roundRect">
            <a:avLst>
              <a:gd fmla="val 24444" name="adj"/>
            </a:avLst>
          </a:prstGeom>
          <a:solidFill>
            <a:srgbClr val="C77F1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7" name="Google Shape;1837;p52"/>
          <p:cNvSpPr/>
          <p:nvPr/>
        </p:nvSpPr>
        <p:spPr>
          <a:xfrm>
            <a:off x="3435858" y="3120390"/>
            <a:ext cx="22632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1" lang="en" sz="900" u="none" cap="none" strike="noStrike">
                <a:solidFill>
                  <a:srgbClr val="FFFFFF"/>
                </a:solidFill>
                <a:latin typeface="Calibri"/>
                <a:ea typeface="Calibri"/>
                <a:cs typeface="Calibri"/>
                <a:sym typeface="Calibri"/>
              </a:rPr>
              <a:t>slow · precise</a:t>
            </a:r>
            <a:endParaRPr b="0" i="0" sz="900" u="none" cap="none" strike="noStrike">
              <a:solidFill>
                <a:schemeClr val="dk1"/>
              </a:solidFill>
              <a:latin typeface="Calibri"/>
              <a:ea typeface="Calibri"/>
              <a:cs typeface="Calibri"/>
              <a:sym typeface="Calibri"/>
            </a:endParaRPr>
          </a:p>
        </p:txBody>
      </p:sp>
      <p:sp>
        <p:nvSpPr>
          <p:cNvPr id="1838" name="Google Shape;1838;p52"/>
          <p:cNvSpPr/>
          <p:nvPr/>
        </p:nvSpPr>
        <p:spPr>
          <a:xfrm>
            <a:off x="5904738" y="1474470"/>
            <a:ext cx="144000" cy="205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9D8F"/>
              </a:buClr>
              <a:buSzPts val="1800"/>
              <a:buFont typeface="Cambria"/>
              <a:buNone/>
            </a:pPr>
            <a:r>
              <a:rPr b="1" i="0" lang="en" sz="1800" u="none" cap="none" strike="noStrike">
                <a:solidFill>
                  <a:srgbClr val="2A9D8F"/>
                </a:solidFill>
                <a:latin typeface="Cambria"/>
                <a:ea typeface="Cambria"/>
                <a:cs typeface="Cambria"/>
                <a:sym typeface="Cambria"/>
              </a:rPr>
              <a:t>→</a:t>
            </a:r>
            <a:endParaRPr b="0" i="0" sz="1800" u="none" cap="none" strike="noStrike">
              <a:solidFill>
                <a:schemeClr val="dk1"/>
              </a:solidFill>
              <a:latin typeface="Calibri"/>
              <a:ea typeface="Calibri"/>
              <a:cs typeface="Calibri"/>
              <a:sym typeface="Calibri"/>
            </a:endParaRPr>
          </a:p>
        </p:txBody>
      </p:sp>
      <p:sp>
        <p:nvSpPr>
          <p:cNvPr id="1839" name="Google Shape;1839;p52"/>
          <p:cNvSpPr/>
          <p:nvPr/>
        </p:nvSpPr>
        <p:spPr>
          <a:xfrm>
            <a:off x="6048756" y="1474470"/>
            <a:ext cx="2674500" cy="2057400"/>
          </a:xfrm>
          <a:prstGeom prst="roundRect">
            <a:avLst>
              <a:gd fmla="val 3667"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0" name="Google Shape;1840;p52"/>
          <p:cNvSpPr/>
          <p:nvPr/>
        </p:nvSpPr>
        <p:spPr>
          <a:xfrm>
            <a:off x="6254496" y="1680210"/>
            <a:ext cx="411600" cy="411600"/>
          </a:xfrm>
          <a:prstGeom prst="ellipse">
            <a:avLst/>
          </a:prstGeom>
          <a:solidFill>
            <a:srgbClr val="0D5C63"/>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1" name="Google Shape;1841;p52"/>
          <p:cNvSpPr/>
          <p:nvPr/>
        </p:nvSpPr>
        <p:spPr>
          <a:xfrm>
            <a:off x="6254496" y="1680210"/>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mbria"/>
              <a:buNone/>
            </a:pPr>
            <a:r>
              <a:rPr b="1" i="0" lang="en" sz="1000" u="none" cap="none" strike="noStrike">
                <a:solidFill>
                  <a:srgbClr val="FFFFFF"/>
                </a:solidFill>
                <a:latin typeface="Cambria"/>
                <a:ea typeface="Cambria"/>
                <a:cs typeface="Cambria"/>
                <a:sym typeface="Cambria"/>
              </a:rPr>
              <a:t>3</a:t>
            </a:r>
            <a:endParaRPr b="0" i="0" sz="1000" u="none" cap="none" strike="noStrike">
              <a:solidFill>
                <a:schemeClr val="dk1"/>
              </a:solidFill>
              <a:latin typeface="Calibri"/>
              <a:ea typeface="Calibri"/>
              <a:cs typeface="Calibri"/>
              <a:sym typeface="Calibri"/>
            </a:endParaRPr>
          </a:p>
        </p:txBody>
      </p:sp>
      <p:sp>
        <p:nvSpPr>
          <p:cNvPr id="1842" name="Google Shape;1842;p52"/>
          <p:cNvSpPr/>
          <p:nvPr/>
        </p:nvSpPr>
        <p:spPr>
          <a:xfrm>
            <a:off x="6803136" y="1680210"/>
            <a:ext cx="1783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400"/>
              <a:buFont typeface="Cambria"/>
              <a:buNone/>
            </a:pPr>
            <a:r>
              <a:rPr b="1" i="0" lang="en" sz="1400" u="none" cap="none" strike="noStrike">
                <a:solidFill>
                  <a:srgbClr val="1A2B32"/>
                </a:solidFill>
                <a:latin typeface="Cambria"/>
                <a:ea typeface="Cambria"/>
                <a:cs typeface="Cambria"/>
                <a:sym typeface="Cambria"/>
              </a:rPr>
              <a:t>Generate</a:t>
            </a:r>
            <a:endParaRPr b="0" i="0" sz="1400" u="none" cap="none" strike="noStrike">
              <a:solidFill>
                <a:schemeClr val="dk1"/>
              </a:solidFill>
              <a:latin typeface="Calibri"/>
              <a:ea typeface="Calibri"/>
              <a:cs typeface="Calibri"/>
              <a:sym typeface="Calibri"/>
            </a:endParaRPr>
          </a:p>
        </p:txBody>
      </p:sp>
      <p:sp>
        <p:nvSpPr>
          <p:cNvPr id="1843" name="Google Shape;1843;p52"/>
          <p:cNvSpPr/>
          <p:nvPr/>
        </p:nvSpPr>
        <p:spPr>
          <a:xfrm>
            <a:off x="6254496" y="2263140"/>
            <a:ext cx="22632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100"/>
              <a:buFont typeface="Calibri"/>
              <a:buNone/>
            </a:pPr>
            <a:r>
              <a:rPr b="0" i="0" lang="en" sz="1100" u="none" cap="none" strike="noStrike">
                <a:solidFill>
                  <a:srgbClr val="1A2B32"/>
                </a:solidFill>
                <a:latin typeface="Calibri"/>
                <a:ea typeface="Calibri"/>
                <a:cs typeface="Calibri"/>
                <a:sym typeface="Calibri"/>
              </a:rPr>
              <a:t>The best 5–20 chunks go to the LLM as context.</a:t>
            </a:r>
            <a:endParaRPr b="0" i="0" sz="1100" u="none" cap="none" strike="noStrike">
              <a:solidFill>
                <a:schemeClr val="dk1"/>
              </a:solidFill>
              <a:latin typeface="Calibri"/>
              <a:ea typeface="Calibri"/>
              <a:cs typeface="Calibri"/>
              <a:sym typeface="Calibri"/>
            </a:endParaRPr>
          </a:p>
        </p:txBody>
      </p:sp>
      <p:sp>
        <p:nvSpPr>
          <p:cNvPr id="1844" name="Google Shape;1844;p52"/>
          <p:cNvSpPr/>
          <p:nvPr/>
        </p:nvSpPr>
        <p:spPr>
          <a:xfrm>
            <a:off x="6254496" y="3120390"/>
            <a:ext cx="2263200" cy="308700"/>
          </a:xfrm>
          <a:prstGeom prst="roundRect">
            <a:avLst>
              <a:gd fmla="val 24444" name="adj"/>
            </a:avLst>
          </a:prstGeom>
          <a:solidFill>
            <a:srgbClr val="E4F1E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5" name="Google Shape;1845;p52"/>
          <p:cNvSpPr/>
          <p:nvPr/>
        </p:nvSpPr>
        <p:spPr>
          <a:xfrm>
            <a:off x="6254496" y="3120390"/>
            <a:ext cx="2263200" cy="30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5C63"/>
              </a:buClr>
              <a:buSzPts val="900"/>
              <a:buFont typeface="Calibri"/>
              <a:buNone/>
            </a:pPr>
            <a:r>
              <a:rPr b="1" i="1" lang="en" sz="900" u="none" cap="none" strike="noStrike">
                <a:solidFill>
                  <a:srgbClr val="0D5C63"/>
                </a:solidFill>
                <a:latin typeface="Calibri"/>
                <a:ea typeface="Calibri"/>
                <a:cs typeface="Calibri"/>
                <a:sym typeface="Calibri"/>
              </a:rPr>
              <a:t>grounded answer</a:t>
            </a:r>
            <a:endParaRPr b="0" i="0" sz="900" u="none" cap="none" strike="noStrike">
              <a:solidFill>
                <a:schemeClr val="dk1"/>
              </a:solidFill>
              <a:latin typeface="Calibri"/>
              <a:ea typeface="Calibri"/>
              <a:cs typeface="Calibri"/>
              <a:sym typeface="Calibri"/>
            </a:endParaRPr>
          </a:p>
        </p:txBody>
      </p:sp>
      <p:sp>
        <p:nvSpPr>
          <p:cNvPr id="1846" name="Google Shape;1846;p52"/>
          <p:cNvSpPr/>
          <p:nvPr/>
        </p:nvSpPr>
        <p:spPr>
          <a:xfrm>
            <a:off x="411480" y="3771900"/>
            <a:ext cx="8318700" cy="891600"/>
          </a:xfrm>
          <a:prstGeom prst="roundRect">
            <a:avLst>
              <a:gd fmla="val 8462" name="adj"/>
            </a:avLst>
          </a:prstGeom>
          <a:solidFill>
            <a:srgbClr val="0D5C63"/>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7" name="Google Shape;1847;p52"/>
          <p:cNvSpPr/>
          <p:nvPr/>
        </p:nvSpPr>
        <p:spPr>
          <a:xfrm>
            <a:off x="685800" y="3771900"/>
            <a:ext cx="7749600" cy="8916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9A23B"/>
              </a:buClr>
              <a:buSzPts val="1100"/>
              <a:buFont typeface="Calibri"/>
              <a:buNone/>
            </a:pPr>
            <a:r>
              <a:rPr b="1" i="0" lang="en" sz="1100" u="none" cap="none" strike="noStrike">
                <a:solidFill>
                  <a:srgbClr val="E9A23B"/>
                </a:solidFill>
                <a:latin typeface="Calibri"/>
                <a:ea typeface="Calibri"/>
                <a:cs typeface="Calibri"/>
                <a:sym typeface="Calibri"/>
              </a:rPr>
              <a:t>The catch:  </a:t>
            </a:r>
            <a:r>
              <a:rPr b="0" i="0" lang="en" sz="1100" u="none" cap="none" strike="noStrike">
                <a:solidFill>
                  <a:srgbClr val="FFFFFF"/>
                </a:solidFill>
                <a:latin typeface="Calibri"/>
                <a:ea typeface="Calibri"/>
                <a:cs typeface="Calibri"/>
                <a:sym typeface="Calibri"/>
              </a:rPr>
              <a:t>the precise reranker is too slow to run on millions. So stage 1 narrows to ~100, and stage 2 only reranks those.  </a:t>
            </a:r>
            <a:r>
              <a:rPr b="0" i="0" lang="en" sz="1100" u="none" cap="none" strike="noStrike">
                <a:solidFill>
                  <a:srgbClr val="6FCBBE"/>
                </a:solidFill>
                <a:latin typeface="Calibri"/>
                <a:ea typeface="Calibri"/>
                <a:cs typeface="Calibri"/>
                <a:sym typeface="Calibri"/>
              </a:rPr>
              <a:t>That split — recall first, precision second — is industry standard (Google, Bing, Meta).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7"/>
        </a:solidFill>
      </p:bgPr>
    </p:bg>
    <p:spTree>
      <p:nvGrpSpPr>
        <p:cNvPr id="1852" name="Shape 1852"/>
        <p:cNvGrpSpPr/>
        <p:nvPr/>
      </p:nvGrpSpPr>
      <p:grpSpPr>
        <a:xfrm>
          <a:off x="0" y="0"/>
          <a:ext cx="0" cy="0"/>
          <a:chOff x="0" y="0"/>
          <a:chExt cx="0" cy="0"/>
        </a:xfrm>
      </p:grpSpPr>
      <p:sp>
        <p:nvSpPr>
          <p:cNvPr id="1853" name="Google Shape;1853;p53"/>
          <p:cNvSpPr/>
          <p:nvPr/>
        </p:nvSpPr>
        <p:spPr>
          <a:xfrm>
            <a:off x="411480" y="288036"/>
            <a:ext cx="83187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2300"/>
              <a:buFont typeface="Cambria"/>
              <a:buNone/>
            </a:pPr>
            <a:r>
              <a:rPr b="1" i="0" lang="en" sz="2300" u="none" cap="none" strike="noStrike">
                <a:solidFill>
                  <a:srgbClr val="0B2B36"/>
                </a:solidFill>
                <a:latin typeface="Cambria"/>
                <a:ea typeface="Cambria"/>
                <a:cs typeface="Cambria"/>
                <a:sym typeface="Cambria"/>
              </a:rPr>
              <a:t>Who does each stage: bi- vs cross-encoder</a:t>
            </a:r>
            <a:endParaRPr b="0" i="0" sz="2300" u="none" cap="none" strike="noStrike">
              <a:solidFill>
                <a:schemeClr val="dk1"/>
              </a:solidFill>
              <a:latin typeface="Calibri"/>
              <a:ea typeface="Calibri"/>
              <a:cs typeface="Calibri"/>
              <a:sym typeface="Calibri"/>
            </a:endParaRPr>
          </a:p>
        </p:txBody>
      </p:sp>
      <p:sp>
        <p:nvSpPr>
          <p:cNvPr id="1854" name="Google Shape;1854;p53"/>
          <p:cNvSpPr/>
          <p:nvPr/>
        </p:nvSpPr>
        <p:spPr>
          <a:xfrm>
            <a:off x="425196" y="850392"/>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Calibri"/>
              <a:buNone/>
            </a:pPr>
            <a:r>
              <a:rPr b="0" i="1" lang="en" sz="1100" u="none" cap="none" strike="noStrike">
                <a:solidFill>
                  <a:srgbClr val="2A9D8F"/>
                </a:solidFill>
                <a:latin typeface="Calibri"/>
                <a:ea typeface="Calibri"/>
                <a:cs typeface="Calibri"/>
                <a:sym typeface="Calibri"/>
              </a:rPr>
              <a:t>Two jobs, not two rivals — one retrieves, one reranks</a:t>
            </a:r>
            <a:endParaRPr b="0" i="0" sz="1100" u="none" cap="none" strike="noStrike">
              <a:solidFill>
                <a:schemeClr val="dk1"/>
              </a:solidFill>
              <a:latin typeface="Calibri"/>
              <a:ea typeface="Calibri"/>
              <a:cs typeface="Calibri"/>
              <a:sym typeface="Calibri"/>
            </a:endParaRPr>
          </a:p>
        </p:txBody>
      </p:sp>
      <p:sp>
        <p:nvSpPr>
          <p:cNvPr id="1855" name="Google Shape;1855;p53"/>
          <p:cNvSpPr/>
          <p:nvPr/>
        </p:nvSpPr>
        <p:spPr>
          <a:xfrm>
            <a:off x="411480" y="1371600"/>
            <a:ext cx="4080600" cy="2983200"/>
          </a:xfrm>
          <a:prstGeom prst="roundRect">
            <a:avLst>
              <a:gd fmla="val 2529" name="adj"/>
            </a:avLst>
          </a:prstGeom>
          <a:solidFill>
            <a:srgbClr val="FFFFFF"/>
          </a:solidFill>
          <a:ln cap="flat" cmpd="sng" w="14300">
            <a:solidFill>
              <a:srgbClr val="2A9D8F"/>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6" name="Google Shape;1856;p53"/>
          <p:cNvSpPr/>
          <p:nvPr/>
        </p:nvSpPr>
        <p:spPr>
          <a:xfrm>
            <a:off x="617220" y="1508760"/>
            <a:ext cx="3703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5C63"/>
              </a:buClr>
              <a:buSzPts val="1400"/>
              <a:buFont typeface="Cambria"/>
              <a:buNone/>
            </a:pPr>
            <a:r>
              <a:rPr b="1" i="0" lang="en" sz="1400" u="none" cap="none" strike="noStrike">
                <a:solidFill>
                  <a:srgbClr val="0D5C63"/>
                </a:solidFill>
                <a:latin typeface="Cambria"/>
                <a:ea typeface="Cambria"/>
                <a:cs typeface="Cambria"/>
                <a:sym typeface="Cambria"/>
              </a:rPr>
              <a:t>Bi-encoder — retrieve</a:t>
            </a:r>
            <a:endParaRPr b="0" i="0" sz="1400" u="none" cap="none" strike="noStrike">
              <a:solidFill>
                <a:schemeClr val="dk1"/>
              </a:solidFill>
              <a:latin typeface="Calibri"/>
              <a:ea typeface="Calibri"/>
              <a:cs typeface="Calibri"/>
              <a:sym typeface="Calibri"/>
            </a:endParaRPr>
          </a:p>
        </p:txBody>
      </p:sp>
      <p:sp>
        <p:nvSpPr>
          <p:cNvPr id="1857" name="Google Shape;1857;p53"/>
          <p:cNvSpPr/>
          <p:nvPr/>
        </p:nvSpPr>
        <p:spPr>
          <a:xfrm>
            <a:off x="617220" y="1988820"/>
            <a:ext cx="1645800" cy="377100"/>
          </a:xfrm>
          <a:prstGeom prst="roundRect">
            <a:avLst>
              <a:gd fmla="val 20000" name="adj"/>
            </a:avLst>
          </a:prstGeom>
          <a:solidFill>
            <a:srgbClr val="E4F1E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8" name="Google Shape;1858;p53"/>
          <p:cNvSpPr/>
          <p:nvPr/>
        </p:nvSpPr>
        <p:spPr>
          <a:xfrm>
            <a:off x="617220" y="1988820"/>
            <a:ext cx="16458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query</a:t>
            </a:r>
            <a:endParaRPr b="0" i="0" sz="1000" u="none" cap="none" strike="noStrike">
              <a:solidFill>
                <a:schemeClr val="dk1"/>
              </a:solidFill>
              <a:latin typeface="Calibri"/>
              <a:ea typeface="Calibri"/>
              <a:cs typeface="Calibri"/>
              <a:sym typeface="Calibri"/>
            </a:endParaRPr>
          </a:p>
        </p:txBody>
      </p:sp>
      <p:sp>
        <p:nvSpPr>
          <p:cNvPr id="1859" name="Google Shape;1859;p53"/>
          <p:cNvSpPr/>
          <p:nvPr/>
        </p:nvSpPr>
        <p:spPr>
          <a:xfrm>
            <a:off x="2640330" y="1988820"/>
            <a:ext cx="1645800" cy="377100"/>
          </a:xfrm>
          <a:prstGeom prst="roundRect">
            <a:avLst>
              <a:gd fmla="val 20000" name="adj"/>
            </a:avLst>
          </a:prstGeom>
          <a:solidFill>
            <a:srgbClr val="E4F1E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0" name="Google Shape;1860;p53"/>
          <p:cNvSpPr/>
          <p:nvPr/>
        </p:nvSpPr>
        <p:spPr>
          <a:xfrm>
            <a:off x="2640330" y="1988820"/>
            <a:ext cx="16458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document</a:t>
            </a:r>
            <a:endParaRPr b="0" i="0" sz="1000" u="none" cap="none" strike="noStrike">
              <a:solidFill>
                <a:schemeClr val="dk1"/>
              </a:solidFill>
              <a:latin typeface="Calibri"/>
              <a:ea typeface="Calibri"/>
              <a:cs typeface="Calibri"/>
              <a:sym typeface="Calibri"/>
            </a:endParaRPr>
          </a:p>
        </p:txBody>
      </p:sp>
      <p:sp>
        <p:nvSpPr>
          <p:cNvPr id="1861" name="Google Shape;1861;p53"/>
          <p:cNvSpPr/>
          <p:nvPr/>
        </p:nvSpPr>
        <p:spPr>
          <a:xfrm>
            <a:off x="617220" y="2400300"/>
            <a:ext cx="3669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7078"/>
              </a:buClr>
              <a:buSzPts val="900"/>
              <a:buFont typeface="Calibri"/>
              <a:buNone/>
            </a:pPr>
            <a:r>
              <a:rPr b="0" i="1" lang="en" sz="900" u="none" cap="none" strike="noStrike">
                <a:solidFill>
                  <a:srgbClr val="5C7078"/>
                </a:solidFill>
                <a:latin typeface="Calibri"/>
                <a:ea typeface="Calibri"/>
                <a:cs typeface="Calibri"/>
                <a:sym typeface="Calibri"/>
              </a:rPr>
              <a:t>↓ encoded separately ↓</a:t>
            </a:r>
            <a:endParaRPr b="0" i="0" sz="900" u="none" cap="none" strike="noStrike">
              <a:solidFill>
                <a:schemeClr val="dk1"/>
              </a:solidFill>
              <a:latin typeface="Calibri"/>
              <a:ea typeface="Calibri"/>
              <a:cs typeface="Calibri"/>
              <a:sym typeface="Calibri"/>
            </a:endParaRPr>
          </a:p>
        </p:txBody>
      </p:sp>
      <p:sp>
        <p:nvSpPr>
          <p:cNvPr id="1862" name="Google Shape;1862;p53"/>
          <p:cNvSpPr/>
          <p:nvPr/>
        </p:nvSpPr>
        <p:spPr>
          <a:xfrm>
            <a:off x="617220" y="2708910"/>
            <a:ext cx="1645800" cy="342900"/>
          </a:xfrm>
          <a:prstGeom prst="roundRect">
            <a:avLst>
              <a:gd fmla="val 22000" name="adj"/>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3" name="Google Shape;1863;p53"/>
          <p:cNvSpPr/>
          <p:nvPr/>
        </p:nvSpPr>
        <p:spPr>
          <a:xfrm>
            <a:off x="617220" y="2708910"/>
            <a:ext cx="16458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ourier New"/>
              <a:buNone/>
            </a:pPr>
            <a:r>
              <a:rPr b="0" i="0" lang="en" sz="900" u="none" cap="none" strike="noStrike">
                <a:solidFill>
                  <a:srgbClr val="FFFFFF"/>
                </a:solidFill>
                <a:latin typeface="Courier New"/>
                <a:ea typeface="Courier New"/>
                <a:cs typeface="Courier New"/>
                <a:sym typeface="Courier New"/>
              </a:rPr>
              <a:t>[vector]</a:t>
            </a:r>
            <a:endParaRPr b="0" i="0" sz="900" u="none" cap="none" strike="noStrike">
              <a:solidFill>
                <a:schemeClr val="dk1"/>
              </a:solidFill>
              <a:latin typeface="Calibri"/>
              <a:ea typeface="Calibri"/>
              <a:cs typeface="Calibri"/>
              <a:sym typeface="Calibri"/>
            </a:endParaRPr>
          </a:p>
        </p:txBody>
      </p:sp>
      <p:sp>
        <p:nvSpPr>
          <p:cNvPr id="1864" name="Google Shape;1864;p53"/>
          <p:cNvSpPr/>
          <p:nvPr/>
        </p:nvSpPr>
        <p:spPr>
          <a:xfrm>
            <a:off x="2640330" y="2708910"/>
            <a:ext cx="1645800" cy="342900"/>
          </a:xfrm>
          <a:prstGeom prst="roundRect">
            <a:avLst>
              <a:gd fmla="val 22000" name="adj"/>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5" name="Google Shape;1865;p53"/>
          <p:cNvSpPr/>
          <p:nvPr/>
        </p:nvSpPr>
        <p:spPr>
          <a:xfrm>
            <a:off x="2640330" y="2708910"/>
            <a:ext cx="16458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ourier New"/>
              <a:buNone/>
            </a:pPr>
            <a:r>
              <a:rPr b="0" i="0" lang="en" sz="900" u="none" cap="none" strike="noStrike">
                <a:solidFill>
                  <a:srgbClr val="FFFFFF"/>
                </a:solidFill>
                <a:latin typeface="Courier New"/>
                <a:ea typeface="Courier New"/>
                <a:cs typeface="Courier New"/>
                <a:sym typeface="Courier New"/>
              </a:rPr>
              <a:t>[vector]</a:t>
            </a:r>
            <a:endParaRPr b="0" i="0" sz="900" u="none" cap="none" strike="noStrike">
              <a:solidFill>
                <a:schemeClr val="dk1"/>
              </a:solidFill>
              <a:latin typeface="Calibri"/>
              <a:ea typeface="Calibri"/>
              <a:cs typeface="Calibri"/>
              <a:sym typeface="Calibri"/>
            </a:endParaRPr>
          </a:p>
        </p:txBody>
      </p:sp>
      <p:sp>
        <p:nvSpPr>
          <p:cNvPr id="1866" name="Google Shape;1866;p53"/>
          <p:cNvSpPr/>
          <p:nvPr/>
        </p:nvSpPr>
        <p:spPr>
          <a:xfrm>
            <a:off x="617220" y="3120390"/>
            <a:ext cx="3669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5C63"/>
              </a:buClr>
              <a:buSzPts val="900"/>
              <a:buFont typeface="Calibri"/>
              <a:buNone/>
            </a:pPr>
            <a:r>
              <a:rPr b="1" i="0" lang="en" sz="900" u="none" cap="none" strike="noStrike">
                <a:solidFill>
                  <a:srgbClr val="0D5C63"/>
                </a:solidFill>
                <a:latin typeface="Calibri"/>
                <a:ea typeface="Calibri"/>
                <a:cs typeface="Calibri"/>
                <a:sym typeface="Calibri"/>
              </a:rPr>
              <a:t>compare = similarity</a:t>
            </a:r>
            <a:endParaRPr b="0" i="0" sz="900" u="none" cap="none" strike="noStrike">
              <a:solidFill>
                <a:schemeClr val="dk1"/>
              </a:solidFill>
              <a:latin typeface="Calibri"/>
              <a:ea typeface="Calibri"/>
              <a:cs typeface="Calibri"/>
              <a:sym typeface="Calibri"/>
            </a:endParaRPr>
          </a:p>
        </p:txBody>
      </p:sp>
      <p:sp>
        <p:nvSpPr>
          <p:cNvPr id="1867" name="Google Shape;1867;p53"/>
          <p:cNvSpPr/>
          <p:nvPr/>
        </p:nvSpPr>
        <p:spPr>
          <a:xfrm>
            <a:off x="685800" y="3504438"/>
            <a:ext cx="89100" cy="89100"/>
          </a:xfrm>
          <a:prstGeom prst="ellipse">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8" name="Google Shape;1868;p53"/>
          <p:cNvSpPr/>
          <p:nvPr/>
        </p:nvSpPr>
        <p:spPr>
          <a:xfrm>
            <a:off x="857250" y="3463290"/>
            <a:ext cx="349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Doc vectors are pre-computed offline</a:t>
            </a:r>
            <a:endParaRPr b="0" i="0" sz="900" u="none" cap="none" strike="noStrike">
              <a:solidFill>
                <a:schemeClr val="dk1"/>
              </a:solidFill>
              <a:latin typeface="Calibri"/>
              <a:ea typeface="Calibri"/>
              <a:cs typeface="Calibri"/>
              <a:sym typeface="Calibri"/>
            </a:endParaRPr>
          </a:p>
        </p:txBody>
      </p:sp>
      <p:sp>
        <p:nvSpPr>
          <p:cNvPr id="1869" name="Google Shape;1869;p53"/>
          <p:cNvSpPr/>
          <p:nvPr/>
        </p:nvSpPr>
        <p:spPr>
          <a:xfrm>
            <a:off x="685800" y="3792474"/>
            <a:ext cx="89100" cy="89100"/>
          </a:xfrm>
          <a:prstGeom prst="ellipse">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0" name="Google Shape;1870;p53"/>
          <p:cNvSpPr/>
          <p:nvPr/>
        </p:nvSpPr>
        <p:spPr>
          <a:xfrm>
            <a:off x="857250" y="3751326"/>
            <a:ext cx="349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Search = fast similarity → scales to millions</a:t>
            </a:r>
            <a:endParaRPr b="0" i="0" sz="900" u="none" cap="none" strike="noStrike">
              <a:solidFill>
                <a:schemeClr val="dk1"/>
              </a:solidFill>
              <a:latin typeface="Calibri"/>
              <a:ea typeface="Calibri"/>
              <a:cs typeface="Calibri"/>
              <a:sym typeface="Calibri"/>
            </a:endParaRPr>
          </a:p>
        </p:txBody>
      </p:sp>
      <p:sp>
        <p:nvSpPr>
          <p:cNvPr id="1871" name="Google Shape;1871;p53"/>
          <p:cNvSpPr/>
          <p:nvPr/>
        </p:nvSpPr>
        <p:spPr>
          <a:xfrm>
            <a:off x="685800" y="4080510"/>
            <a:ext cx="89100" cy="89100"/>
          </a:xfrm>
          <a:prstGeom prst="ellipse">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2" name="Google Shape;1872;p53"/>
          <p:cNvSpPr/>
          <p:nvPr/>
        </p:nvSpPr>
        <p:spPr>
          <a:xfrm>
            <a:off x="857250" y="4039362"/>
            <a:ext cx="349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Approximate: pulls top ~100 candidates</a:t>
            </a:r>
            <a:endParaRPr b="0" i="0" sz="900" u="none" cap="none" strike="noStrike">
              <a:solidFill>
                <a:schemeClr val="dk1"/>
              </a:solidFill>
              <a:latin typeface="Calibri"/>
              <a:ea typeface="Calibri"/>
              <a:cs typeface="Calibri"/>
              <a:sym typeface="Calibri"/>
            </a:endParaRPr>
          </a:p>
        </p:txBody>
      </p:sp>
      <p:sp>
        <p:nvSpPr>
          <p:cNvPr id="1873" name="Google Shape;1873;p53"/>
          <p:cNvSpPr/>
          <p:nvPr/>
        </p:nvSpPr>
        <p:spPr>
          <a:xfrm>
            <a:off x="4649724" y="1371600"/>
            <a:ext cx="4080600" cy="2983200"/>
          </a:xfrm>
          <a:prstGeom prst="roundRect">
            <a:avLst>
              <a:gd fmla="val 2529" name="adj"/>
            </a:avLst>
          </a:prstGeom>
          <a:solidFill>
            <a:srgbClr val="FFFFFF"/>
          </a:solidFill>
          <a:ln cap="flat" cmpd="sng" w="14300">
            <a:solidFill>
              <a:srgbClr val="E9A23B"/>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4" name="Google Shape;1874;p53"/>
          <p:cNvSpPr/>
          <p:nvPr/>
        </p:nvSpPr>
        <p:spPr>
          <a:xfrm>
            <a:off x="4855464" y="1508760"/>
            <a:ext cx="3703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5721B"/>
              </a:buClr>
              <a:buSzPts val="1400"/>
              <a:buFont typeface="Cambria"/>
              <a:buNone/>
            </a:pPr>
            <a:r>
              <a:rPr b="1" i="0" lang="en" sz="1400" u="none" cap="none" strike="noStrike">
                <a:solidFill>
                  <a:srgbClr val="B5721B"/>
                </a:solidFill>
                <a:latin typeface="Cambria"/>
                <a:ea typeface="Cambria"/>
                <a:cs typeface="Cambria"/>
                <a:sym typeface="Cambria"/>
              </a:rPr>
              <a:t>Cross-encoder — rerank</a:t>
            </a:r>
            <a:endParaRPr b="0" i="0" sz="1400" u="none" cap="none" strike="noStrike">
              <a:solidFill>
                <a:schemeClr val="dk1"/>
              </a:solidFill>
              <a:latin typeface="Calibri"/>
              <a:ea typeface="Calibri"/>
              <a:cs typeface="Calibri"/>
              <a:sym typeface="Calibri"/>
            </a:endParaRPr>
          </a:p>
        </p:txBody>
      </p:sp>
      <p:sp>
        <p:nvSpPr>
          <p:cNvPr id="1875" name="Google Shape;1875;p53"/>
          <p:cNvSpPr/>
          <p:nvPr/>
        </p:nvSpPr>
        <p:spPr>
          <a:xfrm>
            <a:off x="4855464" y="1988820"/>
            <a:ext cx="3669000" cy="377100"/>
          </a:xfrm>
          <a:prstGeom prst="roundRect">
            <a:avLst>
              <a:gd fmla="val 20000" name="adj"/>
            </a:avLst>
          </a:prstGeom>
          <a:solidFill>
            <a:srgbClr val="FBEFD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6" name="Google Shape;1876;p53"/>
          <p:cNvSpPr/>
          <p:nvPr/>
        </p:nvSpPr>
        <p:spPr>
          <a:xfrm>
            <a:off x="4855464" y="1988820"/>
            <a:ext cx="3669000" cy="377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2"/>
              </a:buClr>
              <a:buSzPts val="1000"/>
              <a:buFont typeface="Calibri"/>
              <a:buNone/>
            </a:pPr>
            <a:r>
              <a:rPr b="0" i="0" lang="en" sz="1000" u="none" cap="none" strike="noStrike">
                <a:solidFill>
                  <a:srgbClr val="1A2B32"/>
                </a:solidFill>
                <a:latin typeface="Calibri"/>
                <a:ea typeface="Calibri"/>
                <a:cs typeface="Calibri"/>
                <a:sym typeface="Calibri"/>
              </a:rPr>
              <a:t>query  +  document   (together)</a:t>
            </a:r>
            <a:endParaRPr b="0" i="0" sz="1000" u="none" cap="none" strike="noStrike">
              <a:solidFill>
                <a:schemeClr val="dk1"/>
              </a:solidFill>
              <a:latin typeface="Calibri"/>
              <a:ea typeface="Calibri"/>
              <a:cs typeface="Calibri"/>
              <a:sym typeface="Calibri"/>
            </a:endParaRPr>
          </a:p>
        </p:txBody>
      </p:sp>
      <p:sp>
        <p:nvSpPr>
          <p:cNvPr id="1877" name="Google Shape;1877;p53"/>
          <p:cNvSpPr/>
          <p:nvPr/>
        </p:nvSpPr>
        <p:spPr>
          <a:xfrm>
            <a:off x="4855464" y="2400300"/>
            <a:ext cx="3669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7078"/>
              </a:buClr>
              <a:buSzPts val="900"/>
              <a:buFont typeface="Calibri"/>
              <a:buNone/>
            </a:pPr>
            <a:r>
              <a:rPr b="0" i="1" lang="en" sz="900" u="none" cap="none" strike="noStrike">
                <a:solidFill>
                  <a:srgbClr val="5C7078"/>
                </a:solidFill>
                <a:latin typeface="Calibri"/>
                <a:ea typeface="Calibri"/>
                <a:cs typeface="Calibri"/>
                <a:sym typeface="Calibri"/>
              </a:rPr>
              <a:t>↓ read jointly by one model ↓</a:t>
            </a:r>
            <a:endParaRPr b="0" i="0" sz="900" u="none" cap="none" strike="noStrike">
              <a:solidFill>
                <a:schemeClr val="dk1"/>
              </a:solidFill>
              <a:latin typeface="Calibri"/>
              <a:ea typeface="Calibri"/>
              <a:cs typeface="Calibri"/>
              <a:sym typeface="Calibri"/>
            </a:endParaRPr>
          </a:p>
        </p:txBody>
      </p:sp>
      <p:sp>
        <p:nvSpPr>
          <p:cNvPr id="1878" name="Google Shape;1878;p53"/>
          <p:cNvSpPr/>
          <p:nvPr/>
        </p:nvSpPr>
        <p:spPr>
          <a:xfrm>
            <a:off x="6103620" y="2708910"/>
            <a:ext cx="1166100" cy="342900"/>
          </a:xfrm>
          <a:prstGeom prst="roundRect">
            <a:avLst>
              <a:gd fmla="val 22000" name="adj"/>
            </a:avLst>
          </a:prstGeom>
          <a:solidFill>
            <a:srgbClr val="E9A2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9" name="Google Shape;1879;p53"/>
          <p:cNvSpPr/>
          <p:nvPr/>
        </p:nvSpPr>
        <p:spPr>
          <a:xfrm>
            <a:off x="6103620" y="2708910"/>
            <a:ext cx="11661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1100"/>
              <a:buFont typeface="Cambria"/>
              <a:buNone/>
            </a:pPr>
            <a:r>
              <a:rPr b="1" i="0" lang="en" sz="1100" u="none" cap="none" strike="noStrike">
                <a:solidFill>
                  <a:srgbClr val="0B2B36"/>
                </a:solidFill>
                <a:latin typeface="Cambria"/>
                <a:ea typeface="Cambria"/>
                <a:cs typeface="Cambria"/>
                <a:sym typeface="Cambria"/>
              </a:rPr>
              <a:t>score</a:t>
            </a:r>
            <a:endParaRPr b="0" i="0" sz="1100" u="none" cap="none" strike="noStrike">
              <a:solidFill>
                <a:schemeClr val="dk1"/>
              </a:solidFill>
              <a:latin typeface="Calibri"/>
              <a:ea typeface="Calibri"/>
              <a:cs typeface="Calibri"/>
              <a:sym typeface="Calibri"/>
            </a:endParaRPr>
          </a:p>
        </p:txBody>
      </p:sp>
      <p:sp>
        <p:nvSpPr>
          <p:cNvPr id="1880" name="Google Shape;1880;p53"/>
          <p:cNvSpPr/>
          <p:nvPr/>
        </p:nvSpPr>
        <p:spPr>
          <a:xfrm>
            <a:off x="4855464" y="3120390"/>
            <a:ext cx="3669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5721B"/>
              </a:buClr>
              <a:buSzPts val="900"/>
              <a:buFont typeface="Calibri"/>
              <a:buNone/>
            </a:pPr>
            <a:r>
              <a:rPr b="1" i="0" lang="en" sz="900" u="none" cap="none" strike="noStrike">
                <a:solidFill>
                  <a:srgbClr val="B5721B"/>
                </a:solidFill>
                <a:latin typeface="Calibri"/>
                <a:ea typeface="Calibri"/>
                <a:cs typeface="Calibri"/>
                <a:sym typeface="Calibri"/>
              </a:rPr>
              <a:t>sees word-by-word interaction</a:t>
            </a:r>
            <a:endParaRPr b="0" i="0" sz="900" u="none" cap="none" strike="noStrike">
              <a:solidFill>
                <a:schemeClr val="dk1"/>
              </a:solidFill>
              <a:latin typeface="Calibri"/>
              <a:ea typeface="Calibri"/>
              <a:cs typeface="Calibri"/>
              <a:sym typeface="Calibri"/>
            </a:endParaRPr>
          </a:p>
        </p:txBody>
      </p:sp>
      <p:sp>
        <p:nvSpPr>
          <p:cNvPr id="1881" name="Google Shape;1881;p53"/>
          <p:cNvSpPr/>
          <p:nvPr/>
        </p:nvSpPr>
        <p:spPr>
          <a:xfrm>
            <a:off x="4924044" y="3504438"/>
            <a:ext cx="89100" cy="89100"/>
          </a:xfrm>
          <a:prstGeom prst="ellipse">
            <a:avLst/>
          </a:prstGeom>
          <a:solidFill>
            <a:srgbClr val="E9A2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2" name="Google Shape;1882;p53"/>
          <p:cNvSpPr/>
          <p:nvPr/>
        </p:nvSpPr>
        <p:spPr>
          <a:xfrm>
            <a:off x="5095494" y="3463290"/>
            <a:ext cx="349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Runs at query time on each pair</a:t>
            </a:r>
            <a:endParaRPr b="0" i="0" sz="900" u="none" cap="none" strike="noStrike">
              <a:solidFill>
                <a:schemeClr val="dk1"/>
              </a:solidFill>
              <a:latin typeface="Calibri"/>
              <a:ea typeface="Calibri"/>
              <a:cs typeface="Calibri"/>
              <a:sym typeface="Calibri"/>
            </a:endParaRPr>
          </a:p>
        </p:txBody>
      </p:sp>
      <p:sp>
        <p:nvSpPr>
          <p:cNvPr id="1883" name="Google Shape;1883;p53"/>
          <p:cNvSpPr/>
          <p:nvPr/>
        </p:nvSpPr>
        <p:spPr>
          <a:xfrm>
            <a:off x="4924044" y="3792474"/>
            <a:ext cx="89100" cy="89100"/>
          </a:xfrm>
          <a:prstGeom prst="ellipse">
            <a:avLst/>
          </a:prstGeom>
          <a:solidFill>
            <a:srgbClr val="E9A2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4" name="Google Shape;1884;p53"/>
          <p:cNvSpPr/>
          <p:nvPr/>
        </p:nvSpPr>
        <p:spPr>
          <a:xfrm>
            <a:off x="5095494" y="3751326"/>
            <a:ext cx="349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Far more accurate relevance score</a:t>
            </a:r>
            <a:endParaRPr b="0" i="0" sz="900" u="none" cap="none" strike="noStrike">
              <a:solidFill>
                <a:schemeClr val="dk1"/>
              </a:solidFill>
              <a:latin typeface="Calibri"/>
              <a:ea typeface="Calibri"/>
              <a:cs typeface="Calibri"/>
              <a:sym typeface="Calibri"/>
            </a:endParaRPr>
          </a:p>
        </p:txBody>
      </p:sp>
      <p:sp>
        <p:nvSpPr>
          <p:cNvPr id="1885" name="Google Shape;1885;p53"/>
          <p:cNvSpPr/>
          <p:nvPr/>
        </p:nvSpPr>
        <p:spPr>
          <a:xfrm>
            <a:off x="4924044" y="4080510"/>
            <a:ext cx="89100" cy="89100"/>
          </a:xfrm>
          <a:prstGeom prst="ellipse">
            <a:avLst/>
          </a:prstGeom>
          <a:solidFill>
            <a:srgbClr val="E9A2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6" name="Google Shape;1886;p53"/>
          <p:cNvSpPr/>
          <p:nvPr/>
        </p:nvSpPr>
        <p:spPr>
          <a:xfrm>
            <a:off x="5095494" y="4039362"/>
            <a:ext cx="349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Too slow for millions → only the ~100</a:t>
            </a:r>
            <a:endParaRPr b="0" i="0" sz="900" u="none" cap="none" strike="noStrike">
              <a:solidFill>
                <a:schemeClr val="dk1"/>
              </a:solidFill>
              <a:latin typeface="Calibri"/>
              <a:ea typeface="Calibri"/>
              <a:cs typeface="Calibri"/>
              <a:sym typeface="Calibri"/>
            </a:endParaRPr>
          </a:p>
        </p:txBody>
      </p:sp>
      <p:sp>
        <p:nvSpPr>
          <p:cNvPr id="1887" name="Google Shape;1887;p53"/>
          <p:cNvSpPr/>
          <p:nvPr/>
        </p:nvSpPr>
        <p:spPr>
          <a:xfrm>
            <a:off x="411480" y="4457700"/>
            <a:ext cx="8318700" cy="342900"/>
          </a:xfrm>
          <a:prstGeom prst="roundRect">
            <a:avLst>
              <a:gd fmla="val 22000" name="adj"/>
            </a:avLst>
          </a:prstGeom>
          <a:solidFill>
            <a:srgbClr val="0B2B3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8" name="Google Shape;1888;p53"/>
          <p:cNvSpPr/>
          <p:nvPr/>
        </p:nvSpPr>
        <p:spPr>
          <a:xfrm>
            <a:off x="617220" y="4457700"/>
            <a:ext cx="78867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CBBE"/>
              </a:buClr>
              <a:buSzPts val="1100"/>
              <a:buFont typeface="Calibri"/>
              <a:buNone/>
            </a:pPr>
            <a:r>
              <a:rPr b="0" i="1" lang="en" sz="1100" u="none" cap="none" strike="noStrike">
                <a:solidFill>
                  <a:srgbClr val="6FCBBE"/>
                </a:solidFill>
                <a:latin typeface="Calibri"/>
                <a:ea typeface="Calibri"/>
                <a:cs typeface="Calibri"/>
                <a:sym typeface="Calibri"/>
              </a:rPr>
              <a:t>Separate = fast &amp; scalable (retrieve).   Together = precise but costly (rerank).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2" name="Shape 1892"/>
        <p:cNvGrpSpPr/>
        <p:nvPr/>
      </p:nvGrpSpPr>
      <p:grpSpPr>
        <a:xfrm>
          <a:off x="0" y="0"/>
          <a:ext cx="0" cy="0"/>
          <a:chOff x="0" y="0"/>
          <a:chExt cx="0" cy="0"/>
        </a:xfrm>
      </p:grpSpPr>
      <p:sp>
        <p:nvSpPr>
          <p:cNvPr id="1893" name="Google Shape;1893;p54"/>
          <p:cNvSpPr txBox="1"/>
          <p:nvPr>
            <p:ph type="title"/>
          </p:nvPr>
        </p:nvSpPr>
        <p:spPr>
          <a:xfrm>
            <a:off x="243125" y="3274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Dense Retrieval (costlier but more accurate): Cross-Encoder</a:t>
            </a:r>
            <a:endParaRPr b="1"/>
          </a:p>
        </p:txBody>
      </p:sp>
      <p:pic>
        <p:nvPicPr>
          <p:cNvPr id="1894" name="Google Shape;1894;p54" title="Screenshot 2026-02-04 at 11.13.46 AM.png"/>
          <p:cNvPicPr preferRelativeResize="0"/>
          <p:nvPr/>
        </p:nvPicPr>
        <p:blipFill rotWithShape="1">
          <a:blip r:embed="rId3">
            <a:alphaModFix/>
          </a:blip>
          <a:srcRect b="0" l="0" r="0" t="0"/>
          <a:stretch/>
        </p:blipFill>
        <p:spPr>
          <a:xfrm>
            <a:off x="371675" y="1431077"/>
            <a:ext cx="7456126" cy="3486425"/>
          </a:xfrm>
          <a:prstGeom prst="rect">
            <a:avLst/>
          </a:prstGeom>
          <a:noFill/>
          <a:ln>
            <a:noFill/>
          </a:ln>
        </p:spPr>
      </p:pic>
      <p:sp>
        <p:nvSpPr>
          <p:cNvPr id="1895" name="Google Shape;1895;p54"/>
          <p:cNvSpPr txBox="1"/>
          <p:nvPr/>
        </p:nvSpPr>
        <p:spPr>
          <a:xfrm>
            <a:off x="4787225" y="3211725"/>
            <a:ext cx="3976500" cy="136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Use a single encoder to jointly encode query and document and finetune to produce a</a:t>
            </a:r>
            <a:endParaRPr>
              <a:solidFill>
                <a:schemeClr val="dk1"/>
              </a:solidFill>
            </a:endParaRPr>
          </a:p>
          <a:p>
            <a:pPr indent="0" lvl="0" marL="0" rtl="0" algn="l">
              <a:spcBef>
                <a:spcPts val="0"/>
              </a:spcBef>
              <a:spcAft>
                <a:spcPts val="0"/>
              </a:spcAft>
              <a:buNone/>
            </a:pPr>
            <a:r>
              <a:rPr lang="en">
                <a:solidFill>
                  <a:schemeClr val="dk1"/>
                </a:solidFill>
              </a:rPr>
              <a:t>relevance score with a linear layer over the CLS token. This is too compute-expensive to use except in rescoring</a:t>
            </a:r>
            <a:endParaRPr>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9" name="Shape 1899"/>
        <p:cNvGrpSpPr/>
        <p:nvPr/>
      </p:nvGrpSpPr>
      <p:grpSpPr>
        <a:xfrm>
          <a:off x="0" y="0"/>
          <a:ext cx="0" cy="0"/>
          <a:chOff x="0" y="0"/>
          <a:chExt cx="0" cy="0"/>
        </a:xfrm>
      </p:grpSpPr>
      <p:sp>
        <p:nvSpPr>
          <p:cNvPr id="1900" name="Google Shape;1900;p55"/>
          <p:cNvSpPr txBox="1"/>
          <p:nvPr>
            <p:ph type="title"/>
          </p:nvPr>
        </p:nvSpPr>
        <p:spPr>
          <a:xfrm>
            <a:off x="0" y="1119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ColBERT</a:t>
            </a:r>
            <a:endParaRPr/>
          </a:p>
        </p:txBody>
      </p:sp>
      <p:pic>
        <p:nvPicPr>
          <p:cNvPr id="1901" name="Google Shape;1901;p55" title="Screenshot 2026-02-04 at 11.23.53 AM.png"/>
          <p:cNvPicPr preferRelativeResize="0"/>
          <p:nvPr/>
        </p:nvPicPr>
        <p:blipFill rotWithShape="1">
          <a:blip r:embed="rId3">
            <a:alphaModFix/>
          </a:blip>
          <a:srcRect b="0" l="0" r="0" t="0"/>
          <a:stretch/>
        </p:blipFill>
        <p:spPr>
          <a:xfrm>
            <a:off x="37013" y="1139950"/>
            <a:ext cx="9069972" cy="4003552"/>
          </a:xfrm>
          <a:prstGeom prst="rect">
            <a:avLst/>
          </a:prstGeom>
          <a:noFill/>
          <a:ln>
            <a:noFill/>
          </a:ln>
        </p:spPr>
      </p:pic>
      <p:pic>
        <p:nvPicPr>
          <p:cNvPr id="1902" name="Google Shape;1902;p55"/>
          <p:cNvPicPr preferRelativeResize="0"/>
          <p:nvPr/>
        </p:nvPicPr>
        <p:blipFill rotWithShape="1">
          <a:blip r:embed="rId4">
            <a:alphaModFix/>
          </a:blip>
          <a:srcRect b="45052" l="0" r="0" t="0"/>
          <a:stretch/>
        </p:blipFill>
        <p:spPr>
          <a:xfrm>
            <a:off x="3992325" y="684625"/>
            <a:ext cx="4890051" cy="122492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7"/>
        </a:solidFill>
      </p:bgPr>
    </p:bg>
    <p:spTree>
      <p:nvGrpSpPr>
        <p:cNvPr id="1907" name="Shape 1907"/>
        <p:cNvGrpSpPr/>
        <p:nvPr/>
      </p:nvGrpSpPr>
      <p:grpSpPr>
        <a:xfrm>
          <a:off x="0" y="0"/>
          <a:ext cx="0" cy="0"/>
          <a:chOff x="0" y="0"/>
          <a:chExt cx="0" cy="0"/>
        </a:xfrm>
      </p:grpSpPr>
      <p:sp>
        <p:nvSpPr>
          <p:cNvPr id="1908" name="Google Shape;1908;p56"/>
          <p:cNvSpPr/>
          <p:nvPr/>
        </p:nvSpPr>
        <p:spPr>
          <a:xfrm>
            <a:off x="411480" y="288036"/>
            <a:ext cx="83187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B36"/>
              </a:buClr>
              <a:buSzPts val="2300"/>
              <a:buFont typeface="Cambria"/>
              <a:buNone/>
            </a:pPr>
            <a:r>
              <a:rPr b="1" i="0" lang="en" sz="2300" u="none" cap="none" strike="noStrike">
                <a:solidFill>
                  <a:srgbClr val="0B2B36"/>
                </a:solidFill>
                <a:latin typeface="Cambria"/>
                <a:ea typeface="Cambria"/>
                <a:cs typeface="Cambria"/>
                <a:sym typeface="Cambria"/>
              </a:rPr>
              <a:t>ColBERT: a middle ground  (nice to know)</a:t>
            </a:r>
            <a:endParaRPr b="0" i="0" sz="2300" u="none" cap="none" strike="noStrike">
              <a:solidFill>
                <a:schemeClr val="dk1"/>
              </a:solidFill>
              <a:latin typeface="Calibri"/>
              <a:ea typeface="Calibri"/>
              <a:cs typeface="Calibri"/>
              <a:sym typeface="Calibri"/>
            </a:endParaRPr>
          </a:p>
        </p:txBody>
      </p:sp>
      <p:sp>
        <p:nvSpPr>
          <p:cNvPr id="1909" name="Google Shape;1909;p56"/>
          <p:cNvSpPr/>
          <p:nvPr/>
        </p:nvSpPr>
        <p:spPr>
          <a:xfrm>
            <a:off x="425196" y="850392"/>
            <a:ext cx="82296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Calibri"/>
              <a:buNone/>
            </a:pPr>
            <a:r>
              <a:rPr b="0" i="1" lang="en" sz="1100" u="none" cap="none" strike="noStrike">
                <a:solidFill>
                  <a:srgbClr val="2A9D8F"/>
                </a:solidFill>
                <a:latin typeface="Calibri"/>
                <a:ea typeface="Calibri"/>
                <a:cs typeface="Calibri"/>
                <a:sym typeface="Calibri"/>
              </a:rPr>
              <a:t>Between one-vector-per-doc and full cross-encoder</a:t>
            </a:r>
            <a:endParaRPr b="0" i="0" sz="1100" u="none" cap="none" strike="noStrike">
              <a:solidFill>
                <a:schemeClr val="dk1"/>
              </a:solidFill>
              <a:latin typeface="Calibri"/>
              <a:ea typeface="Calibri"/>
              <a:cs typeface="Calibri"/>
              <a:sym typeface="Calibri"/>
            </a:endParaRPr>
          </a:p>
        </p:txBody>
      </p:sp>
      <p:sp>
        <p:nvSpPr>
          <p:cNvPr id="1910" name="Google Shape;1910;p56"/>
          <p:cNvSpPr/>
          <p:nvPr/>
        </p:nvSpPr>
        <p:spPr>
          <a:xfrm>
            <a:off x="411480" y="1371600"/>
            <a:ext cx="8318700" cy="925800"/>
          </a:xfrm>
          <a:prstGeom prst="roundRect">
            <a:avLst>
              <a:gd fmla="val 8148" name="adj"/>
            </a:avLst>
          </a:prstGeom>
          <a:solidFill>
            <a:srgbClr val="0D5C63"/>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1" name="Google Shape;1911;p56"/>
          <p:cNvSpPr/>
          <p:nvPr/>
        </p:nvSpPr>
        <p:spPr>
          <a:xfrm>
            <a:off x="685800" y="1371600"/>
            <a:ext cx="7749600" cy="9258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9A23B"/>
              </a:buClr>
              <a:buSzPts val="1300"/>
              <a:buFont typeface="Calibri"/>
              <a:buNone/>
            </a:pPr>
            <a:r>
              <a:rPr b="1" i="0" lang="en" sz="1300" u="none" cap="none" strike="noStrike">
                <a:solidFill>
                  <a:srgbClr val="E9A23B"/>
                </a:solidFill>
                <a:latin typeface="Calibri"/>
                <a:ea typeface="Calibri"/>
                <a:cs typeface="Calibri"/>
                <a:sym typeface="Calibri"/>
              </a:rPr>
              <a:t>Store a vector per word, not per document. </a:t>
            </a:r>
            <a:r>
              <a:rPr b="0" i="0" lang="en" sz="1300" u="none" cap="none" strike="noStrike">
                <a:solidFill>
                  <a:srgbClr val="FFFFFF"/>
                </a:solidFill>
                <a:latin typeface="Calibri"/>
                <a:ea typeface="Calibri"/>
                <a:cs typeface="Calibri"/>
                <a:sym typeface="Calibri"/>
              </a:rPr>
              <a:t>For each query word, find its best-matching word in the doc, then add those best matches up.</a:t>
            </a:r>
            <a:endParaRPr b="0" i="0" sz="1300" u="none" cap="none" strike="noStrike">
              <a:solidFill>
                <a:schemeClr val="dk1"/>
              </a:solidFill>
              <a:latin typeface="Calibri"/>
              <a:ea typeface="Calibri"/>
              <a:cs typeface="Calibri"/>
              <a:sym typeface="Calibri"/>
            </a:endParaRPr>
          </a:p>
        </p:txBody>
      </p:sp>
      <p:sp>
        <p:nvSpPr>
          <p:cNvPr id="1912" name="Google Shape;1912;p56"/>
          <p:cNvSpPr/>
          <p:nvPr/>
        </p:nvSpPr>
        <p:spPr>
          <a:xfrm>
            <a:off x="411480" y="2468880"/>
            <a:ext cx="5074800" cy="1714500"/>
          </a:xfrm>
          <a:prstGeom prst="roundRect">
            <a:avLst>
              <a:gd fmla="val 4400"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3" name="Google Shape;1913;p56"/>
          <p:cNvSpPr/>
          <p:nvPr/>
        </p:nvSpPr>
        <p:spPr>
          <a:xfrm>
            <a:off x="582930" y="2571750"/>
            <a:ext cx="480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7078"/>
              </a:buClr>
              <a:buSzPts val="1000"/>
              <a:buFont typeface="Calibri"/>
              <a:buNone/>
            </a:pPr>
            <a:r>
              <a:rPr b="1" i="0" lang="en" sz="1000" u="none" cap="none" strike="noStrike">
                <a:solidFill>
                  <a:srgbClr val="5C7078"/>
                </a:solidFill>
                <a:latin typeface="Calibri"/>
                <a:ea typeface="Calibri"/>
                <a:cs typeface="Calibri"/>
                <a:sym typeface="Calibri"/>
              </a:rPr>
              <a:t>“best match” per query word  (MaxSim)</a:t>
            </a:r>
            <a:endParaRPr b="0" i="0" sz="1000" u="none" cap="none" strike="noStrike">
              <a:solidFill>
                <a:schemeClr val="dk1"/>
              </a:solidFill>
              <a:latin typeface="Calibri"/>
              <a:ea typeface="Calibri"/>
              <a:cs typeface="Calibri"/>
              <a:sym typeface="Calibri"/>
            </a:endParaRPr>
          </a:p>
        </p:txBody>
      </p:sp>
      <p:sp>
        <p:nvSpPr>
          <p:cNvPr id="1914" name="Google Shape;1914;p56"/>
          <p:cNvSpPr/>
          <p:nvPr/>
        </p:nvSpPr>
        <p:spPr>
          <a:xfrm>
            <a:off x="617220" y="2948940"/>
            <a:ext cx="1166100" cy="288000"/>
          </a:xfrm>
          <a:prstGeom prst="roundRect">
            <a:avLst>
              <a:gd fmla="val 26190" name="adj"/>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5" name="Google Shape;1915;p56"/>
          <p:cNvSpPr/>
          <p:nvPr/>
        </p:nvSpPr>
        <p:spPr>
          <a:xfrm>
            <a:off x="617220" y="2948940"/>
            <a:ext cx="11661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best</a:t>
            </a:r>
            <a:endParaRPr b="0" i="0" sz="900" u="none" cap="none" strike="noStrike">
              <a:solidFill>
                <a:schemeClr val="dk1"/>
              </a:solidFill>
              <a:latin typeface="Calibri"/>
              <a:ea typeface="Calibri"/>
              <a:cs typeface="Calibri"/>
              <a:sym typeface="Calibri"/>
            </a:endParaRPr>
          </a:p>
        </p:txBody>
      </p:sp>
      <p:sp>
        <p:nvSpPr>
          <p:cNvPr id="1916" name="Google Shape;1916;p56"/>
          <p:cNvSpPr/>
          <p:nvPr/>
        </p:nvSpPr>
        <p:spPr>
          <a:xfrm>
            <a:off x="617220" y="3291840"/>
            <a:ext cx="1166100" cy="288000"/>
          </a:xfrm>
          <a:prstGeom prst="roundRect">
            <a:avLst>
              <a:gd fmla="val 26190" name="adj"/>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7" name="Google Shape;1917;p56"/>
          <p:cNvSpPr/>
          <p:nvPr/>
        </p:nvSpPr>
        <p:spPr>
          <a:xfrm>
            <a:off x="617220" y="3291840"/>
            <a:ext cx="11661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car</a:t>
            </a:r>
            <a:endParaRPr b="0" i="0" sz="900" u="none" cap="none" strike="noStrike">
              <a:solidFill>
                <a:schemeClr val="dk1"/>
              </a:solidFill>
              <a:latin typeface="Calibri"/>
              <a:ea typeface="Calibri"/>
              <a:cs typeface="Calibri"/>
              <a:sym typeface="Calibri"/>
            </a:endParaRPr>
          </a:p>
        </p:txBody>
      </p:sp>
      <p:sp>
        <p:nvSpPr>
          <p:cNvPr id="1918" name="Google Shape;1918;p56"/>
          <p:cNvSpPr/>
          <p:nvPr/>
        </p:nvSpPr>
        <p:spPr>
          <a:xfrm>
            <a:off x="617220" y="3634740"/>
            <a:ext cx="1166100" cy="288000"/>
          </a:xfrm>
          <a:prstGeom prst="roundRect">
            <a:avLst>
              <a:gd fmla="val 26190" name="adj"/>
            </a:avLst>
          </a:prstGeom>
          <a:solidFill>
            <a:srgbClr val="2A9D8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9" name="Google Shape;1919;p56"/>
          <p:cNvSpPr/>
          <p:nvPr/>
        </p:nvSpPr>
        <p:spPr>
          <a:xfrm>
            <a:off x="617220" y="3634740"/>
            <a:ext cx="11661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insurance</a:t>
            </a:r>
            <a:endParaRPr b="0" i="0" sz="900" u="none" cap="none" strike="noStrike">
              <a:solidFill>
                <a:schemeClr val="dk1"/>
              </a:solidFill>
              <a:latin typeface="Calibri"/>
              <a:ea typeface="Calibri"/>
              <a:cs typeface="Calibri"/>
              <a:sym typeface="Calibri"/>
            </a:endParaRPr>
          </a:p>
        </p:txBody>
      </p:sp>
      <p:sp>
        <p:nvSpPr>
          <p:cNvPr id="1920" name="Google Shape;1920;p56"/>
          <p:cNvSpPr/>
          <p:nvPr/>
        </p:nvSpPr>
        <p:spPr>
          <a:xfrm>
            <a:off x="4046220" y="2777490"/>
            <a:ext cx="1302900" cy="288000"/>
          </a:xfrm>
          <a:prstGeom prst="roundRect">
            <a:avLst>
              <a:gd fmla="val 26190" name="adj"/>
            </a:avLst>
          </a:prstGeom>
          <a:solidFill>
            <a:srgbClr val="FBEFD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1" name="Google Shape;1921;p56"/>
          <p:cNvSpPr/>
          <p:nvPr/>
        </p:nvSpPr>
        <p:spPr>
          <a:xfrm>
            <a:off x="4046220" y="2777490"/>
            <a:ext cx="13029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car</a:t>
            </a:r>
            <a:endParaRPr b="0" i="0" sz="900" u="none" cap="none" strike="noStrike">
              <a:solidFill>
                <a:schemeClr val="dk1"/>
              </a:solidFill>
              <a:latin typeface="Calibri"/>
              <a:ea typeface="Calibri"/>
              <a:cs typeface="Calibri"/>
              <a:sym typeface="Calibri"/>
            </a:endParaRPr>
          </a:p>
        </p:txBody>
      </p:sp>
      <p:sp>
        <p:nvSpPr>
          <p:cNvPr id="1922" name="Google Shape;1922;p56"/>
          <p:cNvSpPr/>
          <p:nvPr/>
        </p:nvSpPr>
        <p:spPr>
          <a:xfrm>
            <a:off x="4046220" y="3120390"/>
            <a:ext cx="1302900" cy="288000"/>
          </a:xfrm>
          <a:prstGeom prst="roundRect">
            <a:avLst>
              <a:gd fmla="val 26190" name="adj"/>
            </a:avLst>
          </a:prstGeom>
          <a:solidFill>
            <a:srgbClr val="FBEFD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3" name="Google Shape;1923;p56"/>
          <p:cNvSpPr/>
          <p:nvPr/>
        </p:nvSpPr>
        <p:spPr>
          <a:xfrm>
            <a:off x="4046220" y="3120390"/>
            <a:ext cx="13029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insurance</a:t>
            </a:r>
            <a:endParaRPr b="0" i="0" sz="900" u="none" cap="none" strike="noStrike">
              <a:solidFill>
                <a:schemeClr val="dk1"/>
              </a:solidFill>
              <a:latin typeface="Calibri"/>
              <a:ea typeface="Calibri"/>
              <a:cs typeface="Calibri"/>
              <a:sym typeface="Calibri"/>
            </a:endParaRPr>
          </a:p>
        </p:txBody>
      </p:sp>
      <p:sp>
        <p:nvSpPr>
          <p:cNvPr id="1924" name="Google Shape;1924;p56"/>
          <p:cNvSpPr/>
          <p:nvPr/>
        </p:nvSpPr>
        <p:spPr>
          <a:xfrm>
            <a:off x="4046220" y="3463290"/>
            <a:ext cx="1302900" cy="288000"/>
          </a:xfrm>
          <a:prstGeom prst="roundRect">
            <a:avLst>
              <a:gd fmla="val 26190" name="adj"/>
            </a:avLst>
          </a:prstGeom>
          <a:solidFill>
            <a:srgbClr val="FBEFD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5" name="Google Shape;1925;p56"/>
          <p:cNvSpPr/>
          <p:nvPr/>
        </p:nvSpPr>
        <p:spPr>
          <a:xfrm>
            <a:off x="4046220" y="3463290"/>
            <a:ext cx="13029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auto</a:t>
            </a:r>
            <a:endParaRPr b="0" i="0" sz="900" u="none" cap="none" strike="noStrike">
              <a:solidFill>
                <a:schemeClr val="dk1"/>
              </a:solidFill>
              <a:latin typeface="Calibri"/>
              <a:ea typeface="Calibri"/>
              <a:cs typeface="Calibri"/>
              <a:sym typeface="Calibri"/>
            </a:endParaRPr>
          </a:p>
        </p:txBody>
      </p:sp>
      <p:sp>
        <p:nvSpPr>
          <p:cNvPr id="1926" name="Google Shape;1926;p56"/>
          <p:cNvSpPr/>
          <p:nvPr/>
        </p:nvSpPr>
        <p:spPr>
          <a:xfrm>
            <a:off x="4046220" y="3806190"/>
            <a:ext cx="1302900" cy="288000"/>
          </a:xfrm>
          <a:prstGeom prst="roundRect">
            <a:avLst>
              <a:gd fmla="val 26190" name="adj"/>
            </a:avLst>
          </a:prstGeom>
          <a:solidFill>
            <a:srgbClr val="FBEFD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7" name="Google Shape;1927;p56"/>
          <p:cNvSpPr/>
          <p:nvPr/>
        </p:nvSpPr>
        <p:spPr>
          <a:xfrm>
            <a:off x="4046220" y="3806190"/>
            <a:ext cx="13029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32"/>
              </a:buClr>
              <a:buSzPts val="900"/>
              <a:buFont typeface="Calibri"/>
              <a:buNone/>
            </a:pPr>
            <a:r>
              <a:rPr b="0" i="0" lang="en" sz="900" u="none" cap="none" strike="noStrike">
                <a:solidFill>
                  <a:srgbClr val="1A2B32"/>
                </a:solidFill>
                <a:latin typeface="Calibri"/>
                <a:ea typeface="Calibri"/>
                <a:cs typeface="Calibri"/>
                <a:sym typeface="Calibri"/>
              </a:rPr>
              <a:t>insurance</a:t>
            </a:r>
            <a:endParaRPr b="0" i="0" sz="900" u="none" cap="none" strike="noStrike">
              <a:solidFill>
                <a:schemeClr val="dk1"/>
              </a:solidFill>
              <a:latin typeface="Calibri"/>
              <a:ea typeface="Calibri"/>
              <a:cs typeface="Calibri"/>
              <a:sym typeface="Calibri"/>
            </a:endParaRPr>
          </a:p>
        </p:txBody>
      </p:sp>
      <p:cxnSp>
        <p:nvCxnSpPr>
          <p:cNvPr id="1928" name="Google Shape;1928;p56"/>
          <p:cNvCxnSpPr/>
          <p:nvPr/>
        </p:nvCxnSpPr>
        <p:spPr>
          <a:xfrm flipH="1" rot="10800000">
            <a:off x="1783080" y="2921658"/>
            <a:ext cx="2263200" cy="514200"/>
          </a:xfrm>
          <a:prstGeom prst="straightConnector1">
            <a:avLst/>
          </a:prstGeom>
          <a:noFill/>
          <a:ln cap="flat" cmpd="sng" w="19050">
            <a:solidFill>
              <a:srgbClr val="E9A23B"/>
            </a:solidFill>
            <a:prstDash val="solid"/>
            <a:round/>
            <a:headEnd len="sm" w="sm" type="none"/>
            <a:tailEnd len="sm" w="sm" type="none"/>
          </a:ln>
        </p:spPr>
      </p:cxnSp>
      <p:cxnSp>
        <p:nvCxnSpPr>
          <p:cNvPr id="1929" name="Google Shape;1929;p56"/>
          <p:cNvCxnSpPr/>
          <p:nvPr/>
        </p:nvCxnSpPr>
        <p:spPr>
          <a:xfrm>
            <a:off x="1783080" y="3778758"/>
            <a:ext cx="2263200" cy="171600"/>
          </a:xfrm>
          <a:prstGeom prst="straightConnector1">
            <a:avLst/>
          </a:prstGeom>
          <a:noFill/>
          <a:ln cap="flat" cmpd="sng" w="19050">
            <a:solidFill>
              <a:srgbClr val="E9A23B"/>
            </a:solidFill>
            <a:prstDash val="solid"/>
            <a:round/>
            <a:headEnd len="sm" w="sm" type="none"/>
            <a:tailEnd len="sm" w="sm" type="none"/>
          </a:ln>
        </p:spPr>
      </p:cxnSp>
      <p:sp>
        <p:nvSpPr>
          <p:cNvPr id="1930" name="Google Shape;1930;p56"/>
          <p:cNvSpPr/>
          <p:nvPr/>
        </p:nvSpPr>
        <p:spPr>
          <a:xfrm>
            <a:off x="617220" y="2756916"/>
            <a:ext cx="17145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7078"/>
              </a:buClr>
              <a:buSzPts val="700"/>
              <a:buFont typeface="Calibri"/>
              <a:buNone/>
            </a:pPr>
            <a:r>
              <a:rPr b="0" i="1" lang="en" sz="700" u="none" cap="none" strike="noStrike">
                <a:solidFill>
                  <a:srgbClr val="5C7078"/>
                </a:solidFill>
                <a:latin typeface="Calibri"/>
                <a:ea typeface="Calibri"/>
                <a:cs typeface="Calibri"/>
                <a:sym typeface="Calibri"/>
              </a:rPr>
              <a:t>“best”: no strong match</a:t>
            </a:r>
            <a:endParaRPr b="0" i="0" sz="700" u="none" cap="none" strike="noStrike">
              <a:solidFill>
                <a:schemeClr val="dk1"/>
              </a:solidFill>
              <a:latin typeface="Calibri"/>
              <a:ea typeface="Calibri"/>
              <a:cs typeface="Calibri"/>
              <a:sym typeface="Calibri"/>
            </a:endParaRPr>
          </a:p>
        </p:txBody>
      </p:sp>
      <p:sp>
        <p:nvSpPr>
          <p:cNvPr id="1931" name="Google Shape;1931;p56"/>
          <p:cNvSpPr/>
          <p:nvPr/>
        </p:nvSpPr>
        <p:spPr>
          <a:xfrm>
            <a:off x="5623560" y="2468880"/>
            <a:ext cx="3106500" cy="1714500"/>
          </a:xfrm>
          <a:prstGeom prst="roundRect">
            <a:avLst>
              <a:gd fmla="val 4400" name="adj"/>
            </a:avLst>
          </a:prstGeom>
          <a:solidFill>
            <a:srgbClr val="FFFFFF"/>
          </a:solidFill>
          <a:ln cap="flat" cmpd="sng" w="9525">
            <a:solidFill>
              <a:srgbClr val="DCE6E7"/>
            </a:solidFill>
            <a:prstDash val="solid"/>
            <a:round/>
            <a:headEnd len="sm" w="sm" type="none"/>
            <a:tailEnd len="sm" w="sm" type="none"/>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2" name="Google Shape;1932;p56"/>
          <p:cNvSpPr/>
          <p:nvPr/>
        </p:nvSpPr>
        <p:spPr>
          <a:xfrm>
            <a:off x="5795010" y="2571750"/>
            <a:ext cx="2811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32"/>
              </a:buClr>
              <a:buSzPts val="1100"/>
              <a:buFont typeface="Cambria"/>
              <a:buNone/>
            </a:pPr>
            <a:r>
              <a:rPr b="1" i="0" lang="en" sz="1100" u="none" cap="none" strike="noStrike">
                <a:solidFill>
                  <a:srgbClr val="1A2B32"/>
                </a:solidFill>
                <a:latin typeface="Cambria"/>
                <a:ea typeface="Cambria"/>
                <a:cs typeface="Cambria"/>
                <a:sym typeface="Cambria"/>
              </a:rPr>
              <a:t>Where it sits</a:t>
            </a:r>
            <a:endParaRPr b="0" i="0" sz="1100" u="none" cap="none" strike="noStrike">
              <a:solidFill>
                <a:schemeClr val="dk1"/>
              </a:solidFill>
              <a:latin typeface="Calibri"/>
              <a:ea typeface="Calibri"/>
              <a:cs typeface="Calibri"/>
              <a:sym typeface="Calibri"/>
            </a:endParaRPr>
          </a:p>
        </p:txBody>
      </p:sp>
      <p:sp>
        <p:nvSpPr>
          <p:cNvPr id="1933" name="Google Shape;1933;p56"/>
          <p:cNvSpPr/>
          <p:nvPr/>
        </p:nvSpPr>
        <p:spPr>
          <a:xfrm>
            <a:off x="5795010" y="2914650"/>
            <a:ext cx="219300" cy="219300"/>
          </a:xfrm>
          <a:prstGeom prst="ellipse">
            <a:avLst/>
          </a:prstGeom>
          <a:solidFill>
            <a:srgbClr val="2A9D8F"/>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4" name="Google Shape;1934;p56"/>
          <p:cNvSpPr/>
          <p:nvPr/>
        </p:nvSpPr>
        <p:spPr>
          <a:xfrm>
            <a:off x="5795010" y="2914650"/>
            <a:ext cx="219300" cy="21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500"/>
              <a:buFont typeface="Cambria"/>
              <a:buNone/>
            </a:pPr>
            <a:r>
              <a:rPr b="1" i="0" lang="en" sz="500" u="none" cap="none" strike="noStrike">
                <a:solidFill>
                  <a:srgbClr val="0B2B36"/>
                </a:solidFill>
                <a:latin typeface="Cambria"/>
                <a:ea typeface="Cambria"/>
                <a:cs typeface="Cambria"/>
                <a:sym typeface="Cambria"/>
              </a:rPr>
              <a:t>✓</a:t>
            </a:r>
            <a:endParaRPr b="0" i="0" sz="500" u="none" cap="none" strike="noStrike">
              <a:solidFill>
                <a:schemeClr val="dk1"/>
              </a:solidFill>
              <a:latin typeface="Calibri"/>
              <a:ea typeface="Calibri"/>
              <a:cs typeface="Calibri"/>
              <a:sym typeface="Calibri"/>
            </a:endParaRPr>
          </a:p>
        </p:txBody>
      </p:sp>
      <p:sp>
        <p:nvSpPr>
          <p:cNvPr id="1935" name="Google Shape;1935;p56"/>
          <p:cNvSpPr/>
          <p:nvPr/>
        </p:nvSpPr>
        <p:spPr>
          <a:xfrm>
            <a:off x="6103620" y="2880360"/>
            <a:ext cx="25377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5C63"/>
              </a:buClr>
              <a:buSzPts val="900"/>
              <a:buFont typeface="Calibri"/>
              <a:buNone/>
            </a:pPr>
            <a:r>
              <a:rPr b="1" i="0" lang="en" sz="900" u="none" cap="none" strike="noStrike">
                <a:solidFill>
                  <a:srgbClr val="0D5C63"/>
                </a:solidFill>
                <a:latin typeface="Calibri"/>
                <a:ea typeface="Calibri"/>
                <a:cs typeface="Calibri"/>
                <a:sym typeface="Calibri"/>
              </a:rPr>
              <a:t>More precise  </a:t>
            </a:r>
            <a:r>
              <a:rPr b="0" i="0" lang="en" sz="900" u="none" cap="none" strike="noStrike">
                <a:solidFill>
                  <a:srgbClr val="1A2B32"/>
                </a:solidFill>
                <a:latin typeface="Calibri"/>
                <a:ea typeface="Calibri"/>
                <a:cs typeface="Calibri"/>
                <a:sym typeface="Calibri"/>
              </a:rPr>
              <a:t>than one-vector-per-doc — keeps word detail</a:t>
            </a:r>
            <a:endParaRPr b="0" i="0" sz="900" u="none" cap="none" strike="noStrike">
              <a:solidFill>
                <a:schemeClr val="dk1"/>
              </a:solidFill>
              <a:latin typeface="Calibri"/>
              <a:ea typeface="Calibri"/>
              <a:cs typeface="Calibri"/>
              <a:sym typeface="Calibri"/>
            </a:endParaRPr>
          </a:p>
        </p:txBody>
      </p:sp>
      <p:sp>
        <p:nvSpPr>
          <p:cNvPr id="1936" name="Google Shape;1936;p56"/>
          <p:cNvSpPr/>
          <p:nvPr/>
        </p:nvSpPr>
        <p:spPr>
          <a:xfrm>
            <a:off x="5795010" y="3326130"/>
            <a:ext cx="219300" cy="219300"/>
          </a:xfrm>
          <a:prstGeom prst="ellipse">
            <a:avLst/>
          </a:prstGeom>
          <a:solidFill>
            <a:srgbClr val="2A9D8F"/>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7" name="Google Shape;1937;p56"/>
          <p:cNvSpPr/>
          <p:nvPr/>
        </p:nvSpPr>
        <p:spPr>
          <a:xfrm>
            <a:off x="5795010" y="3326130"/>
            <a:ext cx="219300" cy="21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B36"/>
              </a:buClr>
              <a:buSzPts val="500"/>
              <a:buFont typeface="Cambria"/>
              <a:buNone/>
            </a:pPr>
            <a:r>
              <a:rPr b="1" i="0" lang="en" sz="500" u="none" cap="none" strike="noStrike">
                <a:solidFill>
                  <a:srgbClr val="0B2B36"/>
                </a:solidFill>
                <a:latin typeface="Cambria"/>
                <a:ea typeface="Cambria"/>
                <a:cs typeface="Cambria"/>
                <a:sym typeface="Cambria"/>
              </a:rPr>
              <a:t>✓</a:t>
            </a:r>
            <a:endParaRPr b="0" i="0" sz="500" u="none" cap="none" strike="noStrike">
              <a:solidFill>
                <a:schemeClr val="dk1"/>
              </a:solidFill>
              <a:latin typeface="Calibri"/>
              <a:ea typeface="Calibri"/>
              <a:cs typeface="Calibri"/>
              <a:sym typeface="Calibri"/>
            </a:endParaRPr>
          </a:p>
        </p:txBody>
      </p:sp>
      <p:sp>
        <p:nvSpPr>
          <p:cNvPr id="1938" name="Google Shape;1938;p56"/>
          <p:cNvSpPr/>
          <p:nvPr/>
        </p:nvSpPr>
        <p:spPr>
          <a:xfrm>
            <a:off x="6103620" y="3291840"/>
            <a:ext cx="25377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5C63"/>
              </a:buClr>
              <a:buSzPts val="900"/>
              <a:buFont typeface="Calibri"/>
              <a:buNone/>
            </a:pPr>
            <a:r>
              <a:rPr b="1" i="0" lang="en" sz="900" u="none" cap="none" strike="noStrike">
                <a:solidFill>
                  <a:srgbClr val="0D5C63"/>
                </a:solidFill>
                <a:latin typeface="Calibri"/>
                <a:ea typeface="Calibri"/>
                <a:cs typeface="Calibri"/>
                <a:sym typeface="Calibri"/>
              </a:rPr>
              <a:t>Much cheaper  </a:t>
            </a:r>
            <a:r>
              <a:rPr b="0" i="0" lang="en" sz="900" u="none" cap="none" strike="noStrike">
                <a:solidFill>
                  <a:srgbClr val="1A2B32"/>
                </a:solidFill>
                <a:latin typeface="Calibri"/>
                <a:ea typeface="Calibri"/>
                <a:cs typeface="Calibri"/>
                <a:sym typeface="Calibri"/>
              </a:rPr>
              <a:t>than a cross-encoder at scale</a:t>
            </a:r>
            <a:endParaRPr b="0" i="0" sz="900" u="none" cap="none" strike="noStrike">
              <a:solidFill>
                <a:schemeClr val="dk1"/>
              </a:solidFill>
              <a:latin typeface="Calibri"/>
              <a:ea typeface="Calibri"/>
              <a:cs typeface="Calibri"/>
              <a:sym typeface="Calibri"/>
            </a:endParaRPr>
          </a:p>
        </p:txBody>
      </p:sp>
      <p:sp>
        <p:nvSpPr>
          <p:cNvPr id="1939" name="Google Shape;1939;p56"/>
          <p:cNvSpPr/>
          <p:nvPr/>
        </p:nvSpPr>
        <p:spPr>
          <a:xfrm>
            <a:off x="5795010" y="3737610"/>
            <a:ext cx="219300" cy="219300"/>
          </a:xfrm>
          <a:prstGeom prst="ellipse">
            <a:avLst/>
          </a:prstGeom>
          <a:solidFill>
            <a:srgbClr val="E76F51"/>
          </a:solidFill>
          <a:ln>
            <a:noFill/>
          </a:ln>
          <a:effectLst>
            <a:outerShdw blurRad="85725" rotWithShape="0" algn="bl" dir="5400000" dist="28575">
              <a:srgbClr val="AEC1C4">
                <a:alpha val="5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0" name="Google Shape;1940;p56"/>
          <p:cNvSpPr/>
          <p:nvPr/>
        </p:nvSpPr>
        <p:spPr>
          <a:xfrm>
            <a:off x="5795010" y="3737610"/>
            <a:ext cx="219300" cy="21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Cambria"/>
              <a:buNone/>
            </a:pPr>
            <a:r>
              <a:rPr b="1" i="0" lang="en" sz="500" u="none" cap="none" strike="noStrike">
                <a:solidFill>
                  <a:srgbClr val="FFFFFF"/>
                </a:solidFill>
                <a:latin typeface="Cambria"/>
                <a:ea typeface="Cambria"/>
                <a:cs typeface="Cambria"/>
                <a:sym typeface="Cambria"/>
              </a:rPr>
              <a:t>!</a:t>
            </a:r>
            <a:endParaRPr b="0" i="0" sz="500" u="none" cap="none" strike="noStrike">
              <a:solidFill>
                <a:schemeClr val="dk1"/>
              </a:solidFill>
              <a:latin typeface="Calibri"/>
              <a:ea typeface="Calibri"/>
              <a:cs typeface="Calibri"/>
              <a:sym typeface="Calibri"/>
            </a:endParaRPr>
          </a:p>
        </p:txBody>
      </p:sp>
      <p:sp>
        <p:nvSpPr>
          <p:cNvPr id="1941" name="Google Shape;1941;p56"/>
          <p:cNvSpPr/>
          <p:nvPr/>
        </p:nvSpPr>
        <p:spPr>
          <a:xfrm>
            <a:off x="6103620" y="3703320"/>
            <a:ext cx="25377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76F51"/>
              </a:buClr>
              <a:buSzPts val="900"/>
              <a:buFont typeface="Calibri"/>
              <a:buNone/>
            </a:pPr>
            <a:r>
              <a:rPr b="1" i="0" lang="en" sz="900" u="none" cap="none" strike="noStrike">
                <a:solidFill>
                  <a:srgbClr val="E76F51"/>
                </a:solidFill>
                <a:latin typeface="Calibri"/>
                <a:ea typeface="Calibri"/>
                <a:cs typeface="Calibri"/>
                <a:sym typeface="Calibri"/>
              </a:rPr>
              <a:t>Costs storage  </a:t>
            </a:r>
            <a:r>
              <a:rPr b="0" i="0" lang="en" sz="900" u="none" cap="none" strike="noStrike">
                <a:solidFill>
                  <a:srgbClr val="1A2B32"/>
                </a:solidFill>
                <a:latin typeface="Calibri"/>
                <a:ea typeface="Calibri"/>
                <a:cs typeface="Calibri"/>
                <a:sym typeface="Calibri"/>
              </a:rPr>
              <a:t>many vectors per document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5" name="Shape 1945"/>
        <p:cNvGrpSpPr/>
        <p:nvPr/>
      </p:nvGrpSpPr>
      <p:grpSpPr>
        <a:xfrm>
          <a:off x="0" y="0"/>
          <a:ext cx="0" cy="0"/>
          <a:chOff x="0" y="0"/>
          <a:chExt cx="0" cy="0"/>
        </a:xfrm>
      </p:grpSpPr>
      <p:sp>
        <p:nvSpPr>
          <p:cNvPr id="1946" name="Google Shape;1946;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A legal-tech startup has: 20 million contracts, PDFs with tables, Latency budget: 500 ms, High accuracy requirements. Which architecture is most apt?</a:t>
            </a:r>
            <a:endParaRPr>
              <a:solidFill>
                <a:schemeClr val="dk1"/>
              </a:solidFill>
            </a:endParaRPr>
          </a:p>
          <a:p>
            <a:pPr indent="-342900" lvl="0" marL="457200" rtl="0" algn="l">
              <a:spcBef>
                <a:spcPts val="1200"/>
              </a:spcBef>
              <a:spcAft>
                <a:spcPts val="0"/>
              </a:spcAft>
              <a:buClr>
                <a:schemeClr val="dk1"/>
              </a:buClr>
              <a:buSzPts val="1800"/>
              <a:buAutoNum type="arabicPeriod"/>
            </a:pPr>
            <a:r>
              <a:rPr lang="en">
                <a:solidFill>
                  <a:schemeClr val="dk1"/>
                </a:solidFill>
              </a:rPr>
              <a:t>Whole-doc embeddings + exact search</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OCR -&gt; Chunking -&gt; Dense Retrieval -&gt; Cross-Encoder ReRanking</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BM25 Only</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Cross Encoder over entire Corpus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sp>
        <p:nvSpPr>
          <p:cNvPr id="1951" name="Google Shape;195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Quiz 4</a:t>
            </a:r>
            <a:endParaRPr b="1"/>
          </a:p>
        </p:txBody>
      </p:sp>
      <p:pic>
        <p:nvPicPr>
          <p:cNvPr id="1952" name="Google Shape;1952;p58" title="Screenshot 2026-10-23 at 3.08.15 PM.png"/>
          <p:cNvPicPr preferRelativeResize="0"/>
          <p:nvPr/>
        </p:nvPicPr>
        <p:blipFill rotWithShape="1">
          <a:blip r:embed="rId3">
            <a:alphaModFix/>
          </a:blip>
          <a:srcRect b="278" l="0" r="0" t="278"/>
          <a:stretch/>
        </p:blipFill>
        <p:spPr>
          <a:xfrm>
            <a:off x="2661513" y="1017725"/>
            <a:ext cx="3820976" cy="382097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6" name="Shape 1956"/>
        <p:cNvGrpSpPr/>
        <p:nvPr/>
      </p:nvGrpSpPr>
      <p:grpSpPr>
        <a:xfrm>
          <a:off x="0" y="0"/>
          <a:ext cx="0" cy="0"/>
          <a:chOff x="0" y="0"/>
          <a:chExt cx="0" cy="0"/>
        </a:xfrm>
      </p:grpSpPr>
      <p:sp>
        <p:nvSpPr>
          <p:cNvPr id="1957" name="Google Shape;1957;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A legal-tech startup has: 20 million contracts, PDFs with tables,Latency budget: 500 ms, High accuracy requirements. Which architecture is most apt?</a:t>
            </a:r>
            <a:endParaRPr>
              <a:solidFill>
                <a:schemeClr val="dk1"/>
              </a:solidFill>
            </a:endParaRPr>
          </a:p>
          <a:p>
            <a:pPr indent="-342900" lvl="0" marL="457200" rtl="0" algn="l">
              <a:spcBef>
                <a:spcPts val="1200"/>
              </a:spcBef>
              <a:spcAft>
                <a:spcPts val="0"/>
              </a:spcAft>
              <a:buClr>
                <a:schemeClr val="dk1"/>
              </a:buClr>
              <a:buSzPts val="1800"/>
              <a:buAutoNum type="arabicPeriod"/>
            </a:pPr>
            <a:r>
              <a:rPr lang="en">
                <a:solidFill>
                  <a:schemeClr val="dk1"/>
                </a:solidFill>
              </a:rPr>
              <a:t>Whole-doc embeddings + exact search</a:t>
            </a:r>
            <a:endParaRPr>
              <a:solidFill>
                <a:schemeClr val="dk1"/>
              </a:solidFill>
            </a:endParaRPr>
          </a:p>
          <a:p>
            <a:pPr indent="-342900" lvl="0" marL="457200" rtl="0" algn="l">
              <a:spcBef>
                <a:spcPts val="0"/>
              </a:spcBef>
              <a:spcAft>
                <a:spcPts val="0"/>
              </a:spcAft>
              <a:buClr>
                <a:schemeClr val="dk1"/>
              </a:buClr>
              <a:buSzPts val="1800"/>
              <a:buAutoNum type="arabicPeriod"/>
            </a:pPr>
            <a:r>
              <a:rPr b="1" lang="en">
                <a:solidFill>
                  <a:schemeClr val="dk1"/>
                </a:solidFill>
              </a:rPr>
              <a:t>OCR -&gt; Chunking -&gt; Dense Retrieval -&gt; Cross-Encoder ReRanking</a:t>
            </a:r>
            <a:endParaRPr b="1">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BM25 Only</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Cross Encoder over entire Corpus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sp>
        <p:nvSpPr>
          <p:cNvPr id="1962" name="Google Shape;1962;p60"/>
          <p:cNvSpPr txBox="1"/>
          <p:nvPr/>
        </p:nvSpPr>
        <p:spPr>
          <a:xfrm>
            <a:off x="311700" y="2150850"/>
            <a:ext cx="8520600" cy="841800"/>
          </a:xfrm>
          <a:prstGeom prst="rect">
            <a:avLst/>
          </a:prstGeom>
          <a:noFill/>
          <a:ln>
            <a:noFill/>
          </a:ln>
        </p:spPr>
        <p:txBody>
          <a:bodyPr anchorCtr="0" anchor="ctr" bIns="91425" lIns="91425" spcFirstLastPara="1" rIns="91425" wrap="square" tIns="91425">
            <a:normAutofit fontScale="47500"/>
          </a:bodyPr>
          <a:lstStyle/>
          <a:p>
            <a:pPr indent="0" lvl="0" marL="0" rtl="0" algn="ctr">
              <a:spcBef>
                <a:spcPts val="0"/>
              </a:spcBef>
              <a:spcAft>
                <a:spcPts val="0"/>
              </a:spcAft>
              <a:buNone/>
            </a:pPr>
            <a:r>
              <a:rPr b="1" lang="en" sz="3600">
                <a:solidFill>
                  <a:srgbClr val="000000"/>
                </a:solidFill>
              </a:rPr>
              <a:t>RAG in Production: </a:t>
            </a:r>
            <a:r>
              <a:rPr b="1" i="1" lang="en" sz="3600"/>
              <a:t>Practical Application of What we have learned till now </a:t>
            </a:r>
            <a:endParaRPr b="1" i="1" sz="3600"/>
          </a:p>
          <a:p>
            <a:pPr indent="0" lvl="0" marL="0" rtl="0" algn="ctr">
              <a:spcBef>
                <a:spcPts val="0"/>
              </a:spcBef>
              <a:spcAft>
                <a:spcPts val="0"/>
              </a:spcAft>
              <a:buNone/>
            </a:pPr>
            <a:r>
              <a:rPr b="1" i="1" lang="en" sz="3600"/>
              <a:t>- but with some extra things :)</a:t>
            </a:r>
            <a:endParaRPr b="1" i="1" sz="3600">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6" name="Shape 1966"/>
        <p:cNvGrpSpPr/>
        <p:nvPr/>
      </p:nvGrpSpPr>
      <p:grpSpPr>
        <a:xfrm>
          <a:off x="0" y="0"/>
          <a:ext cx="0" cy="0"/>
          <a:chOff x="0" y="0"/>
          <a:chExt cx="0" cy="0"/>
        </a:xfrm>
      </p:grpSpPr>
      <p:sp>
        <p:nvSpPr>
          <p:cNvPr id="1967" name="Google Shape;1967;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Production Rag Systems (What’s different?)</a:t>
            </a:r>
            <a:endParaRPr/>
          </a:p>
        </p:txBody>
      </p:sp>
      <p:pic>
        <p:nvPicPr>
          <p:cNvPr id="1968" name="Google Shape;1968;p61"/>
          <p:cNvPicPr preferRelativeResize="0"/>
          <p:nvPr/>
        </p:nvPicPr>
        <p:blipFill rotWithShape="1">
          <a:blip r:embed="rId4">
            <a:alphaModFix/>
          </a:blip>
          <a:srcRect b="0" l="0" r="0" t="13689"/>
          <a:stretch/>
        </p:blipFill>
        <p:spPr>
          <a:xfrm>
            <a:off x="381713" y="1078600"/>
            <a:ext cx="8380574" cy="396919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2" name="Shape 1972"/>
        <p:cNvGrpSpPr/>
        <p:nvPr/>
      </p:nvGrpSpPr>
      <p:grpSpPr>
        <a:xfrm>
          <a:off x="0" y="0"/>
          <a:ext cx="0" cy="0"/>
          <a:chOff x="0" y="0"/>
          <a:chExt cx="0" cy="0"/>
        </a:xfrm>
      </p:grpSpPr>
      <p:sp>
        <p:nvSpPr>
          <p:cNvPr id="1973" name="Google Shape;1973;p62"/>
          <p:cNvSpPr txBox="1"/>
          <p:nvPr>
            <p:ph type="title"/>
          </p:nvPr>
        </p:nvSpPr>
        <p:spPr>
          <a:xfrm>
            <a:off x="311700" y="127960"/>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Request Shaping</a:t>
            </a:r>
            <a:endParaRPr/>
          </a:p>
        </p:txBody>
      </p:sp>
      <p:sp>
        <p:nvSpPr>
          <p:cNvPr id="1974" name="Google Shape;1974;p62"/>
          <p:cNvSpPr txBox="1"/>
          <p:nvPr>
            <p:ph idx="1" type="body"/>
          </p:nvPr>
        </p:nvSpPr>
        <p:spPr>
          <a:xfrm>
            <a:off x="6038325" y="967625"/>
            <a:ext cx="3066300" cy="2648700"/>
          </a:xfrm>
          <a:prstGeom prst="rect">
            <a:avLst/>
          </a:prstGeom>
        </p:spPr>
        <p:txBody>
          <a:bodyPr anchorCtr="0" anchor="t" bIns="91425" lIns="91425" spcFirstLastPara="1" rIns="91425" wrap="square" tIns="91425">
            <a:normAutofit/>
          </a:bodyPr>
          <a:lstStyle/>
          <a:p>
            <a:pPr indent="-315278" lvl="0" marL="457200" rtl="0" algn="just">
              <a:lnSpc>
                <a:spcPct val="95000"/>
              </a:lnSpc>
              <a:spcBef>
                <a:spcPts val="0"/>
              </a:spcBef>
              <a:spcAft>
                <a:spcPts val="0"/>
              </a:spcAft>
              <a:buSzPts val="1365"/>
              <a:buChar char="●"/>
            </a:pPr>
            <a:r>
              <a:rPr lang="en" sz="1365">
                <a:solidFill>
                  <a:schemeClr val="dk1"/>
                </a:solidFill>
                <a:highlight>
                  <a:schemeClr val="accent6"/>
                </a:highlight>
              </a:rPr>
              <a:t>Motivation</a:t>
            </a:r>
            <a:r>
              <a:rPr lang="en" sz="1365"/>
              <a:t> : Requests made by users are not always precise and usable.</a:t>
            </a:r>
            <a:endParaRPr sz="1365"/>
          </a:p>
          <a:p>
            <a:pPr indent="-315278" lvl="0" marL="457200" rtl="0" algn="just">
              <a:lnSpc>
                <a:spcPct val="95000"/>
              </a:lnSpc>
              <a:spcBef>
                <a:spcPts val="1000"/>
              </a:spcBef>
              <a:spcAft>
                <a:spcPts val="0"/>
              </a:spcAft>
              <a:buSzPts val="1365"/>
              <a:buChar char="●"/>
            </a:pPr>
            <a:r>
              <a:rPr lang="en" sz="1365"/>
              <a:t>Example:</a:t>
            </a:r>
            <a:r>
              <a:rPr i="1" lang="en" sz="1365"/>
              <a:t> </a:t>
            </a:r>
            <a:r>
              <a:rPr i="1" lang="en" sz="1365" u="sng"/>
              <a:t>Teach me attention</a:t>
            </a:r>
            <a:r>
              <a:rPr lang="en" sz="1365"/>
              <a:t>. This prompt doesn’t specify what attention really means.</a:t>
            </a:r>
            <a:endParaRPr sz="1365"/>
          </a:p>
          <a:p>
            <a:pPr indent="-315278" lvl="0" marL="457200" rtl="0" algn="just">
              <a:lnSpc>
                <a:spcPct val="95000"/>
              </a:lnSpc>
              <a:spcBef>
                <a:spcPts val="1000"/>
              </a:spcBef>
              <a:spcAft>
                <a:spcPts val="1000"/>
              </a:spcAft>
              <a:buSzPts val="1365"/>
              <a:buChar char="●"/>
            </a:pPr>
            <a:r>
              <a:rPr b="1" lang="en" sz="1365"/>
              <a:t>Request shaping transforms a user query before retrieval to improve relevance, precision, and retrieval quality.</a:t>
            </a:r>
            <a:endParaRPr b="1" sz="1365"/>
          </a:p>
        </p:txBody>
      </p:sp>
      <p:pic>
        <p:nvPicPr>
          <p:cNvPr id="1975" name="Google Shape;1975;p62"/>
          <p:cNvPicPr preferRelativeResize="0"/>
          <p:nvPr/>
        </p:nvPicPr>
        <p:blipFill rotWithShape="1">
          <a:blip r:embed="rId4">
            <a:alphaModFix/>
          </a:blip>
          <a:srcRect b="5023" l="1072" r="4917" t="4307"/>
          <a:stretch/>
        </p:blipFill>
        <p:spPr>
          <a:xfrm>
            <a:off x="311700" y="885425"/>
            <a:ext cx="5844050" cy="375782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9" name="Shape 1979"/>
        <p:cNvGrpSpPr/>
        <p:nvPr/>
      </p:nvGrpSpPr>
      <p:grpSpPr>
        <a:xfrm>
          <a:off x="0" y="0"/>
          <a:ext cx="0" cy="0"/>
          <a:chOff x="0" y="0"/>
          <a:chExt cx="0" cy="0"/>
        </a:xfrm>
      </p:grpSpPr>
      <p:pic>
        <p:nvPicPr>
          <p:cNvPr id="1980" name="Google Shape;1980;p63"/>
          <p:cNvPicPr preferRelativeResize="0"/>
          <p:nvPr/>
        </p:nvPicPr>
        <p:blipFill rotWithShape="1">
          <a:blip r:embed="rId4">
            <a:alphaModFix/>
          </a:blip>
          <a:srcRect b="40084" l="1620" r="3115" t="0"/>
          <a:stretch/>
        </p:blipFill>
        <p:spPr>
          <a:xfrm>
            <a:off x="0" y="775225"/>
            <a:ext cx="9144000" cy="383451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4" name="Shape 1984"/>
        <p:cNvGrpSpPr/>
        <p:nvPr/>
      </p:nvGrpSpPr>
      <p:grpSpPr>
        <a:xfrm>
          <a:off x="0" y="0"/>
          <a:ext cx="0" cy="0"/>
          <a:chOff x="0" y="0"/>
          <a:chExt cx="0" cy="0"/>
        </a:xfrm>
      </p:grpSpPr>
      <p:pic>
        <p:nvPicPr>
          <p:cNvPr id="1985" name="Google Shape;1985;p64"/>
          <p:cNvPicPr preferRelativeResize="0"/>
          <p:nvPr/>
        </p:nvPicPr>
        <p:blipFill rotWithShape="1">
          <a:blip r:embed="rId4">
            <a:alphaModFix/>
          </a:blip>
          <a:srcRect b="0" l="60" r="70" t="0"/>
          <a:stretch/>
        </p:blipFill>
        <p:spPr>
          <a:xfrm>
            <a:off x="0" y="0"/>
            <a:ext cx="9144000" cy="5143500"/>
          </a:xfrm>
          <a:prstGeom prst="rect">
            <a:avLst/>
          </a:prstGeom>
          <a:noFill/>
          <a:ln>
            <a:noFill/>
          </a:ln>
        </p:spPr>
      </p:pic>
      <p:sp>
        <p:nvSpPr>
          <p:cNvPr id="1986" name="Google Shape;1986;p64"/>
          <p:cNvSpPr txBox="1"/>
          <p:nvPr>
            <p:ph type="title"/>
          </p:nvPr>
        </p:nvSpPr>
        <p:spPr>
          <a:xfrm>
            <a:off x="311700" y="190500"/>
            <a:ext cx="8520600" cy="707400"/>
          </a:xfrm>
          <a:prstGeom prst="rect">
            <a:avLst/>
          </a:prstGeom>
          <a:solidFill>
            <a:srgbClr val="000000">
              <a:alpha val="0"/>
            </a:srgbClr>
          </a:solidFill>
          <a:ln>
            <a:noFill/>
          </a:ln>
        </p:spPr>
        <p:txBody>
          <a:bodyPr anchorCtr="0" anchor="ctr" bIns="0" lIns="95250" spcFirstLastPara="1" rIns="0" wrap="square" tIns="0">
            <a:normAutofit fontScale="90000"/>
          </a:bodyPr>
          <a:lstStyle/>
          <a:p>
            <a:pPr indent="0" lvl="0" marL="0" rtl="0" algn="l">
              <a:spcBef>
                <a:spcPts val="0"/>
              </a:spcBef>
              <a:spcAft>
                <a:spcPts val="0"/>
              </a:spcAft>
              <a:buNone/>
            </a:pPr>
            <a:r>
              <a:rPr b="1" lang="en" sz="3200">
                <a:solidFill>
                  <a:srgbClr val="000000"/>
                </a:solidFill>
                <a:latin typeface="Arial"/>
                <a:ea typeface="Arial"/>
                <a:cs typeface="Arial"/>
                <a:sym typeface="Arial"/>
              </a:rPr>
              <a:t>Example of Request Shaping in Project Context</a:t>
            </a:r>
            <a:endParaRPr b="1" sz="3200">
              <a:solidFill>
                <a:srgbClr val="000000"/>
              </a:solidFill>
              <a:latin typeface="Arial"/>
              <a:ea typeface="Arial"/>
              <a:cs typeface="Arial"/>
              <a:sym typeface="Arial"/>
            </a:endParaRPr>
          </a:p>
        </p:txBody>
      </p:sp>
      <p:grpSp>
        <p:nvGrpSpPr>
          <p:cNvPr id="1987" name="Google Shape;1987;p64"/>
          <p:cNvGrpSpPr/>
          <p:nvPr/>
        </p:nvGrpSpPr>
        <p:grpSpPr>
          <a:xfrm>
            <a:off x="476250" y="1143000"/>
            <a:ext cx="8191500" cy="381000"/>
            <a:chOff x="476250" y="1143000"/>
            <a:chExt cx="8191500" cy="381000"/>
          </a:xfrm>
        </p:grpSpPr>
        <p:sp>
          <p:nvSpPr>
            <p:cNvPr id="1988" name="Google Shape;1988;p64"/>
            <p:cNvSpPr/>
            <p:nvPr/>
          </p:nvSpPr>
          <p:spPr>
            <a:xfrm>
              <a:off x="476250" y="1143000"/>
              <a:ext cx="3619500" cy="381000"/>
            </a:xfrm>
            <a:prstGeom prst="roundRect">
              <a:avLst>
                <a:gd fmla="val 1250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9" name="Google Shape;1989;p64"/>
            <p:cNvSpPr txBox="1"/>
            <p:nvPr/>
          </p:nvSpPr>
          <p:spPr>
            <a:xfrm>
              <a:off x="476250" y="1143000"/>
              <a:ext cx="3619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374151"/>
                  </a:solidFill>
                  <a:latin typeface="Arial"/>
                  <a:ea typeface="Arial"/>
                  <a:cs typeface="Arial"/>
                  <a:sym typeface="Arial"/>
                </a:rPr>
                <a:t>Original User Query</a:t>
              </a:r>
              <a:endParaRPr b="1" sz="1400">
                <a:solidFill>
                  <a:srgbClr val="374151"/>
                </a:solidFill>
                <a:latin typeface="Arial"/>
                <a:ea typeface="Arial"/>
                <a:cs typeface="Arial"/>
                <a:sym typeface="Arial"/>
              </a:endParaRPr>
            </a:p>
          </p:txBody>
        </p:sp>
        <p:sp>
          <p:nvSpPr>
            <p:cNvPr id="1990" name="Google Shape;1990;p64"/>
            <p:cNvSpPr/>
            <p:nvPr/>
          </p:nvSpPr>
          <p:spPr>
            <a:xfrm>
              <a:off x="5048250" y="1143000"/>
              <a:ext cx="3619500" cy="381000"/>
            </a:xfrm>
            <a:prstGeom prst="roundRect">
              <a:avLst>
                <a:gd fmla="val 12500" name="adj"/>
              </a:avLst>
            </a:prstGeom>
            <a:solidFill>
              <a:srgbClr val="E8F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1" name="Google Shape;1991;p64"/>
            <p:cNvSpPr txBox="1"/>
            <p:nvPr/>
          </p:nvSpPr>
          <p:spPr>
            <a:xfrm>
              <a:off x="5048250" y="1143000"/>
              <a:ext cx="3619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2E7D32"/>
                  </a:solidFill>
                  <a:latin typeface="Arial"/>
                  <a:ea typeface="Arial"/>
                  <a:cs typeface="Arial"/>
                  <a:sym typeface="Arial"/>
                </a:rPr>
                <a:t>Transformed / Shaped Request</a:t>
              </a:r>
              <a:endParaRPr b="1" sz="1400">
                <a:solidFill>
                  <a:srgbClr val="2E7D32"/>
                </a:solidFill>
                <a:latin typeface="Arial"/>
                <a:ea typeface="Arial"/>
                <a:cs typeface="Arial"/>
                <a:sym typeface="Arial"/>
              </a:endParaRPr>
            </a:p>
          </p:txBody>
        </p:sp>
      </p:grpSp>
      <p:grpSp>
        <p:nvGrpSpPr>
          <p:cNvPr id="1992" name="Google Shape;1992;p64"/>
          <p:cNvGrpSpPr/>
          <p:nvPr/>
        </p:nvGrpSpPr>
        <p:grpSpPr>
          <a:xfrm>
            <a:off x="476250" y="1666875"/>
            <a:ext cx="8191500" cy="857400"/>
            <a:chOff x="476250" y="1666875"/>
            <a:chExt cx="8191500" cy="857400"/>
          </a:xfrm>
        </p:grpSpPr>
        <p:sp>
          <p:nvSpPr>
            <p:cNvPr id="1993" name="Google Shape;1993;p64"/>
            <p:cNvSpPr/>
            <p:nvPr/>
          </p:nvSpPr>
          <p:spPr>
            <a:xfrm>
              <a:off x="476250" y="1666875"/>
              <a:ext cx="3619500" cy="857400"/>
            </a:xfrm>
            <a:prstGeom prst="roundRect">
              <a:avLst>
                <a:gd fmla="val 11111" name="adj"/>
              </a:avLst>
            </a:prstGeom>
            <a:solidFill>
              <a:srgbClr val="FFFFFF"/>
            </a:solidFill>
            <a:ln cap="flat" cmpd="sng" w="9525">
              <a:solidFill>
                <a:srgbClr val="D1D5D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4" name="Google Shape;1994;p64"/>
            <p:cNvSpPr txBox="1"/>
            <p:nvPr/>
          </p:nvSpPr>
          <p:spPr>
            <a:xfrm>
              <a:off x="619125" y="1666875"/>
              <a:ext cx="33339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300">
                  <a:solidFill>
                    <a:srgbClr val="4B5563"/>
                  </a:solidFill>
                  <a:latin typeface="Arial"/>
                  <a:ea typeface="Arial"/>
                  <a:cs typeface="Arial"/>
                  <a:sym typeface="Arial"/>
                </a:rPr>
                <a:t>“</a:t>
              </a:r>
              <a:r>
                <a:rPr i="1" lang="en" sz="1300">
                  <a:solidFill>
                    <a:srgbClr val="4B5563"/>
                  </a:solidFill>
                </a:rPr>
                <a:t>Server down.</a:t>
              </a:r>
              <a:r>
                <a:rPr i="1" lang="en" sz="1300">
                  <a:solidFill>
                    <a:srgbClr val="4B5563"/>
                  </a:solidFill>
                  <a:latin typeface="Arial"/>
                  <a:ea typeface="Arial"/>
                  <a:cs typeface="Arial"/>
                  <a:sym typeface="Arial"/>
                </a:rPr>
                <a:t>”</a:t>
              </a:r>
              <a:endParaRPr i="1" sz="1300">
                <a:solidFill>
                  <a:srgbClr val="4B5563"/>
                </a:solidFill>
                <a:latin typeface="Arial"/>
                <a:ea typeface="Arial"/>
                <a:cs typeface="Arial"/>
                <a:sym typeface="Arial"/>
              </a:endParaRPr>
            </a:p>
          </p:txBody>
        </p:sp>
        <p:pic>
          <p:nvPicPr>
            <p:cNvPr id="1995" name="Google Shape;1995;p64"/>
            <p:cNvPicPr preferRelativeResize="0"/>
            <p:nvPr/>
          </p:nvPicPr>
          <p:blipFill rotWithShape="1">
            <a:blip r:embed="rId5">
              <a:alphaModFix/>
            </a:blip>
            <a:srcRect b="0" l="0" r="0" t="0"/>
            <a:stretch/>
          </p:blipFill>
          <p:spPr>
            <a:xfrm>
              <a:off x="4286250" y="2085975"/>
              <a:ext cx="571500" cy="19200"/>
            </a:xfrm>
            <a:prstGeom prst="rect">
              <a:avLst/>
            </a:prstGeom>
            <a:noFill/>
            <a:ln>
              <a:noFill/>
            </a:ln>
          </p:spPr>
        </p:pic>
        <p:sp>
          <p:nvSpPr>
            <p:cNvPr id="1996" name="Google Shape;1996;p64"/>
            <p:cNvSpPr/>
            <p:nvPr/>
          </p:nvSpPr>
          <p:spPr>
            <a:xfrm>
              <a:off x="5048250" y="1666875"/>
              <a:ext cx="3619500" cy="857400"/>
            </a:xfrm>
            <a:prstGeom prst="roundRect">
              <a:avLst>
                <a:gd fmla="val 11111" name="adj"/>
              </a:avLst>
            </a:prstGeom>
            <a:solidFill>
              <a:srgbClr val="FFFFFF"/>
            </a:solidFill>
            <a:ln cap="flat" cmpd="sng" w="19050">
              <a:solidFill>
                <a:srgbClr val="81C78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7" name="Google Shape;1997;p64"/>
            <p:cNvSpPr txBox="1"/>
            <p:nvPr/>
          </p:nvSpPr>
          <p:spPr>
            <a:xfrm>
              <a:off x="5191125" y="1666875"/>
              <a:ext cx="33339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1B5E20"/>
                  </a:solidFill>
                  <a:latin typeface="Arial"/>
                  <a:ea typeface="Arial"/>
                  <a:cs typeface="Arial"/>
                  <a:sym typeface="Arial"/>
                </a:rPr>
                <a:t>“Find active incident reports and server logs for the past 60 minutes.”</a:t>
              </a:r>
              <a:endParaRPr b="1" sz="1300">
                <a:solidFill>
                  <a:srgbClr val="1B5E20"/>
                </a:solidFill>
                <a:latin typeface="Arial"/>
                <a:ea typeface="Arial"/>
                <a:cs typeface="Arial"/>
                <a:sym typeface="Arial"/>
              </a:endParaRPr>
            </a:p>
          </p:txBody>
        </p:sp>
      </p:grpSp>
      <p:grpSp>
        <p:nvGrpSpPr>
          <p:cNvPr id="1998" name="Google Shape;1998;p64"/>
          <p:cNvGrpSpPr/>
          <p:nvPr/>
        </p:nvGrpSpPr>
        <p:grpSpPr>
          <a:xfrm>
            <a:off x="476250" y="2714625"/>
            <a:ext cx="8191500" cy="857400"/>
            <a:chOff x="476250" y="2714625"/>
            <a:chExt cx="8191500" cy="857400"/>
          </a:xfrm>
        </p:grpSpPr>
        <p:sp>
          <p:nvSpPr>
            <p:cNvPr id="1999" name="Google Shape;1999;p64"/>
            <p:cNvSpPr/>
            <p:nvPr/>
          </p:nvSpPr>
          <p:spPr>
            <a:xfrm>
              <a:off x="476250" y="2714625"/>
              <a:ext cx="3619500" cy="857400"/>
            </a:xfrm>
            <a:prstGeom prst="roundRect">
              <a:avLst>
                <a:gd fmla="val 11111" name="adj"/>
              </a:avLst>
            </a:prstGeom>
            <a:solidFill>
              <a:srgbClr val="FFFFFF"/>
            </a:solidFill>
            <a:ln cap="flat" cmpd="sng" w="9525">
              <a:solidFill>
                <a:srgbClr val="D1D5D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0" name="Google Shape;2000;p64"/>
            <p:cNvSpPr txBox="1"/>
            <p:nvPr/>
          </p:nvSpPr>
          <p:spPr>
            <a:xfrm>
              <a:off x="619125" y="2714625"/>
              <a:ext cx="33339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300">
                  <a:solidFill>
                    <a:srgbClr val="4B5563"/>
                  </a:solidFill>
                  <a:latin typeface="Arial"/>
                  <a:ea typeface="Arial"/>
                  <a:cs typeface="Arial"/>
                  <a:sym typeface="Arial"/>
                </a:rPr>
                <a:t>“Car leasing policy”</a:t>
              </a:r>
              <a:endParaRPr i="1" sz="1300">
                <a:solidFill>
                  <a:srgbClr val="4B5563"/>
                </a:solidFill>
                <a:latin typeface="Arial"/>
                <a:ea typeface="Arial"/>
                <a:cs typeface="Arial"/>
                <a:sym typeface="Arial"/>
              </a:endParaRPr>
            </a:p>
          </p:txBody>
        </p:sp>
        <p:pic>
          <p:nvPicPr>
            <p:cNvPr id="2001" name="Google Shape;2001;p64"/>
            <p:cNvPicPr preferRelativeResize="0"/>
            <p:nvPr/>
          </p:nvPicPr>
          <p:blipFill rotWithShape="1">
            <a:blip r:embed="rId5">
              <a:alphaModFix/>
            </a:blip>
            <a:srcRect b="0" l="0" r="0" t="0"/>
            <a:stretch/>
          </p:blipFill>
          <p:spPr>
            <a:xfrm>
              <a:off x="4286250" y="3133725"/>
              <a:ext cx="571500" cy="19200"/>
            </a:xfrm>
            <a:prstGeom prst="rect">
              <a:avLst/>
            </a:prstGeom>
            <a:noFill/>
            <a:ln>
              <a:noFill/>
            </a:ln>
          </p:spPr>
        </p:pic>
        <p:sp>
          <p:nvSpPr>
            <p:cNvPr id="2002" name="Google Shape;2002;p64"/>
            <p:cNvSpPr/>
            <p:nvPr/>
          </p:nvSpPr>
          <p:spPr>
            <a:xfrm>
              <a:off x="5048250" y="2714625"/>
              <a:ext cx="3619500" cy="857400"/>
            </a:xfrm>
            <a:prstGeom prst="roundRect">
              <a:avLst>
                <a:gd fmla="val 11111" name="adj"/>
              </a:avLst>
            </a:prstGeom>
            <a:solidFill>
              <a:srgbClr val="FFFFFF"/>
            </a:solidFill>
            <a:ln cap="flat" cmpd="sng" w="19050">
              <a:solidFill>
                <a:srgbClr val="81C78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3" name="Google Shape;2003;p64"/>
            <p:cNvSpPr txBox="1"/>
            <p:nvPr/>
          </p:nvSpPr>
          <p:spPr>
            <a:xfrm>
              <a:off x="5191125" y="2714625"/>
              <a:ext cx="33339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1B5E20"/>
                  </a:solidFill>
                  <a:latin typeface="Arial"/>
                  <a:ea typeface="Arial"/>
                  <a:cs typeface="Arial"/>
                  <a:sym typeface="Arial"/>
                </a:rPr>
                <a:t>“Information about Employee benefit: Car-Leasing policy”</a:t>
              </a:r>
              <a:endParaRPr b="1" sz="1300">
                <a:solidFill>
                  <a:srgbClr val="1B5E20"/>
                </a:solidFill>
                <a:latin typeface="Arial"/>
                <a:ea typeface="Arial"/>
                <a:cs typeface="Arial"/>
                <a:sym typeface="Arial"/>
              </a:endParaRPr>
            </a:p>
          </p:txBody>
        </p:sp>
      </p:grpSp>
      <p:grpSp>
        <p:nvGrpSpPr>
          <p:cNvPr id="2004" name="Google Shape;2004;p64"/>
          <p:cNvGrpSpPr/>
          <p:nvPr/>
        </p:nvGrpSpPr>
        <p:grpSpPr>
          <a:xfrm>
            <a:off x="476250" y="3762375"/>
            <a:ext cx="8191500" cy="857400"/>
            <a:chOff x="476250" y="3762375"/>
            <a:chExt cx="8191500" cy="857400"/>
          </a:xfrm>
        </p:grpSpPr>
        <p:sp>
          <p:nvSpPr>
            <p:cNvPr id="2005" name="Google Shape;2005;p64"/>
            <p:cNvSpPr/>
            <p:nvPr/>
          </p:nvSpPr>
          <p:spPr>
            <a:xfrm>
              <a:off x="476250" y="3762375"/>
              <a:ext cx="3619500" cy="857400"/>
            </a:xfrm>
            <a:prstGeom prst="roundRect">
              <a:avLst>
                <a:gd fmla="val 11111" name="adj"/>
              </a:avLst>
            </a:prstGeom>
            <a:solidFill>
              <a:srgbClr val="FFFFFF"/>
            </a:solidFill>
            <a:ln cap="flat" cmpd="sng" w="9525">
              <a:solidFill>
                <a:srgbClr val="D1D5D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6" name="Google Shape;2006;p64"/>
            <p:cNvSpPr txBox="1"/>
            <p:nvPr/>
          </p:nvSpPr>
          <p:spPr>
            <a:xfrm>
              <a:off x="619125" y="3762375"/>
              <a:ext cx="33339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sz="1300">
                  <a:solidFill>
                    <a:srgbClr val="4B5563"/>
                  </a:solidFill>
                  <a:latin typeface="Arial"/>
                  <a:ea typeface="Arial"/>
                  <a:cs typeface="Arial"/>
                  <a:sym typeface="Arial"/>
                </a:rPr>
                <a:t>“Latest bugs assigned”</a:t>
              </a:r>
              <a:endParaRPr i="1" sz="1300">
                <a:solidFill>
                  <a:srgbClr val="4B5563"/>
                </a:solidFill>
                <a:latin typeface="Arial"/>
                <a:ea typeface="Arial"/>
                <a:cs typeface="Arial"/>
                <a:sym typeface="Arial"/>
              </a:endParaRPr>
            </a:p>
          </p:txBody>
        </p:sp>
        <p:pic>
          <p:nvPicPr>
            <p:cNvPr id="2007" name="Google Shape;2007;p64"/>
            <p:cNvPicPr preferRelativeResize="0"/>
            <p:nvPr/>
          </p:nvPicPr>
          <p:blipFill rotWithShape="1">
            <a:blip r:embed="rId5">
              <a:alphaModFix/>
            </a:blip>
            <a:srcRect b="0" l="0" r="0" t="0"/>
            <a:stretch/>
          </p:blipFill>
          <p:spPr>
            <a:xfrm>
              <a:off x="4286250" y="4181475"/>
              <a:ext cx="571500" cy="19200"/>
            </a:xfrm>
            <a:prstGeom prst="rect">
              <a:avLst/>
            </a:prstGeom>
            <a:noFill/>
            <a:ln>
              <a:noFill/>
            </a:ln>
          </p:spPr>
        </p:pic>
        <p:sp>
          <p:nvSpPr>
            <p:cNvPr id="2008" name="Google Shape;2008;p64"/>
            <p:cNvSpPr/>
            <p:nvPr/>
          </p:nvSpPr>
          <p:spPr>
            <a:xfrm>
              <a:off x="5048250" y="3762375"/>
              <a:ext cx="3619500" cy="857400"/>
            </a:xfrm>
            <a:prstGeom prst="roundRect">
              <a:avLst>
                <a:gd fmla="val 11111" name="adj"/>
              </a:avLst>
            </a:prstGeom>
            <a:solidFill>
              <a:srgbClr val="FFFFFF"/>
            </a:solidFill>
            <a:ln cap="flat" cmpd="sng" w="19050">
              <a:solidFill>
                <a:srgbClr val="81C78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9" name="Google Shape;2009;p64"/>
            <p:cNvSpPr txBox="1"/>
            <p:nvPr/>
          </p:nvSpPr>
          <p:spPr>
            <a:xfrm>
              <a:off x="5191125" y="3762375"/>
              <a:ext cx="33339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1B5E20"/>
                  </a:solidFill>
                  <a:latin typeface="Arial"/>
                  <a:ea typeface="Arial"/>
                  <a:cs typeface="Arial"/>
                  <a:sym typeface="Arial"/>
                </a:rPr>
                <a:t>“Fetch top-10 bugs assigned to the user”</a:t>
              </a:r>
              <a:endParaRPr b="1" sz="1300">
                <a:solidFill>
                  <a:srgbClr val="1B5E20"/>
                </a:solidFill>
                <a:latin typeface="Arial"/>
                <a:ea typeface="Arial"/>
                <a:cs typeface="Arial"/>
                <a:sym typeface="Arial"/>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13" name="Shape 2013"/>
        <p:cNvGrpSpPr/>
        <p:nvPr/>
      </p:nvGrpSpPr>
      <p:grpSpPr>
        <a:xfrm>
          <a:off x="0" y="0"/>
          <a:ext cx="0" cy="0"/>
          <a:chOff x="0" y="0"/>
          <a:chExt cx="0" cy="0"/>
        </a:xfrm>
      </p:grpSpPr>
      <p:sp>
        <p:nvSpPr>
          <p:cNvPr id="2014" name="Google Shape;2014;p65"/>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Transformations: Rewriting</a:t>
            </a:r>
            <a:endParaRPr/>
          </a:p>
        </p:txBody>
      </p:sp>
      <p:grpSp>
        <p:nvGrpSpPr>
          <p:cNvPr id="2015" name="Google Shape;2015;p65"/>
          <p:cNvGrpSpPr/>
          <p:nvPr/>
        </p:nvGrpSpPr>
        <p:grpSpPr>
          <a:xfrm>
            <a:off x="406718" y="952500"/>
            <a:ext cx="8330700" cy="1143000"/>
            <a:chOff x="406718" y="952500"/>
            <a:chExt cx="8330700" cy="1143000"/>
          </a:xfrm>
        </p:grpSpPr>
        <p:sp>
          <p:nvSpPr>
            <p:cNvPr id="2016" name="Google Shape;2016;p65"/>
            <p:cNvSpPr/>
            <p:nvPr/>
          </p:nvSpPr>
          <p:spPr>
            <a:xfrm>
              <a:off x="406718" y="952500"/>
              <a:ext cx="8330700" cy="1143000"/>
            </a:xfrm>
            <a:prstGeom prst="roundRect">
              <a:avLst>
                <a:gd fmla="val 1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7" name="Google Shape;2017;p65"/>
            <p:cNvSpPr txBox="1"/>
            <p:nvPr/>
          </p:nvSpPr>
          <p:spPr>
            <a:xfrm>
              <a:off x="597218" y="1047750"/>
              <a:ext cx="79497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2563EB"/>
                  </a:solidFill>
                  <a:latin typeface="Arial"/>
                  <a:ea typeface="Arial"/>
                  <a:cs typeface="Arial"/>
                  <a:sym typeface="Arial"/>
                </a:rPr>
                <a:t>What it is:</a:t>
              </a:r>
              <a:r>
                <a:rPr lang="en">
                  <a:solidFill>
                    <a:srgbClr val="1E293B"/>
                  </a:solidFill>
                  <a:latin typeface="Arial"/>
                  <a:ea typeface="Arial"/>
                  <a:cs typeface="Arial"/>
                  <a:sym typeface="Arial"/>
                </a:rPr>
                <a:t> The process of using an LLM to rewrite ambiguous, vague, or shorthand queries into clearer, highly specific search statements.</a:t>
              </a:r>
              <a:endParaRPr>
                <a:solidFill>
                  <a:srgbClr val="1E293B"/>
                </a:solidFill>
                <a:latin typeface="Arial"/>
                <a:ea typeface="Arial"/>
                <a:cs typeface="Arial"/>
                <a:sym typeface="Arial"/>
              </a:endParaRPr>
            </a:p>
            <a:p>
              <a:pPr indent="0" lvl="0" marL="0" rtl="0" algn="l">
                <a:spcBef>
                  <a:spcPts val="900"/>
                </a:spcBef>
                <a:spcAft>
                  <a:spcPts val="0"/>
                </a:spcAft>
                <a:buNone/>
              </a:pPr>
              <a:r>
                <a:rPr b="1" lang="en">
                  <a:solidFill>
                    <a:srgbClr val="2563EB"/>
                  </a:solidFill>
                  <a:latin typeface="Arial"/>
                  <a:ea typeface="Arial"/>
                  <a:cs typeface="Arial"/>
                  <a:sym typeface="Arial"/>
                </a:rPr>
                <a:t>When to use it:</a:t>
              </a:r>
              <a:r>
                <a:rPr lang="en">
                  <a:solidFill>
                    <a:srgbClr val="1E293B"/>
                  </a:solidFill>
                  <a:latin typeface="Arial"/>
                  <a:ea typeface="Arial"/>
                  <a:cs typeface="Arial"/>
                  <a:sym typeface="Arial"/>
                </a:rPr>
                <a:t> Essential for support channels (Slack, Teams) where fragmented sentences, error codes, or jargon hinder vector database matching.</a:t>
              </a:r>
              <a:endParaRPr>
                <a:solidFill>
                  <a:srgbClr val="1E293B"/>
                </a:solidFill>
                <a:latin typeface="Arial"/>
                <a:ea typeface="Arial"/>
                <a:cs typeface="Arial"/>
                <a:sym typeface="Arial"/>
              </a:endParaRPr>
            </a:p>
          </p:txBody>
        </p:sp>
      </p:grpSp>
      <p:grpSp>
        <p:nvGrpSpPr>
          <p:cNvPr id="2018" name="Google Shape;2018;p65"/>
          <p:cNvGrpSpPr/>
          <p:nvPr/>
        </p:nvGrpSpPr>
        <p:grpSpPr>
          <a:xfrm>
            <a:off x="406718" y="2286000"/>
            <a:ext cx="8330700" cy="2381400"/>
            <a:chOff x="406718" y="2286000"/>
            <a:chExt cx="8330700" cy="2381400"/>
          </a:xfrm>
        </p:grpSpPr>
        <p:sp>
          <p:nvSpPr>
            <p:cNvPr id="2019" name="Google Shape;2019;p65"/>
            <p:cNvSpPr/>
            <p:nvPr/>
          </p:nvSpPr>
          <p:spPr>
            <a:xfrm>
              <a:off x="406718" y="2286000"/>
              <a:ext cx="8330700" cy="2381400"/>
            </a:xfrm>
            <a:prstGeom prst="roundRect">
              <a:avLst>
                <a:gd fmla="val 48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0" name="Google Shape;2020;p65"/>
            <p:cNvSpPr txBox="1"/>
            <p:nvPr/>
          </p:nvSpPr>
          <p:spPr>
            <a:xfrm>
              <a:off x="597218" y="2381250"/>
              <a:ext cx="79497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475569"/>
                  </a:solidFill>
                  <a:latin typeface="Arial"/>
                  <a:ea typeface="Arial"/>
                  <a:cs typeface="Arial"/>
                  <a:sym typeface="Arial"/>
                </a:rPr>
                <a:t>Project Example: </a:t>
              </a:r>
              <a:endParaRPr b="1" sz="1600">
                <a:solidFill>
                  <a:srgbClr val="475569"/>
                </a:solidFill>
                <a:latin typeface="Arial"/>
                <a:ea typeface="Arial"/>
                <a:cs typeface="Arial"/>
                <a:sym typeface="Arial"/>
              </a:endParaRPr>
            </a:p>
          </p:txBody>
        </p:sp>
        <p:sp>
          <p:nvSpPr>
            <p:cNvPr id="2021" name="Google Shape;2021;p65"/>
            <p:cNvSpPr/>
            <p:nvPr/>
          </p:nvSpPr>
          <p:spPr>
            <a:xfrm>
              <a:off x="692467" y="2809875"/>
              <a:ext cx="3524400" cy="762000"/>
            </a:xfrm>
            <a:prstGeom prst="roundRect">
              <a:avLst>
                <a:gd fmla="val 10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2" name="Google Shape;2022;p65"/>
            <p:cNvSpPr txBox="1"/>
            <p:nvPr/>
          </p:nvSpPr>
          <p:spPr>
            <a:xfrm>
              <a:off x="787717" y="2905125"/>
              <a:ext cx="3333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64748B"/>
                  </a:solidFill>
                  <a:latin typeface="Arial"/>
                  <a:ea typeface="Arial"/>
                  <a:cs typeface="Arial"/>
                  <a:sym typeface="Arial"/>
                </a:rPr>
                <a:t>USER QUERY (ORIGINAL)</a:t>
              </a:r>
              <a:endParaRPr b="1">
                <a:solidFill>
                  <a:srgbClr val="64748B"/>
                </a:solidFill>
                <a:latin typeface="Arial"/>
                <a:ea typeface="Arial"/>
                <a:cs typeface="Arial"/>
                <a:sym typeface="Arial"/>
              </a:endParaRPr>
            </a:p>
            <a:p>
              <a:pPr indent="0" lvl="0" marL="0" rtl="0" algn="l">
                <a:spcBef>
                  <a:spcPts val="300"/>
                </a:spcBef>
                <a:spcAft>
                  <a:spcPts val="0"/>
                </a:spcAft>
                <a:buNone/>
              </a:pPr>
              <a:r>
                <a:rPr b="0" i="1" lang="en">
                  <a:solidFill>
                    <a:srgbClr val="334155"/>
                  </a:solidFill>
                  <a:latin typeface="Arial"/>
                  <a:ea typeface="Arial"/>
                  <a:cs typeface="Arial"/>
                  <a:sym typeface="Arial"/>
                </a:rPr>
                <a:t>"OOMKilled"</a:t>
              </a:r>
              <a:endParaRPr b="0" i="1">
                <a:solidFill>
                  <a:srgbClr val="334155"/>
                </a:solidFill>
                <a:latin typeface="Arial"/>
                <a:ea typeface="Arial"/>
                <a:cs typeface="Arial"/>
                <a:sym typeface="Arial"/>
              </a:endParaRPr>
            </a:p>
          </p:txBody>
        </p:sp>
        <p:pic>
          <p:nvPicPr>
            <p:cNvPr id="2023" name="Google Shape;2023;p65"/>
            <p:cNvPicPr preferRelativeResize="0"/>
            <p:nvPr/>
          </p:nvPicPr>
          <p:blipFill rotWithShape="1">
            <a:blip r:embed="rId4">
              <a:alphaModFix/>
            </a:blip>
            <a:srcRect b="0" l="0" r="0" t="0"/>
            <a:stretch/>
          </p:blipFill>
          <p:spPr>
            <a:xfrm>
              <a:off x="4405313" y="3181350"/>
              <a:ext cx="385800" cy="19200"/>
            </a:xfrm>
            <a:prstGeom prst="rect">
              <a:avLst/>
            </a:prstGeom>
            <a:noFill/>
            <a:ln>
              <a:noFill/>
            </a:ln>
          </p:spPr>
        </p:pic>
        <p:sp>
          <p:nvSpPr>
            <p:cNvPr id="2024" name="Google Shape;2024;p65"/>
            <p:cNvSpPr/>
            <p:nvPr/>
          </p:nvSpPr>
          <p:spPr>
            <a:xfrm>
              <a:off x="4978718" y="2809875"/>
              <a:ext cx="3568200" cy="762000"/>
            </a:xfrm>
            <a:prstGeom prst="roundRect">
              <a:avLst>
                <a:gd fmla="val 10000"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5" name="Google Shape;2025;p65"/>
            <p:cNvSpPr txBox="1"/>
            <p:nvPr/>
          </p:nvSpPr>
          <p:spPr>
            <a:xfrm>
              <a:off x="5073968" y="2905125"/>
              <a:ext cx="33777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369A1"/>
                  </a:solidFill>
                  <a:latin typeface="Arial"/>
                  <a:ea typeface="Arial"/>
                  <a:cs typeface="Arial"/>
                  <a:sym typeface="Arial"/>
                </a:rPr>
                <a:t>TRANSFORMED QUERY (REWRITTEN)</a:t>
              </a:r>
              <a:endParaRPr b="1" sz="1200">
                <a:solidFill>
                  <a:srgbClr val="0369A1"/>
                </a:solidFill>
                <a:latin typeface="Arial"/>
                <a:ea typeface="Arial"/>
                <a:cs typeface="Arial"/>
                <a:sym typeface="Arial"/>
              </a:endParaRPr>
            </a:p>
            <a:p>
              <a:pPr indent="0" lvl="0" marL="0" rtl="0" algn="l">
                <a:spcBef>
                  <a:spcPts val="300"/>
                </a:spcBef>
                <a:spcAft>
                  <a:spcPts val="0"/>
                </a:spcAft>
                <a:buNone/>
              </a:pPr>
              <a:r>
                <a:rPr b="0" lang="en" sz="1200">
                  <a:solidFill>
                    <a:srgbClr val="0C4A6E"/>
                  </a:solidFill>
                  <a:latin typeface="Arial"/>
                  <a:ea typeface="Arial"/>
                  <a:cs typeface="Arial"/>
                  <a:sym typeface="Arial"/>
                </a:rPr>
                <a:t>What causes the OOMKilled container exit code in Kubernetes, and what are the remediation steps?</a:t>
              </a:r>
              <a:endParaRPr b="0" sz="1200">
                <a:solidFill>
                  <a:srgbClr val="0C4A6E"/>
                </a:solidFill>
                <a:latin typeface="Arial"/>
                <a:ea typeface="Arial"/>
                <a:cs typeface="Arial"/>
                <a:sym typeface="Arial"/>
              </a:endParaRPr>
            </a:p>
          </p:txBody>
        </p:sp>
        <p:sp>
          <p:nvSpPr>
            <p:cNvPr id="2026" name="Google Shape;2026;p65"/>
            <p:cNvSpPr/>
            <p:nvPr/>
          </p:nvSpPr>
          <p:spPr>
            <a:xfrm>
              <a:off x="692468" y="3762375"/>
              <a:ext cx="7854300" cy="714300"/>
            </a:xfrm>
            <a:prstGeom prst="roundRect">
              <a:avLst>
                <a:gd fmla="val 10666"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7" name="Google Shape;2027;p65"/>
            <p:cNvSpPr txBox="1"/>
            <p:nvPr/>
          </p:nvSpPr>
          <p:spPr>
            <a:xfrm>
              <a:off x="882968" y="3857625"/>
              <a:ext cx="74733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66534"/>
                  </a:solidFill>
                  <a:latin typeface="Arial"/>
                  <a:ea typeface="Arial"/>
                  <a:cs typeface="Arial"/>
                  <a:sym typeface="Arial"/>
                </a:rPr>
                <a:t>The Impact:</a:t>
              </a:r>
              <a:r>
                <a:rPr lang="en" sz="1200">
                  <a:solidFill>
                    <a:srgbClr val="166534"/>
                  </a:solidFill>
                  <a:latin typeface="Arial"/>
                  <a:ea typeface="Arial"/>
                  <a:cs typeface="Arial"/>
                  <a:sym typeface="Arial"/>
                </a:rPr>
                <a:t> Instead of returning random documents containing "OOM", the agent retrieves specific internal runbooks for memory allocation and container scaling.</a:t>
              </a:r>
              <a:endParaRPr sz="1200">
                <a:solidFill>
                  <a:srgbClr val="166534"/>
                </a:solidFill>
                <a:latin typeface="Arial"/>
                <a:ea typeface="Arial"/>
                <a:cs typeface="Arial"/>
                <a:sym typeface="Arial"/>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1" name="Shape 2031"/>
        <p:cNvGrpSpPr/>
        <p:nvPr/>
      </p:nvGrpSpPr>
      <p:grpSpPr>
        <a:xfrm>
          <a:off x="0" y="0"/>
          <a:ext cx="0" cy="0"/>
          <a:chOff x="0" y="0"/>
          <a:chExt cx="0" cy="0"/>
        </a:xfrm>
      </p:grpSpPr>
      <p:sp>
        <p:nvSpPr>
          <p:cNvPr id="2032" name="Google Shape;2032;p66"/>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a:t>
            </a:r>
            <a:r>
              <a:rPr lang="en"/>
              <a:t>uery Transfor</a:t>
            </a:r>
            <a:r>
              <a:rPr lang="en"/>
              <a:t>mations: Rewriting</a:t>
            </a:r>
            <a:endParaRPr/>
          </a:p>
        </p:txBody>
      </p:sp>
      <p:grpSp>
        <p:nvGrpSpPr>
          <p:cNvPr id="2033" name="Google Shape;2033;p66"/>
          <p:cNvGrpSpPr/>
          <p:nvPr/>
        </p:nvGrpSpPr>
        <p:grpSpPr>
          <a:xfrm>
            <a:off x="406725" y="952494"/>
            <a:ext cx="8330700" cy="3973868"/>
            <a:chOff x="406718" y="952500"/>
            <a:chExt cx="8330700" cy="1143000"/>
          </a:xfrm>
        </p:grpSpPr>
        <p:sp>
          <p:nvSpPr>
            <p:cNvPr id="2034" name="Google Shape;2034;p66"/>
            <p:cNvSpPr/>
            <p:nvPr/>
          </p:nvSpPr>
          <p:spPr>
            <a:xfrm>
              <a:off x="406718" y="952500"/>
              <a:ext cx="8330700" cy="1143000"/>
            </a:xfrm>
            <a:prstGeom prst="roundRect">
              <a:avLst>
                <a:gd fmla="val 1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5" name="Google Shape;2035;p66"/>
            <p:cNvSpPr txBox="1"/>
            <p:nvPr/>
          </p:nvSpPr>
          <p:spPr>
            <a:xfrm>
              <a:off x="597218" y="1047750"/>
              <a:ext cx="79497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563EB"/>
                  </a:solidFill>
                  <a:latin typeface="Arial"/>
                  <a:ea typeface="Arial"/>
                  <a:cs typeface="Arial"/>
                  <a:sym typeface="Arial"/>
                </a:rPr>
                <a:t>from llm_providers import LLM</a:t>
              </a:r>
              <a:endParaRPr b="1" sz="1000">
                <a:solidFill>
                  <a:srgbClr val="2563EB"/>
                </a:solidFill>
                <a:latin typeface="Arial"/>
                <a:ea typeface="Arial"/>
                <a:cs typeface="Arial"/>
                <a:sym typeface="Arial"/>
              </a:endParaRPr>
            </a:p>
            <a:p>
              <a:pPr indent="0" lvl="0" marL="0" rtl="0" algn="l">
                <a:spcBef>
                  <a:spcPts val="0"/>
                </a:spcBef>
                <a:spcAft>
                  <a:spcPts val="0"/>
                </a:spcAft>
                <a:buNone/>
              </a:pPr>
              <a:r>
                <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 Connect to the LLM</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client = LLM()</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 User's short / unclear query</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user_query = "OOMKilled"</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 Ask the LLM to rewrite it</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prompt = f"""</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Rewrite the following user query into a clear and specific</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search question.</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User query: {user_query}</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Return only the rewritten question.</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response = client.responses.create(</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    model="gpt-5.6",</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    input=prompt</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 Get the LLM's rewritten query</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rewritten_query = response.output_text</a:t>
              </a:r>
              <a:endParaRPr b="1" sz="1000">
                <a:solidFill>
                  <a:srgbClr val="2563EB"/>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000">
                  <a:solidFill>
                    <a:srgbClr val="2563EB"/>
                  </a:solidFill>
                  <a:latin typeface="Arial"/>
                  <a:ea typeface="Arial"/>
                  <a:cs typeface="Arial"/>
                  <a:sym typeface="Arial"/>
                </a:rPr>
                <a:t>print("\nRewritten query:\n", rewritten_query)</a:t>
              </a:r>
              <a:endParaRPr b="1" sz="1000">
                <a:solidFill>
                  <a:srgbClr val="2563EB"/>
                </a:solidFill>
                <a:latin typeface="Arial"/>
                <a:ea typeface="Arial"/>
                <a:cs typeface="Arial"/>
                <a:sym typeface="Arial"/>
              </a:endParaRPr>
            </a:p>
            <a:p>
              <a:pPr indent="0" lvl="0" marL="0" rtl="0" algn="l">
                <a:spcBef>
                  <a:spcPts val="0"/>
                </a:spcBef>
                <a:spcAft>
                  <a:spcPts val="0"/>
                </a:spcAft>
                <a:buNone/>
              </a:pPr>
              <a:r>
                <a:t/>
              </a:r>
              <a:endParaRPr b="1" sz="1000">
                <a:solidFill>
                  <a:srgbClr val="2563EB"/>
                </a:solidFill>
                <a:latin typeface="Arial"/>
                <a:ea typeface="Arial"/>
                <a:cs typeface="Arial"/>
                <a:sym typeface="Aria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9" name="Shape 2039"/>
        <p:cNvGrpSpPr/>
        <p:nvPr/>
      </p:nvGrpSpPr>
      <p:grpSpPr>
        <a:xfrm>
          <a:off x="0" y="0"/>
          <a:ext cx="0" cy="0"/>
          <a:chOff x="0" y="0"/>
          <a:chExt cx="0" cy="0"/>
        </a:xfrm>
      </p:grpSpPr>
      <p:sp>
        <p:nvSpPr>
          <p:cNvPr id="2040" name="Google Shape;2040;p67"/>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Transformations: Follow-up Question</a:t>
            </a:r>
            <a:endParaRPr/>
          </a:p>
        </p:txBody>
      </p:sp>
      <p:grpSp>
        <p:nvGrpSpPr>
          <p:cNvPr id="2041" name="Google Shape;2041;p67"/>
          <p:cNvGrpSpPr/>
          <p:nvPr/>
        </p:nvGrpSpPr>
        <p:grpSpPr>
          <a:xfrm>
            <a:off x="381000" y="857250"/>
            <a:ext cx="8382000" cy="1047900"/>
            <a:chOff x="381000" y="857250"/>
            <a:chExt cx="8382000" cy="1047900"/>
          </a:xfrm>
        </p:grpSpPr>
        <p:sp>
          <p:nvSpPr>
            <p:cNvPr id="2042" name="Google Shape;2042;p67"/>
            <p:cNvSpPr/>
            <p:nvPr/>
          </p:nvSpPr>
          <p:spPr>
            <a:xfrm>
              <a:off x="381000" y="857250"/>
              <a:ext cx="83820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3" name="Google Shape;2043;p67"/>
            <p:cNvSpPr txBox="1"/>
            <p:nvPr/>
          </p:nvSpPr>
          <p:spPr>
            <a:xfrm>
              <a:off x="571500" y="952500"/>
              <a:ext cx="8001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3">
                  <a:solidFill>
                    <a:srgbClr val="2563EB"/>
                  </a:solidFill>
                  <a:latin typeface="Arial"/>
                  <a:ea typeface="Arial"/>
                  <a:cs typeface="Arial"/>
                  <a:sym typeface="Arial"/>
                </a:rPr>
                <a:t>What it is:</a:t>
              </a:r>
              <a:r>
                <a:rPr lang="en" sz="1403">
                  <a:solidFill>
                    <a:srgbClr val="1E293B"/>
                  </a:solidFill>
                  <a:latin typeface="Arial"/>
                  <a:ea typeface="Arial"/>
                  <a:cs typeface="Arial"/>
                  <a:sym typeface="Arial"/>
                </a:rPr>
                <a:t> Converting contextual follow-up questions into complete, standalone queries by injecting the history of the current conversation.</a:t>
              </a:r>
              <a:endParaRPr sz="1403">
                <a:solidFill>
                  <a:srgbClr val="1E293B"/>
                </a:solidFill>
                <a:latin typeface="Arial"/>
                <a:ea typeface="Arial"/>
                <a:cs typeface="Arial"/>
                <a:sym typeface="Arial"/>
              </a:endParaRPr>
            </a:p>
            <a:p>
              <a:pPr indent="0" lvl="0" marL="0" rtl="0" algn="l">
                <a:spcBef>
                  <a:spcPts val="750"/>
                </a:spcBef>
                <a:spcAft>
                  <a:spcPts val="0"/>
                </a:spcAft>
                <a:buNone/>
              </a:pPr>
              <a:r>
                <a:rPr b="1" lang="en" sz="1403">
                  <a:solidFill>
                    <a:srgbClr val="2563EB"/>
                  </a:solidFill>
                  <a:latin typeface="Arial"/>
                  <a:ea typeface="Arial"/>
                  <a:cs typeface="Arial"/>
                  <a:sym typeface="Arial"/>
                </a:rPr>
                <a:t>When to use it:</a:t>
              </a:r>
              <a:r>
                <a:rPr lang="en" sz="1403">
                  <a:solidFill>
                    <a:srgbClr val="1E293B"/>
                  </a:solidFill>
                  <a:latin typeface="Arial"/>
                  <a:ea typeface="Arial"/>
                  <a:cs typeface="Arial"/>
                  <a:sym typeface="Arial"/>
                </a:rPr>
                <a:t> During active, multi-turn troubleshooting or policy inquiries where the user naturally relies on pronouns ("it," "they," "that server").</a:t>
              </a:r>
              <a:endParaRPr sz="1403">
                <a:solidFill>
                  <a:srgbClr val="1E293B"/>
                </a:solidFill>
                <a:latin typeface="Arial"/>
                <a:ea typeface="Arial"/>
                <a:cs typeface="Arial"/>
                <a:sym typeface="Arial"/>
              </a:endParaRPr>
            </a:p>
          </p:txBody>
        </p:sp>
      </p:grpSp>
      <p:grpSp>
        <p:nvGrpSpPr>
          <p:cNvPr id="2044" name="Google Shape;2044;p67"/>
          <p:cNvGrpSpPr/>
          <p:nvPr/>
        </p:nvGrpSpPr>
        <p:grpSpPr>
          <a:xfrm>
            <a:off x="381000" y="2047875"/>
            <a:ext cx="8382000" cy="2190900"/>
            <a:chOff x="381000" y="2047875"/>
            <a:chExt cx="8382000" cy="2190900"/>
          </a:xfrm>
        </p:grpSpPr>
        <p:sp>
          <p:nvSpPr>
            <p:cNvPr id="2045" name="Google Shape;2045;p67"/>
            <p:cNvSpPr/>
            <p:nvPr/>
          </p:nvSpPr>
          <p:spPr>
            <a:xfrm>
              <a:off x="381000" y="2047875"/>
              <a:ext cx="8382000" cy="2190900"/>
            </a:xfrm>
            <a:prstGeom prst="roundRect">
              <a:avLst>
                <a:gd fmla="val 52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6" name="Google Shape;2046;p67"/>
            <p:cNvSpPr txBox="1"/>
            <p:nvPr/>
          </p:nvSpPr>
          <p:spPr>
            <a:xfrm>
              <a:off x="571500" y="214312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475569"/>
                  </a:solidFill>
                  <a:latin typeface="Arial"/>
                  <a:ea typeface="Arial"/>
                  <a:cs typeface="Arial"/>
                  <a:sym typeface="Arial"/>
                </a:rPr>
                <a:t>Project Example: </a:t>
              </a:r>
              <a:endParaRPr b="1" sz="1600">
                <a:solidFill>
                  <a:srgbClr val="475569"/>
                </a:solidFill>
                <a:latin typeface="Arial"/>
                <a:ea typeface="Arial"/>
                <a:cs typeface="Arial"/>
                <a:sym typeface="Arial"/>
              </a:endParaRPr>
            </a:p>
          </p:txBody>
        </p:sp>
        <p:sp>
          <p:nvSpPr>
            <p:cNvPr id="2047" name="Google Shape;2047;p67"/>
            <p:cNvSpPr/>
            <p:nvPr/>
          </p:nvSpPr>
          <p:spPr>
            <a:xfrm>
              <a:off x="571500" y="2571750"/>
              <a:ext cx="3619500" cy="1428900"/>
            </a:xfrm>
            <a:prstGeom prst="roundRect">
              <a:avLst>
                <a:gd fmla="val 5333"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8" name="Google Shape;2048;p67"/>
            <p:cNvSpPr txBox="1"/>
            <p:nvPr/>
          </p:nvSpPr>
          <p:spPr>
            <a:xfrm>
              <a:off x="714375" y="2667000"/>
              <a:ext cx="33339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64748B"/>
                  </a:solidFill>
                  <a:latin typeface="Arial"/>
                  <a:ea typeface="Arial"/>
                  <a:cs typeface="Arial"/>
                  <a:sym typeface="Arial"/>
                </a:rPr>
                <a:t>CONVERSATION HISTORY</a:t>
              </a:r>
              <a:endParaRPr b="1">
                <a:solidFill>
                  <a:srgbClr val="64748B"/>
                </a:solidFill>
                <a:latin typeface="Arial"/>
                <a:ea typeface="Arial"/>
                <a:cs typeface="Arial"/>
                <a:sym typeface="Arial"/>
              </a:endParaRPr>
            </a:p>
            <a:p>
              <a:pPr indent="0" lvl="0" marL="0" rtl="0" algn="l">
                <a:spcBef>
                  <a:spcPts val="600"/>
                </a:spcBef>
                <a:spcAft>
                  <a:spcPts val="0"/>
                </a:spcAft>
                <a:buNone/>
              </a:pPr>
              <a:r>
                <a:rPr i="1" lang="en">
                  <a:solidFill>
                    <a:srgbClr val="334155"/>
                  </a:solidFill>
                  <a:latin typeface="Arial"/>
                  <a:ea typeface="Arial"/>
                  <a:cs typeface="Arial"/>
                  <a:sym typeface="Arial"/>
                </a:rPr>
                <a:t>User:</a:t>
              </a:r>
              <a:r>
                <a:rPr lang="en">
                  <a:solidFill>
                    <a:srgbClr val="334155"/>
                  </a:solidFill>
                  <a:latin typeface="Arial"/>
                  <a:ea typeface="Arial"/>
                  <a:cs typeface="Arial"/>
                  <a:sym typeface="Arial"/>
                </a:rPr>
                <a:t> "What is the standard parental leave policy?"</a:t>
              </a:r>
              <a:endParaRPr>
                <a:solidFill>
                  <a:srgbClr val="334155"/>
                </a:solidFill>
                <a:latin typeface="Arial"/>
                <a:ea typeface="Arial"/>
                <a:cs typeface="Arial"/>
                <a:sym typeface="Arial"/>
              </a:endParaRPr>
            </a:p>
            <a:p>
              <a:pPr indent="0" lvl="0" marL="0" rtl="0" algn="l">
                <a:spcBef>
                  <a:spcPts val="300"/>
                </a:spcBef>
                <a:spcAft>
                  <a:spcPts val="0"/>
                </a:spcAft>
                <a:buNone/>
              </a:pPr>
              <a:r>
                <a:rPr i="1" lang="en">
                  <a:solidFill>
                    <a:srgbClr val="334155"/>
                  </a:solidFill>
                  <a:latin typeface="Arial"/>
                  <a:ea typeface="Arial"/>
                  <a:cs typeface="Arial"/>
                  <a:sym typeface="Arial"/>
                </a:rPr>
                <a:t>Agent:</a:t>
              </a:r>
              <a:r>
                <a:rPr lang="en">
                  <a:solidFill>
                    <a:srgbClr val="334155"/>
                  </a:solidFill>
                  <a:latin typeface="Arial"/>
                  <a:ea typeface="Arial"/>
                  <a:cs typeface="Arial"/>
                  <a:sym typeface="Arial"/>
                </a:rPr>
                <a:t> [Returns standard policy details]</a:t>
              </a:r>
              <a:endParaRPr>
                <a:solidFill>
                  <a:srgbClr val="334155"/>
                </a:solidFill>
                <a:latin typeface="Arial"/>
                <a:ea typeface="Arial"/>
                <a:cs typeface="Arial"/>
                <a:sym typeface="Arial"/>
              </a:endParaRPr>
            </a:p>
            <a:p>
              <a:pPr indent="0" lvl="0" marL="0" rtl="0" algn="l">
                <a:spcBef>
                  <a:spcPts val="300"/>
                </a:spcBef>
                <a:spcAft>
                  <a:spcPts val="0"/>
                </a:spcAft>
                <a:buNone/>
              </a:pPr>
              <a:r>
                <a:rPr b="1" i="1" lang="en">
                  <a:solidFill>
                    <a:srgbClr val="334155"/>
                  </a:solidFill>
                  <a:highlight>
                    <a:srgbClr val="FEF3C7"/>
                  </a:highlight>
                  <a:latin typeface="Arial"/>
                  <a:ea typeface="Arial"/>
                  <a:cs typeface="Arial"/>
                  <a:sym typeface="Arial"/>
                </a:rPr>
                <a:t>User:</a:t>
              </a:r>
              <a:r>
                <a:rPr b="1" lang="en">
                  <a:solidFill>
                    <a:srgbClr val="334155"/>
                  </a:solidFill>
                  <a:highlight>
                    <a:srgbClr val="FEF3C7"/>
                  </a:highlight>
                  <a:latin typeface="Arial"/>
                  <a:ea typeface="Arial"/>
                  <a:cs typeface="Arial"/>
                  <a:sym typeface="Arial"/>
                </a:rPr>
                <a:t> "Does it apply to contractors?"</a:t>
              </a:r>
              <a:endParaRPr b="1">
                <a:solidFill>
                  <a:srgbClr val="334155"/>
                </a:solidFill>
                <a:highlight>
                  <a:srgbClr val="FEF3C7"/>
                </a:highlight>
                <a:latin typeface="Arial"/>
                <a:ea typeface="Arial"/>
                <a:cs typeface="Arial"/>
                <a:sym typeface="Arial"/>
              </a:endParaRPr>
            </a:p>
          </p:txBody>
        </p:sp>
        <p:sp>
          <p:nvSpPr>
            <p:cNvPr id="2049" name="Google Shape;2049;p67"/>
            <p:cNvSpPr/>
            <p:nvPr/>
          </p:nvSpPr>
          <p:spPr>
            <a:xfrm>
              <a:off x="4953000" y="2571750"/>
              <a:ext cx="3810000" cy="1428900"/>
            </a:xfrm>
            <a:prstGeom prst="roundRect">
              <a:avLst>
                <a:gd fmla="val 5333"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0" name="Google Shape;2050;p67"/>
            <p:cNvSpPr txBox="1"/>
            <p:nvPr/>
          </p:nvSpPr>
          <p:spPr>
            <a:xfrm>
              <a:off x="5095875" y="2667000"/>
              <a:ext cx="3524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0369A1"/>
                  </a:solidFill>
                  <a:latin typeface="Arial"/>
                  <a:ea typeface="Arial"/>
                  <a:cs typeface="Arial"/>
                  <a:sym typeface="Arial"/>
                </a:rPr>
                <a:t>TRANSFORMED QUERY</a:t>
              </a:r>
              <a:endParaRPr b="1">
                <a:solidFill>
                  <a:srgbClr val="0369A1"/>
                </a:solidFill>
                <a:latin typeface="Arial"/>
                <a:ea typeface="Arial"/>
                <a:cs typeface="Arial"/>
                <a:sym typeface="Arial"/>
              </a:endParaRPr>
            </a:p>
            <a:p>
              <a:pPr indent="0" lvl="0" marL="0" rtl="0" algn="l">
                <a:spcBef>
                  <a:spcPts val="600"/>
                </a:spcBef>
                <a:spcAft>
                  <a:spcPts val="0"/>
                </a:spcAft>
                <a:buNone/>
              </a:pPr>
              <a:r>
                <a:rPr b="0" lang="en">
                  <a:solidFill>
                    <a:srgbClr val="0C4A6E"/>
                  </a:solidFill>
                  <a:latin typeface="Roboto Mono"/>
                  <a:ea typeface="Roboto Mono"/>
                  <a:cs typeface="Roboto Mono"/>
                  <a:sym typeface="Roboto Mono"/>
                </a:rPr>
                <a:t>"Does the standard parental leave policy apply to contract employees?"</a:t>
              </a:r>
              <a:endParaRPr b="0">
                <a:solidFill>
                  <a:srgbClr val="0C4A6E"/>
                </a:solidFill>
                <a:latin typeface="Roboto Mono"/>
                <a:ea typeface="Roboto Mono"/>
                <a:cs typeface="Roboto Mono"/>
                <a:sym typeface="Roboto Mono"/>
              </a:endParaRPr>
            </a:p>
          </p:txBody>
        </p:sp>
        <p:pic>
          <p:nvPicPr>
            <p:cNvPr id="2051" name="Google Shape;2051;p67"/>
            <p:cNvPicPr preferRelativeResize="0"/>
            <p:nvPr/>
          </p:nvPicPr>
          <p:blipFill rotWithShape="1">
            <a:blip r:embed="rId4">
              <a:alphaModFix/>
            </a:blip>
            <a:srcRect b="0" l="0" r="0" t="0"/>
            <a:stretch/>
          </p:blipFill>
          <p:spPr>
            <a:xfrm>
              <a:off x="4286250" y="3219450"/>
              <a:ext cx="666900" cy="133500"/>
            </a:xfrm>
            <a:prstGeom prst="rect">
              <a:avLst/>
            </a:prstGeom>
            <a:noFill/>
            <a:ln>
              <a:noFill/>
            </a:ln>
          </p:spPr>
        </p:pic>
      </p:grpSp>
      <p:grpSp>
        <p:nvGrpSpPr>
          <p:cNvPr id="2052" name="Google Shape;2052;p67"/>
          <p:cNvGrpSpPr/>
          <p:nvPr/>
        </p:nvGrpSpPr>
        <p:grpSpPr>
          <a:xfrm>
            <a:off x="381000" y="4381500"/>
            <a:ext cx="8382000" cy="619200"/>
            <a:chOff x="381000" y="4381500"/>
            <a:chExt cx="8382000" cy="619200"/>
          </a:xfrm>
        </p:grpSpPr>
        <p:sp>
          <p:nvSpPr>
            <p:cNvPr id="2053" name="Google Shape;2053;p67"/>
            <p:cNvSpPr/>
            <p:nvPr/>
          </p:nvSpPr>
          <p:spPr>
            <a:xfrm>
              <a:off x="381000" y="4381500"/>
              <a:ext cx="8382000" cy="619200"/>
            </a:xfrm>
            <a:prstGeom prst="roundRect">
              <a:avLst>
                <a:gd fmla="val 12307"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4" name="Google Shape;2054;p67"/>
            <p:cNvSpPr txBox="1"/>
            <p:nvPr/>
          </p:nvSpPr>
          <p:spPr>
            <a:xfrm>
              <a:off x="619125" y="4476750"/>
              <a:ext cx="79059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66534"/>
                  </a:solidFill>
                  <a:latin typeface="Arial"/>
                  <a:ea typeface="Arial"/>
                  <a:cs typeface="Arial"/>
                  <a:sym typeface="Arial"/>
                </a:rPr>
                <a:t>The Impact:</a:t>
              </a:r>
              <a:r>
                <a:rPr lang="en">
                  <a:solidFill>
                    <a:srgbClr val="166534"/>
                  </a:solidFill>
                  <a:latin typeface="Arial"/>
                  <a:ea typeface="Arial"/>
                  <a:cs typeface="Arial"/>
                  <a:sym typeface="Arial"/>
                </a:rPr>
                <a:t> Without this step, the retriever searches for "Does it apply to contractors?" and fails. The standalone query ensures high-accuracy retrieval.</a:t>
              </a:r>
              <a:endParaRPr>
                <a:solidFill>
                  <a:srgbClr val="166534"/>
                </a:solidFill>
                <a:latin typeface="Arial"/>
                <a:ea typeface="Arial"/>
                <a:cs typeface="Arial"/>
                <a:sym typeface="Arial"/>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58" name="Shape 2058"/>
        <p:cNvGrpSpPr/>
        <p:nvPr/>
      </p:nvGrpSpPr>
      <p:grpSpPr>
        <a:xfrm>
          <a:off x="0" y="0"/>
          <a:ext cx="0" cy="0"/>
          <a:chOff x="0" y="0"/>
          <a:chExt cx="0" cy="0"/>
        </a:xfrm>
      </p:grpSpPr>
      <p:sp>
        <p:nvSpPr>
          <p:cNvPr id="2059" name="Google Shape;2059;p68"/>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Transformations: Follow-up Question</a:t>
            </a:r>
            <a:endParaRPr/>
          </a:p>
        </p:txBody>
      </p:sp>
      <p:pic>
        <p:nvPicPr>
          <p:cNvPr id="2060" name="Google Shape;2060;p68"/>
          <p:cNvPicPr preferRelativeResize="0"/>
          <p:nvPr/>
        </p:nvPicPr>
        <p:blipFill>
          <a:blip r:embed="rId4">
            <a:alphaModFix/>
          </a:blip>
          <a:stretch>
            <a:fillRect/>
          </a:stretch>
        </p:blipFill>
        <p:spPr>
          <a:xfrm>
            <a:off x="2858550" y="653475"/>
            <a:ext cx="3590930" cy="449002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64" name="Shape 2064"/>
        <p:cNvGrpSpPr/>
        <p:nvPr/>
      </p:nvGrpSpPr>
      <p:grpSpPr>
        <a:xfrm>
          <a:off x="0" y="0"/>
          <a:ext cx="0" cy="0"/>
          <a:chOff x="0" y="0"/>
          <a:chExt cx="0" cy="0"/>
        </a:xfrm>
      </p:grpSpPr>
      <p:sp>
        <p:nvSpPr>
          <p:cNvPr id="2065" name="Google Shape;2065;p69"/>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Transformations: Multi-Query Retrieval</a:t>
            </a:r>
            <a:endParaRPr/>
          </a:p>
        </p:txBody>
      </p:sp>
      <p:grpSp>
        <p:nvGrpSpPr>
          <p:cNvPr id="2066" name="Google Shape;2066;p69"/>
          <p:cNvGrpSpPr/>
          <p:nvPr/>
        </p:nvGrpSpPr>
        <p:grpSpPr>
          <a:xfrm>
            <a:off x="381000" y="904875"/>
            <a:ext cx="8382000" cy="1047900"/>
            <a:chOff x="381000" y="904875"/>
            <a:chExt cx="8382000" cy="1047900"/>
          </a:xfrm>
        </p:grpSpPr>
        <p:sp>
          <p:nvSpPr>
            <p:cNvPr id="2067" name="Google Shape;2067;p69"/>
            <p:cNvSpPr/>
            <p:nvPr/>
          </p:nvSpPr>
          <p:spPr>
            <a:xfrm>
              <a:off x="381000" y="904875"/>
              <a:ext cx="83820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8" name="Google Shape;2068;p69"/>
            <p:cNvSpPr txBox="1"/>
            <p:nvPr/>
          </p:nvSpPr>
          <p:spPr>
            <a:xfrm>
              <a:off x="571500" y="1000125"/>
              <a:ext cx="8001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2563EB"/>
                  </a:solidFill>
                  <a:latin typeface="Arial"/>
                  <a:ea typeface="Arial"/>
                  <a:cs typeface="Arial"/>
                  <a:sym typeface="Arial"/>
                </a:rPr>
                <a:t>What it is:</a:t>
              </a:r>
              <a:r>
                <a:rPr lang="en">
                  <a:solidFill>
                    <a:srgbClr val="1E293B"/>
                  </a:solidFill>
                  <a:latin typeface="Arial"/>
                  <a:ea typeface="Arial"/>
                  <a:cs typeface="Arial"/>
                  <a:sym typeface="Arial"/>
                </a:rPr>
                <a:t> Generating multiple, distinct related queries from a single complex question and retrieving documents for all of them in parallel.</a:t>
              </a:r>
              <a:endParaRPr>
                <a:solidFill>
                  <a:srgbClr val="1E293B"/>
                </a:solidFill>
                <a:latin typeface="Arial"/>
                <a:ea typeface="Arial"/>
                <a:cs typeface="Arial"/>
                <a:sym typeface="Arial"/>
              </a:endParaRPr>
            </a:p>
            <a:p>
              <a:pPr indent="0" lvl="0" marL="0" rtl="0" algn="l">
                <a:spcBef>
                  <a:spcPts val="600"/>
                </a:spcBef>
                <a:spcAft>
                  <a:spcPts val="0"/>
                </a:spcAft>
                <a:buNone/>
              </a:pPr>
              <a:r>
                <a:rPr b="1" lang="en">
                  <a:solidFill>
                    <a:srgbClr val="2563EB"/>
                  </a:solidFill>
                  <a:latin typeface="Arial"/>
                  <a:ea typeface="Arial"/>
                  <a:cs typeface="Arial"/>
                  <a:sym typeface="Arial"/>
                </a:rPr>
                <a:t>When to use it:</a:t>
              </a:r>
              <a:r>
                <a:rPr lang="en">
                  <a:solidFill>
                    <a:srgbClr val="1E293B"/>
                  </a:solidFill>
                  <a:latin typeface="Arial"/>
                  <a:ea typeface="Arial"/>
                  <a:cs typeface="Arial"/>
                  <a:sym typeface="Arial"/>
                </a:rPr>
                <a:t> When a prompt spans multiple microservices, compares entities, or requires joining info from separate documents.</a:t>
              </a:r>
              <a:endParaRPr>
                <a:solidFill>
                  <a:srgbClr val="1E293B"/>
                </a:solidFill>
                <a:latin typeface="Arial"/>
                <a:ea typeface="Arial"/>
                <a:cs typeface="Arial"/>
                <a:sym typeface="Arial"/>
              </a:endParaRPr>
            </a:p>
          </p:txBody>
        </p:sp>
      </p:grpSp>
      <p:grpSp>
        <p:nvGrpSpPr>
          <p:cNvPr id="2069" name="Google Shape;2069;p69"/>
          <p:cNvGrpSpPr/>
          <p:nvPr/>
        </p:nvGrpSpPr>
        <p:grpSpPr>
          <a:xfrm>
            <a:off x="381000" y="2095500"/>
            <a:ext cx="8382000" cy="2190900"/>
            <a:chOff x="381000" y="2095500"/>
            <a:chExt cx="8382000" cy="2190900"/>
          </a:xfrm>
        </p:grpSpPr>
        <p:sp>
          <p:nvSpPr>
            <p:cNvPr id="2070" name="Google Shape;2070;p69"/>
            <p:cNvSpPr/>
            <p:nvPr/>
          </p:nvSpPr>
          <p:spPr>
            <a:xfrm>
              <a:off x="381000" y="2095500"/>
              <a:ext cx="8382000" cy="2190900"/>
            </a:xfrm>
            <a:prstGeom prst="roundRect">
              <a:avLst>
                <a:gd fmla="val 52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1" name="Google Shape;2071;p69"/>
            <p:cNvSpPr txBox="1"/>
            <p:nvPr/>
          </p:nvSpPr>
          <p:spPr>
            <a:xfrm>
              <a:off x="571500" y="2190750"/>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475569"/>
                  </a:solidFill>
                  <a:latin typeface="Arial"/>
                  <a:ea typeface="Arial"/>
                  <a:cs typeface="Arial"/>
                  <a:sym typeface="Arial"/>
                </a:rPr>
                <a:t>Project Example: </a:t>
              </a:r>
              <a:endParaRPr b="1" sz="1400">
                <a:solidFill>
                  <a:srgbClr val="475569"/>
                </a:solidFill>
                <a:latin typeface="Arial"/>
                <a:ea typeface="Arial"/>
                <a:cs typeface="Arial"/>
                <a:sym typeface="Arial"/>
              </a:endParaRPr>
            </a:p>
          </p:txBody>
        </p:sp>
        <p:sp>
          <p:nvSpPr>
            <p:cNvPr id="2072" name="Google Shape;2072;p69"/>
            <p:cNvSpPr/>
            <p:nvPr/>
          </p:nvSpPr>
          <p:spPr>
            <a:xfrm>
              <a:off x="571500" y="2619375"/>
              <a:ext cx="3619500" cy="1524000"/>
            </a:xfrm>
            <a:prstGeom prst="roundRect">
              <a:avLst>
                <a:gd fmla="val 5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3" name="Google Shape;2073;p69"/>
            <p:cNvSpPr txBox="1"/>
            <p:nvPr/>
          </p:nvSpPr>
          <p:spPr>
            <a:xfrm>
              <a:off x="714375" y="2714625"/>
              <a:ext cx="33339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475569"/>
                  </a:solidFill>
                  <a:latin typeface="Arial"/>
                  <a:ea typeface="Arial"/>
                  <a:cs typeface="Arial"/>
                  <a:sym typeface="Arial"/>
                </a:rPr>
                <a:t>USER QUERY</a:t>
              </a:r>
              <a:endParaRPr b="1">
                <a:solidFill>
                  <a:srgbClr val="475569"/>
                </a:solidFill>
                <a:latin typeface="Arial"/>
                <a:ea typeface="Arial"/>
                <a:cs typeface="Arial"/>
                <a:sym typeface="Arial"/>
              </a:endParaRPr>
            </a:p>
            <a:p>
              <a:pPr indent="0" lvl="0" marL="0" rtl="0" algn="l">
                <a:spcBef>
                  <a:spcPts val="600"/>
                </a:spcBef>
                <a:spcAft>
                  <a:spcPts val="0"/>
                </a:spcAft>
                <a:buNone/>
              </a:pPr>
              <a:r>
                <a:rPr i="1" lang="en">
                  <a:solidFill>
                    <a:srgbClr val="334155"/>
                  </a:solidFill>
                  <a:latin typeface="Arial"/>
                  <a:ea typeface="Arial"/>
                  <a:cs typeface="Arial"/>
                  <a:sym typeface="Arial"/>
                </a:rPr>
                <a:t>"Did the latency spike happen in both the Mumbai and US-East Vertex AI deployments?"</a:t>
              </a:r>
              <a:endParaRPr i="1">
                <a:solidFill>
                  <a:srgbClr val="334155"/>
                </a:solidFill>
                <a:latin typeface="Arial"/>
                <a:ea typeface="Arial"/>
                <a:cs typeface="Arial"/>
                <a:sym typeface="Arial"/>
              </a:endParaRPr>
            </a:p>
          </p:txBody>
        </p:sp>
        <p:sp>
          <p:nvSpPr>
            <p:cNvPr id="2074" name="Google Shape;2074;p69"/>
            <p:cNvSpPr/>
            <p:nvPr/>
          </p:nvSpPr>
          <p:spPr>
            <a:xfrm>
              <a:off x="4953000" y="2619375"/>
              <a:ext cx="3810000" cy="1524000"/>
            </a:xfrm>
            <a:prstGeom prst="roundRect">
              <a:avLst>
                <a:gd fmla="val 5000"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5" name="Google Shape;2075;p69"/>
            <p:cNvSpPr txBox="1"/>
            <p:nvPr/>
          </p:nvSpPr>
          <p:spPr>
            <a:xfrm>
              <a:off x="5095875" y="2714625"/>
              <a:ext cx="3524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369A1"/>
                  </a:solidFill>
                  <a:latin typeface="Arial"/>
                  <a:ea typeface="Arial"/>
                  <a:cs typeface="Arial"/>
                  <a:sym typeface="Arial"/>
                </a:rPr>
                <a:t>GENERATED QUERIES</a:t>
              </a:r>
              <a:endParaRPr b="1" sz="1100">
                <a:solidFill>
                  <a:srgbClr val="0369A1"/>
                </a:solidFill>
                <a:latin typeface="Arial"/>
                <a:ea typeface="Arial"/>
                <a:cs typeface="Arial"/>
                <a:sym typeface="Arial"/>
              </a:endParaRPr>
            </a:p>
            <a:p>
              <a:pPr indent="0" lvl="0" marL="0" rtl="0" algn="l">
                <a:spcBef>
                  <a:spcPts val="600"/>
                </a:spcBef>
                <a:spcAft>
                  <a:spcPts val="0"/>
                </a:spcAft>
                <a:buNone/>
              </a:pPr>
              <a:r>
                <a:rPr lang="en" sz="1100">
                  <a:solidFill>
                    <a:srgbClr val="64748B"/>
                  </a:solidFill>
                  <a:latin typeface="Arial"/>
                  <a:ea typeface="Arial"/>
                  <a:cs typeface="Arial"/>
                  <a:sym typeface="Arial"/>
                </a:rPr>
                <a:t>Q1:</a:t>
              </a:r>
              <a:r>
                <a:rPr lang="en" sz="1100">
                  <a:solidFill>
                    <a:srgbClr val="0369A1"/>
                  </a:solidFill>
                  <a:latin typeface="Roboto Mono"/>
                  <a:ea typeface="Roboto Mono"/>
                  <a:cs typeface="Roboto Mono"/>
                  <a:sym typeface="Roboto Mono"/>
                </a:rPr>
                <a:t> What are the recent latency metrics and error logs for the Mumbai Vertex AI deployment?</a:t>
              </a:r>
              <a:endParaRPr sz="1100">
                <a:solidFill>
                  <a:srgbClr val="0369A1"/>
                </a:solidFill>
                <a:latin typeface="Roboto Mono"/>
                <a:ea typeface="Roboto Mono"/>
                <a:cs typeface="Roboto Mono"/>
                <a:sym typeface="Roboto Mono"/>
              </a:endParaRPr>
            </a:p>
            <a:p>
              <a:pPr indent="0" lvl="0" marL="0" rtl="0" algn="l">
                <a:spcBef>
                  <a:spcPts val="750"/>
                </a:spcBef>
                <a:spcAft>
                  <a:spcPts val="0"/>
                </a:spcAft>
                <a:buNone/>
              </a:pPr>
              <a:r>
                <a:rPr lang="en" sz="1100">
                  <a:solidFill>
                    <a:srgbClr val="64748B"/>
                  </a:solidFill>
                  <a:latin typeface="Arial"/>
                  <a:ea typeface="Arial"/>
                  <a:cs typeface="Arial"/>
                  <a:sym typeface="Arial"/>
                </a:rPr>
                <a:t>Q2:</a:t>
              </a:r>
              <a:r>
                <a:rPr lang="en" sz="1100">
                  <a:solidFill>
                    <a:srgbClr val="0369A1"/>
                  </a:solidFill>
                  <a:latin typeface="Roboto Mono"/>
                  <a:ea typeface="Roboto Mono"/>
                  <a:cs typeface="Roboto Mono"/>
                  <a:sym typeface="Roboto Mono"/>
                </a:rPr>
                <a:t> What are the recent latency metrics and error logs for the US-East Vertex AI deployment?</a:t>
              </a:r>
              <a:endParaRPr sz="1100">
                <a:solidFill>
                  <a:srgbClr val="0369A1"/>
                </a:solidFill>
                <a:latin typeface="Roboto Mono"/>
                <a:ea typeface="Roboto Mono"/>
                <a:cs typeface="Roboto Mono"/>
                <a:sym typeface="Roboto Mono"/>
              </a:endParaRPr>
            </a:p>
          </p:txBody>
        </p:sp>
        <p:pic>
          <p:nvPicPr>
            <p:cNvPr id="2076" name="Google Shape;2076;p69"/>
            <p:cNvPicPr preferRelativeResize="0"/>
            <p:nvPr/>
          </p:nvPicPr>
          <p:blipFill rotWithShape="1">
            <a:blip r:embed="rId4">
              <a:alphaModFix/>
            </a:blip>
            <a:srcRect b="0" l="0" r="0" t="0"/>
            <a:stretch/>
          </p:blipFill>
          <p:spPr>
            <a:xfrm>
              <a:off x="4286250" y="3324225"/>
              <a:ext cx="576300" cy="114300"/>
            </a:xfrm>
            <a:prstGeom prst="rect">
              <a:avLst/>
            </a:prstGeom>
            <a:noFill/>
            <a:ln>
              <a:noFill/>
            </a:ln>
          </p:spPr>
        </p:pic>
      </p:grpSp>
      <p:grpSp>
        <p:nvGrpSpPr>
          <p:cNvPr id="2077" name="Google Shape;2077;p69"/>
          <p:cNvGrpSpPr/>
          <p:nvPr/>
        </p:nvGrpSpPr>
        <p:grpSpPr>
          <a:xfrm>
            <a:off x="381000" y="4429125"/>
            <a:ext cx="8382000" cy="571500"/>
            <a:chOff x="381000" y="4429125"/>
            <a:chExt cx="8382000" cy="571500"/>
          </a:xfrm>
        </p:grpSpPr>
        <p:sp>
          <p:nvSpPr>
            <p:cNvPr id="2078" name="Google Shape;2078;p69"/>
            <p:cNvSpPr/>
            <p:nvPr/>
          </p:nvSpPr>
          <p:spPr>
            <a:xfrm>
              <a:off x="381000" y="4429125"/>
              <a:ext cx="8382000" cy="571500"/>
            </a:xfrm>
            <a:prstGeom prst="roundRect">
              <a:avLst>
                <a:gd fmla="val 13333"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9" name="Google Shape;2079;p69"/>
            <p:cNvSpPr txBox="1"/>
            <p:nvPr/>
          </p:nvSpPr>
          <p:spPr>
            <a:xfrm>
              <a:off x="619125" y="4429125"/>
              <a:ext cx="7905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66534"/>
                  </a:solidFill>
                  <a:latin typeface="Arial"/>
                  <a:ea typeface="Arial"/>
                  <a:cs typeface="Arial"/>
                  <a:sym typeface="Arial"/>
                </a:rPr>
                <a:t>The Impact:</a:t>
              </a:r>
              <a:r>
                <a:rPr lang="en">
                  <a:solidFill>
                    <a:srgbClr val="166534"/>
                  </a:solidFill>
                  <a:latin typeface="Arial"/>
                  <a:ea typeface="Arial"/>
                  <a:cs typeface="Arial"/>
                  <a:sym typeface="Arial"/>
                </a:rPr>
                <a:t> Guarantees the LLM gets necessary context for </a:t>
              </a:r>
              <a:r>
                <a:rPr i="1" lang="en">
                  <a:solidFill>
                    <a:srgbClr val="166534"/>
                  </a:solidFill>
                  <a:latin typeface="Arial"/>
                  <a:ea typeface="Arial"/>
                  <a:cs typeface="Arial"/>
                  <a:sym typeface="Arial"/>
                </a:rPr>
                <a:t>both</a:t>
              </a:r>
              <a:r>
                <a:rPr lang="en">
                  <a:solidFill>
                    <a:srgbClr val="166534"/>
                  </a:solidFill>
                  <a:latin typeface="Arial"/>
                  <a:ea typeface="Arial"/>
                  <a:cs typeface="Arial"/>
                  <a:sym typeface="Arial"/>
                </a:rPr>
                <a:t> deployments before comparison, avoiding regional bias.</a:t>
              </a:r>
              <a:endParaRPr>
                <a:solidFill>
                  <a:srgbClr val="166534"/>
                </a:solidFill>
                <a:latin typeface="Arial"/>
                <a:ea typeface="Arial"/>
                <a:cs typeface="Arial"/>
                <a:sym typeface="Arial"/>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3" name="Shape 2083"/>
        <p:cNvGrpSpPr/>
        <p:nvPr/>
      </p:nvGrpSpPr>
      <p:grpSpPr>
        <a:xfrm>
          <a:off x="0" y="0"/>
          <a:ext cx="0" cy="0"/>
          <a:chOff x="0" y="0"/>
          <a:chExt cx="0" cy="0"/>
        </a:xfrm>
      </p:grpSpPr>
      <p:sp>
        <p:nvSpPr>
          <p:cNvPr id="2084" name="Google Shape;2084;p70"/>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Transformations: </a:t>
            </a:r>
            <a:r>
              <a:rPr lang="en"/>
              <a:t>Multi-Query Retrieval</a:t>
            </a:r>
            <a:endParaRPr/>
          </a:p>
        </p:txBody>
      </p:sp>
      <p:sp>
        <p:nvSpPr>
          <p:cNvPr id="2085" name="Google Shape;2085;p70"/>
          <p:cNvSpPr txBox="1"/>
          <p:nvPr/>
        </p:nvSpPr>
        <p:spPr>
          <a:xfrm>
            <a:off x="152400" y="152400"/>
            <a:ext cx="7776900" cy="403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000">
              <a:solidFill>
                <a:srgbClr val="2563EB"/>
              </a:solidFill>
              <a:latin typeface="Arial"/>
              <a:ea typeface="Arial"/>
              <a:cs typeface="Arial"/>
              <a:sym typeface="Arial"/>
            </a:endParaRPr>
          </a:p>
          <a:p>
            <a:pPr indent="0" lvl="0" marL="0" rtl="0" algn="l">
              <a:spcBef>
                <a:spcPts val="0"/>
              </a:spcBef>
              <a:spcAft>
                <a:spcPts val="0"/>
              </a:spcAft>
              <a:buNone/>
            </a:pPr>
            <a:r>
              <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 User's complex question</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user_query = (</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    "Did the latency spike happen in both the "</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    "Mumbai and US-East Vertex AI deployments?"</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a:t>
            </a:r>
            <a:endParaRPr b="1" sz="1000">
              <a:solidFill>
                <a:srgbClr val="2563EB"/>
              </a:solidFill>
              <a:latin typeface="Arial"/>
              <a:ea typeface="Arial"/>
              <a:cs typeface="Arial"/>
              <a:sym typeface="Arial"/>
            </a:endParaRPr>
          </a:p>
          <a:p>
            <a:pPr indent="0" lvl="0" marL="0" rtl="0" algn="l">
              <a:spcBef>
                <a:spcPts val="0"/>
              </a:spcBef>
              <a:spcAft>
                <a:spcPts val="0"/>
              </a:spcAft>
              <a:buNone/>
            </a:pPr>
            <a:r>
              <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 Ask the LLM to split the question into separate queries</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prompt = f"""</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Break the following question into separate, simple search queries.</a:t>
            </a:r>
            <a:endParaRPr b="1" sz="1000">
              <a:solidFill>
                <a:srgbClr val="2563EB"/>
              </a:solidFill>
              <a:latin typeface="Arial"/>
              <a:ea typeface="Arial"/>
              <a:cs typeface="Arial"/>
              <a:sym typeface="Arial"/>
            </a:endParaRPr>
          </a:p>
          <a:p>
            <a:pPr indent="0" lvl="0" marL="0" rtl="0" algn="l">
              <a:spcBef>
                <a:spcPts val="0"/>
              </a:spcBef>
              <a:spcAft>
                <a:spcPts val="0"/>
              </a:spcAft>
              <a:buNone/>
            </a:pPr>
            <a:r>
              <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User question:</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{user_query}</a:t>
            </a:r>
            <a:endParaRPr b="1" sz="1000">
              <a:solidFill>
                <a:srgbClr val="2563EB"/>
              </a:solidFill>
              <a:latin typeface="Arial"/>
              <a:ea typeface="Arial"/>
              <a:cs typeface="Arial"/>
              <a:sym typeface="Arial"/>
            </a:endParaRPr>
          </a:p>
          <a:p>
            <a:pPr indent="0" lvl="0" marL="0" rtl="0" algn="l">
              <a:spcBef>
                <a:spcPts val="0"/>
              </a:spcBef>
              <a:spcAft>
                <a:spcPts val="0"/>
              </a:spcAft>
              <a:buNone/>
            </a:pPr>
            <a:r>
              <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Return the queries as a numbered list.</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a:t>
            </a:r>
            <a:endParaRPr b="1" sz="1000">
              <a:solidFill>
                <a:srgbClr val="2563EB"/>
              </a:solidFill>
              <a:latin typeface="Arial"/>
              <a:ea typeface="Arial"/>
              <a:cs typeface="Arial"/>
              <a:sym typeface="Arial"/>
            </a:endParaRPr>
          </a:p>
          <a:p>
            <a:pPr indent="0" lvl="0" marL="0" rtl="0" algn="l">
              <a:spcBef>
                <a:spcPts val="0"/>
              </a:spcBef>
              <a:spcAft>
                <a:spcPts val="0"/>
              </a:spcAft>
              <a:buNone/>
            </a:pPr>
            <a:r>
              <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response = client.responses.create(</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    model="gpt-5.6",</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    input=prompt</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a:t>
            </a:r>
            <a:endParaRPr b="1" sz="1000">
              <a:solidFill>
                <a:srgbClr val="2563EB"/>
              </a:solidFill>
              <a:latin typeface="Arial"/>
              <a:ea typeface="Arial"/>
              <a:cs typeface="Arial"/>
              <a:sym typeface="Arial"/>
            </a:endParaRPr>
          </a:p>
          <a:p>
            <a:pPr indent="0" lvl="0" marL="0" rtl="0" algn="l">
              <a:spcBef>
                <a:spcPts val="0"/>
              </a:spcBef>
              <a:spcAft>
                <a:spcPts val="0"/>
              </a:spcAft>
              <a:buNone/>
            </a:pPr>
            <a:r>
              <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 Get the generated queries</a:t>
            </a:r>
            <a:endParaRPr b="1" sz="1000">
              <a:solidFill>
                <a:srgbClr val="2563EB"/>
              </a:solidFill>
              <a:latin typeface="Arial"/>
              <a:ea typeface="Arial"/>
              <a:cs typeface="Arial"/>
              <a:sym typeface="Arial"/>
            </a:endParaRPr>
          </a:p>
          <a:p>
            <a:pPr indent="0" lvl="0" marL="0" rtl="0" algn="l">
              <a:spcBef>
                <a:spcPts val="0"/>
              </a:spcBef>
              <a:spcAft>
                <a:spcPts val="0"/>
              </a:spcAft>
              <a:buNone/>
            </a:pPr>
            <a:r>
              <a:rPr b="1" lang="en" sz="1000">
                <a:solidFill>
                  <a:srgbClr val="2563EB"/>
                </a:solidFill>
                <a:latin typeface="Arial"/>
                <a:ea typeface="Arial"/>
                <a:cs typeface="Arial"/>
                <a:sym typeface="Arial"/>
              </a:rPr>
              <a:t>print( "\nGenerated queries:\n", response.output_text)</a:t>
            </a:r>
            <a:endParaRPr b="1" sz="1000">
              <a:solidFill>
                <a:srgbClr val="2563EB"/>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9" name="Shape 2089"/>
        <p:cNvGrpSpPr/>
        <p:nvPr/>
      </p:nvGrpSpPr>
      <p:grpSpPr>
        <a:xfrm>
          <a:off x="0" y="0"/>
          <a:ext cx="0" cy="0"/>
          <a:chOff x="0" y="0"/>
          <a:chExt cx="0" cy="0"/>
        </a:xfrm>
      </p:grpSpPr>
      <p:sp>
        <p:nvSpPr>
          <p:cNvPr id="2090" name="Google Shape;2090;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Quiz Time</a:t>
            </a:r>
            <a:endParaRPr/>
          </a:p>
        </p:txBody>
      </p:sp>
      <p:sp>
        <p:nvSpPr>
          <p:cNvPr id="2091" name="Google Shape;2091;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What is the hidden cost of multi-query retrieval?</a:t>
            </a:r>
            <a:br>
              <a:rPr lang="en" sz="1100">
                <a:solidFill>
                  <a:schemeClr val="dk1"/>
                </a:solidFill>
              </a:rPr>
            </a:b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100">
                <a:solidFill>
                  <a:schemeClr val="dk1"/>
                </a:solidFill>
              </a:rPr>
              <a:t>A) Loses user intent </a:t>
            </a:r>
            <a:endParaRPr sz="1100">
              <a:solidFill>
                <a:schemeClr val="dk1"/>
              </a:solidFill>
            </a:endParaRPr>
          </a:p>
          <a:p>
            <a:pPr indent="0" lvl="0" marL="0" rtl="0" algn="l">
              <a:spcBef>
                <a:spcPts val="1200"/>
              </a:spcBef>
              <a:spcAft>
                <a:spcPts val="0"/>
              </a:spcAft>
              <a:buNone/>
            </a:pPr>
            <a:r>
              <a:rPr lang="en" sz="1100">
                <a:solidFill>
                  <a:schemeClr val="dk1"/>
                </a:solidFill>
              </a:rPr>
              <a:t>B) Breaks offline mode </a:t>
            </a:r>
            <a:endParaRPr sz="1100">
              <a:solidFill>
                <a:schemeClr val="dk1"/>
              </a:solidFill>
            </a:endParaRPr>
          </a:p>
          <a:p>
            <a:pPr indent="0" lvl="0" marL="0" rtl="0" algn="l">
              <a:spcBef>
                <a:spcPts val="1200"/>
              </a:spcBef>
              <a:spcAft>
                <a:spcPts val="0"/>
              </a:spcAft>
              <a:buNone/>
            </a:pPr>
            <a:r>
              <a:rPr lang="en" sz="1100">
                <a:solidFill>
                  <a:schemeClr val="dk1"/>
                </a:solidFill>
              </a:rPr>
              <a:t>C) Multiplies retrieval calls and context size </a:t>
            </a:r>
            <a:endParaRPr sz="1100">
              <a:solidFill>
                <a:schemeClr val="dk1"/>
              </a:solidFill>
            </a:endParaRPr>
          </a:p>
          <a:p>
            <a:pPr indent="0" lvl="0" marL="0" rtl="0" algn="l">
              <a:spcBef>
                <a:spcPts val="1200"/>
              </a:spcBef>
              <a:spcAft>
                <a:spcPts val="0"/>
              </a:spcAft>
              <a:buNone/>
            </a:pPr>
            <a:r>
              <a:rPr lang="en" sz="1100">
                <a:solidFill>
                  <a:schemeClr val="dk1"/>
                </a:solidFill>
              </a:rPr>
              <a:t>D) Requires regex</a:t>
            </a:r>
            <a:br>
              <a:rPr lang="en" sz="1100">
                <a:solidFill>
                  <a:schemeClr val="dk1"/>
                </a:solidFill>
              </a:rPr>
            </a:b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5" name="Shape 2095"/>
        <p:cNvGrpSpPr/>
        <p:nvPr/>
      </p:nvGrpSpPr>
      <p:grpSpPr>
        <a:xfrm>
          <a:off x="0" y="0"/>
          <a:ext cx="0" cy="0"/>
          <a:chOff x="0" y="0"/>
          <a:chExt cx="0" cy="0"/>
        </a:xfrm>
      </p:grpSpPr>
      <p:sp>
        <p:nvSpPr>
          <p:cNvPr id="2096" name="Google Shape;2096;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Quiz 5</a:t>
            </a:r>
            <a:endParaRPr b="1"/>
          </a:p>
        </p:txBody>
      </p:sp>
      <p:pic>
        <p:nvPicPr>
          <p:cNvPr id="2097" name="Google Shape;2097;p72" title="Screenshot 2026-10-23 at 3.08.36 PM.png"/>
          <p:cNvPicPr preferRelativeResize="0"/>
          <p:nvPr/>
        </p:nvPicPr>
        <p:blipFill rotWithShape="1">
          <a:blip r:embed="rId3">
            <a:alphaModFix/>
          </a:blip>
          <a:srcRect b="278" l="0" r="0" t="278"/>
          <a:stretch/>
        </p:blipFill>
        <p:spPr>
          <a:xfrm>
            <a:off x="2661513" y="1017725"/>
            <a:ext cx="3820976" cy="3820973"/>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1" name="Shape 2101"/>
        <p:cNvGrpSpPr/>
        <p:nvPr/>
      </p:nvGrpSpPr>
      <p:grpSpPr>
        <a:xfrm>
          <a:off x="0" y="0"/>
          <a:ext cx="0" cy="0"/>
          <a:chOff x="0" y="0"/>
          <a:chExt cx="0" cy="0"/>
        </a:xfrm>
      </p:grpSpPr>
      <p:sp>
        <p:nvSpPr>
          <p:cNvPr id="2102" name="Google Shape;2102;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Quiz Time</a:t>
            </a:r>
            <a:endParaRPr/>
          </a:p>
        </p:txBody>
      </p:sp>
      <p:sp>
        <p:nvSpPr>
          <p:cNvPr id="2103" name="Google Shape;2103;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What is the hidden cost of multi-query retrieval?</a:t>
            </a:r>
            <a:br>
              <a:rPr lang="en" sz="1100">
                <a:solidFill>
                  <a:schemeClr val="dk1"/>
                </a:solidFill>
              </a:rPr>
            </a:b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100">
                <a:solidFill>
                  <a:schemeClr val="dk1"/>
                </a:solidFill>
              </a:rPr>
              <a:t>A) Loses user intent </a:t>
            </a:r>
            <a:endParaRPr sz="1100">
              <a:solidFill>
                <a:schemeClr val="dk1"/>
              </a:solidFill>
            </a:endParaRPr>
          </a:p>
          <a:p>
            <a:pPr indent="0" lvl="0" marL="0" rtl="0" algn="l">
              <a:spcBef>
                <a:spcPts val="1200"/>
              </a:spcBef>
              <a:spcAft>
                <a:spcPts val="0"/>
              </a:spcAft>
              <a:buNone/>
            </a:pPr>
            <a:r>
              <a:rPr lang="en" sz="1100">
                <a:solidFill>
                  <a:schemeClr val="dk1"/>
                </a:solidFill>
              </a:rPr>
              <a:t>B) Breaks offline mode </a:t>
            </a:r>
            <a:endParaRPr sz="1100">
              <a:solidFill>
                <a:schemeClr val="dk1"/>
              </a:solidFill>
            </a:endParaRPr>
          </a:p>
          <a:p>
            <a:pPr indent="0" lvl="0" marL="0" rtl="0" algn="l">
              <a:spcBef>
                <a:spcPts val="1200"/>
              </a:spcBef>
              <a:spcAft>
                <a:spcPts val="0"/>
              </a:spcAft>
              <a:buNone/>
            </a:pPr>
            <a:r>
              <a:rPr lang="en" sz="1100">
                <a:solidFill>
                  <a:schemeClr val="dk1"/>
                </a:solidFill>
              </a:rPr>
              <a:t>C) Multiplies retrieval calls and context size </a:t>
            </a:r>
            <a:endParaRPr sz="1100">
              <a:solidFill>
                <a:schemeClr val="dk1"/>
              </a:solidFill>
            </a:endParaRPr>
          </a:p>
          <a:p>
            <a:pPr indent="0" lvl="0" marL="0" rtl="0" algn="l">
              <a:spcBef>
                <a:spcPts val="1200"/>
              </a:spcBef>
              <a:spcAft>
                <a:spcPts val="0"/>
              </a:spcAft>
              <a:buNone/>
            </a:pPr>
            <a:r>
              <a:rPr lang="en" sz="1100">
                <a:solidFill>
                  <a:schemeClr val="dk1"/>
                </a:solidFill>
              </a:rPr>
              <a:t>D) Requires regex</a:t>
            </a:r>
            <a:br>
              <a:rPr lang="en" sz="1100">
                <a:solidFill>
                  <a:schemeClr val="dk1"/>
                </a:solidFill>
              </a:rPr>
            </a:br>
            <a:endParaRPr sz="1100">
              <a:solidFill>
                <a:schemeClr val="dk1"/>
              </a:solidFill>
            </a:endParaRPr>
          </a:p>
          <a:p>
            <a:pPr indent="0" lvl="0" marL="0" rtl="0" algn="l">
              <a:spcBef>
                <a:spcPts val="1200"/>
              </a:spcBef>
              <a:spcAft>
                <a:spcPts val="0"/>
              </a:spcAft>
              <a:buNone/>
            </a:pPr>
            <a:r>
              <a:rPr b="1" lang="en" sz="1100">
                <a:solidFill>
                  <a:schemeClr val="dk1"/>
                </a:solidFill>
              </a:rPr>
              <a:t>Ans: C</a:t>
            </a:r>
            <a:r>
              <a:rPr lang="en" sz="1100">
                <a:solidFill>
                  <a:schemeClr val="dk1"/>
                </a:solidFill>
              </a:rPr>
              <a:t> — N queries means N retrievals and N chunk sets competing for the context window.</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7" name="Shape 2107"/>
        <p:cNvGrpSpPr/>
        <p:nvPr/>
      </p:nvGrpSpPr>
      <p:grpSpPr>
        <a:xfrm>
          <a:off x="0" y="0"/>
          <a:ext cx="0" cy="0"/>
          <a:chOff x="0" y="0"/>
          <a:chExt cx="0" cy="0"/>
        </a:xfrm>
      </p:grpSpPr>
      <p:sp>
        <p:nvSpPr>
          <p:cNvPr id="2108" name="Google Shape;2108;p74"/>
          <p:cNvSpPr txBox="1"/>
          <p:nvPr>
            <p:ph type="title"/>
          </p:nvPr>
        </p:nvSpPr>
        <p:spPr>
          <a:xfrm>
            <a:off x="381000" y="4968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Transformations: Step-Back Prompting</a:t>
            </a:r>
            <a:endParaRPr/>
          </a:p>
        </p:txBody>
      </p:sp>
      <p:grpSp>
        <p:nvGrpSpPr>
          <p:cNvPr id="2109" name="Google Shape;2109;p74"/>
          <p:cNvGrpSpPr/>
          <p:nvPr/>
        </p:nvGrpSpPr>
        <p:grpSpPr>
          <a:xfrm>
            <a:off x="381000" y="857250"/>
            <a:ext cx="8382000" cy="952500"/>
            <a:chOff x="381000" y="857250"/>
            <a:chExt cx="8382000" cy="952500"/>
          </a:xfrm>
        </p:grpSpPr>
        <p:sp>
          <p:nvSpPr>
            <p:cNvPr id="2110" name="Google Shape;2110;p74"/>
            <p:cNvSpPr/>
            <p:nvPr/>
          </p:nvSpPr>
          <p:spPr>
            <a:xfrm>
              <a:off x="381000" y="857250"/>
              <a:ext cx="8382000" cy="952500"/>
            </a:xfrm>
            <a:prstGeom prst="roundRect">
              <a:avLst>
                <a:gd fmla="val 12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1" name="Google Shape;2111;p74"/>
            <p:cNvSpPr txBox="1"/>
            <p:nvPr/>
          </p:nvSpPr>
          <p:spPr>
            <a:xfrm>
              <a:off x="571500" y="952500"/>
              <a:ext cx="800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2563EB"/>
                  </a:solidFill>
                  <a:latin typeface="Arial"/>
                  <a:ea typeface="Arial"/>
                  <a:cs typeface="Arial"/>
                  <a:sym typeface="Arial"/>
                </a:rPr>
                <a:t>What it is:</a:t>
              </a:r>
              <a:r>
                <a:rPr b="0" lang="en" sz="1300">
                  <a:solidFill>
                    <a:srgbClr val="1E293B"/>
                  </a:solidFill>
                  <a:latin typeface="Arial"/>
                  <a:ea typeface="Arial"/>
                  <a:cs typeface="Arial"/>
                  <a:sym typeface="Arial"/>
                </a:rPr>
                <a:t> Creating a broader, high-level question to retrieve foundational context </a:t>
              </a:r>
              <a:r>
                <a:rPr b="0" i="1" lang="en" sz="1300">
                  <a:solidFill>
                    <a:srgbClr val="1E293B"/>
                  </a:solidFill>
                  <a:latin typeface="Arial"/>
                  <a:ea typeface="Arial"/>
                  <a:cs typeface="Arial"/>
                  <a:sym typeface="Arial"/>
                </a:rPr>
                <a:t>before</a:t>
              </a:r>
              <a:r>
                <a:rPr b="0" lang="en" sz="1300">
                  <a:solidFill>
                    <a:srgbClr val="1E293B"/>
                  </a:solidFill>
                  <a:latin typeface="Arial"/>
                  <a:ea typeface="Arial"/>
                  <a:cs typeface="Arial"/>
                  <a:sym typeface="Arial"/>
                </a:rPr>
                <a:t> attempting to answer a hyper-specific user query.</a:t>
              </a:r>
              <a:endParaRPr b="1" sz="1300">
                <a:solidFill>
                  <a:srgbClr val="2563EB"/>
                </a:solidFill>
                <a:latin typeface="Arial"/>
                <a:ea typeface="Arial"/>
                <a:cs typeface="Arial"/>
                <a:sym typeface="Arial"/>
              </a:endParaRPr>
            </a:p>
            <a:p>
              <a:pPr indent="0" lvl="0" marL="0" rtl="0" algn="l">
                <a:spcBef>
                  <a:spcPts val="450"/>
                </a:spcBef>
                <a:spcAft>
                  <a:spcPts val="0"/>
                </a:spcAft>
                <a:buNone/>
              </a:pPr>
              <a:r>
                <a:rPr b="1" lang="en" sz="1300">
                  <a:solidFill>
                    <a:srgbClr val="2563EB"/>
                  </a:solidFill>
                  <a:latin typeface="Arial"/>
                  <a:ea typeface="Arial"/>
                  <a:cs typeface="Arial"/>
                  <a:sym typeface="Arial"/>
                </a:rPr>
                <a:t>When to use it:</a:t>
              </a:r>
              <a:r>
                <a:rPr b="0" lang="en" sz="1300">
                  <a:solidFill>
                    <a:srgbClr val="1E293B"/>
                  </a:solidFill>
                  <a:latin typeface="Arial"/>
                  <a:ea typeface="Arial"/>
                  <a:cs typeface="Arial"/>
                  <a:sym typeface="Arial"/>
                </a:rPr>
                <a:t> When an engineer's query is so deep in the weeds that it misses underlying architectural rules, leading to "no results" or hallucinations.</a:t>
              </a:r>
              <a:endParaRPr b="1" sz="1300">
                <a:solidFill>
                  <a:srgbClr val="2563EB"/>
                </a:solidFill>
                <a:latin typeface="Arial"/>
                <a:ea typeface="Arial"/>
                <a:cs typeface="Arial"/>
                <a:sym typeface="Arial"/>
              </a:endParaRPr>
            </a:p>
          </p:txBody>
        </p:sp>
      </p:grpSp>
      <p:grpSp>
        <p:nvGrpSpPr>
          <p:cNvPr id="2112" name="Google Shape;2112;p74"/>
          <p:cNvGrpSpPr/>
          <p:nvPr/>
        </p:nvGrpSpPr>
        <p:grpSpPr>
          <a:xfrm>
            <a:off x="381000" y="2000250"/>
            <a:ext cx="8382000" cy="2238300"/>
            <a:chOff x="381000" y="2000250"/>
            <a:chExt cx="8382000" cy="2238300"/>
          </a:xfrm>
        </p:grpSpPr>
        <p:sp>
          <p:nvSpPr>
            <p:cNvPr id="2113" name="Google Shape;2113;p74"/>
            <p:cNvSpPr/>
            <p:nvPr/>
          </p:nvSpPr>
          <p:spPr>
            <a:xfrm>
              <a:off x="381000" y="2000250"/>
              <a:ext cx="8382000" cy="2238300"/>
            </a:xfrm>
            <a:prstGeom prst="roundRect">
              <a:avLst>
                <a:gd fmla="val 510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4" name="Google Shape;2114;p74"/>
            <p:cNvSpPr txBox="1"/>
            <p:nvPr/>
          </p:nvSpPr>
          <p:spPr>
            <a:xfrm>
              <a:off x="571500" y="2095500"/>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475569"/>
                  </a:solidFill>
                  <a:latin typeface="Arial"/>
                  <a:ea typeface="Arial"/>
                  <a:cs typeface="Arial"/>
                  <a:sym typeface="Arial"/>
                </a:rPr>
                <a:t>Project Example: </a:t>
              </a:r>
              <a:endParaRPr b="1" sz="1600">
                <a:solidFill>
                  <a:srgbClr val="475569"/>
                </a:solidFill>
                <a:latin typeface="Arial"/>
                <a:ea typeface="Arial"/>
                <a:cs typeface="Arial"/>
                <a:sym typeface="Arial"/>
              </a:endParaRPr>
            </a:p>
          </p:txBody>
        </p:sp>
        <p:sp>
          <p:nvSpPr>
            <p:cNvPr id="2115" name="Google Shape;2115;p74"/>
            <p:cNvSpPr/>
            <p:nvPr/>
          </p:nvSpPr>
          <p:spPr>
            <a:xfrm>
              <a:off x="571500" y="2524125"/>
              <a:ext cx="3619500" cy="1524000"/>
            </a:xfrm>
            <a:prstGeom prst="roundRect">
              <a:avLst>
                <a:gd fmla="val 5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6" name="Google Shape;2116;p74"/>
            <p:cNvSpPr txBox="1"/>
            <p:nvPr/>
          </p:nvSpPr>
          <p:spPr>
            <a:xfrm>
              <a:off x="714375" y="2619375"/>
              <a:ext cx="33339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64748B"/>
                  </a:solidFill>
                  <a:latin typeface="Arial"/>
                  <a:ea typeface="Arial"/>
                  <a:cs typeface="Arial"/>
                  <a:sym typeface="Arial"/>
                </a:rPr>
                <a:t>USER QUERY</a:t>
              </a:r>
              <a:endParaRPr b="1">
                <a:solidFill>
                  <a:srgbClr val="64748B"/>
                </a:solidFill>
                <a:latin typeface="Arial"/>
                <a:ea typeface="Arial"/>
                <a:cs typeface="Arial"/>
                <a:sym typeface="Arial"/>
              </a:endParaRPr>
            </a:p>
            <a:p>
              <a:pPr indent="0" lvl="0" marL="0" rtl="0" algn="l">
                <a:spcBef>
                  <a:spcPts val="600"/>
                </a:spcBef>
                <a:spcAft>
                  <a:spcPts val="0"/>
                </a:spcAft>
                <a:buNone/>
              </a:pPr>
              <a:r>
                <a:rPr b="0" i="1" lang="en">
                  <a:solidFill>
                    <a:srgbClr val="334155"/>
                  </a:solidFill>
                  <a:latin typeface="Arial"/>
                  <a:ea typeface="Arial"/>
                  <a:cs typeface="Arial"/>
                  <a:sym typeface="Arial"/>
                </a:rPr>
                <a:t>"Why can't I pull the switch association data for the rogue units on Floor 3?"</a:t>
              </a:r>
              <a:endParaRPr b="0" i="1">
                <a:solidFill>
                  <a:srgbClr val="334155"/>
                </a:solidFill>
                <a:latin typeface="Arial"/>
                <a:ea typeface="Arial"/>
                <a:cs typeface="Arial"/>
                <a:sym typeface="Arial"/>
              </a:endParaRPr>
            </a:p>
          </p:txBody>
        </p:sp>
        <p:sp>
          <p:nvSpPr>
            <p:cNvPr id="2117" name="Google Shape;2117;p74"/>
            <p:cNvSpPr/>
            <p:nvPr/>
          </p:nvSpPr>
          <p:spPr>
            <a:xfrm>
              <a:off x="4953000" y="2524125"/>
              <a:ext cx="3810000" cy="1524000"/>
            </a:xfrm>
            <a:prstGeom prst="roundRect">
              <a:avLst>
                <a:gd fmla="val 5000"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8" name="Google Shape;2118;p74"/>
            <p:cNvSpPr txBox="1"/>
            <p:nvPr/>
          </p:nvSpPr>
          <p:spPr>
            <a:xfrm>
              <a:off x="5095875" y="2619375"/>
              <a:ext cx="3524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0369A1"/>
                  </a:solidFill>
                  <a:latin typeface="Arial"/>
                  <a:ea typeface="Arial"/>
                  <a:cs typeface="Arial"/>
                  <a:sym typeface="Arial"/>
                </a:rPr>
                <a:t>STEP-BACK (BROADER) QUERY</a:t>
              </a:r>
              <a:endParaRPr b="1">
                <a:solidFill>
                  <a:srgbClr val="0369A1"/>
                </a:solidFill>
                <a:latin typeface="Arial"/>
                <a:ea typeface="Arial"/>
                <a:cs typeface="Arial"/>
                <a:sym typeface="Arial"/>
              </a:endParaRPr>
            </a:p>
            <a:p>
              <a:pPr indent="0" lvl="0" marL="0" rtl="0" algn="l">
                <a:spcBef>
                  <a:spcPts val="600"/>
                </a:spcBef>
                <a:spcAft>
                  <a:spcPts val="0"/>
                </a:spcAft>
                <a:buNone/>
              </a:pPr>
              <a:r>
                <a:rPr b="0" lang="en">
                  <a:solidFill>
                    <a:srgbClr val="0C4A6E"/>
                  </a:solidFill>
                  <a:latin typeface="Roboto Mono"/>
                  <a:ea typeface="Roboto Mono"/>
                  <a:cs typeface="Roboto Mono"/>
                  <a:sym typeface="Roboto Mono"/>
                </a:rPr>
                <a:t>"What is the overall architecture of our network troubleshooting system, and what data is collected from reporting access points versus rogue units?"</a:t>
              </a:r>
              <a:endParaRPr b="0">
                <a:solidFill>
                  <a:srgbClr val="0C4A6E"/>
                </a:solidFill>
                <a:latin typeface="Roboto Mono"/>
                <a:ea typeface="Roboto Mono"/>
                <a:cs typeface="Roboto Mono"/>
                <a:sym typeface="Roboto Mono"/>
              </a:endParaRPr>
            </a:p>
          </p:txBody>
        </p:sp>
        <p:pic>
          <p:nvPicPr>
            <p:cNvPr id="2119" name="Google Shape;2119;p74"/>
            <p:cNvPicPr preferRelativeResize="0"/>
            <p:nvPr/>
          </p:nvPicPr>
          <p:blipFill rotWithShape="1">
            <a:blip r:embed="rId4">
              <a:alphaModFix/>
            </a:blip>
            <a:srcRect b="0" l="7140" r="7148" t="0"/>
            <a:stretch/>
          </p:blipFill>
          <p:spPr>
            <a:xfrm>
              <a:off x="4286250" y="3219450"/>
              <a:ext cx="571500" cy="133500"/>
            </a:xfrm>
            <a:prstGeom prst="rect">
              <a:avLst/>
            </a:prstGeom>
            <a:noFill/>
            <a:ln>
              <a:noFill/>
            </a:ln>
          </p:spPr>
        </p:pic>
      </p:grpSp>
      <p:grpSp>
        <p:nvGrpSpPr>
          <p:cNvPr id="2120" name="Google Shape;2120;p74"/>
          <p:cNvGrpSpPr/>
          <p:nvPr/>
        </p:nvGrpSpPr>
        <p:grpSpPr>
          <a:xfrm>
            <a:off x="381000" y="4381500"/>
            <a:ext cx="8382000" cy="619200"/>
            <a:chOff x="381000" y="4381500"/>
            <a:chExt cx="8382000" cy="619200"/>
          </a:xfrm>
        </p:grpSpPr>
        <p:sp>
          <p:nvSpPr>
            <p:cNvPr id="2121" name="Google Shape;2121;p74"/>
            <p:cNvSpPr/>
            <p:nvPr/>
          </p:nvSpPr>
          <p:spPr>
            <a:xfrm>
              <a:off x="381000" y="4381500"/>
              <a:ext cx="8382000" cy="619200"/>
            </a:xfrm>
            <a:prstGeom prst="roundRect">
              <a:avLst>
                <a:gd fmla="val 12307"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2" name="Google Shape;2122;p74"/>
            <p:cNvSpPr txBox="1"/>
            <p:nvPr/>
          </p:nvSpPr>
          <p:spPr>
            <a:xfrm>
              <a:off x="619125" y="4381500"/>
              <a:ext cx="79059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66534"/>
                  </a:solidFill>
                  <a:latin typeface="Arial"/>
                  <a:ea typeface="Arial"/>
                  <a:cs typeface="Arial"/>
                  <a:sym typeface="Arial"/>
                </a:rPr>
                <a:t>The Impact:</a:t>
              </a:r>
              <a:r>
                <a:rPr b="0" lang="en">
                  <a:solidFill>
                    <a:srgbClr val="166534"/>
                  </a:solidFill>
                  <a:latin typeface="Arial"/>
                  <a:ea typeface="Arial"/>
                  <a:cs typeface="Arial"/>
                  <a:sym typeface="Arial"/>
                </a:rPr>
                <a:t> The step-back query retrieves the foundational rule: </a:t>
              </a:r>
              <a:r>
                <a:rPr b="0" i="1" lang="en">
                  <a:solidFill>
                    <a:srgbClr val="166534"/>
                  </a:solidFill>
                  <a:latin typeface="Arial"/>
                  <a:ea typeface="Arial"/>
                  <a:cs typeface="Arial"/>
                  <a:sym typeface="Arial"/>
                </a:rPr>
                <a:t>switch association data is only available for reporting access points, not rogue units.</a:t>
              </a:r>
              <a:r>
                <a:rPr b="0" lang="en">
                  <a:solidFill>
                    <a:srgbClr val="166534"/>
                  </a:solidFill>
                  <a:latin typeface="Arial"/>
                  <a:ea typeface="Arial"/>
                  <a:cs typeface="Arial"/>
                  <a:sym typeface="Arial"/>
                </a:rPr>
                <a:t> This allows the agent to explain the architectural limitation.</a:t>
              </a:r>
              <a:endParaRPr b="1">
                <a:solidFill>
                  <a:srgbClr val="166534"/>
                </a:solidFill>
                <a:latin typeface="Arial"/>
                <a:ea typeface="Arial"/>
                <a:cs typeface="Arial"/>
                <a:sym typeface="Arial"/>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6" name="Shape 2126"/>
        <p:cNvGrpSpPr/>
        <p:nvPr/>
      </p:nvGrpSpPr>
      <p:grpSpPr>
        <a:xfrm>
          <a:off x="0" y="0"/>
          <a:ext cx="0" cy="0"/>
          <a:chOff x="0" y="0"/>
          <a:chExt cx="0" cy="0"/>
        </a:xfrm>
      </p:grpSpPr>
      <p:sp>
        <p:nvSpPr>
          <p:cNvPr id="2127" name="Google Shape;2127;p75"/>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Transformations: </a:t>
            </a:r>
            <a:r>
              <a:rPr lang="en"/>
              <a:t>Step-Back Prompting</a:t>
            </a:r>
            <a:endParaRPr/>
          </a:p>
        </p:txBody>
      </p:sp>
      <p:pic>
        <p:nvPicPr>
          <p:cNvPr id="2128" name="Google Shape;2128;p75"/>
          <p:cNvPicPr preferRelativeResize="0"/>
          <p:nvPr/>
        </p:nvPicPr>
        <p:blipFill>
          <a:blip r:embed="rId4">
            <a:alphaModFix/>
          </a:blip>
          <a:stretch>
            <a:fillRect/>
          </a:stretch>
        </p:blipFill>
        <p:spPr>
          <a:xfrm>
            <a:off x="3032188" y="848035"/>
            <a:ext cx="3079614" cy="413251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2" name="Shape 2132"/>
        <p:cNvGrpSpPr/>
        <p:nvPr/>
      </p:nvGrpSpPr>
      <p:grpSpPr>
        <a:xfrm>
          <a:off x="0" y="0"/>
          <a:ext cx="0" cy="0"/>
          <a:chOff x="0" y="0"/>
          <a:chExt cx="0" cy="0"/>
        </a:xfrm>
      </p:grpSpPr>
      <p:sp>
        <p:nvSpPr>
          <p:cNvPr id="2133" name="Google Shape;2133;p76"/>
          <p:cNvSpPr txBox="1"/>
          <p:nvPr>
            <p:ph type="title"/>
          </p:nvPr>
        </p:nvSpPr>
        <p:spPr>
          <a:xfrm>
            <a:off x="311700" y="115127"/>
            <a:ext cx="8520600" cy="55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Need for Dynamic Decisions for User Queries </a:t>
            </a:r>
            <a:endParaRPr/>
          </a:p>
        </p:txBody>
      </p:sp>
      <p:grpSp>
        <p:nvGrpSpPr>
          <p:cNvPr id="2134" name="Google Shape;2134;p76"/>
          <p:cNvGrpSpPr/>
          <p:nvPr/>
        </p:nvGrpSpPr>
        <p:grpSpPr>
          <a:xfrm>
            <a:off x="381000" y="952500"/>
            <a:ext cx="8382000" cy="1047900"/>
            <a:chOff x="381000" y="952500"/>
            <a:chExt cx="8382000" cy="1047900"/>
          </a:xfrm>
        </p:grpSpPr>
        <p:sp>
          <p:nvSpPr>
            <p:cNvPr id="2135" name="Google Shape;2135;p76"/>
            <p:cNvSpPr/>
            <p:nvPr/>
          </p:nvSpPr>
          <p:spPr>
            <a:xfrm>
              <a:off x="381000" y="952500"/>
              <a:ext cx="8382000" cy="1047900"/>
            </a:xfrm>
            <a:prstGeom prst="roundRect">
              <a:avLst>
                <a:gd fmla="val 10909"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6" name="Google Shape;2136;p76"/>
            <p:cNvSpPr txBox="1"/>
            <p:nvPr/>
          </p:nvSpPr>
          <p:spPr>
            <a:xfrm>
              <a:off x="571500" y="1047750"/>
              <a:ext cx="8001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991B1B"/>
                  </a:solidFill>
                  <a:latin typeface="Arial"/>
                  <a:ea typeface="Arial"/>
                  <a:cs typeface="Arial"/>
                  <a:sym typeface="Arial"/>
                </a:rPr>
                <a:t>The Immediate Problem</a:t>
              </a:r>
              <a:endParaRPr b="1">
                <a:solidFill>
                  <a:srgbClr val="991B1B"/>
                </a:solidFill>
                <a:latin typeface="Arial"/>
                <a:ea typeface="Arial"/>
                <a:cs typeface="Arial"/>
                <a:sym typeface="Arial"/>
              </a:endParaRPr>
            </a:p>
            <a:p>
              <a:pPr indent="0" lvl="0" marL="0" rtl="0" algn="l">
                <a:spcBef>
                  <a:spcPts val="450"/>
                </a:spcBef>
                <a:spcAft>
                  <a:spcPts val="0"/>
                </a:spcAft>
                <a:buNone/>
              </a:pPr>
              <a:r>
                <a:rPr b="0" lang="en">
                  <a:solidFill>
                    <a:srgbClr val="451A1A"/>
                  </a:solidFill>
                  <a:latin typeface="Arial"/>
                  <a:ea typeface="Arial"/>
                  <a:cs typeface="Arial"/>
                  <a:sym typeface="Arial"/>
                </a:rPr>
                <a:t>We now have four powerful ways to transform a query (Rewriting, Follow-ups, Multi-Query, Step-Back). But how does the system know </a:t>
              </a:r>
              <a:r>
                <a:rPr b="1" i="1" lang="en">
                  <a:solidFill>
                    <a:srgbClr val="451A1A"/>
                  </a:solidFill>
                  <a:latin typeface="Arial"/>
                  <a:ea typeface="Arial"/>
                  <a:cs typeface="Arial"/>
                  <a:sym typeface="Arial"/>
                </a:rPr>
                <a:t>which</a:t>
              </a:r>
              <a:r>
                <a:rPr b="0" lang="en">
                  <a:solidFill>
                    <a:srgbClr val="451A1A"/>
                  </a:solidFill>
                  <a:latin typeface="Arial"/>
                  <a:ea typeface="Arial"/>
                  <a:cs typeface="Arial"/>
                  <a:sym typeface="Arial"/>
                </a:rPr>
                <a:t> technique to apply to a specific user prompt?</a:t>
              </a:r>
              <a:endParaRPr b="0">
                <a:solidFill>
                  <a:srgbClr val="451A1A"/>
                </a:solidFill>
                <a:latin typeface="Arial"/>
                <a:ea typeface="Arial"/>
                <a:cs typeface="Arial"/>
                <a:sym typeface="Arial"/>
              </a:endParaRPr>
            </a:p>
          </p:txBody>
        </p:sp>
      </p:grpSp>
      <p:grpSp>
        <p:nvGrpSpPr>
          <p:cNvPr id="2137" name="Google Shape;2137;p76"/>
          <p:cNvGrpSpPr/>
          <p:nvPr/>
        </p:nvGrpSpPr>
        <p:grpSpPr>
          <a:xfrm>
            <a:off x="381000" y="2143125"/>
            <a:ext cx="8382000" cy="1714500"/>
            <a:chOff x="381000" y="2143125"/>
            <a:chExt cx="8382000" cy="1714500"/>
          </a:xfrm>
        </p:grpSpPr>
        <p:sp>
          <p:nvSpPr>
            <p:cNvPr id="2138" name="Google Shape;2138;p76"/>
            <p:cNvSpPr/>
            <p:nvPr/>
          </p:nvSpPr>
          <p:spPr>
            <a:xfrm>
              <a:off x="381000" y="2143125"/>
              <a:ext cx="8382000" cy="1714500"/>
            </a:xfrm>
            <a:prstGeom prst="roundRect">
              <a:avLst>
                <a:gd fmla="val 66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9" name="Google Shape;2139;p76"/>
            <p:cNvSpPr txBox="1"/>
            <p:nvPr/>
          </p:nvSpPr>
          <p:spPr>
            <a:xfrm>
              <a:off x="571500" y="2238375"/>
              <a:ext cx="8001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334155"/>
                  </a:solidFill>
                  <a:latin typeface="Arial"/>
                  <a:ea typeface="Arial"/>
                  <a:cs typeface="Arial"/>
                  <a:sym typeface="Arial"/>
                </a:rPr>
                <a:t>The Broader RAG Challenge</a:t>
              </a:r>
              <a:endParaRPr b="1">
                <a:solidFill>
                  <a:srgbClr val="334155"/>
                </a:solidFill>
                <a:latin typeface="Arial"/>
                <a:ea typeface="Arial"/>
                <a:cs typeface="Arial"/>
                <a:sym typeface="Arial"/>
              </a:endParaRPr>
            </a:p>
            <a:p>
              <a:pPr indent="0" lvl="0" marL="0" rtl="0" algn="l">
                <a:spcBef>
                  <a:spcPts val="750"/>
                </a:spcBef>
                <a:spcAft>
                  <a:spcPts val="0"/>
                </a:spcAft>
                <a:buNone/>
              </a:pPr>
              <a:r>
                <a:rPr b="0" lang="en">
                  <a:solidFill>
                    <a:srgbClr val="64748B"/>
                  </a:solidFill>
                  <a:latin typeface="Arial"/>
                  <a:ea typeface="Arial"/>
                  <a:cs typeface="Arial"/>
                  <a:sym typeface="Arial"/>
                </a:rPr>
                <a:t>As </a:t>
              </a:r>
              <a:r>
                <a:rPr lang="en">
                  <a:solidFill>
                    <a:srgbClr val="64748B"/>
                  </a:solidFill>
                </a:rPr>
                <a:t>system</a:t>
              </a:r>
              <a:r>
                <a:rPr b="0" lang="en">
                  <a:solidFill>
                    <a:srgbClr val="64748B"/>
                  </a:solidFill>
                  <a:latin typeface="Arial"/>
                  <a:ea typeface="Arial"/>
                  <a:cs typeface="Arial"/>
                  <a:sym typeface="Arial"/>
                </a:rPr>
                <a:t> scales, this decision-making dilemma appears everywhere:</a:t>
              </a:r>
              <a:endParaRPr b="0">
                <a:solidFill>
                  <a:srgbClr val="64748B"/>
                </a:solidFill>
                <a:latin typeface="Arial"/>
                <a:ea typeface="Arial"/>
                <a:cs typeface="Arial"/>
                <a:sym typeface="Arial"/>
              </a:endParaRPr>
            </a:p>
            <a:p>
              <a:pPr indent="-317500" lvl="0" marL="457200" rtl="0" algn="l">
                <a:spcBef>
                  <a:spcPts val="900"/>
                </a:spcBef>
                <a:spcAft>
                  <a:spcPts val="0"/>
                </a:spcAft>
                <a:buClr>
                  <a:srgbClr val="475569"/>
                </a:buClr>
                <a:buSzPts val="1400"/>
                <a:buFont typeface="Arial"/>
                <a:buChar char="●"/>
              </a:pPr>
              <a:r>
                <a:rPr b="0" i="1" lang="en">
                  <a:solidFill>
                    <a:srgbClr val="475569"/>
                  </a:solidFill>
                  <a:latin typeface="Arial"/>
                  <a:ea typeface="Arial"/>
                  <a:cs typeface="Arial"/>
                  <a:sym typeface="Arial"/>
                </a:rPr>
                <a:t>Which transformation technique should I use?</a:t>
              </a:r>
              <a:endParaRPr b="0" i="1">
                <a:solidFill>
                  <a:srgbClr val="475569"/>
                </a:solidFill>
                <a:latin typeface="Arial"/>
                <a:ea typeface="Arial"/>
                <a:cs typeface="Arial"/>
                <a:sym typeface="Arial"/>
              </a:endParaRPr>
            </a:p>
            <a:p>
              <a:pPr indent="-317500" lvl="0" marL="457200" rtl="0" algn="l">
                <a:spcBef>
                  <a:spcPts val="600"/>
                </a:spcBef>
                <a:spcAft>
                  <a:spcPts val="0"/>
                </a:spcAft>
                <a:buClr>
                  <a:srgbClr val="475569"/>
                </a:buClr>
                <a:buSzPts val="1400"/>
                <a:buFont typeface="Arial"/>
                <a:buChar char="●"/>
              </a:pPr>
              <a:r>
                <a:rPr b="0" i="1" lang="en">
                  <a:solidFill>
                    <a:srgbClr val="475569"/>
                  </a:solidFill>
                  <a:latin typeface="Arial"/>
                  <a:ea typeface="Arial"/>
                  <a:cs typeface="Arial"/>
                  <a:sym typeface="Arial"/>
                </a:rPr>
                <a:t>Should I search the HR vector database or the GitHub code repository?</a:t>
              </a:r>
              <a:endParaRPr b="0" i="1">
                <a:solidFill>
                  <a:srgbClr val="475569"/>
                </a:solidFill>
                <a:latin typeface="Arial"/>
                <a:ea typeface="Arial"/>
                <a:cs typeface="Arial"/>
                <a:sym typeface="Arial"/>
              </a:endParaRPr>
            </a:p>
            <a:p>
              <a:pPr indent="-317500" lvl="0" marL="457200" rtl="0" algn="l">
                <a:spcBef>
                  <a:spcPts val="600"/>
                </a:spcBef>
                <a:spcAft>
                  <a:spcPts val="0"/>
                </a:spcAft>
                <a:buClr>
                  <a:srgbClr val="475569"/>
                </a:buClr>
                <a:buSzPts val="1400"/>
                <a:buFont typeface="Arial"/>
                <a:buChar char="●"/>
              </a:pPr>
              <a:r>
                <a:rPr b="0" i="1" lang="en">
                  <a:solidFill>
                    <a:srgbClr val="475569"/>
                  </a:solidFill>
                  <a:latin typeface="Arial"/>
                  <a:ea typeface="Arial"/>
                  <a:cs typeface="Arial"/>
                  <a:sym typeface="Arial"/>
                </a:rPr>
                <a:t>Do I need a fast, cheap LLM for this, or a highly capable, expensive reasoning model?</a:t>
              </a:r>
              <a:endParaRPr b="0" i="1">
                <a:solidFill>
                  <a:srgbClr val="475569"/>
                </a:solidFill>
                <a:latin typeface="Arial"/>
                <a:ea typeface="Arial"/>
                <a:cs typeface="Arial"/>
                <a:sym typeface="Arial"/>
              </a:endParaRPr>
            </a:p>
          </p:txBody>
        </p:sp>
      </p:grpSp>
      <p:grpSp>
        <p:nvGrpSpPr>
          <p:cNvPr id="2140" name="Google Shape;2140;p76"/>
          <p:cNvGrpSpPr/>
          <p:nvPr/>
        </p:nvGrpSpPr>
        <p:grpSpPr>
          <a:xfrm>
            <a:off x="381000" y="4000500"/>
            <a:ext cx="8382000" cy="904800"/>
            <a:chOff x="381000" y="4000500"/>
            <a:chExt cx="8382000" cy="904800"/>
          </a:xfrm>
        </p:grpSpPr>
        <p:sp>
          <p:nvSpPr>
            <p:cNvPr id="2141" name="Google Shape;2141;p76"/>
            <p:cNvSpPr/>
            <p:nvPr/>
          </p:nvSpPr>
          <p:spPr>
            <a:xfrm>
              <a:off x="381000" y="4000500"/>
              <a:ext cx="8382000" cy="904800"/>
            </a:xfrm>
            <a:prstGeom prst="roundRect">
              <a:avLst>
                <a:gd fmla="val 12631"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2" name="Google Shape;2142;p76"/>
            <p:cNvSpPr txBox="1"/>
            <p:nvPr/>
          </p:nvSpPr>
          <p:spPr>
            <a:xfrm>
              <a:off x="571500" y="4095750"/>
              <a:ext cx="8001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66534"/>
                  </a:solidFill>
                  <a:latin typeface="Arial"/>
                  <a:ea typeface="Arial"/>
                  <a:cs typeface="Arial"/>
                  <a:sym typeface="Arial"/>
                </a:rPr>
                <a:t>The Solution: Query Routing</a:t>
              </a:r>
              <a:endParaRPr b="1">
                <a:solidFill>
                  <a:srgbClr val="166534"/>
                </a:solidFill>
                <a:latin typeface="Arial"/>
                <a:ea typeface="Arial"/>
                <a:cs typeface="Arial"/>
                <a:sym typeface="Arial"/>
              </a:endParaRPr>
            </a:p>
            <a:p>
              <a:pPr indent="0" lvl="0" marL="0" rtl="0" algn="l">
                <a:spcBef>
                  <a:spcPts val="450"/>
                </a:spcBef>
                <a:spcAft>
                  <a:spcPts val="0"/>
                </a:spcAft>
                <a:buNone/>
              </a:pPr>
              <a:r>
                <a:rPr b="0" lang="en">
                  <a:solidFill>
                    <a:srgbClr val="064E3B"/>
                  </a:solidFill>
                  <a:latin typeface="Arial"/>
                  <a:ea typeface="Arial"/>
                  <a:cs typeface="Arial"/>
                  <a:sym typeface="Arial"/>
                </a:rPr>
                <a:t>Hardcoding </a:t>
              </a:r>
              <a:r>
                <a:rPr b="0" lang="en">
                  <a:solidFill>
                    <a:srgbClr val="064E3B"/>
                  </a:solidFill>
                  <a:highlight>
                    <a:srgbClr val="DCFCE7"/>
                  </a:highlight>
                  <a:latin typeface="Roboto Mono"/>
                  <a:ea typeface="Roboto Mono"/>
                  <a:cs typeface="Roboto Mono"/>
                  <a:sym typeface="Roboto Mono"/>
                </a:rPr>
                <a:t>if/else</a:t>
              </a:r>
              <a:r>
                <a:rPr b="0" lang="en">
                  <a:solidFill>
                    <a:srgbClr val="064E3B"/>
                  </a:solidFill>
                  <a:latin typeface="Arial"/>
                  <a:ea typeface="Arial"/>
                  <a:cs typeface="Arial"/>
                  <a:sym typeface="Arial"/>
                </a:rPr>
                <a:t> statements for every scenario creates a brittle system. We need an intelligent layer that dynamically routes requests to the optimal workflow, tool, or data source.</a:t>
              </a:r>
              <a:endParaRPr b="0">
                <a:solidFill>
                  <a:srgbClr val="064E3B"/>
                </a:solidFill>
                <a:latin typeface="Arial"/>
                <a:ea typeface="Arial"/>
                <a:cs typeface="Arial"/>
                <a:sym typeface="Arial"/>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46" name="Shape 2146"/>
        <p:cNvGrpSpPr/>
        <p:nvPr/>
      </p:nvGrpSpPr>
      <p:grpSpPr>
        <a:xfrm>
          <a:off x="0" y="0"/>
          <a:ext cx="0" cy="0"/>
          <a:chOff x="0" y="0"/>
          <a:chExt cx="0" cy="0"/>
        </a:xfrm>
      </p:grpSpPr>
      <p:sp>
        <p:nvSpPr>
          <p:cNvPr id="2147" name="Google Shape;2147;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Query Routing: The Traffic Cop of Production RAG</a:t>
            </a:r>
            <a:endParaRPr/>
          </a:p>
        </p:txBody>
      </p:sp>
      <p:grpSp>
        <p:nvGrpSpPr>
          <p:cNvPr id="2148" name="Google Shape;2148;p77"/>
          <p:cNvGrpSpPr/>
          <p:nvPr/>
        </p:nvGrpSpPr>
        <p:grpSpPr>
          <a:xfrm>
            <a:off x="381000" y="1143000"/>
            <a:ext cx="8382000" cy="952500"/>
            <a:chOff x="381000" y="1143000"/>
            <a:chExt cx="8382000" cy="952500"/>
          </a:xfrm>
        </p:grpSpPr>
        <p:sp>
          <p:nvSpPr>
            <p:cNvPr id="2149" name="Google Shape;2149;p77"/>
            <p:cNvSpPr/>
            <p:nvPr/>
          </p:nvSpPr>
          <p:spPr>
            <a:xfrm>
              <a:off x="381000" y="1143000"/>
              <a:ext cx="8382000" cy="952500"/>
            </a:xfrm>
            <a:prstGeom prst="roundRect">
              <a:avLst>
                <a:gd fmla="val 12000"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0" name="Google Shape;2150;p77"/>
            <p:cNvSpPr txBox="1"/>
            <p:nvPr/>
          </p:nvSpPr>
          <p:spPr>
            <a:xfrm>
              <a:off x="571500" y="1143000"/>
              <a:ext cx="800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E40AF"/>
                  </a:solidFill>
                  <a:latin typeface="Arial"/>
                  <a:ea typeface="Arial"/>
                  <a:cs typeface="Arial"/>
                  <a:sym typeface="Arial"/>
                </a:rPr>
                <a:t>What it is:</a:t>
              </a:r>
              <a:endParaRPr b="1">
                <a:solidFill>
                  <a:srgbClr val="1E40AF"/>
                </a:solidFill>
                <a:latin typeface="Arial"/>
                <a:ea typeface="Arial"/>
                <a:cs typeface="Arial"/>
                <a:sym typeface="Arial"/>
              </a:endParaRPr>
            </a:p>
            <a:p>
              <a:pPr indent="0" lvl="0" marL="0" rtl="0" algn="l">
                <a:spcBef>
                  <a:spcPts val="375"/>
                </a:spcBef>
                <a:spcAft>
                  <a:spcPts val="0"/>
                </a:spcAft>
                <a:buNone/>
              </a:pPr>
              <a:r>
                <a:rPr b="0" lang="en">
                  <a:solidFill>
                    <a:srgbClr val="1E3A8A"/>
                  </a:solidFill>
                  <a:latin typeface="Arial"/>
                  <a:ea typeface="Arial"/>
                  <a:cs typeface="Arial"/>
                  <a:sym typeface="Arial"/>
                </a:rPr>
                <a:t>Query routing directs a user query to the most relevant knowledge source, workflow, or model before execution.</a:t>
              </a:r>
              <a:endParaRPr b="0">
                <a:solidFill>
                  <a:srgbClr val="1E3A8A"/>
                </a:solidFill>
                <a:latin typeface="Arial"/>
                <a:ea typeface="Arial"/>
                <a:cs typeface="Arial"/>
                <a:sym typeface="Arial"/>
              </a:endParaRPr>
            </a:p>
          </p:txBody>
        </p:sp>
      </p:grpSp>
      <p:grpSp>
        <p:nvGrpSpPr>
          <p:cNvPr id="2151" name="Google Shape;2151;p77"/>
          <p:cNvGrpSpPr/>
          <p:nvPr/>
        </p:nvGrpSpPr>
        <p:grpSpPr>
          <a:xfrm>
            <a:off x="381000" y="2286000"/>
            <a:ext cx="8382000" cy="1428900"/>
            <a:chOff x="381000" y="2286000"/>
            <a:chExt cx="8382000" cy="1428900"/>
          </a:xfrm>
        </p:grpSpPr>
        <p:sp>
          <p:nvSpPr>
            <p:cNvPr id="2152" name="Google Shape;2152;p77"/>
            <p:cNvSpPr/>
            <p:nvPr/>
          </p:nvSpPr>
          <p:spPr>
            <a:xfrm>
              <a:off x="381000" y="2286000"/>
              <a:ext cx="8382000" cy="1428900"/>
            </a:xfrm>
            <a:prstGeom prst="roundRect">
              <a:avLst>
                <a:gd fmla="val 8000"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3" name="Google Shape;2153;p77"/>
            <p:cNvSpPr txBox="1"/>
            <p:nvPr/>
          </p:nvSpPr>
          <p:spPr>
            <a:xfrm>
              <a:off x="571500" y="2286000"/>
              <a:ext cx="80010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991B1B"/>
                  </a:solidFill>
                  <a:latin typeface="Arial"/>
                  <a:ea typeface="Arial"/>
                  <a:cs typeface="Arial"/>
                  <a:sym typeface="Arial"/>
                </a:rPr>
                <a:t>The "So What?" (Production Impact)</a:t>
              </a:r>
              <a:endParaRPr b="1">
                <a:solidFill>
                  <a:srgbClr val="991B1B"/>
                </a:solidFill>
                <a:latin typeface="Arial"/>
                <a:ea typeface="Arial"/>
                <a:cs typeface="Arial"/>
                <a:sym typeface="Arial"/>
              </a:endParaRPr>
            </a:p>
            <a:p>
              <a:pPr indent="0" lvl="0" marL="0" rtl="0" algn="l">
                <a:spcBef>
                  <a:spcPts val="600"/>
                </a:spcBef>
                <a:spcAft>
                  <a:spcPts val="0"/>
                </a:spcAft>
                <a:buNone/>
              </a:pPr>
              <a:r>
                <a:rPr b="0" lang="en">
                  <a:solidFill>
                    <a:srgbClr val="451A1A"/>
                  </a:solidFill>
                  <a:latin typeface="Arial"/>
                  <a:ea typeface="Arial"/>
                  <a:cs typeface="Arial"/>
                  <a:sym typeface="Arial"/>
                </a:rPr>
                <a:t>If a user asks a simple question, searching the entire company's infrastructure (HR, Codebase, Logs, Wiki) is slow, expensive, and increases the chance of the LLM hallucinating by pulling irrelevant data.</a:t>
              </a:r>
              <a:endParaRPr b="0">
                <a:solidFill>
                  <a:srgbClr val="451A1A"/>
                </a:solidFill>
                <a:latin typeface="Arial"/>
                <a:ea typeface="Arial"/>
                <a:cs typeface="Arial"/>
                <a:sym typeface="Arial"/>
              </a:endParaRPr>
            </a:p>
            <a:p>
              <a:pPr indent="0" lvl="0" marL="0" rtl="0" algn="l">
                <a:spcBef>
                  <a:spcPts val="600"/>
                </a:spcBef>
                <a:spcAft>
                  <a:spcPts val="0"/>
                </a:spcAft>
                <a:buNone/>
              </a:pPr>
              <a:r>
                <a:rPr b="1" lang="en">
                  <a:solidFill>
                    <a:srgbClr val="451A1A"/>
                  </a:solidFill>
                  <a:latin typeface="Arial"/>
                  <a:ea typeface="Arial"/>
                  <a:cs typeface="Arial"/>
                  <a:sym typeface="Arial"/>
                </a:rPr>
                <a:t>Routing isolates the search to only the necessary domains.</a:t>
              </a:r>
              <a:endParaRPr b="1">
                <a:solidFill>
                  <a:srgbClr val="451A1A"/>
                </a:solidFill>
                <a:latin typeface="Arial"/>
                <a:ea typeface="Arial"/>
                <a:cs typeface="Arial"/>
                <a:sym typeface="Arial"/>
              </a:endParaRPr>
            </a:p>
          </p:txBody>
        </p:sp>
      </p:grpSp>
      <p:grpSp>
        <p:nvGrpSpPr>
          <p:cNvPr id="2154" name="Google Shape;2154;p77"/>
          <p:cNvGrpSpPr/>
          <p:nvPr/>
        </p:nvGrpSpPr>
        <p:grpSpPr>
          <a:xfrm>
            <a:off x="381000" y="3905250"/>
            <a:ext cx="8382000" cy="762000"/>
            <a:chOff x="381000" y="3905250"/>
            <a:chExt cx="8382000" cy="762000"/>
          </a:xfrm>
        </p:grpSpPr>
        <p:sp>
          <p:nvSpPr>
            <p:cNvPr id="2155" name="Google Shape;2155;p77"/>
            <p:cNvSpPr/>
            <p:nvPr/>
          </p:nvSpPr>
          <p:spPr>
            <a:xfrm>
              <a:off x="381000" y="3905250"/>
              <a:ext cx="8382000" cy="762000"/>
            </a:xfrm>
            <a:prstGeom prst="roundRect">
              <a:avLst>
                <a:gd fmla="val 15000"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6" name="Google Shape;2156;p77"/>
            <p:cNvSpPr txBox="1"/>
            <p:nvPr/>
          </p:nvSpPr>
          <p:spPr>
            <a:xfrm>
              <a:off x="571500" y="3905250"/>
              <a:ext cx="800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66534"/>
                  </a:solidFill>
                  <a:latin typeface="Arial"/>
                  <a:ea typeface="Arial"/>
                  <a:cs typeface="Arial"/>
                  <a:sym typeface="Arial"/>
                </a:rPr>
                <a:t>The Goal:</a:t>
              </a:r>
              <a:endParaRPr b="1">
                <a:solidFill>
                  <a:srgbClr val="166534"/>
                </a:solidFill>
                <a:latin typeface="Arial"/>
                <a:ea typeface="Arial"/>
                <a:cs typeface="Arial"/>
                <a:sym typeface="Arial"/>
              </a:endParaRPr>
            </a:p>
            <a:p>
              <a:pPr indent="0" lvl="0" marL="0" rtl="0" algn="l">
                <a:spcBef>
                  <a:spcPts val="300"/>
                </a:spcBef>
                <a:spcAft>
                  <a:spcPts val="0"/>
                </a:spcAft>
                <a:buNone/>
              </a:pPr>
              <a:r>
                <a:rPr b="0" lang="en">
                  <a:solidFill>
                    <a:srgbClr val="064E3B"/>
                  </a:solidFill>
                  <a:latin typeface="Arial"/>
                  <a:ea typeface="Arial"/>
                  <a:cs typeface="Arial"/>
                  <a:sym typeface="Arial"/>
                </a:rPr>
                <a:t>Maximize accuracy while minimizing latency and API costs.</a:t>
              </a:r>
              <a:endParaRPr b="0">
                <a:solidFill>
                  <a:srgbClr val="064E3B"/>
                </a:solidFill>
                <a:latin typeface="Arial"/>
                <a:ea typeface="Arial"/>
                <a:cs typeface="Arial"/>
                <a:sym typeface="Arial"/>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0" name="Shape 2160"/>
        <p:cNvGrpSpPr/>
        <p:nvPr/>
      </p:nvGrpSpPr>
      <p:grpSpPr>
        <a:xfrm>
          <a:off x="0" y="0"/>
          <a:ext cx="0" cy="0"/>
          <a:chOff x="0" y="0"/>
          <a:chExt cx="0" cy="0"/>
        </a:xfrm>
      </p:grpSpPr>
      <p:sp>
        <p:nvSpPr>
          <p:cNvPr id="2161" name="Google Shape;2161;p78"/>
          <p:cNvSpPr txBox="1"/>
          <p:nvPr>
            <p:ph type="title"/>
          </p:nvPr>
        </p:nvSpPr>
        <p:spPr>
          <a:xfrm>
            <a:off x="311700" y="284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Routing Strategies: From Simple to Smart</a:t>
            </a:r>
            <a:endParaRPr/>
          </a:p>
        </p:txBody>
      </p:sp>
      <p:grpSp>
        <p:nvGrpSpPr>
          <p:cNvPr id="2162" name="Google Shape;2162;p78"/>
          <p:cNvGrpSpPr/>
          <p:nvPr/>
        </p:nvGrpSpPr>
        <p:grpSpPr>
          <a:xfrm>
            <a:off x="381000" y="1047750"/>
            <a:ext cx="2571900" cy="1714500"/>
            <a:chOff x="381000" y="1047750"/>
            <a:chExt cx="2571900" cy="1714500"/>
          </a:xfrm>
        </p:grpSpPr>
        <p:sp>
          <p:nvSpPr>
            <p:cNvPr id="2163" name="Google Shape;2163;p78"/>
            <p:cNvSpPr/>
            <p:nvPr/>
          </p:nvSpPr>
          <p:spPr>
            <a:xfrm>
              <a:off x="381000" y="1047750"/>
              <a:ext cx="2571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4" name="Google Shape;2164;p78"/>
            <p:cNvSpPr txBox="1"/>
            <p:nvPr/>
          </p:nvSpPr>
          <p:spPr>
            <a:xfrm>
              <a:off x="523875" y="1190625"/>
              <a:ext cx="2286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E40AF"/>
                  </a:solidFill>
                  <a:latin typeface="Arial"/>
                  <a:ea typeface="Arial"/>
                  <a:cs typeface="Arial"/>
                  <a:sym typeface="Arial"/>
                </a:rPr>
                <a:t>Rule-Based (Logical)</a:t>
              </a:r>
              <a:endParaRPr b="1">
                <a:solidFill>
                  <a:srgbClr val="1E40AF"/>
                </a:solidFill>
                <a:latin typeface="Arial"/>
                <a:ea typeface="Arial"/>
                <a:cs typeface="Arial"/>
                <a:sym typeface="Arial"/>
              </a:endParaRPr>
            </a:p>
            <a:p>
              <a:pPr indent="0" lvl="0" marL="0" rtl="0" algn="l">
                <a:spcBef>
                  <a:spcPts val="600"/>
                </a:spcBef>
                <a:spcAft>
                  <a:spcPts val="0"/>
                </a:spcAft>
                <a:buNone/>
              </a:pPr>
              <a:r>
                <a:rPr lang="en">
                  <a:solidFill>
                    <a:srgbClr val="475569"/>
                  </a:solidFill>
                </a:rPr>
                <a:t>Hard Coded</a:t>
              </a:r>
              <a:r>
                <a:rPr b="0" lang="en">
                  <a:solidFill>
                    <a:srgbClr val="475569"/>
                  </a:solidFill>
                  <a:latin typeface="Arial"/>
                  <a:ea typeface="Arial"/>
                  <a:cs typeface="Arial"/>
                  <a:sym typeface="Arial"/>
                </a:rPr>
                <a:t> logic or Regex. Fast and deterministic.</a:t>
              </a:r>
              <a:endParaRPr b="0">
                <a:solidFill>
                  <a:srgbClr val="475569"/>
                </a:solidFill>
                <a:latin typeface="Arial"/>
                <a:ea typeface="Arial"/>
                <a:cs typeface="Arial"/>
                <a:sym typeface="Arial"/>
              </a:endParaRPr>
            </a:p>
            <a:p>
              <a:pPr indent="0" lvl="0" marL="0" rtl="0" algn="l">
                <a:spcBef>
                  <a:spcPts val="600"/>
                </a:spcBef>
                <a:spcAft>
                  <a:spcPts val="0"/>
                </a:spcAft>
                <a:buNone/>
              </a:pPr>
              <a:r>
                <a:rPr i="1" lang="en">
                  <a:solidFill>
                    <a:srgbClr val="64748B"/>
                  </a:solidFill>
                  <a:latin typeface="Arial"/>
                  <a:ea typeface="Arial"/>
                  <a:cs typeface="Arial"/>
                  <a:sym typeface="Arial"/>
                </a:rPr>
                <a:t>e.g., If query contains "PTO" or "leave", route to HR.</a:t>
              </a:r>
              <a:endParaRPr i="1">
                <a:solidFill>
                  <a:srgbClr val="64748B"/>
                </a:solidFill>
                <a:latin typeface="Arial"/>
                <a:ea typeface="Arial"/>
                <a:cs typeface="Arial"/>
                <a:sym typeface="Arial"/>
              </a:endParaRPr>
            </a:p>
          </p:txBody>
        </p:sp>
      </p:grpSp>
      <p:grpSp>
        <p:nvGrpSpPr>
          <p:cNvPr id="2165" name="Google Shape;2165;p78"/>
          <p:cNvGrpSpPr/>
          <p:nvPr/>
        </p:nvGrpSpPr>
        <p:grpSpPr>
          <a:xfrm>
            <a:off x="3143250" y="1047750"/>
            <a:ext cx="2571900" cy="1714500"/>
            <a:chOff x="3143250" y="1047750"/>
            <a:chExt cx="2571900" cy="1714500"/>
          </a:xfrm>
        </p:grpSpPr>
        <p:sp>
          <p:nvSpPr>
            <p:cNvPr id="2166" name="Google Shape;2166;p78"/>
            <p:cNvSpPr/>
            <p:nvPr/>
          </p:nvSpPr>
          <p:spPr>
            <a:xfrm>
              <a:off x="3143250" y="1047750"/>
              <a:ext cx="2571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7" name="Google Shape;2167;p78"/>
            <p:cNvSpPr txBox="1"/>
            <p:nvPr/>
          </p:nvSpPr>
          <p:spPr>
            <a:xfrm>
              <a:off x="3286125" y="1190625"/>
              <a:ext cx="2286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E40AF"/>
                  </a:solidFill>
                  <a:latin typeface="Arial"/>
                  <a:ea typeface="Arial"/>
                  <a:cs typeface="Arial"/>
                  <a:sym typeface="Arial"/>
                </a:rPr>
                <a:t>Embedding-Based</a:t>
              </a:r>
              <a:endParaRPr b="1">
                <a:solidFill>
                  <a:srgbClr val="1E40AF"/>
                </a:solidFill>
                <a:latin typeface="Arial"/>
                <a:ea typeface="Arial"/>
                <a:cs typeface="Arial"/>
                <a:sym typeface="Arial"/>
              </a:endParaRPr>
            </a:p>
            <a:p>
              <a:pPr indent="0" lvl="0" marL="0" rtl="0" algn="l">
                <a:spcBef>
                  <a:spcPts val="600"/>
                </a:spcBef>
                <a:spcAft>
                  <a:spcPts val="0"/>
                </a:spcAft>
                <a:buNone/>
              </a:pPr>
              <a:r>
                <a:rPr b="0" lang="en">
                  <a:solidFill>
                    <a:srgbClr val="475569"/>
                  </a:solidFill>
                  <a:latin typeface="Arial"/>
                  <a:ea typeface="Arial"/>
                  <a:cs typeface="Arial"/>
                  <a:sym typeface="Arial"/>
                </a:rPr>
                <a:t>Semantic Router using vector similarity against route profiles. Fast, scalable, and offline-capable.</a:t>
              </a:r>
              <a:endParaRPr b="0">
                <a:solidFill>
                  <a:srgbClr val="475569"/>
                </a:solidFill>
                <a:latin typeface="Arial"/>
                <a:ea typeface="Arial"/>
                <a:cs typeface="Arial"/>
                <a:sym typeface="Arial"/>
              </a:endParaRPr>
            </a:p>
          </p:txBody>
        </p:sp>
      </p:grpSp>
      <p:grpSp>
        <p:nvGrpSpPr>
          <p:cNvPr id="2168" name="Google Shape;2168;p78"/>
          <p:cNvGrpSpPr/>
          <p:nvPr/>
        </p:nvGrpSpPr>
        <p:grpSpPr>
          <a:xfrm>
            <a:off x="5905500" y="1047750"/>
            <a:ext cx="2571900" cy="1714500"/>
            <a:chOff x="5905500" y="1047750"/>
            <a:chExt cx="2571900" cy="1714500"/>
          </a:xfrm>
        </p:grpSpPr>
        <p:sp>
          <p:nvSpPr>
            <p:cNvPr id="2169" name="Google Shape;2169;p78"/>
            <p:cNvSpPr/>
            <p:nvPr/>
          </p:nvSpPr>
          <p:spPr>
            <a:xfrm>
              <a:off x="5905500" y="1047750"/>
              <a:ext cx="2571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0" name="Google Shape;2170;p78"/>
            <p:cNvSpPr txBox="1"/>
            <p:nvPr/>
          </p:nvSpPr>
          <p:spPr>
            <a:xfrm>
              <a:off x="6048375" y="1190625"/>
              <a:ext cx="2286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E40AF"/>
                  </a:solidFill>
                  <a:latin typeface="Arial"/>
                  <a:ea typeface="Arial"/>
                  <a:cs typeface="Arial"/>
                  <a:sym typeface="Arial"/>
                </a:rPr>
                <a:t>LLM-Based</a:t>
              </a:r>
              <a:endParaRPr b="1">
                <a:solidFill>
                  <a:srgbClr val="1E40AF"/>
                </a:solidFill>
                <a:latin typeface="Arial"/>
                <a:ea typeface="Arial"/>
                <a:cs typeface="Arial"/>
                <a:sym typeface="Arial"/>
              </a:endParaRPr>
            </a:p>
            <a:p>
              <a:pPr indent="0" lvl="0" marL="0" rtl="0" algn="l">
                <a:spcBef>
                  <a:spcPts val="600"/>
                </a:spcBef>
                <a:spcAft>
                  <a:spcPts val="0"/>
                </a:spcAft>
                <a:buNone/>
              </a:pPr>
              <a:r>
                <a:rPr b="0" lang="en">
                  <a:solidFill>
                    <a:srgbClr val="475569"/>
                  </a:solidFill>
                  <a:latin typeface="Arial"/>
                  <a:ea typeface="Arial"/>
                  <a:cs typeface="Arial"/>
                  <a:sym typeface="Arial"/>
                </a:rPr>
                <a:t>LLM classification for JSON decisions. Highly accurate for ambiguity, but adds latency/costs.</a:t>
              </a:r>
              <a:endParaRPr b="0">
                <a:solidFill>
                  <a:srgbClr val="475569"/>
                </a:solidFill>
                <a:latin typeface="Arial"/>
                <a:ea typeface="Arial"/>
                <a:cs typeface="Arial"/>
                <a:sym typeface="Arial"/>
              </a:endParaRPr>
            </a:p>
          </p:txBody>
        </p:sp>
      </p:grpSp>
      <p:grpSp>
        <p:nvGrpSpPr>
          <p:cNvPr id="2171" name="Google Shape;2171;p78"/>
          <p:cNvGrpSpPr/>
          <p:nvPr/>
        </p:nvGrpSpPr>
        <p:grpSpPr>
          <a:xfrm>
            <a:off x="381000" y="2952750"/>
            <a:ext cx="3952800" cy="1905000"/>
            <a:chOff x="381000" y="2952750"/>
            <a:chExt cx="3952800" cy="1905000"/>
          </a:xfrm>
        </p:grpSpPr>
        <p:sp>
          <p:nvSpPr>
            <p:cNvPr id="2172" name="Google Shape;2172;p78"/>
            <p:cNvSpPr/>
            <p:nvPr/>
          </p:nvSpPr>
          <p:spPr>
            <a:xfrm>
              <a:off x="381000" y="2952750"/>
              <a:ext cx="39528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3" name="Google Shape;2173;p78"/>
            <p:cNvSpPr txBox="1"/>
            <p:nvPr/>
          </p:nvSpPr>
          <p:spPr>
            <a:xfrm>
              <a:off x="571500" y="3143250"/>
              <a:ext cx="35718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0D9488"/>
                  </a:solidFill>
                  <a:latin typeface="Arial"/>
                  <a:ea typeface="Arial"/>
                  <a:cs typeface="Arial"/>
                  <a:sym typeface="Arial"/>
                </a:rPr>
                <a:t>Classifier-Based Routing</a:t>
              </a:r>
              <a:endParaRPr b="1">
                <a:solidFill>
                  <a:srgbClr val="0D9488"/>
                </a:solidFill>
                <a:latin typeface="Arial"/>
                <a:ea typeface="Arial"/>
                <a:cs typeface="Arial"/>
                <a:sym typeface="Arial"/>
              </a:endParaRPr>
            </a:p>
            <a:p>
              <a:pPr indent="0" lvl="0" marL="0" rtl="0" algn="l">
                <a:spcBef>
                  <a:spcPts val="750"/>
                </a:spcBef>
                <a:spcAft>
                  <a:spcPts val="0"/>
                </a:spcAft>
                <a:buNone/>
              </a:pPr>
              <a:r>
                <a:rPr b="0" lang="en">
                  <a:solidFill>
                    <a:srgbClr val="475569"/>
                  </a:solidFill>
                  <a:latin typeface="Arial"/>
                  <a:ea typeface="Arial"/>
                  <a:cs typeface="Arial"/>
                  <a:sym typeface="Arial"/>
                </a:rPr>
                <a:t>Train a dedicated intent classifier for core business domains like:</a:t>
              </a:r>
              <a:endParaRPr b="0">
                <a:solidFill>
                  <a:srgbClr val="475569"/>
                </a:solidFill>
                <a:latin typeface="Arial"/>
                <a:ea typeface="Arial"/>
                <a:cs typeface="Arial"/>
                <a:sym typeface="Arial"/>
              </a:endParaRPr>
            </a:p>
            <a:p>
              <a:pPr indent="-317500" lvl="0" marL="457200" rtl="0" algn="l">
                <a:spcBef>
                  <a:spcPts val="600"/>
                </a:spcBef>
                <a:spcAft>
                  <a:spcPts val="0"/>
                </a:spcAft>
                <a:buClr>
                  <a:srgbClr val="1E293B"/>
                </a:buClr>
                <a:buSzPts val="1400"/>
                <a:buFont typeface="Arial"/>
                <a:buChar char="●"/>
              </a:pPr>
              <a:r>
                <a:rPr lang="en">
                  <a:solidFill>
                    <a:srgbClr val="1E293B"/>
                  </a:solidFill>
                  <a:latin typeface="Arial"/>
                  <a:ea typeface="Arial"/>
                  <a:cs typeface="Arial"/>
                  <a:sym typeface="Arial"/>
                </a:rPr>
                <a:t>HR / Legal</a:t>
              </a:r>
              <a:endParaRPr>
                <a:solidFill>
                  <a:srgbClr val="1E293B"/>
                </a:solidFill>
                <a:latin typeface="Arial"/>
                <a:ea typeface="Arial"/>
                <a:cs typeface="Arial"/>
                <a:sym typeface="Arial"/>
              </a:endParaRPr>
            </a:p>
            <a:p>
              <a:pPr indent="-317500" lvl="0" marL="457200" rtl="0" algn="l">
                <a:spcBef>
                  <a:spcPts val="300"/>
                </a:spcBef>
                <a:spcAft>
                  <a:spcPts val="300"/>
                </a:spcAft>
                <a:buClr>
                  <a:srgbClr val="1E293B"/>
                </a:buClr>
                <a:buSzPts val="1400"/>
                <a:buFont typeface="Arial"/>
                <a:buChar char="●"/>
              </a:pPr>
              <a:r>
                <a:rPr lang="en">
                  <a:solidFill>
                    <a:srgbClr val="1E293B"/>
                  </a:solidFill>
                  <a:latin typeface="Arial"/>
                  <a:ea typeface="Arial"/>
                  <a:cs typeface="Arial"/>
                  <a:sym typeface="Arial"/>
                </a:rPr>
                <a:t>Research / Code</a:t>
              </a:r>
              <a:endParaRPr>
                <a:solidFill>
                  <a:srgbClr val="1E293B"/>
                </a:solidFill>
                <a:latin typeface="Arial"/>
                <a:ea typeface="Arial"/>
                <a:cs typeface="Arial"/>
                <a:sym typeface="Arial"/>
              </a:endParaRPr>
            </a:p>
          </p:txBody>
        </p:sp>
      </p:grpSp>
      <p:grpSp>
        <p:nvGrpSpPr>
          <p:cNvPr id="2174" name="Google Shape;2174;p78"/>
          <p:cNvGrpSpPr/>
          <p:nvPr/>
        </p:nvGrpSpPr>
        <p:grpSpPr>
          <a:xfrm>
            <a:off x="4524375" y="2952750"/>
            <a:ext cx="3952800" cy="1905000"/>
            <a:chOff x="4524375" y="2952750"/>
            <a:chExt cx="3952800" cy="1905000"/>
          </a:xfrm>
        </p:grpSpPr>
        <p:sp>
          <p:nvSpPr>
            <p:cNvPr id="2175" name="Google Shape;2175;p78"/>
            <p:cNvSpPr/>
            <p:nvPr/>
          </p:nvSpPr>
          <p:spPr>
            <a:xfrm>
              <a:off x="4524375" y="2952750"/>
              <a:ext cx="3952800" cy="1905000"/>
            </a:xfrm>
            <a:prstGeom prst="roundRect">
              <a:avLst>
                <a:gd fmla="val 6000"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6" name="Google Shape;2176;p78"/>
            <p:cNvSpPr txBox="1"/>
            <p:nvPr/>
          </p:nvSpPr>
          <p:spPr>
            <a:xfrm>
              <a:off x="4714875" y="3143250"/>
              <a:ext cx="35718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66534"/>
                  </a:solidFill>
                  <a:latin typeface="Arial"/>
                  <a:ea typeface="Arial"/>
                  <a:cs typeface="Arial"/>
                  <a:sym typeface="Arial"/>
                </a:rPr>
                <a:t>Hybrid Routing (The Pro Approach)</a:t>
              </a:r>
              <a:endParaRPr b="1">
                <a:solidFill>
                  <a:srgbClr val="166534"/>
                </a:solidFill>
                <a:latin typeface="Arial"/>
                <a:ea typeface="Arial"/>
                <a:cs typeface="Arial"/>
                <a:sym typeface="Arial"/>
              </a:endParaRPr>
            </a:p>
            <a:p>
              <a:pPr indent="0" lvl="0" marL="0" rtl="0" algn="l">
                <a:spcBef>
                  <a:spcPts val="750"/>
                </a:spcBef>
                <a:spcAft>
                  <a:spcPts val="0"/>
                </a:spcAft>
                <a:buNone/>
              </a:pPr>
              <a:r>
                <a:rPr b="1" lang="en">
                  <a:solidFill>
                    <a:srgbClr val="14532D"/>
                  </a:solidFill>
                  <a:latin typeface="Arial"/>
                  <a:ea typeface="Arial"/>
                  <a:cs typeface="Arial"/>
                  <a:sym typeface="Arial"/>
                </a:rPr>
                <a:t>Workflow: </a:t>
              </a:r>
              <a:r>
                <a:rPr b="0" lang="en">
                  <a:solidFill>
                    <a:srgbClr val="14532D"/>
                  </a:solidFill>
                  <a:latin typeface="Arial"/>
                  <a:ea typeface="Arial"/>
                  <a:cs typeface="Arial"/>
                  <a:sym typeface="Arial"/>
                </a:rPr>
                <a:t>Rule → Embedding → LLM</a:t>
              </a:r>
              <a:endParaRPr b="1">
                <a:solidFill>
                  <a:srgbClr val="14532D"/>
                </a:solidFill>
                <a:latin typeface="Arial"/>
                <a:ea typeface="Arial"/>
                <a:cs typeface="Arial"/>
                <a:sym typeface="Arial"/>
              </a:endParaRPr>
            </a:p>
            <a:p>
              <a:pPr indent="0" lvl="0" marL="0" rtl="0" algn="l">
                <a:spcBef>
                  <a:spcPts val="300"/>
                </a:spcBef>
                <a:spcAft>
                  <a:spcPts val="0"/>
                </a:spcAft>
                <a:buNone/>
              </a:pPr>
              <a:r>
                <a:rPr b="1" lang="en">
                  <a:solidFill>
                    <a:srgbClr val="14532D"/>
                  </a:solidFill>
                  <a:latin typeface="Arial"/>
                  <a:ea typeface="Arial"/>
                  <a:cs typeface="Arial"/>
                  <a:sym typeface="Arial"/>
                </a:rPr>
                <a:t>Logic:</a:t>
              </a:r>
              <a:endParaRPr b="1">
                <a:solidFill>
                  <a:srgbClr val="14532D"/>
                </a:solidFill>
                <a:latin typeface="Arial"/>
                <a:ea typeface="Arial"/>
                <a:cs typeface="Arial"/>
                <a:sym typeface="Arial"/>
              </a:endParaRPr>
            </a:p>
            <a:p>
              <a:pPr indent="0" lvl="0" marL="0" rtl="0" algn="l">
                <a:spcBef>
                  <a:spcPts val="300"/>
                </a:spcBef>
                <a:spcAft>
                  <a:spcPts val="0"/>
                </a:spcAft>
                <a:buNone/>
              </a:pPr>
              <a:r>
                <a:rPr b="0" lang="en">
                  <a:solidFill>
                    <a:srgbClr val="14532D"/>
                  </a:solidFill>
                  <a:latin typeface="Arial"/>
                  <a:ea typeface="Arial"/>
                  <a:cs typeface="Arial"/>
                  <a:sym typeface="Arial"/>
                </a:rPr>
                <a:t>Only trigger the expensive LLM router if the fast Embedding router has a low confidence score.</a:t>
              </a:r>
              <a:endParaRPr b="0">
                <a:solidFill>
                  <a:srgbClr val="14532D"/>
                </a:solidFill>
                <a:latin typeface="Arial"/>
                <a:ea typeface="Arial"/>
                <a:cs typeface="Arial"/>
                <a:sym typeface="Arial"/>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0" name="Shape 2180"/>
        <p:cNvGrpSpPr/>
        <p:nvPr/>
      </p:nvGrpSpPr>
      <p:grpSpPr>
        <a:xfrm>
          <a:off x="0" y="0"/>
          <a:ext cx="0" cy="0"/>
          <a:chOff x="0" y="0"/>
          <a:chExt cx="0" cy="0"/>
        </a:xfrm>
      </p:grpSpPr>
      <p:sp>
        <p:nvSpPr>
          <p:cNvPr id="2181" name="Google Shape;2181;p79"/>
          <p:cNvSpPr txBox="1"/>
          <p:nvPr>
            <p:ph type="title"/>
          </p:nvPr>
        </p:nvSpPr>
        <p:spPr>
          <a:xfrm>
            <a:off x="311700" y="129652"/>
            <a:ext cx="8520600" cy="582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Rule-Based (Logical) Routing</a:t>
            </a:r>
            <a:endParaRPr/>
          </a:p>
        </p:txBody>
      </p:sp>
      <p:grpSp>
        <p:nvGrpSpPr>
          <p:cNvPr id="2182" name="Google Shape;2182;p79"/>
          <p:cNvGrpSpPr/>
          <p:nvPr/>
        </p:nvGrpSpPr>
        <p:grpSpPr>
          <a:xfrm>
            <a:off x="381000" y="952500"/>
            <a:ext cx="8382000" cy="857400"/>
            <a:chOff x="381000" y="952500"/>
            <a:chExt cx="8382000" cy="857400"/>
          </a:xfrm>
        </p:grpSpPr>
        <p:sp>
          <p:nvSpPr>
            <p:cNvPr id="2183" name="Google Shape;2183;p79"/>
            <p:cNvSpPr/>
            <p:nvPr/>
          </p:nvSpPr>
          <p:spPr>
            <a:xfrm>
              <a:off x="381000" y="952500"/>
              <a:ext cx="8382000" cy="857400"/>
            </a:xfrm>
            <a:prstGeom prst="roundRect">
              <a:avLst>
                <a:gd fmla="val 13333"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4" name="Google Shape;2184;p79"/>
            <p:cNvSpPr txBox="1"/>
            <p:nvPr/>
          </p:nvSpPr>
          <p:spPr>
            <a:xfrm>
              <a:off x="571500" y="952500"/>
              <a:ext cx="8001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E40AF"/>
                  </a:solidFill>
                  <a:latin typeface="Arial"/>
                  <a:ea typeface="Arial"/>
                  <a:cs typeface="Arial"/>
                  <a:sym typeface="Arial"/>
                </a:rPr>
                <a:t>What it is &amp; How it works</a:t>
              </a:r>
              <a:endParaRPr b="1">
                <a:solidFill>
                  <a:srgbClr val="1E40AF"/>
                </a:solidFill>
                <a:latin typeface="Arial"/>
                <a:ea typeface="Arial"/>
                <a:cs typeface="Arial"/>
                <a:sym typeface="Arial"/>
              </a:endParaRPr>
            </a:p>
            <a:p>
              <a:pPr indent="0" lvl="0" marL="0" rtl="0" algn="l">
                <a:spcBef>
                  <a:spcPts val="375"/>
                </a:spcBef>
                <a:spcAft>
                  <a:spcPts val="0"/>
                </a:spcAft>
                <a:buNone/>
              </a:pPr>
              <a:r>
                <a:rPr b="0" lang="en">
                  <a:solidFill>
                    <a:srgbClr val="475569"/>
                  </a:solidFill>
                  <a:latin typeface="Arial"/>
                  <a:ea typeface="Arial"/>
                  <a:cs typeface="Arial"/>
                  <a:sym typeface="Arial"/>
                </a:rPr>
                <a:t>The most fundamental routing technique. It relies on </a:t>
              </a:r>
              <a:r>
                <a:rPr lang="en">
                  <a:solidFill>
                    <a:srgbClr val="475569"/>
                  </a:solidFill>
                </a:rPr>
                <a:t>hard coded</a:t>
              </a:r>
              <a:r>
                <a:rPr b="0" lang="en">
                  <a:solidFill>
                    <a:srgbClr val="475569"/>
                  </a:solidFill>
                  <a:latin typeface="Arial"/>
                  <a:ea typeface="Arial"/>
                  <a:cs typeface="Arial"/>
                  <a:sym typeface="Arial"/>
                </a:rPr>
                <a:t> logic, keywords, or Regular Expressions (Regex) to map a raw query string against </a:t>
              </a:r>
              <a:r>
                <a:rPr b="0" lang="en">
                  <a:solidFill>
                    <a:srgbClr val="166534"/>
                  </a:solidFill>
                  <a:latin typeface="Roboto Mono"/>
                  <a:ea typeface="Roboto Mono"/>
                  <a:cs typeface="Roboto Mono"/>
                  <a:sym typeface="Roboto Mono"/>
                </a:rPr>
                <a:t>if/else</a:t>
              </a:r>
              <a:r>
                <a:rPr b="0" lang="en">
                  <a:solidFill>
                    <a:srgbClr val="475569"/>
                  </a:solidFill>
                  <a:latin typeface="Arial"/>
                  <a:ea typeface="Arial"/>
                  <a:cs typeface="Arial"/>
                  <a:sym typeface="Arial"/>
                </a:rPr>
                <a:t> conditions before AI processing.</a:t>
              </a:r>
              <a:endParaRPr b="0">
                <a:solidFill>
                  <a:srgbClr val="475569"/>
                </a:solidFill>
                <a:latin typeface="Arial"/>
                <a:ea typeface="Arial"/>
                <a:cs typeface="Arial"/>
                <a:sym typeface="Arial"/>
              </a:endParaRPr>
            </a:p>
          </p:txBody>
        </p:sp>
      </p:grpSp>
      <p:grpSp>
        <p:nvGrpSpPr>
          <p:cNvPr id="2185" name="Google Shape;2185;p79"/>
          <p:cNvGrpSpPr/>
          <p:nvPr/>
        </p:nvGrpSpPr>
        <p:grpSpPr>
          <a:xfrm>
            <a:off x="381000" y="2000250"/>
            <a:ext cx="4095900" cy="2667000"/>
            <a:chOff x="381000" y="2000250"/>
            <a:chExt cx="4095900" cy="2667000"/>
          </a:xfrm>
        </p:grpSpPr>
        <p:sp>
          <p:nvSpPr>
            <p:cNvPr id="2186" name="Google Shape;2186;p79"/>
            <p:cNvSpPr/>
            <p:nvPr/>
          </p:nvSpPr>
          <p:spPr>
            <a:xfrm>
              <a:off x="381000" y="2000250"/>
              <a:ext cx="4095900" cy="2667000"/>
            </a:xfrm>
            <a:prstGeom prst="roundRect">
              <a:avLst>
                <a:gd fmla="val 4285"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7" name="Google Shape;2187;p79"/>
            <p:cNvSpPr txBox="1"/>
            <p:nvPr/>
          </p:nvSpPr>
          <p:spPr>
            <a:xfrm>
              <a:off x="571500" y="2143125"/>
              <a:ext cx="3714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66534"/>
                  </a:solidFill>
                  <a:latin typeface="Arial"/>
                  <a:ea typeface="Arial"/>
                  <a:cs typeface="Arial"/>
                  <a:sym typeface="Arial"/>
                </a:rPr>
                <a:t>Project Example: </a:t>
              </a:r>
              <a:endParaRPr b="1">
                <a:solidFill>
                  <a:srgbClr val="166534"/>
                </a:solidFill>
                <a:latin typeface="Arial"/>
                <a:ea typeface="Arial"/>
                <a:cs typeface="Arial"/>
                <a:sym typeface="Arial"/>
              </a:endParaRPr>
            </a:p>
            <a:p>
              <a:pPr indent="0" lvl="0" marL="0" rtl="0" algn="l">
                <a:spcBef>
                  <a:spcPts val="900"/>
                </a:spcBef>
                <a:spcAft>
                  <a:spcPts val="0"/>
                </a:spcAft>
                <a:buNone/>
              </a:pPr>
              <a:r>
                <a:rPr b="1" lang="en">
                  <a:solidFill>
                    <a:srgbClr val="14532D"/>
                  </a:solidFill>
                  <a:latin typeface="Arial"/>
                  <a:ea typeface="Arial"/>
                  <a:cs typeface="Arial"/>
                  <a:sym typeface="Arial"/>
                </a:rPr>
                <a:t>Logic:</a:t>
              </a:r>
              <a:endParaRPr b="1">
                <a:solidFill>
                  <a:srgbClr val="14532D"/>
                </a:solidFill>
                <a:latin typeface="Arial"/>
                <a:ea typeface="Arial"/>
                <a:cs typeface="Arial"/>
                <a:sym typeface="Arial"/>
              </a:endParaRPr>
            </a:p>
            <a:p>
              <a:pPr indent="0" lvl="0" marL="0" rtl="0" algn="l">
                <a:spcBef>
                  <a:spcPts val="0"/>
                </a:spcBef>
                <a:spcAft>
                  <a:spcPts val="0"/>
                </a:spcAft>
                <a:buNone/>
              </a:pPr>
              <a:r>
                <a:rPr lang="en">
                  <a:solidFill>
                    <a:srgbClr val="15803D"/>
                  </a:solidFill>
                  <a:latin typeface="Roboto Mono"/>
                  <a:ea typeface="Roboto Mono"/>
                  <a:cs typeface="Roboto Mono"/>
                  <a:sym typeface="Roboto Mono"/>
                </a:rPr>
                <a:t>IF query.contains(["PTO", "leave", "payroll", "manager"]): route_to = "HR_Database"</a:t>
              </a:r>
              <a:endParaRPr>
                <a:solidFill>
                  <a:srgbClr val="15803D"/>
                </a:solidFill>
                <a:latin typeface="Roboto Mono"/>
                <a:ea typeface="Roboto Mono"/>
                <a:cs typeface="Roboto Mono"/>
                <a:sym typeface="Roboto Mono"/>
              </a:endParaRPr>
            </a:p>
            <a:p>
              <a:pPr indent="0" lvl="0" marL="0" rtl="0" algn="l">
                <a:spcBef>
                  <a:spcPts val="750"/>
                </a:spcBef>
                <a:spcAft>
                  <a:spcPts val="0"/>
                </a:spcAft>
                <a:buNone/>
              </a:pPr>
              <a:r>
                <a:rPr b="1" lang="en">
                  <a:solidFill>
                    <a:srgbClr val="14532D"/>
                  </a:solidFill>
                  <a:latin typeface="Arial"/>
                  <a:ea typeface="Arial"/>
                  <a:cs typeface="Arial"/>
                  <a:sym typeface="Arial"/>
                </a:rPr>
                <a:t>User Query:</a:t>
              </a:r>
              <a:endParaRPr b="1">
                <a:solidFill>
                  <a:srgbClr val="14532D"/>
                </a:solidFill>
                <a:latin typeface="Arial"/>
                <a:ea typeface="Arial"/>
                <a:cs typeface="Arial"/>
                <a:sym typeface="Arial"/>
              </a:endParaRPr>
            </a:p>
            <a:p>
              <a:pPr indent="0" lvl="0" marL="0" rtl="0" algn="l">
                <a:spcBef>
                  <a:spcPts val="0"/>
                </a:spcBef>
                <a:spcAft>
                  <a:spcPts val="0"/>
                </a:spcAft>
                <a:buNone/>
              </a:pPr>
              <a:r>
                <a:rPr i="1" lang="en">
                  <a:solidFill>
                    <a:srgbClr val="14532D"/>
                  </a:solidFill>
                  <a:latin typeface="Arial"/>
                  <a:ea typeface="Arial"/>
                  <a:cs typeface="Arial"/>
                  <a:sym typeface="Arial"/>
                </a:rPr>
                <a:t>"How many days of leave do I have left?"</a:t>
              </a:r>
              <a:endParaRPr i="1">
                <a:solidFill>
                  <a:srgbClr val="14532D"/>
                </a:solidFill>
                <a:latin typeface="Arial"/>
                <a:ea typeface="Arial"/>
                <a:cs typeface="Arial"/>
                <a:sym typeface="Arial"/>
              </a:endParaRPr>
            </a:p>
            <a:p>
              <a:pPr indent="0" lvl="0" marL="0" rtl="0" algn="l">
                <a:spcBef>
                  <a:spcPts val="750"/>
                </a:spcBef>
                <a:spcAft>
                  <a:spcPts val="0"/>
                </a:spcAft>
                <a:buNone/>
              </a:pPr>
              <a:r>
                <a:rPr b="1" lang="en">
                  <a:solidFill>
                    <a:srgbClr val="14532D"/>
                  </a:solidFill>
                  <a:highlight>
                    <a:srgbClr val="DCFCE7"/>
                  </a:highlight>
                  <a:latin typeface="Arial"/>
                  <a:ea typeface="Arial"/>
                  <a:cs typeface="Arial"/>
                  <a:sym typeface="Arial"/>
                </a:rPr>
                <a:t>The Result:</a:t>
              </a:r>
              <a:endParaRPr b="1">
                <a:solidFill>
                  <a:srgbClr val="14532D"/>
                </a:solidFill>
                <a:highlight>
                  <a:srgbClr val="DCFCE7"/>
                </a:highlight>
                <a:latin typeface="Arial"/>
                <a:ea typeface="Arial"/>
                <a:cs typeface="Arial"/>
                <a:sym typeface="Arial"/>
              </a:endParaRPr>
            </a:p>
            <a:p>
              <a:pPr indent="0" lvl="0" marL="0" rtl="0" algn="l">
                <a:spcBef>
                  <a:spcPts val="0"/>
                </a:spcBef>
                <a:spcAft>
                  <a:spcPts val="0"/>
                </a:spcAft>
                <a:buNone/>
              </a:pPr>
              <a:r>
                <a:rPr lang="en">
                  <a:solidFill>
                    <a:srgbClr val="14532D"/>
                  </a:solidFill>
                  <a:highlight>
                    <a:srgbClr val="DCFCE7"/>
                  </a:highlight>
                  <a:latin typeface="Arial"/>
                  <a:ea typeface="Arial"/>
                  <a:cs typeface="Arial"/>
                  <a:sym typeface="Arial"/>
                </a:rPr>
                <a:t>Instant route to HR docs. Cost: </a:t>
              </a:r>
              <a:r>
                <a:rPr b="1" lang="en">
                  <a:solidFill>
                    <a:srgbClr val="14532D"/>
                  </a:solidFill>
                  <a:highlight>
                    <a:srgbClr val="DCFCE7"/>
                  </a:highlight>
                  <a:latin typeface="Arial"/>
                  <a:ea typeface="Arial"/>
                  <a:cs typeface="Arial"/>
                  <a:sym typeface="Arial"/>
                </a:rPr>
                <a:t>$0.00</a:t>
              </a:r>
              <a:r>
                <a:rPr lang="en">
                  <a:solidFill>
                    <a:srgbClr val="14532D"/>
                  </a:solidFill>
                  <a:highlight>
                    <a:srgbClr val="DCFCE7"/>
                  </a:highlight>
                  <a:latin typeface="Arial"/>
                  <a:ea typeface="Arial"/>
                  <a:cs typeface="Arial"/>
                  <a:sym typeface="Arial"/>
                </a:rPr>
                <a:t> | Latency: </a:t>
              </a:r>
              <a:r>
                <a:rPr b="1" lang="en">
                  <a:solidFill>
                    <a:srgbClr val="14532D"/>
                  </a:solidFill>
                  <a:highlight>
                    <a:srgbClr val="DCFCE7"/>
                  </a:highlight>
                  <a:latin typeface="Arial"/>
                  <a:ea typeface="Arial"/>
                  <a:cs typeface="Arial"/>
                  <a:sym typeface="Arial"/>
                </a:rPr>
                <a:t>~1ms</a:t>
              </a:r>
              <a:endParaRPr>
                <a:solidFill>
                  <a:srgbClr val="14532D"/>
                </a:solidFill>
                <a:highlight>
                  <a:srgbClr val="DCFCE7"/>
                </a:highlight>
                <a:latin typeface="Arial"/>
                <a:ea typeface="Arial"/>
                <a:cs typeface="Arial"/>
                <a:sym typeface="Arial"/>
              </a:endParaRPr>
            </a:p>
          </p:txBody>
        </p:sp>
      </p:grpSp>
      <p:grpSp>
        <p:nvGrpSpPr>
          <p:cNvPr id="2188" name="Google Shape;2188;p79"/>
          <p:cNvGrpSpPr/>
          <p:nvPr/>
        </p:nvGrpSpPr>
        <p:grpSpPr>
          <a:xfrm>
            <a:off x="4667250" y="2000250"/>
            <a:ext cx="4095900" cy="2667000"/>
            <a:chOff x="4667250" y="2000250"/>
            <a:chExt cx="4095900" cy="2667000"/>
          </a:xfrm>
        </p:grpSpPr>
        <p:sp>
          <p:nvSpPr>
            <p:cNvPr id="2189" name="Google Shape;2189;p79"/>
            <p:cNvSpPr/>
            <p:nvPr/>
          </p:nvSpPr>
          <p:spPr>
            <a:xfrm>
              <a:off x="4667250" y="2000250"/>
              <a:ext cx="4095900" cy="2667000"/>
            </a:xfrm>
            <a:prstGeom prst="roundRect">
              <a:avLst>
                <a:gd fmla="val 4285" name="adj"/>
              </a:avLst>
            </a:prstGeom>
            <a:solidFill>
              <a:srgbClr val="FEF2F2"/>
            </a:solidFill>
            <a:ln cap="flat" cmpd="sng" w="9525">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0" name="Google Shape;2190;p79"/>
            <p:cNvSpPr txBox="1"/>
            <p:nvPr/>
          </p:nvSpPr>
          <p:spPr>
            <a:xfrm>
              <a:off x="4857750" y="2143125"/>
              <a:ext cx="37149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991B1B"/>
                  </a:solidFill>
                  <a:latin typeface="Arial"/>
                  <a:ea typeface="Arial"/>
                  <a:cs typeface="Arial"/>
                  <a:sym typeface="Arial"/>
                </a:rPr>
                <a:t>The Catch: Fragility</a:t>
              </a:r>
              <a:endParaRPr b="1">
                <a:solidFill>
                  <a:srgbClr val="991B1B"/>
                </a:solidFill>
                <a:latin typeface="Arial"/>
                <a:ea typeface="Arial"/>
                <a:cs typeface="Arial"/>
                <a:sym typeface="Arial"/>
              </a:endParaRPr>
            </a:p>
            <a:p>
              <a:pPr indent="0" lvl="0" marL="0" rtl="0" algn="l">
                <a:spcBef>
                  <a:spcPts val="900"/>
                </a:spcBef>
                <a:spcAft>
                  <a:spcPts val="0"/>
                </a:spcAft>
                <a:buNone/>
              </a:pPr>
              <a:r>
                <a:rPr b="0" lang="en">
                  <a:solidFill>
                    <a:srgbClr val="7F1D1D"/>
                  </a:solidFill>
                  <a:latin typeface="Arial"/>
                  <a:ea typeface="Arial"/>
                  <a:cs typeface="Arial"/>
                  <a:sym typeface="Arial"/>
                </a:rPr>
                <a:t>Highly brittle system. It lacks semantic understanding and fails if exact keywords are missing.</a:t>
              </a:r>
              <a:endParaRPr b="0">
                <a:solidFill>
                  <a:srgbClr val="7F1D1D"/>
                </a:solidFill>
                <a:latin typeface="Arial"/>
                <a:ea typeface="Arial"/>
                <a:cs typeface="Arial"/>
                <a:sym typeface="Arial"/>
              </a:endParaRPr>
            </a:p>
            <a:p>
              <a:pPr indent="0" lvl="0" marL="0" rtl="0" algn="l">
                <a:spcBef>
                  <a:spcPts val="1125"/>
                </a:spcBef>
                <a:spcAft>
                  <a:spcPts val="0"/>
                </a:spcAft>
                <a:buNone/>
              </a:pPr>
              <a:r>
                <a:rPr b="1" lang="en">
                  <a:solidFill>
                    <a:srgbClr val="991B1B"/>
                  </a:solidFill>
                  <a:latin typeface="Arial"/>
                  <a:ea typeface="Arial"/>
                  <a:cs typeface="Arial"/>
                  <a:sym typeface="Arial"/>
                </a:rPr>
                <a:t>USER TYPES:</a:t>
              </a:r>
              <a:endParaRPr b="1">
                <a:solidFill>
                  <a:srgbClr val="991B1B"/>
                </a:solidFill>
                <a:latin typeface="Arial"/>
                <a:ea typeface="Arial"/>
                <a:cs typeface="Arial"/>
                <a:sym typeface="Arial"/>
              </a:endParaRPr>
            </a:p>
            <a:p>
              <a:pPr indent="0" lvl="0" marL="0" rtl="0" algn="l">
                <a:spcBef>
                  <a:spcPts val="0"/>
                </a:spcBef>
                <a:spcAft>
                  <a:spcPts val="0"/>
                </a:spcAft>
                <a:buNone/>
              </a:pPr>
              <a:r>
                <a:rPr lang="en">
                  <a:solidFill>
                    <a:srgbClr val="991B1B"/>
                  </a:solidFill>
                  <a:latin typeface="Arial"/>
                  <a:ea typeface="Arial"/>
                  <a:cs typeface="Arial"/>
                  <a:sym typeface="Arial"/>
                </a:rPr>
                <a:t>"I need to take time off"</a:t>
              </a:r>
              <a:endParaRPr>
                <a:solidFill>
                  <a:srgbClr val="991B1B"/>
                </a:solidFill>
                <a:latin typeface="Arial"/>
                <a:ea typeface="Arial"/>
                <a:cs typeface="Arial"/>
                <a:sym typeface="Arial"/>
              </a:endParaRPr>
            </a:p>
            <a:p>
              <a:pPr indent="0" lvl="0" marL="0" rtl="0" algn="l">
                <a:spcBef>
                  <a:spcPts val="750"/>
                </a:spcBef>
                <a:spcAft>
                  <a:spcPts val="0"/>
                </a:spcAft>
                <a:buNone/>
              </a:pPr>
              <a:r>
                <a:rPr b="1" lang="en">
                  <a:solidFill>
                    <a:srgbClr val="B91C1C"/>
                  </a:solidFill>
                  <a:latin typeface="Arial"/>
                  <a:ea typeface="Arial"/>
                  <a:cs typeface="Arial"/>
                  <a:sym typeface="Arial"/>
                </a:rPr>
                <a:t>SYSTEM STATUS:</a:t>
              </a:r>
              <a:endParaRPr b="1">
                <a:solidFill>
                  <a:srgbClr val="B91C1C"/>
                </a:solidFill>
                <a:latin typeface="Arial"/>
                <a:ea typeface="Arial"/>
                <a:cs typeface="Arial"/>
                <a:sym typeface="Arial"/>
              </a:endParaRPr>
            </a:p>
            <a:p>
              <a:pPr indent="0" lvl="0" marL="0" rtl="0" algn="l">
                <a:spcBef>
                  <a:spcPts val="0"/>
                </a:spcBef>
                <a:spcAft>
                  <a:spcPts val="0"/>
                </a:spcAft>
                <a:buNone/>
              </a:pPr>
              <a:r>
                <a:rPr b="1" lang="en">
                  <a:solidFill>
                    <a:srgbClr val="B91C1C"/>
                  </a:solidFill>
                  <a:latin typeface="Arial"/>
                  <a:ea typeface="Arial"/>
                  <a:cs typeface="Arial"/>
                  <a:sym typeface="Arial"/>
                </a:rPr>
                <a:t>✘ REGEX FAILS</a:t>
              </a:r>
              <a:endParaRPr b="1">
                <a:solidFill>
                  <a:srgbClr val="B91C1C"/>
                </a:solidFill>
                <a:latin typeface="Arial"/>
                <a:ea typeface="Arial"/>
                <a:cs typeface="Arial"/>
                <a:sym typeface="Arial"/>
              </a:endParaRPr>
            </a:p>
            <a:p>
              <a:pPr indent="0" lvl="0" marL="0" rtl="0" algn="l">
                <a:spcBef>
                  <a:spcPts val="0"/>
                </a:spcBef>
                <a:spcAft>
                  <a:spcPts val="0"/>
                </a:spcAft>
                <a:buNone/>
              </a:pPr>
              <a:r>
                <a:rPr lang="en">
                  <a:solidFill>
                    <a:srgbClr val="B91C1C"/>
                  </a:solidFill>
                  <a:latin typeface="Arial"/>
                  <a:ea typeface="Arial"/>
                  <a:cs typeface="Arial"/>
                  <a:sym typeface="Arial"/>
                </a:rPr>
                <a:t>Missing exact keyword "leave" or "PTO".</a:t>
              </a:r>
              <a:endParaRPr>
                <a:solidFill>
                  <a:srgbClr val="B91C1C"/>
                </a:solidFill>
                <a:latin typeface="Arial"/>
                <a:ea typeface="Arial"/>
                <a:cs typeface="Arial"/>
                <a:sym typeface="Arial"/>
              </a:endParaRPr>
            </a:p>
          </p:txBody>
        </p:sp>
      </p:grpSp>
      <p:sp>
        <p:nvSpPr>
          <p:cNvPr id="2191" name="Google Shape;2191;p79"/>
          <p:cNvSpPr txBox="1"/>
          <p:nvPr/>
        </p:nvSpPr>
        <p:spPr>
          <a:xfrm>
            <a:off x="381000" y="4762500"/>
            <a:ext cx="8382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chemeClr val="dk1"/>
                </a:solidFill>
              </a:rPr>
              <a:t>Deterministic • Zero Cost • Extremely Low Latency • Low Generalization</a:t>
            </a:r>
            <a:endParaRPr b="1" sz="900">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95" name="Shape 2195"/>
        <p:cNvGrpSpPr/>
        <p:nvPr/>
      </p:nvGrpSpPr>
      <p:grpSpPr>
        <a:xfrm>
          <a:off x="0" y="0"/>
          <a:ext cx="0" cy="0"/>
          <a:chOff x="0" y="0"/>
          <a:chExt cx="0" cy="0"/>
        </a:xfrm>
      </p:grpSpPr>
      <p:sp>
        <p:nvSpPr>
          <p:cNvPr id="2196" name="Google Shape;2196;p80"/>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Rule-Based (Logical) Routing</a:t>
            </a:r>
            <a:endParaRPr/>
          </a:p>
        </p:txBody>
      </p:sp>
      <p:sp>
        <p:nvSpPr>
          <p:cNvPr id="2197" name="Google Shape;2197;p80"/>
          <p:cNvSpPr/>
          <p:nvPr/>
        </p:nvSpPr>
        <p:spPr>
          <a:xfrm>
            <a:off x="406725" y="952494"/>
            <a:ext cx="8330700" cy="3973868"/>
          </a:xfrm>
          <a:prstGeom prst="roundRect">
            <a:avLst>
              <a:gd fmla="val 1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98" name="Google Shape;2198;p80"/>
          <p:cNvPicPr preferRelativeResize="0"/>
          <p:nvPr/>
        </p:nvPicPr>
        <p:blipFill>
          <a:blip r:embed="rId4">
            <a:alphaModFix/>
          </a:blip>
          <a:stretch>
            <a:fillRect/>
          </a:stretch>
        </p:blipFill>
        <p:spPr>
          <a:xfrm>
            <a:off x="1712187" y="866950"/>
            <a:ext cx="5719776" cy="414494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02" name="Shape 2202"/>
        <p:cNvGrpSpPr/>
        <p:nvPr/>
      </p:nvGrpSpPr>
      <p:grpSpPr>
        <a:xfrm>
          <a:off x="0" y="0"/>
          <a:ext cx="0" cy="0"/>
          <a:chOff x="0" y="0"/>
          <a:chExt cx="0" cy="0"/>
        </a:xfrm>
      </p:grpSpPr>
      <p:sp>
        <p:nvSpPr>
          <p:cNvPr id="2203" name="Google Shape;2203;p81"/>
          <p:cNvSpPr txBox="1"/>
          <p:nvPr>
            <p:ph type="title"/>
          </p:nvPr>
        </p:nvSpPr>
        <p:spPr>
          <a:xfrm>
            <a:off x="311700" y="-1224"/>
            <a:ext cx="8340900" cy="62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Embedding based routing</a:t>
            </a:r>
            <a:endParaRPr/>
          </a:p>
        </p:txBody>
      </p:sp>
      <p:sp>
        <p:nvSpPr>
          <p:cNvPr id="2204" name="Google Shape;2204;p81"/>
          <p:cNvSpPr/>
          <p:nvPr/>
        </p:nvSpPr>
        <p:spPr>
          <a:xfrm>
            <a:off x="311700" y="1280150"/>
            <a:ext cx="3912000" cy="1762200"/>
          </a:xfrm>
          <a:prstGeom prst="roundRect">
            <a:avLst>
              <a:gd fmla="val 10909"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1E3A8A"/>
                </a:solidFill>
                <a:latin typeface="Arial"/>
                <a:ea typeface="Arial"/>
                <a:cs typeface="Arial"/>
                <a:sym typeface="Arial"/>
              </a:rPr>
              <a:t>What it is:</a:t>
            </a:r>
            <a:endParaRPr b="1">
              <a:solidFill>
                <a:srgbClr val="1E3A8A"/>
              </a:solidFill>
              <a:latin typeface="Arial"/>
              <a:ea typeface="Arial"/>
              <a:cs typeface="Arial"/>
              <a:sym typeface="Arial"/>
            </a:endParaRPr>
          </a:p>
          <a:p>
            <a:pPr indent="0" lvl="0" marL="0" rtl="0" algn="l">
              <a:spcBef>
                <a:spcPts val="300"/>
              </a:spcBef>
              <a:spcAft>
                <a:spcPts val="0"/>
              </a:spcAft>
              <a:buClr>
                <a:schemeClr val="dk1"/>
              </a:buClr>
              <a:buSzPts val="1100"/>
              <a:buFont typeface="Arial"/>
              <a:buNone/>
            </a:pPr>
            <a:r>
              <a:rPr lang="en">
                <a:solidFill>
                  <a:srgbClr val="1E3A8A"/>
                </a:solidFill>
              </a:rPr>
              <a:t>Transforms queries into vectors for similarity checks against "route profiles". Deterministic, fast (no LLMs), and works offline.</a:t>
            </a:r>
            <a:endParaRPr/>
          </a:p>
        </p:txBody>
      </p:sp>
      <p:sp>
        <p:nvSpPr>
          <p:cNvPr id="2205" name="Google Shape;2205;p81"/>
          <p:cNvSpPr txBox="1"/>
          <p:nvPr/>
        </p:nvSpPr>
        <p:spPr>
          <a:xfrm>
            <a:off x="5667375" y="1047750"/>
            <a:ext cx="30480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0">
              <a:solidFill>
                <a:srgbClr val="1E3A8A"/>
              </a:solidFill>
              <a:latin typeface="Arial"/>
              <a:ea typeface="Arial"/>
              <a:cs typeface="Arial"/>
              <a:sym typeface="Arial"/>
            </a:endParaRPr>
          </a:p>
        </p:txBody>
      </p:sp>
      <p:grpSp>
        <p:nvGrpSpPr>
          <p:cNvPr id="2206" name="Google Shape;2206;p81"/>
          <p:cNvGrpSpPr/>
          <p:nvPr/>
        </p:nvGrpSpPr>
        <p:grpSpPr>
          <a:xfrm>
            <a:off x="4906019" y="1280138"/>
            <a:ext cx="3911998" cy="1762163"/>
            <a:chOff x="5484075" y="1116400"/>
            <a:chExt cx="3333900" cy="1143000"/>
          </a:xfrm>
        </p:grpSpPr>
        <p:sp>
          <p:nvSpPr>
            <p:cNvPr id="2207" name="Google Shape;2207;p81"/>
            <p:cNvSpPr/>
            <p:nvPr/>
          </p:nvSpPr>
          <p:spPr>
            <a:xfrm>
              <a:off x="5484075" y="1116400"/>
              <a:ext cx="3333900" cy="1143000"/>
            </a:xfrm>
            <a:prstGeom prst="roundRect">
              <a:avLst>
                <a:gd fmla="val 10000" name="adj"/>
              </a:avLst>
            </a:prstGeom>
            <a:solidFill>
              <a:srgbClr val="F0FDF4"/>
            </a:solidFill>
            <a:ln cap="flat" cmpd="sng" w="16050">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2359"/>
            </a:p>
          </p:txBody>
        </p:sp>
        <p:sp>
          <p:nvSpPr>
            <p:cNvPr id="2208" name="Google Shape;2208;p81"/>
            <p:cNvSpPr txBox="1"/>
            <p:nvPr/>
          </p:nvSpPr>
          <p:spPr>
            <a:xfrm>
              <a:off x="5627025" y="1150750"/>
              <a:ext cx="30480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4532D"/>
                  </a:solidFill>
                  <a:latin typeface="Arial"/>
                  <a:ea typeface="Arial"/>
                  <a:cs typeface="Arial"/>
                  <a:sym typeface="Arial"/>
                </a:rPr>
                <a:t>How it is done:</a:t>
              </a:r>
              <a:endParaRPr b="1">
                <a:solidFill>
                  <a:srgbClr val="14532D"/>
                </a:solidFill>
                <a:latin typeface="Arial"/>
                <a:ea typeface="Arial"/>
                <a:cs typeface="Arial"/>
                <a:sym typeface="Arial"/>
              </a:endParaRPr>
            </a:p>
            <a:p>
              <a:pPr indent="0" lvl="0" marL="0" rtl="0" algn="l">
                <a:spcBef>
                  <a:spcPts val="506"/>
                </a:spcBef>
                <a:spcAft>
                  <a:spcPts val="0"/>
                </a:spcAft>
                <a:buNone/>
              </a:pPr>
              <a:r>
                <a:rPr b="0" lang="en">
                  <a:solidFill>
                    <a:srgbClr val="14532D"/>
                  </a:solidFill>
                  <a:latin typeface="Arial"/>
                  <a:ea typeface="Arial"/>
                  <a:cs typeface="Arial"/>
                  <a:sym typeface="Arial"/>
                </a:rPr>
                <a:t>Create "profiles" (20-50 sample questions) for each database. Real queries are embedded and matched via cosine similarity.</a:t>
              </a:r>
              <a:endParaRPr b="0">
                <a:solidFill>
                  <a:srgbClr val="14532D"/>
                </a:solidFill>
                <a:latin typeface="Arial"/>
                <a:ea typeface="Arial"/>
                <a:cs typeface="Arial"/>
                <a:sym typeface="Arial"/>
              </a:endParaRPr>
            </a:p>
          </p:txBody>
        </p:sp>
      </p:grpSp>
      <p:grpSp>
        <p:nvGrpSpPr>
          <p:cNvPr id="2209" name="Google Shape;2209;p81"/>
          <p:cNvGrpSpPr/>
          <p:nvPr/>
        </p:nvGrpSpPr>
        <p:grpSpPr>
          <a:xfrm>
            <a:off x="285750" y="3507151"/>
            <a:ext cx="8572500" cy="1285800"/>
            <a:chOff x="285750" y="3571875"/>
            <a:chExt cx="8572500" cy="1285800"/>
          </a:xfrm>
        </p:grpSpPr>
        <p:sp>
          <p:nvSpPr>
            <p:cNvPr id="2210" name="Google Shape;2210;p81"/>
            <p:cNvSpPr/>
            <p:nvPr/>
          </p:nvSpPr>
          <p:spPr>
            <a:xfrm>
              <a:off x="285750" y="3571875"/>
              <a:ext cx="8572500" cy="1285800"/>
            </a:xfrm>
            <a:prstGeom prst="roundRect">
              <a:avLst>
                <a:gd fmla="val 888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1" name="Google Shape;2211;p81"/>
            <p:cNvSpPr txBox="1"/>
            <p:nvPr/>
          </p:nvSpPr>
          <p:spPr>
            <a:xfrm>
              <a:off x="476250" y="3571875"/>
              <a:ext cx="8191500" cy="12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0F172A"/>
                  </a:solidFill>
                  <a:latin typeface="Arial"/>
                  <a:ea typeface="Arial"/>
                  <a:cs typeface="Arial"/>
                  <a:sym typeface="Arial"/>
                </a:rPr>
                <a:t>Project Example: </a:t>
              </a:r>
              <a:endParaRPr b="1">
                <a:solidFill>
                  <a:srgbClr val="0F172A"/>
                </a:solidFill>
                <a:latin typeface="Arial"/>
                <a:ea typeface="Arial"/>
                <a:cs typeface="Arial"/>
                <a:sym typeface="Arial"/>
              </a:endParaRPr>
            </a:p>
            <a:p>
              <a:pPr indent="0" lvl="0" marL="0" rtl="0" algn="l">
                <a:spcBef>
                  <a:spcPts val="600"/>
                </a:spcBef>
                <a:spcAft>
                  <a:spcPts val="0"/>
                </a:spcAft>
                <a:buNone/>
              </a:pPr>
              <a:r>
                <a:rPr b="1" lang="en">
                  <a:solidFill>
                    <a:srgbClr val="334155"/>
                  </a:solidFill>
                  <a:latin typeface="Arial"/>
                  <a:ea typeface="Arial"/>
                  <a:cs typeface="Arial"/>
                  <a:sym typeface="Arial"/>
                </a:rPr>
                <a:t>User Query:</a:t>
              </a:r>
              <a:r>
                <a:rPr lang="en">
                  <a:solidFill>
                    <a:srgbClr val="334155"/>
                  </a:solidFill>
                  <a:latin typeface="Arial"/>
                  <a:ea typeface="Arial"/>
                  <a:cs typeface="Arial"/>
                  <a:sym typeface="Arial"/>
                </a:rPr>
                <a:t> "I'm feeling burnt out and need a break next Tuesday."</a:t>
              </a:r>
              <a:endParaRPr>
                <a:solidFill>
                  <a:srgbClr val="334155"/>
                </a:solidFill>
                <a:latin typeface="Arial"/>
                <a:ea typeface="Arial"/>
                <a:cs typeface="Arial"/>
                <a:sym typeface="Arial"/>
              </a:endParaRPr>
            </a:p>
            <a:p>
              <a:pPr indent="0" lvl="0" marL="0" rtl="0" algn="l">
                <a:spcBef>
                  <a:spcPts val="300"/>
                </a:spcBef>
                <a:spcAft>
                  <a:spcPts val="0"/>
                </a:spcAft>
                <a:buNone/>
              </a:pPr>
              <a:r>
                <a:rPr b="1" lang="en">
                  <a:solidFill>
                    <a:srgbClr val="334155"/>
                  </a:solidFill>
                  <a:latin typeface="Arial"/>
                  <a:ea typeface="Arial"/>
                  <a:cs typeface="Arial"/>
                  <a:sym typeface="Arial"/>
                </a:rPr>
                <a:t>Route Profiles:</a:t>
              </a:r>
              <a:r>
                <a:rPr lang="en">
                  <a:solidFill>
                    <a:srgbClr val="334155"/>
                  </a:solidFill>
                  <a:latin typeface="Arial"/>
                  <a:ea typeface="Arial"/>
                  <a:cs typeface="Arial"/>
                  <a:sym typeface="Arial"/>
                </a:rPr>
                <a:t> </a:t>
              </a:r>
              <a:r>
                <a:rPr lang="en">
                  <a:solidFill>
                    <a:srgbClr val="188038"/>
                  </a:solidFill>
                  <a:latin typeface="Arial"/>
                  <a:ea typeface="Arial"/>
                  <a:cs typeface="Arial"/>
                  <a:sym typeface="Arial"/>
                </a:rPr>
                <a:t>HR_P</a:t>
              </a:r>
              <a:r>
                <a:rPr lang="en">
                  <a:solidFill>
                    <a:srgbClr val="188038"/>
                  </a:solidFill>
                </a:rPr>
                <a:t>olicy</a:t>
              </a:r>
              <a:r>
                <a:rPr lang="en">
                  <a:solidFill>
                    <a:srgbClr val="334155"/>
                  </a:solidFill>
                  <a:latin typeface="Arial"/>
                  <a:ea typeface="Arial"/>
                  <a:cs typeface="Arial"/>
                  <a:sym typeface="Arial"/>
                </a:rPr>
                <a:t> (benefits, time off) vs. </a:t>
              </a:r>
              <a:r>
                <a:rPr lang="en">
                  <a:solidFill>
                    <a:srgbClr val="188038"/>
                  </a:solidFill>
                  <a:latin typeface="Arial"/>
                  <a:ea typeface="Arial"/>
                  <a:cs typeface="Arial"/>
                  <a:sym typeface="Arial"/>
                </a:rPr>
                <a:t>Code_Profile</a:t>
              </a:r>
              <a:r>
                <a:rPr lang="en">
                  <a:solidFill>
                    <a:srgbClr val="334155"/>
                  </a:solidFill>
                  <a:latin typeface="Arial"/>
                  <a:ea typeface="Arial"/>
                  <a:cs typeface="Arial"/>
                  <a:sym typeface="Arial"/>
                </a:rPr>
                <a:t> (bugs, PRs).</a:t>
              </a:r>
              <a:endParaRPr>
                <a:solidFill>
                  <a:srgbClr val="334155"/>
                </a:solidFill>
                <a:latin typeface="Arial"/>
                <a:ea typeface="Arial"/>
                <a:cs typeface="Arial"/>
                <a:sym typeface="Arial"/>
              </a:endParaRPr>
            </a:p>
            <a:p>
              <a:pPr indent="0" lvl="0" marL="0" rtl="0" algn="l">
                <a:spcBef>
                  <a:spcPts val="300"/>
                </a:spcBef>
                <a:spcAft>
                  <a:spcPts val="0"/>
                </a:spcAft>
                <a:buNone/>
              </a:pPr>
              <a:r>
                <a:rPr b="1" lang="en">
                  <a:solidFill>
                    <a:srgbClr val="334155"/>
                  </a:solidFill>
                  <a:latin typeface="Arial"/>
                  <a:ea typeface="Arial"/>
                  <a:cs typeface="Arial"/>
                  <a:sym typeface="Arial"/>
                </a:rPr>
                <a:t>Result:</a:t>
              </a:r>
              <a:r>
                <a:rPr lang="en">
                  <a:solidFill>
                    <a:srgbClr val="334155"/>
                  </a:solidFill>
                  <a:latin typeface="Arial"/>
                  <a:ea typeface="Arial"/>
                  <a:cs typeface="Arial"/>
                  <a:sym typeface="Arial"/>
                </a:rPr>
                <a:t> Semantic match favors </a:t>
              </a:r>
              <a:r>
                <a:rPr b="1" lang="en">
                  <a:solidFill>
                    <a:srgbClr val="166534"/>
                  </a:solidFill>
                  <a:latin typeface="Arial"/>
                  <a:ea typeface="Arial"/>
                  <a:cs typeface="Arial"/>
                  <a:sym typeface="Arial"/>
                </a:rPr>
                <a:t>HR_Policy</a:t>
              </a:r>
              <a:r>
                <a:rPr lang="en">
                  <a:solidFill>
                    <a:srgbClr val="334155"/>
                  </a:solidFill>
                  <a:latin typeface="Arial"/>
                  <a:ea typeface="Arial"/>
                  <a:cs typeface="Arial"/>
                  <a:sym typeface="Arial"/>
                </a:rPr>
                <a:t> cluster. Routed without a heavy LLM.</a:t>
              </a:r>
              <a:endParaRPr>
                <a:solidFill>
                  <a:srgbClr val="334155"/>
                </a:solidFill>
                <a:latin typeface="Arial"/>
                <a:ea typeface="Arial"/>
                <a:cs typeface="Arial"/>
                <a:sym typeface="Arial"/>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5" name="Shape 2215"/>
        <p:cNvGrpSpPr/>
        <p:nvPr/>
      </p:nvGrpSpPr>
      <p:grpSpPr>
        <a:xfrm>
          <a:off x="0" y="0"/>
          <a:ext cx="0" cy="0"/>
          <a:chOff x="0" y="0"/>
          <a:chExt cx="0" cy="0"/>
        </a:xfrm>
      </p:grpSpPr>
      <p:sp>
        <p:nvSpPr>
          <p:cNvPr id="2216" name="Google Shape;2216;p82"/>
          <p:cNvSpPr txBox="1"/>
          <p:nvPr>
            <p:ph type="title"/>
          </p:nvPr>
        </p:nvSpPr>
        <p:spPr>
          <a:xfrm>
            <a:off x="311700" y="-1224"/>
            <a:ext cx="8340900" cy="62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Embedding based routing</a:t>
            </a:r>
            <a:endParaRPr/>
          </a:p>
        </p:txBody>
      </p:sp>
      <p:pic>
        <p:nvPicPr>
          <p:cNvPr id="2217" name="Google Shape;2217;p82"/>
          <p:cNvPicPr preferRelativeResize="0"/>
          <p:nvPr/>
        </p:nvPicPr>
        <p:blipFill>
          <a:blip r:embed="rId4">
            <a:alphaModFix/>
          </a:blip>
          <a:stretch>
            <a:fillRect/>
          </a:stretch>
        </p:blipFill>
        <p:spPr>
          <a:xfrm>
            <a:off x="195900" y="644769"/>
            <a:ext cx="6665476" cy="444365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1" name="Shape 2221"/>
        <p:cNvGrpSpPr/>
        <p:nvPr/>
      </p:nvGrpSpPr>
      <p:grpSpPr>
        <a:xfrm>
          <a:off x="0" y="0"/>
          <a:ext cx="0" cy="0"/>
          <a:chOff x="0" y="0"/>
          <a:chExt cx="0" cy="0"/>
        </a:xfrm>
      </p:grpSpPr>
      <p:sp>
        <p:nvSpPr>
          <p:cNvPr id="2222" name="Google Shape;2222;p83"/>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Embedding based routing</a:t>
            </a:r>
            <a:endParaRPr/>
          </a:p>
        </p:txBody>
      </p:sp>
      <p:sp>
        <p:nvSpPr>
          <p:cNvPr id="2223" name="Google Shape;2223;p83"/>
          <p:cNvSpPr/>
          <p:nvPr/>
        </p:nvSpPr>
        <p:spPr>
          <a:xfrm>
            <a:off x="406725" y="952494"/>
            <a:ext cx="8330700" cy="3973868"/>
          </a:xfrm>
          <a:prstGeom prst="roundRect">
            <a:avLst>
              <a:gd fmla="val 1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224" name="Google Shape;2224;p83"/>
          <p:cNvPicPr preferRelativeResize="0"/>
          <p:nvPr/>
        </p:nvPicPr>
        <p:blipFill>
          <a:blip r:embed="rId4">
            <a:alphaModFix/>
          </a:blip>
          <a:stretch>
            <a:fillRect/>
          </a:stretch>
        </p:blipFill>
        <p:spPr>
          <a:xfrm>
            <a:off x="210424" y="684250"/>
            <a:ext cx="4262649" cy="4307749"/>
          </a:xfrm>
          <a:prstGeom prst="rect">
            <a:avLst/>
          </a:prstGeom>
          <a:noFill/>
          <a:ln>
            <a:noFill/>
          </a:ln>
        </p:spPr>
      </p:pic>
      <p:pic>
        <p:nvPicPr>
          <p:cNvPr id="2225" name="Google Shape;2225;p83"/>
          <p:cNvPicPr preferRelativeResize="0"/>
          <p:nvPr/>
        </p:nvPicPr>
        <p:blipFill>
          <a:blip r:embed="rId5">
            <a:alphaModFix/>
          </a:blip>
          <a:stretch>
            <a:fillRect/>
          </a:stretch>
        </p:blipFill>
        <p:spPr>
          <a:xfrm>
            <a:off x="4616930" y="684250"/>
            <a:ext cx="4215370" cy="430775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9" name="Shape 2229"/>
        <p:cNvGrpSpPr/>
        <p:nvPr/>
      </p:nvGrpSpPr>
      <p:grpSpPr>
        <a:xfrm>
          <a:off x="0" y="0"/>
          <a:ext cx="0" cy="0"/>
          <a:chOff x="0" y="0"/>
          <a:chExt cx="0" cy="0"/>
        </a:xfrm>
      </p:grpSpPr>
      <p:sp>
        <p:nvSpPr>
          <p:cNvPr id="2230" name="Google Shape;2230;p84"/>
          <p:cNvSpPr txBox="1"/>
          <p:nvPr>
            <p:ph type="title"/>
          </p:nvPr>
        </p:nvSpPr>
        <p:spPr>
          <a:xfrm>
            <a:off x="311700" y="202352"/>
            <a:ext cx="8520600" cy="56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Classifier-Based Routing: Learning Intent</a:t>
            </a:r>
            <a:endParaRPr/>
          </a:p>
        </p:txBody>
      </p:sp>
      <p:grpSp>
        <p:nvGrpSpPr>
          <p:cNvPr id="2231" name="Google Shape;2231;p84"/>
          <p:cNvGrpSpPr/>
          <p:nvPr/>
        </p:nvGrpSpPr>
        <p:grpSpPr>
          <a:xfrm>
            <a:off x="359417" y="1043250"/>
            <a:ext cx="4011471" cy="2593330"/>
            <a:chOff x="381000" y="1043261"/>
            <a:chExt cx="4336725" cy="1285800"/>
          </a:xfrm>
        </p:grpSpPr>
        <p:sp>
          <p:nvSpPr>
            <p:cNvPr id="2232" name="Google Shape;2232;p84"/>
            <p:cNvSpPr/>
            <p:nvPr/>
          </p:nvSpPr>
          <p:spPr>
            <a:xfrm>
              <a:off x="381000" y="1043261"/>
              <a:ext cx="4286400" cy="1285800"/>
            </a:xfrm>
            <a:prstGeom prst="roundRect">
              <a:avLst>
                <a:gd fmla="val 8888" name="adj"/>
              </a:avLst>
            </a:prstGeom>
            <a:solidFill>
              <a:srgbClr val="F8FAFC"/>
            </a:solidFill>
            <a:ln cap="flat" cmpd="sng" w="88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3" name="Google Shape;2233;p84"/>
            <p:cNvSpPr txBox="1"/>
            <p:nvPr/>
          </p:nvSpPr>
          <p:spPr>
            <a:xfrm>
              <a:off x="717225" y="1138361"/>
              <a:ext cx="4000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95">
                  <a:solidFill>
                    <a:srgbClr val="1E40AF"/>
                  </a:solidFill>
                  <a:latin typeface="Arial"/>
                  <a:ea typeface="Arial"/>
                  <a:cs typeface="Arial"/>
                  <a:sym typeface="Arial"/>
                </a:rPr>
                <a:t>What it is</a:t>
              </a:r>
              <a:endParaRPr b="1" sz="1295">
                <a:solidFill>
                  <a:srgbClr val="1E40AF"/>
                </a:solidFill>
                <a:latin typeface="Arial"/>
                <a:ea typeface="Arial"/>
                <a:cs typeface="Arial"/>
                <a:sym typeface="Arial"/>
              </a:endParaRPr>
            </a:p>
            <a:p>
              <a:pPr indent="0" lvl="0" marL="0" rtl="0" algn="l">
                <a:spcBef>
                  <a:spcPts val="347"/>
                </a:spcBef>
                <a:spcAft>
                  <a:spcPts val="0"/>
                </a:spcAft>
                <a:buNone/>
              </a:pPr>
              <a:r>
                <a:rPr b="0" lang="en" sz="1295">
                  <a:solidFill>
                    <a:srgbClr val="475569"/>
                  </a:solidFill>
                  <a:latin typeface="Arial"/>
                  <a:ea typeface="Arial"/>
                  <a:cs typeface="Arial"/>
                  <a:sym typeface="Arial"/>
                </a:rPr>
                <a:t>Uses a trained, lightweight ML model (e.g., Random Forest, Naive Bayes, small BERT) to categorize query intent into predefined buckets like HR, Legal, or Ops.</a:t>
              </a:r>
              <a:endParaRPr b="0" sz="1295">
                <a:solidFill>
                  <a:srgbClr val="475569"/>
                </a:solidFill>
                <a:latin typeface="Arial"/>
                <a:ea typeface="Arial"/>
                <a:cs typeface="Arial"/>
                <a:sym typeface="Arial"/>
              </a:endParaRPr>
            </a:p>
          </p:txBody>
        </p:sp>
      </p:grpSp>
      <p:grpSp>
        <p:nvGrpSpPr>
          <p:cNvPr id="2234" name="Google Shape;2234;p84"/>
          <p:cNvGrpSpPr/>
          <p:nvPr/>
        </p:nvGrpSpPr>
        <p:grpSpPr>
          <a:xfrm>
            <a:off x="4750372" y="1043313"/>
            <a:ext cx="4011642" cy="2623932"/>
            <a:chOff x="574350" y="2471861"/>
            <a:chExt cx="4286400" cy="1285800"/>
          </a:xfrm>
        </p:grpSpPr>
        <p:sp>
          <p:nvSpPr>
            <p:cNvPr id="2235" name="Google Shape;2235;p84"/>
            <p:cNvSpPr/>
            <p:nvPr/>
          </p:nvSpPr>
          <p:spPr>
            <a:xfrm>
              <a:off x="574350" y="2471861"/>
              <a:ext cx="4286400" cy="1285800"/>
            </a:xfrm>
            <a:prstGeom prst="roundRect">
              <a:avLst>
                <a:gd fmla="val 8888" name="adj"/>
              </a:avLst>
            </a:prstGeom>
            <a:solidFill>
              <a:srgbClr val="F0FDF4"/>
            </a:solidFill>
            <a:ln cap="flat" cmpd="sng" w="89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6" name="Google Shape;2236;p84"/>
            <p:cNvSpPr txBox="1"/>
            <p:nvPr/>
          </p:nvSpPr>
          <p:spPr>
            <a:xfrm>
              <a:off x="717225" y="2519486"/>
              <a:ext cx="4000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10">
                  <a:solidFill>
                    <a:srgbClr val="166534"/>
                  </a:solidFill>
                  <a:latin typeface="Arial"/>
                  <a:ea typeface="Arial"/>
                  <a:cs typeface="Arial"/>
                  <a:sym typeface="Arial"/>
                </a:rPr>
                <a:t>How it is done</a:t>
              </a:r>
              <a:endParaRPr b="1" sz="1310">
                <a:solidFill>
                  <a:srgbClr val="166534"/>
                </a:solidFill>
                <a:latin typeface="Arial"/>
                <a:ea typeface="Arial"/>
                <a:cs typeface="Arial"/>
                <a:sym typeface="Arial"/>
              </a:endParaRPr>
            </a:p>
            <a:p>
              <a:pPr indent="0" lvl="0" marL="0" rtl="0" algn="l">
                <a:spcBef>
                  <a:spcPts val="351"/>
                </a:spcBef>
                <a:spcAft>
                  <a:spcPts val="0"/>
                </a:spcAft>
                <a:buNone/>
              </a:pPr>
              <a:r>
                <a:rPr b="0" lang="en" sz="1310">
                  <a:solidFill>
                    <a:srgbClr val="14532D"/>
                  </a:solidFill>
                  <a:latin typeface="Arial"/>
                  <a:ea typeface="Arial"/>
                  <a:cs typeface="Arial"/>
                  <a:sym typeface="Arial"/>
                </a:rPr>
                <a:t>The classifier is trained on historical queries mapped to correct labels. At runtime, it ingests queries and outputs probability scores for each category.</a:t>
              </a:r>
              <a:endParaRPr b="0" sz="1310">
                <a:solidFill>
                  <a:srgbClr val="14532D"/>
                </a:solidFill>
                <a:latin typeface="Arial"/>
                <a:ea typeface="Arial"/>
                <a:cs typeface="Arial"/>
                <a:sym typeface="Arial"/>
              </a:endParaRPr>
            </a:p>
          </p:txBody>
        </p:sp>
      </p:grpSp>
      <p:grpSp>
        <p:nvGrpSpPr>
          <p:cNvPr id="2237" name="Google Shape;2237;p84"/>
          <p:cNvGrpSpPr/>
          <p:nvPr/>
        </p:nvGrpSpPr>
        <p:grpSpPr>
          <a:xfrm>
            <a:off x="381000" y="4143375"/>
            <a:ext cx="8382000" cy="809700"/>
            <a:chOff x="381000" y="4143375"/>
            <a:chExt cx="8382000" cy="809700"/>
          </a:xfrm>
        </p:grpSpPr>
        <p:sp>
          <p:nvSpPr>
            <p:cNvPr id="2238" name="Google Shape;2238;p84"/>
            <p:cNvSpPr/>
            <p:nvPr/>
          </p:nvSpPr>
          <p:spPr>
            <a:xfrm>
              <a:off x="381000" y="4143375"/>
              <a:ext cx="8382000" cy="809700"/>
            </a:xfrm>
            <a:prstGeom prst="roundRect">
              <a:avLst>
                <a:gd fmla="val 14117"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9" name="Google Shape;2239;p84"/>
            <p:cNvSpPr txBox="1"/>
            <p:nvPr/>
          </p:nvSpPr>
          <p:spPr>
            <a:xfrm>
              <a:off x="523875" y="4191000"/>
              <a:ext cx="809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334155"/>
                  </a:solidFill>
                  <a:latin typeface="Arial"/>
                  <a:ea typeface="Arial"/>
                  <a:cs typeface="Arial"/>
                  <a:sym typeface="Arial"/>
                </a:rPr>
                <a:t>Project Example: </a:t>
              </a:r>
              <a:endParaRPr b="1">
                <a:solidFill>
                  <a:srgbClr val="334155"/>
                </a:solidFill>
                <a:latin typeface="Arial"/>
                <a:ea typeface="Arial"/>
                <a:cs typeface="Arial"/>
                <a:sym typeface="Arial"/>
              </a:endParaRPr>
            </a:p>
            <a:p>
              <a:pPr indent="0" lvl="0" marL="0" rtl="0" algn="l">
                <a:spcBef>
                  <a:spcPts val="225"/>
                </a:spcBef>
                <a:spcAft>
                  <a:spcPts val="0"/>
                </a:spcAft>
                <a:buNone/>
              </a:pPr>
              <a:r>
                <a:rPr b="1" lang="en">
                  <a:solidFill>
                    <a:srgbClr val="475569"/>
                  </a:solidFill>
                  <a:latin typeface="Arial"/>
                  <a:ea typeface="Arial"/>
                  <a:cs typeface="Arial"/>
                  <a:sym typeface="Arial"/>
                </a:rPr>
                <a:t>Query:</a:t>
              </a:r>
              <a:r>
                <a:rPr lang="en">
                  <a:solidFill>
                    <a:srgbClr val="475569"/>
                  </a:solidFill>
                  <a:latin typeface="Arial"/>
                  <a:ea typeface="Arial"/>
                  <a:cs typeface="Arial"/>
                  <a:sym typeface="Arial"/>
                </a:rPr>
                <a:t> "My compensation seems wrong this month."  |  </a:t>
              </a:r>
              <a:r>
                <a:rPr b="1" lang="en">
                  <a:solidFill>
                    <a:srgbClr val="475569"/>
                  </a:solidFill>
                  <a:latin typeface="Arial"/>
                  <a:ea typeface="Arial"/>
                  <a:cs typeface="Arial"/>
                  <a:sym typeface="Arial"/>
                </a:rPr>
                <a:t>Result:</a:t>
              </a:r>
              <a:r>
                <a:rPr lang="en">
                  <a:solidFill>
                    <a:srgbClr val="475569"/>
                  </a:solidFill>
                  <a:latin typeface="Arial"/>
                  <a:ea typeface="Arial"/>
                  <a:cs typeface="Arial"/>
                  <a:sym typeface="Arial"/>
                </a:rPr>
                <a:t> Recognizes semantic pattern </a:t>
              </a:r>
              <a:r>
                <a:rPr b="1" lang="en">
                  <a:solidFill>
                    <a:srgbClr val="166534"/>
                  </a:solidFill>
                  <a:highlight>
                    <a:srgbClr val="DCFCE7"/>
                  </a:highlight>
                  <a:latin typeface="Roboto Mono"/>
                  <a:ea typeface="Roboto Mono"/>
                  <a:cs typeface="Roboto Mono"/>
                  <a:sym typeface="Roboto Mono"/>
                </a:rPr>
                <a:t>Intent: HR (95% confidence)</a:t>
              </a:r>
              <a:endParaRPr>
                <a:solidFill>
                  <a:srgbClr val="475569"/>
                </a:solidFill>
                <a:latin typeface="Arial"/>
                <a:ea typeface="Arial"/>
                <a:cs typeface="Arial"/>
                <a:sym typeface="Arial"/>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3" name="Shape 2243"/>
        <p:cNvGrpSpPr/>
        <p:nvPr/>
      </p:nvGrpSpPr>
      <p:grpSpPr>
        <a:xfrm>
          <a:off x="0" y="0"/>
          <a:ext cx="0" cy="0"/>
          <a:chOff x="0" y="0"/>
          <a:chExt cx="0" cy="0"/>
        </a:xfrm>
      </p:grpSpPr>
      <p:sp>
        <p:nvSpPr>
          <p:cNvPr id="2244" name="Google Shape;2244;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Classifier-Based Routing: Learning Intent</a:t>
            </a:r>
            <a:endParaRPr/>
          </a:p>
        </p:txBody>
      </p:sp>
      <p:pic>
        <p:nvPicPr>
          <p:cNvPr id="2245" name="Google Shape;2245;p85" title="ChatGPT Image Jun 15, 2026, 07_00_31 PM.png"/>
          <p:cNvPicPr preferRelativeResize="0"/>
          <p:nvPr/>
        </p:nvPicPr>
        <p:blipFill rotWithShape="1">
          <a:blip r:embed="rId3">
            <a:alphaModFix/>
          </a:blip>
          <a:srcRect b="11172" l="0" r="0" t="3874"/>
          <a:stretch/>
        </p:blipFill>
        <p:spPr>
          <a:xfrm>
            <a:off x="2212200" y="1061875"/>
            <a:ext cx="4719600" cy="4008900"/>
          </a:xfrm>
          <a:prstGeom prst="roundRect">
            <a:avLst>
              <a:gd fmla="val 4000" name="adj"/>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49" name="Shape 2249"/>
        <p:cNvGrpSpPr/>
        <p:nvPr/>
      </p:nvGrpSpPr>
      <p:grpSpPr>
        <a:xfrm>
          <a:off x="0" y="0"/>
          <a:ext cx="0" cy="0"/>
          <a:chOff x="0" y="0"/>
          <a:chExt cx="0" cy="0"/>
        </a:xfrm>
      </p:grpSpPr>
      <p:sp>
        <p:nvSpPr>
          <p:cNvPr id="2250" name="Google Shape;2250;p86"/>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Classifier-Based Routing: Learning Intent</a:t>
            </a:r>
            <a:endParaRPr/>
          </a:p>
        </p:txBody>
      </p:sp>
      <p:pic>
        <p:nvPicPr>
          <p:cNvPr id="2251" name="Google Shape;2251;p86"/>
          <p:cNvPicPr preferRelativeResize="0"/>
          <p:nvPr/>
        </p:nvPicPr>
        <p:blipFill>
          <a:blip r:embed="rId4">
            <a:alphaModFix/>
          </a:blip>
          <a:stretch>
            <a:fillRect/>
          </a:stretch>
        </p:blipFill>
        <p:spPr>
          <a:xfrm>
            <a:off x="311700" y="751850"/>
            <a:ext cx="3679835" cy="4391651"/>
          </a:xfrm>
          <a:prstGeom prst="rect">
            <a:avLst/>
          </a:prstGeom>
          <a:noFill/>
          <a:ln>
            <a:noFill/>
          </a:ln>
        </p:spPr>
      </p:pic>
      <p:pic>
        <p:nvPicPr>
          <p:cNvPr id="2252" name="Google Shape;2252;p86"/>
          <p:cNvPicPr preferRelativeResize="0"/>
          <p:nvPr/>
        </p:nvPicPr>
        <p:blipFill>
          <a:blip r:embed="rId5">
            <a:alphaModFix/>
          </a:blip>
          <a:stretch>
            <a:fillRect/>
          </a:stretch>
        </p:blipFill>
        <p:spPr>
          <a:xfrm>
            <a:off x="4572009" y="881423"/>
            <a:ext cx="3738941" cy="413251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sp>
        <p:nvSpPr>
          <p:cNvPr id="2257" name="Google Shape;2257;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 based routing</a:t>
            </a:r>
            <a:endParaRPr/>
          </a:p>
        </p:txBody>
      </p:sp>
      <p:grpSp>
        <p:nvGrpSpPr>
          <p:cNvPr id="2258" name="Google Shape;2258;p87"/>
          <p:cNvGrpSpPr/>
          <p:nvPr/>
        </p:nvGrpSpPr>
        <p:grpSpPr>
          <a:xfrm>
            <a:off x="948061" y="1095378"/>
            <a:ext cx="7541952" cy="1619058"/>
            <a:chOff x="553200" y="1934315"/>
            <a:chExt cx="3619500" cy="1476300"/>
          </a:xfrm>
        </p:grpSpPr>
        <p:sp>
          <p:nvSpPr>
            <p:cNvPr id="2259" name="Google Shape;2259;p87"/>
            <p:cNvSpPr/>
            <p:nvPr/>
          </p:nvSpPr>
          <p:spPr>
            <a:xfrm>
              <a:off x="553200" y="1934315"/>
              <a:ext cx="3619500" cy="1476300"/>
            </a:xfrm>
            <a:prstGeom prst="roundRect">
              <a:avLst>
                <a:gd fmla="val 7741" name="adj"/>
              </a:avLst>
            </a:prstGeom>
            <a:solidFill>
              <a:srgbClr val="EFF6FF"/>
            </a:solidFill>
            <a:ln cap="flat" cmpd="sng" w="1045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535"/>
            </a:p>
          </p:txBody>
        </p:sp>
        <p:sp>
          <p:nvSpPr>
            <p:cNvPr id="2260" name="Google Shape;2260;p87"/>
            <p:cNvSpPr txBox="1"/>
            <p:nvPr/>
          </p:nvSpPr>
          <p:spPr>
            <a:xfrm>
              <a:off x="696000" y="1934315"/>
              <a:ext cx="3333900" cy="147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26">
                  <a:solidFill>
                    <a:srgbClr val="1E3A8A"/>
                  </a:solidFill>
                  <a:latin typeface="Arial"/>
                  <a:ea typeface="Arial"/>
                  <a:cs typeface="Arial"/>
                  <a:sym typeface="Arial"/>
                </a:rPr>
                <a:t>Concept &amp; Implementation</a:t>
              </a:r>
              <a:endParaRPr b="1" sz="1426">
                <a:solidFill>
                  <a:srgbClr val="1E3A8A"/>
                </a:solidFill>
                <a:latin typeface="Arial"/>
                <a:ea typeface="Arial"/>
                <a:cs typeface="Arial"/>
                <a:sym typeface="Arial"/>
              </a:endParaRPr>
            </a:p>
            <a:p>
              <a:pPr indent="0" lvl="0" marL="0" rtl="0" algn="l">
                <a:spcBef>
                  <a:spcPts val="494"/>
                </a:spcBef>
                <a:spcAft>
                  <a:spcPts val="0"/>
                </a:spcAft>
                <a:buNone/>
              </a:pPr>
              <a:r>
                <a:rPr b="1" lang="en" sz="1152">
                  <a:solidFill>
                    <a:srgbClr val="1E40AF"/>
                  </a:solidFill>
                  <a:latin typeface="Arial"/>
                  <a:ea typeface="Arial"/>
                  <a:cs typeface="Arial"/>
                  <a:sym typeface="Arial"/>
                </a:rPr>
                <a:t>What it is:</a:t>
              </a:r>
              <a:r>
                <a:rPr lang="en" sz="1152">
                  <a:solidFill>
                    <a:srgbClr val="1E40AF"/>
                  </a:solidFill>
                  <a:latin typeface="Arial"/>
                  <a:ea typeface="Arial"/>
                  <a:cs typeface="Arial"/>
                  <a:sym typeface="Arial"/>
                </a:rPr>
                <a:t> Simple queries use cheaper models; complex ones use stronger models. Ask LLM to reason and output structured JSON.</a:t>
              </a:r>
              <a:endParaRPr sz="1152">
                <a:solidFill>
                  <a:srgbClr val="1E40AF"/>
                </a:solidFill>
                <a:latin typeface="Arial"/>
                <a:ea typeface="Arial"/>
                <a:cs typeface="Arial"/>
                <a:sym typeface="Arial"/>
              </a:endParaRPr>
            </a:p>
            <a:p>
              <a:pPr indent="0" lvl="0" marL="0" rtl="0" algn="l">
                <a:spcBef>
                  <a:spcPts val="658"/>
                </a:spcBef>
                <a:spcAft>
                  <a:spcPts val="0"/>
                </a:spcAft>
                <a:buNone/>
              </a:pPr>
              <a:r>
                <a:rPr b="1" lang="en" sz="1152">
                  <a:solidFill>
                    <a:srgbClr val="1E40AF"/>
                  </a:solidFill>
                  <a:latin typeface="Arial"/>
                  <a:ea typeface="Arial"/>
                  <a:cs typeface="Arial"/>
                  <a:sym typeface="Arial"/>
                </a:rPr>
                <a:t>How it is done:</a:t>
              </a:r>
              <a:r>
                <a:rPr lang="en" sz="1152">
                  <a:solidFill>
                    <a:srgbClr val="1E40AF"/>
                  </a:solidFill>
                  <a:latin typeface="Arial"/>
                  <a:ea typeface="Arial"/>
                  <a:cs typeface="Arial"/>
                  <a:sym typeface="Arial"/>
                </a:rPr>
                <a:t> A prompt with query and route descriptions asks: </a:t>
              </a:r>
              <a:r>
                <a:rPr i="1" lang="en" sz="1152">
                  <a:solidFill>
                    <a:srgbClr val="1E40AF"/>
                  </a:solidFill>
                  <a:latin typeface="Arial"/>
                  <a:ea typeface="Arial"/>
                  <a:cs typeface="Arial"/>
                  <a:sym typeface="Arial"/>
                </a:rPr>
                <a:t>"Analyze this query and return a JSON object with 'target_database' and 'reasoning'."</a:t>
              </a:r>
              <a:endParaRPr sz="1152">
                <a:solidFill>
                  <a:srgbClr val="1E40AF"/>
                </a:solidFill>
                <a:latin typeface="Arial"/>
                <a:ea typeface="Arial"/>
                <a:cs typeface="Arial"/>
                <a:sym typeface="Arial"/>
              </a:endParaRPr>
            </a:p>
          </p:txBody>
        </p:sp>
      </p:grpSp>
      <p:grpSp>
        <p:nvGrpSpPr>
          <p:cNvPr id="2261" name="Google Shape;2261;p87"/>
          <p:cNvGrpSpPr/>
          <p:nvPr/>
        </p:nvGrpSpPr>
        <p:grpSpPr>
          <a:xfrm>
            <a:off x="947794" y="2783300"/>
            <a:ext cx="7541952" cy="1619100"/>
            <a:chOff x="5117925" y="1934315"/>
            <a:chExt cx="3619500" cy="1619100"/>
          </a:xfrm>
        </p:grpSpPr>
        <p:sp>
          <p:nvSpPr>
            <p:cNvPr id="2262" name="Google Shape;2262;p87"/>
            <p:cNvSpPr/>
            <p:nvPr/>
          </p:nvSpPr>
          <p:spPr>
            <a:xfrm>
              <a:off x="5117925" y="1934315"/>
              <a:ext cx="3619500" cy="1619100"/>
            </a:xfrm>
            <a:prstGeom prst="roundRect">
              <a:avLst>
                <a:gd fmla="val 7058"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3" name="Google Shape;2263;p87"/>
            <p:cNvSpPr txBox="1"/>
            <p:nvPr/>
          </p:nvSpPr>
          <p:spPr>
            <a:xfrm>
              <a:off x="5260800" y="1934315"/>
              <a:ext cx="3333900" cy="16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4532D"/>
                  </a:solidFill>
                  <a:latin typeface="Arial"/>
                  <a:ea typeface="Arial"/>
                  <a:cs typeface="Arial"/>
                  <a:sym typeface="Arial"/>
                </a:rPr>
                <a:t>Project Example: </a:t>
              </a:r>
              <a:endParaRPr b="1" sz="1300">
                <a:solidFill>
                  <a:srgbClr val="14532D"/>
                </a:solidFill>
                <a:latin typeface="Arial"/>
                <a:ea typeface="Arial"/>
                <a:cs typeface="Arial"/>
                <a:sym typeface="Arial"/>
              </a:endParaRPr>
            </a:p>
            <a:p>
              <a:pPr indent="0" lvl="0" marL="0" rtl="0" algn="l">
                <a:spcBef>
                  <a:spcPts val="450"/>
                </a:spcBef>
                <a:spcAft>
                  <a:spcPts val="0"/>
                </a:spcAft>
                <a:buNone/>
              </a:pPr>
              <a:r>
                <a:rPr b="1" lang="en" sz="1000">
                  <a:solidFill>
                    <a:srgbClr val="166534"/>
                  </a:solidFill>
                  <a:latin typeface="Arial"/>
                  <a:ea typeface="Arial"/>
                  <a:cs typeface="Arial"/>
                  <a:sym typeface="Arial"/>
                </a:rPr>
                <a:t>Query:</a:t>
              </a:r>
              <a:r>
                <a:rPr lang="en" sz="1000">
                  <a:solidFill>
                    <a:srgbClr val="166534"/>
                  </a:solidFill>
                  <a:latin typeface="Arial"/>
                  <a:ea typeface="Arial"/>
                  <a:cs typeface="Arial"/>
                  <a:sym typeface="Arial"/>
                </a:rPr>
                <a:t> "The auth token is expiring too fast. Is this a new security policy thing or a bug?"</a:t>
              </a:r>
              <a:endParaRPr sz="1000">
                <a:solidFill>
                  <a:srgbClr val="166534"/>
                </a:solidFill>
                <a:latin typeface="Arial"/>
                <a:ea typeface="Arial"/>
                <a:cs typeface="Arial"/>
                <a:sym typeface="Arial"/>
              </a:endParaRPr>
            </a:p>
            <a:p>
              <a:pPr indent="0" lvl="0" marL="0" rtl="0" algn="l">
                <a:spcBef>
                  <a:spcPts val="450"/>
                </a:spcBef>
                <a:spcAft>
                  <a:spcPts val="0"/>
                </a:spcAft>
                <a:buNone/>
              </a:pPr>
              <a:r>
                <a:rPr b="1" lang="en" sz="1000">
                  <a:solidFill>
                    <a:srgbClr val="166534"/>
                  </a:solidFill>
                  <a:latin typeface="Arial"/>
                  <a:ea typeface="Arial"/>
                  <a:cs typeface="Arial"/>
                  <a:sym typeface="Arial"/>
                </a:rPr>
                <a:t>Result:</a:t>
              </a:r>
              <a:r>
                <a:rPr lang="en" sz="1000">
                  <a:solidFill>
                    <a:srgbClr val="166534"/>
                  </a:solidFill>
                  <a:latin typeface="Arial"/>
                  <a:ea typeface="Arial"/>
                  <a:cs typeface="Arial"/>
                  <a:sym typeface="Arial"/>
                </a:rPr>
                <a:t> LLM recognizes technical execution over policy, outputting </a:t>
              </a:r>
              <a:r>
                <a:rPr b="1" lang="en" sz="1000">
                  <a:solidFill>
                    <a:srgbClr val="166534"/>
                  </a:solidFill>
                  <a:highlight>
                    <a:srgbClr val="DCFCE7"/>
                  </a:highlight>
                  <a:latin typeface="Roboto Mono"/>
                  <a:ea typeface="Roboto Mono"/>
                  <a:cs typeface="Roboto Mono"/>
                  <a:sym typeface="Roboto Mono"/>
                </a:rPr>
                <a:t>{"route": "Codebase_DB"}</a:t>
              </a:r>
              <a:r>
                <a:rPr lang="en" sz="1000">
                  <a:solidFill>
                    <a:srgbClr val="166534"/>
                  </a:solidFill>
                  <a:latin typeface="Arial"/>
                  <a:ea typeface="Arial"/>
                  <a:cs typeface="Arial"/>
                  <a:sym typeface="Arial"/>
                </a:rPr>
                <a:t>.</a:t>
              </a:r>
              <a:endParaRPr sz="1000">
                <a:solidFill>
                  <a:srgbClr val="166534"/>
                </a:solidFill>
                <a:latin typeface="Arial"/>
                <a:ea typeface="Arial"/>
                <a:cs typeface="Arial"/>
                <a:sym typeface="Arial"/>
              </a:endParaRPr>
            </a:p>
          </p:txBody>
        </p:sp>
      </p:grpSp>
      <p:grpSp>
        <p:nvGrpSpPr>
          <p:cNvPr id="2264" name="Google Shape;2264;p87"/>
          <p:cNvGrpSpPr/>
          <p:nvPr/>
        </p:nvGrpSpPr>
        <p:grpSpPr>
          <a:xfrm>
            <a:off x="528038" y="4670728"/>
            <a:ext cx="8382000" cy="285900"/>
            <a:chOff x="381000" y="4762500"/>
            <a:chExt cx="8382000" cy="285900"/>
          </a:xfrm>
        </p:grpSpPr>
        <p:sp>
          <p:nvSpPr>
            <p:cNvPr id="2265" name="Google Shape;2265;p87"/>
            <p:cNvSpPr/>
            <p:nvPr/>
          </p:nvSpPr>
          <p:spPr>
            <a:xfrm>
              <a:off x="381000" y="4762500"/>
              <a:ext cx="8382000" cy="285900"/>
            </a:xfrm>
            <a:prstGeom prst="roundRect">
              <a:avLst>
                <a:gd fmla="val 20000" name="adj"/>
              </a:avLst>
            </a:prstGeom>
            <a:solidFill>
              <a:srgbClr val="FFF7ED"/>
            </a:solidFill>
            <a:ln cap="flat" cmpd="sng" w="9525">
              <a:solidFill>
                <a:srgbClr val="FED7A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6" name="Google Shape;2266;p87"/>
            <p:cNvSpPr txBox="1"/>
            <p:nvPr/>
          </p:nvSpPr>
          <p:spPr>
            <a:xfrm>
              <a:off x="523875" y="4762500"/>
              <a:ext cx="8096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9A3412"/>
                  </a:solidFill>
                  <a:latin typeface="Arial"/>
                  <a:ea typeface="Arial"/>
                  <a:cs typeface="Arial"/>
                  <a:sym typeface="Arial"/>
                </a:rPr>
                <a:t>The Catch:</a:t>
              </a:r>
              <a:r>
                <a:rPr lang="en" sz="1000">
                  <a:solidFill>
                    <a:srgbClr val="9A3412"/>
                  </a:solidFill>
                  <a:latin typeface="Arial"/>
                  <a:ea typeface="Arial"/>
                  <a:cs typeface="Arial"/>
                  <a:sym typeface="Arial"/>
                </a:rPr>
                <a:t> Balances quality vs. cost dynamically, but adds latency and API cost to the pipeline.</a:t>
              </a:r>
              <a:endParaRPr sz="1000">
                <a:solidFill>
                  <a:srgbClr val="9A3412"/>
                </a:solidFill>
                <a:latin typeface="Arial"/>
                <a:ea typeface="Arial"/>
                <a:cs typeface="Arial"/>
                <a:sym typeface="Arial"/>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0" name="Shape 2270"/>
        <p:cNvGrpSpPr/>
        <p:nvPr/>
      </p:nvGrpSpPr>
      <p:grpSpPr>
        <a:xfrm>
          <a:off x="0" y="0"/>
          <a:ext cx="0" cy="0"/>
          <a:chOff x="0" y="0"/>
          <a:chExt cx="0" cy="0"/>
        </a:xfrm>
      </p:grpSpPr>
      <p:sp>
        <p:nvSpPr>
          <p:cNvPr id="2271" name="Google Shape;2271;p88"/>
          <p:cNvSpPr txBox="1"/>
          <p:nvPr>
            <p:ph type="title"/>
          </p:nvPr>
        </p:nvSpPr>
        <p:spPr>
          <a:xfrm>
            <a:off x="311700" y="45752"/>
            <a:ext cx="8520600" cy="54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 based routing</a:t>
            </a:r>
            <a:endParaRPr/>
          </a:p>
        </p:txBody>
      </p:sp>
      <p:pic>
        <p:nvPicPr>
          <p:cNvPr id="2272" name="Google Shape;2272;p88" title="ChatGPT Image Aug 21, 2026, 08_33_34 PM.png"/>
          <p:cNvPicPr preferRelativeResize="0"/>
          <p:nvPr/>
        </p:nvPicPr>
        <p:blipFill>
          <a:blip r:embed="rId4">
            <a:alphaModFix/>
          </a:blip>
          <a:stretch>
            <a:fillRect/>
          </a:stretch>
        </p:blipFill>
        <p:spPr>
          <a:xfrm>
            <a:off x="610337" y="741452"/>
            <a:ext cx="7744514" cy="4249648"/>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6" name="Shape 2276"/>
        <p:cNvGrpSpPr/>
        <p:nvPr/>
      </p:nvGrpSpPr>
      <p:grpSpPr>
        <a:xfrm>
          <a:off x="0" y="0"/>
          <a:ext cx="0" cy="0"/>
          <a:chOff x="0" y="0"/>
          <a:chExt cx="0" cy="0"/>
        </a:xfrm>
      </p:grpSpPr>
      <p:sp>
        <p:nvSpPr>
          <p:cNvPr id="2277" name="Google Shape;2277;p89"/>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LLM based routing</a:t>
            </a:r>
            <a:endParaRPr/>
          </a:p>
        </p:txBody>
      </p:sp>
      <p:pic>
        <p:nvPicPr>
          <p:cNvPr id="2278" name="Google Shape;2278;p89"/>
          <p:cNvPicPr preferRelativeResize="0"/>
          <p:nvPr/>
        </p:nvPicPr>
        <p:blipFill>
          <a:blip r:embed="rId4">
            <a:alphaModFix/>
          </a:blip>
          <a:stretch>
            <a:fillRect/>
          </a:stretch>
        </p:blipFill>
        <p:spPr>
          <a:xfrm>
            <a:off x="2397950" y="505500"/>
            <a:ext cx="4348106" cy="46380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2" name="Shape 2282"/>
        <p:cNvGrpSpPr/>
        <p:nvPr/>
      </p:nvGrpSpPr>
      <p:grpSpPr>
        <a:xfrm>
          <a:off x="0" y="0"/>
          <a:ext cx="0" cy="0"/>
          <a:chOff x="0" y="0"/>
          <a:chExt cx="0" cy="0"/>
        </a:xfrm>
      </p:grpSpPr>
      <p:sp>
        <p:nvSpPr>
          <p:cNvPr id="2283" name="Google Shape;2283;p90"/>
          <p:cNvSpPr txBox="1"/>
          <p:nvPr>
            <p:ph type="title"/>
          </p:nvPr>
        </p:nvSpPr>
        <p:spPr>
          <a:xfrm>
            <a:off x="311700" y="55501"/>
            <a:ext cx="8520600" cy="57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Hybrid routing</a:t>
            </a:r>
            <a:endParaRPr/>
          </a:p>
        </p:txBody>
      </p:sp>
      <p:grpSp>
        <p:nvGrpSpPr>
          <p:cNvPr id="2284" name="Google Shape;2284;p90"/>
          <p:cNvGrpSpPr/>
          <p:nvPr/>
        </p:nvGrpSpPr>
        <p:grpSpPr>
          <a:xfrm>
            <a:off x="381000" y="827625"/>
            <a:ext cx="8382000" cy="880200"/>
            <a:chOff x="381000" y="1000125"/>
            <a:chExt cx="8382000" cy="880200"/>
          </a:xfrm>
        </p:grpSpPr>
        <p:sp>
          <p:nvSpPr>
            <p:cNvPr id="2285" name="Google Shape;2285;p90"/>
            <p:cNvSpPr/>
            <p:nvPr/>
          </p:nvSpPr>
          <p:spPr>
            <a:xfrm>
              <a:off x="381000" y="1000125"/>
              <a:ext cx="8382000" cy="880200"/>
            </a:xfrm>
            <a:prstGeom prst="roundRect">
              <a:avLst>
                <a:gd fmla="val 1411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6" name="Google Shape;2286;p90"/>
            <p:cNvSpPr txBox="1"/>
            <p:nvPr/>
          </p:nvSpPr>
          <p:spPr>
            <a:xfrm>
              <a:off x="571500" y="1000125"/>
              <a:ext cx="8001000" cy="88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E40AF"/>
                  </a:solidFill>
                  <a:latin typeface="Arial"/>
                  <a:ea typeface="Arial"/>
                  <a:cs typeface="Arial"/>
                  <a:sym typeface="Arial"/>
                </a:rPr>
                <a:t>What it is:</a:t>
              </a:r>
              <a:r>
                <a:rPr lang="en">
                  <a:solidFill>
                    <a:srgbClr val="475569"/>
                  </a:solidFill>
                  <a:latin typeface="Arial"/>
                  <a:ea typeface="Arial"/>
                  <a:cs typeface="Arial"/>
                  <a:sym typeface="Arial"/>
                </a:rPr>
                <a:t> Hybrid routing combines multiple strategies to leverage individual strengths while mitigating weaknesses.</a:t>
              </a:r>
              <a:endParaRPr>
                <a:solidFill>
                  <a:srgbClr val="475569"/>
                </a:solidFill>
                <a:latin typeface="Arial"/>
                <a:ea typeface="Arial"/>
                <a:cs typeface="Arial"/>
                <a:sym typeface="Arial"/>
              </a:endParaRPr>
            </a:p>
            <a:p>
              <a:pPr indent="0" lvl="0" marL="0" rtl="0" algn="l">
                <a:spcBef>
                  <a:spcPts val="300"/>
                </a:spcBef>
                <a:spcAft>
                  <a:spcPts val="0"/>
                </a:spcAft>
                <a:buNone/>
              </a:pPr>
              <a:r>
                <a:rPr b="1" lang="en">
                  <a:solidFill>
                    <a:srgbClr val="1E40AF"/>
                  </a:solidFill>
                  <a:latin typeface="Arial"/>
                  <a:ea typeface="Arial"/>
                  <a:cs typeface="Arial"/>
                  <a:sym typeface="Arial"/>
                </a:rPr>
                <a:t>How it is done:</a:t>
              </a:r>
              <a:r>
                <a:rPr lang="en">
                  <a:solidFill>
                    <a:srgbClr val="475569"/>
                  </a:solidFill>
                  <a:latin typeface="Arial"/>
                  <a:ea typeface="Arial"/>
                  <a:cs typeface="Arial"/>
                  <a:sym typeface="Arial"/>
                </a:rPr>
                <a:t> Routers are structured sequentially as a </a:t>
              </a:r>
              <a:r>
                <a:rPr b="1" lang="en">
                  <a:solidFill>
                    <a:srgbClr val="475569"/>
                  </a:solidFill>
                  <a:latin typeface="Arial"/>
                  <a:ea typeface="Arial"/>
                  <a:cs typeface="Arial"/>
                  <a:sym typeface="Arial"/>
                </a:rPr>
                <a:t>waterfall</a:t>
              </a:r>
              <a:r>
                <a:rPr lang="en">
                  <a:solidFill>
                    <a:srgbClr val="475569"/>
                  </a:solidFill>
                  <a:latin typeface="Arial"/>
                  <a:ea typeface="Arial"/>
                  <a:cs typeface="Arial"/>
                  <a:sym typeface="Arial"/>
                </a:rPr>
                <a:t>. Moving to the next stage occurs only upon low confidence.</a:t>
              </a:r>
              <a:endParaRPr>
                <a:solidFill>
                  <a:srgbClr val="475569"/>
                </a:solidFill>
                <a:latin typeface="Arial"/>
                <a:ea typeface="Arial"/>
                <a:cs typeface="Arial"/>
                <a:sym typeface="Arial"/>
              </a:endParaRPr>
            </a:p>
          </p:txBody>
        </p:sp>
      </p:grpSp>
      <p:grpSp>
        <p:nvGrpSpPr>
          <p:cNvPr id="2287" name="Google Shape;2287;p90"/>
          <p:cNvGrpSpPr/>
          <p:nvPr/>
        </p:nvGrpSpPr>
        <p:grpSpPr>
          <a:xfrm>
            <a:off x="381000" y="1780125"/>
            <a:ext cx="8381925" cy="381000"/>
            <a:chOff x="381000" y="1952625"/>
            <a:chExt cx="8381925" cy="381000"/>
          </a:xfrm>
        </p:grpSpPr>
        <p:sp>
          <p:nvSpPr>
            <p:cNvPr id="2288" name="Google Shape;2288;p90"/>
            <p:cNvSpPr/>
            <p:nvPr/>
          </p:nvSpPr>
          <p:spPr>
            <a:xfrm>
              <a:off x="381000" y="1952625"/>
              <a:ext cx="1905000" cy="3810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9" name="Google Shape;2289;p90"/>
            <p:cNvSpPr txBox="1"/>
            <p:nvPr/>
          </p:nvSpPr>
          <p:spPr>
            <a:xfrm>
              <a:off x="381000" y="1952625"/>
              <a:ext cx="1905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Arial"/>
                  <a:ea typeface="Arial"/>
                  <a:cs typeface="Arial"/>
                  <a:sym typeface="Arial"/>
                </a:rPr>
                <a:t>1. Rule-Based</a:t>
              </a:r>
              <a:endParaRPr b="1" sz="1000">
                <a:solidFill>
                  <a:srgbClr val="FFFFFF"/>
                </a:solidFill>
                <a:latin typeface="Arial"/>
                <a:ea typeface="Arial"/>
                <a:cs typeface="Arial"/>
                <a:sym typeface="Arial"/>
              </a:endParaRPr>
            </a:p>
          </p:txBody>
        </p:sp>
        <p:pic>
          <p:nvPicPr>
            <p:cNvPr id="2290" name="Google Shape;2290;p90"/>
            <p:cNvPicPr preferRelativeResize="0"/>
            <p:nvPr/>
          </p:nvPicPr>
          <p:blipFill rotWithShape="1">
            <a:blip r:embed="rId4">
              <a:alphaModFix/>
            </a:blip>
            <a:srcRect b="0" l="0" r="0" t="0"/>
            <a:stretch/>
          </p:blipFill>
          <p:spPr>
            <a:xfrm>
              <a:off x="2333625" y="2133600"/>
              <a:ext cx="142800" cy="19200"/>
            </a:xfrm>
            <a:prstGeom prst="rect">
              <a:avLst/>
            </a:prstGeom>
            <a:noFill/>
            <a:ln>
              <a:noFill/>
            </a:ln>
          </p:spPr>
        </p:pic>
        <p:sp>
          <p:nvSpPr>
            <p:cNvPr id="2291" name="Google Shape;2291;p90"/>
            <p:cNvSpPr/>
            <p:nvPr/>
          </p:nvSpPr>
          <p:spPr>
            <a:xfrm>
              <a:off x="2524125" y="1952625"/>
              <a:ext cx="1905000" cy="3810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2" name="Google Shape;2292;p90"/>
            <p:cNvSpPr txBox="1"/>
            <p:nvPr/>
          </p:nvSpPr>
          <p:spPr>
            <a:xfrm>
              <a:off x="2524125" y="1952625"/>
              <a:ext cx="1905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Arial"/>
                  <a:ea typeface="Arial"/>
                  <a:cs typeface="Arial"/>
                  <a:sym typeface="Arial"/>
                </a:rPr>
                <a:t>2. Embedding-Based</a:t>
              </a:r>
              <a:endParaRPr b="1" sz="1000">
                <a:solidFill>
                  <a:srgbClr val="FFFFFF"/>
                </a:solidFill>
                <a:latin typeface="Arial"/>
                <a:ea typeface="Arial"/>
                <a:cs typeface="Arial"/>
                <a:sym typeface="Arial"/>
              </a:endParaRPr>
            </a:p>
          </p:txBody>
        </p:sp>
        <p:pic>
          <p:nvPicPr>
            <p:cNvPr id="2293" name="Google Shape;2293;p90"/>
            <p:cNvPicPr preferRelativeResize="0"/>
            <p:nvPr/>
          </p:nvPicPr>
          <p:blipFill rotWithShape="1">
            <a:blip r:embed="rId4">
              <a:alphaModFix/>
            </a:blip>
            <a:srcRect b="0" l="0" r="0" t="0"/>
            <a:stretch/>
          </p:blipFill>
          <p:spPr>
            <a:xfrm>
              <a:off x="4476750" y="2133600"/>
              <a:ext cx="142800" cy="19200"/>
            </a:xfrm>
            <a:prstGeom prst="rect">
              <a:avLst/>
            </a:prstGeom>
            <a:noFill/>
            <a:ln>
              <a:noFill/>
            </a:ln>
          </p:spPr>
        </p:pic>
        <p:sp>
          <p:nvSpPr>
            <p:cNvPr id="2294" name="Google Shape;2294;p90"/>
            <p:cNvSpPr/>
            <p:nvPr/>
          </p:nvSpPr>
          <p:spPr>
            <a:xfrm>
              <a:off x="4667250" y="1952625"/>
              <a:ext cx="1905000" cy="381000"/>
            </a:xfrm>
            <a:prstGeom prst="roundRect">
              <a:avLst>
                <a:gd fmla="val 50000" name="adj"/>
              </a:avLst>
            </a:prstGeom>
            <a:solidFill>
              <a:srgbClr val="EC48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5" name="Google Shape;2295;p90"/>
            <p:cNvSpPr txBox="1"/>
            <p:nvPr/>
          </p:nvSpPr>
          <p:spPr>
            <a:xfrm>
              <a:off x="4667250" y="1952625"/>
              <a:ext cx="1905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FFFFFF"/>
                  </a:solidFill>
                  <a:latin typeface="Arial"/>
                  <a:ea typeface="Arial"/>
                  <a:cs typeface="Arial"/>
                  <a:sym typeface="Arial"/>
                </a:rPr>
                <a:t>3. LLM-Based</a:t>
              </a:r>
              <a:endParaRPr b="1" sz="1000">
                <a:solidFill>
                  <a:srgbClr val="FFFFFF"/>
                </a:solidFill>
                <a:latin typeface="Arial"/>
                <a:ea typeface="Arial"/>
                <a:cs typeface="Arial"/>
                <a:sym typeface="Arial"/>
              </a:endParaRPr>
            </a:p>
          </p:txBody>
        </p:sp>
        <p:sp>
          <p:nvSpPr>
            <p:cNvPr id="2296" name="Google Shape;2296;p90"/>
            <p:cNvSpPr txBox="1"/>
            <p:nvPr/>
          </p:nvSpPr>
          <p:spPr>
            <a:xfrm>
              <a:off x="6715125" y="1952625"/>
              <a:ext cx="2047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00">
                  <a:solidFill>
                    <a:srgbClr val="64748B"/>
                  </a:solidFill>
                  <a:latin typeface="Roboto Mono"/>
                  <a:ea typeface="Roboto Mono"/>
                  <a:cs typeface="Roboto Mono"/>
                  <a:sym typeface="Roboto Mono"/>
                </a:rPr>
                <a:t>Sequential Workflow</a:t>
              </a:r>
              <a:endParaRPr sz="1100">
                <a:solidFill>
                  <a:srgbClr val="64748B"/>
                </a:solidFill>
                <a:latin typeface="Roboto Mono"/>
                <a:ea typeface="Roboto Mono"/>
                <a:cs typeface="Roboto Mono"/>
                <a:sym typeface="Roboto Mono"/>
              </a:endParaRPr>
            </a:p>
          </p:txBody>
        </p:sp>
      </p:grpSp>
      <p:grpSp>
        <p:nvGrpSpPr>
          <p:cNvPr id="2297" name="Google Shape;2297;p90"/>
          <p:cNvGrpSpPr/>
          <p:nvPr/>
        </p:nvGrpSpPr>
        <p:grpSpPr>
          <a:xfrm>
            <a:off x="381000" y="2304000"/>
            <a:ext cx="8382000" cy="2381400"/>
            <a:chOff x="381000" y="2476500"/>
            <a:chExt cx="8382000" cy="2381400"/>
          </a:xfrm>
        </p:grpSpPr>
        <p:sp>
          <p:nvSpPr>
            <p:cNvPr id="2298" name="Google Shape;2298;p90"/>
            <p:cNvSpPr/>
            <p:nvPr/>
          </p:nvSpPr>
          <p:spPr>
            <a:xfrm>
              <a:off x="381000" y="2476500"/>
              <a:ext cx="8382000" cy="2381400"/>
            </a:xfrm>
            <a:prstGeom prst="roundRect">
              <a:avLst>
                <a:gd fmla="val 4800"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9" name="Google Shape;2299;p90"/>
            <p:cNvSpPr txBox="1"/>
            <p:nvPr/>
          </p:nvSpPr>
          <p:spPr>
            <a:xfrm>
              <a:off x="571500" y="261937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0F172A"/>
                  </a:solidFill>
                  <a:latin typeface="Arial"/>
                  <a:ea typeface="Arial"/>
                  <a:cs typeface="Arial"/>
                  <a:sym typeface="Arial"/>
                </a:rPr>
                <a:t>Example: </a:t>
              </a:r>
              <a:endParaRPr b="1">
                <a:solidFill>
                  <a:srgbClr val="0F172A"/>
                </a:solidFill>
                <a:latin typeface="Arial"/>
                <a:ea typeface="Arial"/>
                <a:cs typeface="Arial"/>
                <a:sym typeface="Arial"/>
              </a:endParaRPr>
            </a:p>
          </p:txBody>
        </p:sp>
        <p:sp>
          <p:nvSpPr>
            <p:cNvPr id="2300" name="Google Shape;2300;p90"/>
            <p:cNvSpPr txBox="1"/>
            <p:nvPr/>
          </p:nvSpPr>
          <p:spPr>
            <a:xfrm>
              <a:off x="571500" y="2905125"/>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334155"/>
                  </a:solidFill>
                  <a:latin typeface="Arial"/>
                  <a:ea typeface="Arial"/>
                  <a:cs typeface="Arial"/>
                  <a:sym typeface="Arial"/>
                </a:rPr>
                <a:t>User Query:</a:t>
              </a:r>
              <a:r>
                <a:rPr lang="en">
                  <a:solidFill>
                    <a:srgbClr val="334155"/>
                  </a:solidFill>
                  <a:latin typeface="Arial"/>
                  <a:ea typeface="Arial"/>
                  <a:cs typeface="Arial"/>
                  <a:sym typeface="Arial"/>
                </a:rPr>
                <a:t> "Pipeline failed."</a:t>
              </a:r>
              <a:endParaRPr>
                <a:solidFill>
                  <a:srgbClr val="334155"/>
                </a:solidFill>
                <a:latin typeface="Arial"/>
                <a:ea typeface="Arial"/>
                <a:cs typeface="Arial"/>
                <a:sym typeface="Arial"/>
              </a:endParaRPr>
            </a:p>
          </p:txBody>
        </p:sp>
        <p:grpSp>
          <p:nvGrpSpPr>
            <p:cNvPr id="2301" name="Google Shape;2301;p90"/>
            <p:cNvGrpSpPr/>
            <p:nvPr/>
          </p:nvGrpSpPr>
          <p:grpSpPr>
            <a:xfrm>
              <a:off x="571500" y="3286125"/>
              <a:ext cx="8001000" cy="1381200"/>
              <a:chOff x="571500" y="3286125"/>
              <a:chExt cx="8001000" cy="1381200"/>
            </a:xfrm>
          </p:grpSpPr>
          <p:sp>
            <p:nvSpPr>
              <p:cNvPr id="2302" name="Google Shape;2302;p90"/>
              <p:cNvSpPr/>
              <p:nvPr/>
            </p:nvSpPr>
            <p:spPr>
              <a:xfrm>
                <a:off x="571500" y="3286125"/>
                <a:ext cx="2476500" cy="1381200"/>
              </a:xfrm>
              <a:prstGeom prst="roundRect">
                <a:avLst>
                  <a:gd fmla="val 55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3" name="Google Shape;2303;p90"/>
              <p:cNvSpPr txBox="1"/>
              <p:nvPr/>
            </p:nvSpPr>
            <p:spPr>
              <a:xfrm>
                <a:off x="666750" y="3381375"/>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3B82F6"/>
                    </a:solidFill>
                    <a:latin typeface="Arial"/>
                    <a:ea typeface="Arial"/>
                    <a:cs typeface="Arial"/>
                    <a:sym typeface="Arial"/>
                  </a:rPr>
                  <a:t>Step 1: Rule-Based</a:t>
                </a:r>
                <a:endParaRPr b="1">
                  <a:solidFill>
                    <a:srgbClr val="3B82F6"/>
                  </a:solidFill>
                  <a:latin typeface="Arial"/>
                  <a:ea typeface="Arial"/>
                  <a:cs typeface="Arial"/>
                  <a:sym typeface="Arial"/>
                </a:endParaRPr>
              </a:p>
              <a:p>
                <a:pPr indent="0" lvl="0" marL="0" rtl="0" algn="l">
                  <a:spcBef>
                    <a:spcPts val="375"/>
                  </a:spcBef>
                  <a:spcAft>
                    <a:spcPts val="0"/>
                  </a:spcAft>
                  <a:buNone/>
                </a:pPr>
                <a:r>
                  <a:rPr lang="en">
                    <a:solidFill>
                      <a:srgbClr val="1E293B"/>
                    </a:solidFill>
                    <a:latin typeface="Arial"/>
                    <a:ea typeface="Arial"/>
                    <a:cs typeface="Arial"/>
                    <a:sym typeface="Arial"/>
                  </a:rPr>
                  <a:t>Result: FAIL </a:t>
                </a:r>
                <a:r>
                  <a:rPr lang="en">
                    <a:solidFill>
                      <a:srgbClr val="1E293B"/>
                    </a:solidFill>
                  </a:rPr>
                  <a:t>→ </a:t>
                </a:r>
                <a:r>
                  <a:rPr b="1" lang="en">
                    <a:solidFill>
                      <a:srgbClr val="EF4444"/>
                    </a:solidFill>
                    <a:latin typeface="Arial"/>
                    <a:ea typeface="Arial"/>
                    <a:cs typeface="Arial"/>
                    <a:sym typeface="Arial"/>
                  </a:rPr>
                  <a:t>Route</a:t>
                </a:r>
                <a:r>
                  <a:rPr b="1" lang="en">
                    <a:solidFill>
                      <a:srgbClr val="EF4444"/>
                    </a:solidFill>
                    <a:latin typeface="Arial"/>
                    <a:ea typeface="Arial"/>
                    <a:cs typeface="Arial"/>
                    <a:sym typeface="Arial"/>
                  </a:rPr>
                  <a:t> to Embedding-BASED</a:t>
                </a:r>
                <a:endParaRPr>
                  <a:solidFill>
                    <a:srgbClr val="1E293B"/>
                  </a:solidFill>
                  <a:latin typeface="Arial"/>
                  <a:ea typeface="Arial"/>
                  <a:cs typeface="Arial"/>
                  <a:sym typeface="Arial"/>
                </a:endParaRPr>
              </a:p>
              <a:p>
                <a:pPr indent="0" lvl="0" marL="0" rtl="0" algn="l">
                  <a:spcBef>
                    <a:spcPts val="375"/>
                  </a:spcBef>
                  <a:spcAft>
                    <a:spcPts val="0"/>
                  </a:spcAft>
                  <a:buNone/>
                </a:pPr>
                <a:r>
                  <a:rPr lang="en">
                    <a:solidFill>
                      <a:srgbClr val="64748B"/>
                    </a:solidFill>
                    <a:latin typeface="Arial"/>
                    <a:ea typeface="Arial"/>
                    <a:cs typeface="Arial"/>
                    <a:sym typeface="Arial"/>
                  </a:rPr>
                  <a:t>No obvious keywords found in query.</a:t>
                </a:r>
                <a:endParaRPr>
                  <a:solidFill>
                    <a:srgbClr val="64748B"/>
                  </a:solidFill>
                  <a:latin typeface="Arial"/>
                  <a:ea typeface="Arial"/>
                  <a:cs typeface="Arial"/>
                  <a:sym typeface="Arial"/>
                </a:endParaRPr>
              </a:p>
            </p:txBody>
          </p:sp>
          <p:sp>
            <p:nvSpPr>
              <p:cNvPr id="2304" name="Google Shape;2304;p90"/>
              <p:cNvSpPr/>
              <p:nvPr/>
            </p:nvSpPr>
            <p:spPr>
              <a:xfrm>
                <a:off x="3333750" y="3286125"/>
                <a:ext cx="2476500" cy="1381200"/>
              </a:xfrm>
              <a:prstGeom prst="roundRect">
                <a:avLst>
                  <a:gd fmla="val 55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5" name="Google Shape;2305;p90"/>
              <p:cNvSpPr txBox="1"/>
              <p:nvPr/>
            </p:nvSpPr>
            <p:spPr>
              <a:xfrm>
                <a:off x="3429000" y="3381375"/>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8B5CF6"/>
                    </a:solidFill>
                    <a:latin typeface="Arial"/>
                    <a:ea typeface="Arial"/>
                    <a:cs typeface="Arial"/>
                    <a:sym typeface="Arial"/>
                  </a:rPr>
                  <a:t>Step 2: Embedding</a:t>
                </a:r>
                <a:endParaRPr b="1">
                  <a:solidFill>
                    <a:srgbClr val="8B5CF6"/>
                  </a:solidFill>
                  <a:latin typeface="Arial"/>
                  <a:ea typeface="Arial"/>
                  <a:cs typeface="Arial"/>
                  <a:sym typeface="Arial"/>
                </a:endParaRPr>
              </a:p>
              <a:p>
                <a:pPr indent="0" lvl="0" marL="0" rtl="0" algn="l">
                  <a:spcBef>
                    <a:spcPts val="375"/>
                  </a:spcBef>
                  <a:spcAft>
                    <a:spcPts val="0"/>
                  </a:spcAft>
                  <a:buNone/>
                </a:pPr>
                <a:r>
                  <a:rPr lang="en">
                    <a:solidFill>
                      <a:srgbClr val="1E293B"/>
                    </a:solidFill>
                    <a:latin typeface="Arial"/>
                    <a:ea typeface="Arial"/>
                    <a:cs typeface="Arial"/>
                    <a:sym typeface="Arial"/>
                  </a:rPr>
                  <a:t>Result: </a:t>
                </a:r>
                <a:r>
                  <a:rPr b="1" lang="en">
                    <a:solidFill>
                      <a:srgbClr val="F59E0B"/>
                    </a:solidFill>
                    <a:latin typeface="Arial"/>
                    <a:ea typeface="Arial"/>
                    <a:cs typeface="Arial"/>
                    <a:sym typeface="Arial"/>
                  </a:rPr>
                  <a:t>50% Confidence → less than threshold → </a:t>
                </a:r>
                <a:r>
                  <a:rPr b="1" lang="en">
                    <a:solidFill>
                      <a:srgbClr val="F59E0B"/>
                    </a:solidFill>
                  </a:rPr>
                  <a:t>Route to LLM-based</a:t>
                </a:r>
                <a:endParaRPr b="1">
                  <a:solidFill>
                    <a:srgbClr val="F59E0B"/>
                  </a:solidFill>
                </a:endParaRPr>
              </a:p>
              <a:p>
                <a:pPr indent="0" lvl="0" marL="0" rtl="0" algn="l">
                  <a:spcBef>
                    <a:spcPts val="375"/>
                  </a:spcBef>
                  <a:spcAft>
                    <a:spcPts val="0"/>
                  </a:spcAft>
                  <a:buNone/>
                </a:pPr>
                <a:r>
                  <a:rPr lang="en" sz="1100">
                    <a:solidFill>
                      <a:srgbClr val="64748B"/>
                    </a:solidFill>
                  </a:rPr>
                  <a:t>No semantic match found.</a:t>
                </a:r>
                <a:endParaRPr b="1" sz="1100">
                  <a:solidFill>
                    <a:srgbClr val="F59E0B"/>
                  </a:solidFill>
                </a:endParaRPr>
              </a:p>
              <a:p>
                <a:pPr indent="0" lvl="0" marL="0" rtl="0" algn="l">
                  <a:spcBef>
                    <a:spcPts val="375"/>
                  </a:spcBef>
                  <a:spcAft>
                    <a:spcPts val="0"/>
                  </a:spcAft>
                  <a:buNone/>
                </a:pPr>
                <a:r>
                  <a:t/>
                </a:r>
                <a:endParaRPr>
                  <a:solidFill>
                    <a:srgbClr val="64748B"/>
                  </a:solidFill>
                  <a:latin typeface="Arial"/>
                  <a:ea typeface="Arial"/>
                  <a:cs typeface="Arial"/>
                  <a:sym typeface="Arial"/>
                </a:endParaRPr>
              </a:p>
            </p:txBody>
          </p:sp>
          <p:sp>
            <p:nvSpPr>
              <p:cNvPr id="2306" name="Google Shape;2306;p90"/>
              <p:cNvSpPr/>
              <p:nvPr/>
            </p:nvSpPr>
            <p:spPr>
              <a:xfrm>
                <a:off x="6096000" y="3286125"/>
                <a:ext cx="2476500" cy="1381200"/>
              </a:xfrm>
              <a:prstGeom prst="roundRect">
                <a:avLst>
                  <a:gd fmla="val 5517"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7" name="Google Shape;2307;p90"/>
              <p:cNvSpPr txBox="1"/>
              <p:nvPr/>
            </p:nvSpPr>
            <p:spPr>
              <a:xfrm>
                <a:off x="6191250" y="3381375"/>
                <a:ext cx="2286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66534"/>
                    </a:solidFill>
                    <a:latin typeface="Arial"/>
                    <a:ea typeface="Arial"/>
                    <a:cs typeface="Arial"/>
                    <a:sym typeface="Arial"/>
                  </a:rPr>
                  <a:t>Step 3: LLM-Based</a:t>
                </a:r>
                <a:endParaRPr b="1" sz="1300">
                  <a:solidFill>
                    <a:srgbClr val="166534"/>
                  </a:solidFill>
                  <a:latin typeface="Arial"/>
                  <a:ea typeface="Arial"/>
                  <a:cs typeface="Arial"/>
                  <a:sym typeface="Arial"/>
                </a:endParaRPr>
              </a:p>
              <a:p>
                <a:pPr indent="0" lvl="0" marL="0" rtl="0" algn="l">
                  <a:spcBef>
                    <a:spcPts val="375"/>
                  </a:spcBef>
                  <a:spcAft>
                    <a:spcPts val="0"/>
                  </a:spcAft>
                  <a:buNone/>
                </a:pPr>
                <a:r>
                  <a:rPr lang="en" sz="1300">
                    <a:solidFill>
                      <a:srgbClr val="1E293B"/>
                    </a:solidFill>
                    <a:latin typeface="Arial"/>
                    <a:ea typeface="Arial"/>
                    <a:cs typeface="Arial"/>
                    <a:sym typeface="Arial"/>
                  </a:rPr>
                  <a:t>Result: </a:t>
                </a:r>
                <a:r>
                  <a:rPr b="1" lang="en" sz="1300">
                    <a:solidFill>
                      <a:srgbClr val="16A34A"/>
                    </a:solidFill>
                    <a:latin typeface="Arial"/>
                    <a:ea typeface="Arial"/>
                    <a:cs typeface="Arial"/>
                    <a:sym typeface="Arial"/>
                  </a:rPr>
                  <a:t>SUCCESS</a:t>
                </a:r>
                <a:endParaRPr sz="1300">
                  <a:solidFill>
                    <a:srgbClr val="1E293B"/>
                  </a:solidFill>
                  <a:latin typeface="Arial"/>
                  <a:ea typeface="Arial"/>
                  <a:cs typeface="Arial"/>
                  <a:sym typeface="Arial"/>
                </a:endParaRPr>
              </a:p>
              <a:p>
                <a:pPr indent="0" lvl="0" marL="0" rtl="0" algn="l">
                  <a:spcBef>
                    <a:spcPts val="375"/>
                  </a:spcBef>
                  <a:spcAft>
                    <a:spcPts val="0"/>
                  </a:spcAft>
                  <a:buNone/>
                </a:pPr>
                <a:r>
                  <a:rPr lang="en" sz="1300">
                    <a:solidFill>
                      <a:srgbClr val="14532D"/>
                    </a:solidFill>
                    <a:latin typeface="Arial"/>
                    <a:ea typeface="Arial"/>
                    <a:cs typeface="Arial"/>
                    <a:sym typeface="Arial"/>
                  </a:rPr>
                  <a:t>Reviews query + Metadata (Role: DevOps). Accurately routes to Infrastructure_Logs.</a:t>
                </a:r>
                <a:endParaRPr sz="1300">
                  <a:solidFill>
                    <a:srgbClr val="14532D"/>
                  </a:solidFill>
                  <a:latin typeface="Arial"/>
                  <a:ea typeface="Arial"/>
                  <a:cs typeface="Arial"/>
                  <a:sym typeface="Arial"/>
                </a:endParaRPr>
              </a:p>
            </p:txBody>
          </p:sp>
        </p:grpSp>
      </p:grpSp>
      <p:grpSp>
        <p:nvGrpSpPr>
          <p:cNvPr id="2308" name="Google Shape;2308;p90"/>
          <p:cNvGrpSpPr/>
          <p:nvPr/>
        </p:nvGrpSpPr>
        <p:grpSpPr>
          <a:xfrm>
            <a:off x="381000" y="4732875"/>
            <a:ext cx="8382000" cy="190500"/>
            <a:chOff x="381000" y="4905375"/>
            <a:chExt cx="8382000" cy="190500"/>
          </a:xfrm>
        </p:grpSpPr>
        <p:sp>
          <p:nvSpPr>
            <p:cNvPr id="2309" name="Google Shape;2309;p90"/>
            <p:cNvSpPr/>
            <p:nvPr/>
          </p:nvSpPr>
          <p:spPr>
            <a:xfrm>
              <a:off x="381000" y="4905375"/>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0" name="Google Shape;2310;p90"/>
            <p:cNvSpPr txBox="1"/>
            <p:nvPr/>
          </p:nvSpPr>
          <p:spPr>
            <a:xfrm>
              <a:off x="381000" y="4905375"/>
              <a:ext cx="8382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i="1" lang="en" sz="900">
                  <a:solidFill>
                    <a:srgbClr val="64748B"/>
                  </a:solidFill>
                  <a:latin typeface="Arial"/>
                  <a:ea typeface="Arial"/>
                  <a:cs typeface="Arial"/>
                  <a:sym typeface="Arial"/>
                </a:rPr>
                <a:t>Cost efficiency: Only paid for expensive LLM when cheaper methods failed.</a:t>
              </a:r>
              <a:endParaRPr i="1" sz="900">
                <a:solidFill>
                  <a:srgbClr val="64748B"/>
                </a:solidFill>
                <a:latin typeface="Arial"/>
                <a:ea typeface="Arial"/>
                <a:cs typeface="Arial"/>
                <a:sym typeface="Arial"/>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4" name="Shape 2314"/>
        <p:cNvGrpSpPr/>
        <p:nvPr/>
      </p:nvGrpSpPr>
      <p:grpSpPr>
        <a:xfrm>
          <a:off x="0" y="0"/>
          <a:ext cx="0" cy="0"/>
          <a:chOff x="0" y="0"/>
          <a:chExt cx="0" cy="0"/>
        </a:xfrm>
      </p:grpSpPr>
      <p:sp>
        <p:nvSpPr>
          <p:cNvPr id="2315" name="Google Shape;2315;p91"/>
          <p:cNvSpPr txBox="1"/>
          <p:nvPr>
            <p:ph type="title"/>
          </p:nvPr>
        </p:nvSpPr>
        <p:spPr>
          <a:xfrm>
            <a:off x="311700" y="-121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Hybrid routing</a:t>
            </a:r>
            <a:endParaRPr/>
          </a:p>
        </p:txBody>
      </p:sp>
      <p:pic>
        <p:nvPicPr>
          <p:cNvPr id="2316" name="Google Shape;2316;p91"/>
          <p:cNvPicPr preferRelativeResize="0"/>
          <p:nvPr/>
        </p:nvPicPr>
        <p:blipFill>
          <a:blip r:embed="rId4">
            <a:alphaModFix/>
          </a:blip>
          <a:stretch>
            <a:fillRect/>
          </a:stretch>
        </p:blipFill>
        <p:spPr>
          <a:xfrm>
            <a:off x="311688" y="626225"/>
            <a:ext cx="4714875" cy="4343400"/>
          </a:xfrm>
          <a:prstGeom prst="rect">
            <a:avLst/>
          </a:prstGeom>
          <a:solidFill>
            <a:srgbClr val="FFFFFF"/>
          </a:solidFill>
          <a:ln cap="flat" cmpd="sng" w="9525">
            <a:solidFill>
              <a:srgbClr val="E2E8F0"/>
            </a:solidFill>
            <a:prstDash val="solid"/>
            <a:round/>
            <a:headEnd len="sm" w="sm" type="none"/>
            <a:tailEnd len="sm" w="sm" type="none"/>
          </a:ln>
        </p:spPr>
      </p:pic>
      <p:pic>
        <p:nvPicPr>
          <p:cNvPr id="2317" name="Google Shape;2317;p91"/>
          <p:cNvPicPr preferRelativeResize="0"/>
          <p:nvPr/>
        </p:nvPicPr>
        <p:blipFill rotWithShape="1">
          <a:blip r:embed="rId5">
            <a:alphaModFix/>
          </a:blip>
          <a:srcRect b="0" l="0" r="0" t="34314"/>
          <a:stretch/>
        </p:blipFill>
        <p:spPr>
          <a:xfrm>
            <a:off x="5300225" y="706175"/>
            <a:ext cx="3467060" cy="42634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1" name="Shape 2321"/>
        <p:cNvGrpSpPr/>
        <p:nvPr/>
      </p:nvGrpSpPr>
      <p:grpSpPr>
        <a:xfrm>
          <a:off x="0" y="0"/>
          <a:ext cx="0" cy="0"/>
          <a:chOff x="0" y="0"/>
          <a:chExt cx="0" cy="0"/>
        </a:xfrm>
      </p:grpSpPr>
      <p:sp>
        <p:nvSpPr>
          <p:cNvPr id="2322" name="Google Shape;2322;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Quiz</a:t>
            </a:r>
            <a:endParaRPr/>
          </a:p>
        </p:txBody>
      </p:sp>
      <p:sp>
        <p:nvSpPr>
          <p:cNvPr id="2323" name="Google Shape;2323;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chemeClr val="dk1"/>
                </a:solidFill>
              </a:rPr>
              <a:t>In hybrid routing, why putting the rule-based stage first might be risky?</a:t>
            </a:r>
            <a:endParaRPr sz="1100">
              <a:solidFill>
                <a:schemeClr val="dk1"/>
              </a:solidFill>
            </a:endParaRPr>
          </a:p>
          <a:p>
            <a:pPr indent="0" lvl="0" marL="0" rtl="0" algn="l">
              <a:spcBef>
                <a:spcPts val="1200"/>
              </a:spcBef>
              <a:spcAft>
                <a:spcPts val="0"/>
              </a:spcAft>
              <a:buNone/>
            </a:pPr>
            <a:br>
              <a:rPr lang="en" sz="1100">
                <a:solidFill>
                  <a:schemeClr val="dk1"/>
                </a:solidFill>
              </a:rPr>
            </a:br>
            <a:r>
              <a:rPr lang="en" sz="1100">
                <a:solidFill>
                  <a:schemeClr val="dk1"/>
                </a:solidFill>
              </a:rPr>
              <a:t>A) Adds latency </a:t>
            </a:r>
            <a:endParaRPr sz="1100">
              <a:solidFill>
                <a:schemeClr val="dk1"/>
              </a:solidFill>
            </a:endParaRPr>
          </a:p>
          <a:p>
            <a:pPr indent="0" lvl="0" marL="0" rtl="0" algn="l">
              <a:spcBef>
                <a:spcPts val="1200"/>
              </a:spcBef>
              <a:spcAft>
                <a:spcPts val="0"/>
              </a:spcAft>
              <a:buNone/>
            </a:pPr>
            <a:r>
              <a:rPr lang="en" sz="1100">
                <a:solidFill>
                  <a:schemeClr val="dk1"/>
                </a:solidFill>
              </a:rPr>
              <a:t>B) Can confidently route wrong </a:t>
            </a:r>
            <a:endParaRPr sz="1100">
              <a:solidFill>
                <a:schemeClr val="dk1"/>
              </a:solidFill>
            </a:endParaRPr>
          </a:p>
          <a:p>
            <a:pPr indent="0" lvl="0" marL="0" rtl="0" algn="l">
              <a:spcBef>
                <a:spcPts val="1200"/>
              </a:spcBef>
              <a:spcAft>
                <a:spcPts val="0"/>
              </a:spcAft>
              <a:buNone/>
            </a:pPr>
            <a:r>
              <a:rPr lang="en" sz="1100">
                <a:solidFill>
                  <a:schemeClr val="dk1"/>
                </a:solidFill>
              </a:rPr>
              <a:t>C) Needs GPU </a:t>
            </a:r>
            <a:endParaRPr sz="1100">
              <a:solidFill>
                <a:schemeClr val="dk1"/>
              </a:solidFill>
            </a:endParaRPr>
          </a:p>
          <a:p>
            <a:pPr indent="0" lvl="0" marL="0" rtl="0" algn="l">
              <a:spcBef>
                <a:spcPts val="1200"/>
              </a:spcBef>
              <a:spcAft>
                <a:spcPts val="0"/>
              </a:spcAft>
              <a:buNone/>
            </a:pPr>
            <a:r>
              <a:rPr lang="en" sz="1100">
                <a:solidFill>
                  <a:schemeClr val="dk1"/>
                </a:solidFill>
              </a:rPr>
              <a:t>D) Costs more</a:t>
            </a:r>
            <a:br>
              <a:rPr lang="en" sz="1100">
                <a:solidFill>
                  <a:schemeClr val="dk1"/>
                </a:solidFill>
              </a:rPr>
            </a:br>
            <a:r>
              <a:rPr lang="en" sz="1100">
                <a:solidFill>
                  <a:schemeClr val="dk1"/>
                </a:solidFill>
              </a:rPr>
              <a:t>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7" name="Shape 2327"/>
        <p:cNvGrpSpPr/>
        <p:nvPr/>
      </p:nvGrpSpPr>
      <p:grpSpPr>
        <a:xfrm>
          <a:off x="0" y="0"/>
          <a:ext cx="0" cy="0"/>
          <a:chOff x="0" y="0"/>
          <a:chExt cx="0" cy="0"/>
        </a:xfrm>
      </p:grpSpPr>
      <p:sp>
        <p:nvSpPr>
          <p:cNvPr id="2328" name="Google Shape;2328;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Quiz 6</a:t>
            </a:r>
            <a:endParaRPr b="1"/>
          </a:p>
        </p:txBody>
      </p:sp>
      <p:pic>
        <p:nvPicPr>
          <p:cNvPr id="2329" name="Google Shape;2329;p93" title="Screenshot 2026-10-23 at 3.09.22 PM.png"/>
          <p:cNvPicPr preferRelativeResize="0"/>
          <p:nvPr/>
        </p:nvPicPr>
        <p:blipFill rotWithShape="1">
          <a:blip r:embed="rId3">
            <a:alphaModFix/>
          </a:blip>
          <a:srcRect b="278" l="0" r="0" t="278"/>
          <a:stretch/>
        </p:blipFill>
        <p:spPr>
          <a:xfrm>
            <a:off x="2661513" y="1017725"/>
            <a:ext cx="3820976" cy="3820973"/>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3" name="Shape 2333"/>
        <p:cNvGrpSpPr/>
        <p:nvPr/>
      </p:nvGrpSpPr>
      <p:grpSpPr>
        <a:xfrm>
          <a:off x="0" y="0"/>
          <a:ext cx="0" cy="0"/>
          <a:chOff x="0" y="0"/>
          <a:chExt cx="0" cy="0"/>
        </a:xfrm>
      </p:grpSpPr>
      <p:sp>
        <p:nvSpPr>
          <p:cNvPr id="2334" name="Google Shape;2334;p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Quiz</a:t>
            </a:r>
            <a:endParaRPr/>
          </a:p>
        </p:txBody>
      </p:sp>
      <p:sp>
        <p:nvSpPr>
          <p:cNvPr id="2335" name="Google Shape;2335;p9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chemeClr val="dk1"/>
                </a:solidFill>
              </a:rPr>
              <a:t>In hybrid routing, why putting the rule-based stage first might be risky?</a:t>
            </a:r>
            <a:endParaRPr sz="1100">
              <a:solidFill>
                <a:schemeClr val="dk1"/>
              </a:solidFill>
            </a:endParaRPr>
          </a:p>
          <a:p>
            <a:pPr indent="0" lvl="0" marL="0" rtl="0" algn="l">
              <a:spcBef>
                <a:spcPts val="1200"/>
              </a:spcBef>
              <a:spcAft>
                <a:spcPts val="0"/>
              </a:spcAft>
              <a:buNone/>
            </a:pPr>
            <a:br>
              <a:rPr lang="en" sz="1100">
                <a:solidFill>
                  <a:schemeClr val="dk1"/>
                </a:solidFill>
              </a:rPr>
            </a:br>
            <a:r>
              <a:rPr lang="en" sz="1100">
                <a:solidFill>
                  <a:schemeClr val="dk1"/>
                </a:solidFill>
              </a:rPr>
              <a:t>A) Adds latency </a:t>
            </a:r>
            <a:endParaRPr sz="1100">
              <a:solidFill>
                <a:schemeClr val="dk1"/>
              </a:solidFill>
            </a:endParaRPr>
          </a:p>
          <a:p>
            <a:pPr indent="0" lvl="0" marL="0" rtl="0" algn="l">
              <a:spcBef>
                <a:spcPts val="1200"/>
              </a:spcBef>
              <a:spcAft>
                <a:spcPts val="0"/>
              </a:spcAft>
              <a:buNone/>
            </a:pPr>
            <a:r>
              <a:rPr lang="en" sz="1100">
                <a:solidFill>
                  <a:schemeClr val="dk1"/>
                </a:solidFill>
              </a:rPr>
              <a:t>B) Can confidently route wrong </a:t>
            </a:r>
            <a:endParaRPr sz="1100">
              <a:solidFill>
                <a:schemeClr val="dk1"/>
              </a:solidFill>
            </a:endParaRPr>
          </a:p>
          <a:p>
            <a:pPr indent="0" lvl="0" marL="0" rtl="0" algn="l">
              <a:spcBef>
                <a:spcPts val="1200"/>
              </a:spcBef>
              <a:spcAft>
                <a:spcPts val="0"/>
              </a:spcAft>
              <a:buNone/>
            </a:pPr>
            <a:r>
              <a:rPr lang="en" sz="1100">
                <a:solidFill>
                  <a:schemeClr val="dk1"/>
                </a:solidFill>
              </a:rPr>
              <a:t>C) Needs GPU </a:t>
            </a:r>
            <a:endParaRPr sz="1100">
              <a:solidFill>
                <a:schemeClr val="dk1"/>
              </a:solidFill>
            </a:endParaRPr>
          </a:p>
          <a:p>
            <a:pPr indent="0" lvl="0" marL="0" rtl="0" algn="l">
              <a:spcBef>
                <a:spcPts val="1200"/>
              </a:spcBef>
              <a:spcAft>
                <a:spcPts val="0"/>
              </a:spcAft>
              <a:buNone/>
            </a:pPr>
            <a:r>
              <a:rPr lang="en" sz="1100">
                <a:solidFill>
                  <a:schemeClr val="dk1"/>
                </a:solidFill>
              </a:rPr>
              <a:t>D) Costs more</a:t>
            </a:r>
            <a:br>
              <a:rPr lang="en" sz="1100">
                <a:solidFill>
                  <a:schemeClr val="dk1"/>
                </a:solidFill>
              </a:rPr>
            </a:br>
            <a:r>
              <a:rPr lang="en" sz="1100">
                <a:solidFill>
                  <a:schemeClr val="dk1"/>
                </a:solidFill>
              </a:rPr>
              <a:t> </a:t>
            </a:r>
            <a:endParaRPr sz="1100">
              <a:solidFill>
                <a:schemeClr val="dk1"/>
              </a:solidFill>
            </a:endParaRPr>
          </a:p>
          <a:p>
            <a:pPr indent="0" lvl="0" marL="0" rtl="0" algn="l">
              <a:spcBef>
                <a:spcPts val="1200"/>
              </a:spcBef>
              <a:spcAft>
                <a:spcPts val="1200"/>
              </a:spcAft>
              <a:buNone/>
            </a:pPr>
            <a:r>
              <a:rPr b="1" lang="en" sz="1100">
                <a:solidFill>
                  <a:schemeClr val="dk1"/>
                </a:solidFill>
              </a:rPr>
              <a:t>Ans: B</a:t>
            </a:r>
            <a:r>
              <a:rPr lang="en" sz="1100">
                <a:solidFill>
                  <a:schemeClr val="dk1"/>
                </a:solidFill>
              </a:rPr>
              <a:t> — a keyword match short-circuits the waterfall, so smarter stages never run. "Payroll server crashed" → HR can happen if the rule-based has a keyword payroll assigned to HR docs.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39" name="Shape 2339"/>
        <p:cNvGrpSpPr/>
        <p:nvPr/>
      </p:nvGrpSpPr>
      <p:grpSpPr>
        <a:xfrm>
          <a:off x="0" y="0"/>
          <a:ext cx="0" cy="0"/>
          <a:chOff x="0" y="0"/>
          <a:chExt cx="0" cy="0"/>
        </a:xfrm>
      </p:grpSpPr>
      <p:sp>
        <p:nvSpPr>
          <p:cNvPr id="2340" name="Google Shape;2340;p95"/>
          <p:cNvSpPr txBox="1"/>
          <p:nvPr>
            <p:ph type="title"/>
          </p:nvPr>
        </p:nvSpPr>
        <p:spPr>
          <a:xfrm>
            <a:off x="311700" y="4601"/>
            <a:ext cx="8520600" cy="56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1: Data Source Routing</a:t>
            </a:r>
            <a:endParaRPr/>
          </a:p>
        </p:txBody>
      </p:sp>
      <p:grpSp>
        <p:nvGrpSpPr>
          <p:cNvPr id="2341" name="Google Shape;2341;p95"/>
          <p:cNvGrpSpPr/>
          <p:nvPr/>
        </p:nvGrpSpPr>
        <p:grpSpPr>
          <a:xfrm>
            <a:off x="381000" y="916125"/>
            <a:ext cx="8382000" cy="879900"/>
            <a:chOff x="381000" y="952500"/>
            <a:chExt cx="8382000" cy="879900"/>
          </a:xfrm>
        </p:grpSpPr>
        <p:sp>
          <p:nvSpPr>
            <p:cNvPr id="2342" name="Google Shape;2342;p95"/>
            <p:cNvSpPr/>
            <p:nvPr/>
          </p:nvSpPr>
          <p:spPr>
            <a:xfrm>
              <a:off x="381000" y="952500"/>
              <a:ext cx="8382000" cy="762000"/>
            </a:xfrm>
            <a:prstGeom prst="roundRect">
              <a:avLst>
                <a:gd fmla="val 15000"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3" name="Google Shape;2343;p95"/>
            <p:cNvSpPr txBox="1"/>
            <p:nvPr/>
          </p:nvSpPr>
          <p:spPr>
            <a:xfrm>
              <a:off x="571500" y="952500"/>
              <a:ext cx="8001000" cy="879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E3A8A"/>
                  </a:solidFill>
                  <a:latin typeface="Arial"/>
                  <a:ea typeface="Arial"/>
                  <a:cs typeface="Arial"/>
                  <a:sym typeface="Arial"/>
                </a:rPr>
                <a:t>General Use: </a:t>
              </a:r>
              <a:r>
                <a:rPr b="0" lang="en" sz="1200">
                  <a:solidFill>
                    <a:srgbClr val="1E40AF"/>
                  </a:solidFill>
                  <a:latin typeface="Arial"/>
                  <a:ea typeface="Arial"/>
                  <a:cs typeface="Arial"/>
                  <a:sym typeface="Arial"/>
                </a:rPr>
                <a:t>Selecting the correct vector database, SQL database, or API based on the user's intent.</a:t>
              </a:r>
              <a:endParaRPr b="1" sz="1200">
                <a:solidFill>
                  <a:srgbClr val="1E3A8A"/>
                </a:solidFill>
                <a:latin typeface="Arial"/>
                <a:ea typeface="Arial"/>
                <a:cs typeface="Arial"/>
                <a:sym typeface="Arial"/>
              </a:endParaRPr>
            </a:p>
            <a:p>
              <a:pPr indent="0" lvl="0" marL="0" rtl="0" algn="l">
                <a:spcBef>
                  <a:spcPts val="375"/>
                </a:spcBef>
                <a:spcAft>
                  <a:spcPts val="0"/>
                </a:spcAft>
                <a:buNone/>
              </a:pPr>
              <a:r>
                <a:rPr b="1" lang="en" sz="1200">
                  <a:solidFill>
                    <a:srgbClr val="1E3A8A"/>
                  </a:solidFill>
                  <a:latin typeface="Arial"/>
                  <a:ea typeface="Arial"/>
                  <a:cs typeface="Arial"/>
                  <a:sym typeface="Arial"/>
                </a:rPr>
                <a:t>Example : </a:t>
              </a:r>
              <a:r>
                <a:rPr b="0" lang="en" sz="1200">
                  <a:solidFill>
                    <a:srgbClr val="1E40AF"/>
                  </a:solidFill>
                  <a:latin typeface="Arial"/>
                  <a:ea typeface="Arial"/>
                  <a:cs typeface="Arial"/>
                  <a:sym typeface="Arial"/>
                </a:rPr>
                <a:t>Since RAG outputs depend on the data-corpus it accesses, different questions must refer to different corpora.</a:t>
              </a:r>
              <a:endParaRPr b="1" sz="1200">
                <a:solidFill>
                  <a:srgbClr val="1E3A8A"/>
                </a:solidFill>
                <a:latin typeface="Arial"/>
                <a:ea typeface="Arial"/>
                <a:cs typeface="Arial"/>
                <a:sym typeface="Arial"/>
              </a:endParaRPr>
            </a:p>
          </p:txBody>
        </p:sp>
      </p:grpSp>
      <p:grpSp>
        <p:nvGrpSpPr>
          <p:cNvPr id="2344" name="Google Shape;2344;p95"/>
          <p:cNvGrpSpPr/>
          <p:nvPr/>
        </p:nvGrpSpPr>
        <p:grpSpPr>
          <a:xfrm>
            <a:off x="381000" y="1905000"/>
            <a:ext cx="2667000" cy="2286000"/>
            <a:chOff x="381000" y="1905000"/>
            <a:chExt cx="2667000" cy="2286000"/>
          </a:xfrm>
        </p:grpSpPr>
        <p:sp>
          <p:nvSpPr>
            <p:cNvPr id="2345" name="Google Shape;2345;p95"/>
            <p:cNvSpPr/>
            <p:nvPr/>
          </p:nvSpPr>
          <p:spPr>
            <a:xfrm>
              <a:off x="381000" y="1905000"/>
              <a:ext cx="2667000" cy="2286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6" name="Google Shape;2346;p95"/>
            <p:cNvSpPr/>
            <p:nvPr/>
          </p:nvSpPr>
          <p:spPr>
            <a:xfrm>
              <a:off x="381000" y="1905000"/>
              <a:ext cx="2667000" cy="381000"/>
            </a:xfrm>
            <a:prstGeom prst="roundRect">
              <a:avLst>
                <a:gd fmla="val 3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7" name="Google Shape;2347;p95"/>
            <p:cNvSpPr/>
            <p:nvPr/>
          </p:nvSpPr>
          <p:spPr>
            <a:xfrm>
              <a:off x="381000" y="2171700"/>
              <a:ext cx="2667000" cy="1143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8" name="Google Shape;2348;p95"/>
            <p:cNvSpPr txBox="1"/>
            <p:nvPr/>
          </p:nvSpPr>
          <p:spPr>
            <a:xfrm>
              <a:off x="476250" y="1905000"/>
              <a:ext cx="2476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Arial"/>
                  <a:ea typeface="Arial"/>
                  <a:cs typeface="Arial"/>
                  <a:sym typeface="Arial"/>
                </a:rPr>
                <a:t>HR &amp; POLICY</a:t>
              </a:r>
              <a:endParaRPr b="1">
                <a:solidFill>
                  <a:srgbClr val="FFFFFF"/>
                </a:solidFill>
                <a:latin typeface="Arial"/>
                <a:ea typeface="Arial"/>
                <a:cs typeface="Arial"/>
                <a:sym typeface="Arial"/>
              </a:endParaRPr>
            </a:p>
          </p:txBody>
        </p:sp>
        <p:sp>
          <p:nvSpPr>
            <p:cNvPr id="2349" name="Google Shape;2349;p95"/>
            <p:cNvSpPr txBox="1"/>
            <p:nvPr/>
          </p:nvSpPr>
          <p:spPr>
            <a:xfrm>
              <a:off x="523875" y="2381250"/>
              <a:ext cx="23814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E293B"/>
                  </a:solidFill>
                  <a:latin typeface="Arial"/>
                  <a:ea typeface="Arial"/>
                  <a:cs typeface="Arial"/>
                  <a:sym typeface="Arial"/>
                </a:rPr>
                <a:t>User Query:</a:t>
              </a:r>
              <a:endParaRPr b="1">
                <a:solidFill>
                  <a:srgbClr val="1E293B"/>
                </a:solidFill>
                <a:latin typeface="Arial"/>
                <a:ea typeface="Arial"/>
                <a:cs typeface="Arial"/>
                <a:sym typeface="Arial"/>
              </a:endParaRPr>
            </a:p>
            <a:p>
              <a:pPr indent="0" lvl="0" marL="0" rtl="0" algn="l">
                <a:spcBef>
                  <a:spcPts val="0"/>
                </a:spcBef>
                <a:spcAft>
                  <a:spcPts val="0"/>
                </a:spcAft>
                <a:buNone/>
              </a:pPr>
              <a:r>
                <a:rPr i="1" lang="en">
                  <a:solidFill>
                    <a:srgbClr val="475569"/>
                  </a:solidFill>
                  <a:latin typeface="Arial"/>
                  <a:ea typeface="Arial"/>
                  <a:cs typeface="Arial"/>
                  <a:sym typeface="Arial"/>
                </a:rPr>
                <a:t>"What is the maternity leave policy?"</a:t>
              </a:r>
              <a:endParaRPr i="1">
                <a:solidFill>
                  <a:srgbClr val="475569"/>
                </a:solidFill>
                <a:latin typeface="Arial"/>
                <a:ea typeface="Arial"/>
                <a:cs typeface="Arial"/>
                <a:sym typeface="Arial"/>
              </a:endParaRPr>
            </a:p>
            <a:p>
              <a:pPr indent="0" lvl="0" marL="0" rtl="0" algn="l">
                <a:spcBef>
                  <a:spcPts val="1125"/>
                </a:spcBef>
                <a:spcAft>
                  <a:spcPts val="0"/>
                </a:spcAft>
                <a:buNone/>
              </a:pPr>
              <a:r>
                <a:rPr b="1" lang="en">
                  <a:solidFill>
                    <a:srgbClr val="2563EB"/>
                  </a:solidFill>
                  <a:latin typeface="Arial"/>
                  <a:ea typeface="Arial"/>
                  <a:cs typeface="Arial"/>
                  <a:sym typeface="Arial"/>
                </a:rPr>
                <a:t>Route:</a:t>
              </a:r>
              <a:endParaRPr b="1">
                <a:solidFill>
                  <a:srgbClr val="2563EB"/>
                </a:solidFill>
                <a:latin typeface="Arial"/>
                <a:ea typeface="Arial"/>
                <a:cs typeface="Arial"/>
                <a:sym typeface="Arial"/>
              </a:endParaRPr>
            </a:p>
            <a:p>
              <a:pPr indent="0" lvl="0" marL="0" rtl="0" algn="l">
                <a:spcBef>
                  <a:spcPts val="0"/>
                </a:spcBef>
                <a:spcAft>
                  <a:spcPts val="0"/>
                </a:spcAft>
                <a:buNone/>
              </a:pPr>
              <a:r>
                <a:rPr lang="en">
                  <a:solidFill>
                    <a:srgbClr val="475569"/>
                  </a:solidFill>
                  <a:latin typeface="Arial"/>
                  <a:ea typeface="Arial"/>
                  <a:cs typeface="Arial"/>
                  <a:sym typeface="Arial"/>
                </a:rPr>
                <a:t>Retrieve from the </a:t>
              </a:r>
              <a:r>
                <a:rPr b="1" lang="en">
                  <a:solidFill>
                    <a:srgbClr val="475569"/>
                  </a:solidFill>
                  <a:latin typeface="Arial"/>
                  <a:ea typeface="Arial"/>
                  <a:cs typeface="Arial"/>
                  <a:sym typeface="Arial"/>
                </a:rPr>
                <a:t>HR Docs Vector DB</a:t>
              </a:r>
              <a:r>
                <a:rPr lang="en">
                  <a:solidFill>
                    <a:srgbClr val="475569"/>
                  </a:solidFill>
                  <a:latin typeface="Arial"/>
                  <a:ea typeface="Arial"/>
                  <a:cs typeface="Arial"/>
                  <a:sym typeface="Arial"/>
                </a:rPr>
                <a:t>.</a:t>
              </a:r>
              <a:endParaRPr>
                <a:solidFill>
                  <a:srgbClr val="475569"/>
                </a:solidFill>
                <a:latin typeface="Arial"/>
                <a:ea typeface="Arial"/>
                <a:cs typeface="Arial"/>
                <a:sym typeface="Arial"/>
              </a:endParaRPr>
            </a:p>
          </p:txBody>
        </p:sp>
      </p:grpSp>
      <p:grpSp>
        <p:nvGrpSpPr>
          <p:cNvPr id="2350" name="Google Shape;2350;p95"/>
          <p:cNvGrpSpPr/>
          <p:nvPr/>
        </p:nvGrpSpPr>
        <p:grpSpPr>
          <a:xfrm>
            <a:off x="3238500" y="1905000"/>
            <a:ext cx="2667000" cy="2286000"/>
            <a:chOff x="3238500" y="1905000"/>
            <a:chExt cx="2667000" cy="2286000"/>
          </a:xfrm>
        </p:grpSpPr>
        <p:sp>
          <p:nvSpPr>
            <p:cNvPr id="2351" name="Google Shape;2351;p95"/>
            <p:cNvSpPr/>
            <p:nvPr/>
          </p:nvSpPr>
          <p:spPr>
            <a:xfrm>
              <a:off x="3238500" y="1905000"/>
              <a:ext cx="2667000" cy="2286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2" name="Google Shape;2352;p95"/>
            <p:cNvSpPr/>
            <p:nvPr/>
          </p:nvSpPr>
          <p:spPr>
            <a:xfrm>
              <a:off x="3238500" y="1905000"/>
              <a:ext cx="2667000" cy="381000"/>
            </a:xfrm>
            <a:prstGeom prst="roundRect">
              <a:avLst>
                <a:gd fmla="val 3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3" name="Google Shape;2353;p95"/>
            <p:cNvSpPr/>
            <p:nvPr/>
          </p:nvSpPr>
          <p:spPr>
            <a:xfrm>
              <a:off x="3238500" y="2171700"/>
              <a:ext cx="2667000" cy="114300"/>
            </a:xfrm>
            <a:prstGeom prst="rect">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4" name="Google Shape;2354;p95"/>
            <p:cNvSpPr txBox="1"/>
            <p:nvPr/>
          </p:nvSpPr>
          <p:spPr>
            <a:xfrm>
              <a:off x="3333750" y="1905000"/>
              <a:ext cx="2476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Arial"/>
                  <a:ea typeface="Arial"/>
                  <a:cs typeface="Arial"/>
                  <a:sym typeface="Arial"/>
                </a:rPr>
                <a:t>TECHNICAL ASSETS</a:t>
              </a:r>
              <a:endParaRPr b="1">
                <a:solidFill>
                  <a:srgbClr val="FFFFFF"/>
                </a:solidFill>
                <a:latin typeface="Arial"/>
                <a:ea typeface="Arial"/>
                <a:cs typeface="Arial"/>
                <a:sym typeface="Arial"/>
              </a:endParaRPr>
            </a:p>
          </p:txBody>
        </p:sp>
        <p:sp>
          <p:nvSpPr>
            <p:cNvPr id="2355" name="Google Shape;2355;p95"/>
            <p:cNvSpPr txBox="1"/>
            <p:nvPr/>
          </p:nvSpPr>
          <p:spPr>
            <a:xfrm>
              <a:off x="3381375" y="2381250"/>
              <a:ext cx="23814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E293B"/>
                  </a:solidFill>
                  <a:latin typeface="Arial"/>
                  <a:ea typeface="Arial"/>
                  <a:cs typeface="Arial"/>
                  <a:sym typeface="Arial"/>
                </a:rPr>
                <a:t>User Query:</a:t>
              </a:r>
              <a:endParaRPr b="1">
                <a:solidFill>
                  <a:srgbClr val="1E293B"/>
                </a:solidFill>
                <a:latin typeface="Arial"/>
                <a:ea typeface="Arial"/>
                <a:cs typeface="Arial"/>
                <a:sym typeface="Arial"/>
              </a:endParaRPr>
            </a:p>
            <a:p>
              <a:pPr indent="0" lvl="0" marL="0" rtl="0" algn="l">
                <a:spcBef>
                  <a:spcPts val="0"/>
                </a:spcBef>
                <a:spcAft>
                  <a:spcPts val="0"/>
                </a:spcAft>
                <a:buNone/>
              </a:pPr>
              <a:r>
                <a:rPr i="1" lang="en">
                  <a:solidFill>
                    <a:srgbClr val="475569"/>
                  </a:solidFill>
                  <a:latin typeface="Arial"/>
                  <a:ea typeface="Arial"/>
                  <a:cs typeface="Arial"/>
                  <a:sym typeface="Arial"/>
                </a:rPr>
                <a:t>"How does the auth module handle token expiry?"</a:t>
              </a:r>
              <a:endParaRPr i="1">
                <a:solidFill>
                  <a:srgbClr val="475569"/>
                </a:solidFill>
                <a:latin typeface="Arial"/>
                <a:ea typeface="Arial"/>
                <a:cs typeface="Arial"/>
                <a:sym typeface="Arial"/>
              </a:endParaRPr>
            </a:p>
            <a:p>
              <a:pPr indent="0" lvl="0" marL="0" rtl="0" algn="l">
                <a:spcBef>
                  <a:spcPts val="1125"/>
                </a:spcBef>
                <a:spcAft>
                  <a:spcPts val="0"/>
                </a:spcAft>
                <a:buNone/>
              </a:pPr>
              <a:r>
                <a:rPr b="1" lang="en">
                  <a:solidFill>
                    <a:srgbClr val="7C3AED"/>
                  </a:solidFill>
                  <a:latin typeface="Arial"/>
                  <a:ea typeface="Arial"/>
                  <a:cs typeface="Arial"/>
                  <a:sym typeface="Arial"/>
                </a:rPr>
                <a:t>Route:</a:t>
              </a:r>
              <a:endParaRPr b="1">
                <a:solidFill>
                  <a:srgbClr val="7C3AED"/>
                </a:solidFill>
                <a:latin typeface="Arial"/>
                <a:ea typeface="Arial"/>
                <a:cs typeface="Arial"/>
                <a:sym typeface="Arial"/>
              </a:endParaRPr>
            </a:p>
            <a:p>
              <a:pPr indent="0" lvl="0" marL="0" rtl="0" algn="l">
                <a:spcBef>
                  <a:spcPts val="0"/>
                </a:spcBef>
                <a:spcAft>
                  <a:spcPts val="0"/>
                </a:spcAft>
                <a:buNone/>
              </a:pPr>
              <a:r>
                <a:rPr lang="en">
                  <a:solidFill>
                    <a:srgbClr val="475569"/>
                  </a:solidFill>
                  <a:latin typeface="Arial"/>
                  <a:ea typeface="Arial"/>
                  <a:cs typeface="Arial"/>
                  <a:sym typeface="Arial"/>
                </a:rPr>
                <a:t>Retrieve from the </a:t>
              </a:r>
              <a:r>
                <a:rPr b="1" lang="en">
                  <a:solidFill>
                    <a:srgbClr val="475569"/>
                  </a:solidFill>
                  <a:latin typeface="Arial"/>
                  <a:ea typeface="Arial"/>
                  <a:cs typeface="Arial"/>
                  <a:sym typeface="Arial"/>
                </a:rPr>
                <a:t>Company Codebase Vector DB</a:t>
              </a:r>
              <a:r>
                <a:rPr lang="en">
                  <a:solidFill>
                    <a:srgbClr val="475569"/>
                  </a:solidFill>
                  <a:latin typeface="Arial"/>
                  <a:ea typeface="Arial"/>
                  <a:cs typeface="Arial"/>
                  <a:sym typeface="Arial"/>
                </a:rPr>
                <a:t>.</a:t>
              </a:r>
              <a:endParaRPr>
                <a:solidFill>
                  <a:srgbClr val="475569"/>
                </a:solidFill>
                <a:latin typeface="Arial"/>
                <a:ea typeface="Arial"/>
                <a:cs typeface="Arial"/>
                <a:sym typeface="Arial"/>
              </a:endParaRPr>
            </a:p>
          </p:txBody>
        </p:sp>
      </p:grpSp>
      <p:grpSp>
        <p:nvGrpSpPr>
          <p:cNvPr id="2356" name="Google Shape;2356;p95"/>
          <p:cNvGrpSpPr/>
          <p:nvPr/>
        </p:nvGrpSpPr>
        <p:grpSpPr>
          <a:xfrm>
            <a:off x="6096000" y="1905000"/>
            <a:ext cx="2667000" cy="2286000"/>
            <a:chOff x="6096000" y="1905000"/>
            <a:chExt cx="2667000" cy="2286000"/>
          </a:xfrm>
        </p:grpSpPr>
        <p:sp>
          <p:nvSpPr>
            <p:cNvPr id="2357" name="Google Shape;2357;p95"/>
            <p:cNvSpPr/>
            <p:nvPr/>
          </p:nvSpPr>
          <p:spPr>
            <a:xfrm>
              <a:off x="6096000" y="1905000"/>
              <a:ext cx="2667000" cy="2286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8" name="Google Shape;2358;p95"/>
            <p:cNvSpPr/>
            <p:nvPr/>
          </p:nvSpPr>
          <p:spPr>
            <a:xfrm>
              <a:off x="6096000" y="1905000"/>
              <a:ext cx="2667000" cy="381000"/>
            </a:xfrm>
            <a:prstGeom prst="roundRect">
              <a:avLst>
                <a:gd fmla="val 3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9" name="Google Shape;2359;p95"/>
            <p:cNvSpPr/>
            <p:nvPr/>
          </p:nvSpPr>
          <p:spPr>
            <a:xfrm>
              <a:off x="6096000" y="2171700"/>
              <a:ext cx="2667000" cy="114300"/>
            </a:xfrm>
            <a:prstGeom prst="rect">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0" name="Google Shape;2360;p95"/>
            <p:cNvSpPr txBox="1"/>
            <p:nvPr/>
          </p:nvSpPr>
          <p:spPr>
            <a:xfrm>
              <a:off x="6191250" y="1905000"/>
              <a:ext cx="2476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Arial"/>
                  <a:ea typeface="Arial"/>
                  <a:cs typeface="Arial"/>
                  <a:sym typeface="Arial"/>
                </a:rPr>
                <a:t>LIVE MONITORING</a:t>
              </a:r>
              <a:endParaRPr b="1">
                <a:solidFill>
                  <a:srgbClr val="FFFFFF"/>
                </a:solidFill>
                <a:latin typeface="Arial"/>
                <a:ea typeface="Arial"/>
                <a:cs typeface="Arial"/>
                <a:sym typeface="Arial"/>
              </a:endParaRPr>
            </a:p>
          </p:txBody>
        </p:sp>
        <p:sp>
          <p:nvSpPr>
            <p:cNvPr id="2361" name="Google Shape;2361;p95"/>
            <p:cNvSpPr txBox="1"/>
            <p:nvPr/>
          </p:nvSpPr>
          <p:spPr>
            <a:xfrm>
              <a:off x="6238875" y="2381250"/>
              <a:ext cx="23814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1E293B"/>
                  </a:solidFill>
                  <a:latin typeface="Arial"/>
                  <a:ea typeface="Arial"/>
                  <a:cs typeface="Arial"/>
                  <a:sym typeface="Arial"/>
                </a:rPr>
                <a:t>User Query:</a:t>
              </a:r>
              <a:endParaRPr b="1">
                <a:solidFill>
                  <a:srgbClr val="1E293B"/>
                </a:solidFill>
                <a:latin typeface="Arial"/>
                <a:ea typeface="Arial"/>
                <a:cs typeface="Arial"/>
                <a:sym typeface="Arial"/>
              </a:endParaRPr>
            </a:p>
            <a:p>
              <a:pPr indent="0" lvl="0" marL="0" rtl="0" algn="l">
                <a:spcBef>
                  <a:spcPts val="0"/>
                </a:spcBef>
                <a:spcAft>
                  <a:spcPts val="0"/>
                </a:spcAft>
                <a:buNone/>
              </a:pPr>
              <a:r>
                <a:rPr i="1" lang="en">
                  <a:solidFill>
                    <a:srgbClr val="475569"/>
                  </a:solidFill>
                  <a:latin typeface="Arial"/>
                  <a:ea typeface="Arial"/>
                  <a:cs typeface="Arial"/>
                  <a:sym typeface="Arial"/>
                </a:rPr>
                <a:t>"Why did the payment container crash 5 min ago?"</a:t>
              </a:r>
              <a:endParaRPr i="1">
                <a:solidFill>
                  <a:srgbClr val="475569"/>
                </a:solidFill>
                <a:latin typeface="Arial"/>
                <a:ea typeface="Arial"/>
                <a:cs typeface="Arial"/>
                <a:sym typeface="Arial"/>
              </a:endParaRPr>
            </a:p>
            <a:p>
              <a:pPr indent="0" lvl="0" marL="0" rtl="0" algn="l">
                <a:spcBef>
                  <a:spcPts val="1125"/>
                </a:spcBef>
                <a:spcAft>
                  <a:spcPts val="0"/>
                </a:spcAft>
                <a:buNone/>
              </a:pPr>
              <a:r>
                <a:rPr b="1" lang="en">
                  <a:solidFill>
                    <a:srgbClr val="D97706"/>
                  </a:solidFill>
                  <a:latin typeface="Arial"/>
                  <a:ea typeface="Arial"/>
                  <a:cs typeface="Arial"/>
                  <a:sym typeface="Arial"/>
                </a:rPr>
                <a:t>Route:</a:t>
              </a:r>
              <a:endParaRPr b="1">
                <a:solidFill>
                  <a:srgbClr val="D97706"/>
                </a:solidFill>
                <a:latin typeface="Arial"/>
                <a:ea typeface="Arial"/>
                <a:cs typeface="Arial"/>
                <a:sym typeface="Arial"/>
              </a:endParaRPr>
            </a:p>
            <a:p>
              <a:pPr indent="0" lvl="0" marL="0" rtl="0" algn="l">
                <a:spcBef>
                  <a:spcPts val="0"/>
                </a:spcBef>
                <a:spcAft>
                  <a:spcPts val="0"/>
                </a:spcAft>
                <a:buNone/>
              </a:pPr>
              <a:r>
                <a:rPr lang="en">
                  <a:solidFill>
                    <a:srgbClr val="475569"/>
                  </a:solidFill>
                  <a:latin typeface="Arial"/>
                  <a:ea typeface="Arial"/>
                  <a:cs typeface="Arial"/>
                  <a:sym typeface="Arial"/>
                </a:rPr>
                <a:t>Trigger an API call to </a:t>
              </a:r>
              <a:r>
                <a:rPr b="1" lang="en">
                  <a:solidFill>
                    <a:srgbClr val="475569"/>
                  </a:solidFill>
                  <a:latin typeface="Arial"/>
                  <a:ea typeface="Arial"/>
                  <a:cs typeface="Arial"/>
                  <a:sym typeface="Arial"/>
                </a:rPr>
                <a:t>Live Splunk/Datadog Logs</a:t>
              </a:r>
              <a:r>
                <a:rPr lang="en">
                  <a:solidFill>
                    <a:srgbClr val="475569"/>
                  </a:solidFill>
                  <a:latin typeface="Arial"/>
                  <a:ea typeface="Arial"/>
                  <a:cs typeface="Arial"/>
                  <a:sym typeface="Arial"/>
                </a:rPr>
                <a:t>.</a:t>
              </a:r>
              <a:endParaRPr>
                <a:solidFill>
                  <a:srgbClr val="475569"/>
                </a:solidFill>
                <a:latin typeface="Arial"/>
                <a:ea typeface="Arial"/>
                <a:cs typeface="Arial"/>
                <a:sym typeface="Arial"/>
              </a:endParaRPr>
            </a:p>
            <a:p>
              <a:pPr indent="0" lvl="0" marL="0" rtl="0" algn="l">
                <a:spcBef>
                  <a:spcPts val="375"/>
                </a:spcBef>
                <a:spcAft>
                  <a:spcPts val="0"/>
                </a:spcAft>
                <a:buNone/>
              </a:pPr>
              <a:r>
                <a:rPr lang="en">
                  <a:solidFill>
                    <a:srgbClr val="94A3B8"/>
                  </a:solidFill>
                  <a:latin typeface="Arial"/>
                  <a:ea typeface="Arial"/>
                  <a:cs typeface="Arial"/>
                  <a:sym typeface="Arial"/>
                </a:rPr>
                <a:t>(Bypass Vector DB entirely)</a:t>
              </a:r>
              <a:endParaRPr>
                <a:solidFill>
                  <a:srgbClr val="94A3B8"/>
                </a:solidFill>
                <a:latin typeface="Arial"/>
                <a:ea typeface="Arial"/>
                <a:cs typeface="Arial"/>
                <a:sym typeface="Arial"/>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5" name="Shape 2365"/>
        <p:cNvGrpSpPr/>
        <p:nvPr/>
      </p:nvGrpSpPr>
      <p:grpSpPr>
        <a:xfrm>
          <a:off x="0" y="0"/>
          <a:ext cx="0" cy="0"/>
          <a:chOff x="0" y="0"/>
          <a:chExt cx="0" cy="0"/>
        </a:xfrm>
      </p:grpSpPr>
      <p:sp>
        <p:nvSpPr>
          <p:cNvPr id="2366" name="Google Shape;2366;p96"/>
          <p:cNvSpPr txBox="1"/>
          <p:nvPr>
            <p:ph type="title"/>
          </p:nvPr>
        </p:nvSpPr>
        <p:spPr>
          <a:xfrm>
            <a:off x="311700" y="192301"/>
            <a:ext cx="8520600" cy="569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2: Model &amp; Workflow Routing</a:t>
            </a:r>
            <a:endParaRPr/>
          </a:p>
        </p:txBody>
      </p:sp>
      <p:grpSp>
        <p:nvGrpSpPr>
          <p:cNvPr id="2367" name="Google Shape;2367;p96"/>
          <p:cNvGrpSpPr/>
          <p:nvPr/>
        </p:nvGrpSpPr>
        <p:grpSpPr>
          <a:xfrm>
            <a:off x="381000" y="952500"/>
            <a:ext cx="8382000" cy="762000"/>
            <a:chOff x="381000" y="952500"/>
            <a:chExt cx="8382000" cy="762000"/>
          </a:xfrm>
        </p:grpSpPr>
        <p:sp>
          <p:nvSpPr>
            <p:cNvPr id="2368" name="Google Shape;2368;p96"/>
            <p:cNvSpPr/>
            <p:nvPr/>
          </p:nvSpPr>
          <p:spPr>
            <a:xfrm>
              <a:off x="381000" y="952500"/>
              <a:ext cx="8382000" cy="762000"/>
            </a:xfrm>
            <a:prstGeom prst="roundRect">
              <a:avLst>
                <a:gd fmla="val 15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9" name="Google Shape;2369;p96"/>
            <p:cNvSpPr txBox="1"/>
            <p:nvPr/>
          </p:nvSpPr>
          <p:spPr>
            <a:xfrm>
              <a:off x="571500" y="952500"/>
              <a:ext cx="800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E293B"/>
                  </a:solidFill>
                  <a:latin typeface="Arial"/>
                  <a:ea typeface="Arial"/>
                  <a:cs typeface="Arial"/>
                  <a:sym typeface="Arial"/>
                </a:rPr>
                <a:t>General Use:</a:t>
              </a:r>
              <a:r>
                <a:rPr lang="en">
                  <a:solidFill>
                    <a:srgbClr val="1E293B"/>
                  </a:solidFill>
                  <a:latin typeface="Arial"/>
                  <a:ea typeface="Arial"/>
                  <a:cs typeface="Arial"/>
                  <a:sym typeface="Arial"/>
                </a:rPr>
                <a:t> Routing isn't just for finding documents; it is used to dynamically select </a:t>
              </a:r>
              <a:r>
                <a:rPr i="1" lang="en">
                  <a:solidFill>
                    <a:srgbClr val="1E293B"/>
                  </a:solidFill>
                  <a:latin typeface="Arial"/>
                  <a:ea typeface="Arial"/>
                  <a:cs typeface="Arial"/>
                  <a:sym typeface="Arial"/>
                </a:rPr>
                <a:t>which LLM</a:t>
              </a:r>
              <a:r>
                <a:rPr lang="en">
                  <a:solidFill>
                    <a:srgbClr val="1E293B"/>
                  </a:solidFill>
                  <a:latin typeface="Arial"/>
                  <a:ea typeface="Arial"/>
                  <a:cs typeface="Arial"/>
                  <a:sym typeface="Arial"/>
                </a:rPr>
                <a:t> or </a:t>
              </a:r>
              <a:r>
                <a:rPr i="1" lang="en">
                  <a:solidFill>
                    <a:srgbClr val="1E293B"/>
                  </a:solidFill>
                  <a:latin typeface="Arial"/>
                  <a:ea typeface="Arial"/>
                  <a:cs typeface="Arial"/>
                  <a:sym typeface="Arial"/>
                </a:rPr>
                <a:t>which pipeline</a:t>
              </a:r>
              <a:r>
                <a:rPr lang="en">
                  <a:solidFill>
                    <a:srgbClr val="1E293B"/>
                  </a:solidFill>
                  <a:latin typeface="Arial"/>
                  <a:ea typeface="Arial"/>
                  <a:cs typeface="Arial"/>
                  <a:sym typeface="Arial"/>
                </a:rPr>
                <a:t> to use, balancing response quality and inference cost dynamically for each query.</a:t>
              </a:r>
              <a:endParaRPr>
                <a:solidFill>
                  <a:srgbClr val="1E293B"/>
                </a:solidFill>
                <a:latin typeface="Arial"/>
                <a:ea typeface="Arial"/>
                <a:cs typeface="Arial"/>
                <a:sym typeface="Arial"/>
              </a:endParaRPr>
            </a:p>
          </p:txBody>
        </p:sp>
      </p:grpSp>
      <p:grpSp>
        <p:nvGrpSpPr>
          <p:cNvPr id="2370" name="Google Shape;2370;p96"/>
          <p:cNvGrpSpPr/>
          <p:nvPr/>
        </p:nvGrpSpPr>
        <p:grpSpPr>
          <a:xfrm>
            <a:off x="381000" y="1905000"/>
            <a:ext cx="4048200" cy="2476500"/>
            <a:chOff x="381000" y="1905000"/>
            <a:chExt cx="4048200" cy="2476500"/>
          </a:xfrm>
        </p:grpSpPr>
        <p:sp>
          <p:nvSpPr>
            <p:cNvPr id="2371" name="Google Shape;2371;p96"/>
            <p:cNvSpPr/>
            <p:nvPr/>
          </p:nvSpPr>
          <p:spPr>
            <a:xfrm>
              <a:off x="381000" y="1905000"/>
              <a:ext cx="4048200" cy="24765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2" name="Google Shape;2372;p96"/>
            <p:cNvSpPr/>
            <p:nvPr/>
          </p:nvSpPr>
          <p:spPr>
            <a:xfrm>
              <a:off x="381000" y="1905000"/>
              <a:ext cx="4048200" cy="381000"/>
            </a:xfrm>
            <a:prstGeom prst="roundRect">
              <a:avLst>
                <a:gd fmla="val 3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3" name="Google Shape;2373;p96"/>
            <p:cNvSpPr/>
            <p:nvPr/>
          </p:nvSpPr>
          <p:spPr>
            <a:xfrm>
              <a:off x="381000" y="2171700"/>
              <a:ext cx="4048200" cy="1143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4" name="Google Shape;2374;p96"/>
            <p:cNvSpPr txBox="1"/>
            <p:nvPr/>
          </p:nvSpPr>
          <p:spPr>
            <a:xfrm>
              <a:off x="476250" y="1905000"/>
              <a:ext cx="3857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Arial"/>
                  <a:ea typeface="Arial"/>
                  <a:cs typeface="Arial"/>
                  <a:sym typeface="Arial"/>
                </a:rPr>
                <a:t>SIMPLE EXTRACTION</a:t>
              </a:r>
              <a:endParaRPr b="1">
                <a:solidFill>
                  <a:srgbClr val="FFFFFF"/>
                </a:solidFill>
                <a:latin typeface="Arial"/>
                <a:ea typeface="Arial"/>
                <a:cs typeface="Arial"/>
                <a:sym typeface="Arial"/>
              </a:endParaRPr>
            </a:p>
          </p:txBody>
        </p:sp>
        <p:sp>
          <p:nvSpPr>
            <p:cNvPr id="2375" name="Google Shape;2375;p96"/>
            <p:cNvSpPr txBox="1"/>
            <p:nvPr/>
          </p:nvSpPr>
          <p:spPr>
            <a:xfrm>
              <a:off x="571500" y="2381250"/>
              <a:ext cx="36672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64748B"/>
                  </a:solidFill>
                  <a:latin typeface="Arial"/>
                  <a:ea typeface="Arial"/>
                  <a:cs typeface="Arial"/>
                  <a:sym typeface="Arial"/>
                </a:rPr>
                <a:t>User Query:</a:t>
              </a:r>
              <a:endParaRPr b="1">
                <a:solidFill>
                  <a:srgbClr val="64748B"/>
                </a:solidFill>
                <a:latin typeface="Arial"/>
                <a:ea typeface="Arial"/>
                <a:cs typeface="Arial"/>
                <a:sym typeface="Arial"/>
              </a:endParaRPr>
            </a:p>
            <a:p>
              <a:pPr indent="0" lvl="0" marL="0" rtl="0" algn="l">
                <a:spcBef>
                  <a:spcPts val="375"/>
                </a:spcBef>
                <a:spcAft>
                  <a:spcPts val="0"/>
                </a:spcAft>
                <a:buNone/>
              </a:pPr>
              <a:r>
                <a:rPr i="1" lang="en">
                  <a:solidFill>
                    <a:srgbClr val="1E293B"/>
                  </a:solidFill>
                  <a:latin typeface="Arial"/>
                  <a:ea typeface="Arial"/>
                  <a:cs typeface="Arial"/>
                  <a:sym typeface="Arial"/>
                </a:rPr>
                <a:t>"Format this server log into a JSON block."</a:t>
              </a:r>
              <a:endParaRPr i="1">
                <a:solidFill>
                  <a:srgbClr val="1E293B"/>
                </a:solidFill>
                <a:latin typeface="Arial"/>
                <a:ea typeface="Arial"/>
                <a:cs typeface="Arial"/>
                <a:sym typeface="Arial"/>
              </a:endParaRPr>
            </a:p>
            <a:p>
              <a:pPr indent="0" lvl="0" marL="0" rtl="0" algn="l">
                <a:spcBef>
                  <a:spcPts val="1125"/>
                </a:spcBef>
                <a:spcAft>
                  <a:spcPts val="0"/>
                </a:spcAft>
                <a:buNone/>
              </a:pPr>
              <a:r>
                <a:rPr b="1" lang="en">
                  <a:solidFill>
                    <a:srgbClr val="2563EB"/>
                  </a:solidFill>
                  <a:latin typeface="Arial"/>
                  <a:ea typeface="Arial"/>
                  <a:cs typeface="Arial"/>
                  <a:sym typeface="Arial"/>
                </a:rPr>
                <a:t>Route to Model:</a:t>
              </a:r>
              <a:endParaRPr b="1">
                <a:solidFill>
                  <a:srgbClr val="2563EB"/>
                </a:solidFill>
                <a:latin typeface="Arial"/>
                <a:ea typeface="Arial"/>
                <a:cs typeface="Arial"/>
                <a:sym typeface="Arial"/>
              </a:endParaRPr>
            </a:p>
            <a:p>
              <a:pPr indent="0" lvl="0" marL="0" rtl="0" algn="l">
                <a:spcBef>
                  <a:spcPts val="375"/>
                </a:spcBef>
                <a:spcAft>
                  <a:spcPts val="0"/>
                </a:spcAft>
                <a:buNone/>
              </a:pPr>
              <a:r>
                <a:rPr lang="en">
                  <a:solidFill>
                    <a:srgbClr val="1E293B"/>
                  </a:solidFill>
                  <a:latin typeface="Arial"/>
                  <a:ea typeface="Arial"/>
                  <a:cs typeface="Arial"/>
                  <a:sym typeface="Arial"/>
                </a:rPr>
                <a:t>Direct to a smaller, faster, cheaper model (e.g., </a:t>
              </a:r>
              <a:r>
                <a:rPr b="1" lang="en">
                  <a:solidFill>
                    <a:srgbClr val="1E293B"/>
                  </a:solidFill>
                  <a:latin typeface="Arial"/>
                  <a:ea typeface="Arial"/>
                  <a:cs typeface="Arial"/>
                  <a:sym typeface="Arial"/>
                </a:rPr>
                <a:t>Llama-3-8B</a:t>
              </a:r>
              <a:r>
                <a:rPr lang="en">
                  <a:solidFill>
                    <a:srgbClr val="1E293B"/>
                  </a:solidFill>
                  <a:latin typeface="Arial"/>
                  <a:ea typeface="Arial"/>
                  <a:cs typeface="Arial"/>
                  <a:sym typeface="Arial"/>
                </a:rPr>
                <a:t> or </a:t>
              </a:r>
              <a:r>
                <a:rPr b="1" lang="en">
                  <a:solidFill>
                    <a:srgbClr val="1E293B"/>
                  </a:solidFill>
                  <a:latin typeface="Arial"/>
                  <a:ea typeface="Arial"/>
                  <a:cs typeface="Arial"/>
                  <a:sym typeface="Arial"/>
                </a:rPr>
                <a:t>Haiku</a:t>
              </a:r>
              <a:r>
                <a:rPr lang="en">
                  <a:solidFill>
                    <a:srgbClr val="1E293B"/>
                  </a:solidFill>
                  <a:latin typeface="Arial"/>
                  <a:ea typeface="Arial"/>
                  <a:cs typeface="Arial"/>
                  <a:sym typeface="Arial"/>
                </a:rPr>
                <a:t>).</a:t>
              </a:r>
              <a:endParaRPr>
                <a:solidFill>
                  <a:srgbClr val="1E293B"/>
                </a:solidFill>
                <a:latin typeface="Arial"/>
                <a:ea typeface="Arial"/>
                <a:cs typeface="Arial"/>
                <a:sym typeface="Arial"/>
              </a:endParaRPr>
            </a:p>
            <a:p>
              <a:pPr indent="0" lvl="0" marL="0" rtl="0" algn="l">
                <a:spcBef>
                  <a:spcPts val="750"/>
                </a:spcBef>
                <a:spcAft>
                  <a:spcPts val="0"/>
                </a:spcAft>
                <a:buNone/>
              </a:pPr>
              <a:r>
                <a:rPr lang="en">
                  <a:solidFill>
                    <a:srgbClr val="64748B"/>
                  </a:solidFill>
                  <a:latin typeface="Arial"/>
                  <a:ea typeface="Arial"/>
                  <a:cs typeface="Arial"/>
                  <a:sym typeface="Arial"/>
                </a:rPr>
                <a:t>Lowers latency and avoids wasting expensive model capacity.</a:t>
              </a:r>
              <a:endParaRPr>
                <a:solidFill>
                  <a:srgbClr val="64748B"/>
                </a:solidFill>
                <a:latin typeface="Arial"/>
                <a:ea typeface="Arial"/>
                <a:cs typeface="Arial"/>
                <a:sym typeface="Arial"/>
              </a:endParaRPr>
            </a:p>
          </p:txBody>
        </p:sp>
      </p:grpSp>
      <p:grpSp>
        <p:nvGrpSpPr>
          <p:cNvPr id="2376" name="Google Shape;2376;p96"/>
          <p:cNvGrpSpPr/>
          <p:nvPr/>
        </p:nvGrpSpPr>
        <p:grpSpPr>
          <a:xfrm>
            <a:off x="4714875" y="1905000"/>
            <a:ext cx="4048200" cy="2476500"/>
            <a:chOff x="4714875" y="1905000"/>
            <a:chExt cx="4048200" cy="2476500"/>
          </a:xfrm>
        </p:grpSpPr>
        <p:sp>
          <p:nvSpPr>
            <p:cNvPr id="2377" name="Google Shape;2377;p96"/>
            <p:cNvSpPr/>
            <p:nvPr/>
          </p:nvSpPr>
          <p:spPr>
            <a:xfrm>
              <a:off x="4714875" y="1905000"/>
              <a:ext cx="4048200" cy="24765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8" name="Google Shape;2378;p96"/>
            <p:cNvSpPr/>
            <p:nvPr/>
          </p:nvSpPr>
          <p:spPr>
            <a:xfrm>
              <a:off x="4714875" y="1905000"/>
              <a:ext cx="4048200" cy="381000"/>
            </a:xfrm>
            <a:prstGeom prst="roundRect">
              <a:avLst>
                <a:gd fmla="val 3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9" name="Google Shape;2379;p96"/>
            <p:cNvSpPr/>
            <p:nvPr/>
          </p:nvSpPr>
          <p:spPr>
            <a:xfrm>
              <a:off x="4714875" y="2171700"/>
              <a:ext cx="4048200" cy="114300"/>
            </a:xfrm>
            <a:prstGeom prst="rect">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0" name="Google Shape;2380;p96"/>
            <p:cNvSpPr txBox="1"/>
            <p:nvPr/>
          </p:nvSpPr>
          <p:spPr>
            <a:xfrm>
              <a:off x="4810125" y="1905000"/>
              <a:ext cx="3857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Arial"/>
                  <a:ea typeface="Arial"/>
                  <a:cs typeface="Arial"/>
                  <a:sym typeface="Arial"/>
                </a:rPr>
                <a:t>COMPLEX REASONING</a:t>
              </a:r>
              <a:endParaRPr b="1">
                <a:solidFill>
                  <a:srgbClr val="FFFFFF"/>
                </a:solidFill>
                <a:latin typeface="Arial"/>
                <a:ea typeface="Arial"/>
                <a:cs typeface="Arial"/>
                <a:sym typeface="Arial"/>
              </a:endParaRPr>
            </a:p>
          </p:txBody>
        </p:sp>
        <p:sp>
          <p:nvSpPr>
            <p:cNvPr id="2381" name="Google Shape;2381;p96"/>
            <p:cNvSpPr txBox="1"/>
            <p:nvPr/>
          </p:nvSpPr>
          <p:spPr>
            <a:xfrm>
              <a:off x="4905375" y="2381250"/>
              <a:ext cx="36672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64748B"/>
                  </a:solidFill>
                  <a:latin typeface="Arial"/>
                  <a:ea typeface="Arial"/>
                  <a:cs typeface="Arial"/>
                  <a:sym typeface="Arial"/>
                </a:rPr>
                <a:t>User Query:</a:t>
              </a:r>
              <a:endParaRPr b="1" sz="1300">
                <a:solidFill>
                  <a:srgbClr val="64748B"/>
                </a:solidFill>
                <a:latin typeface="Arial"/>
                <a:ea typeface="Arial"/>
                <a:cs typeface="Arial"/>
                <a:sym typeface="Arial"/>
              </a:endParaRPr>
            </a:p>
            <a:p>
              <a:pPr indent="0" lvl="0" marL="0" rtl="0" algn="l">
                <a:spcBef>
                  <a:spcPts val="375"/>
                </a:spcBef>
                <a:spcAft>
                  <a:spcPts val="0"/>
                </a:spcAft>
                <a:buNone/>
              </a:pPr>
              <a:r>
                <a:rPr i="1" lang="en" sz="1300">
                  <a:solidFill>
                    <a:srgbClr val="1E293B"/>
                  </a:solidFill>
                  <a:latin typeface="Arial"/>
                  <a:ea typeface="Arial"/>
                  <a:cs typeface="Arial"/>
                  <a:sym typeface="Arial"/>
                </a:rPr>
                <a:t>"Review this 500-line Python PR, check it against our security guidelines, and draft a summary."</a:t>
              </a:r>
              <a:endParaRPr i="1" sz="1300">
                <a:solidFill>
                  <a:srgbClr val="1E293B"/>
                </a:solidFill>
                <a:latin typeface="Arial"/>
                <a:ea typeface="Arial"/>
                <a:cs typeface="Arial"/>
                <a:sym typeface="Arial"/>
              </a:endParaRPr>
            </a:p>
            <a:p>
              <a:pPr indent="0" lvl="0" marL="0" rtl="0" algn="l">
                <a:spcBef>
                  <a:spcPts val="1125"/>
                </a:spcBef>
                <a:spcAft>
                  <a:spcPts val="0"/>
                </a:spcAft>
                <a:buNone/>
              </a:pPr>
              <a:r>
                <a:rPr b="1" lang="en" sz="1300">
                  <a:solidFill>
                    <a:srgbClr val="7C3AED"/>
                  </a:solidFill>
                  <a:latin typeface="Arial"/>
                  <a:ea typeface="Arial"/>
                  <a:cs typeface="Arial"/>
                  <a:sym typeface="Arial"/>
                </a:rPr>
                <a:t>Route to Workflow:</a:t>
              </a:r>
              <a:endParaRPr b="1" sz="1300">
                <a:solidFill>
                  <a:srgbClr val="7C3AED"/>
                </a:solidFill>
                <a:latin typeface="Arial"/>
                <a:ea typeface="Arial"/>
                <a:cs typeface="Arial"/>
                <a:sym typeface="Arial"/>
              </a:endParaRPr>
            </a:p>
            <a:p>
              <a:pPr indent="0" lvl="0" marL="0" rtl="0" algn="l">
                <a:spcBef>
                  <a:spcPts val="375"/>
                </a:spcBef>
                <a:spcAft>
                  <a:spcPts val="0"/>
                </a:spcAft>
                <a:buNone/>
              </a:pPr>
              <a:r>
                <a:rPr lang="en" sz="1300">
                  <a:solidFill>
                    <a:srgbClr val="1E293B"/>
                  </a:solidFill>
                  <a:latin typeface="Arial"/>
                  <a:ea typeface="Arial"/>
                  <a:cs typeface="Arial"/>
                  <a:sym typeface="Arial"/>
                </a:rPr>
                <a:t>Direct to a premium reasoning model (e.g., </a:t>
              </a:r>
              <a:r>
                <a:rPr b="1" lang="en" sz="1300">
                  <a:solidFill>
                    <a:srgbClr val="1E293B"/>
                  </a:solidFill>
                  <a:latin typeface="Arial"/>
                  <a:ea typeface="Arial"/>
                  <a:cs typeface="Arial"/>
                  <a:sym typeface="Arial"/>
                </a:rPr>
                <a:t>GPT-4</a:t>
              </a:r>
              <a:r>
                <a:rPr lang="en" sz="1300">
                  <a:solidFill>
                    <a:srgbClr val="1E293B"/>
                  </a:solidFill>
                  <a:latin typeface="Arial"/>
                  <a:ea typeface="Arial"/>
                  <a:cs typeface="Arial"/>
                  <a:sym typeface="Arial"/>
                </a:rPr>
                <a:t> or </a:t>
              </a:r>
              <a:r>
                <a:rPr b="1" lang="en" sz="1300">
                  <a:solidFill>
                    <a:srgbClr val="1E293B"/>
                  </a:solidFill>
                  <a:latin typeface="Arial"/>
                  <a:ea typeface="Arial"/>
                  <a:cs typeface="Arial"/>
                  <a:sym typeface="Arial"/>
                </a:rPr>
                <a:t>Opus</a:t>
              </a:r>
              <a:r>
                <a:rPr lang="en" sz="1300">
                  <a:solidFill>
                    <a:srgbClr val="1E293B"/>
                  </a:solidFill>
                  <a:latin typeface="Arial"/>
                  <a:ea typeface="Arial"/>
                  <a:cs typeface="Arial"/>
                  <a:sym typeface="Arial"/>
                </a:rPr>
                <a:t>).</a:t>
              </a:r>
              <a:endParaRPr sz="1300">
                <a:solidFill>
                  <a:srgbClr val="1E293B"/>
                </a:solidFill>
                <a:latin typeface="Arial"/>
                <a:ea typeface="Arial"/>
                <a:cs typeface="Arial"/>
                <a:sym typeface="Arial"/>
              </a:endParaRPr>
            </a:p>
            <a:p>
              <a:pPr indent="0" lvl="0" marL="0" rtl="0" algn="l">
                <a:spcBef>
                  <a:spcPts val="750"/>
                </a:spcBef>
                <a:spcAft>
                  <a:spcPts val="0"/>
                </a:spcAft>
                <a:buNone/>
              </a:pPr>
              <a:r>
                <a:rPr lang="en" sz="1300">
                  <a:solidFill>
                    <a:srgbClr val="64748B"/>
                  </a:solidFill>
                  <a:latin typeface="Arial"/>
                  <a:ea typeface="Arial"/>
                  <a:cs typeface="Arial"/>
                  <a:sym typeface="Arial"/>
                </a:rPr>
                <a:t>Triggers a multi-step </a:t>
              </a:r>
              <a:r>
                <a:rPr b="1" lang="en" sz="1300">
                  <a:solidFill>
                    <a:srgbClr val="64748B"/>
                  </a:solidFill>
                  <a:latin typeface="Arial"/>
                  <a:ea typeface="Arial"/>
                  <a:cs typeface="Arial"/>
                  <a:sym typeface="Arial"/>
                </a:rPr>
                <a:t>Agentic Orchestration</a:t>
              </a:r>
              <a:r>
                <a:rPr lang="en" sz="1300">
                  <a:solidFill>
                    <a:srgbClr val="64748B"/>
                  </a:solidFill>
                  <a:latin typeface="Arial"/>
                  <a:ea typeface="Arial"/>
                  <a:cs typeface="Arial"/>
                  <a:sym typeface="Arial"/>
                </a:rPr>
                <a:t> workflow.</a:t>
              </a:r>
              <a:endParaRPr sz="1300">
                <a:solidFill>
                  <a:srgbClr val="64748B"/>
                </a:solidFill>
                <a:latin typeface="Arial"/>
                <a:ea typeface="Arial"/>
                <a:cs typeface="Arial"/>
                <a:sym typeface="Arial"/>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5" name="Shape 2385"/>
        <p:cNvGrpSpPr/>
        <p:nvPr/>
      </p:nvGrpSpPr>
      <p:grpSpPr>
        <a:xfrm>
          <a:off x="0" y="0"/>
          <a:ext cx="0" cy="0"/>
          <a:chOff x="0" y="0"/>
          <a:chExt cx="0" cy="0"/>
        </a:xfrm>
      </p:grpSpPr>
      <p:sp>
        <p:nvSpPr>
          <p:cNvPr id="2386" name="Google Shape;2386;p97"/>
          <p:cNvSpPr txBox="1"/>
          <p:nvPr>
            <p:ph type="title"/>
          </p:nvPr>
        </p:nvSpPr>
        <p:spPr>
          <a:xfrm>
            <a:off x="311700" y="142751"/>
            <a:ext cx="8520600" cy="54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3: Prompt &amp; Index Routing</a:t>
            </a:r>
            <a:endParaRPr/>
          </a:p>
        </p:txBody>
      </p:sp>
      <p:grpSp>
        <p:nvGrpSpPr>
          <p:cNvPr id="2387" name="Google Shape;2387;p97"/>
          <p:cNvGrpSpPr/>
          <p:nvPr/>
        </p:nvGrpSpPr>
        <p:grpSpPr>
          <a:xfrm>
            <a:off x="381000" y="952500"/>
            <a:ext cx="8382000" cy="666900"/>
            <a:chOff x="381000" y="952500"/>
            <a:chExt cx="8382000" cy="666900"/>
          </a:xfrm>
        </p:grpSpPr>
        <p:sp>
          <p:nvSpPr>
            <p:cNvPr id="2388" name="Google Shape;2388;p97"/>
            <p:cNvSpPr/>
            <p:nvPr/>
          </p:nvSpPr>
          <p:spPr>
            <a:xfrm>
              <a:off x="381000" y="952500"/>
              <a:ext cx="8382000" cy="666900"/>
            </a:xfrm>
            <a:prstGeom prst="roundRect">
              <a:avLst>
                <a:gd fmla="val 1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9" name="Google Shape;2389;p97"/>
            <p:cNvSpPr txBox="1"/>
            <p:nvPr/>
          </p:nvSpPr>
          <p:spPr>
            <a:xfrm>
              <a:off x="571500" y="9525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E293B"/>
                  </a:solidFill>
                  <a:latin typeface="Arial"/>
                  <a:ea typeface="Arial"/>
                  <a:cs typeface="Arial"/>
                  <a:sym typeface="Arial"/>
                </a:rPr>
                <a:t>General Use:</a:t>
              </a:r>
              <a:r>
                <a:rPr lang="en">
                  <a:solidFill>
                    <a:srgbClr val="1E293B"/>
                  </a:solidFill>
                  <a:latin typeface="Arial"/>
                  <a:ea typeface="Arial"/>
                  <a:cs typeface="Arial"/>
                  <a:sym typeface="Arial"/>
                </a:rPr>
                <a:t> Deciding </a:t>
              </a:r>
              <a:r>
                <a:rPr i="1" lang="en">
                  <a:solidFill>
                    <a:srgbClr val="1E293B"/>
                  </a:solidFill>
                  <a:latin typeface="Arial"/>
                  <a:ea typeface="Arial"/>
                  <a:cs typeface="Arial"/>
                  <a:sym typeface="Arial"/>
                </a:rPr>
                <a:t>how</a:t>
              </a:r>
              <a:r>
                <a:rPr lang="en">
                  <a:solidFill>
                    <a:srgbClr val="1E293B"/>
                  </a:solidFill>
                  <a:latin typeface="Arial"/>
                  <a:ea typeface="Arial"/>
                  <a:cs typeface="Arial"/>
                  <a:sym typeface="Arial"/>
                </a:rPr>
                <a:t> to search the data or </a:t>
              </a:r>
              <a:r>
                <a:rPr i="1" lang="en">
                  <a:solidFill>
                    <a:srgbClr val="1E293B"/>
                  </a:solidFill>
                  <a:latin typeface="Arial"/>
                  <a:ea typeface="Arial"/>
                  <a:cs typeface="Arial"/>
                  <a:sym typeface="Arial"/>
                </a:rPr>
                <a:t>how</a:t>
              </a:r>
              <a:r>
                <a:rPr lang="en">
                  <a:solidFill>
                    <a:srgbClr val="1E293B"/>
                  </a:solidFill>
                  <a:latin typeface="Arial"/>
                  <a:ea typeface="Arial"/>
                  <a:cs typeface="Arial"/>
                  <a:sym typeface="Arial"/>
                </a:rPr>
                <a:t> to prompt the LLM once the data is found.</a:t>
              </a:r>
              <a:endParaRPr>
                <a:solidFill>
                  <a:srgbClr val="1E293B"/>
                </a:solidFill>
                <a:latin typeface="Arial"/>
                <a:ea typeface="Arial"/>
                <a:cs typeface="Arial"/>
                <a:sym typeface="Arial"/>
              </a:endParaRPr>
            </a:p>
          </p:txBody>
        </p:sp>
      </p:grpSp>
      <p:grpSp>
        <p:nvGrpSpPr>
          <p:cNvPr id="2390" name="Google Shape;2390;p97"/>
          <p:cNvGrpSpPr/>
          <p:nvPr/>
        </p:nvGrpSpPr>
        <p:grpSpPr>
          <a:xfrm>
            <a:off x="381000" y="1809750"/>
            <a:ext cx="4048200" cy="2667000"/>
            <a:chOff x="381000" y="1809750"/>
            <a:chExt cx="4048200" cy="2667000"/>
          </a:xfrm>
        </p:grpSpPr>
        <p:sp>
          <p:nvSpPr>
            <p:cNvPr id="2391" name="Google Shape;2391;p97"/>
            <p:cNvSpPr/>
            <p:nvPr/>
          </p:nvSpPr>
          <p:spPr>
            <a:xfrm>
              <a:off x="381000" y="1809750"/>
              <a:ext cx="4048200" cy="26670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2" name="Google Shape;2392;p97"/>
            <p:cNvSpPr/>
            <p:nvPr/>
          </p:nvSpPr>
          <p:spPr>
            <a:xfrm>
              <a:off x="381000" y="1809750"/>
              <a:ext cx="4048200" cy="381000"/>
            </a:xfrm>
            <a:prstGeom prst="roundRect">
              <a:avLst>
                <a:gd fmla="val 30000" name="adj"/>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3" name="Google Shape;2393;p97"/>
            <p:cNvSpPr/>
            <p:nvPr/>
          </p:nvSpPr>
          <p:spPr>
            <a:xfrm>
              <a:off x="381000" y="2076450"/>
              <a:ext cx="4048200" cy="114300"/>
            </a:xfrm>
            <a:prstGeom prst="rect">
              <a:avLst/>
            </a:prstGeom>
            <a:solidFill>
              <a:srgbClr val="0EA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4" name="Google Shape;2394;p97"/>
            <p:cNvSpPr txBox="1"/>
            <p:nvPr/>
          </p:nvSpPr>
          <p:spPr>
            <a:xfrm>
              <a:off x="476250" y="1809750"/>
              <a:ext cx="3857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Arial"/>
                  <a:ea typeface="Arial"/>
                  <a:cs typeface="Arial"/>
                  <a:sym typeface="Arial"/>
                </a:rPr>
                <a:t>INDEX ROUTING EXAMPLE</a:t>
              </a:r>
              <a:endParaRPr b="1">
                <a:solidFill>
                  <a:srgbClr val="FFFFFF"/>
                </a:solidFill>
                <a:latin typeface="Arial"/>
                <a:ea typeface="Arial"/>
                <a:cs typeface="Arial"/>
                <a:sym typeface="Arial"/>
              </a:endParaRPr>
            </a:p>
          </p:txBody>
        </p:sp>
        <p:sp>
          <p:nvSpPr>
            <p:cNvPr id="2395" name="Google Shape;2395;p97"/>
            <p:cNvSpPr txBox="1"/>
            <p:nvPr/>
          </p:nvSpPr>
          <p:spPr>
            <a:xfrm>
              <a:off x="619125" y="2286000"/>
              <a:ext cx="35718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64748B"/>
                  </a:solidFill>
                  <a:latin typeface="Arial"/>
                  <a:ea typeface="Arial"/>
                  <a:cs typeface="Arial"/>
                  <a:sym typeface="Arial"/>
                </a:rPr>
                <a:t>User Query:</a:t>
              </a:r>
              <a:endParaRPr b="1">
                <a:solidFill>
                  <a:srgbClr val="64748B"/>
                </a:solidFill>
                <a:latin typeface="Arial"/>
                <a:ea typeface="Arial"/>
                <a:cs typeface="Arial"/>
                <a:sym typeface="Arial"/>
              </a:endParaRPr>
            </a:p>
            <a:p>
              <a:pPr indent="0" lvl="0" marL="0" rtl="0" algn="l">
                <a:spcBef>
                  <a:spcPts val="375"/>
                </a:spcBef>
                <a:spcAft>
                  <a:spcPts val="0"/>
                </a:spcAft>
                <a:buNone/>
              </a:pPr>
              <a:r>
                <a:rPr i="1" lang="en">
                  <a:solidFill>
                    <a:srgbClr val="1E293B"/>
                  </a:solidFill>
                  <a:latin typeface="Arial"/>
                  <a:ea typeface="Arial"/>
                  <a:cs typeface="Arial"/>
                  <a:sym typeface="Arial"/>
                </a:rPr>
                <a:t>"Find the specific error code in the network manual."</a:t>
              </a:r>
              <a:endParaRPr i="1">
                <a:solidFill>
                  <a:srgbClr val="1E293B"/>
                </a:solidFill>
                <a:latin typeface="Arial"/>
                <a:ea typeface="Arial"/>
                <a:cs typeface="Arial"/>
                <a:sym typeface="Arial"/>
              </a:endParaRPr>
            </a:p>
            <a:p>
              <a:pPr indent="0" lvl="0" marL="0" rtl="0" algn="l">
                <a:spcBef>
                  <a:spcPts val="1125"/>
                </a:spcBef>
                <a:spcAft>
                  <a:spcPts val="0"/>
                </a:spcAft>
                <a:buNone/>
              </a:pPr>
              <a:r>
                <a:rPr b="1" lang="en">
                  <a:solidFill>
                    <a:srgbClr val="0284C7"/>
                  </a:solidFill>
                  <a:latin typeface="Arial"/>
                  <a:ea typeface="Arial"/>
                  <a:cs typeface="Arial"/>
                  <a:sym typeface="Arial"/>
                </a:rPr>
                <a:t>Route to Index:</a:t>
              </a:r>
              <a:endParaRPr b="1">
                <a:solidFill>
                  <a:srgbClr val="0284C7"/>
                </a:solidFill>
                <a:latin typeface="Arial"/>
                <a:ea typeface="Arial"/>
                <a:cs typeface="Arial"/>
                <a:sym typeface="Arial"/>
              </a:endParaRPr>
            </a:p>
            <a:p>
              <a:pPr indent="0" lvl="0" marL="0" rtl="0" algn="l">
                <a:spcBef>
                  <a:spcPts val="375"/>
                </a:spcBef>
                <a:spcAft>
                  <a:spcPts val="0"/>
                </a:spcAft>
                <a:buNone/>
              </a:pPr>
              <a:r>
                <a:rPr lang="en">
                  <a:solidFill>
                    <a:srgbClr val="1E293B"/>
                  </a:solidFill>
                  <a:latin typeface="Arial"/>
                  <a:ea typeface="Arial"/>
                  <a:cs typeface="Arial"/>
                  <a:sym typeface="Arial"/>
                </a:rPr>
                <a:t>Route to a </a:t>
              </a:r>
              <a:r>
                <a:rPr b="1" lang="en">
                  <a:solidFill>
                    <a:srgbClr val="1E293B"/>
                  </a:solidFill>
                  <a:latin typeface="Arial"/>
                  <a:ea typeface="Arial"/>
                  <a:cs typeface="Arial"/>
                  <a:sym typeface="Arial"/>
                </a:rPr>
                <a:t>Sparse Index (BM25/Keyword Search)</a:t>
              </a:r>
              <a:r>
                <a:rPr lang="en">
                  <a:solidFill>
                    <a:srgbClr val="1E293B"/>
                  </a:solidFill>
                  <a:latin typeface="Arial"/>
                  <a:ea typeface="Arial"/>
                  <a:cs typeface="Arial"/>
                  <a:sym typeface="Arial"/>
                </a:rPr>
                <a:t>.</a:t>
              </a:r>
              <a:endParaRPr>
                <a:solidFill>
                  <a:srgbClr val="1E293B"/>
                </a:solidFill>
                <a:latin typeface="Arial"/>
                <a:ea typeface="Arial"/>
                <a:cs typeface="Arial"/>
                <a:sym typeface="Arial"/>
              </a:endParaRPr>
            </a:p>
            <a:p>
              <a:pPr indent="0" lvl="0" marL="0" rtl="0" algn="l">
                <a:spcBef>
                  <a:spcPts val="750"/>
                </a:spcBef>
                <a:spcAft>
                  <a:spcPts val="0"/>
                </a:spcAft>
                <a:buNone/>
              </a:pPr>
              <a:r>
                <a:rPr lang="en">
                  <a:solidFill>
                    <a:srgbClr val="64748B"/>
                  </a:solidFill>
                  <a:latin typeface="Arial"/>
                  <a:ea typeface="Arial"/>
                  <a:cs typeface="Arial"/>
                  <a:sym typeface="Arial"/>
                </a:rPr>
                <a:t>Exact matches matter more than semantic meaning here.</a:t>
              </a:r>
              <a:endParaRPr>
                <a:solidFill>
                  <a:srgbClr val="64748B"/>
                </a:solidFill>
                <a:latin typeface="Arial"/>
                <a:ea typeface="Arial"/>
                <a:cs typeface="Arial"/>
                <a:sym typeface="Arial"/>
              </a:endParaRPr>
            </a:p>
          </p:txBody>
        </p:sp>
      </p:grpSp>
      <p:grpSp>
        <p:nvGrpSpPr>
          <p:cNvPr id="2396" name="Google Shape;2396;p97"/>
          <p:cNvGrpSpPr/>
          <p:nvPr/>
        </p:nvGrpSpPr>
        <p:grpSpPr>
          <a:xfrm>
            <a:off x="4714875" y="1809750"/>
            <a:ext cx="4048200" cy="2667000"/>
            <a:chOff x="4714875" y="1809750"/>
            <a:chExt cx="4048200" cy="2667000"/>
          </a:xfrm>
        </p:grpSpPr>
        <p:sp>
          <p:nvSpPr>
            <p:cNvPr id="2397" name="Google Shape;2397;p97"/>
            <p:cNvSpPr/>
            <p:nvPr/>
          </p:nvSpPr>
          <p:spPr>
            <a:xfrm>
              <a:off x="4714875" y="1809750"/>
              <a:ext cx="4048200" cy="26670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8" name="Google Shape;2398;p97"/>
            <p:cNvSpPr/>
            <p:nvPr/>
          </p:nvSpPr>
          <p:spPr>
            <a:xfrm>
              <a:off x="4714875" y="1809750"/>
              <a:ext cx="4048200" cy="381000"/>
            </a:xfrm>
            <a:prstGeom prst="roundRect">
              <a:avLst>
                <a:gd fmla="val 3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9" name="Google Shape;2399;p97"/>
            <p:cNvSpPr/>
            <p:nvPr/>
          </p:nvSpPr>
          <p:spPr>
            <a:xfrm>
              <a:off x="4714875" y="2076450"/>
              <a:ext cx="4048200" cy="114300"/>
            </a:xfrm>
            <a:prstGeom prst="rect">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0" name="Google Shape;2400;p97"/>
            <p:cNvSpPr txBox="1"/>
            <p:nvPr/>
          </p:nvSpPr>
          <p:spPr>
            <a:xfrm>
              <a:off x="4810125" y="1809750"/>
              <a:ext cx="38577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latin typeface="Arial"/>
                  <a:ea typeface="Arial"/>
                  <a:cs typeface="Arial"/>
                  <a:sym typeface="Arial"/>
                </a:rPr>
                <a:t>PROMPT ROUTING EXAMPLE</a:t>
              </a:r>
              <a:endParaRPr b="1">
                <a:solidFill>
                  <a:srgbClr val="FFFFFF"/>
                </a:solidFill>
                <a:latin typeface="Arial"/>
                <a:ea typeface="Arial"/>
                <a:cs typeface="Arial"/>
                <a:sym typeface="Arial"/>
              </a:endParaRPr>
            </a:p>
          </p:txBody>
        </p:sp>
        <p:sp>
          <p:nvSpPr>
            <p:cNvPr id="2401" name="Google Shape;2401;p97"/>
            <p:cNvSpPr txBox="1"/>
            <p:nvPr/>
          </p:nvSpPr>
          <p:spPr>
            <a:xfrm>
              <a:off x="4953000" y="2286000"/>
              <a:ext cx="35718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64748B"/>
                  </a:solidFill>
                  <a:latin typeface="Arial"/>
                  <a:ea typeface="Arial"/>
                  <a:cs typeface="Arial"/>
                  <a:sym typeface="Arial"/>
                </a:rPr>
                <a:t>User Query:</a:t>
              </a:r>
              <a:endParaRPr b="1">
                <a:solidFill>
                  <a:srgbClr val="64748B"/>
                </a:solidFill>
                <a:latin typeface="Arial"/>
                <a:ea typeface="Arial"/>
                <a:cs typeface="Arial"/>
                <a:sym typeface="Arial"/>
              </a:endParaRPr>
            </a:p>
            <a:p>
              <a:pPr indent="0" lvl="0" marL="0" rtl="0" algn="l">
                <a:spcBef>
                  <a:spcPts val="375"/>
                </a:spcBef>
                <a:spcAft>
                  <a:spcPts val="0"/>
                </a:spcAft>
                <a:buNone/>
              </a:pPr>
              <a:r>
                <a:rPr i="1" lang="en">
                  <a:solidFill>
                    <a:srgbClr val="1E293B"/>
                  </a:solidFill>
                  <a:latin typeface="Arial"/>
                  <a:ea typeface="Arial"/>
                  <a:cs typeface="Arial"/>
                  <a:sym typeface="Arial"/>
                </a:rPr>
                <a:t>"Summarize the architectural changes made to the database last quarter."</a:t>
              </a:r>
              <a:endParaRPr i="1">
                <a:solidFill>
                  <a:srgbClr val="1E293B"/>
                </a:solidFill>
                <a:latin typeface="Arial"/>
                <a:ea typeface="Arial"/>
                <a:cs typeface="Arial"/>
                <a:sym typeface="Arial"/>
              </a:endParaRPr>
            </a:p>
            <a:p>
              <a:pPr indent="0" lvl="0" marL="0" rtl="0" algn="l">
                <a:spcBef>
                  <a:spcPts val="1125"/>
                </a:spcBef>
                <a:spcAft>
                  <a:spcPts val="0"/>
                </a:spcAft>
                <a:buNone/>
              </a:pPr>
              <a:r>
                <a:rPr b="1" lang="en">
                  <a:solidFill>
                    <a:srgbClr val="7C3AED"/>
                  </a:solidFill>
                  <a:latin typeface="Arial"/>
                  <a:ea typeface="Arial"/>
                  <a:cs typeface="Arial"/>
                  <a:sym typeface="Arial"/>
                </a:rPr>
                <a:t>Route to Prompt:</a:t>
              </a:r>
              <a:endParaRPr b="1">
                <a:solidFill>
                  <a:srgbClr val="7C3AED"/>
                </a:solidFill>
                <a:latin typeface="Arial"/>
                <a:ea typeface="Arial"/>
                <a:cs typeface="Arial"/>
                <a:sym typeface="Arial"/>
              </a:endParaRPr>
            </a:p>
            <a:p>
              <a:pPr indent="0" lvl="0" marL="0" rtl="0" algn="l">
                <a:spcBef>
                  <a:spcPts val="375"/>
                </a:spcBef>
                <a:spcAft>
                  <a:spcPts val="0"/>
                </a:spcAft>
                <a:buNone/>
              </a:pPr>
              <a:r>
                <a:rPr lang="en">
                  <a:solidFill>
                    <a:srgbClr val="1E293B"/>
                  </a:solidFill>
                  <a:latin typeface="Arial"/>
                  <a:ea typeface="Arial"/>
                  <a:cs typeface="Arial"/>
                  <a:sym typeface="Arial"/>
                </a:rPr>
                <a:t>Route to a </a:t>
              </a:r>
              <a:r>
                <a:rPr b="1" lang="en">
                  <a:solidFill>
                    <a:srgbClr val="1E293B"/>
                  </a:solidFill>
                  <a:latin typeface="Arial"/>
                  <a:ea typeface="Arial"/>
                  <a:cs typeface="Arial"/>
                  <a:sym typeface="Arial"/>
                </a:rPr>
                <a:t>Summarization Prompt Template</a:t>
              </a:r>
              <a:r>
                <a:rPr lang="en">
                  <a:solidFill>
                    <a:srgbClr val="1E293B"/>
                  </a:solidFill>
                  <a:latin typeface="Arial"/>
                  <a:ea typeface="Arial"/>
                  <a:cs typeface="Arial"/>
                  <a:sym typeface="Arial"/>
                </a:rPr>
                <a:t>.</a:t>
              </a:r>
              <a:endParaRPr>
                <a:solidFill>
                  <a:srgbClr val="1E293B"/>
                </a:solidFill>
                <a:latin typeface="Arial"/>
                <a:ea typeface="Arial"/>
                <a:cs typeface="Arial"/>
                <a:sym typeface="Arial"/>
              </a:endParaRPr>
            </a:p>
            <a:p>
              <a:pPr indent="0" lvl="0" marL="0" rtl="0" algn="l">
                <a:spcBef>
                  <a:spcPts val="750"/>
                </a:spcBef>
                <a:spcAft>
                  <a:spcPts val="0"/>
                </a:spcAft>
                <a:buNone/>
              </a:pPr>
              <a:r>
                <a:rPr lang="en">
                  <a:solidFill>
                    <a:srgbClr val="64748B"/>
                  </a:solidFill>
                  <a:latin typeface="Arial"/>
                  <a:ea typeface="Arial"/>
                  <a:cs typeface="Arial"/>
                  <a:sym typeface="Arial"/>
                </a:rPr>
                <a:t>Instructs the LLM to aggregate rather than extract a single fact.</a:t>
              </a:r>
              <a:endParaRPr>
                <a:solidFill>
                  <a:srgbClr val="64748B"/>
                </a:solidFill>
                <a:latin typeface="Arial"/>
                <a:ea typeface="Arial"/>
                <a:cs typeface="Arial"/>
                <a:sym typeface="Arial"/>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05" name="Shape 2405"/>
        <p:cNvGrpSpPr/>
        <p:nvPr/>
      </p:nvGrpSpPr>
      <p:grpSpPr>
        <a:xfrm>
          <a:off x="0" y="0"/>
          <a:ext cx="0" cy="0"/>
          <a:chOff x="0" y="0"/>
          <a:chExt cx="0" cy="0"/>
        </a:xfrm>
      </p:grpSpPr>
      <p:sp>
        <p:nvSpPr>
          <p:cNvPr id="2406" name="Google Shape;2406;p98"/>
          <p:cNvSpPr txBox="1"/>
          <p:nvPr>
            <p:ph type="title"/>
          </p:nvPr>
        </p:nvSpPr>
        <p:spPr>
          <a:xfrm>
            <a:off x="311700" y="4603"/>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Before We Search: Securing the Perimeter</a:t>
            </a:r>
            <a:endParaRPr/>
          </a:p>
        </p:txBody>
      </p:sp>
      <p:grpSp>
        <p:nvGrpSpPr>
          <p:cNvPr id="2407" name="Google Shape;2407;p98"/>
          <p:cNvGrpSpPr/>
          <p:nvPr/>
        </p:nvGrpSpPr>
        <p:grpSpPr>
          <a:xfrm>
            <a:off x="381000" y="809625"/>
            <a:ext cx="8382000" cy="571500"/>
            <a:chOff x="381000" y="809625"/>
            <a:chExt cx="8382000" cy="571500"/>
          </a:xfrm>
        </p:grpSpPr>
        <p:sp>
          <p:nvSpPr>
            <p:cNvPr id="2408" name="Google Shape;2408;p98"/>
            <p:cNvSpPr/>
            <p:nvPr/>
          </p:nvSpPr>
          <p:spPr>
            <a:xfrm>
              <a:off x="381000" y="809625"/>
              <a:ext cx="8382000" cy="571500"/>
            </a:xfrm>
            <a:prstGeom prst="roundRect">
              <a:avLst>
                <a:gd fmla="val 13333"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9" name="Google Shape;2409;p98"/>
            <p:cNvSpPr txBox="1"/>
            <p:nvPr/>
          </p:nvSpPr>
          <p:spPr>
            <a:xfrm>
              <a:off x="523875" y="809625"/>
              <a:ext cx="80964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1E293B"/>
                  </a:solidFill>
                  <a:latin typeface="Arial"/>
                  <a:ea typeface="Arial"/>
                  <a:cs typeface="Arial"/>
                  <a:sym typeface="Arial"/>
                </a:rPr>
                <a:t>The Current State:</a:t>
              </a:r>
              <a:r>
                <a:rPr lang="en">
                  <a:solidFill>
                    <a:srgbClr val="475569"/>
                  </a:solidFill>
                  <a:latin typeface="Arial"/>
                  <a:ea typeface="Arial"/>
                  <a:cs typeface="Arial"/>
                  <a:sym typeface="Arial"/>
                </a:rPr>
                <a:t> Our Query Router just successfully mapped a complex user prompt to the exact correct database (e.g., finding the </a:t>
              </a:r>
              <a:r>
                <a:rPr lang="en">
                  <a:solidFill>
                    <a:srgbClr val="059669"/>
                  </a:solidFill>
                  <a:latin typeface="Roboto Mono"/>
                  <a:ea typeface="Roboto Mono"/>
                  <a:cs typeface="Roboto Mono"/>
                  <a:sym typeface="Roboto Mono"/>
                </a:rPr>
                <a:t>HR_Docs_DB</a:t>
              </a:r>
              <a:r>
                <a:rPr lang="en">
                  <a:solidFill>
                    <a:srgbClr val="475569"/>
                  </a:solidFill>
                  <a:latin typeface="Arial"/>
                  <a:ea typeface="Arial"/>
                  <a:cs typeface="Arial"/>
                  <a:sym typeface="Arial"/>
                </a:rPr>
                <a:t> or the </a:t>
              </a:r>
              <a:r>
                <a:rPr lang="en">
                  <a:solidFill>
                    <a:srgbClr val="059669"/>
                  </a:solidFill>
                  <a:latin typeface="Roboto Mono"/>
                  <a:ea typeface="Roboto Mono"/>
                  <a:cs typeface="Roboto Mono"/>
                  <a:sym typeface="Roboto Mono"/>
                </a:rPr>
                <a:t>Live_Server_Logs</a:t>
              </a:r>
              <a:r>
                <a:rPr lang="en">
                  <a:solidFill>
                    <a:srgbClr val="475569"/>
                  </a:solidFill>
                  <a:latin typeface="Arial"/>
                  <a:ea typeface="Arial"/>
                  <a:cs typeface="Arial"/>
                  <a:sym typeface="Arial"/>
                </a:rPr>
                <a:t>).</a:t>
              </a:r>
              <a:endParaRPr>
                <a:solidFill>
                  <a:srgbClr val="475569"/>
                </a:solidFill>
                <a:latin typeface="Arial"/>
                <a:ea typeface="Arial"/>
                <a:cs typeface="Arial"/>
                <a:sym typeface="Arial"/>
              </a:endParaRPr>
            </a:p>
          </p:txBody>
        </p:sp>
      </p:grpSp>
      <p:grpSp>
        <p:nvGrpSpPr>
          <p:cNvPr id="2410" name="Google Shape;2410;p98"/>
          <p:cNvGrpSpPr/>
          <p:nvPr/>
        </p:nvGrpSpPr>
        <p:grpSpPr>
          <a:xfrm>
            <a:off x="381000" y="1524000"/>
            <a:ext cx="8382000" cy="381000"/>
            <a:chOff x="381000" y="1524000"/>
            <a:chExt cx="8382000" cy="381000"/>
          </a:xfrm>
        </p:grpSpPr>
        <p:sp>
          <p:nvSpPr>
            <p:cNvPr id="2411" name="Google Shape;2411;p98"/>
            <p:cNvSpPr/>
            <p:nvPr/>
          </p:nvSpPr>
          <p:spPr>
            <a:xfrm>
              <a:off x="381000" y="1524000"/>
              <a:ext cx="8382000" cy="381000"/>
            </a:xfrm>
            <a:prstGeom prst="roundRect">
              <a:avLst>
                <a:gd fmla="val 10000" name="adj"/>
              </a:avLst>
            </a:prstGeom>
            <a:solidFill>
              <a:srgbClr val="FEF2F2"/>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2" name="Google Shape;2412;p98"/>
            <p:cNvSpPr txBox="1"/>
            <p:nvPr/>
          </p:nvSpPr>
          <p:spPr>
            <a:xfrm>
              <a:off x="381000" y="1524000"/>
              <a:ext cx="838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991B1B"/>
                  </a:solidFill>
                  <a:latin typeface="Arial"/>
                  <a:ea typeface="Arial"/>
                  <a:cs typeface="Arial"/>
                  <a:sym typeface="Arial"/>
                </a:rPr>
                <a:t>The Enterprise Dilemma: Three Massive Production Risks</a:t>
              </a:r>
              <a:endParaRPr b="1">
                <a:solidFill>
                  <a:srgbClr val="991B1B"/>
                </a:solidFill>
                <a:latin typeface="Arial"/>
                <a:ea typeface="Arial"/>
                <a:cs typeface="Arial"/>
                <a:sym typeface="Arial"/>
              </a:endParaRPr>
            </a:p>
          </p:txBody>
        </p:sp>
      </p:grpSp>
      <p:grpSp>
        <p:nvGrpSpPr>
          <p:cNvPr id="2413" name="Google Shape;2413;p98"/>
          <p:cNvGrpSpPr/>
          <p:nvPr/>
        </p:nvGrpSpPr>
        <p:grpSpPr>
          <a:xfrm>
            <a:off x="381000" y="2047875"/>
            <a:ext cx="2667000" cy="1714500"/>
            <a:chOff x="381000" y="2047875"/>
            <a:chExt cx="2667000" cy="1714500"/>
          </a:xfrm>
        </p:grpSpPr>
        <p:sp>
          <p:nvSpPr>
            <p:cNvPr id="2414" name="Google Shape;2414;p98"/>
            <p:cNvSpPr/>
            <p:nvPr/>
          </p:nvSpPr>
          <p:spPr>
            <a:xfrm>
              <a:off x="381000" y="2047875"/>
              <a:ext cx="26670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5" name="Google Shape;2415;p98"/>
            <p:cNvSpPr/>
            <p:nvPr/>
          </p:nvSpPr>
          <p:spPr>
            <a:xfrm>
              <a:off x="381000" y="2047875"/>
              <a:ext cx="2667000" cy="381000"/>
            </a:xfrm>
            <a:prstGeom prst="roundRect">
              <a:avLst>
                <a:gd fmla="val 30000"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6" name="Google Shape;2416;p98"/>
            <p:cNvSpPr/>
            <p:nvPr/>
          </p:nvSpPr>
          <p:spPr>
            <a:xfrm>
              <a:off x="381000" y="2286000"/>
              <a:ext cx="2667000" cy="142800"/>
            </a:xfrm>
            <a:prstGeom prst="rect">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7" name="Google Shape;2417;p98"/>
            <p:cNvSpPr txBox="1"/>
            <p:nvPr/>
          </p:nvSpPr>
          <p:spPr>
            <a:xfrm>
              <a:off x="381000" y="2047875"/>
              <a:ext cx="2667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B91C1C"/>
                  </a:solidFill>
                  <a:latin typeface="Arial"/>
                  <a:ea typeface="Arial"/>
                  <a:cs typeface="Arial"/>
                  <a:sym typeface="Arial"/>
                </a:rPr>
                <a:t>SECURITY</a:t>
              </a:r>
              <a:endParaRPr b="1">
                <a:solidFill>
                  <a:srgbClr val="B91C1C"/>
                </a:solidFill>
                <a:latin typeface="Arial"/>
                <a:ea typeface="Arial"/>
                <a:cs typeface="Arial"/>
                <a:sym typeface="Arial"/>
              </a:endParaRPr>
            </a:p>
          </p:txBody>
        </p:sp>
        <p:sp>
          <p:nvSpPr>
            <p:cNvPr id="2418" name="Google Shape;2418;p98"/>
            <p:cNvSpPr txBox="1"/>
            <p:nvPr/>
          </p:nvSpPr>
          <p:spPr>
            <a:xfrm>
              <a:off x="523875" y="2524125"/>
              <a:ext cx="2381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i="1" lang="en">
                  <a:solidFill>
                    <a:srgbClr val="1E293B"/>
                  </a:solidFill>
                  <a:latin typeface="Arial"/>
                  <a:ea typeface="Arial"/>
                  <a:cs typeface="Arial"/>
                  <a:sym typeface="Arial"/>
                </a:rPr>
                <a:t>"What if a Junior </a:t>
              </a:r>
              <a:r>
                <a:rPr i="1" lang="en">
                  <a:solidFill>
                    <a:srgbClr val="1E293B"/>
                  </a:solidFill>
                </a:rPr>
                <a:t>Engineer</a:t>
              </a:r>
              <a:r>
                <a:rPr i="1" lang="en">
                  <a:solidFill>
                    <a:srgbClr val="1E293B"/>
                  </a:solidFill>
                  <a:latin typeface="Arial"/>
                  <a:ea typeface="Arial"/>
                  <a:cs typeface="Arial"/>
                  <a:sym typeface="Arial"/>
                </a:rPr>
                <a:t> query is routed to HR, but they ask for the CTO's salary?"</a:t>
              </a:r>
              <a:endParaRPr i="1">
                <a:solidFill>
                  <a:srgbClr val="1E293B"/>
                </a:solidFill>
                <a:latin typeface="Arial"/>
                <a:ea typeface="Arial"/>
                <a:cs typeface="Arial"/>
                <a:sym typeface="Arial"/>
              </a:endParaRPr>
            </a:p>
          </p:txBody>
        </p:sp>
        <p:sp>
          <p:nvSpPr>
            <p:cNvPr id="2419" name="Google Shape;2419;p98"/>
            <p:cNvSpPr txBox="1"/>
            <p:nvPr/>
          </p:nvSpPr>
          <p:spPr>
            <a:xfrm>
              <a:off x="523875" y="2074164"/>
              <a:ext cx="285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a:solidFill>
                    <a:srgbClr val="B91C1C"/>
                  </a:solidFill>
                  <a:latin typeface="Material Icons"/>
                  <a:ea typeface="Material Icons"/>
                  <a:cs typeface="Material Icons"/>
                  <a:sym typeface="Material Icons"/>
                </a:rPr>
                <a:t>security</a:t>
              </a:r>
              <a:endParaRPr>
                <a:solidFill>
                  <a:srgbClr val="B91C1C"/>
                </a:solidFill>
                <a:latin typeface="Material Icons"/>
                <a:ea typeface="Material Icons"/>
                <a:cs typeface="Material Icons"/>
                <a:sym typeface="Material Icons"/>
              </a:endParaRPr>
            </a:p>
          </p:txBody>
        </p:sp>
      </p:grpSp>
      <p:grpSp>
        <p:nvGrpSpPr>
          <p:cNvPr id="2420" name="Google Shape;2420;p98"/>
          <p:cNvGrpSpPr/>
          <p:nvPr/>
        </p:nvGrpSpPr>
        <p:grpSpPr>
          <a:xfrm>
            <a:off x="3238500" y="2047875"/>
            <a:ext cx="2667000" cy="1714500"/>
            <a:chOff x="3238500" y="2047875"/>
            <a:chExt cx="2667000" cy="1714500"/>
          </a:xfrm>
        </p:grpSpPr>
        <p:sp>
          <p:nvSpPr>
            <p:cNvPr id="2421" name="Google Shape;2421;p98"/>
            <p:cNvSpPr/>
            <p:nvPr/>
          </p:nvSpPr>
          <p:spPr>
            <a:xfrm>
              <a:off x="3238500" y="2047875"/>
              <a:ext cx="26670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2" name="Google Shape;2422;p98"/>
            <p:cNvSpPr/>
            <p:nvPr/>
          </p:nvSpPr>
          <p:spPr>
            <a:xfrm>
              <a:off x="3238500" y="2047875"/>
              <a:ext cx="2667000" cy="381000"/>
            </a:xfrm>
            <a:prstGeom prst="roundRect">
              <a:avLst>
                <a:gd fmla="val 30000"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3" name="Google Shape;2423;p98"/>
            <p:cNvSpPr/>
            <p:nvPr/>
          </p:nvSpPr>
          <p:spPr>
            <a:xfrm>
              <a:off x="3238500" y="2286000"/>
              <a:ext cx="2667000" cy="142800"/>
            </a:xfrm>
            <a:prstGeom prst="rect">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4" name="Google Shape;2424;p98"/>
            <p:cNvSpPr txBox="1"/>
            <p:nvPr/>
          </p:nvSpPr>
          <p:spPr>
            <a:xfrm>
              <a:off x="3238500" y="2047875"/>
              <a:ext cx="2667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B45309"/>
                  </a:solidFill>
                  <a:latin typeface="Arial"/>
                  <a:ea typeface="Arial"/>
                  <a:cs typeface="Arial"/>
                  <a:sym typeface="Arial"/>
                </a:rPr>
                <a:t>EFFICIENCY</a:t>
              </a:r>
              <a:endParaRPr b="1">
                <a:solidFill>
                  <a:srgbClr val="B45309"/>
                </a:solidFill>
                <a:latin typeface="Arial"/>
                <a:ea typeface="Arial"/>
                <a:cs typeface="Arial"/>
                <a:sym typeface="Arial"/>
              </a:endParaRPr>
            </a:p>
          </p:txBody>
        </p:sp>
        <p:sp>
          <p:nvSpPr>
            <p:cNvPr id="2425" name="Google Shape;2425;p98"/>
            <p:cNvSpPr txBox="1"/>
            <p:nvPr/>
          </p:nvSpPr>
          <p:spPr>
            <a:xfrm>
              <a:off x="3381375" y="2524125"/>
              <a:ext cx="2381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i="1" lang="en">
                  <a:solidFill>
                    <a:srgbClr val="1E293B"/>
                  </a:solidFill>
                  <a:latin typeface="Arial"/>
                  <a:ea typeface="Arial"/>
                  <a:cs typeface="Arial"/>
                  <a:sym typeface="Arial"/>
                </a:rPr>
                <a:t>"What if 50 engineers ask the same question in 10 seconds? Do we pay for 50 searches?"</a:t>
              </a:r>
              <a:endParaRPr i="1">
                <a:solidFill>
                  <a:srgbClr val="1E293B"/>
                </a:solidFill>
                <a:latin typeface="Arial"/>
                <a:ea typeface="Arial"/>
                <a:cs typeface="Arial"/>
                <a:sym typeface="Arial"/>
              </a:endParaRPr>
            </a:p>
          </p:txBody>
        </p:sp>
        <p:sp>
          <p:nvSpPr>
            <p:cNvPr id="2426" name="Google Shape;2426;p98"/>
            <p:cNvSpPr txBox="1"/>
            <p:nvPr/>
          </p:nvSpPr>
          <p:spPr>
            <a:xfrm>
              <a:off x="3381375" y="2074164"/>
              <a:ext cx="285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a:solidFill>
                    <a:srgbClr val="B45309"/>
                  </a:solidFill>
                  <a:latin typeface="Material Icons"/>
                  <a:ea typeface="Material Icons"/>
                  <a:cs typeface="Material Icons"/>
                  <a:sym typeface="Material Icons"/>
                </a:rPr>
                <a:t>speed</a:t>
              </a:r>
              <a:endParaRPr>
                <a:solidFill>
                  <a:srgbClr val="B45309"/>
                </a:solidFill>
                <a:latin typeface="Material Icons"/>
                <a:ea typeface="Material Icons"/>
                <a:cs typeface="Material Icons"/>
                <a:sym typeface="Material Icons"/>
              </a:endParaRPr>
            </a:p>
          </p:txBody>
        </p:sp>
      </p:grpSp>
      <p:grpSp>
        <p:nvGrpSpPr>
          <p:cNvPr id="2427" name="Google Shape;2427;p98"/>
          <p:cNvGrpSpPr/>
          <p:nvPr/>
        </p:nvGrpSpPr>
        <p:grpSpPr>
          <a:xfrm>
            <a:off x="6096000" y="2047875"/>
            <a:ext cx="2667000" cy="1714500"/>
            <a:chOff x="6096000" y="2047875"/>
            <a:chExt cx="2667000" cy="1714500"/>
          </a:xfrm>
        </p:grpSpPr>
        <p:sp>
          <p:nvSpPr>
            <p:cNvPr id="2428" name="Google Shape;2428;p98"/>
            <p:cNvSpPr/>
            <p:nvPr/>
          </p:nvSpPr>
          <p:spPr>
            <a:xfrm>
              <a:off x="6096000" y="2047875"/>
              <a:ext cx="26670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9" name="Google Shape;2429;p98"/>
            <p:cNvSpPr/>
            <p:nvPr/>
          </p:nvSpPr>
          <p:spPr>
            <a:xfrm>
              <a:off x="6096000" y="2047875"/>
              <a:ext cx="2667000" cy="381000"/>
            </a:xfrm>
            <a:prstGeom prst="roundRect">
              <a:avLst>
                <a:gd fmla="val 3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0" name="Google Shape;2430;p98"/>
            <p:cNvSpPr/>
            <p:nvPr/>
          </p:nvSpPr>
          <p:spPr>
            <a:xfrm>
              <a:off x="6096000" y="2286000"/>
              <a:ext cx="2667000" cy="142800"/>
            </a:xfrm>
            <a:prstGeom prst="rect">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1" name="Google Shape;2431;p98"/>
            <p:cNvSpPr txBox="1"/>
            <p:nvPr/>
          </p:nvSpPr>
          <p:spPr>
            <a:xfrm>
              <a:off x="6096000" y="2047875"/>
              <a:ext cx="2667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1D4ED8"/>
                  </a:solidFill>
                  <a:latin typeface="Arial"/>
                  <a:ea typeface="Arial"/>
                  <a:cs typeface="Arial"/>
                  <a:sym typeface="Arial"/>
                </a:rPr>
                <a:t>COST</a:t>
              </a:r>
              <a:endParaRPr b="1">
                <a:solidFill>
                  <a:srgbClr val="1D4ED8"/>
                </a:solidFill>
                <a:latin typeface="Arial"/>
                <a:ea typeface="Arial"/>
                <a:cs typeface="Arial"/>
                <a:sym typeface="Arial"/>
              </a:endParaRPr>
            </a:p>
          </p:txBody>
        </p:sp>
        <p:sp>
          <p:nvSpPr>
            <p:cNvPr id="2432" name="Google Shape;2432;p98"/>
            <p:cNvSpPr txBox="1"/>
            <p:nvPr/>
          </p:nvSpPr>
          <p:spPr>
            <a:xfrm>
              <a:off x="6238875" y="2524125"/>
              <a:ext cx="2381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i="1" lang="en">
                  <a:solidFill>
                    <a:srgbClr val="1E293B"/>
                  </a:solidFill>
                  <a:latin typeface="Arial"/>
                  <a:ea typeface="Arial"/>
                  <a:cs typeface="Arial"/>
                  <a:sym typeface="Arial"/>
                </a:rPr>
                <a:t>"What if a recursive bug triggers 10,000 expensive LLM evaluations?"</a:t>
              </a:r>
              <a:endParaRPr i="1">
                <a:solidFill>
                  <a:srgbClr val="1E293B"/>
                </a:solidFill>
                <a:latin typeface="Arial"/>
                <a:ea typeface="Arial"/>
                <a:cs typeface="Arial"/>
                <a:sym typeface="Arial"/>
              </a:endParaRPr>
            </a:p>
          </p:txBody>
        </p:sp>
        <p:sp>
          <p:nvSpPr>
            <p:cNvPr id="2433" name="Google Shape;2433;p98"/>
            <p:cNvSpPr txBox="1"/>
            <p:nvPr/>
          </p:nvSpPr>
          <p:spPr>
            <a:xfrm>
              <a:off x="6238875" y="2074164"/>
              <a:ext cx="285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a:solidFill>
                    <a:srgbClr val="1D4ED8"/>
                  </a:solidFill>
                  <a:latin typeface="Material Icons"/>
                  <a:ea typeface="Material Icons"/>
                  <a:cs typeface="Material Icons"/>
                  <a:sym typeface="Material Icons"/>
                </a:rPr>
                <a:t>payments</a:t>
              </a:r>
              <a:endParaRPr>
                <a:solidFill>
                  <a:srgbClr val="1D4ED8"/>
                </a:solidFill>
                <a:latin typeface="Material Icons"/>
                <a:ea typeface="Material Icons"/>
                <a:cs typeface="Material Icons"/>
                <a:sym typeface="Material Icons"/>
              </a:endParaRPr>
            </a:p>
          </p:txBody>
        </p:sp>
      </p:grpSp>
      <p:grpSp>
        <p:nvGrpSpPr>
          <p:cNvPr id="2434" name="Google Shape;2434;p98"/>
          <p:cNvGrpSpPr/>
          <p:nvPr/>
        </p:nvGrpSpPr>
        <p:grpSpPr>
          <a:xfrm>
            <a:off x="381000" y="4000500"/>
            <a:ext cx="8382000" cy="904136"/>
            <a:chOff x="381000" y="4000500"/>
            <a:chExt cx="8382000" cy="904136"/>
          </a:xfrm>
        </p:grpSpPr>
        <p:sp>
          <p:nvSpPr>
            <p:cNvPr id="2435" name="Google Shape;2435;p98"/>
            <p:cNvSpPr/>
            <p:nvPr/>
          </p:nvSpPr>
          <p:spPr>
            <a:xfrm>
              <a:off x="381000" y="4000500"/>
              <a:ext cx="8382000" cy="857400"/>
            </a:xfrm>
            <a:prstGeom prst="roundRect">
              <a:avLst>
                <a:gd fmla="val 13333" name="adj"/>
              </a:avLst>
            </a:prstGeom>
            <a:solidFill>
              <a:schemeClr val="lt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6" name="Google Shape;2436;p98"/>
            <p:cNvSpPr txBox="1"/>
            <p:nvPr/>
          </p:nvSpPr>
          <p:spPr>
            <a:xfrm>
              <a:off x="523875" y="4047236"/>
              <a:ext cx="4287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3200">
                  <a:solidFill>
                    <a:srgbClr val="38BDF8"/>
                  </a:solidFill>
                  <a:latin typeface="Material Icons"/>
                  <a:ea typeface="Material Icons"/>
                  <a:cs typeface="Material Icons"/>
                  <a:sym typeface="Material Icons"/>
                </a:rPr>
                <a:t>shield</a:t>
              </a:r>
              <a:endParaRPr sz="3200">
                <a:solidFill>
                  <a:srgbClr val="38BDF8"/>
                </a:solidFill>
                <a:latin typeface="Material Icons"/>
                <a:ea typeface="Material Icons"/>
                <a:cs typeface="Material Icons"/>
                <a:sym typeface="Material Icons"/>
              </a:endParaRPr>
            </a:p>
          </p:txBody>
        </p:sp>
        <p:sp>
          <p:nvSpPr>
            <p:cNvPr id="2437" name="Google Shape;2437;p98"/>
            <p:cNvSpPr txBox="1"/>
            <p:nvPr/>
          </p:nvSpPr>
          <p:spPr>
            <a:xfrm>
              <a:off x="952500" y="4000500"/>
              <a:ext cx="75249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38BDF8"/>
                  </a:solidFill>
                  <a:latin typeface="Arial"/>
                  <a:ea typeface="Arial"/>
                  <a:cs typeface="Arial"/>
                  <a:sym typeface="Arial"/>
                </a:rPr>
                <a:t>The Solution: The Retrieval Gateway</a:t>
              </a:r>
              <a:endParaRPr sz="1200">
                <a:solidFill>
                  <a:srgbClr val="F8FAFC"/>
                </a:solidFill>
                <a:latin typeface="Arial"/>
                <a:ea typeface="Arial"/>
                <a:cs typeface="Arial"/>
                <a:sym typeface="Arial"/>
              </a:endParaRPr>
            </a:p>
            <a:p>
              <a:pPr indent="0" lvl="0" marL="0" rtl="0" algn="l">
                <a:spcBef>
                  <a:spcPts val="300"/>
                </a:spcBef>
                <a:spcAft>
                  <a:spcPts val="0"/>
                </a:spcAft>
                <a:buNone/>
              </a:pPr>
              <a:r>
                <a:rPr lang="en" sz="1200">
                  <a:solidFill>
                    <a:srgbClr val="8B5CF6"/>
                  </a:solidFill>
                  <a:latin typeface="Arial"/>
                  <a:ea typeface="Arial"/>
                  <a:cs typeface="Arial"/>
                  <a:sym typeface="Arial"/>
                </a:rPr>
                <a:t>A protective "bouncer" layer between routing logic and private company data.</a:t>
              </a:r>
              <a:endParaRPr sz="1200">
                <a:solidFill>
                  <a:srgbClr val="8B5CF6"/>
                </a:solidFill>
                <a:latin typeface="Arial"/>
                <a:ea typeface="Arial"/>
                <a:cs typeface="Arial"/>
                <a:sym typeface="Arial"/>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1" name="Shape 2441"/>
        <p:cNvGrpSpPr/>
        <p:nvPr/>
      </p:nvGrpSpPr>
      <p:grpSpPr>
        <a:xfrm>
          <a:off x="0" y="0"/>
          <a:ext cx="0" cy="0"/>
          <a:chOff x="0" y="0"/>
          <a:chExt cx="0" cy="0"/>
        </a:xfrm>
      </p:grpSpPr>
      <p:sp>
        <p:nvSpPr>
          <p:cNvPr id="2442" name="Google Shape;2442;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Quiz</a:t>
            </a:r>
            <a:endParaRPr/>
          </a:p>
        </p:txBody>
      </p:sp>
      <p:sp>
        <p:nvSpPr>
          <p:cNvPr id="2443" name="Google Shape;2443;p9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chemeClr val="dk1"/>
                </a:solidFill>
              </a:rPr>
              <a:t>A brand-new startup has zero query logs. Which routing strategy can it </a:t>
            </a:r>
            <a:r>
              <a:rPr i="1" lang="en" sz="1100">
                <a:solidFill>
                  <a:schemeClr val="dk1"/>
                </a:solidFill>
              </a:rPr>
              <a:t>not</a:t>
            </a:r>
            <a:r>
              <a:rPr lang="en" sz="1100">
                <a:solidFill>
                  <a:schemeClr val="dk1"/>
                </a:solidFill>
              </a:rPr>
              <a:t> deploy yet?</a:t>
            </a:r>
            <a:br>
              <a:rPr lang="en" sz="1100">
                <a:solidFill>
                  <a:schemeClr val="dk1"/>
                </a:solidFill>
              </a:rPr>
            </a:b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100">
                <a:solidFill>
                  <a:schemeClr val="dk1"/>
                </a:solidFill>
              </a:rPr>
              <a:t>A) Rule-based </a:t>
            </a:r>
            <a:endParaRPr sz="1100">
              <a:solidFill>
                <a:schemeClr val="dk1"/>
              </a:solidFill>
            </a:endParaRPr>
          </a:p>
          <a:p>
            <a:pPr indent="0" lvl="0" marL="0" rtl="0" algn="l">
              <a:spcBef>
                <a:spcPts val="1200"/>
              </a:spcBef>
              <a:spcAft>
                <a:spcPts val="0"/>
              </a:spcAft>
              <a:buNone/>
            </a:pPr>
            <a:r>
              <a:rPr lang="en" sz="1100">
                <a:solidFill>
                  <a:schemeClr val="dk1"/>
                </a:solidFill>
              </a:rPr>
              <a:t>B) Embedding </a:t>
            </a:r>
            <a:endParaRPr sz="1100">
              <a:solidFill>
                <a:schemeClr val="dk1"/>
              </a:solidFill>
            </a:endParaRPr>
          </a:p>
          <a:p>
            <a:pPr indent="0" lvl="0" marL="0" rtl="0" algn="l">
              <a:spcBef>
                <a:spcPts val="1200"/>
              </a:spcBef>
              <a:spcAft>
                <a:spcPts val="0"/>
              </a:spcAft>
              <a:buNone/>
            </a:pPr>
            <a:r>
              <a:rPr lang="en" sz="1100">
                <a:solidFill>
                  <a:schemeClr val="dk1"/>
                </a:solidFill>
              </a:rPr>
              <a:t>C) Classifier </a:t>
            </a:r>
            <a:endParaRPr sz="1100">
              <a:solidFill>
                <a:schemeClr val="dk1"/>
              </a:solidFill>
            </a:endParaRPr>
          </a:p>
          <a:p>
            <a:pPr indent="0" lvl="0" marL="0" rtl="0" algn="l">
              <a:spcBef>
                <a:spcPts val="1200"/>
              </a:spcBef>
              <a:spcAft>
                <a:spcPts val="0"/>
              </a:spcAft>
              <a:buNone/>
            </a:pPr>
            <a:r>
              <a:rPr lang="en" sz="1100">
                <a:solidFill>
                  <a:schemeClr val="dk1"/>
                </a:solidFill>
              </a:rPr>
              <a:t>D) LLM</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7" name="Shape 2447"/>
        <p:cNvGrpSpPr/>
        <p:nvPr/>
      </p:nvGrpSpPr>
      <p:grpSpPr>
        <a:xfrm>
          <a:off x="0" y="0"/>
          <a:ext cx="0" cy="0"/>
          <a:chOff x="0" y="0"/>
          <a:chExt cx="0" cy="0"/>
        </a:xfrm>
      </p:grpSpPr>
      <p:sp>
        <p:nvSpPr>
          <p:cNvPr id="2448" name="Google Shape;2448;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Quiz 7</a:t>
            </a:r>
            <a:endParaRPr b="1"/>
          </a:p>
        </p:txBody>
      </p:sp>
      <p:pic>
        <p:nvPicPr>
          <p:cNvPr id="2449" name="Google Shape;2449;p100" title="Screenshot 2026-10-23 at 3.10.46 PM.png"/>
          <p:cNvPicPr preferRelativeResize="0"/>
          <p:nvPr/>
        </p:nvPicPr>
        <p:blipFill rotWithShape="1">
          <a:blip r:embed="rId3">
            <a:alphaModFix/>
          </a:blip>
          <a:srcRect b="278" l="0" r="0" t="278"/>
          <a:stretch/>
        </p:blipFill>
        <p:spPr>
          <a:xfrm>
            <a:off x="2661513" y="1017725"/>
            <a:ext cx="3820976" cy="3820973"/>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3" name="Shape 2453"/>
        <p:cNvGrpSpPr/>
        <p:nvPr/>
      </p:nvGrpSpPr>
      <p:grpSpPr>
        <a:xfrm>
          <a:off x="0" y="0"/>
          <a:ext cx="0" cy="0"/>
          <a:chOff x="0" y="0"/>
          <a:chExt cx="0" cy="0"/>
        </a:xfrm>
      </p:grpSpPr>
      <p:sp>
        <p:nvSpPr>
          <p:cNvPr id="2454" name="Google Shape;2454;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Quiz</a:t>
            </a:r>
            <a:endParaRPr/>
          </a:p>
        </p:txBody>
      </p:sp>
      <p:sp>
        <p:nvSpPr>
          <p:cNvPr id="2455" name="Google Shape;2455;p10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chemeClr val="dk1"/>
                </a:solidFill>
              </a:rPr>
              <a:t>A brand-new startup has zero query logs. Which routing strategy can it </a:t>
            </a:r>
            <a:r>
              <a:rPr i="1" lang="en" sz="1100">
                <a:solidFill>
                  <a:schemeClr val="dk1"/>
                </a:solidFill>
              </a:rPr>
              <a:t>not</a:t>
            </a:r>
            <a:r>
              <a:rPr lang="en" sz="1100">
                <a:solidFill>
                  <a:schemeClr val="dk1"/>
                </a:solidFill>
              </a:rPr>
              <a:t> deploy yet?</a:t>
            </a:r>
            <a:br>
              <a:rPr lang="en" sz="1100">
                <a:solidFill>
                  <a:schemeClr val="dk1"/>
                </a:solidFill>
              </a:rPr>
            </a:br>
            <a:r>
              <a:rPr lang="en" sz="1100">
                <a:solidFill>
                  <a:schemeClr val="dk1"/>
                </a:solidFill>
              </a:rPr>
              <a:t> </a:t>
            </a:r>
            <a:endParaRPr sz="1100">
              <a:solidFill>
                <a:schemeClr val="dk1"/>
              </a:solidFill>
            </a:endParaRPr>
          </a:p>
          <a:p>
            <a:pPr indent="0" lvl="0" marL="0" rtl="0" algn="l">
              <a:spcBef>
                <a:spcPts val="1200"/>
              </a:spcBef>
              <a:spcAft>
                <a:spcPts val="0"/>
              </a:spcAft>
              <a:buNone/>
            </a:pPr>
            <a:r>
              <a:rPr lang="en" sz="1100">
                <a:solidFill>
                  <a:schemeClr val="dk1"/>
                </a:solidFill>
              </a:rPr>
              <a:t>A) Rule-based </a:t>
            </a:r>
            <a:endParaRPr sz="1100">
              <a:solidFill>
                <a:schemeClr val="dk1"/>
              </a:solidFill>
            </a:endParaRPr>
          </a:p>
          <a:p>
            <a:pPr indent="0" lvl="0" marL="0" rtl="0" algn="l">
              <a:spcBef>
                <a:spcPts val="1200"/>
              </a:spcBef>
              <a:spcAft>
                <a:spcPts val="0"/>
              </a:spcAft>
              <a:buNone/>
            </a:pPr>
            <a:r>
              <a:rPr lang="en" sz="1100">
                <a:solidFill>
                  <a:schemeClr val="dk1"/>
                </a:solidFill>
              </a:rPr>
              <a:t>B) Embedding </a:t>
            </a:r>
            <a:endParaRPr sz="1100">
              <a:solidFill>
                <a:schemeClr val="dk1"/>
              </a:solidFill>
            </a:endParaRPr>
          </a:p>
          <a:p>
            <a:pPr indent="0" lvl="0" marL="0" rtl="0" algn="l">
              <a:spcBef>
                <a:spcPts val="1200"/>
              </a:spcBef>
              <a:spcAft>
                <a:spcPts val="0"/>
              </a:spcAft>
              <a:buNone/>
            </a:pPr>
            <a:r>
              <a:rPr lang="en" sz="1100">
                <a:solidFill>
                  <a:schemeClr val="dk1"/>
                </a:solidFill>
              </a:rPr>
              <a:t>C) Classifier </a:t>
            </a:r>
            <a:endParaRPr sz="1100">
              <a:solidFill>
                <a:schemeClr val="dk1"/>
              </a:solidFill>
            </a:endParaRPr>
          </a:p>
          <a:p>
            <a:pPr indent="0" lvl="0" marL="0" rtl="0" algn="l">
              <a:spcBef>
                <a:spcPts val="1200"/>
              </a:spcBef>
              <a:spcAft>
                <a:spcPts val="0"/>
              </a:spcAft>
              <a:buNone/>
            </a:pPr>
            <a:r>
              <a:rPr lang="en" sz="1100">
                <a:solidFill>
                  <a:schemeClr val="dk1"/>
                </a:solidFill>
              </a:rPr>
              <a:t>D) LLM</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rPr b="1" lang="en" sz="1100">
                <a:solidFill>
                  <a:schemeClr val="dk1"/>
                </a:solidFill>
              </a:rPr>
              <a:t>Ans: C</a:t>
            </a:r>
            <a:r>
              <a:rPr lang="en" sz="1100">
                <a:solidFill>
                  <a:schemeClr val="dk1"/>
                </a:solidFill>
              </a:rPr>
              <a:t> -- classifiers need labelled historical queries; route profiles can just be hand-written.</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9" name="Shape 2459"/>
        <p:cNvGrpSpPr/>
        <p:nvPr/>
      </p:nvGrpSpPr>
      <p:grpSpPr>
        <a:xfrm>
          <a:off x="0" y="0"/>
          <a:ext cx="0" cy="0"/>
          <a:chOff x="0" y="0"/>
          <a:chExt cx="0" cy="0"/>
        </a:xfrm>
      </p:grpSpPr>
      <p:sp>
        <p:nvSpPr>
          <p:cNvPr id="2460" name="Google Shape;2460;p102"/>
          <p:cNvSpPr txBox="1"/>
          <p:nvPr/>
        </p:nvSpPr>
        <p:spPr>
          <a:xfrm>
            <a:off x="1448700" y="89325"/>
            <a:ext cx="6246600" cy="1470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4400"/>
              <a:buFont typeface="Arial"/>
              <a:buNone/>
            </a:pPr>
            <a:r>
              <a:rPr b="1" i="0" lang="en" sz="4100" u="none" cap="none" strike="noStrike">
                <a:solidFill>
                  <a:schemeClr val="dk1"/>
                </a:solidFill>
                <a:latin typeface="Roboto Mono"/>
                <a:ea typeface="Roboto Mono"/>
                <a:cs typeface="Roboto Mono"/>
                <a:sym typeface="Roboto Mono"/>
              </a:rPr>
              <a:t>Thank You</a:t>
            </a:r>
            <a:endParaRPr b="1" i="0" sz="3400" u="none" cap="none" strike="noStrike">
              <a:solidFill>
                <a:schemeClr val="dk1"/>
              </a:solidFill>
              <a:latin typeface="Roboto Mono"/>
              <a:ea typeface="Roboto Mono"/>
              <a:cs typeface="Roboto Mono"/>
              <a:sym typeface="Roboto Mono"/>
            </a:endParaRPr>
          </a:p>
        </p:txBody>
      </p:sp>
      <p:sp>
        <p:nvSpPr>
          <p:cNvPr id="2461" name="Google Shape;2461;p102"/>
          <p:cNvSpPr/>
          <p:nvPr/>
        </p:nvSpPr>
        <p:spPr>
          <a:xfrm>
            <a:off x="1358900" y="1733188"/>
            <a:ext cx="1591500" cy="51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2000" u="none" cap="none" strike="noStrike">
                <a:solidFill>
                  <a:srgbClr val="000000"/>
                </a:solidFill>
                <a:latin typeface="Arial"/>
                <a:ea typeface="Arial"/>
                <a:cs typeface="Arial"/>
                <a:sym typeface="Arial"/>
              </a:rPr>
              <a:t>Instructor</a:t>
            </a:r>
            <a:endParaRPr b="0" i="0" sz="2000" u="none" cap="none" strike="noStrike">
              <a:solidFill>
                <a:srgbClr val="000000"/>
              </a:solidFill>
              <a:latin typeface="Arial"/>
              <a:ea typeface="Arial"/>
              <a:cs typeface="Arial"/>
              <a:sym typeface="Arial"/>
            </a:endParaRPr>
          </a:p>
        </p:txBody>
      </p:sp>
      <p:sp>
        <p:nvSpPr>
          <p:cNvPr id="2462" name="Google Shape;2462;p102"/>
          <p:cNvSpPr/>
          <p:nvPr/>
        </p:nvSpPr>
        <p:spPr>
          <a:xfrm>
            <a:off x="4298300" y="1559325"/>
            <a:ext cx="3755700" cy="51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2A"/>
              </a:buClr>
              <a:buSzPts val="2400"/>
              <a:buFont typeface="Calibri"/>
              <a:buNone/>
            </a:pPr>
            <a:r>
              <a:rPr b="0" i="0" lang="en" sz="2000" u="none" cap="none" strike="noStrike">
                <a:solidFill>
                  <a:srgbClr val="000000"/>
                </a:solidFill>
                <a:latin typeface="Arial"/>
                <a:ea typeface="Arial"/>
                <a:cs typeface="Arial"/>
                <a:sym typeface="Arial"/>
              </a:rPr>
              <a:t>Teaching Assistants (IITKGP)</a:t>
            </a:r>
            <a:endParaRPr b="0" i="0" sz="2000" u="none" cap="none" strike="noStrike">
              <a:solidFill>
                <a:srgbClr val="000000"/>
              </a:solidFill>
              <a:latin typeface="Arial"/>
              <a:ea typeface="Arial"/>
              <a:cs typeface="Arial"/>
              <a:sym typeface="Arial"/>
            </a:endParaRPr>
          </a:p>
        </p:txBody>
      </p:sp>
      <p:sp>
        <p:nvSpPr>
          <p:cNvPr id="2463" name="Google Shape;2463;p102"/>
          <p:cNvSpPr/>
          <p:nvPr/>
        </p:nvSpPr>
        <p:spPr>
          <a:xfrm>
            <a:off x="1357900" y="3803900"/>
            <a:ext cx="1591500" cy="515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400"/>
              </a:spcBef>
              <a:spcAft>
                <a:spcPts val="400"/>
              </a:spcAft>
              <a:buClr>
                <a:schemeClr val="dk1"/>
              </a:buClr>
              <a:buSzPts val="1100"/>
              <a:buFont typeface="Arial"/>
              <a:buNone/>
            </a:pPr>
            <a:r>
              <a:rPr b="1" lang="en" sz="1500">
                <a:solidFill>
                  <a:schemeClr val="dk1"/>
                </a:solidFill>
              </a:rPr>
              <a:t>     Pawan Goyal</a:t>
            </a:r>
            <a:endParaRPr sz="1800"/>
          </a:p>
        </p:txBody>
      </p:sp>
      <p:pic>
        <p:nvPicPr>
          <p:cNvPr id="2464" name="Google Shape;2464;p102"/>
          <p:cNvPicPr preferRelativeResize="0"/>
          <p:nvPr/>
        </p:nvPicPr>
        <p:blipFill rotWithShape="1">
          <a:blip r:embed="rId3">
            <a:alphaModFix/>
          </a:blip>
          <a:srcRect b="21050" l="5948" r="5931" t="3717"/>
          <a:stretch/>
        </p:blipFill>
        <p:spPr>
          <a:xfrm>
            <a:off x="1576551" y="2422750"/>
            <a:ext cx="1154200" cy="1267625"/>
          </a:xfrm>
          <a:prstGeom prst="rect">
            <a:avLst/>
          </a:prstGeom>
          <a:noFill/>
          <a:ln>
            <a:noFill/>
          </a:ln>
        </p:spPr>
      </p:pic>
      <p:sp>
        <p:nvSpPr>
          <p:cNvPr id="2465" name="Google Shape;2465;p102"/>
          <p:cNvSpPr/>
          <p:nvPr/>
        </p:nvSpPr>
        <p:spPr>
          <a:xfrm>
            <a:off x="4518372" y="3840250"/>
            <a:ext cx="1591500" cy="5157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1400"/>
              </a:spcBef>
              <a:spcAft>
                <a:spcPts val="400"/>
              </a:spcAft>
              <a:buClr>
                <a:schemeClr val="dk1"/>
              </a:buClr>
              <a:buSzPts val="1100"/>
              <a:buFont typeface="Arial"/>
              <a:buNone/>
            </a:pPr>
            <a:r>
              <a:rPr b="1" lang="en" sz="1500">
                <a:solidFill>
                  <a:schemeClr val="dk1"/>
                </a:solidFill>
              </a:rPr>
              <a:t>Manoj Balaji Jagadeeshan</a:t>
            </a:r>
            <a:endParaRPr sz="1800"/>
          </a:p>
        </p:txBody>
      </p:sp>
      <p:pic>
        <p:nvPicPr>
          <p:cNvPr id="2466" name="Google Shape;2466;p102" title="dp-iisc.png"/>
          <p:cNvPicPr preferRelativeResize="0"/>
          <p:nvPr/>
        </p:nvPicPr>
        <p:blipFill rotWithShape="1">
          <a:blip r:embed="rId4">
            <a:alphaModFix/>
          </a:blip>
          <a:srcRect b="961" l="0" r="0" t="961"/>
          <a:stretch/>
        </p:blipFill>
        <p:spPr>
          <a:xfrm>
            <a:off x="4680297" y="2422749"/>
            <a:ext cx="1267650" cy="1267627"/>
          </a:xfrm>
          <a:prstGeom prst="rect">
            <a:avLst/>
          </a:prstGeom>
          <a:noFill/>
          <a:ln>
            <a:noFill/>
          </a:ln>
        </p:spPr>
      </p:pic>
      <p:sp>
        <p:nvSpPr>
          <p:cNvPr id="2467" name="Google Shape;2467;p102"/>
          <p:cNvSpPr txBox="1"/>
          <p:nvPr/>
        </p:nvSpPr>
        <p:spPr>
          <a:xfrm>
            <a:off x="6462500" y="3803900"/>
            <a:ext cx="1591500" cy="51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000000"/>
                </a:solidFill>
              </a:rPr>
              <a:t>Kavin R V</a:t>
            </a:r>
            <a:endParaRPr b="1" sz="1600">
              <a:solidFill>
                <a:srgbClr val="000000"/>
              </a:solidFill>
            </a:endParaRPr>
          </a:p>
        </p:txBody>
      </p:sp>
      <p:pic>
        <p:nvPicPr>
          <p:cNvPr id="2468" name="Google Shape;2468;p102"/>
          <p:cNvPicPr preferRelativeResize="0"/>
          <p:nvPr/>
        </p:nvPicPr>
        <p:blipFill rotWithShape="1">
          <a:blip r:embed="rId5">
            <a:alphaModFix/>
          </a:blip>
          <a:srcRect b="26879" l="0" r="0" t="0"/>
          <a:stretch/>
        </p:blipFill>
        <p:spPr>
          <a:xfrm>
            <a:off x="6624425" y="2392100"/>
            <a:ext cx="1267650" cy="1267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